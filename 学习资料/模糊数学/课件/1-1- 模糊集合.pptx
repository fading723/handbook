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wav" ContentType="audio/wav"/>
  <Default Extension="wdp" ContentType="image/vnd.ms-photo"/>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1"/>
  </p:sldMasterIdLst>
  <p:notesMasterIdLst>
    <p:notesMasterId r:id="rId55"/>
  </p:notesMasterIdLst>
  <p:handoutMasterIdLst>
    <p:handoutMasterId r:id="rId56"/>
  </p:handoutMasterIdLst>
  <p:sldIdLst>
    <p:sldId id="256" r:id="rId2"/>
    <p:sldId id="286" r:id="rId3"/>
    <p:sldId id="520" r:id="rId4"/>
    <p:sldId id="287" r:id="rId5"/>
    <p:sldId id="285" r:id="rId6"/>
    <p:sldId id="333" r:id="rId7"/>
    <p:sldId id="521" r:id="rId8"/>
    <p:sldId id="315" r:id="rId9"/>
    <p:sldId id="316" r:id="rId10"/>
    <p:sldId id="325" r:id="rId11"/>
    <p:sldId id="326" r:id="rId12"/>
    <p:sldId id="327" r:id="rId13"/>
    <p:sldId id="329" r:id="rId14"/>
    <p:sldId id="320" r:id="rId15"/>
    <p:sldId id="522" r:id="rId16"/>
    <p:sldId id="308" r:id="rId17"/>
    <p:sldId id="332" r:id="rId18"/>
    <p:sldId id="324" r:id="rId19"/>
    <p:sldId id="266" r:id="rId20"/>
    <p:sldId id="524" r:id="rId21"/>
    <p:sldId id="526" r:id="rId22"/>
    <p:sldId id="337" r:id="rId23"/>
    <p:sldId id="338" r:id="rId24"/>
    <p:sldId id="339" r:id="rId25"/>
    <p:sldId id="263" r:id="rId26"/>
    <p:sldId id="309" r:id="rId27"/>
    <p:sldId id="265" r:id="rId28"/>
    <p:sldId id="267" r:id="rId29"/>
    <p:sldId id="270" r:id="rId30"/>
    <p:sldId id="268" r:id="rId31"/>
    <p:sldId id="269" r:id="rId32"/>
    <p:sldId id="271" r:id="rId33"/>
    <p:sldId id="272" r:id="rId34"/>
    <p:sldId id="273" r:id="rId35"/>
    <p:sldId id="274" r:id="rId36"/>
    <p:sldId id="305" r:id="rId37"/>
    <p:sldId id="275" r:id="rId38"/>
    <p:sldId id="289" r:id="rId39"/>
    <p:sldId id="290" r:id="rId40"/>
    <p:sldId id="291" r:id="rId41"/>
    <p:sldId id="294" r:id="rId42"/>
    <p:sldId id="276" r:id="rId43"/>
    <p:sldId id="295" r:id="rId44"/>
    <p:sldId id="297" r:id="rId45"/>
    <p:sldId id="296" r:id="rId46"/>
    <p:sldId id="527" r:id="rId47"/>
    <p:sldId id="298" r:id="rId48"/>
    <p:sldId id="299" r:id="rId49"/>
    <p:sldId id="303" r:id="rId50"/>
    <p:sldId id="528" r:id="rId51"/>
    <p:sldId id="279" r:id="rId52"/>
    <p:sldId id="529" r:id="rId53"/>
    <p:sldId id="330" r:id="rId54"/>
  </p:sldIdLst>
  <p:sldSz cx="12192000" cy="6858000"/>
  <p:notesSz cx="6797675" cy="9928225"/>
  <p:defaultTextStyle>
    <a:defPPr>
      <a:defRPr lang="zh-CN"/>
    </a:defPPr>
    <a:lvl1pPr algn="l" rtl="0" fontAlgn="base">
      <a:spcBef>
        <a:spcPct val="0"/>
      </a:spcBef>
      <a:spcAft>
        <a:spcPct val="0"/>
      </a:spcAft>
      <a:defRPr kern="1200">
        <a:solidFill>
          <a:schemeClr val="tx1"/>
        </a:solidFill>
        <a:latin typeface="Arial" charset="0"/>
        <a:ea typeface="宋体" pitchFamily="2" charset="-122"/>
        <a:cs typeface="+mn-cs"/>
      </a:defRPr>
    </a:lvl1pPr>
    <a:lvl2pPr marL="457200" algn="l" rtl="0" fontAlgn="base">
      <a:spcBef>
        <a:spcPct val="0"/>
      </a:spcBef>
      <a:spcAft>
        <a:spcPct val="0"/>
      </a:spcAft>
      <a:defRPr kern="1200">
        <a:solidFill>
          <a:schemeClr val="tx1"/>
        </a:solidFill>
        <a:latin typeface="Arial" charset="0"/>
        <a:ea typeface="宋体" pitchFamily="2" charset="-122"/>
        <a:cs typeface="+mn-cs"/>
      </a:defRPr>
    </a:lvl2pPr>
    <a:lvl3pPr marL="914400" algn="l" rtl="0" fontAlgn="base">
      <a:spcBef>
        <a:spcPct val="0"/>
      </a:spcBef>
      <a:spcAft>
        <a:spcPct val="0"/>
      </a:spcAft>
      <a:defRPr kern="1200">
        <a:solidFill>
          <a:schemeClr val="tx1"/>
        </a:solidFill>
        <a:latin typeface="Arial" charset="0"/>
        <a:ea typeface="宋体" pitchFamily="2" charset="-122"/>
        <a:cs typeface="+mn-cs"/>
      </a:defRPr>
    </a:lvl3pPr>
    <a:lvl4pPr marL="1371600" algn="l" rtl="0" fontAlgn="base">
      <a:spcBef>
        <a:spcPct val="0"/>
      </a:spcBef>
      <a:spcAft>
        <a:spcPct val="0"/>
      </a:spcAft>
      <a:defRPr kern="1200">
        <a:solidFill>
          <a:schemeClr val="tx1"/>
        </a:solidFill>
        <a:latin typeface="Arial" charset="0"/>
        <a:ea typeface="宋体" pitchFamily="2" charset="-122"/>
        <a:cs typeface="+mn-cs"/>
      </a:defRPr>
    </a:lvl4pPr>
    <a:lvl5pPr marL="1828800" algn="l" rtl="0" fontAlgn="base">
      <a:spcBef>
        <a:spcPct val="0"/>
      </a:spcBef>
      <a:spcAft>
        <a:spcPct val="0"/>
      </a:spcAft>
      <a:defRPr kern="1200">
        <a:solidFill>
          <a:schemeClr val="tx1"/>
        </a:solidFill>
        <a:latin typeface="Arial" charset="0"/>
        <a:ea typeface="宋体" pitchFamily="2" charset="-122"/>
        <a:cs typeface="+mn-cs"/>
      </a:defRPr>
    </a:lvl5pPr>
    <a:lvl6pPr marL="2286000" algn="l" defTabSz="914400" rtl="0" eaLnBrk="1" latinLnBrk="0" hangingPunct="1">
      <a:defRPr kern="1200">
        <a:solidFill>
          <a:schemeClr val="tx1"/>
        </a:solidFill>
        <a:latin typeface="Arial" charset="0"/>
        <a:ea typeface="宋体" pitchFamily="2" charset="-122"/>
        <a:cs typeface="+mn-cs"/>
      </a:defRPr>
    </a:lvl6pPr>
    <a:lvl7pPr marL="2743200" algn="l" defTabSz="914400" rtl="0" eaLnBrk="1" latinLnBrk="0" hangingPunct="1">
      <a:defRPr kern="1200">
        <a:solidFill>
          <a:schemeClr val="tx1"/>
        </a:solidFill>
        <a:latin typeface="Arial" charset="0"/>
        <a:ea typeface="宋体" pitchFamily="2" charset="-122"/>
        <a:cs typeface="+mn-cs"/>
      </a:defRPr>
    </a:lvl7pPr>
    <a:lvl8pPr marL="3200400" algn="l" defTabSz="914400" rtl="0" eaLnBrk="1" latinLnBrk="0" hangingPunct="1">
      <a:defRPr kern="1200">
        <a:solidFill>
          <a:schemeClr val="tx1"/>
        </a:solidFill>
        <a:latin typeface="Arial" charset="0"/>
        <a:ea typeface="宋体" pitchFamily="2" charset="-122"/>
        <a:cs typeface="+mn-cs"/>
      </a:defRPr>
    </a:lvl8pPr>
    <a:lvl9pPr marL="3657600" algn="l" defTabSz="914400" rtl="0" eaLnBrk="1" latinLnBrk="0" hangingPunct="1">
      <a:defRPr kern="1200">
        <a:solidFill>
          <a:schemeClr val="tx1"/>
        </a:solidFill>
        <a:latin typeface="Arial" charset="0"/>
        <a:ea typeface="宋体"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8000"/>
    <a:srgbClr val="CC00CC"/>
    <a:srgbClr val="FF0000"/>
    <a:srgbClr val="996633"/>
    <a:srgbClr val="FFFFCC"/>
    <a:srgbClr val="3333FF"/>
    <a:srgbClr val="FFFF00"/>
    <a:srgbClr val="FF99FF"/>
    <a:srgbClr val="66FFFF"/>
    <a:srgbClr val="E5FB1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SorterView">
  <p:normalViewPr>
    <p:restoredLeft sz="14211" autoAdjust="0"/>
    <p:restoredTop sz="81633" autoAdjust="0"/>
  </p:normalViewPr>
  <p:slideViewPr>
    <p:cSldViewPr>
      <p:cViewPr varScale="1">
        <p:scale>
          <a:sx n="60" d="100"/>
          <a:sy n="60" d="100"/>
        </p:scale>
        <p:origin x="120" y="78"/>
      </p:cViewPr>
      <p:guideLst>
        <p:guide orient="horz" pos="2160"/>
        <p:guide pos="3840"/>
      </p:guideLst>
    </p:cSldViewPr>
  </p:slideViewPr>
  <p:notesTextViewPr>
    <p:cViewPr>
      <p:scale>
        <a:sx n="100" d="100"/>
        <a:sy n="100" d="100"/>
      </p:scale>
      <p:origin x="0" y="0"/>
    </p:cViewPr>
  </p:notesTextViewPr>
  <p:sorterViewPr>
    <p:cViewPr varScale="1">
      <p:scale>
        <a:sx n="1" d="1"/>
        <a:sy n="1" d="1"/>
      </p:scale>
      <p:origin x="0" y="-21774"/>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viewProps" Target="viewProp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handoutMaster" Target="handoutMasters/handout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45659" cy="498135"/>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50443" y="0"/>
            <a:ext cx="2945659" cy="498135"/>
          </a:xfrm>
          <a:prstGeom prst="rect">
            <a:avLst/>
          </a:prstGeom>
        </p:spPr>
        <p:txBody>
          <a:bodyPr vert="horz" lIns="91440" tIns="45720" rIns="91440" bIns="45720" rtlCol="0"/>
          <a:lstStyle>
            <a:lvl1pPr algn="r">
              <a:defRPr sz="1200"/>
            </a:lvl1pPr>
          </a:lstStyle>
          <a:p>
            <a:fld id="{EC8CF2E1-7053-498C-9C8A-120DB333825A}" type="datetimeFigureOut">
              <a:rPr lang="zh-CN" altLang="en-US" smtClean="0"/>
              <a:t>2026/3/2</a:t>
            </a:fld>
            <a:endParaRPr lang="zh-CN" altLang="en-US"/>
          </a:p>
        </p:txBody>
      </p:sp>
      <p:sp>
        <p:nvSpPr>
          <p:cNvPr id="4" name="页脚占位符 3"/>
          <p:cNvSpPr>
            <a:spLocks noGrp="1"/>
          </p:cNvSpPr>
          <p:nvPr>
            <p:ph type="ftr" sz="quarter" idx="2"/>
          </p:nvPr>
        </p:nvSpPr>
        <p:spPr>
          <a:xfrm>
            <a:off x="0" y="9430091"/>
            <a:ext cx="2945659" cy="498134"/>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50443" y="9430091"/>
            <a:ext cx="2945659" cy="498134"/>
          </a:xfrm>
          <a:prstGeom prst="rect">
            <a:avLst/>
          </a:prstGeom>
        </p:spPr>
        <p:txBody>
          <a:bodyPr vert="horz" lIns="91440" tIns="45720" rIns="91440" bIns="45720" rtlCol="0" anchor="b"/>
          <a:lstStyle>
            <a:lvl1pPr algn="r">
              <a:defRPr sz="1200"/>
            </a:lvl1pPr>
          </a:lstStyle>
          <a:p>
            <a:fld id="{30DB23BA-E973-459A-89F8-621436806A7A}" type="slidenum">
              <a:rPr lang="zh-CN" altLang="en-US" smtClean="0"/>
              <a:t>‹#›</a:t>
            </a:fld>
            <a:endParaRPr lang="zh-CN" altLang="en-US"/>
          </a:p>
        </p:txBody>
      </p:sp>
    </p:spTree>
    <p:extLst>
      <p:ext uri="{BB962C8B-B14F-4D97-AF65-F5344CB8AC3E}">
        <p14:creationId xmlns:p14="http://schemas.microsoft.com/office/powerpoint/2010/main" val="214560601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338" name="Rectangle 2"/>
          <p:cNvSpPr>
            <a:spLocks noGrp="1" noChangeArrowheads="1"/>
          </p:cNvSpPr>
          <p:nvPr>
            <p:ph type="hdr" sz="quarter"/>
          </p:nvPr>
        </p:nvSpPr>
        <p:spPr bwMode="auto">
          <a:xfrm>
            <a:off x="0" y="1"/>
            <a:ext cx="2945659" cy="4964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200" smtClean="0"/>
            </a:lvl1pPr>
          </a:lstStyle>
          <a:p>
            <a:pPr>
              <a:defRPr/>
            </a:pPr>
            <a:endParaRPr lang="en-US" altLang="zh-CN"/>
          </a:p>
        </p:txBody>
      </p:sp>
      <p:sp>
        <p:nvSpPr>
          <p:cNvPr id="14339" name="Rectangle 3"/>
          <p:cNvSpPr>
            <a:spLocks noGrp="1" noChangeArrowheads="1"/>
          </p:cNvSpPr>
          <p:nvPr>
            <p:ph type="dt" idx="1"/>
          </p:nvPr>
        </p:nvSpPr>
        <p:spPr bwMode="auto">
          <a:xfrm>
            <a:off x="3850443" y="1"/>
            <a:ext cx="2945659" cy="4964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smtClean="0"/>
            </a:lvl1pPr>
          </a:lstStyle>
          <a:p>
            <a:pPr>
              <a:defRPr/>
            </a:pPr>
            <a:endParaRPr lang="en-US" altLang="zh-CN"/>
          </a:p>
        </p:txBody>
      </p:sp>
      <p:sp>
        <p:nvSpPr>
          <p:cNvPr id="57348" name="Rectangle 4"/>
          <p:cNvSpPr>
            <a:spLocks noGrp="1" noRot="1" noChangeAspect="1" noChangeArrowheads="1" noTextEdit="1"/>
          </p:cNvSpPr>
          <p:nvPr>
            <p:ph type="sldImg" idx="2"/>
          </p:nvPr>
        </p:nvSpPr>
        <p:spPr bwMode="auto">
          <a:xfrm>
            <a:off x="90488" y="744538"/>
            <a:ext cx="6616700" cy="3722687"/>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14341" name="Rectangle 5"/>
          <p:cNvSpPr>
            <a:spLocks noGrp="1" noChangeArrowheads="1"/>
          </p:cNvSpPr>
          <p:nvPr>
            <p:ph type="body" sz="quarter" idx="3"/>
          </p:nvPr>
        </p:nvSpPr>
        <p:spPr bwMode="auto">
          <a:xfrm>
            <a:off x="679768" y="4715907"/>
            <a:ext cx="5438140" cy="44677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14342" name="Rectangle 6"/>
          <p:cNvSpPr>
            <a:spLocks noGrp="1" noChangeArrowheads="1"/>
          </p:cNvSpPr>
          <p:nvPr>
            <p:ph type="ftr" sz="quarter" idx="4"/>
          </p:nvPr>
        </p:nvSpPr>
        <p:spPr bwMode="auto">
          <a:xfrm>
            <a:off x="0" y="9430092"/>
            <a:ext cx="2945659" cy="4964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sz="1200" smtClean="0"/>
            </a:lvl1pPr>
          </a:lstStyle>
          <a:p>
            <a:pPr>
              <a:defRPr/>
            </a:pPr>
            <a:endParaRPr lang="en-US" altLang="zh-CN"/>
          </a:p>
        </p:txBody>
      </p:sp>
      <p:sp>
        <p:nvSpPr>
          <p:cNvPr id="14343" name="Rectangle 7"/>
          <p:cNvSpPr>
            <a:spLocks noGrp="1" noChangeArrowheads="1"/>
          </p:cNvSpPr>
          <p:nvPr>
            <p:ph type="sldNum" sz="quarter" idx="5"/>
          </p:nvPr>
        </p:nvSpPr>
        <p:spPr bwMode="auto">
          <a:xfrm>
            <a:off x="3850443" y="9430092"/>
            <a:ext cx="2945659" cy="4964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smtClean="0"/>
            </a:lvl1pPr>
          </a:lstStyle>
          <a:p>
            <a:pPr>
              <a:defRPr/>
            </a:pPr>
            <a:fld id="{370C552B-B808-4BB9-80CB-704898857D91}" type="slidenum">
              <a:rPr lang="en-US" altLang="zh-CN"/>
              <a:pPr>
                <a:defRPr/>
              </a:pPr>
              <a:t>‹#›</a:t>
            </a:fld>
            <a:endParaRPr lang="en-US" altLang="zh-CN"/>
          </a:p>
        </p:txBody>
      </p:sp>
    </p:spTree>
    <p:extLst>
      <p:ext uri="{BB962C8B-B14F-4D97-AF65-F5344CB8AC3E}">
        <p14:creationId xmlns:p14="http://schemas.microsoft.com/office/powerpoint/2010/main" val="48119428"/>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Arial"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Arial"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Arial"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Arial"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55575" y="744538"/>
            <a:ext cx="6616700" cy="3722687"/>
          </a:xfrm>
        </p:spPr>
      </p:sp>
      <p:sp>
        <p:nvSpPr>
          <p:cNvPr id="3" name="备注占位符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zh-CN" altLang="en-US" dirty="0">
                <a:solidFill>
                  <a:schemeClr val="tx2"/>
                </a:solidFill>
              </a:rPr>
              <a:t>常识告诉我们应该回答“是”。然而，如果回答“是”，这样顺推下去就会掉入陷阱：从上次剩下的沙堆里再拿走一粒沙子，剩下的还是一个沙堆，那么，如此反复，直到只剩下两三粒沙子甚至没有一粒沙子时，这也还是一个沙堆了。 </a:t>
            </a:r>
          </a:p>
          <a:p>
            <a:r>
              <a:rPr lang="zh-CN" altLang="en-US" b="1" dirty="0">
                <a:solidFill>
                  <a:schemeClr val="tx2"/>
                </a:solidFill>
              </a:rPr>
              <a:t>与“沙堆”相似的模糊概念还有“年轻人”、“高个子”、“大房子”等。</a:t>
            </a:r>
          </a:p>
          <a:p>
            <a:r>
              <a:rPr lang="zh-CN" altLang="en-US" b="1" dirty="0">
                <a:solidFill>
                  <a:schemeClr val="tx2"/>
                </a:solidFill>
              </a:rPr>
              <a:t>这种在生活中常见的模糊概念，在用传统数学方法处理时，往往会出现问题。</a:t>
            </a:r>
            <a:r>
              <a:rPr lang="zh-CN" altLang="en-US" dirty="0">
                <a:solidFill>
                  <a:schemeClr val="tx2"/>
                </a:solidFill>
              </a:rPr>
              <a:t> </a:t>
            </a:r>
          </a:p>
          <a:p>
            <a:endParaRPr lang="zh-CN" altLang="en-US" dirty="0"/>
          </a:p>
        </p:txBody>
      </p:sp>
      <p:sp>
        <p:nvSpPr>
          <p:cNvPr id="4" name="灯片编号占位符 3"/>
          <p:cNvSpPr>
            <a:spLocks noGrp="1"/>
          </p:cNvSpPr>
          <p:nvPr>
            <p:ph type="sldNum" sz="quarter" idx="10"/>
          </p:nvPr>
        </p:nvSpPr>
        <p:spPr/>
        <p:txBody>
          <a:bodyPr/>
          <a:lstStyle/>
          <a:p>
            <a:pPr>
              <a:defRPr/>
            </a:pPr>
            <a:fld id="{E2E5C87C-2F83-4975-856D-E195687DBE19}" type="slidenum">
              <a:rPr lang="en-US" altLang="zh-CN" smtClean="0"/>
              <a:pPr>
                <a:defRPr/>
              </a:pPr>
              <a:t>10</a:t>
            </a:fld>
            <a:endParaRPr lang="en-US" altLang="zh-CN"/>
          </a:p>
        </p:txBody>
      </p:sp>
    </p:spTree>
    <p:extLst>
      <p:ext uri="{BB962C8B-B14F-4D97-AF65-F5344CB8AC3E}">
        <p14:creationId xmlns:p14="http://schemas.microsoft.com/office/powerpoint/2010/main" val="12668035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7"/>
          <p:cNvSpPr>
            <a:spLocks noGrp="1" noChangeArrowheads="1"/>
          </p:cNvSpPr>
          <p:nvPr>
            <p:ph type="sldNum" sz="quarter" idx="5"/>
          </p:nvPr>
        </p:nvSpPr>
        <p:spPr>
          <a:noFill/>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C8BCA124-F309-40F4-9128-E3380FB9F391}" type="slidenum">
              <a:rPr lang="en-US" altLang="zh-CN" smtClean="0"/>
              <a:pPr eaLnBrk="1" hangingPunct="1"/>
              <a:t>15</a:t>
            </a:fld>
            <a:endParaRPr lang="en-US" altLang="zh-CN"/>
          </a:p>
        </p:txBody>
      </p:sp>
      <p:sp>
        <p:nvSpPr>
          <p:cNvPr id="50179" name="Rectangle 2"/>
          <p:cNvSpPr>
            <a:spLocks noGrp="1" noRot="1" noChangeAspect="1" noChangeArrowheads="1" noTextEdit="1"/>
          </p:cNvSpPr>
          <p:nvPr>
            <p:ph type="sldImg"/>
          </p:nvPr>
        </p:nvSpPr>
        <p:spPr>
          <a:xfrm>
            <a:off x="155575" y="744538"/>
            <a:ext cx="6616700" cy="3722687"/>
          </a:xfrm>
          <a:ln/>
        </p:spPr>
      </p:sp>
      <p:sp>
        <p:nvSpPr>
          <p:cNvPr id="50180" name="Rectangle 3"/>
          <p:cNvSpPr>
            <a:spLocks noGrp="1" noChangeArrowheads="1"/>
          </p:cNvSpPr>
          <p:nvPr>
            <p:ph type="body" idx="1"/>
          </p:nvPr>
        </p:nvSpPr>
        <p:spPr>
          <a:noFill/>
        </p:spPr>
        <p:txBody>
          <a:bodyPr/>
          <a:lstStyle/>
          <a:p>
            <a:pPr eaLnBrk="1" hangingPunct="1"/>
            <a:r>
              <a:rPr lang="zh-CN" altLang="en-US" dirty="0"/>
              <a:t>电气与电子工程师学会</a:t>
            </a:r>
            <a:r>
              <a:rPr lang="en-US" altLang="zh-CN" dirty="0"/>
              <a:t>IEEE</a:t>
            </a:r>
            <a:r>
              <a:rPr lang="zh-CN" altLang="en-US" dirty="0"/>
              <a:t>，隶属度</a:t>
            </a:r>
            <a:endParaRPr lang="en-US" altLang="zh-CN" dirty="0"/>
          </a:p>
          <a:p>
            <a:pPr eaLnBrk="1" hangingPunct="1"/>
            <a:r>
              <a:rPr lang="zh-CN" altLang="en-US" dirty="0"/>
              <a:t>现代数学建立在集合论的基础上。</a:t>
            </a:r>
            <a:endParaRPr lang="en-US" altLang="zh-CN" dirty="0"/>
          </a:p>
          <a:p>
            <a:pPr eaLnBrk="1" hangingPunct="1"/>
            <a:r>
              <a:rPr lang="zh-CN" altLang="en-US" dirty="0"/>
              <a:t>符合概念的那些对象的全体叫做这个概念的外延，外延实际上就是集合。</a:t>
            </a:r>
            <a:endParaRPr lang="en-US" altLang="zh-CN" dirty="0"/>
          </a:p>
          <a:p>
            <a:pPr eaLnBrk="1" hangingPunct="1"/>
            <a:r>
              <a:rPr lang="zh-CN" altLang="en-US" dirty="0"/>
              <a:t>一切现实的理论系统都有可能纳入集合描述的</a:t>
            </a:r>
            <a:r>
              <a:rPr lang="zh-CN" altLang="en-US" dirty="0">
                <a:solidFill>
                  <a:schemeClr val="tx1"/>
                </a:solidFill>
              </a:rPr>
              <a:t>数学</a:t>
            </a:r>
            <a:r>
              <a:rPr lang="zh-CN" altLang="en-US" dirty="0"/>
              <a:t>框架。</a:t>
            </a:r>
            <a:endParaRPr lang="en-US" altLang="zh-CN" dirty="0"/>
          </a:p>
          <a:p>
            <a:pPr eaLnBrk="1" hangingPunct="1"/>
            <a:r>
              <a:rPr lang="zh-CN" altLang="en-US" dirty="0"/>
              <a:t>经典的集合论明确地规定：每一个集合都必须由确定的元素所构成，元素对集合的隶属关系必须是明确的。</a:t>
            </a:r>
            <a:endParaRPr lang="en-US" altLang="zh-CN" dirty="0"/>
          </a:p>
          <a:p>
            <a:pPr eaLnBrk="1" hangingPunct="1"/>
            <a:r>
              <a:rPr lang="zh-CN" altLang="en-US" dirty="0"/>
              <a:t>对模糊性的数学处理是以将经典的集合论扩展为模糊集合论为基础的，用精确的数学方法研究模糊现象。</a:t>
            </a:r>
            <a:endParaRPr lang="en-US" altLang="zh-CN" dirty="0"/>
          </a:p>
          <a:p>
            <a:pPr eaLnBrk="1" hangingPunct="1"/>
            <a:endParaRPr lang="en-US" altLang="zh-CN" dirty="0">
              <a:latin typeface="黑体" pitchFamily="49" charset="-122"/>
              <a:ea typeface="黑体" pitchFamily="49" charset="-122"/>
            </a:endParaRPr>
          </a:p>
          <a:p>
            <a:pPr eaLnBrk="1" hangingPunct="1"/>
            <a:endParaRPr lang="zh-CN" altLang="zh-CN" dirty="0">
              <a:latin typeface="黑体" pitchFamily="49" charset="-122"/>
              <a:ea typeface="黑体" pitchFamily="49" charset="-122"/>
            </a:endParaRPr>
          </a:p>
        </p:txBody>
      </p:sp>
    </p:spTree>
    <p:extLst>
      <p:ext uri="{BB962C8B-B14F-4D97-AF65-F5344CB8AC3E}">
        <p14:creationId xmlns:p14="http://schemas.microsoft.com/office/powerpoint/2010/main" val="224524135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55575" y="744538"/>
            <a:ext cx="6616700" cy="3722687"/>
          </a:xfrm>
        </p:spPr>
      </p:sp>
      <p:sp>
        <p:nvSpPr>
          <p:cNvPr id="3" name="备注占位符 2"/>
          <p:cNvSpPr>
            <a:spLocks noGrp="1"/>
          </p:cNvSpPr>
          <p:nvPr>
            <p:ph type="body" idx="1"/>
          </p:nvPr>
        </p:nvSpPr>
        <p:spPr/>
        <p:txBody>
          <a:bodyPr/>
          <a:lstStyle/>
          <a:p>
            <a:pPr marL="0" marR="0" lvl="1" indent="0" algn="l" defTabSz="914400" rtl="0" eaLnBrk="0" fontAlgn="base" latinLnBrk="0" hangingPunct="0">
              <a:lnSpc>
                <a:spcPct val="100000"/>
              </a:lnSpc>
              <a:spcBef>
                <a:spcPct val="30000"/>
              </a:spcBef>
              <a:spcAft>
                <a:spcPct val="0"/>
              </a:spcAft>
              <a:buClrTx/>
              <a:buSzTx/>
              <a:buFontTx/>
              <a:buNone/>
              <a:tabLst/>
              <a:defRPr/>
            </a:pPr>
            <a:r>
              <a:rPr lang="zh-CN" altLang="en-US" sz="1600" b="1" dirty="0">
                <a:solidFill>
                  <a:srgbClr val="FF0000"/>
                </a:solidFill>
              </a:rPr>
              <a:t>模糊</a:t>
            </a:r>
            <a:r>
              <a:rPr lang="zh-CN" altLang="en-US" sz="1600" b="1" dirty="0">
                <a:solidFill>
                  <a:srgbClr val="3333FF"/>
                </a:solidFill>
              </a:rPr>
              <a:t>自动机</a:t>
            </a:r>
            <a:r>
              <a:rPr lang="en-US" altLang="zh-CN" sz="1600" b="1" dirty="0">
                <a:solidFill>
                  <a:srgbClr val="3333FF"/>
                </a:solidFill>
              </a:rPr>
              <a:t>——</a:t>
            </a:r>
            <a:r>
              <a:rPr lang="zh-CN" altLang="en-US" sz="1200" dirty="0">
                <a:latin typeface="宋体" pitchFamily="2" charset="-122"/>
              </a:rPr>
              <a:t>在有限自动机理论中，将状态转移和输出模糊化得模糊自动机。</a:t>
            </a:r>
          </a:p>
          <a:p>
            <a:pPr marL="0" marR="0" lvl="1" indent="0" algn="l" defTabSz="914400" rtl="0" eaLnBrk="0" fontAlgn="base" latinLnBrk="0" hangingPunct="0">
              <a:lnSpc>
                <a:spcPct val="100000"/>
              </a:lnSpc>
              <a:spcBef>
                <a:spcPct val="30000"/>
              </a:spcBef>
              <a:spcAft>
                <a:spcPct val="0"/>
              </a:spcAft>
              <a:buClrTx/>
              <a:buSzTx/>
              <a:buFontTx/>
              <a:buNone/>
              <a:tabLst/>
              <a:defRPr/>
            </a:pPr>
            <a:endParaRPr lang="en-US" altLang="zh-CN" dirty="0"/>
          </a:p>
          <a:p>
            <a:pPr marL="0" marR="0" lvl="1" indent="0" algn="l" defTabSz="914400" rtl="0" eaLnBrk="0" fontAlgn="base" latinLnBrk="0" hangingPunct="0">
              <a:lnSpc>
                <a:spcPct val="100000"/>
              </a:lnSpc>
              <a:spcBef>
                <a:spcPct val="30000"/>
              </a:spcBef>
              <a:spcAft>
                <a:spcPct val="0"/>
              </a:spcAft>
              <a:buClrTx/>
              <a:buSzTx/>
              <a:buFontTx/>
              <a:buNone/>
              <a:tabLst/>
              <a:defRPr/>
            </a:pPr>
            <a:r>
              <a:rPr lang="zh-CN" altLang="en-US" dirty="0"/>
              <a:t>它已经被用于</a:t>
            </a:r>
            <a:r>
              <a:rPr lang="zh-CN" altLang="en-US" dirty="0">
                <a:solidFill>
                  <a:srgbClr val="CC00FF"/>
                </a:solidFill>
              </a:rPr>
              <a:t>专家系统</a:t>
            </a:r>
            <a:r>
              <a:rPr lang="zh-CN" altLang="en-US" dirty="0"/>
              <a:t>和</a:t>
            </a:r>
            <a:r>
              <a:rPr lang="zh-CN" altLang="en-US" dirty="0">
                <a:solidFill>
                  <a:srgbClr val="CC00FF"/>
                </a:solidFill>
              </a:rPr>
              <a:t>知识工程</a:t>
            </a:r>
            <a:r>
              <a:rPr lang="zh-CN" altLang="en-US" dirty="0"/>
              <a:t>等方面，在各个领域中发挥看非常重要的作用，并已获得巨大的经济效益。</a:t>
            </a:r>
            <a:endParaRPr lang="en-US" altLang="zh-CN" dirty="0"/>
          </a:p>
          <a:p>
            <a:pPr marL="0" marR="0" lvl="1" indent="0" algn="l" defTabSz="914400" rtl="0" eaLnBrk="0" fontAlgn="base" latinLnBrk="0" hangingPunct="0">
              <a:lnSpc>
                <a:spcPct val="100000"/>
              </a:lnSpc>
              <a:spcBef>
                <a:spcPct val="30000"/>
              </a:spcBef>
              <a:spcAft>
                <a:spcPct val="0"/>
              </a:spcAft>
              <a:buClrTx/>
              <a:buSzTx/>
              <a:buFontTx/>
              <a:buNone/>
              <a:tabLst/>
              <a:defRPr/>
            </a:pPr>
            <a:r>
              <a:rPr lang="zh-CN" altLang="en-US" dirty="0"/>
              <a:t>人脑能在很低的准确性下有效地处理复杂问题。</a:t>
            </a:r>
          </a:p>
          <a:p>
            <a:pPr marL="0" marR="0" lvl="1" indent="0" algn="l" defTabSz="914400" rtl="0" eaLnBrk="0" fontAlgn="base" latinLnBrk="0" hangingPunct="0">
              <a:lnSpc>
                <a:spcPct val="100000"/>
              </a:lnSpc>
              <a:spcBef>
                <a:spcPct val="30000"/>
              </a:spcBef>
              <a:spcAft>
                <a:spcPct val="0"/>
              </a:spcAft>
              <a:buClrTx/>
              <a:buSzTx/>
              <a:buFontTx/>
              <a:buNone/>
              <a:tabLst/>
              <a:defRPr/>
            </a:pPr>
            <a:endParaRPr lang="en-US" altLang="zh-CN" dirty="0">
              <a:latin typeface="+mj-ea"/>
            </a:endParaRPr>
          </a:p>
          <a:p>
            <a:endParaRPr lang="zh-CN" altLang="en-US" dirty="0"/>
          </a:p>
        </p:txBody>
      </p:sp>
      <p:sp>
        <p:nvSpPr>
          <p:cNvPr id="4" name="灯片编号占位符 3"/>
          <p:cNvSpPr>
            <a:spLocks noGrp="1"/>
          </p:cNvSpPr>
          <p:nvPr>
            <p:ph type="sldNum" sz="quarter" idx="10"/>
          </p:nvPr>
        </p:nvSpPr>
        <p:spPr/>
        <p:txBody>
          <a:bodyPr/>
          <a:lstStyle/>
          <a:p>
            <a:pPr>
              <a:defRPr/>
            </a:pPr>
            <a:fld id="{E2E5C87C-2F83-4975-856D-E195687DBE19}" type="slidenum">
              <a:rPr lang="en-US" altLang="zh-CN" smtClean="0"/>
              <a:pPr>
                <a:defRPr/>
              </a:pPr>
              <a:t>16</a:t>
            </a:fld>
            <a:endParaRPr lang="en-US" altLang="zh-CN"/>
          </a:p>
        </p:txBody>
      </p:sp>
    </p:spTree>
    <p:extLst>
      <p:ext uri="{BB962C8B-B14F-4D97-AF65-F5344CB8AC3E}">
        <p14:creationId xmlns:p14="http://schemas.microsoft.com/office/powerpoint/2010/main" val="407690320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3DC1343-9A29-47AA-A104-8313D6C9370F}" type="slidenum">
              <a:rPr lang="en-US" altLang="zh-CN"/>
              <a:pPr/>
              <a:t>18</a:t>
            </a:fld>
            <a:endParaRPr lang="en-US" altLang="zh-CN"/>
          </a:p>
        </p:txBody>
      </p:sp>
      <p:sp>
        <p:nvSpPr>
          <p:cNvPr id="138242" name="Rectangle 2"/>
          <p:cNvSpPr>
            <a:spLocks noGrp="1" noRot="1" noChangeAspect="1" noChangeArrowheads="1" noTextEdit="1"/>
          </p:cNvSpPr>
          <p:nvPr>
            <p:ph type="sldImg"/>
          </p:nvPr>
        </p:nvSpPr>
        <p:spPr>
          <a:xfrm>
            <a:off x="155575" y="744538"/>
            <a:ext cx="6616700" cy="3722687"/>
          </a:xfrm>
          <a:ln/>
        </p:spPr>
      </p:sp>
      <p:sp>
        <p:nvSpPr>
          <p:cNvPr id="138243" name="Rectangle 3"/>
          <p:cNvSpPr>
            <a:spLocks noGrp="1" noChangeArrowheads="1"/>
          </p:cNvSpPr>
          <p:nvPr>
            <p:ph type="body" idx="1"/>
          </p:nvPr>
        </p:nvSpPr>
        <p:spPr/>
        <p:txBody>
          <a:bodyPr/>
          <a:lstStyle/>
          <a:p>
            <a:endParaRPr lang="zh-CN" altLang="zh-CN"/>
          </a:p>
        </p:txBody>
      </p:sp>
    </p:spTree>
    <p:extLst>
      <p:ext uri="{BB962C8B-B14F-4D97-AF65-F5344CB8AC3E}">
        <p14:creationId xmlns:p14="http://schemas.microsoft.com/office/powerpoint/2010/main" val="175987662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55575" y="744538"/>
            <a:ext cx="6616700" cy="3722687"/>
          </a:xfrm>
        </p:spPr>
      </p:sp>
      <p:sp>
        <p:nvSpPr>
          <p:cNvPr id="3" name="备注占位符 2"/>
          <p:cNvSpPr>
            <a:spLocks noGrp="1"/>
          </p:cNvSpPr>
          <p:nvPr>
            <p:ph type="body" idx="1"/>
          </p:nvPr>
        </p:nvSpPr>
        <p:spPr/>
        <p:txBody>
          <a:bodyPr/>
          <a:lstStyle/>
          <a:p>
            <a:r>
              <a:rPr lang="zh-CN" altLang="en-US" dirty="0"/>
              <a:t>复杂性意味着因素众多，时变性大，其中某些因素及其变化是人们难以精确掌握的，而且人们又常常不可能对全部因素和过程都进行精确的考察，而只能抓住其中主要部分，忽略掉所谓的次要部分。</a:t>
            </a:r>
            <a:endParaRPr lang="en-US" altLang="zh-CN" dirty="0"/>
          </a:p>
          <a:p>
            <a:r>
              <a:rPr lang="en-US" altLang="zh-CN" b="1" dirty="0" err="1"/>
              <a:t>Zadeh</a:t>
            </a:r>
            <a:r>
              <a:rPr lang="zh-CN" altLang="en-US" b="1" dirty="0"/>
              <a:t>认识到，复杂性必然带来模糊性：</a:t>
            </a:r>
          </a:p>
          <a:p>
            <a:pPr>
              <a:buFont typeface="Wingdings" pitchFamily="2" charset="2"/>
              <a:buNone/>
            </a:pPr>
            <a:r>
              <a:rPr lang="zh-CN" altLang="en-US" b="1" dirty="0"/>
              <a:t>   </a:t>
            </a:r>
            <a:r>
              <a:rPr lang="zh-CN" altLang="en-US" sz="1200" b="1" dirty="0">
                <a:solidFill>
                  <a:srgbClr val="0000FF"/>
                </a:solidFill>
                <a:ea typeface="华文行楷" pitchFamily="2" charset="-122"/>
              </a:rPr>
              <a:t>一种由客观差异的中介过渡性所导致的划分上的不确定性。</a:t>
            </a:r>
            <a:endParaRPr lang="zh-CN" altLang="en-US" sz="800" b="1" dirty="0">
              <a:solidFill>
                <a:srgbClr val="0000FF"/>
              </a:solidFill>
              <a:ea typeface="华文行楷" pitchFamily="2" charset="-122"/>
            </a:endParaRPr>
          </a:p>
          <a:p>
            <a:r>
              <a:rPr lang="zh-CN" altLang="en-US" b="1" dirty="0"/>
              <a:t>模糊性是普遍存在的。为了能够研究复杂系统，尤其是对人的推理起重要作用的系统，必须放弃对精确性的崇拜，承认和研究模糊性。</a:t>
            </a:r>
            <a:endParaRPr lang="en-US" altLang="zh-CN" b="1" dirty="0"/>
          </a:p>
          <a:p>
            <a:endParaRPr lang="zh-CN" altLang="en-US" dirty="0"/>
          </a:p>
        </p:txBody>
      </p:sp>
      <p:sp>
        <p:nvSpPr>
          <p:cNvPr id="4" name="灯片编号占位符 3"/>
          <p:cNvSpPr>
            <a:spLocks noGrp="1"/>
          </p:cNvSpPr>
          <p:nvPr>
            <p:ph type="sldNum" sz="quarter" idx="10"/>
          </p:nvPr>
        </p:nvSpPr>
        <p:spPr/>
        <p:txBody>
          <a:bodyPr/>
          <a:lstStyle/>
          <a:p>
            <a:pPr>
              <a:defRPr/>
            </a:pPr>
            <a:fld id="{E2E5C87C-2F83-4975-856D-E195687DBE19}" type="slidenum">
              <a:rPr lang="en-US" altLang="zh-CN" smtClean="0"/>
              <a:pPr>
                <a:defRPr/>
              </a:pPr>
              <a:t>20</a:t>
            </a:fld>
            <a:endParaRPr lang="en-US" altLang="zh-CN"/>
          </a:p>
        </p:txBody>
      </p:sp>
    </p:spTree>
    <p:extLst>
      <p:ext uri="{BB962C8B-B14F-4D97-AF65-F5344CB8AC3E}">
        <p14:creationId xmlns:p14="http://schemas.microsoft.com/office/powerpoint/2010/main" val="217000673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7"/>
          <p:cNvSpPr>
            <a:spLocks noGrp="1" noChangeArrowheads="1"/>
          </p:cNvSpPr>
          <p:nvPr>
            <p:ph type="sldNum" sz="quarter" idx="5"/>
          </p:nvPr>
        </p:nvSpPr>
        <p:spPr>
          <a:noFill/>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6B3C0A1A-F45F-4F98-A22C-1923D1B23B32}" type="slidenum">
              <a:rPr lang="en-US" altLang="zh-CN" smtClean="0"/>
              <a:pPr eaLnBrk="1" hangingPunct="1"/>
              <a:t>25</a:t>
            </a:fld>
            <a:endParaRPr lang="en-US" altLang="zh-CN"/>
          </a:p>
        </p:txBody>
      </p:sp>
      <p:sp>
        <p:nvSpPr>
          <p:cNvPr id="52227" name="Rectangle 2"/>
          <p:cNvSpPr>
            <a:spLocks noGrp="1" noRot="1" noChangeAspect="1" noChangeArrowheads="1" noTextEdit="1"/>
          </p:cNvSpPr>
          <p:nvPr>
            <p:ph type="sldImg"/>
          </p:nvPr>
        </p:nvSpPr>
        <p:spPr>
          <a:xfrm>
            <a:off x="155575" y="744538"/>
            <a:ext cx="6616700" cy="3722687"/>
          </a:xfrm>
          <a:ln/>
        </p:spPr>
      </p:sp>
      <p:sp>
        <p:nvSpPr>
          <p:cNvPr id="52228" name="Rectangle 3"/>
          <p:cNvSpPr>
            <a:spLocks noGrp="1" noChangeArrowheads="1"/>
          </p:cNvSpPr>
          <p:nvPr>
            <p:ph type="body" idx="1"/>
          </p:nvPr>
        </p:nvSpPr>
        <p:spPr>
          <a:noFill/>
        </p:spPr>
        <p:txBody>
          <a:bodyPr/>
          <a:lstStyle/>
          <a:p>
            <a:pPr eaLnBrk="1" hangingPunct="1"/>
            <a:endParaRPr lang="en-US" altLang="zh-CN" dirty="0"/>
          </a:p>
        </p:txBody>
      </p:sp>
    </p:spTree>
    <p:extLst>
      <p:ext uri="{BB962C8B-B14F-4D97-AF65-F5344CB8AC3E}">
        <p14:creationId xmlns:p14="http://schemas.microsoft.com/office/powerpoint/2010/main" val="353526424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7"/>
          <p:cNvSpPr>
            <a:spLocks noGrp="1" noChangeArrowheads="1"/>
          </p:cNvSpPr>
          <p:nvPr>
            <p:ph type="sldNum" sz="quarter" idx="5"/>
          </p:nvPr>
        </p:nvSpPr>
        <p:spPr>
          <a:noFill/>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6B3C0A1A-F45F-4F98-A22C-1923D1B23B32}" type="slidenum">
              <a:rPr lang="en-US" altLang="zh-CN" smtClean="0"/>
              <a:pPr eaLnBrk="1" hangingPunct="1"/>
              <a:t>26</a:t>
            </a:fld>
            <a:endParaRPr lang="en-US" altLang="zh-CN"/>
          </a:p>
        </p:txBody>
      </p:sp>
      <p:sp>
        <p:nvSpPr>
          <p:cNvPr id="52227" name="Rectangle 2"/>
          <p:cNvSpPr>
            <a:spLocks noGrp="1" noRot="1" noChangeAspect="1" noChangeArrowheads="1" noTextEdit="1"/>
          </p:cNvSpPr>
          <p:nvPr>
            <p:ph type="sldImg"/>
          </p:nvPr>
        </p:nvSpPr>
        <p:spPr>
          <a:xfrm>
            <a:off x="155575" y="744538"/>
            <a:ext cx="6616700" cy="3722687"/>
          </a:xfrm>
          <a:ln/>
        </p:spPr>
      </p:sp>
      <p:sp>
        <p:nvSpPr>
          <p:cNvPr id="52228" name="Rectangle 3"/>
          <p:cNvSpPr>
            <a:spLocks noGrp="1" noChangeArrowheads="1"/>
          </p:cNvSpPr>
          <p:nvPr>
            <p:ph type="body" idx="1"/>
          </p:nvPr>
        </p:nvSpPr>
        <p:spPr>
          <a:noFill/>
        </p:spPr>
        <p:txBody>
          <a:bodyPr/>
          <a:lstStyle/>
          <a:p>
            <a:pPr eaLnBrk="1" hangingPunct="1"/>
            <a:r>
              <a:rPr lang="en-US" altLang="zh-CN"/>
              <a:t>{0,1} </a:t>
            </a:r>
            <a:r>
              <a:rPr lang="en-US" altLang="zh-CN">
                <a:sym typeface="Wingdings" pitchFamily="2" charset="2"/>
              </a:rPr>
              <a:t>[0,1]</a:t>
            </a:r>
            <a:endParaRPr lang="en-US" altLang="zh-CN"/>
          </a:p>
        </p:txBody>
      </p:sp>
    </p:spTree>
    <p:extLst>
      <p:ext uri="{BB962C8B-B14F-4D97-AF65-F5344CB8AC3E}">
        <p14:creationId xmlns:p14="http://schemas.microsoft.com/office/powerpoint/2010/main" val="177711464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7"/>
          <p:cNvSpPr>
            <a:spLocks noGrp="1" noChangeArrowheads="1"/>
          </p:cNvSpPr>
          <p:nvPr>
            <p:ph type="sldNum" sz="quarter" idx="5"/>
          </p:nvPr>
        </p:nvSpPr>
        <p:spPr>
          <a:noFill/>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3E2612AB-27BD-4C6F-9158-980EB6231F45}" type="slidenum">
              <a:rPr lang="en-US" altLang="zh-CN" smtClean="0"/>
              <a:pPr eaLnBrk="1" hangingPunct="1"/>
              <a:t>29</a:t>
            </a:fld>
            <a:endParaRPr lang="en-US" altLang="zh-CN"/>
          </a:p>
        </p:txBody>
      </p:sp>
      <p:sp>
        <p:nvSpPr>
          <p:cNvPr id="53251" name="Rectangle 2"/>
          <p:cNvSpPr>
            <a:spLocks noGrp="1" noRot="1" noChangeAspect="1" noChangeArrowheads="1" noTextEdit="1"/>
          </p:cNvSpPr>
          <p:nvPr>
            <p:ph type="sldImg"/>
          </p:nvPr>
        </p:nvSpPr>
        <p:spPr>
          <a:xfrm>
            <a:off x="155575" y="744538"/>
            <a:ext cx="6616700" cy="3722687"/>
          </a:xfrm>
          <a:ln/>
        </p:spPr>
      </p:sp>
      <p:sp>
        <p:nvSpPr>
          <p:cNvPr id="53252" name="Rectangle 3"/>
          <p:cNvSpPr>
            <a:spLocks noGrp="1" noChangeArrowheads="1"/>
          </p:cNvSpPr>
          <p:nvPr>
            <p:ph type="body" idx="1"/>
          </p:nvPr>
        </p:nvSpPr>
        <p:spPr>
          <a:noFill/>
        </p:spPr>
        <p:txBody>
          <a:bodyPr/>
          <a:lstStyle/>
          <a:p>
            <a:pPr eaLnBrk="1" hangingPunct="1"/>
            <a:r>
              <a:rPr lang="en-US" altLang="zh-CN"/>
              <a:t>A={1,3,5}, B={1,2,3,4,5,6} ,</a:t>
            </a:r>
            <a:r>
              <a:rPr lang="zh-CN" altLang="en-US"/>
              <a:t>设论域</a:t>
            </a:r>
            <a:r>
              <a:rPr lang="en-US" altLang="zh-CN"/>
              <a:t>U=</a:t>
            </a:r>
            <a:r>
              <a:rPr lang="zh-CN" altLang="en-US"/>
              <a:t>自然数   则</a:t>
            </a:r>
            <a:r>
              <a:rPr lang="en-US" altLang="zh-CN"/>
              <a:t>B</a:t>
            </a:r>
            <a:r>
              <a:rPr lang="zh-CN" altLang="en-US"/>
              <a:t>的余集</a:t>
            </a:r>
            <a:r>
              <a:rPr lang="en-US" altLang="zh-CN"/>
              <a:t>=</a:t>
            </a:r>
            <a:r>
              <a:rPr lang="zh-CN" altLang="en-US"/>
              <a:t>所有大于</a:t>
            </a:r>
            <a:r>
              <a:rPr lang="en-US" altLang="zh-CN"/>
              <a:t>6</a:t>
            </a:r>
            <a:r>
              <a:rPr lang="zh-CN" altLang="en-US"/>
              <a:t>的自然数 </a:t>
            </a:r>
          </a:p>
        </p:txBody>
      </p:sp>
    </p:spTree>
    <p:extLst>
      <p:ext uri="{BB962C8B-B14F-4D97-AF65-F5344CB8AC3E}">
        <p14:creationId xmlns:p14="http://schemas.microsoft.com/office/powerpoint/2010/main" val="378454075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7"/>
          <p:cNvSpPr>
            <a:spLocks noGrp="1" noChangeArrowheads="1"/>
          </p:cNvSpPr>
          <p:nvPr>
            <p:ph type="sldNum" sz="quarter" idx="5"/>
          </p:nvPr>
        </p:nvSpPr>
        <p:spPr>
          <a:noFill/>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078D81BF-C482-45E9-A60E-3DE983298CD0}" type="slidenum">
              <a:rPr lang="en-US" altLang="zh-CN" smtClean="0"/>
              <a:pPr eaLnBrk="1" hangingPunct="1"/>
              <a:t>32</a:t>
            </a:fld>
            <a:endParaRPr lang="en-US" altLang="zh-CN"/>
          </a:p>
        </p:txBody>
      </p:sp>
      <p:sp>
        <p:nvSpPr>
          <p:cNvPr id="54275" name="Rectangle 2"/>
          <p:cNvSpPr>
            <a:spLocks noGrp="1" noRot="1" noChangeAspect="1" noChangeArrowheads="1" noTextEdit="1"/>
          </p:cNvSpPr>
          <p:nvPr>
            <p:ph type="sldImg"/>
          </p:nvPr>
        </p:nvSpPr>
        <p:spPr>
          <a:xfrm>
            <a:off x="155575" y="744538"/>
            <a:ext cx="6616700" cy="3722687"/>
          </a:xfrm>
          <a:ln/>
        </p:spPr>
      </p:sp>
      <p:sp>
        <p:nvSpPr>
          <p:cNvPr id="54276" name="Rectangle 3"/>
          <p:cNvSpPr>
            <a:spLocks noGrp="1" noChangeArrowheads="1"/>
          </p:cNvSpPr>
          <p:nvPr>
            <p:ph type="body" idx="1"/>
          </p:nvPr>
        </p:nvSpPr>
        <p:spPr>
          <a:noFill/>
        </p:spPr>
        <p:txBody>
          <a:bodyPr/>
          <a:lstStyle/>
          <a:p>
            <a:pPr eaLnBrk="1" hangingPunct="1"/>
            <a:r>
              <a:rPr lang="zh-CN" altLang="en-US"/>
              <a:t>映射是在将信息的集合论形式与函数论表示相结合方面的一个重要概念。通过映射形式可将一个论域的元素或子集映射成另一域内的元素或集合。</a:t>
            </a:r>
          </a:p>
          <a:p>
            <a:pPr eaLnBrk="1" hangingPunct="1"/>
            <a:endParaRPr lang="zh-CN" altLang="en-US"/>
          </a:p>
          <a:p>
            <a:pPr eaLnBrk="1" hangingPunct="1"/>
            <a:endParaRPr lang="en-US" altLang="zh-CN"/>
          </a:p>
        </p:txBody>
      </p:sp>
    </p:spTree>
    <p:extLst>
      <p:ext uri="{BB962C8B-B14F-4D97-AF65-F5344CB8AC3E}">
        <p14:creationId xmlns:p14="http://schemas.microsoft.com/office/powerpoint/2010/main" val="203815540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370C552B-B808-4BB9-80CB-704898857D91}" type="slidenum">
              <a:rPr lang="en-US" altLang="zh-CN" smtClean="0"/>
              <a:pPr>
                <a:defRPr/>
              </a:pPr>
              <a:t>34</a:t>
            </a:fld>
            <a:endParaRPr lang="en-US" altLang="zh-CN"/>
          </a:p>
        </p:txBody>
      </p:sp>
    </p:spTree>
    <p:extLst>
      <p:ext uri="{BB962C8B-B14F-4D97-AF65-F5344CB8AC3E}">
        <p14:creationId xmlns:p14="http://schemas.microsoft.com/office/powerpoint/2010/main" val="25233526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55575" y="744538"/>
            <a:ext cx="6616700" cy="3722687"/>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2E5C87C-2F83-4975-856D-E195687DBE19}" type="slidenum">
              <a:rPr lang="en-US" altLang="zh-CN" smtClean="0"/>
              <a:pPr>
                <a:defRPr/>
              </a:pPr>
              <a:t>41</a:t>
            </a:fld>
            <a:endParaRPr lang="en-US" altLang="zh-CN"/>
          </a:p>
        </p:txBody>
      </p:sp>
    </p:spTree>
    <p:extLst>
      <p:ext uri="{BB962C8B-B14F-4D97-AF65-F5344CB8AC3E}">
        <p14:creationId xmlns:p14="http://schemas.microsoft.com/office/powerpoint/2010/main" val="421927310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7"/>
          <p:cNvSpPr>
            <a:spLocks noGrp="1" noChangeArrowheads="1"/>
          </p:cNvSpPr>
          <p:nvPr>
            <p:ph type="sldNum" sz="quarter" idx="5"/>
          </p:nvPr>
        </p:nvSpPr>
        <p:spPr>
          <a:noFill/>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24E61074-C25A-4F7D-90FB-94339B9691A5}" type="slidenum">
              <a:rPr lang="en-US" altLang="zh-CN" smtClean="0"/>
              <a:pPr eaLnBrk="1" hangingPunct="1"/>
              <a:t>42</a:t>
            </a:fld>
            <a:endParaRPr lang="en-US" altLang="zh-CN"/>
          </a:p>
        </p:txBody>
      </p:sp>
      <p:sp>
        <p:nvSpPr>
          <p:cNvPr id="55299" name="Rectangle 2"/>
          <p:cNvSpPr>
            <a:spLocks noGrp="1" noRot="1" noChangeAspect="1" noChangeArrowheads="1" noTextEdit="1"/>
          </p:cNvSpPr>
          <p:nvPr>
            <p:ph type="sldImg"/>
          </p:nvPr>
        </p:nvSpPr>
        <p:spPr>
          <a:xfrm>
            <a:off x="155575" y="744538"/>
            <a:ext cx="6616700" cy="3722687"/>
          </a:xfrm>
          <a:ln/>
        </p:spPr>
      </p:sp>
      <p:sp>
        <p:nvSpPr>
          <p:cNvPr id="55300" name="Rectangle 3"/>
          <p:cNvSpPr>
            <a:spLocks noGrp="1" noChangeArrowheads="1"/>
          </p:cNvSpPr>
          <p:nvPr>
            <p:ph type="body" idx="1"/>
          </p:nvPr>
        </p:nvSpPr>
        <p:spPr>
          <a:noFill/>
        </p:spPr>
        <p:txBody>
          <a:bodyPr/>
          <a:lstStyle/>
          <a:p>
            <a:pPr eaLnBrk="1" hangingPunct="1"/>
            <a:r>
              <a:rPr lang="zh-CN" altLang="en-US"/>
              <a:t>作图</a:t>
            </a:r>
            <a:r>
              <a:rPr lang="en-US" altLang="zh-CN"/>
              <a:t>P7</a:t>
            </a:r>
          </a:p>
        </p:txBody>
      </p:sp>
    </p:spTree>
    <p:extLst>
      <p:ext uri="{BB962C8B-B14F-4D97-AF65-F5344CB8AC3E}">
        <p14:creationId xmlns:p14="http://schemas.microsoft.com/office/powerpoint/2010/main" val="393135688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55575" y="744538"/>
            <a:ext cx="6616700" cy="3722687"/>
          </a:xfrm>
        </p:spPr>
      </p:sp>
      <p:sp>
        <p:nvSpPr>
          <p:cNvPr id="3" name="备注占位符 2"/>
          <p:cNvSpPr>
            <a:spLocks noGrp="1"/>
          </p:cNvSpPr>
          <p:nvPr>
            <p:ph type="body" idx="1"/>
          </p:nvPr>
        </p:nvSpPr>
        <p:spPr/>
        <p:txBody>
          <a:bodyPr/>
          <a:lstStyle/>
          <a:p>
            <a:r>
              <a:rPr kumimoji="1" lang="en-US" altLang="zh-CN" sz="1200" b="1" dirty="0">
                <a:solidFill>
                  <a:srgbClr val="0000FF"/>
                </a:solidFill>
                <a:sym typeface="Symbol" pitchFamily="18" charset="2"/>
              </a:rPr>
              <a:t> </a:t>
            </a:r>
            <a:r>
              <a:rPr lang="en-US" altLang="zh-CN" sz="1100" dirty="0">
                <a:solidFill>
                  <a:srgbClr val="CC00FF"/>
                </a:solidFill>
              </a:rPr>
              <a:t>Ø</a:t>
            </a:r>
            <a:r>
              <a:rPr kumimoji="1" lang="en-US" altLang="zh-CN" dirty="0">
                <a:sym typeface="Symbol" pitchFamily="18" charset="2"/>
              </a:rPr>
              <a:t> </a:t>
            </a:r>
            <a:r>
              <a:rPr kumimoji="1" lang="en-US" altLang="zh-CN" sz="1400" b="1" i="1" dirty="0">
                <a:solidFill>
                  <a:srgbClr val="0000FF"/>
                </a:solidFill>
                <a:cs typeface="Times New Roman" pitchFamily="18" charset="0"/>
                <a:sym typeface="Symbol" pitchFamily="18" charset="2"/>
              </a:rPr>
              <a:t>.</a:t>
            </a:r>
            <a:endParaRPr lang="zh-CN" altLang="en-US" dirty="0"/>
          </a:p>
        </p:txBody>
      </p:sp>
      <p:sp>
        <p:nvSpPr>
          <p:cNvPr id="4" name="灯片编号占位符 3"/>
          <p:cNvSpPr>
            <a:spLocks noGrp="1"/>
          </p:cNvSpPr>
          <p:nvPr>
            <p:ph type="sldNum" sz="quarter" idx="5"/>
          </p:nvPr>
        </p:nvSpPr>
        <p:spPr/>
        <p:txBody>
          <a:bodyPr/>
          <a:lstStyle/>
          <a:p>
            <a:pPr>
              <a:defRPr/>
            </a:pPr>
            <a:fld id="{E2E5C87C-2F83-4975-856D-E195687DBE19}" type="slidenum">
              <a:rPr lang="en-US" altLang="zh-CN" smtClean="0"/>
              <a:pPr>
                <a:defRPr/>
              </a:pPr>
              <a:t>46</a:t>
            </a:fld>
            <a:endParaRPr lang="en-US" altLang="zh-CN"/>
          </a:p>
        </p:txBody>
      </p:sp>
    </p:spTree>
    <p:extLst>
      <p:ext uri="{BB962C8B-B14F-4D97-AF65-F5344CB8AC3E}">
        <p14:creationId xmlns:p14="http://schemas.microsoft.com/office/powerpoint/2010/main" val="378725581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55575" y="744538"/>
            <a:ext cx="6616700" cy="3722687"/>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2E5C87C-2F83-4975-856D-E195687DBE19}" type="slidenum">
              <a:rPr lang="en-US" altLang="zh-CN" smtClean="0"/>
              <a:pPr>
                <a:defRPr/>
              </a:pPr>
              <a:t>51</a:t>
            </a:fld>
            <a:endParaRPr lang="en-US" altLang="zh-CN"/>
          </a:p>
        </p:txBody>
      </p:sp>
    </p:spTree>
    <p:extLst>
      <p:ext uri="{BB962C8B-B14F-4D97-AF65-F5344CB8AC3E}">
        <p14:creationId xmlns:p14="http://schemas.microsoft.com/office/powerpoint/2010/main" val="238973498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4" name="Group 2"/>
          <p:cNvGrpSpPr>
            <a:grpSpLocks/>
          </p:cNvGrpSpPr>
          <p:nvPr/>
        </p:nvGrpSpPr>
        <p:grpSpPr bwMode="auto">
          <a:xfrm>
            <a:off x="0" y="0"/>
            <a:ext cx="12192000" cy="6858000"/>
            <a:chOff x="0" y="0"/>
            <a:chExt cx="5760" cy="4320"/>
          </a:xfrm>
        </p:grpSpPr>
        <p:sp>
          <p:nvSpPr>
            <p:cNvPr id="5" name="Rectangle 3"/>
            <p:cNvSpPr>
              <a:spLocks noChangeArrowheads="1"/>
            </p:cNvSpPr>
            <p:nvPr/>
          </p:nvSpPr>
          <p:spPr bwMode="hidden">
            <a:xfrm>
              <a:off x="0" y="0"/>
              <a:ext cx="2208" cy="4320"/>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sz="2400">
                <a:latin typeface="Times New Roman" pitchFamily="18" charset="0"/>
              </a:endParaRPr>
            </a:p>
          </p:txBody>
        </p:sp>
        <p:sp>
          <p:nvSpPr>
            <p:cNvPr id="6" name="Rectangle 4"/>
            <p:cNvSpPr>
              <a:spLocks noChangeArrowheads="1"/>
            </p:cNvSpPr>
            <p:nvPr/>
          </p:nvSpPr>
          <p:spPr bwMode="hidden">
            <a:xfrm>
              <a:off x="1081" y="1065"/>
              <a:ext cx="4679" cy="1596"/>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sz="2400">
                <a:latin typeface="Times New Roman" pitchFamily="18" charset="0"/>
              </a:endParaRPr>
            </a:p>
          </p:txBody>
        </p:sp>
        <p:grpSp>
          <p:nvGrpSpPr>
            <p:cNvPr id="7" name="Group 5"/>
            <p:cNvGrpSpPr>
              <a:grpSpLocks/>
            </p:cNvGrpSpPr>
            <p:nvPr/>
          </p:nvGrpSpPr>
          <p:grpSpPr bwMode="auto">
            <a:xfrm>
              <a:off x="0" y="672"/>
              <a:ext cx="1806" cy="1989"/>
              <a:chOff x="0" y="672"/>
              <a:chExt cx="1806" cy="1989"/>
            </a:xfrm>
          </p:grpSpPr>
          <p:sp>
            <p:nvSpPr>
              <p:cNvPr id="8" name="Rectangle 6"/>
              <p:cNvSpPr>
                <a:spLocks noChangeArrowheads="1"/>
              </p:cNvSpPr>
              <p:nvPr userDrawn="1"/>
            </p:nvSpPr>
            <p:spPr bwMode="auto">
              <a:xfrm>
                <a:off x="361" y="2257"/>
                <a:ext cx="363" cy="404"/>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sz="2400">
                  <a:latin typeface="Times New Roman" pitchFamily="18" charset="0"/>
                </a:endParaRPr>
              </a:p>
            </p:txBody>
          </p:sp>
          <p:sp>
            <p:nvSpPr>
              <p:cNvPr id="9" name="Rectangle 7"/>
              <p:cNvSpPr>
                <a:spLocks noChangeArrowheads="1"/>
              </p:cNvSpPr>
              <p:nvPr userDrawn="1"/>
            </p:nvSpPr>
            <p:spPr bwMode="auto">
              <a:xfrm>
                <a:off x="1081" y="1065"/>
                <a:ext cx="362" cy="405"/>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sz="2400">
                  <a:latin typeface="Times New Roman" pitchFamily="18" charset="0"/>
                </a:endParaRPr>
              </a:p>
            </p:txBody>
          </p:sp>
          <p:sp>
            <p:nvSpPr>
              <p:cNvPr id="10" name="Rectangle 8"/>
              <p:cNvSpPr>
                <a:spLocks noChangeArrowheads="1"/>
              </p:cNvSpPr>
              <p:nvPr userDrawn="1"/>
            </p:nvSpPr>
            <p:spPr bwMode="auto">
              <a:xfrm>
                <a:off x="1437" y="672"/>
                <a:ext cx="369" cy="400"/>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sz="2400">
                  <a:latin typeface="Times New Roman" pitchFamily="18" charset="0"/>
                </a:endParaRPr>
              </a:p>
            </p:txBody>
          </p:sp>
          <p:sp>
            <p:nvSpPr>
              <p:cNvPr id="11" name="Rectangle 9"/>
              <p:cNvSpPr>
                <a:spLocks noChangeArrowheads="1"/>
              </p:cNvSpPr>
              <p:nvPr userDrawn="1"/>
            </p:nvSpPr>
            <p:spPr bwMode="auto">
              <a:xfrm>
                <a:off x="719" y="2257"/>
                <a:ext cx="368" cy="404"/>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sz="2400">
                  <a:latin typeface="Times New Roman" pitchFamily="18" charset="0"/>
                </a:endParaRPr>
              </a:p>
            </p:txBody>
          </p:sp>
          <p:sp>
            <p:nvSpPr>
              <p:cNvPr id="12" name="Rectangle 10"/>
              <p:cNvSpPr>
                <a:spLocks noChangeArrowheads="1"/>
              </p:cNvSpPr>
              <p:nvPr userDrawn="1"/>
            </p:nvSpPr>
            <p:spPr bwMode="auto">
              <a:xfrm>
                <a:off x="1437" y="1065"/>
                <a:ext cx="369" cy="405"/>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sz="2400">
                  <a:latin typeface="Times New Roman" pitchFamily="18" charset="0"/>
                </a:endParaRPr>
              </a:p>
            </p:txBody>
          </p:sp>
          <p:sp>
            <p:nvSpPr>
              <p:cNvPr id="13" name="Rectangle 11"/>
              <p:cNvSpPr>
                <a:spLocks noChangeArrowheads="1"/>
              </p:cNvSpPr>
              <p:nvPr userDrawn="1"/>
            </p:nvSpPr>
            <p:spPr bwMode="auto">
              <a:xfrm>
                <a:off x="719" y="1464"/>
                <a:ext cx="368" cy="399"/>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sz="2400">
                  <a:latin typeface="Times New Roman" pitchFamily="18" charset="0"/>
                </a:endParaRPr>
              </a:p>
            </p:txBody>
          </p:sp>
          <p:sp>
            <p:nvSpPr>
              <p:cNvPr id="14" name="Rectangle 12"/>
              <p:cNvSpPr>
                <a:spLocks noChangeArrowheads="1"/>
              </p:cNvSpPr>
              <p:nvPr userDrawn="1"/>
            </p:nvSpPr>
            <p:spPr bwMode="auto">
              <a:xfrm>
                <a:off x="0" y="1464"/>
                <a:ext cx="367" cy="399"/>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sz="2400">
                  <a:latin typeface="Times New Roman" pitchFamily="18" charset="0"/>
                </a:endParaRPr>
              </a:p>
            </p:txBody>
          </p:sp>
          <p:sp>
            <p:nvSpPr>
              <p:cNvPr id="15" name="Rectangle 13"/>
              <p:cNvSpPr>
                <a:spLocks noChangeArrowheads="1"/>
              </p:cNvSpPr>
              <p:nvPr userDrawn="1"/>
            </p:nvSpPr>
            <p:spPr bwMode="auto">
              <a:xfrm>
                <a:off x="1081" y="1464"/>
                <a:ext cx="362" cy="399"/>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sz="2400">
                  <a:latin typeface="Times New Roman" pitchFamily="18" charset="0"/>
                </a:endParaRPr>
              </a:p>
            </p:txBody>
          </p:sp>
          <p:sp>
            <p:nvSpPr>
              <p:cNvPr id="16" name="Rectangle 14"/>
              <p:cNvSpPr>
                <a:spLocks noChangeArrowheads="1"/>
              </p:cNvSpPr>
              <p:nvPr userDrawn="1"/>
            </p:nvSpPr>
            <p:spPr bwMode="auto">
              <a:xfrm>
                <a:off x="361" y="1857"/>
                <a:ext cx="363" cy="406"/>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sz="2400">
                  <a:latin typeface="Times New Roman" pitchFamily="18" charset="0"/>
                </a:endParaRPr>
              </a:p>
            </p:txBody>
          </p:sp>
          <p:sp>
            <p:nvSpPr>
              <p:cNvPr id="17" name="Rectangle 15"/>
              <p:cNvSpPr>
                <a:spLocks noChangeArrowheads="1"/>
              </p:cNvSpPr>
              <p:nvPr userDrawn="1"/>
            </p:nvSpPr>
            <p:spPr bwMode="auto">
              <a:xfrm>
                <a:off x="719" y="1857"/>
                <a:ext cx="368" cy="406"/>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sz="2400">
                  <a:latin typeface="Times New Roman" pitchFamily="18" charset="0"/>
                </a:endParaRPr>
              </a:p>
            </p:txBody>
          </p:sp>
        </p:grpSp>
      </p:grpSp>
      <p:sp>
        <p:nvSpPr>
          <p:cNvPr id="20499" name="Rectangle 19"/>
          <p:cNvSpPr>
            <a:spLocks noGrp="1" noChangeArrowheads="1"/>
          </p:cNvSpPr>
          <p:nvPr>
            <p:ph type="ctrTitle"/>
          </p:nvPr>
        </p:nvSpPr>
        <p:spPr>
          <a:xfrm>
            <a:off x="3962400" y="1828800"/>
            <a:ext cx="8026400" cy="2209800"/>
          </a:xfrm>
        </p:spPr>
        <p:txBody>
          <a:bodyPr/>
          <a:lstStyle>
            <a:lvl1pPr>
              <a:defRPr sz="5000">
                <a:solidFill>
                  <a:srgbClr val="FFFFFF"/>
                </a:solidFill>
              </a:defRPr>
            </a:lvl1pPr>
          </a:lstStyle>
          <a:p>
            <a:pPr lvl="0"/>
            <a:r>
              <a:rPr lang="zh-CN" altLang="en-US" noProof="0" dirty="0"/>
              <a:t>单击此处编辑母版标题样式</a:t>
            </a:r>
          </a:p>
        </p:txBody>
      </p:sp>
      <p:sp>
        <p:nvSpPr>
          <p:cNvPr id="20500" name="Rectangle 20"/>
          <p:cNvSpPr>
            <a:spLocks noGrp="1" noChangeArrowheads="1"/>
          </p:cNvSpPr>
          <p:nvPr>
            <p:ph type="subTitle" idx="1"/>
          </p:nvPr>
        </p:nvSpPr>
        <p:spPr>
          <a:xfrm>
            <a:off x="3962400" y="4267200"/>
            <a:ext cx="8026400" cy="1752600"/>
          </a:xfrm>
        </p:spPr>
        <p:txBody>
          <a:bodyPr/>
          <a:lstStyle>
            <a:lvl1pPr marL="0" indent="0">
              <a:buFont typeface="Wingdings" pitchFamily="2" charset="2"/>
              <a:buNone/>
              <a:defRPr sz="3400"/>
            </a:lvl1pPr>
          </a:lstStyle>
          <a:p>
            <a:pPr lvl="0"/>
            <a:r>
              <a:rPr lang="zh-CN" altLang="en-US" noProof="0"/>
              <a:t>单击此处编辑母版副标题样式</a:t>
            </a:r>
          </a:p>
        </p:txBody>
      </p:sp>
      <p:sp>
        <p:nvSpPr>
          <p:cNvPr id="18" name="Rectangle 16"/>
          <p:cNvSpPr>
            <a:spLocks noGrp="1" noChangeArrowheads="1"/>
          </p:cNvSpPr>
          <p:nvPr>
            <p:ph type="dt" sz="half" idx="10"/>
          </p:nvPr>
        </p:nvSpPr>
        <p:spPr>
          <a:xfrm>
            <a:off x="609600" y="6248400"/>
            <a:ext cx="2844800" cy="457200"/>
          </a:xfrm>
        </p:spPr>
        <p:txBody>
          <a:bodyPr/>
          <a:lstStyle>
            <a:lvl1pPr>
              <a:defRPr smtClean="0"/>
            </a:lvl1pPr>
          </a:lstStyle>
          <a:p>
            <a:pPr>
              <a:defRPr/>
            </a:pPr>
            <a:endParaRPr lang="en-US" altLang="zh-CN"/>
          </a:p>
        </p:txBody>
      </p:sp>
      <p:sp>
        <p:nvSpPr>
          <p:cNvPr id="19" name="Rectangle 17"/>
          <p:cNvSpPr>
            <a:spLocks noGrp="1" noChangeArrowheads="1"/>
          </p:cNvSpPr>
          <p:nvPr>
            <p:ph type="ftr" sz="quarter" idx="11"/>
          </p:nvPr>
        </p:nvSpPr>
        <p:spPr/>
        <p:txBody>
          <a:bodyPr/>
          <a:lstStyle>
            <a:lvl1pPr>
              <a:defRPr smtClean="0"/>
            </a:lvl1pPr>
          </a:lstStyle>
          <a:p>
            <a:pPr>
              <a:defRPr/>
            </a:pPr>
            <a:endParaRPr lang="en-US" altLang="zh-CN"/>
          </a:p>
        </p:txBody>
      </p:sp>
      <p:sp>
        <p:nvSpPr>
          <p:cNvPr id="20" name="Rectangle 18"/>
          <p:cNvSpPr>
            <a:spLocks noGrp="1" noChangeArrowheads="1"/>
          </p:cNvSpPr>
          <p:nvPr>
            <p:ph type="sldNum" sz="quarter" idx="12"/>
          </p:nvPr>
        </p:nvSpPr>
        <p:spPr/>
        <p:txBody>
          <a:bodyPr/>
          <a:lstStyle>
            <a:lvl1pPr>
              <a:defRPr smtClean="0"/>
            </a:lvl1pPr>
          </a:lstStyle>
          <a:p>
            <a:pPr>
              <a:defRPr/>
            </a:pPr>
            <a:fld id="{11CCFCAA-4957-4B04-A6A2-B81EEF572BC4}" type="slidenum">
              <a:rPr lang="en-US" altLang="zh-CN"/>
              <a:pPr>
                <a:defRPr/>
              </a:pPr>
              <a:t>‹#›</a:t>
            </a:fld>
            <a:endParaRPr lang="en-US" altLang="zh-CN"/>
          </a:p>
        </p:txBody>
      </p:sp>
    </p:spTree>
    <p:extLst>
      <p:ext uri="{BB962C8B-B14F-4D97-AF65-F5344CB8AC3E}">
        <p14:creationId xmlns:p14="http://schemas.microsoft.com/office/powerpoint/2010/main" val="35889775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2"/>
          <p:cNvSpPr>
            <a:spLocks noGrp="1" noChangeArrowheads="1"/>
          </p:cNvSpPr>
          <p:nvPr>
            <p:ph type="ftr" sz="quarter" idx="10"/>
          </p:nvPr>
        </p:nvSpPr>
        <p:spPr>
          <a:ln/>
        </p:spPr>
        <p:txBody>
          <a:bodyPr/>
          <a:lstStyle>
            <a:lvl1pPr>
              <a:defRPr/>
            </a:lvl1pPr>
          </a:lstStyle>
          <a:p>
            <a:pPr>
              <a:defRPr/>
            </a:pPr>
            <a:endParaRPr lang="en-US" altLang="zh-CN"/>
          </a:p>
        </p:txBody>
      </p:sp>
      <p:sp>
        <p:nvSpPr>
          <p:cNvPr id="5" name="Rectangle 3"/>
          <p:cNvSpPr>
            <a:spLocks noGrp="1" noChangeArrowheads="1"/>
          </p:cNvSpPr>
          <p:nvPr>
            <p:ph type="sldNum" sz="quarter" idx="11"/>
          </p:nvPr>
        </p:nvSpPr>
        <p:spPr>
          <a:ln/>
        </p:spPr>
        <p:txBody>
          <a:bodyPr/>
          <a:lstStyle>
            <a:lvl1pPr>
              <a:defRPr/>
            </a:lvl1pPr>
          </a:lstStyle>
          <a:p>
            <a:pPr>
              <a:defRPr/>
            </a:pPr>
            <a:fld id="{E0A72FFD-5C57-4935-A48A-C39F60B379DD}" type="slidenum">
              <a:rPr lang="en-US" altLang="zh-CN"/>
              <a:pPr>
                <a:defRPr/>
              </a:pPr>
              <a:t>‹#›</a:t>
            </a:fld>
            <a:endParaRPr lang="en-US" altLang="zh-CN"/>
          </a:p>
        </p:txBody>
      </p:sp>
      <p:sp>
        <p:nvSpPr>
          <p:cNvPr id="6" name="Rectangle 16"/>
          <p:cNvSpPr>
            <a:spLocks noGrp="1" noChangeArrowheads="1"/>
          </p:cNvSpPr>
          <p:nvPr>
            <p:ph type="dt" sz="half" idx="12"/>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40555316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3"/>
            <a:ext cx="103632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2"/>
          <p:cNvSpPr>
            <a:spLocks noGrp="1" noChangeArrowheads="1"/>
          </p:cNvSpPr>
          <p:nvPr>
            <p:ph type="ftr" sz="quarter" idx="10"/>
          </p:nvPr>
        </p:nvSpPr>
        <p:spPr>
          <a:ln/>
        </p:spPr>
        <p:txBody>
          <a:bodyPr/>
          <a:lstStyle>
            <a:lvl1pPr>
              <a:defRPr/>
            </a:lvl1pPr>
          </a:lstStyle>
          <a:p>
            <a:pPr>
              <a:defRPr/>
            </a:pPr>
            <a:endParaRPr lang="en-US" altLang="zh-CN"/>
          </a:p>
        </p:txBody>
      </p:sp>
      <p:sp>
        <p:nvSpPr>
          <p:cNvPr id="5" name="Rectangle 3"/>
          <p:cNvSpPr>
            <a:spLocks noGrp="1" noChangeArrowheads="1"/>
          </p:cNvSpPr>
          <p:nvPr>
            <p:ph type="sldNum" sz="quarter" idx="11"/>
          </p:nvPr>
        </p:nvSpPr>
        <p:spPr>
          <a:ln/>
        </p:spPr>
        <p:txBody>
          <a:bodyPr/>
          <a:lstStyle>
            <a:lvl1pPr>
              <a:defRPr/>
            </a:lvl1pPr>
          </a:lstStyle>
          <a:p>
            <a:pPr>
              <a:defRPr/>
            </a:pPr>
            <a:fld id="{A037749F-56AB-439F-9E0C-BB26C8047ED4}" type="slidenum">
              <a:rPr lang="en-US" altLang="zh-CN"/>
              <a:pPr>
                <a:defRPr/>
              </a:pPr>
              <a:t>‹#›</a:t>
            </a:fld>
            <a:endParaRPr lang="en-US" altLang="zh-CN"/>
          </a:p>
        </p:txBody>
      </p:sp>
      <p:sp>
        <p:nvSpPr>
          <p:cNvPr id="6" name="Rectangle 16"/>
          <p:cNvSpPr>
            <a:spLocks noGrp="1" noChangeArrowheads="1"/>
          </p:cNvSpPr>
          <p:nvPr>
            <p:ph type="dt" sz="half" idx="12"/>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42315232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09600" y="1981200"/>
            <a:ext cx="5384800" cy="3886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97600" y="1981200"/>
            <a:ext cx="5384800" cy="3886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2"/>
          <p:cNvSpPr>
            <a:spLocks noGrp="1" noChangeArrowheads="1"/>
          </p:cNvSpPr>
          <p:nvPr>
            <p:ph type="ftr" sz="quarter" idx="10"/>
          </p:nvPr>
        </p:nvSpPr>
        <p:spPr>
          <a:ln/>
        </p:spPr>
        <p:txBody>
          <a:bodyPr/>
          <a:lstStyle>
            <a:lvl1pPr>
              <a:defRPr/>
            </a:lvl1pPr>
          </a:lstStyle>
          <a:p>
            <a:pPr>
              <a:defRPr/>
            </a:pPr>
            <a:endParaRPr lang="en-US" altLang="zh-CN"/>
          </a:p>
        </p:txBody>
      </p:sp>
      <p:sp>
        <p:nvSpPr>
          <p:cNvPr id="6" name="Rectangle 3"/>
          <p:cNvSpPr>
            <a:spLocks noGrp="1" noChangeArrowheads="1"/>
          </p:cNvSpPr>
          <p:nvPr>
            <p:ph type="sldNum" sz="quarter" idx="11"/>
          </p:nvPr>
        </p:nvSpPr>
        <p:spPr>
          <a:ln/>
        </p:spPr>
        <p:txBody>
          <a:bodyPr/>
          <a:lstStyle>
            <a:lvl1pPr>
              <a:defRPr/>
            </a:lvl1pPr>
          </a:lstStyle>
          <a:p>
            <a:pPr>
              <a:defRPr/>
            </a:pPr>
            <a:fld id="{BDEB1E10-EBCB-4CA2-93F3-1A947BCF63F7}" type="slidenum">
              <a:rPr lang="en-US" altLang="zh-CN"/>
              <a:pPr>
                <a:defRPr/>
              </a:pPr>
              <a:t>‹#›</a:t>
            </a:fld>
            <a:endParaRPr lang="en-US" altLang="zh-CN"/>
          </a:p>
        </p:txBody>
      </p:sp>
      <p:sp>
        <p:nvSpPr>
          <p:cNvPr id="7" name="Rectangle 16"/>
          <p:cNvSpPr>
            <a:spLocks noGrp="1" noChangeArrowheads="1"/>
          </p:cNvSpPr>
          <p:nvPr>
            <p:ph type="dt" sz="half" idx="12"/>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22192785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3369"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3369"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2"/>
          <p:cNvSpPr>
            <a:spLocks noGrp="1" noChangeArrowheads="1"/>
          </p:cNvSpPr>
          <p:nvPr>
            <p:ph type="ftr" sz="quarter" idx="10"/>
          </p:nvPr>
        </p:nvSpPr>
        <p:spPr>
          <a:ln/>
        </p:spPr>
        <p:txBody>
          <a:bodyPr/>
          <a:lstStyle>
            <a:lvl1pPr>
              <a:defRPr/>
            </a:lvl1pPr>
          </a:lstStyle>
          <a:p>
            <a:pPr>
              <a:defRPr/>
            </a:pPr>
            <a:endParaRPr lang="en-US" altLang="zh-CN"/>
          </a:p>
        </p:txBody>
      </p:sp>
      <p:sp>
        <p:nvSpPr>
          <p:cNvPr id="8" name="Rectangle 3"/>
          <p:cNvSpPr>
            <a:spLocks noGrp="1" noChangeArrowheads="1"/>
          </p:cNvSpPr>
          <p:nvPr>
            <p:ph type="sldNum" sz="quarter" idx="11"/>
          </p:nvPr>
        </p:nvSpPr>
        <p:spPr>
          <a:ln/>
        </p:spPr>
        <p:txBody>
          <a:bodyPr/>
          <a:lstStyle>
            <a:lvl1pPr>
              <a:defRPr/>
            </a:lvl1pPr>
          </a:lstStyle>
          <a:p>
            <a:pPr>
              <a:defRPr/>
            </a:pPr>
            <a:fld id="{A8813C25-4A92-492A-975C-6AB26093A203}" type="slidenum">
              <a:rPr lang="en-US" altLang="zh-CN"/>
              <a:pPr>
                <a:defRPr/>
              </a:pPr>
              <a:t>‹#›</a:t>
            </a:fld>
            <a:endParaRPr lang="en-US" altLang="zh-CN"/>
          </a:p>
        </p:txBody>
      </p:sp>
      <p:sp>
        <p:nvSpPr>
          <p:cNvPr id="9" name="Rectangle 16"/>
          <p:cNvSpPr>
            <a:spLocks noGrp="1" noChangeArrowheads="1"/>
          </p:cNvSpPr>
          <p:nvPr>
            <p:ph type="dt" sz="half" idx="12"/>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27961904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2"/>
          <p:cNvSpPr>
            <a:spLocks noGrp="1" noChangeArrowheads="1"/>
          </p:cNvSpPr>
          <p:nvPr>
            <p:ph type="ftr" sz="quarter" idx="10"/>
          </p:nvPr>
        </p:nvSpPr>
        <p:spPr>
          <a:ln/>
        </p:spPr>
        <p:txBody>
          <a:bodyPr/>
          <a:lstStyle>
            <a:lvl1pPr>
              <a:defRPr/>
            </a:lvl1pPr>
          </a:lstStyle>
          <a:p>
            <a:pPr>
              <a:defRPr/>
            </a:pPr>
            <a:endParaRPr lang="en-US" altLang="zh-CN"/>
          </a:p>
        </p:txBody>
      </p:sp>
      <p:sp>
        <p:nvSpPr>
          <p:cNvPr id="4" name="Rectangle 3"/>
          <p:cNvSpPr>
            <a:spLocks noGrp="1" noChangeArrowheads="1"/>
          </p:cNvSpPr>
          <p:nvPr>
            <p:ph type="sldNum" sz="quarter" idx="11"/>
          </p:nvPr>
        </p:nvSpPr>
        <p:spPr>
          <a:ln/>
        </p:spPr>
        <p:txBody>
          <a:bodyPr/>
          <a:lstStyle>
            <a:lvl1pPr>
              <a:defRPr/>
            </a:lvl1pPr>
          </a:lstStyle>
          <a:p>
            <a:pPr>
              <a:defRPr/>
            </a:pPr>
            <a:fld id="{233B6A06-2B4B-43B4-8EBF-330BC5815B54}" type="slidenum">
              <a:rPr lang="en-US" altLang="zh-CN"/>
              <a:pPr>
                <a:defRPr/>
              </a:pPr>
              <a:t>‹#›</a:t>
            </a:fld>
            <a:endParaRPr lang="en-US" altLang="zh-CN"/>
          </a:p>
        </p:txBody>
      </p:sp>
      <p:sp>
        <p:nvSpPr>
          <p:cNvPr id="5" name="Rectangle 16"/>
          <p:cNvSpPr>
            <a:spLocks noGrp="1" noChangeArrowheads="1"/>
          </p:cNvSpPr>
          <p:nvPr>
            <p:ph type="dt" sz="half" idx="12"/>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42718630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2"/>
          <p:cNvSpPr>
            <a:spLocks noGrp="1" noChangeArrowheads="1"/>
          </p:cNvSpPr>
          <p:nvPr>
            <p:ph type="ftr" sz="quarter" idx="10"/>
          </p:nvPr>
        </p:nvSpPr>
        <p:spPr>
          <a:ln/>
        </p:spPr>
        <p:txBody>
          <a:bodyPr/>
          <a:lstStyle>
            <a:lvl1pPr>
              <a:defRPr/>
            </a:lvl1pPr>
          </a:lstStyle>
          <a:p>
            <a:pPr>
              <a:defRPr/>
            </a:pPr>
            <a:endParaRPr lang="en-US" altLang="zh-CN"/>
          </a:p>
        </p:txBody>
      </p:sp>
      <p:sp>
        <p:nvSpPr>
          <p:cNvPr id="3" name="Rectangle 3"/>
          <p:cNvSpPr>
            <a:spLocks noGrp="1" noChangeArrowheads="1"/>
          </p:cNvSpPr>
          <p:nvPr>
            <p:ph type="sldNum" sz="quarter" idx="11"/>
          </p:nvPr>
        </p:nvSpPr>
        <p:spPr>
          <a:ln/>
        </p:spPr>
        <p:txBody>
          <a:bodyPr/>
          <a:lstStyle>
            <a:lvl1pPr>
              <a:defRPr/>
            </a:lvl1pPr>
          </a:lstStyle>
          <a:p>
            <a:pPr>
              <a:defRPr/>
            </a:pPr>
            <a:fld id="{EF5B0D1C-3AD4-47E8-8BCC-9930D4C2FFA5}" type="slidenum">
              <a:rPr lang="en-US" altLang="zh-CN"/>
              <a:pPr>
                <a:defRPr/>
              </a:pPr>
              <a:t>‹#›</a:t>
            </a:fld>
            <a:endParaRPr lang="en-US" altLang="zh-CN"/>
          </a:p>
        </p:txBody>
      </p:sp>
      <p:sp>
        <p:nvSpPr>
          <p:cNvPr id="4" name="Rectangle 16"/>
          <p:cNvSpPr>
            <a:spLocks noGrp="1" noChangeArrowheads="1"/>
          </p:cNvSpPr>
          <p:nvPr>
            <p:ph type="dt" sz="half" idx="12"/>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38666505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2" y="273050"/>
            <a:ext cx="4011084"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766733" y="273053"/>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02" y="1435103"/>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2"/>
          <p:cNvSpPr>
            <a:spLocks noGrp="1" noChangeArrowheads="1"/>
          </p:cNvSpPr>
          <p:nvPr>
            <p:ph type="ftr" sz="quarter" idx="10"/>
          </p:nvPr>
        </p:nvSpPr>
        <p:spPr>
          <a:ln/>
        </p:spPr>
        <p:txBody>
          <a:bodyPr/>
          <a:lstStyle>
            <a:lvl1pPr>
              <a:defRPr/>
            </a:lvl1pPr>
          </a:lstStyle>
          <a:p>
            <a:pPr>
              <a:defRPr/>
            </a:pPr>
            <a:endParaRPr lang="en-US" altLang="zh-CN"/>
          </a:p>
        </p:txBody>
      </p:sp>
      <p:sp>
        <p:nvSpPr>
          <p:cNvPr id="6" name="Rectangle 3"/>
          <p:cNvSpPr>
            <a:spLocks noGrp="1" noChangeArrowheads="1"/>
          </p:cNvSpPr>
          <p:nvPr>
            <p:ph type="sldNum" sz="quarter" idx="11"/>
          </p:nvPr>
        </p:nvSpPr>
        <p:spPr>
          <a:ln/>
        </p:spPr>
        <p:txBody>
          <a:bodyPr/>
          <a:lstStyle>
            <a:lvl1pPr>
              <a:defRPr/>
            </a:lvl1pPr>
          </a:lstStyle>
          <a:p>
            <a:pPr>
              <a:defRPr/>
            </a:pPr>
            <a:fld id="{F56EECB0-7CB8-4001-B0C0-75EFE47B18ED}" type="slidenum">
              <a:rPr lang="en-US" altLang="zh-CN"/>
              <a:pPr>
                <a:defRPr/>
              </a:pPr>
              <a:t>‹#›</a:t>
            </a:fld>
            <a:endParaRPr lang="en-US" altLang="zh-CN"/>
          </a:p>
        </p:txBody>
      </p:sp>
      <p:sp>
        <p:nvSpPr>
          <p:cNvPr id="7" name="Rectangle 16"/>
          <p:cNvSpPr>
            <a:spLocks noGrp="1" noChangeArrowheads="1"/>
          </p:cNvSpPr>
          <p:nvPr>
            <p:ph type="dt" sz="half" idx="12"/>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25909970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2"/>
          <p:cNvSpPr>
            <a:spLocks noGrp="1" noChangeArrowheads="1"/>
          </p:cNvSpPr>
          <p:nvPr>
            <p:ph type="ftr" sz="quarter" idx="10"/>
          </p:nvPr>
        </p:nvSpPr>
        <p:spPr>
          <a:ln/>
        </p:spPr>
        <p:txBody>
          <a:bodyPr/>
          <a:lstStyle>
            <a:lvl1pPr>
              <a:defRPr/>
            </a:lvl1pPr>
          </a:lstStyle>
          <a:p>
            <a:pPr>
              <a:defRPr/>
            </a:pPr>
            <a:endParaRPr lang="en-US" altLang="zh-CN"/>
          </a:p>
        </p:txBody>
      </p:sp>
      <p:sp>
        <p:nvSpPr>
          <p:cNvPr id="6" name="Rectangle 3"/>
          <p:cNvSpPr>
            <a:spLocks noGrp="1" noChangeArrowheads="1"/>
          </p:cNvSpPr>
          <p:nvPr>
            <p:ph type="sldNum" sz="quarter" idx="11"/>
          </p:nvPr>
        </p:nvSpPr>
        <p:spPr>
          <a:ln/>
        </p:spPr>
        <p:txBody>
          <a:bodyPr/>
          <a:lstStyle>
            <a:lvl1pPr>
              <a:defRPr/>
            </a:lvl1pPr>
          </a:lstStyle>
          <a:p>
            <a:pPr>
              <a:defRPr/>
            </a:pPr>
            <a:fld id="{84A60E04-37AE-455B-9607-5EAEBA78FA21}" type="slidenum">
              <a:rPr lang="en-US" altLang="zh-CN"/>
              <a:pPr>
                <a:defRPr/>
              </a:pPr>
              <a:t>‹#›</a:t>
            </a:fld>
            <a:endParaRPr lang="en-US" altLang="zh-CN"/>
          </a:p>
        </p:txBody>
      </p:sp>
      <p:sp>
        <p:nvSpPr>
          <p:cNvPr id="7" name="Rectangle 16"/>
          <p:cNvSpPr>
            <a:spLocks noGrp="1" noChangeArrowheads="1"/>
          </p:cNvSpPr>
          <p:nvPr>
            <p:ph type="dt" sz="half" idx="12"/>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22138076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2"/>
          <p:cNvSpPr>
            <a:spLocks noGrp="1" noChangeArrowheads="1"/>
          </p:cNvSpPr>
          <p:nvPr>
            <p:ph type="ftr" sz="quarter" idx="10"/>
          </p:nvPr>
        </p:nvSpPr>
        <p:spPr>
          <a:ln/>
        </p:spPr>
        <p:txBody>
          <a:bodyPr/>
          <a:lstStyle>
            <a:lvl1pPr>
              <a:defRPr/>
            </a:lvl1pPr>
          </a:lstStyle>
          <a:p>
            <a:pPr>
              <a:defRPr/>
            </a:pPr>
            <a:endParaRPr lang="en-US" altLang="zh-CN"/>
          </a:p>
        </p:txBody>
      </p:sp>
      <p:sp>
        <p:nvSpPr>
          <p:cNvPr id="5" name="Rectangle 3"/>
          <p:cNvSpPr>
            <a:spLocks noGrp="1" noChangeArrowheads="1"/>
          </p:cNvSpPr>
          <p:nvPr>
            <p:ph type="sldNum" sz="quarter" idx="11"/>
          </p:nvPr>
        </p:nvSpPr>
        <p:spPr>
          <a:ln/>
        </p:spPr>
        <p:txBody>
          <a:bodyPr/>
          <a:lstStyle>
            <a:lvl1pPr>
              <a:defRPr/>
            </a:lvl1pPr>
          </a:lstStyle>
          <a:p>
            <a:pPr>
              <a:defRPr/>
            </a:pPr>
            <a:fld id="{5513CE68-8D0C-4293-B2E0-91AA7850FBE7}" type="slidenum">
              <a:rPr lang="en-US" altLang="zh-CN"/>
              <a:pPr>
                <a:defRPr/>
              </a:pPr>
              <a:t>‹#›</a:t>
            </a:fld>
            <a:endParaRPr lang="en-US" altLang="zh-CN"/>
          </a:p>
        </p:txBody>
      </p:sp>
      <p:sp>
        <p:nvSpPr>
          <p:cNvPr id="6" name="Rectangle 16"/>
          <p:cNvSpPr>
            <a:spLocks noGrp="1" noChangeArrowheads="1"/>
          </p:cNvSpPr>
          <p:nvPr>
            <p:ph type="dt" sz="half" idx="12"/>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28101171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457200"/>
            <a:ext cx="2743200" cy="54102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09600" y="457200"/>
            <a:ext cx="8026400" cy="54102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2"/>
          <p:cNvSpPr>
            <a:spLocks noGrp="1" noChangeArrowheads="1"/>
          </p:cNvSpPr>
          <p:nvPr>
            <p:ph type="ftr" sz="quarter" idx="10"/>
          </p:nvPr>
        </p:nvSpPr>
        <p:spPr>
          <a:ln/>
        </p:spPr>
        <p:txBody>
          <a:bodyPr/>
          <a:lstStyle>
            <a:lvl1pPr>
              <a:defRPr/>
            </a:lvl1pPr>
          </a:lstStyle>
          <a:p>
            <a:pPr>
              <a:defRPr/>
            </a:pPr>
            <a:endParaRPr lang="en-US" altLang="zh-CN"/>
          </a:p>
        </p:txBody>
      </p:sp>
      <p:sp>
        <p:nvSpPr>
          <p:cNvPr id="5" name="Rectangle 3"/>
          <p:cNvSpPr>
            <a:spLocks noGrp="1" noChangeArrowheads="1"/>
          </p:cNvSpPr>
          <p:nvPr>
            <p:ph type="sldNum" sz="quarter" idx="11"/>
          </p:nvPr>
        </p:nvSpPr>
        <p:spPr>
          <a:ln/>
        </p:spPr>
        <p:txBody>
          <a:bodyPr/>
          <a:lstStyle>
            <a:lvl1pPr>
              <a:defRPr/>
            </a:lvl1pPr>
          </a:lstStyle>
          <a:p>
            <a:pPr>
              <a:defRPr/>
            </a:pPr>
            <a:fld id="{E027662E-EC08-455E-A245-A90D87F920CA}" type="slidenum">
              <a:rPr lang="en-US" altLang="zh-CN"/>
              <a:pPr>
                <a:defRPr/>
              </a:pPr>
              <a:t>‹#›</a:t>
            </a:fld>
            <a:endParaRPr lang="en-US" altLang="zh-CN"/>
          </a:p>
        </p:txBody>
      </p:sp>
      <p:sp>
        <p:nvSpPr>
          <p:cNvPr id="6" name="Rectangle 16"/>
          <p:cNvSpPr>
            <a:spLocks noGrp="1" noChangeArrowheads="1"/>
          </p:cNvSpPr>
          <p:nvPr>
            <p:ph type="dt" sz="half" idx="12"/>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409482100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457200"/>
            <a:ext cx="10972800" cy="1371600"/>
          </a:xfrm>
        </p:spPr>
        <p:txBody>
          <a:bodyPr/>
          <a:lstStyle/>
          <a:p>
            <a:r>
              <a:rPr lang="zh-CN" altLang="en-US"/>
              <a:t>单击此处编辑母版标题样式</a:t>
            </a:r>
          </a:p>
        </p:txBody>
      </p:sp>
      <p:sp>
        <p:nvSpPr>
          <p:cNvPr id="3" name="文本占位符 2"/>
          <p:cNvSpPr>
            <a:spLocks noGrp="1"/>
          </p:cNvSpPr>
          <p:nvPr>
            <p:ph type="body" sz="half" idx="1"/>
          </p:nvPr>
        </p:nvSpPr>
        <p:spPr>
          <a:xfrm>
            <a:off x="609600" y="1981200"/>
            <a:ext cx="5384800" cy="38862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97600" y="1981200"/>
            <a:ext cx="5384800" cy="38862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2"/>
          <p:cNvSpPr>
            <a:spLocks noGrp="1" noChangeArrowheads="1"/>
          </p:cNvSpPr>
          <p:nvPr>
            <p:ph type="ftr" sz="quarter" idx="10"/>
          </p:nvPr>
        </p:nvSpPr>
        <p:spPr>
          <a:ln/>
        </p:spPr>
        <p:txBody>
          <a:bodyPr/>
          <a:lstStyle>
            <a:lvl1pPr>
              <a:defRPr/>
            </a:lvl1pPr>
          </a:lstStyle>
          <a:p>
            <a:pPr>
              <a:defRPr/>
            </a:pPr>
            <a:endParaRPr lang="en-US" altLang="zh-CN"/>
          </a:p>
        </p:txBody>
      </p:sp>
      <p:sp>
        <p:nvSpPr>
          <p:cNvPr id="6" name="Rectangle 3"/>
          <p:cNvSpPr>
            <a:spLocks noGrp="1" noChangeArrowheads="1"/>
          </p:cNvSpPr>
          <p:nvPr>
            <p:ph type="sldNum" sz="quarter" idx="11"/>
          </p:nvPr>
        </p:nvSpPr>
        <p:spPr>
          <a:ln/>
        </p:spPr>
        <p:txBody>
          <a:bodyPr/>
          <a:lstStyle>
            <a:lvl1pPr>
              <a:defRPr/>
            </a:lvl1pPr>
          </a:lstStyle>
          <a:p>
            <a:pPr>
              <a:defRPr/>
            </a:pPr>
            <a:fld id="{72765018-403D-4055-B6D6-D1363568EF02}" type="slidenum">
              <a:rPr lang="en-US" altLang="zh-CN"/>
              <a:pPr>
                <a:defRPr/>
              </a:pPr>
              <a:t>‹#›</a:t>
            </a:fld>
            <a:endParaRPr lang="en-US" altLang="zh-CN"/>
          </a:p>
        </p:txBody>
      </p:sp>
      <p:sp>
        <p:nvSpPr>
          <p:cNvPr id="7" name="Rectangle 16"/>
          <p:cNvSpPr>
            <a:spLocks noGrp="1" noChangeArrowheads="1"/>
          </p:cNvSpPr>
          <p:nvPr>
            <p:ph type="dt" sz="half" idx="12"/>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31393594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457200"/>
            <a:ext cx="10972800" cy="1371600"/>
          </a:xfrm>
        </p:spPr>
        <p:txBody>
          <a:bodyPr/>
          <a:lstStyle/>
          <a:p>
            <a:r>
              <a:rPr lang="zh-CN" altLang="en-US"/>
              <a:t>单击此处编辑母版标题样式</a:t>
            </a:r>
          </a:p>
        </p:txBody>
      </p:sp>
      <p:sp>
        <p:nvSpPr>
          <p:cNvPr id="3" name="文本占位符 2"/>
          <p:cNvSpPr>
            <a:spLocks noGrp="1"/>
          </p:cNvSpPr>
          <p:nvPr>
            <p:ph type="body" sz="half" idx="1"/>
          </p:nvPr>
        </p:nvSpPr>
        <p:spPr>
          <a:xfrm>
            <a:off x="609600" y="1981200"/>
            <a:ext cx="5384800" cy="38862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6197600" y="1981200"/>
            <a:ext cx="5384800" cy="18669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6197600" y="4000500"/>
            <a:ext cx="5384800" cy="18669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Rectangle 2"/>
          <p:cNvSpPr>
            <a:spLocks noGrp="1" noChangeArrowheads="1"/>
          </p:cNvSpPr>
          <p:nvPr>
            <p:ph type="ftr" sz="quarter" idx="10"/>
          </p:nvPr>
        </p:nvSpPr>
        <p:spPr>
          <a:ln/>
        </p:spPr>
        <p:txBody>
          <a:bodyPr/>
          <a:lstStyle>
            <a:lvl1pPr>
              <a:defRPr/>
            </a:lvl1pPr>
          </a:lstStyle>
          <a:p>
            <a:pPr>
              <a:defRPr/>
            </a:pPr>
            <a:endParaRPr lang="en-US" altLang="zh-CN"/>
          </a:p>
        </p:txBody>
      </p:sp>
      <p:sp>
        <p:nvSpPr>
          <p:cNvPr id="7" name="Rectangle 3"/>
          <p:cNvSpPr>
            <a:spLocks noGrp="1" noChangeArrowheads="1"/>
          </p:cNvSpPr>
          <p:nvPr>
            <p:ph type="sldNum" sz="quarter" idx="11"/>
          </p:nvPr>
        </p:nvSpPr>
        <p:spPr>
          <a:ln/>
        </p:spPr>
        <p:txBody>
          <a:bodyPr/>
          <a:lstStyle>
            <a:lvl1pPr>
              <a:defRPr/>
            </a:lvl1pPr>
          </a:lstStyle>
          <a:p>
            <a:pPr>
              <a:defRPr/>
            </a:pPr>
            <a:fld id="{C01CA406-E31B-427D-A2BD-2F5D3E7220A4}" type="slidenum">
              <a:rPr lang="en-US" altLang="zh-CN"/>
              <a:pPr>
                <a:defRPr/>
              </a:pPr>
              <a:t>‹#›</a:t>
            </a:fld>
            <a:endParaRPr lang="en-US" altLang="zh-CN"/>
          </a:p>
        </p:txBody>
      </p:sp>
      <p:sp>
        <p:nvSpPr>
          <p:cNvPr id="8" name="Rectangle 16"/>
          <p:cNvSpPr>
            <a:spLocks noGrp="1" noChangeArrowheads="1"/>
          </p:cNvSpPr>
          <p:nvPr>
            <p:ph type="dt" sz="half" idx="12"/>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349967423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fourObj" preserve="1">
  <p:cSld name="标题和四项内容">
    <p:spTree>
      <p:nvGrpSpPr>
        <p:cNvPr id="1" name=""/>
        <p:cNvGrpSpPr/>
        <p:nvPr/>
      </p:nvGrpSpPr>
      <p:grpSpPr>
        <a:xfrm>
          <a:off x="0" y="0"/>
          <a:ext cx="0" cy="0"/>
          <a:chOff x="0" y="0"/>
          <a:chExt cx="0" cy="0"/>
        </a:xfrm>
      </p:grpSpPr>
      <p:sp>
        <p:nvSpPr>
          <p:cNvPr id="2" name="标题 1"/>
          <p:cNvSpPr>
            <a:spLocks noGrp="1"/>
          </p:cNvSpPr>
          <p:nvPr>
            <p:ph type="title" sz="quarter"/>
          </p:nvPr>
        </p:nvSpPr>
        <p:spPr>
          <a:xfrm>
            <a:off x="609600" y="457200"/>
            <a:ext cx="10972800" cy="1371600"/>
          </a:xfrm>
        </p:spPr>
        <p:txBody>
          <a:bodyPr/>
          <a:lstStyle/>
          <a:p>
            <a:r>
              <a:rPr lang="zh-CN" altLang="en-US"/>
              <a:t>单击此处编辑母版标题样式</a:t>
            </a:r>
          </a:p>
        </p:txBody>
      </p:sp>
      <p:sp>
        <p:nvSpPr>
          <p:cNvPr id="3" name="内容占位符 2"/>
          <p:cNvSpPr>
            <a:spLocks noGrp="1"/>
          </p:cNvSpPr>
          <p:nvPr>
            <p:ph sz="quarter" idx="1"/>
          </p:nvPr>
        </p:nvSpPr>
        <p:spPr>
          <a:xfrm>
            <a:off x="609600" y="1981200"/>
            <a:ext cx="5384800" cy="18669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6197600" y="1981200"/>
            <a:ext cx="5384800" cy="18669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609600" y="4000500"/>
            <a:ext cx="5384800" cy="18669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内容占位符 5"/>
          <p:cNvSpPr>
            <a:spLocks noGrp="1"/>
          </p:cNvSpPr>
          <p:nvPr>
            <p:ph sz="quarter" idx="4"/>
          </p:nvPr>
        </p:nvSpPr>
        <p:spPr>
          <a:xfrm>
            <a:off x="6197600" y="4000500"/>
            <a:ext cx="5384800" cy="18669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2"/>
          <p:cNvSpPr>
            <a:spLocks noGrp="1" noChangeArrowheads="1"/>
          </p:cNvSpPr>
          <p:nvPr>
            <p:ph type="ftr" sz="quarter" idx="10"/>
          </p:nvPr>
        </p:nvSpPr>
        <p:spPr>
          <a:ln/>
        </p:spPr>
        <p:txBody>
          <a:bodyPr/>
          <a:lstStyle>
            <a:lvl1pPr>
              <a:defRPr/>
            </a:lvl1pPr>
          </a:lstStyle>
          <a:p>
            <a:pPr>
              <a:defRPr/>
            </a:pPr>
            <a:endParaRPr lang="en-US" altLang="zh-CN"/>
          </a:p>
        </p:txBody>
      </p:sp>
      <p:sp>
        <p:nvSpPr>
          <p:cNvPr id="8" name="Rectangle 3"/>
          <p:cNvSpPr>
            <a:spLocks noGrp="1" noChangeArrowheads="1"/>
          </p:cNvSpPr>
          <p:nvPr>
            <p:ph type="sldNum" sz="quarter" idx="11"/>
          </p:nvPr>
        </p:nvSpPr>
        <p:spPr>
          <a:ln/>
        </p:spPr>
        <p:txBody>
          <a:bodyPr/>
          <a:lstStyle>
            <a:lvl1pPr>
              <a:defRPr/>
            </a:lvl1pPr>
          </a:lstStyle>
          <a:p>
            <a:pPr>
              <a:defRPr/>
            </a:pPr>
            <a:fld id="{20ABD33E-19E4-47B8-8A35-264A4FB2E095}" type="slidenum">
              <a:rPr lang="en-US" altLang="zh-CN"/>
              <a:pPr>
                <a:defRPr/>
              </a:pPr>
              <a:t>‹#›</a:t>
            </a:fld>
            <a:endParaRPr lang="en-US" altLang="zh-CN"/>
          </a:p>
        </p:txBody>
      </p:sp>
      <p:sp>
        <p:nvSpPr>
          <p:cNvPr id="9" name="Rectangle 16"/>
          <p:cNvSpPr>
            <a:spLocks noGrp="1" noChangeArrowheads="1"/>
          </p:cNvSpPr>
          <p:nvPr>
            <p:ph type="dt" sz="half" idx="12"/>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10948722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9458" name="Rectangle 2"/>
          <p:cNvSpPr>
            <a:spLocks noGrp="1" noChangeArrowheads="1"/>
          </p:cNvSpPr>
          <p:nvPr>
            <p:ph type="ftr" sz="quarter" idx="3"/>
          </p:nvPr>
        </p:nvSpPr>
        <p:spPr bwMode="auto">
          <a:xfrm>
            <a:off x="4165600" y="6248400"/>
            <a:ext cx="3860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ctr">
              <a:defRPr sz="1200" smtClean="0"/>
            </a:lvl1pPr>
          </a:lstStyle>
          <a:p>
            <a:pPr>
              <a:defRPr/>
            </a:pPr>
            <a:endParaRPr lang="en-US" altLang="zh-CN"/>
          </a:p>
        </p:txBody>
      </p:sp>
      <p:sp>
        <p:nvSpPr>
          <p:cNvPr id="19459" name="Rectangle 3"/>
          <p:cNvSpPr>
            <a:spLocks noGrp="1" noChangeArrowheads="1"/>
          </p:cNvSpPr>
          <p:nvPr>
            <p:ph type="sldNum" sz="quarter" idx="4"/>
          </p:nvPr>
        </p:nvSpPr>
        <p:spPr bwMode="auto">
          <a:xfrm>
            <a:off x="8737600" y="6248400"/>
            <a:ext cx="2844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smtClean="0">
                <a:latin typeface="Arial Black" pitchFamily="34" charset="0"/>
              </a:defRPr>
            </a:lvl1pPr>
          </a:lstStyle>
          <a:p>
            <a:pPr>
              <a:defRPr/>
            </a:pPr>
            <a:fld id="{25089447-4447-4CDC-9177-C0E7FDD59500}" type="slidenum">
              <a:rPr lang="en-US" altLang="zh-CN"/>
              <a:pPr>
                <a:defRPr/>
              </a:pPr>
              <a:t>‹#›</a:t>
            </a:fld>
            <a:endParaRPr lang="en-US" altLang="zh-CN"/>
          </a:p>
        </p:txBody>
      </p:sp>
      <p:grpSp>
        <p:nvGrpSpPr>
          <p:cNvPr id="1028" name="Group 4"/>
          <p:cNvGrpSpPr>
            <a:grpSpLocks/>
          </p:cNvGrpSpPr>
          <p:nvPr/>
        </p:nvGrpSpPr>
        <p:grpSpPr bwMode="auto">
          <a:xfrm>
            <a:off x="0" y="0"/>
            <a:ext cx="12192000" cy="546100"/>
            <a:chOff x="0" y="0"/>
            <a:chExt cx="5760" cy="344"/>
          </a:xfrm>
        </p:grpSpPr>
        <p:sp>
          <p:nvSpPr>
            <p:cNvPr id="1032" name="Rectangle 5"/>
            <p:cNvSpPr>
              <a:spLocks noChangeArrowheads="1"/>
            </p:cNvSpPr>
            <p:nvPr/>
          </p:nvSpPr>
          <p:spPr bwMode="auto">
            <a:xfrm>
              <a:off x="0" y="0"/>
              <a:ext cx="180" cy="336"/>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sz="2400">
                <a:latin typeface="Times New Roman" pitchFamily="18" charset="0"/>
              </a:endParaRPr>
            </a:p>
          </p:txBody>
        </p:sp>
        <p:sp>
          <p:nvSpPr>
            <p:cNvPr id="1033" name="Rectangle 6"/>
            <p:cNvSpPr>
              <a:spLocks noChangeArrowheads="1"/>
            </p:cNvSpPr>
            <p:nvPr/>
          </p:nvSpPr>
          <p:spPr bwMode="auto">
            <a:xfrm>
              <a:off x="260" y="85"/>
              <a:ext cx="5500" cy="173"/>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sz="2400">
                <a:latin typeface="Times New Roman" pitchFamily="18" charset="0"/>
              </a:endParaRPr>
            </a:p>
          </p:txBody>
        </p:sp>
        <p:sp>
          <p:nvSpPr>
            <p:cNvPr id="1034" name="Rectangle 7"/>
            <p:cNvSpPr>
              <a:spLocks noChangeArrowheads="1"/>
            </p:cNvSpPr>
            <p:nvPr/>
          </p:nvSpPr>
          <p:spPr bwMode="auto">
            <a:xfrm>
              <a:off x="258" y="85"/>
              <a:ext cx="87" cy="89"/>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solidFill>
                  <a:schemeClr val="hlink"/>
                </a:solidFill>
              </a:endParaRPr>
            </a:p>
          </p:txBody>
        </p:sp>
        <p:sp>
          <p:nvSpPr>
            <p:cNvPr id="1035" name="Rectangle 8"/>
            <p:cNvSpPr>
              <a:spLocks noChangeArrowheads="1"/>
            </p:cNvSpPr>
            <p:nvPr/>
          </p:nvSpPr>
          <p:spPr bwMode="auto">
            <a:xfrm>
              <a:off x="345" y="0"/>
              <a:ext cx="88" cy="87"/>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solidFill>
                  <a:schemeClr val="hlink"/>
                </a:solidFill>
              </a:endParaRPr>
            </a:p>
          </p:txBody>
        </p:sp>
        <p:sp>
          <p:nvSpPr>
            <p:cNvPr id="1036" name="Rectangle 9"/>
            <p:cNvSpPr>
              <a:spLocks noChangeArrowheads="1"/>
            </p:cNvSpPr>
            <p:nvPr/>
          </p:nvSpPr>
          <p:spPr bwMode="auto">
            <a:xfrm>
              <a:off x="345" y="85"/>
              <a:ext cx="88" cy="89"/>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solidFill>
                  <a:schemeClr val="accent2"/>
                </a:solidFill>
              </a:endParaRPr>
            </a:p>
          </p:txBody>
        </p:sp>
        <p:sp>
          <p:nvSpPr>
            <p:cNvPr id="1037" name="Rectangle 10"/>
            <p:cNvSpPr>
              <a:spLocks noChangeArrowheads="1"/>
            </p:cNvSpPr>
            <p:nvPr/>
          </p:nvSpPr>
          <p:spPr bwMode="auto">
            <a:xfrm>
              <a:off x="173" y="173"/>
              <a:ext cx="86" cy="87"/>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solidFill>
                  <a:schemeClr val="hlink"/>
                </a:solidFill>
              </a:endParaRPr>
            </a:p>
          </p:txBody>
        </p:sp>
        <p:sp>
          <p:nvSpPr>
            <p:cNvPr id="1038" name="Rectangle 11"/>
            <p:cNvSpPr>
              <a:spLocks noChangeArrowheads="1"/>
            </p:cNvSpPr>
            <p:nvPr/>
          </p:nvSpPr>
          <p:spPr bwMode="auto">
            <a:xfrm>
              <a:off x="83" y="86"/>
              <a:ext cx="89" cy="87"/>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sz="2400">
                <a:latin typeface="Times New Roman" pitchFamily="18" charset="0"/>
              </a:endParaRPr>
            </a:p>
          </p:txBody>
        </p:sp>
        <p:sp>
          <p:nvSpPr>
            <p:cNvPr id="1039" name="Rectangle 12"/>
            <p:cNvSpPr>
              <a:spLocks noChangeArrowheads="1"/>
            </p:cNvSpPr>
            <p:nvPr/>
          </p:nvSpPr>
          <p:spPr bwMode="auto">
            <a:xfrm>
              <a:off x="258" y="171"/>
              <a:ext cx="87" cy="87"/>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solidFill>
                  <a:schemeClr val="accent2"/>
                </a:solidFill>
              </a:endParaRPr>
            </a:p>
          </p:txBody>
        </p:sp>
        <p:sp>
          <p:nvSpPr>
            <p:cNvPr id="1040" name="Rectangle 13"/>
            <p:cNvSpPr>
              <a:spLocks noChangeArrowheads="1"/>
            </p:cNvSpPr>
            <p:nvPr/>
          </p:nvSpPr>
          <p:spPr bwMode="auto">
            <a:xfrm>
              <a:off x="173" y="258"/>
              <a:ext cx="86" cy="86"/>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solidFill>
                  <a:schemeClr val="accent2"/>
                </a:solidFill>
              </a:endParaRPr>
            </a:p>
          </p:txBody>
        </p:sp>
      </p:grpSp>
      <p:sp>
        <p:nvSpPr>
          <p:cNvPr id="1029" name="Rectangle 14"/>
          <p:cNvSpPr>
            <a:spLocks noGrp="1" noChangeArrowheads="1"/>
          </p:cNvSpPr>
          <p:nvPr>
            <p:ph type="title"/>
          </p:nvPr>
        </p:nvSpPr>
        <p:spPr bwMode="auto">
          <a:xfrm>
            <a:off x="609600" y="457200"/>
            <a:ext cx="10972800" cy="1371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dirty="0"/>
              <a:t>单击此处编辑母版标题样式</a:t>
            </a:r>
          </a:p>
        </p:txBody>
      </p:sp>
      <p:sp>
        <p:nvSpPr>
          <p:cNvPr id="1030" name="Rectangle 15"/>
          <p:cNvSpPr>
            <a:spLocks noGrp="1" noChangeArrowheads="1"/>
          </p:cNvSpPr>
          <p:nvPr>
            <p:ph type="body" idx="1"/>
          </p:nvPr>
        </p:nvSpPr>
        <p:spPr bwMode="auto">
          <a:xfrm>
            <a:off x="609600" y="1981200"/>
            <a:ext cx="10972800" cy="3886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9472" name="Rectangle 16"/>
          <p:cNvSpPr>
            <a:spLocks noGrp="1" noChangeArrowheads="1"/>
          </p:cNvSpPr>
          <p:nvPr>
            <p:ph type="dt" sz="half" idx="2"/>
          </p:nvPr>
        </p:nvSpPr>
        <p:spPr bwMode="auto">
          <a:xfrm>
            <a:off x="609600" y="6245225"/>
            <a:ext cx="2844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sz="1200" smtClean="0"/>
            </a:lvl1pPr>
          </a:lstStyle>
          <a:p>
            <a:pPr>
              <a:defRPr/>
            </a:pPr>
            <a:endParaRPr lang="en-US" altLang="zh-CN"/>
          </a:p>
        </p:txBody>
      </p:sp>
    </p:spTree>
  </p:cSld>
  <p:clrMap bg1="lt1" tx1="dk1" bg2="lt2" tx2="dk2" accent1="accent1" accent2="accent2" accent3="accent3" accent4="accent4" accent5="accent5" accent6="accent6" hlink="hlink" folHlink="folHlink"/>
  <p:sldLayoutIdLst>
    <p:sldLayoutId id="2147483678" r:id="rId1"/>
    <p:sldLayoutId id="2147483665" r:id="rId2"/>
    <p:sldLayoutId id="2147483666" r:id="rId3"/>
    <p:sldLayoutId id="2147483667" r:id="rId4"/>
    <p:sldLayoutId id="2147483668" r:id="rId5"/>
    <p:sldLayoutId id="2147483669" r:id="rId6"/>
    <p:sldLayoutId id="2147483670" r:id="rId7"/>
    <p:sldLayoutId id="2147483671" r:id="rId8"/>
    <p:sldLayoutId id="2147483672" r:id="rId9"/>
    <p:sldLayoutId id="2147483673" r:id="rId10"/>
    <p:sldLayoutId id="2147483674" r:id="rId11"/>
    <p:sldLayoutId id="2147483675" r:id="rId12"/>
    <p:sldLayoutId id="2147483676" r:id="rId13"/>
    <p:sldLayoutId id="2147483677" r:id="rId14"/>
  </p:sldLayoutIdLst>
  <p:txStyles>
    <p:titleStyle>
      <a:lvl1pPr algn="ctr" rtl="0" eaLnBrk="0" fontAlgn="base" hangingPunct="0">
        <a:spcBef>
          <a:spcPct val="0"/>
        </a:spcBef>
        <a:spcAft>
          <a:spcPct val="0"/>
        </a:spcAft>
        <a:defRPr sz="4400">
          <a:solidFill>
            <a:srgbClr val="008000"/>
          </a:solidFill>
          <a:latin typeface="黑体" panose="02010609060101010101" pitchFamily="49" charset="-122"/>
          <a:ea typeface="黑体" panose="02010609060101010101" pitchFamily="49" charset="-122"/>
          <a:cs typeface="+mj-cs"/>
        </a:defRPr>
      </a:lvl1pPr>
      <a:lvl2pPr algn="l" rtl="0" eaLnBrk="0" fontAlgn="base" hangingPunct="0">
        <a:spcBef>
          <a:spcPct val="0"/>
        </a:spcBef>
        <a:spcAft>
          <a:spcPct val="0"/>
        </a:spcAft>
        <a:defRPr sz="4400">
          <a:solidFill>
            <a:schemeClr val="tx1"/>
          </a:solidFill>
          <a:latin typeface="Arial" charset="0"/>
          <a:ea typeface="宋体" pitchFamily="2" charset="-122"/>
        </a:defRPr>
      </a:lvl2pPr>
      <a:lvl3pPr algn="l" rtl="0" eaLnBrk="0" fontAlgn="base" hangingPunct="0">
        <a:spcBef>
          <a:spcPct val="0"/>
        </a:spcBef>
        <a:spcAft>
          <a:spcPct val="0"/>
        </a:spcAft>
        <a:defRPr sz="4400">
          <a:solidFill>
            <a:schemeClr val="tx1"/>
          </a:solidFill>
          <a:latin typeface="Arial" charset="0"/>
          <a:ea typeface="宋体" pitchFamily="2" charset="-122"/>
        </a:defRPr>
      </a:lvl3pPr>
      <a:lvl4pPr algn="l" rtl="0" eaLnBrk="0" fontAlgn="base" hangingPunct="0">
        <a:spcBef>
          <a:spcPct val="0"/>
        </a:spcBef>
        <a:spcAft>
          <a:spcPct val="0"/>
        </a:spcAft>
        <a:defRPr sz="4400">
          <a:solidFill>
            <a:schemeClr val="tx1"/>
          </a:solidFill>
          <a:latin typeface="Arial" charset="0"/>
          <a:ea typeface="宋体" pitchFamily="2" charset="-122"/>
        </a:defRPr>
      </a:lvl4pPr>
      <a:lvl5pPr algn="l" rtl="0" eaLnBrk="0" fontAlgn="base" hangingPunct="0">
        <a:spcBef>
          <a:spcPct val="0"/>
        </a:spcBef>
        <a:spcAft>
          <a:spcPct val="0"/>
        </a:spcAft>
        <a:defRPr sz="4400">
          <a:solidFill>
            <a:schemeClr val="tx1"/>
          </a:solidFill>
          <a:latin typeface="Arial" charset="0"/>
          <a:ea typeface="宋体" pitchFamily="2" charset="-122"/>
        </a:defRPr>
      </a:lvl5pPr>
      <a:lvl6pPr marL="457200" algn="l" rtl="0" fontAlgn="base">
        <a:spcBef>
          <a:spcPct val="0"/>
        </a:spcBef>
        <a:spcAft>
          <a:spcPct val="0"/>
        </a:spcAft>
        <a:defRPr sz="4400">
          <a:solidFill>
            <a:schemeClr val="tx1"/>
          </a:solidFill>
          <a:latin typeface="Arial" charset="0"/>
          <a:ea typeface="宋体" pitchFamily="2" charset="-122"/>
        </a:defRPr>
      </a:lvl6pPr>
      <a:lvl7pPr marL="914400" algn="l" rtl="0" fontAlgn="base">
        <a:spcBef>
          <a:spcPct val="0"/>
        </a:spcBef>
        <a:spcAft>
          <a:spcPct val="0"/>
        </a:spcAft>
        <a:defRPr sz="4400">
          <a:solidFill>
            <a:schemeClr val="tx1"/>
          </a:solidFill>
          <a:latin typeface="Arial" charset="0"/>
          <a:ea typeface="宋体" pitchFamily="2" charset="-122"/>
        </a:defRPr>
      </a:lvl7pPr>
      <a:lvl8pPr marL="1371600" algn="l" rtl="0" fontAlgn="base">
        <a:spcBef>
          <a:spcPct val="0"/>
        </a:spcBef>
        <a:spcAft>
          <a:spcPct val="0"/>
        </a:spcAft>
        <a:defRPr sz="4400">
          <a:solidFill>
            <a:schemeClr val="tx1"/>
          </a:solidFill>
          <a:latin typeface="Arial" charset="0"/>
          <a:ea typeface="宋体" pitchFamily="2" charset="-122"/>
        </a:defRPr>
      </a:lvl8pPr>
      <a:lvl9pPr marL="1828800" algn="l" rtl="0" fontAlgn="base">
        <a:spcBef>
          <a:spcPct val="0"/>
        </a:spcBef>
        <a:spcAft>
          <a:spcPct val="0"/>
        </a:spcAft>
        <a:defRPr sz="4400">
          <a:solidFill>
            <a:schemeClr val="tx1"/>
          </a:solidFill>
          <a:latin typeface="Arial" charset="0"/>
          <a:ea typeface="宋体" pitchFamily="2" charset="-122"/>
        </a:defRPr>
      </a:lvl9pPr>
    </p:titleStyle>
    <p:bodyStyle>
      <a:lvl1pPr marL="342900" indent="-342900" algn="l" rtl="0" eaLnBrk="0" fontAlgn="base" hangingPunct="0">
        <a:spcBef>
          <a:spcPct val="20000"/>
        </a:spcBef>
        <a:spcAft>
          <a:spcPct val="0"/>
        </a:spcAft>
        <a:buClr>
          <a:schemeClr val="bg2"/>
        </a:buClr>
        <a:buSzPct val="75000"/>
        <a:buFont typeface="Wingdings" pitchFamily="2" charset="2"/>
        <a:buChar char="n"/>
        <a:defRPr sz="3200">
          <a:solidFill>
            <a:schemeClr val="tx1"/>
          </a:solidFill>
          <a:latin typeface="+mj-lt"/>
          <a:ea typeface="黑体" panose="02010609060101010101" pitchFamily="49" charset="-122"/>
          <a:cs typeface="+mn-cs"/>
        </a:defRPr>
      </a:lvl1pPr>
      <a:lvl2pPr marL="742950" indent="-285750" algn="l" rtl="0" eaLnBrk="0" fontAlgn="base" hangingPunct="0">
        <a:spcBef>
          <a:spcPct val="20000"/>
        </a:spcBef>
        <a:spcAft>
          <a:spcPct val="0"/>
        </a:spcAft>
        <a:buClr>
          <a:schemeClr val="accent2"/>
        </a:buClr>
        <a:buSzPct val="80000"/>
        <a:buFont typeface="Wingdings" pitchFamily="2" charset="2"/>
        <a:buChar char="¨"/>
        <a:defRPr sz="2800">
          <a:solidFill>
            <a:schemeClr val="tx1"/>
          </a:solidFill>
          <a:latin typeface="+mj-lt"/>
          <a:ea typeface="黑体" panose="02010609060101010101" pitchFamily="49" charset="-122"/>
        </a:defRPr>
      </a:lvl2pPr>
      <a:lvl3pPr marL="1143000" indent="-228600" algn="l" rtl="0" eaLnBrk="0" fontAlgn="base" hangingPunct="0">
        <a:spcBef>
          <a:spcPct val="20000"/>
        </a:spcBef>
        <a:spcAft>
          <a:spcPct val="0"/>
        </a:spcAft>
        <a:buClr>
          <a:schemeClr val="bg2"/>
        </a:buClr>
        <a:buSzPct val="65000"/>
        <a:buFont typeface="Wingdings" pitchFamily="2" charset="2"/>
        <a:buChar char="n"/>
        <a:defRPr sz="2400">
          <a:solidFill>
            <a:schemeClr val="tx1"/>
          </a:solidFill>
          <a:latin typeface="+mj-lt"/>
          <a:ea typeface="黑体" panose="02010609060101010101" pitchFamily="49" charset="-122"/>
        </a:defRPr>
      </a:lvl3pPr>
      <a:lvl4pPr marL="1600200" indent="-228600" algn="l" rtl="0" eaLnBrk="0" fontAlgn="base" hangingPunct="0">
        <a:spcBef>
          <a:spcPct val="20000"/>
        </a:spcBef>
        <a:spcAft>
          <a:spcPct val="0"/>
        </a:spcAft>
        <a:buClr>
          <a:schemeClr val="accent2"/>
        </a:buClr>
        <a:buSzPct val="70000"/>
        <a:buFont typeface="Wingdings" pitchFamily="2" charset="2"/>
        <a:buChar char="¨"/>
        <a:defRPr sz="2000">
          <a:solidFill>
            <a:schemeClr val="tx1"/>
          </a:solidFill>
          <a:latin typeface="+mj-lt"/>
          <a:ea typeface="黑体" panose="02010609060101010101" pitchFamily="49" charset="-122"/>
        </a:defRPr>
      </a:lvl4pPr>
      <a:lvl5pPr marL="2057400" indent="-228600" algn="l" rtl="0" eaLnBrk="0" fontAlgn="base" hangingPunct="0">
        <a:spcBef>
          <a:spcPct val="20000"/>
        </a:spcBef>
        <a:spcAft>
          <a:spcPct val="0"/>
        </a:spcAft>
        <a:buClr>
          <a:schemeClr val="bg2"/>
        </a:buClr>
        <a:buFont typeface="Wingdings" pitchFamily="2" charset="2"/>
        <a:buChar char="§"/>
        <a:defRPr sz="2000">
          <a:solidFill>
            <a:schemeClr val="tx1"/>
          </a:solidFill>
          <a:latin typeface="+mj-lt"/>
          <a:ea typeface="黑体" panose="02010609060101010101" pitchFamily="49" charset="-122"/>
        </a:defRPr>
      </a:lvl5pPr>
      <a:lvl6pPr marL="2514600" indent="-228600" algn="l" rtl="0" fontAlgn="base">
        <a:spcBef>
          <a:spcPct val="20000"/>
        </a:spcBef>
        <a:spcAft>
          <a:spcPct val="0"/>
        </a:spcAft>
        <a:buClr>
          <a:schemeClr val="bg2"/>
        </a:buClr>
        <a:buFont typeface="Wingdings" pitchFamily="2" charset="2"/>
        <a:buChar char="§"/>
        <a:defRPr sz="2000">
          <a:solidFill>
            <a:schemeClr val="tx1"/>
          </a:solidFill>
          <a:latin typeface="+mn-lt"/>
          <a:ea typeface="+mn-ea"/>
        </a:defRPr>
      </a:lvl6pPr>
      <a:lvl7pPr marL="2971800" indent="-228600" algn="l" rtl="0" fontAlgn="base">
        <a:spcBef>
          <a:spcPct val="20000"/>
        </a:spcBef>
        <a:spcAft>
          <a:spcPct val="0"/>
        </a:spcAft>
        <a:buClr>
          <a:schemeClr val="bg2"/>
        </a:buClr>
        <a:buFont typeface="Wingdings" pitchFamily="2" charset="2"/>
        <a:buChar char="§"/>
        <a:defRPr sz="2000">
          <a:solidFill>
            <a:schemeClr val="tx1"/>
          </a:solidFill>
          <a:latin typeface="+mn-lt"/>
          <a:ea typeface="+mn-ea"/>
        </a:defRPr>
      </a:lvl7pPr>
      <a:lvl8pPr marL="3429000" indent="-228600" algn="l" rtl="0" fontAlgn="base">
        <a:spcBef>
          <a:spcPct val="20000"/>
        </a:spcBef>
        <a:spcAft>
          <a:spcPct val="0"/>
        </a:spcAft>
        <a:buClr>
          <a:schemeClr val="bg2"/>
        </a:buClr>
        <a:buFont typeface="Wingdings" pitchFamily="2" charset="2"/>
        <a:buChar char="§"/>
        <a:defRPr sz="2000">
          <a:solidFill>
            <a:schemeClr val="tx1"/>
          </a:solidFill>
          <a:latin typeface="+mn-lt"/>
          <a:ea typeface="+mn-ea"/>
        </a:defRPr>
      </a:lvl8pPr>
      <a:lvl9pPr marL="3886200" indent="-228600" algn="l" rtl="0" fontAlgn="base">
        <a:spcBef>
          <a:spcPct val="20000"/>
        </a:spcBef>
        <a:spcAft>
          <a:spcPct val="0"/>
        </a:spcAft>
        <a:buClr>
          <a:schemeClr val="bg2"/>
        </a:buClr>
        <a:buFont typeface="Wingdings" pitchFamily="2" charset="2"/>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hyperlink" Target="mailto:wxling@scut.edu.cn"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4.emf"/></Relationships>
</file>

<file path=ppt/slides/_rels/slide11.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oleObject" Target="../embeddings/oleObject2.bin"/><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6.jpe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8.wmf"/><Relationship Id="rId2" Type="http://schemas.openxmlformats.org/officeDocument/2006/relationships/oleObject" Target="../embeddings/oleObject3.bin"/><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notesSlide" Target="../notesSlides/notesSlide9.xml"/><Relationship Id="rId1" Type="http://schemas.openxmlformats.org/officeDocument/2006/relationships/slideLayout" Target="../slideLayouts/slideLayout13.xml"/><Relationship Id="rId6" Type="http://schemas.openxmlformats.org/officeDocument/2006/relationships/image" Target="../media/image10.wmf"/><Relationship Id="rId5" Type="http://schemas.openxmlformats.org/officeDocument/2006/relationships/oleObject" Target="../embeddings/oleObject5.bin"/><Relationship Id="rId4" Type="http://schemas.openxmlformats.org/officeDocument/2006/relationships/image" Target="../media/image9.wmf"/></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1.wmf"/></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2.wmf"/><Relationship Id="rId2" Type="http://schemas.openxmlformats.org/officeDocument/2006/relationships/oleObject" Target="../embeddings/oleObject7.bin"/><Relationship Id="rId1" Type="http://schemas.openxmlformats.org/officeDocument/2006/relationships/slideLayout" Target="../slideLayouts/slideLayout13.xml"/><Relationship Id="rId5" Type="http://schemas.openxmlformats.org/officeDocument/2006/relationships/image" Target="../media/image13.wmf"/><Relationship Id="rId4" Type="http://schemas.openxmlformats.org/officeDocument/2006/relationships/oleObject" Target="../embeddings/oleObject8.bin"/></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3" Type="http://schemas.openxmlformats.org/officeDocument/2006/relationships/image" Target="../media/image14.wmf"/><Relationship Id="rId2" Type="http://schemas.openxmlformats.org/officeDocument/2006/relationships/oleObject" Target="../embeddings/oleObject9.bin"/><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8" Type="http://schemas.openxmlformats.org/officeDocument/2006/relationships/image" Target="../media/image18.wmf"/><Relationship Id="rId3" Type="http://schemas.openxmlformats.org/officeDocument/2006/relationships/image" Target="../media/image15.png"/><Relationship Id="rId7" Type="http://schemas.openxmlformats.org/officeDocument/2006/relationships/oleObject" Target="../embeddings/oleObject11.bin"/><Relationship Id="rId2" Type="http://schemas.openxmlformats.org/officeDocument/2006/relationships/notesSlide" Target="../notesSlides/notesSlide11.xml"/><Relationship Id="rId1" Type="http://schemas.openxmlformats.org/officeDocument/2006/relationships/slideLayout" Target="../slideLayouts/slideLayout13.xml"/><Relationship Id="rId6" Type="http://schemas.openxmlformats.org/officeDocument/2006/relationships/image" Target="../media/image17.wmf"/><Relationship Id="rId5" Type="http://schemas.openxmlformats.org/officeDocument/2006/relationships/oleObject" Target="../embeddings/oleObject10.bin"/><Relationship Id="rId10" Type="http://schemas.openxmlformats.org/officeDocument/2006/relationships/image" Target="../media/image19.wmf"/><Relationship Id="rId4" Type="http://schemas.openxmlformats.org/officeDocument/2006/relationships/image" Target="../media/image16.png"/><Relationship Id="rId9" Type="http://schemas.openxmlformats.org/officeDocument/2006/relationships/oleObject" Target="../embeddings/oleObject12.bin"/></Relationships>
</file>

<file path=ppt/slides/_rels/slide42.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8" Type="http://schemas.openxmlformats.org/officeDocument/2006/relationships/oleObject" Target="../embeddings/oleObject16.bin"/><Relationship Id="rId3" Type="http://schemas.openxmlformats.org/officeDocument/2006/relationships/image" Target="../media/image20.wmf"/><Relationship Id="rId7" Type="http://schemas.openxmlformats.org/officeDocument/2006/relationships/image" Target="../media/image22.wmf"/><Relationship Id="rId2" Type="http://schemas.openxmlformats.org/officeDocument/2006/relationships/oleObject" Target="../embeddings/oleObject13.bin"/><Relationship Id="rId1" Type="http://schemas.openxmlformats.org/officeDocument/2006/relationships/slideLayout" Target="../slideLayouts/slideLayout13.xml"/><Relationship Id="rId6" Type="http://schemas.openxmlformats.org/officeDocument/2006/relationships/oleObject" Target="../embeddings/oleObject15.bin"/><Relationship Id="rId11" Type="http://schemas.openxmlformats.org/officeDocument/2006/relationships/image" Target="../media/image24.wmf"/><Relationship Id="rId5" Type="http://schemas.openxmlformats.org/officeDocument/2006/relationships/image" Target="../media/image21.wmf"/><Relationship Id="rId10" Type="http://schemas.openxmlformats.org/officeDocument/2006/relationships/oleObject" Target="../embeddings/oleObject17.bin"/><Relationship Id="rId4" Type="http://schemas.openxmlformats.org/officeDocument/2006/relationships/oleObject" Target="../embeddings/oleObject14.bin"/><Relationship Id="rId9" Type="http://schemas.openxmlformats.org/officeDocument/2006/relationships/image" Target="../media/image23.wmf"/></Relationships>
</file>

<file path=ppt/slides/_rels/slide44.xml.rels><?xml version="1.0" encoding="UTF-8" standalone="yes"?>
<Relationships xmlns="http://schemas.openxmlformats.org/package/2006/relationships"><Relationship Id="rId8" Type="http://schemas.openxmlformats.org/officeDocument/2006/relationships/oleObject" Target="../embeddings/oleObject21.bin"/><Relationship Id="rId3" Type="http://schemas.openxmlformats.org/officeDocument/2006/relationships/image" Target="../media/image25.wmf"/><Relationship Id="rId7" Type="http://schemas.openxmlformats.org/officeDocument/2006/relationships/image" Target="../media/image26.wmf"/><Relationship Id="rId2" Type="http://schemas.openxmlformats.org/officeDocument/2006/relationships/oleObject" Target="../embeddings/oleObject18.bin"/><Relationship Id="rId1" Type="http://schemas.openxmlformats.org/officeDocument/2006/relationships/slideLayout" Target="../slideLayouts/slideLayout13.xml"/><Relationship Id="rId6" Type="http://schemas.openxmlformats.org/officeDocument/2006/relationships/oleObject" Target="../embeddings/oleObject20.bin"/><Relationship Id="rId11" Type="http://schemas.openxmlformats.org/officeDocument/2006/relationships/image" Target="../media/image28.wmf"/><Relationship Id="rId5" Type="http://schemas.openxmlformats.org/officeDocument/2006/relationships/image" Target="../media/image23.wmf"/><Relationship Id="rId10" Type="http://schemas.openxmlformats.org/officeDocument/2006/relationships/oleObject" Target="../embeddings/oleObject22.bin"/><Relationship Id="rId4" Type="http://schemas.openxmlformats.org/officeDocument/2006/relationships/oleObject" Target="../embeddings/oleObject19.bin"/><Relationship Id="rId9" Type="http://schemas.openxmlformats.org/officeDocument/2006/relationships/image" Target="../media/image27.wmf"/></Relationships>
</file>

<file path=ppt/slides/_rels/slide45.xml.rels><?xml version="1.0" encoding="UTF-8" standalone="yes"?>
<Relationships xmlns="http://schemas.openxmlformats.org/package/2006/relationships"><Relationship Id="rId8" Type="http://schemas.openxmlformats.org/officeDocument/2006/relationships/oleObject" Target="../embeddings/oleObject26.bin"/><Relationship Id="rId3" Type="http://schemas.openxmlformats.org/officeDocument/2006/relationships/image" Target="../media/image29.wmf"/><Relationship Id="rId7" Type="http://schemas.openxmlformats.org/officeDocument/2006/relationships/image" Target="../media/image31.wmf"/><Relationship Id="rId2" Type="http://schemas.openxmlformats.org/officeDocument/2006/relationships/oleObject" Target="../embeddings/oleObject23.bin"/><Relationship Id="rId1" Type="http://schemas.openxmlformats.org/officeDocument/2006/relationships/slideLayout" Target="../slideLayouts/slideLayout13.xml"/><Relationship Id="rId6" Type="http://schemas.openxmlformats.org/officeDocument/2006/relationships/oleObject" Target="../embeddings/oleObject25.bin"/><Relationship Id="rId11" Type="http://schemas.openxmlformats.org/officeDocument/2006/relationships/image" Target="../media/image33.wmf"/><Relationship Id="rId5" Type="http://schemas.openxmlformats.org/officeDocument/2006/relationships/image" Target="../media/image30.wmf"/><Relationship Id="rId10" Type="http://schemas.openxmlformats.org/officeDocument/2006/relationships/oleObject" Target="../embeddings/oleObject27.bin"/><Relationship Id="rId4" Type="http://schemas.openxmlformats.org/officeDocument/2006/relationships/oleObject" Target="../embeddings/oleObject24.bin"/><Relationship Id="rId9" Type="http://schemas.openxmlformats.org/officeDocument/2006/relationships/image" Target="../media/image32.wmf"/></Relationships>
</file>

<file path=ppt/slides/_rels/slide46.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13.xml"/><Relationship Id="rId1" Type="http://schemas.openxmlformats.org/officeDocument/2006/relationships/slideLayout" Target="../slideLayouts/slideLayout7.xml"/><Relationship Id="rId5" Type="http://schemas.openxmlformats.org/officeDocument/2006/relationships/audio" Target="../media/audio3.wav"/><Relationship Id="rId4" Type="http://schemas.openxmlformats.org/officeDocument/2006/relationships/audio" Target="../media/audio2.wav"/></Relationships>
</file>

<file path=ppt/slides/_rels/slide47.xml.rels><?xml version="1.0" encoding="UTF-8" standalone="yes"?>
<Relationships xmlns="http://schemas.openxmlformats.org/package/2006/relationships"><Relationship Id="rId8" Type="http://schemas.openxmlformats.org/officeDocument/2006/relationships/oleObject" Target="../embeddings/oleObject31.bin"/><Relationship Id="rId3" Type="http://schemas.openxmlformats.org/officeDocument/2006/relationships/image" Target="../media/image34.wmf"/><Relationship Id="rId7" Type="http://schemas.openxmlformats.org/officeDocument/2006/relationships/image" Target="../media/image36.wmf"/><Relationship Id="rId12" Type="http://schemas.openxmlformats.org/officeDocument/2006/relationships/image" Target="../media/image40.png"/><Relationship Id="rId2" Type="http://schemas.openxmlformats.org/officeDocument/2006/relationships/oleObject" Target="../embeddings/oleObject28.bin"/><Relationship Id="rId1" Type="http://schemas.openxmlformats.org/officeDocument/2006/relationships/slideLayout" Target="../slideLayouts/slideLayout13.xml"/><Relationship Id="rId6" Type="http://schemas.openxmlformats.org/officeDocument/2006/relationships/oleObject" Target="../embeddings/oleObject30.bin"/><Relationship Id="rId11" Type="http://schemas.openxmlformats.org/officeDocument/2006/relationships/image" Target="../media/image39.png"/><Relationship Id="rId5" Type="http://schemas.openxmlformats.org/officeDocument/2006/relationships/image" Target="../media/image35.wmf"/><Relationship Id="rId10" Type="http://schemas.openxmlformats.org/officeDocument/2006/relationships/image" Target="../media/image38.png"/><Relationship Id="rId4" Type="http://schemas.openxmlformats.org/officeDocument/2006/relationships/oleObject" Target="../embeddings/oleObject29.bin"/><Relationship Id="rId9" Type="http://schemas.openxmlformats.org/officeDocument/2006/relationships/image" Target="../media/image37.wmf"/></Relationships>
</file>

<file path=ppt/slides/_rels/slide48.xml.rels><?xml version="1.0" encoding="UTF-8" standalone="yes"?>
<Relationships xmlns="http://schemas.openxmlformats.org/package/2006/relationships"><Relationship Id="rId8" Type="http://schemas.openxmlformats.org/officeDocument/2006/relationships/oleObject" Target="../embeddings/oleObject35.bin"/><Relationship Id="rId3" Type="http://schemas.openxmlformats.org/officeDocument/2006/relationships/image" Target="../media/image34.wmf"/><Relationship Id="rId7" Type="http://schemas.openxmlformats.org/officeDocument/2006/relationships/image" Target="../media/image41.wmf"/><Relationship Id="rId2" Type="http://schemas.openxmlformats.org/officeDocument/2006/relationships/oleObject" Target="../embeddings/oleObject32.bin"/><Relationship Id="rId1" Type="http://schemas.openxmlformats.org/officeDocument/2006/relationships/slideLayout" Target="../slideLayouts/slideLayout13.xml"/><Relationship Id="rId6" Type="http://schemas.openxmlformats.org/officeDocument/2006/relationships/oleObject" Target="../embeddings/oleObject34.bin"/><Relationship Id="rId5" Type="http://schemas.openxmlformats.org/officeDocument/2006/relationships/image" Target="../media/image35.wmf"/><Relationship Id="rId10" Type="http://schemas.openxmlformats.org/officeDocument/2006/relationships/image" Target="../media/image40.png"/><Relationship Id="rId4" Type="http://schemas.openxmlformats.org/officeDocument/2006/relationships/oleObject" Target="../embeddings/oleObject33.bin"/><Relationship Id="rId9" Type="http://schemas.openxmlformats.org/officeDocument/2006/relationships/image" Target="../media/image42.wmf"/></Relationships>
</file>

<file path=ppt/slides/_rels/slide49.xml.rels><?xml version="1.0" encoding="UTF-8" standalone="yes"?>
<Relationships xmlns="http://schemas.openxmlformats.org/package/2006/relationships"><Relationship Id="rId8" Type="http://schemas.openxmlformats.org/officeDocument/2006/relationships/image" Target="../media/image45.png"/><Relationship Id="rId3" Type="http://schemas.openxmlformats.org/officeDocument/2006/relationships/image" Target="../media/image34.wmf"/><Relationship Id="rId7" Type="http://schemas.openxmlformats.org/officeDocument/2006/relationships/image" Target="../media/image44.wmf"/><Relationship Id="rId2" Type="http://schemas.openxmlformats.org/officeDocument/2006/relationships/oleObject" Target="../embeddings/oleObject32.bin"/><Relationship Id="rId1" Type="http://schemas.openxmlformats.org/officeDocument/2006/relationships/slideLayout" Target="../slideLayouts/slideLayout13.xml"/><Relationship Id="rId6" Type="http://schemas.openxmlformats.org/officeDocument/2006/relationships/oleObject" Target="../embeddings/oleObject37.bin"/><Relationship Id="rId5" Type="http://schemas.openxmlformats.org/officeDocument/2006/relationships/image" Target="../media/image43.wmf"/><Relationship Id="rId4" Type="http://schemas.openxmlformats.org/officeDocument/2006/relationships/oleObject" Target="../embeddings/oleObject36.bin"/><Relationship Id="rId9" Type="http://schemas.openxmlformats.org/officeDocument/2006/relationships/image" Target="../media/image46.png"/></Relationships>
</file>

<file path=ppt/slides/_rels/slide50.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47.wmf"/><Relationship Id="rId2" Type="http://schemas.openxmlformats.org/officeDocument/2006/relationships/oleObject" Target="../embeddings/oleObject38.bin"/><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48.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Rectangle 3"/>
          <p:cNvSpPr>
            <a:spLocks noGrp="1" noChangeArrowheads="1"/>
          </p:cNvSpPr>
          <p:nvPr>
            <p:ph type="subTitle" idx="1"/>
          </p:nvPr>
        </p:nvSpPr>
        <p:spPr>
          <a:xfrm>
            <a:off x="3467707" y="4261985"/>
            <a:ext cx="6019800" cy="825350"/>
          </a:xfrm>
        </p:spPr>
        <p:txBody>
          <a:bodyPr>
            <a:normAutofit fontScale="92500" lnSpcReduction="20000"/>
          </a:bodyPr>
          <a:lstStyle/>
          <a:p>
            <a:pPr eaLnBrk="1" hangingPunct="1"/>
            <a:endParaRPr lang="en-US" altLang="zh-CN" sz="2800" dirty="0"/>
          </a:p>
          <a:p>
            <a:pPr algn="ctr" eaLnBrk="1" hangingPunct="1"/>
            <a:r>
              <a:rPr lang="en-US" altLang="zh-CN" sz="2800" b="1" dirty="0">
                <a:solidFill>
                  <a:srgbClr val="00B050"/>
                </a:solidFill>
                <a:cs typeface="Arial" charset="0"/>
              </a:rPr>
              <a:t>2026 </a:t>
            </a:r>
            <a:r>
              <a:rPr lang="zh-CN" altLang="en-US" sz="2800" b="1" dirty="0">
                <a:solidFill>
                  <a:srgbClr val="00B050"/>
                </a:solidFill>
                <a:cs typeface="Arial" charset="0"/>
              </a:rPr>
              <a:t>年 </a:t>
            </a:r>
            <a:r>
              <a:rPr lang="en-US" altLang="zh-CN" sz="2800" b="1" dirty="0">
                <a:solidFill>
                  <a:srgbClr val="00B050"/>
                </a:solidFill>
                <a:cs typeface="Arial" charset="0"/>
              </a:rPr>
              <a:t>3 </a:t>
            </a:r>
            <a:r>
              <a:rPr lang="zh-CN" altLang="en-US" sz="2800" b="1" dirty="0">
                <a:solidFill>
                  <a:srgbClr val="00B050"/>
                </a:solidFill>
                <a:cs typeface="Arial" charset="0"/>
              </a:rPr>
              <a:t>月</a:t>
            </a:r>
          </a:p>
        </p:txBody>
      </p:sp>
      <p:sp>
        <p:nvSpPr>
          <p:cNvPr id="3074" name="Rectangle 2"/>
          <p:cNvSpPr>
            <a:spLocks noGrp="1" noChangeArrowheads="1"/>
          </p:cNvSpPr>
          <p:nvPr>
            <p:ph type="ctrTitle"/>
          </p:nvPr>
        </p:nvSpPr>
        <p:spPr>
          <a:xfrm>
            <a:off x="2895413" y="1895080"/>
            <a:ext cx="7164387" cy="2209800"/>
          </a:xfrm>
        </p:spPr>
        <p:txBody>
          <a:bodyPr/>
          <a:lstStyle/>
          <a:p>
            <a:pPr eaLnBrk="1" hangingPunct="1">
              <a:defRPr/>
            </a:pPr>
            <a:r>
              <a:rPr lang="zh-CN" altLang="en-US" sz="11500" dirty="0">
                <a:solidFill>
                  <a:srgbClr val="FF0000"/>
                </a:solidFill>
                <a:effectLst>
                  <a:outerShdw blurRad="38100" dist="38100" dir="2700000" algn="tl">
                    <a:srgbClr val="000000">
                      <a:alpha val="43137"/>
                    </a:srgbClr>
                  </a:outerShdw>
                </a:effectLst>
                <a:latin typeface="华文行楷" pitchFamily="2" charset="-122"/>
                <a:ea typeface="华文行楷" pitchFamily="2" charset="-122"/>
              </a:rPr>
              <a:t>模糊数学</a:t>
            </a:r>
          </a:p>
        </p:txBody>
      </p:sp>
      <p:pic>
        <p:nvPicPr>
          <p:cNvPr id="4" name="Picture 4" descr="F:\凌卫新的公文包\课件\22475074-1_e.jpg">
            <a:extLst>
              <a:ext uri="{FF2B5EF4-FFF2-40B4-BE49-F238E27FC236}">
                <a16:creationId xmlns:a16="http://schemas.microsoft.com/office/drawing/2014/main" id="{7A26B531-47CF-084E-02FB-AC11737261FE}"/>
              </a:ext>
            </a:extLst>
          </p:cNvPr>
          <p:cNvPicPr>
            <a:picLocks noChangeAspect="1" noChangeArrowheads="1"/>
          </p:cNvPicPr>
          <p:nvPr/>
        </p:nvPicPr>
        <p:blipFill rotWithShape="1">
          <a:blip r:embed="rId2">
            <a:extLst>
              <a:ext uri="{BEBA8EAE-BF5A-486C-A8C5-ECC9F3942E4B}">
                <a14:imgProps xmlns:a14="http://schemas.microsoft.com/office/drawing/2010/main">
                  <a14:imgLayer r:embed="rId3">
                    <a14:imgEffect>
                      <a14:brightnessContrast bright="20000" contrast="-20000"/>
                    </a14:imgEffect>
                  </a14:imgLayer>
                </a14:imgProps>
              </a:ext>
              <a:ext uri="{28A0092B-C50C-407E-A947-70E740481C1C}">
                <a14:useLocalDpi xmlns:a14="http://schemas.microsoft.com/office/drawing/2010/main" val="0"/>
              </a:ext>
            </a:extLst>
          </a:blip>
          <a:srcRect l="15511" t="8250" r="15714" b="50478"/>
          <a:stretch>
            <a:fillRect/>
          </a:stretch>
        </p:blipFill>
        <p:spPr bwMode="auto">
          <a:xfrm>
            <a:off x="0" y="0"/>
            <a:ext cx="12240344" cy="6927944"/>
          </a:xfrm>
          <a:prstGeom prst="rect">
            <a:avLst/>
          </a:prstGeom>
          <a:noFill/>
          <a:extLst>
            <a:ext uri="{909E8E84-426E-40DD-AFC4-6F175D3DCCD1}">
              <a14:hiddenFill xmlns:a14="http://schemas.microsoft.com/office/drawing/2010/main">
                <a:solidFill>
                  <a:srgbClr val="FFFFFF"/>
                </a:solidFill>
              </a14:hiddenFill>
            </a:ext>
          </a:extLst>
        </p:spPr>
      </p:pic>
      <p:sp>
        <p:nvSpPr>
          <p:cNvPr id="3" name="流程图: 文档 2"/>
          <p:cNvSpPr/>
          <p:nvPr/>
        </p:nvSpPr>
        <p:spPr>
          <a:xfrm>
            <a:off x="3935760" y="5296906"/>
            <a:ext cx="8040216" cy="1566336"/>
          </a:xfrm>
          <a:prstGeom prst="flowChartDocument">
            <a:avLst/>
          </a:prstGeom>
          <a:solidFill>
            <a:srgbClr val="FFC000"/>
          </a:solidFill>
          <a:ln>
            <a:solidFill>
              <a:srgbClr val="FFC000"/>
            </a:solidFill>
          </a:ln>
          <a:scene3d>
            <a:camera prst="orthographicFront"/>
            <a:lightRig rig="threePt" dir="t"/>
          </a:scene3d>
          <a:sp3d>
            <a:bevelT w="165100" prst="coolSlant"/>
          </a:sp3d>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altLang="zh-CN" sz="3200" b="1" dirty="0">
                <a:solidFill>
                  <a:schemeClr val="tx1"/>
                </a:solidFill>
              </a:rPr>
              <a:t>——</a:t>
            </a:r>
            <a:r>
              <a:rPr lang="zh-CN" altLang="en-US" sz="3200" b="1" dirty="0">
                <a:solidFill>
                  <a:schemeClr val="tx1"/>
                </a:solidFill>
              </a:rPr>
              <a:t>又称 </a:t>
            </a:r>
            <a:r>
              <a:rPr lang="en-US" altLang="zh-CN" sz="3600" b="1" i="1" dirty="0">
                <a:solidFill>
                  <a:srgbClr val="E90101"/>
                </a:solidFill>
              </a:rPr>
              <a:t>Fuzzy</a:t>
            </a:r>
            <a:r>
              <a:rPr lang="en-US" altLang="zh-CN" sz="3600" b="1" dirty="0">
                <a:solidFill>
                  <a:schemeClr val="tx1"/>
                </a:solidFill>
              </a:rPr>
              <a:t> </a:t>
            </a:r>
            <a:r>
              <a:rPr lang="zh-CN" altLang="en-US" sz="3200" b="1" dirty="0">
                <a:solidFill>
                  <a:schemeClr val="tx1"/>
                </a:solidFill>
              </a:rPr>
              <a:t>数学，是研究和处理模糊性现象的一种数学理论和方法。</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dissolv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1000"/>
                                        <p:tgtEl>
                                          <p:spTgt spid="3"/>
                                        </p:tgtEl>
                                      </p:cBhvr>
                                    </p:animEffect>
                                    <p:anim calcmode="lin" valueType="num">
                                      <p:cBhvr>
                                        <p:cTn id="13" dur="1000" fill="hold"/>
                                        <p:tgtEl>
                                          <p:spTgt spid="3"/>
                                        </p:tgtEl>
                                        <p:attrNameLst>
                                          <p:attrName>ppt_x</p:attrName>
                                        </p:attrNameLst>
                                      </p:cBhvr>
                                      <p:tavLst>
                                        <p:tav tm="0">
                                          <p:val>
                                            <p:strVal val="#ppt_x"/>
                                          </p:val>
                                        </p:tav>
                                        <p:tav tm="100000">
                                          <p:val>
                                            <p:strVal val="#ppt_x"/>
                                          </p:val>
                                        </p:tav>
                                      </p:tavLst>
                                    </p:anim>
                                    <p:anim calcmode="lin" valueType="num">
                                      <p:cBhvr>
                                        <p:cTn id="14"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p:txBody>
          <a:bodyPr/>
          <a:lstStyle/>
          <a:p>
            <a:pPr algn="ctr" eaLnBrk="1" hangingPunct="1"/>
            <a:r>
              <a:rPr lang="zh-CN" altLang="en-US" sz="5400" dirty="0">
                <a:solidFill>
                  <a:srgbClr val="008000"/>
                </a:solidFill>
              </a:rPr>
              <a:t>自我介绍</a:t>
            </a:r>
          </a:p>
        </p:txBody>
      </p:sp>
      <p:sp>
        <p:nvSpPr>
          <p:cNvPr id="54275" name="Rectangle 3"/>
          <p:cNvSpPr>
            <a:spLocks noGrp="1" noChangeArrowheads="1"/>
          </p:cNvSpPr>
          <p:nvPr>
            <p:ph idx="1"/>
          </p:nvPr>
        </p:nvSpPr>
        <p:spPr>
          <a:xfrm>
            <a:off x="1992313" y="1916832"/>
            <a:ext cx="8229600" cy="3888432"/>
          </a:xfrm>
          <a:extLst>
            <a:ext uri="{909E8E84-426E-40DD-AFC4-6F175D3DCCD1}">
              <a14:hiddenFill xmlns:a14="http://schemas.microsoft.com/office/drawing/2010/main">
                <a:solidFill>
                  <a:srgbClr val="FFFF99"/>
                </a:solidFill>
              </a14:hiddenFill>
            </a:ext>
          </a:extLst>
        </p:spPr>
        <p:txBody>
          <a:bodyPr>
            <a:normAutofit/>
          </a:bodyPr>
          <a:lstStyle/>
          <a:p>
            <a:pPr marL="0" indent="0" eaLnBrk="1" hangingPunct="1">
              <a:lnSpc>
                <a:spcPct val="150000"/>
              </a:lnSpc>
              <a:buNone/>
            </a:pPr>
            <a:r>
              <a:rPr lang="zh-CN" altLang="en-US" sz="3600" dirty="0">
                <a:latin typeface="黑体" pitchFamily="49" charset="-122"/>
                <a:ea typeface="黑体" pitchFamily="49" charset="-122"/>
              </a:rPr>
              <a:t>授课教师：凌卫新</a:t>
            </a:r>
          </a:p>
          <a:p>
            <a:pPr marL="0" indent="0" eaLnBrk="1" hangingPunct="1">
              <a:lnSpc>
                <a:spcPct val="150000"/>
              </a:lnSpc>
              <a:buNone/>
            </a:pPr>
            <a:r>
              <a:rPr lang="zh-CN" altLang="en-US" sz="3600" dirty="0">
                <a:latin typeface="黑体" pitchFamily="49" charset="-122"/>
                <a:ea typeface="黑体" pitchFamily="49" charset="-122"/>
              </a:rPr>
              <a:t>单位：数学学院 信息与计算科学系</a:t>
            </a:r>
          </a:p>
          <a:p>
            <a:pPr marL="0" indent="0" eaLnBrk="1" hangingPunct="1">
              <a:lnSpc>
                <a:spcPct val="150000"/>
              </a:lnSpc>
              <a:buNone/>
            </a:pPr>
            <a:r>
              <a:rPr lang="en-US" altLang="zh-CN" sz="3600" dirty="0">
                <a:solidFill>
                  <a:schemeClr val="tx2"/>
                </a:solidFill>
              </a:rPr>
              <a:t>E - mail  </a:t>
            </a:r>
            <a:r>
              <a:rPr lang="zh-CN" altLang="en-US" sz="3600" dirty="0">
                <a:solidFill>
                  <a:schemeClr val="tx2"/>
                </a:solidFill>
              </a:rPr>
              <a:t>：</a:t>
            </a:r>
            <a:r>
              <a:rPr lang="zh-CN" altLang="en-US" sz="3600" dirty="0">
                <a:solidFill>
                  <a:srgbClr val="0000FF"/>
                </a:solidFill>
              </a:rPr>
              <a:t> </a:t>
            </a:r>
            <a:r>
              <a:rPr lang="en-US" altLang="zh-CN" sz="3600" u="sng" dirty="0">
                <a:solidFill>
                  <a:schemeClr val="hlink"/>
                </a:solidFill>
                <a:hlinkClick r:id="rId2"/>
              </a:rPr>
              <a:t>wxling@scut.edu.cn</a:t>
            </a:r>
            <a:endParaRPr lang="en-US" altLang="zh-CN" sz="3600" u="sng" dirty="0">
              <a:solidFill>
                <a:schemeClr val="hlink"/>
              </a:solidFill>
            </a:endParaRPr>
          </a:p>
          <a:p>
            <a:pPr marL="0" indent="0" eaLnBrk="1" hangingPunct="1">
              <a:lnSpc>
                <a:spcPct val="150000"/>
              </a:lnSpc>
              <a:buNone/>
            </a:pPr>
            <a:r>
              <a:rPr lang="zh-CN" altLang="en-US" sz="3600" dirty="0">
                <a:solidFill>
                  <a:schemeClr val="tx2"/>
                </a:solidFill>
                <a:ea typeface="黑体" pitchFamily="49" charset="-122"/>
              </a:rPr>
              <a:t>电      话 ：</a:t>
            </a:r>
            <a:r>
              <a:rPr lang="en-US" altLang="zh-CN" sz="3600" dirty="0">
                <a:solidFill>
                  <a:schemeClr val="tx2"/>
                </a:solidFill>
                <a:ea typeface="黑体" pitchFamily="49" charset="-122"/>
              </a:rPr>
              <a:t>13016003143</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4275">
                                            <p:txEl>
                                              <p:pRg st="0" end="0"/>
                                            </p:txEl>
                                          </p:spTgt>
                                        </p:tgtEl>
                                        <p:attrNameLst>
                                          <p:attrName>style.visibility</p:attrName>
                                        </p:attrNameLst>
                                      </p:cBhvr>
                                      <p:to>
                                        <p:strVal val="visible"/>
                                      </p:to>
                                    </p:set>
                                    <p:animEffect transition="in" filter="wipe(left)">
                                      <p:cBhvr>
                                        <p:cTn id="7" dur="500"/>
                                        <p:tgtEl>
                                          <p:spTgt spid="5427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4275">
                                            <p:txEl>
                                              <p:pRg st="1" end="1"/>
                                            </p:txEl>
                                          </p:spTgt>
                                        </p:tgtEl>
                                        <p:attrNameLst>
                                          <p:attrName>style.visibility</p:attrName>
                                        </p:attrNameLst>
                                      </p:cBhvr>
                                      <p:to>
                                        <p:strVal val="visible"/>
                                      </p:to>
                                    </p:set>
                                    <p:animEffect transition="in" filter="wipe(left)">
                                      <p:cBhvr>
                                        <p:cTn id="12" dur="500"/>
                                        <p:tgtEl>
                                          <p:spTgt spid="54275">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4275">
                                            <p:txEl>
                                              <p:pRg st="2" end="2"/>
                                            </p:txEl>
                                          </p:spTgt>
                                        </p:tgtEl>
                                        <p:attrNameLst>
                                          <p:attrName>style.visibility</p:attrName>
                                        </p:attrNameLst>
                                      </p:cBhvr>
                                      <p:to>
                                        <p:strVal val="visible"/>
                                      </p:to>
                                    </p:set>
                                    <p:animEffect transition="in" filter="wipe(left)">
                                      <p:cBhvr>
                                        <p:cTn id="17" dur="500"/>
                                        <p:tgtEl>
                                          <p:spTgt spid="54275">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54275">
                                            <p:txEl>
                                              <p:pRg st="3" end="3"/>
                                            </p:txEl>
                                          </p:spTgt>
                                        </p:tgtEl>
                                        <p:attrNameLst>
                                          <p:attrName>style.visibility</p:attrName>
                                        </p:attrNameLst>
                                      </p:cBhvr>
                                      <p:to>
                                        <p:strVal val="visible"/>
                                      </p:to>
                                    </p:set>
                                    <p:animEffect transition="in" filter="wipe(left)">
                                      <p:cBhvr>
                                        <p:cTn id="22" dur="500"/>
                                        <p:tgtEl>
                                          <p:spTgt spid="5427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275"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1992313" y="260350"/>
            <a:ext cx="8229600" cy="1371600"/>
          </a:xfrm>
        </p:spPr>
        <p:txBody>
          <a:bodyPr/>
          <a:lstStyle/>
          <a:p>
            <a:pPr algn="ctr" eaLnBrk="1" hangingPunct="1"/>
            <a:r>
              <a:rPr lang="zh-CN" altLang="en-US" sz="4800">
                <a:solidFill>
                  <a:srgbClr val="008000"/>
                </a:solidFill>
              </a:rPr>
              <a:t>课程内容</a:t>
            </a:r>
          </a:p>
        </p:txBody>
      </p:sp>
      <p:sp>
        <p:nvSpPr>
          <p:cNvPr id="5123" name="Rectangle 3"/>
          <p:cNvSpPr>
            <a:spLocks noGrp="1" noChangeArrowheads="1"/>
          </p:cNvSpPr>
          <p:nvPr>
            <p:ph idx="1"/>
          </p:nvPr>
        </p:nvSpPr>
        <p:spPr>
          <a:xfrm>
            <a:off x="1055440" y="1484785"/>
            <a:ext cx="10009112" cy="5040313"/>
          </a:xfrm>
          <a:solidFill>
            <a:srgbClr val="FFFFCC"/>
          </a:solidFill>
        </p:spPr>
        <p:txBody>
          <a:bodyPr>
            <a:normAutofit fontScale="92500" lnSpcReduction="10000"/>
          </a:bodyPr>
          <a:lstStyle/>
          <a:p>
            <a:pPr marL="0" indent="0" eaLnBrk="1" hangingPunct="1">
              <a:buNone/>
            </a:pPr>
            <a:r>
              <a:rPr lang="zh-CN" altLang="en-US" sz="3200" dirty="0">
                <a:latin typeface="黑体" pitchFamily="49" charset="-122"/>
                <a:ea typeface="黑体" pitchFamily="49" charset="-122"/>
              </a:rPr>
              <a:t>第一章   模糊集合</a:t>
            </a:r>
          </a:p>
          <a:p>
            <a:pPr marL="0" indent="0" eaLnBrk="1" hangingPunct="1">
              <a:buNone/>
            </a:pPr>
            <a:r>
              <a:rPr lang="zh-CN" altLang="en-US" sz="3200" dirty="0">
                <a:latin typeface="黑体" pitchFamily="49" charset="-122"/>
                <a:ea typeface="黑体" pitchFamily="49" charset="-122"/>
              </a:rPr>
              <a:t>第二章   模糊模式识别</a:t>
            </a:r>
          </a:p>
          <a:p>
            <a:pPr marL="0" indent="0" eaLnBrk="1" hangingPunct="1">
              <a:buNone/>
            </a:pPr>
            <a:r>
              <a:rPr lang="zh-CN" altLang="en-US" sz="3200" dirty="0">
                <a:latin typeface="黑体" pitchFamily="49" charset="-122"/>
                <a:ea typeface="黑体" pitchFamily="49" charset="-122"/>
              </a:rPr>
              <a:t>第三章   模糊关系与聚类分析</a:t>
            </a:r>
          </a:p>
          <a:p>
            <a:pPr marL="0" indent="0" eaLnBrk="1" hangingPunct="1">
              <a:buNone/>
            </a:pPr>
            <a:r>
              <a:rPr lang="zh-CN" altLang="en-US" sz="3200" dirty="0">
                <a:latin typeface="黑体" pitchFamily="49" charset="-122"/>
                <a:ea typeface="黑体" pitchFamily="49" charset="-122"/>
              </a:rPr>
              <a:t>第四章   模糊映射与综合评判</a:t>
            </a:r>
          </a:p>
          <a:p>
            <a:pPr marL="0" indent="0" eaLnBrk="1" hangingPunct="1">
              <a:buNone/>
            </a:pPr>
            <a:r>
              <a:rPr lang="zh-CN" altLang="en-US" sz="3200" dirty="0">
                <a:latin typeface="黑体" pitchFamily="49" charset="-122"/>
                <a:ea typeface="黑体" pitchFamily="49" charset="-122"/>
              </a:rPr>
              <a:t>第五章   扩张原理与模糊数</a:t>
            </a:r>
          </a:p>
          <a:p>
            <a:pPr marL="0" indent="0" eaLnBrk="1" hangingPunct="1">
              <a:buNone/>
            </a:pPr>
            <a:r>
              <a:rPr lang="zh-CN" altLang="en-US" sz="3200" dirty="0">
                <a:latin typeface="黑体" pitchFamily="49" charset="-122"/>
                <a:ea typeface="黑体" pitchFamily="49" charset="-122"/>
              </a:rPr>
              <a:t>第七章   模糊语言与模糊推理</a:t>
            </a:r>
          </a:p>
          <a:p>
            <a:pPr marL="0" indent="0" eaLnBrk="1" hangingPunct="1">
              <a:buNone/>
            </a:pPr>
            <a:r>
              <a:rPr lang="zh-CN" altLang="en-US" sz="3200" dirty="0">
                <a:latin typeface="黑体" pitchFamily="49" charset="-122"/>
                <a:ea typeface="黑体" pitchFamily="49" charset="-122"/>
              </a:rPr>
              <a:t>第八章   模糊控制</a:t>
            </a:r>
          </a:p>
          <a:p>
            <a:pPr marL="0" indent="0" eaLnBrk="1" hangingPunct="1">
              <a:buNone/>
            </a:pPr>
            <a:r>
              <a:rPr lang="zh-CN" altLang="en-US" sz="3200" dirty="0">
                <a:solidFill>
                  <a:srgbClr val="0000FF"/>
                </a:solidFill>
                <a:latin typeface="黑体" pitchFamily="49" charset="-122"/>
                <a:ea typeface="黑体" pitchFamily="49" charset="-122"/>
              </a:rPr>
              <a:t>第九章   模糊推理系统 </a:t>
            </a:r>
            <a:endParaRPr lang="en-US" altLang="zh-CN" sz="3200" dirty="0">
              <a:solidFill>
                <a:srgbClr val="0000FF"/>
              </a:solidFill>
              <a:latin typeface="黑体" pitchFamily="49" charset="-122"/>
              <a:ea typeface="黑体" pitchFamily="49" charset="-122"/>
            </a:endParaRPr>
          </a:p>
          <a:p>
            <a:pPr marL="0" indent="0" eaLnBrk="1" hangingPunct="1">
              <a:buNone/>
            </a:pPr>
            <a:r>
              <a:rPr lang="zh-CN" altLang="en-US" sz="3200" dirty="0">
                <a:latin typeface="黑体" pitchFamily="49" charset="-122"/>
                <a:ea typeface="黑体" pitchFamily="49" charset="-122"/>
              </a:rPr>
              <a:t>第十章   模糊概率</a:t>
            </a:r>
          </a:p>
          <a:p>
            <a:pPr marL="0" indent="0" eaLnBrk="1" hangingPunct="1">
              <a:buNone/>
            </a:pPr>
            <a:r>
              <a:rPr lang="zh-CN" altLang="en-US" sz="3200" dirty="0">
                <a:latin typeface="黑体" pitchFamily="49" charset="-122"/>
                <a:ea typeface="黑体" pitchFamily="49" charset="-122"/>
              </a:rPr>
              <a:t>第十一章 模糊线性规划</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xfrm>
            <a:off x="1992313" y="260350"/>
            <a:ext cx="8229600" cy="1371600"/>
          </a:xfrm>
        </p:spPr>
        <p:txBody>
          <a:bodyPr/>
          <a:lstStyle/>
          <a:p>
            <a:pPr algn="ctr" eaLnBrk="1" hangingPunct="1"/>
            <a:r>
              <a:rPr lang="zh-CN" altLang="en-US" sz="4800" dirty="0">
                <a:solidFill>
                  <a:srgbClr val="008000"/>
                </a:solidFill>
              </a:rPr>
              <a:t>授课方式和成绩评定方式</a:t>
            </a:r>
          </a:p>
        </p:txBody>
      </p:sp>
      <p:sp>
        <p:nvSpPr>
          <p:cNvPr id="55299" name="Rectangle 3"/>
          <p:cNvSpPr>
            <a:spLocks noGrp="1" noChangeArrowheads="1"/>
          </p:cNvSpPr>
          <p:nvPr>
            <p:ph idx="1"/>
          </p:nvPr>
        </p:nvSpPr>
        <p:spPr>
          <a:xfrm>
            <a:off x="983432" y="1631950"/>
            <a:ext cx="10369152" cy="4873320"/>
          </a:xfrm>
          <a:solidFill>
            <a:schemeClr val="accent2">
              <a:lumMod val="20000"/>
              <a:lumOff val="80000"/>
            </a:schemeClr>
          </a:solidFill>
        </p:spPr>
        <p:txBody>
          <a:bodyPr>
            <a:normAutofit/>
          </a:bodyPr>
          <a:lstStyle/>
          <a:p>
            <a:pPr eaLnBrk="1" hangingPunct="1">
              <a:lnSpc>
                <a:spcPct val="120000"/>
              </a:lnSpc>
              <a:defRPr/>
            </a:pPr>
            <a:r>
              <a:rPr lang="zh-CN" altLang="en-US" sz="3200" dirty="0">
                <a:solidFill>
                  <a:srgbClr val="FF0000"/>
                </a:solidFill>
                <a:ea typeface="黑体" pitchFamily="2" charset="-122"/>
              </a:rPr>
              <a:t>授课方式</a:t>
            </a:r>
            <a:r>
              <a:rPr lang="zh-CN" altLang="en-US" sz="3200" b="1" dirty="0">
                <a:solidFill>
                  <a:srgbClr val="FF0000"/>
                </a:solidFill>
              </a:rPr>
              <a:t>（总</a:t>
            </a:r>
            <a:r>
              <a:rPr lang="en-US" altLang="zh-CN" sz="3200" b="1" dirty="0">
                <a:solidFill>
                  <a:srgbClr val="FF0000"/>
                </a:solidFill>
              </a:rPr>
              <a:t>54</a:t>
            </a:r>
            <a:r>
              <a:rPr lang="zh-CN" altLang="en-US" sz="3200" b="1" dirty="0">
                <a:solidFill>
                  <a:srgbClr val="FF0000"/>
                </a:solidFill>
              </a:rPr>
              <a:t>学时）</a:t>
            </a:r>
          </a:p>
          <a:p>
            <a:pPr eaLnBrk="1" hangingPunct="1">
              <a:lnSpc>
                <a:spcPct val="120000"/>
              </a:lnSpc>
              <a:buFont typeface="Wingdings" pitchFamily="2" charset="2"/>
              <a:buNone/>
              <a:defRPr/>
            </a:pPr>
            <a:r>
              <a:rPr lang="zh-CN" altLang="en-US" sz="3200" b="1" dirty="0"/>
              <a:t>       讲授</a:t>
            </a:r>
            <a:r>
              <a:rPr lang="en-US" altLang="zh-CN" sz="3200" b="1" dirty="0"/>
              <a:t>(48</a:t>
            </a:r>
            <a:r>
              <a:rPr lang="zh-CN" altLang="en-US" sz="3200" b="1" dirty="0"/>
              <a:t>学时</a:t>
            </a:r>
            <a:r>
              <a:rPr lang="en-US" altLang="zh-CN" sz="3200" b="1" dirty="0"/>
              <a:t>)</a:t>
            </a:r>
            <a:r>
              <a:rPr lang="zh-CN" altLang="en-US" sz="3200" b="1" dirty="0"/>
              <a:t>与自学</a:t>
            </a:r>
            <a:r>
              <a:rPr lang="en-US" altLang="zh-CN" sz="3200" b="1" dirty="0"/>
              <a:t>(6</a:t>
            </a:r>
            <a:r>
              <a:rPr lang="zh-CN" altLang="en-US" sz="3200" b="1" dirty="0"/>
              <a:t>学时</a:t>
            </a:r>
            <a:r>
              <a:rPr lang="en-US" altLang="zh-CN" sz="3200" b="1" dirty="0"/>
              <a:t>)</a:t>
            </a:r>
            <a:r>
              <a:rPr lang="zh-CN" altLang="en-US" sz="3200" b="1" dirty="0"/>
              <a:t>相结合，</a:t>
            </a:r>
          </a:p>
          <a:p>
            <a:pPr eaLnBrk="1" hangingPunct="1">
              <a:lnSpc>
                <a:spcPct val="120000"/>
              </a:lnSpc>
              <a:buFont typeface="Wingdings" pitchFamily="2" charset="2"/>
              <a:buNone/>
              <a:defRPr/>
            </a:pPr>
            <a:r>
              <a:rPr lang="zh-CN" altLang="en-US" sz="3200" b="1" dirty="0"/>
              <a:t>       每次课后均有作业，需自觉完成</a:t>
            </a:r>
            <a:r>
              <a:rPr lang="en-US" altLang="zh-CN" b="1" dirty="0"/>
              <a:t>(</a:t>
            </a:r>
            <a:r>
              <a:rPr lang="zh-CN" altLang="en-US" b="1" dirty="0"/>
              <a:t>教材后有参考答案</a:t>
            </a:r>
            <a:r>
              <a:rPr lang="en-US" altLang="zh-CN" b="1" dirty="0"/>
              <a:t>)</a:t>
            </a:r>
            <a:r>
              <a:rPr lang="zh-CN" altLang="en-US" sz="3200" b="1" dirty="0"/>
              <a:t>。</a:t>
            </a:r>
          </a:p>
          <a:p>
            <a:pPr eaLnBrk="1" hangingPunct="1">
              <a:lnSpc>
                <a:spcPct val="120000"/>
              </a:lnSpc>
              <a:defRPr/>
            </a:pPr>
            <a:r>
              <a:rPr lang="zh-CN" altLang="en-US" sz="3200" dirty="0">
                <a:solidFill>
                  <a:srgbClr val="FF0000"/>
                </a:solidFill>
                <a:ea typeface="黑体" pitchFamily="2" charset="-122"/>
              </a:rPr>
              <a:t>成绩评定方式</a:t>
            </a:r>
          </a:p>
          <a:p>
            <a:pPr lvl="1" eaLnBrk="1" hangingPunct="1">
              <a:lnSpc>
                <a:spcPct val="120000"/>
              </a:lnSpc>
              <a:buFont typeface="Wingdings" pitchFamily="2" charset="2"/>
              <a:buChar char="Ø"/>
              <a:defRPr/>
            </a:pPr>
            <a:r>
              <a:rPr lang="zh-CN" altLang="en-US" sz="3200" b="1" dirty="0"/>
              <a:t> 平时上课考勤、大作业</a:t>
            </a:r>
            <a:r>
              <a:rPr lang="en-US" altLang="zh-CN" sz="3200" b="1" dirty="0"/>
              <a:t>30%(6</a:t>
            </a:r>
            <a:r>
              <a:rPr lang="zh-CN" altLang="en-US" sz="3200" b="1" dirty="0"/>
              <a:t>月</a:t>
            </a:r>
            <a:r>
              <a:rPr lang="en-US" altLang="zh-CN" sz="3200" b="1" dirty="0"/>
              <a:t>30</a:t>
            </a:r>
            <a:r>
              <a:rPr lang="zh-CN" altLang="en-US" sz="3200" b="1" dirty="0"/>
              <a:t>日前提交一篇关于模糊数学在相关专业的应用的大作业，严禁抄袭！</a:t>
            </a:r>
            <a:r>
              <a:rPr lang="en-US" altLang="zh-CN" sz="3200" b="1" dirty="0"/>
              <a:t>)</a:t>
            </a:r>
          </a:p>
          <a:p>
            <a:pPr lvl="1" eaLnBrk="1" hangingPunct="1">
              <a:lnSpc>
                <a:spcPct val="120000"/>
              </a:lnSpc>
              <a:buFont typeface="Wingdings" pitchFamily="2" charset="2"/>
              <a:buChar char="Ø"/>
              <a:defRPr/>
            </a:pPr>
            <a:r>
              <a:rPr lang="zh-CN" altLang="en-US" sz="3200" b="1" dirty="0"/>
              <a:t> 期末考试成绩占总评</a:t>
            </a:r>
            <a:r>
              <a:rPr lang="en-US" altLang="zh-CN" sz="3200" b="1" dirty="0"/>
              <a:t>70%</a:t>
            </a:r>
            <a:r>
              <a:rPr lang="zh-CN" altLang="en-US" sz="3200" b="1" dirty="0"/>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5299">
                                            <p:txEl>
                                              <p:pRg st="0" end="0"/>
                                            </p:txEl>
                                          </p:spTgt>
                                        </p:tgtEl>
                                        <p:attrNameLst>
                                          <p:attrName>style.visibility</p:attrName>
                                        </p:attrNameLst>
                                      </p:cBhvr>
                                      <p:to>
                                        <p:strVal val="visible"/>
                                      </p:to>
                                    </p:set>
                                    <p:animEffect transition="in" filter="wipe(left)">
                                      <p:cBhvr>
                                        <p:cTn id="7" dur="500"/>
                                        <p:tgtEl>
                                          <p:spTgt spid="5529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5299">
                                            <p:txEl>
                                              <p:pRg st="1" end="1"/>
                                            </p:txEl>
                                          </p:spTgt>
                                        </p:tgtEl>
                                        <p:attrNameLst>
                                          <p:attrName>style.visibility</p:attrName>
                                        </p:attrNameLst>
                                      </p:cBhvr>
                                      <p:to>
                                        <p:strVal val="visible"/>
                                      </p:to>
                                    </p:set>
                                    <p:animEffect transition="in" filter="wipe(left)">
                                      <p:cBhvr>
                                        <p:cTn id="12" dur="500"/>
                                        <p:tgtEl>
                                          <p:spTgt spid="55299">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5299">
                                            <p:txEl>
                                              <p:pRg st="2" end="2"/>
                                            </p:txEl>
                                          </p:spTgt>
                                        </p:tgtEl>
                                        <p:attrNameLst>
                                          <p:attrName>style.visibility</p:attrName>
                                        </p:attrNameLst>
                                      </p:cBhvr>
                                      <p:to>
                                        <p:strVal val="visible"/>
                                      </p:to>
                                    </p:set>
                                    <p:animEffect transition="in" filter="wipe(left)">
                                      <p:cBhvr>
                                        <p:cTn id="17" dur="500"/>
                                        <p:tgtEl>
                                          <p:spTgt spid="55299">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55299">
                                            <p:txEl>
                                              <p:pRg st="3" end="3"/>
                                            </p:txEl>
                                          </p:spTgt>
                                        </p:tgtEl>
                                        <p:attrNameLst>
                                          <p:attrName>style.visibility</p:attrName>
                                        </p:attrNameLst>
                                      </p:cBhvr>
                                      <p:to>
                                        <p:strVal val="visible"/>
                                      </p:to>
                                    </p:set>
                                    <p:animEffect transition="in" filter="wipe(left)">
                                      <p:cBhvr>
                                        <p:cTn id="22" dur="500"/>
                                        <p:tgtEl>
                                          <p:spTgt spid="55299">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55299">
                                            <p:txEl>
                                              <p:pRg st="4" end="4"/>
                                            </p:txEl>
                                          </p:spTgt>
                                        </p:tgtEl>
                                        <p:attrNameLst>
                                          <p:attrName>style.visibility</p:attrName>
                                        </p:attrNameLst>
                                      </p:cBhvr>
                                      <p:to>
                                        <p:strVal val="visible"/>
                                      </p:to>
                                    </p:set>
                                    <p:animEffect transition="in" filter="wipe(left)">
                                      <p:cBhvr>
                                        <p:cTn id="27" dur="500"/>
                                        <p:tgtEl>
                                          <p:spTgt spid="55299">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55299">
                                            <p:txEl>
                                              <p:pRg st="5" end="5"/>
                                            </p:txEl>
                                          </p:spTgt>
                                        </p:tgtEl>
                                        <p:attrNameLst>
                                          <p:attrName>style.visibility</p:attrName>
                                        </p:attrNameLst>
                                      </p:cBhvr>
                                      <p:to>
                                        <p:strVal val="visible"/>
                                      </p:to>
                                    </p:set>
                                    <p:animEffect transition="in" filter="wipe(left)">
                                      <p:cBhvr>
                                        <p:cTn id="32" dur="500"/>
                                        <p:tgtEl>
                                          <p:spTgt spid="55299">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299"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1992313" y="260350"/>
            <a:ext cx="8229600" cy="1371600"/>
          </a:xfrm>
        </p:spPr>
        <p:txBody>
          <a:bodyPr/>
          <a:lstStyle/>
          <a:p>
            <a:pPr algn="ctr" eaLnBrk="1" hangingPunct="1"/>
            <a:r>
              <a:rPr lang="zh-CN" altLang="en-US" dirty="0">
                <a:solidFill>
                  <a:srgbClr val="008000"/>
                </a:solidFill>
              </a:rPr>
              <a:t>参考书目</a:t>
            </a:r>
          </a:p>
        </p:txBody>
      </p:sp>
      <p:sp>
        <p:nvSpPr>
          <p:cNvPr id="53251" name="Rectangle 3"/>
          <p:cNvSpPr>
            <a:spLocks noGrp="1" noChangeArrowheads="1"/>
          </p:cNvSpPr>
          <p:nvPr>
            <p:ph idx="1"/>
          </p:nvPr>
        </p:nvSpPr>
        <p:spPr>
          <a:xfrm>
            <a:off x="623392" y="1892300"/>
            <a:ext cx="10657184" cy="4849813"/>
          </a:xfrm>
          <a:solidFill>
            <a:schemeClr val="bg1"/>
          </a:solidFill>
        </p:spPr>
        <p:txBody>
          <a:bodyPr/>
          <a:lstStyle/>
          <a:p>
            <a:pPr eaLnBrk="1" hangingPunct="1">
              <a:lnSpc>
                <a:spcPct val="120000"/>
              </a:lnSpc>
            </a:pPr>
            <a:r>
              <a:rPr lang="zh-CN" altLang="en-US" sz="2800" b="1" dirty="0"/>
              <a:t>杨纶标、高英仪、凌卫新编著，</a:t>
            </a:r>
            <a:r>
              <a:rPr lang="en-US" altLang="zh-CN" sz="2800" b="1" dirty="0"/>
              <a:t>《</a:t>
            </a:r>
            <a:r>
              <a:rPr lang="zh-CN" altLang="en-US" sz="2800" b="1" dirty="0"/>
              <a:t>模糊数学原理及应用</a:t>
            </a:r>
            <a:r>
              <a:rPr lang="en-US" altLang="zh-CN" sz="2800" b="1" dirty="0"/>
              <a:t>》</a:t>
            </a:r>
            <a:r>
              <a:rPr lang="zh-CN" altLang="en-US" sz="2800" b="1" dirty="0"/>
              <a:t>（第五版），华南理工大学出版社，</a:t>
            </a:r>
            <a:r>
              <a:rPr lang="en-US" altLang="zh-CN" sz="2800" b="1" dirty="0"/>
              <a:t>2011</a:t>
            </a:r>
            <a:r>
              <a:rPr lang="zh-CN" altLang="en-US" sz="2800" b="1" dirty="0"/>
              <a:t>年</a:t>
            </a:r>
            <a:endParaRPr lang="en-US" altLang="zh-CN" sz="2800" b="1" dirty="0"/>
          </a:p>
          <a:p>
            <a:pPr eaLnBrk="1" hangingPunct="1">
              <a:lnSpc>
                <a:spcPct val="120000"/>
              </a:lnSpc>
            </a:pPr>
            <a:r>
              <a:rPr lang="zh-CN" altLang="en-US" sz="2800" b="1" dirty="0"/>
              <a:t>石辛民，郝整清编著，</a:t>
            </a:r>
            <a:r>
              <a:rPr lang="en-US" altLang="zh-CN" sz="2800" b="1" dirty="0"/>
              <a:t>《</a:t>
            </a:r>
            <a:r>
              <a:rPr lang="zh-CN" altLang="en-US" sz="2800" b="1" dirty="0"/>
              <a:t>模糊控制及其</a:t>
            </a:r>
            <a:r>
              <a:rPr lang="en-US" altLang="zh-CN" sz="2800" b="1" dirty="0"/>
              <a:t>MATLAB</a:t>
            </a:r>
            <a:r>
              <a:rPr lang="zh-CN" altLang="en-US" sz="2800" b="1" dirty="0"/>
              <a:t>仿真</a:t>
            </a:r>
            <a:r>
              <a:rPr lang="en-US" altLang="zh-CN" sz="2800" b="1" dirty="0"/>
              <a:t>》</a:t>
            </a:r>
            <a:r>
              <a:rPr lang="zh-CN" altLang="en-US" sz="2800" b="1" dirty="0"/>
              <a:t>，清华大学出版社，</a:t>
            </a:r>
            <a:r>
              <a:rPr lang="en-US" altLang="zh-CN" sz="2800" b="1" dirty="0"/>
              <a:t>2018</a:t>
            </a:r>
          </a:p>
          <a:p>
            <a:pPr eaLnBrk="1" hangingPunct="1">
              <a:lnSpc>
                <a:spcPct val="120000"/>
              </a:lnSpc>
            </a:pPr>
            <a:r>
              <a:rPr lang="zh-CN" altLang="en-US" sz="2800" b="1" dirty="0"/>
              <a:t>谢季坚，刘承平，</a:t>
            </a:r>
            <a:r>
              <a:rPr lang="en-US" altLang="zh-CN" sz="2800" b="1" dirty="0"/>
              <a:t>《</a:t>
            </a:r>
            <a:r>
              <a:rPr lang="zh-CN" altLang="en-US" sz="2800" b="1" dirty="0"/>
              <a:t>模糊数学方法及其应用</a:t>
            </a:r>
            <a:r>
              <a:rPr lang="en-US" altLang="zh-CN" sz="2800" b="1" dirty="0"/>
              <a:t>》</a:t>
            </a:r>
            <a:r>
              <a:rPr lang="zh-CN" altLang="en-US" sz="2800" b="1" dirty="0"/>
              <a:t>（第</a:t>
            </a:r>
            <a:r>
              <a:rPr lang="en-US" altLang="zh-CN" sz="2800" b="1" dirty="0"/>
              <a:t>4</a:t>
            </a:r>
            <a:r>
              <a:rPr lang="zh-CN" altLang="en-US" sz="2800" b="1" dirty="0"/>
              <a:t>版），华中科技大学出版，</a:t>
            </a:r>
            <a:r>
              <a:rPr lang="en-US" altLang="zh-CN" sz="2800" b="1" dirty="0"/>
              <a:t>2018</a:t>
            </a:r>
          </a:p>
          <a:p>
            <a:pPr eaLnBrk="1" hangingPunct="1">
              <a:lnSpc>
                <a:spcPct val="120000"/>
              </a:lnSpc>
            </a:pPr>
            <a:r>
              <a:rPr lang="en-US" altLang="zh-CN" sz="2800" b="1" dirty="0">
                <a:ea typeface="黑体" pitchFamily="49" charset="-122"/>
              </a:rPr>
              <a:t>L. A. Zadeh, </a:t>
            </a:r>
            <a:r>
              <a:rPr lang="en-US" altLang="zh-CN" sz="2800" b="1" dirty="0"/>
              <a:t>Fuzzy Sets and Fuzzy Information Granulation Theory, 2000</a:t>
            </a:r>
          </a:p>
        </p:txBody>
      </p:sp>
      <p:pic>
        <p:nvPicPr>
          <p:cNvPr id="7172" name="Picture 4" descr="F:\凌卫新的公文包\课件\22475074-1_e.jpg"/>
          <p:cNvPicPr>
            <a:picLocks noChangeAspect="1" noChangeArrowheads="1"/>
          </p:cNvPicPr>
          <p:nvPr/>
        </p:nvPicPr>
        <p:blipFill rotWithShape="1">
          <a:blip r:embed="rId2">
            <a:extLst>
              <a:ext uri="{28A0092B-C50C-407E-A947-70E740481C1C}">
                <a14:useLocalDpi xmlns:a14="http://schemas.microsoft.com/office/drawing/2010/main" val="0"/>
              </a:ext>
            </a:extLst>
          </a:blip>
          <a:srcRect l="15511" r="15714"/>
          <a:stretch/>
        </p:blipFill>
        <p:spPr bwMode="auto">
          <a:xfrm>
            <a:off x="10128448" y="0"/>
            <a:ext cx="2035898" cy="296020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53251">
                                            <p:txEl>
                                              <p:pRg st="0" end="0"/>
                                            </p:txEl>
                                          </p:spTgt>
                                        </p:tgtEl>
                                        <p:attrNameLst>
                                          <p:attrName>style.visibility</p:attrName>
                                        </p:attrNameLst>
                                      </p:cBhvr>
                                      <p:to>
                                        <p:strVal val="visible"/>
                                      </p:to>
                                    </p:set>
                                    <p:animEffect transition="in" filter="wipe(left)">
                                      <p:cBhvr>
                                        <p:cTn id="7" dur="500"/>
                                        <p:tgtEl>
                                          <p:spTgt spid="53251">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3" presetClass="entr" presetSubtype="16" fill="hold" nodeType="clickEffect">
                                  <p:stCondLst>
                                    <p:cond delay="0"/>
                                  </p:stCondLst>
                                  <p:childTnLst>
                                    <p:set>
                                      <p:cBhvr>
                                        <p:cTn id="11" dur="1" fill="hold">
                                          <p:stCondLst>
                                            <p:cond delay="0"/>
                                          </p:stCondLst>
                                        </p:cTn>
                                        <p:tgtEl>
                                          <p:spTgt spid="7172"/>
                                        </p:tgtEl>
                                        <p:attrNameLst>
                                          <p:attrName>style.visibility</p:attrName>
                                        </p:attrNameLst>
                                      </p:cBhvr>
                                      <p:to>
                                        <p:strVal val="visible"/>
                                      </p:to>
                                    </p:set>
                                    <p:anim calcmode="lin" valueType="num">
                                      <p:cBhvr>
                                        <p:cTn id="12" dur="500" fill="hold"/>
                                        <p:tgtEl>
                                          <p:spTgt spid="7172"/>
                                        </p:tgtEl>
                                        <p:attrNameLst>
                                          <p:attrName>ppt_w</p:attrName>
                                        </p:attrNameLst>
                                      </p:cBhvr>
                                      <p:tavLst>
                                        <p:tav tm="0">
                                          <p:val>
                                            <p:fltVal val="0"/>
                                          </p:val>
                                        </p:tav>
                                        <p:tav tm="100000">
                                          <p:val>
                                            <p:strVal val="#ppt_w"/>
                                          </p:val>
                                        </p:tav>
                                      </p:tavLst>
                                    </p:anim>
                                    <p:anim calcmode="lin" valueType="num">
                                      <p:cBhvr>
                                        <p:cTn id="13" dur="500" fill="hold"/>
                                        <p:tgtEl>
                                          <p:spTgt spid="7172"/>
                                        </p:tgtEl>
                                        <p:attrNameLst>
                                          <p:attrName>ppt_h</p:attrName>
                                        </p:attrNameLst>
                                      </p:cBhvr>
                                      <p:tavLst>
                                        <p:tav tm="0">
                                          <p:val>
                                            <p:fltVal val="0"/>
                                          </p:val>
                                        </p:tav>
                                        <p:tav tm="100000">
                                          <p:val>
                                            <p:strVal val="#ppt_h"/>
                                          </p:val>
                                        </p:tav>
                                      </p:tavLst>
                                    </p:anim>
                                    <p:animEffect transition="in" filter="fade">
                                      <p:cBhvr>
                                        <p:cTn id="14" dur="500"/>
                                        <p:tgtEl>
                                          <p:spTgt spid="7172"/>
                                        </p:tgtEl>
                                      </p:cBhvr>
                                    </p:animEffect>
                                  </p:childTnLst>
                                </p:cTn>
                              </p:par>
                            </p:childTnLst>
                          </p:cTn>
                        </p:par>
                      </p:childTnLst>
                    </p:cTn>
                  </p:par>
                  <p:par>
                    <p:cTn id="15" fill="hold">
                      <p:stCondLst>
                        <p:cond delay="indefinite"/>
                      </p:stCondLst>
                      <p:childTnLst>
                        <p:par>
                          <p:cTn id="16" fill="hold">
                            <p:stCondLst>
                              <p:cond delay="0"/>
                            </p:stCondLst>
                            <p:childTnLst>
                              <p:par>
                                <p:cTn id="17" presetID="22" presetClass="entr" presetSubtype="8" fill="hold" nodeType="clickEffect">
                                  <p:stCondLst>
                                    <p:cond delay="0"/>
                                  </p:stCondLst>
                                  <p:childTnLst>
                                    <p:set>
                                      <p:cBhvr>
                                        <p:cTn id="18" dur="1" fill="hold">
                                          <p:stCondLst>
                                            <p:cond delay="0"/>
                                          </p:stCondLst>
                                        </p:cTn>
                                        <p:tgtEl>
                                          <p:spTgt spid="53251">
                                            <p:txEl>
                                              <p:pRg st="1" end="1"/>
                                            </p:txEl>
                                          </p:spTgt>
                                        </p:tgtEl>
                                        <p:attrNameLst>
                                          <p:attrName>style.visibility</p:attrName>
                                        </p:attrNameLst>
                                      </p:cBhvr>
                                      <p:to>
                                        <p:strVal val="visible"/>
                                      </p:to>
                                    </p:set>
                                    <p:animEffect transition="in" filter="wipe(left)">
                                      <p:cBhvr>
                                        <p:cTn id="19" dur="500"/>
                                        <p:tgtEl>
                                          <p:spTgt spid="53251">
                                            <p:txEl>
                                              <p:pRg st="1" end="1"/>
                                            </p:txEl>
                                          </p:spTgt>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22" presetClass="entr" presetSubtype="8" fill="hold" nodeType="clickEffect">
                                  <p:stCondLst>
                                    <p:cond delay="0"/>
                                  </p:stCondLst>
                                  <p:childTnLst>
                                    <p:set>
                                      <p:cBhvr>
                                        <p:cTn id="23" dur="1" fill="hold">
                                          <p:stCondLst>
                                            <p:cond delay="0"/>
                                          </p:stCondLst>
                                        </p:cTn>
                                        <p:tgtEl>
                                          <p:spTgt spid="53251">
                                            <p:txEl>
                                              <p:pRg st="2" end="2"/>
                                            </p:txEl>
                                          </p:spTgt>
                                        </p:tgtEl>
                                        <p:attrNameLst>
                                          <p:attrName>style.visibility</p:attrName>
                                        </p:attrNameLst>
                                      </p:cBhvr>
                                      <p:to>
                                        <p:strVal val="visible"/>
                                      </p:to>
                                    </p:set>
                                    <p:animEffect transition="in" filter="wipe(left)">
                                      <p:cBhvr>
                                        <p:cTn id="24" dur="500"/>
                                        <p:tgtEl>
                                          <p:spTgt spid="53251">
                                            <p:txEl>
                                              <p:pRg st="2" end="2"/>
                                            </p:txEl>
                                          </p:spTgt>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22" presetClass="entr" presetSubtype="8" fill="hold" nodeType="clickEffect">
                                  <p:stCondLst>
                                    <p:cond delay="0"/>
                                  </p:stCondLst>
                                  <p:childTnLst>
                                    <p:set>
                                      <p:cBhvr>
                                        <p:cTn id="28" dur="1" fill="hold">
                                          <p:stCondLst>
                                            <p:cond delay="0"/>
                                          </p:stCondLst>
                                        </p:cTn>
                                        <p:tgtEl>
                                          <p:spTgt spid="53251">
                                            <p:txEl>
                                              <p:pRg st="3" end="3"/>
                                            </p:txEl>
                                          </p:spTgt>
                                        </p:tgtEl>
                                        <p:attrNameLst>
                                          <p:attrName>style.visibility</p:attrName>
                                        </p:attrNameLst>
                                      </p:cBhvr>
                                      <p:to>
                                        <p:strVal val="visible"/>
                                      </p:to>
                                    </p:set>
                                    <p:animEffect transition="in" filter="wipe(left)">
                                      <p:cBhvr>
                                        <p:cTn id="29" dur="500"/>
                                        <p:tgtEl>
                                          <p:spTgt spid="53251">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CF165D9-C31C-F499-C623-B68E313B4C72}"/>
              </a:ext>
            </a:extLst>
          </p:cNvPr>
          <p:cNvSpPr>
            <a:spLocks noGrp="1"/>
          </p:cNvSpPr>
          <p:nvPr>
            <p:ph type="title"/>
          </p:nvPr>
        </p:nvSpPr>
        <p:spPr>
          <a:xfrm>
            <a:off x="609599" y="188640"/>
            <a:ext cx="10972800" cy="1371600"/>
          </a:xfrm>
        </p:spPr>
        <p:txBody>
          <a:bodyPr/>
          <a:lstStyle/>
          <a:p>
            <a:pPr algn="ctr"/>
            <a:r>
              <a:rPr lang="zh-CN" altLang="en-US" dirty="0">
                <a:solidFill>
                  <a:srgbClr val="008000"/>
                </a:solidFill>
              </a:rPr>
              <a:t>模糊数学的引入</a:t>
            </a:r>
          </a:p>
        </p:txBody>
      </p:sp>
      <p:sp>
        <p:nvSpPr>
          <p:cNvPr id="3" name="内容占位符 2">
            <a:extLst>
              <a:ext uri="{FF2B5EF4-FFF2-40B4-BE49-F238E27FC236}">
                <a16:creationId xmlns:a16="http://schemas.microsoft.com/office/drawing/2014/main" id="{EE56B4CF-7287-4D48-BE22-87B3C4CA9AC0}"/>
              </a:ext>
            </a:extLst>
          </p:cNvPr>
          <p:cNvSpPr>
            <a:spLocks noGrp="1"/>
          </p:cNvSpPr>
          <p:nvPr>
            <p:ph idx="1"/>
          </p:nvPr>
        </p:nvSpPr>
        <p:spPr>
          <a:xfrm>
            <a:off x="943355" y="1412776"/>
            <a:ext cx="10639044" cy="5256584"/>
          </a:xfrm>
          <a:solidFill>
            <a:schemeClr val="bg1"/>
          </a:solidFill>
        </p:spPr>
        <p:txBody>
          <a:bodyPr>
            <a:noAutofit/>
          </a:bodyPr>
          <a:lstStyle/>
          <a:p>
            <a:pPr>
              <a:lnSpc>
                <a:spcPct val="120000"/>
              </a:lnSpc>
            </a:pPr>
            <a:r>
              <a:rPr lang="zh-CN" altLang="en-US" dirty="0">
                <a:solidFill>
                  <a:srgbClr val="000000"/>
                </a:solidFill>
                <a:latin typeface="黑体" panose="02010609060101010101" pitchFamily="49" charset="-122"/>
                <a:ea typeface="黑体" panose="02010609060101010101" pitchFamily="49" charset="-122"/>
              </a:rPr>
              <a:t>一颗人造卫星，要送到地球上空的</a:t>
            </a:r>
            <a:r>
              <a:rPr lang="zh-CN" altLang="en-US" dirty="0">
                <a:solidFill>
                  <a:srgbClr val="000000"/>
                </a:solidFill>
                <a:latin typeface="黑体" panose="02010609060101010101" pitchFamily="49" charset="-122"/>
              </a:rPr>
              <a:t>预定轨道，</a:t>
            </a:r>
            <a:endParaRPr lang="en-US" altLang="zh-CN" dirty="0">
              <a:solidFill>
                <a:srgbClr val="000000"/>
              </a:solidFill>
              <a:latin typeface="黑体" panose="02010609060101010101" pitchFamily="49" charset="-122"/>
              <a:ea typeface="黑体" panose="02010609060101010101" pitchFamily="49" charset="-122"/>
            </a:endParaRPr>
          </a:p>
          <a:p>
            <a:pPr marL="0" indent="0">
              <a:lnSpc>
                <a:spcPct val="120000"/>
              </a:lnSpc>
              <a:buNone/>
            </a:pPr>
            <a:r>
              <a:rPr lang="en-US" altLang="zh-CN" dirty="0">
                <a:solidFill>
                  <a:srgbClr val="000000"/>
                </a:solidFill>
                <a:latin typeface="黑体" panose="02010609060101010101" pitchFamily="49" charset="-122"/>
                <a:ea typeface="黑体" panose="02010609060101010101" pitchFamily="49" charset="-122"/>
              </a:rPr>
              <a:t>  </a:t>
            </a:r>
            <a:r>
              <a:rPr lang="zh-CN" altLang="en-US" dirty="0">
                <a:solidFill>
                  <a:srgbClr val="000000"/>
                </a:solidFill>
                <a:latin typeface="黑体" panose="02010609060101010101" pitchFamily="49" charset="-122"/>
                <a:ea typeface="黑体" panose="02010609060101010101" pitchFamily="49" charset="-122"/>
              </a:rPr>
              <a:t>离不开精密的数学计算。</a:t>
            </a:r>
            <a:endParaRPr lang="en-US" altLang="zh-CN" dirty="0">
              <a:solidFill>
                <a:srgbClr val="000000"/>
              </a:solidFill>
              <a:latin typeface="黑体" panose="02010609060101010101" pitchFamily="49" charset="-122"/>
              <a:ea typeface="黑体" panose="02010609060101010101" pitchFamily="49" charset="-122"/>
            </a:endParaRPr>
          </a:p>
          <a:p>
            <a:pPr>
              <a:lnSpc>
                <a:spcPct val="120000"/>
              </a:lnSpc>
            </a:pPr>
            <a:r>
              <a:rPr lang="zh-CN" altLang="en-US" dirty="0">
                <a:solidFill>
                  <a:srgbClr val="000000"/>
                </a:solidFill>
                <a:latin typeface="黑体" panose="02010609060101010101" pitchFamily="49" charset="-122"/>
              </a:rPr>
              <a:t>上</a:t>
            </a:r>
            <a:r>
              <a:rPr lang="zh-CN" altLang="en-US" dirty="0">
                <a:solidFill>
                  <a:srgbClr val="000000"/>
                </a:solidFill>
                <a:latin typeface="黑体" panose="02010609060101010101" pitchFamily="49" charset="-122"/>
                <a:ea typeface="黑体" panose="02010609060101010101" pitchFamily="49" charset="-122"/>
              </a:rPr>
              <a:t>百层</a:t>
            </a:r>
            <a:r>
              <a:rPr lang="zh-CN" altLang="en-US" dirty="0">
                <a:solidFill>
                  <a:srgbClr val="000000"/>
                </a:solidFill>
                <a:latin typeface="黑体" panose="02010609060101010101" pitchFamily="49" charset="-122"/>
              </a:rPr>
              <a:t>的</a:t>
            </a:r>
            <a:r>
              <a:rPr lang="zh-CN" altLang="en-US" dirty="0">
                <a:solidFill>
                  <a:srgbClr val="000000"/>
                </a:solidFill>
                <a:latin typeface="黑体" panose="02010609060101010101" pitchFamily="49" charset="-122"/>
                <a:ea typeface="黑体" panose="02010609060101010101" pitchFamily="49" charset="-122"/>
              </a:rPr>
              <a:t>摩天大厦能够拔地而起，没有准确的数学计算</a:t>
            </a:r>
            <a:r>
              <a:rPr lang="en-US" altLang="zh-CN" dirty="0">
                <a:solidFill>
                  <a:srgbClr val="000000"/>
                </a:solidFill>
                <a:latin typeface="黑体" panose="02010609060101010101" pitchFamily="49" charset="-122"/>
                <a:ea typeface="黑体" panose="02010609060101010101" pitchFamily="49" charset="-122"/>
              </a:rPr>
              <a:t>,</a:t>
            </a:r>
            <a:r>
              <a:rPr lang="zh-CN" altLang="en-US" dirty="0">
                <a:solidFill>
                  <a:srgbClr val="000000"/>
                </a:solidFill>
                <a:latin typeface="黑体" panose="02010609060101010101" pitchFamily="49" charset="-122"/>
                <a:ea typeface="黑体" panose="02010609060101010101" pitchFamily="49" charset="-122"/>
              </a:rPr>
              <a:t>也是难以想象的。</a:t>
            </a:r>
            <a:endParaRPr lang="en-US" altLang="zh-CN" dirty="0">
              <a:solidFill>
                <a:srgbClr val="000000"/>
              </a:solidFill>
              <a:latin typeface="黑体" panose="02010609060101010101" pitchFamily="49" charset="-122"/>
              <a:ea typeface="黑体" panose="02010609060101010101" pitchFamily="49" charset="-122"/>
            </a:endParaRPr>
          </a:p>
          <a:p>
            <a:pPr>
              <a:lnSpc>
                <a:spcPct val="120000"/>
              </a:lnSpc>
            </a:pPr>
            <a:r>
              <a:rPr lang="zh-CN" altLang="en-US" dirty="0">
                <a:solidFill>
                  <a:srgbClr val="FF0000"/>
                </a:solidFill>
                <a:latin typeface="黑体" panose="02010609060101010101" pitchFamily="49" charset="-122"/>
                <a:ea typeface="黑体" panose="02010609060101010101" pitchFamily="49" charset="-122"/>
              </a:rPr>
              <a:t>数学一向以严密、精确著称</a:t>
            </a:r>
            <a:r>
              <a:rPr lang="zh-CN" altLang="en-US" dirty="0">
                <a:solidFill>
                  <a:srgbClr val="000000"/>
                </a:solidFill>
                <a:latin typeface="黑体" panose="02010609060101010101" pitchFamily="49" charset="-122"/>
                <a:ea typeface="黑体" panose="02010609060101010101" pitchFamily="49" charset="-122"/>
              </a:rPr>
              <a:t>。</a:t>
            </a:r>
            <a:endParaRPr lang="en-US" altLang="zh-CN" dirty="0">
              <a:solidFill>
                <a:srgbClr val="000000"/>
              </a:solidFill>
              <a:latin typeface="黑体" panose="02010609060101010101" pitchFamily="49" charset="-122"/>
              <a:ea typeface="黑体" panose="02010609060101010101" pitchFamily="49" charset="-122"/>
            </a:endParaRPr>
          </a:p>
          <a:p>
            <a:pPr>
              <a:lnSpc>
                <a:spcPct val="120000"/>
              </a:lnSpc>
            </a:pPr>
            <a:r>
              <a:rPr lang="zh-CN" altLang="en-US" dirty="0">
                <a:solidFill>
                  <a:srgbClr val="000000"/>
                </a:solidFill>
                <a:latin typeface="黑体" panose="02010609060101010101" pitchFamily="49" charset="-122"/>
                <a:ea typeface="黑体" panose="02010609060101010101" pitchFamily="49" charset="-122"/>
              </a:rPr>
              <a:t>然而，在</a:t>
            </a:r>
            <a:r>
              <a:rPr lang="en-US" altLang="zh-CN" dirty="0">
                <a:solidFill>
                  <a:srgbClr val="000000"/>
                </a:solidFill>
                <a:latin typeface="黑体" panose="02010609060101010101" pitchFamily="49" charset="-122"/>
                <a:ea typeface="黑体" panose="02010609060101010101" pitchFamily="49" charset="-122"/>
              </a:rPr>
              <a:t>20</a:t>
            </a:r>
            <a:r>
              <a:rPr lang="zh-CN" altLang="en-US" dirty="0">
                <a:solidFill>
                  <a:srgbClr val="000000"/>
                </a:solidFill>
                <a:latin typeface="黑体" panose="02010609060101010101" pitchFamily="49" charset="-122"/>
                <a:ea typeface="黑体" panose="02010609060101010101" pitchFamily="49" charset="-122"/>
              </a:rPr>
              <a:t>世纪</a:t>
            </a:r>
            <a:r>
              <a:rPr lang="en-US" altLang="zh-CN" dirty="0">
                <a:solidFill>
                  <a:srgbClr val="000000"/>
                </a:solidFill>
                <a:latin typeface="黑体" panose="02010609060101010101" pitchFamily="49" charset="-122"/>
                <a:ea typeface="黑体" panose="02010609060101010101" pitchFamily="49" charset="-122"/>
              </a:rPr>
              <a:t>60</a:t>
            </a:r>
            <a:r>
              <a:rPr lang="zh-CN" altLang="en-US" dirty="0">
                <a:solidFill>
                  <a:srgbClr val="000000"/>
                </a:solidFill>
                <a:latin typeface="黑体" panose="02010609060101010101" pitchFamily="49" charset="-122"/>
                <a:ea typeface="黑体" panose="02010609060101010101" pitchFamily="49" charset="-122"/>
              </a:rPr>
              <a:t>年代，却偏偏有一个叫“</a:t>
            </a:r>
            <a:r>
              <a:rPr lang="zh-CN" altLang="en-US" dirty="0">
                <a:solidFill>
                  <a:srgbClr val="3333FF"/>
                </a:solidFill>
                <a:latin typeface="黑体" panose="02010609060101010101" pitchFamily="49" charset="-122"/>
                <a:ea typeface="黑体" panose="02010609060101010101" pitchFamily="49" charset="-122"/>
              </a:rPr>
              <a:t>模糊数学</a:t>
            </a:r>
            <a:r>
              <a:rPr lang="zh-CN" altLang="en-US" dirty="0">
                <a:solidFill>
                  <a:srgbClr val="000000"/>
                </a:solidFill>
                <a:latin typeface="黑体" panose="02010609060101010101" pitchFamily="49" charset="-122"/>
                <a:ea typeface="黑体" panose="02010609060101010101" pitchFamily="49" charset="-122"/>
              </a:rPr>
              <a:t>”的数学新分支异军突起。</a:t>
            </a:r>
            <a:endParaRPr lang="en-US" altLang="zh-CN" dirty="0">
              <a:solidFill>
                <a:srgbClr val="000000"/>
              </a:solidFill>
              <a:latin typeface="黑体" panose="02010609060101010101" pitchFamily="49" charset="-122"/>
              <a:ea typeface="黑体" panose="02010609060101010101" pitchFamily="49" charset="-122"/>
            </a:endParaRPr>
          </a:p>
          <a:p>
            <a:pPr>
              <a:lnSpc>
                <a:spcPct val="120000"/>
              </a:lnSpc>
            </a:pPr>
            <a:r>
              <a:rPr lang="zh-CN" altLang="en-US" dirty="0">
                <a:solidFill>
                  <a:srgbClr val="000000"/>
                </a:solidFill>
                <a:latin typeface="黑体" panose="02010609060101010101" pitchFamily="49" charset="-122"/>
                <a:ea typeface="黑体" panose="02010609060101010101" pitchFamily="49" charset="-122"/>
              </a:rPr>
              <a:t>难道数学计算无须精密准确而需要</a:t>
            </a:r>
            <a:r>
              <a:rPr lang="en-US" altLang="zh-CN" dirty="0">
                <a:solidFill>
                  <a:srgbClr val="000000"/>
                </a:solidFill>
                <a:ea typeface="黑体" panose="02010609060101010101" pitchFamily="49" charset="-122"/>
              </a:rPr>
              <a:t>”</a:t>
            </a:r>
            <a:r>
              <a:rPr lang="zh-CN" altLang="en-US" dirty="0">
                <a:solidFill>
                  <a:srgbClr val="CC00FF"/>
                </a:solidFill>
                <a:latin typeface="黑体" panose="02010609060101010101" pitchFamily="49" charset="-122"/>
                <a:ea typeface="黑体" panose="02010609060101010101" pitchFamily="49" charset="-122"/>
              </a:rPr>
              <a:t>模模糊糊</a:t>
            </a:r>
            <a:r>
              <a:rPr lang="en-US" altLang="zh-CN" dirty="0">
                <a:solidFill>
                  <a:srgbClr val="000000"/>
                </a:solidFill>
                <a:ea typeface="黑体" panose="02010609060101010101" pitchFamily="49" charset="-122"/>
              </a:rPr>
              <a:t>” </a:t>
            </a:r>
            <a:r>
              <a:rPr lang="zh-CN" altLang="en-US" dirty="0">
                <a:solidFill>
                  <a:srgbClr val="000000"/>
                </a:solidFill>
                <a:latin typeface="黑体" panose="02010609060101010101" pitchFamily="49" charset="-122"/>
                <a:ea typeface="黑体" panose="02010609060101010101" pitchFamily="49" charset="-122"/>
              </a:rPr>
              <a:t>？</a:t>
            </a:r>
            <a:endParaRPr lang="zh-CN" altLang="en-US" dirty="0">
              <a:latin typeface="黑体" panose="02010609060101010101" pitchFamily="49" charset="-122"/>
              <a:ea typeface="黑体" panose="02010609060101010101" pitchFamily="49" charset="-122"/>
            </a:endParaRPr>
          </a:p>
        </p:txBody>
      </p:sp>
      <p:pic>
        <p:nvPicPr>
          <p:cNvPr id="4" name="内容占位符 4" descr="人穿着蓝色的玩具&#10;&#10;低可信度描述已自动生成">
            <a:extLst>
              <a:ext uri="{FF2B5EF4-FFF2-40B4-BE49-F238E27FC236}">
                <a16:creationId xmlns:a16="http://schemas.microsoft.com/office/drawing/2014/main" id="{6FECACC0-7BAD-D525-781D-6034D9B3FF55}"/>
              </a:ext>
            </a:extLst>
          </p:cNvPr>
          <p:cNvPicPr>
            <a:picLocks noChangeAspect="1"/>
          </p:cNvPicPr>
          <p:nvPr/>
        </p:nvPicPr>
        <p:blipFill>
          <a:blip r:embed="rId2">
            <a:extLst>
              <a:ext uri="{BEBA8EAE-BF5A-486C-A8C5-ECC9F3942E4B}">
                <a14:imgProps xmlns:a14="http://schemas.microsoft.com/office/drawing/2010/main">
                  <a14:imgLayer r:embed="rId3">
                    <a14:imgEffect>
                      <a14:artisticPastelsSmooth/>
                    </a14:imgEffect>
                  </a14:imgLayer>
                </a14:imgProps>
              </a:ext>
              <a:ext uri="{28A0092B-C50C-407E-A947-70E740481C1C}">
                <a14:useLocalDpi xmlns:a14="http://schemas.microsoft.com/office/drawing/2010/main" val="0"/>
              </a:ext>
            </a:extLst>
          </a:blip>
          <a:stretch>
            <a:fillRect/>
          </a:stretch>
        </p:blipFill>
        <p:spPr bwMode="auto">
          <a:xfrm>
            <a:off x="9433048" y="-243408"/>
            <a:ext cx="2567608" cy="2874478"/>
          </a:xfrm>
          <a:prstGeom prst="roundRect">
            <a:avLst>
              <a:gd name="adj" fmla="val 16667"/>
            </a:avLst>
          </a:prstGeom>
          <a:noFill/>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文本框 4">
            <a:extLst>
              <a:ext uri="{FF2B5EF4-FFF2-40B4-BE49-F238E27FC236}">
                <a16:creationId xmlns:a16="http://schemas.microsoft.com/office/drawing/2014/main" id="{7CDD51DE-9153-F50B-2C28-F123AE3B2056}"/>
              </a:ext>
            </a:extLst>
          </p:cNvPr>
          <p:cNvSpPr txBox="1"/>
          <p:nvPr/>
        </p:nvSpPr>
        <p:spPr>
          <a:xfrm rot="301699">
            <a:off x="9657713" y="1937547"/>
            <a:ext cx="2118278" cy="584775"/>
          </a:xfrm>
          <a:prstGeom prst="rect">
            <a:avLst/>
          </a:prstGeom>
          <a:noFill/>
        </p:spPr>
        <p:txBody>
          <a:bodyPr wrap="square" rtlCol="0">
            <a:spAutoFit/>
          </a:bodyPr>
          <a:lstStyle/>
          <a:p>
            <a:r>
              <a:rPr lang="zh-CN" altLang="en-US" sz="3200" dirty="0">
                <a:solidFill>
                  <a:schemeClr val="bg2">
                    <a:lumMod val="60000"/>
                    <a:lumOff val="40000"/>
                  </a:schemeClr>
                </a:solidFill>
                <a:latin typeface="华文彩云" panose="02010800040101010101" pitchFamily="2" charset="-122"/>
                <a:ea typeface="华文彩云" panose="02010800040101010101" pitchFamily="2" charset="-122"/>
              </a:rPr>
              <a:t>笑到模糊</a:t>
            </a:r>
          </a:p>
        </p:txBody>
      </p:sp>
    </p:spTree>
    <p:extLst>
      <p:ext uri="{BB962C8B-B14F-4D97-AF65-F5344CB8AC3E}">
        <p14:creationId xmlns:p14="http://schemas.microsoft.com/office/powerpoint/2010/main" val="41299904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wipe(left)">
                                      <p:cBhvr>
                                        <p:cTn id="11" dur="500"/>
                                        <p:tgtEl>
                                          <p:spTgt spid="3">
                                            <p:txEl>
                                              <p:pRg st="1" end="1"/>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3">
                                            <p:txEl>
                                              <p:pRg st="2" end="2"/>
                                            </p:txEl>
                                          </p:spTgt>
                                        </p:tgtEl>
                                        <p:attrNameLst>
                                          <p:attrName>style.visibility</p:attrName>
                                        </p:attrNameLst>
                                      </p:cBhvr>
                                      <p:to>
                                        <p:strVal val="visible"/>
                                      </p:to>
                                    </p:set>
                                    <p:animEffect transition="in" filter="wipe(left)">
                                      <p:cBhvr>
                                        <p:cTn id="16" dur="500"/>
                                        <p:tgtEl>
                                          <p:spTgt spid="3">
                                            <p:txEl>
                                              <p:pRg st="2" end="2"/>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Effect transition="in" filter="wipe(left)">
                                      <p:cBhvr>
                                        <p:cTn id="21" dur="500"/>
                                        <p:tgtEl>
                                          <p:spTgt spid="3">
                                            <p:txEl>
                                              <p:pRg st="3" end="3"/>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3">
                                            <p:txEl>
                                              <p:pRg st="4" end="4"/>
                                            </p:txEl>
                                          </p:spTgt>
                                        </p:tgtEl>
                                        <p:attrNameLst>
                                          <p:attrName>style.visibility</p:attrName>
                                        </p:attrNameLst>
                                      </p:cBhvr>
                                      <p:to>
                                        <p:strVal val="visible"/>
                                      </p:to>
                                    </p:set>
                                    <p:animEffect transition="in" filter="wipe(left)">
                                      <p:cBhvr>
                                        <p:cTn id="26" dur="500"/>
                                        <p:tgtEl>
                                          <p:spTgt spid="3">
                                            <p:txEl>
                                              <p:pRg st="4" end="4"/>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animEffect transition="in" filter="wipe(left)">
                                      <p:cBhvr>
                                        <p:cTn id="31" dur="500"/>
                                        <p:tgtEl>
                                          <p:spTgt spid="3">
                                            <p:txEl>
                                              <p:pRg st="5" end="5"/>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2" presetClass="entr" presetSubtype="4" fill="hold" nodeType="clickEffect">
                                  <p:stCondLst>
                                    <p:cond delay="0"/>
                                  </p:stCondLst>
                                  <p:childTnLst>
                                    <p:set>
                                      <p:cBhvr>
                                        <p:cTn id="35" dur="1" fill="hold">
                                          <p:stCondLst>
                                            <p:cond delay="0"/>
                                          </p:stCondLst>
                                        </p:cTn>
                                        <p:tgtEl>
                                          <p:spTgt spid="4"/>
                                        </p:tgtEl>
                                        <p:attrNameLst>
                                          <p:attrName>style.visibility</p:attrName>
                                        </p:attrNameLst>
                                      </p:cBhvr>
                                      <p:to>
                                        <p:strVal val="visible"/>
                                      </p:to>
                                    </p:set>
                                    <p:anim calcmode="lin" valueType="num">
                                      <p:cBhvr additive="base">
                                        <p:cTn id="36" dur="500" fill="hold"/>
                                        <p:tgtEl>
                                          <p:spTgt spid="4"/>
                                        </p:tgtEl>
                                        <p:attrNameLst>
                                          <p:attrName>ppt_x</p:attrName>
                                        </p:attrNameLst>
                                      </p:cBhvr>
                                      <p:tavLst>
                                        <p:tav tm="0">
                                          <p:val>
                                            <p:strVal val="#ppt_x"/>
                                          </p:val>
                                        </p:tav>
                                        <p:tav tm="100000">
                                          <p:val>
                                            <p:strVal val="#ppt_x"/>
                                          </p:val>
                                        </p:tav>
                                      </p:tavLst>
                                    </p:anim>
                                    <p:anim calcmode="lin" valueType="num">
                                      <p:cBhvr additive="base">
                                        <p:cTn id="37" dur="500" fill="hold"/>
                                        <p:tgtEl>
                                          <p:spTgt spid="4"/>
                                        </p:tgtEl>
                                        <p:attrNameLst>
                                          <p:attrName>ppt_y</p:attrName>
                                        </p:attrNameLst>
                                      </p:cBhvr>
                                      <p:tavLst>
                                        <p:tav tm="0">
                                          <p:val>
                                            <p:strVal val="1+#ppt_h/2"/>
                                          </p:val>
                                        </p:tav>
                                        <p:tav tm="100000">
                                          <p:val>
                                            <p:strVal val="#ppt_y"/>
                                          </p:val>
                                        </p:tav>
                                      </p:tavLst>
                                    </p:anim>
                                  </p:childTnLst>
                                </p:cTn>
                              </p:par>
                              <p:par>
                                <p:cTn id="38" presetID="2" presetClass="entr" presetSubtype="4" fill="hold" grpId="0" nodeType="withEffect">
                                  <p:stCondLst>
                                    <p:cond delay="0"/>
                                  </p:stCondLst>
                                  <p:childTnLst>
                                    <p:set>
                                      <p:cBhvr>
                                        <p:cTn id="39" dur="1" fill="hold">
                                          <p:stCondLst>
                                            <p:cond delay="0"/>
                                          </p:stCondLst>
                                        </p:cTn>
                                        <p:tgtEl>
                                          <p:spTgt spid="5"/>
                                        </p:tgtEl>
                                        <p:attrNameLst>
                                          <p:attrName>style.visibility</p:attrName>
                                        </p:attrNameLst>
                                      </p:cBhvr>
                                      <p:to>
                                        <p:strVal val="visible"/>
                                      </p:to>
                                    </p:set>
                                    <p:anim calcmode="lin" valueType="num">
                                      <p:cBhvr additive="base">
                                        <p:cTn id="40" dur="500" fill="hold"/>
                                        <p:tgtEl>
                                          <p:spTgt spid="5"/>
                                        </p:tgtEl>
                                        <p:attrNameLst>
                                          <p:attrName>ppt_x</p:attrName>
                                        </p:attrNameLst>
                                      </p:cBhvr>
                                      <p:tavLst>
                                        <p:tav tm="0">
                                          <p:val>
                                            <p:strVal val="#ppt_x"/>
                                          </p:val>
                                        </p:tav>
                                        <p:tav tm="100000">
                                          <p:val>
                                            <p:strVal val="#ppt_x"/>
                                          </p:val>
                                        </p:tav>
                                      </p:tavLst>
                                    </p:anim>
                                    <p:anim calcmode="lin" valueType="num">
                                      <p:cBhvr additive="base">
                                        <p:cTn id="41"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5"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Rectangle 2"/>
          <p:cNvSpPr>
            <a:spLocks noGrp="1" noChangeArrowheads="1"/>
          </p:cNvSpPr>
          <p:nvPr>
            <p:ph type="title"/>
          </p:nvPr>
        </p:nvSpPr>
        <p:spPr/>
        <p:txBody>
          <a:bodyPr/>
          <a:lstStyle/>
          <a:p>
            <a:pPr algn="ctr"/>
            <a:r>
              <a:rPr lang="zh-CN" altLang="en-US" dirty="0">
                <a:solidFill>
                  <a:srgbClr val="008000"/>
                </a:solidFill>
              </a:rPr>
              <a:t>模糊现象</a:t>
            </a:r>
          </a:p>
        </p:txBody>
      </p:sp>
      <p:sp>
        <p:nvSpPr>
          <p:cNvPr id="145411" name="Rectangle 3"/>
          <p:cNvSpPr>
            <a:spLocks noGrp="1" noChangeArrowheads="1"/>
          </p:cNvSpPr>
          <p:nvPr>
            <p:ph idx="1"/>
          </p:nvPr>
        </p:nvSpPr>
        <p:spPr>
          <a:xfrm>
            <a:off x="1271464" y="1981200"/>
            <a:ext cx="9649072" cy="3886200"/>
          </a:xfrm>
        </p:spPr>
        <p:txBody>
          <a:bodyPr>
            <a:normAutofit/>
          </a:bodyPr>
          <a:lstStyle/>
          <a:p>
            <a:pPr>
              <a:buSzPct val="90000"/>
              <a:buFont typeface="Wingdings" pitchFamily="2" charset="2"/>
              <a:buChar char="n"/>
            </a:pPr>
            <a:r>
              <a:rPr kumimoji="0" lang="zh-CN" altLang="en-US" sz="3200" b="1" dirty="0">
                <a:solidFill>
                  <a:srgbClr val="000000"/>
                </a:solidFill>
                <a:latin typeface="Arial" pitchFamily="34" charset="0"/>
              </a:rPr>
              <a:t>如果明天</a:t>
            </a:r>
            <a:r>
              <a:rPr kumimoji="0" lang="zh-CN" altLang="en-US" sz="3200" b="1" dirty="0">
                <a:solidFill>
                  <a:srgbClr val="FF0000"/>
                </a:solidFill>
                <a:latin typeface="Arial" pitchFamily="34" charset="0"/>
              </a:rPr>
              <a:t>天气好</a:t>
            </a:r>
            <a:r>
              <a:rPr kumimoji="0" lang="zh-CN" altLang="en-US" sz="3200" b="1" dirty="0">
                <a:solidFill>
                  <a:srgbClr val="000000"/>
                </a:solidFill>
                <a:latin typeface="Arial" pitchFamily="34" charset="0"/>
              </a:rPr>
              <a:t>，我就去打羽毛球。</a:t>
            </a:r>
          </a:p>
          <a:p>
            <a:pPr>
              <a:buSzPct val="90000"/>
              <a:buFont typeface="Wingdings" pitchFamily="2" charset="2"/>
              <a:buChar char="n"/>
            </a:pPr>
            <a:r>
              <a:rPr kumimoji="0" lang="zh-CN" altLang="en-US" sz="3200" b="1" dirty="0">
                <a:solidFill>
                  <a:srgbClr val="000000"/>
                </a:solidFill>
                <a:latin typeface="Arial" pitchFamily="34" charset="0"/>
              </a:rPr>
              <a:t>只要你的方案能保证</a:t>
            </a:r>
            <a:r>
              <a:rPr kumimoji="0" lang="zh-CN" altLang="en-US" sz="3200" b="1" dirty="0">
                <a:solidFill>
                  <a:srgbClr val="0000FF"/>
                </a:solidFill>
                <a:latin typeface="Arial" pitchFamily="34" charset="0"/>
              </a:rPr>
              <a:t>收入变化不大</a:t>
            </a:r>
            <a:r>
              <a:rPr kumimoji="0" lang="zh-CN" altLang="en-US" sz="3200" b="1" dirty="0">
                <a:solidFill>
                  <a:srgbClr val="000000"/>
                </a:solidFill>
                <a:latin typeface="Arial" pitchFamily="34" charset="0"/>
              </a:rPr>
              <a:t>，就可以实施。</a:t>
            </a:r>
          </a:p>
          <a:p>
            <a:pPr>
              <a:buSzPct val="90000"/>
              <a:buFont typeface="Wingdings" pitchFamily="2" charset="2"/>
              <a:buChar char="n"/>
            </a:pPr>
            <a:r>
              <a:rPr lang="zh-CN" altLang="en-US" sz="3200" b="1" dirty="0">
                <a:solidFill>
                  <a:srgbClr val="000000"/>
                </a:solidFill>
                <a:latin typeface="Arial" pitchFamily="34" charset="0"/>
              </a:rPr>
              <a:t>他</a:t>
            </a:r>
            <a:r>
              <a:rPr kumimoji="0" lang="zh-CN" altLang="en-US" sz="3200" b="1" dirty="0">
                <a:solidFill>
                  <a:srgbClr val="000000"/>
                </a:solidFill>
                <a:latin typeface="Arial" pitchFamily="34" charset="0"/>
              </a:rPr>
              <a:t>是一个</a:t>
            </a:r>
            <a:r>
              <a:rPr kumimoji="0" lang="zh-CN" altLang="en-US" sz="3200" b="1" dirty="0">
                <a:solidFill>
                  <a:srgbClr val="CC00FF"/>
                </a:solidFill>
                <a:latin typeface="Arial" pitchFamily="34" charset="0"/>
              </a:rPr>
              <a:t>英俊、能干</a:t>
            </a:r>
            <a:r>
              <a:rPr kumimoji="0" lang="zh-CN" altLang="en-US" sz="3200" b="1" dirty="0">
                <a:solidFill>
                  <a:srgbClr val="000000"/>
                </a:solidFill>
                <a:latin typeface="Arial" pitchFamily="34" charset="0"/>
              </a:rPr>
              <a:t>的队员。</a:t>
            </a:r>
          </a:p>
          <a:p>
            <a:pPr>
              <a:buSzPct val="90000"/>
              <a:buFont typeface="Wingdings" pitchFamily="2" charset="2"/>
              <a:buChar char="n"/>
            </a:pPr>
            <a:r>
              <a:rPr kumimoji="0" lang="zh-CN" altLang="en-US" sz="3200" b="1" dirty="0">
                <a:solidFill>
                  <a:srgbClr val="000000"/>
                </a:solidFill>
                <a:latin typeface="Arial" pitchFamily="34" charset="0"/>
              </a:rPr>
              <a:t>他今天</a:t>
            </a:r>
            <a:r>
              <a:rPr kumimoji="0" lang="zh-CN" altLang="en-US" sz="3200" b="1" dirty="0">
                <a:solidFill>
                  <a:srgbClr val="008000"/>
                </a:solidFill>
                <a:latin typeface="Arial" pitchFamily="34" charset="0"/>
              </a:rPr>
              <a:t>发低烧</a:t>
            </a:r>
            <a:r>
              <a:rPr kumimoji="0" lang="zh-CN" altLang="en-US" sz="3200" b="1" dirty="0">
                <a:solidFill>
                  <a:srgbClr val="000000"/>
                </a:solidFill>
                <a:latin typeface="Arial" pitchFamily="34" charset="0"/>
              </a:rPr>
              <a:t>，有点</a:t>
            </a:r>
            <a:r>
              <a:rPr kumimoji="0" lang="zh-CN" altLang="en-US" sz="3200" b="1" dirty="0">
                <a:solidFill>
                  <a:srgbClr val="008000"/>
                </a:solidFill>
                <a:latin typeface="Arial" pitchFamily="34" charset="0"/>
              </a:rPr>
              <a:t>轻微感冒</a:t>
            </a:r>
            <a:r>
              <a:rPr kumimoji="0" lang="zh-CN" altLang="en-US" sz="3200" b="1" dirty="0">
                <a:solidFill>
                  <a:srgbClr val="000000"/>
                </a:solidFill>
                <a:latin typeface="Arial" pitchFamily="34" charset="0"/>
              </a:rPr>
              <a:t>。</a:t>
            </a:r>
          </a:p>
          <a:p>
            <a:pPr>
              <a:buSzPct val="90000"/>
              <a:buFont typeface="Wingdings" pitchFamily="2" charset="2"/>
              <a:buChar char="n"/>
            </a:pPr>
            <a:r>
              <a:rPr kumimoji="0" lang="zh-CN" altLang="en-US" sz="3200" b="1" dirty="0">
                <a:solidFill>
                  <a:srgbClr val="000000"/>
                </a:solidFill>
                <a:latin typeface="Arial" pitchFamily="34" charset="0"/>
                <a:sym typeface="Symbol" pitchFamily="18" charset="2"/>
              </a:rPr>
              <a:t>今天</a:t>
            </a:r>
            <a:r>
              <a:rPr kumimoji="0" lang="zh-CN" altLang="en-US" sz="3200" b="1" dirty="0">
                <a:solidFill>
                  <a:srgbClr val="C00000"/>
                </a:solidFill>
                <a:latin typeface="Arial" pitchFamily="34" charset="0"/>
                <a:sym typeface="Symbol" pitchFamily="18" charset="2"/>
              </a:rPr>
              <a:t>天太热</a:t>
            </a:r>
            <a:r>
              <a:rPr kumimoji="0" lang="zh-CN" altLang="en-US" sz="3200" b="1" dirty="0">
                <a:solidFill>
                  <a:srgbClr val="000000"/>
                </a:solidFill>
                <a:latin typeface="Arial" pitchFamily="34" charset="0"/>
                <a:sym typeface="Symbol" pitchFamily="18" charset="2"/>
              </a:rPr>
              <a:t>，把空调温度</a:t>
            </a:r>
            <a:r>
              <a:rPr kumimoji="0" lang="zh-CN" altLang="en-US" sz="3200" b="1" dirty="0">
                <a:solidFill>
                  <a:srgbClr val="C00000"/>
                </a:solidFill>
                <a:latin typeface="Arial" pitchFamily="34" charset="0"/>
                <a:sym typeface="Symbol" pitchFamily="18" charset="2"/>
              </a:rPr>
              <a:t>调低点</a:t>
            </a:r>
            <a:r>
              <a:rPr kumimoji="0" lang="zh-CN" altLang="en-US" sz="3200" b="1" dirty="0">
                <a:solidFill>
                  <a:srgbClr val="000000"/>
                </a:solidFill>
                <a:latin typeface="Arial" pitchFamily="34" charset="0"/>
                <a:sym typeface="Symbol" pitchFamily="18" charset="2"/>
              </a:rPr>
              <a:t>。</a:t>
            </a:r>
          </a:p>
          <a:p>
            <a:pPr>
              <a:buSzPct val="90000"/>
              <a:buFont typeface="Wingdings" pitchFamily="2" charset="2"/>
              <a:buChar char="n"/>
            </a:pPr>
            <a:r>
              <a:rPr kumimoji="0" lang="zh-CN" altLang="en-US" sz="3200" b="1" dirty="0">
                <a:solidFill>
                  <a:srgbClr val="000000"/>
                </a:solidFill>
                <a:latin typeface="Arial" pitchFamily="34" charset="0"/>
                <a:sym typeface="Symbol" pitchFamily="18" charset="2"/>
              </a:rPr>
              <a:t></a:t>
            </a:r>
          </a:p>
        </p:txBody>
      </p:sp>
    </p:spTree>
    <p:extLst>
      <p:ext uri="{BB962C8B-B14F-4D97-AF65-F5344CB8AC3E}">
        <p14:creationId xmlns:p14="http://schemas.microsoft.com/office/powerpoint/2010/main" val="15357019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45411">
                                            <p:txEl>
                                              <p:pRg st="0" end="0"/>
                                            </p:txEl>
                                          </p:spTgt>
                                        </p:tgtEl>
                                        <p:attrNameLst>
                                          <p:attrName>style.visibility</p:attrName>
                                        </p:attrNameLst>
                                      </p:cBhvr>
                                      <p:to>
                                        <p:strVal val="visible"/>
                                      </p:to>
                                    </p:set>
                                    <p:animEffect transition="in" filter="wipe(left)">
                                      <p:cBhvr>
                                        <p:cTn id="7" dur="500"/>
                                        <p:tgtEl>
                                          <p:spTgt spid="14541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45411">
                                            <p:txEl>
                                              <p:pRg st="1" end="1"/>
                                            </p:txEl>
                                          </p:spTgt>
                                        </p:tgtEl>
                                        <p:attrNameLst>
                                          <p:attrName>style.visibility</p:attrName>
                                        </p:attrNameLst>
                                      </p:cBhvr>
                                      <p:to>
                                        <p:strVal val="visible"/>
                                      </p:to>
                                    </p:set>
                                    <p:animEffect transition="in" filter="wipe(left)">
                                      <p:cBhvr>
                                        <p:cTn id="12" dur="500"/>
                                        <p:tgtEl>
                                          <p:spTgt spid="14541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45411">
                                            <p:txEl>
                                              <p:pRg st="2" end="2"/>
                                            </p:txEl>
                                          </p:spTgt>
                                        </p:tgtEl>
                                        <p:attrNameLst>
                                          <p:attrName>style.visibility</p:attrName>
                                        </p:attrNameLst>
                                      </p:cBhvr>
                                      <p:to>
                                        <p:strVal val="visible"/>
                                      </p:to>
                                    </p:set>
                                    <p:animEffect transition="in" filter="wipe(left)">
                                      <p:cBhvr>
                                        <p:cTn id="17" dur="500"/>
                                        <p:tgtEl>
                                          <p:spTgt spid="14541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45411">
                                            <p:txEl>
                                              <p:pRg st="3" end="3"/>
                                            </p:txEl>
                                          </p:spTgt>
                                        </p:tgtEl>
                                        <p:attrNameLst>
                                          <p:attrName>style.visibility</p:attrName>
                                        </p:attrNameLst>
                                      </p:cBhvr>
                                      <p:to>
                                        <p:strVal val="visible"/>
                                      </p:to>
                                    </p:set>
                                    <p:animEffect transition="in" filter="wipe(left)">
                                      <p:cBhvr>
                                        <p:cTn id="22" dur="500"/>
                                        <p:tgtEl>
                                          <p:spTgt spid="145411">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45411">
                                            <p:txEl>
                                              <p:pRg st="4" end="4"/>
                                            </p:txEl>
                                          </p:spTgt>
                                        </p:tgtEl>
                                        <p:attrNameLst>
                                          <p:attrName>style.visibility</p:attrName>
                                        </p:attrNameLst>
                                      </p:cBhvr>
                                      <p:to>
                                        <p:strVal val="visible"/>
                                      </p:to>
                                    </p:set>
                                    <p:animEffect transition="in" filter="wipe(left)">
                                      <p:cBhvr>
                                        <p:cTn id="27" dur="500"/>
                                        <p:tgtEl>
                                          <p:spTgt spid="145411">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45411">
                                            <p:txEl>
                                              <p:pRg st="5" end="5"/>
                                            </p:txEl>
                                          </p:spTgt>
                                        </p:tgtEl>
                                        <p:attrNameLst>
                                          <p:attrName>style.visibility</p:attrName>
                                        </p:attrNameLst>
                                      </p:cBhvr>
                                      <p:to>
                                        <p:strVal val="visible"/>
                                      </p:to>
                                    </p:set>
                                    <p:animEffect transition="in" filter="wipe(left)">
                                      <p:cBhvr>
                                        <p:cTn id="32" dur="500"/>
                                        <p:tgtEl>
                                          <p:spTgt spid="145411">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5411"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4" name="Rectangle 2"/>
          <p:cNvSpPr>
            <a:spLocks noGrp="1" noChangeArrowheads="1"/>
          </p:cNvSpPr>
          <p:nvPr>
            <p:ph type="title"/>
          </p:nvPr>
        </p:nvSpPr>
        <p:spPr/>
        <p:txBody>
          <a:bodyPr/>
          <a:lstStyle/>
          <a:p>
            <a:pPr algn="ctr"/>
            <a:r>
              <a:rPr lang="zh-CN" altLang="en-US" dirty="0">
                <a:solidFill>
                  <a:srgbClr val="008000"/>
                </a:solidFill>
              </a:rPr>
              <a:t>秃顶悖论</a:t>
            </a:r>
          </a:p>
        </p:txBody>
      </p:sp>
      <p:sp>
        <p:nvSpPr>
          <p:cNvPr id="146439" name="Rectangle 7"/>
          <p:cNvSpPr>
            <a:spLocks noChangeArrowheads="1"/>
          </p:cNvSpPr>
          <p:nvPr/>
        </p:nvSpPr>
        <p:spPr bwMode="auto">
          <a:xfrm>
            <a:off x="2279576" y="4581128"/>
            <a:ext cx="8064896" cy="1655762"/>
          </a:xfrm>
          <a:prstGeom prst="rect">
            <a:avLst/>
          </a:prstGeom>
          <a:solidFill>
            <a:srgbClr val="FF99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457200" indent="-457200">
              <a:lnSpc>
                <a:spcPct val="155000"/>
              </a:lnSpc>
              <a:buFont typeface="Wingdings" panose="05000000000000000000" pitchFamily="2" charset="2"/>
              <a:buChar char="Ø"/>
            </a:pPr>
            <a:r>
              <a:rPr lang="zh-CN" altLang="en-US" sz="3200" b="1" dirty="0">
                <a:latin typeface="楷体_GB2312" pitchFamily="49" charset="-122"/>
                <a:ea typeface="楷体_GB2312" pitchFamily="49" charset="-122"/>
              </a:rPr>
              <a:t>每个人都为秃顶。</a:t>
            </a:r>
          </a:p>
          <a:p>
            <a:pPr marL="457200" indent="-457200">
              <a:lnSpc>
                <a:spcPct val="155000"/>
              </a:lnSpc>
              <a:buFont typeface="Wingdings" panose="05000000000000000000" pitchFamily="2" charset="2"/>
              <a:buChar char="Ø"/>
            </a:pPr>
            <a:r>
              <a:rPr lang="zh-CN" altLang="en-US" sz="3200" b="1" dirty="0">
                <a:solidFill>
                  <a:schemeClr val="accent5">
                    <a:lumMod val="50000"/>
                  </a:schemeClr>
                </a:solidFill>
                <a:latin typeface="楷体_GB2312" pitchFamily="49" charset="-122"/>
                <a:ea typeface="楷体_GB2312" pitchFamily="49" charset="-122"/>
              </a:rPr>
              <a:t>一根头发都没有的人为非秃顶。</a:t>
            </a:r>
          </a:p>
        </p:txBody>
      </p:sp>
      <p:sp>
        <p:nvSpPr>
          <p:cNvPr id="146440" name="Rectangle 8"/>
          <p:cNvSpPr>
            <a:spLocks noChangeArrowheads="1"/>
          </p:cNvSpPr>
          <p:nvPr/>
        </p:nvSpPr>
        <p:spPr bwMode="auto">
          <a:xfrm>
            <a:off x="2279576" y="1758462"/>
            <a:ext cx="8064896" cy="1600200"/>
          </a:xfrm>
          <a:prstGeom prst="rect">
            <a:avLst/>
          </a:prstGeom>
          <a:solidFill>
            <a:srgbClr val="92D050"/>
          </a:solidFill>
          <a:ln w="9525">
            <a:solidFill>
              <a:srgbClr val="000000"/>
            </a:solidFill>
            <a:miter lim="800000"/>
            <a:headEnd/>
            <a:tailEnd/>
          </a:ln>
          <a:effectLst/>
        </p:spPr>
        <p:txBody>
          <a:bodyPr/>
          <a:lstStyle>
            <a:lvl1pPr marL="342900" indent="-342900">
              <a:buClr>
                <a:schemeClr val="folHlink"/>
              </a:buClr>
              <a:buChar char="v"/>
              <a:defRPr kumimoji="1" sz="2800">
                <a:solidFill>
                  <a:schemeClr val="tx1"/>
                </a:solidFill>
                <a:latin typeface="Tahoma" pitchFamily="34" charset="0"/>
                <a:ea typeface="宋体" pitchFamily="2" charset="-122"/>
              </a:defRPr>
            </a:lvl1pPr>
            <a:lvl2pPr marL="742950" indent="-285750">
              <a:buChar char="v"/>
              <a:defRPr kumimoji="1" sz="2400">
                <a:solidFill>
                  <a:schemeClr val="tx1"/>
                </a:solidFill>
                <a:latin typeface="Tahoma" pitchFamily="34" charset="0"/>
                <a:ea typeface="宋体" pitchFamily="2" charset="-122"/>
              </a:defRPr>
            </a:lvl2pPr>
            <a:lvl3pPr marL="1143000" indent="-228600">
              <a:buClr>
                <a:schemeClr val="folHlink"/>
              </a:buClr>
              <a:buChar char="v"/>
              <a:defRPr kumimoji="1" sz="2000">
                <a:solidFill>
                  <a:schemeClr val="tx1"/>
                </a:solidFill>
                <a:latin typeface="Tahoma" pitchFamily="34" charset="0"/>
                <a:ea typeface="宋体" pitchFamily="2" charset="-122"/>
              </a:defRPr>
            </a:lvl3pPr>
            <a:lvl4pPr marL="1600200" indent="-228600">
              <a:buClr>
                <a:schemeClr val="accent2"/>
              </a:buClr>
              <a:buChar char="v"/>
              <a:defRPr kumimoji="1" sz="2000">
                <a:solidFill>
                  <a:schemeClr val="tx1"/>
                </a:solidFill>
                <a:latin typeface="Tahoma" pitchFamily="34" charset="0"/>
                <a:ea typeface="宋体" pitchFamily="2" charset="-122"/>
              </a:defRPr>
            </a:lvl4pPr>
            <a:lvl5pPr marL="2057400" indent="-228600">
              <a:buClr>
                <a:schemeClr val="accent1"/>
              </a:buClr>
              <a:buChar char="v"/>
              <a:defRPr kumimoji="1" sz="2000">
                <a:solidFill>
                  <a:schemeClr val="tx1"/>
                </a:solidFill>
                <a:latin typeface="Tahoma" pitchFamily="34" charset="0"/>
                <a:ea typeface="宋体" pitchFamily="2" charset="-122"/>
              </a:defRPr>
            </a:lvl5pPr>
            <a:lvl6pPr marL="2514600" indent="-228600" fontAlgn="base">
              <a:spcBef>
                <a:spcPct val="20000"/>
              </a:spcBef>
              <a:spcAft>
                <a:spcPct val="0"/>
              </a:spcAft>
              <a:buClr>
                <a:schemeClr val="accent1"/>
              </a:buClr>
              <a:buFont typeface="Wingdings" pitchFamily="2" charset="2"/>
              <a:buChar char="v"/>
              <a:defRPr kumimoji="1" sz="2000">
                <a:solidFill>
                  <a:schemeClr val="tx1"/>
                </a:solidFill>
                <a:latin typeface="Tahoma" pitchFamily="34" charset="0"/>
                <a:ea typeface="宋体" pitchFamily="2" charset="-122"/>
              </a:defRPr>
            </a:lvl6pPr>
            <a:lvl7pPr marL="2971800" indent="-228600" fontAlgn="base">
              <a:spcBef>
                <a:spcPct val="20000"/>
              </a:spcBef>
              <a:spcAft>
                <a:spcPct val="0"/>
              </a:spcAft>
              <a:buClr>
                <a:schemeClr val="accent1"/>
              </a:buClr>
              <a:buFont typeface="Wingdings" pitchFamily="2" charset="2"/>
              <a:buChar char="v"/>
              <a:defRPr kumimoji="1" sz="2000">
                <a:solidFill>
                  <a:schemeClr val="tx1"/>
                </a:solidFill>
                <a:latin typeface="Tahoma" pitchFamily="34" charset="0"/>
                <a:ea typeface="宋体" pitchFamily="2" charset="-122"/>
              </a:defRPr>
            </a:lvl7pPr>
            <a:lvl8pPr marL="3429000" indent="-228600" fontAlgn="base">
              <a:spcBef>
                <a:spcPct val="20000"/>
              </a:spcBef>
              <a:spcAft>
                <a:spcPct val="0"/>
              </a:spcAft>
              <a:buClr>
                <a:schemeClr val="accent1"/>
              </a:buClr>
              <a:buFont typeface="Wingdings" pitchFamily="2" charset="2"/>
              <a:buChar char="v"/>
              <a:defRPr kumimoji="1" sz="2000">
                <a:solidFill>
                  <a:schemeClr val="tx1"/>
                </a:solidFill>
                <a:latin typeface="Tahoma" pitchFamily="34" charset="0"/>
                <a:ea typeface="宋体" pitchFamily="2" charset="-122"/>
              </a:defRPr>
            </a:lvl8pPr>
            <a:lvl9pPr marL="3886200" indent="-228600" fontAlgn="base">
              <a:spcBef>
                <a:spcPct val="20000"/>
              </a:spcBef>
              <a:spcAft>
                <a:spcPct val="0"/>
              </a:spcAft>
              <a:buClr>
                <a:schemeClr val="accent1"/>
              </a:buClr>
              <a:buFont typeface="Wingdings" pitchFamily="2" charset="2"/>
              <a:buChar char="v"/>
              <a:defRPr kumimoji="1" sz="2000">
                <a:solidFill>
                  <a:schemeClr val="tx1"/>
                </a:solidFill>
                <a:latin typeface="Tahoma" pitchFamily="34" charset="0"/>
                <a:ea typeface="宋体" pitchFamily="2" charset="-122"/>
              </a:defRPr>
            </a:lvl9pPr>
          </a:lstStyle>
          <a:p>
            <a:pPr>
              <a:lnSpc>
                <a:spcPct val="155000"/>
              </a:lnSpc>
              <a:spcBef>
                <a:spcPct val="0"/>
              </a:spcBef>
              <a:buClrTx/>
              <a:buFontTx/>
              <a:buNone/>
            </a:pPr>
            <a:r>
              <a:rPr lang="zh-CN" altLang="en-US" sz="3200" b="1" dirty="0">
                <a:solidFill>
                  <a:srgbClr val="000000"/>
                </a:solidFill>
                <a:latin typeface="楷体_GB2312" pitchFamily="49" charset="-122"/>
                <a:ea typeface="楷体_GB2312" pitchFamily="49" charset="-122"/>
              </a:rPr>
              <a:t>命题</a:t>
            </a:r>
            <a:r>
              <a:rPr lang="en-US" altLang="zh-CN" sz="3200" b="1" dirty="0">
                <a:solidFill>
                  <a:srgbClr val="000000"/>
                </a:solidFill>
                <a:latin typeface="楷体_GB2312" pitchFamily="49" charset="-122"/>
                <a:ea typeface="楷体_GB2312" pitchFamily="49" charset="-122"/>
              </a:rPr>
              <a:t>A</a:t>
            </a:r>
            <a:r>
              <a:rPr lang="zh-CN" altLang="en-US" sz="3200" b="1" dirty="0">
                <a:solidFill>
                  <a:srgbClr val="000000"/>
                </a:solidFill>
                <a:latin typeface="楷体_GB2312" pitchFamily="49" charset="-122"/>
                <a:ea typeface="楷体_GB2312" pitchFamily="49" charset="-122"/>
              </a:rPr>
              <a:t>：比秃顶多一根头发仍为秃顶。</a:t>
            </a:r>
          </a:p>
          <a:p>
            <a:pPr>
              <a:lnSpc>
                <a:spcPct val="155000"/>
              </a:lnSpc>
              <a:spcBef>
                <a:spcPct val="0"/>
              </a:spcBef>
              <a:buClrTx/>
              <a:buFontTx/>
              <a:buNone/>
            </a:pPr>
            <a:r>
              <a:rPr lang="zh-CN" altLang="en-US" sz="3200" b="1" dirty="0">
                <a:solidFill>
                  <a:schemeClr val="accent5">
                    <a:lumMod val="50000"/>
                  </a:schemeClr>
                </a:solidFill>
                <a:latin typeface="楷体_GB2312" pitchFamily="49" charset="-122"/>
                <a:ea typeface="楷体_GB2312" pitchFamily="49" charset="-122"/>
              </a:rPr>
              <a:t>命题</a:t>
            </a:r>
            <a:r>
              <a:rPr lang="en-US" altLang="zh-CN" sz="3200" b="1" dirty="0">
                <a:solidFill>
                  <a:schemeClr val="accent5">
                    <a:lumMod val="50000"/>
                  </a:schemeClr>
                </a:solidFill>
                <a:latin typeface="楷体_GB2312" pitchFamily="49" charset="-122"/>
                <a:ea typeface="楷体_GB2312" pitchFamily="49" charset="-122"/>
              </a:rPr>
              <a:t>B</a:t>
            </a:r>
            <a:r>
              <a:rPr lang="zh-CN" altLang="en-US" sz="3200" b="1" dirty="0">
                <a:solidFill>
                  <a:schemeClr val="accent5">
                    <a:lumMod val="50000"/>
                  </a:schemeClr>
                </a:solidFill>
                <a:latin typeface="楷体_GB2312" pitchFamily="49" charset="-122"/>
                <a:ea typeface="楷体_GB2312" pitchFamily="49" charset="-122"/>
              </a:rPr>
              <a:t>：比非秃顶少一根头发仍为非秃顶。</a:t>
            </a:r>
          </a:p>
        </p:txBody>
      </p:sp>
      <p:sp>
        <p:nvSpPr>
          <p:cNvPr id="146441" name="Rectangle 9"/>
          <p:cNvSpPr>
            <a:spLocks noChangeArrowheads="1"/>
          </p:cNvSpPr>
          <p:nvPr/>
        </p:nvSpPr>
        <p:spPr bwMode="auto">
          <a:xfrm>
            <a:off x="1271464" y="3493690"/>
            <a:ext cx="6942137" cy="1087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spcBef>
                <a:spcPct val="0"/>
              </a:spcBef>
              <a:buClrTx/>
              <a:buFontTx/>
              <a:buNone/>
            </a:pPr>
            <a:r>
              <a:rPr lang="zh-CN" altLang="en-US" sz="3200" b="1" dirty="0">
                <a:latin typeface="Arial" pitchFamily="34" charset="0"/>
              </a:rPr>
              <a:t>由此可以推得：</a:t>
            </a:r>
          </a:p>
        </p:txBody>
      </p:sp>
    </p:spTree>
    <p:extLst>
      <p:ext uri="{BB962C8B-B14F-4D97-AF65-F5344CB8AC3E}">
        <p14:creationId xmlns:p14="http://schemas.microsoft.com/office/powerpoint/2010/main" val="16612410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46440"/>
                                        </p:tgtEl>
                                        <p:attrNameLst>
                                          <p:attrName>style.visibility</p:attrName>
                                        </p:attrNameLst>
                                      </p:cBhvr>
                                      <p:to>
                                        <p:strVal val="visible"/>
                                      </p:to>
                                    </p:set>
                                    <p:animEffect transition="in" filter="wipe(left)">
                                      <p:cBhvr>
                                        <p:cTn id="7" dur="500"/>
                                        <p:tgtEl>
                                          <p:spTgt spid="14644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46441"/>
                                        </p:tgtEl>
                                        <p:attrNameLst>
                                          <p:attrName>style.visibility</p:attrName>
                                        </p:attrNameLst>
                                      </p:cBhvr>
                                      <p:to>
                                        <p:strVal val="visible"/>
                                      </p:to>
                                    </p:set>
                                    <p:animEffect transition="in" filter="wipe(left)">
                                      <p:cBhvr>
                                        <p:cTn id="12" dur="500"/>
                                        <p:tgtEl>
                                          <p:spTgt spid="14644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46439"/>
                                        </p:tgtEl>
                                        <p:attrNameLst>
                                          <p:attrName>style.visibility</p:attrName>
                                        </p:attrNameLst>
                                      </p:cBhvr>
                                      <p:to>
                                        <p:strVal val="visible"/>
                                      </p:to>
                                    </p:set>
                                    <p:animEffect transition="in" filter="wipe(left)">
                                      <p:cBhvr>
                                        <p:cTn id="17" dur="500"/>
                                        <p:tgtEl>
                                          <p:spTgt spid="1464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6439" grpId="0" animBg="1"/>
      <p:bldP spid="146440" grpId="0" animBg="1"/>
      <p:bldP spid="146441"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9E79E2C7-EE0B-95A2-49DC-D9CF631EE798}"/>
              </a:ext>
            </a:extLst>
          </p:cNvPr>
          <p:cNvSpPr/>
          <p:nvPr/>
        </p:nvSpPr>
        <p:spPr>
          <a:xfrm>
            <a:off x="2351584" y="4293096"/>
            <a:ext cx="7488832" cy="108012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7458" name="Rectangle 2"/>
          <p:cNvSpPr>
            <a:spLocks noGrp="1" noChangeArrowheads="1"/>
          </p:cNvSpPr>
          <p:nvPr>
            <p:ph type="title"/>
          </p:nvPr>
        </p:nvSpPr>
        <p:spPr/>
        <p:txBody>
          <a:bodyPr/>
          <a:lstStyle/>
          <a:p>
            <a:pPr algn="ctr"/>
            <a:r>
              <a:rPr lang="zh-CN" altLang="en-US" dirty="0">
                <a:solidFill>
                  <a:srgbClr val="008000"/>
                </a:solidFill>
                <a:latin typeface="楷体_GB2312" pitchFamily="49" charset="-122"/>
              </a:rPr>
              <a:t>朋友悖论</a:t>
            </a:r>
          </a:p>
        </p:txBody>
      </p:sp>
      <p:sp>
        <p:nvSpPr>
          <p:cNvPr id="147460" name="Rectangle 4"/>
          <p:cNvSpPr>
            <a:spLocks noGrp="1" noChangeArrowheads="1"/>
          </p:cNvSpPr>
          <p:nvPr>
            <p:ph idx="1"/>
          </p:nvPr>
        </p:nvSpPr>
        <p:spPr>
          <a:xfrm>
            <a:off x="2351584" y="1772816"/>
            <a:ext cx="7488832" cy="1872208"/>
          </a:xfrm>
          <a:solidFill>
            <a:srgbClr val="FFFF99"/>
          </a:solidFill>
          <a:ln>
            <a:solidFill>
              <a:schemeClr val="tx1"/>
            </a:solidFill>
            <a:miter lim="800000"/>
            <a:headEnd/>
            <a:tailEnd/>
          </a:ln>
        </p:spPr>
        <p:txBody>
          <a:bodyPr/>
          <a:lstStyle/>
          <a:p>
            <a:endParaRPr lang="en-US" altLang="zh-CN" sz="1800" b="1" dirty="0">
              <a:solidFill>
                <a:srgbClr val="FF0000"/>
              </a:solidFill>
            </a:endParaRPr>
          </a:p>
          <a:p>
            <a:r>
              <a:rPr lang="zh-CN" altLang="en-US" sz="3200" b="1" dirty="0">
                <a:solidFill>
                  <a:srgbClr val="FF0000"/>
                </a:solidFill>
              </a:rPr>
              <a:t>命题</a:t>
            </a:r>
            <a:r>
              <a:rPr lang="en-US" altLang="zh-CN" sz="3200" b="1" dirty="0">
                <a:solidFill>
                  <a:srgbClr val="FF0000"/>
                </a:solidFill>
              </a:rPr>
              <a:t>A</a:t>
            </a:r>
            <a:r>
              <a:rPr lang="zh-CN" altLang="en-US" sz="3200" b="1" dirty="0">
                <a:solidFill>
                  <a:srgbClr val="FF0000"/>
                </a:solidFill>
              </a:rPr>
              <a:t>：刚刚结识的朋友是新朋友。</a:t>
            </a:r>
          </a:p>
          <a:p>
            <a:r>
              <a:rPr lang="zh-CN" altLang="en-US" sz="3200" b="1" dirty="0">
                <a:solidFill>
                  <a:srgbClr val="3333FF"/>
                </a:solidFill>
              </a:rPr>
              <a:t>命题</a:t>
            </a:r>
            <a:r>
              <a:rPr lang="en-US" altLang="zh-CN" sz="3200" b="1" dirty="0">
                <a:solidFill>
                  <a:srgbClr val="3333FF"/>
                </a:solidFill>
              </a:rPr>
              <a:t>B</a:t>
            </a:r>
            <a:r>
              <a:rPr lang="zh-CN" altLang="en-US" sz="3200" b="1" dirty="0">
                <a:solidFill>
                  <a:srgbClr val="3333FF"/>
                </a:solidFill>
              </a:rPr>
              <a:t>：新朋友过一秒钟还是新朋友。</a:t>
            </a:r>
          </a:p>
          <a:p>
            <a:endParaRPr lang="zh-CN" altLang="en-US" b="1" dirty="0"/>
          </a:p>
          <a:p>
            <a:endParaRPr lang="zh-CN" altLang="en-US" b="1" dirty="0"/>
          </a:p>
          <a:p>
            <a:endParaRPr lang="en-US" altLang="zh-CN" b="1" dirty="0"/>
          </a:p>
        </p:txBody>
      </p:sp>
      <p:sp>
        <p:nvSpPr>
          <p:cNvPr id="3" name="文本框 2">
            <a:extLst>
              <a:ext uri="{FF2B5EF4-FFF2-40B4-BE49-F238E27FC236}">
                <a16:creationId xmlns:a16="http://schemas.microsoft.com/office/drawing/2014/main" id="{122923EB-606D-4EB4-E47D-EC91424DD5C1}"/>
              </a:ext>
            </a:extLst>
          </p:cNvPr>
          <p:cNvSpPr txBox="1"/>
          <p:nvPr/>
        </p:nvSpPr>
        <p:spPr>
          <a:xfrm>
            <a:off x="2577952" y="4509121"/>
            <a:ext cx="7488832" cy="584775"/>
          </a:xfrm>
          <a:prstGeom prst="rect">
            <a:avLst/>
          </a:prstGeom>
          <a:noFill/>
        </p:spPr>
        <p:txBody>
          <a:bodyPr wrap="square">
            <a:spAutoFit/>
          </a:bodyPr>
          <a:lstStyle/>
          <a:p>
            <a:r>
              <a:rPr lang="zh-CN" altLang="en-US" sz="3200" b="1" dirty="0"/>
              <a:t>推论： 新朋友过五十年还是新朋友！</a:t>
            </a:r>
          </a:p>
        </p:txBody>
      </p:sp>
    </p:spTree>
    <p:extLst>
      <p:ext uri="{BB962C8B-B14F-4D97-AF65-F5344CB8AC3E}">
        <p14:creationId xmlns:p14="http://schemas.microsoft.com/office/powerpoint/2010/main" val="32042155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47460">
                                            <p:txEl>
                                              <p:pRg st="1" end="1"/>
                                            </p:txEl>
                                          </p:spTgt>
                                        </p:tgtEl>
                                        <p:attrNameLst>
                                          <p:attrName>style.visibility</p:attrName>
                                        </p:attrNameLst>
                                      </p:cBhvr>
                                      <p:to>
                                        <p:strVal val="visible"/>
                                      </p:to>
                                    </p:set>
                                    <p:animEffect transition="in" filter="wipe(left)">
                                      <p:cBhvr>
                                        <p:cTn id="7" dur="500"/>
                                        <p:tgtEl>
                                          <p:spTgt spid="147460">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47460">
                                            <p:txEl>
                                              <p:pRg st="2" end="2"/>
                                            </p:txEl>
                                          </p:spTgt>
                                        </p:tgtEl>
                                        <p:attrNameLst>
                                          <p:attrName>style.visibility</p:attrName>
                                        </p:attrNameLst>
                                      </p:cBhvr>
                                      <p:to>
                                        <p:strVal val="visible"/>
                                      </p:to>
                                    </p:set>
                                    <p:animEffect transition="in" filter="wipe(left)">
                                      <p:cBhvr>
                                        <p:cTn id="12" dur="500"/>
                                        <p:tgtEl>
                                          <p:spTgt spid="147460">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500" fill="hold"/>
                                        <p:tgtEl>
                                          <p:spTgt spid="4"/>
                                        </p:tgtEl>
                                        <p:attrNameLst>
                                          <p:attrName>ppt_x</p:attrName>
                                        </p:attrNameLst>
                                      </p:cBhvr>
                                      <p:tavLst>
                                        <p:tav tm="0">
                                          <p:val>
                                            <p:strVal val="#ppt_x"/>
                                          </p:val>
                                        </p:tav>
                                        <p:tav tm="100000">
                                          <p:val>
                                            <p:strVal val="#ppt_x"/>
                                          </p:val>
                                        </p:tav>
                                      </p:tavLst>
                                    </p:anim>
                                    <p:anim calcmode="lin" valueType="num">
                                      <p:cBhvr additive="base">
                                        <p:cTn id="18" dur="500" fill="hold"/>
                                        <p:tgtEl>
                                          <p:spTgt spid="4"/>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3"/>
                                        </p:tgtEl>
                                        <p:attrNameLst>
                                          <p:attrName>style.visibility</p:attrName>
                                        </p:attrNameLst>
                                      </p:cBhvr>
                                      <p:to>
                                        <p:strVal val="visible"/>
                                      </p:to>
                                    </p:set>
                                    <p:anim calcmode="lin" valueType="num">
                                      <p:cBhvr additive="base">
                                        <p:cTn id="21" dur="500" fill="hold"/>
                                        <p:tgtEl>
                                          <p:spTgt spid="3"/>
                                        </p:tgtEl>
                                        <p:attrNameLst>
                                          <p:attrName>ppt_x</p:attrName>
                                        </p:attrNameLst>
                                      </p:cBhvr>
                                      <p:tavLst>
                                        <p:tav tm="0">
                                          <p:val>
                                            <p:strVal val="#ppt_x"/>
                                          </p:val>
                                        </p:tav>
                                        <p:tav tm="100000">
                                          <p:val>
                                            <p:strVal val="#ppt_x"/>
                                          </p:val>
                                        </p:tav>
                                      </p:tavLst>
                                    </p:anim>
                                    <p:anim calcmode="lin" valueType="num">
                                      <p:cBhvr additive="base">
                                        <p:cTn id="22"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3"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对话气泡: 矩形 2">
            <a:extLst>
              <a:ext uri="{FF2B5EF4-FFF2-40B4-BE49-F238E27FC236}">
                <a16:creationId xmlns:a16="http://schemas.microsoft.com/office/drawing/2014/main" id="{99CF5974-986C-3411-4BDF-D0BF646B199F}"/>
              </a:ext>
            </a:extLst>
          </p:cNvPr>
          <p:cNvSpPr/>
          <p:nvPr/>
        </p:nvSpPr>
        <p:spPr>
          <a:xfrm>
            <a:off x="2096847" y="4264358"/>
            <a:ext cx="6840760" cy="504056"/>
          </a:xfrm>
          <a:prstGeom prst="wedgeRectCallout">
            <a:avLst>
              <a:gd name="adj1" fmla="val 57404"/>
              <a:gd name="adj2" fmla="val -157006"/>
            </a:avLst>
          </a:prstGeom>
          <a:solidFill>
            <a:srgbClr val="CCFF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矩形 1"/>
          <p:cNvSpPr/>
          <p:nvPr/>
        </p:nvSpPr>
        <p:spPr>
          <a:xfrm>
            <a:off x="741874" y="5004435"/>
            <a:ext cx="10329933" cy="1815882"/>
          </a:xfrm>
          <a:prstGeom prst="rect">
            <a:avLst/>
          </a:prstGeom>
          <a:solidFill>
            <a:srgbClr val="FFFFCC"/>
          </a:solidFill>
        </p:spPr>
        <p:txBody>
          <a:bodyPr wrap="square">
            <a:spAutoFit/>
          </a:bodyPr>
          <a:lstStyle/>
          <a:p>
            <a:pPr marL="342900" indent="-342900">
              <a:buFont typeface="Wingdings" panose="05000000000000000000" pitchFamily="2" charset="2"/>
              <a:buChar char="n"/>
            </a:pPr>
            <a:r>
              <a:rPr lang="zh-CN" altLang="en-US" sz="2800" b="1" dirty="0">
                <a:solidFill>
                  <a:srgbClr val="008000"/>
                </a:solidFill>
              </a:rPr>
              <a:t>问题就在于</a:t>
            </a:r>
            <a:r>
              <a:rPr lang="zh-CN" altLang="en-US" sz="2800" b="1" dirty="0">
                <a:solidFill>
                  <a:srgbClr val="FF0000"/>
                </a:solidFill>
              </a:rPr>
              <a:t>“沙堆”</a:t>
            </a:r>
            <a:r>
              <a:rPr lang="zh-CN" altLang="en-US" sz="2800" b="1" dirty="0">
                <a:solidFill>
                  <a:srgbClr val="008000"/>
                </a:solidFill>
              </a:rPr>
              <a:t>这个概念是</a:t>
            </a:r>
            <a:r>
              <a:rPr lang="zh-CN" altLang="en-US" sz="2800" b="1" dirty="0">
                <a:solidFill>
                  <a:srgbClr val="0000FF"/>
                </a:solidFill>
              </a:rPr>
              <a:t>模糊</a:t>
            </a:r>
            <a:r>
              <a:rPr lang="zh-CN" altLang="en-US" sz="2800" b="1" dirty="0">
                <a:solidFill>
                  <a:srgbClr val="008000"/>
                </a:solidFill>
              </a:rPr>
              <a:t>的，没有一个清晰的界限将“</a:t>
            </a:r>
            <a:r>
              <a:rPr lang="zh-CN" altLang="en-US" sz="2800" b="1" dirty="0">
                <a:solidFill>
                  <a:srgbClr val="FF0000"/>
                </a:solidFill>
              </a:rPr>
              <a:t>沙堆</a:t>
            </a:r>
            <a:r>
              <a:rPr lang="zh-CN" altLang="en-US" sz="2800" b="1" dirty="0">
                <a:solidFill>
                  <a:srgbClr val="008000"/>
                </a:solidFill>
              </a:rPr>
              <a:t>”与“</a:t>
            </a:r>
            <a:r>
              <a:rPr lang="zh-CN" altLang="en-US" sz="2800" b="1" dirty="0">
                <a:solidFill>
                  <a:srgbClr val="CC00FF"/>
                </a:solidFill>
              </a:rPr>
              <a:t>非沙堆</a:t>
            </a:r>
            <a:r>
              <a:rPr lang="zh-CN" altLang="en-US" sz="2800" b="1" dirty="0">
                <a:solidFill>
                  <a:srgbClr val="008000"/>
                </a:solidFill>
              </a:rPr>
              <a:t>”分开。</a:t>
            </a:r>
            <a:endParaRPr lang="en-US" altLang="zh-CN" sz="2800" b="1" dirty="0">
              <a:solidFill>
                <a:srgbClr val="008000"/>
              </a:solidFill>
            </a:endParaRPr>
          </a:p>
          <a:p>
            <a:pPr marL="342900" indent="-342900">
              <a:buFont typeface="Wingdings" panose="05000000000000000000" pitchFamily="2" charset="2"/>
              <a:buChar char="n"/>
            </a:pPr>
            <a:r>
              <a:rPr lang="zh-CN" altLang="en-US" sz="2800" b="1" dirty="0"/>
              <a:t>我们无法明确指出，在这个不断拿走沙子的过程中，什么时候“</a:t>
            </a:r>
            <a:r>
              <a:rPr lang="zh-CN" altLang="en-US" sz="2800" b="1" dirty="0">
                <a:solidFill>
                  <a:srgbClr val="FF0000"/>
                </a:solidFill>
              </a:rPr>
              <a:t>沙堆</a:t>
            </a:r>
            <a:r>
              <a:rPr lang="zh-CN" altLang="en-US" sz="2800" b="1" dirty="0"/>
              <a:t>”已不再是“</a:t>
            </a:r>
            <a:r>
              <a:rPr lang="zh-CN" altLang="en-US" sz="2800" b="1" dirty="0">
                <a:solidFill>
                  <a:srgbClr val="FF0000"/>
                </a:solidFill>
              </a:rPr>
              <a:t>沙堆</a:t>
            </a:r>
            <a:r>
              <a:rPr lang="zh-CN" altLang="en-US" sz="2800" b="1" dirty="0"/>
              <a:t>”。 </a:t>
            </a:r>
          </a:p>
        </p:txBody>
      </p:sp>
      <p:sp>
        <p:nvSpPr>
          <p:cNvPr id="7170" name="Rectangle 2"/>
          <p:cNvSpPr>
            <a:spLocks noGrp="1" noChangeArrowheads="1"/>
          </p:cNvSpPr>
          <p:nvPr>
            <p:ph type="title"/>
          </p:nvPr>
        </p:nvSpPr>
        <p:spPr>
          <a:xfrm>
            <a:off x="2064174" y="44624"/>
            <a:ext cx="8229600" cy="1371600"/>
          </a:xfrm>
        </p:spPr>
        <p:txBody>
          <a:bodyPr/>
          <a:lstStyle/>
          <a:p>
            <a:pPr algn="ctr"/>
            <a:r>
              <a:rPr lang="zh-CN" altLang="en-US" dirty="0">
                <a:solidFill>
                  <a:srgbClr val="008000"/>
                </a:solidFill>
                <a:latin typeface="黑体" panose="02010609060101010101" pitchFamily="49" charset="-122"/>
                <a:ea typeface="黑体" panose="02010609060101010101" pitchFamily="49" charset="-122"/>
              </a:rPr>
              <a:t>为什么需要模糊数学</a:t>
            </a:r>
          </a:p>
        </p:txBody>
      </p:sp>
      <p:sp>
        <p:nvSpPr>
          <p:cNvPr id="7171" name="Rectangle 3"/>
          <p:cNvSpPr>
            <a:spLocks noGrp="1" noChangeArrowheads="1"/>
          </p:cNvSpPr>
          <p:nvPr>
            <p:ph type="body" sz="half" idx="1"/>
          </p:nvPr>
        </p:nvSpPr>
        <p:spPr>
          <a:xfrm>
            <a:off x="911424" y="1196752"/>
            <a:ext cx="8825891" cy="5334000"/>
          </a:xfrm>
        </p:spPr>
        <p:txBody>
          <a:bodyPr>
            <a:normAutofit/>
          </a:bodyPr>
          <a:lstStyle/>
          <a:p>
            <a:r>
              <a:rPr lang="zh-CN" altLang="en-US" sz="3200" dirty="0">
                <a:solidFill>
                  <a:srgbClr val="FF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著名的沙堆问题：</a:t>
            </a:r>
          </a:p>
          <a:p>
            <a:pPr>
              <a:lnSpc>
                <a:spcPct val="90000"/>
              </a:lnSpc>
              <a:buFont typeface="Wingdings" panose="05000000000000000000" pitchFamily="2" charset="2"/>
              <a:buNone/>
            </a:pPr>
            <a:r>
              <a:rPr lang="zh-CN" altLang="en-US" dirty="0">
                <a:ea typeface="宋体" panose="02010600030101010101" pitchFamily="2" charset="-122"/>
              </a:rPr>
              <a:t>   </a:t>
            </a:r>
            <a:r>
              <a:rPr lang="zh-CN" altLang="en-US" sz="3200" b="1" dirty="0">
                <a:solidFill>
                  <a:srgbClr val="3333FF"/>
                </a:solidFill>
                <a:effectLst>
                  <a:outerShdw blurRad="38100" dist="38100" dir="2700000" algn="tl">
                    <a:srgbClr val="000000">
                      <a:alpha val="43137"/>
                    </a:srgbClr>
                  </a:outerShdw>
                </a:effectLst>
                <a:ea typeface="宋体" panose="02010600030101010101" pitchFamily="2" charset="-122"/>
              </a:rPr>
              <a:t>“从一个沙堆里拿走一粒沙子，</a:t>
            </a:r>
            <a:endParaRPr lang="en-US" altLang="zh-CN" sz="3200" b="1" dirty="0">
              <a:solidFill>
                <a:srgbClr val="3333FF"/>
              </a:solidFill>
              <a:effectLst>
                <a:outerShdw blurRad="38100" dist="38100" dir="2700000" algn="tl">
                  <a:srgbClr val="000000">
                    <a:alpha val="43137"/>
                  </a:srgbClr>
                </a:outerShdw>
              </a:effectLst>
              <a:ea typeface="宋体" panose="02010600030101010101" pitchFamily="2" charset="-122"/>
            </a:endParaRPr>
          </a:p>
          <a:p>
            <a:pPr>
              <a:lnSpc>
                <a:spcPct val="90000"/>
              </a:lnSpc>
              <a:buFont typeface="Wingdings" panose="05000000000000000000" pitchFamily="2" charset="2"/>
              <a:buNone/>
            </a:pPr>
            <a:r>
              <a:rPr lang="en-US" altLang="zh-CN" sz="3200" b="1" dirty="0">
                <a:solidFill>
                  <a:srgbClr val="3333FF"/>
                </a:solidFill>
                <a:effectLst>
                  <a:outerShdw blurRad="38100" dist="38100" dir="2700000" algn="tl">
                    <a:srgbClr val="000000">
                      <a:alpha val="43137"/>
                    </a:srgbClr>
                  </a:outerShdw>
                </a:effectLst>
                <a:ea typeface="宋体" panose="02010600030101010101" pitchFamily="2" charset="-122"/>
              </a:rPr>
              <a:t>      </a:t>
            </a:r>
            <a:r>
              <a:rPr lang="zh-CN" altLang="en-US" sz="3200" b="1" dirty="0">
                <a:solidFill>
                  <a:srgbClr val="3333FF"/>
                </a:solidFill>
                <a:effectLst>
                  <a:outerShdw blurRad="38100" dist="38100" dir="2700000" algn="tl">
                    <a:srgbClr val="000000">
                      <a:alpha val="43137"/>
                    </a:srgbClr>
                  </a:outerShdw>
                </a:effectLst>
                <a:ea typeface="宋体" panose="02010600030101010101" pitchFamily="2" charset="-122"/>
              </a:rPr>
              <a:t>这还是一个沙堆吗？” </a:t>
            </a:r>
          </a:p>
        </p:txBody>
      </p:sp>
      <p:sp>
        <p:nvSpPr>
          <p:cNvPr id="7190" name="WordArt 22" descr="窄竖线"/>
          <p:cNvSpPr>
            <a:spLocks noChangeArrowheads="1" noChangeShapeType="1" noTextEdit="1"/>
          </p:cNvSpPr>
          <p:nvPr/>
        </p:nvSpPr>
        <p:spPr bwMode="white">
          <a:xfrm>
            <a:off x="8648275" y="1436690"/>
            <a:ext cx="2442859" cy="1033961"/>
          </a:xfrm>
          <a:prstGeom prst="rect">
            <a:avLst/>
          </a:prstGeom>
        </p:spPr>
        <p:txBody>
          <a:bodyPr wrap="none" fromWordArt="1">
            <a:prstTxWarp prst="textCurveUp">
              <a:avLst>
                <a:gd name="adj" fmla="val 40356"/>
              </a:avLst>
            </a:prstTxWarp>
          </a:bodyPr>
          <a:lstStyle/>
          <a:p>
            <a:r>
              <a:rPr lang="zh-CN" altLang="en-US" sz="3600" kern="10" dirty="0">
                <a:ln w="12700">
                  <a:solidFill>
                    <a:srgbClr val="000000"/>
                  </a:solidFill>
                  <a:round/>
                  <a:headEnd/>
                  <a:tailEnd/>
                </a:ln>
                <a:pattFill prst="dashHorz">
                  <a:fgClr>
                    <a:srgbClr val="808080"/>
                  </a:fgClr>
                  <a:bgClr>
                    <a:srgbClr val="FFFF00"/>
                  </a:bgClr>
                </a:pattFill>
                <a:effectLst>
                  <a:outerShdw dist="45791" dir="2021404" algn="ctr" rotWithShape="0">
                    <a:srgbClr val="808080">
                      <a:alpha val="80000"/>
                    </a:srgbClr>
                  </a:outerShdw>
                </a:effectLst>
                <a:latin typeface="宋体" panose="02010600030101010101" pitchFamily="2" charset="-122"/>
              </a:rPr>
              <a:t>是</a:t>
            </a:r>
            <a:r>
              <a:rPr lang="en-US" altLang="zh-CN" sz="3600" kern="10" dirty="0">
                <a:ln w="12700">
                  <a:solidFill>
                    <a:srgbClr val="000000"/>
                  </a:solidFill>
                  <a:round/>
                  <a:headEnd/>
                  <a:tailEnd/>
                </a:ln>
                <a:pattFill prst="dashHorz">
                  <a:fgClr>
                    <a:srgbClr val="808080"/>
                  </a:fgClr>
                  <a:bgClr>
                    <a:srgbClr val="FFFF00"/>
                  </a:bgClr>
                </a:pattFill>
                <a:effectLst>
                  <a:outerShdw dist="45791" dir="2021404" algn="ctr" rotWithShape="0">
                    <a:srgbClr val="808080">
                      <a:alpha val="80000"/>
                    </a:srgbClr>
                  </a:outerShdw>
                </a:effectLst>
                <a:latin typeface="宋体" panose="02010600030101010101" pitchFamily="2" charset="-122"/>
              </a:rPr>
              <a:t>/</a:t>
            </a:r>
            <a:r>
              <a:rPr lang="zh-CN" altLang="en-US" sz="3600" kern="10" dirty="0">
                <a:ln w="12700">
                  <a:solidFill>
                    <a:srgbClr val="000000"/>
                  </a:solidFill>
                  <a:round/>
                  <a:headEnd/>
                  <a:tailEnd/>
                </a:ln>
                <a:pattFill prst="dashHorz">
                  <a:fgClr>
                    <a:srgbClr val="808080"/>
                  </a:fgClr>
                  <a:bgClr>
                    <a:srgbClr val="FFFF00"/>
                  </a:bgClr>
                </a:pattFill>
                <a:effectLst>
                  <a:outerShdw dist="45791" dir="2021404" algn="ctr" rotWithShape="0">
                    <a:srgbClr val="808080">
                      <a:alpha val="80000"/>
                    </a:srgbClr>
                  </a:outerShdw>
                </a:effectLst>
                <a:latin typeface="宋体" panose="02010600030101010101" pitchFamily="2" charset="-122"/>
              </a:rPr>
              <a:t>否？</a:t>
            </a:r>
          </a:p>
        </p:txBody>
      </p:sp>
      <p:sp>
        <p:nvSpPr>
          <p:cNvPr id="7193" name="Rectangle 25"/>
          <p:cNvSpPr>
            <a:spLocks noChangeArrowheads="1"/>
          </p:cNvSpPr>
          <p:nvPr/>
        </p:nvSpPr>
        <p:spPr bwMode="white">
          <a:xfrm>
            <a:off x="1524000" y="2825234"/>
            <a:ext cx="91440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graphicFrame>
        <p:nvGraphicFramePr>
          <p:cNvPr id="7192" name="Object 24"/>
          <p:cNvGraphicFramePr>
            <a:graphicFrameLocks noChangeAspect="1"/>
          </p:cNvGraphicFramePr>
          <p:nvPr>
            <p:extLst>
              <p:ext uri="{D42A27DB-BD31-4B8C-83A1-F6EECF244321}">
                <p14:modId xmlns:p14="http://schemas.microsoft.com/office/powerpoint/2010/main" val="1172205435"/>
              </p:ext>
            </p:extLst>
          </p:nvPr>
        </p:nvGraphicFramePr>
        <p:xfrm>
          <a:off x="1127448" y="2685268"/>
          <a:ext cx="9108504" cy="1535820"/>
        </p:xfrm>
        <a:graphic>
          <a:graphicData uri="http://schemas.openxmlformats.org/presentationml/2006/ole">
            <mc:AlternateContent xmlns:mc="http://schemas.openxmlformats.org/markup-compatibility/2006">
              <mc:Choice xmlns:v="urn:schemas-microsoft-com:vml" Requires="v">
                <p:oleObj r:id="rId3" imgW="5410200" imgH="689187" progId="Visio.Drawing.11">
                  <p:embed/>
                </p:oleObj>
              </mc:Choice>
              <mc:Fallback>
                <p:oleObj r:id="rId3" imgW="5410200" imgH="689187" progId="Visio.Drawing.11">
                  <p:embed/>
                  <p:pic>
                    <p:nvPicPr>
                      <p:cNvPr id="7192" name="Object 24"/>
                      <p:cNvPicPr>
                        <a:picLocks noChangeAspect="1" noChangeArrowheads="1"/>
                      </p:cNvPicPr>
                      <p:nvPr/>
                    </p:nvPicPr>
                    <p:blipFill>
                      <a:blip r:embed="rId4">
                        <a:extLst>
                          <a:ext uri="{28A0092B-C50C-407E-A947-70E740481C1C}">
                            <a14:useLocalDpi xmlns:a14="http://schemas.microsoft.com/office/drawing/2010/main" val="0"/>
                          </a:ext>
                        </a:extLst>
                      </a:blip>
                      <a:srcRect l="4504" r="7248"/>
                      <a:stretch>
                        <a:fillRect/>
                      </a:stretch>
                    </p:blipFill>
                    <p:spPr bwMode="auto">
                      <a:xfrm>
                        <a:off x="1127448" y="2685268"/>
                        <a:ext cx="9108504" cy="1535820"/>
                      </a:xfrm>
                      <a:prstGeom prst="rect">
                        <a:avLst/>
                      </a:prstGeom>
                      <a:noFill/>
                    </p:spPr>
                  </p:pic>
                </p:oleObj>
              </mc:Fallback>
            </mc:AlternateContent>
          </a:graphicData>
        </a:graphic>
      </p:graphicFrame>
      <p:sp>
        <p:nvSpPr>
          <p:cNvPr id="7194" name="Text Box 26"/>
          <p:cNvSpPr txBox="1">
            <a:spLocks noChangeArrowheads="1"/>
          </p:cNvSpPr>
          <p:nvPr/>
        </p:nvSpPr>
        <p:spPr bwMode="white">
          <a:xfrm>
            <a:off x="2152376" y="4286983"/>
            <a:ext cx="6696743" cy="461665"/>
          </a:xfrm>
          <a:prstGeom prst="rect">
            <a:avLst/>
          </a:prstGeom>
          <a:noFill/>
          <a:ln w="9525" algn="ctr">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zh-CN" altLang="en-US" sz="2400" b="1" dirty="0">
                <a:solidFill>
                  <a:srgbClr val="CC00FF"/>
                </a:solidFill>
                <a:effectLst>
                  <a:outerShdw blurRad="38100" dist="38100" dir="2700000" algn="tl">
                    <a:srgbClr val="000000">
                      <a:alpha val="43137"/>
                    </a:srgbClr>
                  </a:outerShdw>
                </a:effectLst>
              </a:rPr>
              <a:t>一粒沙子都没有也被称为</a:t>
            </a:r>
            <a:r>
              <a:rPr lang="en-US" altLang="zh-CN" sz="2400" b="1" dirty="0">
                <a:solidFill>
                  <a:srgbClr val="CC00FF"/>
                </a:solidFill>
                <a:effectLst>
                  <a:outerShdw blurRad="38100" dist="38100" dir="2700000" algn="tl">
                    <a:srgbClr val="000000">
                      <a:alpha val="43137"/>
                    </a:srgbClr>
                  </a:outerShdw>
                </a:effectLst>
              </a:rPr>
              <a:t>”</a:t>
            </a:r>
            <a:r>
              <a:rPr lang="zh-CN" altLang="en-US" sz="2400" b="1" dirty="0">
                <a:solidFill>
                  <a:srgbClr val="CC00FF"/>
                </a:solidFill>
                <a:effectLst>
                  <a:outerShdw blurRad="38100" dist="38100" dir="2700000" algn="tl">
                    <a:srgbClr val="000000">
                      <a:alpha val="43137"/>
                    </a:srgbClr>
                  </a:outerShdw>
                </a:effectLst>
              </a:rPr>
              <a:t>沙堆</a:t>
            </a:r>
            <a:r>
              <a:rPr lang="en-US" altLang="zh-CN" sz="2400" b="1" dirty="0">
                <a:solidFill>
                  <a:srgbClr val="CC00FF"/>
                </a:solidFill>
                <a:effectLst>
                  <a:outerShdw blurRad="38100" dist="38100" dir="2700000" algn="tl">
                    <a:srgbClr val="000000">
                      <a:alpha val="43137"/>
                    </a:srgbClr>
                  </a:outerShdw>
                </a:effectLst>
              </a:rPr>
              <a:t>”</a:t>
            </a:r>
            <a:r>
              <a:rPr lang="zh-CN" altLang="en-US" sz="2400" b="1" dirty="0">
                <a:solidFill>
                  <a:srgbClr val="CC00FF"/>
                </a:solidFill>
                <a:effectLst>
                  <a:outerShdw blurRad="38100" dist="38100" dir="2700000" algn="tl">
                    <a:srgbClr val="000000">
                      <a:alpha val="43137"/>
                    </a:srgbClr>
                  </a:outerShdw>
                </a:effectLst>
              </a:rPr>
              <a:t>，这显然有问题！ </a:t>
            </a:r>
          </a:p>
        </p:txBody>
      </p:sp>
      <p:sp>
        <p:nvSpPr>
          <p:cNvPr id="9" name="WordArt 4" descr="窄竖线"/>
          <p:cNvSpPr>
            <a:spLocks noChangeArrowheads="1" noChangeShapeType="1" noTextEdit="1"/>
          </p:cNvSpPr>
          <p:nvPr/>
        </p:nvSpPr>
        <p:spPr bwMode="white">
          <a:xfrm rot="21180952">
            <a:off x="9222723" y="3859438"/>
            <a:ext cx="2890556" cy="855090"/>
          </a:xfrm>
          <a:prstGeom prst="rect">
            <a:avLst/>
          </a:prstGeom>
        </p:spPr>
        <p:txBody>
          <a:bodyPr wrap="none" fromWordArt="1">
            <a:prstTxWarp prst="textCurveUp">
              <a:avLst>
                <a:gd name="adj" fmla="val 40356"/>
              </a:avLst>
            </a:prstTxWarp>
          </a:bodyPr>
          <a:lstStyle/>
          <a:p>
            <a:r>
              <a:rPr lang="zh-CN" altLang="en-US" sz="3600" kern="10" dirty="0">
                <a:ln w="12700">
                  <a:solidFill>
                    <a:srgbClr val="000000"/>
                  </a:solidFill>
                  <a:round/>
                  <a:headEnd/>
                  <a:tailEnd/>
                </a:ln>
                <a:pattFill prst="dashHorz">
                  <a:fgClr>
                    <a:srgbClr val="808080"/>
                  </a:fgClr>
                  <a:bgClr>
                    <a:srgbClr val="FFFF00"/>
                  </a:bgClr>
                </a:pattFill>
                <a:effectLst>
                  <a:outerShdw dist="45791" dir="2021404" algn="ctr" rotWithShape="0">
                    <a:srgbClr val="808080">
                      <a:alpha val="80000"/>
                    </a:srgbClr>
                  </a:outerShdw>
                </a:effectLst>
                <a:latin typeface="宋体" panose="02010600030101010101" pitchFamily="2" charset="-122"/>
              </a:rPr>
              <a:t>问题出在哪里？</a:t>
            </a:r>
          </a:p>
        </p:txBody>
      </p:sp>
    </p:spTree>
    <p:extLst>
      <p:ext uri="{BB962C8B-B14F-4D97-AF65-F5344CB8AC3E}">
        <p14:creationId xmlns:p14="http://schemas.microsoft.com/office/powerpoint/2010/main" val="10138773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7171">
                                            <p:txEl>
                                              <p:pRg st="0" end="0"/>
                                            </p:txEl>
                                          </p:spTgt>
                                        </p:tgtEl>
                                        <p:attrNameLst>
                                          <p:attrName>style.visibility</p:attrName>
                                        </p:attrNameLst>
                                      </p:cBhvr>
                                      <p:to>
                                        <p:strVal val="visible"/>
                                      </p:to>
                                    </p:set>
                                    <p:animEffect transition="in" filter="wipe(left)">
                                      <p:cBhvr>
                                        <p:cTn id="7" dur="500"/>
                                        <p:tgtEl>
                                          <p:spTgt spid="717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7171">
                                            <p:txEl>
                                              <p:pRg st="1" end="1"/>
                                            </p:txEl>
                                          </p:spTgt>
                                        </p:tgtEl>
                                        <p:attrNameLst>
                                          <p:attrName>style.visibility</p:attrName>
                                        </p:attrNameLst>
                                      </p:cBhvr>
                                      <p:to>
                                        <p:strVal val="visible"/>
                                      </p:to>
                                    </p:set>
                                    <p:animEffect transition="in" filter="wipe(left)">
                                      <p:cBhvr>
                                        <p:cTn id="12" dur="500"/>
                                        <p:tgtEl>
                                          <p:spTgt spid="7171">
                                            <p:txEl>
                                              <p:pRg st="1" end="1"/>
                                            </p:txEl>
                                          </p:spTgt>
                                        </p:tgtEl>
                                      </p:cBhvr>
                                    </p:animEffect>
                                  </p:childTnLst>
                                </p:cTn>
                              </p:par>
                            </p:childTnLst>
                          </p:cTn>
                        </p:par>
                        <p:par>
                          <p:cTn id="13" fill="hold">
                            <p:stCondLst>
                              <p:cond delay="500"/>
                            </p:stCondLst>
                            <p:childTnLst>
                              <p:par>
                                <p:cTn id="14" presetID="22" presetClass="entr" presetSubtype="8" fill="hold" nodeType="afterEffect">
                                  <p:stCondLst>
                                    <p:cond delay="0"/>
                                  </p:stCondLst>
                                  <p:childTnLst>
                                    <p:set>
                                      <p:cBhvr>
                                        <p:cTn id="15" dur="1" fill="hold">
                                          <p:stCondLst>
                                            <p:cond delay="0"/>
                                          </p:stCondLst>
                                        </p:cTn>
                                        <p:tgtEl>
                                          <p:spTgt spid="7171">
                                            <p:txEl>
                                              <p:pRg st="2" end="2"/>
                                            </p:txEl>
                                          </p:spTgt>
                                        </p:tgtEl>
                                        <p:attrNameLst>
                                          <p:attrName>style.visibility</p:attrName>
                                        </p:attrNameLst>
                                      </p:cBhvr>
                                      <p:to>
                                        <p:strVal val="visible"/>
                                      </p:to>
                                    </p:set>
                                    <p:animEffect transition="in" filter="wipe(left)">
                                      <p:cBhvr>
                                        <p:cTn id="16" dur="500"/>
                                        <p:tgtEl>
                                          <p:spTgt spid="7171">
                                            <p:txEl>
                                              <p:pRg st="2" end="2"/>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45" presetClass="entr" presetSubtype="0" fill="hold" grpId="0" nodeType="clickEffect">
                                  <p:stCondLst>
                                    <p:cond delay="0"/>
                                  </p:stCondLst>
                                  <p:childTnLst>
                                    <p:set>
                                      <p:cBhvr>
                                        <p:cTn id="20" dur="1" fill="hold">
                                          <p:stCondLst>
                                            <p:cond delay="0"/>
                                          </p:stCondLst>
                                        </p:cTn>
                                        <p:tgtEl>
                                          <p:spTgt spid="7190"/>
                                        </p:tgtEl>
                                        <p:attrNameLst>
                                          <p:attrName>style.visibility</p:attrName>
                                        </p:attrNameLst>
                                      </p:cBhvr>
                                      <p:to>
                                        <p:strVal val="visible"/>
                                      </p:to>
                                    </p:set>
                                    <p:animEffect transition="in" filter="fade">
                                      <p:cBhvr>
                                        <p:cTn id="21" dur="2000"/>
                                        <p:tgtEl>
                                          <p:spTgt spid="7190"/>
                                        </p:tgtEl>
                                      </p:cBhvr>
                                    </p:animEffect>
                                    <p:anim calcmode="lin" valueType="num">
                                      <p:cBhvr>
                                        <p:cTn id="22" dur="2000" fill="hold"/>
                                        <p:tgtEl>
                                          <p:spTgt spid="7190"/>
                                        </p:tgtEl>
                                        <p:attrNameLst>
                                          <p:attrName>ppt_w</p:attrName>
                                        </p:attrNameLst>
                                      </p:cBhvr>
                                      <p:tavLst>
                                        <p:tav tm="0" fmla="#ppt_w*sin(2.5*pi*$)">
                                          <p:val>
                                            <p:fltVal val="0"/>
                                          </p:val>
                                        </p:tav>
                                        <p:tav tm="100000">
                                          <p:val>
                                            <p:fltVal val="1"/>
                                          </p:val>
                                        </p:tav>
                                      </p:tavLst>
                                    </p:anim>
                                    <p:anim calcmode="lin" valueType="num">
                                      <p:cBhvr>
                                        <p:cTn id="23" dur="2000" fill="hold"/>
                                        <p:tgtEl>
                                          <p:spTgt spid="7190"/>
                                        </p:tgtEl>
                                        <p:attrNameLst>
                                          <p:attrName>ppt_h</p:attrName>
                                        </p:attrNameLst>
                                      </p:cBhvr>
                                      <p:tavLst>
                                        <p:tav tm="0">
                                          <p:val>
                                            <p:strVal val="#ppt_h"/>
                                          </p:val>
                                        </p:tav>
                                        <p:tav tm="100000">
                                          <p:val>
                                            <p:strVal val="#ppt_h"/>
                                          </p:val>
                                        </p:tav>
                                      </p:tavLst>
                                    </p:anim>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nodeType="clickEffect">
                                  <p:stCondLst>
                                    <p:cond delay="0"/>
                                  </p:stCondLst>
                                  <p:childTnLst>
                                    <p:set>
                                      <p:cBhvr>
                                        <p:cTn id="27" dur="1" fill="hold">
                                          <p:stCondLst>
                                            <p:cond delay="0"/>
                                          </p:stCondLst>
                                        </p:cTn>
                                        <p:tgtEl>
                                          <p:spTgt spid="7192"/>
                                        </p:tgtEl>
                                        <p:attrNameLst>
                                          <p:attrName>style.visibility</p:attrName>
                                        </p:attrNameLst>
                                      </p:cBhvr>
                                      <p:to>
                                        <p:strVal val="visible"/>
                                      </p:to>
                                    </p:set>
                                    <p:animEffect transition="in" filter="wipe(left)">
                                      <p:cBhvr>
                                        <p:cTn id="28" dur="5000"/>
                                        <p:tgtEl>
                                          <p:spTgt spid="7192"/>
                                        </p:tgtEl>
                                      </p:cBhvr>
                                    </p:animEffect>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grpId="0" nodeType="clickEffect">
                                  <p:stCondLst>
                                    <p:cond delay="0"/>
                                  </p:stCondLst>
                                  <p:childTnLst>
                                    <p:set>
                                      <p:cBhvr>
                                        <p:cTn id="32" dur="1" fill="hold">
                                          <p:stCondLst>
                                            <p:cond delay="0"/>
                                          </p:stCondLst>
                                        </p:cTn>
                                        <p:tgtEl>
                                          <p:spTgt spid="7194"/>
                                        </p:tgtEl>
                                        <p:attrNameLst>
                                          <p:attrName>style.visibility</p:attrName>
                                        </p:attrNameLst>
                                      </p:cBhvr>
                                      <p:to>
                                        <p:strVal val="visible"/>
                                      </p:to>
                                    </p:set>
                                    <p:anim calcmode="lin" valueType="num">
                                      <p:cBhvr additive="base">
                                        <p:cTn id="33" dur="500" fill="hold"/>
                                        <p:tgtEl>
                                          <p:spTgt spid="7194"/>
                                        </p:tgtEl>
                                        <p:attrNameLst>
                                          <p:attrName>ppt_x</p:attrName>
                                        </p:attrNameLst>
                                      </p:cBhvr>
                                      <p:tavLst>
                                        <p:tav tm="0">
                                          <p:val>
                                            <p:strVal val="#ppt_x"/>
                                          </p:val>
                                        </p:tav>
                                        <p:tav tm="100000">
                                          <p:val>
                                            <p:strVal val="#ppt_x"/>
                                          </p:val>
                                        </p:tav>
                                      </p:tavLst>
                                    </p:anim>
                                    <p:anim calcmode="lin" valueType="num">
                                      <p:cBhvr additive="base">
                                        <p:cTn id="34" dur="500" fill="hold"/>
                                        <p:tgtEl>
                                          <p:spTgt spid="7194"/>
                                        </p:tgtEl>
                                        <p:attrNameLst>
                                          <p:attrName>ppt_y</p:attrName>
                                        </p:attrNameLst>
                                      </p:cBhvr>
                                      <p:tavLst>
                                        <p:tav tm="0">
                                          <p:val>
                                            <p:strVal val="1+#ppt_h/2"/>
                                          </p:val>
                                        </p:tav>
                                        <p:tav tm="100000">
                                          <p:val>
                                            <p:strVal val="#ppt_y"/>
                                          </p:val>
                                        </p:tav>
                                      </p:tavLst>
                                    </p:anim>
                                  </p:childTnLst>
                                </p:cTn>
                              </p:par>
                              <p:par>
                                <p:cTn id="35" presetID="2" presetClass="entr" presetSubtype="4" fill="hold" grpId="0" nodeType="withEffect">
                                  <p:stCondLst>
                                    <p:cond delay="0"/>
                                  </p:stCondLst>
                                  <p:childTnLst>
                                    <p:set>
                                      <p:cBhvr>
                                        <p:cTn id="36" dur="1" fill="hold">
                                          <p:stCondLst>
                                            <p:cond delay="0"/>
                                          </p:stCondLst>
                                        </p:cTn>
                                        <p:tgtEl>
                                          <p:spTgt spid="3"/>
                                        </p:tgtEl>
                                        <p:attrNameLst>
                                          <p:attrName>style.visibility</p:attrName>
                                        </p:attrNameLst>
                                      </p:cBhvr>
                                      <p:to>
                                        <p:strVal val="visible"/>
                                      </p:to>
                                    </p:set>
                                    <p:anim calcmode="lin" valueType="num">
                                      <p:cBhvr additive="base">
                                        <p:cTn id="37" dur="500" fill="hold"/>
                                        <p:tgtEl>
                                          <p:spTgt spid="3"/>
                                        </p:tgtEl>
                                        <p:attrNameLst>
                                          <p:attrName>ppt_x</p:attrName>
                                        </p:attrNameLst>
                                      </p:cBhvr>
                                      <p:tavLst>
                                        <p:tav tm="0">
                                          <p:val>
                                            <p:strVal val="#ppt_x"/>
                                          </p:val>
                                        </p:tav>
                                        <p:tav tm="100000">
                                          <p:val>
                                            <p:strVal val="#ppt_x"/>
                                          </p:val>
                                        </p:tav>
                                      </p:tavLst>
                                    </p:anim>
                                    <p:anim calcmode="lin" valueType="num">
                                      <p:cBhvr additive="base">
                                        <p:cTn id="3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6" presetClass="entr" presetSubtype="0" fill="hold" grpId="0" nodeType="clickEffect">
                                  <p:stCondLst>
                                    <p:cond delay="0"/>
                                  </p:stCondLst>
                                  <p:childTnLst>
                                    <p:set>
                                      <p:cBhvr>
                                        <p:cTn id="42" dur="1" fill="hold">
                                          <p:stCondLst>
                                            <p:cond delay="0"/>
                                          </p:stCondLst>
                                        </p:cTn>
                                        <p:tgtEl>
                                          <p:spTgt spid="9"/>
                                        </p:tgtEl>
                                        <p:attrNameLst>
                                          <p:attrName>style.visibility</p:attrName>
                                        </p:attrNameLst>
                                      </p:cBhvr>
                                      <p:to>
                                        <p:strVal val="visible"/>
                                      </p:to>
                                    </p:set>
                                    <p:animEffect transition="in" filter="wipe(down)">
                                      <p:cBhvr>
                                        <p:cTn id="43" dur="580">
                                          <p:stCondLst>
                                            <p:cond delay="0"/>
                                          </p:stCondLst>
                                        </p:cTn>
                                        <p:tgtEl>
                                          <p:spTgt spid="9"/>
                                        </p:tgtEl>
                                      </p:cBhvr>
                                    </p:animEffect>
                                    <p:anim calcmode="lin" valueType="num">
                                      <p:cBhvr>
                                        <p:cTn id="44" dur="1822" tmFilter="0,0; 0.14,0.36; 0.43,0.73; 0.71,0.91; 1.0,1.0">
                                          <p:stCondLst>
                                            <p:cond delay="0"/>
                                          </p:stCondLst>
                                        </p:cTn>
                                        <p:tgtEl>
                                          <p:spTgt spid="9"/>
                                        </p:tgtEl>
                                        <p:attrNameLst>
                                          <p:attrName>ppt_x</p:attrName>
                                        </p:attrNameLst>
                                      </p:cBhvr>
                                      <p:tavLst>
                                        <p:tav tm="0">
                                          <p:val>
                                            <p:strVal val="#ppt_x-0.25"/>
                                          </p:val>
                                        </p:tav>
                                        <p:tav tm="100000">
                                          <p:val>
                                            <p:strVal val="#ppt_x"/>
                                          </p:val>
                                        </p:tav>
                                      </p:tavLst>
                                    </p:anim>
                                    <p:anim calcmode="lin" valueType="num">
                                      <p:cBhvr>
                                        <p:cTn id="45" dur="664" tmFilter="0.0,0.0; 0.25,0.07; 0.50,0.2; 0.75,0.467; 1.0,1.0">
                                          <p:stCondLst>
                                            <p:cond delay="0"/>
                                          </p:stCondLst>
                                        </p:cTn>
                                        <p:tgtEl>
                                          <p:spTgt spid="9"/>
                                        </p:tgtEl>
                                        <p:attrNameLst>
                                          <p:attrName>ppt_y</p:attrName>
                                        </p:attrNameLst>
                                      </p:cBhvr>
                                      <p:tavLst>
                                        <p:tav tm="0" fmla="#ppt_y-sin(pi*$)/3">
                                          <p:val>
                                            <p:fltVal val="0.5"/>
                                          </p:val>
                                        </p:tav>
                                        <p:tav tm="100000">
                                          <p:val>
                                            <p:fltVal val="1"/>
                                          </p:val>
                                        </p:tav>
                                      </p:tavLst>
                                    </p:anim>
                                    <p:anim calcmode="lin" valueType="num">
                                      <p:cBhvr>
                                        <p:cTn id="46" dur="664" tmFilter="0, 0; 0.125,0.2665; 0.25,0.4; 0.375,0.465; 0.5,0.5;  0.625,0.535; 0.75,0.6; 0.875,0.7335; 1,1">
                                          <p:stCondLst>
                                            <p:cond delay="664"/>
                                          </p:stCondLst>
                                        </p:cTn>
                                        <p:tgtEl>
                                          <p:spTgt spid="9"/>
                                        </p:tgtEl>
                                        <p:attrNameLst>
                                          <p:attrName>ppt_y</p:attrName>
                                        </p:attrNameLst>
                                      </p:cBhvr>
                                      <p:tavLst>
                                        <p:tav tm="0" fmla="#ppt_y-sin(pi*$)/9">
                                          <p:val>
                                            <p:fltVal val="0"/>
                                          </p:val>
                                        </p:tav>
                                        <p:tav tm="100000">
                                          <p:val>
                                            <p:fltVal val="1"/>
                                          </p:val>
                                        </p:tav>
                                      </p:tavLst>
                                    </p:anim>
                                    <p:anim calcmode="lin" valueType="num">
                                      <p:cBhvr>
                                        <p:cTn id="47" dur="332" tmFilter="0, 0; 0.125,0.2665; 0.25,0.4; 0.375,0.465; 0.5,0.5;  0.625,0.535; 0.75,0.6; 0.875,0.7335; 1,1">
                                          <p:stCondLst>
                                            <p:cond delay="1324"/>
                                          </p:stCondLst>
                                        </p:cTn>
                                        <p:tgtEl>
                                          <p:spTgt spid="9"/>
                                        </p:tgtEl>
                                        <p:attrNameLst>
                                          <p:attrName>ppt_y</p:attrName>
                                        </p:attrNameLst>
                                      </p:cBhvr>
                                      <p:tavLst>
                                        <p:tav tm="0" fmla="#ppt_y-sin(pi*$)/27">
                                          <p:val>
                                            <p:fltVal val="0"/>
                                          </p:val>
                                        </p:tav>
                                        <p:tav tm="100000">
                                          <p:val>
                                            <p:fltVal val="1"/>
                                          </p:val>
                                        </p:tav>
                                      </p:tavLst>
                                    </p:anim>
                                    <p:anim calcmode="lin" valueType="num">
                                      <p:cBhvr>
                                        <p:cTn id="48" dur="164" tmFilter="0, 0; 0.125,0.2665; 0.25,0.4; 0.375,0.465; 0.5,0.5;  0.625,0.535; 0.75,0.6; 0.875,0.7335; 1,1">
                                          <p:stCondLst>
                                            <p:cond delay="1656"/>
                                          </p:stCondLst>
                                        </p:cTn>
                                        <p:tgtEl>
                                          <p:spTgt spid="9"/>
                                        </p:tgtEl>
                                        <p:attrNameLst>
                                          <p:attrName>ppt_y</p:attrName>
                                        </p:attrNameLst>
                                      </p:cBhvr>
                                      <p:tavLst>
                                        <p:tav tm="0" fmla="#ppt_y-sin(pi*$)/81">
                                          <p:val>
                                            <p:fltVal val="0"/>
                                          </p:val>
                                        </p:tav>
                                        <p:tav tm="100000">
                                          <p:val>
                                            <p:fltVal val="1"/>
                                          </p:val>
                                        </p:tav>
                                      </p:tavLst>
                                    </p:anim>
                                    <p:animScale>
                                      <p:cBhvr>
                                        <p:cTn id="49" dur="26">
                                          <p:stCondLst>
                                            <p:cond delay="650"/>
                                          </p:stCondLst>
                                        </p:cTn>
                                        <p:tgtEl>
                                          <p:spTgt spid="9"/>
                                        </p:tgtEl>
                                      </p:cBhvr>
                                      <p:to x="100000" y="60000"/>
                                    </p:animScale>
                                    <p:animScale>
                                      <p:cBhvr>
                                        <p:cTn id="50" dur="166" decel="50000">
                                          <p:stCondLst>
                                            <p:cond delay="676"/>
                                          </p:stCondLst>
                                        </p:cTn>
                                        <p:tgtEl>
                                          <p:spTgt spid="9"/>
                                        </p:tgtEl>
                                      </p:cBhvr>
                                      <p:to x="100000" y="100000"/>
                                    </p:animScale>
                                    <p:animScale>
                                      <p:cBhvr>
                                        <p:cTn id="51" dur="26">
                                          <p:stCondLst>
                                            <p:cond delay="1312"/>
                                          </p:stCondLst>
                                        </p:cTn>
                                        <p:tgtEl>
                                          <p:spTgt spid="9"/>
                                        </p:tgtEl>
                                      </p:cBhvr>
                                      <p:to x="100000" y="80000"/>
                                    </p:animScale>
                                    <p:animScale>
                                      <p:cBhvr>
                                        <p:cTn id="52" dur="166" decel="50000">
                                          <p:stCondLst>
                                            <p:cond delay="1338"/>
                                          </p:stCondLst>
                                        </p:cTn>
                                        <p:tgtEl>
                                          <p:spTgt spid="9"/>
                                        </p:tgtEl>
                                      </p:cBhvr>
                                      <p:to x="100000" y="100000"/>
                                    </p:animScale>
                                    <p:animScale>
                                      <p:cBhvr>
                                        <p:cTn id="53" dur="26">
                                          <p:stCondLst>
                                            <p:cond delay="1642"/>
                                          </p:stCondLst>
                                        </p:cTn>
                                        <p:tgtEl>
                                          <p:spTgt spid="9"/>
                                        </p:tgtEl>
                                      </p:cBhvr>
                                      <p:to x="100000" y="90000"/>
                                    </p:animScale>
                                    <p:animScale>
                                      <p:cBhvr>
                                        <p:cTn id="54" dur="166" decel="50000">
                                          <p:stCondLst>
                                            <p:cond delay="1668"/>
                                          </p:stCondLst>
                                        </p:cTn>
                                        <p:tgtEl>
                                          <p:spTgt spid="9"/>
                                        </p:tgtEl>
                                      </p:cBhvr>
                                      <p:to x="100000" y="100000"/>
                                    </p:animScale>
                                    <p:animScale>
                                      <p:cBhvr>
                                        <p:cTn id="55" dur="26">
                                          <p:stCondLst>
                                            <p:cond delay="1808"/>
                                          </p:stCondLst>
                                        </p:cTn>
                                        <p:tgtEl>
                                          <p:spTgt spid="9"/>
                                        </p:tgtEl>
                                      </p:cBhvr>
                                      <p:to x="100000" y="95000"/>
                                    </p:animScale>
                                    <p:animScale>
                                      <p:cBhvr>
                                        <p:cTn id="56" dur="166" decel="50000">
                                          <p:stCondLst>
                                            <p:cond delay="1834"/>
                                          </p:stCondLst>
                                        </p:cTn>
                                        <p:tgtEl>
                                          <p:spTgt spid="9"/>
                                        </p:tgtEl>
                                      </p:cBhvr>
                                      <p:to x="100000" y="100000"/>
                                    </p:animScale>
                                  </p:childTnLst>
                                </p:cTn>
                              </p:par>
                            </p:childTnLst>
                          </p:cTn>
                        </p:par>
                      </p:childTnLst>
                    </p:cTn>
                  </p:par>
                  <p:par>
                    <p:cTn id="57" fill="hold">
                      <p:stCondLst>
                        <p:cond delay="indefinite"/>
                      </p:stCondLst>
                      <p:childTnLst>
                        <p:par>
                          <p:cTn id="58" fill="hold">
                            <p:stCondLst>
                              <p:cond delay="0"/>
                            </p:stCondLst>
                            <p:childTnLst>
                              <p:par>
                                <p:cTn id="59" presetID="22" presetClass="entr" presetSubtype="8" fill="hold" nodeType="clickEffect">
                                  <p:stCondLst>
                                    <p:cond delay="0"/>
                                  </p:stCondLst>
                                  <p:childTnLst>
                                    <p:set>
                                      <p:cBhvr>
                                        <p:cTn id="60" dur="1" fill="hold">
                                          <p:stCondLst>
                                            <p:cond delay="0"/>
                                          </p:stCondLst>
                                        </p:cTn>
                                        <p:tgtEl>
                                          <p:spTgt spid="2">
                                            <p:txEl>
                                              <p:pRg st="0" end="0"/>
                                            </p:txEl>
                                          </p:spTgt>
                                        </p:tgtEl>
                                        <p:attrNameLst>
                                          <p:attrName>style.visibility</p:attrName>
                                        </p:attrNameLst>
                                      </p:cBhvr>
                                      <p:to>
                                        <p:strVal val="visible"/>
                                      </p:to>
                                    </p:set>
                                    <p:animEffect transition="in" filter="wipe(left)">
                                      <p:cBhvr>
                                        <p:cTn id="61" dur="500"/>
                                        <p:tgtEl>
                                          <p:spTgt spid="2">
                                            <p:txEl>
                                              <p:pRg st="0" end="0"/>
                                            </p:txEl>
                                          </p:spTgt>
                                        </p:tgtEl>
                                      </p:cBhvr>
                                    </p:animEffect>
                                  </p:childTnLst>
                                </p:cTn>
                              </p:par>
                            </p:childTnLst>
                          </p:cTn>
                        </p:par>
                      </p:childTnLst>
                    </p:cTn>
                  </p:par>
                  <p:par>
                    <p:cTn id="62" fill="hold">
                      <p:stCondLst>
                        <p:cond delay="indefinite"/>
                      </p:stCondLst>
                      <p:childTnLst>
                        <p:par>
                          <p:cTn id="63" fill="hold">
                            <p:stCondLst>
                              <p:cond delay="0"/>
                            </p:stCondLst>
                            <p:childTnLst>
                              <p:par>
                                <p:cTn id="64" presetID="22" presetClass="entr" presetSubtype="8" fill="hold" nodeType="clickEffect">
                                  <p:stCondLst>
                                    <p:cond delay="0"/>
                                  </p:stCondLst>
                                  <p:childTnLst>
                                    <p:set>
                                      <p:cBhvr>
                                        <p:cTn id="65" dur="1" fill="hold">
                                          <p:stCondLst>
                                            <p:cond delay="0"/>
                                          </p:stCondLst>
                                        </p:cTn>
                                        <p:tgtEl>
                                          <p:spTgt spid="2">
                                            <p:txEl>
                                              <p:pRg st="1" end="1"/>
                                            </p:txEl>
                                          </p:spTgt>
                                        </p:tgtEl>
                                        <p:attrNameLst>
                                          <p:attrName>style.visibility</p:attrName>
                                        </p:attrNameLst>
                                      </p:cBhvr>
                                      <p:to>
                                        <p:strVal val="visible"/>
                                      </p:to>
                                    </p:set>
                                    <p:animEffect transition="in" filter="wipe(left)">
                                      <p:cBhvr>
                                        <p:cTn id="66"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7190" grpId="0"/>
      <p:bldP spid="7194" grpId="0"/>
      <p:bldP spid="9"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Rectangle 3"/>
          <p:cNvSpPr>
            <a:spLocks noGrp="1" noChangeArrowheads="1"/>
          </p:cNvSpPr>
          <p:nvPr>
            <p:ph idx="1"/>
          </p:nvPr>
        </p:nvSpPr>
        <p:spPr>
          <a:xfrm>
            <a:off x="828727" y="1628800"/>
            <a:ext cx="9382073" cy="4760168"/>
          </a:xfrm>
        </p:spPr>
        <p:txBody>
          <a:bodyPr>
            <a:normAutofit/>
          </a:bodyPr>
          <a:lstStyle/>
          <a:p>
            <a:pPr>
              <a:lnSpc>
                <a:spcPct val="110000"/>
              </a:lnSpc>
            </a:pPr>
            <a:r>
              <a:rPr lang="zh-CN" altLang="en-US" sz="3200" b="1" dirty="0">
                <a:solidFill>
                  <a:srgbClr val="CC00FF"/>
                </a:solidFill>
                <a:ea typeface="宋体" panose="02010600030101010101" pitchFamily="2" charset="-122"/>
              </a:rPr>
              <a:t>如果尝试消除这些概念的模糊性，怎样呢？</a:t>
            </a:r>
            <a:endParaRPr lang="en-US" altLang="zh-CN" sz="3200" b="1" dirty="0">
              <a:solidFill>
                <a:srgbClr val="CC00FF"/>
              </a:solidFill>
              <a:ea typeface="宋体" panose="02010600030101010101" pitchFamily="2" charset="-122"/>
            </a:endParaRPr>
          </a:p>
          <a:p>
            <a:pPr lvl="1">
              <a:lnSpc>
                <a:spcPct val="110000"/>
              </a:lnSpc>
            </a:pPr>
            <a:r>
              <a:rPr lang="zh-CN" altLang="en-US" sz="3200" b="1" dirty="0">
                <a:solidFill>
                  <a:schemeClr val="tx2"/>
                </a:solidFill>
                <a:effectLst>
                  <a:outerShdw blurRad="38100" dist="38100" dir="2700000" algn="tl">
                    <a:srgbClr val="000000">
                      <a:alpha val="43137"/>
                    </a:srgbClr>
                  </a:outerShdw>
                </a:effectLst>
              </a:rPr>
              <a:t>若规定沙堆只能由</a:t>
            </a:r>
            <a:r>
              <a:rPr lang="en-US" altLang="zh-CN" sz="3200" b="1" dirty="0">
                <a:solidFill>
                  <a:schemeClr val="tx2"/>
                </a:solidFill>
                <a:effectLst>
                  <a:outerShdw blurRad="38100" dist="38100" dir="2700000" algn="tl">
                    <a:srgbClr val="000000">
                      <a:alpha val="43137"/>
                    </a:srgbClr>
                  </a:outerShdw>
                </a:effectLst>
              </a:rPr>
              <a:t>10000</a:t>
            </a:r>
            <a:r>
              <a:rPr lang="zh-CN" altLang="en-US" sz="3200" b="1" dirty="0">
                <a:solidFill>
                  <a:schemeClr val="tx2"/>
                </a:solidFill>
                <a:effectLst>
                  <a:outerShdw blurRad="38100" dist="38100" dir="2700000" algn="tl">
                    <a:srgbClr val="000000">
                      <a:alpha val="43137"/>
                    </a:srgbClr>
                  </a:outerShdw>
                </a:effectLst>
              </a:rPr>
              <a:t>粒以上的沙子组成，“沙堆”这个概念的模糊性就消除了。</a:t>
            </a:r>
            <a:endParaRPr lang="en-US" altLang="zh-CN" sz="3200" b="1" dirty="0">
              <a:solidFill>
                <a:schemeClr val="tx2"/>
              </a:solidFill>
              <a:effectLst>
                <a:outerShdw blurRad="38100" dist="38100" dir="2700000" algn="tl">
                  <a:srgbClr val="000000">
                    <a:alpha val="43137"/>
                  </a:srgbClr>
                </a:outerShdw>
              </a:effectLst>
            </a:endParaRPr>
          </a:p>
          <a:p>
            <a:pPr lvl="1">
              <a:lnSpc>
                <a:spcPct val="110000"/>
              </a:lnSpc>
            </a:pPr>
            <a:r>
              <a:rPr lang="en-US" altLang="zh-CN" sz="3200" b="1" dirty="0">
                <a:solidFill>
                  <a:srgbClr val="3333FF"/>
                </a:solidFill>
                <a:effectLst>
                  <a:outerShdw blurRad="38100" dist="38100" dir="2700000" algn="tl">
                    <a:srgbClr val="000000">
                      <a:alpha val="43137"/>
                    </a:srgbClr>
                  </a:outerShdw>
                </a:effectLst>
              </a:rPr>
              <a:t>10000</a:t>
            </a:r>
            <a:r>
              <a:rPr lang="zh-CN" altLang="en-US" sz="3200" b="1" dirty="0">
                <a:solidFill>
                  <a:srgbClr val="3333FF"/>
                </a:solidFill>
                <a:effectLst>
                  <a:outerShdw blurRad="38100" dist="38100" dir="2700000" algn="tl">
                    <a:srgbClr val="000000">
                      <a:alpha val="43137"/>
                    </a:srgbClr>
                  </a:outerShdw>
                </a:effectLst>
              </a:rPr>
              <a:t>粒沙子组成的是沙堆，</a:t>
            </a:r>
            <a:r>
              <a:rPr lang="en-US" altLang="zh-CN" sz="3200" b="1" dirty="0">
                <a:solidFill>
                  <a:srgbClr val="3333FF"/>
                </a:solidFill>
                <a:effectLst>
                  <a:outerShdw blurRad="38100" dist="38100" dir="2700000" algn="tl">
                    <a:srgbClr val="000000">
                      <a:alpha val="43137"/>
                    </a:srgbClr>
                  </a:outerShdw>
                </a:effectLst>
              </a:rPr>
              <a:t>9999</a:t>
            </a:r>
            <a:r>
              <a:rPr lang="zh-CN" altLang="en-US" sz="3200" b="1" dirty="0">
                <a:solidFill>
                  <a:srgbClr val="3333FF"/>
                </a:solidFill>
                <a:effectLst>
                  <a:outerShdw blurRad="38100" dist="38100" dir="2700000" algn="tl">
                    <a:srgbClr val="000000">
                      <a:alpha val="43137"/>
                    </a:srgbClr>
                  </a:outerShdw>
                </a:effectLst>
              </a:rPr>
              <a:t>粒沙子组成的不是沙堆：</a:t>
            </a:r>
            <a:endParaRPr lang="en-US" altLang="zh-CN" sz="3200" b="1" dirty="0">
              <a:solidFill>
                <a:srgbClr val="3333FF"/>
              </a:solidFill>
              <a:effectLst>
                <a:outerShdw blurRad="38100" dist="38100" dir="2700000" algn="tl">
                  <a:srgbClr val="000000">
                    <a:alpha val="43137"/>
                  </a:srgbClr>
                </a:outerShdw>
              </a:effectLst>
            </a:endParaRPr>
          </a:p>
          <a:p>
            <a:pPr lvl="1">
              <a:lnSpc>
                <a:spcPct val="110000"/>
              </a:lnSpc>
            </a:pPr>
            <a:r>
              <a:rPr lang="zh-CN" altLang="en-US" sz="3200" b="1" dirty="0">
                <a:solidFill>
                  <a:schemeClr val="tx2"/>
                </a:solidFill>
              </a:rPr>
              <a:t>但仅仅取走微不足道的一粒沙子，就将</a:t>
            </a:r>
            <a:r>
              <a:rPr lang="en-US" altLang="zh-CN" sz="3200" b="1" dirty="0">
                <a:solidFill>
                  <a:schemeClr val="tx2"/>
                </a:solidFill>
              </a:rPr>
              <a:t>”</a:t>
            </a:r>
            <a:r>
              <a:rPr lang="zh-CN" altLang="en-US" sz="3200" b="1" dirty="0">
                <a:solidFill>
                  <a:schemeClr val="tx2"/>
                </a:solidFill>
              </a:rPr>
              <a:t>沙堆”变为“非沙堆”，这又</a:t>
            </a:r>
            <a:r>
              <a:rPr lang="zh-CN" altLang="en-US" sz="3200" b="1" dirty="0">
                <a:solidFill>
                  <a:srgbClr val="FF0000"/>
                </a:solidFill>
              </a:rPr>
              <a:t>不符合</a:t>
            </a:r>
            <a:r>
              <a:rPr lang="zh-CN" altLang="en-US" sz="3200" b="1" dirty="0">
                <a:solidFill>
                  <a:schemeClr val="tx2"/>
                </a:solidFill>
              </a:rPr>
              <a:t>我们日常生活中的思维习惯</a:t>
            </a:r>
            <a:r>
              <a:rPr lang="en-US" altLang="zh-CN" sz="3200" b="1" dirty="0">
                <a:solidFill>
                  <a:schemeClr val="tx2"/>
                </a:solidFill>
              </a:rPr>
              <a:t>.</a:t>
            </a:r>
            <a:endParaRPr lang="en-US" altLang="zh-CN" sz="3200" b="1" dirty="0">
              <a:solidFill>
                <a:srgbClr val="CC00FF"/>
              </a:solidFill>
              <a:ea typeface="宋体" panose="02010600030101010101" pitchFamily="2" charset="-122"/>
            </a:endParaRPr>
          </a:p>
        </p:txBody>
      </p:sp>
      <p:sp>
        <p:nvSpPr>
          <p:cNvPr id="9221" name="Rectangle 5"/>
          <p:cNvSpPr>
            <a:spLocks noChangeArrowheads="1"/>
          </p:cNvSpPr>
          <p:nvPr/>
        </p:nvSpPr>
        <p:spPr bwMode="white">
          <a:xfrm>
            <a:off x="1524000" y="2825234"/>
            <a:ext cx="91440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graphicFrame>
        <p:nvGraphicFramePr>
          <p:cNvPr id="9220" name="Object 4"/>
          <p:cNvGraphicFramePr>
            <a:graphicFrameLocks noChangeAspect="1"/>
          </p:cNvGraphicFramePr>
          <p:nvPr/>
        </p:nvGraphicFramePr>
        <p:xfrm>
          <a:off x="8916042" y="737651"/>
          <a:ext cx="2940597" cy="1941879"/>
        </p:xfrm>
        <a:graphic>
          <a:graphicData uri="http://schemas.openxmlformats.org/presentationml/2006/ole">
            <mc:AlternateContent xmlns:mc="http://schemas.openxmlformats.org/markup-compatibility/2006">
              <mc:Choice xmlns:v="urn:schemas-microsoft-com:vml" Requires="v">
                <p:oleObj r:id="rId2" imgW="5410200" imgH="689187" progId="Visio.Drawing.11">
                  <p:embed/>
                </p:oleObj>
              </mc:Choice>
              <mc:Fallback>
                <p:oleObj r:id="rId2" imgW="5410200" imgH="689187" progId="Visio.Drawing.11">
                  <p:embed/>
                  <p:pic>
                    <p:nvPicPr>
                      <p:cNvPr id="9220" name="Object 4"/>
                      <p:cNvPicPr>
                        <a:picLocks noChangeAspect="1" noChangeArrowheads="1"/>
                      </p:cNvPicPr>
                      <p:nvPr/>
                    </p:nvPicPr>
                    <p:blipFill>
                      <a:blip r:embed="rId3">
                        <a:extLst>
                          <a:ext uri="{28A0092B-C50C-407E-A947-70E740481C1C}">
                            <a14:useLocalDpi xmlns:a14="http://schemas.microsoft.com/office/drawing/2010/main" val="0"/>
                          </a:ext>
                        </a:extLst>
                      </a:blip>
                      <a:srcRect l="4504" r="72882"/>
                      <a:stretch>
                        <a:fillRect/>
                      </a:stretch>
                    </p:blipFill>
                    <p:spPr bwMode="auto">
                      <a:xfrm>
                        <a:off x="8916042" y="737651"/>
                        <a:ext cx="2940597" cy="1941879"/>
                      </a:xfrm>
                      <a:prstGeom prst="rect">
                        <a:avLst/>
                      </a:prstGeom>
                      <a:noFill/>
                    </p:spPr>
                  </p:pic>
                </p:oleObj>
              </mc:Fallback>
            </mc:AlternateContent>
          </a:graphicData>
        </a:graphic>
      </p:graphicFrame>
      <p:sp>
        <p:nvSpPr>
          <p:cNvPr id="9224" name="WordArt 8"/>
          <p:cNvSpPr>
            <a:spLocks noChangeArrowheads="1" noChangeShapeType="1" noTextEdit="1"/>
          </p:cNvSpPr>
          <p:nvPr/>
        </p:nvSpPr>
        <p:spPr bwMode="white">
          <a:xfrm>
            <a:off x="11039423" y="882921"/>
            <a:ext cx="647700" cy="908943"/>
          </a:xfrm>
          <a:prstGeom prst="rect">
            <a:avLst/>
          </a:prstGeom>
          <a:extLst>
            <a:ext uri="{91240B29-F687-4F45-9708-019B960494DF}">
              <a14:hiddenLine xmlns:a14="http://schemas.microsoft.com/office/drawing/2010/main" w="9525">
                <a:solidFill>
                  <a:srgbClr val="000000"/>
                </a:solidFill>
                <a:round/>
                <a:headEnd/>
                <a:tailEnd/>
              </a14:hiddenLine>
            </a:ext>
          </a:extLst>
        </p:spPr>
        <p:txBody>
          <a:bodyPr wrap="none" fromWordArt="1">
            <a:prstTxWarp prst="textPlain">
              <a:avLst>
                <a:gd name="adj" fmla="val 50000"/>
              </a:avLst>
            </a:prstTxWarp>
          </a:bodyPr>
          <a:lstStyle/>
          <a:p>
            <a:r>
              <a:rPr lang="zh-CN" altLang="en-US" sz="3600" kern="10" dirty="0">
                <a:gradFill rotWithShape="0">
                  <a:gsLst>
                    <a:gs pos="0">
                      <a:srgbClr val="FFFF00"/>
                    </a:gs>
                    <a:gs pos="100000">
                      <a:srgbClr val="FF9933"/>
                    </a:gs>
                  </a:gsLst>
                  <a:path path="rect">
                    <a:fillToRect l="50000" t="50000" r="50000" b="50000"/>
                  </a:path>
                </a:gradFill>
                <a:effectLst>
                  <a:outerShdw dist="35921" dir="2700000" algn="ctr" rotWithShape="0">
                    <a:srgbClr val="C0C0C0">
                      <a:alpha val="80000"/>
                    </a:srgbClr>
                  </a:outerShdw>
                </a:effectLst>
                <a:latin typeface="宋体" panose="02010600030101010101" pitchFamily="2" charset="-122"/>
              </a:rPr>
              <a:t>？</a:t>
            </a:r>
          </a:p>
        </p:txBody>
      </p:sp>
      <p:sp>
        <p:nvSpPr>
          <p:cNvPr id="9" name="Rectangle 2"/>
          <p:cNvSpPr txBox="1">
            <a:spLocks noChangeArrowheads="1"/>
          </p:cNvSpPr>
          <p:nvPr/>
        </p:nvSpPr>
        <p:spPr bwMode="auto">
          <a:xfrm>
            <a:off x="1748133" y="257200"/>
            <a:ext cx="8229600" cy="1371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4400">
                <a:solidFill>
                  <a:schemeClr val="tx1"/>
                </a:solidFill>
                <a:latin typeface="+mj-lt"/>
                <a:ea typeface="+mj-ea"/>
                <a:cs typeface="+mj-cs"/>
              </a:defRPr>
            </a:lvl1pPr>
            <a:lvl2pPr algn="l" rtl="0" eaLnBrk="0" fontAlgn="base" hangingPunct="0">
              <a:spcBef>
                <a:spcPct val="0"/>
              </a:spcBef>
              <a:spcAft>
                <a:spcPct val="0"/>
              </a:spcAft>
              <a:defRPr sz="4400">
                <a:solidFill>
                  <a:schemeClr val="tx1"/>
                </a:solidFill>
                <a:latin typeface="Arial" charset="0"/>
                <a:ea typeface="黑体" pitchFamily="49" charset="-122"/>
              </a:defRPr>
            </a:lvl2pPr>
            <a:lvl3pPr algn="l" rtl="0" eaLnBrk="0" fontAlgn="base" hangingPunct="0">
              <a:spcBef>
                <a:spcPct val="0"/>
              </a:spcBef>
              <a:spcAft>
                <a:spcPct val="0"/>
              </a:spcAft>
              <a:defRPr sz="4400">
                <a:solidFill>
                  <a:schemeClr val="tx1"/>
                </a:solidFill>
                <a:latin typeface="Arial" charset="0"/>
                <a:ea typeface="黑体" pitchFamily="49" charset="-122"/>
              </a:defRPr>
            </a:lvl3pPr>
            <a:lvl4pPr algn="l" rtl="0" eaLnBrk="0" fontAlgn="base" hangingPunct="0">
              <a:spcBef>
                <a:spcPct val="0"/>
              </a:spcBef>
              <a:spcAft>
                <a:spcPct val="0"/>
              </a:spcAft>
              <a:defRPr sz="4400">
                <a:solidFill>
                  <a:schemeClr val="tx1"/>
                </a:solidFill>
                <a:latin typeface="Arial" charset="0"/>
                <a:ea typeface="黑体" pitchFamily="49" charset="-122"/>
              </a:defRPr>
            </a:lvl4pPr>
            <a:lvl5pPr algn="l" rtl="0" eaLnBrk="0" fontAlgn="base" hangingPunct="0">
              <a:spcBef>
                <a:spcPct val="0"/>
              </a:spcBef>
              <a:spcAft>
                <a:spcPct val="0"/>
              </a:spcAft>
              <a:defRPr sz="4400">
                <a:solidFill>
                  <a:schemeClr val="tx1"/>
                </a:solidFill>
                <a:latin typeface="Arial" charset="0"/>
                <a:ea typeface="黑体" pitchFamily="49" charset="-122"/>
              </a:defRPr>
            </a:lvl5pPr>
            <a:lvl6pPr marL="457200" algn="l" rtl="0" fontAlgn="base">
              <a:spcBef>
                <a:spcPct val="0"/>
              </a:spcBef>
              <a:spcAft>
                <a:spcPct val="0"/>
              </a:spcAft>
              <a:defRPr sz="4400">
                <a:solidFill>
                  <a:schemeClr val="tx1"/>
                </a:solidFill>
                <a:latin typeface="Arial" charset="0"/>
                <a:ea typeface="宋体" pitchFamily="2" charset="-122"/>
              </a:defRPr>
            </a:lvl6pPr>
            <a:lvl7pPr marL="914400" algn="l" rtl="0" fontAlgn="base">
              <a:spcBef>
                <a:spcPct val="0"/>
              </a:spcBef>
              <a:spcAft>
                <a:spcPct val="0"/>
              </a:spcAft>
              <a:defRPr sz="4400">
                <a:solidFill>
                  <a:schemeClr val="tx1"/>
                </a:solidFill>
                <a:latin typeface="Arial" charset="0"/>
                <a:ea typeface="宋体" pitchFamily="2" charset="-122"/>
              </a:defRPr>
            </a:lvl7pPr>
            <a:lvl8pPr marL="1371600" algn="l" rtl="0" fontAlgn="base">
              <a:spcBef>
                <a:spcPct val="0"/>
              </a:spcBef>
              <a:spcAft>
                <a:spcPct val="0"/>
              </a:spcAft>
              <a:defRPr sz="4400">
                <a:solidFill>
                  <a:schemeClr val="tx1"/>
                </a:solidFill>
                <a:latin typeface="Arial" charset="0"/>
                <a:ea typeface="宋体" pitchFamily="2" charset="-122"/>
              </a:defRPr>
            </a:lvl8pPr>
            <a:lvl9pPr marL="1828800" algn="l" rtl="0" fontAlgn="base">
              <a:spcBef>
                <a:spcPct val="0"/>
              </a:spcBef>
              <a:spcAft>
                <a:spcPct val="0"/>
              </a:spcAft>
              <a:defRPr sz="4400">
                <a:solidFill>
                  <a:schemeClr val="tx1"/>
                </a:solidFill>
                <a:latin typeface="Arial" charset="0"/>
                <a:ea typeface="宋体" pitchFamily="2" charset="-122"/>
              </a:defRPr>
            </a:lvl9pPr>
          </a:lstStyle>
          <a:p>
            <a:pPr algn="ctr"/>
            <a:r>
              <a:rPr lang="zh-CN" altLang="en-US" kern="0" dirty="0">
                <a:solidFill>
                  <a:srgbClr val="008000"/>
                </a:solidFill>
                <a:latin typeface="黑体" panose="02010609060101010101" pitchFamily="49" charset="-122"/>
                <a:ea typeface="黑体" panose="02010609060101010101" pitchFamily="49" charset="-122"/>
              </a:rPr>
              <a:t>为什么需要模糊</a:t>
            </a:r>
            <a:r>
              <a:rPr lang="zh-CN" altLang="en-US" dirty="0">
                <a:solidFill>
                  <a:srgbClr val="008000"/>
                </a:solidFill>
                <a:latin typeface="黑体" panose="02010609060101010101" pitchFamily="49" charset="-122"/>
                <a:ea typeface="黑体" panose="02010609060101010101" pitchFamily="49" charset="-122"/>
              </a:rPr>
              <a:t>数学</a:t>
            </a:r>
            <a:endParaRPr lang="zh-CN" altLang="en-US" kern="0" dirty="0">
              <a:latin typeface="黑体" panose="02010609060101010101" pitchFamily="49" charset="-122"/>
              <a:ea typeface="黑体" panose="02010609060101010101" pitchFamily="49" charset="-122"/>
            </a:endParaRPr>
          </a:p>
        </p:txBody>
      </p:sp>
      <p:sp>
        <p:nvSpPr>
          <p:cNvPr id="3" name="文本框 2">
            <a:extLst>
              <a:ext uri="{FF2B5EF4-FFF2-40B4-BE49-F238E27FC236}">
                <a16:creationId xmlns:a16="http://schemas.microsoft.com/office/drawing/2014/main" id="{212592DC-8CA5-3150-9993-310FB45E980F}"/>
              </a:ext>
            </a:extLst>
          </p:cNvPr>
          <p:cNvSpPr txBox="1"/>
          <p:nvPr/>
        </p:nvSpPr>
        <p:spPr>
          <a:xfrm>
            <a:off x="4007768" y="3978700"/>
            <a:ext cx="5045786" cy="596061"/>
          </a:xfrm>
          <a:prstGeom prst="rect">
            <a:avLst/>
          </a:prstGeom>
          <a:noFill/>
        </p:spPr>
        <p:txBody>
          <a:bodyPr wrap="square">
            <a:spAutoFit/>
          </a:bodyPr>
          <a:lstStyle/>
          <a:p>
            <a:pPr>
              <a:lnSpc>
                <a:spcPct val="110000"/>
              </a:lnSpc>
            </a:pPr>
            <a:r>
              <a:rPr lang="zh-CN" altLang="en-US" sz="3200" b="1" dirty="0">
                <a:solidFill>
                  <a:srgbClr val="FF0000"/>
                </a:solidFill>
                <a:effectLst>
                  <a:outerShdw blurRad="38100" dist="38100" dir="2700000" algn="tl">
                    <a:srgbClr val="000000">
                      <a:alpha val="43137"/>
                    </a:srgbClr>
                  </a:outerShdw>
                </a:effectLst>
                <a:latin typeface="华文中宋" panose="02010600040101010101" pitchFamily="2" charset="-122"/>
                <a:ea typeface="华文中宋" panose="02010600040101010101" pitchFamily="2" charset="-122"/>
              </a:rPr>
              <a:t>这在数学上没有任何问题。</a:t>
            </a:r>
            <a:endParaRPr lang="en-US" altLang="zh-CN" sz="3200" b="1" dirty="0">
              <a:solidFill>
                <a:srgbClr val="FF0000"/>
              </a:solidFill>
              <a:latin typeface="华文中宋" panose="02010600040101010101" pitchFamily="2" charset="-122"/>
              <a:ea typeface="华文中宋" panose="02010600040101010101" pitchFamily="2" charset="-122"/>
            </a:endParaRPr>
          </a:p>
        </p:txBody>
      </p:sp>
    </p:spTree>
    <p:extLst>
      <p:ext uri="{BB962C8B-B14F-4D97-AF65-F5344CB8AC3E}">
        <p14:creationId xmlns:p14="http://schemas.microsoft.com/office/powerpoint/2010/main" val="31854733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219">
                                            <p:txEl>
                                              <p:pRg st="0" end="0"/>
                                            </p:txEl>
                                          </p:spTgt>
                                        </p:tgtEl>
                                        <p:attrNameLst>
                                          <p:attrName>style.visibility</p:attrName>
                                        </p:attrNameLst>
                                      </p:cBhvr>
                                      <p:to>
                                        <p:strVal val="visible"/>
                                      </p:to>
                                    </p:set>
                                    <p:animEffect transition="in" filter="wipe(left)">
                                      <p:cBhvr>
                                        <p:cTn id="7" dur="500"/>
                                        <p:tgtEl>
                                          <p:spTgt spid="921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9219">
                                            <p:txEl>
                                              <p:pRg st="1" end="1"/>
                                            </p:txEl>
                                          </p:spTgt>
                                        </p:tgtEl>
                                        <p:attrNameLst>
                                          <p:attrName>style.visibility</p:attrName>
                                        </p:attrNameLst>
                                      </p:cBhvr>
                                      <p:to>
                                        <p:strVal val="visible"/>
                                      </p:to>
                                    </p:set>
                                    <p:animEffect transition="in" filter="wipe(left)">
                                      <p:cBhvr>
                                        <p:cTn id="12" dur="500"/>
                                        <p:tgtEl>
                                          <p:spTgt spid="921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9219">
                                            <p:txEl>
                                              <p:pRg st="2" end="2"/>
                                            </p:txEl>
                                          </p:spTgt>
                                        </p:tgtEl>
                                        <p:attrNameLst>
                                          <p:attrName>style.visibility</p:attrName>
                                        </p:attrNameLst>
                                      </p:cBhvr>
                                      <p:to>
                                        <p:strVal val="visible"/>
                                      </p:to>
                                    </p:set>
                                    <p:animEffect transition="in" filter="wipe(left)">
                                      <p:cBhvr>
                                        <p:cTn id="17" dur="500"/>
                                        <p:tgtEl>
                                          <p:spTgt spid="9219">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42" presetClass="entr" presetSubtype="0" fill="hold" grpId="0"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fade">
                                      <p:cBhvr>
                                        <p:cTn id="22" dur="1000"/>
                                        <p:tgtEl>
                                          <p:spTgt spid="3"/>
                                        </p:tgtEl>
                                      </p:cBhvr>
                                    </p:animEffect>
                                    <p:anim calcmode="lin" valueType="num">
                                      <p:cBhvr>
                                        <p:cTn id="23" dur="1000" fill="hold"/>
                                        <p:tgtEl>
                                          <p:spTgt spid="3"/>
                                        </p:tgtEl>
                                        <p:attrNameLst>
                                          <p:attrName>ppt_x</p:attrName>
                                        </p:attrNameLst>
                                      </p:cBhvr>
                                      <p:tavLst>
                                        <p:tav tm="0">
                                          <p:val>
                                            <p:strVal val="#ppt_x"/>
                                          </p:val>
                                        </p:tav>
                                        <p:tav tm="100000">
                                          <p:val>
                                            <p:strVal val="#ppt_x"/>
                                          </p:val>
                                        </p:tav>
                                      </p:tavLst>
                                    </p:anim>
                                    <p:anim calcmode="lin" valueType="num">
                                      <p:cBhvr>
                                        <p:cTn id="24"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grpId="0" nodeType="clickEffect">
                                  <p:stCondLst>
                                    <p:cond delay="0"/>
                                  </p:stCondLst>
                                  <p:childTnLst>
                                    <p:set>
                                      <p:cBhvr>
                                        <p:cTn id="28" dur="1" fill="hold">
                                          <p:stCondLst>
                                            <p:cond delay="0"/>
                                          </p:stCondLst>
                                        </p:cTn>
                                        <p:tgtEl>
                                          <p:spTgt spid="9219">
                                            <p:txEl>
                                              <p:pRg st="3" end="3"/>
                                            </p:txEl>
                                          </p:spTgt>
                                        </p:tgtEl>
                                        <p:attrNameLst>
                                          <p:attrName>style.visibility</p:attrName>
                                        </p:attrNameLst>
                                      </p:cBhvr>
                                      <p:to>
                                        <p:strVal val="visible"/>
                                      </p:to>
                                    </p:set>
                                    <p:animEffect transition="in" filter="wipe(left)">
                                      <p:cBhvr>
                                        <p:cTn id="29" dur="500"/>
                                        <p:tgtEl>
                                          <p:spTgt spid="9219">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19" grpId="0" uiExpand="1" build="p"/>
      <p:bldP spid="3"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Rectangle 3"/>
          <p:cNvSpPr>
            <a:spLocks noGrp="1" noChangeArrowheads="1"/>
          </p:cNvSpPr>
          <p:nvPr>
            <p:ph idx="1"/>
          </p:nvPr>
        </p:nvSpPr>
        <p:spPr>
          <a:xfrm>
            <a:off x="1055440" y="1412776"/>
            <a:ext cx="9937104" cy="5445224"/>
          </a:xfrm>
        </p:spPr>
        <p:txBody>
          <a:bodyPr>
            <a:normAutofit fontScale="92500" lnSpcReduction="10000"/>
          </a:bodyPr>
          <a:lstStyle/>
          <a:p>
            <a:pPr>
              <a:lnSpc>
                <a:spcPct val="110000"/>
              </a:lnSpc>
            </a:pPr>
            <a:r>
              <a:rPr lang="zh-CN" altLang="en-US" sz="3200" b="1" dirty="0">
                <a:latin typeface="+mj-ea"/>
                <a:ea typeface="+mj-ea"/>
              </a:rPr>
              <a:t>在企图用数学处理生活中的问题时，精确的数学语言和模糊的思维习惯产生了</a:t>
            </a:r>
            <a:r>
              <a:rPr lang="zh-CN" altLang="en-US" sz="3200" b="1" dirty="0">
                <a:solidFill>
                  <a:srgbClr val="FF0000"/>
                </a:solidFill>
                <a:latin typeface="+mj-ea"/>
                <a:ea typeface="+mj-ea"/>
              </a:rPr>
              <a:t>矛盾</a:t>
            </a:r>
            <a:r>
              <a:rPr lang="zh-CN" altLang="en-US" sz="3200" b="1" dirty="0">
                <a:latin typeface="+mj-ea"/>
                <a:ea typeface="+mj-ea"/>
              </a:rPr>
              <a:t>。</a:t>
            </a:r>
            <a:endParaRPr lang="en-US" altLang="zh-CN" sz="3200" b="1" dirty="0">
              <a:latin typeface="+mj-ea"/>
              <a:ea typeface="+mj-ea"/>
            </a:endParaRPr>
          </a:p>
          <a:p>
            <a:pPr lvl="1">
              <a:lnSpc>
                <a:spcPct val="110000"/>
              </a:lnSpc>
            </a:pPr>
            <a:r>
              <a:rPr lang="zh-CN" altLang="en-US" sz="3200" b="1" dirty="0"/>
              <a:t>传统的数学方法常常试图进行精确定义，</a:t>
            </a:r>
            <a:endParaRPr lang="en-US" altLang="zh-CN" sz="3200" b="1" dirty="0"/>
          </a:p>
          <a:p>
            <a:pPr lvl="1">
              <a:lnSpc>
                <a:spcPct val="110000"/>
              </a:lnSpc>
            </a:pPr>
            <a:r>
              <a:rPr lang="zh-CN" altLang="en-US" sz="3200" b="1" dirty="0"/>
              <a:t>而人关于真实世界中事物的概念往往是模糊的，没有精确的界限和定义。</a:t>
            </a:r>
            <a:endParaRPr lang="en-US" altLang="zh-CN" sz="3200" b="1" dirty="0"/>
          </a:p>
          <a:p>
            <a:pPr>
              <a:lnSpc>
                <a:spcPct val="110000"/>
              </a:lnSpc>
            </a:pPr>
            <a:r>
              <a:rPr lang="zh-CN" altLang="en-US" sz="3200" b="1" dirty="0">
                <a:solidFill>
                  <a:srgbClr val="FF0000"/>
                </a:solidFill>
              </a:rPr>
              <a:t>在处理一些问题时，</a:t>
            </a:r>
            <a:r>
              <a:rPr lang="zh-CN" altLang="en-US" sz="3200" b="1" dirty="0">
                <a:solidFill>
                  <a:srgbClr val="3333FF"/>
                </a:solidFill>
              </a:rPr>
              <a:t>精确性</a:t>
            </a:r>
            <a:r>
              <a:rPr lang="zh-CN" altLang="en-US" sz="3200" b="1" dirty="0">
                <a:solidFill>
                  <a:srgbClr val="FF0000"/>
                </a:solidFill>
              </a:rPr>
              <a:t>和</a:t>
            </a:r>
            <a:r>
              <a:rPr lang="zh-CN" altLang="en-US" sz="3200" b="1" dirty="0">
                <a:solidFill>
                  <a:srgbClr val="008000"/>
                </a:solidFill>
              </a:rPr>
              <a:t>有效性</a:t>
            </a:r>
            <a:r>
              <a:rPr lang="zh-CN" altLang="en-US" sz="3200" b="1" dirty="0">
                <a:solidFill>
                  <a:srgbClr val="FF0000"/>
                </a:solidFill>
              </a:rPr>
              <a:t>形成了矛盾，</a:t>
            </a:r>
            <a:r>
              <a:rPr lang="zh-CN" altLang="en-US" sz="3200" b="1" dirty="0"/>
              <a:t>传统数学方法变得无效，而具有模糊性的人类思维却能轻易解决。</a:t>
            </a:r>
            <a:endParaRPr lang="en-US" altLang="zh-CN" sz="3200" b="1" dirty="0"/>
          </a:p>
          <a:p>
            <a:pPr lvl="1">
              <a:lnSpc>
                <a:spcPct val="110000"/>
              </a:lnSpc>
            </a:pPr>
            <a:r>
              <a:rPr lang="zh-CN" altLang="en-US" sz="3200" dirty="0">
                <a:solidFill>
                  <a:schemeClr val="tx2"/>
                </a:solidFill>
              </a:rPr>
              <a:t>例如：</a:t>
            </a:r>
            <a:r>
              <a:rPr lang="zh-CN" altLang="en-US" sz="3200" b="1" dirty="0">
                <a:solidFill>
                  <a:srgbClr val="CC00FF"/>
                </a:solidFill>
              </a:rPr>
              <a:t>人脸识别问题。</a:t>
            </a:r>
            <a:endParaRPr lang="en-US" altLang="zh-CN" sz="3200" b="1" dirty="0">
              <a:solidFill>
                <a:srgbClr val="CC00FF"/>
              </a:solidFill>
            </a:endParaRPr>
          </a:p>
          <a:p>
            <a:pPr>
              <a:lnSpc>
                <a:spcPct val="110000"/>
              </a:lnSpc>
            </a:pPr>
            <a:r>
              <a:rPr lang="zh-CN" altLang="en-US" sz="3200" dirty="0">
                <a:solidFill>
                  <a:srgbClr val="3333FF"/>
                </a:solidFill>
                <a:latin typeface="黑体" panose="02010609060101010101" pitchFamily="49" charset="-122"/>
                <a:ea typeface="黑体" panose="02010609060101010101" pitchFamily="49" charset="-122"/>
              </a:rPr>
              <a:t>模糊数学</a:t>
            </a:r>
            <a:r>
              <a:rPr lang="zh-CN" altLang="en-US" sz="3200" dirty="0">
                <a:latin typeface="黑体" panose="02010609060101010101" pitchFamily="49" charset="-122"/>
                <a:ea typeface="黑体" panose="02010609060101010101" pitchFamily="49" charset="-122"/>
              </a:rPr>
              <a:t>就是用来解决这一矛盾的工具之一</a:t>
            </a:r>
          </a:p>
        </p:txBody>
      </p:sp>
      <p:sp>
        <p:nvSpPr>
          <p:cNvPr id="11268" name="Rectangle 4"/>
          <p:cNvSpPr>
            <a:spLocks noChangeArrowheads="1"/>
          </p:cNvSpPr>
          <p:nvPr/>
        </p:nvSpPr>
        <p:spPr bwMode="white">
          <a:xfrm>
            <a:off x="1524000" y="2825234"/>
            <a:ext cx="91440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12" name="Rectangle 2"/>
          <p:cNvSpPr txBox="1">
            <a:spLocks noChangeArrowheads="1"/>
          </p:cNvSpPr>
          <p:nvPr/>
        </p:nvSpPr>
        <p:spPr bwMode="auto">
          <a:xfrm>
            <a:off x="1981200" y="113184"/>
            <a:ext cx="8229600" cy="1371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4400">
                <a:solidFill>
                  <a:schemeClr val="tx1"/>
                </a:solidFill>
                <a:latin typeface="+mj-lt"/>
                <a:ea typeface="+mj-ea"/>
                <a:cs typeface="+mj-cs"/>
              </a:defRPr>
            </a:lvl1pPr>
            <a:lvl2pPr algn="l" rtl="0" eaLnBrk="0" fontAlgn="base" hangingPunct="0">
              <a:spcBef>
                <a:spcPct val="0"/>
              </a:spcBef>
              <a:spcAft>
                <a:spcPct val="0"/>
              </a:spcAft>
              <a:defRPr sz="4400">
                <a:solidFill>
                  <a:schemeClr val="tx1"/>
                </a:solidFill>
                <a:latin typeface="Arial" charset="0"/>
                <a:ea typeface="黑体" pitchFamily="49" charset="-122"/>
              </a:defRPr>
            </a:lvl2pPr>
            <a:lvl3pPr algn="l" rtl="0" eaLnBrk="0" fontAlgn="base" hangingPunct="0">
              <a:spcBef>
                <a:spcPct val="0"/>
              </a:spcBef>
              <a:spcAft>
                <a:spcPct val="0"/>
              </a:spcAft>
              <a:defRPr sz="4400">
                <a:solidFill>
                  <a:schemeClr val="tx1"/>
                </a:solidFill>
                <a:latin typeface="Arial" charset="0"/>
                <a:ea typeface="黑体" pitchFamily="49" charset="-122"/>
              </a:defRPr>
            </a:lvl3pPr>
            <a:lvl4pPr algn="l" rtl="0" eaLnBrk="0" fontAlgn="base" hangingPunct="0">
              <a:spcBef>
                <a:spcPct val="0"/>
              </a:spcBef>
              <a:spcAft>
                <a:spcPct val="0"/>
              </a:spcAft>
              <a:defRPr sz="4400">
                <a:solidFill>
                  <a:schemeClr val="tx1"/>
                </a:solidFill>
                <a:latin typeface="Arial" charset="0"/>
                <a:ea typeface="黑体" pitchFamily="49" charset="-122"/>
              </a:defRPr>
            </a:lvl4pPr>
            <a:lvl5pPr algn="l" rtl="0" eaLnBrk="0" fontAlgn="base" hangingPunct="0">
              <a:spcBef>
                <a:spcPct val="0"/>
              </a:spcBef>
              <a:spcAft>
                <a:spcPct val="0"/>
              </a:spcAft>
              <a:defRPr sz="4400">
                <a:solidFill>
                  <a:schemeClr val="tx1"/>
                </a:solidFill>
                <a:latin typeface="Arial" charset="0"/>
                <a:ea typeface="黑体" pitchFamily="49" charset="-122"/>
              </a:defRPr>
            </a:lvl5pPr>
            <a:lvl6pPr marL="457200" algn="l" rtl="0" fontAlgn="base">
              <a:spcBef>
                <a:spcPct val="0"/>
              </a:spcBef>
              <a:spcAft>
                <a:spcPct val="0"/>
              </a:spcAft>
              <a:defRPr sz="4400">
                <a:solidFill>
                  <a:schemeClr val="tx1"/>
                </a:solidFill>
                <a:latin typeface="Arial" charset="0"/>
                <a:ea typeface="宋体" pitchFamily="2" charset="-122"/>
              </a:defRPr>
            </a:lvl6pPr>
            <a:lvl7pPr marL="914400" algn="l" rtl="0" fontAlgn="base">
              <a:spcBef>
                <a:spcPct val="0"/>
              </a:spcBef>
              <a:spcAft>
                <a:spcPct val="0"/>
              </a:spcAft>
              <a:defRPr sz="4400">
                <a:solidFill>
                  <a:schemeClr val="tx1"/>
                </a:solidFill>
                <a:latin typeface="Arial" charset="0"/>
                <a:ea typeface="宋体" pitchFamily="2" charset="-122"/>
              </a:defRPr>
            </a:lvl7pPr>
            <a:lvl8pPr marL="1371600" algn="l" rtl="0" fontAlgn="base">
              <a:spcBef>
                <a:spcPct val="0"/>
              </a:spcBef>
              <a:spcAft>
                <a:spcPct val="0"/>
              </a:spcAft>
              <a:defRPr sz="4400">
                <a:solidFill>
                  <a:schemeClr val="tx1"/>
                </a:solidFill>
                <a:latin typeface="Arial" charset="0"/>
                <a:ea typeface="宋体" pitchFamily="2" charset="-122"/>
              </a:defRPr>
            </a:lvl8pPr>
            <a:lvl9pPr marL="1828800" algn="l" rtl="0" fontAlgn="base">
              <a:spcBef>
                <a:spcPct val="0"/>
              </a:spcBef>
              <a:spcAft>
                <a:spcPct val="0"/>
              </a:spcAft>
              <a:defRPr sz="4400">
                <a:solidFill>
                  <a:schemeClr val="tx1"/>
                </a:solidFill>
                <a:latin typeface="Arial" charset="0"/>
                <a:ea typeface="宋体" pitchFamily="2" charset="-122"/>
              </a:defRPr>
            </a:lvl9pPr>
          </a:lstStyle>
          <a:p>
            <a:pPr algn="ctr"/>
            <a:r>
              <a:rPr lang="zh-CN" altLang="en-US" kern="0" dirty="0">
                <a:solidFill>
                  <a:srgbClr val="008000"/>
                </a:solidFill>
                <a:latin typeface="黑体" panose="02010609060101010101" pitchFamily="49" charset="-122"/>
                <a:ea typeface="黑体" panose="02010609060101010101" pitchFamily="49" charset="-122"/>
              </a:rPr>
              <a:t>为什么需要模糊</a:t>
            </a:r>
            <a:r>
              <a:rPr lang="zh-CN" altLang="en-US" dirty="0">
                <a:solidFill>
                  <a:srgbClr val="008000"/>
                </a:solidFill>
                <a:latin typeface="黑体" panose="02010609060101010101" pitchFamily="49" charset="-122"/>
                <a:ea typeface="黑体" panose="02010609060101010101" pitchFamily="49" charset="-122"/>
              </a:rPr>
              <a:t>数学</a:t>
            </a:r>
            <a:endParaRPr lang="zh-CN" altLang="en-US" kern="0" dirty="0">
              <a:latin typeface="黑体" panose="02010609060101010101" pitchFamily="49" charset="-122"/>
              <a:ea typeface="黑体" panose="02010609060101010101" pitchFamily="49" charset="-122"/>
            </a:endParaRPr>
          </a:p>
        </p:txBody>
      </p:sp>
    </p:spTree>
    <p:extLst>
      <p:ext uri="{BB962C8B-B14F-4D97-AF65-F5344CB8AC3E}">
        <p14:creationId xmlns:p14="http://schemas.microsoft.com/office/powerpoint/2010/main" val="35148072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1267">
                                            <p:txEl>
                                              <p:pRg st="0" end="0"/>
                                            </p:txEl>
                                          </p:spTgt>
                                        </p:tgtEl>
                                        <p:attrNameLst>
                                          <p:attrName>style.visibility</p:attrName>
                                        </p:attrNameLst>
                                      </p:cBhvr>
                                      <p:to>
                                        <p:strVal val="visible"/>
                                      </p:to>
                                    </p:set>
                                    <p:animEffect transition="in" filter="wipe(left)">
                                      <p:cBhvr>
                                        <p:cTn id="7" dur="500"/>
                                        <p:tgtEl>
                                          <p:spTgt spid="1126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1267">
                                            <p:txEl>
                                              <p:pRg st="1" end="1"/>
                                            </p:txEl>
                                          </p:spTgt>
                                        </p:tgtEl>
                                        <p:attrNameLst>
                                          <p:attrName>style.visibility</p:attrName>
                                        </p:attrNameLst>
                                      </p:cBhvr>
                                      <p:to>
                                        <p:strVal val="visible"/>
                                      </p:to>
                                    </p:set>
                                    <p:animEffect transition="in" filter="wipe(left)">
                                      <p:cBhvr>
                                        <p:cTn id="12" dur="500"/>
                                        <p:tgtEl>
                                          <p:spTgt spid="1126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1267">
                                            <p:txEl>
                                              <p:pRg st="2" end="2"/>
                                            </p:txEl>
                                          </p:spTgt>
                                        </p:tgtEl>
                                        <p:attrNameLst>
                                          <p:attrName>style.visibility</p:attrName>
                                        </p:attrNameLst>
                                      </p:cBhvr>
                                      <p:to>
                                        <p:strVal val="visible"/>
                                      </p:to>
                                    </p:set>
                                    <p:animEffect transition="in" filter="wipe(left)">
                                      <p:cBhvr>
                                        <p:cTn id="17" dur="500"/>
                                        <p:tgtEl>
                                          <p:spTgt spid="1126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1267">
                                            <p:txEl>
                                              <p:pRg st="3" end="3"/>
                                            </p:txEl>
                                          </p:spTgt>
                                        </p:tgtEl>
                                        <p:attrNameLst>
                                          <p:attrName>style.visibility</p:attrName>
                                        </p:attrNameLst>
                                      </p:cBhvr>
                                      <p:to>
                                        <p:strVal val="visible"/>
                                      </p:to>
                                    </p:set>
                                    <p:animEffect transition="in" filter="wipe(left)">
                                      <p:cBhvr>
                                        <p:cTn id="22" dur="500"/>
                                        <p:tgtEl>
                                          <p:spTgt spid="11267">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1267">
                                            <p:txEl>
                                              <p:pRg st="4" end="4"/>
                                            </p:txEl>
                                          </p:spTgt>
                                        </p:tgtEl>
                                        <p:attrNameLst>
                                          <p:attrName>style.visibility</p:attrName>
                                        </p:attrNameLst>
                                      </p:cBhvr>
                                      <p:to>
                                        <p:strVal val="visible"/>
                                      </p:to>
                                    </p:set>
                                    <p:animEffect transition="in" filter="wipe(left)">
                                      <p:cBhvr>
                                        <p:cTn id="27" dur="500"/>
                                        <p:tgtEl>
                                          <p:spTgt spid="11267">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1267">
                                            <p:txEl>
                                              <p:pRg st="5" end="5"/>
                                            </p:txEl>
                                          </p:spTgt>
                                        </p:tgtEl>
                                        <p:attrNameLst>
                                          <p:attrName>style.visibility</p:attrName>
                                        </p:attrNameLst>
                                      </p:cBhvr>
                                      <p:to>
                                        <p:strVal val="visible"/>
                                      </p:to>
                                    </p:set>
                                    <p:animEffect transition="in" filter="wipe(left)">
                                      <p:cBhvr>
                                        <p:cTn id="32" dur="500"/>
                                        <p:tgtEl>
                                          <p:spTgt spid="11267">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7"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a:xfrm>
            <a:off x="1981200" y="116632"/>
            <a:ext cx="8229600" cy="1371600"/>
          </a:xfrm>
        </p:spPr>
        <p:txBody>
          <a:bodyPr/>
          <a:lstStyle/>
          <a:p>
            <a:pPr algn="ctr"/>
            <a:r>
              <a:rPr lang="zh-CN" altLang="en-US" dirty="0">
                <a:solidFill>
                  <a:srgbClr val="008000"/>
                </a:solidFill>
                <a:latin typeface="黑体" panose="02010609060101010101" pitchFamily="49" charset="-122"/>
                <a:ea typeface="黑体" panose="02010609060101010101" pitchFamily="49" charset="-122"/>
              </a:rPr>
              <a:t>经典二值逻辑与模糊逻辑的关系</a:t>
            </a:r>
          </a:p>
        </p:txBody>
      </p:sp>
      <p:sp>
        <p:nvSpPr>
          <p:cNvPr id="12291" name="Rectangle 3"/>
          <p:cNvSpPr>
            <a:spLocks noGrp="1" noChangeArrowheads="1"/>
          </p:cNvSpPr>
          <p:nvPr>
            <p:ph idx="1"/>
          </p:nvPr>
        </p:nvSpPr>
        <p:spPr>
          <a:xfrm>
            <a:off x="335360" y="1488232"/>
            <a:ext cx="11496600" cy="5253136"/>
          </a:xfrm>
        </p:spPr>
        <p:txBody>
          <a:bodyPr>
            <a:normAutofit/>
          </a:bodyPr>
          <a:lstStyle/>
          <a:p>
            <a:r>
              <a:rPr lang="zh-CN" altLang="en-US" sz="3200" dirty="0">
                <a:solidFill>
                  <a:srgbClr val="CC00FF"/>
                </a:solidFill>
                <a:latin typeface="黑体" panose="02010609060101010101" pitchFamily="49" charset="-122"/>
                <a:ea typeface="黑体" panose="02010609060101010101" pitchFamily="49" charset="-122"/>
              </a:rPr>
              <a:t>经典二值逻辑中</a:t>
            </a:r>
            <a:r>
              <a:rPr lang="en-US" altLang="zh-CN" sz="3200" dirty="0">
                <a:solidFill>
                  <a:srgbClr val="CC00FF"/>
                </a:solidFill>
                <a:latin typeface="黑体" panose="02010609060101010101" pitchFamily="49" charset="-122"/>
                <a:ea typeface="黑体" panose="02010609060101010101" pitchFamily="49" charset="-122"/>
              </a:rPr>
              <a:t>——</a:t>
            </a:r>
          </a:p>
          <a:p>
            <a:pPr lvl="1"/>
            <a:r>
              <a:rPr lang="zh-CN" altLang="en-US" sz="2800" b="1" dirty="0">
                <a:ea typeface="宋体" panose="02010600030101010101" pitchFamily="2" charset="-122"/>
              </a:rPr>
              <a:t>通常以</a:t>
            </a:r>
            <a:r>
              <a:rPr lang="en-US" altLang="zh-CN" sz="2800" b="1" dirty="0">
                <a:ea typeface="宋体" panose="02010600030101010101" pitchFamily="2" charset="-122"/>
              </a:rPr>
              <a:t>”0”</a:t>
            </a:r>
            <a:r>
              <a:rPr lang="zh-CN" altLang="en-US" sz="2800" b="1" dirty="0">
                <a:ea typeface="宋体" panose="02010600030101010101" pitchFamily="2" charset="-122"/>
              </a:rPr>
              <a:t>表示</a:t>
            </a:r>
            <a:r>
              <a:rPr lang="en-US" altLang="zh-CN" b="1" dirty="0">
                <a:ea typeface="宋体" panose="02010600030101010101" pitchFamily="2" charset="-122"/>
              </a:rPr>
              <a:t>”</a:t>
            </a:r>
            <a:r>
              <a:rPr lang="zh-CN" altLang="en-US" sz="2800" b="1" dirty="0">
                <a:ea typeface="宋体" panose="02010600030101010101" pitchFamily="2" charset="-122"/>
              </a:rPr>
              <a:t>假</a:t>
            </a:r>
            <a:r>
              <a:rPr lang="en-US" altLang="zh-CN" b="1" dirty="0">
                <a:ea typeface="宋体" panose="02010600030101010101" pitchFamily="2" charset="-122"/>
              </a:rPr>
              <a:t>” </a:t>
            </a:r>
            <a:r>
              <a:rPr lang="zh-CN" altLang="en-US" sz="2800" b="1" dirty="0">
                <a:ea typeface="宋体" panose="02010600030101010101" pitchFamily="2" charset="-122"/>
              </a:rPr>
              <a:t>，以</a:t>
            </a:r>
            <a:r>
              <a:rPr lang="en-US" altLang="zh-CN" sz="2800" b="1" dirty="0">
                <a:ea typeface="宋体" panose="02010600030101010101" pitchFamily="2" charset="-122"/>
              </a:rPr>
              <a:t>”1”</a:t>
            </a:r>
            <a:r>
              <a:rPr lang="zh-CN" altLang="en-US" sz="2800" b="1" dirty="0">
                <a:ea typeface="宋体" panose="02010600030101010101" pitchFamily="2" charset="-122"/>
              </a:rPr>
              <a:t>表示</a:t>
            </a:r>
            <a:r>
              <a:rPr lang="en-US" altLang="zh-CN" b="1" dirty="0">
                <a:ea typeface="宋体" panose="02010600030101010101" pitchFamily="2" charset="-122"/>
              </a:rPr>
              <a:t>”</a:t>
            </a:r>
            <a:r>
              <a:rPr lang="zh-CN" altLang="en-US" sz="2800" b="1" dirty="0">
                <a:ea typeface="宋体" panose="02010600030101010101" pitchFamily="2" charset="-122"/>
              </a:rPr>
              <a:t>真</a:t>
            </a:r>
            <a:r>
              <a:rPr lang="en-US" altLang="zh-CN" b="1" dirty="0">
                <a:ea typeface="宋体" panose="02010600030101010101" pitchFamily="2" charset="-122"/>
              </a:rPr>
              <a:t>” </a:t>
            </a:r>
            <a:r>
              <a:rPr lang="zh-CN" altLang="en-US" sz="2800" b="1" dirty="0">
                <a:ea typeface="宋体" panose="02010600030101010101" pitchFamily="2" charset="-122"/>
              </a:rPr>
              <a:t>，一个命题非</a:t>
            </a:r>
            <a:r>
              <a:rPr lang="en-US" altLang="zh-CN" b="1" dirty="0">
                <a:ea typeface="宋体" panose="02010600030101010101" pitchFamily="2" charset="-122"/>
              </a:rPr>
              <a:t>”</a:t>
            </a:r>
            <a:r>
              <a:rPr lang="zh-CN" altLang="en-US" sz="2800" b="1" dirty="0">
                <a:ea typeface="宋体" panose="02010600030101010101" pitchFamily="2" charset="-122"/>
              </a:rPr>
              <a:t>真</a:t>
            </a:r>
            <a:r>
              <a:rPr lang="en-US" altLang="zh-CN" b="1" dirty="0">
                <a:ea typeface="宋体" panose="02010600030101010101" pitchFamily="2" charset="-122"/>
              </a:rPr>
              <a:t>”</a:t>
            </a:r>
            <a:r>
              <a:rPr lang="zh-CN" altLang="en-US" sz="2800" b="1" dirty="0">
                <a:ea typeface="宋体" panose="02010600030101010101" pitchFamily="2" charset="-122"/>
              </a:rPr>
              <a:t>即</a:t>
            </a:r>
            <a:r>
              <a:rPr lang="en-US" altLang="zh-CN" b="1" dirty="0">
                <a:ea typeface="宋体" panose="02010600030101010101" pitchFamily="2" charset="-122"/>
              </a:rPr>
              <a:t>”</a:t>
            </a:r>
            <a:r>
              <a:rPr lang="zh-CN" altLang="en-US" sz="2800" b="1" dirty="0">
                <a:ea typeface="宋体" panose="02010600030101010101" pitchFamily="2" charset="-122"/>
              </a:rPr>
              <a:t>假</a:t>
            </a:r>
            <a:r>
              <a:rPr lang="en-US" altLang="zh-CN" b="1" dirty="0">
                <a:ea typeface="宋体" panose="02010600030101010101" pitchFamily="2" charset="-122"/>
              </a:rPr>
              <a:t>” </a:t>
            </a:r>
            <a:r>
              <a:rPr lang="zh-CN" altLang="en-US" sz="2800" b="1" dirty="0">
                <a:ea typeface="宋体" panose="02010600030101010101" pitchFamily="2" charset="-122"/>
              </a:rPr>
              <a:t>。 </a:t>
            </a:r>
          </a:p>
          <a:p>
            <a:r>
              <a:rPr lang="zh-CN" altLang="en-US" sz="3200" dirty="0">
                <a:solidFill>
                  <a:srgbClr val="FF0000"/>
                </a:solidFill>
                <a:latin typeface="黑体" panose="02010609060101010101" pitchFamily="49" charset="-122"/>
                <a:ea typeface="黑体" panose="02010609060101010101" pitchFamily="49" charset="-122"/>
              </a:rPr>
              <a:t>模糊逻辑中</a:t>
            </a:r>
            <a:r>
              <a:rPr lang="en-US" altLang="zh-CN" sz="3200" dirty="0">
                <a:solidFill>
                  <a:srgbClr val="FF0000"/>
                </a:solidFill>
                <a:latin typeface="黑体" panose="02010609060101010101" pitchFamily="49" charset="-122"/>
                <a:ea typeface="黑体" panose="02010609060101010101" pitchFamily="49" charset="-122"/>
              </a:rPr>
              <a:t>——</a:t>
            </a:r>
          </a:p>
          <a:p>
            <a:pPr lvl="1"/>
            <a:r>
              <a:rPr lang="zh-CN" altLang="en-US" sz="2800" b="1" dirty="0">
                <a:solidFill>
                  <a:srgbClr val="3333FF"/>
                </a:solidFill>
                <a:effectLst>
                  <a:outerShdw blurRad="38100" dist="38100" dir="2700000" algn="tl">
                    <a:srgbClr val="000000">
                      <a:alpha val="43137"/>
                    </a:srgbClr>
                  </a:outerShdw>
                </a:effectLst>
                <a:ea typeface="宋体" panose="02010600030101010101" pitchFamily="2" charset="-122"/>
              </a:rPr>
              <a:t>一个命题不再非“真”即“假”，它可以被认为是“部分的真”。 </a:t>
            </a:r>
          </a:p>
          <a:p>
            <a:r>
              <a:rPr lang="zh-CN" altLang="en-US" sz="3200" b="1" dirty="0">
                <a:latin typeface="+mj-ea"/>
                <a:ea typeface="+mj-ea"/>
              </a:rPr>
              <a:t>模糊逻辑取消二值之间</a:t>
            </a:r>
            <a:r>
              <a:rPr lang="zh-CN" altLang="en-US" sz="3200" b="1" dirty="0">
                <a:solidFill>
                  <a:srgbClr val="CC00FF"/>
                </a:solidFill>
                <a:effectLst>
                  <a:outerShdw blurRad="38100" dist="38100" dir="2700000" algn="tl">
                    <a:srgbClr val="000000">
                      <a:alpha val="43137"/>
                    </a:srgbClr>
                  </a:outerShdw>
                </a:effectLst>
                <a:latin typeface="+mj-ea"/>
                <a:ea typeface="+mj-ea"/>
              </a:rPr>
              <a:t>非此即彼</a:t>
            </a:r>
            <a:r>
              <a:rPr lang="zh-CN" altLang="en-US" sz="3200" b="1" dirty="0">
                <a:latin typeface="+mj-ea"/>
                <a:ea typeface="+mj-ea"/>
              </a:rPr>
              <a:t>的对立，用</a:t>
            </a:r>
            <a:r>
              <a:rPr lang="zh-CN" altLang="en-US" sz="3200" b="1" dirty="0">
                <a:solidFill>
                  <a:srgbClr val="FF0000"/>
                </a:solidFill>
                <a:effectLst>
                  <a:outerShdw blurRad="38100" dist="38100" dir="2700000" algn="tl">
                    <a:srgbClr val="000000">
                      <a:alpha val="43137"/>
                    </a:srgbClr>
                  </a:outerShdw>
                </a:effectLst>
                <a:latin typeface="+mj-ea"/>
                <a:ea typeface="+mj-ea"/>
              </a:rPr>
              <a:t>隶属度</a:t>
            </a:r>
            <a:r>
              <a:rPr lang="zh-CN" altLang="en-US" sz="3200" b="1" dirty="0">
                <a:latin typeface="+mj-ea"/>
                <a:ea typeface="+mj-ea"/>
              </a:rPr>
              <a:t>表示二值间的过渡状态</a:t>
            </a:r>
            <a:endParaRPr lang="en-US" altLang="zh-CN" sz="3200" b="1" dirty="0">
              <a:latin typeface="+mj-ea"/>
              <a:ea typeface="+mj-ea"/>
            </a:endParaRPr>
          </a:p>
          <a:p>
            <a:pPr lvl="1"/>
            <a:r>
              <a:rPr lang="zh-CN" altLang="en-US" sz="2800" b="1" dirty="0">
                <a:solidFill>
                  <a:srgbClr val="008000"/>
                </a:solidFill>
                <a:effectLst>
                  <a:outerShdw blurRad="38100" dist="38100" dir="2700000" algn="tl">
                    <a:srgbClr val="000000">
                      <a:alpha val="43137"/>
                    </a:srgbClr>
                  </a:outerShdw>
                </a:effectLst>
              </a:rPr>
              <a:t>隶属度在</a:t>
            </a:r>
            <a:r>
              <a:rPr lang="en-US" altLang="zh-CN" sz="2800" b="1" dirty="0">
                <a:solidFill>
                  <a:srgbClr val="008000"/>
                </a:solidFill>
                <a:effectLst>
                  <a:outerShdw blurRad="38100" dist="38100" dir="2700000" algn="tl">
                    <a:srgbClr val="000000">
                      <a:alpha val="43137"/>
                    </a:srgbClr>
                  </a:outerShdw>
                </a:effectLst>
              </a:rPr>
              <a:t>[0, 1]</a:t>
            </a:r>
            <a:r>
              <a:rPr lang="zh-CN" altLang="en-US" sz="2800" b="1" dirty="0">
                <a:solidFill>
                  <a:srgbClr val="008000"/>
                </a:solidFill>
                <a:effectLst>
                  <a:outerShdw blurRad="38100" dist="38100" dir="2700000" algn="tl">
                    <a:srgbClr val="000000">
                      <a:alpha val="43137"/>
                    </a:srgbClr>
                  </a:outerShdw>
                </a:effectLst>
              </a:rPr>
              <a:t>之间取值，用以表示程度。</a:t>
            </a:r>
            <a:endParaRPr lang="en-US" altLang="zh-CN" sz="2800" b="1" dirty="0">
              <a:solidFill>
                <a:srgbClr val="008000"/>
              </a:solidFill>
              <a:effectLst>
                <a:outerShdw blurRad="38100" dist="38100" dir="2700000" algn="tl">
                  <a:srgbClr val="000000">
                    <a:alpha val="43137"/>
                  </a:srgbClr>
                </a:outerShdw>
              </a:effectLst>
            </a:endParaRPr>
          </a:p>
          <a:p>
            <a:pPr lvl="1"/>
            <a:r>
              <a:rPr lang="zh-CN" altLang="en-US" sz="2800" b="1" dirty="0">
                <a:solidFill>
                  <a:schemeClr val="tx2"/>
                </a:solidFill>
                <a:ea typeface="宋体" panose="02010600030101010101" pitchFamily="2" charset="-122"/>
              </a:rPr>
              <a:t>如：</a:t>
            </a:r>
            <a:r>
              <a:rPr lang="zh-CN" altLang="en-US" sz="2800" b="1" dirty="0">
                <a:solidFill>
                  <a:schemeClr val="tx2"/>
                </a:solidFill>
              </a:rPr>
              <a:t>“</a:t>
            </a:r>
            <a:r>
              <a:rPr lang="en-US" altLang="zh-CN" sz="2800" b="1" dirty="0">
                <a:solidFill>
                  <a:schemeClr val="tx2"/>
                </a:solidFill>
              </a:rPr>
              <a:t>27</a:t>
            </a:r>
            <a:r>
              <a:rPr lang="en-US" altLang="zh-CN" sz="2800" b="1" dirty="0">
                <a:solidFill>
                  <a:schemeClr val="tx2"/>
                </a:solidFill>
                <a:sym typeface="Symbol" panose="05050102010706020507" pitchFamily="18" charset="2"/>
              </a:rPr>
              <a:t>C</a:t>
            </a:r>
            <a:r>
              <a:rPr lang="zh-CN" altLang="en-US" sz="2800" b="1" dirty="0">
                <a:solidFill>
                  <a:schemeClr val="tx2"/>
                </a:solidFill>
              </a:rPr>
              <a:t>室温是高温度”。</a:t>
            </a:r>
            <a:endParaRPr lang="en-US" altLang="zh-CN" sz="2800" b="1" dirty="0">
              <a:solidFill>
                <a:schemeClr val="tx2"/>
              </a:solidFill>
            </a:endParaRPr>
          </a:p>
          <a:p>
            <a:pPr marL="457200" lvl="1" indent="0">
              <a:buNone/>
            </a:pPr>
            <a:r>
              <a:rPr lang="zh-CN" altLang="en-US" sz="2800" b="1" dirty="0">
                <a:solidFill>
                  <a:schemeClr val="tx2"/>
                </a:solidFill>
              </a:rPr>
              <a:t>   可认为</a:t>
            </a:r>
            <a:r>
              <a:rPr lang="en-US" altLang="zh-CN" sz="2800" b="1" dirty="0">
                <a:solidFill>
                  <a:schemeClr val="tx2"/>
                </a:solidFill>
              </a:rPr>
              <a:t>27</a:t>
            </a:r>
            <a:r>
              <a:rPr lang="en-US" altLang="zh-CN" sz="2800" b="1" dirty="0">
                <a:solidFill>
                  <a:schemeClr val="tx2"/>
                </a:solidFill>
                <a:sym typeface="Symbol" panose="05050102010706020507" pitchFamily="18" charset="2"/>
              </a:rPr>
              <a:t></a:t>
            </a:r>
            <a:r>
              <a:rPr lang="en-US" altLang="zh-CN" sz="2800" b="1" dirty="0">
                <a:solidFill>
                  <a:schemeClr val="tx2"/>
                </a:solidFill>
              </a:rPr>
              <a:t>C</a:t>
            </a:r>
            <a:r>
              <a:rPr lang="zh-CN" altLang="en-US" sz="2800" b="1" dirty="0">
                <a:solidFill>
                  <a:schemeClr val="tx2"/>
                </a:solidFill>
              </a:rPr>
              <a:t>对</a:t>
            </a:r>
            <a:r>
              <a:rPr lang="en-US" altLang="zh-CN" sz="2800" b="1" dirty="0">
                <a:solidFill>
                  <a:schemeClr val="tx2"/>
                </a:solidFill>
              </a:rPr>
              <a:t>”</a:t>
            </a:r>
            <a:r>
              <a:rPr lang="zh-CN" altLang="en-US" sz="2800" b="1" dirty="0">
                <a:solidFill>
                  <a:schemeClr val="tx2"/>
                </a:solidFill>
              </a:rPr>
              <a:t>高温度</a:t>
            </a:r>
            <a:r>
              <a:rPr lang="en-US" altLang="zh-CN" sz="2800" b="1" dirty="0">
                <a:solidFill>
                  <a:schemeClr val="tx2"/>
                </a:solidFill>
              </a:rPr>
              <a:t>”</a:t>
            </a:r>
            <a:r>
              <a:rPr lang="zh-CN" altLang="en-US" sz="2800" b="1" dirty="0">
                <a:solidFill>
                  <a:schemeClr val="tx2"/>
                </a:solidFill>
              </a:rPr>
              <a:t>的隶属度是</a:t>
            </a:r>
            <a:r>
              <a:rPr lang="en-US" altLang="zh-CN" sz="2800" b="1" dirty="0">
                <a:solidFill>
                  <a:schemeClr val="tx2"/>
                </a:solidFill>
              </a:rPr>
              <a:t>0.6</a:t>
            </a:r>
            <a:r>
              <a:rPr lang="zh-CN" altLang="en-US" sz="2800" b="1" dirty="0">
                <a:solidFill>
                  <a:schemeClr val="tx2"/>
                </a:solidFill>
              </a:rPr>
              <a:t>，即</a:t>
            </a:r>
            <a:r>
              <a:rPr lang="en-US" altLang="zh-CN" sz="2800" b="1" dirty="0">
                <a:solidFill>
                  <a:schemeClr val="tx2"/>
                </a:solidFill>
              </a:rPr>
              <a:t>”</a:t>
            </a:r>
            <a:r>
              <a:rPr lang="zh-CN" altLang="en-US" sz="2800" b="1" dirty="0">
                <a:solidFill>
                  <a:schemeClr val="tx2"/>
                </a:solidFill>
              </a:rPr>
              <a:t>部分的高温</a:t>
            </a:r>
            <a:r>
              <a:rPr lang="en-US" altLang="zh-CN" sz="2800" b="1" dirty="0">
                <a:solidFill>
                  <a:schemeClr val="tx2"/>
                </a:solidFill>
              </a:rPr>
              <a:t>”</a:t>
            </a:r>
            <a:endParaRPr lang="zh-CN" altLang="en-US" sz="2800" b="1" dirty="0">
              <a:ea typeface="宋体" panose="02010600030101010101" pitchFamily="2" charset="-122"/>
            </a:endParaRPr>
          </a:p>
        </p:txBody>
      </p:sp>
    </p:spTree>
    <p:extLst>
      <p:ext uri="{BB962C8B-B14F-4D97-AF65-F5344CB8AC3E}">
        <p14:creationId xmlns:p14="http://schemas.microsoft.com/office/powerpoint/2010/main" val="3909863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2291">
                                            <p:txEl>
                                              <p:pRg st="0" end="0"/>
                                            </p:txEl>
                                          </p:spTgt>
                                        </p:tgtEl>
                                        <p:attrNameLst>
                                          <p:attrName>style.visibility</p:attrName>
                                        </p:attrNameLst>
                                      </p:cBhvr>
                                      <p:to>
                                        <p:strVal val="visible"/>
                                      </p:to>
                                    </p:set>
                                    <p:animEffect transition="in" filter="wipe(left)">
                                      <p:cBhvr>
                                        <p:cTn id="7" dur="500"/>
                                        <p:tgtEl>
                                          <p:spTgt spid="1229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2291">
                                            <p:txEl>
                                              <p:pRg st="1" end="1"/>
                                            </p:txEl>
                                          </p:spTgt>
                                        </p:tgtEl>
                                        <p:attrNameLst>
                                          <p:attrName>style.visibility</p:attrName>
                                        </p:attrNameLst>
                                      </p:cBhvr>
                                      <p:to>
                                        <p:strVal val="visible"/>
                                      </p:to>
                                    </p:set>
                                    <p:animEffect transition="in" filter="wipe(left)">
                                      <p:cBhvr>
                                        <p:cTn id="12" dur="500"/>
                                        <p:tgtEl>
                                          <p:spTgt spid="1229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2291">
                                            <p:txEl>
                                              <p:pRg st="2" end="2"/>
                                            </p:txEl>
                                          </p:spTgt>
                                        </p:tgtEl>
                                        <p:attrNameLst>
                                          <p:attrName>style.visibility</p:attrName>
                                        </p:attrNameLst>
                                      </p:cBhvr>
                                      <p:to>
                                        <p:strVal val="visible"/>
                                      </p:to>
                                    </p:set>
                                    <p:animEffect transition="in" filter="wipe(left)">
                                      <p:cBhvr>
                                        <p:cTn id="17" dur="500"/>
                                        <p:tgtEl>
                                          <p:spTgt spid="1229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2291">
                                            <p:txEl>
                                              <p:pRg st="3" end="3"/>
                                            </p:txEl>
                                          </p:spTgt>
                                        </p:tgtEl>
                                        <p:attrNameLst>
                                          <p:attrName>style.visibility</p:attrName>
                                        </p:attrNameLst>
                                      </p:cBhvr>
                                      <p:to>
                                        <p:strVal val="visible"/>
                                      </p:to>
                                    </p:set>
                                    <p:animEffect transition="in" filter="wipe(left)">
                                      <p:cBhvr>
                                        <p:cTn id="22" dur="500"/>
                                        <p:tgtEl>
                                          <p:spTgt spid="12291">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2291">
                                            <p:txEl>
                                              <p:pRg st="4" end="4"/>
                                            </p:txEl>
                                          </p:spTgt>
                                        </p:tgtEl>
                                        <p:attrNameLst>
                                          <p:attrName>style.visibility</p:attrName>
                                        </p:attrNameLst>
                                      </p:cBhvr>
                                      <p:to>
                                        <p:strVal val="visible"/>
                                      </p:to>
                                    </p:set>
                                    <p:animEffect transition="in" filter="wipe(left)">
                                      <p:cBhvr>
                                        <p:cTn id="27" dur="500"/>
                                        <p:tgtEl>
                                          <p:spTgt spid="12291">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2291">
                                            <p:txEl>
                                              <p:pRg st="5" end="5"/>
                                            </p:txEl>
                                          </p:spTgt>
                                        </p:tgtEl>
                                        <p:attrNameLst>
                                          <p:attrName>style.visibility</p:attrName>
                                        </p:attrNameLst>
                                      </p:cBhvr>
                                      <p:to>
                                        <p:strVal val="visible"/>
                                      </p:to>
                                    </p:set>
                                    <p:animEffect transition="in" filter="wipe(left)">
                                      <p:cBhvr>
                                        <p:cTn id="32" dur="500"/>
                                        <p:tgtEl>
                                          <p:spTgt spid="12291">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2291">
                                            <p:txEl>
                                              <p:pRg st="6" end="6"/>
                                            </p:txEl>
                                          </p:spTgt>
                                        </p:tgtEl>
                                        <p:attrNameLst>
                                          <p:attrName>style.visibility</p:attrName>
                                        </p:attrNameLst>
                                      </p:cBhvr>
                                      <p:to>
                                        <p:strVal val="visible"/>
                                      </p:to>
                                    </p:set>
                                    <p:animEffect transition="in" filter="wipe(left)">
                                      <p:cBhvr>
                                        <p:cTn id="37" dur="500"/>
                                        <p:tgtEl>
                                          <p:spTgt spid="12291">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12291">
                                            <p:txEl>
                                              <p:pRg st="7" end="7"/>
                                            </p:txEl>
                                          </p:spTgt>
                                        </p:tgtEl>
                                        <p:attrNameLst>
                                          <p:attrName>style.visibility</p:attrName>
                                        </p:attrNameLst>
                                      </p:cBhvr>
                                      <p:to>
                                        <p:strVal val="visible"/>
                                      </p:to>
                                    </p:set>
                                    <p:animEffect transition="in" filter="wipe(left)">
                                      <p:cBhvr>
                                        <p:cTn id="42" dur="500"/>
                                        <p:tgtEl>
                                          <p:spTgt spid="12291">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1"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4" name="Rectangle 2"/>
          <p:cNvSpPr>
            <a:spLocks noGrp="1" noChangeArrowheads="1"/>
          </p:cNvSpPr>
          <p:nvPr>
            <p:ph type="title"/>
          </p:nvPr>
        </p:nvSpPr>
        <p:spPr>
          <a:xfrm>
            <a:off x="1981200" y="188640"/>
            <a:ext cx="8229600" cy="1371600"/>
          </a:xfrm>
        </p:spPr>
        <p:txBody>
          <a:bodyPr/>
          <a:lstStyle/>
          <a:p>
            <a:pPr algn="ctr"/>
            <a:r>
              <a:rPr lang="zh-CN" altLang="en-US" dirty="0">
                <a:solidFill>
                  <a:srgbClr val="008000"/>
                </a:solidFill>
              </a:rPr>
              <a:t>模糊数学</a:t>
            </a:r>
          </a:p>
        </p:txBody>
      </p:sp>
      <p:sp>
        <p:nvSpPr>
          <p:cNvPr id="151558" name="Rectangle 6"/>
          <p:cNvSpPr>
            <a:spLocks noGrp="1" noChangeArrowheads="1"/>
          </p:cNvSpPr>
          <p:nvPr>
            <p:ph idx="1"/>
          </p:nvPr>
        </p:nvSpPr>
        <p:spPr>
          <a:xfrm>
            <a:off x="983432" y="1485726"/>
            <a:ext cx="10441160" cy="4967610"/>
          </a:xfrm>
          <a:noFill/>
          <a:ln/>
          <a:extLst>
            <a:ext uri="{909E8E84-426E-40DD-AFC4-6F175D3DCCD1}">
              <a14:hiddenFill xmlns:a14="http://schemas.microsoft.com/office/drawing/2010/main">
                <a:solidFill>
                  <a:srgbClr val="CCCC99"/>
                </a:solidFill>
              </a14:hiddenFill>
            </a:ext>
            <a:ext uri="{91240B29-F687-4F45-9708-019B960494DF}">
              <a14:hiddenLine xmlns:a14="http://schemas.microsoft.com/office/drawing/2010/main" w="9525">
                <a:solidFill>
                  <a:srgbClr val="000000"/>
                </a:solidFill>
                <a:miter lim="800000"/>
                <a:headEnd/>
                <a:tailEnd/>
              </a14:hiddenLine>
            </a:ext>
          </a:extLst>
        </p:spPr>
        <p:txBody>
          <a:bodyPr>
            <a:noAutofit/>
          </a:bodyPr>
          <a:lstStyle/>
          <a:p>
            <a:pPr>
              <a:lnSpc>
                <a:spcPct val="100000"/>
              </a:lnSpc>
            </a:pPr>
            <a:r>
              <a:rPr lang="zh-CN" altLang="en-US" sz="3200" b="1" dirty="0">
                <a:solidFill>
                  <a:srgbClr val="000000"/>
                </a:solidFill>
              </a:rPr>
              <a:t>上述现象中都出现了模糊概念：</a:t>
            </a:r>
            <a:r>
              <a:rPr lang="zh-CN" altLang="en-US" sz="3200" b="1" dirty="0">
                <a:solidFill>
                  <a:srgbClr val="0000FF"/>
                </a:solidFill>
              </a:rPr>
              <a:t>发低烧、收入变化不大、好天气、能干</a:t>
            </a:r>
            <a:r>
              <a:rPr lang="en-US" altLang="zh-CN" sz="3200" b="1" dirty="0">
                <a:solidFill>
                  <a:srgbClr val="000000"/>
                </a:solidFill>
                <a:latin typeface="Times New Roman"/>
              </a:rPr>
              <a:t>……</a:t>
            </a:r>
            <a:r>
              <a:rPr lang="zh-CN" altLang="en-US" sz="3200" b="1" dirty="0">
                <a:solidFill>
                  <a:srgbClr val="000000"/>
                </a:solidFill>
              </a:rPr>
              <a:t>，描述和处理模糊性和模糊概念需要新的工具</a:t>
            </a:r>
          </a:p>
          <a:p>
            <a:pPr>
              <a:lnSpc>
                <a:spcPct val="100000"/>
              </a:lnSpc>
            </a:pPr>
            <a:r>
              <a:rPr lang="zh-CN" altLang="en-US" sz="3200" b="1" dirty="0">
                <a:solidFill>
                  <a:srgbClr val="000000"/>
                </a:solidFill>
              </a:rPr>
              <a:t>模糊性广泛存在于自然语言，人文系统，经济系统，社会评价系统，控制系统，机器系统</a:t>
            </a:r>
          </a:p>
          <a:p>
            <a:pPr>
              <a:lnSpc>
                <a:spcPct val="100000"/>
              </a:lnSpc>
            </a:pPr>
            <a:r>
              <a:rPr lang="zh-CN" altLang="en-US" sz="3200" b="1" dirty="0">
                <a:solidFill>
                  <a:srgbClr val="000000"/>
                </a:solidFill>
              </a:rPr>
              <a:t>模糊数学是一门用精确的数学方法研究和处理</a:t>
            </a:r>
            <a:r>
              <a:rPr lang="zh-CN" altLang="en-US" sz="3200" b="1" dirty="0">
                <a:solidFill>
                  <a:srgbClr val="FF0000"/>
                </a:solidFill>
                <a:ea typeface="华文楷体" pitchFamily="2" charset="-122"/>
              </a:rPr>
              <a:t>模糊性和模糊现象</a:t>
            </a:r>
            <a:r>
              <a:rPr lang="zh-CN" altLang="en-US" sz="3200" b="1" dirty="0">
                <a:solidFill>
                  <a:srgbClr val="000000"/>
                </a:solidFill>
              </a:rPr>
              <a:t>的科学，它的理论基础是模糊集合论。模糊数学任重而道远！</a:t>
            </a:r>
          </a:p>
          <a:p>
            <a:pPr>
              <a:lnSpc>
                <a:spcPct val="100000"/>
              </a:lnSpc>
            </a:pPr>
            <a:r>
              <a:rPr lang="zh-CN" altLang="en-US" sz="3200" b="1" dirty="0">
                <a:solidFill>
                  <a:srgbClr val="000000"/>
                </a:solidFill>
              </a:rPr>
              <a:t>模糊数学的内容很丰富，包括理论部分和应用部分。</a:t>
            </a:r>
          </a:p>
        </p:txBody>
      </p:sp>
    </p:spTree>
    <p:extLst>
      <p:ext uri="{BB962C8B-B14F-4D97-AF65-F5344CB8AC3E}">
        <p14:creationId xmlns:p14="http://schemas.microsoft.com/office/powerpoint/2010/main" val="19888784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51558">
                                            <p:txEl>
                                              <p:pRg st="0" end="0"/>
                                            </p:txEl>
                                          </p:spTgt>
                                        </p:tgtEl>
                                        <p:attrNameLst>
                                          <p:attrName>style.visibility</p:attrName>
                                        </p:attrNameLst>
                                      </p:cBhvr>
                                      <p:to>
                                        <p:strVal val="visible"/>
                                      </p:to>
                                    </p:set>
                                    <p:animEffect transition="in" filter="wipe(left)">
                                      <p:cBhvr>
                                        <p:cTn id="7" dur="500"/>
                                        <p:tgtEl>
                                          <p:spTgt spid="15155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51558">
                                            <p:txEl>
                                              <p:pRg st="1" end="1"/>
                                            </p:txEl>
                                          </p:spTgt>
                                        </p:tgtEl>
                                        <p:attrNameLst>
                                          <p:attrName>style.visibility</p:attrName>
                                        </p:attrNameLst>
                                      </p:cBhvr>
                                      <p:to>
                                        <p:strVal val="visible"/>
                                      </p:to>
                                    </p:set>
                                    <p:animEffect transition="in" filter="wipe(left)">
                                      <p:cBhvr>
                                        <p:cTn id="12" dur="500"/>
                                        <p:tgtEl>
                                          <p:spTgt spid="15155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51558">
                                            <p:txEl>
                                              <p:pRg st="2" end="2"/>
                                            </p:txEl>
                                          </p:spTgt>
                                        </p:tgtEl>
                                        <p:attrNameLst>
                                          <p:attrName>style.visibility</p:attrName>
                                        </p:attrNameLst>
                                      </p:cBhvr>
                                      <p:to>
                                        <p:strVal val="visible"/>
                                      </p:to>
                                    </p:set>
                                    <p:animEffect transition="in" filter="wipe(left)">
                                      <p:cBhvr>
                                        <p:cTn id="17" dur="500"/>
                                        <p:tgtEl>
                                          <p:spTgt spid="151558">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51558">
                                            <p:txEl>
                                              <p:pRg st="3" end="3"/>
                                            </p:txEl>
                                          </p:spTgt>
                                        </p:tgtEl>
                                        <p:attrNameLst>
                                          <p:attrName>style.visibility</p:attrName>
                                        </p:attrNameLst>
                                      </p:cBhvr>
                                      <p:to>
                                        <p:strVal val="visible"/>
                                      </p:to>
                                    </p:set>
                                    <p:animEffect transition="in" filter="wipe(left)">
                                      <p:cBhvr>
                                        <p:cTn id="22" dur="500"/>
                                        <p:tgtEl>
                                          <p:spTgt spid="151558">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1558"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1028" descr="zadeh"/>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836897" y="66648"/>
            <a:ext cx="2425798" cy="3252049"/>
          </a:xfrm>
          <a:prstGeom prst="rect">
            <a:avLst/>
          </a:prstGeom>
          <a:noFill/>
          <a:extLst>
            <a:ext uri="{909E8E84-426E-40DD-AFC4-6F175D3DCCD1}">
              <a14:hiddenFill xmlns:a14="http://schemas.microsoft.com/office/drawing/2010/main">
                <a:solidFill>
                  <a:srgbClr val="FFFFFF"/>
                </a:solidFill>
              </a14:hiddenFill>
            </a:ext>
          </a:extLst>
        </p:spPr>
      </p:pic>
      <p:sp>
        <p:nvSpPr>
          <p:cNvPr id="8194" name="Rectangle 2"/>
          <p:cNvSpPr>
            <a:spLocks noGrp="1" noChangeArrowheads="1"/>
          </p:cNvSpPr>
          <p:nvPr>
            <p:ph type="title"/>
          </p:nvPr>
        </p:nvSpPr>
        <p:spPr>
          <a:xfrm>
            <a:off x="1174176" y="216397"/>
            <a:ext cx="8229600" cy="1223963"/>
          </a:xfrm>
        </p:spPr>
        <p:txBody>
          <a:bodyPr/>
          <a:lstStyle/>
          <a:p>
            <a:pPr eaLnBrk="1" hangingPunct="1"/>
            <a:r>
              <a:rPr lang="zh-CN" altLang="en-US" sz="4800" dirty="0">
                <a:solidFill>
                  <a:srgbClr val="008000"/>
                </a:solidFill>
                <a:latin typeface="黑体" pitchFamily="49" charset="-122"/>
              </a:rPr>
              <a:t>模糊理论的创立</a:t>
            </a:r>
          </a:p>
        </p:txBody>
      </p:sp>
      <p:sp>
        <p:nvSpPr>
          <p:cNvPr id="8195" name="Rectangle 3"/>
          <p:cNvSpPr>
            <a:spLocks noGrp="1" noChangeArrowheads="1"/>
          </p:cNvSpPr>
          <p:nvPr>
            <p:ph idx="1"/>
          </p:nvPr>
        </p:nvSpPr>
        <p:spPr>
          <a:xfrm>
            <a:off x="803498" y="1633048"/>
            <a:ext cx="7304132" cy="5215612"/>
          </a:xfrm>
        </p:spPr>
        <p:txBody>
          <a:bodyPr>
            <a:noAutofit/>
          </a:bodyPr>
          <a:lstStyle/>
          <a:p>
            <a:pPr>
              <a:lnSpc>
                <a:spcPct val="114000"/>
              </a:lnSpc>
            </a:pPr>
            <a:r>
              <a:rPr lang="en-US" altLang="zh-CN" sz="2800" b="1" dirty="0"/>
              <a:t>L. A. </a:t>
            </a:r>
            <a:r>
              <a:rPr lang="en-US" altLang="zh-CN" sz="2800" b="1" dirty="0" err="1"/>
              <a:t>Zadeh</a:t>
            </a:r>
            <a:r>
              <a:rPr lang="en-US" altLang="zh-CN" sz="2800" b="1" dirty="0"/>
              <a:t> </a:t>
            </a:r>
            <a:r>
              <a:rPr lang="zh-CN" altLang="en-US" sz="2800" b="1" dirty="0"/>
              <a:t>教授于</a:t>
            </a:r>
            <a:r>
              <a:rPr lang="en-US" altLang="zh-CN" sz="2800" b="1" dirty="0"/>
              <a:t>1965</a:t>
            </a:r>
            <a:r>
              <a:rPr lang="zh-CN" altLang="en-US" sz="2800" b="1" dirty="0"/>
              <a:t>年发表了</a:t>
            </a:r>
            <a:r>
              <a:rPr lang="en-US" altLang="zh-CN" sz="2800" b="1" dirty="0">
                <a:solidFill>
                  <a:srgbClr val="FF0000"/>
                </a:solidFill>
              </a:rPr>
              <a:t>”Fuzzy Sets”</a:t>
            </a:r>
            <a:r>
              <a:rPr lang="zh-CN" altLang="en-US" sz="2800" b="1" dirty="0"/>
              <a:t>的论文，标志着这门新学科的诞生。</a:t>
            </a:r>
            <a:endParaRPr lang="en-US" altLang="zh-CN" sz="2800" b="1" dirty="0"/>
          </a:p>
          <a:p>
            <a:pPr>
              <a:lnSpc>
                <a:spcPct val="114000"/>
              </a:lnSpc>
            </a:pPr>
            <a:r>
              <a:rPr lang="zh-CN" altLang="en-US" sz="2800" b="1" dirty="0"/>
              <a:t>他通过引进</a:t>
            </a:r>
            <a:r>
              <a:rPr lang="zh-CN" altLang="en-US" sz="2800" b="1" u="sng" dirty="0">
                <a:solidFill>
                  <a:srgbClr val="FF0000"/>
                </a:solidFill>
              </a:rPr>
              <a:t>模糊集</a:t>
            </a:r>
            <a:r>
              <a:rPr lang="zh-CN" altLang="en-US" sz="2800" b="1" dirty="0"/>
              <a:t>提供了一种分析复杂系统的新方法。</a:t>
            </a:r>
            <a:endParaRPr lang="en-US" altLang="zh-CN" sz="2800" b="1" dirty="0"/>
          </a:p>
          <a:p>
            <a:pPr>
              <a:lnSpc>
                <a:spcPct val="114000"/>
              </a:lnSpc>
            </a:pPr>
            <a:r>
              <a:rPr lang="zh-CN" altLang="en-US" sz="2800" b="1" dirty="0"/>
              <a:t>他提出用</a:t>
            </a:r>
            <a:r>
              <a:rPr lang="zh-CN" altLang="en-US" sz="2800" b="1" u="sng" dirty="0">
                <a:solidFill>
                  <a:srgbClr val="CC00FF"/>
                </a:solidFill>
              </a:rPr>
              <a:t>语言变量</a:t>
            </a:r>
            <a:r>
              <a:rPr lang="zh-CN" altLang="en-US" sz="2800" b="1" dirty="0"/>
              <a:t>代替</a:t>
            </a:r>
            <a:r>
              <a:rPr lang="zh-CN" altLang="en-US" sz="2800" b="1" u="sng" dirty="0">
                <a:solidFill>
                  <a:srgbClr val="008000"/>
                </a:solidFill>
              </a:rPr>
              <a:t>数值变量</a:t>
            </a:r>
            <a:r>
              <a:rPr lang="zh-CN" altLang="en-US" sz="2800" b="1" dirty="0"/>
              <a:t>来描述系统的行为，使人们找到了一种处理</a:t>
            </a:r>
            <a:r>
              <a:rPr lang="zh-CN" altLang="en-US" sz="2800" b="1" u="sng" dirty="0">
                <a:solidFill>
                  <a:srgbClr val="3333FF"/>
                </a:solidFill>
              </a:rPr>
              <a:t>不确定性</a:t>
            </a:r>
            <a:r>
              <a:rPr lang="zh-CN" altLang="en-US" sz="2800" b="1" dirty="0"/>
              <a:t>的方法，从而使研究</a:t>
            </a:r>
            <a:r>
              <a:rPr lang="zh-CN" altLang="en-US" sz="2800" b="1" u="sng" dirty="0"/>
              <a:t>确定性对象的数学</a:t>
            </a:r>
            <a:r>
              <a:rPr lang="zh-CN" altLang="en-US" sz="2800" b="1" dirty="0"/>
              <a:t>与</a:t>
            </a:r>
            <a:r>
              <a:rPr lang="zh-CN" altLang="en-US" sz="2800" b="1" u="sng" dirty="0"/>
              <a:t>不确定性对象的数学</a:t>
            </a:r>
            <a:r>
              <a:rPr lang="zh-CN" altLang="en-US" sz="2800" b="1" dirty="0"/>
              <a:t>沟通起来，过去</a:t>
            </a:r>
            <a:r>
              <a:rPr lang="zh-CN" altLang="en-US" sz="2800" b="1" u="sng" dirty="0"/>
              <a:t>精确数学</a:t>
            </a:r>
            <a:r>
              <a:rPr lang="zh-CN" altLang="en-US" sz="2800" b="1" dirty="0"/>
              <a:t>、</a:t>
            </a:r>
            <a:r>
              <a:rPr lang="zh-CN" altLang="en-US" sz="2800" b="1" u="sng" dirty="0"/>
              <a:t>随机数学</a:t>
            </a:r>
            <a:r>
              <a:rPr lang="zh-CN" altLang="en-US" sz="2800" b="1" dirty="0"/>
              <a:t>描述感到不足之处，就能得到弥补。</a:t>
            </a:r>
          </a:p>
        </p:txBody>
      </p:sp>
      <p:sp>
        <p:nvSpPr>
          <p:cNvPr id="2" name="TextBox 1"/>
          <p:cNvSpPr txBox="1"/>
          <p:nvPr/>
        </p:nvSpPr>
        <p:spPr>
          <a:xfrm>
            <a:off x="8112224" y="3432340"/>
            <a:ext cx="3634064" cy="3416320"/>
          </a:xfrm>
          <a:prstGeom prst="rect">
            <a:avLst/>
          </a:prstGeom>
          <a:solidFill>
            <a:srgbClr val="66FFFF"/>
          </a:solidFill>
        </p:spPr>
        <p:txBody>
          <a:bodyPr wrap="square">
            <a:spAutoFit/>
          </a:bodyPr>
          <a:lstStyle/>
          <a:p>
            <a:pPr>
              <a:defRPr/>
            </a:pPr>
            <a:r>
              <a:rPr lang="en-US" altLang="zh-CN" sz="2400" b="1" dirty="0" err="1">
                <a:solidFill>
                  <a:srgbClr val="FF0000"/>
                </a:solidFill>
              </a:rPr>
              <a:t>Zadeh</a:t>
            </a:r>
            <a:r>
              <a:rPr lang="en-US" altLang="zh-CN" sz="2400" b="1" dirty="0">
                <a:solidFill>
                  <a:srgbClr val="FF0000"/>
                </a:solidFill>
              </a:rPr>
              <a:t> (1921</a:t>
            </a:r>
            <a:r>
              <a:rPr lang="zh-CN" altLang="en-US" sz="2400" b="1" dirty="0">
                <a:solidFill>
                  <a:srgbClr val="FF0000"/>
                </a:solidFill>
              </a:rPr>
              <a:t>～</a:t>
            </a:r>
            <a:r>
              <a:rPr lang="en-US" altLang="zh-CN" sz="2400" b="1" dirty="0">
                <a:solidFill>
                  <a:srgbClr val="FF0000"/>
                </a:solidFill>
              </a:rPr>
              <a:t>2017</a:t>
            </a:r>
            <a:r>
              <a:rPr lang="zh-CN" altLang="en-US" sz="2400" b="1" dirty="0">
                <a:solidFill>
                  <a:srgbClr val="FF0000"/>
                </a:solidFill>
              </a:rPr>
              <a:t> </a:t>
            </a:r>
            <a:r>
              <a:rPr lang="en-US" altLang="zh-CN" sz="2400" b="1" dirty="0">
                <a:solidFill>
                  <a:srgbClr val="FF0000"/>
                </a:solidFill>
              </a:rPr>
              <a:t>)</a:t>
            </a:r>
          </a:p>
          <a:p>
            <a:pPr marL="285750" indent="-285750">
              <a:buFont typeface="Arial" pitchFamily="34" charset="0"/>
              <a:buChar char="•"/>
              <a:defRPr/>
            </a:pPr>
            <a:r>
              <a:rPr lang="zh-CN" altLang="en-US" sz="2400" b="1" dirty="0"/>
              <a:t>电机工程博士</a:t>
            </a:r>
            <a:endParaRPr lang="en-US" altLang="zh-CN" sz="2400" b="1" dirty="0"/>
          </a:p>
          <a:p>
            <a:pPr marL="285750" indent="-285750">
              <a:buFont typeface="Arial" pitchFamily="34" charset="0"/>
              <a:buChar char="•"/>
              <a:defRPr/>
            </a:pPr>
            <a:r>
              <a:rPr lang="zh-CN" altLang="en-US" sz="2400" b="1" dirty="0"/>
              <a:t>美国自动控制专家，美国工程科学院院士。</a:t>
            </a:r>
            <a:endParaRPr lang="en-US" altLang="zh-CN" sz="2400" b="1" dirty="0"/>
          </a:p>
          <a:p>
            <a:pPr marL="285750" indent="-285750">
              <a:buFont typeface="Arial" pitchFamily="34" charset="0"/>
              <a:buChar char="•"/>
              <a:defRPr/>
            </a:pPr>
            <a:r>
              <a:rPr lang="en-US" altLang="zh-TW" sz="2400" b="1" dirty="0"/>
              <a:t>Berkeley</a:t>
            </a:r>
            <a:r>
              <a:rPr lang="zh-CN" altLang="en-US" sz="2400" b="1" dirty="0"/>
              <a:t>大学电机工程与计算机科学系教授。</a:t>
            </a:r>
            <a:endParaRPr lang="en-US" altLang="zh-CN" sz="2400" b="1" dirty="0"/>
          </a:p>
          <a:p>
            <a:pPr marL="285750" indent="-285750">
              <a:buFont typeface="Arial" pitchFamily="34" charset="0"/>
              <a:buChar char="•"/>
              <a:defRPr/>
            </a:pPr>
            <a:r>
              <a:rPr lang="zh-CN" altLang="en-US" sz="2400" b="1" dirty="0"/>
              <a:t>因发展模糊集理论的先驱性工作而获</a:t>
            </a:r>
            <a:r>
              <a:rPr lang="en-US" altLang="zh-CN" sz="2400" b="1" dirty="0"/>
              <a:t>IEEE</a:t>
            </a:r>
            <a:r>
              <a:rPr lang="zh-CN" altLang="en-US" sz="2400" b="1" dirty="0"/>
              <a:t>的教育勋章。</a:t>
            </a:r>
          </a:p>
        </p:txBody>
      </p:sp>
      <p:pic>
        <p:nvPicPr>
          <p:cNvPr id="47106" name="Picture 2" descr="C:\Users\Base\Desktop\4993742_1.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832304" y="23709"/>
            <a:ext cx="2425797" cy="326127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8195">
                                            <p:txEl>
                                              <p:pRg st="0" end="0"/>
                                            </p:txEl>
                                          </p:spTgt>
                                        </p:tgtEl>
                                        <p:attrNameLst>
                                          <p:attrName>style.visibility</p:attrName>
                                        </p:attrNameLst>
                                      </p:cBhvr>
                                      <p:to>
                                        <p:strVal val="visible"/>
                                      </p:to>
                                    </p:set>
                                    <p:animEffect transition="in" filter="wipe(left)">
                                      <p:cBhvr>
                                        <p:cTn id="7" dur="500"/>
                                        <p:tgtEl>
                                          <p:spTgt spid="819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par>
                          <p:cTn id="13" fill="hold">
                            <p:stCondLst>
                              <p:cond delay="500"/>
                            </p:stCondLst>
                            <p:childTnLst>
                              <p:par>
                                <p:cTn id="14" presetID="42" presetClass="entr" presetSubtype="0" fill="hold" grpId="0" nodeType="afterEffect">
                                  <p:stCondLst>
                                    <p:cond delay="0"/>
                                  </p:stCondLst>
                                  <p:childTnLst>
                                    <p:set>
                                      <p:cBhvr>
                                        <p:cTn id="15" dur="1" fill="hold">
                                          <p:stCondLst>
                                            <p:cond delay="0"/>
                                          </p:stCondLst>
                                        </p:cTn>
                                        <p:tgtEl>
                                          <p:spTgt spid="2"/>
                                        </p:tgtEl>
                                        <p:attrNameLst>
                                          <p:attrName>style.visibility</p:attrName>
                                        </p:attrNameLst>
                                      </p:cBhvr>
                                      <p:to>
                                        <p:strVal val="visible"/>
                                      </p:to>
                                    </p:set>
                                    <p:animEffect transition="in" filter="fade">
                                      <p:cBhvr>
                                        <p:cTn id="16" dur="1000"/>
                                        <p:tgtEl>
                                          <p:spTgt spid="2"/>
                                        </p:tgtEl>
                                      </p:cBhvr>
                                    </p:animEffect>
                                    <p:anim calcmode="lin" valueType="num">
                                      <p:cBhvr>
                                        <p:cTn id="17" dur="1000" fill="hold"/>
                                        <p:tgtEl>
                                          <p:spTgt spid="2"/>
                                        </p:tgtEl>
                                        <p:attrNameLst>
                                          <p:attrName>ppt_x</p:attrName>
                                        </p:attrNameLst>
                                      </p:cBhvr>
                                      <p:tavLst>
                                        <p:tav tm="0">
                                          <p:val>
                                            <p:strVal val="#ppt_x"/>
                                          </p:val>
                                        </p:tav>
                                        <p:tav tm="100000">
                                          <p:val>
                                            <p:strVal val="#ppt_x"/>
                                          </p:val>
                                        </p:tav>
                                      </p:tavLst>
                                    </p:anim>
                                    <p:anim calcmode="lin" valueType="num">
                                      <p:cBhvr>
                                        <p:cTn id="18"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nodeType="clickEffect">
                                  <p:stCondLst>
                                    <p:cond delay="0"/>
                                  </p:stCondLst>
                                  <p:childTnLst>
                                    <p:set>
                                      <p:cBhvr>
                                        <p:cTn id="22" dur="1" fill="hold">
                                          <p:stCondLst>
                                            <p:cond delay="0"/>
                                          </p:stCondLst>
                                        </p:cTn>
                                        <p:tgtEl>
                                          <p:spTgt spid="8195">
                                            <p:txEl>
                                              <p:pRg st="1" end="1"/>
                                            </p:txEl>
                                          </p:spTgt>
                                        </p:tgtEl>
                                        <p:attrNameLst>
                                          <p:attrName>style.visibility</p:attrName>
                                        </p:attrNameLst>
                                      </p:cBhvr>
                                      <p:to>
                                        <p:strVal val="visible"/>
                                      </p:to>
                                    </p:set>
                                    <p:animEffect transition="in" filter="wipe(left)">
                                      <p:cBhvr>
                                        <p:cTn id="23" dur="500"/>
                                        <p:tgtEl>
                                          <p:spTgt spid="8195">
                                            <p:txEl>
                                              <p:pRg st="1" end="1"/>
                                            </p:txEl>
                                          </p:spTgt>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10" presetClass="entr" presetSubtype="0" fill="hold" nodeType="clickEffect">
                                  <p:stCondLst>
                                    <p:cond delay="0"/>
                                  </p:stCondLst>
                                  <p:childTnLst>
                                    <p:set>
                                      <p:cBhvr>
                                        <p:cTn id="27" dur="1" fill="hold">
                                          <p:stCondLst>
                                            <p:cond delay="0"/>
                                          </p:stCondLst>
                                        </p:cTn>
                                        <p:tgtEl>
                                          <p:spTgt spid="47106"/>
                                        </p:tgtEl>
                                        <p:attrNameLst>
                                          <p:attrName>style.visibility</p:attrName>
                                        </p:attrNameLst>
                                      </p:cBhvr>
                                      <p:to>
                                        <p:strVal val="visible"/>
                                      </p:to>
                                    </p:set>
                                    <p:animEffect transition="in" filter="fade">
                                      <p:cBhvr>
                                        <p:cTn id="28" dur="500"/>
                                        <p:tgtEl>
                                          <p:spTgt spid="47106"/>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nodeType="clickEffect">
                                  <p:stCondLst>
                                    <p:cond delay="0"/>
                                  </p:stCondLst>
                                  <p:childTnLst>
                                    <p:set>
                                      <p:cBhvr>
                                        <p:cTn id="32" dur="1" fill="hold">
                                          <p:stCondLst>
                                            <p:cond delay="0"/>
                                          </p:stCondLst>
                                        </p:cTn>
                                        <p:tgtEl>
                                          <p:spTgt spid="8195">
                                            <p:txEl>
                                              <p:pRg st="2" end="2"/>
                                            </p:txEl>
                                          </p:spTgt>
                                        </p:tgtEl>
                                        <p:attrNameLst>
                                          <p:attrName>style.visibility</p:attrName>
                                        </p:attrNameLst>
                                      </p:cBhvr>
                                      <p:to>
                                        <p:strVal val="visible"/>
                                      </p:to>
                                    </p:set>
                                    <p:animEffect transition="in" filter="wipe(left)">
                                      <p:cBhvr>
                                        <p:cTn id="33" dur="500"/>
                                        <p:tgtEl>
                                          <p:spTgt spid="819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703512" y="58831"/>
            <a:ext cx="8964488" cy="1371600"/>
          </a:xfrm>
        </p:spPr>
        <p:txBody>
          <a:bodyPr/>
          <a:lstStyle/>
          <a:p>
            <a:pPr algn="ctr"/>
            <a:r>
              <a:rPr lang="zh-CN" altLang="en-US" sz="4000" dirty="0">
                <a:solidFill>
                  <a:srgbClr val="008000"/>
                </a:solidFill>
                <a:latin typeface="黑体" panose="02010609060101010101" pitchFamily="49" charset="-122"/>
                <a:ea typeface="黑体" panose="02010609060101010101" pitchFamily="49" charset="-122"/>
              </a:rPr>
              <a:t>模糊数学发展的主流是在它的应用方面</a:t>
            </a:r>
            <a:endParaRPr lang="zh-CN" altLang="en-US" sz="4000" b="1" dirty="0">
              <a:solidFill>
                <a:srgbClr val="008000"/>
              </a:solidFill>
              <a:latin typeface="黑体" panose="02010609060101010101" pitchFamily="49" charset="-122"/>
              <a:ea typeface="黑体" panose="02010609060101010101" pitchFamily="49" charset="-122"/>
            </a:endParaRPr>
          </a:p>
        </p:txBody>
      </p:sp>
      <p:sp>
        <p:nvSpPr>
          <p:cNvPr id="3" name="内容占位符 2"/>
          <p:cNvSpPr>
            <a:spLocks noGrp="1"/>
          </p:cNvSpPr>
          <p:nvPr>
            <p:ph sz="half" idx="1"/>
          </p:nvPr>
        </p:nvSpPr>
        <p:spPr>
          <a:xfrm>
            <a:off x="1847528" y="2132856"/>
            <a:ext cx="4038600" cy="4320480"/>
          </a:xfrm>
        </p:spPr>
        <p:txBody>
          <a:bodyPr/>
          <a:lstStyle/>
          <a:p>
            <a:r>
              <a:rPr lang="zh-CN" altLang="en-US" b="1" dirty="0">
                <a:solidFill>
                  <a:srgbClr val="FF0000"/>
                </a:solidFill>
              </a:rPr>
              <a:t>模糊</a:t>
            </a:r>
            <a:r>
              <a:rPr lang="zh-CN" altLang="en-US" b="1" dirty="0">
                <a:solidFill>
                  <a:srgbClr val="3333FF"/>
                </a:solidFill>
              </a:rPr>
              <a:t>聚类</a:t>
            </a:r>
            <a:endParaRPr lang="en-US" altLang="zh-CN" b="1" dirty="0">
              <a:solidFill>
                <a:srgbClr val="3333FF"/>
              </a:solidFill>
            </a:endParaRPr>
          </a:p>
          <a:p>
            <a:r>
              <a:rPr lang="zh-CN" altLang="en-US" b="1" dirty="0">
                <a:solidFill>
                  <a:srgbClr val="FF0000"/>
                </a:solidFill>
              </a:rPr>
              <a:t>模糊</a:t>
            </a:r>
            <a:r>
              <a:rPr lang="zh-CN" altLang="en-US" b="1" dirty="0">
                <a:solidFill>
                  <a:srgbClr val="3333FF"/>
                </a:solidFill>
              </a:rPr>
              <a:t>模式识别</a:t>
            </a:r>
            <a:endParaRPr lang="en-US" altLang="zh-CN" b="1" dirty="0">
              <a:solidFill>
                <a:srgbClr val="3333FF"/>
              </a:solidFill>
            </a:endParaRPr>
          </a:p>
          <a:p>
            <a:r>
              <a:rPr lang="zh-CN" altLang="en-US" b="1" dirty="0">
                <a:solidFill>
                  <a:srgbClr val="FF0000"/>
                </a:solidFill>
              </a:rPr>
              <a:t>模糊</a:t>
            </a:r>
            <a:r>
              <a:rPr lang="zh-CN" altLang="en-US" b="1" dirty="0">
                <a:solidFill>
                  <a:srgbClr val="3333FF"/>
                </a:solidFill>
              </a:rPr>
              <a:t>综合评判</a:t>
            </a:r>
            <a:endParaRPr lang="en-US" altLang="zh-CN" b="1" dirty="0">
              <a:solidFill>
                <a:srgbClr val="3333FF"/>
              </a:solidFill>
            </a:endParaRPr>
          </a:p>
          <a:p>
            <a:r>
              <a:rPr lang="zh-CN" altLang="en-US" b="1" dirty="0">
                <a:solidFill>
                  <a:srgbClr val="FF0000"/>
                </a:solidFill>
              </a:rPr>
              <a:t>模糊</a:t>
            </a:r>
            <a:r>
              <a:rPr lang="zh-CN" altLang="en-US" b="1" dirty="0">
                <a:solidFill>
                  <a:srgbClr val="3333FF"/>
                </a:solidFill>
              </a:rPr>
              <a:t>控制</a:t>
            </a:r>
            <a:endParaRPr lang="en-US" altLang="zh-CN" b="1" dirty="0">
              <a:solidFill>
                <a:srgbClr val="3333FF"/>
              </a:solidFill>
            </a:endParaRPr>
          </a:p>
          <a:p>
            <a:r>
              <a:rPr lang="zh-CN" altLang="en-US" b="1" dirty="0">
                <a:solidFill>
                  <a:srgbClr val="FF0000"/>
                </a:solidFill>
              </a:rPr>
              <a:t>模糊</a:t>
            </a:r>
            <a:r>
              <a:rPr lang="zh-CN" altLang="en-US" b="1" dirty="0">
                <a:solidFill>
                  <a:srgbClr val="3333FF"/>
                </a:solidFill>
              </a:rPr>
              <a:t>逻辑</a:t>
            </a:r>
            <a:endParaRPr lang="en-US" altLang="zh-CN" b="1" dirty="0">
              <a:solidFill>
                <a:srgbClr val="3333FF"/>
              </a:solidFill>
            </a:endParaRPr>
          </a:p>
          <a:p>
            <a:r>
              <a:rPr lang="zh-CN" altLang="en-US" b="1" dirty="0">
                <a:solidFill>
                  <a:srgbClr val="FF0000"/>
                </a:solidFill>
              </a:rPr>
              <a:t>模糊</a:t>
            </a:r>
            <a:r>
              <a:rPr lang="zh-CN" altLang="en-US" b="1" dirty="0">
                <a:solidFill>
                  <a:srgbClr val="3333FF"/>
                </a:solidFill>
              </a:rPr>
              <a:t>决策</a:t>
            </a:r>
            <a:endParaRPr lang="en-US" altLang="zh-CN" b="1" dirty="0">
              <a:solidFill>
                <a:srgbClr val="3333FF"/>
              </a:solidFill>
            </a:endParaRPr>
          </a:p>
          <a:p>
            <a:r>
              <a:rPr lang="zh-CN" altLang="en-US" b="1" dirty="0">
                <a:solidFill>
                  <a:srgbClr val="FF0000"/>
                </a:solidFill>
              </a:rPr>
              <a:t>模糊</a:t>
            </a:r>
            <a:r>
              <a:rPr lang="zh-CN" altLang="en-US" b="1" dirty="0">
                <a:solidFill>
                  <a:srgbClr val="3333FF"/>
                </a:solidFill>
              </a:rPr>
              <a:t>自动机</a:t>
            </a:r>
            <a:endParaRPr lang="en-US" altLang="zh-CN" b="1" dirty="0">
              <a:solidFill>
                <a:srgbClr val="3333FF"/>
              </a:solidFill>
            </a:endParaRPr>
          </a:p>
          <a:p>
            <a:r>
              <a:rPr lang="zh-CN" altLang="en-US" b="1" dirty="0">
                <a:solidFill>
                  <a:srgbClr val="FF0000"/>
                </a:solidFill>
              </a:rPr>
              <a:t>模糊</a:t>
            </a:r>
            <a:r>
              <a:rPr lang="zh-CN" altLang="en-US" b="1" dirty="0">
                <a:solidFill>
                  <a:srgbClr val="3333FF"/>
                </a:solidFill>
              </a:rPr>
              <a:t>神经网络</a:t>
            </a:r>
            <a:endParaRPr lang="en-US" altLang="zh-CN" b="1" dirty="0">
              <a:solidFill>
                <a:srgbClr val="3333FF"/>
              </a:solidFill>
            </a:endParaRPr>
          </a:p>
          <a:p>
            <a:pPr marL="0" indent="0">
              <a:buNone/>
            </a:pPr>
            <a:endParaRPr lang="en-US" altLang="zh-CN" sz="3200" b="1" dirty="0">
              <a:solidFill>
                <a:srgbClr val="3333FF"/>
              </a:solidFill>
            </a:endParaRPr>
          </a:p>
          <a:p>
            <a:endParaRPr lang="en-US" altLang="zh-CN" sz="3200" dirty="0">
              <a:solidFill>
                <a:srgbClr val="3333FF"/>
              </a:solidFill>
            </a:endParaRPr>
          </a:p>
        </p:txBody>
      </p:sp>
      <p:sp>
        <p:nvSpPr>
          <p:cNvPr id="4" name="矩形 3"/>
          <p:cNvSpPr/>
          <p:nvPr/>
        </p:nvSpPr>
        <p:spPr>
          <a:xfrm>
            <a:off x="1775521" y="6173472"/>
            <a:ext cx="7272808" cy="584775"/>
          </a:xfrm>
          <a:prstGeom prst="rect">
            <a:avLst/>
          </a:prstGeom>
        </p:spPr>
        <p:txBody>
          <a:bodyPr wrap="square">
            <a:spAutoFit/>
          </a:bodyPr>
          <a:lstStyle/>
          <a:p>
            <a:pPr marL="0" lvl="1" eaLnBrk="0" hangingPunct="0">
              <a:spcBef>
                <a:spcPct val="20000"/>
              </a:spcBef>
              <a:buClr>
                <a:srgbClr val="00007D"/>
              </a:buClr>
              <a:buSzPct val="75000"/>
            </a:pPr>
            <a:r>
              <a:rPr lang="zh-CN" altLang="en-US" sz="3200" b="1" kern="0" dirty="0">
                <a:solidFill>
                  <a:srgbClr val="000000"/>
                </a:solidFill>
                <a:latin typeface="Arial"/>
                <a:ea typeface="华文楷体"/>
              </a:rPr>
              <a:t>等方面取得具体的研究成果。</a:t>
            </a:r>
            <a:endParaRPr lang="en-US" altLang="zh-CN" sz="3200" b="1" kern="0" dirty="0">
              <a:solidFill>
                <a:srgbClr val="000000"/>
              </a:solidFill>
              <a:latin typeface="Arial"/>
              <a:ea typeface="华文楷体"/>
            </a:endParaRPr>
          </a:p>
        </p:txBody>
      </p:sp>
      <p:sp>
        <p:nvSpPr>
          <p:cNvPr id="6" name="内容占位符 2"/>
          <p:cNvSpPr txBox="1">
            <a:spLocks/>
          </p:cNvSpPr>
          <p:nvPr/>
        </p:nvSpPr>
        <p:spPr bwMode="auto">
          <a:xfrm>
            <a:off x="6677509" y="2026804"/>
            <a:ext cx="4038600" cy="42566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bg2"/>
              </a:buClr>
              <a:buSzPct val="75000"/>
              <a:buFont typeface="Wingdings"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itchFamily="2" charset="2"/>
              <a:buChar char="¨"/>
              <a:defRPr sz="24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itchFamily="2" charset="2"/>
              <a:buChar char="n"/>
              <a:defRPr sz="20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itchFamily="2" charset="2"/>
              <a:buChar char="¨"/>
              <a:defRPr sz="18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itchFamily="2" charset="2"/>
              <a:buChar char="§"/>
              <a:defRPr sz="1800">
                <a:solidFill>
                  <a:schemeClr val="tx1"/>
                </a:solidFill>
                <a:latin typeface="+mn-lt"/>
                <a:ea typeface="+mn-ea"/>
              </a:defRPr>
            </a:lvl5pPr>
            <a:lvl6pPr marL="2514600" indent="-228600" algn="l" rtl="0" fontAlgn="base">
              <a:spcBef>
                <a:spcPct val="20000"/>
              </a:spcBef>
              <a:spcAft>
                <a:spcPct val="0"/>
              </a:spcAft>
              <a:buClr>
                <a:schemeClr val="bg2"/>
              </a:buClr>
              <a:buFont typeface="Wingdings" pitchFamily="2" charset="2"/>
              <a:buChar char="§"/>
              <a:defRPr sz="1800">
                <a:solidFill>
                  <a:schemeClr val="tx1"/>
                </a:solidFill>
                <a:latin typeface="+mn-lt"/>
                <a:ea typeface="+mn-ea"/>
              </a:defRPr>
            </a:lvl6pPr>
            <a:lvl7pPr marL="2971800" indent="-228600" algn="l" rtl="0" fontAlgn="base">
              <a:spcBef>
                <a:spcPct val="20000"/>
              </a:spcBef>
              <a:spcAft>
                <a:spcPct val="0"/>
              </a:spcAft>
              <a:buClr>
                <a:schemeClr val="bg2"/>
              </a:buClr>
              <a:buFont typeface="Wingdings" pitchFamily="2" charset="2"/>
              <a:buChar char="§"/>
              <a:defRPr sz="1800">
                <a:solidFill>
                  <a:schemeClr val="tx1"/>
                </a:solidFill>
                <a:latin typeface="+mn-lt"/>
                <a:ea typeface="+mn-ea"/>
              </a:defRPr>
            </a:lvl7pPr>
            <a:lvl8pPr marL="3429000" indent="-228600" algn="l" rtl="0" fontAlgn="base">
              <a:spcBef>
                <a:spcPct val="20000"/>
              </a:spcBef>
              <a:spcAft>
                <a:spcPct val="0"/>
              </a:spcAft>
              <a:buClr>
                <a:schemeClr val="bg2"/>
              </a:buClr>
              <a:buFont typeface="Wingdings" pitchFamily="2" charset="2"/>
              <a:buChar char="§"/>
              <a:defRPr sz="1800">
                <a:solidFill>
                  <a:schemeClr val="tx1"/>
                </a:solidFill>
                <a:latin typeface="+mn-lt"/>
                <a:ea typeface="+mn-ea"/>
              </a:defRPr>
            </a:lvl8pPr>
            <a:lvl9pPr marL="3886200" indent="-228600" algn="l" rtl="0" fontAlgn="base">
              <a:spcBef>
                <a:spcPct val="20000"/>
              </a:spcBef>
              <a:spcAft>
                <a:spcPct val="0"/>
              </a:spcAft>
              <a:buClr>
                <a:schemeClr val="bg2"/>
              </a:buClr>
              <a:buFont typeface="Wingdings" pitchFamily="2" charset="2"/>
              <a:buChar char="§"/>
              <a:defRPr sz="1800">
                <a:solidFill>
                  <a:schemeClr val="tx1"/>
                </a:solidFill>
                <a:latin typeface="+mn-lt"/>
                <a:ea typeface="+mn-ea"/>
              </a:defRPr>
            </a:lvl9pPr>
          </a:lstStyle>
          <a:p>
            <a:r>
              <a:rPr lang="zh-CN" altLang="en-US" b="1" dirty="0">
                <a:solidFill>
                  <a:srgbClr val="FF0000"/>
                </a:solidFill>
              </a:rPr>
              <a:t>模糊</a:t>
            </a:r>
            <a:r>
              <a:rPr lang="zh-CN" altLang="en-US" b="1" dirty="0">
                <a:solidFill>
                  <a:srgbClr val="3333FF"/>
                </a:solidFill>
              </a:rPr>
              <a:t>系统</a:t>
            </a:r>
            <a:endParaRPr lang="en-US" altLang="zh-CN" b="1" dirty="0">
              <a:solidFill>
                <a:srgbClr val="3333FF"/>
              </a:solidFill>
            </a:endParaRPr>
          </a:p>
          <a:p>
            <a:r>
              <a:rPr lang="zh-CN" altLang="en-US" b="1" dirty="0">
                <a:solidFill>
                  <a:srgbClr val="FF0000"/>
                </a:solidFill>
              </a:rPr>
              <a:t>模糊</a:t>
            </a:r>
            <a:r>
              <a:rPr lang="zh-CN" altLang="en-US" b="1" dirty="0">
                <a:solidFill>
                  <a:srgbClr val="3333FF"/>
                </a:solidFill>
              </a:rPr>
              <a:t>随机投资组合</a:t>
            </a:r>
            <a:endParaRPr lang="en-US" altLang="zh-CN" b="1" dirty="0">
              <a:solidFill>
                <a:srgbClr val="3333FF"/>
              </a:solidFill>
            </a:endParaRPr>
          </a:p>
          <a:p>
            <a:r>
              <a:rPr lang="zh-CN" altLang="en-US" b="1" dirty="0">
                <a:solidFill>
                  <a:srgbClr val="FF0000"/>
                </a:solidFill>
              </a:rPr>
              <a:t>模糊</a:t>
            </a:r>
            <a:r>
              <a:rPr lang="zh-CN" altLang="en-US" b="1" dirty="0">
                <a:solidFill>
                  <a:srgbClr val="3333FF"/>
                </a:solidFill>
              </a:rPr>
              <a:t>层次分析法</a:t>
            </a:r>
            <a:endParaRPr lang="en-US" altLang="zh-CN" b="1" dirty="0">
              <a:solidFill>
                <a:srgbClr val="3333FF"/>
              </a:solidFill>
            </a:endParaRPr>
          </a:p>
          <a:p>
            <a:r>
              <a:rPr lang="zh-CN" altLang="en-US" b="1" dirty="0">
                <a:solidFill>
                  <a:srgbClr val="FF0000"/>
                </a:solidFill>
              </a:rPr>
              <a:t>模糊</a:t>
            </a:r>
            <a:r>
              <a:rPr lang="zh-CN" altLang="en-US" b="1" dirty="0">
                <a:solidFill>
                  <a:srgbClr val="3333FF"/>
                </a:solidFill>
              </a:rPr>
              <a:t>诊断</a:t>
            </a:r>
            <a:endParaRPr lang="en-US" altLang="zh-CN" b="1" dirty="0">
              <a:solidFill>
                <a:srgbClr val="3333FF"/>
              </a:solidFill>
            </a:endParaRPr>
          </a:p>
          <a:p>
            <a:r>
              <a:rPr lang="zh-CN" altLang="en-US" b="1" dirty="0">
                <a:solidFill>
                  <a:srgbClr val="FF0000"/>
                </a:solidFill>
              </a:rPr>
              <a:t>模糊</a:t>
            </a:r>
            <a:r>
              <a:rPr lang="zh-CN" altLang="en-US" b="1" dirty="0">
                <a:solidFill>
                  <a:srgbClr val="3333FF"/>
                </a:solidFill>
              </a:rPr>
              <a:t>推理</a:t>
            </a:r>
            <a:endParaRPr lang="en-US" altLang="zh-CN" b="1" dirty="0">
              <a:solidFill>
                <a:srgbClr val="3333FF"/>
              </a:solidFill>
            </a:endParaRPr>
          </a:p>
          <a:p>
            <a:r>
              <a:rPr lang="zh-CN" altLang="en-US" b="1" dirty="0">
                <a:solidFill>
                  <a:srgbClr val="FF0000"/>
                </a:solidFill>
              </a:rPr>
              <a:t>模糊</a:t>
            </a:r>
            <a:r>
              <a:rPr lang="zh-CN" altLang="en-US" b="1" dirty="0">
                <a:solidFill>
                  <a:srgbClr val="3333FF"/>
                </a:solidFill>
              </a:rPr>
              <a:t>统计</a:t>
            </a:r>
            <a:endParaRPr lang="en-US" altLang="zh-CN" b="1" dirty="0">
              <a:solidFill>
                <a:srgbClr val="3333FF"/>
              </a:solidFill>
            </a:endParaRPr>
          </a:p>
          <a:p>
            <a:r>
              <a:rPr lang="zh-CN" altLang="en-US" b="1" dirty="0">
                <a:solidFill>
                  <a:srgbClr val="FF0000"/>
                </a:solidFill>
              </a:rPr>
              <a:t>模糊</a:t>
            </a:r>
            <a:r>
              <a:rPr lang="zh-CN" altLang="en-US" b="1" dirty="0">
                <a:solidFill>
                  <a:srgbClr val="3333FF"/>
                </a:solidFill>
              </a:rPr>
              <a:t>专家系统</a:t>
            </a:r>
            <a:endParaRPr lang="en-US" altLang="zh-CN" b="1" dirty="0">
              <a:solidFill>
                <a:srgbClr val="3333FF"/>
              </a:solidFill>
            </a:endParaRPr>
          </a:p>
          <a:p>
            <a:r>
              <a:rPr lang="zh-CN" altLang="en-US" b="1" dirty="0">
                <a:solidFill>
                  <a:srgbClr val="FF0000"/>
                </a:solidFill>
              </a:rPr>
              <a:t>模糊</a:t>
            </a:r>
            <a:r>
              <a:rPr lang="en-US" altLang="zh-CN" b="1" dirty="0">
                <a:solidFill>
                  <a:srgbClr val="3333FF"/>
                </a:solidFill>
              </a:rPr>
              <a:t>……</a:t>
            </a:r>
            <a:r>
              <a:rPr lang="zh-CN" altLang="en-US" b="1" dirty="0">
                <a:solidFill>
                  <a:srgbClr val="CC00FF"/>
                </a:solidFill>
              </a:rPr>
              <a:t>模型</a:t>
            </a:r>
            <a:endParaRPr lang="en-US" altLang="zh-CN" sz="3200" b="1" dirty="0">
              <a:solidFill>
                <a:srgbClr val="CC00FF"/>
              </a:solidFill>
            </a:endParaRPr>
          </a:p>
        </p:txBody>
      </p:sp>
      <p:sp>
        <p:nvSpPr>
          <p:cNvPr id="7" name="文本框 6">
            <a:extLst>
              <a:ext uri="{FF2B5EF4-FFF2-40B4-BE49-F238E27FC236}">
                <a16:creationId xmlns:a16="http://schemas.microsoft.com/office/drawing/2014/main" id="{730DB2FB-5A3A-E75E-E315-74AA5AA72CB8}"/>
              </a:ext>
            </a:extLst>
          </p:cNvPr>
          <p:cNvSpPr txBox="1"/>
          <p:nvPr/>
        </p:nvSpPr>
        <p:spPr>
          <a:xfrm>
            <a:off x="1217204" y="1140421"/>
            <a:ext cx="9937104" cy="954107"/>
          </a:xfrm>
          <a:prstGeom prst="rect">
            <a:avLst/>
          </a:prstGeom>
          <a:noFill/>
        </p:spPr>
        <p:txBody>
          <a:bodyPr wrap="square">
            <a:spAutoFit/>
          </a:bodyPr>
          <a:lstStyle/>
          <a:p>
            <a:r>
              <a:rPr lang="en-US" altLang="zh-CN" sz="2800" b="1" dirty="0">
                <a:solidFill>
                  <a:srgbClr val="111111"/>
                </a:solidFill>
                <a:latin typeface="Microsoft YaHei" panose="020B0503020204020204" pitchFamily="34" charset="-122"/>
                <a:ea typeface="Microsoft YaHei" panose="020B0503020204020204" pitchFamily="34" charset="-122"/>
              </a:rPr>
              <a:t>——</a:t>
            </a:r>
            <a:r>
              <a:rPr lang="zh-CN" altLang="en-US" sz="2800" b="1" dirty="0">
                <a:solidFill>
                  <a:srgbClr val="111111"/>
                </a:solidFill>
                <a:latin typeface="Microsoft YaHei" panose="020B0503020204020204" pitchFamily="34" charset="-122"/>
                <a:ea typeface="Microsoft YaHei" panose="020B0503020204020204" pitchFamily="34" charset="-122"/>
              </a:rPr>
              <a:t>它为人们研究和解决那些复杂的、难以用精确数学关系描述的问题，提供了一种简捷而有效的方法。</a:t>
            </a:r>
            <a:endParaRPr lang="zh-CN" altLang="en-US" sz="2800" dirty="0"/>
          </a:p>
        </p:txBody>
      </p:sp>
    </p:spTree>
    <p:extLst>
      <p:ext uri="{BB962C8B-B14F-4D97-AF65-F5344CB8AC3E}">
        <p14:creationId xmlns:p14="http://schemas.microsoft.com/office/powerpoint/2010/main" val="36896258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wipe(left)">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wipe(left)">
                                      <p:cBhvr>
                                        <p:cTn id="17" dur="5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wipe(left)">
                                      <p:cBhvr>
                                        <p:cTn id="22" dur="500"/>
                                        <p:tgtEl>
                                          <p:spTgt spid="3">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animEffect transition="in" filter="wipe(left)">
                                      <p:cBhvr>
                                        <p:cTn id="27" dur="500"/>
                                        <p:tgtEl>
                                          <p:spTgt spid="3">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3">
                                            <p:txEl>
                                              <p:pRg st="4" end="4"/>
                                            </p:txEl>
                                          </p:spTgt>
                                        </p:tgtEl>
                                        <p:attrNameLst>
                                          <p:attrName>style.visibility</p:attrName>
                                        </p:attrNameLst>
                                      </p:cBhvr>
                                      <p:to>
                                        <p:strVal val="visible"/>
                                      </p:to>
                                    </p:set>
                                    <p:animEffect transition="in" filter="wipe(left)">
                                      <p:cBhvr>
                                        <p:cTn id="32" dur="500"/>
                                        <p:tgtEl>
                                          <p:spTgt spid="3">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Effect transition="in" filter="wipe(left)">
                                      <p:cBhvr>
                                        <p:cTn id="37" dur="500"/>
                                        <p:tgtEl>
                                          <p:spTgt spid="3">
                                            <p:txEl>
                                              <p:pRg st="5" end="5"/>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3">
                                            <p:txEl>
                                              <p:pRg st="6" end="6"/>
                                            </p:txEl>
                                          </p:spTgt>
                                        </p:tgtEl>
                                        <p:attrNameLst>
                                          <p:attrName>style.visibility</p:attrName>
                                        </p:attrNameLst>
                                      </p:cBhvr>
                                      <p:to>
                                        <p:strVal val="visible"/>
                                      </p:to>
                                    </p:set>
                                    <p:animEffect transition="in" filter="wipe(left)">
                                      <p:cBhvr>
                                        <p:cTn id="42" dur="500"/>
                                        <p:tgtEl>
                                          <p:spTgt spid="3">
                                            <p:txEl>
                                              <p:pRg st="6" end="6"/>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3">
                                            <p:txEl>
                                              <p:pRg st="7" end="7"/>
                                            </p:txEl>
                                          </p:spTgt>
                                        </p:tgtEl>
                                        <p:attrNameLst>
                                          <p:attrName>style.visibility</p:attrName>
                                        </p:attrNameLst>
                                      </p:cBhvr>
                                      <p:to>
                                        <p:strVal val="visible"/>
                                      </p:to>
                                    </p:set>
                                    <p:animEffect transition="in" filter="wipe(left)">
                                      <p:cBhvr>
                                        <p:cTn id="47" dur="500"/>
                                        <p:tgtEl>
                                          <p:spTgt spid="3">
                                            <p:txEl>
                                              <p:pRg st="7" end="7"/>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6">
                                            <p:txEl>
                                              <p:pRg st="0" end="0"/>
                                            </p:txEl>
                                          </p:spTgt>
                                        </p:tgtEl>
                                        <p:attrNameLst>
                                          <p:attrName>style.visibility</p:attrName>
                                        </p:attrNameLst>
                                      </p:cBhvr>
                                      <p:to>
                                        <p:strVal val="visible"/>
                                      </p:to>
                                    </p:set>
                                    <p:animEffect transition="in" filter="wipe(left)">
                                      <p:cBhvr>
                                        <p:cTn id="52" dur="500"/>
                                        <p:tgtEl>
                                          <p:spTgt spid="6">
                                            <p:txEl>
                                              <p:pRg st="0" end="0"/>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6">
                                            <p:txEl>
                                              <p:pRg st="1" end="1"/>
                                            </p:txEl>
                                          </p:spTgt>
                                        </p:tgtEl>
                                        <p:attrNameLst>
                                          <p:attrName>style.visibility</p:attrName>
                                        </p:attrNameLst>
                                      </p:cBhvr>
                                      <p:to>
                                        <p:strVal val="visible"/>
                                      </p:to>
                                    </p:set>
                                    <p:animEffect transition="in" filter="wipe(left)">
                                      <p:cBhvr>
                                        <p:cTn id="57" dur="500"/>
                                        <p:tgtEl>
                                          <p:spTgt spid="6">
                                            <p:txEl>
                                              <p:pRg st="1" end="1"/>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grpId="0" nodeType="clickEffect">
                                  <p:stCondLst>
                                    <p:cond delay="0"/>
                                  </p:stCondLst>
                                  <p:childTnLst>
                                    <p:set>
                                      <p:cBhvr>
                                        <p:cTn id="61" dur="1" fill="hold">
                                          <p:stCondLst>
                                            <p:cond delay="0"/>
                                          </p:stCondLst>
                                        </p:cTn>
                                        <p:tgtEl>
                                          <p:spTgt spid="6">
                                            <p:txEl>
                                              <p:pRg st="2" end="2"/>
                                            </p:txEl>
                                          </p:spTgt>
                                        </p:tgtEl>
                                        <p:attrNameLst>
                                          <p:attrName>style.visibility</p:attrName>
                                        </p:attrNameLst>
                                      </p:cBhvr>
                                      <p:to>
                                        <p:strVal val="visible"/>
                                      </p:to>
                                    </p:set>
                                    <p:animEffect transition="in" filter="wipe(left)">
                                      <p:cBhvr>
                                        <p:cTn id="62" dur="500"/>
                                        <p:tgtEl>
                                          <p:spTgt spid="6">
                                            <p:txEl>
                                              <p:pRg st="2" end="2"/>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8" fill="hold" grpId="0" nodeType="clickEffect">
                                  <p:stCondLst>
                                    <p:cond delay="0"/>
                                  </p:stCondLst>
                                  <p:childTnLst>
                                    <p:set>
                                      <p:cBhvr>
                                        <p:cTn id="66" dur="1" fill="hold">
                                          <p:stCondLst>
                                            <p:cond delay="0"/>
                                          </p:stCondLst>
                                        </p:cTn>
                                        <p:tgtEl>
                                          <p:spTgt spid="6">
                                            <p:txEl>
                                              <p:pRg st="3" end="3"/>
                                            </p:txEl>
                                          </p:spTgt>
                                        </p:tgtEl>
                                        <p:attrNameLst>
                                          <p:attrName>style.visibility</p:attrName>
                                        </p:attrNameLst>
                                      </p:cBhvr>
                                      <p:to>
                                        <p:strVal val="visible"/>
                                      </p:to>
                                    </p:set>
                                    <p:animEffect transition="in" filter="wipe(left)">
                                      <p:cBhvr>
                                        <p:cTn id="67" dur="500"/>
                                        <p:tgtEl>
                                          <p:spTgt spid="6">
                                            <p:txEl>
                                              <p:pRg st="3" end="3"/>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8" fill="hold" grpId="0" nodeType="clickEffect">
                                  <p:stCondLst>
                                    <p:cond delay="0"/>
                                  </p:stCondLst>
                                  <p:childTnLst>
                                    <p:set>
                                      <p:cBhvr>
                                        <p:cTn id="71" dur="1" fill="hold">
                                          <p:stCondLst>
                                            <p:cond delay="0"/>
                                          </p:stCondLst>
                                        </p:cTn>
                                        <p:tgtEl>
                                          <p:spTgt spid="6">
                                            <p:txEl>
                                              <p:pRg st="4" end="4"/>
                                            </p:txEl>
                                          </p:spTgt>
                                        </p:tgtEl>
                                        <p:attrNameLst>
                                          <p:attrName>style.visibility</p:attrName>
                                        </p:attrNameLst>
                                      </p:cBhvr>
                                      <p:to>
                                        <p:strVal val="visible"/>
                                      </p:to>
                                    </p:set>
                                    <p:animEffect transition="in" filter="wipe(left)">
                                      <p:cBhvr>
                                        <p:cTn id="72" dur="500"/>
                                        <p:tgtEl>
                                          <p:spTgt spid="6">
                                            <p:txEl>
                                              <p:pRg st="4" end="4"/>
                                            </p:txEl>
                                          </p:spTgt>
                                        </p:tgtEl>
                                      </p:cBhvr>
                                    </p:animEffect>
                                  </p:childTnLst>
                                </p:cTn>
                              </p:par>
                            </p:childTnLst>
                          </p:cTn>
                        </p:par>
                      </p:childTnLst>
                    </p:cTn>
                  </p:par>
                  <p:par>
                    <p:cTn id="73" fill="hold">
                      <p:stCondLst>
                        <p:cond delay="indefinite"/>
                      </p:stCondLst>
                      <p:childTnLst>
                        <p:par>
                          <p:cTn id="74" fill="hold">
                            <p:stCondLst>
                              <p:cond delay="0"/>
                            </p:stCondLst>
                            <p:childTnLst>
                              <p:par>
                                <p:cTn id="75" presetID="22" presetClass="entr" presetSubtype="8" fill="hold" grpId="0" nodeType="clickEffect">
                                  <p:stCondLst>
                                    <p:cond delay="0"/>
                                  </p:stCondLst>
                                  <p:childTnLst>
                                    <p:set>
                                      <p:cBhvr>
                                        <p:cTn id="76" dur="1" fill="hold">
                                          <p:stCondLst>
                                            <p:cond delay="0"/>
                                          </p:stCondLst>
                                        </p:cTn>
                                        <p:tgtEl>
                                          <p:spTgt spid="6">
                                            <p:txEl>
                                              <p:pRg st="5" end="5"/>
                                            </p:txEl>
                                          </p:spTgt>
                                        </p:tgtEl>
                                        <p:attrNameLst>
                                          <p:attrName>style.visibility</p:attrName>
                                        </p:attrNameLst>
                                      </p:cBhvr>
                                      <p:to>
                                        <p:strVal val="visible"/>
                                      </p:to>
                                    </p:set>
                                    <p:animEffect transition="in" filter="wipe(left)">
                                      <p:cBhvr>
                                        <p:cTn id="77" dur="500"/>
                                        <p:tgtEl>
                                          <p:spTgt spid="6">
                                            <p:txEl>
                                              <p:pRg st="5" end="5"/>
                                            </p:txEl>
                                          </p:spTgt>
                                        </p:tgtEl>
                                      </p:cBhvr>
                                    </p:animEffect>
                                  </p:childTnLst>
                                </p:cTn>
                              </p:par>
                            </p:childTnLst>
                          </p:cTn>
                        </p:par>
                      </p:childTnLst>
                    </p:cTn>
                  </p:par>
                  <p:par>
                    <p:cTn id="78" fill="hold">
                      <p:stCondLst>
                        <p:cond delay="indefinite"/>
                      </p:stCondLst>
                      <p:childTnLst>
                        <p:par>
                          <p:cTn id="79" fill="hold">
                            <p:stCondLst>
                              <p:cond delay="0"/>
                            </p:stCondLst>
                            <p:childTnLst>
                              <p:par>
                                <p:cTn id="80" presetID="22" presetClass="entr" presetSubtype="8" fill="hold" grpId="0" nodeType="clickEffect">
                                  <p:stCondLst>
                                    <p:cond delay="0"/>
                                  </p:stCondLst>
                                  <p:childTnLst>
                                    <p:set>
                                      <p:cBhvr>
                                        <p:cTn id="81" dur="1" fill="hold">
                                          <p:stCondLst>
                                            <p:cond delay="0"/>
                                          </p:stCondLst>
                                        </p:cTn>
                                        <p:tgtEl>
                                          <p:spTgt spid="6">
                                            <p:txEl>
                                              <p:pRg st="6" end="6"/>
                                            </p:txEl>
                                          </p:spTgt>
                                        </p:tgtEl>
                                        <p:attrNameLst>
                                          <p:attrName>style.visibility</p:attrName>
                                        </p:attrNameLst>
                                      </p:cBhvr>
                                      <p:to>
                                        <p:strVal val="visible"/>
                                      </p:to>
                                    </p:set>
                                    <p:animEffect transition="in" filter="wipe(left)">
                                      <p:cBhvr>
                                        <p:cTn id="82" dur="500"/>
                                        <p:tgtEl>
                                          <p:spTgt spid="6">
                                            <p:txEl>
                                              <p:pRg st="6" end="6"/>
                                            </p:txEl>
                                          </p:spTgt>
                                        </p:tgtEl>
                                      </p:cBhvr>
                                    </p:animEffect>
                                  </p:childTnLst>
                                </p:cTn>
                              </p:par>
                            </p:childTnLst>
                          </p:cTn>
                        </p:par>
                      </p:childTnLst>
                    </p:cTn>
                  </p:par>
                  <p:par>
                    <p:cTn id="83" fill="hold">
                      <p:stCondLst>
                        <p:cond delay="indefinite"/>
                      </p:stCondLst>
                      <p:childTnLst>
                        <p:par>
                          <p:cTn id="84" fill="hold">
                            <p:stCondLst>
                              <p:cond delay="0"/>
                            </p:stCondLst>
                            <p:childTnLst>
                              <p:par>
                                <p:cTn id="85" presetID="22" presetClass="entr" presetSubtype="8" fill="hold" grpId="0" nodeType="clickEffect">
                                  <p:stCondLst>
                                    <p:cond delay="0"/>
                                  </p:stCondLst>
                                  <p:childTnLst>
                                    <p:set>
                                      <p:cBhvr>
                                        <p:cTn id="86" dur="1" fill="hold">
                                          <p:stCondLst>
                                            <p:cond delay="0"/>
                                          </p:stCondLst>
                                        </p:cTn>
                                        <p:tgtEl>
                                          <p:spTgt spid="6">
                                            <p:txEl>
                                              <p:pRg st="7" end="7"/>
                                            </p:txEl>
                                          </p:spTgt>
                                        </p:tgtEl>
                                        <p:attrNameLst>
                                          <p:attrName>style.visibility</p:attrName>
                                        </p:attrNameLst>
                                      </p:cBhvr>
                                      <p:to>
                                        <p:strVal val="visible"/>
                                      </p:to>
                                    </p:set>
                                    <p:animEffect transition="in" filter="wipe(left)">
                                      <p:cBhvr>
                                        <p:cTn id="87" dur="500"/>
                                        <p:tgtEl>
                                          <p:spTgt spid="6">
                                            <p:txEl>
                                              <p:pRg st="7" end="7"/>
                                            </p:txEl>
                                          </p:spTgt>
                                        </p:tgtEl>
                                      </p:cBhvr>
                                    </p:animEffect>
                                  </p:childTnLst>
                                </p:cTn>
                              </p:par>
                            </p:childTnLst>
                          </p:cTn>
                        </p:par>
                      </p:childTnLst>
                    </p:cTn>
                  </p:par>
                  <p:par>
                    <p:cTn id="88" fill="hold">
                      <p:stCondLst>
                        <p:cond delay="indefinite"/>
                      </p:stCondLst>
                      <p:childTnLst>
                        <p:par>
                          <p:cTn id="89" fill="hold">
                            <p:stCondLst>
                              <p:cond delay="0"/>
                            </p:stCondLst>
                            <p:childTnLst>
                              <p:par>
                                <p:cTn id="90" presetID="42" presetClass="entr" presetSubtype="0" fill="hold" grpId="0" nodeType="clickEffect">
                                  <p:stCondLst>
                                    <p:cond delay="0"/>
                                  </p:stCondLst>
                                  <p:childTnLst>
                                    <p:set>
                                      <p:cBhvr>
                                        <p:cTn id="91" dur="1" fill="hold">
                                          <p:stCondLst>
                                            <p:cond delay="0"/>
                                          </p:stCondLst>
                                        </p:cTn>
                                        <p:tgtEl>
                                          <p:spTgt spid="4"/>
                                        </p:tgtEl>
                                        <p:attrNameLst>
                                          <p:attrName>style.visibility</p:attrName>
                                        </p:attrNameLst>
                                      </p:cBhvr>
                                      <p:to>
                                        <p:strVal val="visible"/>
                                      </p:to>
                                    </p:set>
                                    <p:animEffect transition="in" filter="fade">
                                      <p:cBhvr>
                                        <p:cTn id="92" dur="1000"/>
                                        <p:tgtEl>
                                          <p:spTgt spid="4"/>
                                        </p:tgtEl>
                                      </p:cBhvr>
                                    </p:animEffect>
                                    <p:anim calcmode="lin" valueType="num">
                                      <p:cBhvr>
                                        <p:cTn id="93" dur="1000" fill="hold"/>
                                        <p:tgtEl>
                                          <p:spTgt spid="4"/>
                                        </p:tgtEl>
                                        <p:attrNameLst>
                                          <p:attrName>ppt_x</p:attrName>
                                        </p:attrNameLst>
                                      </p:cBhvr>
                                      <p:tavLst>
                                        <p:tav tm="0">
                                          <p:val>
                                            <p:strVal val="#ppt_x"/>
                                          </p:val>
                                        </p:tav>
                                        <p:tav tm="100000">
                                          <p:val>
                                            <p:strVal val="#ppt_x"/>
                                          </p:val>
                                        </p:tav>
                                      </p:tavLst>
                                    </p:anim>
                                    <p:anim calcmode="lin" valueType="num">
                                      <p:cBhvr>
                                        <p:cTn id="94"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4" grpId="0"/>
      <p:bldP spid="6" grpId="0" build="p"/>
      <p:bldP spid="7"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a:extLst>
              <a:ext uri="{FF2B5EF4-FFF2-40B4-BE49-F238E27FC236}">
                <a16:creationId xmlns:a16="http://schemas.microsoft.com/office/drawing/2014/main" id="{49EBFBFA-DB75-43B3-AC6A-DDCA699C9A00}"/>
              </a:ext>
            </a:extLst>
          </p:cNvPr>
          <p:cNvSpPr>
            <a:spLocks noGrp="1" noChangeArrowheads="1"/>
          </p:cNvSpPr>
          <p:nvPr>
            <p:ph type="title"/>
          </p:nvPr>
        </p:nvSpPr>
        <p:spPr bwMode="auto">
          <a:xfrm>
            <a:off x="1981200" y="184666"/>
            <a:ext cx="8229600" cy="1371600"/>
          </a:xfrm>
        </p:spPr>
        <p:txBody>
          <a:bodyPr/>
          <a:lstStyle/>
          <a:p>
            <a:pPr algn="ctr" eaLnBrk="1" hangingPunct="1"/>
            <a:r>
              <a:rPr lang="zh-CN" altLang="en-US" dirty="0">
                <a:solidFill>
                  <a:srgbClr val="008000"/>
                </a:solidFill>
                <a:latin typeface="黑体" panose="02010609060101010101" pitchFamily="49" charset="-122"/>
                <a:ea typeface="黑体" panose="02010609060101010101" pitchFamily="49" charset="-122"/>
              </a:rPr>
              <a:t>模糊数学的研究与发展</a:t>
            </a:r>
            <a:endParaRPr lang="en-US" altLang="zh-CN" dirty="0">
              <a:solidFill>
                <a:srgbClr val="008000"/>
              </a:solidFill>
              <a:latin typeface="黑体" panose="02010609060101010101" pitchFamily="49" charset="-122"/>
              <a:ea typeface="黑体" panose="02010609060101010101" pitchFamily="49" charset="-122"/>
            </a:endParaRPr>
          </a:p>
        </p:txBody>
      </p:sp>
      <p:sp>
        <p:nvSpPr>
          <p:cNvPr id="43011" name="Rectangle 2">
            <a:extLst>
              <a:ext uri="{FF2B5EF4-FFF2-40B4-BE49-F238E27FC236}">
                <a16:creationId xmlns:a16="http://schemas.microsoft.com/office/drawing/2014/main" id="{D9013284-651C-4893-897C-CF93BC9C317D}"/>
              </a:ext>
            </a:extLst>
          </p:cNvPr>
          <p:cNvSpPr>
            <a:spLocks noChangeArrowheads="1"/>
          </p:cNvSpPr>
          <p:nvPr/>
        </p:nvSpPr>
        <p:spPr bwMode="auto">
          <a:xfrm>
            <a:off x="6003635"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hlink"/>
              </a:buClr>
              <a:buFont typeface="Wingdings" panose="05000000000000000000" pitchFamily="2" charset="2"/>
              <a:buChar char="v"/>
              <a:defRPr sz="2800" b="1">
                <a:solidFill>
                  <a:schemeClr val="accent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400">
                <a:solidFill>
                  <a:schemeClr val="tx1"/>
                </a:solidFill>
                <a:latin typeface="Arial" panose="020B0604020202020204" pitchFamily="34" charset="0"/>
              </a:defRPr>
            </a:lvl2pPr>
            <a:lvl3pPr marL="1143000" indent="-228600">
              <a:spcBef>
                <a:spcPct val="20000"/>
              </a:spcBef>
              <a:buClr>
                <a:schemeClr val="tx1"/>
              </a:buClr>
              <a:buChar char="•"/>
              <a:defRPr sz="22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buFont typeface="Wingdings" panose="05000000000000000000" pitchFamily="2" charset="2"/>
              <a:buNone/>
            </a:pPr>
            <a:endParaRPr lang="zh-CN" altLang="en-US" sz="1800" b="0">
              <a:solidFill>
                <a:schemeClr val="tx1"/>
              </a:solidFill>
              <a:latin typeface="Arial" panose="020B0604020202020204" pitchFamily="34" charset="0"/>
            </a:endParaRPr>
          </a:p>
        </p:txBody>
      </p:sp>
      <p:sp>
        <p:nvSpPr>
          <p:cNvPr id="43012" name="Rectangle 4">
            <a:extLst>
              <a:ext uri="{FF2B5EF4-FFF2-40B4-BE49-F238E27FC236}">
                <a16:creationId xmlns:a16="http://schemas.microsoft.com/office/drawing/2014/main" id="{8DAFE175-7E83-4CE5-B70C-7ED370E512EC}"/>
              </a:ext>
            </a:extLst>
          </p:cNvPr>
          <p:cNvSpPr>
            <a:spLocks noChangeArrowheads="1"/>
          </p:cNvSpPr>
          <p:nvPr/>
        </p:nvSpPr>
        <p:spPr bwMode="auto">
          <a:xfrm>
            <a:off x="6003635"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hlink"/>
              </a:buClr>
              <a:buFont typeface="Wingdings" panose="05000000000000000000" pitchFamily="2" charset="2"/>
              <a:buChar char="v"/>
              <a:defRPr sz="2800" b="1">
                <a:solidFill>
                  <a:schemeClr val="accent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400">
                <a:solidFill>
                  <a:schemeClr val="tx1"/>
                </a:solidFill>
                <a:latin typeface="Arial" panose="020B0604020202020204" pitchFamily="34" charset="0"/>
              </a:defRPr>
            </a:lvl2pPr>
            <a:lvl3pPr marL="1143000" indent="-228600">
              <a:spcBef>
                <a:spcPct val="20000"/>
              </a:spcBef>
              <a:buClr>
                <a:schemeClr val="tx1"/>
              </a:buClr>
              <a:buChar char="•"/>
              <a:defRPr sz="22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buFont typeface="Wingdings" panose="05000000000000000000" pitchFamily="2" charset="2"/>
              <a:buNone/>
            </a:pPr>
            <a:endParaRPr lang="zh-CN" altLang="en-US" sz="1800" b="0">
              <a:solidFill>
                <a:schemeClr val="tx1"/>
              </a:solidFill>
              <a:latin typeface="Arial" panose="020B0604020202020204" pitchFamily="34" charset="0"/>
            </a:endParaRPr>
          </a:p>
        </p:txBody>
      </p:sp>
      <p:sp>
        <p:nvSpPr>
          <p:cNvPr id="43013" name="Rectangle 6">
            <a:extLst>
              <a:ext uri="{FF2B5EF4-FFF2-40B4-BE49-F238E27FC236}">
                <a16:creationId xmlns:a16="http://schemas.microsoft.com/office/drawing/2014/main" id="{A1C4336F-5E85-4BDE-B772-AAEF273023C5}"/>
              </a:ext>
            </a:extLst>
          </p:cNvPr>
          <p:cNvSpPr>
            <a:spLocks noChangeArrowheads="1"/>
          </p:cNvSpPr>
          <p:nvPr/>
        </p:nvSpPr>
        <p:spPr bwMode="auto">
          <a:xfrm>
            <a:off x="6003635"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hlink"/>
              </a:buClr>
              <a:buFont typeface="Wingdings" panose="05000000000000000000" pitchFamily="2" charset="2"/>
              <a:buChar char="v"/>
              <a:defRPr sz="2800" b="1">
                <a:solidFill>
                  <a:schemeClr val="accent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400">
                <a:solidFill>
                  <a:schemeClr val="tx1"/>
                </a:solidFill>
                <a:latin typeface="Arial" panose="020B0604020202020204" pitchFamily="34" charset="0"/>
              </a:defRPr>
            </a:lvl2pPr>
            <a:lvl3pPr marL="1143000" indent="-228600">
              <a:spcBef>
                <a:spcPct val="20000"/>
              </a:spcBef>
              <a:buClr>
                <a:schemeClr val="tx1"/>
              </a:buClr>
              <a:buChar char="•"/>
              <a:defRPr sz="22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buFont typeface="Wingdings" panose="05000000000000000000" pitchFamily="2" charset="2"/>
              <a:buNone/>
            </a:pPr>
            <a:endParaRPr lang="zh-CN" altLang="en-US" sz="1800" b="0">
              <a:solidFill>
                <a:schemeClr val="tx1"/>
              </a:solidFill>
              <a:latin typeface="Arial" panose="020B0604020202020204" pitchFamily="34" charset="0"/>
            </a:endParaRPr>
          </a:p>
        </p:txBody>
      </p:sp>
      <p:graphicFrame>
        <p:nvGraphicFramePr>
          <p:cNvPr id="25637" name="Group 37">
            <a:extLst>
              <a:ext uri="{FF2B5EF4-FFF2-40B4-BE49-F238E27FC236}">
                <a16:creationId xmlns:a16="http://schemas.microsoft.com/office/drawing/2014/main" id="{019869C5-3EB4-478E-AA0F-4381DB2C262F}"/>
              </a:ext>
            </a:extLst>
          </p:cNvPr>
          <p:cNvGraphicFramePr>
            <a:graphicFrameLocks noGrp="1"/>
          </p:cNvGraphicFramePr>
          <p:nvPr>
            <p:extLst>
              <p:ext uri="{D42A27DB-BD31-4B8C-83A1-F6EECF244321}">
                <p14:modId xmlns:p14="http://schemas.microsoft.com/office/powerpoint/2010/main" val="3835034224"/>
              </p:ext>
            </p:extLst>
          </p:nvPr>
        </p:nvGraphicFramePr>
        <p:xfrm>
          <a:off x="1559496" y="1484784"/>
          <a:ext cx="9721080" cy="5373213"/>
        </p:xfrm>
        <a:graphic>
          <a:graphicData uri="http://schemas.openxmlformats.org/drawingml/2006/table">
            <a:tbl>
              <a:tblPr/>
              <a:tblGrid>
                <a:gridCol w="559554">
                  <a:extLst>
                    <a:ext uri="{9D8B030D-6E8A-4147-A177-3AD203B41FA5}">
                      <a16:colId xmlns:a16="http://schemas.microsoft.com/office/drawing/2014/main" val="20000"/>
                    </a:ext>
                  </a:extLst>
                </a:gridCol>
                <a:gridCol w="9161526">
                  <a:extLst>
                    <a:ext uri="{9D8B030D-6E8A-4147-A177-3AD203B41FA5}">
                      <a16:colId xmlns:a16="http://schemas.microsoft.com/office/drawing/2014/main" val="20001"/>
                    </a:ext>
                  </a:extLst>
                </a:gridCol>
              </a:tblGrid>
              <a:tr h="279949">
                <a:tc rowSpan="10">
                  <a:txBody>
                    <a:bodyPr/>
                    <a:lstStyle>
                      <a:lvl1pPr eaLnBrk="0" hangingPunct="0">
                        <a:spcBef>
                          <a:spcPct val="20000"/>
                        </a:spcBef>
                        <a:buClr>
                          <a:schemeClr val="hlink"/>
                        </a:buClr>
                        <a:buFont typeface="Wingdings" panose="05000000000000000000" pitchFamily="2" charset="2"/>
                        <a:defRPr sz="2400" b="1">
                          <a:solidFill>
                            <a:schemeClr val="accent1"/>
                          </a:solidFill>
                          <a:latin typeface="Verdana" panose="020B0604030504040204" pitchFamily="34" charset="0"/>
                        </a:defRPr>
                      </a:lvl1pPr>
                      <a:lvl2pPr marL="742950" indent="-285750" eaLnBrk="0" hangingPunct="0">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marL="1143000" indent="-228600" eaLnBrk="0" hangingPunct="0">
                        <a:spcBef>
                          <a:spcPct val="20000"/>
                        </a:spcBef>
                        <a:buClr>
                          <a:schemeClr val="tx1"/>
                        </a:buClr>
                        <a:defRPr sz="2000">
                          <a:solidFill>
                            <a:schemeClr val="tx1"/>
                          </a:solidFill>
                          <a:latin typeface="Arial" panose="020B0604020202020204" pitchFamily="34" charset="0"/>
                        </a:defRPr>
                      </a:lvl3pPr>
                      <a:lvl4pPr marL="1600200" indent="-228600" eaLnBrk="0" hangingPunct="0">
                        <a:spcBef>
                          <a:spcPct val="20000"/>
                        </a:spcBef>
                        <a:defRPr>
                          <a:solidFill>
                            <a:schemeClr val="tx1"/>
                          </a:solidFill>
                          <a:latin typeface="Arial" panose="020B0604020202020204" pitchFamily="34" charset="0"/>
                        </a:defRPr>
                      </a:lvl4pPr>
                      <a:lvl5pPr marL="2057400" indent="-228600" eaLnBrk="0" hangingPunct="0">
                        <a:spcBef>
                          <a:spcPct val="20000"/>
                        </a:spcBef>
                        <a:defRPr>
                          <a:solidFill>
                            <a:schemeClr val="tx1"/>
                          </a:solidFill>
                          <a:latin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25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学</a:t>
                      </a:r>
                      <a:endParaRPr kumimoji="0" lang="zh-CN" altLang="en-US" sz="25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25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术</a:t>
                      </a:r>
                      <a:endParaRPr kumimoji="0" lang="zh-CN" altLang="en-US" sz="25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25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期</a:t>
                      </a:r>
                      <a:endParaRPr kumimoji="0" lang="zh-CN" altLang="en-US" sz="25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25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刊</a:t>
                      </a:r>
                    </a:p>
                  </a:txBody>
                  <a:tcPr marL="68580" marR="68580" marT="0" marB="0" anchor="ctr" horzOverflow="overflow">
                    <a:lnL>
                      <a:noFill/>
                    </a:lnL>
                    <a:lnR>
                      <a:noFill/>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solidFill>
                      <a:srgbClr val="FFCCFF"/>
                    </a:solidFill>
                  </a:tcPr>
                </a:tc>
                <a:tc>
                  <a:txBody>
                    <a:bodyPr/>
                    <a:lstStyle>
                      <a:lvl1pPr eaLnBrk="0" hangingPunct="0">
                        <a:spcBef>
                          <a:spcPct val="20000"/>
                        </a:spcBef>
                        <a:buClr>
                          <a:schemeClr val="hlink"/>
                        </a:buClr>
                        <a:buFont typeface="Wingdings" panose="05000000000000000000" pitchFamily="2" charset="2"/>
                        <a:defRPr sz="2400" b="1">
                          <a:solidFill>
                            <a:schemeClr val="accent1"/>
                          </a:solidFill>
                          <a:latin typeface="Verdana" panose="020B0604030504040204" pitchFamily="34" charset="0"/>
                        </a:defRPr>
                      </a:lvl1pPr>
                      <a:lvl2pPr marL="742950" indent="-285750" eaLnBrk="0" hangingPunct="0">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marL="1143000" indent="-228600" eaLnBrk="0" hangingPunct="0">
                        <a:spcBef>
                          <a:spcPct val="20000"/>
                        </a:spcBef>
                        <a:buClr>
                          <a:schemeClr val="tx1"/>
                        </a:buClr>
                        <a:defRPr sz="2000">
                          <a:solidFill>
                            <a:schemeClr val="tx1"/>
                          </a:solidFill>
                          <a:latin typeface="Arial" panose="020B0604020202020204" pitchFamily="34" charset="0"/>
                        </a:defRPr>
                      </a:lvl3pPr>
                      <a:lvl4pPr marL="1600200" indent="-228600" eaLnBrk="0" hangingPunct="0">
                        <a:spcBef>
                          <a:spcPct val="20000"/>
                        </a:spcBef>
                        <a:defRPr>
                          <a:solidFill>
                            <a:schemeClr val="tx1"/>
                          </a:solidFill>
                          <a:latin typeface="Arial" panose="020B0604020202020204" pitchFamily="34" charset="0"/>
                        </a:defRPr>
                      </a:lvl4pPr>
                      <a:lvl5pPr marL="2057400" indent="-228600" eaLnBrk="0" hangingPunct="0">
                        <a:spcBef>
                          <a:spcPct val="20000"/>
                        </a:spcBef>
                        <a:defRPr>
                          <a:solidFill>
                            <a:schemeClr val="tx1"/>
                          </a:solidFill>
                          <a:latin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IEEE Transactions on Evolutionary Computation</a:t>
                      </a:r>
                      <a:endParaRPr kumimoji="0" lang="zh-CN" altLang="zh-CN" sz="16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68580" marR="68580" marT="0" marB="0" anchor="ctr" horzOverflow="overflow">
                    <a:lnL>
                      <a:noFill/>
                    </a:lnL>
                    <a:lnR>
                      <a:noFill/>
                    </a:lnR>
                    <a:lnT w="19050" cap="flat" cmpd="sng" algn="ctr">
                      <a:solidFill>
                        <a:srgbClr val="000000"/>
                      </a:solidFill>
                      <a:prstDash val="solid"/>
                      <a:round/>
                      <a:headEnd type="none" w="med" len="med"/>
                      <a:tailEnd type="none" w="med" len="med"/>
                    </a:lnT>
                    <a:lnB>
                      <a:noFill/>
                    </a:lnB>
                    <a:lnTlToBr>
                      <a:noFill/>
                    </a:lnTlToBr>
                    <a:lnBlToTr>
                      <a:noFill/>
                    </a:lnBlToTr>
                    <a:solidFill>
                      <a:srgbClr val="FFCCFF"/>
                    </a:solidFill>
                  </a:tcPr>
                </a:tc>
                <a:extLst>
                  <a:ext uri="{0D108BD9-81ED-4DB2-BD59-A6C34878D82A}">
                    <a16:rowId xmlns:a16="http://schemas.microsoft.com/office/drawing/2014/main" val="10000"/>
                  </a:ext>
                </a:extLst>
              </a:tr>
              <a:tr h="279949">
                <a:tc vMerge="1">
                  <a:txBody>
                    <a:bodyPr/>
                    <a:lstStyle/>
                    <a:p>
                      <a:endParaRPr lang="zh-CN" altLang="en-US"/>
                    </a:p>
                  </a:txBody>
                  <a:tcPr/>
                </a:tc>
                <a:tc>
                  <a:txBody>
                    <a:bodyPr/>
                    <a:lstStyle>
                      <a:lvl1pPr eaLnBrk="0" hangingPunct="0">
                        <a:spcBef>
                          <a:spcPct val="20000"/>
                        </a:spcBef>
                        <a:buClr>
                          <a:schemeClr val="hlink"/>
                        </a:buClr>
                        <a:buFont typeface="Wingdings" panose="05000000000000000000" pitchFamily="2" charset="2"/>
                        <a:defRPr sz="2400" b="1">
                          <a:solidFill>
                            <a:schemeClr val="accent1"/>
                          </a:solidFill>
                          <a:latin typeface="Verdana" panose="020B0604030504040204" pitchFamily="34" charset="0"/>
                        </a:defRPr>
                      </a:lvl1pPr>
                      <a:lvl2pPr marL="742950" indent="-285750" eaLnBrk="0" hangingPunct="0">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marL="1143000" indent="-228600" eaLnBrk="0" hangingPunct="0">
                        <a:spcBef>
                          <a:spcPct val="20000"/>
                        </a:spcBef>
                        <a:buClr>
                          <a:schemeClr val="tx1"/>
                        </a:buClr>
                        <a:defRPr sz="2000">
                          <a:solidFill>
                            <a:schemeClr val="tx1"/>
                          </a:solidFill>
                          <a:latin typeface="Arial" panose="020B0604020202020204" pitchFamily="34" charset="0"/>
                        </a:defRPr>
                      </a:lvl3pPr>
                      <a:lvl4pPr marL="1600200" indent="-228600" eaLnBrk="0" hangingPunct="0">
                        <a:spcBef>
                          <a:spcPct val="20000"/>
                        </a:spcBef>
                        <a:defRPr>
                          <a:solidFill>
                            <a:schemeClr val="tx1"/>
                          </a:solidFill>
                          <a:latin typeface="Arial" panose="020B0604020202020204" pitchFamily="34" charset="0"/>
                        </a:defRPr>
                      </a:lvl4pPr>
                      <a:lvl5pPr marL="2057400" indent="-228600" eaLnBrk="0" hangingPunct="0">
                        <a:spcBef>
                          <a:spcPct val="20000"/>
                        </a:spcBef>
                        <a:defRPr>
                          <a:solidFill>
                            <a:schemeClr val="tx1"/>
                          </a:solidFill>
                          <a:latin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IEEE Transactions on Fuzzy Sets</a:t>
                      </a:r>
                      <a:endParaRPr kumimoji="0" lang="zh-CN" altLang="zh-CN" sz="16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68580" marR="68580" marT="0" marB="0" anchor="ctr" horzOverflow="overflow">
                    <a:lnL>
                      <a:noFill/>
                    </a:lnL>
                    <a:lnR>
                      <a:noFill/>
                    </a:lnR>
                    <a:lnT>
                      <a:noFill/>
                    </a:lnT>
                    <a:lnB>
                      <a:noFill/>
                    </a:lnB>
                    <a:lnTlToBr>
                      <a:noFill/>
                    </a:lnTlToBr>
                    <a:lnBlToTr>
                      <a:noFill/>
                    </a:lnBlToTr>
                    <a:solidFill>
                      <a:srgbClr val="FFCCFF"/>
                    </a:solidFill>
                  </a:tcPr>
                </a:tc>
                <a:extLst>
                  <a:ext uri="{0D108BD9-81ED-4DB2-BD59-A6C34878D82A}">
                    <a16:rowId xmlns:a16="http://schemas.microsoft.com/office/drawing/2014/main" val="10001"/>
                  </a:ext>
                </a:extLst>
              </a:tr>
              <a:tr h="279949">
                <a:tc vMerge="1">
                  <a:txBody>
                    <a:bodyPr/>
                    <a:lstStyle/>
                    <a:p>
                      <a:endParaRPr lang="zh-CN" altLang="en-US"/>
                    </a:p>
                  </a:txBody>
                  <a:tcPr/>
                </a:tc>
                <a:tc>
                  <a:txBody>
                    <a:bodyPr/>
                    <a:lstStyle>
                      <a:lvl1pPr eaLnBrk="0" hangingPunct="0">
                        <a:spcBef>
                          <a:spcPct val="20000"/>
                        </a:spcBef>
                        <a:buClr>
                          <a:schemeClr val="hlink"/>
                        </a:buClr>
                        <a:buFont typeface="Wingdings" panose="05000000000000000000" pitchFamily="2" charset="2"/>
                        <a:defRPr sz="2400" b="1">
                          <a:solidFill>
                            <a:schemeClr val="accent1"/>
                          </a:solidFill>
                          <a:latin typeface="Verdana" panose="020B0604030504040204" pitchFamily="34" charset="0"/>
                        </a:defRPr>
                      </a:lvl1pPr>
                      <a:lvl2pPr marL="742950" indent="-285750" eaLnBrk="0" hangingPunct="0">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marL="1143000" indent="-228600" eaLnBrk="0" hangingPunct="0">
                        <a:spcBef>
                          <a:spcPct val="20000"/>
                        </a:spcBef>
                        <a:buClr>
                          <a:schemeClr val="tx1"/>
                        </a:buClr>
                        <a:defRPr sz="2000">
                          <a:solidFill>
                            <a:schemeClr val="tx1"/>
                          </a:solidFill>
                          <a:latin typeface="Arial" panose="020B0604020202020204" pitchFamily="34" charset="0"/>
                        </a:defRPr>
                      </a:lvl3pPr>
                      <a:lvl4pPr marL="1600200" indent="-228600" eaLnBrk="0" hangingPunct="0">
                        <a:spcBef>
                          <a:spcPct val="20000"/>
                        </a:spcBef>
                        <a:defRPr>
                          <a:solidFill>
                            <a:schemeClr val="tx1"/>
                          </a:solidFill>
                          <a:latin typeface="Arial" panose="020B0604020202020204" pitchFamily="34" charset="0"/>
                        </a:defRPr>
                      </a:lvl4pPr>
                      <a:lvl5pPr marL="2057400" indent="-228600" eaLnBrk="0" hangingPunct="0">
                        <a:spcBef>
                          <a:spcPct val="20000"/>
                        </a:spcBef>
                        <a:defRPr>
                          <a:solidFill>
                            <a:schemeClr val="tx1"/>
                          </a:solidFill>
                          <a:latin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IEEE Transactions on Neural Networks</a:t>
                      </a:r>
                      <a:endParaRPr kumimoji="0" lang="zh-CN" altLang="zh-CN" sz="16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68580" marR="68580" marT="0" marB="0" anchor="ctr" horzOverflow="overflow">
                    <a:lnL>
                      <a:noFill/>
                    </a:lnL>
                    <a:lnR>
                      <a:noFill/>
                    </a:lnR>
                    <a:lnT>
                      <a:noFill/>
                    </a:lnT>
                    <a:lnB>
                      <a:noFill/>
                    </a:lnB>
                    <a:lnTlToBr>
                      <a:noFill/>
                    </a:lnTlToBr>
                    <a:lnBlToTr>
                      <a:noFill/>
                    </a:lnBlToTr>
                    <a:solidFill>
                      <a:srgbClr val="FFCCFF"/>
                    </a:solidFill>
                  </a:tcPr>
                </a:tc>
                <a:extLst>
                  <a:ext uri="{0D108BD9-81ED-4DB2-BD59-A6C34878D82A}">
                    <a16:rowId xmlns:a16="http://schemas.microsoft.com/office/drawing/2014/main" val="10002"/>
                  </a:ext>
                </a:extLst>
              </a:tr>
              <a:tr h="279949">
                <a:tc vMerge="1">
                  <a:txBody>
                    <a:bodyPr/>
                    <a:lstStyle/>
                    <a:p>
                      <a:endParaRPr lang="zh-CN" altLang="en-US"/>
                    </a:p>
                  </a:txBody>
                  <a:tcPr/>
                </a:tc>
                <a:tc>
                  <a:txBody>
                    <a:bodyPr/>
                    <a:lstStyle>
                      <a:lvl1pPr eaLnBrk="0" hangingPunct="0">
                        <a:spcBef>
                          <a:spcPct val="20000"/>
                        </a:spcBef>
                        <a:buClr>
                          <a:schemeClr val="hlink"/>
                        </a:buClr>
                        <a:buFont typeface="Wingdings" panose="05000000000000000000" pitchFamily="2" charset="2"/>
                        <a:defRPr sz="2400" b="1">
                          <a:solidFill>
                            <a:schemeClr val="accent1"/>
                          </a:solidFill>
                          <a:latin typeface="Verdana" panose="020B0604030504040204" pitchFamily="34" charset="0"/>
                        </a:defRPr>
                      </a:lvl1pPr>
                      <a:lvl2pPr marL="742950" indent="-285750" eaLnBrk="0" hangingPunct="0">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marL="1143000" indent="-228600" eaLnBrk="0" hangingPunct="0">
                        <a:spcBef>
                          <a:spcPct val="20000"/>
                        </a:spcBef>
                        <a:buClr>
                          <a:schemeClr val="tx1"/>
                        </a:buClr>
                        <a:defRPr sz="2000">
                          <a:solidFill>
                            <a:schemeClr val="tx1"/>
                          </a:solidFill>
                          <a:latin typeface="Arial" panose="020B0604020202020204" pitchFamily="34" charset="0"/>
                        </a:defRPr>
                      </a:lvl3pPr>
                      <a:lvl4pPr marL="1600200" indent="-228600" eaLnBrk="0" hangingPunct="0">
                        <a:spcBef>
                          <a:spcPct val="20000"/>
                        </a:spcBef>
                        <a:defRPr>
                          <a:solidFill>
                            <a:schemeClr val="tx1"/>
                          </a:solidFill>
                          <a:latin typeface="Arial" panose="020B0604020202020204" pitchFamily="34" charset="0"/>
                        </a:defRPr>
                      </a:lvl4pPr>
                      <a:lvl5pPr marL="2057400" indent="-228600" eaLnBrk="0" hangingPunct="0">
                        <a:spcBef>
                          <a:spcPct val="20000"/>
                        </a:spcBef>
                        <a:defRPr>
                          <a:solidFill>
                            <a:schemeClr val="tx1"/>
                          </a:solidFill>
                          <a:latin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IEEE Transactions on Systems, Man and Cybernetics</a:t>
                      </a:r>
                      <a:endParaRPr kumimoji="0" lang="zh-CN" altLang="zh-CN" sz="16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68580" marR="68580" marT="0" marB="0" anchor="ctr" horzOverflow="overflow">
                    <a:lnL>
                      <a:noFill/>
                    </a:lnL>
                    <a:lnR>
                      <a:noFill/>
                    </a:lnR>
                    <a:lnT>
                      <a:noFill/>
                    </a:lnT>
                    <a:lnB>
                      <a:noFill/>
                    </a:lnB>
                    <a:lnTlToBr>
                      <a:noFill/>
                    </a:lnTlToBr>
                    <a:lnBlToTr>
                      <a:noFill/>
                    </a:lnBlToTr>
                    <a:solidFill>
                      <a:srgbClr val="FFCCFF"/>
                    </a:solidFill>
                  </a:tcPr>
                </a:tc>
                <a:extLst>
                  <a:ext uri="{0D108BD9-81ED-4DB2-BD59-A6C34878D82A}">
                    <a16:rowId xmlns:a16="http://schemas.microsoft.com/office/drawing/2014/main" val="10003"/>
                  </a:ext>
                </a:extLst>
              </a:tr>
              <a:tr h="279949">
                <a:tc vMerge="1">
                  <a:txBody>
                    <a:bodyPr/>
                    <a:lstStyle/>
                    <a:p>
                      <a:endParaRPr lang="zh-CN" altLang="en-US"/>
                    </a:p>
                  </a:txBody>
                  <a:tcPr/>
                </a:tc>
                <a:tc>
                  <a:txBody>
                    <a:bodyPr/>
                    <a:lstStyle>
                      <a:lvl1pPr eaLnBrk="0" hangingPunct="0">
                        <a:spcBef>
                          <a:spcPct val="20000"/>
                        </a:spcBef>
                        <a:buClr>
                          <a:schemeClr val="hlink"/>
                        </a:buClr>
                        <a:buFont typeface="Wingdings" panose="05000000000000000000" pitchFamily="2" charset="2"/>
                        <a:defRPr sz="2400" b="1">
                          <a:solidFill>
                            <a:schemeClr val="accent1"/>
                          </a:solidFill>
                          <a:latin typeface="Verdana" panose="020B0604030504040204" pitchFamily="34" charset="0"/>
                        </a:defRPr>
                      </a:lvl1pPr>
                      <a:lvl2pPr marL="742950" indent="-285750" eaLnBrk="0" hangingPunct="0">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marL="1143000" indent="-228600" eaLnBrk="0" hangingPunct="0">
                        <a:spcBef>
                          <a:spcPct val="20000"/>
                        </a:spcBef>
                        <a:buClr>
                          <a:schemeClr val="tx1"/>
                        </a:buClr>
                        <a:defRPr sz="2000">
                          <a:solidFill>
                            <a:schemeClr val="tx1"/>
                          </a:solidFill>
                          <a:latin typeface="Arial" panose="020B0604020202020204" pitchFamily="34" charset="0"/>
                        </a:defRPr>
                      </a:lvl3pPr>
                      <a:lvl4pPr marL="1600200" indent="-228600" eaLnBrk="0" hangingPunct="0">
                        <a:spcBef>
                          <a:spcPct val="20000"/>
                        </a:spcBef>
                        <a:defRPr>
                          <a:solidFill>
                            <a:schemeClr val="tx1"/>
                          </a:solidFill>
                          <a:latin typeface="Arial" panose="020B0604020202020204" pitchFamily="34" charset="0"/>
                        </a:defRPr>
                      </a:lvl4pPr>
                      <a:lvl5pPr marL="2057400" indent="-228600" eaLnBrk="0" hangingPunct="0">
                        <a:spcBef>
                          <a:spcPct val="20000"/>
                        </a:spcBef>
                        <a:defRPr>
                          <a:solidFill>
                            <a:schemeClr val="tx1"/>
                          </a:solidFill>
                          <a:latin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IEEE Transactions on </a:t>
                      </a:r>
                      <a:r>
                        <a:rPr kumimoji="0" lang="zh-CN" altLang="zh-CN" sz="16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a:t>
                      </a:r>
                    </a:p>
                  </a:txBody>
                  <a:tcPr marL="68580" marR="68580" marT="0" marB="0" anchor="ctr" horzOverflow="overflow">
                    <a:lnL>
                      <a:noFill/>
                    </a:lnL>
                    <a:lnR>
                      <a:noFill/>
                    </a:lnR>
                    <a:lnT>
                      <a:noFill/>
                    </a:lnT>
                    <a:lnB>
                      <a:noFill/>
                    </a:lnB>
                    <a:lnTlToBr>
                      <a:noFill/>
                    </a:lnTlToBr>
                    <a:lnBlToTr>
                      <a:noFill/>
                    </a:lnBlToTr>
                    <a:solidFill>
                      <a:srgbClr val="FFCCFF"/>
                    </a:solidFill>
                  </a:tcPr>
                </a:tc>
                <a:extLst>
                  <a:ext uri="{0D108BD9-81ED-4DB2-BD59-A6C34878D82A}">
                    <a16:rowId xmlns:a16="http://schemas.microsoft.com/office/drawing/2014/main" val="10004"/>
                  </a:ext>
                </a:extLst>
              </a:tr>
              <a:tr h="279949">
                <a:tc vMerge="1">
                  <a:txBody>
                    <a:bodyPr/>
                    <a:lstStyle/>
                    <a:p>
                      <a:endParaRPr lang="zh-CN" altLang="en-US"/>
                    </a:p>
                  </a:txBody>
                  <a:tcPr/>
                </a:tc>
                <a:tc>
                  <a:txBody>
                    <a:bodyPr/>
                    <a:lstStyle>
                      <a:lvl1pPr eaLnBrk="0" hangingPunct="0">
                        <a:spcBef>
                          <a:spcPct val="20000"/>
                        </a:spcBef>
                        <a:buClr>
                          <a:schemeClr val="hlink"/>
                        </a:buClr>
                        <a:buFont typeface="Wingdings" panose="05000000000000000000" pitchFamily="2" charset="2"/>
                        <a:defRPr sz="2400" b="1">
                          <a:solidFill>
                            <a:schemeClr val="accent1"/>
                          </a:solidFill>
                          <a:latin typeface="Verdana" panose="020B0604030504040204" pitchFamily="34" charset="0"/>
                        </a:defRPr>
                      </a:lvl1pPr>
                      <a:lvl2pPr marL="742950" indent="-285750" eaLnBrk="0" hangingPunct="0">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marL="1143000" indent="-228600" eaLnBrk="0" hangingPunct="0">
                        <a:spcBef>
                          <a:spcPct val="20000"/>
                        </a:spcBef>
                        <a:buClr>
                          <a:schemeClr val="tx1"/>
                        </a:buClr>
                        <a:defRPr sz="2000">
                          <a:solidFill>
                            <a:schemeClr val="tx1"/>
                          </a:solidFill>
                          <a:latin typeface="Arial" panose="020B0604020202020204" pitchFamily="34" charset="0"/>
                        </a:defRPr>
                      </a:lvl3pPr>
                      <a:lvl4pPr marL="1600200" indent="-228600" eaLnBrk="0" hangingPunct="0">
                        <a:spcBef>
                          <a:spcPct val="20000"/>
                        </a:spcBef>
                        <a:defRPr>
                          <a:solidFill>
                            <a:schemeClr val="tx1"/>
                          </a:solidFill>
                          <a:latin typeface="Arial" panose="020B0604020202020204" pitchFamily="34" charset="0"/>
                        </a:defRPr>
                      </a:lvl4pPr>
                      <a:lvl5pPr marL="2057400" indent="-228600" eaLnBrk="0" hangingPunct="0">
                        <a:spcBef>
                          <a:spcPct val="20000"/>
                        </a:spcBef>
                        <a:defRPr>
                          <a:solidFill>
                            <a:schemeClr val="tx1"/>
                          </a:solidFill>
                          <a:latin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Machine Learning</a:t>
                      </a:r>
                      <a:endParaRPr kumimoji="0" lang="zh-CN" altLang="zh-CN" sz="16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68580" marR="68580" marT="0" marB="0" anchor="ctr" horzOverflow="overflow">
                    <a:lnL>
                      <a:noFill/>
                    </a:lnL>
                    <a:lnR>
                      <a:noFill/>
                    </a:lnR>
                    <a:lnT>
                      <a:noFill/>
                    </a:lnT>
                    <a:lnB>
                      <a:noFill/>
                    </a:lnB>
                    <a:lnTlToBr>
                      <a:noFill/>
                    </a:lnTlToBr>
                    <a:lnBlToTr>
                      <a:noFill/>
                    </a:lnBlToTr>
                    <a:solidFill>
                      <a:srgbClr val="FFCCFF"/>
                    </a:solidFill>
                  </a:tcPr>
                </a:tc>
                <a:extLst>
                  <a:ext uri="{0D108BD9-81ED-4DB2-BD59-A6C34878D82A}">
                    <a16:rowId xmlns:a16="http://schemas.microsoft.com/office/drawing/2014/main" val="10005"/>
                  </a:ext>
                </a:extLst>
              </a:tr>
              <a:tr h="279949">
                <a:tc vMerge="1">
                  <a:txBody>
                    <a:bodyPr/>
                    <a:lstStyle/>
                    <a:p>
                      <a:endParaRPr lang="zh-CN" altLang="en-US"/>
                    </a:p>
                  </a:txBody>
                  <a:tcPr/>
                </a:tc>
                <a:tc>
                  <a:txBody>
                    <a:bodyPr/>
                    <a:lstStyle>
                      <a:lvl1pPr eaLnBrk="0" hangingPunct="0">
                        <a:spcBef>
                          <a:spcPct val="20000"/>
                        </a:spcBef>
                        <a:buClr>
                          <a:schemeClr val="hlink"/>
                        </a:buClr>
                        <a:buFont typeface="Wingdings" panose="05000000000000000000" pitchFamily="2" charset="2"/>
                        <a:defRPr sz="2400" b="1">
                          <a:solidFill>
                            <a:schemeClr val="accent1"/>
                          </a:solidFill>
                          <a:latin typeface="Verdana" panose="020B0604030504040204" pitchFamily="34" charset="0"/>
                        </a:defRPr>
                      </a:lvl1pPr>
                      <a:lvl2pPr marL="742950" indent="-285750" eaLnBrk="0" hangingPunct="0">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marL="1143000" indent="-228600" eaLnBrk="0" hangingPunct="0">
                        <a:spcBef>
                          <a:spcPct val="20000"/>
                        </a:spcBef>
                        <a:buClr>
                          <a:schemeClr val="tx1"/>
                        </a:buClr>
                        <a:defRPr sz="2000">
                          <a:solidFill>
                            <a:schemeClr val="tx1"/>
                          </a:solidFill>
                          <a:latin typeface="Arial" panose="020B0604020202020204" pitchFamily="34" charset="0"/>
                        </a:defRPr>
                      </a:lvl3pPr>
                      <a:lvl4pPr marL="1600200" indent="-228600" eaLnBrk="0" hangingPunct="0">
                        <a:spcBef>
                          <a:spcPct val="20000"/>
                        </a:spcBef>
                        <a:defRPr>
                          <a:solidFill>
                            <a:schemeClr val="tx1"/>
                          </a:solidFill>
                          <a:latin typeface="Arial" panose="020B0604020202020204" pitchFamily="34" charset="0"/>
                        </a:defRPr>
                      </a:lvl4pPr>
                      <a:lvl5pPr marL="2057400" indent="-228600" eaLnBrk="0" hangingPunct="0">
                        <a:spcBef>
                          <a:spcPct val="20000"/>
                        </a:spcBef>
                        <a:defRPr>
                          <a:solidFill>
                            <a:schemeClr val="tx1"/>
                          </a:solidFill>
                          <a:latin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Evolutionary Computation</a:t>
                      </a:r>
                      <a:endParaRPr kumimoji="0" lang="zh-CN"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68580" marR="68580" marT="0" marB="0" anchor="ctr" horzOverflow="overflow">
                    <a:lnL>
                      <a:noFill/>
                    </a:lnL>
                    <a:lnR>
                      <a:noFill/>
                    </a:lnR>
                    <a:lnT>
                      <a:noFill/>
                    </a:lnT>
                    <a:lnB>
                      <a:noFill/>
                    </a:lnB>
                    <a:lnTlToBr>
                      <a:noFill/>
                    </a:lnTlToBr>
                    <a:lnBlToTr>
                      <a:noFill/>
                    </a:lnBlToTr>
                    <a:solidFill>
                      <a:srgbClr val="FFCCFF"/>
                    </a:solidFill>
                  </a:tcPr>
                </a:tc>
                <a:extLst>
                  <a:ext uri="{0D108BD9-81ED-4DB2-BD59-A6C34878D82A}">
                    <a16:rowId xmlns:a16="http://schemas.microsoft.com/office/drawing/2014/main" val="10006"/>
                  </a:ext>
                </a:extLst>
              </a:tr>
              <a:tr h="279949">
                <a:tc vMerge="1">
                  <a:txBody>
                    <a:bodyPr/>
                    <a:lstStyle/>
                    <a:p>
                      <a:endParaRPr lang="zh-CN" altLang="en-US"/>
                    </a:p>
                  </a:txBody>
                  <a:tcPr/>
                </a:tc>
                <a:tc>
                  <a:txBody>
                    <a:bodyPr/>
                    <a:lstStyle>
                      <a:lvl1pPr eaLnBrk="0" hangingPunct="0">
                        <a:spcBef>
                          <a:spcPct val="20000"/>
                        </a:spcBef>
                        <a:buClr>
                          <a:schemeClr val="hlink"/>
                        </a:buClr>
                        <a:buFont typeface="Wingdings" panose="05000000000000000000" pitchFamily="2" charset="2"/>
                        <a:defRPr sz="2400" b="1">
                          <a:solidFill>
                            <a:schemeClr val="accent1"/>
                          </a:solidFill>
                          <a:latin typeface="Verdana" panose="020B0604030504040204" pitchFamily="34" charset="0"/>
                        </a:defRPr>
                      </a:lvl1pPr>
                      <a:lvl2pPr marL="742950" indent="-285750" eaLnBrk="0" hangingPunct="0">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marL="1143000" indent="-228600" eaLnBrk="0" hangingPunct="0">
                        <a:spcBef>
                          <a:spcPct val="20000"/>
                        </a:spcBef>
                        <a:buClr>
                          <a:schemeClr val="tx1"/>
                        </a:buClr>
                        <a:defRPr sz="2000">
                          <a:solidFill>
                            <a:schemeClr val="tx1"/>
                          </a:solidFill>
                          <a:latin typeface="Arial" panose="020B0604020202020204" pitchFamily="34" charset="0"/>
                        </a:defRPr>
                      </a:lvl3pPr>
                      <a:lvl4pPr marL="1600200" indent="-228600" eaLnBrk="0" hangingPunct="0">
                        <a:spcBef>
                          <a:spcPct val="20000"/>
                        </a:spcBef>
                        <a:defRPr>
                          <a:solidFill>
                            <a:schemeClr val="tx1"/>
                          </a:solidFill>
                          <a:latin typeface="Arial" panose="020B0604020202020204" pitchFamily="34" charset="0"/>
                        </a:defRPr>
                      </a:lvl4pPr>
                      <a:lvl5pPr marL="2057400" indent="-228600" eaLnBrk="0" hangingPunct="0">
                        <a:spcBef>
                          <a:spcPct val="20000"/>
                        </a:spcBef>
                        <a:defRPr>
                          <a:solidFill>
                            <a:schemeClr val="tx1"/>
                          </a:solidFill>
                          <a:latin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Complex Systems</a:t>
                      </a:r>
                      <a:endParaRPr kumimoji="0" lang="zh-CN"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68580" marR="68580" marT="0" marB="0" anchor="ctr" horzOverflow="overflow">
                    <a:lnL>
                      <a:noFill/>
                    </a:lnL>
                    <a:lnR>
                      <a:noFill/>
                    </a:lnR>
                    <a:lnT>
                      <a:noFill/>
                    </a:lnT>
                    <a:lnB>
                      <a:noFill/>
                    </a:lnB>
                    <a:lnTlToBr>
                      <a:noFill/>
                    </a:lnTlToBr>
                    <a:lnBlToTr>
                      <a:noFill/>
                    </a:lnBlToTr>
                    <a:solidFill>
                      <a:srgbClr val="FFCCFF"/>
                    </a:solidFill>
                  </a:tcPr>
                </a:tc>
                <a:extLst>
                  <a:ext uri="{0D108BD9-81ED-4DB2-BD59-A6C34878D82A}">
                    <a16:rowId xmlns:a16="http://schemas.microsoft.com/office/drawing/2014/main" val="10007"/>
                  </a:ext>
                </a:extLst>
              </a:tr>
              <a:tr h="279949">
                <a:tc vMerge="1">
                  <a:txBody>
                    <a:bodyPr/>
                    <a:lstStyle/>
                    <a:p>
                      <a:endParaRPr lang="zh-CN" altLang="en-US"/>
                    </a:p>
                  </a:txBody>
                  <a:tcPr/>
                </a:tc>
                <a:tc>
                  <a:txBody>
                    <a:bodyPr/>
                    <a:lstStyle>
                      <a:lvl1pPr eaLnBrk="0" hangingPunct="0">
                        <a:spcBef>
                          <a:spcPct val="20000"/>
                        </a:spcBef>
                        <a:buClr>
                          <a:schemeClr val="hlink"/>
                        </a:buClr>
                        <a:buFont typeface="Wingdings" panose="05000000000000000000" pitchFamily="2" charset="2"/>
                        <a:defRPr sz="2400" b="1">
                          <a:solidFill>
                            <a:schemeClr val="accent1"/>
                          </a:solidFill>
                          <a:latin typeface="Verdana" panose="020B0604030504040204" pitchFamily="34" charset="0"/>
                        </a:defRPr>
                      </a:lvl1pPr>
                      <a:lvl2pPr marL="742950" indent="-285750" eaLnBrk="0" hangingPunct="0">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marL="1143000" indent="-228600" eaLnBrk="0" hangingPunct="0">
                        <a:spcBef>
                          <a:spcPct val="20000"/>
                        </a:spcBef>
                        <a:buClr>
                          <a:schemeClr val="tx1"/>
                        </a:buClr>
                        <a:defRPr sz="2000">
                          <a:solidFill>
                            <a:schemeClr val="tx1"/>
                          </a:solidFill>
                          <a:latin typeface="Arial" panose="020B0604020202020204" pitchFamily="34" charset="0"/>
                        </a:defRPr>
                      </a:lvl3pPr>
                      <a:lvl4pPr marL="1600200" indent="-228600" eaLnBrk="0" hangingPunct="0">
                        <a:spcBef>
                          <a:spcPct val="20000"/>
                        </a:spcBef>
                        <a:defRPr>
                          <a:solidFill>
                            <a:schemeClr val="tx1"/>
                          </a:solidFill>
                          <a:latin typeface="Arial" panose="020B0604020202020204" pitchFamily="34" charset="0"/>
                        </a:defRPr>
                      </a:lvl4pPr>
                      <a:lvl5pPr marL="2057400" indent="-228600" eaLnBrk="0" hangingPunct="0">
                        <a:spcBef>
                          <a:spcPct val="20000"/>
                        </a:spcBef>
                        <a:defRPr>
                          <a:solidFill>
                            <a:schemeClr val="tx1"/>
                          </a:solidFill>
                          <a:latin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Artificial Intelligence</a:t>
                      </a:r>
                      <a:endParaRPr kumimoji="0" lang="zh-CN" altLang="zh-CN" sz="16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68580" marR="68580" marT="0" marB="0" anchor="ctr" horzOverflow="overflow">
                    <a:lnL>
                      <a:noFill/>
                    </a:lnL>
                    <a:lnR>
                      <a:noFill/>
                    </a:lnR>
                    <a:lnT>
                      <a:noFill/>
                    </a:lnT>
                    <a:lnB>
                      <a:noFill/>
                    </a:lnB>
                    <a:lnTlToBr>
                      <a:noFill/>
                    </a:lnTlToBr>
                    <a:lnBlToTr>
                      <a:noFill/>
                    </a:lnBlToTr>
                    <a:solidFill>
                      <a:srgbClr val="FFCCFF"/>
                    </a:solidFill>
                  </a:tcPr>
                </a:tc>
                <a:extLst>
                  <a:ext uri="{0D108BD9-81ED-4DB2-BD59-A6C34878D82A}">
                    <a16:rowId xmlns:a16="http://schemas.microsoft.com/office/drawing/2014/main" val="10008"/>
                  </a:ext>
                </a:extLst>
              </a:tr>
              <a:tr h="279949">
                <a:tc vMerge="1">
                  <a:txBody>
                    <a:bodyPr/>
                    <a:lstStyle/>
                    <a:p>
                      <a:endParaRPr lang="zh-CN" altLang="en-US"/>
                    </a:p>
                  </a:txBody>
                  <a:tcPr/>
                </a:tc>
                <a:tc>
                  <a:txBody>
                    <a:bodyPr/>
                    <a:lstStyle>
                      <a:lvl1pPr eaLnBrk="0" hangingPunct="0">
                        <a:spcBef>
                          <a:spcPct val="20000"/>
                        </a:spcBef>
                        <a:buClr>
                          <a:schemeClr val="hlink"/>
                        </a:buClr>
                        <a:buFont typeface="Wingdings" panose="05000000000000000000" pitchFamily="2" charset="2"/>
                        <a:defRPr sz="2400" b="1">
                          <a:solidFill>
                            <a:schemeClr val="accent1"/>
                          </a:solidFill>
                          <a:latin typeface="Verdana" panose="020B0604030504040204" pitchFamily="34" charset="0"/>
                        </a:defRPr>
                      </a:lvl1pPr>
                      <a:lvl2pPr marL="742950" indent="-285750" eaLnBrk="0" hangingPunct="0">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marL="1143000" indent="-228600" eaLnBrk="0" hangingPunct="0">
                        <a:spcBef>
                          <a:spcPct val="20000"/>
                        </a:spcBef>
                        <a:buClr>
                          <a:schemeClr val="tx1"/>
                        </a:buClr>
                        <a:defRPr sz="2000">
                          <a:solidFill>
                            <a:schemeClr val="tx1"/>
                          </a:solidFill>
                          <a:latin typeface="Arial" panose="020B0604020202020204" pitchFamily="34" charset="0"/>
                        </a:defRPr>
                      </a:lvl3pPr>
                      <a:lvl4pPr marL="1600200" indent="-228600" eaLnBrk="0" hangingPunct="0">
                        <a:spcBef>
                          <a:spcPct val="20000"/>
                        </a:spcBef>
                        <a:defRPr>
                          <a:solidFill>
                            <a:schemeClr val="tx1"/>
                          </a:solidFill>
                          <a:latin typeface="Arial" panose="020B0604020202020204" pitchFamily="34" charset="0"/>
                        </a:defRPr>
                      </a:lvl4pPr>
                      <a:lvl5pPr marL="2057400" indent="-228600" eaLnBrk="0" hangingPunct="0">
                        <a:spcBef>
                          <a:spcPct val="20000"/>
                        </a:spcBef>
                        <a:defRPr>
                          <a:solidFill>
                            <a:schemeClr val="tx1"/>
                          </a:solidFill>
                          <a:latin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zh-CN"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p>
                  </a:txBody>
                  <a:tcPr marL="68580" marR="68580" marT="0" marB="0" anchor="ctr" horzOverflow="overflow">
                    <a:lnL>
                      <a:noFill/>
                    </a:lnL>
                    <a:lnR>
                      <a:noFill/>
                    </a:lnR>
                    <a:lnT>
                      <a:noFill/>
                    </a:lnT>
                    <a:lnB w="19050" cap="flat" cmpd="sng" algn="ctr">
                      <a:solidFill>
                        <a:srgbClr val="000000"/>
                      </a:solidFill>
                      <a:prstDash val="solid"/>
                      <a:round/>
                      <a:headEnd type="none" w="med" len="med"/>
                      <a:tailEnd type="none" w="med" len="med"/>
                    </a:lnB>
                    <a:lnTlToBr>
                      <a:noFill/>
                    </a:lnTlToBr>
                    <a:lnBlToTr>
                      <a:noFill/>
                    </a:lnBlToTr>
                    <a:solidFill>
                      <a:srgbClr val="FFCCFF"/>
                    </a:solidFill>
                  </a:tcPr>
                </a:tc>
                <a:extLst>
                  <a:ext uri="{0D108BD9-81ED-4DB2-BD59-A6C34878D82A}">
                    <a16:rowId xmlns:a16="http://schemas.microsoft.com/office/drawing/2014/main" val="10009"/>
                  </a:ext>
                </a:extLst>
              </a:tr>
              <a:tr h="402765">
                <a:tc rowSpan="7">
                  <a:txBody>
                    <a:bodyPr/>
                    <a:lstStyle>
                      <a:lvl1pPr eaLnBrk="0" hangingPunct="0">
                        <a:spcBef>
                          <a:spcPct val="20000"/>
                        </a:spcBef>
                        <a:buClr>
                          <a:schemeClr val="hlink"/>
                        </a:buClr>
                        <a:buFont typeface="Wingdings" panose="05000000000000000000" pitchFamily="2" charset="2"/>
                        <a:defRPr sz="2400" b="1">
                          <a:solidFill>
                            <a:schemeClr val="accent1"/>
                          </a:solidFill>
                          <a:latin typeface="Verdana" panose="020B0604030504040204" pitchFamily="34" charset="0"/>
                        </a:defRPr>
                      </a:lvl1pPr>
                      <a:lvl2pPr marL="742950" indent="-285750" eaLnBrk="0" hangingPunct="0">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marL="1143000" indent="-228600" eaLnBrk="0" hangingPunct="0">
                        <a:spcBef>
                          <a:spcPct val="20000"/>
                        </a:spcBef>
                        <a:buClr>
                          <a:schemeClr val="tx1"/>
                        </a:buClr>
                        <a:defRPr sz="2000">
                          <a:solidFill>
                            <a:schemeClr val="tx1"/>
                          </a:solidFill>
                          <a:latin typeface="Arial" panose="020B0604020202020204" pitchFamily="34" charset="0"/>
                        </a:defRPr>
                      </a:lvl3pPr>
                      <a:lvl4pPr marL="1600200" indent="-228600" eaLnBrk="0" hangingPunct="0">
                        <a:spcBef>
                          <a:spcPct val="20000"/>
                        </a:spcBef>
                        <a:defRPr>
                          <a:solidFill>
                            <a:schemeClr val="tx1"/>
                          </a:solidFill>
                          <a:latin typeface="Arial" panose="020B0604020202020204" pitchFamily="34" charset="0"/>
                        </a:defRPr>
                      </a:lvl4pPr>
                      <a:lvl5pPr marL="2057400" indent="-228600" eaLnBrk="0" hangingPunct="0">
                        <a:spcBef>
                          <a:spcPct val="20000"/>
                        </a:spcBef>
                        <a:defRPr>
                          <a:solidFill>
                            <a:schemeClr val="tx1"/>
                          </a:solidFill>
                          <a:latin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2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国</a:t>
                      </a:r>
                      <a:endParaRPr kumimoji="0" lang="zh-CN" altLang="en-US" sz="2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2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际</a:t>
                      </a:r>
                      <a:endParaRPr kumimoji="0" lang="zh-CN" altLang="en-US" sz="2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2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会</a:t>
                      </a:r>
                      <a:endParaRPr kumimoji="0" lang="zh-CN" altLang="en-US" sz="2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2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议</a:t>
                      </a:r>
                    </a:p>
                  </a:txBody>
                  <a:tcPr marL="68580" marR="68580" marT="0" marB="0" anchor="ctr" horzOverflow="overflow">
                    <a:lnL>
                      <a:noFill/>
                    </a:lnL>
                    <a:lnR>
                      <a:noFill/>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solidFill>
                      <a:srgbClr val="FFCCFF"/>
                    </a:solidFill>
                  </a:tcPr>
                </a:tc>
                <a:tc>
                  <a:txBody>
                    <a:bodyPr/>
                    <a:lstStyle>
                      <a:lvl1pPr eaLnBrk="0" hangingPunct="0">
                        <a:spcBef>
                          <a:spcPct val="20000"/>
                        </a:spcBef>
                        <a:buClr>
                          <a:schemeClr val="hlink"/>
                        </a:buClr>
                        <a:buFont typeface="Wingdings" panose="05000000000000000000" pitchFamily="2" charset="2"/>
                        <a:defRPr sz="2400" b="1">
                          <a:solidFill>
                            <a:schemeClr val="accent1"/>
                          </a:solidFill>
                          <a:latin typeface="Verdana" panose="020B0604030504040204" pitchFamily="34" charset="0"/>
                        </a:defRPr>
                      </a:lvl1pPr>
                      <a:lvl2pPr marL="742950" indent="-285750" eaLnBrk="0" hangingPunct="0">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marL="1143000" indent="-228600" eaLnBrk="0" hangingPunct="0">
                        <a:spcBef>
                          <a:spcPct val="20000"/>
                        </a:spcBef>
                        <a:buClr>
                          <a:schemeClr val="tx1"/>
                        </a:buClr>
                        <a:defRPr sz="2000">
                          <a:solidFill>
                            <a:schemeClr val="tx1"/>
                          </a:solidFill>
                          <a:latin typeface="Arial" panose="020B0604020202020204" pitchFamily="34" charset="0"/>
                        </a:defRPr>
                      </a:lvl3pPr>
                      <a:lvl4pPr marL="1600200" indent="-228600" eaLnBrk="0" hangingPunct="0">
                        <a:spcBef>
                          <a:spcPct val="20000"/>
                        </a:spcBef>
                        <a:defRPr>
                          <a:solidFill>
                            <a:schemeClr val="tx1"/>
                          </a:solidFill>
                          <a:latin typeface="Arial" panose="020B0604020202020204" pitchFamily="34" charset="0"/>
                        </a:defRPr>
                      </a:lvl4pPr>
                      <a:lvl5pPr marL="2057400" indent="-228600" eaLnBrk="0" hangingPunct="0">
                        <a:spcBef>
                          <a:spcPct val="20000"/>
                        </a:spcBef>
                        <a:defRPr>
                          <a:solidFill>
                            <a:schemeClr val="tx1"/>
                          </a:solidFill>
                          <a:latin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IEEE World Congress on Computational Intelligence (WCCI)</a:t>
                      </a:r>
                      <a:endParaRPr kumimoji="0" lang="zh-CN"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68580" marR="68580" marT="0" marB="0" anchor="ctr" horzOverflow="overflow">
                    <a:lnL>
                      <a:noFill/>
                    </a:lnL>
                    <a:lnR>
                      <a:noFill/>
                    </a:lnR>
                    <a:lnT w="19050" cap="flat" cmpd="sng" algn="ctr">
                      <a:solidFill>
                        <a:srgbClr val="000000"/>
                      </a:solidFill>
                      <a:prstDash val="solid"/>
                      <a:round/>
                      <a:headEnd type="none" w="med" len="med"/>
                      <a:tailEnd type="none" w="med" len="med"/>
                    </a:lnT>
                    <a:lnB>
                      <a:noFill/>
                    </a:lnB>
                    <a:lnTlToBr>
                      <a:noFill/>
                    </a:lnTlToBr>
                    <a:lnBlToTr>
                      <a:noFill/>
                    </a:lnBlToTr>
                    <a:solidFill>
                      <a:srgbClr val="FFCCFF"/>
                    </a:solidFill>
                  </a:tcPr>
                </a:tc>
                <a:extLst>
                  <a:ext uri="{0D108BD9-81ED-4DB2-BD59-A6C34878D82A}">
                    <a16:rowId xmlns:a16="http://schemas.microsoft.com/office/drawing/2014/main" val="10010"/>
                  </a:ext>
                </a:extLst>
              </a:tr>
              <a:tr h="279949">
                <a:tc vMerge="1">
                  <a:txBody>
                    <a:bodyPr/>
                    <a:lstStyle/>
                    <a:p>
                      <a:endParaRPr lang="zh-CN" altLang="en-US"/>
                    </a:p>
                  </a:txBody>
                  <a:tcPr/>
                </a:tc>
                <a:tc>
                  <a:txBody>
                    <a:bodyPr/>
                    <a:lstStyle>
                      <a:lvl1pPr eaLnBrk="0" hangingPunct="0">
                        <a:spcBef>
                          <a:spcPct val="20000"/>
                        </a:spcBef>
                        <a:buClr>
                          <a:schemeClr val="hlink"/>
                        </a:buClr>
                        <a:buFont typeface="Wingdings" panose="05000000000000000000" pitchFamily="2" charset="2"/>
                        <a:defRPr sz="2400" b="1">
                          <a:solidFill>
                            <a:schemeClr val="accent1"/>
                          </a:solidFill>
                          <a:latin typeface="Verdana" panose="020B0604030504040204" pitchFamily="34" charset="0"/>
                        </a:defRPr>
                      </a:lvl1pPr>
                      <a:lvl2pPr marL="742950" indent="-285750" eaLnBrk="0" hangingPunct="0">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marL="1143000" indent="-228600" eaLnBrk="0" hangingPunct="0">
                        <a:spcBef>
                          <a:spcPct val="20000"/>
                        </a:spcBef>
                        <a:buClr>
                          <a:schemeClr val="tx1"/>
                        </a:buClr>
                        <a:defRPr sz="2000">
                          <a:solidFill>
                            <a:schemeClr val="tx1"/>
                          </a:solidFill>
                          <a:latin typeface="Arial" panose="020B0604020202020204" pitchFamily="34" charset="0"/>
                        </a:defRPr>
                      </a:lvl3pPr>
                      <a:lvl4pPr marL="1600200" indent="-228600" eaLnBrk="0" hangingPunct="0">
                        <a:spcBef>
                          <a:spcPct val="20000"/>
                        </a:spcBef>
                        <a:defRPr>
                          <a:solidFill>
                            <a:schemeClr val="tx1"/>
                          </a:solidFill>
                          <a:latin typeface="Arial" panose="020B0604020202020204" pitchFamily="34" charset="0"/>
                        </a:defRPr>
                      </a:lvl4pPr>
                      <a:lvl5pPr marL="2057400" indent="-228600" eaLnBrk="0" hangingPunct="0">
                        <a:spcBef>
                          <a:spcPct val="20000"/>
                        </a:spcBef>
                        <a:defRPr>
                          <a:solidFill>
                            <a:schemeClr val="tx1"/>
                          </a:solidFill>
                          <a:latin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IEEE Congress on Evolutionary Computation (CEC)</a:t>
                      </a:r>
                      <a:endParaRPr kumimoji="0" lang="zh-CN" altLang="zh-CN" sz="16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68580" marR="68580" marT="0" marB="0" anchor="ctr" horzOverflow="overflow">
                    <a:lnL>
                      <a:noFill/>
                    </a:lnL>
                    <a:lnR>
                      <a:noFill/>
                    </a:lnR>
                    <a:lnT>
                      <a:noFill/>
                    </a:lnT>
                    <a:lnB>
                      <a:noFill/>
                    </a:lnB>
                    <a:lnTlToBr>
                      <a:noFill/>
                    </a:lnTlToBr>
                    <a:lnBlToTr>
                      <a:noFill/>
                    </a:lnBlToTr>
                    <a:solidFill>
                      <a:srgbClr val="FFCCFF"/>
                    </a:solidFill>
                  </a:tcPr>
                </a:tc>
                <a:extLst>
                  <a:ext uri="{0D108BD9-81ED-4DB2-BD59-A6C34878D82A}">
                    <a16:rowId xmlns:a16="http://schemas.microsoft.com/office/drawing/2014/main" val="10011"/>
                  </a:ext>
                </a:extLst>
              </a:tr>
              <a:tr h="402765">
                <a:tc vMerge="1">
                  <a:txBody>
                    <a:bodyPr/>
                    <a:lstStyle/>
                    <a:p>
                      <a:endParaRPr lang="zh-CN" altLang="en-US"/>
                    </a:p>
                  </a:txBody>
                  <a:tcPr/>
                </a:tc>
                <a:tc>
                  <a:txBody>
                    <a:bodyPr/>
                    <a:lstStyle>
                      <a:lvl1pPr eaLnBrk="0" hangingPunct="0">
                        <a:spcBef>
                          <a:spcPct val="20000"/>
                        </a:spcBef>
                        <a:buClr>
                          <a:schemeClr val="hlink"/>
                        </a:buClr>
                        <a:buFont typeface="Wingdings" panose="05000000000000000000" pitchFamily="2" charset="2"/>
                        <a:defRPr sz="2400" b="1">
                          <a:solidFill>
                            <a:schemeClr val="accent1"/>
                          </a:solidFill>
                          <a:latin typeface="Verdana" panose="020B0604030504040204" pitchFamily="34" charset="0"/>
                        </a:defRPr>
                      </a:lvl1pPr>
                      <a:lvl2pPr marL="742950" indent="-285750" eaLnBrk="0" hangingPunct="0">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marL="1143000" indent="-228600" eaLnBrk="0" hangingPunct="0">
                        <a:spcBef>
                          <a:spcPct val="20000"/>
                        </a:spcBef>
                        <a:buClr>
                          <a:schemeClr val="tx1"/>
                        </a:buClr>
                        <a:defRPr sz="2000">
                          <a:solidFill>
                            <a:schemeClr val="tx1"/>
                          </a:solidFill>
                          <a:latin typeface="Arial" panose="020B0604020202020204" pitchFamily="34" charset="0"/>
                        </a:defRPr>
                      </a:lvl3pPr>
                      <a:lvl4pPr marL="1600200" indent="-228600" eaLnBrk="0" hangingPunct="0">
                        <a:spcBef>
                          <a:spcPct val="20000"/>
                        </a:spcBef>
                        <a:defRPr>
                          <a:solidFill>
                            <a:schemeClr val="tx1"/>
                          </a:solidFill>
                          <a:latin typeface="Arial" panose="020B0604020202020204" pitchFamily="34" charset="0"/>
                        </a:defRPr>
                      </a:lvl4pPr>
                      <a:lvl5pPr marL="2057400" indent="-228600" eaLnBrk="0" hangingPunct="0">
                        <a:spcBef>
                          <a:spcPct val="20000"/>
                        </a:spcBef>
                        <a:defRPr>
                          <a:solidFill>
                            <a:schemeClr val="tx1"/>
                          </a:solidFill>
                          <a:latin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IEEE International Conference on Systems, Man, and Cybernetics (SMC)</a:t>
                      </a:r>
                      <a:endParaRPr kumimoji="0" lang="zh-CN" altLang="zh-CN" sz="16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68580" marR="68580" marT="0" marB="0" anchor="ctr" horzOverflow="overflow">
                    <a:lnL>
                      <a:noFill/>
                    </a:lnL>
                    <a:lnR>
                      <a:noFill/>
                    </a:lnR>
                    <a:lnT>
                      <a:noFill/>
                    </a:lnT>
                    <a:lnB>
                      <a:noFill/>
                    </a:lnB>
                    <a:lnTlToBr>
                      <a:noFill/>
                    </a:lnTlToBr>
                    <a:lnBlToTr>
                      <a:noFill/>
                    </a:lnBlToTr>
                    <a:solidFill>
                      <a:srgbClr val="FFCCFF"/>
                    </a:solidFill>
                  </a:tcPr>
                </a:tc>
                <a:extLst>
                  <a:ext uri="{0D108BD9-81ED-4DB2-BD59-A6C34878D82A}">
                    <a16:rowId xmlns:a16="http://schemas.microsoft.com/office/drawing/2014/main" val="10012"/>
                  </a:ext>
                </a:extLst>
              </a:tr>
              <a:tr h="402765">
                <a:tc vMerge="1">
                  <a:txBody>
                    <a:bodyPr/>
                    <a:lstStyle/>
                    <a:p>
                      <a:endParaRPr lang="zh-CN" altLang="en-US"/>
                    </a:p>
                  </a:txBody>
                  <a:tcPr/>
                </a:tc>
                <a:tc>
                  <a:txBody>
                    <a:bodyPr/>
                    <a:lstStyle>
                      <a:lvl1pPr eaLnBrk="0" hangingPunct="0">
                        <a:spcBef>
                          <a:spcPct val="20000"/>
                        </a:spcBef>
                        <a:buClr>
                          <a:schemeClr val="hlink"/>
                        </a:buClr>
                        <a:buFont typeface="Wingdings" panose="05000000000000000000" pitchFamily="2" charset="2"/>
                        <a:defRPr sz="2400" b="1">
                          <a:solidFill>
                            <a:schemeClr val="accent1"/>
                          </a:solidFill>
                          <a:latin typeface="Verdana" panose="020B0604030504040204" pitchFamily="34" charset="0"/>
                        </a:defRPr>
                      </a:lvl1pPr>
                      <a:lvl2pPr marL="742950" indent="-285750" eaLnBrk="0" hangingPunct="0">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marL="1143000" indent="-228600" eaLnBrk="0" hangingPunct="0">
                        <a:spcBef>
                          <a:spcPct val="20000"/>
                        </a:spcBef>
                        <a:buClr>
                          <a:schemeClr val="tx1"/>
                        </a:buClr>
                        <a:defRPr sz="2000">
                          <a:solidFill>
                            <a:schemeClr val="tx1"/>
                          </a:solidFill>
                          <a:latin typeface="Arial" panose="020B0604020202020204" pitchFamily="34" charset="0"/>
                        </a:defRPr>
                      </a:lvl3pPr>
                      <a:lvl4pPr marL="1600200" indent="-228600" eaLnBrk="0" hangingPunct="0">
                        <a:spcBef>
                          <a:spcPct val="20000"/>
                        </a:spcBef>
                        <a:defRPr>
                          <a:solidFill>
                            <a:schemeClr val="tx1"/>
                          </a:solidFill>
                          <a:latin typeface="Arial" panose="020B0604020202020204" pitchFamily="34" charset="0"/>
                        </a:defRPr>
                      </a:lvl4pPr>
                      <a:lvl5pPr marL="2057400" indent="-228600" eaLnBrk="0" hangingPunct="0">
                        <a:spcBef>
                          <a:spcPct val="20000"/>
                        </a:spcBef>
                        <a:defRPr>
                          <a:solidFill>
                            <a:schemeClr val="tx1"/>
                          </a:solidFill>
                          <a:latin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just" defTabSz="914400" rtl="0" eaLnBrk="1" fontAlgn="base" latinLnBrk="0" hangingPunct="1">
                        <a:lnSpc>
                          <a:spcPct val="100000"/>
                        </a:lnSpc>
                        <a:spcBef>
                          <a:spcPct val="0"/>
                        </a:spcBef>
                        <a:spcAft>
                          <a:spcPct val="0"/>
                        </a:spcAft>
                        <a:buClrTx/>
                        <a:buSzTx/>
                        <a:buFontTx/>
                        <a:buNone/>
                        <a:tabLst/>
                      </a:pPr>
                      <a:r>
                        <a:rPr lang="en-US" altLang="zh-CN" sz="1600" b="1" kern="1200" dirty="0">
                          <a:solidFill>
                            <a:schemeClr val="tx1"/>
                          </a:solidFill>
                          <a:effectLst/>
                          <a:latin typeface="Times New Roman" panose="02020603050405020304" pitchFamily="18" charset="0"/>
                          <a:ea typeface="+mn-ea"/>
                          <a:cs typeface="Times New Roman" panose="02020603050405020304" pitchFamily="18" charset="0"/>
                        </a:rPr>
                        <a:t>IEEE International Conference on Fuzzy Systems</a:t>
                      </a:r>
                      <a:endParaRPr kumimoji="0" lang="zh-CN" altLang="zh-CN" sz="11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horzOverflow="overflow">
                    <a:lnL>
                      <a:noFill/>
                    </a:lnL>
                    <a:lnR>
                      <a:noFill/>
                    </a:lnR>
                    <a:lnT>
                      <a:noFill/>
                    </a:lnT>
                    <a:lnB>
                      <a:noFill/>
                    </a:lnB>
                    <a:lnTlToBr>
                      <a:noFill/>
                    </a:lnTlToBr>
                    <a:lnBlToTr>
                      <a:noFill/>
                    </a:lnBlToTr>
                    <a:solidFill>
                      <a:srgbClr val="FFCCFF"/>
                    </a:solidFill>
                  </a:tcPr>
                </a:tc>
                <a:extLst>
                  <a:ext uri="{0D108BD9-81ED-4DB2-BD59-A6C34878D82A}">
                    <a16:rowId xmlns:a16="http://schemas.microsoft.com/office/drawing/2014/main" val="10013"/>
                  </a:ext>
                </a:extLst>
              </a:tr>
              <a:tr h="402765">
                <a:tc vMerge="1">
                  <a:txBody>
                    <a:bodyPr/>
                    <a:lstStyle/>
                    <a:p>
                      <a:endParaRPr lang="zh-CN" altLang="en-US"/>
                    </a:p>
                  </a:txBody>
                  <a:tcPr/>
                </a:tc>
                <a:tc>
                  <a:txBody>
                    <a:bodyPr/>
                    <a:lstStyle>
                      <a:lvl1pPr eaLnBrk="0" hangingPunct="0">
                        <a:spcBef>
                          <a:spcPct val="20000"/>
                        </a:spcBef>
                        <a:buClr>
                          <a:schemeClr val="hlink"/>
                        </a:buClr>
                        <a:buFont typeface="Wingdings" panose="05000000000000000000" pitchFamily="2" charset="2"/>
                        <a:defRPr sz="2400" b="1">
                          <a:solidFill>
                            <a:schemeClr val="accent1"/>
                          </a:solidFill>
                          <a:latin typeface="Verdana" panose="020B0604030504040204" pitchFamily="34" charset="0"/>
                        </a:defRPr>
                      </a:lvl1pPr>
                      <a:lvl2pPr marL="742950" indent="-285750" eaLnBrk="0" hangingPunct="0">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marL="1143000" indent="-228600" eaLnBrk="0" hangingPunct="0">
                        <a:spcBef>
                          <a:spcPct val="20000"/>
                        </a:spcBef>
                        <a:buClr>
                          <a:schemeClr val="tx1"/>
                        </a:buClr>
                        <a:defRPr sz="2000">
                          <a:solidFill>
                            <a:schemeClr val="tx1"/>
                          </a:solidFill>
                          <a:latin typeface="Arial" panose="020B0604020202020204" pitchFamily="34" charset="0"/>
                        </a:defRPr>
                      </a:lvl3pPr>
                      <a:lvl4pPr marL="1600200" indent="-228600" eaLnBrk="0" hangingPunct="0">
                        <a:spcBef>
                          <a:spcPct val="20000"/>
                        </a:spcBef>
                        <a:defRPr>
                          <a:solidFill>
                            <a:schemeClr val="tx1"/>
                          </a:solidFill>
                          <a:latin typeface="Arial" panose="020B0604020202020204" pitchFamily="34" charset="0"/>
                        </a:defRPr>
                      </a:lvl4pPr>
                      <a:lvl5pPr marL="2057400" indent="-228600" eaLnBrk="0" hangingPunct="0">
                        <a:spcBef>
                          <a:spcPct val="20000"/>
                        </a:spcBef>
                        <a:defRPr>
                          <a:solidFill>
                            <a:schemeClr val="tx1"/>
                          </a:solidFill>
                          <a:latin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International Conference on Ant Colony Optimization and Swarm Intelligence (ANTS)</a:t>
                      </a:r>
                      <a:endParaRPr kumimoji="0" lang="zh-CN" altLang="zh-CN" sz="16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68580" marR="68580" marT="0" marB="0" anchor="ctr" horzOverflow="overflow">
                    <a:lnL>
                      <a:noFill/>
                    </a:lnL>
                    <a:lnR>
                      <a:noFill/>
                    </a:lnR>
                    <a:lnT>
                      <a:noFill/>
                    </a:lnT>
                    <a:lnB>
                      <a:noFill/>
                    </a:lnB>
                    <a:lnTlToBr>
                      <a:noFill/>
                    </a:lnTlToBr>
                    <a:lnBlToTr>
                      <a:noFill/>
                    </a:lnBlToTr>
                    <a:solidFill>
                      <a:srgbClr val="FFCCFF"/>
                    </a:solidFill>
                  </a:tcPr>
                </a:tc>
                <a:extLst>
                  <a:ext uri="{0D108BD9-81ED-4DB2-BD59-A6C34878D82A}">
                    <a16:rowId xmlns:a16="http://schemas.microsoft.com/office/drawing/2014/main" val="10014"/>
                  </a:ext>
                </a:extLst>
              </a:tr>
              <a:tr h="402765">
                <a:tc vMerge="1">
                  <a:txBody>
                    <a:bodyPr/>
                    <a:lstStyle/>
                    <a:p>
                      <a:endParaRPr lang="zh-CN" altLang="en-US"/>
                    </a:p>
                  </a:txBody>
                  <a:tcPr/>
                </a:tc>
                <a:tc>
                  <a:txBody>
                    <a:bodyPr/>
                    <a:lstStyle>
                      <a:lvl1pPr eaLnBrk="0" hangingPunct="0">
                        <a:spcBef>
                          <a:spcPct val="20000"/>
                        </a:spcBef>
                        <a:buClr>
                          <a:schemeClr val="hlink"/>
                        </a:buClr>
                        <a:buFont typeface="Wingdings" panose="05000000000000000000" pitchFamily="2" charset="2"/>
                        <a:defRPr sz="2400" b="1">
                          <a:solidFill>
                            <a:schemeClr val="accent1"/>
                          </a:solidFill>
                          <a:latin typeface="Verdana" panose="020B0604030504040204" pitchFamily="34" charset="0"/>
                        </a:defRPr>
                      </a:lvl1pPr>
                      <a:lvl2pPr marL="742950" indent="-285750" eaLnBrk="0" hangingPunct="0">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marL="1143000" indent="-228600" eaLnBrk="0" hangingPunct="0">
                        <a:spcBef>
                          <a:spcPct val="20000"/>
                        </a:spcBef>
                        <a:buClr>
                          <a:schemeClr val="tx1"/>
                        </a:buClr>
                        <a:defRPr sz="2000">
                          <a:solidFill>
                            <a:schemeClr val="tx1"/>
                          </a:solidFill>
                          <a:latin typeface="Arial" panose="020B0604020202020204" pitchFamily="34" charset="0"/>
                        </a:defRPr>
                      </a:lvl3pPr>
                      <a:lvl4pPr marL="1600200" indent="-228600" eaLnBrk="0" hangingPunct="0">
                        <a:spcBef>
                          <a:spcPct val="20000"/>
                        </a:spcBef>
                        <a:defRPr>
                          <a:solidFill>
                            <a:schemeClr val="tx1"/>
                          </a:solidFill>
                          <a:latin typeface="Arial" panose="020B0604020202020204" pitchFamily="34" charset="0"/>
                        </a:defRPr>
                      </a:lvl4pPr>
                      <a:lvl5pPr marL="2057400" indent="-228600" eaLnBrk="0" hangingPunct="0">
                        <a:spcBef>
                          <a:spcPct val="20000"/>
                        </a:spcBef>
                        <a:defRPr>
                          <a:solidFill>
                            <a:schemeClr val="tx1"/>
                          </a:solidFill>
                          <a:latin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International Conference on Simulated Evolution And Learning (SEAL)</a:t>
                      </a:r>
                      <a:endParaRPr kumimoji="0" lang="zh-CN"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68580" marR="68580" marT="0" marB="0" anchor="ctr" horzOverflow="overflow">
                    <a:lnL>
                      <a:noFill/>
                    </a:lnL>
                    <a:lnR>
                      <a:noFill/>
                    </a:lnR>
                    <a:lnT>
                      <a:noFill/>
                    </a:lnT>
                    <a:lnB>
                      <a:noFill/>
                    </a:lnB>
                    <a:lnTlToBr>
                      <a:noFill/>
                    </a:lnTlToBr>
                    <a:lnBlToTr>
                      <a:noFill/>
                    </a:lnBlToTr>
                    <a:solidFill>
                      <a:srgbClr val="FFCCFF"/>
                    </a:solidFill>
                  </a:tcPr>
                </a:tc>
                <a:extLst>
                  <a:ext uri="{0D108BD9-81ED-4DB2-BD59-A6C34878D82A}">
                    <a16:rowId xmlns:a16="http://schemas.microsoft.com/office/drawing/2014/main" val="10015"/>
                  </a:ext>
                </a:extLst>
              </a:tr>
              <a:tr h="279949">
                <a:tc vMerge="1">
                  <a:txBody>
                    <a:bodyPr/>
                    <a:lstStyle/>
                    <a:p>
                      <a:endParaRPr lang="zh-CN" altLang="en-US"/>
                    </a:p>
                  </a:txBody>
                  <a:tcPr/>
                </a:tc>
                <a:tc>
                  <a:txBody>
                    <a:bodyPr/>
                    <a:lstStyle>
                      <a:lvl1pPr eaLnBrk="0" hangingPunct="0">
                        <a:spcBef>
                          <a:spcPct val="20000"/>
                        </a:spcBef>
                        <a:buClr>
                          <a:schemeClr val="hlink"/>
                        </a:buClr>
                        <a:buFont typeface="Wingdings" panose="05000000000000000000" pitchFamily="2" charset="2"/>
                        <a:defRPr sz="2400" b="1">
                          <a:solidFill>
                            <a:schemeClr val="accent1"/>
                          </a:solidFill>
                          <a:latin typeface="Verdana" panose="020B0604030504040204" pitchFamily="34" charset="0"/>
                        </a:defRPr>
                      </a:lvl1pPr>
                      <a:lvl2pPr marL="742950" indent="-285750" eaLnBrk="0" hangingPunct="0">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marL="1143000" indent="-228600" eaLnBrk="0" hangingPunct="0">
                        <a:spcBef>
                          <a:spcPct val="20000"/>
                        </a:spcBef>
                        <a:buClr>
                          <a:schemeClr val="tx1"/>
                        </a:buClr>
                        <a:defRPr sz="2000">
                          <a:solidFill>
                            <a:schemeClr val="tx1"/>
                          </a:solidFill>
                          <a:latin typeface="Arial" panose="020B0604020202020204" pitchFamily="34" charset="0"/>
                        </a:defRPr>
                      </a:lvl3pPr>
                      <a:lvl4pPr marL="1600200" indent="-228600" eaLnBrk="0" hangingPunct="0">
                        <a:spcBef>
                          <a:spcPct val="20000"/>
                        </a:spcBef>
                        <a:defRPr>
                          <a:solidFill>
                            <a:schemeClr val="tx1"/>
                          </a:solidFill>
                          <a:latin typeface="Arial" panose="020B0604020202020204" pitchFamily="34" charset="0"/>
                        </a:defRPr>
                      </a:lvl4pPr>
                      <a:lvl5pPr marL="2057400" indent="-228600" eaLnBrk="0" hangingPunct="0">
                        <a:spcBef>
                          <a:spcPct val="20000"/>
                        </a:spcBef>
                        <a:defRPr>
                          <a:solidFill>
                            <a:schemeClr val="tx1"/>
                          </a:solidFill>
                          <a:latin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zh-CN" altLang="zh-CN" sz="16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a:t>
                      </a:r>
                    </a:p>
                  </a:txBody>
                  <a:tcPr marL="68580" marR="68580" marT="0" marB="0" anchor="ctr" horzOverflow="overflow">
                    <a:lnL>
                      <a:noFill/>
                    </a:lnL>
                    <a:lnR>
                      <a:noFill/>
                    </a:lnR>
                    <a:lnT>
                      <a:noFill/>
                    </a:lnT>
                    <a:lnB w="19050" cap="flat" cmpd="sng" algn="ctr">
                      <a:solidFill>
                        <a:srgbClr val="000000"/>
                      </a:solidFill>
                      <a:prstDash val="solid"/>
                      <a:round/>
                      <a:headEnd type="none" w="med" len="med"/>
                      <a:tailEnd type="none" w="med" len="med"/>
                    </a:lnB>
                    <a:lnTlToBr>
                      <a:noFill/>
                    </a:lnTlToBr>
                    <a:lnBlToTr>
                      <a:noFill/>
                    </a:lnBlToTr>
                    <a:solidFill>
                      <a:srgbClr val="FFCCFF"/>
                    </a:solidFill>
                  </a:tcPr>
                </a:tc>
                <a:extLst>
                  <a:ext uri="{0D108BD9-81ED-4DB2-BD59-A6C34878D82A}">
                    <a16:rowId xmlns:a16="http://schemas.microsoft.com/office/drawing/2014/main" val="10016"/>
                  </a:ext>
                </a:extLst>
              </a:tr>
            </a:tbl>
          </a:graphicData>
        </a:graphic>
      </p:graphicFrame>
    </p:spTree>
    <p:extLst>
      <p:ext uri="{BB962C8B-B14F-4D97-AF65-F5344CB8AC3E}">
        <p14:creationId xmlns:p14="http://schemas.microsoft.com/office/powerpoint/2010/main" val="141303898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25637"/>
                                        </p:tgtEl>
                                        <p:attrNameLst>
                                          <p:attrName>style.visibility</p:attrName>
                                        </p:attrNameLst>
                                      </p:cBhvr>
                                      <p:to>
                                        <p:strVal val="visible"/>
                                      </p:to>
                                    </p:set>
                                    <p:anim calcmode="lin" valueType="num">
                                      <p:cBhvr additive="base">
                                        <p:cTn id="7" dur="500" fill="hold"/>
                                        <p:tgtEl>
                                          <p:spTgt spid="25637"/>
                                        </p:tgtEl>
                                        <p:attrNameLst>
                                          <p:attrName>ppt_x</p:attrName>
                                        </p:attrNameLst>
                                      </p:cBhvr>
                                      <p:tavLst>
                                        <p:tav tm="0">
                                          <p:val>
                                            <p:strVal val="#ppt_x"/>
                                          </p:val>
                                        </p:tav>
                                        <p:tav tm="100000">
                                          <p:val>
                                            <p:strVal val="#ppt_x"/>
                                          </p:val>
                                        </p:tav>
                                      </p:tavLst>
                                    </p:anim>
                                    <p:anim calcmode="lin" valueType="num">
                                      <p:cBhvr additive="base">
                                        <p:cTn id="8" dur="500" fill="hold"/>
                                        <p:tgtEl>
                                          <p:spTgt spid="2563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p:cNvSpPr>
            <a:spLocks noGrp="1" noChangeArrowheads="1"/>
          </p:cNvSpPr>
          <p:nvPr>
            <p:ph type="title"/>
          </p:nvPr>
        </p:nvSpPr>
        <p:spPr>
          <a:xfrm>
            <a:off x="1981200" y="332656"/>
            <a:ext cx="8229600" cy="1371600"/>
          </a:xfrm>
        </p:spPr>
        <p:txBody>
          <a:bodyPr/>
          <a:lstStyle/>
          <a:p>
            <a:pPr algn="ctr"/>
            <a:r>
              <a:rPr lang="zh-CN" altLang="en-US" dirty="0">
                <a:solidFill>
                  <a:srgbClr val="008000"/>
                </a:solidFill>
                <a:latin typeface="宋体" pitchFamily="2" charset="-122"/>
              </a:rPr>
              <a:t>模糊数学的研究内容</a:t>
            </a:r>
            <a:endParaRPr lang="zh-CN" altLang="en-US" dirty="0">
              <a:latin typeface="宋体" pitchFamily="2" charset="-122"/>
            </a:endParaRPr>
          </a:p>
        </p:txBody>
      </p:sp>
      <p:sp>
        <p:nvSpPr>
          <p:cNvPr id="69635" name="Rectangle 3"/>
          <p:cNvSpPr>
            <a:spLocks noGrp="1" noChangeArrowheads="1"/>
          </p:cNvSpPr>
          <p:nvPr>
            <p:ph idx="1"/>
          </p:nvPr>
        </p:nvSpPr>
        <p:spPr>
          <a:xfrm>
            <a:off x="1981200" y="2060848"/>
            <a:ext cx="8867328" cy="4464496"/>
          </a:xfrm>
        </p:spPr>
        <p:txBody>
          <a:bodyPr/>
          <a:lstStyle/>
          <a:p>
            <a:pPr>
              <a:lnSpc>
                <a:spcPct val="150000"/>
              </a:lnSpc>
            </a:pPr>
            <a:r>
              <a:rPr lang="zh-CN" altLang="en-US" sz="3200" b="1" dirty="0">
                <a:latin typeface="黑体" panose="02010609060101010101" pitchFamily="49" charset="-122"/>
                <a:ea typeface="黑体" panose="02010609060101010101" pitchFamily="49" charset="-122"/>
              </a:rPr>
              <a:t>研究模糊数学的理论，以及它和精确数学、随机数学的关系</a:t>
            </a:r>
            <a:endParaRPr lang="en-US" altLang="zh-CN" sz="3200" b="1" dirty="0">
              <a:latin typeface="黑体" panose="02010609060101010101" pitchFamily="49" charset="-122"/>
              <a:ea typeface="黑体" panose="02010609060101010101" pitchFamily="49" charset="-122"/>
            </a:endParaRPr>
          </a:p>
          <a:p>
            <a:pPr>
              <a:lnSpc>
                <a:spcPct val="150000"/>
              </a:lnSpc>
            </a:pPr>
            <a:r>
              <a:rPr lang="zh-CN" altLang="en-US" sz="3200" b="1" dirty="0">
                <a:latin typeface="黑体" panose="02010609060101010101" pitchFamily="49" charset="-122"/>
                <a:ea typeface="黑体" panose="02010609060101010101" pitchFamily="49" charset="-122"/>
              </a:rPr>
              <a:t>研究模糊语言学和模糊逻辑</a:t>
            </a:r>
            <a:endParaRPr lang="en-US" altLang="zh-CN" sz="3200" b="1" dirty="0">
              <a:latin typeface="黑体" panose="02010609060101010101" pitchFamily="49" charset="-122"/>
              <a:ea typeface="黑体" panose="02010609060101010101" pitchFamily="49" charset="-122"/>
            </a:endParaRPr>
          </a:p>
          <a:p>
            <a:pPr>
              <a:lnSpc>
                <a:spcPct val="150000"/>
              </a:lnSpc>
            </a:pPr>
            <a:r>
              <a:rPr lang="zh-CN" altLang="en-US" sz="3200" b="1" dirty="0">
                <a:solidFill>
                  <a:srgbClr val="FF0000"/>
                </a:solidFill>
                <a:latin typeface="黑体" panose="02010609060101010101" pitchFamily="49" charset="-122"/>
                <a:ea typeface="黑体" panose="02010609060101010101" pitchFamily="49" charset="-122"/>
              </a:rPr>
              <a:t>研究模糊数学的应用</a:t>
            </a:r>
            <a:endParaRPr lang="en-US" altLang="zh-CN" sz="3200" b="1" dirty="0">
              <a:solidFill>
                <a:srgbClr val="FF0000"/>
              </a:solidFill>
              <a:latin typeface="黑体" panose="02010609060101010101" pitchFamily="49" charset="-122"/>
              <a:ea typeface="黑体" panose="02010609060101010101" pitchFamily="49" charset="-122"/>
            </a:endParaRPr>
          </a:p>
          <a:p>
            <a:pPr marL="0" indent="0">
              <a:lnSpc>
                <a:spcPct val="90000"/>
              </a:lnSpc>
              <a:buNone/>
            </a:pPr>
            <a:r>
              <a:rPr lang="zh-CN" altLang="en-US" sz="2400" b="1" dirty="0">
                <a:latin typeface="宋体" pitchFamily="2" charset="-122"/>
              </a:rPr>
              <a:t>  </a:t>
            </a:r>
          </a:p>
          <a:p>
            <a:pPr marL="0" indent="0">
              <a:lnSpc>
                <a:spcPct val="90000"/>
              </a:lnSpc>
              <a:buNone/>
            </a:pPr>
            <a:endParaRPr lang="en-US" altLang="zh-CN" dirty="0">
              <a:latin typeface="宋体" pitchFamily="2" charset="-122"/>
            </a:endParaRPr>
          </a:p>
        </p:txBody>
      </p:sp>
    </p:spTree>
    <p:extLst>
      <p:ext uri="{BB962C8B-B14F-4D97-AF65-F5344CB8AC3E}">
        <p14:creationId xmlns:p14="http://schemas.microsoft.com/office/powerpoint/2010/main" val="3313003397"/>
      </p:ext>
    </p:extLst>
  </p:cSld>
  <p:clrMapOvr>
    <a:masterClrMapping/>
  </p:clrMapOvr>
  <p:transition>
    <p:cut/>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p:txBody>
          <a:bodyPr/>
          <a:lstStyle/>
          <a:p>
            <a:pPr algn="ctr" eaLnBrk="1" hangingPunct="1"/>
            <a:r>
              <a:rPr lang="zh-CN" altLang="en-US" dirty="0">
                <a:solidFill>
                  <a:srgbClr val="008000"/>
                </a:solidFill>
                <a:latin typeface="黑体" pitchFamily="49" charset="-122"/>
              </a:rPr>
              <a:t>第一章   模糊集合</a:t>
            </a:r>
          </a:p>
        </p:txBody>
      </p:sp>
      <p:sp>
        <p:nvSpPr>
          <p:cNvPr id="10243" name="Rectangle 3"/>
          <p:cNvSpPr>
            <a:spLocks noGrp="1" noChangeArrowheads="1"/>
          </p:cNvSpPr>
          <p:nvPr>
            <p:ph idx="1"/>
          </p:nvPr>
        </p:nvSpPr>
        <p:spPr>
          <a:xfrm>
            <a:off x="1847528" y="1700809"/>
            <a:ext cx="8928992" cy="4535487"/>
          </a:xfrm>
          <a:solidFill>
            <a:srgbClr val="FFFFCC"/>
          </a:solidFill>
        </p:spPr>
        <p:txBody>
          <a:bodyPr>
            <a:normAutofit lnSpcReduction="10000"/>
          </a:bodyPr>
          <a:lstStyle/>
          <a:p>
            <a:pPr eaLnBrk="1" hangingPunct="1">
              <a:buFont typeface="Wingdings" pitchFamily="2" charset="2"/>
              <a:buNone/>
            </a:pPr>
            <a:r>
              <a:rPr lang="en-US" altLang="zh-CN" sz="3200" dirty="0">
                <a:solidFill>
                  <a:srgbClr val="0000FF"/>
                </a:solidFill>
                <a:ea typeface="黑体" pitchFamily="49" charset="-122"/>
              </a:rPr>
              <a:t>1. </a:t>
            </a:r>
            <a:r>
              <a:rPr lang="zh-CN" altLang="en-US" sz="3200" dirty="0">
                <a:solidFill>
                  <a:srgbClr val="0000FF"/>
                </a:solidFill>
                <a:ea typeface="黑体" pitchFamily="49" charset="-122"/>
              </a:rPr>
              <a:t>引言</a:t>
            </a:r>
          </a:p>
          <a:p>
            <a:pPr eaLnBrk="1" hangingPunct="1">
              <a:buFont typeface="Wingdings" pitchFamily="2" charset="2"/>
              <a:buNone/>
            </a:pPr>
            <a:r>
              <a:rPr lang="en-US" altLang="zh-CN" sz="3200" dirty="0">
                <a:solidFill>
                  <a:srgbClr val="0000FF"/>
                </a:solidFill>
                <a:ea typeface="黑体" pitchFamily="49" charset="-122"/>
              </a:rPr>
              <a:t>2. </a:t>
            </a:r>
            <a:r>
              <a:rPr lang="zh-CN" altLang="en-US" sz="3200" dirty="0">
                <a:solidFill>
                  <a:srgbClr val="0000FF"/>
                </a:solidFill>
                <a:ea typeface="黑体" pitchFamily="49" charset="-122"/>
              </a:rPr>
              <a:t>模糊集的基本概念</a:t>
            </a:r>
          </a:p>
          <a:p>
            <a:pPr eaLnBrk="1" hangingPunct="1">
              <a:buFont typeface="Wingdings" pitchFamily="2" charset="2"/>
              <a:buNone/>
            </a:pPr>
            <a:r>
              <a:rPr lang="en-US" altLang="zh-CN" sz="3200" dirty="0">
                <a:solidFill>
                  <a:srgbClr val="0000FF"/>
                </a:solidFill>
                <a:ea typeface="黑体" pitchFamily="49" charset="-122"/>
              </a:rPr>
              <a:t>3. </a:t>
            </a:r>
            <a:r>
              <a:rPr lang="zh-CN" altLang="en-US" sz="3200" dirty="0">
                <a:solidFill>
                  <a:srgbClr val="0000FF"/>
                </a:solidFill>
                <a:ea typeface="黑体" pitchFamily="49" charset="-122"/>
              </a:rPr>
              <a:t>模糊集的运算 </a:t>
            </a:r>
          </a:p>
          <a:p>
            <a:pPr marL="0" indent="0" eaLnBrk="1" hangingPunct="1">
              <a:buNone/>
            </a:pPr>
            <a:r>
              <a:rPr lang="en-US" altLang="zh-CN" sz="3200" dirty="0">
                <a:solidFill>
                  <a:srgbClr val="3333FF"/>
                </a:solidFill>
                <a:ea typeface="黑体" pitchFamily="49" charset="-122"/>
              </a:rPr>
              <a:t>4.</a:t>
            </a:r>
            <a:r>
              <a:rPr lang="zh-CN" altLang="en-US" sz="3200" dirty="0">
                <a:solidFill>
                  <a:srgbClr val="3333FF"/>
                </a:solidFill>
                <a:ea typeface="黑体" pitchFamily="49" charset="-122"/>
              </a:rPr>
              <a:t> </a:t>
            </a:r>
            <a:r>
              <a:rPr lang="en-US" altLang="zh-CN" sz="3200" dirty="0">
                <a:solidFill>
                  <a:srgbClr val="3333FF"/>
                </a:solidFill>
              </a:rPr>
              <a:t>F</a:t>
            </a:r>
            <a:r>
              <a:rPr lang="zh-CN" altLang="en-US" sz="3200" dirty="0">
                <a:solidFill>
                  <a:srgbClr val="3333FF"/>
                </a:solidFill>
                <a:latin typeface="黑体" panose="02010609060101010101" pitchFamily="49" charset="-122"/>
                <a:ea typeface="黑体" panose="02010609060101010101" pitchFamily="49" charset="-122"/>
              </a:rPr>
              <a:t>集运算的其他定义</a:t>
            </a:r>
            <a:endParaRPr lang="en-US" altLang="zh-CN" sz="3200" dirty="0">
              <a:solidFill>
                <a:srgbClr val="3333FF"/>
              </a:solidFill>
              <a:ea typeface="黑体" pitchFamily="49" charset="-122"/>
            </a:endParaRPr>
          </a:p>
          <a:p>
            <a:pPr marL="0" indent="0" eaLnBrk="1" hangingPunct="1">
              <a:buNone/>
            </a:pPr>
            <a:r>
              <a:rPr lang="en-US" altLang="zh-CN" sz="3200" dirty="0">
                <a:solidFill>
                  <a:srgbClr val="3333FF"/>
                </a:solidFill>
                <a:ea typeface="黑体" pitchFamily="49" charset="-122"/>
              </a:rPr>
              <a:t>5. </a:t>
            </a:r>
            <a:r>
              <a:rPr lang="zh-CN" altLang="en-US" sz="3200" dirty="0">
                <a:solidFill>
                  <a:srgbClr val="3333FF"/>
                </a:solidFill>
                <a:ea typeface="黑体" pitchFamily="49" charset="-122"/>
              </a:rPr>
              <a:t>模糊集的截集</a:t>
            </a:r>
          </a:p>
          <a:p>
            <a:pPr marL="0" indent="0" eaLnBrk="1" hangingPunct="1">
              <a:buNone/>
            </a:pPr>
            <a:r>
              <a:rPr lang="en-US" altLang="zh-CN" sz="3200" dirty="0">
                <a:solidFill>
                  <a:srgbClr val="3333FF"/>
                </a:solidFill>
                <a:ea typeface="黑体" pitchFamily="49" charset="-122"/>
              </a:rPr>
              <a:t>6. </a:t>
            </a:r>
            <a:r>
              <a:rPr lang="zh-CN" altLang="en-US" sz="3200" dirty="0">
                <a:solidFill>
                  <a:srgbClr val="3333FF"/>
                </a:solidFill>
                <a:ea typeface="黑体" pitchFamily="49" charset="-122"/>
              </a:rPr>
              <a:t>分解定理</a:t>
            </a:r>
          </a:p>
          <a:p>
            <a:pPr marL="0" indent="0" eaLnBrk="1" hangingPunct="1">
              <a:buNone/>
            </a:pPr>
            <a:r>
              <a:rPr lang="en-US" altLang="zh-CN" sz="3200" dirty="0">
                <a:solidFill>
                  <a:srgbClr val="3333FF"/>
                </a:solidFill>
                <a:ea typeface="黑体" pitchFamily="49" charset="-122"/>
              </a:rPr>
              <a:t>7. </a:t>
            </a:r>
            <a:r>
              <a:rPr lang="zh-CN" altLang="en-US" sz="3200" dirty="0">
                <a:solidFill>
                  <a:srgbClr val="3333FF"/>
                </a:solidFill>
                <a:ea typeface="黑体" pitchFamily="49" charset="-122"/>
              </a:rPr>
              <a:t>集合套与表现定理</a:t>
            </a:r>
            <a:endParaRPr lang="en-US" altLang="zh-CN" sz="3200" dirty="0">
              <a:solidFill>
                <a:srgbClr val="3333FF"/>
              </a:solidFill>
              <a:ea typeface="黑体" pitchFamily="49" charset="-122"/>
            </a:endParaRPr>
          </a:p>
          <a:p>
            <a:pPr marL="0" indent="0" eaLnBrk="1" hangingPunct="1">
              <a:buNone/>
            </a:pPr>
            <a:r>
              <a:rPr lang="en-US" altLang="zh-CN" sz="3200" dirty="0">
                <a:solidFill>
                  <a:srgbClr val="3333FF"/>
                </a:solidFill>
                <a:ea typeface="黑体" pitchFamily="49" charset="-122"/>
              </a:rPr>
              <a:t>8. </a:t>
            </a:r>
            <a:r>
              <a:rPr lang="zh-CN" altLang="en-US" sz="3200" dirty="0">
                <a:solidFill>
                  <a:srgbClr val="3333FF"/>
                </a:solidFill>
                <a:ea typeface="黑体" pitchFamily="49" charset="-122"/>
              </a:rPr>
              <a:t>模糊集的模糊度</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a:xfrm>
            <a:off x="2063750" y="1196976"/>
            <a:ext cx="8135938" cy="4824413"/>
          </a:xfrm>
        </p:spPr>
        <p:txBody>
          <a:bodyPr/>
          <a:lstStyle/>
          <a:p>
            <a:pPr eaLnBrk="1" hangingPunct="1"/>
            <a:r>
              <a:rPr lang="en-US" altLang="zh-CN" sz="4000" dirty="0">
                <a:latin typeface="黑体" pitchFamily="49" charset="-122"/>
              </a:rPr>
              <a:t>    </a:t>
            </a:r>
            <a:endParaRPr lang="en-US" altLang="zh-CN" sz="4000" dirty="0">
              <a:solidFill>
                <a:srgbClr val="FF0000"/>
              </a:solidFill>
              <a:latin typeface="黑体" pitchFamily="49" charset="-122"/>
            </a:endParaRPr>
          </a:p>
        </p:txBody>
      </p:sp>
      <p:sp>
        <p:nvSpPr>
          <p:cNvPr id="11272" name="Text Box 8"/>
          <p:cNvSpPr txBox="1">
            <a:spLocks noChangeArrowheads="1"/>
          </p:cNvSpPr>
          <p:nvPr/>
        </p:nvSpPr>
        <p:spPr bwMode="auto">
          <a:xfrm>
            <a:off x="1055440" y="4611231"/>
            <a:ext cx="10369152" cy="2246769"/>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spcBef>
                <a:spcPct val="50000"/>
              </a:spcBef>
              <a:buFont typeface="Wingdings" pitchFamily="2" charset="2"/>
              <a:buChar char="Ø"/>
            </a:pPr>
            <a:r>
              <a:rPr lang="zh-CN" altLang="en-US" sz="2800" b="1" dirty="0">
                <a:ea typeface="楷体_GB2312" pitchFamily="49" charset="-122"/>
              </a:rPr>
              <a:t>复杂性和模糊性（非精确性）是相对的；</a:t>
            </a:r>
            <a:endParaRPr lang="en-US" altLang="zh-CN" sz="2800" b="1" dirty="0">
              <a:ea typeface="楷体_GB2312" pitchFamily="49" charset="-122"/>
            </a:endParaRPr>
          </a:p>
          <a:p>
            <a:pPr eaLnBrk="1" hangingPunct="1">
              <a:spcBef>
                <a:spcPct val="50000"/>
              </a:spcBef>
              <a:buFont typeface="Wingdings" pitchFamily="2" charset="2"/>
              <a:buChar char="Ø"/>
            </a:pPr>
            <a:r>
              <a:rPr lang="zh-CN" altLang="en-US" sz="2800" b="1" dirty="0">
                <a:ea typeface="楷体_GB2312" pitchFamily="49" charset="-122"/>
              </a:rPr>
              <a:t>即复杂程度越高，有意义的精确化能力便越低</a:t>
            </a:r>
            <a:r>
              <a:rPr lang="en-US" altLang="zh-CN" sz="2800" b="1" dirty="0">
                <a:ea typeface="楷体_GB2312" pitchFamily="49" charset="-122"/>
              </a:rPr>
              <a:t>; </a:t>
            </a:r>
            <a:endParaRPr lang="zh-CN" altLang="en-US" sz="2800" b="1" dirty="0">
              <a:ea typeface="楷体_GB2312" pitchFamily="49" charset="-122"/>
            </a:endParaRPr>
          </a:p>
          <a:p>
            <a:pPr eaLnBrk="1" hangingPunct="1">
              <a:spcBef>
                <a:spcPct val="50000"/>
              </a:spcBef>
              <a:buFont typeface="Wingdings" pitchFamily="2" charset="2"/>
              <a:buChar char="Ø"/>
            </a:pPr>
            <a:r>
              <a:rPr lang="zh-CN" altLang="en-US" sz="2800" b="1" dirty="0">
                <a:ea typeface="楷体_GB2312" pitchFamily="49" charset="-122"/>
              </a:rPr>
              <a:t>当我们对事物了解得越多，其复杂性就随之下降，我们对其理解的程度就越高；</a:t>
            </a:r>
          </a:p>
        </p:txBody>
      </p:sp>
      <p:sp>
        <p:nvSpPr>
          <p:cNvPr id="11273" name="Rectangle 9"/>
          <p:cNvSpPr>
            <a:spLocks noChangeArrowheads="1"/>
          </p:cNvSpPr>
          <p:nvPr/>
        </p:nvSpPr>
        <p:spPr bwMode="auto">
          <a:xfrm>
            <a:off x="1127448" y="1524965"/>
            <a:ext cx="10009112" cy="26961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zh-CN" altLang="en-US" sz="3200" dirty="0">
                <a:solidFill>
                  <a:srgbClr val="FF0000"/>
                </a:solidFill>
                <a:ea typeface="黑体" pitchFamily="49" charset="-122"/>
              </a:rPr>
              <a:t>不相容原理</a:t>
            </a:r>
          </a:p>
          <a:p>
            <a:pPr>
              <a:lnSpc>
                <a:spcPct val="110000"/>
              </a:lnSpc>
              <a:spcBef>
                <a:spcPct val="50000"/>
              </a:spcBef>
            </a:pPr>
            <a:r>
              <a:rPr lang="zh-CN" altLang="en-US" sz="2800" dirty="0">
                <a:latin typeface="黑体" pitchFamily="49" charset="-122"/>
                <a:ea typeface="黑体" pitchFamily="49" charset="-122"/>
              </a:rPr>
              <a:t>    </a:t>
            </a:r>
            <a:r>
              <a:rPr lang="zh-CN" altLang="en-US" sz="2800" b="1" dirty="0">
                <a:latin typeface="华文楷体" panose="02010600040101010101" pitchFamily="2" charset="-122"/>
                <a:ea typeface="华文楷体" panose="02010600040101010101" pitchFamily="2" charset="-122"/>
              </a:rPr>
              <a:t>随着系统的复杂性增加时，我们使它精确化的能力将逐渐减弱。直到达到一个阈值，一旦超越它，复杂性和精确性几乎成为互斥的特征</a:t>
            </a:r>
            <a:r>
              <a:rPr lang="zh-CN" altLang="en-US" sz="2800" dirty="0">
                <a:latin typeface="黑体" pitchFamily="49" charset="-122"/>
                <a:ea typeface="黑体" pitchFamily="49" charset="-122"/>
              </a:rPr>
              <a:t>。</a:t>
            </a:r>
            <a:br>
              <a:rPr lang="zh-CN" altLang="en-US" sz="2800" dirty="0">
                <a:latin typeface="黑体" pitchFamily="49" charset="-122"/>
                <a:ea typeface="黑体" pitchFamily="49" charset="-122"/>
              </a:rPr>
            </a:br>
            <a:r>
              <a:rPr lang="zh-CN" altLang="en-US" sz="2800" dirty="0">
                <a:latin typeface="黑体" pitchFamily="49" charset="-122"/>
                <a:ea typeface="黑体" pitchFamily="49" charset="-122"/>
              </a:rPr>
              <a:t>                                        </a:t>
            </a:r>
            <a:r>
              <a:rPr lang="en-US" altLang="zh-CN" sz="2800" dirty="0">
                <a:latin typeface="+mn-lt"/>
                <a:ea typeface="黑体" pitchFamily="49" charset="-122"/>
              </a:rPr>
              <a:t>——  L. </a:t>
            </a:r>
            <a:r>
              <a:rPr lang="en-US" altLang="zh-CN" sz="2800" dirty="0" err="1">
                <a:latin typeface="+mn-lt"/>
                <a:ea typeface="黑体" pitchFamily="49" charset="-122"/>
              </a:rPr>
              <a:t>A.Zadeh</a:t>
            </a:r>
            <a:r>
              <a:rPr lang="en-US" altLang="zh-CN" sz="2800" dirty="0">
                <a:latin typeface="+mn-lt"/>
                <a:ea typeface="黑体" pitchFamily="49" charset="-122"/>
              </a:rPr>
              <a:t> </a:t>
            </a:r>
            <a:endParaRPr lang="zh-CN" altLang="en-US" sz="2800" dirty="0">
              <a:latin typeface="+mn-lt"/>
              <a:ea typeface="黑体" pitchFamily="49" charset="-122"/>
            </a:endParaRPr>
          </a:p>
        </p:txBody>
      </p:sp>
      <p:sp>
        <p:nvSpPr>
          <p:cNvPr id="11269" name="Text Box 10"/>
          <p:cNvSpPr txBox="1">
            <a:spLocks noChangeArrowheads="1"/>
          </p:cNvSpPr>
          <p:nvPr/>
        </p:nvSpPr>
        <p:spPr bwMode="auto">
          <a:xfrm>
            <a:off x="2351088" y="549275"/>
            <a:ext cx="7561262"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spcBef>
                <a:spcPct val="50000"/>
              </a:spcBef>
            </a:pPr>
            <a:r>
              <a:rPr lang="en-US" altLang="zh-CN" sz="4400" dirty="0">
                <a:solidFill>
                  <a:srgbClr val="008000"/>
                </a:solidFill>
                <a:ea typeface="黑体" pitchFamily="49" charset="-122"/>
              </a:rPr>
              <a:t>1.1 </a:t>
            </a:r>
            <a:r>
              <a:rPr lang="en-US" altLang="zh-CN" sz="4400" dirty="0">
                <a:solidFill>
                  <a:srgbClr val="008000"/>
                </a:solidFill>
                <a:latin typeface="黑体" pitchFamily="49" charset="-122"/>
                <a:ea typeface="黑体" pitchFamily="49" charset="-122"/>
              </a:rPr>
              <a:t>  </a:t>
            </a:r>
            <a:r>
              <a:rPr lang="zh-CN" altLang="en-US" sz="4400" dirty="0">
                <a:solidFill>
                  <a:srgbClr val="008000"/>
                </a:solidFill>
                <a:latin typeface="黑体" pitchFamily="49" charset="-122"/>
                <a:ea typeface="黑体" pitchFamily="49" charset="-122"/>
              </a:rPr>
              <a:t>引 言</a:t>
            </a:r>
          </a:p>
        </p:txBody>
      </p:sp>
      <p:sp>
        <p:nvSpPr>
          <p:cNvPr id="3" name="文本框 2">
            <a:extLst>
              <a:ext uri="{FF2B5EF4-FFF2-40B4-BE49-F238E27FC236}">
                <a16:creationId xmlns:a16="http://schemas.microsoft.com/office/drawing/2014/main" id="{7905215E-D072-47F1-9182-E2D8ABA8CDA1}"/>
              </a:ext>
            </a:extLst>
          </p:cNvPr>
          <p:cNvSpPr txBox="1"/>
          <p:nvPr/>
        </p:nvSpPr>
        <p:spPr>
          <a:xfrm>
            <a:off x="911424" y="2035874"/>
            <a:ext cx="10369152" cy="2185214"/>
          </a:xfrm>
          <a:prstGeom prst="rect">
            <a:avLst/>
          </a:prstGeom>
          <a:solidFill>
            <a:schemeClr val="bg1"/>
          </a:solidFill>
        </p:spPr>
        <p:txBody>
          <a:bodyPr wrap="square" rtlCol="0">
            <a:spAutoFit/>
          </a:bodyPr>
          <a:lstStyle/>
          <a:p>
            <a:pPr algn="just"/>
            <a:r>
              <a:rPr lang="en-US" altLang="zh-CN" sz="2400" dirty="0"/>
              <a:t>      </a:t>
            </a:r>
            <a:r>
              <a:rPr lang="en-US" altLang="zh-CN" sz="2800" dirty="0"/>
              <a:t>As the complexity of a system increases, our ability to make precise and yet significant statements about its </a:t>
            </a:r>
            <a:r>
              <a:rPr lang="en-US" altLang="zh-CN" sz="2800" dirty="0" err="1"/>
              <a:t>behaviour</a:t>
            </a:r>
            <a:r>
              <a:rPr lang="en-US" altLang="zh-CN" sz="2800" dirty="0"/>
              <a:t> diminishes until a threshold is reached beyond which precision and significance (or relevance) become almost mutually exclusive characteristics. </a:t>
            </a:r>
          </a:p>
          <a:p>
            <a:pPr algn="r"/>
            <a:r>
              <a:rPr lang="en-US" altLang="zh-CN" sz="2400" dirty="0">
                <a:ea typeface="黑体" pitchFamily="49" charset="-122"/>
              </a:rPr>
              <a:t>——  L. </a:t>
            </a:r>
            <a:r>
              <a:rPr lang="en-US" altLang="zh-CN" sz="2400" dirty="0" err="1">
                <a:ea typeface="黑体" pitchFamily="49" charset="-122"/>
              </a:rPr>
              <a:t>A.Zadeh</a:t>
            </a:r>
            <a:r>
              <a:rPr lang="en-US" altLang="zh-CN" sz="2400" dirty="0">
                <a:ea typeface="黑体" pitchFamily="49" charset="-122"/>
              </a:rPr>
              <a:t>  </a:t>
            </a:r>
            <a:endParaRPr lang="zh-CN" altLang="en-US" dirty="0"/>
          </a:p>
        </p:txBody>
      </p:sp>
      <p:sp>
        <p:nvSpPr>
          <p:cNvPr id="2" name="爆炸形 1 1"/>
          <p:cNvSpPr/>
          <p:nvPr/>
        </p:nvSpPr>
        <p:spPr>
          <a:xfrm>
            <a:off x="7813850" y="101233"/>
            <a:ext cx="4536504" cy="2252810"/>
          </a:xfrm>
          <a:prstGeom prst="irregularSeal1">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3200" b="1" dirty="0">
                <a:solidFill>
                  <a:srgbClr val="0000FF"/>
                </a:solidFill>
                <a:effectLst>
                  <a:outerShdw blurRad="38100" dist="38100" dir="2700000" algn="tl">
                    <a:srgbClr val="000000">
                      <a:alpha val="43137"/>
                    </a:srgbClr>
                  </a:outerShdw>
                </a:effectLst>
              </a:rPr>
              <a:t>互克性原理</a:t>
            </a:r>
            <a:r>
              <a:rPr lang="zh-CN" altLang="en-US" b="1" dirty="0">
                <a:solidFill>
                  <a:srgbClr val="0000FF"/>
                </a:solidFill>
                <a:effectLst>
                  <a:outerShdw blurRad="38100" dist="38100" dir="2700000" algn="tl">
                    <a:srgbClr val="000000">
                      <a:alpha val="43137"/>
                    </a:srgbClr>
                  </a:outerShdw>
                </a:effectLst>
              </a:rPr>
              <a:t>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xit" presetSubtype="0" fill="hold" grpId="0" nodeType="clickEffect">
                                  <p:stCondLst>
                                    <p:cond delay="0"/>
                                  </p:stCondLst>
                                  <p:childTnLst>
                                    <p:animEffect transition="out" filter="fade">
                                      <p:cBhvr>
                                        <p:cTn id="6" dur="500"/>
                                        <p:tgtEl>
                                          <p:spTgt spid="3"/>
                                        </p:tgtEl>
                                      </p:cBhvr>
                                    </p:animEffect>
                                    <p:set>
                                      <p:cBhvr>
                                        <p:cTn id="7" dur="1" fill="hold">
                                          <p:stCondLst>
                                            <p:cond delay="499"/>
                                          </p:stCondLst>
                                        </p:cTn>
                                        <p:tgtEl>
                                          <p:spTgt spid="3"/>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11272">
                                            <p:txEl>
                                              <p:pRg st="0" end="0"/>
                                            </p:txEl>
                                          </p:spTgt>
                                        </p:tgtEl>
                                        <p:attrNameLst>
                                          <p:attrName>style.visibility</p:attrName>
                                        </p:attrNameLst>
                                      </p:cBhvr>
                                      <p:to>
                                        <p:strVal val="visible"/>
                                      </p:to>
                                    </p:set>
                                    <p:anim calcmode="lin" valueType="num">
                                      <p:cBhvr additive="base">
                                        <p:cTn id="12" dur="500" fill="hold"/>
                                        <p:tgtEl>
                                          <p:spTgt spid="11272">
                                            <p:txEl>
                                              <p:pRg st="0" end="0"/>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1127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11272">
                                            <p:txEl>
                                              <p:pRg st="1" end="1"/>
                                            </p:txEl>
                                          </p:spTgt>
                                        </p:tgtEl>
                                        <p:attrNameLst>
                                          <p:attrName>style.visibility</p:attrName>
                                        </p:attrNameLst>
                                      </p:cBhvr>
                                      <p:to>
                                        <p:strVal val="visible"/>
                                      </p:to>
                                    </p:set>
                                    <p:anim calcmode="lin" valueType="num">
                                      <p:cBhvr additive="base">
                                        <p:cTn id="18" dur="500" fill="hold"/>
                                        <p:tgtEl>
                                          <p:spTgt spid="11272">
                                            <p:txEl>
                                              <p:pRg st="1" end="1"/>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1127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0" fill="hold" nodeType="clickPar">
                      <p:stCondLst>
                        <p:cond delay="indefinite"/>
                      </p:stCondLst>
                      <p:childTnLst>
                        <p:par>
                          <p:cTn id="21" fill="hold" nodeType="withGroup">
                            <p:stCondLst>
                              <p:cond delay="0"/>
                            </p:stCondLst>
                            <p:childTnLst>
                              <p:par>
                                <p:cTn id="22" presetID="2" presetClass="entr" presetSubtype="4" fill="hold" nodeType="clickEffect">
                                  <p:stCondLst>
                                    <p:cond delay="0"/>
                                  </p:stCondLst>
                                  <p:childTnLst>
                                    <p:set>
                                      <p:cBhvr>
                                        <p:cTn id="23" dur="1" fill="hold">
                                          <p:stCondLst>
                                            <p:cond delay="0"/>
                                          </p:stCondLst>
                                        </p:cTn>
                                        <p:tgtEl>
                                          <p:spTgt spid="11272">
                                            <p:txEl>
                                              <p:pRg st="2" end="2"/>
                                            </p:txEl>
                                          </p:spTgt>
                                        </p:tgtEl>
                                        <p:attrNameLst>
                                          <p:attrName>style.visibility</p:attrName>
                                        </p:attrNameLst>
                                      </p:cBhvr>
                                      <p:to>
                                        <p:strVal val="visible"/>
                                      </p:to>
                                    </p:set>
                                    <p:anim calcmode="lin" valueType="num">
                                      <p:cBhvr additive="base">
                                        <p:cTn id="24" dur="500" fill="hold"/>
                                        <p:tgtEl>
                                          <p:spTgt spid="11272">
                                            <p:txEl>
                                              <p:pRg st="2" end="2"/>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11272">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6" presetClass="entr" presetSubtype="0" fill="hold" grpId="0" nodeType="clickEffect">
                                  <p:stCondLst>
                                    <p:cond delay="0"/>
                                  </p:stCondLst>
                                  <p:childTnLst>
                                    <p:set>
                                      <p:cBhvr>
                                        <p:cTn id="29" dur="1" fill="hold">
                                          <p:stCondLst>
                                            <p:cond delay="0"/>
                                          </p:stCondLst>
                                        </p:cTn>
                                        <p:tgtEl>
                                          <p:spTgt spid="2"/>
                                        </p:tgtEl>
                                        <p:attrNameLst>
                                          <p:attrName>style.visibility</p:attrName>
                                        </p:attrNameLst>
                                      </p:cBhvr>
                                      <p:to>
                                        <p:strVal val="visible"/>
                                      </p:to>
                                    </p:set>
                                    <p:animEffect transition="in" filter="wipe(down)">
                                      <p:cBhvr>
                                        <p:cTn id="30" dur="580">
                                          <p:stCondLst>
                                            <p:cond delay="0"/>
                                          </p:stCondLst>
                                        </p:cTn>
                                        <p:tgtEl>
                                          <p:spTgt spid="2"/>
                                        </p:tgtEl>
                                      </p:cBhvr>
                                    </p:animEffect>
                                    <p:anim calcmode="lin" valueType="num">
                                      <p:cBhvr>
                                        <p:cTn id="31" dur="1822" tmFilter="0,0; 0.14,0.36; 0.43,0.73; 0.71,0.91; 1.0,1.0">
                                          <p:stCondLst>
                                            <p:cond delay="0"/>
                                          </p:stCondLst>
                                        </p:cTn>
                                        <p:tgtEl>
                                          <p:spTgt spid="2"/>
                                        </p:tgtEl>
                                        <p:attrNameLst>
                                          <p:attrName>ppt_x</p:attrName>
                                        </p:attrNameLst>
                                      </p:cBhvr>
                                      <p:tavLst>
                                        <p:tav tm="0">
                                          <p:val>
                                            <p:strVal val="#ppt_x-0.25"/>
                                          </p:val>
                                        </p:tav>
                                        <p:tav tm="100000">
                                          <p:val>
                                            <p:strVal val="#ppt_x"/>
                                          </p:val>
                                        </p:tav>
                                      </p:tavLst>
                                    </p:anim>
                                    <p:anim calcmode="lin" valueType="num">
                                      <p:cBhvr>
                                        <p:cTn id="32" dur="664" tmFilter="0.0,0.0; 0.25,0.07; 0.50,0.2; 0.75,0.467; 1.0,1.0">
                                          <p:stCondLst>
                                            <p:cond delay="0"/>
                                          </p:stCondLst>
                                        </p:cTn>
                                        <p:tgtEl>
                                          <p:spTgt spid="2"/>
                                        </p:tgtEl>
                                        <p:attrNameLst>
                                          <p:attrName>ppt_y</p:attrName>
                                        </p:attrNameLst>
                                      </p:cBhvr>
                                      <p:tavLst>
                                        <p:tav tm="0" fmla="#ppt_y-sin(pi*$)/3">
                                          <p:val>
                                            <p:fltVal val="0.5"/>
                                          </p:val>
                                        </p:tav>
                                        <p:tav tm="100000">
                                          <p:val>
                                            <p:fltVal val="1"/>
                                          </p:val>
                                        </p:tav>
                                      </p:tavLst>
                                    </p:anim>
                                    <p:anim calcmode="lin" valueType="num">
                                      <p:cBhvr>
                                        <p:cTn id="33" dur="664" tmFilter="0, 0; 0.125,0.2665; 0.25,0.4; 0.375,0.465; 0.5,0.5;  0.625,0.535; 0.75,0.6; 0.875,0.7335; 1,1">
                                          <p:stCondLst>
                                            <p:cond delay="664"/>
                                          </p:stCondLst>
                                        </p:cTn>
                                        <p:tgtEl>
                                          <p:spTgt spid="2"/>
                                        </p:tgtEl>
                                        <p:attrNameLst>
                                          <p:attrName>ppt_y</p:attrName>
                                        </p:attrNameLst>
                                      </p:cBhvr>
                                      <p:tavLst>
                                        <p:tav tm="0" fmla="#ppt_y-sin(pi*$)/9">
                                          <p:val>
                                            <p:fltVal val="0"/>
                                          </p:val>
                                        </p:tav>
                                        <p:tav tm="100000">
                                          <p:val>
                                            <p:fltVal val="1"/>
                                          </p:val>
                                        </p:tav>
                                      </p:tavLst>
                                    </p:anim>
                                    <p:anim calcmode="lin" valueType="num">
                                      <p:cBhvr>
                                        <p:cTn id="34" dur="332" tmFilter="0, 0; 0.125,0.2665; 0.25,0.4; 0.375,0.465; 0.5,0.5;  0.625,0.535; 0.75,0.6; 0.875,0.7335; 1,1">
                                          <p:stCondLst>
                                            <p:cond delay="1324"/>
                                          </p:stCondLst>
                                        </p:cTn>
                                        <p:tgtEl>
                                          <p:spTgt spid="2"/>
                                        </p:tgtEl>
                                        <p:attrNameLst>
                                          <p:attrName>ppt_y</p:attrName>
                                        </p:attrNameLst>
                                      </p:cBhvr>
                                      <p:tavLst>
                                        <p:tav tm="0" fmla="#ppt_y-sin(pi*$)/27">
                                          <p:val>
                                            <p:fltVal val="0"/>
                                          </p:val>
                                        </p:tav>
                                        <p:tav tm="100000">
                                          <p:val>
                                            <p:fltVal val="1"/>
                                          </p:val>
                                        </p:tav>
                                      </p:tavLst>
                                    </p:anim>
                                    <p:anim calcmode="lin" valueType="num">
                                      <p:cBhvr>
                                        <p:cTn id="35" dur="164" tmFilter="0, 0; 0.125,0.2665; 0.25,0.4; 0.375,0.465; 0.5,0.5;  0.625,0.535; 0.75,0.6; 0.875,0.7335; 1,1">
                                          <p:stCondLst>
                                            <p:cond delay="1656"/>
                                          </p:stCondLst>
                                        </p:cTn>
                                        <p:tgtEl>
                                          <p:spTgt spid="2"/>
                                        </p:tgtEl>
                                        <p:attrNameLst>
                                          <p:attrName>ppt_y</p:attrName>
                                        </p:attrNameLst>
                                      </p:cBhvr>
                                      <p:tavLst>
                                        <p:tav tm="0" fmla="#ppt_y-sin(pi*$)/81">
                                          <p:val>
                                            <p:fltVal val="0"/>
                                          </p:val>
                                        </p:tav>
                                        <p:tav tm="100000">
                                          <p:val>
                                            <p:fltVal val="1"/>
                                          </p:val>
                                        </p:tav>
                                      </p:tavLst>
                                    </p:anim>
                                    <p:animScale>
                                      <p:cBhvr>
                                        <p:cTn id="36" dur="26">
                                          <p:stCondLst>
                                            <p:cond delay="650"/>
                                          </p:stCondLst>
                                        </p:cTn>
                                        <p:tgtEl>
                                          <p:spTgt spid="2"/>
                                        </p:tgtEl>
                                      </p:cBhvr>
                                      <p:to x="100000" y="60000"/>
                                    </p:animScale>
                                    <p:animScale>
                                      <p:cBhvr>
                                        <p:cTn id="37" dur="166" decel="50000">
                                          <p:stCondLst>
                                            <p:cond delay="676"/>
                                          </p:stCondLst>
                                        </p:cTn>
                                        <p:tgtEl>
                                          <p:spTgt spid="2"/>
                                        </p:tgtEl>
                                      </p:cBhvr>
                                      <p:to x="100000" y="100000"/>
                                    </p:animScale>
                                    <p:animScale>
                                      <p:cBhvr>
                                        <p:cTn id="38" dur="26">
                                          <p:stCondLst>
                                            <p:cond delay="1312"/>
                                          </p:stCondLst>
                                        </p:cTn>
                                        <p:tgtEl>
                                          <p:spTgt spid="2"/>
                                        </p:tgtEl>
                                      </p:cBhvr>
                                      <p:to x="100000" y="80000"/>
                                    </p:animScale>
                                    <p:animScale>
                                      <p:cBhvr>
                                        <p:cTn id="39" dur="166" decel="50000">
                                          <p:stCondLst>
                                            <p:cond delay="1338"/>
                                          </p:stCondLst>
                                        </p:cTn>
                                        <p:tgtEl>
                                          <p:spTgt spid="2"/>
                                        </p:tgtEl>
                                      </p:cBhvr>
                                      <p:to x="100000" y="100000"/>
                                    </p:animScale>
                                    <p:animScale>
                                      <p:cBhvr>
                                        <p:cTn id="40" dur="26">
                                          <p:stCondLst>
                                            <p:cond delay="1642"/>
                                          </p:stCondLst>
                                        </p:cTn>
                                        <p:tgtEl>
                                          <p:spTgt spid="2"/>
                                        </p:tgtEl>
                                      </p:cBhvr>
                                      <p:to x="100000" y="90000"/>
                                    </p:animScale>
                                    <p:animScale>
                                      <p:cBhvr>
                                        <p:cTn id="41" dur="166" decel="50000">
                                          <p:stCondLst>
                                            <p:cond delay="1668"/>
                                          </p:stCondLst>
                                        </p:cTn>
                                        <p:tgtEl>
                                          <p:spTgt spid="2"/>
                                        </p:tgtEl>
                                      </p:cBhvr>
                                      <p:to x="100000" y="100000"/>
                                    </p:animScale>
                                    <p:animScale>
                                      <p:cBhvr>
                                        <p:cTn id="42" dur="26">
                                          <p:stCondLst>
                                            <p:cond delay="1808"/>
                                          </p:stCondLst>
                                        </p:cTn>
                                        <p:tgtEl>
                                          <p:spTgt spid="2"/>
                                        </p:tgtEl>
                                      </p:cBhvr>
                                      <p:to x="100000" y="95000"/>
                                    </p:animScale>
                                    <p:animScale>
                                      <p:cBhvr>
                                        <p:cTn id="43" dur="166" decel="50000">
                                          <p:stCondLst>
                                            <p:cond delay="1834"/>
                                          </p:stCondLst>
                                        </p:cTn>
                                        <p:tgtEl>
                                          <p:spTgt spid="2"/>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2"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a:xfrm>
            <a:off x="983432" y="188914"/>
            <a:ext cx="10441160" cy="1152525"/>
          </a:xfrm>
        </p:spPr>
        <p:txBody>
          <a:bodyPr>
            <a:normAutofit/>
          </a:bodyPr>
          <a:lstStyle/>
          <a:p>
            <a:pPr algn="ctr" eaLnBrk="1" hangingPunct="1"/>
            <a:r>
              <a:rPr lang="zh-CN" altLang="en-US" dirty="0">
                <a:solidFill>
                  <a:srgbClr val="008000"/>
                </a:solidFill>
              </a:rPr>
              <a:t>系统模式中系统复杂性与精确性的关系</a:t>
            </a:r>
            <a:endParaRPr lang="zh-CN" altLang="en-US" sz="4000" dirty="0">
              <a:solidFill>
                <a:srgbClr val="008000"/>
              </a:solidFill>
            </a:endParaRPr>
          </a:p>
        </p:txBody>
      </p:sp>
      <p:sp>
        <p:nvSpPr>
          <p:cNvPr id="10243" name="Rectangle 3"/>
          <p:cNvSpPr>
            <a:spLocks noGrp="1" noChangeArrowheads="1"/>
          </p:cNvSpPr>
          <p:nvPr>
            <p:ph idx="1"/>
          </p:nvPr>
        </p:nvSpPr>
        <p:spPr>
          <a:xfrm>
            <a:off x="1903537" y="5589588"/>
            <a:ext cx="8389813" cy="1079500"/>
          </a:xfrm>
          <a:solidFill>
            <a:srgbClr val="FFFF99"/>
          </a:solidFill>
        </p:spPr>
        <p:txBody>
          <a:bodyPr/>
          <a:lstStyle/>
          <a:p>
            <a:pPr eaLnBrk="1" hangingPunct="1">
              <a:lnSpc>
                <a:spcPct val="100000"/>
              </a:lnSpc>
              <a:buFont typeface="Wingdings" pitchFamily="2" charset="2"/>
              <a:buChar char="Ø"/>
            </a:pPr>
            <a:r>
              <a:rPr lang="zh-CN" altLang="en-US" sz="2800" b="1" dirty="0">
                <a:ea typeface="楷体_GB2312" pitchFamily="49" charset="-122"/>
              </a:rPr>
              <a:t>不含复杂性的系统，无不确定性，用</a:t>
            </a:r>
            <a:r>
              <a:rPr lang="zh-CN" altLang="en-US" sz="2800" b="1" dirty="0">
                <a:solidFill>
                  <a:srgbClr val="008000"/>
                </a:solidFill>
                <a:ea typeface="楷体_GB2312" pitchFamily="49" charset="-122"/>
              </a:rPr>
              <a:t>常规数学方法</a:t>
            </a:r>
            <a:r>
              <a:rPr lang="zh-CN" altLang="en-US" sz="2800" b="1" dirty="0">
                <a:ea typeface="楷体_GB2312" pitchFamily="49" charset="-122"/>
              </a:rPr>
              <a:t>对此类系统有精确描述；</a:t>
            </a:r>
          </a:p>
        </p:txBody>
      </p:sp>
      <p:grpSp>
        <p:nvGrpSpPr>
          <p:cNvPr id="12292" name="Group 12"/>
          <p:cNvGrpSpPr>
            <a:grpSpLocks/>
          </p:cNvGrpSpPr>
          <p:nvPr/>
        </p:nvGrpSpPr>
        <p:grpSpPr bwMode="auto">
          <a:xfrm>
            <a:off x="1903537" y="1554162"/>
            <a:ext cx="8245475" cy="3675062"/>
            <a:chOff x="657" y="1253"/>
            <a:chExt cx="5194" cy="2315"/>
          </a:xfrm>
        </p:grpSpPr>
        <p:sp>
          <p:nvSpPr>
            <p:cNvPr id="12294" name="Line 13"/>
            <p:cNvSpPr>
              <a:spLocks noChangeShapeType="1"/>
            </p:cNvSpPr>
            <p:nvPr/>
          </p:nvSpPr>
          <p:spPr bwMode="auto">
            <a:xfrm flipV="1">
              <a:off x="1066" y="1525"/>
              <a:ext cx="0" cy="195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295" name="Line 14"/>
            <p:cNvSpPr>
              <a:spLocks noChangeShapeType="1"/>
            </p:cNvSpPr>
            <p:nvPr/>
          </p:nvSpPr>
          <p:spPr bwMode="auto">
            <a:xfrm>
              <a:off x="1066" y="3475"/>
              <a:ext cx="3719"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296" name="Text Box 15"/>
            <p:cNvSpPr txBox="1">
              <a:spLocks noChangeArrowheads="1"/>
            </p:cNvSpPr>
            <p:nvPr/>
          </p:nvSpPr>
          <p:spPr bwMode="auto">
            <a:xfrm>
              <a:off x="657" y="1253"/>
              <a:ext cx="907"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spcBef>
                  <a:spcPct val="50000"/>
                </a:spcBef>
              </a:pPr>
              <a:r>
                <a:rPr lang="zh-CN" altLang="en-US" sz="2000" b="1" dirty="0">
                  <a:ea typeface="楷体_GB2312" pitchFamily="49" charset="-122"/>
                </a:rPr>
                <a:t>模型精度</a:t>
              </a:r>
            </a:p>
          </p:txBody>
        </p:sp>
        <p:sp>
          <p:nvSpPr>
            <p:cNvPr id="12297" name="Text Box 16"/>
            <p:cNvSpPr txBox="1">
              <a:spLocks noChangeArrowheads="1"/>
            </p:cNvSpPr>
            <p:nvPr/>
          </p:nvSpPr>
          <p:spPr bwMode="auto">
            <a:xfrm>
              <a:off x="4808" y="3318"/>
              <a:ext cx="1043"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spcBef>
                  <a:spcPct val="50000"/>
                </a:spcBef>
              </a:pPr>
              <a:r>
                <a:rPr lang="zh-CN" altLang="en-US" sz="2000" b="1" dirty="0">
                  <a:ea typeface="楷体_GB2312" pitchFamily="49" charset="-122"/>
                </a:rPr>
                <a:t>系统复杂性</a:t>
              </a:r>
            </a:p>
          </p:txBody>
        </p:sp>
        <p:sp>
          <p:nvSpPr>
            <p:cNvPr id="12298" name="Text Box 17"/>
            <p:cNvSpPr txBox="1">
              <a:spLocks noChangeArrowheads="1"/>
            </p:cNvSpPr>
            <p:nvPr/>
          </p:nvSpPr>
          <p:spPr bwMode="auto">
            <a:xfrm>
              <a:off x="1565" y="1570"/>
              <a:ext cx="907"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spcBef>
                  <a:spcPct val="50000"/>
                </a:spcBef>
              </a:pPr>
              <a:r>
                <a:rPr lang="zh-CN" altLang="en-US" sz="2000" b="1">
                  <a:solidFill>
                    <a:srgbClr val="008000"/>
                  </a:solidFill>
                  <a:ea typeface="楷体_GB2312" pitchFamily="49" charset="-122"/>
                </a:rPr>
                <a:t>数学方法</a:t>
              </a:r>
            </a:p>
          </p:txBody>
        </p:sp>
        <p:sp>
          <p:nvSpPr>
            <p:cNvPr id="12299" name="Text Box 18"/>
            <p:cNvSpPr txBox="1">
              <a:spLocks noChangeArrowheads="1"/>
            </p:cNvSpPr>
            <p:nvPr/>
          </p:nvSpPr>
          <p:spPr bwMode="auto">
            <a:xfrm>
              <a:off x="2653" y="1888"/>
              <a:ext cx="1043"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spcBef>
                  <a:spcPct val="50000"/>
                </a:spcBef>
              </a:pPr>
              <a:r>
                <a:rPr lang="zh-CN" altLang="en-US" sz="2000" b="1">
                  <a:solidFill>
                    <a:srgbClr val="9900FF"/>
                  </a:solidFill>
                  <a:ea typeface="楷体_GB2312" pitchFamily="49" charset="-122"/>
                </a:rPr>
                <a:t>无模型方法</a:t>
              </a:r>
            </a:p>
          </p:txBody>
        </p:sp>
        <p:sp>
          <p:nvSpPr>
            <p:cNvPr id="12300" name="Text Box 19"/>
            <p:cNvSpPr txBox="1">
              <a:spLocks noChangeArrowheads="1"/>
            </p:cNvSpPr>
            <p:nvPr/>
          </p:nvSpPr>
          <p:spPr bwMode="auto">
            <a:xfrm>
              <a:off x="4150" y="2568"/>
              <a:ext cx="907"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spcBef>
                  <a:spcPct val="50000"/>
                </a:spcBef>
              </a:pPr>
              <a:r>
                <a:rPr lang="zh-CN" altLang="en-US" sz="2000" b="1">
                  <a:solidFill>
                    <a:srgbClr val="FF0000"/>
                  </a:solidFill>
                  <a:ea typeface="楷体_GB2312" pitchFamily="49" charset="-122"/>
                </a:rPr>
                <a:t>模糊系统</a:t>
              </a:r>
            </a:p>
          </p:txBody>
        </p:sp>
        <p:sp>
          <p:nvSpPr>
            <p:cNvPr id="12301" name="Freeform 20"/>
            <p:cNvSpPr>
              <a:spLocks/>
            </p:cNvSpPr>
            <p:nvPr/>
          </p:nvSpPr>
          <p:spPr bwMode="auto">
            <a:xfrm>
              <a:off x="1247" y="1774"/>
              <a:ext cx="620" cy="1520"/>
            </a:xfrm>
            <a:custGeom>
              <a:avLst/>
              <a:gdLst>
                <a:gd name="T0" fmla="*/ 0 w 620"/>
                <a:gd name="T1" fmla="*/ 1520 h 1520"/>
                <a:gd name="T2" fmla="*/ 408 w 620"/>
                <a:gd name="T3" fmla="*/ 1021 h 1520"/>
                <a:gd name="T4" fmla="*/ 590 w 620"/>
                <a:gd name="T5" fmla="*/ 159 h 1520"/>
                <a:gd name="T6" fmla="*/ 590 w 620"/>
                <a:gd name="T7" fmla="*/ 68 h 15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20" h="1520">
                  <a:moveTo>
                    <a:pt x="0" y="1520"/>
                  </a:moveTo>
                  <a:cubicBezTo>
                    <a:pt x="155" y="1384"/>
                    <a:pt x="310" y="1248"/>
                    <a:pt x="408" y="1021"/>
                  </a:cubicBezTo>
                  <a:cubicBezTo>
                    <a:pt x="506" y="794"/>
                    <a:pt x="560" y="318"/>
                    <a:pt x="590" y="159"/>
                  </a:cubicBezTo>
                  <a:cubicBezTo>
                    <a:pt x="620" y="0"/>
                    <a:pt x="605" y="34"/>
                    <a:pt x="590" y="68"/>
                  </a:cubicBezTo>
                </a:path>
              </a:pathLst>
            </a:custGeom>
            <a:noFill/>
            <a:ln w="38100" cmpd="sng">
              <a:solidFill>
                <a:srgbClr val="008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302" name="Freeform 21"/>
            <p:cNvSpPr>
              <a:spLocks/>
            </p:cNvSpPr>
            <p:nvPr/>
          </p:nvSpPr>
          <p:spPr bwMode="auto">
            <a:xfrm>
              <a:off x="1655" y="2205"/>
              <a:ext cx="1588" cy="1044"/>
            </a:xfrm>
            <a:custGeom>
              <a:avLst/>
              <a:gdLst>
                <a:gd name="T0" fmla="*/ 0 w 1543"/>
                <a:gd name="T1" fmla="*/ 1648 h 953"/>
                <a:gd name="T2" fmla="*/ 915 w 1543"/>
                <a:gd name="T3" fmla="*/ 1254 h 953"/>
                <a:gd name="T4" fmla="*/ 1401 w 1543"/>
                <a:gd name="T5" fmla="*/ 783 h 953"/>
                <a:gd name="T6" fmla="*/ 1833 w 1543"/>
                <a:gd name="T7" fmla="*/ 0 h 95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543" h="953">
                  <a:moveTo>
                    <a:pt x="0" y="953"/>
                  </a:moveTo>
                  <a:cubicBezTo>
                    <a:pt x="287" y="881"/>
                    <a:pt x="574" y="809"/>
                    <a:pt x="771" y="726"/>
                  </a:cubicBezTo>
                  <a:cubicBezTo>
                    <a:pt x="968" y="643"/>
                    <a:pt x="1051" y="575"/>
                    <a:pt x="1180" y="454"/>
                  </a:cubicBezTo>
                  <a:cubicBezTo>
                    <a:pt x="1309" y="333"/>
                    <a:pt x="1426" y="166"/>
                    <a:pt x="1543" y="0"/>
                  </a:cubicBezTo>
                </a:path>
              </a:pathLst>
            </a:custGeom>
            <a:noFill/>
            <a:ln w="38100" cmpd="sng">
              <a:solidFill>
                <a:srgbClr val="9900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303" name="Freeform 22"/>
            <p:cNvSpPr>
              <a:spLocks/>
            </p:cNvSpPr>
            <p:nvPr/>
          </p:nvSpPr>
          <p:spPr bwMode="auto">
            <a:xfrm>
              <a:off x="2336" y="2886"/>
              <a:ext cx="2177" cy="363"/>
            </a:xfrm>
            <a:custGeom>
              <a:avLst/>
              <a:gdLst>
                <a:gd name="T0" fmla="*/ 0 w 2177"/>
                <a:gd name="T1" fmla="*/ 363 h 363"/>
                <a:gd name="T2" fmla="*/ 862 w 2177"/>
                <a:gd name="T3" fmla="*/ 272 h 363"/>
                <a:gd name="T4" fmla="*/ 1315 w 2177"/>
                <a:gd name="T5" fmla="*/ 227 h 363"/>
                <a:gd name="T6" fmla="*/ 1769 w 2177"/>
                <a:gd name="T7" fmla="*/ 136 h 363"/>
                <a:gd name="T8" fmla="*/ 2086 w 2177"/>
                <a:gd name="T9" fmla="*/ 45 h 363"/>
                <a:gd name="T10" fmla="*/ 2177 w 2177"/>
                <a:gd name="T11" fmla="*/ 0 h 363"/>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77" h="363">
                  <a:moveTo>
                    <a:pt x="0" y="363"/>
                  </a:moveTo>
                  <a:cubicBezTo>
                    <a:pt x="321" y="329"/>
                    <a:pt x="643" y="295"/>
                    <a:pt x="862" y="272"/>
                  </a:cubicBezTo>
                  <a:cubicBezTo>
                    <a:pt x="1081" y="249"/>
                    <a:pt x="1164" y="250"/>
                    <a:pt x="1315" y="227"/>
                  </a:cubicBezTo>
                  <a:cubicBezTo>
                    <a:pt x="1466" y="204"/>
                    <a:pt x="1640" y="166"/>
                    <a:pt x="1769" y="136"/>
                  </a:cubicBezTo>
                  <a:cubicBezTo>
                    <a:pt x="1898" y="106"/>
                    <a:pt x="2018" y="68"/>
                    <a:pt x="2086" y="45"/>
                  </a:cubicBezTo>
                  <a:cubicBezTo>
                    <a:pt x="2154" y="22"/>
                    <a:pt x="2165" y="11"/>
                    <a:pt x="2177" y="0"/>
                  </a:cubicBezTo>
                </a:path>
              </a:pathLst>
            </a:custGeom>
            <a:noFill/>
            <a:ln w="38100" cmpd="sng">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2293" name="Rectangle 23"/>
          <p:cNvSpPr>
            <a:spLocks noChangeArrowheads="1"/>
          </p:cNvSpPr>
          <p:nvPr/>
        </p:nvSpPr>
        <p:spPr bwMode="auto">
          <a:xfrm>
            <a:off x="8352514" y="1647645"/>
            <a:ext cx="2856053" cy="1384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r>
              <a:rPr lang="zh-CN" altLang="en-US" sz="2800" b="1" dirty="0">
                <a:solidFill>
                  <a:srgbClr val="3366FF"/>
                </a:solidFill>
                <a:ea typeface="楷体_GB2312" pitchFamily="49" charset="-122"/>
              </a:rPr>
              <a:t>系统的复杂性与系统模型中固有的精度有关</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243">
                                            <p:bg/>
                                          </p:spTgt>
                                        </p:tgtEl>
                                        <p:attrNameLst>
                                          <p:attrName>style.visibility</p:attrName>
                                        </p:attrNameLst>
                                      </p:cBhvr>
                                      <p:to>
                                        <p:strVal val="visible"/>
                                      </p:to>
                                    </p:set>
                                    <p:anim calcmode="lin" valueType="num">
                                      <p:cBhvr additive="base">
                                        <p:cTn id="7" dur="500" fill="hold"/>
                                        <p:tgtEl>
                                          <p:spTgt spid="10243">
                                            <p:bg/>
                                          </p:spTgt>
                                        </p:tgtEl>
                                        <p:attrNameLst>
                                          <p:attrName>ppt_x</p:attrName>
                                        </p:attrNameLst>
                                      </p:cBhvr>
                                      <p:tavLst>
                                        <p:tav tm="0">
                                          <p:val>
                                            <p:strVal val="#ppt_x"/>
                                          </p:val>
                                        </p:tav>
                                        <p:tav tm="100000">
                                          <p:val>
                                            <p:strVal val="#ppt_x"/>
                                          </p:val>
                                        </p:tav>
                                      </p:tavLst>
                                    </p:anim>
                                    <p:anim calcmode="lin" valueType="num">
                                      <p:cBhvr additive="base">
                                        <p:cTn id="8" dur="500" fill="hold"/>
                                        <p:tgtEl>
                                          <p:spTgt spid="10243">
                                            <p:bg/>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0243">
                                            <p:txEl>
                                              <p:pRg st="0" end="0"/>
                                            </p:txEl>
                                          </p:spTgt>
                                        </p:tgtEl>
                                        <p:attrNameLst>
                                          <p:attrName>style.visibility</p:attrName>
                                        </p:attrNameLst>
                                      </p:cBhvr>
                                      <p:to>
                                        <p:strVal val="visible"/>
                                      </p:to>
                                    </p:set>
                                    <p:anim calcmode="lin" valueType="num">
                                      <p:cBhvr additive="base">
                                        <p:cTn id="13" dur="500" fill="hold"/>
                                        <p:tgtEl>
                                          <p:spTgt spid="10243">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024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3" grpId="0" build="p"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E9CBEA-838E-2326-5D9D-BE3C684FAB0C}"/>
            </a:ext>
          </a:extLst>
        </p:cNvPr>
        <p:cNvGrpSpPr/>
        <p:nvPr/>
      </p:nvGrpSpPr>
      <p:grpSpPr>
        <a:xfrm>
          <a:off x="0" y="0"/>
          <a:ext cx="0" cy="0"/>
          <a:chOff x="0" y="0"/>
          <a:chExt cx="0" cy="0"/>
        </a:xfrm>
      </p:grpSpPr>
      <p:grpSp>
        <p:nvGrpSpPr>
          <p:cNvPr id="12292" name="Group 12">
            <a:extLst>
              <a:ext uri="{FF2B5EF4-FFF2-40B4-BE49-F238E27FC236}">
                <a16:creationId xmlns:a16="http://schemas.microsoft.com/office/drawing/2014/main" id="{218C20BB-7B8E-1544-4F23-AC1FB16542B5}"/>
              </a:ext>
            </a:extLst>
          </p:cNvPr>
          <p:cNvGrpSpPr>
            <a:grpSpLocks/>
          </p:cNvGrpSpPr>
          <p:nvPr/>
        </p:nvGrpSpPr>
        <p:grpSpPr bwMode="auto">
          <a:xfrm>
            <a:off x="1903537" y="1554162"/>
            <a:ext cx="8245475" cy="3675062"/>
            <a:chOff x="657" y="1253"/>
            <a:chExt cx="5194" cy="2315"/>
          </a:xfrm>
        </p:grpSpPr>
        <p:sp>
          <p:nvSpPr>
            <p:cNvPr id="12294" name="Line 13">
              <a:extLst>
                <a:ext uri="{FF2B5EF4-FFF2-40B4-BE49-F238E27FC236}">
                  <a16:creationId xmlns:a16="http://schemas.microsoft.com/office/drawing/2014/main" id="{A1B2AE71-5AE2-138B-0734-F376696C1B59}"/>
                </a:ext>
              </a:extLst>
            </p:cNvPr>
            <p:cNvSpPr>
              <a:spLocks noChangeShapeType="1"/>
            </p:cNvSpPr>
            <p:nvPr/>
          </p:nvSpPr>
          <p:spPr bwMode="auto">
            <a:xfrm flipV="1">
              <a:off x="1066" y="1525"/>
              <a:ext cx="0" cy="195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295" name="Line 14">
              <a:extLst>
                <a:ext uri="{FF2B5EF4-FFF2-40B4-BE49-F238E27FC236}">
                  <a16:creationId xmlns:a16="http://schemas.microsoft.com/office/drawing/2014/main" id="{C8065A66-E929-13FC-51D1-A2821C230F63}"/>
                </a:ext>
              </a:extLst>
            </p:cNvPr>
            <p:cNvSpPr>
              <a:spLocks noChangeShapeType="1"/>
            </p:cNvSpPr>
            <p:nvPr/>
          </p:nvSpPr>
          <p:spPr bwMode="auto">
            <a:xfrm>
              <a:off x="1066" y="3475"/>
              <a:ext cx="3719"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296" name="Text Box 15">
              <a:extLst>
                <a:ext uri="{FF2B5EF4-FFF2-40B4-BE49-F238E27FC236}">
                  <a16:creationId xmlns:a16="http://schemas.microsoft.com/office/drawing/2014/main" id="{A91ABC6F-32A5-1A7C-ABBB-33208B313EF7}"/>
                </a:ext>
              </a:extLst>
            </p:cNvPr>
            <p:cNvSpPr txBox="1">
              <a:spLocks noChangeArrowheads="1"/>
            </p:cNvSpPr>
            <p:nvPr/>
          </p:nvSpPr>
          <p:spPr bwMode="auto">
            <a:xfrm>
              <a:off x="657" y="1253"/>
              <a:ext cx="907"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spcBef>
                  <a:spcPct val="50000"/>
                </a:spcBef>
              </a:pPr>
              <a:r>
                <a:rPr lang="zh-CN" altLang="en-US" sz="2000" b="1" dirty="0">
                  <a:ea typeface="楷体_GB2312" pitchFamily="49" charset="-122"/>
                </a:rPr>
                <a:t>模型精度</a:t>
              </a:r>
            </a:p>
          </p:txBody>
        </p:sp>
        <p:sp>
          <p:nvSpPr>
            <p:cNvPr id="12297" name="Text Box 16">
              <a:extLst>
                <a:ext uri="{FF2B5EF4-FFF2-40B4-BE49-F238E27FC236}">
                  <a16:creationId xmlns:a16="http://schemas.microsoft.com/office/drawing/2014/main" id="{D3E73BB5-0388-0ADB-4B68-B29AC85FDA2C}"/>
                </a:ext>
              </a:extLst>
            </p:cNvPr>
            <p:cNvSpPr txBox="1">
              <a:spLocks noChangeArrowheads="1"/>
            </p:cNvSpPr>
            <p:nvPr/>
          </p:nvSpPr>
          <p:spPr bwMode="auto">
            <a:xfrm>
              <a:off x="4808" y="3318"/>
              <a:ext cx="1043"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spcBef>
                  <a:spcPct val="50000"/>
                </a:spcBef>
              </a:pPr>
              <a:r>
                <a:rPr lang="zh-CN" altLang="en-US" sz="2000" b="1" dirty="0">
                  <a:ea typeface="楷体_GB2312" pitchFamily="49" charset="-122"/>
                </a:rPr>
                <a:t>系统复杂性</a:t>
              </a:r>
            </a:p>
          </p:txBody>
        </p:sp>
        <p:sp>
          <p:nvSpPr>
            <p:cNvPr id="12298" name="Text Box 17">
              <a:extLst>
                <a:ext uri="{FF2B5EF4-FFF2-40B4-BE49-F238E27FC236}">
                  <a16:creationId xmlns:a16="http://schemas.microsoft.com/office/drawing/2014/main" id="{4A5B84E8-FF9C-D5D1-A4FE-2CD57CA2DB6A}"/>
                </a:ext>
              </a:extLst>
            </p:cNvPr>
            <p:cNvSpPr txBox="1">
              <a:spLocks noChangeArrowheads="1"/>
            </p:cNvSpPr>
            <p:nvPr/>
          </p:nvSpPr>
          <p:spPr bwMode="auto">
            <a:xfrm>
              <a:off x="1565" y="1570"/>
              <a:ext cx="907"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spcBef>
                  <a:spcPct val="50000"/>
                </a:spcBef>
              </a:pPr>
              <a:r>
                <a:rPr lang="zh-CN" altLang="en-US" sz="2000" b="1">
                  <a:solidFill>
                    <a:srgbClr val="008000"/>
                  </a:solidFill>
                  <a:ea typeface="楷体_GB2312" pitchFamily="49" charset="-122"/>
                </a:rPr>
                <a:t>数学方法</a:t>
              </a:r>
            </a:p>
          </p:txBody>
        </p:sp>
        <p:sp>
          <p:nvSpPr>
            <p:cNvPr id="12299" name="Text Box 18">
              <a:extLst>
                <a:ext uri="{FF2B5EF4-FFF2-40B4-BE49-F238E27FC236}">
                  <a16:creationId xmlns:a16="http://schemas.microsoft.com/office/drawing/2014/main" id="{75CAE0FF-099A-7828-30F9-ADCCBE586CC0}"/>
                </a:ext>
              </a:extLst>
            </p:cNvPr>
            <p:cNvSpPr txBox="1">
              <a:spLocks noChangeArrowheads="1"/>
            </p:cNvSpPr>
            <p:nvPr/>
          </p:nvSpPr>
          <p:spPr bwMode="auto">
            <a:xfrm>
              <a:off x="2653" y="1888"/>
              <a:ext cx="1043"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spcBef>
                  <a:spcPct val="50000"/>
                </a:spcBef>
              </a:pPr>
              <a:r>
                <a:rPr lang="zh-CN" altLang="en-US" sz="2000" b="1">
                  <a:solidFill>
                    <a:srgbClr val="9900FF"/>
                  </a:solidFill>
                  <a:ea typeface="楷体_GB2312" pitchFamily="49" charset="-122"/>
                </a:rPr>
                <a:t>无模型方法</a:t>
              </a:r>
            </a:p>
          </p:txBody>
        </p:sp>
        <p:sp>
          <p:nvSpPr>
            <p:cNvPr id="12300" name="Text Box 19">
              <a:extLst>
                <a:ext uri="{FF2B5EF4-FFF2-40B4-BE49-F238E27FC236}">
                  <a16:creationId xmlns:a16="http://schemas.microsoft.com/office/drawing/2014/main" id="{17A4A96A-C491-282D-B9F2-48E4657F5981}"/>
                </a:ext>
              </a:extLst>
            </p:cNvPr>
            <p:cNvSpPr txBox="1">
              <a:spLocks noChangeArrowheads="1"/>
            </p:cNvSpPr>
            <p:nvPr/>
          </p:nvSpPr>
          <p:spPr bwMode="auto">
            <a:xfrm>
              <a:off x="4150" y="2568"/>
              <a:ext cx="907"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spcBef>
                  <a:spcPct val="50000"/>
                </a:spcBef>
              </a:pPr>
              <a:r>
                <a:rPr lang="zh-CN" altLang="en-US" sz="2000" b="1">
                  <a:solidFill>
                    <a:srgbClr val="FF0000"/>
                  </a:solidFill>
                  <a:ea typeface="楷体_GB2312" pitchFamily="49" charset="-122"/>
                </a:rPr>
                <a:t>模糊系统</a:t>
              </a:r>
            </a:p>
          </p:txBody>
        </p:sp>
        <p:sp>
          <p:nvSpPr>
            <p:cNvPr id="12301" name="Freeform 20">
              <a:extLst>
                <a:ext uri="{FF2B5EF4-FFF2-40B4-BE49-F238E27FC236}">
                  <a16:creationId xmlns:a16="http://schemas.microsoft.com/office/drawing/2014/main" id="{70C60D44-1565-DF6D-5C1D-96E6809F7F15}"/>
                </a:ext>
              </a:extLst>
            </p:cNvPr>
            <p:cNvSpPr>
              <a:spLocks/>
            </p:cNvSpPr>
            <p:nvPr/>
          </p:nvSpPr>
          <p:spPr bwMode="auto">
            <a:xfrm>
              <a:off x="1247" y="1774"/>
              <a:ext cx="620" cy="1520"/>
            </a:xfrm>
            <a:custGeom>
              <a:avLst/>
              <a:gdLst>
                <a:gd name="T0" fmla="*/ 0 w 620"/>
                <a:gd name="T1" fmla="*/ 1520 h 1520"/>
                <a:gd name="T2" fmla="*/ 408 w 620"/>
                <a:gd name="T3" fmla="*/ 1021 h 1520"/>
                <a:gd name="T4" fmla="*/ 590 w 620"/>
                <a:gd name="T5" fmla="*/ 159 h 1520"/>
                <a:gd name="T6" fmla="*/ 590 w 620"/>
                <a:gd name="T7" fmla="*/ 68 h 15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20" h="1520">
                  <a:moveTo>
                    <a:pt x="0" y="1520"/>
                  </a:moveTo>
                  <a:cubicBezTo>
                    <a:pt x="155" y="1384"/>
                    <a:pt x="310" y="1248"/>
                    <a:pt x="408" y="1021"/>
                  </a:cubicBezTo>
                  <a:cubicBezTo>
                    <a:pt x="506" y="794"/>
                    <a:pt x="560" y="318"/>
                    <a:pt x="590" y="159"/>
                  </a:cubicBezTo>
                  <a:cubicBezTo>
                    <a:pt x="620" y="0"/>
                    <a:pt x="605" y="34"/>
                    <a:pt x="590" y="68"/>
                  </a:cubicBezTo>
                </a:path>
              </a:pathLst>
            </a:custGeom>
            <a:noFill/>
            <a:ln w="38100" cmpd="sng">
              <a:solidFill>
                <a:srgbClr val="008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302" name="Freeform 21">
              <a:extLst>
                <a:ext uri="{FF2B5EF4-FFF2-40B4-BE49-F238E27FC236}">
                  <a16:creationId xmlns:a16="http://schemas.microsoft.com/office/drawing/2014/main" id="{FCCF83F0-A547-4BBE-AD60-8DE1CA8BDB17}"/>
                </a:ext>
              </a:extLst>
            </p:cNvPr>
            <p:cNvSpPr>
              <a:spLocks/>
            </p:cNvSpPr>
            <p:nvPr/>
          </p:nvSpPr>
          <p:spPr bwMode="auto">
            <a:xfrm>
              <a:off x="1655" y="2205"/>
              <a:ext cx="1588" cy="1044"/>
            </a:xfrm>
            <a:custGeom>
              <a:avLst/>
              <a:gdLst>
                <a:gd name="T0" fmla="*/ 0 w 1543"/>
                <a:gd name="T1" fmla="*/ 1648 h 953"/>
                <a:gd name="T2" fmla="*/ 915 w 1543"/>
                <a:gd name="T3" fmla="*/ 1254 h 953"/>
                <a:gd name="T4" fmla="*/ 1401 w 1543"/>
                <a:gd name="T5" fmla="*/ 783 h 953"/>
                <a:gd name="T6" fmla="*/ 1833 w 1543"/>
                <a:gd name="T7" fmla="*/ 0 h 95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543" h="953">
                  <a:moveTo>
                    <a:pt x="0" y="953"/>
                  </a:moveTo>
                  <a:cubicBezTo>
                    <a:pt x="287" y="881"/>
                    <a:pt x="574" y="809"/>
                    <a:pt x="771" y="726"/>
                  </a:cubicBezTo>
                  <a:cubicBezTo>
                    <a:pt x="968" y="643"/>
                    <a:pt x="1051" y="575"/>
                    <a:pt x="1180" y="454"/>
                  </a:cubicBezTo>
                  <a:cubicBezTo>
                    <a:pt x="1309" y="333"/>
                    <a:pt x="1426" y="166"/>
                    <a:pt x="1543" y="0"/>
                  </a:cubicBezTo>
                </a:path>
              </a:pathLst>
            </a:custGeom>
            <a:noFill/>
            <a:ln w="38100" cmpd="sng">
              <a:solidFill>
                <a:srgbClr val="9900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303" name="Freeform 22">
              <a:extLst>
                <a:ext uri="{FF2B5EF4-FFF2-40B4-BE49-F238E27FC236}">
                  <a16:creationId xmlns:a16="http://schemas.microsoft.com/office/drawing/2014/main" id="{61F881CE-2F54-0DB8-424C-511AC8F27813}"/>
                </a:ext>
              </a:extLst>
            </p:cNvPr>
            <p:cNvSpPr>
              <a:spLocks/>
            </p:cNvSpPr>
            <p:nvPr/>
          </p:nvSpPr>
          <p:spPr bwMode="auto">
            <a:xfrm>
              <a:off x="2336" y="2886"/>
              <a:ext cx="2177" cy="363"/>
            </a:xfrm>
            <a:custGeom>
              <a:avLst/>
              <a:gdLst>
                <a:gd name="T0" fmla="*/ 0 w 2177"/>
                <a:gd name="T1" fmla="*/ 363 h 363"/>
                <a:gd name="T2" fmla="*/ 862 w 2177"/>
                <a:gd name="T3" fmla="*/ 272 h 363"/>
                <a:gd name="T4" fmla="*/ 1315 w 2177"/>
                <a:gd name="T5" fmla="*/ 227 h 363"/>
                <a:gd name="T6" fmla="*/ 1769 w 2177"/>
                <a:gd name="T7" fmla="*/ 136 h 363"/>
                <a:gd name="T8" fmla="*/ 2086 w 2177"/>
                <a:gd name="T9" fmla="*/ 45 h 363"/>
                <a:gd name="T10" fmla="*/ 2177 w 2177"/>
                <a:gd name="T11" fmla="*/ 0 h 363"/>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77" h="363">
                  <a:moveTo>
                    <a:pt x="0" y="363"/>
                  </a:moveTo>
                  <a:cubicBezTo>
                    <a:pt x="321" y="329"/>
                    <a:pt x="643" y="295"/>
                    <a:pt x="862" y="272"/>
                  </a:cubicBezTo>
                  <a:cubicBezTo>
                    <a:pt x="1081" y="249"/>
                    <a:pt x="1164" y="250"/>
                    <a:pt x="1315" y="227"/>
                  </a:cubicBezTo>
                  <a:cubicBezTo>
                    <a:pt x="1466" y="204"/>
                    <a:pt x="1640" y="166"/>
                    <a:pt x="1769" y="136"/>
                  </a:cubicBezTo>
                  <a:cubicBezTo>
                    <a:pt x="1898" y="106"/>
                    <a:pt x="2018" y="68"/>
                    <a:pt x="2086" y="45"/>
                  </a:cubicBezTo>
                  <a:cubicBezTo>
                    <a:pt x="2154" y="22"/>
                    <a:pt x="2165" y="11"/>
                    <a:pt x="2177" y="0"/>
                  </a:cubicBezTo>
                </a:path>
              </a:pathLst>
            </a:custGeom>
            <a:noFill/>
            <a:ln w="38100" cmpd="sng">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2293" name="Rectangle 23">
            <a:extLst>
              <a:ext uri="{FF2B5EF4-FFF2-40B4-BE49-F238E27FC236}">
                <a16:creationId xmlns:a16="http://schemas.microsoft.com/office/drawing/2014/main" id="{41A8B78D-07E8-4E0E-F18E-A051951175AA}"/>
              </a:ext>
            </a:extLst>
          </p:cNvPr>
          <p:cNvSpPr>
            <a:spLocks noChangeArrowheads="1"/>
          </p:cNvSpPr>
          <p:nvPr/>
        </p:nvSpPr>
        <p:spPr bwMode="auto">
          <a:xfrm>
            <a:off x="8352514" y="1647645"/>
            <a:ext cx="2856053" cy="1384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r>
              <a:rPr lang="zh-CN" altLang="en-US" sz="2800" b="1" dirty="0">
                <a:solidFill>
                  <a:srgbClr val="3366FF"/>
                </a:solidFill>
                <a:ea typeface="楷体_GB2312" pitchFamily="49" charset="-122"/>
              </a:rPr>
              <a:t>系统的复杂性与系统模型中固有的精度有关</a:t>
            </a:r>
          </a:p>
        </p:txBody>
      </p:sp>
      <p:sp>
        <p:nvSpPr>
          <p:cNvPr id="4" name="Rectangle 3">
            <a:extLst>
              <a:ext uri="{FF2B5EF4-FFF2-40B4-BE49-F238E27FC236}">
                <a16:creationId xmlns:a16="http://schemas.microsoft.com/office/drawing/2014/main" id="{CA3AC13E-36B0-E28F-953A-4408B7CAC7CB}"/>
              </a:ext>
            </a:extLst>
          </p:cNvPr>
          <p:cNvSpPr>
            <a:spLocks noGrp="1" noChangeArrowheads="1"/>
          </p:cNvSpPr>
          <p:nvPr>
            <p:ph idx="1"/>
          </p:nvPr>
        </p:nvSpPr>
        <p:spPr>
          <a:xfrm>
            <a:off x="1559497" y="5340713"/>
            <a:ext cx="9000999" cy="1295400"/>
          </a:xfrm>
          <a:solidFill>
            <a:srgbClr val="FFFF99"/>
          </a:solidFill>
        </p:spPr>
        <p:txBody>
          <a:bodyPr/>
          <a:lstStyle/>
          <a:p>
            <a:pPr eaLnBrk="1" hangingPunct="1">
              <a:lnSpc>
                <a:spcPct val="100000"/>
              </a:lnSpc>
              <a:buFont typeface="Wingdings" pitchFamily="2" charset="2"/>
              <a:buChar char="Ø"/>
            </a:pPr>
            <a:r>
              <a:rPr lang="zh-CN" altLang="en-US" sz="2800" b="1" dirty="0">
                <a:ea typeface="楷体_GB2312" pitchFamily="49" charset="-122"/>
              </a:rPr>
              <a:t>对有一点复杂但同时又有重要数据存在的系统来说，</a:t>
            </a:r>
            <a:r>
              <a:rPr lang="zh-CN" altLang="en-US" sz="2800" b="1" dirty="0">
                <a:solidFill>
                  <a:srgbClr val="CC00FF"/>
                </a:solidFill>
                <a:ea typeface="楷体_GB2312" pitchFamily="49" charset="-122"/>
              </a:rPr>
              <a:t>无模型方法</a:t>
            </a:r>
            <a:r>
              <a:rPr lang="zh-CN" altLang="en-US" sz="2800" b="1" dirty="0">
                <a:ea typeface="楷体_GB2312" pitchFamily="49" charset="-122"/>
              </a:rPr>
              <a:t>如</a:t>
            </a:r>
            <a:r>
              <a:rPr lang="zh-CN" altLang="en-US" sz="2800" b="1" u="sng" dirty="0">
                <a:ea typeface="楷体_GB2312" pitchFamily="49" charset="-122"/>
              </a:rPr>
              <a:t>人工神经网络</a:t>
            </a:r>
            <a:r>
              <a:rPr lang="zh-CN" altLang="en-US" sz="2800" b="1" dirty="0">
                <a:ea typeface="楷体_GB2312" pitchFamily="49" charset="-122"/>
              </a:rPr>
              <a:t>，即通过对有效数据的学习，是一种有效、可靠地降低不确定性的手段；</a:t>
            </a:r>
          </a:p>
        </p:txBody>
      </p:sp>
      <p:sp>
        <p:nvSpPr>
          <p:cNvPr id="7" name="Rectangle 2">
            <a:extLst>
              <a:ext uri="{FF2B5EF4-FFF2-40B4-BE49-F238E27FC236}">
                <a16:creationId xmlns:a16="http://schemas.microsoft.com/office/drawing/2014/main" id="{FA4EF9D8-6F13-BB86-E124-EBA8369DDB59}"/>
              </a:ext>
            </a:extLst>
          </p:cNvPr>
          <p:cNvSpPr>
            <a:spLocks noGrp="1" noChangeArrowheads="1"/>
          </p:cNvSpPr>
          <p:nvPr>
            <p:ph type="title"/>
          </p:nvPr>
        </p:nvSpPr>
        <p:spPr>
          <a:xfrm>
            <a:off x="983432" y="188914"/>
            <a:ext cx="10441160" cy="1152525"/>
          </a:xfrm>
        </p:spPr>
        <p:txBody>
          <a:bodyPr>
            <a:normAutofit/>
          </a:bodyPr>
          <a:lstStyle/>
          <a:p>
            <a:pPr algn="ctr" eaLnBrk="1" hangingPunct="1"/>
            <a:r>
              <a:rPr lang="zh-CN" altLang="en-US" dirty="0">
                <a:solidFill>
                  <a:srgbClr val="008000"/>
                </a:solidFill>
              </a:rPr>
              <a:t>系统模式中系统复杂性与精确性的关系</a:t>
            </a:r>
            <a:endParaRPr lang="zh-CN" altLang="en-US" sz="4000" dirty="0">
              <a:solidFill>
                <a:srgbClr val="008000"/>
              </a:solidFill>
            </a:endParaRPr>
          </a:p>
        </p:txBody>
      </p:sp>
    </p:spTree>
    <p:extLst>
      <p:ext uri="{BB962C8B-B14F-4D97-AF65-F5344CB8AC3E}">
        <p14:creationId xmlns:p14="http://schemas.microsoft.com/office/powerpoint/2010/main" val="29100505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bg/>
                                          </p:spTgt>
                                        </p:tgtEl>
                                        <p:attrNameLst>
                                          <p:attrName>style.visibility</p:attrName>
                                        </p:attrNameLst>
                                      </p:cBhvr>
                                      <p:to>
                                        <p:strVal val="visible"/>
                                      </p:to>
                                    </p:set>
                                    <p:anim calcmode="lin" valueType="num">
                                      <p:cBhvr additive="base">
                                        <p:cTn id="7" dur="500" fill="hold"/>
                                        <p:tgtEl>
                                          <p:spTgt spid="4">
                                            <p:bg/>
                                          </p:spTgt>
                                        </p:tgtEl>
                                        <p:attrNameLst>
                                          <p:attrName>ppt_x</p:attrName>
                                        </p:attrNameLst>
                                      </p:cBhvr>
                                      <p:tavLst>
                                        <p:tav tm="0">
                                          <p:val>
                                            <p:strVal val="#ppt_x"/>
                                          </p:val>
                                        </p:tav>
                                        <p:tav tm="100000">
                                          <p:val>
                                            <p:strVal val="#ppt_x"/>
                                          </p:val>
                                        </p:tav>
                                      </p:tavLst>
                                    </p:anim>
                                    <p:anim calcmode="lin" valueType="num">
                                      <p:cBhvr additive="base">
                                        <p:cTn id="8" dur="500" fill="hold"/>
                                        <p:tgtEl>
                                          <p:spTgt spid="4">
                                            <p:bg/>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
                                            <p:txEl>
                                              <p:pRg st="0" end="0"/>
                                            </p:txEl>
                                          </p:spTgt>
                                        </p:tgtEl>
                                        <p:attrNameLst>
                                          <p:attrName>style.visibility</p:attrName>
                                        </p:attrNameLst>
                                      </p:cBhvr>
                                      <p:to>
                                        <p:strVal val="visible"/>
                                      </p:to>
                                    </p:set>
                                    <p:anim calcmode="lin" valueType="num">
                                      <p:cBhvr additive="base">
                                        <p:cTn id="13"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135FF4-EFCB-D790-3A6B-B93773248248}"/>
            </a:ext>
          </a:extLst>
        </p:cNvPr>
        <p:cNvGrpSpPr/>
        <p:nvPr/>
      </p:nvGrpSpPr>
      <p:grpSpPr>
        <a:xfrm>
          <a:off x="0" y="0"/>
          <a:ext cx="0" cy="0"/>
          <a:chOff x="0" y="0"/>
          <a:chExt cx="0" cy="0"/>
        </a:xfrm>
      </p:grpSpPr>
      <p:grpSp>
        <p:nvGrpSpPr>
          <p:cNvPr id="12292" name="Group 12">
            <a:extLst>
              <a:ext uri="{FF2B5EF4-FFF2-40B4-BE49-F238E27FC236}">
                <a16:creationId xmlns:a16="http://schemas.microsoft.com/office/drawing/2014/main" id="{9B722F1E-C638-D334-8FEC-7AB3F83DA2DE}"/>
              </a:ext>
            </a:extLst>
          </p:cNvPr>
          <p:cNvGrpSpPr>
            <a:grpSpLocks/>
          </p:cNvGrpSpPr>
          <p:nvPr/>
        </p:nvGrpSpPr>
        <p:grpSpPr bwMode="auto">
          <a:xfrm>
            <a:off x="1903537" y="1554162"/>
            <a:ext cx="8245475" cy="3675062"/>
            <a:chOff x="657" y="1253"/>
            <a:chExt cx="5194" cy="2315"/>
          </a:xfrm>
        </p:grpSpPr>
        <p:sp>
          <p:nvSpPr>
            <p:cNvPr id="12294" name="Line 13">
              <a:extLst>
                <a:ext uri="{FF2B5EF4-FFF2-40B4-BE49-F238E27FC236}">
                  <a16:creationId xmlns:a16="http://schemas.microsoft.com/office/drawing/2014/main" id="{CDD1A12F-2BA1-B19F-3E88-DBAD101E34C6}"/>
                </a:ext>
              </a:extLst>
            </p:cNvPr>
            <p:cNvSpPr>
              <a:spLocks noChangeShapeType="1"/>
            </p:cNvSpPr>
            <p:nvPr/>
          </p:nvSpPr>
          <p:spPr bwMode="auto">
            <a:xfrm flipV="1">
              <a:off x="1066" y="1525"/>
              <a:ext cx="0" cy="195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295" name="Line 14">
              <a:extLst>
                <a:ext uri="{FF2B5EF4-FFF2-40B4-BE49-F238E27FC236}">
                  <a16:creationId xmlns:a16="http://schemas.microsoft.com/office/drawing/2014/main" id="{FC2C6B16-05E3-7423-586B-F61BA4A0DD92}"/>
                </a:ext>
              </a:extLst>
            </p:cNvPr>
            <p:cNvSpPr>
              <a:spLocks noChangeShapeType="1"/>
            </p:cNvSpPr>
            <p:nvPr/>
          </p:nvSpPr>
          <p:spPr bwMode="auto">
            <a:xfrm>
              <a:off x="1066" y="3475"/>
              <a:ext cx="3719"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296" name="Text Box 15">
              <a:extLst>
                <a:ext uri="{FF2B5EF4-FFF2-40B4-BE49-F238E27FC236}">
                  <a16:creationId xmlns:a16="http://schemas.microsoft.com/office/drawing/2014/main" id="{910C44F3-075B-4AAA-6DBE-F221FB381E78}"/>
                </a:ext>
              </a:extLst>
            </p:cNvPr>
            <p:cNvSpPr txBox="1">
              <a:spLocks noChangeArrowheads="1"/>
            </p:cNvSpPr>
            <p:nvPr/>
          </p:nvSpPr>
          <p:spPr bwMode="auto">
            <a:xfrm>
              <a:off x="657" y="1253"/>
              <a:ext cx="907"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spcBef>
                  <a:spcPct val="50000"/>
                </a:spcBef>
              </a:pPr>
              <a:r>
                <a:rPr lang="zh-CN" altLang="en-US" sz="2000" b="1" dirty="0">
                  <a:ea typeface="楷体_GB2312" pitchFamily="49" charset="-122"/>
                </a:rPr>
                <a:t>模型精度</a:t>
              </a:r>
            </a:p>
          </p:txBody>
        </p:sp>
        <p:sp>
          <p:nvSpPr>
            <p:cNvPr id="12297" name="Text Box 16">
              <a:extLst>
                <a:ext uri="{FF2B5EF4-FFF2-40B4-BE49-F238E27FC236}">
                  <a16:creationId xmlns:a16="http://schemas.microsoft.com/office/drawing/2014/main" id="{7A22251D-5783-A38C-603E-22D65FC61C74}"/>
                </a:ext>
              </a:extLst>
            </p:cNvPr>
            <p:cNvSpPr txBox="1">
              <a:spLocks noChangeArrowheads="1"/>
            </p:cNvSpPr>
            <p:nvPr/>
          </p:nvSpPr>
          <p:spPr bwMode="auto">
            <a:xfrm>
              <a:off x="4808" y="3318"/>
              <a:ext cx="1043"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spcBef>
                  <a:spcPct val="50000"/>
                </a:spcBef>
              </a:pPr>
              <a:r>
                <a:rPr lang="zh-CN" altLang="en-US" sz="2000" b="1" dirty="0">
                  <a:ea typeface="楷体_GB2312" pitchFamily="49" charset="-122"/>
                </a:rPr>
                <a:t>系统复杂性</a:t>
              </a:r>
            </a:p>
          </p:txBody>
        </p:sp>
        <p:sp>
          <p:nvSpPr>
            <p:cNvPr id="12298" name="Text Box 17">
              <a:extLst>
                <a:ext uri="{FF2B5EF4-FFF2-40B4-BE49-F238E27FC236}">
                  <a16:creationId xmlns:a16="http://schemas.microsoft.com/office/drawing/2014/main" id="{62965081-6735-D70D-0D43-DBD1CC3B0F9D}"/>
                </a:ext>
              </a:extLst>
            </p:cNvPr>
            <p:cNvSpPr txBox="1">
              <a:spLocks noChangeArrowheads="1"/>
            </p:cNvSpPr>
            <p:nvPr/>
          </p:nvSpPr>
          <p:spPr bwMode="auto">
            <a:xfrm>
              <a:off x="1565" y="1570"/>
              <a:ext cx="907"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spcBef>
                  <a:spcPct val="50000"/>
                </a:spcBef>
              </a:pPr>
              <a:r>
                <a:rPr lang="zh-CN" altLang="en-US" sz="2000" b="1">
                  <a:solidFill>
                    <a:srgbClr val="008000"/>
                  </a:solidFill>
                  <a:ea typeface="楷体_GB2312" pitchFamily="49" charset="-122"/>
                </a:rPr>
                <a:t>数学方法</a:t>
              </a:r>
            </a:p>
          </p:txBody>
        </p:sp>
        <p:sp>
          <p:nvSpPr>
            <p:cNvPr id="12299" name="Text Box 18">
              <a:extLst>
                <a:ext uri="{FF2B5EF4-FFF2-40B4-BE49-F238E27FC236}">
                  <a16:creationId xmlns:a16="http://schemas.microsoft.com/office/drawing/2014/main" id="{2311990F-5480-D5CE-1AFA-071610D71F17}"/>
                </a:ext>
              </a:extLst>
            </p:cNvPr>
            <p:cNvSpPr txBox="1">
              <a:spLocks noChangeArrowheads="1"/>
            </p:cNvSpPr>
            <p:nvPr/>
          </p:nvSpPr>
          <p:spPr bwMode="auto">
            <a:xfrm>
              <a:off x="2653" y="1888"/>
              <a:ext cx="1043"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spcBef>
                  <a:spcPct val="50000"/>
                </a:spcBef>
              </a:pPr>
              <a:r>
                <a:rPr lang="zh-CN" altLang="en-US" sz="2000" b="1">
                  <a:solidFill>
                    <a:srgbClr val="9900FF"/>
                  </a:solidFill>
                  <a:ea typeface="楷体_GB2312" pitchFamily="49" charset="-122"/>
                </a:rPr>
                <a:t>无模型方法</a:t>
              </a:r>
            </a:p>
          </p:txBody>
        </p:sp>
        <p:sp>
          <p:nvSpPr>
            <p:cNvPr id="12300" name="Text Box 19">
              <a:extLst>
                <a:ext uri="{FF2B5EF4-FFF2-40B4-BE49-F238E27FC236}">
                  <a16:creationId xmlns:a16="http://schemas.microsoft.com/office/drawing/2014/main" id="{FA0373BA-2A13-7B1F-A14C-DA15B5B44F84}"/>
                </a:ext>
              </a:extLst>
            </p:cNvPr>
            <p:cNvSpPr txBox="1">
              <a:spLocks noChangeArrowheads="1"/>
            </p:cNvSpPr>
            <p:nvPr/>
          </p:nvSpPr>
          <p:spPr bwMode="auto">
            <a:xfrm>
              <a:off x="4150" y="2568"/>
              <a:ext cx="907"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spcBef>
                  <a:spcPct val="50000"/>
                </a:spcBef>
              </a:pPr>
              <a:r>
                <a:rPr lang="zh-CN" altLang="en-US" sz="2000" b="1">
                  <a:solidFill>
                    <a:srgbClr val="FF0000"/>
                  </a:solidFill>
                  <a:ea typeface="楷体_GB2312" pitchFamily="49" charset="-122"/>
                </a:rPr>
                <a:t>模糊系统</a:t>
              </a:r>
            </a:p>
          </p:txBody>
        </p:sp>
        <p:sp>
          <p:nvSpPr>
            <p:cNvPr id="12301" name="Freeform 20">
              <a:extLst>
                <a:ext uri="{FF2B5EF4-FFF2-40B4-BE49-F238E27FC236}">
                  <a16:creationId xmlns:a16="http://schemas.microsoft.com/office/drawing/2014/main" id="{B9AE6C1A-885B-471B-6FBC-4FAFFDDEB3F9}"/>
                </a:ext>
              </a:extLst>
            </p:cNvPr>
            <p:cNvSpPr>
              <a:spLocks/>
            </p:cNvSpPr>
            <p:nvPr/>
          </p:nvSpPr>
          <p:spPr bwMode="auto">
            <a:xfrm>
              <a:off x="1247" y="1774"/>
              <a:ext cx="620" cy="1520"/>
            </a:xfrm>
            <a:custGeom>
              <a:avLst/>
              <a:gdLst>
                <a:gd name="T0" fmla="*/ 0 w 620"/>
                <a:gd name="T1" fmla="*/ 1520 h 1520"/>
                <a:gd name="T2" fmla="*/ 408 w 620"/>
                <a:gd name="T3" fmla="*/ 1021 h 1520"/>
                <a:gd name="T4" fmla="*/ 590 w 620"/>
                <a:gd name="T5" fmla="*/ 159 h 1520"/>
                <a:gd name="T6" fmla="*/ 590 w 620"/>
                <a:gd name="T7" fmla="*/ 68 h 15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20" h="1520">
                  <a:moveTo>
                    <a:pt x="0" y="1520"/>
                  </a:moveTo>
                  <a:cubicBezTo>
                    <a:pt x="155" y="1384"/>
                    <a:pt x="310" y="1248"/>
                    <a:pt x="408" y="1021"/>
                  </a:cubicBezTo>
                  <a:cubicBezTo>
                    <a:pt x="506" y="794"/>
                    <a:pt x="560" y="318"/>
                    <a:pt x="590" y="159"/>
                  </a:cubicBezTo>
                  <a:cubicBezTo>
                    <a:pt x="620" y="0"/>
                    <a:pt x="605" y="34"/>
                    <a:pt x="590" y="68"/>
                  </a:cubicBezTo>
                </a:path>
              </a:pathLst>
            </a:custGeom>
            <a:noFill/>
            <a:ln w="38100" cmpd="sng">
              <a:solidFill>
                <a:srgbClr val="008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302" name="Freeform 21">
              <a:extLst>
                <a:ext uri="{FF2B5EF4-FFF2-40B4-BE49-F238E27FC236}">
                  <a16:creationId xmlns:a16="http://schemas.microsoft.com/office/drawing/2014/main" id="{D9B1BE6A-7C20-0BEE-FC41-D709C43A162B}"/>
                </a:ext>
              </a:extLst>
            </p:cNvPr>
            <p:cNvSpPr>
              <a:spLocks/>
            </p:cNvSpPr>
            <p:nvPr/>
          </p:nvSpPr>
          <p:spPr bwMode="auto">
            <a:xfrm>
              <a:off x="1655" y="2205"/>
              <a:ext cx="1588" cy="1044"/>
            </a:xfrm>
            <a:custGeom>
              <a:avLst/>
              <a:gdLst>
                <a:gd name="T0" fmla="*/ 0 w 1543"/>
                <a:gd name="T1" fmla="*/ 1648 h 953"/>
                <a:gd name="T2" fmla="*/ 915 w 1543"/>
                <a:gd name="T3" fmla="*/ 1254 h 953"/>
                <a:gd name="T4" fmla="*/ 1401 w 1543"/>
                <a:gd name="T5" fmla="*/ 783 h 953"/>
                <a:gd name="T6" fmla="*/ 1833 w 1543"/>
                <a:gd name="T7" fmla="*/ 0 h 95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543" h="953">
                  <a:moveTo>
                    <a:pt x="0" y="953"/>
                  </a:moveTo>
                  <a:cubicBezTo>
                    <a:pt x="287" y="881"/>
                    <a:pt x="574" y="809"/>
                    <a:pt x="771" y="726"/>
                  </a:cubicBezTo>
                  <a:cubicBezTo>
                    <a:pt x="968" y="643"/>
                    <a:pt x="1051" y="575"/>
                    <a:pt x="1180" y="454"/>
                  </a:cubicBezTo>
                  <a:cubicBezTo>
                    <a:pt x="1309" y="333"/>
                    <a:pt x="1426" y="166"/>
                    <a:pt x="1543" y="0"/>
                  </a:cubicBezTo>
                </a:path>
              </a:pathLst>
            </a:custGeom>
            <a:noFill/>
            <a:ln w="38100" cmpd="sng">
              <a:solidFill>
                <a:srgbClr val="9900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303" name="Freeform 22">
              <a:extLst>
                <a:ext uri="{FF2B5EF4-FFF2-40B4-BE49-F238E27FC236}">
                  <a16:creationId xmlns:a16="http://schemas.microsoft.com/office/drawing/2014/main" id="{80780FCC-3BFA-A5A8-DDF1-3D115B88BFBC}"/>
                </a:ext>
              </a:extLst>
            </p:cNvPr>
            <p:cNvSpPr>
              <a:spLocks/>
            </p:cNvSpPr>
            <p:nvPr/>
          </p:nvSpPr>
          <p:spPr bwMode="auto">
            <a:xfrm>
              <a:off x="2336" y="2886"/>
              <a:ext cx="2177" cy="363"/>
            </a:xfrm>
            <a:custGeom>
              <a:avLst/>
              <a:gdLst>
                <a:gd name="T0" fmla="*/ 0 w 2177"/>
                <a:gd name="T1" fmla="*/ 363 h 363"/>
                <a:gd name="T2" fmla="*/ 862 w 2177"/>
                <a:gd name="T3" fmla="*/ 272 h 363"/>
                <a:gd name="T4" fmla="*/ 1315 w 2177"/>
                <a:gd name="T5" fmla="*/ 227 h 363"/>
                <a:gd name="T6" fmla="*/ 1769 w 2177"/>
                <a:gd name="T7" fmla="*/ 136 h 363"/>
                <a:gd name="T8" fmla="*/ 2086 w 2177"/>
                <a:gd name="T9" fmla="*/ 45 h 363"/>
                <a:gd name="T10" fmla="*/ 2177 w 2177"/>
                <a:gd name="T11" fmla="*/ 0 h 363"/>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77" h="363">
                  <a:moveTo>
                    <a:pt x="0" y="363"/>
                  </a:moveTo>
                  <a:cubicBezTo>
                    <a:pt x="321" y="329"/>
                    <a:pt x="643" y="295"/>
                    <a:pt x="862" y="272"/>
                  </a:cubicBezTo>
                  <a:cubicBezTo>
                    <a:pt x="1081" y="249"/>
                    <a:pt x="1164" y="250"/>
                    <a:pt x="1315" y="227"/>
                  </a:cubicBezTo>
                  <a:cubicBezTo>
                    <a:pt x="1466" y="204"/>
                    <a:pt x="1640" y="166"/>
                    <a:pt x="1769" y="136"/>
                  </a:cubicBezTo>
                  <a:cubicBezTo>
                    <a:pt x="1898" y="106"/>
                    <a:pt x="2018" y="68"/>
                    <a:pt x="2086" y="45"/>
                  </a:cubicBezTo>
                  <a:cubicBezTo>
                    <a:pt x="2154" y="22"/>
                    <a:pt x="2165" y="11"/>
                    <a:pt x="2177" y="0"/>
                  </a:cubicBezTo>
                </a:path>
              </a:pathLst>
            </a:custGeom>
            <a:noFill/>
            <a:ln w="38100" cmpd="sng">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2293" name="Rectangle 23">
            <a:extLst>
              <a:ext uri="{FF2B5EF4-FFF2-40B4-BE49-F238E27FC236}">
                <a16:creationId xmlns:a16="http://schemas.microsoft.com/office/drawing/2014/main" id="{D26D6DD8-31A5-8485-EDA5-ED794C4F1B76}"/>
              </a:ext>
            </a:extLst>
          </p:cNvPr>
          <p:cNvSpPr>
            <a:spLocks noChangeArrowheads="1"/>
          </p:cNvSpPr>
          <p:nvPr/>
        </p:nvSpPr>
        <p:spPr bwMode="auto">
          <a:xfrm>
            <a:off x="8352514" y="1647645"/>
            <a:ext cx="2856053" cy="1384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r>
              <a:rPr lang="zh-CN" altLang="en-US" sz="2800" b="1" dirty="0">
                <a:solidFill>
                  <a:srgbClr val="3366FF"/>
                </a:solidFill>
                <a:ea typeface="楷体_GB2312" pitchFamily="49" charset="-122"/>
              </a:rPr>
              <a:t>系统的复杂性与系统模型中固有的精度有关</a:t>
            </a:r>
          </a:p>
        </p:txBody>
      </p:sp>
      <p:sp>
        <p:nvSpPr>
          <p:cNvPr id="4" name="Rectangle 3">
            <a:extLst>
              <a:ext uri="{FF2B5EF4-FFF2-40B4-BE49-F238E27FC236}">
                <a16:creationId xmlns:a16="http://schemas.microsoft.com/office/drawing/2014/main" id="{01473259-3EF8-7FFB-E321-7016AFCFBB8E}"/>
              </a:ext>
            </a:extLst>
          </p:cNvPr>
          <p:cNvSpPr>
            <a:spLocks noGrp="1" noChangeArrowheads="1"/>
          </p:cNvSpPr>
          <p:nvPr>
            <p:ph idx="1"/>
          </p:nvPr>
        </p:nvSpPr>
        <p:spPr>
          <a:xfrm>
            <a:off x="1209330" y="5414502"/>
            <a:ext cx="9381476" cy="1296987"/>
          </a:xfrm>
          <a:solidFill>
            <a:srgbClr val="FFFF99"/>
          </a:solidFill>
        </p:spPr>
        <p:txBody>
          <a:bodyPr/>
          <a:lstStyle/>
          <a:p>
            <a:pPr eaLnBrk="1" hangingPunct="1">
              <a:lnSpc>
                <a:spcPct val="100000"/>
              </a:lnSpc>
              <a:buFont typeface="Wingdings" pitchFamily="2" charset="2"/>
              <a:buChar char="Ø"/>
            </a:pPr>
            <a:r>
              <a:rPr lang="zh-CN" altLang="en-US" sz="2800" b="1" dirty="0">
                <a:ea typeface="楷体_GB2312" pitchFamily="49" charset="-122"/>
              </a:rPr>
              <a:t>对几乎没有数值数据存在，而只有</a:t>
            </a:r>
            <a:r>
              <a:rPr lang="zh-CN" altLang="en-US" sz="2800" b="1" u="sng" dirty="0">
                <a:ea typeface="楷体_GB2312" pitchFamily="49" charset="-122"/>
              </a:rPr>
              <a:t>模糊</a:t>
            </a:r>
            <a:r>
              <a:rPr lang="zh-CN" altLang="en-US" sz="2800" b="1" dirty="0">
                <a:ea typeface="楷体_GB2312" pitchFamily="49" charset="-122"/>
              </a:rPr>
              <a:t>或</a:t>
            </a:r>
            <a:r>
              <a:rPr lang="zh-CN" altLang="en-US" sz="2800" b="1" u="sng" dirty="0">
                <a:ea typeface="楷体_GB2312" pitchFamily="49" charset="-122"/>
              </a:rPr>
              <a:t>非精确信息</a:t>
            </a:r>
            <a:r>
              <a:rPr lang="zh-CN" altLang="en-US" sz="2800" b="1" dirty="0">
                <a:ea typeface="楷体_GB2312" pitchFamily="49" charset="-122"/>
              </a:rPr>
              <a:t>存在的最复杂系统来说，</a:t>
            </a:r>
            <a:r>
              <a:rPr lang="zh-CN" altLang="en-US" sz="2800" b="1" dirty="0">
                <a:solidFill>
                  <a:srgbClr val="FF0000"/>
                </a:solidFill>
                <a:ea typeface="楷体_GB2312" pitchFamily="49" charset="-122"/>
              </a:rPr>
              <a:t>模糊系统</a:t>
            </a:r>
            <a:r>
              <a:rPr lang="zh-CN" altLang="en-US" sz="2800" b="1" dirty="0">
                <a:ea typeface="楷体_GB2312" pitchFamily="49" charset="-122"/>
              </a:rPr>
              <a:t>提供了一种理解系统特性的途径。</a:t>
            </a:r>
          </a:p>
        </p:txBody>
      </p:sp>
      <p:sp>
        <p:nvSpPr>
          <p:cNvPr id="7" name="Rectangle 2">
            <a:extLst>
              <a:ext uri="{FF2B5EF4-FFF2-40B4-BE49-F238E27FC236}">
                <a16:creationId xmlns:a16="http://schemas.microsoft.com/office/drawing/2014/main" id="{B79D9A16-A87A-7314-509E-A0BD90763D3E}"/>
              </a:ext>
            </a:extLst>
          </p:cNvPr>
          <p:cNvSpPr>
            <a:spLocks noGrp="1" noChangeArrowheads="1"/>
          </p:cNvSpPr>
          <p:nvPr>
            <p:ph type="title"/>
          </p:nvPr>
        </p:nvSpPr>
        <p:spPr>
          <a:xfrm>
            <a:off x="983432" y="188914"/>
            <a:ext cx="10441160" cy="1152525"/>
          </a:xfrm>
        </p:spPr>
        <p:txBody>
          <a:bodyPr>
            <a:normAutofit/>
          </a:bodyPr>
          <a:lstStyle/>
          <a:p>
            <a:pPr algn="ctr" eaLnBrk="1" hangingPunct="1"/>
            <a:r>
              <a:rPr lang="zh-CN" altLang="en-US" dirty="0">
                <a:solidFill>
                  <a:srgbClr val="008000"/>
                </a:solidFill>
              </a:rPr>
              <a:t>系统模式中系统复杂性与精确性的关系</a:t>
            </a:r>
            <a:endParaRPr lang="zh-CN" altLang="en-US" sz="4000" dirty="0">
              <a:solidFill>
                <a:srgbClr val="008000"/>
              </a:solidFill>
            </a:endParaRPr>
          </a:p>
        </p:txBody>
      </p:sp>
    </p:spTree>
    <p:extLst>
      <p:ext uri="{BB962C8B-B14F-4D97-AF65-F5344CB8AC3E}">
        <p14:creationId xmlns:p14="http://schemas.microsoft.com/office/powerpoint/2010/main" val="42484520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bg/>
                                          </p:spTgt>
                                        </p:tgtEl>
                                        <p:attrNameLst>
                                          <p:attrName>style.visibility</p:attrName>
                                        </p:attrNameLst>
                                      </p:cBhvr>
                                      <p:to>
                                        <p:strVal val="visible"/>
                                      </p:to>
                                    </p:set>
                                    <p:anim calcmode="lin" valueType="num">
                                      <p:cBhvr additive="base">
                                        <p:cTn id="7" dur="500" fill="hold"/>
                                        <p:tgtEl>
                                          <p:spTgt spid="4">
                                            <p:bg/>
                                          </p:spTgt>
                                        </p:tgtEl>
                                        <p:attrNameLst>
                                          <p:attrName>ppt_x</p:attrName>
                                        </p:attrNameLst>
                                      </p:cBhvr>
                                      <p:tavLst>
                                        <p:tav tm="0">
                                          <p:val>
                                            <p:strVal val="#ppt_x"/>
                                          </p:val>
                                        </p:tav>
                                        <p:tav tm="100000">
                                          <p:val>
                                            <p:strVal val="#ppt_x"/>
                                          </p:val>
                                        </p:tav>
                                      </p:tavLst>
                                    </p:anim>
                                    <p:anim calcmode="lin" valueType="num">
                                      <p:cBhvr additive="base">
                                        <p:cTn id="8" dur="500" fill="hold"/>
                                        <p:tgtEl>
                                          <p:spTgt spid="4">
                                            <p:bg/>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
                                            <p:txEl>
                                              <p:pRg st="0" end="0"/>
                                            </p:txEl>
                                          </p:spTgt>
                                        </p:tgtEl>
                                        <p:attrNameLst>
                                          <p:attrName>style.visibility</p:attrName>
                                        </p:attrNameLst>
                                      </p:cBhvr>
                                      <p:to>
                                        <p:strVal val="visible"/>
                                      </p:to>
                                    </p:set>
                                    <p:anim calcmode="lin" valueType="num">
                                      <p:cBhvr additive="base">
                                        <p:cTn id="13"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DED613-E635-6F03-6EB9-F7BFE1E4D382}"/>
            </a:ext>
          </a:extLst>
        </p:cNvPr>
        <p:cNvGrpSpPr/>
        <p:nvPr/>
      </p:nvGrpSpPr>
      <p:grpSpPr>
        <a:xfrm>
          <a:off x="0" y="0"/>
          <a:ext cx="0" cy="0"/>
          <a:chOff x="0" y="0"/>
          <a:chExt cx="0" cy="0"/>
        </a:xfrm>
      </p:grpSpPr>
      <p:grpSp>
        <p:nvGrpSpPr>
          <p:cNvPr id="12292" name="Group 12">
            <a:extLst>
              <a:ext uri="{FF2B5EF4-FFF2-40B4-BE49-F238E27FC236}">
                <a16:creationId xmlns:a16="http://schemas.microsoft.com/office/drawing/2014/main" id="{A4F3159F-B3E0-7D1D-4353-695EECD533D1}"/>
              </a:ext>
            </a:extLst>
          </p:cNvPr>
          <p:cNvGrpSpPr>
            <a:grpSpLocks/>
          </p:cNvGrpSpPr>
          <p:nvPr/>
        </p:nvGrpSpPr>
        <p:grpSpPr bwMode="auto">
          <a:xfrm>
            <a:off x="1903537" y="1554162"/>
            <a:ext cx="8245475" cy="3675062"/>
            <a:chOff x="657" y="1253"/>
            <a:chExt cx="5194" cy="2315"/>
          </a:xfrm>
        </p:grpSpPr>
        <p:sp>
          <p:nvSpPr>
            <p:cNvPr id="12294" name="Line 13">
              <a:extLst>
                <a:ext uri="{FF2B5EF4-FFF2-40B4-BE49-F238E27FC236}">
                  <a16:creationId xmlns:a16="http://schemas.microsoft.com/office/drawing/2014/main" id="{8B8E91F3-AC19-D867-1E7E-A7D339FFCCDA}"/>
                </a:ext>
              </a:extLst>
            </p:cNvPr>
            <p:cNvSpPr>
              <a:spLocks noChangeShapeType="1"/>
            </p:cNvSpPr>
            <p:nvPr/>
          </p:nvSpPr>
          <p:spPr bwMode="auto">
            <a:xfrm flipV="1">
              <a:off x="1066" y="1525"/>
              <a:ext cx="0" cy="195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295" name="Line 14">
              <a:extLst>
                <a:ext uri="{FF2B5EF4-FFF2-40B4-BE49-F238E27FC236}">
                  <a16:creationId xmlns:a16="http://schemas.microsoft.com/office/drawing/2014/main" id="{D9D1D3C6-C33C-D4B2-A91F-0AA54306F4E8}"/>
                </a:ext>
              </a:extLst>
            </p:cNvPr>
            <p:cNvSpPr>
              <a:spLocks noChangeShapeType="1"/>
            </p:cNvSpPr>
            <p:nvPr/>
          </p:nvSpPr>
          <p:spPr bwMode="auto">
            <a:xfrm>
              <a:off x="1066" y="3475"/>
              <a:ext cx="3719"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296" name="Text Box 15">
              <a:extLst>
                <a:ext uri="{FF2B5EF4-FFF2-40B4-BE49-F238E27FC236}">
                  <a16:creationId xmlns:a16="http://schemas.microsoft.com/office/drawing/2014/main" id="{B6452162-BF8B-01F2-113E-36FD6094204E}"/>
                </a:ext>
              </a:extLst>
            </p:cNvPr>
            <p:cNvSpPr txBox="1">
              <a:spLocks noChangeArrowheads="1"/>
            </p:cNvSpPr>
            <p:nvPr/>
          </p:nvSpPr>
          <p:spPr bwMode="auto">
            <a:xfrm>
              <a:off x="657" y="1253"/>
              <a:ext cx="907"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spcBef>
                  <a:spcPct val="50000"/>
                </a:spcBef>
              </a:pPr>
              <a:r>
                <a:rPr lang="zh-CN" altLang="en-US" sz="2000" b="1" dirty="0">
                  <a:ea typeface="楷体_GB2312" pitchFamily="49" charset="-122"/>
                </a:rPr>
                <a:t>模型精度</a:t>
              </a:r>
            </a:p>
          </p:txBody>
        </p:sp>
        <p:sp>
          <p:nvSpPr>
            <p:cNvPr id="12297" name="Text Box 16">
              <a:extLst>
                <a:ext uri="{FF2B5EF4-FFF2-40B4-BE49-F238E27FC236}">
                  <a16:creationId xmlns:a16="http://schemas.microsoft.com/office/drawing/2014/main" id="{053EBC96-5705-228B-9F64-893EB2C72049}"/>
                </a:ext>
              </a:extLst>
            </p:cNvPr>
            <p:cNvSpPr txBox="1">
              <a:spLocks noChangeArrowheads="1"/>
            </p:cNvSpPr>
            <p:nvPr/>
          </p:nvSpPr>
          <p:spPr bwMode="auto">
            <a:xfrm>
              <a:off x="4808" y="3318"/>
              <a:ext cx="1043"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spcBef>
                  <a:spcPct val="50000"/>
                </a:spcBef>
              </a:pPr>
              <a:r>
                <a:rPr lang="zh-CN" altLang="en-US" sz="2000" b="1" dirty="0">
                  <a:ea typeface="楷体_GB2312" pitchFamily="49" charset="-122"/>
                </a:rPr>
                <a:t>系统复杂性</a:t>
              </a:r>
            </a:p>
          </p:txBody>
        </p:sp>
        <p:sp>
          <p:nvSpPr>
            <p:cNvPr id="12298" name="Text Box 17">
              <a:extLst>
                <a:ext uri="{FF2B5EF4-FFF2-40B4-BE49-F238E27FC236}">
                  <a16:creationId xmlns:a16="http://schemas.microsoft.com/office/drawing/2014/main" id="{119C8258-7126-B146-9495-39E55C846B24}"/>
                </a:ext>
              </a:extLst>
            </p:cNvPr>
            <p:cNvSpPr txBox="1">
              <a:spLocks noChangeArrowheads="1"/>
            </p:cNvSpPr>
            <p:nvPr/>
          </p:nvSpPr>
          <p:spPr bwMode="auto">
            <a:xfrm>
              <a:off x="1565" y="1570"/>
              <a:ext cx="907"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spcBef>
                  <a:spcPct val="50000"/>
                </a:spcBef>
              </a:pPr>
              <a:r>
                <a:rPr lang="zh-CN" altLang="en-US" sz="2000" b="1">
                  <a:solidFill>
                    <a:srgbClr val="008000"/>
                  </a:solidFill>
                  <a:ea typeface="楷体_GB2312" pitchFamily="49" charset="-122"/>
                </a:rPr>
                <a:t>数学方法</a:t>
              </a:r>
            </a:p>
          </p:txBody>
        </p:sp>
        <p:sp>
          <p:nvSpPr>
            <p:cNvPr id="12299" name="Text Box 18">
              <a:extLst>
                <a:ext uri="{FF2B5EF4-FFF2-40B4-BE49-F238E27FC236}">
                  <a16:creationId xmlns:a16="http://schemas.microsoft.com/office/drawing/2014/main" id="{14E51C73-120B-7DA0-93C5-38D7894ED578}"/>
                </a:ext>
              </a:extLst>
            </p:cNvPr>
            <p:cNvSpPr txBox="1">
              <a:spLocks noChangeArrowheads="1"/>
            </p:cNvSpPr>
            <p:nvPr/>
          </p:nvSpPr>
          <p:spPr bwMode="auto">
            <a:xfrm>
              <a:off x="2653" y="1888"/>
              <a:ext cx="1043"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spcBef>
                  <a:spcPct val="50000"/>
                </a:spcBef>
              </a:pPr>
              <a:r>
                <a:rPr lang="zh-CN" altLang="en-US" sz="2000" b="1">
                  <a:solidFill>
                    <a:srgbClr val="9900FF"/>
                  </a:solidFill>
                  <a:ea typeface="楷体_GB2312" pitchFamily="49" charset="-122"/>
                </a:rPr>
                <a:t>无模型方法</a:t>
              </a:r>
            </a:p>
          </p:txBody>
        </p:sp>
        <p:sp>
          <p:nvSpPr>
            <p:cNvPr id="12300" name="Text Box 19">
              <a:extLst>
                <a:ext uri="{FF2B5EF4-FFF2-40B4-BE49-F238E27FC236}">
                  <a16:creationId xmlns:a16="http://schemas.microsoft.com/office/drawing/2014/main" id="{00539B28-37F9-ED9F-368F-6256722B9C26}"/>
                </a:ext>
              </a:extLst>
            </p:cNvPr>
            <p:cNvSpPr txBox="1">
              <a:spLocks noChangeArrowheads="1"/>
            </p:cNvSpPr>
            <p:nvPr/>
          </p:nvSpPr>
          <p:spPr bwMode="auto">
            <a:xfrm>
              <a:off x="4150" y="2568"/>
              <a:ext cx="907"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spcBef>
                  <a:spcPct val="50000"/>
                </a:spcBef>
              </a:pPr>
              <a:r>
                <a:rPr lang="zh-CN" altLang="en-US" sz="2000" b="1">
                  <a:solidFill>
                    <a:srgbClr val="FF0000"/>
                  </a:solidFill>
                  <a:ea typeface="楷体_GB2312" pitchFamily="49" charset="-122"/>
                </a:rPr>
                <a:t>模糊系统</a:t>
              </a:r>
            </a:p>
          </p:txBody>
        </p:sp>
        <p:sp>
          <p:nvSpPr>
            <p:cNvPr id="12301" name="Freeform 20">
              <a:extLst>
                <a:ext uri="{FF2B5EF4-FFF2-40B4-BE49-F238E27FC236}">
                  <a16:creationId xmlns:a16="http://schemas.microsoft.com/office/drawing/2014/main" id="{4DAC8A9D-EBDE-0EC2-6318-2EE93C53C20A}"/>
                </a:ext>
              </a:extLst>
            </p:cNvPr>
            <p:cNvSpPr>
              <a:spLocks/>
            </p:cNvSpPr>
            <p:nvPr/>
          </p:nvSpPr>
          <p:spPr bwMode="auto">
            <a:xfrm>
              <a:off x="1247" y="1774"/>
              <a:ext cx="620" cy="1520"/>
            </a:xfrm>
            <a:custGeom>
              <a:avLst/>
              <a:gdLst>
                <a:gd name="T0" fmla="*/ 0 w 620"/>
                <a:gd name="T1" fmla="*/ 1520 h 1520"/>
                <a:gd name="T2" fmla="*/ 408 w 620"/>
                <a:gd name="T3" fmla="*/ 1021 h 1520"/>
                <a:gd name="T4" fmla="*/ 590 w 620"/>
                <a:gd name="T5" fmla="*/ 159 h 1520"/>
                <a:gd name="T6" fmla="*/ 590 w 620"/>
                <a:gd name="T7" fmla="*/ 68 h 15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20" h="1520">
                  <a:moveTo>
                    <a:pt x="0" y="1520"/>
                  </a:moveTo>
                  <a:cubicBezTo>
                    <a:pt x="155" y="1384"/>
                    <a:pt x="310" y="1248"/>
                    <a:pt x="408" y="1021"/>
                  </a:cubicBezTo>
                  <a:cubicBezTo>
                    <a:pt x="506" y="794"/>
                    <a:pt x="560" y="318"/>
                    <a:pt x="590" y="159"/>
                  </a:cubicBezTo>
                  <a:cubicBezTo>
                    <a:pt x="620" y="0"/>
                    <a:pt x="605" y="34"/>
                    <a:pt x="590" y="68"/>
                  </a:cubicBezTo>
                </a:path>
              </a:pathLst>
            </a:custGeom>
            <a:noFill/>
            <a:ln w="38100" cmpd="sng">
              <a:solidFill>
                <a:srgbClr val="008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302" name="Freeform 21">
              <a:extLst>
                <a:ext uri="{FF2B5EF4-FFF2-40B4-BE49-F238E27FC236}">
                  <a16:creationId xmlns:a16="http://schemas.microsoft.com/office/drawing/2014/main" id="{2143D6B2-0D7C-5898-3F7D-F76F82EF4617}"/>
                </a:ext>
              </a:extLst>
            </p:cNvPr>
            <p:cNvSpPr>
              <a:spLocks/>
            </p:cNvSpPr>
            <p:nvPr/>
          </p:nvSpPr>
          <p:spPr bwMode="auto">
            <a:xfrm>
              <a:off x="1655" y="2205"/>
              <a:ext cx="1588" cy="1044"/>
            </a:xfrm>
            <a:custGeom>
              <a:avLst/>
              <a:gdLst>
                <a:gd name="T0" fmla="*/ 0 w 1543"/>
                <a:gd name="T1" fmla="*/ 1648 h 953"/>
                <a:gd name="T2" fmla="*/ 915 w 1543"/>
                <a:gd name="T3" fmla="*/ 1254 h 953"/>
                <a:gd name="T4" fmla="*/ 1401 w 1543"/>
                <a:gd name="T5" fmla="*/ 783 h 953"/>
                <a:gd name="T6" fmla="*/ 1833 w 1543"/>
                <a:gd name="T7" fmla="*/ 0 h 95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543" h="953">
                  <a:moveTo>
                    <a:pt x="0" y="953"/>
                  </a:moveTo>
                  <a:cubicBezTo>
                    <a:pt x="287" y="881"/>
                    <a:pt x="574" y="809"/>
                    <a:pt x="771" y="726"/>
                  </a:cubicBezTo>
                  <a:cubicBezTo>
                    <a:pt x="968" y="643"/>
                    <a:pt x="1051" y="575"/>
                    <a:pt x="1180" y="454"/>
                  </a:cubicBezTo>
                  <a:cubicBezTo>
                    <a:pt x="1309" y="333"/>
                    <a:pt x="1426" y="166"/>
                    <a:pt x="1543" y="0"/>
                  </a:cubicBezTo>
                </a:path>
              </a:pathLst>
            </a:custGeom>
            <a:noFill/>
            <a:ln w="38100" cmpd="sng">
              <a:solidFill>
                <a:srgbClr val="9900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303" name="Freeform 22">
              <a:extLst>
                <a:ext uri="{FF2B5EF4-FFF2-40B4-BE49-F238E27FC236}">
                  <a16:creationId xmlns:a16="http://schemas.microsoft.com/office/drawing/2014/main" id="{87F2A461-5600-305E-A6CB-8C5C6AA87C98}"/>
                </a:ext>
              </a:extLst>
            </p:cNvPr>
            <p:cNvSpPr>
              <a:spLocks/>
            </p:cNvSpPr>
            <p:nvPr/>
          </p:nvSpPr>
          <p:spPr bwMode="auto">
            <a:xfrm>
              <a:off x="2336" y="2886"/>
              <a:ext cx="2177" cy="363"/>
            </a:xfrm>
            <a:custGeom>
              <a:avLst/>
              <a:gdLst>
                <a:gd name="T0" fmla="*/ 0 w 2177"/>
                <a:gd name="T1" fmla="*/ 363 h 363"/>
                <a:gd name="T2" fmla="*/ 862 w 2177"/>
                <a:gd name="T3" fmla="*/ 272 h 363"/>
                <a:gd name="T4" fmla="*/ 1315 w 2177"/>
                <a:gd name="T5" fmla="*/ 227 h 363"/>
                <a:gd name="T6" fmla="*/ 1769 w 2177"/>
                <a:gd name="T7" fmla="*/ 136 h 363"/>
                <a:gd name="T8" fmla="*/ 2086 w 2177"/>
                <a:gd name="T9" fmla="*/ 45 h 363"/>
                <a:gd name="T10" fmla="*/ 2177 w 2177"/>
                <a:gd name="T11" fmla="*/ 0 h 363"/>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77" h="363">
                  <a:moveTo>
                    <a:pt x="0" y="363"/>
                  </a:moveTo>
                  <a:cubicBezTo>
                    <a:pt x="321" y="329"/>
                    <a:pt x="643" y="295"/>
                    <a:pt x="862" y="272"/>
                  </a:cubicBezTo>
                  <a:cubicBezTo>
                    <a:pt x="1081" y="249"/>
                    <a:pt x="1164" y="250"/>
                    <a:pt x="1315" y="227"/>
                  </a:cubicBezTo>
                  <a:cubicBezTo>
                    <a:pt x="1466" y="204"/>
                    <a:pt x="1640" y="166"/>
                    <a:pt x="1769" y="136"/>
                  </a:cubicBezTo>
                  <a:cubicBezTo>
                    <a:pt x="1898" y="106"/>
                    <a:pt x="2018" y="68"/>
                    <a:pt x="2086" y="45"/>
                  </a:cubicBezTo>
                  <a:cubicBezTo>
                    <a:pt x="2154" y="22"/>
                    <a:pt x="2165" y="11"/>
                    <a:pt x="2177" y="0"/>
                  </a:cubicBezTo>
                </a:path>
              </a:pathLst>
            </a:custGeom>
            <a:noFill/>
            <a:ln w="38100" cmpd="sng">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2293" name="Rectangle 23">
            <a:extLst>
              <a:ext uri="{FF2B5EF4-FFF2-40B4-BE49-F238E27FC236}">
                <a16:creationId xmlns:a16="http://schemas.microsoft.com/office/drawing/2014/main" id="{6539D10F-DD7E-3FC1-6263-D82DA7388F82}"/>
              </a:ext>
            </a:extLst>
          </p:cNvPr>
          <p:cNvSpPr>
            <a:spLocks noChangeArrowheads="1"/>
          </p:cNvSpPr>
          <p:nvPr/>
        </p:nvSpPr>
        <p:spPr bwMode="auto">
          <a:xfrm>
            <a:off x="8352514" y="1647645"/>
            <a:ext cx="2856053" cy="1384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r>
              <a:rPr lang="zh-CN" altLang="en-US" sz="2800" b="1" dirty="0">
                <a:solidFill>
                  <a:srgbClr val="3366FF"/>
                </a:solidFill>
                <a:ea typeface="楷体_GB2312" pitchFamily="49" charset="-122"/>
              </a:rPr>
              <a:t>系统的复杂性与系统模型中固有的精度有关</a:t>
            </a:r>
          </a:p>
        </p:txBody>
      </p:sp>
      <p:sp>
        <p:nvSpPr>
          <p:cNvPr id="4" name="Rectangle 3">
            <a:extLst>
              <a:ext uri="{FF2B5EF4-FFF2-40B4-BE49-F238E27FC236}">
                <a16:creationId xmlns:a16="http://schemas.microsoft.com/office/drawing/2014/main" id="{79BB4B62-87B7-6A51-AA48-84FE011E2DEA}"/>
              </a:ext>
            </a:extLst>
          </p:cNvPr>
          <p:cNvSpPr>
            <a:spLocks noGrp="1" noChangeArrowheads="1"/>
          </p:cNvSpPr>
          <p:nvPr>
            <p:ph idx="1"/>
          </p:nvPr>
        </p:nvSpPr>
        <p:spPr>
          <a:xfrm>
            <a:off x="983432" y="5225255"/>
            <a:ext cx="10441160" cy="1512888"/>
          </a:xfrm>
          <a:solidFill>
            <a:srgbClr val="FFFF99"/>
          </a:solidFill>
        </p:spPr>
        <p:txBody>
          <a:bodyPr>
            <a:noAutofit/>
          </a:bodyPr>
          <a:lstStyle/>
          <a:p>
            <a:pPr eaLnBrk="1" hangingPunct="1">
              <a:lnSpc>
                <a:spcPct val="110000"/>
              </a:lnSpc>
            </a:pPr>
            <a:r>
              <a:rPr lang="zh-CN" altLang="en-US" sz="2800" b="1" dirty="0">
                <a:latin typeface="华文楷体" pitchFamily="2" charset="-122"/>
              </a:rPr>
              <a:t>在以精度要求为主的情况下，模糊系统对问题的理解就不如精确的代数运算有效；</a:t>
            </a:r>
          </a:p>
          <a:p>
            <a:pPr eaLnBrk="1" hangingPunct="1">
              <a:lnSpc>
                <a:spcPct val="110000"/>
              </a:lnSpc>
            </a:pPr>
            <a:r>
              <a:rPr lang="zh-CN" altLang="en-US" sz="2800" b="1" dirty="0">
                <a:solidFill>
                  <a:srgbClr val="FF0000"/>
                </a:solidFill>
                <a:latin typeface="华文楷体" pitchFamily="2" charset="-122"/>
              </a:rPr>
              <a:t>模糊系统主要针对具有</a:t>
            </a:r>
            <a:r>
              <a:rPr lang="zh-CN" altLang="en-US" sz="2800" b="1" u="sng" dirty="0">
                <a:solidFill>
                  <a:srgbClr val="FF0000"/>
                </a:solidFill>
                <a:latin typeface="华文楷体" pitchFamily="2" charset="-122"/>
              </a:rPr>
              <a:t>非精确性</a:t>
            </a:r>
            <a:r>
              <a:rPr lang="zh-CN" altLang="en-US" sz="2800" b="1" dirty="0">
                <a:solidFill>
                  <a:srgbClr val="FF0000"/>
                </a:solidFill>
                <a:latin typeface="华文楷体" pitchFamily="2" charset="-122"/>
              </a:rPr>
              <a:t>或</a:t>
            </a:r>
            <a:r>
              <a:rPr lang="zh-CN" altLang="en-US" sz="2800" b="1" u="sng" dirty="0">
                <a:solidFill>
                  <a:srgbClr val="FF0000"/>
                </a:solidFill>
                <a:latin typeface="华文楷体" pitchFamily="2" charset="-122"/>
              </a:rPr>
              <a:t>模糊性</a:t>
            </a:r>
            <a:r>
              <a:rPr lang="zh-CN" altLang="en-US" sz="2800" b="1" dirty="0">
                <a:solidFill>
                  <a:srgbClr val="FF0000"/>
                </a:solidFill>
                <a:latin typeface="华文楷体" pitchFamily="2" charset="-122"/>
              </a:rPr>
              <a:t>信息的问题进行建模。</a:t>
            </a:r>
          </a:p>
        </p:txBody>
      </p:sp>
      <p:sp>
        <p:nvSpPr>
          <p:cNvPr id="7" name="Rectangle 2">
            <a:extLst>
              <a:ext uri="{FF2B5EF4-FFF2-40B4-BE49-F238E27FC236}">
                <a16:creationId xmlns:a16="http://schemas.microsoft.com/office/drawing/2014/main" id="{9BEE5A4A-EBF1-C748-7BD6-8510B0AF7AB8}"/>
              </a:ext>
            </a:extLst>
          </p:cNvPr>
          <p:cNvSpPr>
            <a:spLocks noGrp="1" noChangeArrowheads="1"/>
          </p:cNvSpPr>
          <p:nvPr>
            <p:ph type="title"/>
          </p:nvPr>
        </p:nvSpPr>
        <p:spPr>
          <a:xfrm>
            <a:off x="983432" y="188914"/>
            <a:ext cx="10441160" cy="1152525"/>
          </a:xfrm>
        </p:spPr>
        <p:txBody>
          <a:bodyPr>
            <a:normAutofit/>
          </a:bodyPr>
          <a:lstStyle/>
          <a:p>
            <a:pPr algn="ctr" eaLnBrk="1" hangingPunct="1"/>
            <a:r>
              <a:rPr lang="zh-CN" altLang="en-US" dirty="0">
                <a:solidFill>
                  <a:srgbClr val="008000"/>
                </a:solidFill>
              </a:rPr>
              <a:t>系统模式中系统复杂性与精确性的关系</a:t>
            </a:r>
            <a:endParaRPr lang="zh-CN" altLang="en-US" sz="4000" dirty="0">
              <a:solidFill>
                <a:srgbClr val="008000"/>
              </a:solidFill>
            </a:endParaRPr>
          </a:p>
        </p:txBody>
      </p:sp>
    </p:spTree>
    <p:extLst>
      <p:ext uri="{BB962C8B-B14F-4D97-AF65-F5344CB8AC3E}">
        <p14:creationId xmlns:p14="http://schemas.microsoft.com/office/powerpoint/2010/main" val="38420273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bg/>
                                          </p:spTgt>
                                        </p:tgtEl>
                                        <p:attrNameLst>
                                          <p:attrName>style.visibility</p:attrName>
                                        </p:attrNameLst>
                                      </p:cBhvr>
                                      <p:to>
                                        <p:strVal val="visible"/>
                                      </p:to>
                                    </p:set>
                                    <p:anim calcmode="lin" valueType="num">
                                      <p:cBhvr additive="base">
                                        <p:cTn id="7" dur="500" fill="hold"/>
                                        <p:tgtEl>
                                          <p:spTgt spid="4">
                                            <p:bg/>
                                          </p:spTgt>
                                        </p:tgtEl>
                                        <p:attrNameLst>
                                          <p:attrName>ppt_x</p:attrName>
                                        </p:attrNameLst>
                                      </p:cBhvr>
                                      <p:tavLst>
                                        <p:tav tm="0">
                                          <p:val>
                                            <p:strVal val="#ppt_x"/>
                                          </p:val>
                                        </p:tav>
                                        <p:tav tm="100000">
                                          <p:val>
                                            <p:strVal val="#ppt_x"/>
                                          </p:val>
                                        </p:tav>
                                      </p:tavLst>
                                    </p:anim>
                                    <p:anim calcmode="lin" valueType="num">
                                      <p:cBhvr additive="base">
                                        <p:cTn id="8" dur="500" fill="hold"/>
                                        <p:tgtEl>
                                          <p:spTgt spid="4">
                                            <p:bg/>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
                                            <p:txEl>
                                              <p:pRg st="0" end="0"/>
                                            </p:txEl>
                                          </p:spTgt>
                                        </p:tgtEl>
                                        <p:attrNameLst>
                                          <p:attrName>style.visibility</p:attrName>
                                        </p:attrNameLst>
                                      </p:cBhvr>
                                      <p:to>
                                        <p:strVal val="visible"/>
                                      </p:to>
                                    </p:set>
                                    <p:anim calcmode="lin" valueType="num">
                                      <p:cBhvr additive="base">
                                        <p:cTn id="13"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4">
                                            <p:txEl>
                                              <p:pRg st="1" end="1"/>
                                            </p:txEl>
                                          </p:spTgt>
                                        </p:tgtEl>
                                        <p:attrNameLst>
                                          <p:attrName>style.visibility</p:attrName>
                                        </p:attrNameLst>
                                      </p:cBhvr>
                                      <p:to>
                                        <p:strVal val="visible"/>
                                      </p:to>
                                    </p:set>
                                    <p:anim calcmode="lin" valueType="num">
                                      <p:cBhvr additive="base">
                                        <p:cTn id="19"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animBg="1"/>
    </p:bldLst>
  </p:timing>
</p:sld>
</file>

<file path=ppt/slides/slide2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a:xfrm>
            <a:off x="1992313" y="404814"/>
            <a:ext cx="8229600" cy="719137"/>
          </a:xfrm>
        </p:spPr>
        <p:txBody>
          <a:bodyPr/>
          <a:lstStyle/>
          <a:p>
            <a:pPr algn="ctr" eaLnBrk="1" hangingPunct="1"/>
            <a:r>
              <a:rPr lang="zh-CN" altLang="en-US" dirty="0">
                <a:solidFill>
                  <a:srgbClr val="008000"/>
                </a:solidFill>
              </a:rPr>
              <a:t>引例</a:t>
            </a:r>
          </a:p>
        </p:txBody>
      </p:sp>
      <p:sp>
        <p:nvSpPr>
          <p:cNvPr id="16387" name="Rectangle 3"/>
          <p:cNvSpPr>
            <a:spLocks noGrp="1" noChangeArrowheads="1"/>
          </p:cNvSpPr>
          <p:nvPr>
            <p:ph idx="1"/>
          </p:nvPr>
        </p:nvSpPr>
        <p:spPr>
          <a:xfrm>
            <a:off x="1343472" y="1155645"/>
            <a:ext cx="9937104" cy="5513715"/>
          </a:xfrm>
        </p:spPr>
        <p:txBody>
          <a:bodyPr>
            <a:normAutofit fontScale="92500" lnSpcReduction="10000"/>
          </a:bodyPr>
          <a:lstStyle/>
          <a:p>
            <a:pPr marL="0" indent="0" eaLnBrk="1" hangingPunct="1">
              <a:buNone/>
            </a:pPr>
            <a:r>
              <a:rPr lang="zh-CN" altLang="en-US" dirty="0">
                <a:solidFill>
                  <a:srgbClr val="3366FF"/>
                </a:solidFill>
                <a:ea typeface="黑体" pitchFamily="49" charset="-122"/>
              </a:rPr>
              <a:t>例：假如某人在沙漠中不幸迷路，已经好几天没水喝了。这时他突然看到</a:t>
            </a:r>
            <a:r>
              <a:rPr lang="en-US" altLang="zh-CN" dirty="0">
                <a:solidFill>
                  <a:srgbClr val="3366FF"/>
                </a:solidFill>
                <a:ea typeface="黑体" pitchFamily="49" charset="-122"/>
              </a:rPr>
              <a:t>A</a:t>
            </a:r>
            <a:r>
              <a:rPr lang="zh-CN" altLang="en-US" dirty="0">
                <a:solidFill>
                  <a:srgbClr val="3366FF"/>
                </a:solidFill>
                <a:ea typeface="黑体" pitchFamily="49" charset="-122"/>
              </a:rPr>
              <a:t>、</a:t>
            </a:r>
            <a:r>
              <a:rPr lang="en-US" altLang="zh-CN" dirty="0">
                <a:solidFill>
                  <a:srgbClr val="3366FF"/>
                </a:solidFill>
                <a:ea typeface="黑体" pitchFamily="49" charset="-122"/>
              </a:rPr>
              <a:t>B</a:t>
            </a:r>
            <a:r>
              <a:rPr lang="zh-CN" altLang="en-US" dirty="0">
                <a:solidFill>
                  <a:srgbClr val="3366FF"/>
                </a:solidFill>
                <a:ea typeface="黑体" pitchFamily="49" charset="-122"/>
              </a:rPr>
              <a:t>两个装着液体的瓶子，他应选择哪一瓶？</a:t>
            </a:r>
            <a:endParaRPr lang="en-US" altLang="zh-CN" dirty="0">
              <a:solidFill>
                <a:srgbClr val="3366FF"/>
              </a:solidFill>
              <a:ea typeface="黑体" pitchFamily="49" charset="-122"/>
            </a:endParaRPr>
          </a:p>
          <a:p>
            <a:pPr eaLnBrk="1" hangingPunct="1"/>
            <a:endParaRPr lang="en-US" altLang="zh-CN" sz="2400" dirty="0">
              <a:solidFill>
                <a:srgbClr val="3366FF"/>
              </a:solidFill>
              <a:ea typeface="黑体" pitchFamily="49" charset="-122"/>
            </a:endParaRPr>
          </a:p>
          <a:p>
            <a:pPr eaLnBrk="1" hangingPunct="1"/>
            <a:endParaRPr lang="en-US" altLang="zh-CN" sz="2400" dirty="0">
              <a:solidFill>
                <a:srgbClr val="3366FF"/>
              </a:solidFill>
              <a:ea typeface="黑体" pitchFamily="49" charset="-122"/>
            </a:endParaRPr>
          </a:p>
          <a:p>
            <a:pPr eaLnBrk="1" hangingPunct="1"/>
            <a:endParaRPr lang="en-US" altLang="zh-CN" sz="2400" dirty="0">
              <a:solidFill>
                <a:srgbClr val="3366FF"/>
              </a:solidFill>
              <a:ea typeface="黑体" pitchFamily="49" charset="-122"/>
            </a:endParaRPr>
          </a:p>
          <a:p>
            <a:pPr eaLnBrk="1" hangingPunct="1"/>
            <a:endParaRPr lang="en-US" altLang="zh-CN" sz="2400" dirty="0">
              <a:solidFill>
                <a:srgbClr val="3366FF"/>
              </a:solidFill>
              <a:ea typeface="黑体" pitchFamily="49" charset="-122"/>
            </a:endParaRPr>
          </a:p>
          <a:p>
            <a:pPr eaLnBrk="1" hangingPunct="1"/>
            <a:endParaRPr lang="en-US" altLang="zh-CN" sz="2400" dirty="0">
              <a:solidFill>
                <a:srgbClr val="3366FF"/>
              </a:solidFill>
              <a:ea typeface="黑体" pitchFamily="49" charset="-122"/>
            </a:endParaRPr>
          </a:p>
          <a:p>
            <a:pPr eaLnBrk="1" hangingPunct="1"/>
            <a:endParaRPr lang="zh-CN" altLang="en-US" sz="2400" dirty="0">
              <a:solidFill>
                <a:srgbClr val="3366FF"/>
              </a:solidFill>
              <a:ea typeface="黑体" pitchFamily="49" charset="-122"/>
            </a:endParaRPr>
          </a:p>
          <a:p>
            <a:pPr eaLnBrk="1" hangingPunct="1"/>
            <a:r>
              <a:rPr lang="zh-CN" altLang="en-US" dirty="0">
                <a:latin typeface="黑体" pitchFamily="49" charset="-122"/>
                <a:ea typeface="黑体" pitchFamily="49" charset="-122"/>
              </a:rPr>
              <a:t>有人误认为隶属函数与数理统计中的概率都是描述不确定性的，隶属函数就是概率的另一种表达方式。</a:t>
            </a:r>
            <a:endParaRPr lang="en-US" altLang="zh-CN" dirty="0">
              <a:latin typeface="黑体" pitchFamily="49" charset="-122"/>
              <a:ea typeface="黑体" pitchFamily="49" charset="-122"/>
            </a:endParaRPr>
          </a:p>
          <a:p>
            <a:pPr eaLnBrk="1" hangingPunct="1"/>
            <a:r>
              <a:rPr lang="zh-CN" altLang="en-US" b="1" dirty="0"/>
              <a:t>概率只是研究一件事发生之前，它所可能发生的可能性，一旦它发生了，它的结果就是明确的了。</a:t>
            </a:r>
            <a:endParaRPr lang="zh-CN" altLang="en-US" sz="2000" dirty="0">
              <a:solidFill>
                <a:srgbClr val="3366FF"/>
              </a:solidFill>
              <a:ea typeface="黑体" pitchFamily="49" charset="-122"/>
            </a:endParaRPr>
          </a:p>
        </p:txBody>
      </p:sp>
      <p:pic>
        <p:nvPicPr>
          <p:cNvPr id="17" name="图片 16" descr="瓶子放在一起&#10;&#10;描述已自动生成">
            <a:extLst>
              <a:ext uri="{FF2B5EF4-FFF2-40B4-BE49-F238E27FC236}">
                <a16:creationId xmlns:a16="http://schemas.microsoft.com/office/drawing/2014/main" id="{519C722A-3832-BFEB-8A54-02F334AA736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12509" y="2060849"/>
            <a:ext cx="5103771" cy="2736303"/>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6387">
                                            <p:txEl>
                                              <p:pRg st="0" end="0"/>
                                            </p:txEl>
                                          </p:spTgt>
                                        </p:tgtEl>
                                        <p:attrNameLst>
                                          <p:attrName>style.visibility</p:attrName>
                                        </p:attrNameLst>
                                      </p:cBhvr>
                                      <p:to>
                                        <p:strVal val="visible"/>
                                      </p:to>
                                    </p:set>
                                    <p:animEffect transition="in" filter="wipe(up)">
                                      <p:cBhvr>
                                        <p:cTn id="7" dur="500"/>
                                        <p:tgtEl>
                                          <p:spTgt spid="1638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fade">
                                      <p:cBhvr>
                                        <p:cTn id="12" dur="1000"/>
                                        <p:tgtEl>
                                          <p:spTgt spid="17"/>
                                        </p:tgtEl>
                                      </p:cBhvr>
                                    </p:animEffect>
                                    <p:anim calcmode="lin" valueType="num">
                                      <p:cBhvr>
                                        <p:cTn id="13" dur="1000" fill="hold"/>
                                        <p:tgtEl>
                                          <p:spTgt spid="17"/>
                                        </p:tgtEl>
                                        <p:attrNameLst>
                                          <p:attrName>ppt_x</p:attrName>
                                        </p:attrNameLst>
                                      </p:cBhvr>
                                      <p:tavLst>
                                        <p:tav tm="0">
                                          <p:val>
                                            <p:strVal val="#ppt_x"/>
                                          </p:val>
                                        </p:tav>
                                        <p:tav tm="100000">
                                          <p:val>
                                            <p:strVal val="#ppt_x"/>
                                          </p:val>
                                        </p:tav>
                                      </p:tavLst>
                                    </p:anim>
                                    <p:anim calcmode="lin" valueType="num">
                                      <p:cBhvr>
                                        <p:cTn id="14" dur="1000" fill="hold"/>
                                        <p:tgtEl>
                                          <p:spTgt spid="17"/>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2" presetClass="entr" presetSubtype="1" fill="hold" grpId="0" nodeType="clickEffect">
                                  <p:stCondLst>
                                    <p:cond delay="0"/>
                                  </p:stCondLst>
                                  <p:childTnLst>
                                    <p:set>
                                      <p:cBhvr>
                                        <p:cTn id="18" dur="1" fill="hold">
                                          <p:stCondLst>
                                            <p:cond delay="0"/>
                                          </p:stCondLst>
                                        </p:cTn>
                                        <p:tgtEl>
                                          <p:spTgt spid="16387">
                                            <p:txEl>
                                              <p:pRg st="7" end="7"/>
                                            </p:txEl>
                                          </p:spTgt>
                                        </p:tgtEl>
                                        <p:attrNameLst>
                                          <p:attrName>style.visibility</p:attrName>
                                        </p:attrNameLst>
                                      </p:cBhvr>
                                      <p:to>
                                        <p:strVal val="visible"/>
                                      </p:to>
                                    </p:set>
                                    <p:animEffect transition="in" filter="wipe(up)">
                                      <p:cBhvr>
                                        <p:cTn id="19" dur="500"/>
                                        <p:tgtEl>
                                          <p:spTgt spid="16387">
                                            <p:txEl>
                                              <p:pRg st="7" end="7"/>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1" fill="hold" grpId="0" nodeType="clickEffect">
                                  <p:stCondLst>
                                    <p:cond delay="0"/>
                                  </p:stCondLst>
                                  <p:childTnLst>
                                    <p:set>
                                      <p:cBhvr>
                                        <p:cTn id="23" dur="1" fill="hold">
                                          <p:stCondLst>
                                            <p:cond delay="0"/>
                                          </p:stCondLst>
                                        </p:cTn>
                                        <p:tgtEl>
                                          <p:spTgt spid="16387">
                                            <p:txEl>
                                              <p:pRg st="8" end="8"/>
                                            </p:txEl>
                                          </p:spTgt>
                                        </p:tgtEl>
                                        <p:attrNameLst>
                                          <p:attrName>style.visibility</p:attrName>
                                        </p:attrNameLst>
                                      </p:cBhvr>
                                      <p:to>
                                        <p:strVal val="visible"/>
                                      </p:to>
                                    </p:set>
                                    <p:animEffect transition="in" filter="wipe(up)">
                                      <p:cBhvr>
                                        <p:cTn id="24" dur="500"/>
                                        <p:tgtEl>
                                          <p:spTgt spid="16387">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87" grpId="0" uiExpand="1" build="p" autoUpdateAnimBg="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a:xfrm>
            <a:off x="1055440" y="332656"/>
            <a:ext cx="9649072" cy="1008113"/>
          </a:xfrm>
        </p:spPr>
        <p:txBody>
          <a:bodyPr>
            <a:normAutofit/>
          </a:bodyPr>
          <a:lstStyle/>
          <a:p>
            <a:pPr algn="ctr" eaLnBrk="1" hangingPunct="1"/>
            <a:r>
              <a:rPr lang="zh-CN" altLang="en-US" dirty="0">
                <a:solidFill>
                  <a:srgbClr val="008000"/>
                </a:solidFill>
                <a:latin typeface="黑体" pitchFamily="49" charset="-122"/>
              </a:rPr>
              <a:t>模糊逻辑与随机事件的联系与区别</a:t>
            </a:r>
            <a:endParaRPr lang="zh-CN" altLang="en-US" dirty="0">
              <a:solidFill>
                <a:srgbClr val="008000"/>
              </a:solidFill>
            </a:endParaRPr>
          </a:p>
        </p:txBody>
      </p:sp>
      <p:sp>
        <p:nvSpPr>
          <p:cNvPr id="16387" name="Rectangle 3"/>
          <p:cNvSpPr>
            <a:spLocks noGrp="1" noChangeArrowheads="1"/>
          </p:cNvSpPr>
          <p:nvPr>
            <p:ph idx="1"/>
          </p:nvPr>
        </p:nvSpPr>
        <p:spPr>
          <a:xfrm>
            <a:off x="1199456" y="1412776"/>
            <a:ext cx="9649072" cy="5328592"/>
          </a:xfrm>
        </p:spPr>
        <p:txBody>
          <a:bodyPr>
            <a:normAutofit/>
          </a:bodyPr>
          <a:lstStyle/>
          <a:p>
            <a:pPr eaLnBrk="1" hangingPunct="1">
              <a:lnSpc>
                <a:spcPct val="100000"/>
              </a:lnSpc>
            </a:pPr>
            <a:r>
              <a:rPr lang="zh-CN" altLang="en-US" sz="3200" dirty="0">
                <a:solidFill>
                  <a:srgbClr val="CC00FF"/>
                </a:solidFill>
                <a:latin typeface="黑体" pitchFamily="49" charset="-122"/>
                <a:ea typeface="黑体" pitchFamily="49" charset="-122"/>
              </a:rPr>
              <a:t>概率</a:t>
            </a:r>
            <a:endParaRPr lang="en-US" altLang="zh-CN" sz="3200" dirty="0">
              <a:solidFill>
                <a:srgbClr val="CC00FF"/>
              </a:solidFill>
              <a:latin typeface="黑体" pitchFamily="49" charset="-122"/>
              <a:ea typeface="黑体" pitchFamily="49" charset="-122"/>
            </a:endParaRPr>
          </a:p>
          <a:p>
            <a:pPr lvl="1" eaLnBrk="1" hangingPunct="1">
              <a:lnSpc>
                <a:spcPct val="100000"/>
              </a:lnSpc>
            </a:pPr>
            <a:r>
              <a:rPr lang="zh-CN" altLang="en-US" sz="2800" dirty="0">
                <a:latin typeface="黑体" pitchFamily="49" charset="-122"/>
                <a:ea typeface="黑体" pitchFamily="49" charset="-122"/>
              </a:rPr>
              <a:t>是事件发生可能性的大小度量，</a:t>
            </a:r>
            <a:endParaRPr lang="en-US" altLang="zh-CN" sz="2800" dirty="0">
              <a:latin typeface="黑体" pitchFamily="49" charset="-122"/>
              <a:ea typeface="黑体" pitchFamily="49" charset="-122"/>
            </a:endParaRPr>
          </a:p>
          <a:p>
            <a:pPr lvl="1" eaLnBrk="1" hangingPunct="1">
              <a:lnSpc>
                <a:spcPct val="100000"/>
              </a:lnSpc>
            </a:pPr>
            <a:r>
              <a:rPr lang="zh-CN" altLang="en-US" sz="2800" dirty="0">
                <a:latin typeface="黑体" pitchFamily="49" charset="-122"/>
                <a:ea typeface="黑体" pitchFamily="49" charset="-122"/>
              </a:rPr>
              <a:t>它表示事件结果的不确定性；</a:t>
            </a:r>
          </a:p>
          <a:p>
            <a:pPr eaLnBrk="1" hangingPunct="1">
              <a:lnSpc>
                <a:spcPct val="100000"/>
              </a:lnSpc>
            </a:pPr>
            <a:r>
              <a:rPr lang="zh-CN" altLang="en-US" sz="3200" dirty="0">
                <a:solidFill>
                  <a:srgbClr val="FF0000"/>
                </a:solidFill>
                <a:latin typeface="黑体" pitchFamily="49" charset="-122"/>
                <a:ea typeface="黑体" pitchFamily="49" charset="-122"/>
              </a:rPr>
              <a:t>隶属函数</a:t>
            </a:r>
            <a:endParaRPr lang="en-US" altLang="zh-CN" sz="3200" dirty="0">
              <a:solidFill>
                <a:srgbClr val="FF0000"/>
              </a:solidFill>
              <a:latin typeface="黑体" pitchFamily="49" charset="-122"/>
              <a:ea typeface="黑体" pitchFamily="49" charset="-122"/>
            </a:endParaRPr>
          </a:p>
          <a:p>
            <a:pPr lvl="1" eaLnBrk="1" hangingPunct="1">
              <a:lnSpc>
                <a:spcPct val="100000"/>
              </a:lnSpc>
            </a:pPr>
            <a:r>
              <a:rPr lang="zh-CN" altLang="en-US" sz="2800" dirty="0">
                <a:solidFill>
                  <a:srgbClr val="FF0000"/>
                </a:solidFill>
                <a:latin typeface="黑体" pitchFamily="49" charset="-122"/>
                <a:ea typeface="黑体" pitchFamily="49" charset="-122"/>
              </a:rPr>
              <a:t>则是事物本身多大程度属于基本分类的度量，它表示事物本身性质的内在不确定性。</a:t>
            </a:r>
          </a:p>
          <a:p>
            <a:pPr lvl="1" eaLnBrk="1" hangingPunct="1">
              <a:lnSpc>
                <a:spcPct val="100000"/>
              </a:lnSpc>
            </a:pPr>
            <a:r>
              <a:rPr lang="zh-CN" altLang="en-US" sz="2800" dirty="0">
                <a:latin typeface="黑体" pitchFamily="49" charset="-122"/>
                <a:ea typeface="黑体" pitchFamily="49" charset="-122"/>
              </a:rPr>
              <a:t>它</a:t>
            </a:r>
            <a:r>
              <a:rPr lang="zh-CN" altLang="en-US" sz="2800" b="1" dirty="0">
                <a:latin typeface="楷体_GB2312" pitchFamily="49" charset="-122"/>
                <a:ea typeface="楷体_GB2312" pitchFamily="49" charset="-122"/>
              </a:rPr>
              <a:t>可以表达一个模糊概念从</a:t>
            </a:r>
            <a:r>
              <a:rPr lang="zh-CN" altLang="en-US" sz="2800" b="1" dirty="0">
                <a:ea typeface="楷体_GB2312" pitchFamily="49" charset="-122"/>
              </a:rPr>
              <a:t>“</a:t>
            </a:r>
            <a:r>
              <a:rPr lang="zh-CN" altLang="en-US" sz="2800" b="1" dirty="0">
                <a:latin typeface="楷体_GB2312" pitchFamily="49" charset="-122"/>
                <a:ea typeface="楷体_GB2312" pitchFamily="49" charset="-122"/>
              </a:rPr>
              <a:t>完全不属于</a:t>
            </a:r>
            <a:r>
              <a:rPr lang="zh-CN" altLang="en-US" sz="2800" b="1" dirty="0">
                <a:ea typeface="楷体_GB2312" pitchFamily="49" charset="-122"/>
              </a:rPr>
              <a:t>”</a:t>
            </a:r>
            <a:r>
              <a:rPr lang="zh-CN" altLang="en-US" sz="2800" b="1" dirty="0">
                <a:latin typeface="楷体_GB2312" pitchFamily="49" charset="-122"/>
                <a:ea typeface="楷体_GB2312" pitchFamily="49" charset="-122"/>
              </a:rPr>
              <a:t>到</a:t>
            </a:r>
            <a:r>
              <a:rPr lang="zh-CN" altLang="en-US" sz="2800" b="1" dirty="0">
                <a:ea typeface="楷体_GB2312" pitchFamily="49" charset="-122"/>
              </a:rPr>
              <a:t>“</a:t>
            </a:r>
            <a:r>
              <a:rPr lang="zh-CN" altLang="en-US" sz="2800" b="1" dirty="0">
                <a:latin typeface="楷体_GB2312" pitchFamily="49" charset="-122"/>
                <a:ea typeface="楷体_GB2312" pitchFamily="49" charset="-122"/>
              </a:rPr>
              <a:t>完全隶属于</a:t>
            </a:r>
            <a:r>
              <a:rPr lang="zh-CN" altLang="en-US" sz="2800" b="1" dirty="0">
                <a:ea typeface="楷体_GB2312" pitchFamily="49" charset="-122"/>
              </a:rPr>
              <a:t>”</a:t>
            </a:r>
            <a:r>
              <a:rPr lang="zh-CN" altLang="en-US" sz="2800" b="1" dirty="0">
                <a:latin typeface="楷体_GB2312" pitchFamily="49" charset="-122"/>
                <a:ea typeface="楷体_GB2312" pitchFamily="49" charset="-122"/>
              </a:rPr>
              <a:t>的过渡。</a:t>
            </a:r>
            <a:endParaRPr lang="en-US" altLang="zh-CN" sz="2800" b="1" dirty="0">
              <a:latin typeface="楷体_GB2312" pitchFamily="49" charset="-122"/>
              <a:ea typeface="楷体_GB2312" pitchFamily="49" charset="-122"/>
            </a:endParaRPr>
          </a:p>
          <a:p>
            <a:pPr lvl="1" eaLnBrk="1" hangingPunct="1">
              <a:lnSpc>
                <a:spcPct val="100000"/>
              </a:lnSpc>
            </a:pPr>
            <a:r>
              <a:rPr lang="zh-CN" altLang="en-US" sz="2800" b="1" dirty="0">
                <a:latin typeface="楷体_GB2312" pitchFamily="49" charset="-122"/>
                <a:ea typeface="楷体_GB2312" pitchFamily="49" charset="-122"/>
              </a:rPr>
              <a:t>借助于此概念，可有效表达如</a:t>
            </a:r>
            <a:r>
              <a:rPr lang="zh-CN" altLang="en-US" sz="2800" b="1" dirty="0">
                <a:solidFill>
                  <a:srgbClr val="0000FF"/>
                </a:solidFill>
                <a:ea typeface="楷体_GB2312" pitchFamily="49" charset="-122"/>
              </a:rPr>
              <a:t>“</a:t>
            </a:r>
            <a:r>
              <a:rPr lang="zh-CN" altLang="en-US" sz="2800" b="1" dirty="0">
                <a:solidFill>
                  <a:srgbClr val="0000FF"/>
                </a:solidFill>
                <a:latin typeface="楷体_GB2312" pitchFamily="49" charset="-122"/>
                <a:ea typeface="楷体_GB2312" pitchFamily="49" charset="-122"/>
              </a:rPr>
              <a:t>冷</a:t>
            </a:r>
            <a:r>
              <a:rPr lang="zh-CN" altLang="en-US" sz="2800" b="1" dirty="0">
                <a:solidFill>
                  <a:srgbClr val="0000FF"/>
                </a:solidFill>
                <a:ea typeface="楷体_GB2312" pitchFamily="49" charset="-122"/>
              </a:rPr>
              <a:t>”</a:t>
            </a:r>
            <a:r>
              <a:rPr lang="zh-CN" altLang="en-US" sz="2800" b="1" dirty="0">
                <a:solidFill>
                  <a:srgbClr val="0000FF"/>
                </a:solidFill>
                <a:latin typeface="楷体_GB2312" pitchFamily="49" charset="-122"/>
                <a:ea typeface="楷体_GB2312" pitchFamily="49" charset="-122"/>
              </a:rPr>
              <a:t>、</a:t>
            </a:r>
            <a:r>
              <a:rPr lang="zh-CN" altLang="en-US" sz="2800" b="1" dirty="0">
                <a:solidFill>
                  <a:srgbClr val="0000FF"/>
                </a:solidFill>
                <a:ea typeface="楷体_GB2312" pitchFamily="49" charset="-122"/>
              </a:rPr>
              <a:t>“</a:t>
            </a:r>
            <a:r>
              <a:rPr lang="zh-CN" altLang="en-US" sz="2800" b="1" dirty="0">
                <a:solidFill>
                  <a:srgbClr val="0000FF"/>
                </a:solidFill>
                <a:latin typeface="楷体_GB2312" pitchFamily="49" charset="-122"/>
                <a:ea typeface="楷体_GB2312" pitchFamily="49" charset="-122"/>
              </a:rPr>
              <a:t>热</a:t>
            </a:r>
            <a:r>
              <a:rPr lang="zh-CN" altLang="en-US" sz="2800" b="1" dirty="0">
                <a:solidFill>
                  <a:srgbClr val="0000FF"/>
                </a:solidFill>
                <a:ea typeface="楷体_GB2312" pitchFamily="49" charset="-122"/>
              </a:rPr>
              <a:t>”</a:t>
            </a:r>
            <a:r>
              <a:rPr lang="zh-CN" altLang="en-US" sz="2800" b="1" dirty="0">
                <a:solidFill>
                  <a:srgbClr val="0000FF"/>
                </a:solidFill>
                <a:latin typeface="楷体_GB2312" pitchFamily="49" charset="-122"/>
                <a:ea typeface="楷体_GB2312" pitchFamily="49" charset="-122"/>
              </a:rPr>
              <a:t>、</a:t>
            </a:r>
            <a:r>
              <a:rPr lang="zh-CN" altLang="en-US" sz="2800" b="1" dirty="0">
                <a:solidFill>
                  <a:srgbClr val="0000FF"/>
                </a:solidFill>
                <a:ea typeface="楷体_GB2312" pitchFamily="49" charset="-122"/>
              </a:rPr>
              <a:t>“</a:t>
            </a:r>
            <a:r>
              <a:rPr lang="zh-CN" altLang="en-US" sz="2800" b="1" dirty="0">
                <a:solidFill>
                  <a:srgbClr val="0000FF"/>
                </a:solidFill>
                <a:latin typeface="楷体_GB2312" pitchFamily="49" charset="-122"/>
                <a:ea typeface="楷体_GB2312" pitchFamily="49" charset="-122"/>
              </a:rPr>
              <a:t>年轻的</a:t>
            </a:r>
            <a:r>
              <a:rPr lang="zh-CN" altLang="en-US" sz="2800" b="1" dirty="0">
                <a:solidFill>
                  <a:srgbClr val="0000FF"/>
                </a:solidFill>
                <a:ea typeface="楷体_GB2312" pitchFamily="49" charset="-122"/>
              </a:rPr>
              <a:t>”</a:t>
            </a:r>
            <a:r>
              <a:rPr lang="zh-CN" altLang="en-US" sz="2800" b="1" dirty="0">
                <a:solidFill>
                  <a:srgbClr val="0000FF"/>
                </a:solidFill>
                <a:latin typeface="楷体_GB2312" pitchFamily="49" charset="-122"/>
                <a:ea typeface="楷体_GB2312" pitchFamily="49" charset="-122"/>
              </a:rPr>
              <a:t>、</a:t>
            </a:r>
            <a:r>
              <a:rPr lang="zh-CN" altLang="en-US" sz="2800" b="1" dirty="0">
                <a:solidFill>
                  <a:srgbClr val="0000FF"/>
                </a:solidFill>
                <a:ea typeface="楷体_GB2312" pitchFamily="49" charset="-122"/>
              </a:rPr>
              <a:t>“</a:t>
            </a:r>
            <a:r>
              <a:rPr lang="zh-CN" altLang="en-US" sz="2800" b="1" dirty="0">
                <a:solidFill>
                  <a:srgbClr val="0000FF"/>
                </a:solidFill>
                <a:latin typeface="楷体_GB2312" pitchFamily="49" charset="-122"/>
                <a:ea typeface="楷体_GB2312" pitchFamily="49" charset="-122"/>
              </a:rPr>
              <a:t>高个子</a:t>
            </a:r>
            <a:r>
              <a:rPr lang="zh-CN" altLang="en-US" sz="2800" b="1" dirty="0">
                <a:solidFill>
                  <a:srgbClr val="0000FF"/>
                </a:solidFill>
                <a:ea typeface="楷体_GB2312" pitchFamily="49" charset="-122"/>
              </a:rPr>
              <a:t>”</a:t>
            </a:r>
            <a:r>
              <a:rPr lang="zh-CN" altLang="en-US" sz="2800" b="1" dirty="0">
                <a:solidFill>
                  <a:srgbClr val="0000FF"/>
                </a:solidFill>
                <a:latin typeface="楷体_GB2312" pitchFamily="49" charset="-122"/>
                <a:ea typeface="楷体_GB2312" pitchFamily="49" charset="-122"/>
              </a:rPr>
              <a:t>、</a:t>
            </a:r>
            <a:r>
              <a:rPr lang="zh-CN" altLang="en-US" sz="2800" b="1" dirty="0">
                <a:solidFill>
                  <a:srgbClr val="0000FF"/>
                </a:solidFill>
                <a:ea typeface="楷体_GB2312" pitchFamily="49" charset="-122"/>
              </a:rPr>
              <a:t>“</a:t>
            </a:r>
            <a:r>
              <a:rPr lang="zh-CN" altLang="en-US" sz="2800" b="1" dirty="0">
                <a:solidFill>
                  <a:srgbClr val="0000FF"/>
                </a:solidFill>
                <a:latin typeface="楷体_GB2312" pitchFamily="49" charset="-122"/>
                <a:ea typeface="楷体_GB2312" pitchFamily="49" charset="-122"/>
              </a:rPr>
              <a:t>下大雨</a:t>
            </a:r>
            <a:r>
              <a:rPr lang="zh-CN" altLang="en-US" sz="2800" b="1" dirty="0">
                <a:solidFill>
                  <a:srgbClr val="0000FF"/>
                </a:solidFill>
                <a:ea typeface="楷体_GB2312" pitchFamily="49" charset="-122"/>
              </a:rPr>
              <a:t>”</a:t>
            </a:r>
            <a:r>
              <a:rPr lang="zh-CN" altLang="en-US" b="1" dirty="0">
                <a:solidFill>
                  <a:srgbClr val="0000FF"/>
                </a:solidFill>
                <a:ea typeface="楷体_GB2312" pitchFamily="49" charset="-122"/>
              </a:rPr>
              <a:t>、“沙堆”</a:t>
            </a:r>
            <a:r>
              <a:rPr lang="zh-CN" altLang="en-US" sz="2800" b="1" dirty="0">
                <a:latin typeface="楷体_GB2312" pitchFamily="49" charset="-122"/>
                <a:ea typeface="楷体_GB2312" pitchFamily="49" charset="-122"/>
              </a:rPr>
              <a:t>等模糊概念。</a:t>
            </a:r>
          </a:p>
        </p:txBody>
      </p:sp>
    </p:spTree>
    <p:extLst>
      <p:ext uri="{BB962C8B-B14F-4D97-AF65-F5344CB8AC3E}">
        <p14:creationId xmlns:p14="http://schemas.microsoft.com/office/powerpoint/2010/main" val="32755917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6387">
                                            <p:txEl>
                                              <p:pRg st="0" end="0"/>
                                            </p:txEl>
                                          </p:spTgt>
                                        </p:tgtEl>
                                        <p:attrNameLst>
                                          <p:attrName>style.visibility</p:attrName>
                                        </p:attrNameLst>
                                      </p:cBhvr>
                                      <p:to>
                                        <p:strVal val="visible"/>
                                      </p:to>
                                    </p:set>
                                    <p:animEffect transition="in" filter="wipe(up)">
                                      <p:cBhvr>
                                        <p:cTn id="7" dur="500"/>
                                        <p:tgtEl>
                                          <p:spTgt spid="1638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16387">
                                            <p:txEl>
                                              <p:pRg st="1" end="1"/>
                                            </p:txEl>
                                          </p:spTgt>
                                        </p:tgtEl>
                                        <p:attrNameLst>
                                          <p:attrName>style.visibility</p:attrName>
                                        </p:attrNameLst>
                                      </p:cBhvr>
                                      <p:to>
                                        <p:strVal val="visible"/>
                                      </p:to>
                                    </p:set>
                                    <p:animEffect transition="in" filter="wipe(up)">
                                      <p:cBhvr>
                                        <p:cTn id="12" dur="500"/>
                                        <p:tgtEl>
                                          <p:spTgt spid="1638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16387">
                                            <p:txEl>
                                              <p:pRg st="2" end="2"/>
                                            </p:txEl>
                                          </p:spTgt>
                                        </p:tgtEl>
                                        <p:attrNameLst>
                                          <p:attrName>style.visibility</p:attrName>
                                        </p:attrNameLst>
                                      </p:cBhvr>
                                      <p:to>
                                        <p:strVal val="visible"/>
                                      </p:to>
                                    </p:set>
                                    <p:animEffect transition="in" filter="wipe(up)">
                                      <p:cBhvr>
                                        <p:cTn id="17" dur="500"/>
                                        <p:tgtEl>
                                          <p:spTgt spid="16387">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16387">
                                            <p:txEl>
                                              <p:pRg st="3" end="3"/>
                                            </p:txEl>
                                          </p:spTgt>
                                        </p:tgtEl>
                                        <p:attrNameLst>
                                          <p:attrName>style.visibility</p:attrName>
                                        </p:attrNameLst>
                                      </p:cBhvr>
                                      <p:to>
                                        <p:strVal val="visible"/>
                                      </p:to>
                                    </p:set>
                                    <p:animEffect transition="in" filter="wipe(up)">
                                      <p:cBhvr>
                                        <p:cTn id="22" dur="500"/>
                                        <p:tgtEl>
                                          <p:spTgt spid="16387">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16387">
                                            <p:txEl>
                                              <p:pRg st="4" end="4"/>
                                            </p:txEl>
                                          </p:spTgt>
                                        </p:tgtEl>
                                        <p:attrNameLst>
                                          <p:attrName>style.visibility</p:attrName>
                                        </p:attrNameLst>
                                      </p:cBhvr>
                                      <p:to>
                                        <p:strVal val="visible"/>
                                      </p:to>
                                    </p:set>
                                    <p:animEffect transition="in" filter="wipe(up)">
                                      <p:cBhvr>
                                        <p:cTn id="27" dur="500"/>
                                        <p:tgtEl>
                                          <p:spTgt spid="16387">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grpId="0" nodeType="clickEffect">
                                  <p:stCondLst>
                                    <p:cond delay="0"/>
                                  </p:stCondLst>
                                  <p:childTnLst>
                                    <p:set>
                                      <p:cBhvr>
                                        <p:cTn id="31" dur="1" fill="hold">
                                          <p:stCondLst>
                                            <p:cond delay="0"/>
                                          </p:stCondLst>
                                        </p:cTn>
                                        <p:tgtEl>
                                          <p:spTgt spid="16387">
                                            <p:txEl>
                                              <p:pRg st="5" end="5"/>
                                            </p:txEl>
                                          </p:spTgt>
                                        </p:tgtEl>
                                        <p:attrNameLst>
                                          <p:attrName>style.visibility</p:attrName>
                                        </p:attrNameLst>
                                      </p:cBhvr>
                                      <p:to>
                                        <p:strVal val="visible"/>
                                      </p:to>
                                    </p:set>
                                    <p:animEffect transition="in" filter="wipe(up)">
                                      <p:cBhvr>
                                        <p:cTn id="32" dur="500"/>
                                        <p:tgtEl>
                                          <p:spTgt spid="16387">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1" fill="hold" grpId="0" nodeType="clickEffect">
                                  <p:stCondLst>
                                    <p:cond delay="0"/>
                                  </p:stCondLst>
                                  <p:childTnLst>
                                    <p:set>
                                      <p:cBhvr>
                                        <p:cTn id="36" dur="1" fill="hold">
                                          <p:stCondLst>
                                            <p:cond delay="0"/>
                                          </p:stCondLst>
                                        </p:cTn>
                                        <p:tgtEl>
                                          <p:spTgt spid="16387">
                                            <p:txEl>
                                              <p:pRg st="6" end="6"/>
                                            </p:txEl>
                                          </p:spTgt>
                                        </p:tgtEl>
                                        <p:attrNameLst>
                                          <p:attrName>style.visibility</p:attrName>
                                        </p:attrNameLst>
                                      </p:cBhvr>
                                      <p:to>
                                        <p:strVal val="visible"/>
                                      </p:to>
                                    </p:set>
                                    <p:animEffect transition="in" filter="wipe(up)">
                                      <p:cBhvr>
                                        <p:cTn id="37" dur="500"/>
                                        <p:tgtEl>
                                          <p:spTgt spid="16387">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87" grpId="0"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xfrm>
            <a:off x="1114892" y="188640"/>
            <a:ext cx="10237691" cy="1669711"/>
          </a:xfrm>
        </p:spPr>
        <p:txBody>
          <a:bodyPr>
            <a:normAutofit/>
          </a:bodyPr>
          <a:lstStyle/>
          <a:p>
            <a:pPr algn="ctr" eaLnBrk="1" hangingPunct="1"/>
            <a:r>
              <a:rPr lang="en-US" altLang="zh-CN" dirty="0">
                <a:solidFill>
                  <a:srgbClr val="008000"/>
                </a:solidFill>
                <a:latin typeface="Arial" panose="020B0604020202020204" pitchFamily="34" charset="0"/>
                <a:cs typeface="Arial" panose="020B0604020202020204" pitchFamily="34" charset="0"/>
              </a:rPr>
              <a:t>1.2  </a:t>
            </a:r>
            <a:r>
              <a:rPr lang="zh-CN" altLang="en-US" dirty="0">
                <a:solidFill>
                  <a:srgbClr val="008000"/>
                </a:solidFill>
                <a:latin typeface="Arial" panose="020B0604020202020204" pitchFamily="34" charset="0"/>
                <a:cs typeface="Arial" panose="020B0604020202020204" pitchFamily="34" charset="0"/>
              </a:rPr>
              <a:t>模糊集合的基本概念</a:t>
            </a:r>
            <a:br>
              <a:rPr lang="zh-CN" altLang="en-US" dirty="0">
                <a:solidFill>
                  <a:srgbClr val="008000"/>
                </a:solidFill>
                <a:latin typeface="Arial" panose="020B0604020202020204" pitchFamily="34" charset="0"/>
                <a:cs typeface="Arial" panose="020B0604020202020204" pitchFamily="34" charset="0"/>
              </a:rPr>
            </a:br>
            <a:r>
              <a:rPr lang="en-US" altLang="zh-CN" sz="3600" dirty="0">
                <a:solidFill>
                  <a:srgbClr val="7030A0"/>
                </a:solidFill>
                <a:latin typeface="Arial" panose="020B0604020202020204" pitchFamily="34" charset="0"/>
                <a:cs typeface="Arial" panose="020B0604020202020204" pitchFamily="34" charset="0"/>
              </a:rPr>
              <a:t>1.2.1 </a:t>
            </a:r>
            <a:r>
              <a:rPr lang="zh-CN" altLang="en-US" sz="3600" dirty="0">
                <a:solidFill>
                  <a:srgbClr val="7030A0"/>
                </a:solidFill>
                <a:latin typeface="Arial" panose="020B0604020202020204" pitchFamily="34" charset="0"/>
                <a:cs typeface="Arial" panose="020B0604020202020204" pitchFamily="34" charset="0"/>
              </a:rPr>
              <a:t>经典集合</a:t>
            </a:r>
          </a:p>
        </p:txBody>
      </p:sp>
      <p:sp>
        <p:nvSpPr>
          <p:cNvPr id="18435" name="Rectangle 3"/>
          <p:cNvSpPr>
            <a:spLocks noGrp="1" noChangeArrowheads="1"/>
          </p:cNvSpPr>
          <p:nvPr>
            <p:ph idx="1"/>
          </p:nvPr>
        </p:nvSpPr>
        <p:spPr>
          <a:xfrm>
            <a:off x="1114892" y="1876819"/>
            <a:ext cx="8447088" cy="4525963"/>
          </a:xfrm>
        </p:spPr>
        <p:txBody>
          <a:bodyPr/>
          <a:lstStyle/>
          <a:p>
            <a:pPr eaLnBrk="1" hangingPunct="1">
              <a:defRPr/>
            </a:pPr>
            <a:r>
              <a:rPr lang="en-US" altLang="zh-CN" sz="3200" b="1" dirty="0">
                <a:solidFill>
                  <a:srgbClr val="FF0000"/>
                </a:solidFill>
                <a:latin typeface="黑体" panose="02010609060101010101" pitchFamily="49" charset="-122"/>
                <a:ea typeface="黑体" panose="02010609060101010101" pitchFamily="49" charset="-122"/>
              </a:rPr>
              <a:t> </a:t>
            </a:r>
            <a:r>
              <a:rPr lang="zh-CN" altLang="en-US" sz="3200" dirty="0">
                <a:solidFill>
                  <a:srgbClr val="FF0000"/>
                </a:solidFill>
                <a:latin typeface="黑体" panose="02010609060101010101" pitchFamily="49" charset="-122"/>
                <a:ea typeface="黑体" panose="02010609060101010101" pitchFamily="49" charset="-122"/>
              </a:rPr>
              <a:t>经典集合具有两条基本属性：</a:t>
            </a:r>
          </a:p>
          <a:p>
            <a:pPr eaLnBrk="1" hangingPunct="1">
              <a:buFont typeface="Wingdings" pitchFamily="2" charset="2"/>
              <a:buNone/>
              <a:defRPr/>
            </a:pPr>
            <a:r>
              <a:rPr lang="zh-CN" altLang="en-US" sz="2800" b="1" dirty="0">
                <a:solidFill>
                  <a:srgbClr val="0000FF"/>
                </a:solidFill>
                <a:latin typeface="宋体" pitchFamily="2" charset="-122"/>
              </a:rPr>
              <a:t>  （</a:t>
            </a:r>
            <a:r>
              <a:rPr lang="en-US" altLang="zh-CN" sz="2800" b="1" dirty="0">
                <a:solidFill>
                  <a:srgbClr val="0000FF"/>
                </a:solidFill>
                <a:latin typeface="宋体" pitchFamily="2" charset="-122"/>
              </a:rPr>
              <a:t>1</a:t>
            </a:r>
            <a:r>
              <a:rPr lang="zh-CN" altLang="en-US" sz="2800" b="1" dirty="0">
                <a:solidFill>
                  <a:srgbClr val="0000FF"/>
                </a:solidFill>
                <a:latin typeface="宋体" pitchFamily="2" charset="-122"/>
              </a:rPr>
              <a:t>）元素彼此相异，即无重复性；</a:t>
            </a:r>
          </a:p>
          <a:p>
            <a:pPr eaLnBrk="1" hangingPunct="1">
              <a:buFont typeface="Wingdings" pitchFamily="2" charset="2"/>
              <a:buNone/>
              <a:defRPr/>
            </a:pPr>
            <a:r>
              <a:rPr lang="zh-CN" altLang="en-US" sz="2800" b="1" dirty="0">
                <a:solidFill>
                  <a:srgbClr val="0000FF"/>
                </a:solidFill>
                <a:latin typeface="宋体" pitchFamily="2" charset="-122"/>
              </a:rPr>
              <a:t>  （</a:t>
            </a:r>
            <a:r>
              <a:rPr lang="en-US" altLang="zh-CN" sz="2800" b="1" dirty="0">
                <a:solidFill>
                  <a:srgbClr val="0000FF"/>
                </a:solidFill>
                <a:latin typeface="宋体" pitchFamily="2" charset="-122"/>
              </a:rPr>
              <a:t>2</a:t>
            </a:r>
            <a:r>
              <a:rPr lang="zh-CN" altLang="en-US" sz="2800" b="1" dirty="0">
                <a:solidFill>
                  <a:srgbClr val="0000FF"/>
                </a:solidFill>
                <a:latin typeface="宋体" pitchFamily="2" charset="-122"/>
              </a:rPr>
              <a:t>）范围边界分明</a:t>
            </a:r>
            <a:r>
              <a:rPr lang="en-US" altLang="zh-CN" sz="2800" b="1" dirty="0">
                <a:solidFill>
                  <a:srgbClr val="0000FF"/>
                </a:solidFill>
                <a:latin typeface="宋体" pitchFamily="2" charset="-122"/>
              </a:rPr>
              <a:t>:</a:t>
            </a:r>
          </a:p>
          <a:p>
            <a:pPr eaLnBrk="1" hangingPunct="1">
              <a:defRPr/>
            </a:pPr>
            <a:r>
              <a:rPr lang="en-US" altLang="zh-CN" sz="2800" dirty="0">
                <a:ea typeface="黑体" pitchFamily="2" charset="-122"/>
              </a:rPr>
              <a:t> </a:t>
            </a:r>
            <a:r>
              <a:rPr lang="zh-CN" altLang="en-US" sz="3200" dirty="0">
                <a:ea typeface="黑体" pitchFamily="2" charset="-122"/>
              </a:rPr>
              <a:t>即论域</a:t>
            </a:r>
            <a:r>
              <a:rPr lang="en-US" altLang="zh-CN" sz="3200" b="1" i="1" dirty="0">
                <a:ea typeface="黑体" pitchFamily="2" charset="-122"/>
              </a:rPr>
              <a:t>U</a:t>
            </a:r>
            <a:r>
              <a:rPr lang="zh-CN" altLang="en-US" sz="3200" dirty="0">
                <a:ea typeface="黑体" pitchFamily="2" charset="-122"/>
              </a:rPr>
              <a:t>中每个元素</a:t>
            </a:r>
            <a:r>
              <a:rPr lang="en-US" altLang="zh-CN" sz="3200" b="1" i="1" dirty="0">
                <a:ea typeface="黑体" pitchFamily="2" charset="-122"/>
              </a:rPr>
              <a:t>u</a:t>
            </a:r>
            <a:r>
              <a:rPr lang="zh-CN" altLang="en-US" sz="3200" dirty="0">
                <a:ea typeface="黑体" pitchFamily="2" charset="-122"/>
              </a:rPr>
              <a:t>，对于</a:t>
            </a:r>
            <a:r>
              <a:rPr lang="en-US" altLang="zh-CN" sz="3200" b="1" i="1" dirty="0">
                <a:ea typeface="黑体" pitchFamily="2" charset="-122"/>
              </a:rPr>
              <a:t>U</a:t>
            </a:r>
            <a:r>
              <a:rPr lang="zh-CN" altLang="en-US" sz="3200" dirty="0">
                <a:ea typeface="黑体" pitchFamily="2" charset="-122"/>
              </a:rPr>
              <a:t>上的子集</a:t>
            </a:r>
            <a:r>
              <a:rPr lang="en-US" altLang="zh-CN" sz="3200" b="1" i="1" dirty="0">
                <a:ea typeface="黑体" pitchFamily="2" charset="-122"/>
              </a:rPr>
              <a:t>A</a:t>
            </a:r>
            <a:r>
              <a:rPr lang="zh-CN" altLang="en-US" sz="3200" dirty="0">
                <a:ea typeface="黑体" pitchFamily="2" charset="-122"/>
              </a:rPr>
              <a:t>，</a:t>
            </a:r>
            <a:endParaRPr lang="zh-CN" altLang="en-US" sz="2800" dirty="0">
              <a:ea typeface="黑体" pitchFamily="2" charset="-122"/>
            </a:endParaRPr>
          </a:p>
          <a:p>
            <a:pPr lvl="1">
              <a:buFont typeface="Wingdings" panose="05000000000000000000" pitchFamily="2" charset="2"/>
              <a:buChar char="l"/>
              <a:defRPr/>
            </a:pPr>
            <a:r>
              <a:rPr lang="zh-CN" altLang="en-US" sz="2800" b="1" dirty="0">
                <a:latin typeface="宋体" pitchFamily="2" charset="-122"/>
              </a:rPr>
              <a:t> 要么属于集合</a:t>
            </a:r>
            <a:r>
              <a:rPr lang="en-US" altLang="zh-CN" sz="2800" b="1" dirty="0">
                <a:latin typeface="宋体" pitchFamily="2" charset="-122"/>
              </a:rPr>
              <a:t>(</a:t>
            </a:r>
            <a:r>
              <a:rPr lang="zh-CN" altLang="en-US" sz="2800" b="1" dirty="0">
                <a:latin typeface="宋体" pitchFamily="2" charset="-122"/>
              </a:rPr>
              <a:t>记作</a:t>
            </a:r>
            <a:r>
              <a:rPr lang="en-US" altLang="zh-CN" sz="2800" b="1" i="1" dirty="0" err="1"/>
              <a:t>u</a:t>
            </a:r>
            <a:r>
              <a:rPr lang="en-US" altLang="zh-CN" sz="2800" b="1" dirty="0" err="1">
                <a:sym typeface="Symbol" pitchFamily="18" charset="2"/>
              </a:rPr>
              <a:t></a:t>
            </a:r>
            <a:r>
              <a:rPr lang="en-US" altLang="zh-CN" sz="2800" b="1" i="1" dirty="0" err="1"/>
              <a:t>A</a:t>
            </a:r>
            <a:r>
              <a:rPr lang="en-US" altLang="zh-CN" sz="2800" b="1" dirty="0">
                <a:latin typeface="宋体" pitchFamily="2" charset="-122"/>
              </a:rPr>
              <a:t>),</a:t>
            </a:r>
          </a:p>
          <a:p>
            <a:pPr lvl="1">
              <a:buFont typeface="Wingdings" panose="05000000000000000000" pitchFamily="2" charset="2"/>
              <a:buChar char="l"/>
              <a:defRPr/>
            </a:pPr>
            <a:r>
              <a:rPr lang="en-US" altLang="zh-CN" sz="2800" b="1" dirty="0">
                <a:latin typeface="宋体" pitchFamily="2" charset="-122"/>
              </a:rPr>
              <a:t> </a:t>
            </a:r>
            <a:r>
              <a:rPr lang="zh-CN" altLang="en-US" sz="2800" b="1" dirty="0">
                <a:latin typeface="宋体" pitchFamily="2" charset="-122"/>
              </a:rPr>
              <a:t>要么不属于集合</a:t>
            </a:r>
            <a:r>
              <a:rPr lang="en-US" altLang="zh-CN" sz="2800" b="1" dirty="0">
                <a:latin typeface="宋体" pitchFamily="2" charset="-122"/>
              </a:rPr>
              <a:t>(</a:t>
            </a:r>
            <a:r>
              <a:rPr lang="zh-CN" altLang="en-US" sz="2800" b="1" dirty="0">
                <a:latin typeface="宋体" pitchFamily="2" charset="-122"/>
              </a:rPr>
              <a:t>记作</a:t>
            </a:r>
            <a:r>
              <a:rPr lang="en-US" altLang="zh-CN" sz="2800" b="1" i="1" dirty="0" err="1"/>
              <a:t>u</a:t>
            </a:r>
            <a:r>
              <a:rPr lang="en-US" altLang="zh-CN" sz="2800" b="1" dirty="0" err="1">
                <a:sym typeface="Symbol" pitchFamily="18" charset="2"/>
              </a:rPr>
              <a:t></a:t>
            </a:r>
            <a:r>
              <a:rPr lang="en-US" altLang="zh-CN" sz="2800" b="1" i="1" dirty="0" err="1"/>
              <a:t>A</a:t>
            </a:r>
            <a:r>
              <a:rPr lang="en-US" altLang="zh-CN" sz="2800" b="1" dirty="0">
                <a:latin typeface="宋体" pitchFamily="2" charset="-122"/>
              </a:rPr>
              <a:t>)</a:t>
            </a:r>
            <a:r>
              <a:rPr lang="zh-CN" altLang="en-US" sz="2800" b="1" dirty="0">
                <a:latin typeface="宋体" pitchFamily="2" charset="-122"/>
              </a:rPr>
              <a:t>，</a:t>
            </a:r>
          </a:p>
          <a:p>
            <a:pPr eaLnBrk="1" hangingPunct="1">
              <a:buFont typeface="Wingdings" pitchFamily="2" charset="2"/>
              <a:buNone/>
              <a:defRPr/>
            </a:pPr>
            <a:r>
              <a:rPr lang="zh-CN" altLang="en-US" sz="2800" b="1" dirty="0">
                <a:latin typeface="宋体" pitchFamily="2" charset="-122"/>
              </a:rPr>
              <a:t>    </a:t>
            </a:r>
            <a:r>
              <a:rPr lang="zh-CN" altLang="en-US" sz="2800" b="1" dirty="0">
                <a:solidFill>
                  <a:srgbClr val="CC00CC"/>
                </a:solidFill>
                <a:latin typeface="宋体" pitchFamily="2" charset="-122"/>
              </a:rPr>
              <a:t>二者必居其一</a:t>
            </a:r>
            <a:r>
              <a:rPr lang="en-US" altLang="zh-CN" sz="2800" b="1" dirty="0">
                <a:solidFill>
                  <a:srgbClr val="CC00CC"/>
                </a:solidFill>
                <a:latin typeface="宋体" pitchFamily="2" charset="-122"/>
              </a:rPr>
              <a:t>.</a:t>
            </a:r>
          </a:p>
          <a:p>
            <a:pPr eaLnBrk="1" hangingPunct="1">
              <a:defRPr/>
            </a:pPr>
            <a:r>
              <a:rPr lang="zh-CN" altLang="en-US" sz="3200" b="1" dirty="0">
                <a:latin typeface="宋体" pitchFamily="2" charset="-122"/>
              </a:rPr>
              <a:t>集合中元素的总数称为</a:t>
            </a:r>
            <a:r>
              <a:rPr lang="zh-CN" altLang="en-US" sz="3200" b="1" dirty="0">
                <a:solidFill>
                  <a:srgbClr val="FF0000"/>
                </a:solidFill>
                <a:latin typeface="宋体" pitchFamily="2" charset="-122"/>
              </a:rPr>
              <a:t>基数</a:t>
            </a:r>
            <a:r>
              <a:rPr lang="zh-CN" altLang="en-US" sz="3200" b="1" dirty="0">
                <a:latin typeface="宋体" pitchFamily="2" charset="-122"/>
              </a:rPr>
              <a:t>。</a:t>
            </a:r>
          </a:p>
        </p:txBody>
      </p:sp>
      <p:grpSp>
        <p:nvGrpSpPr>
          <p:cNvPr id="4" name="组合 3"/>
          <p:cNvGrpSpPr/>
          <p:nvPr/>
        </p:nvGrpSpPr>
        <p:grpSpPr>
          <a:xfrm>
            <a:off x="8321701" y="4293096"/>
            <a:ext cx="3030882" cy="1746659"/>
            <a:chOff x="5652120" y="3501008"/>
            <a:chExt cx="3168352" cy="1819436"/>
          </a:xfrm>
        </p:grpSpPr>
        <p:sp>
          <p:nvSpPr>
            <p:cNvPr id="5" name="矩形 4"/>
            <p:cNvSpPr/>
            <p:nvPr/>
          </p:nvSpPr>
          <p:spPr>
            <a:xfrm>
              <a:off x="5652120" y="3501008"/>
              <a:ext cx="3168352" cy="1800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椭圆 5"/>
            <p:cNvSpPr/>
            <p:nvPr/>
          </p:nvSpPr>
          <p:spPr>
            <a:xfrm>
              <a:off x="6228184" y="3861048"/>
              <a:ext cx="1296144" cy="1296144"/>
            </a:xfrm>
            <a:prstGeom prst="ellipse">
              <a:avLst/>
            </a:prstGeom>
            <a:solidFill>
              <a:srgbClr val="FFFF9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TextBox 6"/>
            <p:cNvSpPr txBox="1"/>
            <p:nvPr/>
          </p:nvSpPr>
          <p:spPr>
            <a:xfrm>
              <a:off x="6732240" y="4149080"/>
              <a:ext cx="360040" cy="480901"/>
            </a:xfrm>
            <a:prstGeom prst="rect">
              <a:avLst/>
            </a:prstGeom>
            <a:noFill/>
          </p:spPr>
          <p:txBody>
            <a:bodyPr wrap="square" rtlCol="0">
              <a:spAutoFit/>
            </a:bodyPr>
            <a:lstStyle/>
            <a:p>
              <a:r>
                <a:rPr lang="en-US" altLang="zh-CN" sz="2400" b="1" dirty="0">
                  <a:solidFill>
                    <a:srgbClr val="FF0000"/>
                  </a:solidFill>
                </a:rPr>
                <a:t>A</a:t>
              </a:r>
              <a:endParaRPr lang="zh-CN" altLang="en-US" sz="2400" b="1" dirty="0">
                <a:solidFill>
                  <a:srgbClr val="FF0000"/>
                </a:solidFill>
              </a:endParaRPr>
            </a:p>
          </p:txBody>
        </p:sp>
        <p:sp>
          <p:nvSpPr>
            <p:cNvPr id="8" name="TextBox 7"/>
            <p:cNvSpPr txBox="1"/>
            <p:nvPr/>
          </p:nvSpPr>
          <p:spPr>
            <a:xfrm>
              <a:off x="8316416" y="4839543"/>
              <a:ext cx="360040" cy="480901"/>
            </a:xfrm>
            <a:prstGeom prst="rect">
              <a:avLst/>
            </a:prstGeom>
            <a:noFill/>
          </p:spPr>
          <p:txBody>
            <a:bodyPr wrap="square" rtlCol="0">
              <a:spAutoFit/>
            </a:bodyPr>
            <a:lstStyle/>
            <a:p>
              <a:r>
                <a:rPr lang="en-US" altLang="zh-CN" sz="2400" b="1" dirty="0"/>
                <a:t>U</a:t>
              </a:r>
              <a:endParaRPr lang="zh-CN" altLang="en-US" sz="2400" b="1" dirty="0"/>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8435">
                                            <p:txEl>
                                              <p:pRg st="0" end="0"/>
                                            </p:txEl>
                                          </p:spTgt>
                                        </p:tgtEl>
                                        <p:attrNameLst>
                                          <p:attrName>style.visibility</p:attrName>
                                        </p:attrNameLst>
                                      </p:cBhvr>
                                      <p:to>
                                        <p:strVal val="visible"/>
                                      </p:to>
                                    </p:set>
                                    <p:animEffect transition="in" filter="wipe(left)">
                                      <p:cBhvr>
                                        <p:cTn id="7" dur="500"/>
                                        <p:tgtEl>
                                          <p:spTgt spid="1843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8435">
                                            <p:txEl>
                                              <p:pRg st="1" end="1"/>
                                            </p:txEl>
                                          </p:spTgt>
                                        </p:tgtEl>
                                        <p:attrNameLst>
                                          <p:attrName>style.visibility</p:attrName>
                                        </p:attrNameLst>
                                      </p:cBhvr>
                                      <p:to>
                                        <p:strVal val="visible"/>
                                      </p:to>
                                    </p:set>
                                    <p:animEffect transition="in" filter="wipe(left)">
                                      <p:cBhvr>
                                        <p:cTn id="12" dur="500"/>
                                        <p:tgtEl>
                                          <p:spTgt spid="18435">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8435">
                                            <p:txEl>
                                              <p:pRg st="2" end="2"/>
                                            </p:txEl>
                                          </p:spTgt>
                                        </p:tgtEl>
                                        <p:attrNameLst>
                                          <p:attrName>style.visibility</p:attrName>
                                        </p:attrNameLst>
                                      </p:cBhvr>
                                      <p:to>
                                        <p:strVal val="visible"/>
                                      </p:to>
                                    </p:set>
                                    <p:animEffect transition="in" filter="wipe(left)">
                                      <p:cBhvr>
                                        <p:cTn id="17" dur="500"/>
                                        <p:tgtEl>
                                          <p:spTgt spid="18435">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2" presetClass="entr" presetSubtype="0" fill="hold"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fade">
                                      <p:cBhvr>
                                        <p:cTn id="22" dur="1000"/>
                                        <p:tgtEl>
                                          <p:spTgt spid="4"/>
                                        </p:tgtEl>
                                      </p:cBhvr>
                                    </p:animEffect>
                                    <p:anim calcmode="lin" valueType="num">
                                      <p:cBhvr>
                                        <p:cTn id="23" dur="1000" fill="hold"/>
                                        <p:tgtEl>
                                          <p:spTgt spid="4"/>
                                        </p:tgtEl>
                                        <p:attrNameLst>
                                          <p:attrName>ppt_x</p:attrName>
                                        </p:attrNameLst>
                                      </p:cBhvr>
                                      <p:tavLst>
                                        <p:tav tm="0">
                                          <p:val>
                                            <p:strVal val="#ppt_x"/>
                                          </p:val>
                                        </p:tav>
                                        <p:tav tm="100000">
                                          <p:val>
                                            <p:strVal val="#ppt_x"/>
                                          </p:val>
                                        </p:tav>
                                      </p:tavLst>
                                    </p:anim>
                                    <p:anim calcmode="lin" valueType="num">
                                      <p:cBhvr>
                                        <p:cTn id="24"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grpId="0" nodeType="clickEffect">
                                  <p:stCondLst>
                                    <p:cond delay="0"/>
                                  </p:stCondLst>
                                  <p:childTnLst>
                                    <p:set>
                                      <p:cBhvr>
                                        <p:cTn id="28" dur="1" fill="hold">
                                          <p:stCondLst>
                                            <p:cond delay="0"/>
                                          </p:stCondLst>
                                        </p:cTn>
                                        <p:tgtEl>
                                          <p:spTgt spid="18435">
                                            <p:txEl>
                                              <p:pRg st="3" end="3"/>
                                            </p:txEl>
                                          </p:spTgt>
                                        </p:tgtEl>
                                        <p:attrNameLst>
                                          <p:attrName>style.visibility</p:attrName>
                                        </p:attrNameLst>
                                      </p:cBhvr>
                                      <p:to>
                                        <p:strVal val="visible"/>
                                      </p:to>
                                    </p:set>
                                    <p:animEffect transition="in" filter="wipe(left)">
                                      <p:cBhvr>
                                        <p:cTn id="29" dur="500"/>
                                        <p:tgtEl>
                                          <p:spTgt spid="18435">
                                            <p:txEl>
                                              <p:pRg st="3" end="3"/>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grpId="0" nodeType="clickEffect">
                                  <p:stCondLst>
                                    <p:cond delay="0"/>
                                  </p:stCondLst>
                                  <p:childTnLst>
                                    <p:set>
                                      <p:cBhvr>
                                        <p:cTn id="33" dur="1" fill="hold">
                                          <p:stCondLst>
                                            <p:cond delay="0"/>
                                          </p:stCondLst>
                                        </p:cTn>
                                        <p:tgtEl>
                                          <p:spTgt spid="18435">
                                            <p:txEl>
                                              <p:pRg st="4" end="4"/>
                                            </p:txEl>
                                          </p:spTgt>
                                        </p:tgtEl>
                                        <p:attrNameLst>
                                          <p:attrName>style.visibility</p:attrName>
                                        </p:attrNameLst>
                                      </p:cBhvr>
                                      <p:to>
                                        <p:strVal val="visible"/>
                                      </p:to>
                                    </p:set>
                                    <p:animEffect transition="in" filter="wipe(left)">
                                      <p:cBhvr>
                                        <p:cTn id="34" dur="500"/>
                                        <p:tgtEl>
                                          <p:spTgt spid="18435">
                                            <p:txEl>
                                              <p:pRg st="4" end="4"/>
                                            </p:txEl>
                                          </p:spTgt>
                                        </p:tgtEl>
                                      </p:cBhvr>
                                    </p:animEffect>
                                  </p:childTnLst>
                                </p:cTn>
                              </p:par>
                              <p:par>
                                <p:cTn id="35" presetID="22" presetClass="entr" presetSubtype="8" fill="hold" grpId="0" nodeType="withEffect">
                                  <p:stCondLst>
                                    <p:cond delay="0"/>
                                  </p:stCondLst>
                                  <p:childTnLst>
                                    <p:set>
                                      <p:cBhvr>
                                        <p:cTn id="36" dur="1" fill="hold">
                                          <p:stCondLst>
                                            <p:cond delay="0"/>
                                          </p:stCondLst>
                                        </p:cTn>
                                        <p:tgtEl>
                                          <p:spTgt spid="18435">
                                            <p:txEl>
                                              <p:pRg st="5" end="5"/>
                                            </p:txEl>
                                          </p:spTgt>
                                        </p:tgtEl>
                                        <p:attrNameLst>
                                          <p:attrName>style.visibility</p:attrName>
                                        </p:attrNameLst>
                                      </p:cBhvr>
                                      <p:to>
                                        <p:strVal val="visible"/>
                                      </p:to>
                                    </p:set>
                                    <p:animEffect transition="in" filter="wipe(left)">
                                      <p:cBhvr>
                                        <p:cTn id="37" dur="500"/>
                                        <p:tgtEl>
                                          <p:spTgt spid="18435">
                                            <p:txEl>
                                              <p:pRg st="5" end="5"/>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18435">
                                            <p:txEl>
                                              <p:pRg st="6" end="6"/>
                                            </p:txEl>
                                          </p:spTgt>
                                        </p:tgtEl>
                                        <p:attrNameLst>
                                          <p:attrName>style.visibility</p:attrName>
                                        </p:attrNameLst>
                                      </p:cBhvr>
                                      <p:to>
                                        <p:strVal val="visible"/>
                                      </p:to>
                                    </p:set>
                                    <p:animEffect transition="in" filter="wipe(left)">
                                      <p:cBhvr>
                                        <p:cTn id="42" dur="500"/>
                                        <p:tgtEl>
                                          <p:spTgt spid="18435">
                                            <p:txEl>
                                              <p:pRg st="6" end="6"/>
                                            </p:txEl>
                                          </p:spTgt>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18435">
                                            <p:txEl>
                                              <p:pRg st="7" end="7"/>
                                            </p:txEl>
                                          </p:spTgt>
                                        </p:tgtEl>
                                        <p:attrNameLst>
                                          <p:attrName>style.visibility</p:attrName>
                                        </p:attrNameLst>
                                      </p:cBhvr>
                                      <p:to>
                                        <p:strVal val="visible"/>
                                      </p:to>
                                    </p:set>
                                    <p:animEffect transition="in" filter="wipe(left)">
                                      <p:cBhvr>
                                        <p:cTn id="47" dur="500"/>
                                        <p:tgtEl>
                                          <p:spTgt spid="18435">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5" grpId="0" uiExpand="1"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a:xfrm>
            <a:off x="1981200" y="248370"/>
            <a:ext cx="8229600" cy="955675"/>
          </a:xfrm>
        </p:spPr>
        <p:txBody>
          <a:bodyPr/>
          <a:lstStyle/>
          <a:p>
            <a:pPr algn="ctr" eaLnBrk="1" hangingPunct="1"/>
            <a:r>
              <a:rPr lang="zh-CN" altLang="en-US" dirty="0">
                <a:solidFill>
                  <a:srgbClr val="008000"/>
                </a:solidFill>
                <a:latin typeface="黑体" panose="02010609060101010101" pitchFamily="49" charset="-122"/>
                <a:ea typeface="黑体" panose="02010609060101010101" pitchFamily="49" charset="-122"/>
              </a:rPr>
              <a:t>经典集合</a:t>
            </a:r>
          </a:p>
        </p:txBody>
      </p:sp>
      <p:sp>
        <p:nvSpPr>
          <p:cNvPr id="21507" name="Rectangle 3"/>
          <p:cNvSpPr>
            <a:spLocks noGrp="1" noChangeArrowheads="1"/>
          </p:cNvSpPr>
          <p:nvPr>
            <p:ph type="body" sz="half" idx="1"/>
          </p:nvPr>
        </p:nvSpPr>
        <p:spPr>
          <a:xfrm>
            <a:off x="1127448" y="1341438"/>
            <a:ext cx="8435653" cy="5581676"/>
          </a:xfrm>
        </p:spPr>
        <p:txBody>
          <a:bodyPr>
            <a:normAutofit lnSpcReduction="10000"/>
          </a:bodyPr>
          <a:lstStyle/>
          <a:p>
            <a:pPr eaLnBrk="1" hangingPunct="1">
              <a:buFont typeface="Wingdings" panose="05000000000000000000" pitchFamily="2" charset="2"/>
              <a:buChar char="n"/>
            </a:pPr>
            <a:r>
              <a:rPr lang="zh-CN" altLang="en-US" sz="3200" dirty="0">
                <a:solidFill>
                  <a:srgbClr val="7030A0"/>
                </a:solidFill>
              </a:rPr>
              <a:t>经典集合的表示方法：</a:t>
            </a:r>
          </a:p>
          <a:p>
            <a:pPr eaLnBrk="1" hangingPunct="1">
              <a:buFont typeface="Wingdings" pitchFamily="2" charset="2"/>
              <a:buNone/>
            </a:pPr>
            <a:r>
              <a:rPr lang="zh-CN" altLang="en-US" sz="3200" dirty="0"/>
              <a:t>  </a:t>
            </a:r>
            <a:r>
              <a:rPr lang="zh-CN" altLang="en-US" dirty="0"/>
              <a:t>设</a:t>
            </a:r>
            <a:r>
              <a:rPr lang="en-US" altLang="zh-CN" b="1" dirty="0">
                <a:cs typeface="Times New Roman" panose="02020603050405020304" pitchFamily="18" charset="0"/>
              </a:rPr>
              <a:t>A</a:t>
            </a:r>
            <a:r>
              <a:rPr lang="zh-CN" altLang="en-US" b="1" dirty="0">
                <a:cs typeface="Times New Roman" panose="02020603050405020304" pitchFamily="18" charset="0"/>
              </a:rPr>
              <a:t>表示“</a:t>
            </a:r>
            <a:r>
              <a:rPr lang="zh-CN" altLang="en-US" b="1" dirty="0">
                <a:solidFill>
                  <a:srgbClr val="008000"/>
                </a:solidFill>
                <a:cs typeface="Times New Roman" panose="02020603050405020304" pitchFamily="18" charset="0"/>
              </a:rPr>
              <a:t>所有小于</a:t>
            </a:r>
            <a:r>
              <a:rPr lang="en-US" altLang="zh-CN" b="1" dirty="0">
                <a:solidFill>
                  <a:srgbClr val="008000"/>
                </a:solidFill>
                <a:cs typeface="Times New Roman" panose="02020603050405020304" pitchFamily="18" charset="0"/>
              </a:rPr>
              <a:t>5</a:t>
            </a:r>
            <a:r>
              <a:rPr lang="zh-CN" altLang="en-US" b="1" dirty="0">
                <a:solidFill>
                  <a:srgbClr val="008000"/>
                </a:solidFill>
                <a:cs typeface="Times New Roman" panose="02020603050405020304" pitchFamily="18" charset="0"/>
              </a:rPr>
              <a:t>的自然数集</a:t>
            </a:r>
            <a:r>
              <a:rPr lang="zh-CN" altLang="en-US" b="1" dirty="0">
                <a:cs typeface="Times New Roman" panose="02020603050405020304" pitchFamily="18" charset="0"/>
              </a:rPr>
              <a:t>”</a:t>
            </a:r>
          </a:p>
          <a:p>
            <a:pPr eaLnBrk="1" hangingPunct="1">
              <a:buFont typeface="Wingdings" pitchFamily="2" charset="2"/>
              <a:buNone/>
            </a:pPr>
            <a:r>
              <a:rPr lang="zh-CN" altLang="en-US" sz="2800" b="1" dirty="0">
                <a:cs typeface="Times New Roman" panose="02020603050405020304" pitchFamily="18" charset="0"/>
              </a:rPr>
              <a:t>（</a:t>
            </a:r>
            <a:r>
              <a:rPr lang="en-US" altLang="zh-CN" sz="2800" b="1" dirty="0">
                <a:cs typeface="Times New Roman" panose="02020603050405020304" pitchFamily="18" charset="0"/>
              </a:rPr>
              <a:t>1</a:t>
            </a:r>
            <a:r>
              <a:rPr lang="zh-CN" altLang="en-US" sz="2800" b="1" dirty="0">
                <a:cs typeface="Times New Roman" panose="02020603050405020304" pitchFamily="18" charset="0"/>
              </a:rPr>
              <a:t>）列举法（枚举法）</a:t>
            </a:r>
          </a:p>
          <a:p>
            <a:pPr eaLnBrk="1" hangingPunct="1">
              <a:buFont typeface="Wingdings" pitchFamily="2" charset="2"/>
              <a:buNone/>
            </a:pPr>
            <a:r>
              <a:rPr lang="zh-CN" altLang="en-US" b="1" dirty="0">
                <a:cs typeface="Times New Roman" panose="02020603050405020304" pitchFamily="18" charset="0"/>
              </a:rPr>
              <a:t>           </a:t>
            </a:r>
            <a:r>
              <a:rPr lang="en-US" altLang="zh-CN" b="1" dirty="0">
                <a:cs typeface="Times New Roman" panose="02020603050405020304" pitchFamily="18" charset="0"/>
              </a:rPr>
              <a:t>A={0</a:t>
            </a:r>
            <a:r>
              <a:rPr lang="zh-CN" altLang="en-US" b="1" dirty="0">
                <a:cs typeface="Times New Roman" panose="02020603050405020304" pitchFamily="18" charset="0"/>
              </a:rPr>
              <a:t>，</a:t>
            </a:r>
            <a:r>
              <a:rPr lang="en-US" altLang="zh-CN" b="1" dirty="0">
                <a:cs typeface="Times New Roman" panose="02020603050405020304" pitchFamily="18" charset="0"/>
              </a:rPr>
              <a:t>1</a:t>
            </a:r>
            <a:r>
              <a:rPr lang="zh-CN" altLang="en-US" b="1" dirty="0">
                <a:cs typeface="Times New Roman" panose="02020603050405020304" pitchFamily="18" charset="0"/>
              </a:rPr>
              <a:t>，</a:t>
            </a:r>
            <a:r>
              <a:rPr lang="en-US" altLang="zh-CN" b="1" dirty="0">
                <a:cs typeface="Times New Roman" panose="02020603050405020304" pitchFamily="18" charset="0"/>
              </a:rPr>
              <a:t>2</a:t>
            </a:r>
            <a:r>
              <a:rPr lang="zh-CN" altLang="en-US" b="1" dirty="0">
                <a:cs typeface="Times New Roman" panose="02020603050405020304" pitchFamily="18" charset="0"/>
              </a:rPr>
              <a:t>，</a:t>
            </a:r>
            <a:r>
              <a:rPr lang="en-US" altLang="zh-CN" b="1" dirty="0">
                <a:cs typeface="Times New Roman" panose="02020603050405020304" pitchFamily="18" charset="0"/>
              </a:rPr>
              <a:t>3</a:t>
            </a:r>
            <a:r>
              <a:rPr lang="zh-CN" altLang="en-US" b="1" dirty="0">
                <a:cs typeface="Times New Roman" panose="02020603050405020304" pitchFamily="18" charset="0"/>
              </a:rPr>
              <a:t>，</a:t>
            </a:r>
            <a:r>
              <a:rPr lang="en-US" altLang="zh-CN" b="1" dirty="0">
                <a:cs typeface="Times New Roman" panose="02020603050405020304" pitchFamily="18" charset="0"/>
              </a:rPr>
              <a:t>4}</a:t>
            </a:r>
          </a:p>
          <a:p>
            <a:pPr eaLnBrk="1" hangingPunct="1">
              <a:buFont typeface="Wingdings" pitchFamily="2" charset="2"/>
              <a:buNone/>
            </a:pPr>
            <a:r>
              <a:rPr lang="zh-CN" altLang="en-US" sz="2800" b="1" dirty="0">
                <a:cs typeface="Times New Roman" panose="02020603050405020304" pitchFamily="18" charset="0"/>
              </a:rPr>
              <a:t>（</a:t>
            </a:r>
            <a:r>
              <a:rPr lang="en-US" altLang="zh-CN" sz="2800" b="1" dirty="0">
                <a:cs typeface="Times New Roman" panose="02020603050405020304" pitchFamily="18" charset="0"/>
              </a:rPr>
              <a:t>2</a:t>
            </a:r>
            <a:r>
              <a:rPr lang="zh-CN" altLang="en-US" sz="2800" b="1" dirty="0">
                <a:cs typeface="Times New Roman" panose="02020603050405020304" pitchFamily="18" charset="0"/>
              </a:rPr>
              <a:t>）描述法</a:t>
            </a:r>
          </a:p>
          <a:p>
            <a:pPr eaLnBrk="1" hangingPunct="1">
              <a:buFont typeface="Wingdings" pitchFamily="2" charset="2"/>
              <a:buNone/>
            </a:pPr>
            <a:r>
              <a:rPr lang="zh-CN" altLang="en-US" b="1" dirty="0">
                <a:cs typeface="Times New Roman" panose="02020603050405020304" pitchFamily="18" charset="0"/>
              </a:rPr>
              <a:t>           </a:t>
            </a:r>
            <a:r>
              <a:rPr lang="en-US" altLang="zh-CN" b="1" dirty="0">
                <a:cs typeface="Times New Roman" panose="02020603050405020304" pitchFamily="18" charset="0"/>
              </a:rPr>
              <a:t>A={u | u&lt;5, u </a:t>
            </a:r>
            <a:r>
              <a:rPr lang="zh-CN" altLang="en-US" b="1" dirty="0">
                <a:cs typeface="Times New Roman" panose="02020603050405020304" pitchFamily="18" charset="0"/>
              </a:rPr>
              <a:t>为自然数</a:t>
            </a:r>
            <a:r>
              <a:rPr lang="en-US" altLang="zh-CN" b="1" dirty="0">
                <a:cs typeface="Times New Roman" panose="02020603050405020304" pitchFamily="18" charset="0"/>
              </a:rPr>
              <a:t>}</a:t>
            </a:r>
          </a:p>
          <a:p>
            <a:pPr eaLnBrk="1" hangingPunct="1">
              <a:buFont typeface="Wingdings" pitchFamily="2" charset="2"/>
              <a:buNone/>
            </a:pPr>
            <a:r>
              <a:rPr lang="zh-CN" altLang="en-US" sz="2800" b="1" dirty="0">
                <a:cs typeface="Times New Roman" panose="02020603050405020304" pitchFamily="18" charset="0"/>
              </a:rPr>
              <a:t>（</a:t>
            </a:r>
            <a:r>
              <a:rPr lang="en-US" altLang="zh-CN" sz="2800" b="1" dirty="0">
                <a:cs typeface="Times New Roman" panose="02020603050405020304" pitchFamily="18" charset="0"/>
              </a:rPr>
              <a:t>3</a:t>
            </a:r>
            <a:r>
              <a:rPr lang="zh-CN" altLang="en-US" sz="2800" b="1" dirty="0">
                <a:cs typeface="Times New Roman" panose="02020603050405020304" pitchFamily="18" charset="0"/>
              </a:rPr>
              <a:t>）</a:t>
            </a:r>
            <a:r>
              <a:rPr lang="zh-CN" altLang="en-US" sz="2800" b="1" dirty="0">
                <a:solidFill>
                  <a:srgbClr val="FF0000"/>
                </a:solidFill>
                <a:cs typeface="Times New Roman" panose="02020603050405020304" pitchFamily="18" charset="0"/>
              </a:rPr>
              <a:t>特征函数法</a:t>
            </a:r>
          </a:p>
          <a:p>
            <a:pPr eaLnBrk="1" hangingPunct="1">
              <a:buFont typeface="Wingdings" pitchFamily="2" charset="2"/>
              <a:buNone/>
            </a:pPr>
            <a:r>
              <a:rPr lang="zh-CN" altLang="en-US" b="1" dirty="0">
                <a:cs typeface="Times New Roman" panose="02020603050405020304" pitchFamily="18" charset="0"/>
              </a:rPr>
              <a:t>           </a:t>
            </a:r>
            <a:r>
              <a:rPr lang="en-US" altLang="zh-CN" b="1" dirty="0">
                <a:cs typeface="Times New Roman" panose="02020603050405020304" pitchFamily="18" charset="0"/>
              </a:rPr>
              <a:t>C</a:t>
            </a:r>
            <a:r>
              <a:rPr lang="en-US" altLang="zh-CN" b="1" baseline="-25000" dirty="0">
                <a:cs typeface="Times New Roman" panose="02020603050405020304" pitchFamily="18" charset="0"/>
              </a:rPr>
              <a:t>A</a:t>
            </a:r>
            <a:r>
              <a:rPr lang="zh-CN" altLang="en-US" b="1" dirty="0">
                <a:cs typeface="Times New Roman" panose="02020603050405020304" pitchFamily="18" charset="0"/>
              </a:rPr>
              <a:t>： </a:t>
            </a:r>
            <a:r>
              <a:rPr lang="en-US" altLang="zh-CN" b="1" dirty="0">
                <a:cs typeface="Times New Roman" panose="02020603050405020304" pitchFamily="18" charset="0"/>
              </a:rPr>
              <a:t>U→{0</a:t>
            </a:r>
            <a:r>
              <a:rPr lang="zh-CN" altLang="en-US" b="1" dirty="0">
                <a:cs typeface="Times New Roman" panose="02020603050405020304" pitchFamily="18" charset="0"/>
              </a:rPr>
              <a:t>，</a:t>
            </a:r>
            <a:r>
              <a:rPr lang="en-US" altLang="zh-CN" b="1" dirty="0">
                <a:cs typeface="Times New Roman" panose="02020603050405020304" pitchFamily="18" charset="0"/>
              </a:rPr>
              <a:t>1}</a:t>
            </a:r>
          </a:p>
          <a:p>
            <a:pPr eaLnBrk="1" hangingPunct="1">
              <a:buFont typeface="Wingdings" pitchFamily="2" charset="2"/>
              <a:buNone/>
            </a:pPr>
            <a:r>
              <a:rPr lang="en-US" altLang="zh-CN" b="1" dirty="0">
                <a:solidFill>
                  <a:srgbClr val="CC00FF"/>
                </a:solidFill>
                <a:cs typeface="Times New Roman" panose="02020603050405020304" pitchFamily="18" charset="0"/>
              </a:rPr>
              <a:t>                 u →C</a:t>
            </a:r>
            <a:r>
              <a:rPr lang="en-US" altLang="zh-CN" b="1" baseline="-25000" dirty="0">
                <a:solidFill>
                  <a:srgbClr val="CC00FF"/>
                </a:solidFill>
                <a:cs typeface="Times New Roman" panose="02020603050405020304" pitchFamily="18" charset="0"/>
              </a:rPr>
              <a:t>A</a:t>
            </a:r>
            <a:r>
              <a:rPr lang="en-US" altLang="zh-CN" b="1" dirty="0">
                <a:solidFill>
                  <a:srgbClr val="CC00FF"/>
                </a:solidFill>
                <a:cs typeface="Times New Roman" panose="02020603050405020304" pitchFamily="18" charset="0"/>
              </a:rPr>
              <a:t>(u)</a:t>
            </a:r>
          </a:p>
          <a:p>
            <a:pPr eaLnBrk="1" hangingPunct="1">
              <a:buFont typeface="Wingdings" pitchFamily="2" charset="2"/>
              <a:buNone/>
            </a:pPr>
            <a:endParaRPr lang="en-US" altLang="zh-CN" sz="1200" b="1" dirty="0">
              <a:cs typeface="Times New Roman" panose="02020603050405020304" pitchFamily="18" charset="0"/>
            </a:endParaRPr>
          </a:p>
          <a:p>
            <a:pPr eaLnBrk="1" hangingPunct="1">
              <a:buFont typeface="Wingdings" pitchFamily="2" charset="2"/>
              <a:buNone/>
            </a:pPr>
            <a:r>
              <a:rPr lang="zh-CN" altLang="en-US" sz="2800" b="1" dirty="0">
                <a:cs typeface="Times New Roman" panose="02020603050405020304" pitchFamily="18" charset="0"/>
              </a:rPr>
              <a:t>             </a:t>
            </a:r>
            <a:endParaRPr lang="en-US" altLang="zh-CN" sz="2800" b="1" dirty="0">
              <a:solidFill>
                <a:srgbClr val="CC00FF"/>
              </a:solidFill>
              <a:cs typeface="Times New Roman" panose="02020603050405020304" pitchFamily="18" charset="0"/>
            </a:endParaRPr>
          </a:p>
        </p:txBody>
      </p:sp>
      <p:graphicFrame>
        <p:nvGraphicFramePr>
          <p:cNvPr id="21508" name="Object 4"/>
          <p:cNvGraphicFramePr>
            <a:graphicFrameLocks noGrp="1" noChangeAspect="1"/>
          </p:cNvGraphicFramePr>
          <p:nvPr>
            <p:ph sz="half" idx="2"/>
            <p:extLst>
              <p:ext uri="{D42A27DB-BD31-4B8C-83A1-F6EECF244321}">
                <p14:modId xmlns:p14="http://schemas.microsoft.com/office/powerpoint/2010/main" val="3202491557"/>
              </p:ext>
            </p:extLst>
          </p:nvPr>
        </p:nvGraphicFramePr>
        <p:xfrm>
          <a:off x="2958140" y="5752109"/>
          <a:ext cx="6896721" cy="1243013"/>
        </p:xfrm>
        <a:graphic>
          <a:graphicData uri="http://schemas.openxmlformats.org/presentationml/2006/ole">
            <mc:AlternateContent xmlns:mc="http://schemas.openxmlformats.org/markup-compatibility/2006">
              <mc:Choice xmlns:v="urn:schemas-microsoft-com:vml" Requires="v">
                <p:oleObj name="Equation" r:id="rId2" imgW="2679480" imgH="482400" progId="Equation.DSMT4">
                  <p:embed/>
                </p:oleObj>
              </mc:Choice>
              <mc:Fallback>
                <p:oleObj name="Equation" r:id="rId2" imgW="2679480" imgH="482400" progId="Equation.DSMT4">
                  <p:embed/>
                  <p:pic>
                    <p:nvPicPr>
                      <p:cNvPr id="21508" name="Object 4"/>
                      <p:cNvPicPr>
                        <a:picLocks noChangeAspect="1" noChangeArrowheads="1"/>
                      </p:cNvPicPr>
                      <p:nvPr/>
                    </p:nvPicPr>
                    <p:blipFill>
                      <a:blip r:embed="rId3"/>
                      <a:srcRect/>
                      <a:stretch>
                        <a:fillRect/>
                      </a:stretch>
                    </p:blipFill>
                    <p:spPr bwMode="auto">
                      <a:xfrm>
                        <a:off x="2958140" y="5752109"/>
                        <a:ext cx="6896721" cy="1243013"/>
                      </a:xfrm>
                      <a:prstGeom prst="rect">
                        <a:avLst/>
                      </a:prstGeom>
                      <a:noFill/>
                      <a:ln>
                        <a:noFill/>
                      </a:ln>
                      <a:effectLst/>
                    </p:spPr>
                  </p:pic>
                </p:oleObj>
              </mc:Fallback>
            </mc:AlternateContent>
          </a:graphicData>
        </a:graphic>
      </p:graphicFrame>
      <p:grpSp>
        <p:nvGrpSpPr>
          <p:cNvPr id="6" name="组合 5"/>
          <p:cNvGrpSpPr/>
          <p:nvPr/>
        </p:nvGrpSpPr>
        <p:grpSpPr>
          <a:xfrm>
            <a:off x="8256240" y="1628800"/>
            <a:ext cx="3168352" cy="1800200"/>
            <a:chOff x="5652120" y="3501008"/>
            <a:chExt cx="3168352" cy="1800200"/>
          </a:xfrm>
        </p:grpSpPr>
        <p:sp>
          <p:nvSpPr>
            <p:cNvPr id="2" name="矩形 1"/>
            <p:cNvSpPr/>
            <p:nvPr/>
          </p:nvSpPr>
          <p:spPr>
            <a:xfrm>
              <a:off x="5652120" y="3501008"/>
              <a:ext cx="3168352" cy="1800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椭圆 2"/>
            <p:cNvSpPr/>
            <p:nvPr/>
          </p:nvSpPr>
          <p:spPr>
            <a:xfrm>
              <a:off x="6228184" y="3861048"/>
              <a:ext cx="1296144" cy="1296144"/>
            </a:xfrm>
            <a:prstGeom prst="ellipse">
              <a:avLst/>
            </a:prstGeom>
            <a:solidFill>
              <a:srgbClr val="FFFF9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TextBox 3"/>
            <p:cNvSpPr txBox="1"/>
            <p:nvPr/>
          </p:nvSpPr>
          <p:spPr>
            <a:xfrm>
              <a:off x="6732240" y="4149080"/>
              <a:ext cx="360040" cy="461665"/>
            </a:xfrm>
            <a:prstGeom prst="rect">
              <a:avLst/>
            </a:prstGeom>
            <a:noFill/>
          </p:spPr>
          <p:txBody>
            <a:bodyPr wrap="square" rtlCol="0">
              <a:spAutoFit/>
            </a:bodyPr>
            <a:lstStyle/>
            <a:p>
              <a:r>
                <a:rPr lang="en-US" altLang="zh-CN" sz="2400" b="1" dirty="0">
                  <a:solidFill>
                    <a:srgbClr val="FF0000"/>
                  </a:solidFill>
                </a:rPr>
                <a:t>A</a:t>
              </a:r>
              <a:endParaRPr lang="zh-CN" altLang="en-US" sz="2400" b="1" dirty="0">
                <a:solidFill>
                  <a:srgbClr val="FF0000"/>
                </a:solidFill>
              </a:endParaRPr>
            </a:p>
          </p:txBody>
        </p:sp>
        <p:sp>
          <p:nvSpPr>
            <p:cNvPr id="5" name="TextBox 4"/>
            <p:cNvSpPr txBox="1"/>
            <p:nvPr/>
          </p:nvSpPr>
          <p:spPr>
            <a:xfrm>
              <a:off x="8316416" y="4839543"/>
              <a:ext cx="360040" cy="461665"/>
            </a:xfrm>
            <a:prstGeom prst="rect">
              <a:avLst/>
            </a:prstGeom>
            <a:noFill/>
          </p:spPr>
          <p:txBody>
            <a:bodyPr wrap="square" rtlCol="0">
              <a:spAutoFit/>
            </a:bodyPr>
            <a:lstStyle/>
            <a:p>
              <a:r>
                <a:rPr lang="en-US" altLang="zh-CN" sz="2400" b="1" dirty="0"/>
                <a:t>U</a:t>
              </a:r>
              <a:endParaRPr lang="zh-CN" altLang="en-US" sz="2400" b="1" dirty="0"/>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21507">
                                            <p:txEl>
                                              <p:pRg st="2" end="2"/>
                                            </p:txEl>
                                          </p:spTgt>
                                        </p:tgtEl>
                                        <p:attrNameLst>
                                          <p:attrName>style.visibility</p:attrName>
                                        </p:attrNameLst>
                                      </p:cBhvr>
                                      <p:to>
                                        <p:strVal val="visible"/>
                                      </p:to>
                                    </p:set>
                                    <p:animEffect transition="in" filter="blinds(horizontal)">
                                      <p:cBhvr>
                                        <p:cTn id="7" dur="500"/>
                                        <p:tgtEl>
                                          <p:spTgt spid="21507">
                                            <p:txEl>
                                              <p:pRg st="2" end="2"/>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21507">
                                            <p:txEl>
                                              <p:pRg st="3" end="3"/>
                                            </p:txEl>
                                          </p:spTgt>
                                        </p:tgtEl>
                                        <p:attrNameLst>
                                          <p:attrName>style.visibility</p:attrName>
                                        </p:attrNameLst>
                                      </p:cBhvr>
                                      <p:to>
                                        <p:strVal val="visible"/>
                                      </p:to>
                                    </p:set>
                                    <p:animEffect transition="in" filter="blinds(horizontal)">
                                      <p:cBhvr>
                                        <p:cTn id="12" dur="500"/>
                                        <p:tgtEl>
                                          <p:spTgt spid="21507">
                                            <p:txEl>
                                              <p:pRg st="3" end="3"/>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21507">
                                            <p:txEl>
                                              <p:pRg st="4" end="4"/>
                                            </p:txEl>
                                          </p:spTgt>
                                        </p:tgtEl>
                                        <p:attrNameLst>
                                          <p:attrName>style.visibility</p:attrName>
                                        </p:attrNameLst>
                                      </p:cBhvr>
                                      <p:to>
                                        <p:strVal val="visible"/>
                                      </p:to>
                                    </p:set>
                                    <p:animEffect transition="in" filter="blinds(horizontal)">
                                      <p:cBhvr>
                                        <p:cTn id="17" dur="500"/>
                                        <p:tgtEl>
                                          <p:spTgt spid="21507">
                                            <p:txEl>
                                              <p:pRg st="4" end="4"/>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21507">
                                            <p:txEl>
                                              <p:pRg st="5" end="5"/>
                                            </p:txEl>
                                          </p:spTgt>
                                        </p:tgtEl>
                                        <p:attrNameLst>
                                          <p:attrName>style.visibility</p:attrName>
                                        </p:attrNameLst>
                                      </p:cBhvr>
                                      <p:to>
                                        <p:strVal val="visible"/>
                                      </p:to>
                                    </p:set>
                                    <p:animEffect transition="in" filter="blinds(horizontal)">
                                      <p:cBhvr>
                                        <p:cTn id="22" dur="500"/>
                                        <p:tgtEl>
                                          <p:spTgt spid="21507">
                                            <p:txEl>
                                              <p:pRg st="5" end="5"/>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21507">
                                            <p:txEl>
                                              <p:pRg st="6" end="6"/>
                                            </p:txEl>
                                          </p:spTgt>
                                        </p:tgtEl>
                                        <p:attrNameLst>
                                          <p:attrName>style.visibility</p:attrName>
                                        </p:attrNameLst>
                                      </p:cBhvr>
                                      <p:to>
                                        <p:strVal val="visible"/>
                                      </p:to>
                                    </p:set>
                                    <p:animEffect transition="in" filter="blinds(horizontal)">
                                      <p:cBhvr>
                                        <p:cTn id="27" dur="500"/>
                                        <p:tgtEl>
                                          <p:spTgt spid="21507">
                                            <p:txEl>
                                              <p:pRg st="6" end="6"/>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nodeType="clickEffect">
                                  <p:stCondLst>
                                    <p:cond delay="0"/>
                                  </p:stCondLst>
                                  <p:childTnLst>
                                    <p:set>
                                      <p:cBhvr>
                                        <p:cTn id="31" dur="1" fill="hold">
                                          <p:stCondLst>
                                            <p:cond delay="0"/>
                                          </p:stCondLst>
                                        </p:cTn>
                                        <p:tgtEl>
                                          <p:spTgt spid="21507">
                                            <p:txEl>
                                              <p:pRg st="7" end="7"/>
                                            </p:txEl>
                                          </p:spTgt>
                                        </p:tgtEl>
                                        <p:attrNameLst>
                                          <p:attrName>style.visibility</p:attrName>
                                        </p:attrNameLst>
                                      </p:cBhvr>
                                      <p:to>
                                        <p:strVal val="visible"/>
                                      </p:to>
                                    </p:set>
                                    <p:animEffect transition="in" filter="blinds(horizontal)">
                                      <p:cBhvr>
                                        <p:cTn id="32" dur="500"/>
                                        <p:tgtEl>
                                          <p:spTgt spid="21507">
                                            <p:txEl>
                                              <p:pRg st="7" end="7"/>
                                            </p:txEl>
                                          </p:spTgt>
                                        </p:tgtEl>
                                      </p:cBhvr>
                                    </p:animEffect>
                                  </p:childTnLst>
                                </p:cTn>
                              </p:par>
                            </p:childTnLst>
                          </p:cTn>
                        </p:par>
                        <p:par>
                          <p:cTn id="33" fill="hold" nodeType="afterGroup">
                            <p:stCondLst>
                              <p:cond delay="500"/>
                            </p:stCondLst>
                            <p:childTnLst>
                              <p:par>
                                <p:cTn id="34" presetID="3" presetClass="entr" presetSubtype="10" fill="hold" nodeType="afterEffect">
                                  <p:stCondLst>
                                    <p:cond delay="0"/>
                                  </p:stCondLst>
                                  <p:childTnLst>
                                    <p:set>
                                      <p:cBhvr>
                                        <p:cTn id="35" dur="1" fill="hold">
                                          <p:stCondLst>
                                            <p:cond delay="0"/>
                                          </p:stCondLst>
                                        </p:cTn>
                                        <p:tgtEl>
                                          <p:spTgt spid="21507">
                                            <p:txEl>
                                              <p:pRg st="8" end="8"/>
                                            </p:txEl>
                                          </p:spTgt>
                                        </p:tgtEl>
                                        <p:attrNameLst>
                                          <p:attrName>style.visibility</p:attrName>
                                        </p:attrNameLst>
                                      </p:cBhvr>
                                      <p:to>
                                        <p:strVal val="visible"/>
                                      </p:to>
                                    </p:set>
                                    <p:animEffect transition="in" filter="blinds(horizontal)">
                                      <p:cBhvr>
                                        <p:cTn id="36" dur="500"/>
                                        <p:tgtEl>
                                          <p:spTgt spid="21507">
                                            <p:txEl>
                                              <p:pRg st="8" end="8"/>
                                            </p:txEl>
                                          </p:spTgt>
                                        </p:tgtEl>
                                      </p:cBhvr>
                                    </p:animEffect>
                                  </p:childTnLst>
                                </p:cTn>
                              </p:par>
                            </p:childTnLst>
                          </p:cTn>
                        </p:par>
                        <p:par>
                          <p:cTn id="37" fill="hold" nodeType="afterGroup">
                            <p:stCondLst>
                              <p:cond delay="1000"/>
                            </p:stCondLst>
                            <p:childTnLst>
                              <p:par>
                                <p:cTn id="38" presetID="3" presetClass="entr" presetSubtype="10" fill="hold" nodeType="afterEffect">
                                  <p:stCondLst>
                                    <p:cond delay="0"/>
                                  </p:stCondLst>
                                  <p:childTnLst>
                                    <p:set>
                                      <p:cBhvr>
                                        <p:cTn id="39" dur="1" fill="hold">
                                          <p:stCondLst>
                                            <p:cond delay="0"/>
                                          </p:stCondLst>
                                        </p:cTn>
                                        <p:tgtEl>
                                          <p:spTgt spid="21508"/>
                                        </p:tgtEl>
                                        <p:attrNameLst>
                                          <p:attrName>style.visibility</p:attrName>
                                        </p:attrNameLst>
                                      </p:cBhvr>
                                      <p:to>
                                        <p:strVal val="visible"/>
                                      </p:to>
                                    </p:set>
                                    <p:animEffect transition="in" filter="blinds(horizontal)">
                                      <p:cBhvr>
                                        <p:cTn id="40" dur="500"/>
                                        <p:tgtEl>
                                          <p:spTgt spid="215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a:xfrm>
            <a:off x="1992313" y="260350"/>
            <a:ext cx="8229600" cy="1371600"/>
          </a:xfrm>
        </p:spPr>
        <p:txBody>
          <a:bodyPr/>
          <a:lstStyle/>
          <a:p>
            <a:pPr algn="ctr" eaLnBrk="1" hangingPunct="1"/>
            <a:r>
              <a:rPr lang="zh-CN" altLang="en-US" dirty="0">
                <a:solidFill>
                  <a:srgbClr val="008000"/>
                </a:solidFill>
              </a:rPr>
              <a:t>经典集合</a:t>
            </a:r>
          </a:p>
        </p:txBody>
      </p:sp>
      <p:sp>
        <p:nvSpPr>
          <p:cNvPr id="27652" name="Rectangle 4"/>
          <p:cNvSpPr>
            <a:spLocks noGrp="1" noChangeArrowheads="1"/>
          </p:cNvSpPr>
          <p:nvPr>
            <p:ph idx="1"/>
          </p:nvPr>
        </p:nvSpPr>
        <p:spPr>
          <a:xfrm>
            <a:off x="1585405" y="1631950"/>
            <a:ext cx="8589838" cy="4965700"/>
          </a:xfrm>
          <a:noFill/>
        </p:spPr>
        <p:txBody>
          <a:bodyPr>
            <a:normAutofit/>
          </a:bodyPr>
          <a:lstStyle/>
          <a:p>
            <a:pPr eaLnBrk="1" hangingPunct="1">
              <a:lnSpc>
                <a:spcPct val="120000"/>
              </a:lnSpc>
              <a:buFont typeface="Wingdings" pitchFamily="2" charset="2"/>
              <a:buNone/>
            </a:pPr>
            <a:r>
              <a:rPr kumimoji="1" lang="zh-CN" altLang="en-US" sz="3600" dirty="0">
                <a:solidFill>
                  <a:srgbClr val="FF0000"/>
                </a:solidFill>
              </a:rPr>
              <a:t>各集合间的基本运算和关系：</a:t>
            </a:r>
          </a:p>
          <a:p>
            <a:pPr eaLnBrk="1" hangingPunct="1">
              <a:lnSpc>
                <a:spcPct val="120000"/>
              </a:lnSpc>
            </a:pPr>
            <a:r>
              <a:rPr kumimoji="1" lang="en-US" altLang="zh-CN" sz="3600" b="1" i="1" dirty="0">
                <a:cs typeface="Times New Roman" panose="02020603050405020304" pitchFamily="18" charset="0"/>
              </a:rPr>
              <a:t>A</a:t>
            </a:r>
            <a:r>
              <a:rPr kumimoji="1" lang="en-US" altLang="zh-CN" sz="3600" b="1" dirty="0">
                <a:cs typeface="Times New Roman" panose="02020603050405020304" pitchFamily="18" charset="0"/>
                <a:sym typeface="Symbol" pitchFamily="18" charset="2"/>
              </a:rPr>
              <a:t></a:t>
            </a:r>
            <a:r>
              <a:rPr kumimoji="1" lang="en-US" altLang="zh-CN" sz="3600" b="1" i="1" dirty="0">
                <a:cs typeface="Times New Roman" panose="02020603050405020304" pitchFamily="18" charset="0"/>
                <a:sym typeface="Symbol" pitchFamily="18" charset="2"/>
              </a:rPr>
              <a:t>B </a:t>
            </a:r>
            <a:r>
              <a:rPr kumimoji="1" lang="en-US" altLang="zh-CN" sz="3600" b="1" dirty="0">
                <a:cs typeface="Times New Roman" panose="02020603050405020304" pitchFamily="18" charset="0"/>
                <a:sym typeface="Symbol" pitchFamily="18" charset="2"/>
              </a:rPr>
              <a:t> </a:t>
            </a:r>
            <a:r>
              <a:rPr kumimoji="1" lang="zh-CN" altLang="en-US" sz="3600" b="1" dirty="0">
                <a:cs typeface="Times New Roman" panose="02020603050405020304" pitchFamily="18" charset="0"/>
                <a:sym typeface="Symbol" pitchFamily="18" charset="2"/>
              </a:rPr>
              <a:t>若</a:t>
            </a:r>
            <a:r>
              <a:rPr kumimoji="1" lang="en-US" altLang="zh-CN" sz="3600" b="1" i="1" dirty="0" err="1">
                <a:cs typeface="Times New Roman" panose="02020603050405020304" pitchFamily="18" charset="0"/>
              </a:rPr>
              <a:t>x</a:t>
            </a:r>
            <a:r>
              <a:rPr kumimoji="1" lang="en-US" altLang="zh-CN" sz="3600" b="1" dirty="0" err="1">
                <a:cs typeface="Times New Roman" panose="02020603050405020304" pitchFamily="18" charset="0"/>
                <a:sym typeface="Symbol" pitchFamily="18" charset="2"/>
              </a:rPr>
              <a:t></a:t>
            </a:r>
            <a:r>
              <a:rPr kumimoji="1" lang="en-US" altLang="zh-CN" sz="3600" b="1" i="1" dirty="0" err="1">
                <a:cs typeface="Times New Roman" panose="02020603050405020304" pitchFamily="18" charset="0"/>
              </a:rPr>
              <a:t>A</a:t>
            </a:r>
            <a:r>
              <a:rPr kumimoji="1" lang="zh-CN" altLang="en-US" sz="3600" b="1" dirty="0">
                <a:cs typeface="Times New Roman" panose="02020603050405020304" pitchFamily="18" charset="0"/>
              </a:rPr>
              <a:t>，</a:t>
            </a:r>
            <a:r>
              <a:rPr kumimoji="1" lang="zh-CN" altLang="en-US" sz="3600" b="1" dirty="0">
                <a:cs typeface="Times New Roman" panose="02020603050405020304" pitchFamily="18" charset="0"/>
                <a:sym typeface="Symbol" pitchFamily="18" charset="2"/>
              </a:rPr>
              <a:t>则</a:t>
            </a:r>
            <a:r>
              <a:rPr kumimoji="1" lang="en-US" altLang="zh-CN" sz="3600" b="1" i="1" dirty="0" err="1">
                <a:cs typeface="Times New Roman" panose="02020603050405020304" pitchFamily="18" charset="0"/>
              </a:rPr>
              <a:t>x</a:t>
            </a:r>
            <a:r>
              <a:rPr kumimoji="1" lang="en-US" altLang="zh-CN" sz="3600" b="1" dirty="0" err="1">
                <a:cs typeface="Times New Roman" panose="02020603050405020304" pitchFamily="18" charset="0"/>
                <a:sym typeface="Symbol" pitchFamily="18" charset="2"/>
              </a:rPr>
              <a:t></a:t>
            </a:r>
            <a:r>
              <a:rPr kumimoji="1" lang="en-US" altLang="zh-CN" sz="3600" b="1" i="1" dirty="0" err="1">
                <a:cs typeface="Times New Roman" panose="02020603050405020304" pitchFamily="18" charset="0"/>
              </a:rPr>
              <a:t>B</a:t>
            </a:r>
            <a:r>
              <a:rPr kumimoji="1" lang="zh-CN" altLang="en-US" sz="3600" b="1" dirty="0">
                <a:cs typeface="Times New Roman" panose="02020603050405020304" pitchFamily="18" charset="0"/>
                <a:sym typeface="Symbol" pitchFamily="18" charset="2"/>
              </a:rPr>
              <a:t>；</a:t>
            </a:r>
          </a:p>
          <a:p>
            <a:pPr eaLnBrk="1" hangingPunct="1">
              <a:lnSpc>
                <a:spcPct val="120000"/>
              </a:lnSpc>
            </a:pPr>
            <a:r>
              <a:rPr kumimoji="1" lang="en-US" altLang="zh-CN" sz="3600" b="1" i="1" dirty="0">
                <a:cs typeface="Times New Roman" panose="02020603050405020304" pitchFamily="18" charset="0"/>
                <a:sym typeface="Symbol" pitchFamily="18" charset="2"/>
              </a:rPr>
              <a:t>A </a:t>
            </a:r>
            <a:r>
              <a:rPr kumimoji="1" lang="en-US" altLang="zh-CN" sz="3600" b="1" dirty="0">
                <a:cs typeface="Times New Roman" panose="02020603050405020304" pitchFamily="18" charset="0"/>
                <a:sym typeface="Symbol" pitchFamily="18" charset="2"/>
              </a:rPr>
              <a:t>=</a:t>
            </a:r>
            <a:r>
              <a:rPr kumimoji="1" lang="en-US" altLang="zh-CN" sz="3600" b="1" i="1" dirty="0">
                <a:cs typeface="Times New Roman" panose="02020603050405020304" pitchFamily="18" charset="0"/>
                <a:sym typeface="Symbol" pitchFamily="18" charset="2"/>
              </a:rPr>
              <a:t>B </a:t>
            </a:r>
            <a:r>
              <a:rPr kumimoji="1" lang="en-US" altLang="zh-CN" sz="3600" b="1" dirty="0">
                <a:cs typeface="Times New Roman" panose="02020603050405020304" pitchFamily="18" charset="0"/>
                <a:sym typeface="Symbol" pitchFamily="18" charset="2"/>
              </a:rPr>
              <a:t>  </a:t>
            </a:r>
            <a:r>
              <a:rPr kumimoji="1" lang="en-US" altLang="zh-CN" sz="3600" b="1" i="1" dirty="0">
                <a:cs typeface="Times New Roman" panose="02020603050405020304" pitchFamily="18" charset="0"/>
              </a:rPr>
              <a:t>A</a:t>
            </a:r>
            <a:r>
              <a:rPr kumimoji="1" lang="en-US" altLang="zh-CN" sz="3600" b="1" dirty="0">
                <a:cs typeface="Times New Roman" panose="02020603050405020304" pitchFamily="18" charset="0"/>
                <a:sym typeface="Symbol" pitchFamily="18" charset="2"/>
              </a:rPr>
              <a:t></a:t>
            </a:r>
            <a:r>
              <a:rPr kumimoji="1" lang="en-US" altLang="zh-CN" sz="3600" b="1" i="1" dirty="0">
                <a:cs typeface="Times New Roman" panose="02020603050405020304" pitchFamily="18" charset="0"/>
                <a:sym typeface="Symbol" pitchFamily="18" charset="2"/>
              </a:rPr>
              <a:t>B </a:t>
            </a:r>
            <a:r>
              <a:rPr kumimoji="1" lang="zh-CN" altLang="en-US" sz="3600" b="1" dirty="0">
                <a:cs typeface="Times New Roman" panose="02020603050405020304" pitchFamily="18" charset="0"/>
                <a:sym typeface="Symbol" pitchFamily="18" charset="2"/>
              </a:rPr>
              <a:t>且  </a:t>
            </a:r>
            <a:r>
              <a:rPr kumimoji="1" lang="en-US" altLang="zh-CN" sz="3600" b="1" i="1" dirty="0">
                <a:cs typeface="Times New Roman" panose="02020603050405020304" pitchFamily="18" charset="0"/>
              </a:rPr>
              <a:t>A</a:t>
            </a:r>
            <a:r>
              <a:rPr kumimoji="1" lang="en-US" altLang="zh-CN" sz="3600" b="1" dirty="0">
                <a:cs typeface="Times New Roman" panose="02020603050405020304" pitchFamily="18" charset="0"/>
                <a:sym typeface="Symbol" pitchFamily="18" charset="2"/>
              </a:rPr>
              <a:t></a:t>
            </a:r>
            <a:r>
              <a:rPr kumimoji="1" lang="en-US" altLang="zh-CN" sz="3600" b="1" i="1" dirty="0">
                <a:cs typeface="Times New Roman" panose="02020603050405020304" pitchFamily="18" charset="0"/>
                <a:sym typeface="Symbol" pitchFamily="18" charset="2"/>
              </a:rPr>
              <a:t>B</a:t>
            </a:r>
            <a:r>
              <a:rPr kumimoji="1" lang="en-US" altLang="zh-CN" sz="3600" b="1" dirty="0">
                <a:cs typeface="Times New Roman" panose="02020603050405020304" pitchFamily="18" charset="0"/>
                <a:sym typeface="Symbol" pitchFamily="18" charset="2"/>
              </a:rPr>
              <a:t>.</a:t>
            </a:r>
          </a:p>
          <a:p>
            <a:pPr eaLnBrk="1" hangingPunct="1">
              <a:lnSpc>
                <a:spcPct val="120000"/>
              </a:lnSpc>
            </a:pPr>
            <a:r>
              <a:rPr kumimoji="1" lang="zh-CN" altLang="en-US" sz="3600" b="1" dirty="0">
                <a:cs typeface="Times New Roman" panose="02020603050405020304" pitchFamily="18" charset="0"/>
              </a:rPr>
              <a:t>并集 </a:t>
            </a:r>
            <a:r>
              <a:rPr kumimoji="1" lang="en-US" altLang="zh-CN" sz="3600" b="1" i="1" dirty="0">
                <a:cs typeface="Times New Roman" panose="02020603050405020304" pitchFamily="18" charset="0"/>
              </a:rPr>
              <a:t>A</a:t>
            </a:r>
            <a:r>
              <a:rPr kumimoji="1" lang="en-US" altLang="zh-CN" sz="3600" b="1" dirty="0">
                <a:cs typeface="Times New Roman" panose="02020603050405020304" pitchFamily="18" charset="0"/>
                <a:sym typeface="Symbol"/>
              </a:rPr>
              <a:t></a:t>
            </a:r>
            <a:r>
              <a:rPr kumimoji="1" lang="en-US" altLang="zh-CN" sz="3600" b="1" i="1" dirty="0">
                <a:cs typeface="Times New Roman" panose="02020603050405020304" pitchFamily="18" charset="0"/>
                <a:sym typeface="Symbol" pitchFamily="18" charset="2"/>
              </a:rPr>
              <a:t>B </a:t>
            </a:r>
            <a:r>
              <a:rPr kumimoji="1" lang="en-US" altLang="zh-CN" sz="3600" b="1" dirty="0">
                <a:cs typeface="Times New Roman" panose="02020603050405020304" pitchFamily="18" charset="0"/>
                <a:sym typeface="Symbol" pitchFamily="18" charset="2"/>
              </a:rPr>
              <a:t>= { </a:t>
            </a:r>
            <a:r>
              <a:rPr kumimoji="1" lang="en-US" altLang="zh-CN" sz="3600" b="1" i="1" dirty="0">
                <a:cs typeface="Times New Roman" panose="02020603050405020304" pitchFamily="18" charset="0"/>
              </a:rPr>
              <a:t>x</a:t>
            </a:r>
            <a:r>
              <a:rPr kumimoji="1" lang="en-US" altLang="zh-CN" sz="3600" b="1" dirty="0">
                <a:cs typeface="Times New Roman" panose="02020603050405020304" pitchFamily="18" charset="0"/>
                <a:sym typeface="Symbol" pitchFamily="18" charset="2"/>
              </a:rPr>
              <a:t> | </a:t>
            </a:r>
            <a:r>
              <a:rPr kumimoji="1" lang="en-US" altLang="zh-CN" sz="3600" b="1" i="1" dirty="0" err="1">
                <a:cs typeface="Times New Roman" panose="02020603050405020304" pitchFamily="18" charset="0"/>
              </a:rPr>
              <a:t>x</a:t>
            </a:r>
            <a:r>
              <a:rPr kumimoji="1" lang="en-US" altLang="zh-CN" sz="3600" b="1" dirty="0" err="1">
                <a:cs typeface="Times New Roman" panose="02020603050405020304" pitchFamily="18" charset="0"/>
                <a:sym typeface="Symbol" pitchFamily="18" charset="2"/>
              </a:rPr>
              <a:t></a:t>
            </a:r>
            <a:r>
              <a:rPr kumimoji="1" lang="en-US" altLang="zh-CN" sz="3600" b="1" i="1" dirty="0" err="1">
                <a:cs typeface="Times New Roman" panose="02020603050405020304" pitchFamily="18" charset="0"/>
              </a:rPr>
              <a:t>A</a:t>
            </a:r>
            <a:r>
              <a:rPr kumimoji="1" lang="en-US" altLang="zh-CN" sz="3600" b="1" i="1" dirty="0">
                <a:cs typeface="Times New Roman" panose="02020603050405020304" pitchFamily="18" charset="0"/>
              </a:rPr>
              <a:t> </a:t>
            </a:r>
            <a:r>
              <a:rPr kumimoji="1" lang="zh-CN" altLang="en-US" sz="3600" b="1" dirty="0">
                <a:cs typeface="Times New Roman" panose="02020603050405020304" pitchFamily="18" charset="0"/>
              </a:rPr>
              <a:t>或 </a:t>
            </a:r>
            <a:r>
              <a:rPr kumimoji="1" lang="en-US" altLang="zh-CN" sz="3600" b="1" i="1" dirty="0" err="1">
                <a:cs typeface="Times New Roman" panose="02020603050405020304" pitchFamily="18" charset="0"/>
              </a:rPr>
              <a:t>x</a:t>
            </a:r>
            <a:r>
              <a:rPr kumimoji="1" lang="en-US" altLang="zh-CN" sz="3600" b="1" dirty="0" err="1">
                <a:cs typeface="Times New Roman" panose="02020603050405020304" pitchFamily="18" charset="0"/>
                <a:sym typeface="Symbol" pitchFamily="18" charset="2"/>
              </a:rPr>
              <a:t></a:t>
            </a:r>
            <a:r>
              <a:rPr kumimoji="1" lang="en-US" altLang="zh-CN" sz="3600" b="1" i="1" dirty="0" err="1">
                <a:cs typeface="Times New Roman" panose="02020603050405020304" pitchFamily="18" charset="0"/>
              </a:rPr>
              <a:t>B</a:t>
            </a:r>
            <a:r>
              <a:rPr kumimoji="1" lang="en-US" altLang="zh-CN" sz="3600" b="1" dirty="0">
                <a:cs typeface="Times New Roman" panose="02020603050405020304" pitchFamily="18" charset="0"/>
                <a:sym typeface="Symbol" pitchFamily="18" charset="2"/>
              </a:rPr>
              <a:t> }</a:t>
            </a:r>
            <a:r>
              <a:rPr kumimoji="1" lang="zh-CN" altLang="en-US" sz="3600" b="1" dirty="0">
                <a:cs typeface="Times New Roman" panose="02020603050405020304" pitchFamily="18" charset="0"/>
                <a:sym typeface="Symbol" pitchFamily="18" charset="2"/>
              </a:rPr>
              <a:t>；</a:t>
            </a:r>
          </a:p>
          <a:p>
            <a:pPr eaLnBrk="1" hangingPunct="1">
              <a:lnSpc>
                <a:spcPct val="120000"/>
              </a:lnSpc>
            </a:pPr>
            <a:r>
              <a:rPr kumimoji="1" lang="zh-CN" altLang="en-US" sz="3600" b="1" dirty="0">
                <a:cs typeface="Times New Roman" panose="02020603050405020304" pitchFamily="18" charset="0"/>
              </a:rPr>
              <a:t>交集 </a:t>
            </a:r>
            <a:r>
              <a:rPr kumimoji="1" lang="en-US" altLang="zh-CN" sz="3600" b="1" i="1" dirty="0">
                <a:cs typeface="Times New Roman" panose="02020603050405020304" pitchFamily="18" charset="0"/>
              </a:rPr>
              <a:t>A</a:t>
            </a:r>
            <a:r>
              <a:rPr kumimoji="1" lang="en-US" altLang="zh-CN" sz="3600" b="1" dirty="0">
                <a:cs typeface="Times New Roman" panose="02020603050405020304" pitchFamily="18" charset="0"/>
                <a:sym typeface="Symbol"/>
              </a:rPr>
              <a:t></a:t>
            </a:r>
            <a:r>
              <a:rPr kumimoji="1" lang="en-US" altLang="zh-CN" sz="3600" b="1" i="1" dirty="0">
                <a:cs typeface="Times New Roman" panose="02020603050405020304" pitchFamily="18" charset="0"/>
                <a:sym typeface="Symbol" pitchFamily="18" charset="2"/>
              </a:rPr>
              <a:t>B </a:t>
            </a:r>
            <a:r>
              <a:rPr kumimoji="1" lang="en-US" altLang="zh-CN" sz="3600" b="1" dirty="0">
                <a:cs typeface="Times New Roman" panose="02020603050405020304" pitchFamily="18" charset="0"/>
                <a:sym typeface="Symbol" pitchFamily="18" charset="2"/>
              </a:rPr>
              <a:t>= { </a:t>
            </a:r>
            <a:r>
              <a:rPr kumimoji="1" lang="en-US" altLang="zh-CN" sz="3600" b="1" i="1" dirty="0">
                <a:cs typeface="Times New Roman" panose="02020603050405020304" pitchFamily="18" charset="0"/>
              </a:rPr>
              <a:t>x</a:t>
            </a:r>
            <a:r>
              <a:rPr kumimoji="1" lang="en-US" altLang="zh-CN" sz="3600" b="1" dirty="0">
                <a:cs typeface="Times New Roman" panose="02020603050405020304" pitchFamily="18" charset="0"/>
                <a:sym typeface="Symbol" pitchFamily="18" charset="2"/>
              </a:rPr>
              <a:t> | </a:t>
            </a:r>
            <a:r>
              <a:rPr kumimoji="1" lang="en-US" altLang="zh-CN" sz="3600" b="1" i="1" dirty="0" err="1">
                <a:cs typeface="Times New Roman" panose="02020603050405020304" pitchFamily="18" charset="0"/>
              </a:rPr>
              <a:t>x</a:t>
            </a:r>
            <a:r>
              <a:rPr kumimoji="1" lang="en-US" altLang="zh-CN" sz="3600" b="1" dirty="0" err="1">
                <a:cs typeface="Times New Roman" panose="02020603050405020304" pitchFamily="18" charset="0"/>
                <a:sym typeface="Symbol" pitchFamily="18" charset="2"/>
              </a:rPr>
              <a:t></a:t>
            </a:r>
            <a:r>
              <a:rPr kumimoji="1" lang="en-US" altLang="zh-CN" sz="3600" b="1" i="1" dirty="0" err="1">
                <a:cs typeface="Times New Roman" panose="02020603050405020304" pitchFamily="18" charset="0"/>
              </a:rPr>
              <a:t>A</a:t>
            </a:r>
            <a:r>
              <a:rPr kumimoji="1" lang="en-US" altLang="zh-CN" sz="3600" b="1" i="1" dirty="0">
                <a:cs typeface="Times New Roman" panose="02020603050405020304" pitchFamily="18" charset="0"/>
              </a:rPr>
              <a:t> </a:t>
            </a:r>
            <a:r>
              <a:rPr kumimoji="1" lang="zh-CN" altLang="en-US" sz="3600" b="1" dirty="0">
                <a:cs typeface="Times New Roman" panose="02020603050405020304" pitchFamily="18" charset="0"/>
              </a:rPr>
              <a:t>且 </a:t>
            </a:r>
            <a:r>
              <a:rPr kumimoji="1" lang="en-US" altLang="zh-CN" sz="3600" b="1" i="1" dirty="0" err="1">
                <a:cs typeface="Times New Roman" panose="02020603050405020304" pitchFamily="18" charset="0"/>
              </a:rPr>
              <a:t>x</a:t>
            </a:r>
            <a:r>
              <a:rPr kumimoji="1" lang="en-US" altLang="zh-CN" sz="3600" b="1" dirty="0" err="1">
                <a:cs typeface="Times New Roman" panose="02020603050405020304" pitchFamily="18" charset="0"/>
                <a:sym typeface="Symbol" pitchFamily="18" charset="2"/>
              </a:rPr>
              <a:t></a:t>
            </a:r>
            <a:r>
              <a:rPr kumimoji="1" lang="en-US" altLang="zh-CN" sz="3600" b="1" i="1" dirty="0" err="1">
                <a:cs typeface="Times New Roman" panose="02020603050405020304" pitchFamily="18" charset="0"/>
              </a:rPr>
              <a:t>B</a:t>
            </a:r>
            <a:r>
              <a:rPr kumimoji="1" lang="en-US" altLang="zh-CN" sz="3600" b="1" dirty="0">
                <a:cs typeface="Times New Roman" panose="02020603050405020304" pitchFamily="18" charset="0"/>
                <a:sym typeface="Symbol" pitchFamily="18" charset="2"/>
              </a:rPr>
              <a:t> }</a:t>
            </a:r>
            <a:r>
              <a:rPr kumimoji="1" lang="zh-CN" altLang="en-US" sz="3600" b="1" dirty="0">
                <a:cs typeface="Times New Roman" panose="02020603050405020304" pitchFamily="18" charset="0"/>
                <a:sym typeface="Symbol" pitchFamily="18" charset="2"/>
              </a:rPr>
              <a:t>；</a:t>
            </a:r>
          </a:p>
          <a:p>
            <a:pPr eaLnBrk="1" hangingPunct="1">
              <a:lnSpc>
                <a:spcPct val="120000"/>
              </a:lnSpc>
            </a:pPr>
            <a:r>
              <a:rPr kumimoji="1" lang="zh-CN" altLang="en-US" sz="3600" b="1" dirty="0">
                <a:cs typeface="Times New Roman" panose="02020603050405020304" pitchFamily="18" charset="0"/>
              </a:rPr>
              <a:t>补集 </a:t>
            </a:r>
            <a:r>
              <a:rPr kumimoji="1" lang="en-US" altLang="zh-CN" sz="3600" b="1" i="1" dirty="0">
                <a:cs typeface="Times New Roman" panose="02020603050405020304" pitchFamily="18" charset="0"/>
              </a:rPr>
              <a:t>A</a:t>
            </a:r>
            <a:r>
              <a:rPr kumimoji="1" lang="en-US" altLang="zh-CN" sz="3600" b="1" i="1" baseline="30000" dirty="0">
                <a:cs typeface="Times New Roman" panose="02020603050405020304" pitchFamily="18" charset="0"/>
              </a:rPr>
              <a:t>c</a:t>
            </a:r>
            <a:r>
              <a:rPr kumimoji="1" lang="en-US" altLang="zh-CN" sz="3600" b="1" i="1" dirty="0">
                <a:cs typeface="Times New Roman" panose="02020603050405020304" pitchFamily="18" charset="0"/>
              </a:rPr>
              <a:t> </a:t>
            </a:r>
            <a:r>
              <a:rPr kumimoji="1" lang="en-US" altLang="zh-CN" sz="3600" b="1" dirty="0">
                <a:cs typeface="Times New Roman" panose="02020603050405020304" pitchFamily="18" charset="0"/>
                <a:sym typeface="Symbol" pitchFamily="18" charset="2"/>
              </a:rPr>
              <a:t>= { </a:t>
            </a:r>
            <a:r>
              <a:rPr kumimoji="1" lang="en-US" altLang="zh-CN" sz="3600" b="1" i="1" dirty="0">
                <a:cs typeface="Times New Roman" panose="02020603050405020304" pitchFamily="18" charset="0"/>
              </a:rPr>
              <a:t>x</a:t>
            </a:r>
            <a:r>
              <a:rPr kumimoji="1" lang="en-US" altLang="zh-CN" sz="3600" b="1" dirty="0">
                <a:cs typeface="Times New Roman" panose="02020603050405020304" pitchFamily="18" charset="0"/>
                <a:sym typeface="Symbol" pitchFamily="18" charset="2"/>
              </a:rPr>
              <a:t> | </a:t>
            </a:r>
            <a:r>
              <a:rPr kumimoji="1" lang="en-US" altLang="zh-CN" sz="3600" b="1" i="1" dirty="0" err="1">
                <a:cs typeface="Times New Roman" panose="02020603050405020304" pitchFamily="18" charset="0"/>
              </a:rPr>
              <a:t>x</a:t>
            </a:r>
            <a:r>
              <a:rPr kumimoji="1" lang="en-US" altLang="zh-CN" sz="3600" b="1" dirty="0" err="1">
                <a:cs typeface="Times New Roman" panose="02020603050405020304" pitchFamily="18" charset="0"/>
                <a:sym typeface="Symbol" pitchFamily="18" charset="2"/>
              </a:rPr>
              <a:t></a:t>
            </a:r>
            <a:r>
              <a:rPr kumimoji="1" lang="en-US" altLang="zh-CN" sz="3600" b="1" i="1" dirty="0" err="1">
                <a:cs typeface="Times New Roman" panose="02020603050405020304" pitchFamily="18" charset="0"/>
              </a:rPr>
              <a:t>A</a:t>
            </a:r>
            <a:r>
              <a:rPr kumimoji="1" lang="en-US" altLang="zh-CN" sz="3600" b="1" i="1" dirty="0">
                <a:cs typeface="Times New Roman" panose="02020603050405020304" pitchFamily="18" charset="0"/>
              </a:rPr>
              <a:t> </a:t>
            </a:r>
            <a:r>
              <a:rPr kumimoji="1" lang="en-US" altLang="zh-CN" sz="3600" b="1" dirty="0">
                <a:cs typeface="Times New Roman" panose="02020603050405020304" pitchFamily="18" charset="0"/>
                <a:sym typeface="Symbol" pitchFamily="18" charset="2"/>
              </a:rPr>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7652">
                                            <p:txEl>
                                              <p:pRg st="0" end="0"/>
                                            </p:txEl>
                                          </p:spTgt>
                                        </p:tgtEl>
                                        <p:attrNameLst>
                                          <p:attrName>style.visibility</p:attrName>
                                        </p:attrNameLst>
                                      </p:cBhvr>
                                      <p:to>
                                        <p:strVal val="visible"/>
                                      </p:to>
                                    </p:set>
                                    <p:animEffect transition="in" filter="wipe(left)">
                                      <p:cBhvr>
                                        <p:cTn id="7" dur="500"/>
                                        <p:tgtEl>
                                          <p:spTgt spid="27652">
                                            <p:txEl>
                                              <p:pRg st="0" end="0"/>
                                            </p:txEl>
                                          </p:spTgt>
                                        </p:tgtEl>
                                      </p:cBhvr>
                                    </p:animEffect>
                                  </p:childTnLst>
                                  <p:subTnLst>
                                    <p:audio>
                                      <p:cMediaNode>
                                        <p:cTn display="0" masterRel="sameClick">
                                          <p:stCondLst>
                                            <p:cond evt="begin" delay="0">
                                              <p:tn val="5"/>
                                            </p:cond>
                                          </p:stCondLst>
                                          <p:endCondLst>
                                            <p:cond evt="onStopAudio" delay="0">
                                              <p:tgtEl>
                                                <p:sldTgt/>
                                              </p:tgtEl>
                                            </p:cond>
                                          </p:endCondLst>
                                        </p:cTn>
                                        <p:tgtEl>
                                          <p:sndTgt r:embed="rId3" name="type.wav"/>
                                        </p:tgtEl>
                                      </p:cMediaNode>
                                    </p:audio>
                                  </p:sub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7652">
                                            <p:txEl>
                                              <p:pRg st="1" end="1"/>
                                            </p:txEl>
                                          </p:spTgt>
                                        </p:tgtEl>
                                        <p:attrNameLst>
                                          <p:attrName>style.visibility</p:attrName>
                                        </p:attrNameLst>
                                      </p:cBhvr>
                                      <p:to>
                                        <p:strVal val="visible"/>
                                      </p:to>
                                    </p:set>
                                    <p:animEffect transition="in" filter="wipe(left)">
                                      <p:cBhvr>
                                        <p:cTn id="12" dur="500"/>
                                        <p:tgtEl>
                                          <p:spTgt spid="27652">
                                            <p:txEl>
                                              <p:pRg st="1" end="1"/>
                                            </p:txEl>
                                          </p:spTgt>
                                        </p:tgtEl>
                                      </p:cBhvr>
                                    </p:animEffect>
                                  </p:childTnLst>
                                  <p:subTnLst>
                                    <p:audio>
                                      <p:cMediaNode>
                                        <p:cTn display="0" masterRel="sameClick">
                                          <p:stCondLst>
                                            <p:cond evt="begin" delay="0">
                                              <p:tn val="10"/>
                                            </p:cond>
                                          </p:stCondLst>
                                          <p:endCondLst>
                                            <p:cond evt="onStopAudio" delay="0">
                                              <p:tgtEl>
                                                <p:sldTgt/>
                                              </p:tgtEl>
                                            </p:cond>
                                          </p:endCondLst>
                                        </p:cTn>
                                        <p:tgtEl>
                                          <p:sndTgt r:embed="rId3" name="type.wav"/>
                                        </p:tgtEl>
                                      </p:cMediaNode>
                                    </p:audio>
                                  </p:sub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7652">
                                            <p:txEl>
                                              <p:pRg st="2" end="2"/>
                                            </p:txEl>
                                          </p:spTgt>
                                        </p:tgtEl>
                                        <p:attrNameLst>
                                          <p:attrName>style.visibility</p:attrName>
                                        </p:attrNameLst>
                                      </p:cBhvr>
                                      <p:to>
                                        <p:strVal val="visible"/>
                                      </p:to>
                                    </p:set>
                                    <p:animEffect transition="in" filter="wipe(left)">
                                      <p:cBhvr>
                                        <p:cTn id="17" dur="500"/>
                                        <p:tgtEl>
                                          <p:spTgt spid="27652">
                                            <p:txEl>
                                              <p:pRg st="2" end="2"/>
                                            </p:txEl>
                                          </p:spTgt>
                                        </p:tgtEl>
                                      </p:cBhvr>
                                    </p:animEffect>
                                  </p:childTnLst>
                                  <p:subTnLst>
                                    <p:audio>
                                      <p:cMediaNode>
                                        <p:cTn display="0" masterRel="sameClick">
                                          <p:stCondLst>
                                            <p:cond evt="begin" delay="0">
                                              <p:tn val="15"/>
                                            </p:cond>
                                          </p:stCondLst>
                                          <p:endCondLst>
                                            <p:cond evt="onStopAudio" delay="0">
                                              <p:tgtEl>
                                                <p:sldTgt/>
                                              </p:tgtEl>
                                            </p:cond>
                                          </p:endCondLst>
                                        </p:cTn>
                                        <p:tgtEl>
                                          <p:sndTgt r:embed="rId3" name="type.wav"/>
                                        </p:tgtEl>
                                      </p:cMediaNode>
                                    </p:audio>
                                  </p:sub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7652">
                                            <p:txEl>
                                              <p:pRg st="3" end="3"/>
                                            </p:txEl>
                                          </p:spTgt>
                                        </p:tgtEl>
                                        <p:attrNameLst>
                                          <p:attrName>style.visibility</p:attrName>
                                        </p:attrNameLst>
                                      </p:cBhvr>
                                      <p:to>
                                        <p:strVal val="visible"/>
                                      </p:to>
                                    </p:set>
                                    <p:animEffect transition="in" filter="wipe(left)">
                                      <p:cBhvr>
                                        <p:cTn id="22" dur="500"/>
                                        <p:tgtEl>
                                          <p:spTgt spid="27652">
                                            <p:txEl>
                                              <p:pRg st="3" end="3"/>
                                            </p:txEl>
                                          </p:spTgt>
                                        </p:tgtEl>
                                      </p:cBhvr>
                                    </p:animEffect>
                                  </p:childTnLst>
                                  <p:subTnLst>
                                    <p:audio>
                                      <p:cMediaNode>
                                        <p:cTn display="0" masterRel="sameClick">
                                          <p:stCondLst>
                                            <p:cond evt="begin" delay="0">
                                              <p:tn val="20"/>
                                            </p:cond>
                                          </p:stCondLst>
                                          <p:endCondLst>
                                            <p:cond evt="onStopAudio" delay="0">
                                              <p:tgtEl>
                                                <p:sldTgt/>
                                              </p:tgtEl>
                                            </p:cond>
                                          </p:endCondLst>
                                        </p:cTn>
                                        <p:tgtEl>
                                          <p:sndTgt r:embed="rId3" name="type.wav"/>
                                        </p:tgtEl>
                                      </p:cMediaNode>
                                    </p:audio>
                                  </p:sub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7652">
                                            <p:txEl>
                                              <p:pRg st="4" end="4"/>
                                            </p:txEl>
                                          </p:spTgt>
                                        </p:tgtEl>
                                        <p:attrNameLst>
                                          <p:attrName>style.visibility</p:attrName>
                                        </p:attrNameLst>
                                      </p:cBhvr>
                                      <p:to>
                                        <p:strVal val="visible"/>
                                      </p:to>
                                    </p:set>
                                    <p:animEffect transition="in" filter="wipe(left)">
                                      <p:cBhvr>
                                        <p:cTn id="27" dur="500"/>
                                        <p:tgtEl>
                                          <p:spTgt spid="27652">
                                            <p:txEl>
                                              <p:pRg st="4" end="4"/>
                                            </p:txEl>
                                          </p:spTgt>
                                        </p:tgtEl>
                                      </p:cBhvr>
                                    </p:animEffect>
                                  </p:childTnLst>
                                  <p:subTnLst>
                                    <p:audio>
                                      <p:cMediaNode>
                                        <p:cTn display="0" masterRel="sameClick">
                                          <p:stCondLst>
                                            <p:cond evt="begin" delay="0">
                                              <p:tn val="25"/>
                                            </p:cond>
                                          </p:stCondLst>
                                          <p:endCondLst>
                                            <p:cond evt="onStopAudio" delay="0">
                                              <p:tgtEl>
                                                <p:sldTgt/>
                                              </p:tgtEl>
                                            </p:cond>
                                          </p:endCondLst>
                                        </p:cTn>
                                        <p:tgtEl>
                                          <p:sndTgt r:embed="rId3" name="type.wav"/>
                                        </p:tgtEl>
                                      </p:cMediaNode>
                                    </p:audio>
                                  </p:sub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27652">
                                            <p:txEl>
                                              <p:pRg st="5" end="5"/>
                                            </p:txEl>
                                          </p:spTgt>
                                        </p:tgtEl>
                                        <p:attrNameLst>
                                          <p:attrName>style.visibility</p:attrName>
                                        </p:attrNameLst>
                                      </p:cBhvr>
                                      <p:to>
                                        <p:strVal val="visible"/>
                                      </p:to>
                                    </p:set>
                                    <p:animEffect transition="in" filter="wipe(left)">
                                      <p:cBhvr>
                                        <p:cTn id="32" dur="500"/>
                                        <p:tgtEl>
                                          <p:spTgt spid="27652">
                                            <p:txEl>
                                              <p:pRg st="5" end="5"/>
                                            </p:txEl>
                                          </p:spTgt>
                                        </p:tgtEl>
                                      </p:cBhvr>
                                    </p:animEffect>
                                  </p:childTnLst>
                                  <p:subTnLst>
                                    <p:audio>
                                      <p:cMediaNode>
                                        <p:cTn display="0" masterRel="sameClick">
                                          <p:stCondLst>
                                            <p:cond evt="begin" delay="0">
                                              <p:tn val="30"/>
                                            </p:cond>
                                          </p:stCondLst>
                                          <p:endCondLst>
                                            <p:cond evt="onStopAudio" delay="0">
                                              <p:tgtEl>
                                                <p:sldTgt/>
                                              </p:tgtEl>
                                            </p:cond>
                                          </p:endCondLst>
                                        </p:cTn>
                                        <p:tgtEl>
                                          <p:sndTgt r:embed="rId3" name="type.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52" grpId="0" build="p" autoUpdateAnimBg="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xfrm>
            <a:off x="1981200" y="115887"/>
            <a:ext cx="8229600" cy="1152527"/>
          </a:xfrm>
        </p:spPr>
        <p:txBody>
          <a:bodyPr/>
          <a:lstStyle/>
          <a:p>
            <a:pPr algn="ctr" eaLnBrk="1" hangingPunct="1"/>
            <a:r>
              <a:rPr lang="zh-CN" altLang="en-US" dirty="0">
                <a:solidFill>
                  <a:srgbClr val="008000"/>
                </a:solidFill>
              </a:rPr>
              <a:t>经典集合</a:t>
            </a:r>
          </a:p>
        </p:txBody>
      </p:sp>
      <p:sp>
        <p:nvSpPr>
          <p:cNvPr id="23555" name="Rectangle 3"/>
          <p:cNvSpPr>
            <a:spLocks noGrp="1" noChangeArrowheads="1"/>
          </p:cNvSpPr>
          <p:nvPr>
            <p:ph idx="1"/>
          </p:nvPr>
        </p:nvSpPr>
        <p:spPr>
          <a:xfrm>
            <a:off x="1343472" y="1268414"/>
            <a:ext cx="9433048" cy="5329238"/>
          </a:xfrm>
        </p:spPr>
        <p:txBody>
          <a:bodyPr>
            <a:noAutofit/>
          </a:bodyPr>
          <a:lstStyle/>
          <a:p>
            <a:pPr eaLnBrk="1" hangingPunct="1">
              <a:lnSpc>
                <a:spcPct val="100000"/>
              </a:lnSpc>
              <a:buFont typeface="Wingdings" pitchFamily="2" charset="2"/>
              <a:buNone/>
            </a:pPr>
            <a:r>
              <a:rPr lang="zh-CN" altLang="en-US" sz="3200" b="1" dirty="0">
                <a:solidFill>
                  <a:srgbClr val="CC00FF"/>
                </a:solidFill>
                <a:latin typeface="Times New Roman" panose="02020603050405020304" pitchFamily="18" charset="0"/>
                <a:ea typeface="黑体" pitchFamily="49" charset="-122"/>
                <a:cs typeface="Times New Roman" panose="02020603050405020304" pitchFamily="18" charset="0"/>
              </a:rPr>
              <a:t>运算规律</a:t>
            </a:r>
            <a:r>
              <a:rPr lang="zh-CN" altLang="en-US" sz="3200" b="1" dirty="0">
                <a:latin typeface="Times New Roman" panose="02020603050405020304" pitchFamily="18" charset="0"/>
                <a:cs typeface="Times New Roman" panose="02020603050405020304" pitchFamily="18" charset="0"/>
              </a:rPr>
              <a:t>：</a:t>
            </a:r>
            <a:r>
              <a:rPr lang="en-US" altLang="zh-CN" sz="3200" b="1" dirty="0">
                <a:latin typeface="+mn-lt"/>
                <a:cs typeface="Times New Roman" panose="02020603050405020304" pitchFamily="18" charset="0"/>
              </a:rPr>
              <a:t>(</a:t>
            </a:r>
            <a:r>
              <a:rPr lang="zh-CN" altLang="en-US" sz="3200" b="1" dirty="0">
                <a:latin typeface="+mn-lt"/>
                <a:cs typeface="Times New Roman" panose="02020603050405020304" pitchFamily="18" charset="0"/>
              </a:rPr>
              <a:t>设</a:t>
            </a:r>
            <a:r>
              <a:rPr lang="en-US" altLang="zh-CN" sz="3200" b="1" i="1" dirty="0">
                <a:latin typeface="+mn-lt"/>
                <a:cs typeface="Times New Roman" panose="02020603050405020304" pitchFamily="18" charset="0"/>
              </a:rPr>
              <a:t>U</a:t>
            </a:r>
            <a:r>
              <a:rPr lang="zh-CN" altLang="en-US" sz="3200" b="1" dirty="0">
                <a:latin typeface="+mn-lt"/>
                <a:cs typeface="Times New Roman" panose="02020603050405020304" pitchFamily="18" charset="0"/>
              </a:rPr>
              <a:t>为全集， </a:t>
            </a:r>
            <a:r>
              <a:rPr lang="en-US" altLang="zh-CN" sz="3200" b="1" dirty="0">
                <a:latin typeface="+mn-lt"/>
                <a:cs typeface="Times New Roman" panose="02020603050405020304" pitchFamily="18" charset="0"/>
              </a:rPr>
              <a:t>Ø</a:t>
            </a:r>
            <a:r>
              <a:rPr kumimoji="1" lang="en-US" altLang="zh-CN" sz="3200" b="1" dirty="0">
                <a:latin typeface="+mn-lt"/>
                <a:cs typeface="Times New Roman" panose="02020603050405020304" pitchFamily="18" charset="0"/>
                <a:sym typeface="Symbol" pitchFamily="18" charset="2"/>
              </a:rPr>
              <a:t> </a:t>
            </a:r>
            <a:r>
              <a:rPr kumimoji="1" lang="zh-CN" altLang="en-US" sz="3200" b="1" dirty="0">
                <a:latin typeface="+mn-lt"/>
                <a:cs typeface="Times New Roman" panose="02020603050405020304" pitchFamily="18" charset="0"/>
                <a:sym typeface="Symbol" pitchFamily="18" charset="2"/>
              </a:rPr>
              <a:t>为空集</a:t>
            </a:r>
            <a:r>
              <a:rPr kumimoji="1" lang="en-US" altLang="zh-CN" sz="3200" b="1" dirty="0">
                <a:latin typeface="+mn-lt"/>
                <a:cs typeface="Times New Roman" panose="02020603050405020304" pitchFamily="18" charset="0"/>
                <a:sym typeface="Symbol" pitchFamily="18" charset="2"/>
              </a:rPr>
              <a:t>)</a:t>
            </a:r>
            <a:endParaRPr lang="en-US" altLang="zh-CN" sz="3200" b="1" dirty="0">
              <a:latin typeface="+mn-lt"/>
              <a:cs typeface="Times New Roman" panose="02020603050405020304" pitchFamily="18" charset="0"/>
            </a:endParaRPr>
          </a:p>
          <a:p>
            <a:pPr eaLnBrk="1" hangingPunct="1">
              <a:lnSpc>
                <a:spcPct val="100000"/>
              </a:lnSpc>
              <a:buNone/>
            </a:pPr>
            <a:r>
              <a:rPr lang="en-US" altLang="zh-CN" sz="3200" b="1" dirty="0">
                <a:latin typeface="+mn-lt"/>
                <a:cs typeface="Times New Roman" panose="02020603050405020304" pitchFamily="18" charset="0"/>
              </a:rPr>
              <a:t>1</a:t>
            </a:r>
            <a:r>
              <a:rPr lang="zh-CN" altLang="en-US" sz="3200" b="1" dirty="0">
                <a:latin typeface="+mn-lt"/>
                <a:cs typeface="Times New Roman" panose="02020603050405020304" pitchFamily="18" charset="0"/>
              </a:rPr>
              <a:t>）</a:t>
            </a:r>
            <a:r>
              <a:rPr lang="zh-CN" altLang="en-US" sz="3200" b="1" dirty="0">
                <a:solidFill>
                  <a:srgbClr val="0000FF"/>
                </a:solidFill>
                <a:latin typeface="+mn-lt"/>
                <a:cs typeface="Times New Roman" panose="02020603050405020304" pitchFamily="18" charset="0"/>
              </a:rPr>
              <a:t>交换律</a:t>
            </a:r>
            <a:r>
              <a:rPr lang="zh-CN" altLang="en-US" sz="3200" b="1" dirty="0">
                <a:latin typeface="+mn-lt"/>
                <a:cs typeface="Times New Roman" panose="02020603050405020304" pitchFamily="18" charset="0"/>
              </a:rPr>
              <a:t>：</a:t>
            </a:r>
            <a:r>
              <a:rPr kumimoji="1" lang="en-US" altLang="zh-CN" sz="3200" b="1" i="1" dirty="0">
                <a:latin typeface="+mn-lt"/>
                <a:cs typeface="Times New Roman" panose="02020603050405020304" pitchFamily="18" charset="0"/>
              </a:rPr>
              <a:t>A</a:t>
            </a:r>
            <a:r>
              <a:rPr kumimoji="1" lang="en-US" altLang="zh-CN" sz="3200" b="1" dirty="0">
                <a:latin typeface="+mn-lt"/>
                <a:cs typeface="Times New Roman" panose="02020603050405020304" pitchFamily="18" charset="0"/>
                <a:sym typeface="Symbol"/>
              </a:rPr>
              <a:t></a:t>
            </a:r>
            <a:r>
              <a:rPr kumimoji="1" lang="en-US" altLang="zh-CN" sz="3200" b="1" i="1" dirty="0">
                <a:latin typeface="+mn-lt"/>
                <a:cs typeface="Times New Roman" panose="02020603050405020304" pitchFamily="18" charset="0"/>
                <a:sym typeface="Symbol" pitchFamily="18" charset="2"/>
              </a:rPr>
              <a:t>B </a:t>
            </a:r>
            <a:r>
              <a:rPr kumimoji="1" lang="en-US" altLang="zh-CN" sz="3200" b="1" dirty="0">
                <a:latin typeface="+mn-lt"/>
                <a:cs typeface="Times New Roman" panose="02020603050405020304" pitchFamily="18" charset="0"/>
                <a:sym typeface="Symbol" pitchFamily="18" charset="2"/>
              </a:rPr>
              <a:t>= </a:t>
            </a:r>
            <a:r>
              <a:rPr kumimoji="1" lang="en-US" altLang="zh-CN" sz="3200" b="1" i="1" dirty="0">
                <a:latin typeface="+mn-lt"/>
                <a:cs typeface="Times New Roman" panose="02020603050405020304" pitchFamily="18" charset="0"/>
              </a:rPr>
              <a:t>B</a:t>
            </a:r>
            <a:r>
              <a:rPr kumimoji="1" lang="en-US" altLang="zh-CN" sz="3200" b="1" dirty="0">
                <a:latin typeface="+mn-lt"/>
                <a:cs typeface="Times New Roman" panose="02020603050405020304" pitchFamily="18" charset="0"/>
                <a:sym typeface="Symbol"/>
              </a:rPr>
              <a:t></a:t>
            </a:r>
            <a:r>
              <a:rPr kumimoji="1" lang="en-US" altLang="zh-CN" sz="3200" b="1" i="1" dirty="0">
                <a:latin typeface="+mn-lt"/>
                <a:cs typeface="Times New Roman" panose="02020603050405020304" pitchFamily="18" charset="0"/>
                <a:sym typeface="Symbol" pitchFamily="18" charset="2"/>
              </a:rPr>
              <a:t>A</a:t>
            </a:r>
            <a:r>
              <a:rPr kumimoji="1" lang="zh-CN" altLang="en-US" sz="3200" b="1" dirty="0">
                <a:latin typeface="+mn-lt"/>
                <a:cs typeface="Times New Roman" panose="02020603050405020304" pitchFamily="18" charset="0"/>
                <a:sym typeface="Symbol" pitchFamily="18" charset="2"/>
              </a:rPr>
              <a:t>， </a:t>
            </a:r>
            <a:r>
              <a:rPr kumimoji="1" lang="en-US" altLang="zh-CN" sz="3200" b="1" i="1" dirty="0">
                <a:latin typeface="+mn-lt"/>
                <a:cs typeface="Times New Roman" panose="02020603050405020304" pitchFamily="18" charset="0"/>
              </a:rPr>
              <a:t>A</a:t>
            </a:r>
            <a:r>
              <a:rPr kumimoji="1" lang="en-US" altLang="zh-CN" sz="3200" b="1" dirty="0">
                <a:latin typeface="+mn-lt"/>
                <a:cs typeface="Times New Roman" panose="02020603050405020304" pitchFamily="18" charset="0"/>
                <a:sym typeface="Symbol"/>
              </a:rPr>
              <a:t></a:t>
            </a:r>
            <a:r>
              <a:rPr kumimoji="1" lang="en-US" altLang="zh-CN" sz="3200" b="1" i="1" dirty="0">
                <a:latin typeface="+mn-lt"/>
                <a:cs typeface="Times New Roman" panose="02020603050405020304" pitchFamily="18" charset="0"/>
                <a:sym typeface="Symbol" pitchFamily="18" charset="2"/>
              </a:rPr>
              <a:t>B </a:t>
            </a:r>
            <a:r>
              <a:rPr kumimoji="1" lang="en-US" altLang="zh-CN" sz="3200" b="1" dirty="0">
                <a:latin typeface="+mn-lt"/>
                <a:cs typeface="Times New Roman" panose="02020603050405020304" pitchFamily="18" charset="0"/>
                <a:sym typeface="Symbol" pitchFamily="18" charset="2"/>
              </a:rPr>
              <a:t>= </a:t>
            </a:r>
            <a:r>
              <a:rPr kumimoji="1" lang="en-US" altLang="zh-CN" sz="3200" b="1" i="1" dirty="0">
                <a:latin typeface="+mn-lt"/>
                <a:cs typeface="Times New Roman" panose="02020603050405020304" pitchFamily="18" charset="0"/>
              </a:rPr>
              <a:t>B</a:t>
            </a:r>
            <a:r>
              <a:rPr kumimoji="1" lang="en-US" altLang="zh-CN" sz="3200" b="1" dirty="0">
                <a:latin typeface="+mn-lt"/>
                <a:cs typeface="Times New Roman" panose="02020603050405020304" pitchFamily="18" charset="0"/>
                <a:sym typeface="Symbol"/>
              </a:rPr>
              <a:t></a:t>
            </a:r>
            <a:r>
              <a:rPr kumimoji="1" lang="en-US" altLang="zh-CN" sz="3200" b="1" i="1" dirty="0">
                <a:latin typeface="+mn-lt"/>
                <a:cs typeface="Times New Roman" panose="02020603050405020304" pitchFamily="18" charset="0"/>
                <a:sym typeface="Symbol" pitchFamily="18" charset="2"/>
              </a:rPr>
              <a:t>A</a:t>
            </a:r>
            <a:r>
              <a:rPr kumimoji="1" lang="zh-CN" altLang="en-US" sz="3200" b="1" dirty="0">
                <a:latin typeface="+mn-lt"/>
                <a:cs typeface="Times New Roman" panose="02020603050405020304" pitchFamily="18" charset="0"/>
                <a:sym typeface="Symbol" pitchFamily="18" charset="2"/>
              </a:rPr>
              <a:t>；</a:t>
            </a:r>
          </a:p>
          <a:p>
            <a:pPr eaLnBrk="1" hangingPunct="1">
              <a:lnSpc>
                <a:spcPct val="100000"/>
              </a:lnSpc>
              <a:buNone/>
            </a:pPr>
            <a:r>
              <a:rPr kumimoji="1" lang="en-US" altLang="zh-CN" sz="3200" b="1" dirty="0">
                <a:latin typeface="+mn-lt"/>
                <a:cs typeface="Times New Roman" panose="02020603050405020304" pitchFamily="18" charset="0"/>
                <a:sym typeface="Symbol" pitchFamily="18" charset="2"/>
              </a:rPr>
              <a:t>2</a:t>
            </a:r>
            <a:r>
              <a:rPr kumimoji="1" lang="zh-CN" altLang="en-US" sz="3200" b="1" dirty="0">
                <a:latin typeface="+mn-lt"/>
                <a:cs typeface="Times New Roman" panose="02020603050405020304" pitchFamily="18" charset="0"/>
                <a:sym typeface="Symbol" pitchFamily="18" charset="2"/>
              </a:rPr>
              <a:t>）</a:t>
            </a:r>
            <a:r>
              <a:rPr kumimoji="1" lang="zh-CN" altLang="en-US" sz="3200" b="1" dirty="0">
                <a:solidFill>
                  <a:srgbClr val="0000FF"/>
                </a:solidFill>
                <a:latin typeface="+mn-lt"/>
                <a:cs typeface="Times New Roman" panose="02020603050405020304" pitchFamily="18" charset="0"/>
              </a:rPr>
              <a:t>分配律</a:t>
            </a:r>
            <a:r>
              <a:rPr kumimoji="1" lang="zh-CN" altLang="en-US" sz="3200" b="1" dirty="0">
                <a:latin typeface="+mn-lt"/>
                <a:cs typeface="Times New Roman" panose="02020603050405020304" pitchFamily="18" charset="0"/>
              </a:rPr>
              <a:t>：</a:t>
            </a:r>
            <a:r>
              <a:rPr kumimoji="1" lang="en-US" altLang="zh-CN" sz="3200" b="1" dirty="0">
                <a:latin typeface="+mn-lt"/>
                <a:cs typeface="Times New Roman" panose="02020603050405020304" pitchFamily="18" charset="0"/>
                <a:sym typeface="Symbol" pitchFamily="18" charset="2"/>
              </a:rPr>
              <a:t>( </a:t>
            </a:r>
            <a:r>
              <a:rPr kumimoji="1" lang="en-US" altLang="zh-CN" sz="3200" b="1" i="1" dirty="0">
                <a:latin typeface="+mn-lt"/>
                <a:cs typeface="Times New Roman" panose="02020603050405020304" pitchFamily="18" charset="0"/>
              </a:rPr>
              <a:t>A</a:t>
            </a:r>
            <a:r>
              <a:rPr kumimoji="1" lang="en-US" altLang="zh-CN" sz="3200" b="1" dirty="0">
                <a:latin typeface="+mn-lt"/>
                <a:cs typeface="Times New Roman" panose="02020603050405020304" pitchFamily="18" charset="0"/>
                <a:sym typeface="Symbol"/>
              </a:rPr>
              <a:t></a:t>
            </a:r>
            <a:r>
              <a:rPr kumimoji="1" lang="en-US" altLang="zh-CN" sz="3200" b="1" i="1" dirty="0">
                <a:latin typeface="+mn-lt"/>
                <a:cs typeface="Times New Roman" panose="02020603050405020304" pitchFamily="18" charset="0"/>
                <a:sym typeface="Symbol" pitchFamily="18" charset="2"/>
              </a:rPr>
              <a:t>B </a:t>
            </a:r>
            <a:r>
              <a:rPr kumimoji="1" lang="en-US" altLang="zh-CN" sz="3200" b="1" dirty="0">
                <a:latin typeface="+mn-lt"/>
                <a:cs typeface="Times New Roman" panose="02020603050405020304" pitchFamily="18" charset="0"/>
                <a:sym typeface="Symbol" pitchFamily="18" charset="2"/>
              </a:rPr>
              <a:t>)</a:t>
            </a:r>
            <a:r>
              <a:rPr kumimoji="1" lang="en-US" altLang="zh-CN" sz="3200" b="1" dirty="0">
                <a:latin typeface="+mn-lt"/>
                <a:cs typeface="Times New Roman" panose="02020603050405020304" pitchFamily="18" charset="0"/>
                <a:sym typeface="Symbol"/>
              </a:rPr>
              <a:t></a:t>
            </a:r>
            <a:r>
              <a:rPr kumimoji="1" lang="en-US" altLang="zh-CN" sz="3200" b="1" i="1" dirty="0">
                <a:latin typeface="+mn-lt"/>
                <a:cs typeface="Times New Roman" panose="02020603050405020304" pitchFamily="18" charset="0"/>
                <a:sym typeface="Symbol" pitchFamily="18" charset="2"/>
              </a:rPr>
              <a:t>C</a:t>
            </a:r>
            <a:r>
              <a:rPr kumimoji="1" lang="en-US" altLang="zh-CN" sz="3200" b="1" dirty="0">
                <a:latin typeface="+mn-lt"/>
                <a:cs typeface="Times New Roman" panose="02020603050405020304" pitchFamily="18" charset="0"/>
                <a:sym typeface="Symbol" pitchFamily="18" charset="2"/>
              </a:rPr>
              <a:t> = (</a:t>
            </a:r>
            <a:r>
              <a:rPr kumimoji="1" lang="en-US" altLang="zh-CN" sz="3200" b="1" i="1" dirty="0">
                <a:latin typeface="+mn-lt"/>
                <a:cs typeface="Times New Roman" panose="02020603050405020304" pitchFamily="18" charset="0"/>
                <a:sym typeface="Symbol" pitchFamily="18" charset="2"/>
              </a:rPr>
              <a:t>A</a:t>
            </a:r>
            <a:r>
              <a:rPr kumimoji="1" lang="en-US" altLang="zh-CN" sz="3200" b="1" dirty="0">
                <a:latin typeface="+mn-lt"/>
                <a:cs typeface="Times New Roman" panose="02020603050405020304" pitchFamily="18" charset="0"/>
                <a:sym typeface="Symbol"/>
              </a:rPr>
              <a:t></a:t>
            </a:r>
            <a:r>
              <a:rPr kumimoji="1" lang="en-US" altLang="zh-CN" sz="3200" b="1" i="1" dirty="0">
                <a:latin typeface="+mn-lt"/>
                <a:cs typeface="Times New Roman" panose="02020603050405020304" pitchFamily="18" charset="0"/>
                <a:sym typeface="Symbol" pitchFamily="18" charset="2"/>
              </a:rPr>
              <a:t>C</a:t>
            </a:r>
            <a:r>
              <a:rPr kumimoji="1" lang="en-US" altLang="zh-CN" sz="3200" b="1" dirty="0">
                <a:latin typeface="+mn-lt"/>
                <a:cs typeface="Times New Roman" panose="02020603050405020304" pitchFamily="18" charset="0"/>
                <a:sym typeface="Symbol" pitchFamily="18" charset="2"/>
              </a:rPr>
              <a:t>)</a:t>
            </a:r>
            <a:r>
              <a:rPr kumimoji="1" lang="en-US" altLang="zh-CN" sz="3200" b="1" dirty="0">
                <a:latin typeface="+mn-lt"/>
                <a:cs typeface="Times New Roman" panose="02020603050405020304" pitchFamily="18" charset="0"/>
                <a:sym typeface="Symbol"/>
              </a:rPr>
              <a:t>  </a:t>
            </a:r>
            <a:r>
              <a:rPr kumimoji="1" lang="en-US" altLang="zh-CN" sz="3200" b="1" dirty="0">
                <a:latin typeface="+mn-lt"/>
                <a:cs typeface="Times New Roman" panose="02020603050405020304" pitchFamily="18" charset="0"/>
                <a:sym typeface="Symbol" pitchFamily="18" charset="2"/>
              </a:rPr>
              <a:t>(</a:t>
            </a:r>
            <a:r>
              <a:rPr kumimoji="1" lang="en-US" altLang="zh-CN" sz="3200" b="1" i="1" dirty="0">
                <a:latin typeface="+mn-lt"/>
                <a:cs typeface="Times New Roman" panose="02020603050405020304" pitchFamily="18" charset="0"/>
                <a:sym typeface="Symbol" pitchFamily="18" charset="2"/>
              </a:rPr>
              <a:t>B</a:t>
            </a:r>
            <a:r>
              <a:rPr kumimoji="1" lang="en-US" altLang="zh-CN" sz="3200" b="1" dirty="0">
                <a:latin typeface="+mn-lt"/>
                <a:cs typeface="Times New Roman" panose="02020603050405020304" pitchFamily="18" charset="0"/>
                <a:sym typeface="Symbol"/>
              </a:rPr>
              <a:t></a:t>
            </a:r>
            <a:r>
              <a:rPr kumimoji="1" lang="en-US" altLang="zh-CN" sz="3200" b="1" i="1" dirty="0">
                <a:latin typeface="+mn-lt"/>
                <a:cs typeface="Times New Roman" panose="02020603050405020304" pitchFamily="18" charset="0"/>
                <a:sym typeface="Symbol" pitchFamily="18" charset="2"/>
              </a:rPr>
              <a:t>C</a:t>
            </a:r>
            <a:r>
              <a:rPr kumimoji="1" lang="en-US" altLang="zh-CN" sz="3200" b="1" dirty="0">
                <a:latin typeface="+mn-lt"/>
                <a:cs typeface="Times New Roman" panose="02020603050405020304" pitchFamily="18" charset="0"/>
                <a:sym typeface="Symbol" pitchFamily="18" charset="2"/>
              </a:rPr>
              <a:t>)</a:t>
            </a:r>
            <a:r>
              <a:rPr kumimoji="1" lang="zh-CN" altLang="en-US" sz="3200" b="1" dirty="0">
                <a:latin typeface="+mn-lt"/>
                <a:cs typeface="Times New Roman" panose="02020603050405020304" pitchFamily="18" charset="0"/>
                <a:sym typeface="Symbol" pitchFamily="18" charset="2"/>
              </a:rPr>
              <a:t>；</a:t>
            </a:r>
          </a:p>
          <a:p>
            <a:pPr eaLnBrk="1" hangingPunct="1">
              <a:lnSpc>
                <a:spcPct val="100000"/>
              </a:lnSpc>
              <a:buNone/>
            </a:pPr>
            <a:r>
              <a:rPr kumimoji="1" lang="zh-CN" altLang="en-US" sz="3200" b="1" dirty="0">
                <a:latin typeface="+mn-lt"/>
                <a:cs typeface="Times New Roman" panose="02020603050405020304" pitchFamily="18" charset="0"/>
                <a:sym typeface="Symbol" pitchFamily="18" charset="2"/>
              </a:rPr>
              <a:t>                    </a:t>
            </a:r>
            <a:r>
              <a:rPr kumimoji="1" lang="en-US" altLang="zh-CN" sz="3200" b="1" dirty="0">
                <a:latin typeface="+mn-lt"/>
                <a:cs typeface="Times New Roman" panose="02020603050405020304" pitchFamily="18" charset="0"/>
                <a:sym typeface="Symbol" pitchFamily="18" charset="2"/>
              </a:rPr>
              <a:t>( </a:t>
            </a:r>
            <a:r>
              <a:rPr kumimoji="1" lang="en-US" altLang="zh-CN" sz="3200" b="1" i="1" dirty="0">
                <a:latin typeface="+mn-lt"/>
                <a:cs typeface="Times New Roman" panose="02020603050405020304" pitchFamily="18" charset="0"/>
              </a:rPr>
              <a:t>A</a:t>
            </a:r>
            <a:r>
              <a:rPr kumimoji="1" lang="en-US" altLang="zh-CN" sz="3200" b="1" dirty="0">
                <a:latin typeface="+mn-lt"/>
                <a:cs typeface="Times New Roman" panose="02020603050405020304" pitchFamily="18" charset="0"/>
                <a:sym typeface="Symbol"/>
              </a:rPr>
              <a:t></a:t>
            </a:r>
            <a:r>
              <a:rPr kumimoji="1" lang="en-US" altLang="zh-CN" sz="3200" b="1" i="1" dirty="0">
                <a:latin typeface="+mn-lt"/>
                <a:cs typeface="Times New Roman" panose="02020603050405020304" pitchFamily="18" charset="0"/>
                <a:sym typeface="Symbol" pitchFamily="18" charset="2"/>
              </a:rPr>
              <a:t>B </a:t>
            </a:r>
            <a:r>
              <a:rPr kumimoji="1" lang="en-US" altLang="zh-CN" sz="3200" b="1" dirty="0">
                <a:latin typeface="+mn-lt"/>
                <a:cs typeface="Times New Roman" panose="02020603050405020304" pitchFamily="18" charset="0"/>
                <a:sym typeface="Symbol" pitchFamily="18" charset="2"/>
              </a:rPr>
              <a:t>)</a:t>
            </a:r>
            <a:r>
              <a:rPr kumimoji="1" lang="en-US" altLang="zh-CN" sz="3200" b="1" dirty="0">
                <a:latin typeface="+mn-lt"/>
                <a:cs typeface="Times New Roman" panose="02020603050405020304" pitchFamily="18" charset="0"/>
                <a:sym typeface="Symbol"/>
              </a:rPr>
              <a:t></a:t>
            </a:r>
            <a:r>
              <a:rPr kumimoji="1" lang="en-US" altLang="zh-CN" sz="3200" b="1" i="1" dirty="0">
                <a:latin typeface="+mn-lt"/>
                <a:cs typeface="Times New Roman" panose="02020603050405020304" pitchFamily="18" charset="0"/>
                <a:sym typeface="Symbol" pitchFamily="18" charset="2"/>
              </a:rPr>
              <a:t>C</a:t>
            </a:r>
            <a:r>
              <a:rPr kumimoji="1" lang="en-US" altLang="zh-CN" sz="3200" b="1" dirty="0">
                <a:latin typeface="+mn-lt"/>
                <a:cs typeface="Times New Roman" panose="02020603050405020304" pitchFamily="18" charset="0"/>
                <a:sym typeface="Symbol" pitchFamily="18" charset="2"/>
              </a:rPr>
              <a:t> = (</a:t>
            </a:r>
            <a:r>
              <a:rPr kumimoji="1" lang="en-US" altLang="zh-CN" sz="3200" b="1" i="1" dirty="0">
                <a:latin typeface="+mn-lt"/>
                <a:cs typeface="Times New Roman" panose="02020603050405020304" pitchFamily="18" charset="0"/>
                <a:sym typeface="Symbol" pitchFamily="18" charset="2"/>
              </a:rPr>
              <a:t>A</a:t>
            </a:r>
            <a:r>
              <a:rPr kumimoji="1" lang="en-US" altLang="zh-CN" sz="3200" b="1" dirty="0">
                <a:latin typeface="+mn-lt"/>
                <a:cs typeface="Times New Roman" panose="02020603050405020304" pitchFamily="18" charset="0"/>
                <a:sym typeface="Symbol"/>
              </a:rPr>
              <a:t></a:t>
            </a:r>
            <a:r>
              <a:rPr kumimoji="1" lang="en-US" altLang="zh-CN" sz="3200" b="1" i="1" dirty="0">
                <a:latin typeface="+mn-lt"/>
                <a:cs typeface="Times New Roman" panose="02020603050405020304" pitchFamily="18" charset="0"/>
                <a:sym typeface="Symbol" pitchFamily="18" charset="2"/>
              </a:rPr>
              <a:t>C</a:t>
            </a:r>
            <a:r>
              <a:rPr kumimoji="1" lang="en-US" altLang="zh-CN" sz="3200" b="1" dirty="0">
                <a:latin typeface="+mn-lt"/>
                <a:cs typeface="Times New Roman" panose="02020603050405020304" pitchFamily="18" charset="0"/>
                <a:sym typeface="Symbol" pitchFamily="18" charset="2"/>
              </a:rPr>
              <a:t>)</a:t>
            </a:r>
            <a:r>
              <a:rPr kumimoji="1" lang="en-US" altLang="zh-CN" sz="3200" b="1" dirty="0">
                <a:latin typeface="+mn-lt"/>
                <a:cs typeface="Times New Roman" panose="02020603050405020304" pitchFamily="18" charset="0"/>
                <a:sym typeface="Symbol"/>
              </a:rPr>
              <a:t>  </a:t>
            </a:r>
            <a:r>
              <a:rPr kumimoji="1" lang="en-US" altLang="zh-CN" sz="3200" b="1" dirty="0">
                <a:latin typeface="+mn-lt"/>
                <a:cs typeface="Times New Roman" panose="02020603050405020304" pitchFamily="18" charset="0"/>
                <a:sym typeface="Symbol" pitchFamily="18" charset="2"/>
              </a:rPr>
              <a:t>(</a:t>
            </a:r>
            <a:r>
              <a:rPr kumimoji="1" lang="en-US" altLang="zh-CN" sz="3200" b="1" i="1" dirty="0">
                <a:latin typeface="+mn-lt"/>
                <a:cs typeface="Times New Roman" panose="02020603050405020304" pitchFamily="18" charset="0"/>
                <a:sym typeface="Symbol" pitchFamily="18" charset="2"/>
              </a:rPr>
              <a:t>B</a:t>
            </a:r>
            <a:r>
              <a:rPr kumimoji="1" lang="en-US" altLang="zh-CN" sz="3200" b="1" dirty="0">
                <a:latin typeface="+mn-lt"/>
                <a:cs typeface="Times New Roman" panose="02020603050405020304" pitchFamily="18" charset="0"/>
                <a:sym typeface="Symbol"/>
              </a:rPr>
              <a:t></a:t>
            </a:r>
            <a:r>
              <a:rPr kumimoji="1" lang="en-US" altLang="zh-CN" sz="3200" b="1" i="1" dirty="0">
                <a:latin typeface="+mn-lt"/>
                <a:cs typeface="Times New Roman" panose="02020603050405020304" pitchFamily="18" charset="0"/>
                <a:sym typeface="Symbol" pitchFamily="18" charset="2"/>
              </a:rPr>
              <a:t>C</a:t>
            </a:r>
            <a:r>
              <a:rPr kumimoji="1" lang="en-US" altLang="zh-CN" sz="3200" b="1" dirty="0">
                <a:latin typeface="+mn-lt"/>
                <a:cs typeface="Times New Roman" panose="02020603050405020304" pitchFamily="18" charset="0"/>
                <a:sym typeface="Symbol" pitchFamily="18" charset="2"/>
              </a:rPr>
              <a:t>)</a:t>
            </a:r>
            <a:r>
              <a:rPr kumimoji="1" lang="zh-CN" altLang="en-US" sz="3200" b="1" dirty="0">
                <a:latin typeface="+mn-lt"/>
                <a:cs typeface="Times New Roman" panose="02020603050405020304" pitchFamily="18" charset="0"/>
                <a:sym typeface="Symbol" pitchFamily="18" charset="2"/>
              </a:rPr>
              <a:t>；</a:t>
            </a:r>
          </a:p>
          <a:p>
            <a:pPr eaLnBrk="1" hangingPunct="1">
              <a:lnSpc>
                <a:spcPct val="100000"/>
              </a:lnSpc>
              <a:buNone/>
            </a:pPr>
            <a:r>
              <a:rPr kumimoji="1" lang="en-US" altLang="zh-CN" sz="3200" b="1" dirty="0">
                <a:latin typeface="+mn-lt"/>
                <a:cs typeface="Times New Roman" panose="02020603050405020304" pitchFamily="18" charset="0"/>
                <a:sym typeface="Symbol" pitchFamily="18" charset="2"/>
              </a:rPr>
              <a:t>3</a:t>
            </a:r>
            <a:r>
              <a:rPr kumimoji="1" lang="zh-CN" altLang="en-US" sz="3200" b="1" dirty="0">
                <a:latin typeface="+mn-lt"/>
                <a:cs typeface="Times New Roman" panose="02020603050405020304" pitchFamily="18" charset="0"/>
                <a:sym typeface="Symbol" pitchFamily="18" charset="2"/>
              </a:rPr>
              <a:t>）</a:t>
            </a:r>
            <a:r>
              <a:rPr kumimoji="1" lang="zh-CN" altLang="en-US" sz="3200" b="1" dirty="0">
                <a:solidFill>
                  <a:srgbClr val="0000FF"/>
                </a:solidFill>
                <a:latin typeface="+mn-lt"/>
                <a:cs typeface="Times New Roman" panose="02020603050405020304" pitchFamily="18" charset="0"/>
                <a:sym typeface="Symbol" pitchFamily="18" charset="2"/>
              </a:rPr>
              <a:t>结合律</a:t>
            </a:r>
            <a:r>
              <a:rPr kumimoji="1" lang="zh-CN" altLang="en-US" sz="3200" b="1" dirty="0">
                <a:latin typeface="+mn-lt"/>
                <a:cs typeface="Times New Roman" panose="02020603050405020304" pitchFamily="18" charset="0"/>
                <a:sym typeface="Symbol" pitchFamily="18" charset="2"/>
              </a:rPr>
              <a:t>：</a:t>
            </a:r>
            <a:r>
              <a:rPr kumimoji="1" lang="en-US" altLang="zh-CN" sz="3200" b="1" dirty="0">
                <a:latin typeface="+mn-lt"/>
                <a:cs typeface="Times New Roman" panose="02020603050405020304" pitchFamily="18" charset="0"/>
                <a:sym typeface="Symbol" pitchFamily="18" charset="2"/>
              </a:rPr>
              <a:t>( </a:t>
            </a:r>
            <a:r>
              <a:rPr kumimoji="1" lang="en-US" altLang="zh-CN" sz="3200" b="1" i="1" dirty="0">
                <a:latin typeface="+mn-lt"/>
                <a:cs typeface="Times New Roman" panose="02020603050405020304" pitchFamily="18" charset="0"/>
              </a:rPr>
              <a:t>A</a:t>
            </a:r>
            <a:r>
              <a:rPr kumimoji="1" lang="en-US" altLang="zh-CN" sz="3200" b="1" dirty="0">
                <a:latin typeface="+mn-lt"/>
                <a:cs typeface="Times New Roman" panose="02020603050405020304" pitchFamily="18" charset="0"/>
                <a:sym typeface="Symbol"/>
              </a:rPr>
              <a:t></a:t>
            </a:r>
            <a:r>
              <a:rPr kumimoji="1" lang="en-US" altLang="zh-CN" sz="3200" b="1" i="1" dirty="0">
                <a:latin typeface="+mn-lt"/>
                <a:cs typeface="Times New Roman" panose="02020603050405020304" pitchFamily="18" charset="0"/>
                <a:sym typeface="Symbol" pitchFamily="18" charset="2"/>
              </a:rPr>
              <a:t>B </a:t>
            </a:r>
            <a:r>
              <a:rPr kumimoji="1" lang="en-US" altLang="zh-CN" sz="3200" b="1" dirty="0">
                <a:latin typeface="+mn-lt"/>
                <a:cs typeface="Times New Roman" panose="02020603050405020304" pitchFamily="18" charset="0"/>
                <a:sym typeface="Symbol" pitchFamily="18" charset="2"/>
              </a:rPr>
              <a:t>)</a:t>
            </a:r>
            <a:r>
              <a:rPr kumimoji="1" lang="en-US" altLang="zh-CN" sz="3200" b="1" dirty="0">
                <a:latin typeface="+mn-lt"/>
                <a:cs typeface="Times New Roman" panose="02020603050405020304" pitchFamily="18" charset="0"/>
                <a:sym typeface="Symbol"/>
              </a:rPr>
              <a:t></a:t>
            </a:r>
            <a:r>
              <a:rPr kumimoji="1" lang="en-US" altLang="zh-CN" sz="3200" b="1" i="1" dirty="0">
                <a:latin typeface="+mn-lt"/>
                <a:cs typeface="Times New Roman" panose="02020603050405020304" pitchFamily="18" charset="0"/>
                <a:sym typeface="Symbol" pitchFamily="18" charset="2"/>
              </a:rPr>
              <a:t>C</a:t>
            </a:r>
            <a:r>
              <a:rPr kumimoji="1" lang="en-US" altLang="zh-CN" sz="3200" b="1" dirty="0">
                <a:latin typeface="+mn-lt"/>
                <a:cs typeface="Times New Roman" panose="02020603050405020304" pitchFamily="18" charset="0"/>
                <a:sym typeface="Symbol" pitchFamily="18" charset="2"/>
              </a:rPr>
              <a:t> = </a:t>
            </a:r>
            <a:r>
              <a:rPr kumimoji="1" lang="en-US" altLang="zh-CN" sz="3200" b="1" i="1" dirty="0">
                <a:latin typeface="+mn-lt"/>
                <a:cs typeface="Times New Roman" panose="02020603050405020304" pitchFamily="18" charset="0"/>
              </a:rPr>
              <a:t>A</a:t>
            </a:r>
            <a:r>
              <a:rPr kumimoji="1" lang="en-US" altLang="zh-CN" sz="3200" b="1" dirty="0">
                <a:latin typeface="+mn-lt"/>
                <a:cs typeface="Times New Roman" panose="02020603050405020304" pitchFamily="18" charset="0"/>
                <a:sym typeface="Symbol"/>
              </a:rPr>
              <a:t>  </a:t>
            </a:r>
            <a:r>
              <a:rPr kumimoji="1" lang="en-US" altLang="zh-CN" sz="3200" b="1" dirty="0">
                <a:latin typeface="+mn-lt"/>
                <a:cs typeface="Times New Roman" panose="02020603050405020304" pitchFamily="18" charset="0"/>
                <a:sym typeface="Symbol" pitchFamily="18" charset="2"/>
              </a:rPr>
              <a:t>(</a:t>
            </a:r>
            <a:r>
              <a:rPr kumimoji="1" lang="en-US" altLang="zh-CN" sz="3200" b="1" i="1" dirty="0">
                <a:latin typeface="+mn-lt"/>
                <a:cs typeface="Times New Roman" panose="02020603050405020304" pitchFamily="18" charset="0"/>
                <a:sym typeface="Symbol" pitchFamily="18" charset="2"/>
              </a:rPr>
              <a:t>B</a:t>
            </a:r>
            <a:r>
              <a:rPr kumimoji="1" lang="en-US" altLang="zh-CN" sz="3200" b="1" dirty="0">
                <a:latin typeface="+mn-lt"/>
                <a:cs typeface="Times New Roman" panose="02020603050405020304" pitchFamily="18" charset="0"/>
                <a:sym typeface="Symbol"/>
              </a:rPr>
              <a:t></a:t>
            </a:r>
            <a:r>
              <a:rPr kumimoji="1" lang="en-US" altLang="zh-CN" sz="3200" b="1" i="1" dirty="0">
                <a:latin typeface="+mn-lt"/>
                <a:cs typeface="Times New Roman" panose="02020603050405020304" pitchFamily="18" charset="0"/>
                <a:sym typeface="Symbol" pitchFamily="18" charset="2"/>
              </a:rPr>
              <a:t>C</a:t>
            </a:r>
            <a:r>
              <a:rPr kumimoji="1" lang="en-US" altLang="zh-CN" sz="3200" b="1" dirty="0">
                <a:latin typeface="+mn-lt"/>
                <a:cs typeface="Times New Roman" panose="02020603050405020304" pitchFamily="18" charset="0"/>
                <a:sym typeface="Symbol" pitchFamily="18" charset="2"/>
              </a:rPr>
              <a:t>)</a:t>
            </a:r>
            <a:r>
              <a:rPr kumimoji="1" lang="zh-CN" altLang="en-US" sz="3200" b="1" dirty="0">
                <a:latin typeface="+mn-lt"/>
                <a:cs typeface="Times New Roman" panose="02020603050405020304" pitchFamily="18" charset="0"/>
                <a:sym typeface="Symbol" pitchFamily="18" charset="2"/>
              </a:rPr>
              <a:t>， </a:t>
            </a:r>
          </a:p>
          <a:p>
            <a:pPr eaLnBrk="1" hangingPunct="1">
              <a:lnSpc>
                <a:spcPct val="100000"/>
              </a:lnSpc>
              <a:buNone/>
            </a:pPr>
            <a:r>
              <a:rPr kumimoji="1" lang="zh-CN" altLang="en-US" sz="3200" b="1" dirty="0">
                <a:latin typeface="+mn-lt"/>
                <a:cs typeface="Times New Roman" panose="02020603050405020304" pitchFamily="18" charset="0"/>
                <a:sym typeface="Symbol" pitchFamily="18" charset="2"/>
              </a:rPr>
              <a:t>                    </a:t>
            </a:r>
            <a:r>
              <a:rPr kumimoji="1" lang="en-US" altLang="zh-CN" sz="3200" b="1" dirty="0">
                <a:latin typeface="+mn-lt"/>
                <a:cs typeface="Times New Roman" panose="02020603050405020304" pitchFamily="18" charset="0"/>
                <a:sym typeface="Symbol" pitchFamily="18" charset="2"/>
              </a:rPr>
              <a:t>( </a:t>
            </a:r>
            <a:r>
              <a:rPr kumimoji="1" lang="en-US" altLang="zh-CN" sz="3200" b="1" i="1" dirty="0">
                <a:latin typeface="+mn-lt"/>
                <a:cs typeface="Times New Roman" panose="02020603050405020304" pitchFamily="18" charset="0"/>
              </a:rPr>
              <a:t>A</a:t>
            </a:r>
            <a:r>
              <a:rPr kumimoji="1" lang="en-US" altLang="zh-CN" sz="3200" b="1" dirty="0">
                <a:latin typeface="+mn-lt"/>
                <a:cs typeface="Times New Roman" panose="02020603050405020304" pitchFamily="18" charset="0"/>
                <a:sym typeface="Symbol"/>
              </a:rPr>
              <a:t></a:t>
            </a:r>
            <a:r>
              <a:rPr kumimoji="1" lang="en-US" altLang="zh-CN" sz="3200" b="1" i="1" dirty="0">
                <a:latin typeface="+mn-lt"/>
                <a:cs typeface="Times New Roman" panose="02020603050405020304" pitchFamily="18" charset="0"/>
                <a:sym typeface="Symbol" pitchFamily="18" charset="2"/>
              </a:rPr>
              <a:t>B </a:t>
            </a:r>
            <a:r>
              <a:rPr kumimoji="1" lang="en-US" altLang="zh-CN" sz="3200" b="1" dirty="0">
                <a:latin typeface="+mn-lt"/>
                <a:cs typeface="Times New Roman" panose="02020603050405020304" pitchFamily="18" charset="0"/>
                <a:sym typeface="Symbol" pitchFamily="18" charset="2"/>
              </a:rPr>
              <a:t>)</a:t>
            </a:r>
            <a:r>
              <a:rPr kumimoji="1" lang="en-US" altLang="zh-CN" sz="3200" b="1" dirty="0">
                <a:latin typeface="+mn-lt"/>
                <a:cs typeface="Times New Roman" panose="02020603050405020304" pitchFamily="18" charset="0"/>
                <a:sym typeface="Symbol"/>
              </a:rPr>
              <a:t></a:t>
            </a:r>
            <a:r>
              <a:rPr kumimoji="1" lang="en-US" altLang="zh-CN" sz="3200" b="1" i="1" dirty="0">
                <a:latin typeface="+mn-lt"/>
                <a:cs typeface="Times New Roman" panose="02020603050405020304" pitchFamily="18" charset="0"/>
                <a:sym typeface="Symbol" pitchFamily="18" charset="2"/>
              </a:rPr>
              <a:t>C</a:t>
            </a:r>
            <a:r>
              <a:rPr kumimoji="1" lang="en-US" altLang="zh-CN" sz="3200" b="1" dirty="0">
                <a:latin typeface="+mn-lt"/>
                <a:cs typeface="Times New Roman" panose="02020603050405020304" pitchFamily="18" charset="0"/>
                <a:sym typeface="Symbol" pitchFamily="18" charset="2"/>
              </a:rPr>
              <a:t> = </a:t>
            </a:r>
            <a:r>
              <a:rPr kumimoji="1" lang="en-US" altLang="zh-CN" sz="3200" b="1" i="1" dirty="0">
                <a:latin typeface="+mn-lt"/>
                <a:cs typeface="Times New Roman" panose="02020603050405020304" pitchFamily="18" charset="0"/>
              </a:rPr>
              <a:t>A </a:t>
            </a:r>
            <a:r>
              <a:rPr kumimoji="1" lang="en-US" altLang="zh-CN" sz="3200" b="1" dirty="0">
                <a:latin typeface="+mn-lt"/>
                <a:cs typeface="Times New Roman" panose="02020603050405020304" pitchFamily="18" charset="0"/>
                <a:sym typeface="Symbol"/>
              </a:rPr>
              <a:t></a:t>
            </a:r>
            <a:r>
              <a:rPr kumimoji="1" lang="en-US" altLang="zh-CN" sz="3200" b="1" dirty="0">
                <a:latin typeface="+mn-lt"/>
                <a:cs typeface="Times New Roman" panose="02020603050405020304" pitchFamily="18" charset="0"/>
              </a:rPr>
              <a:t> </a:t>
            </a:r>
            <a:r>
              <a:rPr kumimoji="1" lang="en-US" altLang="zh-CN" sz="3200" b="1" dirty="0">
                <a:latin typeface="+mn-lt"/>
                <a:cs typeface="Times New Roman" panose="02020603050405020304" pitchFamily="18" charset="0"/>
                <a:sym typeface="Symbol" pitchFamily="18" charset="2"/>
              </a:rPr>
              <a:t>(</a:t>
            </a:r>
            <a:r>
              <a:rPr kumimoji="1" lang="en-US" altLang="zh-CN" sz="3200" b="1" i="1" dirty="0">
                <a:latin typeface="+mn-lt"/>
                <a:cs typeface="Times New Roman" panose="02020603050405020304" pitchFamily="18" charset="0"/>
                <a:sym typeface="Symbol" pitchFamily="18" charset="2"/>
              </a:rPr>
              <a:t>B</a:t>
            </a:r>
            <a:r>
              <a:rPr kumimoji="1" lang="en-US" altLang="zh-CN" sz="3200" b="1" dirty="0">
                <a:latin typeface="+mn-lt"/>
                <a:cs typeface="Times New Roman" panose="02020603050405020304" pitchFamily="18" charset="0"/>
                <a:sym typeface="Symbol"/>
              </a:rPr>
              <a:t></a:t>
            </a:r>
            <a:r>
              <a:rPr kumimoji="1" lang="en-US" altLang="zh-CN" sz="3200" b="1" i="1" dirty="0">
                <a:latin typeface="+mn-lt"/>
                <a:cs typeface="Times New Roman" panose="02020603050405020304" pitchFamily="18" charset="0"/>
                <a:sym typeface="Symbol" pitchFamily="18" charset="2"/>
              </a:rPr>
              <a:t>C</a:t>
            </a:r>
            <a:r>
              <a:rPr kumimoji="1" lang="en-US" altLang="zh-CN" sz="3200" b="1" dirty="0">
                <a:latin typeface="+mn-lt"/>
                <a:cs typeface="Times New Roman" panose="02020603050405020304" pitchFamily="18" charset="0"/>
                <a:sym typeface="Symbol" pitchFamily="18" charset="2"/>
              </a:rPr>
              <a:t>)</a:t>
            </a:r>
            <a:r>
              <a:rPr kumimoji="1" lang="zh-CN" altLang="en-US" sz="3200" b="1" dirty="0">
                <a:latin typeface="+mn-lt"/>
                <a:cs typeface="Times New Roman" panose="02020603050405020304" pitchFamily="18" charset="0"/>
                <a:sym typeface="Symbol" pitchFamily="18" charset="2"/>
              </a:rPr>
              <a:t>；</a:t>
            </a:r>
            <a:endParaRPr lang="zh-CN" altLang="en-US" sz="3200" b="1" dirty="0">
              <a:latin typeface="+mn-lt"/>
              <a:cs typeface="Times New Roman" panose="02020603050405020304" pitchFamily="18" charset="0"/>
            </a:endParaRPr>
          </a:p>
          <a:p>
            <a:pPr eaLnBrk="1" hangingPunct="1">
              <a:lnSpc>
                <a:spcPct val="100000"/>
              </a:lnSpc>
              <a:buNone/>
            </a:pPr>
            <a:r>
              <a:rPr kumimoji="1" lang="en-US" altLang="zh-CN" sz="3200" b="1" dirty="0">
                <a:latin typeface="+mn-lt"/>
                <a:cs typeface="Times New Roman" panose="02020603050405020304" pitchFamily="18" charset="0"/>
                <a:sym typeface="Symbol" pitchFamily="18" charset="2"/>
              </a:rPr>
              <a:t>4</a:t>
            </a:r>
            <a:r>
              <a:rPr kumimoji="1" lang="zh-CN" altLang="en-US" sz="3200" b="1" dirty="0">
                <a:latin typeface="+mn-lt"/>
                <a:cs typeface="Times New Roman" panose="02020603050405020304" pitchFamily="18" charset="0"/>
                <a:sym typeface="Symbol" pitchFamily="18" charset="2"/>
              </a:rPr>
              <a:t>）</a:t>
            </a:r>
            <a:r>
              <a:rPr kumimoji="1" lang="zh-CN" altLang="en-US" sz="3200" b="1" dirty="0">
                <a:solidFill>
                  <a:srgbClr val="0000FF"/>
                </a:solidFill>
                <a:latin typeface="+mn-lt"/>
                <a:cs typeface="Times New Roman" panose="02020603050405020304" pitchFamily="18" charset="0"/>
                <a:sym typeface="Symbol" pitchFamily="18" charset="2"/>
              </a:rPr>
              <a:t>幂等律</a:t>
            </a:r>
            <a:r>
              <a:rPr kumimoji="1" lang="zh-CN" altLang="en-US" sz="3200" b="1" dirty="0">
                <a:latin typeface="+mn-lt"/>
                <a:cs typeface="Times New Roman" panose="02020603050405020304" pitchFamily="18" charset="0"/>
                <a:sym typeface="Symbol" pitchFamily="18" charset="2"/>
              </a:rPr>
              <a:t>： </a:t>
            </a:r>
            <a:r>
              <a:rPr kumimoji="1" lang="en-US" altLang="zh-CN" sz="3200" b="1" i="1" dirty="0">
                <a:latin typeface="+mn-lt"/>
                <a:cs typeface="Times New Roman" panose="02020603050405020304" pitchFamily="18" charset="0"/>
              </a:rPr>
              <a:t>A</a:t>
            </a:r>
            <a:r>
              <a:rPr kumimoji="1" lang="en-US" altLang="zh-CN" sz="3200" b="1" dirty="0">
                <a:latin typeface="+mn-lt"/>
                <a:cs typeface="Times New Roman" panose="02020603050405020304" pitchFamily="18" charset="0"/>
                <a:sym typeface="Symbol"/>
              </a:rPr>
              <a:t>  </a:t>
            </a:r>
            <a:r>
              <a:rPr kumimoji="1" lang="en-US" altLang="zh-CN" sz="3200" b="1" i="1" dirty="0">
                <a:latin typeface="+mn-lt"/>
                <a:cs typeface="Times New Roman" panose="02020603050405020304" pitchFamily="18" charset="0"/>
                <a:sym typeface="Symbol" pitchFamily="18" charset="2"/>
              </a:rPr>
              <a:t>A </a:t>
            </a:r>
            <a:r>
              <a:rPr kumimoji="1" lang="en-US" altLang="zh-CN" sz="3200" b="1" dirty="0">
                <a:latin typeface="+mn-lt"/>
                <a:cs typeface="Times New Roman" panose="02020603050405020304" pitchFamily="18" charset="0"/>
                <a:sym typeface="Symbol" pitchFamily="18" charset="2"/>
              </a:rPr>
              <a:t>= </a:t>
            </a:r>
            <a:r>
              <a:rPr kumimoji="1" lang="en-US" altLang="zh-CN" sz="3200" b="1" i="1" dirty="0">
                <a:latin typeface="+mn-lt"/>
                <a:cs typeface="Times New Roman" panose="02020603050405020304" pitchFamily="18" charset="0"/>
              </a:rPr>
              <a:t>A</a:t>
            </a:r>
            <a:r>
              <a:rPr kumimoji="1" lang="zh-CN" altLang="en-US" sz="3200" b="1" dirty="0">
                <a:latin typeface="+mn-lt"/>
                <a:cs typeface="Times New Roman" panose="02020603050405020304" pitchFamily="18" charset="0"/>
                <a:sym typeface="Symbol" pitchFamily="18" charset="2"/>
              </a:rPr>
              <a:t>， </a:t>
            </a:r>
            <a:r>
              <a:rPr kumimoji="1" lang="en-US" altLang="zh-CN" sz="3200" b="1" i="1" dirty="0">
                <a:latin typeface="+mn-lt"/>
                <a:cs typeface="Times New Roman" panose="02020603050405020304" pitchFamily="18" charset="0"/>
              </a:rPr>
              <a:t>A</a:t>
            </a:r>
            <a:r>
              <a:rPr kumimoji="1" lang="en-US" altLang="zh-CN" sz="3200" b="1" dirty="0">
                <a:latin typeface="+mn-lt"/>
                <a:cs typeface="Times New Roman" panose="02020603050405020304" pitchFamily="18" charset="0"/>
                <a:sym typeface="Symbol"/>
              </a:rPr>
              <a:t>  </a:t>
            </a:r>
            <a:r>
              <a:rPr kumimoji="1" lang="en-US" altLang="zh-CN" sz="3200" b="1" i="1" dirty="0">
                <a:latin typeface="+mn-lt"/>
                <a:cs typeface="Times New Roman" panose="02020603050405020304" pitchFamily="18" charset="0"/>
                <a:sym typeface="Symbol" pitchFamily="18" charset="2"/>
              </a:rPr>
              <a:t>A </a:t>
            </a:r>
            <a:r>
              <a:rPr kumimoji="1" lang="en-US" altLang="zh-CN" sz="3200" b="1" dirty="0">
                <a:latin typeface="+mn-lt"/>
                <a:cs typeface="Times New Roman" panose="02020603050405020304" pitchFamily="18" charset="0"/>
                <a:sym typeface="Symbol" pitchFamily="18" charset="2"/>
              </a:rPr>
              <a:t>= </a:t>
            </a:r>
            <a:r>
              <a:rPr kumimoji="1" lang="en-US" altLang="zh-CN" sz="3200" b="1" i="1" dirty="0">
                <a:latin typeface="+mn-lt"/>
                <a:cs typeface="Times New Roman" panose="02020603050405020304" pitchFamily="18" charset="0"/>
              </a:rPr>
              <a:t>A</a:t>
            </a:r>
            <a:r>
              <a:rPr kumimoji="1" lang="zh-CN" altLang="en-US" sz="3200" b="1" dirty="0">
                <a:latin typeface="+mn-lt"/>
                <a:cs typeface="Times New Roman" panose="02020603050405020304" pitchFamily="18" charset="0"/>
                <a:sym typeface="Symbol" pitchFamily="18" charset="2"/>
              </a:rPr>
              <a:t>；</a:t>
            </a:r>
          </a:p>
          <a:p>
            <a:pPr eaLnBrk="1" hangingPunct="1">
              <a:lnSpc>
                <a:spcPct val="100000"/>
              </a:lnSpc>
              <a:buNone/>
            </a:pPr>
            <a:r>
              <a:rPr kumimoji="1" lang="en-US" altLang="zh-CN" sz="3200" b="1" dirty="0">
                <a:latin typeface="+mn-lt"/>
                <a:cs typeface="Times New Roman" panose="02020603050405020304" pitchFamily="18" charset="0"/>
                <a:sym typeface="Symbol" pitchFamily="18" charset="2"/>
              </a:rPr>
              <a:t>5</a:t>
            </a:r>
            <a:r>
              <a:rPr kumimoji="1" lang="zh-CN" altLang="en-US" sz="3200" b="1" dirty="0">
                <a:latin typeface="+mn-lt"/>
                <a:cs typeface="Times New Roman" panose="02020603050405020304" pitchFamily="18" charset="0"/>
                <a:sym typeface="Symbol" pitchFamily="18" charset="2"/>
              </a:rPr>
              <a:t>）</a:t>
            </a:r>
            <a:r>
              <a:rPr kumimoji="1" lang="zh-CN" altLang="en-US" sz="3200" b="1" dirty="0">
                <a:solidFill>
                  <a:srgbClr val="0000FF"/>
                </a:solidFill>
                <a:latin typeface="+mn-lt"/>
                <a:cs typeface="Times New Roman" panose="02020603050405020304" pitchFamily="18" charset="0"/>
                <a:sym typeface="Symbol" pitchFamily="18" charset="2"/>
              </a:rPr>
              <a:t>同一律： </a:t>
            </a:r>
            <a:r>
              <a:rPr kumimoji="1" lang="en-US" altLang="zh-CN" sz="3200" b="1" i="1" dirty="0">
                <a:solidFill>
                  <a:srgbClr val="3333FF"/>
                </a:solidFill>
                <a:latin typeface="+mn-lt"/>
                <a:cs typeface="Times New Roman" panose="02020603050405020304" pitchFamily="18" charset="0"/>
              </a:rPr>
              <a:t>A</a:t>
            </a:r>
            <a:r>
              <a:rPr kumimoji="1" lang="en-US" altLang="zh-CN" sz="3200" b="1" dirty="0">
                <a:solidFill>
                  <a:srgbClr val="3333FF"/>
                </a:solidFill>
                <a:latin typeface="+mn-lt"/>
                <a:cs typeface="Times New Roman" panose="02020603050405020304" pitchFamily="18" charset="0"/>
                <a:sym typeface="Symbol"/>
              </a:rPr>
              <a:t>  </a:t>
            </a:r>
            <a:r>
              <a:rPr kumimoji="1" lang="en-US" altLang="zh-CN" sz="3200" b="1" i="1" dirty="0">
                <a:solidFill>
                  <a:srgbClr val="3333FF"/>
                </a:solidFill>
                <a:latin typeface="+mn-lt"/>
                <a:cs typeface="Times New Roman" panose="02020603050405020304" pitchFamily="18" charset="0"/>
                <a:sym typeface="Symbol" pitchFamily="18" charset="2"/>
              </a:rPr>
              <a:t>U </a:t>
            </a:r>
            <a:r>
              <a:rPr kumimoji="1" lang="en-US" altLang="zh-CN" sz="3200" b="1" dirty="0">
                <a:solidFill>
                  <a:srgbClr val="3333FF"/>
                </a:solidFill>
                <a:latin typeface="+mn-lt"/>
                <a:cs typeface="Times New Roman" panose="02020603050405020304" pitchFamily="18" charset="0"/>
                <a:sym typeface="Symbol" pitchFamily="18" charset="2"/>
              </a:rPr>
              <a:t>= </a:t>
            </a:r>
            <a:r>
              <a:rPr kumimoji="1" lang="en-US" altLang="zh-CN" sz="3200" b="1" i="1" dirty="0">
                <a:solidFill>
                  <a:srgbClr val="3333FF"/>
                </a:solidFill>
                <a:latin typeface="+mn-lt"/>
                <a:cs typeface="Times New Roman" panose="02020603050405020304" pitchFamily="18" charset="0"/>
              </a:rPr>
              <a:t>U</a:t>
            </a:r>
            <a:r>
              <a:rPr kumimoji="1" lang="en-US" altLang="zh-CN" sz="3200" b="1" dirty="0">
                <a:solidFill>
                  <a:srgbClr val="3333FF"/>
                </a:solidFill>
                <a:latin typeface="+mn-lt"/>
                <a:cs typeface="Times New Roman" panose="02020603050405020304" pitchFamily="18" charset="0"/>
                <a:sym typeface="Symbol" pitchFamily="18" charset="2"/>
              </a:rPr>
              <a:t> </a:t>
            </a:r>
            <a:r>
              <a:rPr kumimoji="1" lang="zh-CN" altLang="en-US" sz="3200" b="1" dirty="0">
                <a:solidFill>
                  <a:srgbClr val="3333FF"/>
                </a:solidFill>
                <a:latin typeface="+mn-lt"/>
                <a:cs typeface="Times New Roman" panose="02020603050405020304" pitchFamily="18" charset="0"/>
                <a:sym typeface="Symbol" pitchFamily="18" charset="2"/>
              </a:rPr>
              <a:t>， </a:t>
            </a:r>
            <a:r>
              <a:rPr kumimoji="1" lang="en-US" altLang="zh-CN" sz="3200" b="1" i="1" dirty="0">
                <a:solidFill>
                  <a:srgbClr val="3333FF"/>
                </a:solidFill>
                <a:latin typeface="+mn-lt"/>
                <a:cs typeface="Times New Roman" panose="02020603050405020304" pitchFamily="18" charset="0"/>
              </a:rPr>
              <a:t>A</a:t>
            </a:r>
            <a:r>
              <a:rPr kumimoji="1" lang="en-US" altLang="zh-CN" sz="3200" b="1" dirty="0">
                <a:solidFill>
                  <a:srgbClr val="3333FF"/>
                </a:solidFill>
                <a:latin typeface="+mn-lt"/>
                <a:cs typeface="Times New Roman" panose="02020603050405020304" pitchFamily="18" charset="0"/>
                <a:sym typeface="Symbol"/>
              </a:rPr>
              <a:t>  </a:t>
            </a:r>
            <a:r>
              <a:rPr kumimoji="1" lang="en-US" altLang="zh-CN" sz="3200" b="1" i="1" dirty="0">
                <a:solidFill>
                  <a:srgbClr val="3333FF"/>
                </a:solidFill>
                <a:latin typeface="+mn-lt"/>
                <a:cs typeface="Times New Roman" panose="02020603050405020304" pitchFamily="18" charset="0"/>
                <a:sym typeface="Symbol" pitchFamily="18" charset="2"/>
              </a:rPr>
              <a:t>U </a:t>
            </a:r>
            <a:r>
              <a:rPr kumimoji="1" lang="en-US" altLang="zh-CN" sz="3200" b="1" dirty="0">
                <a:solidFill>
                  <a:srgbClr val="3333FF"/>
                </a:solidFill>
                <a:latin typeface="+mn-lt"/>
                <a:cs typeface="Times New Roman" panose="02020603050405020304" pitchFamily="18" charset="0"/>
                <a:sym typeface="Symbol" pitchFamily="18" charset="2"/>
              </a:rPr>
              <a:t>= </a:t>
            </a:r>
            <a:r>
              <a:rPr kumimoji="1" lang="en-US" altLang="zh-CN" sz="3200" b="1" i="1" dirty="0">
                <a:solidFill>
                  <a:srgbClr val="3333FF"/>
                </a:solidFill>
                <a:latin typeface="+mn-lt"/>
                <a:cs typeface="Times New Roman" panose="02020603050405020304" pitchFamily="18" charset="0"/>
              </a:rPr>
              <a:t>A</a:t>
            </a:r>
            <a:r>
              <a:rPr kumimoji="1" lang="en-US" altLang="zh-CN" sz="3200" b="1" dirty="0">
                <a:solidFill>
                  <a:srgbClr val="3333FF"/>
                </a:solidFill>
                <a:latin typeface="+mn-lt"/>
                <a:cs typeface="Times New Roman" panose="02020603050405020304" pitchFamily="18" charset="0"/>
                <a:sym typeface="Symbol" pitchFamily="18" charset="2"/>
              </a:rPr>
              <a:t> </a:t>
            </a:r>
            <a:r>
              <a:rPr kumimoji="1" lang="zh-CN" altLang="en-US" sz="3200" b="1" dirty="0">
                <a:solidFill>
                  <a:srgbClr val="3333FF"/>
                </a:solidFill>
                <a:latin typeface="+mn-lt"/>
                <a:cs typeface="Times New Roman" panose="02020603050405020304" pitchFamily="18" charset="0"/>
                <a:sym typeface="Symbol" pitchFamily="18" charset="2"/>
              </a:rPr>
              <a:t>；</a:t>
            </a:r>
          </a:p>
          <a:p>
            <a:pPr eaLnBrk="1" hangingPunct="1">
              <a:lnSpc>
                <a:spcPct val="100000"/>
              </a:lnSpc>
              <a:buNone/>
            </a:pPr>
            <a:r>
              <a:rPr kumimoji="1" lang="zh-CN" altLang="en-US" sz="3200" b="1" i="1" dirty="0">
                <a:solidFill>
                  <a:srgbClr val="3333FF"/>
                </a:solidFill>
                <a:latin typeface="+mn-lt"/>
                <a:cs typeface="Times New Roman" panose="02020603050405020304" pitchFamily="18" charset="0"/>
              </a:rPr>
              <a:t>                     </a:t>
            </a:r>
            <a:r>
              <a:rPr kumimoji="1" lang="en-US" altLang="zh-CN" sz="3200" b="1" i="1" dirty="0">
                <a:solidFill>
                  <a:srgbClr val="3333FF"/>
                </a:solidFill>
                <a:latin typeface="+mn-lt"/>
                <a:cs typeface="Times New Roman" panose="02020603050405020304" pitchFamily="18" charset="0"/>
              </a:rPr>
              <a:t>A</a:t>
            </a:r>
            <a:r>
              <a:rPr kumimoji="1" lang="en-US" altLang="zh-CN" sz="3200" b="1" dirty="0">
                <a:solidFill>
                  <a:srgbClr val="3333FF"/>
                </a:solidFill>
                <a:latin typeface="+mn-lt"/>
                <a:cs typeface="Times New Roman" panose="02020603050405020304" pitchFamily="18" charset="0"/>
                <a:sym typeface="Symbol"/>
              </a:rPr>
              <a:t>  </a:t>
            </a:r>
            <a:r>
              <a:rPr lang="en-US" altLang="zh-CN" sz="3200" b="1" dirty="0">
                <a:solidFill>
                  <a:srgbClr val="3333FF"/>
                </a:solidFill>
                <a:latin typeface="+mn-lt"/>
                <a:cs typeface="Times New Roman" panose="02020603050405020304" pitchFamily="18" charset="0"/>
              </a:rPr>
              <a:t>Ø</a:t>
            </a:r>
            <a:r>
              <a:rPr kumimoji="1" lang="en-US" altLang="zh-CN" sz="3200" b="1" dirty="0">
                <a:solidFill>
                  <a:srgbClr val="3333FF"/>
                </a:solidFill>
                <a:latin typeface="+mn-lt"/>
                <a:cs typeface="Times New Roman" panose="02020603050405020304" pitchFamily="18" charset="0"/>
                <a:sym typeface="Symbol" pitchFamily="18" charset="2"/>
              </a:rPr>
              <a:t> </a:t>
            </a:r>
            <a:r>
              <a:rPr kumimoji="1" lang="en-US" altLang="zh-CN" sz="3200" b="1" i="1" dirty="0">
                <a:solidFill>
                  <a:srgbClr val="3333FF"/>
                </a:solidFill>
                <a:latin typeface="+mn-lt"/>
                <a:cs typeface="Times New Roman" panose="02020603050405020304" pitchFamily="18" charset="0"/>
                <a:sym typeface="Symbol" pitchFamily="18" charset="2"/>
              </a:rPr>
              <a:t> </a:t>
            </a:r>
            <a:r>
              <a:rPr kumimoji="1" lang="en-US" altLang="zh-CN" sz="3200" b="1" dirty="0">
                <a:solidFill>
                  <a:srgbClr val="3333FF"/>
                </a:solidFill>
                <a:latin typeface="+mn-lt"/>
                <a:cs typeface="Times New Roman" panose="02020603050405020304" pitchFamily="18" charset="0"/>
                <a:sym typeface="Symbol" pitchFamily="18" charset="2"/>
              </a:rPr>
              <a:t>= </a:t>
            </a:r>
            <a:r>
              <a:rPr kumimoji="1" lang="en-US" altLang="zh-CN" sz="3200" b="1" i="1" dirty="0">
                <a:solidFill>
                  <a:srgbClr val="3333FF"/>
                </a:solidFill>
                <a:latin typeface="+mn-lt"/>
                <a:cs typeface="Times New Roman" panose="02020603050405020304" pitchFamily="18" charset="0"/>
                <a:sym typeface="Symbol" pitchFamily="18" charset="2"/>
              </a:rPr>
              <a:t>A</a:t>
            </a:r>
            <a:r>
              <a:rPr kumimoji="1" lang="en-US" altLang="zh-CN" sz="3200" b="1" dirty="0">
                <a:solidFill>
                  <a:srgbClr val="3333FF"/>
                </a:solidFill>
                <a:latin typeface="+mn-lt"/>
                <a:cs typeface="Times New Roman" panose="02020603050405020304" pitchFamily="18" charset="0"/>
                <a:sym typeface="Symbol" pitchFamily="18" charset="2"/>
              </a:rPr>
              <a:t> </a:t>
            </a:r>
            <a:r>
              <a:rPr kumimoji="1" lang="zh-CN" altLang="en-US" sz="3200" b="1" dirty="0">
                <a:solidFill>
                  <a:srgbClr val="3333FF"/>
                </a:solidFill>
                <a:latin typeface="+mn-lt"/>
                <a:cs typeface="Times New Roman" panose="02020603050405020304" pitchFamily="18" charset="0"/>
                <a:sym typeface="Symbol" pitchFamily="18" charset="2"/>
              </a:rPr>
              <a:t>， </a:t>
            </a:r>
            <a:r>
              <a:rPr kumimoji="1" lang="en-US" altLang="zh-CN" sz="3200" b="1" i="1" dirty="0">
                <a:solidFill>
                  <a:srgbClr val="3333FF"/>
                </a:solidFill>
                <a:latin typeface="+mn-lt"/>
                <a:cs typeface="Times New Roman" panose="02020603050405020304" pitchFamily="18" charset="0"/>
              </a:rPr>
              <a:t>A</a:t>
            </a:r>
            <a:r>
              <a:rPr kumimoji="1" lang="en-US" altLang="zh-CN" sz="3200" b="1" dirty="0">
                <a:solidFill>
                  <a:srgbClr val="3333FF"/>
                </a:solidFill>
                <a:latin typeface="+mn-lt"/>
                <a:cs typeface="Times New Roman" panose="02020603050405020304" pitchFamily="18" charset="0"/>
                <a:sym typeface="Symbol"/>
              </a:rPr>
              <a:t>  </a:t>
            </a:r>
            <a:r>
              <a:rPr lang="en-US" altLang="zh-CN" sz="3200" b="1" dirty="0">
                <a:solidFill>
                  <a:srgbClr val="3333FF"/>
                </a:solidFill>
                <a:latin typeface="+mn-lt"/>
                <a:cs typeface="Times New Roman" panose="02020603050405020304" pitchFamily="18" charset="0"/>
              </a:rPr>
              <a:t>Ø</a:t>
            </a:r>
            <a:r>
              <a:rPr kumimoji="1" lang="en-US" altLang="zh-CN" sz="3200" b="1" i="1" dirty="0">
                <a:solidFill>
                  <a:srgbClr val="3333FF"/>
                </a:solidFill>
                <a:latin typeface="+mn-lt"/>
                <a:cs typeface="Times New Roman" panose="02020603050405020304" pitchFamily="18" charset="0"/>
                <a:sym typeface="Symbol" pitchFamily="18" charset="2"/>
              </a:rPr>
              <a:t> </a:t>
            </a:r>
            <a:r>
              <a:rPr kumimoji="1" lang="en-US" altLang="zh-CN" sz="3200" b="1" dirty="0">
                <a:solidFill>
                  <a:srgbClr val="3333FF"/>
                </a:solidFill>
                <a:latin typeface="+mn-lt"/>
                <a:cs typeface="Times New Roman" panose="02020603050405020304" pitchFamily="18" charset="0"/>
                <a:sym typeface="Symbol" pitchFamily="18" charset="2"/>
              </a:rPr>
              <a:t>= </a:t>
            </a:r>
            <a:r>
              <a:rPr lang="en-US" altLang="zh-CN" sz="3200" b="1" dirty="0">
                <a:solidFill>
                  <a:srgbClr val="3333FF"/>
                </a:solidFill>
                <a:latin typeface="+mn-lt"/>
                <a:cs typeface="Times New Roman" panose="02020603050405020304" pitchFamily="18" charset="0"/>
              </a:rPr>
              <a:t>Ø</a:t>
            </a:r>
            <a:r>
              <a:rPr kumimoji="1" lang="en-US" altLang="zh-CN" sz="3200" b="1" dirty="0">
                <a:solidFill>
                  <a:srgbClr val="3333FF"/>
                </a:solidFill>
                <a:latin typeface="+mn-lt"/>
                <a:cs typeface="Times New Roman" panose="02020603050405020304" pitchFamily="18" charset="0"/>
                <a:sym typeface="Symbol" pitchFamily="18" charset="2"/>
              </a:rPr>
              <a:t> </a:t>
            </a:r>
            <a:r>
              <a:rPr kumimoji="1" lang="zh-CN" altLang="en-US" sz="3200" b="1" dirty="0">
                <a:solidFill>
                  <a:srgbClr val="3333FF"/>
                </a:solidFill>
                <a:latin typeface="+mn-lt"/>
                <a:cs typeface="Times New Roman" panose="02020603050405020304" pitchFamily="18" charset="0"/>
                <a:sym typeface="Symbol" pitchFamily="18" charset="2"/>
              </a:rPr>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23555">
                                            <p:txEl>
                                              <p:pRg st="1" end="1"/>
                                            </p:txEl>
                                          </p:spTgt>
                                        </p:tgtEl>
                                        <p:attrNameLst>
                                          <p:attrName>style.visibility</p:attrName>
                                        </p:attrNameLst>
                                      </p:cBhvr>
                                      <p:to>
                                        <p:strVal val="visible"/>
                                      </p:to>
                                    </p:set>
                                    <p:animEffect transition="in" filter="blinds(horizontal)">
                                      <p:cBhvr>
                                        <p:cTn id="7" dur="500"/>
                                        <p:tgtEl>
                                          <p:spTgt spid="23555">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23555">
                                            <p:txEl>
                                              <p:pRg st="2" end="2"/>
                                            </p:txEl>
                                          </p:spTgt>
                                        </p:tgtEl>
                                        <p:attrNameLst>
                                          <p:attrName>style.visibility</p:attrName>
                                        </p:attrNameLst>
                                      </p:cBhvr>
                                      <p:to>
                                        <p:strVal val="visible"/>
                                      </p:to>
                                    </p:set>
                                    <p:animEffect transition="in" filter="blinds(horizontal)">
                                      <p:cBhvr>
                                        <p:cTn id="12" dur="500"/>
                                        <p:tgtEl>
                                          <p:spTgt spid="23555">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23555">
                                            <p:txEl>
                                              <p:pRg st="3" end="3"/>
                                            </p:txEl>
                                          </p:spTgt>
                                        </p:tgtEl>
                                        <p:attrNameLst>
                                          <p:attrName>style.visibility</p:attrName>
                                        </p:attrNameLst>
                                      </p:cBhvr>
                                      <p:to>
                                        <p:strVal val="visible"/>
                                      </p:to>
                                    </p:set>
                                    <p:animEffect transition="in" filter="blinds(horizontal)">
                                      <p:cBhvr>
                                        <p:cTn id="17" dur="500"/>
                                        <p:tgtEl>
                                          <p:spTgt spid="23555">
                                            <p:txEl>
                                              <p:pRg st="3" end="3"/>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23555">
                                            <p:txEl>
                                              <p:pRg st="4" end="4"/>
                                            </p:txEl>
                                          </p:spTgt>
                                        </p:tgtEl>
                                        <p:attrNameLst>
                                          <p:attrName>style.visibility</p:attrName>
                                        </p:attrNameLst>
                                      </p:cBhvr>
                                      <p:to>
                                        <p:strVal val="visible"/>
                                      </p:to>
                                    </p:set>
                                    <p:animEffect transition="in" filter="blinds(horizontal)">
                                      <p:cBhvr>
                                        <p:cTn id="22" dur="500"/>
                                        <p:tgtEl>
                                          <p:spTgt spid="23555">
                                            <p:txEl>
                                              <p:pRg st="4" end="4"/>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23555">
                                            <p:txEl>
                                              <p:pRg st="5" end="5"/>
                                            </p:txEl>
                                          </p:spTgt>
                                        </p:tgtEl>
                                        <p:attrNameLst>
                                          <p:attrName>style.visibility</p:attrName>
                                        </p:attrNameLst>
                                      </p:cBhvr>
                                      <p:to>
                                        <p:strVal val="visible"/>
                                      </p:to>
                                    </p:set>
                                    <p:animEffect transition="in" filter="blinds(horizontal)">
                                      <p:cBhvr>
                                        <p:cTn id="27" dur="500"/>
                                        <p:tgtEl>
                                          <p:spTgt spid="23555">
                                            <p:txEl>
                                              <p:pRg st="5" end="5"/>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nodeType="clickEffect">
                                  <p:stCondLst>
                                    <p:cond delay="0"/>
                                  </p:stCondLst>
                                  <p:childTnLst>
                                    <p:set>
                                      <p:cBhvr>
                                        <p:cTn id="31" dur="1" fill="hold">
                                          <p:stCondLst>
                                            <p:cond delay="0"/>
                                          </p:stCondLst>
                                        </p:cTn>
                                        <p:tgtEl>
                                          <p:spTgt spid="23555">
                                            <p:txEl>
                                              <p:pRg st="6" end="6"/>
                                            </p:txEl>
                                          </p:spTgt>
                                        </p:tgtEl>
                                        <p:attrNameLst>
                                          <p:attrName>style.visibility</p:attrName>
                                        </p:attrNameLst>
                                      </p:cBhvr>
                                      <p:to>
                                        <p:strVal val="visible"/>
                                      </p:to>
                                    </p:set>
                                    <p:animEffect transition="in" filter="blinds(horizontal)">
                                      <p:cBhvr>
                                        <p:cTn id="32" dur="500"/>
                                        <p:tgtEl>
                                          <p:spTgt spid="23555">
                                            <p:txEl>
                                              <p:pRg st="6" end="6"/>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3" presetClass="entr" presetSubtype="10" fill="hold" nodeType="clickEffect">
                                  <p:stCondLst>
                                    <p:cond delay="0"/>
                                  </p:stCondLst>
                                  <p:childTnLst>
                                    <p:set>
                                      <p:cBhvr>
                                        <p:cTn id="36" dur="1" fill="hold">
                                          <p:stCondLst>
                                            <p:cond delay="0"/>
                                          </p:stCondLst>
                                        </p:cTn>
                                        <p:tgtEl>
                                          <p:spTgt spid="23555">
                                            <p:txEl>
                                              <p:pRg st="7" end="7"/>
                                            </p:txEl>
                                          </p:spTgt>
                                        </p:tgtEl>
                                        <p:attrNameLst>
                                          <p:attrName>style.visibility</p:attrName>
                                        </p:attrNameLst>
                                      </p:cBhvr>
                                      <p:to>
                                        <p:strVal val="visible"/>
                                      </p:to>
                                    </p:set>
                                    <p:animEffect transition="in" filter="blinds(horizontal)">
                                      <p:cBhvr>
                                        <p:cTn id="37" dur="500"/>
                                        <p:tgtEl>
                                          <p:spTgt spid="23555">
                                            <p:txEl>
                                              <p:pRg st="7" end="7"/>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3" presetClass="entr" presetSubtype="10" fill="hold" nodeType="clickEffect">
                                  <p:stCondLst>
                                    <p:cond delay="0"/>
                                  </p:stCondLst>
                                  <p:childTnLst>
                                    <p:set>
                                      <p:cBhvr>
                                        <p:cTn id="41" dur="1" fill="hold">
                                          <p:stCondLst>
                                            <p:cond delay="0"/>
                                          </p:stCondLst>
                                        </p:cTn>
                                        <p:tgtEl>
                                          <p:spTgt spid="23555">
                                            <p:txEl>
                                              <p:pRg st="8" end="8"/>
                                            </p:txEl>
                                          </p:spTgt>
                                        </p:tgtEl>
                                        <p:attrNameLst>
                                          <p:attrName>style.visibility</p:attrName>
                                        </p:attrNameLst>
                                      </p:cBhvr>
                                      <p:to>
                                        <p:strVal val="visible"/>
                                      </p:to>
                                    </p:set>
                                    <p:animEffect transition="in" filter="blinds(horizontal)">
                                      <p:cBhvr>
                                        <p:cTn id="42" dur="500"/>
                                        <p:tgtEl>
                                          <p:spTgt spid="23555">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a:xfrm>
            <a:off x="1981200" y="457201"/>
            <a:ext cx="8229600" cy="955675"/>
          </a:xfrm>
        </p:spPr>
        <p:txBody>
          <a:bodyPr/>
          <a:lstStyle/>
          <a:p>
            <a:pPr algn="ctr" eaLnBrk="1" hangingPunct="1"/>
            <a:r>
              <a:rPr lang="zh-CN" altLang="en-US" dirty="0">
                <a:solidFill>
                  <a:srgbClr val="008000"/>
                </a:solidFill>
                <a:latin typeface="黑体" panose="02010609060101010101" pitchFamily="49" charset="-122"/>
                <a:ea typeface="黑体" panose="02010609060101010101" pitchFamily="49" charset="-122"/>
              </a:rPr>
              <a:t>经典集合</a:t>
            </a:r>
          </a:p>
        </p:txBody>
      </p:sp>
      <p:sp>
        <p:nvSpPr>
          <p:cNvPr id="24579" name="Rectangle 3"/>
          <p:cNvSpPr>
            <a:spLocks noGrp="1" noChangeArrowheads="1"/>
          </p:cNvSpPr>
          <p:nvPr>
            <p:ph type="body" sz="half" idx="1"/>
          </p:nvPr>
        </p:nvSpPr>
        <p:spPr>
          <a:xfrm>
            <a:off x="1343472" y="1341438"/>
            <a:ext cx="8424416" cy="5516562"/>
          </a:xfrm>
        </p:spPr>
        <p:txBody>
          <a:bodyPr>
            <a:normAutofit/>
          </a:bodyPr>
          <a:lstStyle/>
          <a:p>
            <a:pPr eaLnBrk="1" hangingPunct="1">
              <a:lnSpc>
                <a:spcPct val="110000"/>
              </a:lnSpc>
              <a:buFont typeface="Wingdings" pitchFamily="2" charset="2"/>
              <a:buNone/>
            </a:pPr>
            <a:r>
              <a:rPr lang="zh-CN" altLang="en-US" sz="3600" dirty="0">
                <a:solidFill>
                  <a:srgbClr val="FF0000"/>
                </a:solidFill>
                <a:latin typeface="+mn-lt"/>
              </a:rPr>
              <a:t>经典集合的性质：</a:t>
            </a:r>
          </a:p>
          <a:p>
            <a:pPr eaLnBrk="1" hangingPunct="1">
              <a:lnSpc>
                <a:spcPct val="110000"/>
              </a:lnSpc>
              <a:buFont typeface="Wingdings" pitchFamily="2" charset="2"/>
              <a:buNone/>
            </a:pPr>
            <a:r>
              <a:rPr lang="zh-CN" altLang="en-US" sz="3600" b="1" dirty="0">
                <a:latin typeface="+mn-lt"/>
              </a:rPr>
              <a:t>    </a:t>
            </a:r>
            <a:r>
              <a:rPr lang="zh-CN" altLang="en-US" sz="3200" b="1" dirty="0">
                <a:latin typeface="+mn-lt"/>
              </a:rPr>
              <a:t>（设</a:t>
            </a:r>
            <a:r>
              <a:rPr lang="en-US" altLang="zh-CN" sz="3200" b="1" i="1" dirty="0">
                <a:latin typeface="+mn-lt"/>
              </a:rPr>
              <a:t>U</a:t>
            </a:r>
            <a:r>
              <a:rPr lang="zh-CN" altLang="en-US" sz="3200" b="1" dirty="0">
                <a:latin typeface="+mn-lt"/>
              </a:rPr>
              <a:t>为全集， </a:t>
            </a:r>
            <a:r>
              <a:rPr lang="en-US" altLang="zh-CN" sz="3200" dirty="0">
                <a:latin typeface="+mn-lt"/>
                <a:cs typeface="Arial" charset="0"/>
              </a:rPr>
              <a:t>Ø</a:t>
            </a:r>
            <a:r>
              <a:rPr lang="en-US" altLang="zh-CN" sz="3200" b="1" dirty="0">
                <a:latin typeface="+mn-lt"/>
              </a:rPr>
              <a:t> </a:t>
            </a:r>
            <a:r>
              <a:rPr kumimoji="1" lang="zh-CN" altLang="en-US" sz="3200" b="1" dirty="0">
                <a:latin typeface="+mn-lt"/>
                <a:sym typeface="Symbol" pitchFamily="18" charset="2"/>
              </a:rPr>
              <a:t>为空集）</a:t>
            </a:r>
          </a:p>
          <a:p>
            <a:pPr eaLnBrk="1" hangingPunct="1">
              <a:lnSpc>
                <a:spcPct val="110000"/>
              </a:lnSpc>
              <a:buFont typeface="Wingdings" pitchFamily="2" charset="2"/>
              <a:buNone/>
            </a:pPr>
            <a:r>
              <a:rPr kumimoji="1" lang="en-US" altLang="zh-CN" sz="3200" b="1" dirty="0">
                <a:latin typeface="+mn-lt"/>
                <a:sym typeface="Symbol" pitchFamily="18" charset="2"/>
              </a:rPr>
              <a:t>1</a:t>
            </a:r>
            <a:r>
              <a:rPr kumimoji="1" lang="zh-CN" altLang="en-US" sz="3200" b="1" dirty="0">
                <a:latin typeface="+mn-lt"/>
                <a:sym typeface="Symbol" pitchFamily="18" charset="2"/>
              </a:rPr>
              <a:t>）</a:t>
            </a:r>
            <a:r>
              <a:rPr kumimoji="1" lang="zh-CN" altLang="en-US" sz="3600" b="1" dirty="0">
                <a:solidFill>
                  <a:srgbClr val="0000FF"/>
                </a:solidFill>
                <a:latin typeface="+mn-lt"/>
                <a:sym typeface="Symbol" pitchFamily="18" charset="2"/>
              </a:rPr>
              <a:t>传递性</a:t>
            </a:r>
            <a:r>
              <a:rPr kumimoji="1" lang="zh-CN" altLang="en-US" sz="3600" b="1" dirty="0">
                <a:latin typeface="+mn-lt"/>
                <a:sym typeface="Symbol" pitchFamily="18" charset="2"/>
              </a:rPr>
              <a:t>：</a:t>
            </a:r>
            <a:r>
              <a:rPr kumimoji="1" lang="en-US" altLang="zh-CN" sz="3200" b="1" i="1" dirty="0">
                <a:latin typeface="+mn-lt"/>
              </a:rPr>
              <a:t> </a:t>
            </a:r>
            <a:r>
              <a:rPr kumimoji="1" lang="zh-CN" altLang="en-US" sz="3200" b="1" dirty="0">
                <a:latin typeface="+mn-lt"/>
                <a:cs typeface="Times New Roman" panose="02020603050405020304" pitchFamily="18" charset="0"/>
              </a:rPr>
              <a:t>若</a:t>
            </a:r>
            <a:r>
              <a:rPr kumimoji="1" lang="zh-CN" altLang="en-US" sz="3200" b="1" i="1" dirty="0">
                <a:latin typeface="+mn-lt"/>
                <a:cs typeface="Times New Roman" panose="02020603050405020304" pitchFamily="18" charset="0"/>
              </a:rPr>
              <a:t> </a:t>
            </a:r>
            <a:r>
              <a:rPr kumimoji="1" lang="en-US" altLang="zh-CN" sz="3200" b="1" i="1" dirty="0">
                <a:latin typeface="+mn-lt"/>
                <a:cs typeface="Times New Roman" panose="02020603050405020304" pitchFamily="18" charset="0"/>
              </a:rPr>
              <a:t>A</a:t>
            </a:r>
            <a:r>
              <a:rPr kumimoji="1" lang="en-US" altLang="zh-CN" sz="3200" b="1" dirty="0">
                <a:latin typeface="+mn-lt"/>
                <a:cs typeface="Times New Roman" panose="02020603050405020304" pitchFamily="18" charset="0"/>
                <a:sym typeface="Symbol" pitchFamily="18" charset="2"/>
              </a:rPr>
              <a:t></a:t>
            </a:r>
            <a:r>
              <a:rPr kumimoji="1" lang="en-US" altLang="zh-CN" sz="3200" b="1" i="1" dirty="0">
                <a:latin typeface="+mn-lt"/>
                <a:cs typeface="Times New Roman" panose="02020603050405020304" pitchFamily="18" charset="0"/>
                <a:sym typeface="Symbol" pitchFamily="18" charset="2"/>
              </a:rPr>
              <a:t>B </a:t>
            </a:r>
            <a:r>
              <a:rPr kumimoji="1" lang="zh-CN" altLang="en-US" sz="3200" b="1" dirty="0">
                <a:latin typeface="+mn-lt"/>
                <a:cs typeface="Times New Roman" panose="02020603050405020304" pitchFamily="18" charset="0"/>
                <a:sym typeface="Symbol" pitchFamily="18" charset="2"/>
              </a:rPr>
              <a:t>且</a:t>
            </a:r>
            <a:r>
              <a:rPr kumimoji="1" lang="zh-CN" altLang="en-US" sz="3200" b="1" i="1" dirty="0">
                <a:latin typeface="+mn-lt"/>
                <a:cs typeface="Times New Roman" panose="02020603050405020304" pitchFamily="18" charset="0"/>
                <a:sym typeface="Symbol" pitchFamily="18" charset="2"/>
              </a:rPr>
              <a:t> </a:t>
            </a:r>
            <a:r>
              <a:rPr kumimoji="1" lang="en-US" altLang="zh-CN" sz="3200" b="1" i="1" dirty="0">
                <a:latin typeface="+mn-lt"/>
                <a:cs typeface="Times New Roman" panose="02020603050405020304" pitchFamily="18" charset="0"/>
              </a:rPr>
              <a:t>B</a:t>
            </a:r>
            <a:r>
              <a:rPr kumimoji="1" lang="en-US" altLang="zh-CN" sz="3200" b="1" dirty="0">
                <a:latin typeface="+mn-lt"/>
                <a:cs typeface="Times New Roman" panose="02020603050405020304" pitchFamily="18" charset="0"/>
                <a:sym typeface="Symbol" pitchFamily="18" charset="2"/>
              </a:rPr>
              <a:t></a:t>
            </a:r>
            <a:r>
              <a:rPr kumimoji="1" lang="en-US" altLang="zh-CN" sz="3200" b="1" i="1" dirty="0">
                <a:latin typeface="+mn-lt"/>
                <a:cs typeface="Times New Roman" panose="02020603050405020304" pitchFamily="18" charset="0"/>
                <a:sym typeface="Symbol" pitchFamily="18" charset="2"/>
              </a:rPr>
              <a:t>C </a:t>
            </a:r>
            <a:r>
              <a:rPr kumimoji="1" lang="zh-CN" altLang="en-US" sz="3200" b="1" dirty="0">
                <a:latin typeface="+mn-lt"/>
                <a:cs typeface="Times New Roman" panose="02020603050405020304" pitchFamily="18" charset="0"/>
                <a:sym typeface="Symbol" pitchFamily="18" charset="2"/>
              </a:rPr>
              <a:t>则</a:t>
            </a:r>
            <a:r>
              <a:rPr kumimoji="1" lang="zh-CN" altLang="en-US" sz="3200" b="1" i="1" dirty="0">
                <a:latin typeface="+mn-lt"/>
                <a:cs typeface="Times New Roman" panose="02020603050405020304" pitchFamily="18" charset="0"/>
                <a:sym typeface="Symbol" pitchFamily="18" charset="2"/>
              </a:rPr>
              <a:t> </a:t>
            </a:r>
            <a:r>
              <a:rPr kumimoji="1" lang="en-US" altLang="zh-CN" sz="3200" b="1" i="1" dirty="0">
                <a:latin typeface="+mn-lt"/>
                <a:cs typeface="Times New Roman" panose="02020603050405020304" pitchFamily="18" charset="0"/>
              </a:rPr>
              <a:t>A</a:t>
            </a:r>
            <a:r>
              <a:rPr kumimoji="1" lang="en-US" altLang="zh-CN" sz="3200" b="1" dirty="0">
                <a:latin typeface="+mn-lt"/>
                <a:cs typeface="Times New Roman" panose="02020603050405020304" pitchFamily="18" charset="0"/>
                <a:sym typeface="Symbol" pitchFamily="18" charset="2"/>
              </a:rPr>
              <a:t></a:t>
            </a:r>
            <a:r>
              <a:rPr kumimoji="1" lang="en-US" altLang="zh-CN" sz="3200" b="1" i="1" dirty="0">
                <a:latin typeface="+mn-lt"/>
                <a:cs typeface="Times New Roman" panose="02020603050405020304" pitchFamily="18" charset="0"/>
                <a:sym typeface="Symbol" pitchFamily="18" charset="2"/>
              </a:rPr>
              <a:t>C </a:t>
            </a:r>
            <a:endParaRPr kumimoji="1" lang="zh-CN" altLang="en-US" sz="3200" b="1" dirty="0">
              <a:latin typeface="+mn-lt"/>
              <a:cs typeface="Times New Roman" panose="02020603050405020304" pitchFamily="18" charset="0"/>
              <a:sym typeface="Symbol" pitchFamily="18" charset="2"/>
            </a:endParaRPr>
          </a:p>
          <a:p>
            <a:pPr eaLnBrk="1" hangingPunct="1">
              <a:lnSpc>
                <a:spcPct val="110000"/>
              </a:lnSpc>
              <a:buFont typeface="Wingdings" pitchFamily="2" charset="2"/>
              <a:buNone/>
            </a:pPr>
            <a:r>
              <a:rPr kumimoji="1" lang="en-US" altLang="zh-CN" sz="3200" b="1" dirty="0">
                <a:latin typeface="+mn-lt"/>
                <a:cs typeface="Times New Roman" panose="02020603050405020304" pitchFamily="18" charset="0"/>
                <a:sym typeface="Symbol" pitchFamily="18" charset="2"/>
              </a:rPr>
              <a:t>2</a:t>
            </a:r>
            <a:r>
              <a:rPr kumimoji="1" lang="zh-CN" altLang="en-US" sz="3200" b="1" dirty="0">
                <a:latin typeface="+mn-lt"/>
                <a:cs typeface="Times New Roman" panose="02020603050405020304" pitchFamily="18" charset="0"/>
                <a:sym typeface="Symbol" pitchFamily="18" charset="2"/>
              </a:rPr>
              <a:t>）</a:t>
            </a:r>
            <a:r>
              <a:rPr kumimoji="1" lang="zh-CN" altLang="en-US" sz="3600" b="1" dirty="0">
                <a:solidFill>
                  <a:srgbClr val="0000FF"/>
                </a:solidFill>
                <a:latin typeface="+mn-lt"/>
                <a:cs typeface="Times New Roman" panose="02020603050405020304" pitchFamily="18" charset="0"/>
                <a:sym typeface="Symbol" pitchFamily="18" charset="2"/>
              </a:rPr>
              <a:t>互补性</a:t>
            </a:r>
            <a:r>
              <a:rPr kumimoji="1" lang="en-US" altLang="zh-CN" sz="3600" b="1" dirty="0">
                <a:latin typeface="+mn-lt"/>
                <a:cs typeface="Times New Roman" panose="02020603050405020304" pitchFamily="18" charset="0"/>
                <a:sym typeface="Wingdings" pitchFamily="2" charset="2"/>
              </a:rPr>
              <a:t>:    (</a:t>
            </a:r>
            <a:r>
              <a:rPr kumimoji="1" lang="en-US" altLang="zh-CN" sz="3600" b="1" i="1" dirty="0">
                <a:latin typeface="+mn-lt"/>
                <a:cs typeface="Times New Roman" panose="02020603050405020304" pitchFamily="18" charset="0"/>
                <a:sym typeface="Wingdings" pitchFamily="2" charset="2"/>
              </a:rPr>
              <a:t>A</a:t>
            </a:r>
            <a:r>
              <a:rPr kumimoji="1" lang="en-US" altLang="zh-CN" sz="3600" b="1" i="1" baseline="30000" dirty="0">
                <a:latin typeface="+mn-lt"/>
                <a:cs typeface="Times New Roman" panose="02020603050405020304" pitchFamily="18" charset="0"/>
              </a:rPr>
              <a:t>c</a:t>
            </a:r>
            <a:r>
              <a:rPr kumimoji="1" lang="en-US" altLang="zh-CN" sz="3600" b="1" dirty="0">
                <a:latin typeface="+mn-lt"/>
                <a:cs typeface="Times New Roman" panose="02020603050405020304" pitchFamily="18" charset="0"/>
                <a:sym typeface="Wingdings" pitchFamily="2" charset="2"/>
              </a:rPr>
              <a:t>)</a:t>
            </a:r>
            <a:r>
              <a:rPr kumimoji="1" lang="en-US" altLang="zh-CN" sz="3600" b="1" i="1" baseline="30000" dirty="0">
                <a:latin typeface="+mn-lt"/>
                <a:cs typeface="Times New Roman" panose="02020603050405020304" pitchFamily="18" charset="0"/>
              </a:rPr>
              <a:t>c</a:t>
            </a:r>
            <a:r>
              <a:rPr kumimoji="1" lang="en-US" altLang="zh-CN" sz="3600" b="1" dirty="0">
                <a:latin typeface="+mn-lt"/>
                <a:cs typeface="Times New Roman" panose="02020603050405020304" pitchFamily="18" charset="0"/>
                <a:sym typeface="Wingdings" pitchFamily="2" charset="2"/>
              </a:rPr>
              <a:t>=</a:t>
            </a:r>
            <a:r>
              <a:rPr kumimoji="1" lang="en-US" altLang="zh-CN" sz="3600" b="1" i="1" dirty="0">
                <a:latin typeface="+mn-lt"/>
                <a:cs typeface="Times New Roman" panose="02020603050405020304" pitchFamily="18" charset="0"/>
                <a:sym typeface="Wingdings" pitchFamily="2" charset="2"/>
              </a:rPr>
              <a:t>A</a:t>
            </a:r>
            <a:endParaRPr kumimoji="1" lang="en-US" altLang="zh-CN" sz="3600" b="1" i="1" dirty="0">
              <a:latin typeface="+mn-lt"/>
              <a:cs typeface="Times New Roman" panose="02020603050405020304" pitchFamily="18" charset="0"/>
              <a:sym typeface="Symbol" pitchFamily="18" charset="2"/>
            </a:endParaRPr>
          </a:p>
          <a:p>
            <a:pPr eaLnBrk="1" hangingPunct="1">
              <a:lnSpc>
                <a:spcPct val="110000"/>
              </a:lnSpc>
              <a:buNone/>
            </a:pPr>
            <a:r>
              <a:rPr kumimoji="1" lang="en-US" altLang="zh-CN" sz="3200" b="1" dirty="0">
                <a:latin typeface="+mn-lt"/>
                <a:cs typeface="Times New Roman" panose="02020603050405020304" pitchFamily="18" charset="0"/>
                <a:sym typeface="Symbol" pitchFamily="18" charset="2"/>
              </a:rPr>
              <a:t>3</a:t>
            </a:r>
            <a:r>
              <a:rPr kumimoji="1" lang="zh-CN" altLang="en-US" sz="3200" b="1" dirty="0">
                <a:latin typeface="+mn-lt"/>
                <a:cs typeface="Times New Roman" panose="02020603050405020304" pitchFamily="18" charset="0"/>
                <a:sym typeface="Symbol" pitchFamily="18" charset="2"/>
              </a:rPr>
              <a:t>）</a:t>
            </a:r>
            <a:r>
              <a:rPr kumimoji="1" lang="zh-CN" altLang="en-US" sz="3600" b="1" dirty="0">
                <a:solidFill>
                  <a:srgbClr val="CC00FF"/>
                </a:solidFill>
                <a:latin typeface="+mn-lt"/>
                <a:cs typeface="Times New Roman" panose="02020603050405020304" pitchFamily="18" charset="0"/>
              </a:rPr>
              <a:t>排中律：</a:t>
            </a:r>
            <a:r>
              <a:rPr kumimoji="1" lang="zh-CN" altLang="en-US" sz="3600" dirty="0">
                <a:solidFill>
                  <a:srgbClr val="CC00FF"/>
                </a:solidFill>
                <a:latin typeface="+mn-lt"/>
                <a:cs typeface="Times New Roman" panose="02020603050405020304" pitchFamily="18" charset="0"/>
              </a:rPr>
              <a:t> </a:t>
            </a:r>
            <a:r>
              <a:rPr kumimoji="1" lang="en-US" altLang="zh-CN" sz="3600" b="1" i="1" dirty="0">
                <a:solidFill>
                  <a:srgbClr val="CC00FF"/>
                </a:solidFill>
                <a:latin typeface="+mn-lt"/>
                <a:cs typeface="Times New Roman" panose="02020603050405020304" pitchFamily="18" charset="0"/>
              </a:rPr>
              <a:t>A </a:t>
            </a:r>
            <a:r>
              <a:rPr kumimoji="1" lang="en-US" altLang="zh-CN" sz="3600" b="1" dirty="0">
                <a:solidFill>
                  <a:srgbClr val="CC00FF"/>
                </a:solidFill>
                <a:latin typeface="+mn-lt"/>
                <a:cs typeface="Times New Roman" panose="02020603050405020304" pitchFamily="18" charset="0"/>
                <a:sym typeface="Symbol"/>
              </a:rPr>
              <a:t> </a:t>
            </a:r>
            <a:r>
              <a:rPr kumimoji="1" lang="en-US" altLang="zh-CN" sz="3600" b="1" i="1" dirty="0">
                <a:solidFill>
                  <a:srgbClr val="CC00FF"/>
                </a:solidFill>
                <a:latin typeface="+mn-lt"/>
                <a:cs typeface="Times New Roman" panose="02020603050405020304" pitchFamily="18" charset="0"/>
                <a:sym typeface="Symbol" pitchFamily="18" charset="2"/>
              </a:rPr>
              <a:t>A</a:t>
            </a:r>
            <a:r>
              <a:rPr kumimoji="1" lang="en-US" altLang="zh-CN" sz="3600" b="1" i="1" baseline="30000" dirty="0">
                <a:solidFill>
                  <a:srgbClr val="CC00FF"/>
                </a:solidFill>
                <a:latin typeface="+mn-lt"/>
                <a:cs typeface="Times New Roman" panose="02020603050405020304" pitchFamily="18" charset="0"/>
              </a:rPr>
              <a:t>c</a:t>
            </a:r>
            <a:r>
              <a:rPr kumimoji="1" lang="en-US" altLang="zh-CN" sz="3600" b="1" i="1" dirty="0">
                <a:solidFill>
                  <a:srgbClr val="CC00FF"/>
                </a:solidFill>
                <a:latin typeface="+mn-lt"/>
                <a:cs typeface="Times New Roman" panose="02020603050405020304" pitchFamily="18" charset="0"/>
                <a:sym typeface="Symbol" pitchFamily="18" charset="2"/>
              </a:rPr>
              <a:t> </a:t>
            </a:r>
            <a:r>
              <a:rPr kumimoji="1" lang="en-US" altLang="zh-CN" sz="3600" b="1" dirty="0">
                <a:solidFill>
                  <a:srgbClr val="CC00FF"/>
                </a:solidFill>
                <a:latin typeface="+mn-lt"/>
                <a:cs typeface="Times New Roman" panose="02020603050405020304" pitchFamily="18" charset="0"/>
                <a:sym typeface="Symbol" pitchFamily="18" charset="2"/>
              </a:rPr>
              <a:t>= </a:t>
            </a:r>
            <a:r>
              <a:rPr kumimoji="1" lang="en-US" altLang="zh-CN" sz="3600" b="1" i="1" dirty="0">
                <a:solidFill>
                  <a:srgbClr val="CC00FF"/>
                </a:solidFill>
                <a:latin typeface="+mn-lt"/>
                <a:cs typeface="Times New Roman" panose="02020603050405020304" pitchFamily="18" charset="0"/>
              </a:rPr>
              <a:t>U</a:t>
            </a:r>
            <a:r>
              <a:rPr kumimoji="1" lang="zh-CN" altLang="en-US" sz="3600" b="1" dirty="0">
                <a:solidFill>
                  <a:srgbClr val="CC00FF"/>
                </a:solidFill>
                <a:latin typeface="+mn-lt"/>
                <a:cs typeface="Times New Roman" panose="02020603050405020304" pitchFamily="18" charset="0"/>
                <a:sym typeface="Symbol" pitchFamily="18" charset="2"/>
              </a:rPr>
              <a:t>， </a:t>
            </a:r>
            <a:r>
              <a:rPr kumimoji="1" lang="en-US" altLang="zh-CN" sz="3600" b="1" i="1" dirty="0">
                <a:solidFill>
                  <a:srgbClr val="CC00FF"/>
                </a:solidFill>
                <a:latin typeface="+mn-lt"/>
                <a:cs typeface="Times New Roman" panose="02020603050405020304" pitchFamily="18" charset="0"/>
              </a:rPr>
              <a:t>A</a:t>
            </a:r>
            <a:r>
              <a:rPr kumimoji="1" lang="en-US" altLang="zh-CN" sz="3600" b="1" dirty="0">
                <a:latin typeface="+mn-lt"/>
                <a:cs typeface="Times New Roman" panose="02020603050405020304" pitchFamily="18" charset="0"/>
                <a:sym typeface="Symbol"/>
              </a:rPr>
              <a:t> </a:t>
            </a:r>
            <a:r>
              <a:rPr kumimoji="1" lang="en-US" altLang="zh-CN" sz="3600" b="1" dirty="0">
                <a:solidFill>
                  <a:srgbClr val="CC00FF"/>
                </a:solidFill>
                <a:latin typeface="+mn-lt"/>
                <a:cs typeface="Times New Roman" panose="02020603050405020304" pitchFamily="18" charset="0"/>
                <a:sym typeface="Symbol"/>
              </a:rPr>
              <a:t></a:t>
            </a:r>
            <a:r>
              <a:rPr kumimoji="1" lang="en-US" altLang="zh-CN" sz="3600" b="1" dirty="0">
                <a:latin typeface="+mn-lt"/>
                <a:cs typeface="Times New Roman" panose="02020603050405020304" pitchFamily="18" charset="0"/>
                <a:sym typeface="Symbol"/>
              </a:rPr>
              <a:t> </a:t>
            </a:r>
            <a:r>
              <a:rPr kumimoji="1" lang="en-US" altLang="zh-CN" sz="3600" b="1" i="1" dirty="0">
                <a:solidFill>
                  <a:srgbClr val="CC00FF"/>
                </a:solidFill>
                <a:latin typeface="+mn-lt"/>
                <a:cs typeface="Times New Roman" panose="02020603050405020304" pitchFamily="18" charset="0"/>
                <a:sym typeface="Symbol" pitchFamily="18" charset="2"/>
              </a:rPr>
              <a:t>A</a:t>
            </a:r>
            <a:r>
              <a:rPr kumimoji="1" lang="en-US" altLang="zh-CN" sz="3600" b="1" i="1" baseline="30000" dirty="0">
                <a:solidFill>
                  <a:srgbClr val="CC00FF"/>
                </a:solidFill>
                <a:latin typeface="+mn-lt"/>
                <a:cs typeface="Times New Roman" panose="02020603050405020304" pitchFamily="18" charset="0"/>
              </a:rPr>
              <a:t>c</a:t>
            </a:r>
            <a:r>
              <a:rPr kumimoji="1" lang="en-US" altLang="zh-CN" sz="3600" b="1" i="1" dirty="0">
                <a:solidFill>
                  <a:srgbClr val="CC00FF"/>
                </a:solidFill>
                <a:latin typeface="+mn-lt"/>
                <a:cs typeface="Times New Roman" panose="02020603050405020304" pitchFamily="18" charset="0"/>
                <a:sym typeface="Symbol" pitchFamily="18" charset="2"/>
              </a:rPr>
              <a:t> </a:t>
            </a:r>
            <a:r>
              <a:rPr kumimoji="1" lang="en-US" altLang="zh-CN" sz="3600" b="1" dirty="0">
                <a:solidFill>
                  <a:srgbClr val="CC00FF"/>
                </a:solidFill>
                <a:latin typeface="+mn-lt"/>
                <a:cs typeface="Times New Roman" panose="02020603050405020304" pitchFamily="18" charset="0"/>
                <a:sym typeface="Symbol" pitchFamily="18" charset="2"/>
              </a:rPr>
              <a:t>= </a:t>
            </a:r>
            <a:r>
              <a:rPr lang="en-US" altLang="zh-CN" sz="3600" dirty="0">
                <a:solidFill>
                  <a:srgbClr val="CC00FF"/>
                </a:solidFill>
                <a:latin typeface="+mn-lt"/>
                <a:cs typeface="Times New Roman" panose="02020603050405020304" pitchFamily="18" charset="0"/>
              </a:rPr>
              <a:t>Ø</a:t>
            </a:r>
            <a:r>
              <a:rPr kumimoji="1" lang="en-US" altLang="zh-CN" sz="3600" b="1" dirty="0">
                <a:solidFill>
                  <a:srgbClr val="CC00FF"/>
                </a:solidFill>
                <a:latin typeface="+mn-lt"/>
                <a:cs typeface="Times New Roman" panose="02020603050405020304" pitchFamily="18" charset="0"/>
                <a:sym typeface="Symbol" pitchFamily="18" charset="2"/>
              </a:rPr>
              <a:t> </a:t>
            </a:r>
            <a:r>
              <a:rPr kumimoji="1" lang="zh-CN" altLang="en-US" sz="3600" b="1" dirty="0">
                <a:latin typeface="+mn-lt"/>
                <a:cs typeface="Times New Roman" panose="02020603050405020304" pitchFamily="18" charset="0"/>
                <a:sym typeface="Symbol" pitchFamily="18" charset="2"/>
              </a:rPr>
              <a:t>；</a:t>
            </a:r>
            <a:endParaRPr kumimoji="1" lang="zh-CN" altLang="en-US" sz="3200" b="1" dirty="0">
              <a:latin typeface="+mn-lt"/>
              <a:cs typeface="Times New Roman" panose="02020603050405020304" pitchFamily="18" charset="0"/>
              <a:sym typeface="Symbol" pitchFamily="18" charset="2"/>
            </a:endParaRPr>
          </a:p>
          <a:p>
            <a:pPr eaLnBrk="1" hangingPunct="1">
              <a:lnSpc>
                <a:spcPct val="110000"/>
              </a:lnSpc>
              <a:buNone/>
            </a:pPr>
            <a:r>
              <a:rPr kumimoji="1" lang="en-US" altLang="zh-CN" sz="3200" b="1" dirty="0">
                <a:latin typeface="+mn-lt"/>
                <a:cs typeface="Times New Roman" panose="02020603050405020304" pitchFamily="18" charset="0"/>
                <a:sym typeface="Symbol" pitchFamily="18" charset="2"/>
              </a:rPr>
              <a:t>4</a:t>
            </a:r>
            <a:r>
              <a:rPr kumimoji="1" lang="zh-CN" altLang="en-US" sz="3200" b="1" dirty="0">
                <a:latin typeface="+mn-lt"/>
                <a:cs typeface="Times New Roman" panose="02020603050405020304" pitchFamily="18" charset="0"/>
                <a:sym typeface="Symbol" pitchFamily="18" charset="2"/>
              </a:rPr>
              <a:t>）</a:t>
            </a:r>
            <a:r>
              <a:rPr kumimoji="1" lang="zh-CN" altLang="en-US" sz="3600" b="1" dirty="0">
                <a:solidFill>
                  <a:srgbClr val="0000FF"/>
                </a:solidFill>
                <a:latin typeface="+mn-lt"/>
                <a:cs typeface="Times New Roman" panose="02020603050405020304" pitchFamily="18" charset="0"/>
                <a:sym typeface="Symbol" pitchFamily="18" charset="2"/>
              </a:rPr>
              <a:t>摩根定</a:t>
            </a:r>
            <a:r>
              <a:rPr kumimoji="1" lang="zh-CN" altLang="en-US" sz="3600" b="1" dirty="0">
                <a:solidFill>
                  <a:srgbClr val="0000FF"/>
                </a:solidFill>
                <a:latin typeface="+mn-lt"/>
                <a:cs typeface="Times New Roman" panose="02020603050405020304" pitchFamily="18" charset="0"/>
              </a:rPr>
              <a:t>律</a:t>
            </a:r>
            <a:r>
              <a:rPr kumimoji="1" lang="zh-CN" altLang="en-US" sz="3600" b="1" dirty="0">
                <a:latin typeface="+mn-lt"/>
                <a:cs typeface="Times New Roman" panose="02020603050405020304" pitchFamily="18" charset="0"/>
              </a:rPr>
              <a:t>： </a:t>
            </a:r>
            <a:r>
              <a:rPr kumimoji="1" lang="en-US" altLang="zh-CN" sz="3600" b="1" dirty="0">
                <a:latin typeface="+mn-lt"/>
                <a:cs typeface="Times New Roman" panose="02020603050405020304" pitchFamily="18" charset="0"/>
                <a:sym typeface="Symbol" pitchFamily="18" charset="2"/>
              </a:rPr>
              <a:t>(</a:t>
            </a:r>
            <a:r>
              <a:rPr kumimoji="1" lang="en-US" altLang="zh-CN" sz="3600" b="1" i="1" dirty="0">
                <a:latin typeface="+mn-lt"/>
                <a:cs typeface="Times New Roman" panose="02020603050405020304" pitchFamily="18" charset="0"/>
              </a:rPr>
              <a:t>A</a:t>
            </a:r>
            <a:r>
              <a:rPr kumimoji="1" lang="en-US" altLang="zh-CN" sz="3600" b="1" dirty="0">
                <a:latin typeface="+mn-lt"/>
                <a:cs typeface="Times New Roman" panose="02020603050405020304" pitchFamily="18" charset="0"/>
                <a:sym typeface="Symbol"/>
              </a:rPr>
              <a:t></a:t>
            </a:r>
            <a:r>
              <a:rPr kumimoji="1" lang="en-US" altLang="zh-CN" sz="3600" b="1" i="1" dirty="0">
                <a:latin typeface="+mn-lt"/>
                <a:cs typeface="Times New Roman" panose="02020603050405020304" pitchFamily="18" charset="0"/>
                <a:sym typeface="Symbol" pitchFamily="18" charset="2"/>
              </a:rPr>
              <a:t>B</a:t>
            </a:r>
            <a:r>
              <a:rPr kumimoji="1" lang="en-US" altLang="zh-CN" sz="3600" b="1" dirty="0">
                <a:latin typeface="+mn-lt"/>
                <a:cs typeface="Times New Roman" panose="02020603050405020304" pitchFamily="18" charset="0"/>
                <a:sym typeface="Symbol" pitchFamily="18" charset="2"/>
              </a:rPr>
              <a:t>)</a:t>
            </a:r>
            <a:r>
              <a:rPr kumimoji="1" lang="en-US" altLang="zh-CN" sz="3600" b="1" i="1" baseline="30000" dirty="0">
                <a:latin typeface="+mn-lt"/>
                <a:cs typeface="Times New Roman" panose="02020603050405020304" pitchFamily="18" charset="0"/>
              </a:rPr>
              <a:t>c</a:t>
            </a:r>
            <a:r>
              <a:rPr kumimoji="1" lang="en-US" altLang="zh-CN" sz="3600" b="1" i="1" dirty="0">
                <a:latin typeface="+mn-lt"/>
                <a:cs typeface="Times New Roman" panose="02020603050405020304" pitchFamily="18" charset="0"/>
              </a:rPr>
              <a:t> </a:t>
            </a:r>
            <a:r>
              <a:rPr kumimoji="1" lang="en-US" altLang="zh-CN" sz="3600" b="1" dirty="0">
                <a:latin typeface="+mn-lt"/>
                <a:cs typeface="Times New Roman" panose="02020603050405020304" pitchFamily="18" charset="0"/>
                <a:sym typeface="Symbol" pitchFamily="18" charset="2"/>
              </a:rPr>
              <a:t>= </a:t>
            </a:r>
            <a:r>
              <a:rPr kumimoji="1" lang="en-US" altLang="zh-CN" sz="3600" b="1" i="1" dirty="0">
                <a:latin typeface="+mn-lt"/>
                <a:cs typeface="Times New Roman" panose="02020603050405020304" pitchFamily="18" charset="0"/>
                <a:sym typeface="Symbol" pitchFamily="18" charset="2"/>
              </a:rPr>
              <a:t>A</a:t>
            </a:r>
            <a:r>
              <a:rPr kumimoji="1" lang="en-US" altLang="zh-CN" sz="3600" b="1" i="1" baseline="30000" dirty="0">
                <a:latin typeface="+mn-lt"/>
                <a:cs typeface="Times New Roman" panose="02020603050405020304" pitchFamily="18" charset="0"/>
              </a:rPr>
              <a:t>c </a:t>
            </a:r>
            <a:r>
              <a:rPr kumimoji="1" lang="en-US" altLang="zh-CN" sz="3600" b="1" dirty="0">
                <a:latin typeface="+mn-lt"/>
                <a:cs typeface="Times New Roman" panose="02020603050405020304" pitchFamily="18" charset="0"/>
                <a:sym typeface="Symbol"/>
              </a:rPr>
              <a:t></a:t>
            </a:r>
            <a:r>
              <a:rPr kumimoji="1" lang="en-US" altLang="zh-CN" sz="3600" b="1" dirty="0">
                <a:latin typeface="+mn-lt"/>
                <a:cs typeface="Times New Roman" panose="02020603050405020304" pitchFamily="18" charset="0"/>
                <a:sym typeface="Symbol" pitchFamily="18" charset="2"/>
              </a:rPr>
              <a:t> </a:t>
            </a:r>
            <a:r>
              <a:rPr kumimoji="1" lang="en-US" altLang="zh-CN" sz="3600" b="1" i="1" dirty="0" err="1">
                <a:latin typeface="+mn-lt"/>
                <a:cs typeface="Times New Roman" panose="02020603050405020304" pitchFamily="18" charset="0"/>
                <a:sym typeface="Symbol" pitchFamily="18" charset="2"/>
              </a:rPr>
              <a:t>B</a:t>
            </a:r>
            <a:r>
              <a:rPr kumimoji="1" lang="en-US" altLang="zh-CN" sz="3600" b="1" i="1" baseline="30000" dirty="0" err="1">
                <a:latin typeface="+mn-lt"/>
                <a:cs typeface="Times New Roman" panose="02020603050405020304" pitchFamily="18" charset="0"/>
              </a:rPr>
              <a:t>c</a:t>
            </a:r>
            <a:endParaRPr kumimoji="1" lang="zh-CN" altLang="en-US" sz="3600" b="1" dirty="0">
              <a:latin typeface="+mn-lt"/>
              <a:cs typeface="Times New Roman" panose="02020603050405020304" pitchFamily="18" charset="0"/>
              <a:sym typeface="Symbol" pitchFamily="18" charset="2"/>
            </a:endParaRPr>
          </a:p>
          <a:p>
            <a:pPr eaLnBrk="1" hangingPunct="1">
              <a:lnSpc>
                <a:spcPct val="110000"/>
              </a:lnSpc>
              <a:buNone/>
            </a:pPr>
            <a:r>
              <a:rPr kumimoji="1" lang="zh-CN" altLang="en-US" sz="3600" b="1" dirty="0">
                <a:latin typeface="+mn-lt"/>
                <a:cs typeface="Times New Roman" panose="02020603050405020304" pitchFamily="18" charset="0"/>
                <a:sym typeface="Symbol" pitchFamily="18" charset="2"/>
              </a:rPr>
              <a:t>                         </a:t>
            </a:r>
            <a:r>
              <a:rPr kumimoji="1" lang="en-US" altLang="zh-CN" sz="3600" b="1" dirty="0">
                <a:latin typeface="+mn-lt"/>
                <a:cs typeface="Times New Roman" panose="02020603050405020304" pitchFamily="18" charset="0"/>
                <a:sym typeface="Symbol" pitchFamily="18" charset="2"/>
              </a:rPr>
              <a:t>(</a:t>
            </a:r>
            <a:r>
              <a:rPr kumimoji="1" lang="en-US" altLang="zh-CN" sz="3600" b="1" i="1" dirty="0">
                <a:latin typeface="+mn-lt"/>
                <a:cs typeface="Times New Roman" panose="02020603050405020304" pitchFamily="18" charset="0"/>
              </a:rPr>
              <a:t>A</a:t>
            </a:r>
            <a:r>
              <a:rPr kumimoji="1" lang="en-US" altLang="zh-CN" sz="3600" b="1" dirty="0">
                <a:latin typeface="+mn-lt"/>
                <a:cs typeface="Times New Roman" panose="02020603050405020304" pitchFamily="18" charset="0"/>
                <a:sym typeface="Symbol"/>
              </a:rPr>
              <a:t></a:t>
            </a:r>
            <a:r>
              <a:rPr kumimoji="1" lang="en-US" altLang="zh-CN" sz="3600" b="1" i="1" dirty="0">
                <a:latin typeface="+mn-lt"/>
                <a:cs typeface="Times New Roman" panose="02020603050405020304" pitchFamily="18" charset="0"/>
                <a:sym typeface="Symbol" pitchFamily="18" charset="2"/>
              </a:rPr>
              <a:t>B</a:t>
            </a:r>
            <a:r>
              <a:rPr kumimoji="1" lang="en-US" altLang="zh-CN" sz="3600" b="1" dirty="0">
                <a:latin typeface="+mn-lt"/>
                <a:cs typeface="Times New Roman" panose="02020603050405020304" pitchFamily="18" charset="0"/>
                <a:sym typeface="Symbol" pitchFamily="18" charset="2"/>
              </a:rPr>
              <a:t>)</a:t>
            </a:r>
            <a:r>
              <a:rPr kumimoji="1" lang="en-US" altLang="zh-CN" sz="3600" b="1" i="1" baseline="30000" dirty="0">
                <a:latin typeface="+mn-lt"/>
                <a:cs typeface="Times New Roman" panose="02020603050405020304" pitchFamily="18" charset="0"/>
              </a:rPr>
              <a:t>c</a:t>
            </a:r>
            <a:r>
              <a:rPr kumimoji="1" lang="en-US" altLang="zh-CN" sz="3600" b="1" i="1" dirty="0">
                <a:latin typeface="+mn-lt"/>
                <a:cs typeface="Times New Roman" panose="02020603050405020304" pitchFamily="18" charset="0"/>
              </a:rPr>
              <a:t> </a:t>
            </a:r>
            <a:r>
              <a:rPr kumimoji="1" lang="en-US" altLang="zh-CN" sz="3600" b="1" dirty="0">
                <a:latin typeface="+mn-lt"/>
                <a:cs typeface="Times New Roman" panose="02020603050405020304" pitchFamily="18" charset="0"/>
                <a:sym typeface="Symbol" pitchFamily="18" charset="2"/>
              </a:rPr>
              <a:t>= </a:t>
            </a:r>
            <a:r>
              <a:rPr kumimoji="1" lang="en-US" altLang="zh-CN" sz="3600" b="1" i="1" dirty="0">
                <a:latin typeface="+mn-lt"/>
                <a:cs typeface="Times New Roman" panose="02020603050405020304" pitchFamily="18" charset="0"/>
                <a:sym typeface="Symbol" pitchFamily="18" charset="2"/>
              </a:rPr>
              <a:t>A</a:t>
            </a:r>
            <a:r>
              <a:rPr kumimoji="1" lang="en-US" altLang="zh-CN" sz="3600" b="1" i="1" baseline="30000" dirty="0">
                <a:latin typeface="+mn-lt"/>
                <a:cs typeface="Times New Roman" panose="02020603050405020304" pitchFamily="18" charset="0"/>
              </a:rPr>
              <a:t>c</a:t>
            </a:r>
            <a:r>
              <a:rPr kumimoji="1" lang="en-US" altLang="zh-CN" sz="3600" b="1" dirty="0">
                <a:latin typeface="+mn-lt"/>
                <a:cs typeface="Times New Roman" panose="02020603050405020304" pitchFamily="18" charset="0"/>
                <a:sym typeface="Symbol"/>
              </a:rPr>
              <a:t> </a:t>
            </a:r>
            <a:r>
              <a:rPr kumimoji="1" lang="en-US" altLang="zh-CN" sz="3600" b="1" i="1" dirty="0" err="1">
                <a:latin typeface="+mn-lt"/>
                <a:cs typeface="Times New Roman" panose="02020603050405020304" pitchFamily="18" charset="0"/>
                <a:sym typeface="Symbol" pitchFamily="18" charset="2"/>
              </a:rPr>
              <a:t>B</a:t>
            </a:r>
            <a:r>
              <a:rPr kumimoji="1" lang="en-US" altLang="zh-CN" sz="3600" b="1" i="1" baseline="30000" dirty="0" err="1">
                <a:latin typeface="+mn-lt"/>
                <a:cs typeface="Times New Roman" panose="02020603050405020304" pitchFamily="18" charset="0"/>
              </a:rPr>
              <a:t>c</a:t>
            </a:r>
            <a:endParaRPr kumimoji="1" lang="en-US" altLang="zh-CN" sz="3600" b="1" dirty="0">
              <a:latin typeface="+mn-lt"/>
              <a:cs typeface="Times New Roman" panose="02020603050405020304" pitchFamily="18" charset="0"/>
              <a:sym typeface="Symbol" pitchFamily="18" charset="2"/>
            </a:endParaRPr>
          </a:p>
          <a:p>
            <a:pPr eaLnBrk="1" hangingPunct="1">
              <a:lnSpc>
                <a:spcPct val="110000"/>
              </a:lnSpc>
              <a:buFont typeface="Wingdings" pitchFamily="2" charset="2"/>
              <a:buNone/>
            </a:pPr>
            <a:r>
              <a:rPr kumimoji="1" lang="en-US" altLang="zh-CN" sz="2400" b="1" dirty="0">
                <a:sym typeface="Symbol" pitchFamily="18" charset="2"/>
              </a:rPr>
              <a:t>      </a:t>
            </a:r>
          </a:p>
        </p:txBody>
      </p:sp>
      <p:grpSp>
        <p:nvGrpSpPr>
          <p:cNvPr id="4" name="组合 3"/>
          <p:cNvGrpSpPr/>
          <p:nvPr/>
        </p:nvGrpSpPr>
        <p:grpSpPr>
          <a:xfrm>
            <a:off x="8626624" y="1341438"/>
            <a:ext cx="3168352" cy="1800200"/>
            <a:chOff x="5652120" y="3501008"/>
            <a:chExt cx="3168352" cy="1800200"/>
          </a:xfrm>
        </p:grpSpPr>
        <p:sp>
          <p:nvSpPr>
            <p:cNvPr id="5" name="矩形 4"/>
            <p:cNvSpPr/>
            <p:nvPr/>
          </p:nvSpPr>
          <p:spPr>
            <a:xfrm>
              <a:off x="5652120" y="3501008"/>
              <a:ext cx="3168352" cy="1800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椭圆 5"/>
            <p:cNvSpPr/>
            <p:nvPr/>
          </p:nvSpPr>
          <p:spPr>
            <a:xfrm>
              <a:off x="6228184" y="3861048"/>
              <a:ext cx="1296144" cy="1296144"/>
            </a:xfrm>
            <a:prstGeom prst="ellipse">
              <a:avLst/>
            </a:prstGeom>
            <a:solidFill>
              <a:srgbClr val="FFFF9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TextBox 6"/>
            <p:cNvSpPr txBox="1"/>
            <p:nvPr/>
          </p:nvSpPr>
          <p:spPr>
            <a:xfrm>
              <a:off x="6732240" y="4149080"/>
              <a:ext cx="360040" cy="461665"/>
            </a:xfrm>
            <a:prstGeom prst="rect">
              <a:avLst/>
            </a:prstGeom>
            <a:noFill/>
          </p:spPr>
          <p:txBody>
            <a:bodyPr wrap="square" rtlCol="0">
              <a:spAutoFit/>
            </a:bodyPr>
            <a:lstStyle/>
            <a:p>
              <a:r>
                <a:rPr lang="en-US" altLang="zh-CN" sz="2400" b="1" dirty="0">
                  <a:solidFill>
                    <a:srgbClr val="FF0000"/>
                  </a:solidFill>
                </a:rPr>
                <a:t>A</a:t>
              </a:r>
              <a:endParaRPr lang="zh-CN" altLang="en-US" sz="2400" b="1" dirty="0">
                <a:solidFill>
                  <a:srgbClr val="FF0000"/>
                </a:solidFill>
              </a:endParaRPr>
            </a:p>
          </p:txBody>
        </p:sp>
        <p:sp>
          <p:nvSpPr>
            <p:cNvPr id="8" name="TextBox 7"/>
            <p:cNvSpPr txBox="1"/>
            <p:nvPr/>
          </p:nvSpPr>
          <p:spPr>
            <a:xfrm>
              <a:off x="8316416" y="4839543"/>
              <a:ext cx="360040" cy="461665"/>
            </a:xfrm>
            <a:prstGeom prst="rect">
              <a:avLst/>
            </a:prstGeom>
            <a:noFill/>
          </p:spPr>
          <p:txBody>
            <a:bodyPr wrap="square" rtlCol="0">
              <a:spAutoFit/>
            </a:bodyPr>
            <a:lstStyle/>
            <a:p>
              <a:r>
                <a:rPr lang="en-US" altLang="zh-CN" sz="2400" b="1" dirty="0"/>
                <a:t>U</a:t>
              </a:r>
              <a:endParaRPr lang="zh-CN" altLang="en-US" sz="2400" b="1" dirty="0"/>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24579">
                                            <p:txEl>
                                              <p:pRg st="2" end="2"/>
                                            </p:txEl>
                                          </p:spTgt>
                                        </p:tgtEl>
                                        <p:attrNameLst>
                                          <p:attrName>style.visibility</p:attrName>
                                        </p:attrNameLst>
                                      </p:cBhvr>
                                      <p:to>
                                        <p:strVal val="visible"/>
                                      </p:to>
                                    </p:set>
                                    <p:animEffect transition="in" filter="blinds(horizontal)">
                                      <p:cBhvr>
                                        <p:cTn id="7" dur="500"/>
                                        <p:tgtEl>
                                          <p:spTgt spid="24579">
                                            <p:txEl>
                                              <p:pRg st="2" end="2"/>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24579">
                                            <p:txEl>
                                              <p:pRg st="3" end="3"/>
                                            </p:txEl>
                                          </p:spTgt>
                                        </p:tgtEl>
                                        <p:attrNameLst>
                                          <p:attrName>style.visibility</p:attrName>
                                        </p:attrNameLst>
                                      </p:cBhvr>
                                      <p:to>
                                        <p:strVal val="visible"/>
                                      </p:to>
                                    </p:set>
                                    <p:animEffect transition="in" filter="blinds(horizontal)">
                                      <p:cBhvr>
                                        <p:cTn id="12" dur="500"/>
                                        <p:tgtEl>
                                          <p:spTgt spid="24579">
                                            <p:txEl>
                                              <p:pRg st="3" end="3"/>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24579">
                                            <p:txEl>
                                              <p:pRg st="4" end="4"/>
                                            </p:txEl>
                                          </p:spTgt>
                                        </p:tgtEl>
                                        <p:attrNameLst>
                                          <p:attrName>style.visibility</p:attrName>
                                        </p:attrNameLst>
                                      </p:cBhvr>
                                      <p:to>
                                        <p:strVal val="visible"/>
                                      </p:to>
                                    </p:set>
                                    <p:animEffect transition="in" filter="blinds(horizontal)">
                                      <p:cBhvr>
                                        <p:cTn id="17" dur="500"/>
                                        <p:tgtEl>
                                          <p:spTgt spid="24579">
                                            <p:txEl>
                                              <p:pRg st="4" end="4"/>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24579">
                                            <p:txEl>
                                              <p:pRg st="5" end="5"/>
                                            </p:txEl>
                                          </p:spTgt>
                                        </p:tgtEl>
                                        <p:attrNameLst>
                                          <p:attrName>style.visibility</p:attrName>
                                        </p:attrNameLst>
                                      </p:cBhvr>
                                      <p:to>
                                        <p:strVal val="visible"/>
                                      </p:to>
                                    </p:set>
                                    <p:animEffect transition="in" filter="blinds(horizontal)">
                                      <p:cBhvr>
                                        <p:cTn id="22" dur="500"/>
                                        <p:tgtEl>
                                          <p:spTgt spid="24579">
                                            <p:txEl>
                                              <p:pRg st="5" end="5"/>
                                            </p:txEl>
                                          </p:spTgt>
                                        </p:tgtEl>
                                      </p:cBhvr>
                                    </p:animEffect>
                                  </p:childTnLst>
                                </p:cTn>
                              </p:par>
                              <p:par>
                                <p:cTn id="23" presetID="3" presetClass="entr" presetSubtype="10" fill="hold" nodeType="withEffect">
                                  <p:stCondLst>
                                    <p:cond delay="0"/>
                                  </p:stCondLst>
                                  <p:childTnLst>
                                    <p:set>
                                      <p:cBhvr>
                                        <p:cTn id="24" dur="1" fill="hold">
                                          <p:stCondLst>
                                            <p:cond delay="0"/>
                                          </p:stCondLst>
                                        </p:cTn>
                                        <p:tgtEl>
                                          <p:spTgt spid="24579">
                                            <p:txEl>
                                              <p:pRg st="6" end="6"/>
                                            </p:txEl>
                                          </p:spTgt>
                                        </p:tgtEl>
                                        <p:attrNameLst>
                                          <p:attrName>style.visibility</p:attrName>
                                        </p:attrNameLst>
                                      </p:cBhvr>
                                      <p:to>
                                        <p:strVal val="visible"/>
                                      </p:to>
                                    </p:set>
                                    <p:animEffect transition="in" filter="blinds(horizontal)">
                                      <p:cBhvr>
                                        <p:cTn id="25" dur="500"/>
                                        <p:tgtEl>
                                          <p:spTgt spid="24579">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a:xfrm>
            <a:off x="1438146" y="141561"/>
            <a:ext cx="8229600" cy="1126853"/>
          </a:xfrm>
        </p:spPr>
        <p:txBody>
          <a:bodyPr/>
          <a:lstStyle/>
          <a:p>
            <a:pPr algn="ctr" eaLnBrk="1" hangingPunct="1"/>
            <a:r>
              <a:rPr lang="zh-CN" altLang="en-US" dirty="0">
                <a:solidFill>
                  <a:srgbClr val="008000"/>
                </a:solidFill>
                <a:latin typeface="黑体" panose="02010609060101010101" pitchFamily="49" charset="-122"/>
                <a:ea typeface="黑体" panose="02010609060101010101" pitchFamily="49" charset="-122"/>
              </a:rPr>
              <a:t>经典集合</a:t>
            </a:r>
          </a:p>
        </p:txBody>
      </p:sp>
      <p:sp>
        <p:nvSpPr>
          <p:cNvPr id="28675" name="Rectangle 3"/>
          <p:cNvSpPr>
            <a:spLocks noGrp="1" noChangeArrowheads="1"/>
          </p:cNvSpPr>
          <p:nvPr>
            <p:ph type="body" sz="half" idx="1"/>
          </p:nvPr>
        </p:nvSpPr>
        <p:spPr>
          <a:xfrm>
            <a:off x="958752" y="1338535"/>
            <a:ext cx="9252048" cy="5400675"/>
          </a:xfrm>
        </p:spPr>
        <p:txBody>
          <a:bodyPr/>
          <a:lstStyle/>
          <a:p>
            <a:pPr eaLnBrk="1" hangingPunct="1">
              <a:buFont typeface="Wingdings" panose="05000000000000000000" pitchFamily="2" charset="2"/>
              <a:buChar char="n"/>
            </a:pPr>
            <a:r>
              <a:rPr lang="zh-CN" altLang="en-US" sz="3200" dirty="0">
                <a:solidFill>
                  <a:srgbClr val="7030A0"/>
                </a:solidFill>
                <a:ea typeface="黑体" pitchFamily="49" charset="-122"/>
              </a:rPr>
              <a:t>经典集合映射为函数</a:t>
            </a:r>
          </a:p>
          <a:p>
            <a:pPr eaLnBrk="1" hangingPunct="1">
              <a:buFont typeface="Wingdings" pitchFamily="2" charset="2"/>
              <a:buNone/>
            </a:pPr>
            <a:r>
              <a:rPr lang="zh-CN" altLang="en-US" sz="2800" b="1" dirty="0"/>
              <a:t>设</a:t>
            </a:r>
            <a:r>
              <a:rPr lang="en-US" altLang="zh-CN" sz="2800" b="1" dirty="0">
                <a:latin typeface="+mj-lt"/>
              </a:rPr>
              <a:t>X</a:t>
            </a:r>
            <a:r>
              <a:rPr lang="zh-CN" altLang="en-US" sz="2800" b="1" dirty="0">
                <a:latin typeface="+mj-lt"/>
              </a:rPr>
              <a:t>和</a:t>
            </a:r>
            <a:r>
              <a:rPr lang="en-US" altLang="zh-CN" sz="2800" b="1" dirty="0">
                <a:latin typeface="+mj-lt"/>
              </a:rPr>
              <a:t>Y</a:t>
            </a:r>
            <a:r>
              <a:rPr lang="zh-CN" altLang="en-US" sz="2800" b="1" dirty="0">
                <a:latin typeface="+mj-lt"/>
              </a:rPr>
              <a:t>是两个不同的论域，又设</a:t>
            </a:r>
            <a:r>
              <a:rPr lang="en-US" altLang="zh-CN" sz="2800" b="1" dirty="0">
                <a:latin typeface="+mj-lt"/>
              </a:rPr>
              <a:t>x</a:t>
            </a:r>
            <a:r>
              <a:rPr lang="zh-CN" altLang="en-US" sz="2800" b="1" dirty="0">
                <a:latin typeface="+mj-lt"/>
              </a:rPr>
              <a:t>是</a:t>
            </a:r>
            <a:r>
              <a:rPr lang="en-US" altLang="zh-CN" sz="2800" b="1" dirty="0">
                <a:latin typeface="+mj-lt"/>
              </a:rPr>
              <a:t>X</a:t>
            </a:r>
            <a:r>
              <a:rPr lang="zh-CN" altLang="en-US" sz="2800" b="1" dirty="0">
                <a:latin typeface="+mj-lt"/>
              </a:rPr>
              <a:t>域中的元素与</a:t>
            </a:r>
            <a:r>
              <a:rPr lang="en-US" altLang="zh-CN" sz="2800" b="1" dirty="0">
                <a:latin typeface="+mj-lt"/>
              </a:rPr>
              <a:t>Y</a:t>
            </a:r>
            <a:r>
              <a:rPr lang="zh-CN" altLang="en-US" sz="2800" b="1" dirty="0">
                <a:latin typeface="+mj-lt"/>
              </a:rPr>
              <a:t>域中的</a:t>
            </a:r>
            <a:r>
              <a:rPr lang="en-US" altLang="zh-CN" sz="2800" b="1" dirty="0">
                <a:latin typeface="+mj-lt"/>
              </a:rPr>
              <a:t>y</a:t>
            </a:r>
            <a:r>
              <a:rPr lang="zh-CN" altLang="en-US" sz="2800" b="1" dirty="0">
                <a:latin typeface="+mj-lt"/>
              </a:rPr>
              <a:t>元素相应，通常称这种对应关系为</a:t>
            </a:r>
            <a:r>
              <a:rPr lang="en-US" altLang="zh-CN" sz="2800" b="1" dirty="0">
                <a:latin typeface="+mj-lt"/>
              </a:rPr>
              <a:t>X</a:t>
            </a:r>
            <a:r>
              <a:rPr lang="zh-CN" altLang="en-US" sz="2800" b="1" dirty="0">
                <a:latin typeface="+mj-lt"/>
              </a:rPr>
              <a:t>域与</a:t>
            </a:r>
            <a:r>
              <a:rPr lang="en-US" altLang="zh-CN" sz="2800" b="1" dirty="0">
                <a:latin typeface="+mj-lt"/>
              </a:rPr>
              <a:t>Y</a:t>
            </a:r>
            <a:r>
              <a:rPr lang="zh-CN" altLang="en-US" sz="2800" b="1" dirty="0">
                <a:latin typeface="+mj-lt"/>
              </a:rPr>
              <a:t>域的映射：</a:t>
            </a:r>
          </a:p>
          <a:p>
            <a:pPr eaLnBrk="1" hangingPunct="1">
              <a:buFont typeface="Wingdings" pitchFamily="2" charset="2"/>
              <a:buNone/>
            </a:pPr>
            <a:r>
              <a:rPr kumimoji="1" lang="zh-CN" altLang="en-US" sz="2800" b="1" dirty="0">
                <a:latin typeface="+mj-lt"/>
              </a:rPr>
              <a:t>                </a:t>
            </a:r>
            <a:r>
              <a:rPr kumimoji="1" lang="en-US" altLang="zh-CN" sz="2800" b="1" i="1" dirty="0">
                <a:latin typeface="Times New Roman" panose="02020603050405020304" pitchFamily="18" charset="0"/>
                <a:cs typeface="Times New Roman" panose="02020603050405020304" pitchFamily="18" charset="0"/>
              </a:rPr>
              <a:t>f</a:t>
            </a:r>
            <a:r>
              <a:rPr kumimoji="1" lang="zh-CN" altLang="en-US" sz="2800" b="1" dirty="0">
                <a:latin typeface="+mj-lt"/>
              </a:rPr>
              <a:t>： </a:t>
            </a:r>
            <a:r>
              <a:rPr kumimoji="1" lang="en-US" altLang="zh-CN" sz="2800" b="1" i="1" dirty="0">
                <a:latin typeface="+mj-lt"/>
              </a:rPr>
              <a:t>X </a:t>
            </a:r>
            <a:r>
              <a:rPr kumimoji="1" lang="en-US" altLang="zh-CN" sz="2800" b="1" dirty="0">
                <a:latin typeface="+mj-lt"/>
                <a:sym typeface="Symbol" pitchFamily="18" charset="2"/>
              </a:rPr>
              <a:t></a:t>
            </a:r>
            <a:r>
              <a:rPr kumimoji="1" lang="en-US" altLang="zh-CN" sz="2800" b="1" i="1" dirty="0">
                <a:latin typeface="+mj-lt"/>
                <a:sym typeface="Symbol" pitchFamily="18" charset="2"/>
              </a:rPr>
              <a:t>Y</a:t>
            </a:r>
          </a:p>
          <a:p>
            <a:pPr eaLnBrk="1" hangingPunct="1"/>
            <a:r>
              <a:rPr kumimoji="1" lang="zh-CN" altLang="en-US" sz="2800" dirty="0">
                <a:latin typeface="+mj-lt"/>
                <a:sym typeface="Symbol" pitchFamily="18" charset="2"/>
              </a:rPr>
              <a:t>相应映射的</a:t>
            </a:r>
            <a:r>
              <a:rPr kumimoji="1" lang="zh-CN" altLang="en-US" sz="2800" dirty="0">
                <a:solidFill>
                  <a:srgbClr val="FF0000"/>
                </a:solidFill>
                <a:latin typeface="+mj-lt"/>
                <a:sym typeface="Symbol" pitchFamily="18" charset="2"/>
              </a:rPr>
              <a:t>特征函数</a:t>
            </a:r>
            <a:r>
              <a:rPr kumimoji="1" lang="zh-CN" altLang="en-US" sz="2800" dirty="0">
                <a:latin typeface="+mj-lt"/>
                <a:sym typeface="Symbol" pitchFamily="18" charset="2"/>
              </a:rPr>
              <a:t>定义为</a:t>
            </a:r>
            <a:r>
              <a:rPr kumimoji="1" lang="zh-CN" altLang="en-US" sz="2800" dirty="0">
                <a:solidFill>
                  <a:srgbClr val="000099"/>
                </a:solidFill>
                <a:latin typeface="+mj-lt"/>
                <a:sym typeface="Symbol" pitchFamily="18" charset="2"/>
              </a:rPr>
              <a:t>：</a:t>
            </a:r>
          </a:p>
          <a:p>
            <a:pPr eaLnBrk="1" hangingPunct="1"/>
            <a:endParaRPr kumimoji="1" lang="zh-CN" altLang="en-US" sz="2800" dirty="0">
              <a:latin typeface="+mj-lt"/>
              <a:sym typeface="Symbol" pitchFamily="18" charset="2"/>
            </a:endParaRPr>
          </a:p>
          <a:p>
            <a:pPr lvl="1" eaLnBrk="1" hangingPunct="1"/>
            <a:r>
              <a:rPr kumimoji="1" lang="en-US" altLang="zh-CN" sz="2800" i="1" dirty="0">
                <a:latin typeface="+mj-lt"/>
                <a:sym typeface="Symbol" pitchFamily="18" charset="2"/>
              </a:rPr>
              <a:t>C</a:t>
            </a:r>
            <a:r>
              <a:rPr kumimoji="1" lang="en-US" altLang="zh-CN" sz="2800" i="1" baseline="-25000" dirty="0">
                <a:latin typeface="+mj-lt"/>
                <a:sym typeface="Symbol" pitchFamily="18" charset="2"/>
              </a:rPr>
              <a:t>A</a:t>
            </a:r>
            <a:r>
              <a:rPr kumimoji="1" lang="zh-CN" altLang="en-US" sz="2800" dirty="0">
                <a:ea typeface="黑体" pitchFamily="49" charset="-122"/>
                <a:sym typeface="Symbol" pitchFamily="18" charset="2"/>
              </a:rPr>
              <a:t>表示</a:t>
            </a:r>
            <a:r>
              <a:rPr kumimoji="1" lang="en-US" altLang="zh-CN" sz="2800" dirty="0">
                <a:ea typeface="黑体" pitchFamily="49" charset="-122"/>
                <a:sym typeface="Symbol" pitchFamily="18" charset="2"/>
              </a:rPr>
              <a:t>X</a:t>
            </a:r>
            <a:r>
              <a:rPr kumimoji="1" lang="zh-CN" altLang="en-US" sz="2800" dirty="0">
                <a:ea typeface="黑体" pitchFamily="49" charset="-122"/>
                <a:sym typeface="Symbol" pitchFamily="18" charset="2"/>
              </a:rPr>
              <a:t>域内元素</a:t>
            </a:r>
            <a:r>
              <a:rPr kumimoji="1" lang="en-US" altLang="zh-CN" sz="2800" dirty="0">
                <a:ea typeface="黑体" pitchFamily="49" charset="-122"/>
                <a:sym typeface="Symbol" pitchFamily="18" charset="2"/>
              </a:rPr>
              <a:t>x</a:t>
            </a:r>
            <a:r>
              <a:rPr kumimoji="1" lang="zh-CN" altLang="en-US" sz="2800" dirty="0">
                <a:ea typeface="黑体" pitchFamily="49" charset="-122"/>
                <a:sym typeface="Symbol" pitchFamily="18" charset="2"/>
              </a:rPr>
              <a:t>在</a:t>
            </a:r>
            <a:r>
              <a:rPr kumimoji="1" lang="en-US" altLang="zh-CN" sz="2800" dirty="0">
                <a:ea typeface="黑体" pitchFamily="49" charset="-122"/>
                <a:sym typeface="Symbol" pitchFamily="18" charset="2"/>
              </a:rPr>
              <a:t>A</a:t>
            </a:r>
            <a:r>
              <a:rPr kumimoji="1" lang="zh-CN" altLang="en-US" sz="2800" dirty="0">
                <a:ea typeface="黑体" pitchFamily="49" charset="-122"/>
                <a:sym typeface="Symbol" pitchFamily="18" charset="2"/>
              </a:rPr>
              <a:t>集中的隶属度。</a:t>
            </a:r>
          </a:p>
          <a:p>
            <a:pPr eaLnBrk="1" hangingPunct="1">
              <a:buFont typeface="Wingdings" panose="05000000000000000000" pitchFamily="2" charset="2"/>
              <a:buChar char="n"/>
            </a:pPr>
            <a:r>
              <a:rPr kumimoji="1" lang="zh-CN" altLang="en-US" sz="3200" b="1" dirty="0">
                <a:solidFill>
                  <a:srgbClr val="FF0000"/>
                </a:solidFill>
              </a:rPr>
              <a:t>特征函数</a:t>
            </a:r>
            <a:r>
              <a:rPr kumimoji="1" lang="zh-CN" altLang="en-US" sz="3200" b="1" dirty="0"/>
              <a:t>满足</a:t>
            </a:r>
            <a:r>
              <a:rPr kumimoji="1" lang="zh-CN" altLang="en-US" sz="2800" b="1" dirty="0">
                <a:solidFill>
                  <a:schemeClr val="bg2"/>
                </a:solidFill>
              </a:rPr>
              <a:t>：</a:t>
            </a:r>
            <a:endParaRPr kumimoji="1" lang="zh-CN" altLang="en-US" sz="2800" dirty="0">
              <a:solidFill>
                <a:schemeClr val="bg2"/>
              </a:solidFill>
              <a:latin typeface="ITC Zapf Chancery" pitchFamily="66" charset="0"/>
              <a:sym typeface="Symbol" pitchFamily="18" charset="2"/>
            </a:endParaRPr>
          </a:p>
          <a:p>
            <a:pPr eaLnBrk="1" hangingPunct="1"/>
            <a:endParaRPr kumimoji="1" lang="zh-CN" altLang="en-US" sz="2800" b="1" i="1" dirty="0">
              <a:latin typeface="ITC Zapf Chancery" pitchFamily="66" charset="0"/>
              <a:sym typeface="Symbol" pitchFamily="18" charset="2"/>
            </a:endParaRPr>
          </a:p>
          <a:p>
            <a:pPr eaLnBrk="1" hangingPunct="1">
              <a:buClr>
                <a:schemeClr val="accent2"/>
              </a:buClr>
              <a:buSzPct val="80000"/>
              <a:buFont typeface="Wingdings" pitchFamily="2" charset="2"/>
              <a:buNone/>
            </a:pPr>
            <a:endParaRPr kumimoji="1" lang="zh-CN" altLang="en-US" sz="2800" b="1" i="1" dirty="0">
              <a:sym typeface="Symbol" pitchFamily="18" charset="2"/>
            </a:endParaRPr>
          </a:p>
          <a:p>
            <a:pPr eaLnBrk="1" hangingPunct="1">
              <a:buFont typeface="Wingdings" pitchFamily="2" charset="2"/>
              <a:buNone/>
            </a:pPr>
            <a:endParaRPr lang="en-US" altLang="zh-CN" sz="2800" dirty="0"/>
          </a:p>
        </p:txBody>
      </p:sp>
      <p:graphicFrame>
        <p:nvGraphicFramePr>
          <p:cNvPr id="28684" name="Object 12"/>
          <p:cNvGraphicFramePr>
            <a:graphicFrameLocks noGrp="1" noChangeAspect="1"/>
          </p:cNvGraphicFramePr>
          <p:nvPr>
            <p:ph sz="quarter" idx="2"/>
          </p:nvPr>
        </p:nvGraphicFramePr>
        <p:xfrm>
          <a:off x="4150616" y="5141913"/>
          <a:ext cx="3673475" cy="1716087"/>
        </p:xfrm>
        <a:graphic>
          <a:graphicData uri="http://schemas.openxmlformats.org/presentationml/2006/ole">
            <mc:AlternateContent xmlns:mc="http://schemas.openxmlformats.org/markup-compatibility/2006">
              <mc:Choice xmlns:v="urn:schemas-microsoft-com:vml" Requires="v">
                <p:oleObj name="公式" r:id="rId3" imgW="1548728" imgH="723586" progId="Equation.3">
                  <p:embed/>
                </p:oleObj>
              </mc:Choice>
              <mc:Fallback>
                <p:oleObj name="公式" r:id="rId3" imgW="1548728" imgH="723586" progId="Equation.3">
                  <p:embed/>
                  <p:pic>
                    <p:nvPicPr>
                      <p:cNvPr id="28684" name="Object 1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50616" y="5141913"/>
                        <a:ext cx="3673475" cy="17160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8680" name="AutoShape 8"/>
          <p:cNvSpPr>
            <a:spLocks noChangeArrowheads="1"/>
          </p:cNvSpPr>
          <p:nvPr/>
        </p:nvSpPr>
        <p:spPr bwMode="auto">
          <a:xfrm>
            <a:off x="8111430" y="4508501"/>
            <a:ext cx="2160587" cy="576263"/>
          </a:xfrm>
          <a:prstGeom prst="wedgeRoundRectCallout">
            <a:avLst>
              <a:gd name="adj1" fmla="val -113704"/>
              <a:gd name="adj2" fmla="val 71213"/>
              <a:gd name="adj3" fmla="val 16667"/>
            </a:avLst>
          </a:prstGeom>
          <a:solidFill>
            <a:srgbClr val="F9B4F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zh-CN" sz="2400" b="1" dirty="0"/>
              <a:t>∨</a:t>
            </a:r>
            <a:r>
              <a:rPr lang="zh-CN" altLang="en-US" dirty="0"/>
              <a:t>：</a:t>
            </a:r>
            <a:r>
              <a:rPr lang="zh-CN" altLang="en-US" sz="2400" dirty="0">
                <a:ea typeface="黑体" pitchFamily="49" charset="-122"/>
              </a:rPr>
              <a:t>取大运算</a:t>
            </a:r>
          </a:p>
        </p:txBody>
      </p:sp>
      <p:sp>
        <p:nvSpPr>
          <p:cNvPr id="28681" name="AutoShape 9"/>
          <p:cNvSpPr>
            <a:spLocks noChangeArrowheads="1"/>
          </p:cNvSpPr>
          <p:nvPr/>
        </p:nvSpPr>
        <p:spPr bwMode="auto">
          <a:xfrm>
            <a:off x="8184455" y="6281738"/>
            <a:ext cx="2232025" cy="576262"/>
          </a:xfrm>
          <a:prstGeom prst="wedgeRoundRectCallout">
            <a:avLst>
              <a:gd name="adj1" fmla="val -112875"/>
              <a:gd name="adj2" fmla="val -74519"/>
              <a:gd name="adj3" fmla="val 16667"/>
            </a:avLst>
          </a:prstGeom>
          <a:solidFill>
            <a:srgbClr val="99FF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zh-CN" sz="2400" b="1" dirty="0"/>
              <a:t>∧</a:t>
            </a:r>
            <a:r>
              <a:rPr lang="zh-CN" altLang="en-US" dirty="0"/>
              <a:t>：</a:t>
            </a:r>
            <a:r>
              <a:rPr lang="zh-CN" altLang="en-US" sz="2400" dirty="0">
                <a:ea typeface="黑体" pitchFamily="49" charset="-122"/>
              </a:rPr>
              <a:t>取小运算</a:t>
            </a:r>
          </a:p>
        </p:txBody>
      </p:sp>
      <p:graphicFrame>
        <p:nvGraphicFramePr>
          <p:cNvPr id="28682" name="Object 10"/>
          <p:cNvGraphicFramePr>
            <a:graphicFrameLocks noChangeAspect="1"/>
          </p:cNvGraphicFramePr>
          <p:nvPr>
            <p:extLst>
              <p:ext uri="{D42A27DB-BD31-4B8C-83A1-F6EECF244321}">
                <p14:modId xmlns:p14="http://schemas.microsoft.com/office/powerpoint/2010/main" val="1240178812"/>
              </p:ext>
            </p:extLst>
          </p:nvPr>
        </p:nvGraphicFramePr>
        <p:xfrm>
          <a:off x="5951984" y="3140968"/>
          <a:ext cx="2663825" cy="1031875"/>
        </p:xfrm>
        <a:graphic>
          <a:graphicData uri="http://schemas.openxmlformats.org/presentationml/2006/ole">
            <mc:AlternateContent xmlns:mc="http://schemas.openxmlformats.org/markup-compatibility/2006">
              <mc:Choice xmlns:v="urn:schemas-microsoft-com:vml" Requires="v">
                <p:oleObj name="公式" r:id="rId5" imgW="1181100" imgH="457200" progId="Equation.3">
                  <p:embed/>
                </p:oleObj>
              </mc:Choice>
              <mc:Fallback>
                <p:oleObj name="公式" r:id="rId5" imgW="1181100" imgH="457200" progId="Equation.3">
                  <p:embed/>
                  <p:pic>
                    <p:nvPicPr>
                      <p:cNvPr id="28682" name="Object 1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951984" y="3140968"/>
                        <a:ext cx="2663825" cy="1031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2" name="组合 1">
            <a:extLst>
              <a:ext uri="{FF2B5EF4-FFF2-40B4-BE49-F238E27FC236}">
                <a16:creationId xmlns:a16="http://schemas.microsoft.com/office/drawing/2014/main" id="{300CE1B8-D13E-BC4C-DA55-214758E674B5}"/>
              </a:ext>
            </a:extLst>
          </p:cNvPr>
          <p:cNvGrpSpPr/>
          <p:nvPr/>
        </p:nvGrpSpPr>
        <p:grpSpPr>
          <a:xfrm>
            <a:off x="9023648" y="0"/>
            <a:ext cx="3168352" cy="1800200"/>
            <a:chOff x="5652120" y="3501008"/>
            <a:chExt cx="3168352" cy="1800200"/>
          </a:xfrm>
        </p:grpSpPr>
        <p:sp>
          <p:nvSpPr>
            <p:cNvPr id="3" name="矩形 2">
              <a:extLst>
                <a:ext uri="{FF2B5EF4-FFF2-40B4-BE49-F238E27FC236}">
                  <a16:creationId xmlns:a16="http://schemas.microsoft.com/office/drawing/2014/main" id="{DD4A6B59-A5DF-1378-F608-D65FDDB39305}"/>
                </a:ext>
              </a:extLst>
            </p:cNvPr>
            <p:cNvSpPr/>
            <p:nvPr/>
          </p:nvSpPr>
          <p:spPr>
            <a:xfrm>
              <a:off x="5652120" y="3501008"/>
              <a:ext cx="3168352" cy="1800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椭圆 3">
              <a:extLst>
                <a:ext uri="{FF2B5EF4-FFF2-40B4-BE49-F238E27FC236}">
                  <a16:creationId xmlns:a16="http://schemas.microsoft.com/office/drawing/2014/main" id="{0C17B20A-4601-1EA6-7687-F86CA08D7D19}"/>
                </a:ext>
              </a:extLst>
            </p:cNvPr>
            <p:cNvSpPr/>
            <p:nvPr/>
          </p:nvSpPr>
          <p:spPr>
            <a:xfrm>
              <a:off x="6228184" y="3861048"/>
              <a:ext cx="1296144" cy="1296144"/>
            </a:xfrm>
            <a:prstGeom prst="ellipse">
              <a:avLst/>
            </a:prstGeom>
            <a:solidFill>
              <a:srgbClr val="FFFF9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TextBox 6">
              <a:extLst>
                <a:ext uri="{FF2B5EF4-FFF2-40B4-BE49-F238E27FC236}">
                  <a16:creationId xmlns:a16="http://schemas.microsoft.com/office/drawing/2014/main" id="{C16C1509-52C5-B90B-BC78-5FC84F3D795E}"/>
                </a:ext>
              </a:extLst>
            </p:cNvPr>
            <p:cNvSpPr txBox="1"/>
            <p:nvPr/>
          </p:nvSpPr>
          <p:spPr>
            <a:xfrm>
              <a:off x="6732240" y="4149080"/>
              <a:ext cx="360040" cy="461665"/>
            </a:xfrm>
            <a:prstGeom prst="rect">
              <a:avLst/>
            </a:prstGeom>
            <a:noFill/>
          </p:spPr>
          <p:txBody>
            <a:bodyPr wrap="square" rtlCol="0">
              <a:spAutoFit/>
            </a:bodyPr>
            <a:lstStyle/>
            <a:p>
              <a:r>
                <a:rPr lang="en-US" altLang="zh-CN" sz="2400" b="1" dirty="0">
                  <a:solidFill>
                    <a:srgbClr val="FF0000"/>
                  </a:solidFill>
                </a:rPr>
                <a:t>A</a:t>
              </a:r>
              <a:endParaRPr lang="zh-CN" altLang="en-US" sz="2400" b="1" dirty="0">
                <a:solidFill>
                  <a:srgbClr val="FF0000"/>
                </a:solidFill>
              </a:endParaRPr>
            </a:p>
          </p:txBody>
        </p:sp>
        <p:sp>
          <p:nvSpPr>
            <p:cNvPr id="6" name="TextBox 7">
              <a:extLst>
                <a:ext uri="{FF2B5EF4-FFF2-40B4-BE49-F238E27FC236}">
                  <a16:creationId xmlns:a16="http://schemas.microsoft.com/office/drawing/2014/main" id="{FE4A9E8E-3B4F-625F-C0AB-161D12AA2EF8}"/>
                </a:ext>
              </a:extLst>
            </p:cNvPr>
            <p:cNvSpPr txBox="1"/>
            <p:nvPr/>
          </p:nvSpPr>
          <p:spPr>
            <a:xfrm>
              <a:off x="8316416" y="4839543"/>
              <a:ext cx="360040" cy="461665"/>
            </a:xfrm>
            <a:prstGeom prst="rect">
              <a:avLst/>
            </a:prstGeom>
            <a:noFill/>
          </p:spPr>
          <p:txBody>
            <a:bodyPr wrap="square" rtlCol="0">
              <a:spAutoFit/>
            </a:bodyPr>
            <a:lstStyle/>
            <a:p>
              <a:r>
                <a:rPr lang="en-US" altLang="zh-CN" sz="2400" b="1" dirty="0"/>
                <a:t>U</a:t>
              </a:r>
              <a:endParaRPr lang="zh-CN" altLang="en-US" sz="2400" b="1" dirty="0"/>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28675">
                                            <p:txEl>
                                              <p:pRg st="0" end="0"/>
                                            </p:txEl>
                                          </p:spTgt>
                                        </p:tgtEl>
                                        <p:attrNameLst>
                                          <p:attrName>style.visibility</p:attrName>
                                        </p:attrNameLst>
                                      </p:cBhvr>
                                      <p:to>
                                        <p:strVal val="visible"/>
                                      </p:to>
                                    </p:set>
                                    <p:animEffect transition="in" filter="wipe(left)">
                                      <p:cBhvr>
                                        <p:cTn id="7" dur="500"/>
                                        <p:tgtEl>
                                          <p:spTgt spid="2867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28675">
                                            <p:txEl>
                                              <p:pRg st="1" end="1"/>
                                            </p:txEl>
                                          </p:spTgt>
                                        </p:tgtEl>
                                        <p:attrNameLst>
                                          <p:attrName>style.visibility</p:attrName>
                                        </p:attrNameLst>
                                      </p:cBhvr>
                                      <p:to>
                                        <p:strVal val="visible"/>
                                      </p:to>
                                    </p:set>
                                    <p:animEffect transition="in" filter="wipe(left)">
                                      <p:cBhvr>
                                        <p:cTn id="12" dur="500"/>
                                        <p:tgtEl>
                                          <p:spTgt spid="28675">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28675">
                                            <p:txEl>
                                              <p:pRg st="2" end="2"/>
                                            </p:txEl>
                                          </p:spTgt>
                                        </p:tgtEl>
                                        <p:attrNameLst>
                                          <p:attrName>style.visibility</p:attrName>
                                        </p:attrNameLst>
                                      </p:cBhvr>
                                      <p:to>
                                        <p:strVal val="visible"/>
                                      </p:to>
                                    </p:set>
                                    <p:animEffect transition="in" filter="wipe(left)">
                                      <p:cBhvr>
                                        <p:cTn id="17" dur="500"/>
                                        <p:tgtEl>
                                          <p:spTgt spid="2867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fade">
                                      <p:cBhvr>
                                        <p:cTn id="22" dur="500"/>
                                        <p:tgtEl>
                                          <p:spTgt spid="2"/>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28675">
                                            <p:txEl>
                                              <p:pRg st="3" end="3"/>
                                            </p:txEl>
                                          </p:spTgt>
                                        </p:tgtEl>
                                        <p:attrNameLst>
                                          <p:attrName>style.visibility</p:attrName>
                                        </p:attrNameLst>
                                      </p:cBhvr>
                                      <p:to>
                                        <p:strVal val="visible"/>
                                      </p:to>
                                    </p:set>
                                    <p:animEffect transition="in" filter="wipe(left)">
                                      <p:cBhvr>
                                        <p:cTn id="27" dur="500"/>
                                        <p:tgtEl>
                                          <p:spTgt spid="28675">
                                            <p:txEl>
                                              <p:pRg st="3" end="3"/>
                                            </p:txEl>
                                          </p:spTgt>
                                        </p:tgtEl>
                                      </p:cBhvr>
                                    </p:animEffect>
                                  </p:childTnLst>
                                </p:cTn>
                              </p:par>
                            </p:childTnLst>
                          </p:cTn>
                        </p:par>
                        <p:par>
                          <p:cTn id="28" fill="hold" nodeType="afterGroup">
                            <p:stCondLst>
                              <p:cond delay="500"/>
                            </p:stCondLst>
                            <p:childTnLst>
                              <p:par>
                                <p:cTn id="29" presetID="22" presetClass="entr" presetSubtype="8" fill="hold" nodeType="afterEffect">
                                  <p:stCondLst>
                                    <p:cond delay="0"/>
                                  </p:stCondLst>
                                  <p:childTnLst>
                                    <p:set>
                                      <p:cBhvr>
                                        <p:cTn id="30" dur="1" fill="hold">
                                          <p:stCondLst>
                                            <p:cond delay="0"/>
                                          </p:stCondLst>
                                        </p:cTn>
                                        <p:tgtEl>
                                          <p:spTgt spid="28682"/>
                                        </p:tgtEl>
                                        <p:attrNameLst>
                                          <p:attrName>style.visibility</p:attrName>
                                        </p:attrNameLst>
                                      </p:cBhvr>
                                      <p:to>
                                        <p:strVal val="visible"/>
                                      </p:to>
                                    </p:set>
                                    <p:animEffect transition="in" filter="wipe(left)">
                                      <p:cBhvr>
                                        <p:cTn id="31" dur="500"/>
                                        <p:tgtEl>
                                          <p:spTgt spid="28682"/>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22" presetClass="entr" presetSubtype="8" fill="hold" nodeType="clickEffect">
                                  <p:stCondLst>
                                    <p:cond delay="0"/>
                                  </p:stCondLst>
                                  <p:childTnLst>
                                    <p:set>
                                      <p:cBhvr>
                                        <p:cTn id="35" dur="1" fill="hold">
                                          <p:stCondLst>
                                            <p:cond delay="0"/>
                                          </p:stCondLst>
                                        </p:cTn>
                                        <p:tgtEl>
                                          <p:spTgt spid="28675">
                                            <p:txEl>
                                              <p:pRg st="5" end="5"/>
                                            </p:txEl>
                                          </p:spTgt>
                                        </p:tgtEl>
                                        <p:attrNameLst>
                                          <p:attrName>style.visibility</p:attrName>
                                        </p:attrNameLst>
                                      </p:cBhvr>
                                      <p:to>
                                        <p:strVal val="visible"/>
                                      </p:to>
                                    </p:set>
                                    <p:animEffect transition="in" filter="wipe(left)">
                                      <p:cBhvr>
                                        <p:cTn id="36" dur="500"/>
                                        <p:tgtEl>
                                          <p:spTgt spid="28675">
                                            <p:txEl>
                                              <p:pRg st="5" end="5"/>
                                            </p:txEl>
                                          </p:spTgt>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22" presetClass="entr" presetSubtype="8" fill="hold" nodeType="clickEffect">
                                  <p:stCondLst>
                                    <p:cond delay="0"/>
                                  </p:stCondLst>
                                  <p:childTnLst>
                                    <p:set>
                                      <p:cBhvr>
                                        <p:cTn id="40" dur="1" fill="hold">
                                          <p:stCondLst>
                                            <p:cond delay="0"/>
                                          </p:stCondLst>
                                        </p:cTn>
                                        <p:tgtEl>
                                          <p:spTgt spid="28675">
                                            <p:txEl>
                                              <p:pRg st="6" end="6"/>
                                            </p:txEl>
                                          </p:spTgt>
                                        </p:tgtEl>
                                        <p:attrNameLst>
                                          <p:attrName>style.visibility</p:attrName>
                                        </p:attrNameLst>
                                      </p:cBhvr>
                                      <p:to>
                                        <p:strVal val="visible"/>
                                      </p:to>
                                    </p:set>
                                    <p:animEffect transition="in" filter="wipe(left)">
                                      <p:cBhvr>
                                        <p:cTn id="41" dur="500"/>
                                        <p:tgtEl>
                                          <p:spTgt spid="28675">
                                            <p:txEl>
                                              <p:pRg st="6" end="6"/>
                                            </p:txEl>
                                          </p:spTgt>
                                        </p:tgtEl>
                                      </p:cBhvr>
                                    </p:animEffect>
                                  </p:childTnLst>
                                </p:cTn>
                              </p:par>
                            </p:childTnLst>
                          </p:cTn>
                        </p:par>
                        <p:par>
                          <p:cTn id="42" fill="hold" nodeType="afterGroup">
                            <p:stCondLst>
                              <p:cond delay="500"/>
                            </p:stCondLst>
                            <p:childTnLst>
                              <p:par>
                                <p:cTn id="43" presetID="22" presetClass="entr" presetSubtype="1" fill="hold" nodeType="afterEffect">
                                  <p:stCondLst>
                                    <p:cond delay="0"/>
                                  </p:stCondLst>
                                  <p:childTnLst>
                                    <p:set>
                                      <p:cBhvr>
                                        <p:cTn id="44" dur="1" fill="hold">
                                          <p:stCondLst>
                                            <p:cond delay="0"/>
                                          </p:stCondLst>
                                        </p:cTn>
                                        <p:tgtEl>
                                          <p:spTgt spid="28684"/>
                                        </p:tgtEl>
                                        <p:attrNameLst>
                                          <p:attrName>style.visibility</p:attrName>
                                        </p:attrNameLst>
                                      </p:cBhvr>
                                      <p:to>
                                        <p:strVal val="visible"/>
                                      </p:to>
                                    </p:set>
                                    <p:animEffect transition="in" filter="wipe(up)">
                                      <p:cBhvr>
                                        <p:cTn id="45" dur="500"/>
                                        <p:tgtEl>
                                          <p:spTgt spid="28684"/>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2" presetClass="entr" presetSubtype="4" fill="hold" grpId="0" nodeType="clickEffect">
                                  <p:stCondLst>
                                    <p:cond delay="0"/>
                                  </p:stCondLst>
                                  <p:childTnLst>
                                    <p:set>
                                      <p:cBhvr>
                                        <p:cTn id="49" dur="1" fill="hold">
                                          <p:stCondLst>
                                            <p:cond delay="0"/>
                                          </p:stCondLst>
                                        </p:cTn>
                                        <p:tgtEl>
                                          <p:spTgt spid="28680"/>
                                        </p:tgtEl>
                                        <p:attrNameLst>
                                          <p:attrName>style.visibility</p:attrName>
                                        </p:attrNameLst>
                                      </p:cBhvr>
                                      <p:to>
                                        <p:strVal val="visible"/>
                                      </p:to>
                                    </p:set>
                                    <p:anim calcmode="lin" valueType="num">
                                      <p:cBhvr additive="base">
                                        <p:cTn id="50" dur="500" fill="hold"/>
                                        <p:tgtEl>
                                          <p:spTgt spid="28680"/>
                                        </p:tgtEl>
                                        <p:attrNameLst>
                                          <p:attrName>ppt_x</p:attrName>
                                        </p:attrNameLst>
                                      </p:cBhvr>
                                      <p:tavLst>
                                        <p:tav tm="0">
                                          <p:val>
                                            <p:strVal val="#ppt_x"/>
                                          </p:val>
                                        </p:tav>
                                        <p:tav tm="100000">
                                          <p:val>
                                            <p:strVal val="#ppt_x"/>
                                          </p:val>
                                        </p:tav>
                                      </p:tavLst>
                                    </p:anim>
                                    <p:anim calcmode="lin" valueType="num">
                                      <p:cBhvr additive="base">
                                        <p:cTn id="51" dur="500" fill="hold"/>
                                        <p:tgtEl>
                                          <p:spTgt spid="28680"/>
                                        </p:tgtEl>
                                        <p:attrNameLst>
                                          <p:attrName>ppt_y</p:attrName>
                                        </p:attrNameLst>
                                      </p:cBhvr>
                                      <p:tavLst>
                                        <p:tav tm="0">
                                          <p:val>
                                            <p:strVal val="1+#ppt_h/2"/>
                                          </p:val>
                                        </p:tav>
                                        <p:tav tm="100000">
                                          <p:val>
                                            <p:strVal val="#ppt_y"/>
                                          </p:val>
                                        </p:tav>
                                      </p:tavLst>
                                    </p:anim>
                                  </p:childTnLst>
                                </p:cTn>
                              </p:par>
                            </p:childTnLst>
                          </p:cTn>
                        </p:par>
                      </p:childTnLst>
                    </p:cTn>
                  </p:par>
                  <p:par>
                    <p:cTn id="52" fill="hold" nodeType="clickPar">
                      <p:stCondLst>
                        <p:cond delay="indefinite"/>
                      </p:stCondLst>
                      <p:childTnLst>
                        <p:par>
                          <p:cTn id="53" fill="hold" nodeType="withGroup">
                            <p:stCondLst>
                              <p:cond delay="0"/>
                            </p:stCondLst>
                            <p:childTnLst>
                              <p:par>
                                <p:cTn id="54" presetID="2" presetClass="entr" presetSubtype="4" fill="hold" grpId="0" nodeType="clickEffect">
                                  <p:stCondLst>
                                    <p:cond delay="0"/>
                                  </p:stCondLst>
                                  <p:childTnLst>
                                    <p:set>
                                      <p:cBhvr>
                                        <p:cTn id="55" dur="1" fill="hold">
                                          <p:stCondLst>
                                            <p:cond delay="0"/>
                                          </p:stCondLst>
                                        </p:cTn>
                                        <p:tgtEl>
                                          <p:spTgt spid="28681"/>
                                        </p:tgtEl>
                                        <p:attrNameLst>
                                          <p:attrName>style.visibility</p:attrName>
                                        </p:attrNameLst>
                                      </p:cBhvr>
                                      <p:to>
                                        <p:strVal val="visible"/>
                                      </p:to>
                                    </p:set>
                                    <p:anim calcmode="lin" valueType="num">
                                      <p:cBhvr additive="base">
                                        <p:cTn id="56" dur="500" fill="hold"/>
                                        <p:tgtEl>
                                          <p:spTgt spid="28681"/>
                                        </p:tgtEl>
                                        <p:attrNameLst>
                                          <p:attrName>ppt_x</p:attrName>
                                        </p:attrNameLst>
                                      </p:cBhvr>
                                      <p:tavLst>
                                        <p:tav tm="0">
                                          <p:val>
                                            <p:strVal val="#ppt_x"/>
                                          </p:val>
                                        </p:tav>
                                        <p:tav tm="100000">
                                          <p:val>
                                            <p:strVal val="#ppt_x"/>
                                          </p:val>
                                        </p:tav>
                                      </p:tavLst>
                                    </p:anim>
                                    <p:anim calcmode="lin" valueType="num">
                                      <p:cBhvr additive="base">
                                        <p:cTn id="57" dur="500" fill="hold"/>
                                        <p:tgtEl>
                                          <p:spTgt spid="2868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680" grpId="0" animBg="1"/>
      <p:bldP spid="28681"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a:xfrm>
            <a:off x="1981200" y="452091"/>
            <a:ext cx="8229600" cy="739775"/>
          </a:xfrm>
        </p:spPr>
        <p:txBody>
          <a:bodyPr/>
          <a:lstStyle/>
          <a:p>
            <a:pPr algn="ctr" eaLnBrk="1" hangingPunct="1"/>
            <a:r>
              <a:rPr lang="en-US" altLang="zh-CN" dirty="0">
                <a:solidFill>
                  <a:srgbClr val="008000"/>
                </a:solidFill>
                <a:latin typeface="Arial" panose="020B0604020202020204" pitchFamily="34" charset="0"/>
                <a:cs typeface="Arial" panose="020B0604020202020204" pitchFamily="34" charset="0"/>
              </a:rPr>
              <a:t>1.2.2  </a:t>
            </a:r>
            <a:r>
              <a:rPr lang="zh-CN" altLang="en-US" dirty="0">
                <a:solidFill>
                  <a:srgbClr val="008000"/>
                </a:solidFill>
                <a:latin typeface="Arial" panose="020B0604020202020204" pitchFamily="34" charset="0"/>
                <a:cs typeface="Arial" panose="020B0604020202020204" pitchFamily="34" charset="0"/>
              </a:rPr>
              <a:t>模糊集合</a:t>
            </a:r>
          </a:p>
        </p:txBody>
      </p:sp>
      <p:sp>
        <p:nvSpPr>
          <p:cNvPr id="33795" name="Rectangle 3"/>
          <p:cNvSpPr>
            <a:spLocks noGrp="1" noChangeArrowheads="1"/>
          </p:cNvSpPr>
          <p:nvPr>
            <p:ph idx="1"/>
          </p:nvPr>
        </p:nvSpPr>
        <p:spPr>
          <a:xfrm>
            <a:off x="911424" y="1196976"/>
            <a:ext cx="10441160" cy="5399930"/>
          </a:xfrm>
        </p:spPr>
        <p:txBody>
          <a:bodyPr>
            <a:noAutofit/>
          </a:bodyPr>
          <a:lstStyle/>
          <a:p>
            <a:pPr eaLnBrk="1" hangingPunct="1">
              <a:lnSpc>
                <a:spcPct val="95000"/>
              </a:lnSpc>
              <a:defRPr/>
            </a:pPr>
            <a:r>
              <a:rPr lang="zh-CN" altLang="en-US" sz="3200" dirty="0">
                <a:solidFill>
                  <a:srgbClr val="3333FF"/>
                </a:solidFill>
                <a:ea typeface="黑体" pitchFamily="2" charset="-122"/>
              </a:rPr>
              <a:t>模糊集合的概念</a:t>
            </a:r>
          </a:p>
          <a:p>
            <a:pPr eaLnBrk="1" hangingPunct="1">
              <a:lnSpc>
                <a:spcPct val="95000"/>
              </a:lnSpc>
              <a:buFont typeface="Wingdings" pitchFamily="2" charset="2"/>
              <a:buNone/>
              <a:defRPr/>
            </a:pPr>
            <a:r>
              <a:rPr lang="zh-CN" altLang="en-US" sz="2800" dirty="0">
                <a:ea typeface="黑体" pitchFamily="2" charset="-122"/>
              </a:rPr>
              <a:t>例：“所有小于</a:t>
            </a:r>
            <a:r>
              <a:rPr lang="en-US" altLang="zh-CN" sz="2800" dirty="0">
                <a:ea typeface="黑体" pitchFamily="2" charset="-122"/>
              </a:rPr>
              <a:t>5</a:t>
            </a:r>
            <a:r>
              <a:rPr lang="zh-CN" altLang="en-US" sz="2800" dirty="0">
                <a:ea typeface="黑体" pitchFamily="2" charset="-122"/>
              </a:rPr>
              <a:t>的自然数” ：</a:t>
            </a:r>
          </a:p>
          <a:p>
            <a:pPr eaLnBrk="1" hangingPunct="1">
              <a:lnSpc>
                <a:spcPct val="95000"/>
              </a:lnSpc>
              <a:buFont typeface="Wingdings" pitchFamily="2" charset="2"/>
              <a:buNone/>
              <a:defRPr/>
            </a:pPr>
            <a:r>
              <a:rPr lang="zh-CN" altLang="en-US" sz="2800" dirty="0">
                <a:ea typeface="黑体" pitchFamily="2" charset="-122"/>
              </a:rPr>
              <a:t>       “</a:t>
            </a:r>
            <a:r>
              <a:rPr lang="zh-CN" altLang="en-US" sz="2800" dirty="0">
                <a:solidFill>
                  <a:srgbClr val="008000"/>
                </a:solidFill>
                <a:ea typeface="黑体" pitchFamily="2" charset="-122"/>
              </a:rPr>
              <a:t>比</a:t>
            </a:r>
            <a:r>
              <a:rPr lang="en-US" altLang="zh-CN" sz="2800" dirty="0">
                <a:solidFill>
                  <a:srgbClr val="008000"/>
                </a:solidFill>
                <a:ea typeface="黑体" pitchFamily="2" charset="-122"/>
              </a:rPr>
              <a:t>5</a:t>
            </a:r>
            <a:r>
              <a:rPr lang="zh-CN" altLang="en-US" sz="2800" u="sng" dirty="0">
                <a:solidFill>
                  <a:srgbClr val="008000"/>
                </a:solidFill>
                <a:ea typeface="黑体" pitchFamily="2" charset="-122"/>
              </a:rPr>
              <a:t>大得多</a:t>
            </a:r>
            <a:r>
              <a:rPr lang="zh-CN" altLang="en-US" sz="2800" dirty="0">
                <a:solidFill>
                  <a:srgbClr val="008000"/>
                </a:solidFill>
                <a:ea typeface="黑体" pitchFamily="2" charset="-122"/>
              </a:rPr>
              <a:t>的自然数</a:t>
            </a:r>
            <a:r>
              <a:rPr lang="zh-CN" altLang="en-US" sz="2800" dirty="0">
                <a:ea typeface="黑体" pitchFamily="2" charset="-122"/>
              </a:rPr>
              <a:t>”：</a:t>
            </a:r>
          </a:p>
          <a:p>
            <a:pPr eaLnBrk="1" hangingPunct="1">
              <a:lnSpc>
                <a:spcPct val="95000"/>
              </a:lnSpc>
              <a:defRPr/>
            </a:pPr>
            <a:r>
              <a:rPr lang="en-US" altLang="zh-CN" sz="3200" dirty="0">
                <a:solidFill>
                  <a:srgbClr val="FF0000"/>
                </a:solidFill>
                <a:ea typeface="黑体" pitchFamily="2" charset="-122"/>
              </a:rPr>
              <a:t>[</a:t>
            </a:r>
            <a:r>
              <a:rPr lang="zh-CN" altLang="en-US" sz="3200" dirty="0">
                <a:solidFill>
                  <a:srgbClr val="FF0000"/>
                </a:solidFill>
                <a:ea typeface="黑体" pitchFamily="2" charset="-122"/>
              </a:rPr>
              <a:t>定义</a:t>
            </a:r>
            <a:r>
              <a:rPr lang="en-US" altLang="zh-CN" sz="3200" dirty="0">
                <a:solidFill>
                  <a:srgbClr val="FF0000"/>
                </a:solidFill>
                <a:ea typeface="黑体" pitchFamily="2" charset="-122"/>
              </a:rPr>
              <a:t>]</a:t>
            </a:r>
            <a:r>
              <a:rPr lang="zh-CN" altLang="en-US" sz="3200" dirty="0">
                <a:ea typeface="黑体" pitchFamily="2" charset="-122"/>
              </a:rPr>
              <a:t>：论域</a:t>
            </a:r>
            <a:r>
              <a:rPr lang="en-US" altLang="zh-CN" sz="3200" dirty="0">
                <a:ea typeface="黑体" pitchFamily="2" charset="-122"/>
              </a:rPr>
              <a:t>U</a:t>
            </a:r>
            <a:r>
              <a:rPr lang="zh-CN" altLang="en-US" sz="3200" dirty="0">
                <a:ea typeface="黑体" pitchFamily="2" charset="-122"/>
              </a:rPr>
              <a:t>中的</a:t>
            </a:r>
            <a:r>
              <a:rPr lang="zh-CN" altLang="en-US" sz="3200" u="sng" dirty="0">
                <a:ea typeface="黑体" pitchFamily="2" charset="-122"/>
              </a:rPr>
              <a:t>模糊子集</a:t>
            </a:r>
            <a:r>
              <a:rPr lang="en-US" altLang="zh-CN" sz="3200" u="sng" dirty="0">
                <a:ea typeface="黑体" pitchFamily="2" charset="-122"/>
              </a:rPr>
              <a:t>A</a:t>
            </a:r>
            <a:r>
              <a:rPr lang="zh-CN" altLang="en-US" sz="3200" dirty="0">
                <a:ea typeface="黑体" pitchFamily="2" charset="-122"/>
              </a:rPr>
              <a:t>，是以隶属函数</a:t>
            </a:r>
            <a:r>
              <a:rPr lang="en-US" altLang="zh-CN" sz="3200" b="1" i="1" dirty="0" err="1">
                <a:solidFill>
                  <a:srgbClr val="FF0000"/>
                </a:solidFill>
                <a:ea typeface="黑体" pitchFamily="2" charset="-122"/>
              </a:rPr>
              <a:t>u</a:t>
            </a:r>
            <a:r>
              <a:rPr lang="en-US" altLang="zh-CN" sz="3200" b="1" i="1" baseline="-25000" dirty="0" err="1">
                <a:solidFill>
                  <a:srgbClr val="FF0000"/>
                </a:solidFill>
                <a:ea typeface="黑体" pitchFamily="2" charset="-122"/>
              </a:rPr>
              <a:t>A</a:t>
            </a:r>
            <a:r>
              <a:rPr lang="zh-CN" altLang="en-US" sz="3200" dirty="0">
                <a:ea typeface="黑体" pitchFamily="2" charset="-122"/>
              </a:rPr>
              <a:t>为表征的集合。即由映射：</a:t>
            </a:r>
          </a:p>
          <a:p>
            <a:pPr eaLnBrk="1" hangingPunct="1">
              <a:lnSpc>
                <a:spcPct val="95000"/>
              </a:lnSpc>
              <a:buFont typeface="Wingdings" pitchFamily="2" charset="2"/>
              <a:buNone/>
              <a:defRPr/>
            </a:pPr>
            <a:r>
              <a:rPr lang="zh-CN" altLang="en-US" b="1" dirty="0">
                <a:solidFill>
                  <a:srgbClr val="FF0000"/>
                </a:solidFill>
                <a:ea typeface="黑体" pitchFamily="2" charset="-122"/>
              </a:rPr>
              <a:t>                  </a:t>
            </a:r>
            <a:r>
              <a:rPr lang="en-US" altLang="zh-CN" sz="3200" b="1" i="1" dirty="0" err="1">
                <a:solidFill>
                  <a:srgbClr val="FF0000"/>
                </a:solidFill>
                <a:ea typeface="黑体" pitchFamily="2" charset="-122"/>
                <a:cs typeface="Times New Roman" panose="02020603050405020304" pitchFamily="18" charset="0"/>
              </a:rPr>
              <a:t>u</a:t>
            </a:r>
            <a:r>
              <a:rPr lang="en-US" altLang="zh-CN" sz="3200" b="1" i="1" baseline="-25000" dirty="0" err="1">
                <a:solidFill>
                  <a:srgbClr val="FF0000"/>
                </a:solidFill>
                <a:ea typeface="黑体" pitchFamily="2" charset="-122"/>
                <a:cs typeface="Times New Roman" panose="02020603050405020304" pitchFamily="18" charset="0"/>
              </a:rPr>
              <a:t>A</a:t>
            </a:r>
            <a:r>
              <a:rPr lang="en-US" altLang="zh-CN" sz="3200" b="1" i="1" baseline="-25000" dirty="0">
                <a:solidFill>
                  <a:srgbClr val="FF0000"/>
                </a:solidFill>
                <a:ea typeface="黑体" pitchFamily="2" charset="-122"/>
                <a:cs typeface="Times New Roman" panose="02020603050405020304" pitchFamily="18" charset="0"/>
              </a:rPr>
              <a:t> </a:t>
            </a:r>
            <a:r>
              <a:rPr lang="en-US" altLang="zh-CN" sz="3200" b="1" dirty="0">
                <a:solidFill>
                  <a:srgbClr val="FF0000"/>
                </a:solidFill>
                <a:ea typeface="黑体" pitchFamily="2" charset="-122"/>
                <a:cs typeface="Times New Roman" panose="02020603050405020304" pitchFamily="18" charset="0"/>
              </a:rPr>
              <a:t>: </a:t>
            </a:r>
            <a:r>
              <a:rPr lang="en-US" altLang="zh-CN" sz="3200" b="1" i="1" dirty="0">
                <a:solidFill>
                  <a:srgbClr val="FF0000"/>
                </a:solidFill>
                <a:ea typeface="黑体" pitchFamily="2" charset="-122"/>
                <a:cs typeface="Times New Roman" panose="02020603050405020304" pitchFamily="18" charset="0"/>
              </a:rPr>
              <a:t>U</a:t>
            </a:r>
            <a:r>
              <a:rPr lang="en-US" altLang="zh-CN" sz="3200" b="1" dirty="0">
                <a:solidFill>
                  <a:srgbClr val="FF0000"/>
                </a:solidFill>
                <a:ea typeface="黑体" pitchFamily="2" charset="-122"/>
                <a:cs typeface="Times New Roman" panose="02020603050405020304" pitchFamily="18" charset="0"/>
              </a:rPr>
              <a:t>  </a:t>
            </a:r>
            <a:r>
              <a:rPr lang="en-US" altLang="zh-CN" sz="3200" b="1" dirty="0">
                <a:solidFill>
                  <a:srgbClr val="FF0000"/>
                </a:solidFill>
                <a:ea typeface="黑体" pitchFamily="2" charset="-122"/>
                <a:cs typeface="Times New Roman" panose="02020603050405020304" pitchFamily="18" charset="0"/>
                <a:sym typeface="Symbol" panose="05050102010706020507" pitchFamily="18" charset="2"/>
              </a:rPr>
              <a:t></a:t>
            </a:r>
            <a:r>
              <a:rPr lang="en-US" altLang="zh-CN" sz="3200" b="1" dirty="0">
                <a:solidFill>
                  <a:srgbClr val="FF0000"/>
                </a:solidFill>
                <a:ea typeface="黑体" pitchFamily="2" charset="-122"/>
                <a:cs typeface="Times New Roman" panose="02020603050405020304" pitchFamily="18" charset="0"/>
              </a:rPr>
              <a:t> [0, 1]</a:t>
            </a:r>
          </a:p>
          <a:p>
            <a:pPr eaLnBrk="1" hangingPunct="1">
              <a:lnSpc>
                <a:spcPct val="95000"/>
              </a:lnSpc>
              <a:buFont typeface="Wingdings" pitchFamily="2" charset="2"/>
              <a:buNone/>
              <a:defRPr/>
            </a:pPr>
            <a:r>
              <a:rPr lang="en-US" altLang="zh-CN" dirty="0">
                <a:ea typeface="黑体" pitchFamily="2" charset="-122"/>
              </a:rPr>
              <a:t>        </a:t>
            </a:r>
            <a:r>
              <a:rPr lang="zh-CN" altLang="en-US" dirty="0">
                <a:ea typeface="黑体" pitchFamily="2" charset="-122"/>
              </a:rPr>
              <a:t>确定论域</a:t>
            </a:r>
            <a:r>
              <a:rPr lang="en-US" altLang="zh-CN" dirty="0">
                <a:ea typeface="黑体" pitchFamily="2" charset="-122"/>
              </a:rPr>
              <a:t>U</a:t>
            </a:r>
            <a:r>
              <a:rPr lang="zh-CN" altLang="en-US" dirty="0">
                <a:ea typeface="黑体" pitchFamily="2" charset="-122"/>
              </a:rPr>
              <a:t>的一个</a:t>
            </a:r>
            <a:r>
              <a:rPr lang="zh-CN" altLang="en-US" u="sng" dirty="0">
                <a:ea typeface="黑体" pitchFamily="2" charset="-122"/>
              </a:rPr>
              <a:t>模糊子集</a:t>
            </a:r>
            <a:r>
              <a:rPr lang="en-US" altLang="zh-CN" u="sng" dirty="0">
                <a:ea typeface="黑体" pitchFamily="2" charset="-122"/>
              </a:rPr>
              <a:t>A</a:t>
            </a:r>
            <a:r>
              <a:rPr lang="zh-CN" altLang="en-US" dirty="0">
                <a:ea typeface="黑体" pitchFamily="2" charset="-122"/>
              </a:rPr>
              <a:t>。</a:t>
            </a:r>
            <a:endParaRPr lang="en-US" altLang="zh-CN" dirty="0">
              <a:ea typeface="黑体" pitchFamily="2" charset="-122"/>
            </a:endParaRPr>
          </a:p>
          <a:p>
            <a:pPr eaLnBrk="1" hangingPunct="1">
              <a:lnSpc>
                <a:spcPct val="95000"/>
              </a:lnSpc>
              <a:buFont typeface="Wingdings" panose="05000000000000000000" pitchFamily="2" charset="2"/>
              <a:buChar char="l"/>
              <a:defRPr/>
            </a:pPr>
            <a:r>
              <a:rPr lang="en-US" altLang="zh-CN" sz="2800" i="1" dirty="0" err="1">
                <a:solidFill>
                  <a:srgbClr val="FF0000"/>
                </a:solidFill>
                <a:ea typeface="黑体" pitchFamily="2" charset="-122"/>
                <a:cs typeface="Times New Roman" panose="02020603050405020304" pitchFamily="18" charset="0"/>
              </a:rPr>
              <a:t>u</a:t>
            </a:r>
            <a:r>
              <a:rPr lang="en-US" altLang="zh-CN" sz="2800" i="1" baseline="-25000" dirty="0" err="1">
                <a:solidFill>
                  <a:srgbClr val="FF0000"/>
                </a:solidFill>
                <a:ea typeface="黑体" pitchFamily="2" charset="-122"/>
                <a:cs typeface="Times New Roman" panose="02020603050405020304" pitchFamily="18" charset="0"/>
              </a:rPr>
              <a:t>A</a:t>
            </a:r>
            <a:r>
              <a:rPr lang="zh-CN" altLang="en-US" sz="2800" dirty="0">
                <a:ea typeface="黑体" pitchFamily="2" charset="-122"/>
                <a:cs typeface="Times New Roman" panose="02020603050405020304" pitchFamily="18" charset="0"/>
              </a:rPr>
              <a:t>为</a:t>
            </a:r>
            <a:r>
              <a:rPr lang="zh-CN" altLang="en-US" sz="2800" u="sng" dirty="0">
                <a:ea typeface="黑体" pitchFamily="2" charset="-122"/>
                <a:cs typeface="Times New Roman" panose="02020603050405020304" pitchFamily="18" charset="0"/>
              </a:rPr>
              <a:t>模糊子集</a:t>
            </a:r>
            <a:r>
              <a:rPr lang="en-US" altLang="zh-CN" sz="2800" u="sng" dirty="0">
                <a:ea typeface="黑体" pitchFamily="2" charset="-122"/>
                <a:cs typeface="Times New Roman" panose="02020603050405020304" pitchFamily="18" charset="0"/>
              </a:rPr>
              <a:t>A</a:t>
            </a:r>
            <a:r>
              <a:rPr lang="zh-CN" altLang="en-US" sz="2800" dirty="0">
                <a:ea typeface="黑体" pitchFamily="2" charset="-122"/>
                <a:cs typeface="Times New Roman" panose="02020603050405020304" pitchFamily="18" charset="0"/>
              </a:rPr>
              <a:t>的隶属函数，</a:t>
            </a:r>
            <a:r>
              <a:rPr lang="en-US" altLang="zh-CN" sz="2800" i="1" dirty="0" err="1">
                <a:solidFill>
                  <a:srgbClr val="3333FF"/>
                </a:solidFill>
                <a:ea typeface="黑体" pitchFamily="2" charset="-122"/>
                <a:cs typeface="Times New Roman" panose="02020603050405020304" pitchFamily="18" charset="0"/>
              </a:rPr>
              <a:t>u</a:t>
            </a:r>
            <a:r>
              <a:rPr lang="en-US" altLang="zh-CN" sz="2800" i="1" baseline="-25000" dirty="0" err="1">
                <a:solidFill>
                  <a:srgbClr val="3333FF"/>
                </a:solidFill>
                <a:ea typeface="黑体" pitchFamily="2" charset="-122"/>
                <a:cs typeface="Times New Roman" panose="02020603050405020304" pitchFamily="18" charset="0"/>
              </a:rPr>
              <a:t>A</a:t>
            </a:r>
            <a:r>
              <a:rPr lang="en-US" altLang="zh-CN" sz="2800" dirty="0">
                <a:solidFill>
                  <a:srgbClr val="3333FF"/>
                </a:solidFill>
                <a:ea typeface="黑体" pitchFamily="2" charset="-122"/>
                <a:cs typeface="Times New Roman" panose="02020603050405020304" pitchFamily="18" charset="0"/>
              </a:rPr>
              <a:t>(u)</a:t>
            </a:r>
            <a:r>
              <a:rPr lang="zh-CN" altLang="en-US" sz="2800" dirty="0">
                <a:ea typeface="黑体" pitchFamily="2" charset="-122"/>
                <a:cs typeface="Times New Roman" panose="02020603050405020304" pitchFamily="18" charset="0"/>
              </a:rPr>
              <a:t>称为</a:t>
            </a:r>
            <a:r>
              <a:rPr lang="en-US" altLang="zh-CN" sz="2800" dirty="0">
                <a:ea typeface="黑体" pitchFamily="2" charset="-122"/>
                <a:cs typeface="Times New Roman" panose="02020603050405020304" pitchFamily="18" charset="0"/>
              </a:rPr>
              <a:t>u</a:t>
            </a:r>
            <a:r>
              <a:rPr lang="zh-CN" altLang="en-US" sz="2800" dirty="0">
                <a:ea typeface="黑体" pitchFamily="2" charset="-122"/>
                <a:cs typeface="Times New Roman" panose="02020603050405020304" pitchFamily="18" charset="0"/>
              </a:rPr>
              <a:t>对</a:t>
            </a:r>
            <a:r>
              <a:rPr lang="en-US" altLang="zh-CN" sz="2800" dirty="0">
                <a:ea typeface="黑体" pitchFamily="2" charset="-122"/>
                <a:cs typeface="Times New Roman" panose="02020603050405020304" pitchFamily="18" charset="0"/>
              </a:rPr>
              <a:t>A</a:t>
            </a:r>
            <a:r>
              <a:rPr lang="zh-CN" altLang="en-US" sz="2800" dirty="0">
                <a:ea typeface="黑体" pitchFamily="2" charset="-122"/>
                <a:cs typeface="Times New Roman" panose="02020603050405020304" pitchFamily="18" charset="0"/>
              </a:rPr>
              <a:t>的隶属度，它表示论域</a:t>
            </a:r>
            <a:r>
              <a:rPr lang="en-US" altLang="zh-CN" sz="2800" dirty="0">
                <a:ea typeface="黑体" pitchFamily="2" charset="-122"/>
                <a:cs typeface="Times New Roman" panose="02020603050405020304" pitchFamily="18" charset="0"/>
              </a:rPr>
              <a:t>U</a:t>
            </a:r>
            <a:r>
              <a:rPr lang="zh-CN" altLang="en-US" sz="2800" dirty="0">
                <a:ea typeface="黑体" pitchFamily="2" charset="-122"/>
                <a:cs typeface="Times New Roman" panose="02020603050405020304" pitchFamily="18" charset="0"/>
              </a:rPr>
              <a:t>中的元素</a:t>
            </a:r>
            <a:r>
              <a:rPr lang="en-US" altLang="zh-CN" sz="2800" dirty="0">
                <a:ea typeface="黑体" pitchFamily="2" charset="-122"/>
                <a:cs typeface="Times New Roman" panose="02020603050405020304" pitchFamily="18" charset="0"/>
              </a:rPr>
              <a:t>u</a:t>
            </a:r>
            <a:r>
              <a:rPr lang="zh-CN" altLang="en-US" sz="2800" dirty="0">
                <a:ea typeface="黑体" pitchFamily="2" charset="-122"/>
                <a:cs typeface="Times New Roman" panose="02020603050405020304" pitchFamily="18" charset="0"/>
              </a:rPr>
              <a:t>属于其</a:t>
            </a:r>
            <a:r>
              <a:rPr lang="zh-CN" altLang="en-US" sz="2800" u="sng" dirty="0">
                <a:ea typeface="黑体" pitchFamily="2" charset="-122"/>
                <a:cs typeface="Times New Roman" panose="02020603050405020304" pitchFamily="18" charset="0"/>
              </a:rPr>
              <a:t>模糊子集</a:t>
            </a:r>
            <a:r>
              <a:rPr lang="en-US" altLang="zh-CN" sz="2800" u="sng" dirty="0">
                <a:ea typeface="黑体" pitchFamily="2" charset="-122"/>
                <a:cs typeface="Times New Roman" panose="02020603050405020304" pitchFamily="18" charset="0"/>
              </a:rPr>
              <a:t>A</a:t>
            </a:r>
            <a:r>
              <a:rPr lang="zh-CN" altLang="en-US" sz="2800" dirty="0">
                <a:ea typeface="黑体" pitchFamily="2" charset="-122"/>
                <a:cs typeface="Times New Roman" panose="02020603050405020304" pitchFamily="18" charset="0"/>
              </a:rPr>
              <a:t>的程度。它在</a:t>
            </a:r>
            <a:r>
              <a:rPr lang="en-US" altLang="zh-CN" sz="2800" dirty="0">
                <a:solidFill>
                  <a:srgbClr val="FF0000"/>
                </a:solidFill>
                <a:effectLst>
                  <a:outerShdw blurRad="38100" dist="38100" dir="2700000" algn="tl">
                    <a:srgbClr val="000000">
                      <a:alpha val="43137"/>
                    </a:srgbClr>
                  </a:outerShdw>
                </a:effectLst>
                <a:ea typeface="黑体" pitchFamily="2" charset="-122"/>
                <a:cs typeface="Times New Roman" panose="02020603050405020304" pitchFamily="18" charset="0"/>
              </a:rPr>
              <a:t>[0,1]</a:t>
            </a:r>
            <a:r>
              <a:rPr lang="zh-CN" altLang="en-US" sz="2800" dirty="0">
                <a:ea typeface="黑体" pitchFamily="2" charset="-122"/>
              </a:rPr>
              <a:t>内可连续取值。</a:t>
            </a:r>
          </a:p>
          <a:p>
            <a:pPr eaLnBrk="1" hangingPunct="1">
              <a:lnSpc>
                <a:spcPct val="95000"/>
              </a:lnSpc>
              <a:defRPr/>
            </a:pPr>
            <a:r>
              <a:rPr lang="zh-CN" altLang="en-US" sz="3200" dirty="0">
                <a:solidFill>
                  <a:srgbClr val="FF0000"/>
                </a:solidFill>
                <a:ea typeface="黑体" pitchFamily="2" charset="-122"/>
              </a:rPr>
              <a:t>隶属度可简记为</a:t>
            </a:r>
            <a:r>
              <a:rPr lang="en-US" altLang="zh-CN" sz="3200" dirty="0">
                <a:solidFill>
                  <a:srgbClr val="FF0000"/>
                </a:solidFill>
                <a:ea typeface="黑体" pitchFamily="2" charset="-122"/>
              </a:rPr>
              <a:t>A(u)</a:t>
            </a:r>
          </a:p>
        </p:txBody>
      </p:sp>
      <p:sp>
        <p:nvSpPr>
          <p:cNvPr id="3" name="文本框 2">
            <a:extLst>
              <a:ext uri="{FF2B5EF4-FFF2-40B4-BE49-F238E27FC236}">
                <a16:creationId xmlns:a16="http://schemas.microsoft.com/office/drawing/2014/main" id="{4C310765-47B1-A9B4-11C9-4C32F793FDC0}"/>
              </a:ext>
            </a:extLst>
          </p:cNvPr>
          <p:cNvSpPr txBox="1"/>
          <p:nvPr/>
        </p:nvSpPr>
        <p:spPr>
          <a:xfrm>
            <a:off x="5879976" y="1700808"/>
            <a:ext cx="3078088" cy="523220"/>
          </a:xfrm>
          <a:prstGeom prst="rect">
            <a:avLst/>
          </a:prstGeom>
          <a:noFill/>
        </p:spPr>
        <p:txBody>
          <a:bodyPr wrap="square">
            <a:spAutoFit/>
          </a:bodyPr>
          <a:lstStyle/>
          <a:p>
            <a:r>
              <a:rPr lang="zh-CN" altLang="en-US" sz="2800" dirty="0">
                <a:ea typeface="黑体" pitchFamily="2" charset="-122"/>
              </a:rPr>
              <a:t>是一个</a:t>
            </a:r>
            <a:r>
              <a:rPr lang="zh-CN" altLang="en-US" sz="2800" dirty="0">
                <a:solidFill>
                  <a:srgbClr val="CC00FF"/>
                </a:solidFill>
                <a:ea typeface="黑体" pitchFamily="2" charset="-122"/>
              </a:rPr>
              <a:t>清晰</a:t>
            </a:r>
            <a:r>
              <a:rPr lang="zh-CN" altLang="en-US" sz="2800" dirty="0">
                <a:ea typeface="黑体" pitchFamily="2" charset="-122"/>
              </a:rPr>
              <a:t>的概念，</a:t>
            </a:r>
            <a:endParaRPr lang="zh-CN" altLang="en-US" sz="2800" dirty="0"/>
          </a:p>
        </p:txBody>
      </p:sp>
      <p:sp>
        <p:nvSpPr>
          <p:cNvPr id="5" name="文本框 4">
            <a:extLst>
              <a:ext uri="{FF2B5EF4-FFF2-40B4-BE49-F238E27FC236}">
                <a16:creationId xmlns:a16="http://schemas.microsoft.com/office/drawing/2014/main" id="{92AD37A0-C9E9-2700-430C-B0EA955A4804}"/>
              </a:ext>
            </a:extLst>
          </p:cNvPr>
          <p:cNvSpPr txBox="1"/>
          <p:nvPr/>
        </p:nvSpPr>
        <p:spPr>
          <a:xfrm>
            <a:off x="5879976" y="2224028"/>
            <a:ext cx="3384376" cy="523220"/>
          </a:xfrm>
          <a:prstGeom prst="rect">
            <a:avLst/>
          </a:prstGeom>
          <a:noFill/>
        </p:spPr>
        <p:txBody>
          <a:bodyPr wrap="square">
            <a:spAutoFit/>
          </a:bodyPr>
          <a:lstStyle/>
          <a:p>
            <a:r>
              <a:rPr lang="zh-CN" altLang="en-US" sz="2800" dirty="0">
                <a:ea typeface="黑体" pitchFamily="2" charset="-122"/>
              </a:rPr>
              <a:t>是一个</a:t>
            </a:r>
            <a:r>
              <a:rPr lang="zh-CN" altLang="en-US" sz="2800" dirty="0">
                <a:solidFill>
                  <a:srgbClr val="FF0000"/>
                </a:solidFill>
                <a:effectLst>
                  <a:outerShdw blurRad="38100" dist="38100" dir="2700000" algn="tl">
                    <a:srgbClr val="000000">
                      <a:alpha val="43137"/>
                    </a:srgbClr>
                  </a:outerShdw>
                </a:effectLst>
                <a:ea typeface="黑体" pitchFamily="2" charset="-122"/>
              </a:rPr>
              <a:t>模糊</a:t>
            </a:r>
            <a:r>
              <a:rPr lang="zh-CN" altLang="en-US" sz="2800" dirty="0">
                <a:ea typeface="黑体" pitchFamily="2" charset="-122"/>
              </a:rPr>
              <a:t>的概念，</a:t>
            </a:r>
            <a:endParaRPr lang="zh-CN" altLang="en-US" sz="2800"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33795">
                                            <p:txEl>
                                              <p:pRg st="0" end="0"/>
                                            </p:txEl>
                                          </p:spTgt>
                                        </p:tgtEl>
                                        <p:attrNameLst>
                                          <p:attrName>style.visibility</p:attrName>
                                        </p:attrNameLst>
                                      </p:cBhvr>
                                      <p:to>
                                        <p:strVal val="visible"/>
                                      </p:to>
                                    </p:set>
                                    <p:animEffect transition="in" filter="wipe(up)">
                                      <p:cBhvr>
                                        <p:cTn id="7" dur="500"/>
                                        <p:tgtEl>
                                          <p:spTgt spid="3379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33795">
                                            <p:txEl>
                                              <p:pRg st="1" end="1"/>
                                            </p:txEl>
                                          </p:spTgt>
                                        </p:tgtEl>
                                        <p:attrNameLst>
                                          <p:attrName>style.visibility</p:attrName>
                                        </p:attrNameLst>
                                      </p:cBhvr>
                                      <p:to>
                                        <p:strVal val="visible"/>
                                      </p:to>
                                    </p:set>
                                    <p:animEffect transition="in" filter="wipe(up)">
                                      <p:cBhvr>
                                        <p:cTn id="12" dur="500"/>
                                        <p:tgtEl>
                                          <p:spTgt spid="33795">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wipe(left)">
                                      <p:cBhvr>
                                        <p:cTn id="17" dur="500"/>
                                        <p:tgtEl>
                                          <p:spTgt spid="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33795">
                                            <p:txEl>
                                              <p:pRg st="2" end="2"/>
                                            </p:txEl>
                                          </p:spTgt>
                                        </p:tgtEl>
                                        <p:attrNameLst>
                                          <p:attrName>style.visibility</p:attrName>
                                        </p:attrNameLst>
                                      </p:cBhvr>
                                      <p:to>
                                        <p:strVal val="visible"/>
                                      </p:to>
                                    </p:set>
                                    <p:animEffect transition="in" filter="wipe(up)">
                                      <p:cBhvr>
                                        <p:cTn id="22" dur="500"/>
                                        <p:tgtEl>
                                          <p:spTgt spid="33795">
                                            <p:txEl>
                                              <p:pRg st="2" end="2"/>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wipe(left)">
                                      <p:cBhvr>
                                        <p:cTn id="27" dur="500"/>
                                        <p:tgtEl>
                                          <p:spTgt spid="5"/>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grpId="0" nodeType="clickEffect">
                                  <p:stCondLst>
                                    <p:cond delay="0"/>
                                  </p:stCondLst>
                                  <p:childTnLst>
                                    <p:set>
                                      <p:cBhvr>
                                        <p:cTn id="31" dur="1" fill="hold">
                                          <p:stCondLst>
                                            <p:cond delay="0"/>
                                          </p:stCondLst>
                                        </p:cTn>
                                        <p:tgtEl>
                                          <p:spTgt spid="33795">
                                            <p:txEl>
                                              <p:pRg st="3" end="3"/>
                                            </p:txEl>
                                          </p:spTgt>
                                        </p:tgtEl>
                                        <p:attrNameLst>
                                          <p:attrName>style.visibility</p:attrName>
                                        </p:attrNameLst>
                                      </p:cBhvr>
                                      <p:to>
                                        <p:strVal val="visible"/>
                                      </p:to>
                                    </p:set>
                                    <p:animEffect transition="in" filter="wipe(up)">
                                      <p:cBhvr>
                                        <p:cTn id="32" dur="500"/>
                                        <p:tgtEl>
                                          <p:spTgt spid="33795">
                                            <p:txEl>
                                              <p:pRg st="3" end="3"/>
                                            </p:txEl>
                                          </p:spTgt>
                                        </p:tgtEl>
                                      </p:cBhvr>
                                    </p:animEffect>
                                  </p:childTnLst>
                                </p:cTn>
                              </p:par>
                            </p:childTnLst>
                          </p:cTn>
                        </p:par>
                        <p:par>
                          <p:cTn id="33" fill="hold" nodeType="withGroup">
                            <p:stCondLst>
                              <p:cond delay="500"/>
                            </p:stCondLst>
                            <p:childTnLst>
                              <p:par>
                                <p:cTn id="34" presetID="22" presetClass="entr" presetSubtype="1" fill="hold" grpId="0" nodeType="afterEffect">
                                  <p:stCondLst>
                                    <p:cond delay="0"/>
                                  </p:stCondLst>
                                  <p:childTnLst>
                                    <p:set>
                                      <p:cBhvr>
                                        <p:cTn id="35" dur="1" fill="hold">
                                          <p:stCondLst>
                                            <p:cond delay="0"/>
                                          </p:stCondLst>
                                        </p:cTn>
                                        <p:tgtEl>
                                          <p:spTgt spid="33795">
                                            <p:txEl>
                                              <p:pRg st="4" end="4"/>
                                            </p:txEl>
                                          </p:spTgt>
                                        </p:tgtEl>
                                        <p:attrNameLst>
                                          <p:attrName>style.visibility</p:attrName>
                                        </p:attrNameLst>
                                      </p:cBhvr>
                                      <p:to>
                                        <p:strVal val="visible"/>
                                      </p:to>
                                    </p:set>
                                    <p:animEffect transition="in" filter="wipe(up)">
                                      <p:cBhvr>
                                        <p:cTn id="36" dur="500"/>
                                        <p:tgtEl>
                                          <p:spTgt spid="33795">
                                            <p:txEl>
                                              <p:pRg st="4" end="4"/>
                                            </p:txEl>
                                          </p:spTgt>
                                        </p:tgtEl>
                                      </p:cBhvr>
                                    </p:animEffect>
                                  </p:childTnLst>
                                </p:cTn>
                              </p:par>
                            </p:childTnLst>
                          </p:cTn>
                        </p:par>
                        <p:par>
                          <p:cTn id="37" fill="hold" nodeType="withGroup">
                            <p:stCondLst>
                              <p:cond delay="1000"/>
                            </p:stCondLst>
                            <p:childTnLst>
                              <p:par>
                                <p:cTn id="38" presetID="22" presetClass="entr" presetSubtype="1" fill="hold" grpId="0" nodeType="afterEffect">
                                  <p:stCondLst>
                                    <p:cond delay="0"/>
                                  </p:stCondLst>
                                  <p:childTnLst>
                                    <p:set>
                                      <p:cBhvr>
                                        <p:cTn id="39" dur="1" fill="hold">
                                          <p:stCondLst>
                                            <p:cond delay="0"/>
                                          </p:stCondLst>
                                        </p:cTn>
                                        <p:tgtEl>
                                          <p:spTgt spid="33795">
                                            <p:txEl>
                                              <p:pRg st="5" end="5"/>
                                            </p:txEl>
                                          </p:spTgt>
                                        </p:tgtEl>
                                        <p:attrNameLst>
                                          <p:attrName>style.visibility</p:attrName>
                                        </p:attrNameLst>
                                      </p:cBhvr>
                                      <p:to>
                                        <p:strVal val="visible"/>
                                      </p:to>
                                    </p:set>
                                    <p:animEffect transition="in" filter="wipe(up)">
                                      <p:cBhvr>
                                        <p:cTn id="40" dur="500"/>
                                        <p:tgtEl>
                                          <p:spTgt spid="33795">
                                            <p:txEl>
                                              <p:pRg st="5" end="5"/>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1" fill="hold" grpId="0" nodeType="clickEffect">
                                  <p:stCondLst>
                                    <p:cond delay="0"/>
                                  </p:stCondLst>
                                  <p:childTnLst>
                                    <p:set>
                                      <p:cBhvr>
                                        <p:cTn id="44" dur="1" fill="hold">
                                          <p:stCondLst>
                                            <p:cond delay="0"/>
                                          </p:stCondLst>
                                        </p:cTn>
                                        <p:tgtEl>
                                          <p:spTgt spid="33795">
                                            <p:txEl>
                                              <p:pRg st="6" end="6"/>
                                            </p:txEl>
                                          </p:spTgt>
                                        </p:tgtEl>
                                        <p:attrNameLst>
                                          <p:attrName>style.visibility</p:attrName>
                                        </p:attrNameLst>
                                      </p:cBhvr>
                                      <p:to>
                                        <p:strVal val="visible"/>
                                      </p:to>
                                    </p:set>
                                    <p:animEffect transition="in" filter="wipe(up)">
                                      <p:cBhvr>
                                        <p:cTn id="45" dur="500"/>
                                        <p:tgtEl>
                                          <p:spTgt spid="33795">
                                            <p:txEl>
                                              <p:pRg st="6" end="6"/>
                                            </p:txEl>
                                          </p:spTgt>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22" presetClass="entr" presetSubtype="1" fill="hold" grpId="0" nodeType="clickEffect">
                                  <p:stCondLst>
                                    <p:cond delay="0"/>
                                  </p:stCondLst>
                                  <p:childTnLst>
                                    <p:set>
                                      <p:cBhvr>
                                        <p:cTn id="49" dur="1" fill="hold">
                                          <p:stCondLst>
                                            <p:cond delay="0"/>
                                          </p:stCondLst>
                                        </p:cTn>
                                        <p:tgtEl>
                                          <p:spTgt spid="33795">
                                            <p:txEl>
                                              <p:pRg st="7" end="7"/>
                                            </p:txEl>
                                          </p:spTgt>
                                        </p:tgtEl>
                                        <p:attrNameLst>
                                          <p:attrName>style.visibility</p:attrName>
                                        </p:attrNameLst>
                                      </p:cBhvr>
                                      <p:to>
                                        <p:strVal val="visible"/>
                                      </p:to>
                                    </p:set>
                                    <p:animEffect transition="in" filter="wipe(up)">
                                      <p:cBhvr>
                                        <p:cTn id="50" dur="500"/>
                                        <p:tgtEl>
                                          <p:spTgt spid="33795">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795" grpId="0" uiExpand="1" build="p"/>
      <p:bldP spid="3" grpId="0"/>
      <p:bldP spid="5"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a:xfrm>
            <a:off x="1945196" y="396119"/>
            <a:ext cx="8229600" cy="811213"/>
          </a:xfrm>
        </p:spPr>
        <p:txBody>
          <a:bodyPr/>
          <a:lstStyle/>
          <a:p>
            <a:pPr algn="ctr" eaLnBrk="1" hangingPunct="1"/>
            <a:r>
              <a:rPr lang="en-US" altLang="zh-CN" dirty="0">
                <a:solidFill>
                  <a:srgbClr val="008000"/>
                </a:solidFill>
                <a:latin typeface="Arial" panose="020B0604020202020204" pitchFamily="34" charset="0"/>
                <a:cs typeface="Arial" panose="020B0604020202020204" pitchFamily="34" charset="0"/>
              </a:rPr>
              <a:t>1.2.2  </a:t>
            </a:r>
            <a:r>
              <a:rPr lang="zh-CN" altLang="en-US" dirty="0">
                <a:solidFill>
                  <a:srgbClr val="008000"/>
                </a:solidFill>
                <a:latin typeface="Arial" panose="020B0604020202020204" pitchFamily="34" charset="0"/>
                <a:cs typeface="Arial" panose="020B0604020202020204" pitchFamily="34" charset="0"/>
              </a:rPr>
              <a:t>模糊集合</a:t>
            </a:r>
          </a:p>
        </p:txBody>
      </p:sp>
      <p:sp>
        <p:nvSpPr>
          <p:cNvPr id="34819" name="Rectangle 3"/>
          <p:cNvSpPr>
            <a:spLocks noGrp="1" noChangeArrowheads="1"/>
          </p:cNvSpPr>
          <p:nvPr>
            <p:ph idx="1"/>
          </p:nvPr>
        </p:nvSpPr>
        <p:spPr>
          <a:xfrm>
            <a:off x="767408" y="1340768"/>
            <a:ext cx="10873208" cy="5760640"/>
          </a:xfrm>
        </p:spPr>
        <p:txBody>
          <a:bodyPr>
            <a:normAutofit fontScale="92500" lnSpcReduction="10000"/>
          </a:bodyPr>
          <a:lstStyle/>
          <a:p>
            <a:pPr eaLnBrk="1" hangingPunct="1">
              <a:lnSpc>
                <a:spcPct val="101000"/>
              </a:lnSpc>
            </a:pPr>
            <a:r>
              <a:rPr kumimoji="1" lang="en-US" altLang="zh-CN" dirty="0">
                <a:ea typeface="黑体" pitchFamily="49" charset="-122"/>
              </a:rPr>
              <a:t> </a:t>
            </a:r>
            <a:r>
              <a:rPr kumimoji="1" lang="zh-CN" altLang="en-US" dirty="0">
                <a:ea typeface="黑体" pitchFamily="49" charset="-122"/>
                <a:cs typeface="Arial" charset="0"/>
              </a:rPr>
              <a:t>例</a:t>
            </a:r>
            <a:r>
              <a:rPr kumimoji="1" lang="en-US" altLang="zh-CN" dirty="0">
                <a:ea typeface="黑体" pitchFamily="49" charset="-122"/>
                <a:cs typeface="Arial" charset="0"/>
              </a:rPr>
              <a:t>: </a:t>
            </a:r>
            <a:r>
              <a:rPr kumimoji="1" lang="zh-CN" altLang="en-US" dirty="0">
                <a:ea typeface="黑体" pitchFamily="49" charset="-122"/>
                <a:cs typeface="Arial" charset="0"/>
              </a:rPr>
              <a:t>设论域</a:t>
            </a:r>
            <a:r>
              <a:rPr kumimoji="1" lang="en-US" altLang="zh-CN" i="1" dirty="0">
                <a:ea typeface="黑体" pitchFamily="49" charset="-122"/>
                <a:cs typeface="Arial" charset="0"/>
              </a:rPr>
              <a:t>U </a:t>
            </a:r>
            <a:r>
              <a:rPr kumimoji="1" lang="en-US" altLang="zh-CN" dirty="0">
                <a:ea typeface="黑体" pitchFamily="49" charset="-122"/>
                <a:cs typeface="Arial" charset="0"/>
              </a:rPr>
              <a:t>= {140, 150, 160, 170, 180, 190}(</a:t>
            </a:r>
            <a:r>
              <a:rPr kumimoji="1" lang="zh-CN" altLang="en-US" dirty="0">
                <a:ea typeface="黑体" pitchFamily="49" charset="-122"/>
                <a:cs typeface="Arial" charset="0"/>
              </a:rPr>
              <a:t>单位：</a:t>
            </a:r>
            <a:r>
              <a:rPr kumimoji="1" lang="en-US" altLang="zh-CN" dirty="0">
                <a:ea typeface="黑体" pitchFamily="49" charset="-122"/>
                <a:cs typeface="Arial" charset="0"/>
              </a:rPr>
              <a:t>cm)</a:t>
            </a:r>
            <a:r>
              <a:rPr kumimoji="1" lang="zh-CN" altLang="en-US" dirty="0">
                <a:ea typeface="黑体" pitchFamily="49" charset="-122"/>
                <a:cs typeface="Arial" charset="0"/>
              </a:rPr>
              <a:t>则，</a:t>
            </a:r>
            <a:r>
              <a:rPr kumimoji="1" lang="en-US" altLang="zh-CN" i="1" dirty="0">
                <a:ea typeface="黑体" pitchFamily="49" charset="-122"/>
                <a:cs typeface="Arial" charset="0"/>
              </a:rPr>
              <a:t>U</a:t>
            </a:r>
            <a:r>
              <a:rPr kumimoji="1" lang="zh-CN" altLang="en-US" dirty="0">
                <a:ea typeface="黑体" pitchFamily="49" charset="-122"/>
                <a:cs typeface="Arial" charset="0"/>
              </a:rPr>
              <a:t>上的一个模糊集</a:t>
            </a:r>
            <a:r>
              <a:rPr kumimoji="1" lang="zh-CN" altLang="en-US" dirty="0">
                <a:solidFill>
                  <a:srgbClr val="FF0000"/>
                </a:solidFill>
                <a:ea typeface="黑体" pitchFamily="49" charset="-122"/>
                <a:cs typeface="Arial" charset="0"/>
              </a:rPr>
              <a:t>“高个子”</a:t>
            </a:r>
            <a:r>
              <a:rPr kumimoji="1" lang="en-US" altLang="zh-CN" dirty="0">
                <a:solidFill>
                  <a:srgbClr val="FF0000"/>
                </a:solidFill>
                <a:ea typeface="黑体" pitchFamily="49" charset="-122"/>
                <a:cs typeface="Arial" charset="0"/>
              </a:rPr>
              <a:t>(</a:t>
            </a:r>
            <a:r>
              <a:rPr kumimoji="1" lang="en-US" altLang="zh-CN" i="1" dirty="0">
                <a:solidFill>
                  <a:srgbClr val="FF0000"/>
                </a:solidFill>
                <a:ea typeface="黑体" pitchFamily="49" charset="-122"/>
                <a:cs typeface="Arial" charset="0"/>
              </a:rPr>
              <a:t>A</a:t>
            </a:r>
            <a:r>
              <a:rPr kumimoji="1" lang="en-US" altLang="zh-CN" dirty="0">
                <a:solidFill>
                  <a:srgbClr val="FF0000"/>
                </a:solidFill>
                <a:ea typeface="黑体" pitchFamily="49" charset="-122"/>
                <a:cs typeface="Arial" charset="0"/>
              </a:rPr>
              <a:t>)</a:t>
            </a:r>
            <a:r>
              <a:rPr kumimoji="1" lang="zh-CN" altLang="en-US" dirty="0">
                <a:ea typeface="黑体" pitchFamily="49" charset="-122"/>
                <a:cs typeface="Arial" charset="0"/>
              </a:rPr>
              <a:t>的隶属函数</a:t>
            </a:r>
            <a:r>
              <a:rPr kumimoji="1" lang="en-US" altLang="zh-CN" i="1" dirty="0">
                <a:ea typeface="黑体" pitchFamily="49" charset="-122"/>
                <a:cs typeface="Arial" charset="0"/>
              </a:rPr>
              <a:t>A</a:t>
            </a:r>
            <a:r>
              <a:rPr kumimoji="1" lang="en-US" altLang="zh-CN" dirty="0">
                <a:ea typeface="黑体" pitchFamily="49" charset="-122"/>
                <a:cs typeface="Arial" charset="0"/>
              </a:rPr>
              <a:t>(</a:t>
            </a:r>
            <a:r>
              <a:rPr kumimoji="1" lang="en-US" altLang="zh-CN" i="1" dirty="0">
                <a:ea typeface="黑体" pitchFamily="49" charset="-122"/>
                <a:cs typeface="Arial" charset="0"/>
              </a:rPr>
              <a:t>x</a:t>
            </a:r>
            <a:r>
              <a:rPr kumimoji="1" lang="en-US" altLang="zh-CN" dirty="0">
                <a:ea typeface="黑体" pitchFamily="49" charset="-122"/>
                <a:cs typeface="Arial" charset="0"/>
              </a:rPr>
              <a:t>)</a:t>
            </a:r>
            <a:r>
              <a:rPr kumimoji="1" lang="zh-CN" altLang="en-US" dirty="0">
                <a:ea typeface="黑体" pitchFamily="49" charset="-122"/>
                <a:cs typeface="Arial" charset="0"/>
              </a:rPr>
              <a:t>可定义为</a:t>
            </a:r>
            <a:r>
              <a:rPr kumimoji="1" lang="en-US" altLang="zh-CN" dirty="0">
                <a:ea typeface="黑体" pitchFamily="49" charset="-122"/>
                <a:cs typeface="Arial" charset="0"/>
              </a:rPr>
              <a:t>:</a:t>
            </a:r>
          </a:p>
          <a:p>
            <a:pPr eaLnBrk="1" hangingPunct="1">
              <a:lnSpc>
                <a:spcPct val="101000"/>
              </a:lnSpc>
            </a:pPr>
            <a:endParaRPr kumimoji="1" lang="en-US" altLang="zh-CN" sz="1700" dirty="0">
              <a:cs typeface="Arial" charset="0"/>
            </a:endParaRPr>
          </a:p>
          <a:p>
            <a:pPr eaLnBrk="1" hangingPunct="1">
              <a:lnSpc>
                <a:spcPct val="101000"/>
              </a:lnSpc>
            </a:pPr>
            <a:endParaRPr kumimoji="1" lang="en-US" altLang="zh-CN" sz="2400" dirty="0">
              <a:solidFill>
                <a:srgbClr val="FF0000"/>
              </a:solidFill>
              <a:ea typeface="黑体" pitchFamily="49" charset="-122"/>
            </a:endParaRPr>
          </a:p>
          <a:p>
            <a:pPr eaLnBrk="1" hangingPunct="1">
              <a:lnSpc>
                <a:spcPct val="101000"/>
              </a:lnSpc>
            </a:pPr>
            <a:endParaRPr kumimoji="1" lang="en-US" altLang="zh-CN" sz="3500" dirty="0">
              <a:solidFill>
                <a:srgbClr val="FF0000"/>
              </a:solidFill>
              <a:ea typeface="黑体" pitchFamily="49" charset="-122"/>
            </a:endParaRPr>
          </a:p>
          <a:p>
            <a:pPr eaLnBrk="1" hangingPunct="1">
              <a:lnSpc>
                <a:spcPct val="120000"/>
              </a:lnSpc>
            </a:pPr>
            <a:r>
              <a:rPr kumimoji="1" lang="en-US" altLang="zh-CN" sz="3000" dirty="0">
                <a:solidFill>
                  <a:srgbClr val="FF0000"/>
                </a:solidFill>
                <a:latin typeface="+mj-lt"/>
              </a:rPr>
              <a:t>[</a:t>
            </a:r>
            <a:r>
              <a:rPr kumimoji="1" lang="zh-CN" altLang="en-US" sz="3000" dirty="0">
                <a:solidFill>
                  <a:srgbClr val="FF0000"/>
                </a:solidFill>
                <a:latin typeface="+mj-lt"/>
              </a:rPr>
              <a:t>定义</a:t>
            </a:r>
            <a:r>
              <a:rPr kumimoji="1" lang="en-US" altLang="zh-CN" sz="3000" dirty="0">
                <a:solidFill>
                  <a:srgbClr val="FF0000"/>
                </a:solidFill>
                <a:latin typeface="+mj-lt"/>
              </a:rPr>
              <a:t>]</a:t>
            </a:r>
            <a:r>
              <a:rPr kumimoji="1" lang="zh-CN" altLang="en-US" sz="3000" b="1" dirty="0">
                <a:latin typeface="+mj-lt"/>
                <a:ea typeface="楷体_GB2312" pitchFamily="49" charset="-122"/>
              </a:rPr>
              <a:t>在给定论域</a:t>
            </a:r>
            <a:r>
              <a:rPr kumimoji="1" lang="en-US" altLang="zh-CN" sz="3000" b="1" dirty="0">
                <a:latin typeface="+mj-lt"/>
                <a:ea typeface="楷体_GB2312" pitchFamily="49" charset="-122"/>
              </a:rPr>
              <a:t>U</a:t>
            </a:r>
            <a:r>
              <a:rPr kumimoji="1" lang="zh-CN" altLang="en-US" sz="3000" b="1" dirty="0">
                <a:latin typeface="+mj-lt"/>
                <a:ea typeface="楷体_GB2312" pitchFamily="49" charset="-122"/>
              </a:rPr>
              <a:t>上，对于不同的映射（即不同的隶属函数）可以确定不同的模糊子集。所有这些子集组成的模糊集合的全体，称为</a:t>
            </a:r>
            <a:r>
              <a:rPr kumimoji="1" lang="en-US" altLang="zh-CN" sz="3000" b="1" dirty="0">
                <a:latin typeface="+mj-lt"/>
                <a:ea typeface="楷体_GB2312" pitchFamily="49" charset="-122"/>
              </a:rPr>
              <a:t>U</a:t>
            </a:r>
            <a:r>
              <a:rPr kumimoji="1" lang="zh-CN" altLang="en-US" sz="3000" b="1" dirty="0">
                <a:latin typeface="+mj-lt"/>
                <a:ea typeface="楷体_GB2312" pitchFamily="49" charset="-122"/>
              </a:rPr>
              <a:t>的</a:t>
            </a:r>
            <a:r>
              <a:rPr kumimoji="1" lang="zh-CN" altLang="en-US" sz="3000" u="sng" dirty="0">
                <a:solidFill>
                  <a:srgbClr val="CC00FF"/>
                </a:solidFill>
                <a:latin typeface="+mj-lt"/>
              </a:rPr>
              <a:t>模糊幂集</a:t>
            </a:r>
            <a:r>
              <a:rPr kumimoji="1" lang="zh-CN" altLang="en-US" sz="3000" dirty="0">
                <a:latin typeface="+mj-lt"/>
              </a:rPr>
              <a:t>，记为</a:t>
            </a:r>
            <a:r>
              <a:rPr lang="en-US" altLang="zh-CN" sz="3500" b="1" dirty="0">
                <a:solidFill>
                  <a:srgbClr val="CC00CC"/>
                </a:solidFill>
                <a:latin typeface="Monotype Corsiva" pitchFamily="66" charset="0"/>
                <a:cs typeface="Arial" charset="0"/>
                <a:sym typeface="Symbol" pitchFamily="18" charset="2"/>
              </a:rPr>
              <a:t>F</a:t>
            </a:r>
            <a:r>
              <a:rPr lang="en-US" altLang="zh-CN" sz="3500" b="1" dirty="0">
                <a:latin typeface="Monotype Corsiva" pitchFamily="66" charset="0"/>
                <a:cs typeface="Arial" charset="0"/>
                <a:sym typeface="Symbol" pitchFamily="18" charset="2"/>
              </a:rPr>
              <a:t> </a:t>
            </a:r>
            <a:r>
              <a:rPr kumimoji="1" lang="en-US" altLang="zh-CN" sz="3000" dirty="0">
                <a:solidFill>
                  <a:srgbClr val="CC00FF"/>
                </a:solidFill>
                <a:latin typeface="+mj-lt"/>
              </a:rPr>
              <a:t>(U)</a:t>
            </a:r>
            <a:r>
              <a:rPr kumimoji="1" lang="zh-CN" altLang="en-US" sz="3000" dirty="0">
                <a:latin typeface="+mj-lt"/>
              </a:rPr>
              <a:t>，即</a:t>
            </a:r>
          </a:p>
          <a:p>
            <a:pPr lvl="1" eaLnBrk="1" hangingPunct="1">
              <a:lnSpc>
                <a:spcPct val="120000"/>
              </a:lnSpc>
            </a:pPr>
            <a:r>
              <a:rPr kumimoji="1" lang="zh-CN" altLang="en-US" sz="3000" i="1" dirty="0">
                <a:solidFill>
                  <a:srgbClr val="0000FF"/>
                </a:solidFill>
                <a:latin typeface="+mj-lt"/>
              </a:rPr>
              <a:t> </a:t>
            </a:r>
            <a:r>
              <a:rPr lang="en-US" altLang="zh-CN" sz="3500" b="1" dirty="0">
                <a:solidFill>
                  <a:srgbClr val="CC00CC"/>
                </a:solidFill>
                <a:latin typeface="Monotype Corsiva" pitchFamily="66" charset="0"/>
                <a:cs typeface="Arial" charset="0"/>
                <a:sym typeface="Symbol" pitchFamily="18" charset="2"/>
              </a:rPr>
              <a:t>F</a:t>
            </a:r>
            <a:r>
              <a:rPr kumimoji="1" lang="en-US" altLang="zh-CN" sz="3000" i="1" dirty="0">
                <a:solidFill>
                  <a:srgbClr val="CC00FF"/>
                </a:solidFill>
                <a:latin typeface="+mj-lt"/>
              </a:rPr>
              <a:t>(U)</a:t>
            </a:r>
            <a:r>
              <a:rPr kumimoji="1" lang="en-US" altLang="zh-CN" sz="3000" i="1" dirty="0">
                <a:solidFill>
                  <a:srgbClr val="0000FF"/>
                </a:solidFill>
                <a:latin typeface="+mj-lt"/>
              </a:rPr>
              <a:t>=</a:t>
            </a:r>
            <a:r>
              <a:rPr kumimoji="1" lang="en-US" altLang="zh-CN" sz="3000" dirty="0">
                <a:solidFill>
                  <a:srgbClr val="0000FF"/>
                </a:solidFill>
                <a:latin typeface="+mj-lt"/>
              </a:rPr>
              <a:t>{</a:t>
            </a:r>
            <a:r>
              <a:rPr kumimoji="1" lang="en-US" altLang="zh-CN" sz="3000" i="1" dirty="0">
                <a:solidFill>
                  <a:srgbClr val="0000FF"/>
                </a:solidFill>
                <a:latin typeface="+mj-lt"/>
              </a:rPr>
              <a:t>A </a:t>
            </a:r>
            <a:r>
              <a:rPr kumimoji="1" lang="en-US" altLang="zh-CN" sz="3000" dirty="0">
                <a:solidFill>
                  <a:srgbClr val="0000FF"/>
                </a:solidFill>
                <a:latin typeface="+mj-lt"/>
              </a:rPr>
              <a:t>|</a:t>
            </a:r>
            <a:r>
              <a:rPr kumimoji="1" lang="en-US" altLang="zh-CN" sz="3000" i="1" dirty="0">
                <a:solidFill>
                  <a:srgbClr val="0000FF"/>
                </a:solidFill>
                <a:latin typeface="+mj-lt"/>
              </a:rPr>
              <a:t> </a:t>
            </a:r>
            <a:r>
              <a:rPr kumimoji="1" lang="en-US" altLang="zh-CN" sz="3000" i="1" dirty="0" err="1">
                <a:solidFill>
                  <a:srgbClr val="0000FF"/>
                </a:solidFill>
                <a:latin typeface="+mj-lt"/>
              </a:rPr>
              <a:t>u</a:t>
            </a:r>
            <a:r>
              <a:rPr kumimoji="1" lang="en-US" altLang="zh-CN" sz="3000" i="1" baseline="-25000" dirty="0" err="1">
                <a:solidFill>
                  <a:srgbClr val="0000FF"/>
                </a:solidFill>
                <a:latin typeface="+mj-lt"/>
              </a:rPr>
              <a:t>A</a:t>
            </a:r>
            <a:r>
              <a:rPr kumimoji="1" lang="en-US" altLang="zh-CN" sz="3000" i="1" dirty="0">
                <a:solidFill>
                  <a:srgbClr val="0000FF"/>
                </a:solidFill>
                <a:latin typeface="+mj-lt"/>
              </a:rPr>
              <a:t>: U →</a:t>
            </a:r>
            <a:r>
              <a:rPr kumimoji="1" lang="en-US" altLang="zh-CN" sz="3000" dirty="0">
                <a:solidFill>
                  <a:srgbClr val="0000FF"/>
                </a:solidFill>
                <a:latin typeface="+mj-lt"/>
              </a:rPr>
              <a:t>[0,1]}</a:t>
            </a:r>
          </a:p>
          <a:p>
            <a:pPr>
              <a:lnSpc>
                <a:spcPct val="120000"/>
              </a:lnSpc>
            </a:pPr>
            <a:r>
              <a:rPr kumimoji="1" lang="zh-CN" altLang="en-US" sz="3000" dirty="0"/>
              <a:t>如上例中，模糊集：</a:t>
            </a:r>
            <a:r>
              <a:rPr kumimoji="1" lang="zh-CN" altLang="en-US" sz="3000" dirty="0">
                <a:solidFill>
                  <a:srgbClr val="008000"/>
                </a:solidFill>
              </a:rPr>
              <a:t>“高个子”、“矮个子”、“中等个子”</a:t>
            </a:r>
            <a:r>
              <a:rPr kumimoji="1" lang="en-US" altLang="zh-CN" sz="3000" dirty="0"/>
              <a:t>……</a:t>
            </a:r>
            <a:r>
              <a:rPr kumimoji="1" lang="zh-CN" altLang="en-US" sz="3000" dirty="0"/>
              <a:t>构成</a:t>
            </a:r>
            <a:r>
              <a:rPr kumimoji="1" lang="zh-CN" altLang="en-US" sz="3000" u="sng" dirty="0">
                <a:solidFill>
                  <a:srgbClr val="CC00FF"/>
                </a:solidFill>
              </a:rPr>
              <a:t>模糊幂集</a:t>
            </a:r>
            <a:r>
              <a:rPr lang="en-US" altLang="zh-CN" sz="3000" b="1" dirty="0">
                <a:solidFill>
                  <a:srgbClr val="CC00CC"/>
                </a:solidFill>
                <a:latin typeface="Monotype Corsiva" pitchFamily="66" charset="0"/>
                <a:cs typeface="Arial" charset="0"/>
                <a:sym typeface="Symbol" pitchFamily="18" charset="2"/>
              </a:rPr>
              <a:t>F </a:t>
            </a:r>
            <a:r>
              <a:rPr kumimoji="1" lang="en-US" altLang="zh-CN" sz="3000" b="1" u="sng" dirty="0">
                <a:solidFill>
                  <a:srgbClr val="CC00FF"/>
                </a:solidFill>
              </a:rPr>
              <a:t>(U)</a:t>
            </a:r>
          </a:p>
        </p:txBody>
      </p:sp>
      <p:graphicFrame>
        <p:nvGraphicFramePr>
          <p:cNvPr id="2" name="表格 1"/>
          <p:cNvGraphicFramePr>
            <a:graphicFrameLocks noGrp="1"/>
          </p:cNvGraphicFramePr>
          <p:nvPr>
            <p:extLst>
              <p:ext uri="{D42A27DB-BD31-4B8C-83A1-F6EECF244321}">
                <p14:modId xmlns:p14="http://schemas.microsoft.com/office/powerpoint/2010/main" val="2392324692"/>
              </p:ext>
            </p:extLst>
          </p:nvPr>
        </p:nvGraphicFramePr>
        <p:xfrm>
          <a:off x="4799856" y="2420888"/>
          <a:ext cx="6144344" cy="792480"/>
        </p:xfrm>
        <a:graphic>
          <a:graphicData uri="http://schemas.openxmlformats.org/drawingml/2006/table">
            <a:tbl>
              <a:tblPr firstRow="1" bandRow="1">
                <a:tableStyleId>{2D5ABB26-0587-4C30-8999-92F81FD0307C}</a:tableStyleId>
              </a:tblPr>
              <a:tblGrid>
                <a:gridCol w="870857">
                  <a:extLst>
                    <a:ext uri="{9D8B030D-6E8A-4147-A177-3AD203B41FA5}">
                      <a16:colId xmlns:a16="http://schemas.microsoft.com/office/drawing/2014/main" val="20000"/>
                    </a:ext>
                  </a:extLst>
                </a:gridCol>
                <a:gridCol w="870857">
                  <a:extLst>
                    <a:ext uri="{9D8B030D-6E8A-4147-A177-3AD203B41FA5}">
                      <a16:colId xmlns:a16="http://schemas.microsoft.com/office/drawing/2014/main" val="20001"/>
                    </a:ext>
                  </a:extLst>
                </a:gridCol>
                <a:gridCol w="870857">
                  <a:extLst>
                    <a:ext uri="{9D8B030D-6E8A-4147-A177-3AD203B41FA5}">
                      <a16:colId xmlns:a16="http://schemas.microsoft.com/office/drawing/2014/main" val="20002"/>
                    </a:ext>
                  </a:extLst>
                </a:gridCol>
                <a:gridCol w="870857">
                  <a:extLst>
                    <a:ext uri="{9D8B030D-6E8A-4147-A177-3AD203B41FA5}">
                      <a16:colId xmlns:a16="http://schemas.microsoft.com/office/drawing/2014/main" val="20003"/>
                    </a:ext>
                  </a:extLst>
                </a:gridCol>
                <a:gridCol w="870857">
                  <a:extLst>
                    <a:ext uri="{9D8B030D-6E8A-4147-A177-3AD203B41FA5}">
                      <a16:colId xmlns:a16="http://schemas.microsoft.com/office/drawing/2014/main" val="20004"/>
                    </a:ext>
                  </a:extLst>
                </a:gridCol>
                <a:gridCol w="870857">
                  <a:extLst>
                    <a:ext uri="{9D8B030D-6E8A-4147-A177-3AD203B41FA5}">
                      <a16:colId xmlns:a16="http://schemas.microsoft.com/office/drawing/2014/main" val="20005"/>
                    </a:ext>
                  </a:extLst>
                </a:gridCol>
                <a:gridCol w="919202">
                  <a:extLst>
                    <a:ext uri="{9D8B030D-6E8A-4147-A177-3AD203B41FA5}">
                      <a16:colId xmlns:a16="http://schemas.microsoft.com/office/drawing/2014/main" val="20006"/>
                    </a:ext>
                  </a:extLst>
                </a:gridCol>
              </a:tblGrid>
              <a:tr h="139040">
                <a:tc>
                  <a:txBody>
                    <a:bodyPr/>
                    <a:lstStyle/>
                    <a:p>
                      <a:pPr algn="ctr"/>
                      <a:r>
                        <a:rPr lang="en-US" altLang="zh-CN" sz="2000" dirty="0"/>
                        <a:t>x</a:t>
                      </a:r>
                      <a:endParaRPr lang="zh-CN" altLang="en-US"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99"/>
                    </a:solidFill>
                  </a:tcPr>
                </a:tc>
                <a:tc>
                  <a:txBody>
                    <a:bodyPr/>
                    <a:lstStyle/>
                    <a:p>
                      <a:pPr algn="ctr"/>
                      <a:r>
                        <a:rPr lang="en-US" altLang="zh-CN" sz="2000" dirty="0"/>
                        <a:t>140</a:t>
                      </a:r>
                      <a:endParaRPr lang="zh-CN" altLang="en-US"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99"/>
                    </a:solidFill>
                  </a:tcPr>
                </a:tc>
                <a:tc>
                  <a:txBody>
                    <a:bodyPr/>
                    <a:lstStyle/>
                    <a:p>
                      <a:pPr algn="ctr"/>
                      <a:r>
                        <a:rPr lang="en-US" altLang="zh-CN" sz="2000" dirty="0"/>
                        <a:t>150</a:t>
                      </a:r>
                      <a:endParaRPr lang="zh-CN" altLang="en-US"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99"/>
                    </a:solidFill>
                  </a:tcPr>
                </a:tc>
                <a:tc>
                  <a:txBody>
                    <a:bodyPr/>
                    <a:lstStyle/>
                    <a:p>
                      <a:pPr algn="ctr"/>
                      <a:r>
                        <a:rPr lang="en-US" altLang="zh-CN" sz="2000" dirty="0"/>
                        <a:t>160</a:t>
                      </a:r>
                      <a:endParaRPr lang="zh-CN" altLang="en-US"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99"/>
                    </a:solidFill>
                  </a:tcPr>
                </a:tc>
                <a:tc>
                  <a:txBody>
                    <a:bodyPr/>
                    <a:lstStyle/>
                    <a:p>
                      <a:pPr algn="ctr"/>
                      <a:r>
                        <a:rPr lang="en-US" altLang="zh-CN" sz="2000" dirty="0"/>
                        <a:t>170</a:t>
                      </a:r>
                      <a:endParaRPr lang="zh-CN" altLang="en-US"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99"/>
                    </a:solidFill>
                  </a:tcPr>
                </a:tc>
                <a:tc>
                  <a:txBody>
                    <a:bodyPr/>
                    <a:lstStyle/>
                    <a:p>
                      <a:pPr algn="ctr"/>
                      <a:r>
                        <a:rPr lang="en-US" altLang="zh-CN" sz="2000" dirty="0"/>
                        <a:t>180</a:t>
                      </a:r>
                      <a:endParaRPr lang="zh-CN" altLang="en-US"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99"/>
                    </a:solidFill>
                  </a:tcPr>
                </a:tc>
                <a:tc>
                  <a:txBody>
                    <a:bodyPr/>
                    <a:lstStyle/>
                    <a:p>
                      <a:pPr algn="ctr"/>
                      <a:r>
                        <a:rPr lang="en-US" altLang="zh-CN" sz="2000" dirty="0"/>
                        <a:t>190</a:t>
                      </a:r>
                      <a:endParaRPr lang="zh-CN" altLang="en-US"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99"/>
                    </a:solidFill>
                  </a:tcPr>
                </a:tc>
                <a:extLst>
                  <a:ext uri="{0D108BD9-81ED-4DB2-BD59-A6C34878D82A}">
                    <a16:rowId xmlns:a16="http://schemas.microsoft.com/office/drawing/2014/main" val="10000"/>
                  </a:ext>
                </a:extLst>
              </a:tr>
              <a:tr h="370840">
                <a:tc>
                  <a:txBody>
                    <a:bodyPr/>
                    <a:lstStyle/>
                    <a:p>
                      <a:pPr algn="ctr"/>
                      <a:r>
                        <a:rPr lang="en-US" altLang="zh-CN" sz="2000" dirty="0">
                          <a:solidFill>
                            <a:srgbClr val="FF0000"/>
                          </a:solidFill>
                        </a:rPr>
                        <a:t>A(x)</a:t>
                      </a:r>
                      <a:endParaRPr lang="zh-CN" altLang="en-US" sz="200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99"/>
                    </a:solidFill>
                  </a:tcPr>
                </a:tc>
                <a:tc>
                  <a:txBody>
                    <a:bodyPr/>
                    <a:lstStyle/>
                    <a:p>
                      <a:pPr algn="ctr"/>
                      <a:r>
                        <a:rPr lang="en-US" altLang="zh-CN" sz="2000" dirty="0">
                          <a:solidFill>
                            <a:srgbClr val="FF0000"/>
                          </a:solidFill>
                        </a:rPr>
                        <a:t>0</a:t>
                      </a:r>
                      <a:endParaRPr lang="zh-CN" altLang="en-US" sz="200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99"/>
                    </a:solidFill>
                  </a:tcPr>
                </a:tc>
                <a:tc>
                  <a:txBody>
                    <a:bodyPr/>
                    <a:lstStyle/>
                    <a:p>
                      <a:pPr algn="ctr"/>
                      <a:r>
                        <a:rPr lang="en-US" altLang="zh-CN" sz="2000" dirty="0">
                          <a:solidFill>
                            <a:srgbClr val="FF0000"/>
                          </a:solidFill>
                        </a:rPr>
                        <a:t>0.2</a:t>
                      </a:r>
                      <a:endParaRPr lang="zh-CN" altLang="en-US" sz="200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99"/>
                    </a:solidFill>
                  </a:tcPr>
                </a:tc>
                <a:tc>
                  <a:txBody>
                    <a:bodyPr/>
                    <a:lstStyle/>
                    <a:p>
                      <a:pPr algn="ctr"/>
                      <a:r>
                        <a:rPr lang="en-US" altLang="zh-CN" sz="2000" dirty="0">
                          <a:solidFill>
                            <a:srgbClr val="FF0000"/>
                          </a:solidFill>
                        </a:rPr>
                        <a:t>0.4</a:t>
                      </a:r>
                      <a:endParaRPr lang="zh-CN" altLang="en-US" sz="200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99"/>
                    </a:solidFill>
                  </a:tcPr>
                </a:tc>
                <a:tc>
                  <a:txBody>
                    <a:bodyPr/>
                    <a:lstStyle/>
                    <a:p>
                      <a:pPr algn="ctr"/>
                      <a:r>
                        <a:rPr lang="en-US" altLang="zh-CN" sz="2000" dirty="0">
                          <a:solidFill>
                            <a:srgbClr val="FF0000"/>
                          </a:solidFill>
                        </a:rPr>
                        <a:t>0.6</a:t>
                      </a:r>
                      <a:endParaRPr lang="zh-CN" altLang="en-US" sz="200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99"/>
                    </a:solidFill>
                  </a:tcPr>
                </a:tc>
                <a:tc>
                  <a:txBody>
                    <a:bodyPr/>
                    <a:lstStyle/>
                    <a:p>
                      <a:pPr algn="ctr"/>
                      <a:r>
                        <a:rPr lang="en-US" altLang="zh-CN" sz="2000" dirty="0">
                          <a:solidFill>
                            <a:srgbClr val="FF0000"/>
                          </a:solidFill>
                        </a:rPr>
                        <a:t>0.8</a:t>
                      </a:r>
                      <a:endParaRPr lang="zh-CN" altLang="en-US" sz="200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99"/>
                    </a:solidFill>
                  </a:tcPr>
                </a:tc>
                <a:tc>
                  <a:txBody>
                    <a:bodyPr/>
                    <a:lstStyle/>
                    <a:p>
                      <a:pPr algn="ctr"/>
                      <a:r>
                        <a:rPr lang="en-US" altLang="zh-CN" sz="2000" dirty="0">
                          <a:solidFill>
                            <a:srgbClr val="FF0000"/>
                          </a:solidFill>
                        </a:rPr>
                        <a:t>1</a:t>
                      </a:r>
                      <a:endParaRPr lang="zh-CN" altLang="en-US" sz="200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99"/>
                    </a:solidFill>
                  </a:tcPr>
                </a:tc>
                <a:extLst>
                  <a:ext uri="{0D108BD9-81ED-4DB2-BD59-A6C34878D82A}">
                    <a16:rowId xmlns:a16="http://schemas.microsoft.com/office/drawing/2014/main" val="10001"/>
                  </a:ext>
                </a:extLst>
              </a:tr>
            </a:tbl>
          </a:graphicData>
        </a:graphic>
      </p:graphicFrame>
      <p:graphicFrame>
        <p:nvGraphicFramePr>
          <p:cNvPr id="3" name="对象 2"/>
          <p:cNvGraphicFramePr>
            <a:graphicFrameLocks noChangeAspect="1"/>
          </p:cNvGraphicFramePr>
          <p:nvPr>
            <p:extLst>
              <p:ext uri="{D42A27DB-BD31-4B8C-83A1-F6EECF244321}">
                <p14:modId xmlns:p14="http://schemas.microsoft.com/office/powerpoint/2010/main" val="3040799010"/>
              </p:ext>
            </p:extLst>
          </p:nvPr>
        </p:nvGraphicFramePr>
        <p:xfrm>
          <a:off x="1952455" y="2348880"/>
          <a:ext cx="2147888" cy="792163"/>
        </p:xfrm>
        <a:graphic>
          <a:graphicData uri="http://schemas.openxmlformats.org/presentationml/2006/ole">
            <mc:AlternateContent xmlns:mc="http://schemas.openxmlformats.org/markup-compatibility/2006">
              <mc:Choice xmlns:v="urn:schemas-microsoft-com:vml" Requires="v">
                <p:oleObj name="Equation" r:id="rId3" imgW="1066680" imgH="393480" progId="Equation.DSMT4">
                  <p:embed/>
                </p:oleObj>
              </mc:Choice>
              <mc:Fallback>
                <p:oleObj name="Equation" r:id="rId3" imgW="1066680" imgH="393480" progId="Equation.DSMT4">
                  <p:embed/>
                  <p:pic>
                    <p:nvPicPr>
                      <p:cNvPr id="3" name="对象 2"/>
                      <p:cNvPicPr/>
                      <p:nvPr/>
                    </p:nvPicPr>
                    <p:blipFill>
                      <a:blip r:embed="rId4"/>
                      <a:stretch>
                        <a:fillRect/>
                      </a:stretch>
                    </p:blipFill>
                    <p:spPr>
                      <a:xfrm>
                        <a:off x="1952455" y="2348880"/>
                        <a:ext cx="2147888" cy="792163"/>
                      </a:xfrm>
                      <a:prstGeom prst="rect">
                        <a:avLst/>
                      </a:prstGeom>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34819">
                                            <p:txEl>
                                              <p:pRg st="0" end="0"/>
                                            </p:txEl>
                                          </p:spTgt>
                                        </p:tgtEl>
                                        <p:attrNameLst>
                                          <p:attrName>style.visibility</p:attrName>
                                        </p:attrNameLst>
                                      </p:cBhvr>
                                      <p:to>
                                        <p:strVal val="visible"/>
                                      </p:to>
                                    </p:set>
                                    <p:animEffect transition="in" filter="wipe(up)">
                                      <p:cBhvr>
                                        <p:cTn id="7" dur="500"/>
                                        <p:tgtEl>
                                          <p:spTgt spid="3481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1000"/>
                                        <p:tgtEl>
                                          <p:spTgt spid="3"/>
                                        </p:tgtEl>
                                      </p:cBhvr>
                                    </p:animEffect>
                                    <p:anim calcmode="lin" valueType="num">
                                      <p:cBhvr>
                                        <p:cTn id="13" dur="1000" fill="hold"/>
                                        <p:tgtEl>
                                          <p:spTgt spid="3"/>
                                        </p:tgtEl>
                                        <p:attrNameLst>
                                          <p:attrName>ppt_x</p:attrName>
                                        </p:attrNameLst>
                                      </p:cBhvr>
                                      <p:tavLst>
                                        <p:tav tm="0">
                                          <p:val>
                                            <p:strVal val="#ppt_x"/>
                                          </p:val>
                                        </p:tav>
                                        <p:tav tm="100000">
                                          <p:val>
                                            <p:strVal val="#ppt_x"/>
                                          </p:val>
                                        </p:tav>
                                      </p:tavLst>
                                    </p:anim>
                                    <p:anim calcmode="lin" valueType="num">
                                      <p:cBhvr>
                                        <p:cTn id="14"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2" presetClass="entr" presetSubtype="8" fill="hold" nodeType="clickEffect">
                                  <p:stCondLst>
                                    <p:cond delay="0"/>
                                  </p:stCondLst>
                                  <p:childTnLst>
                                    <p:set>
                                      <p:cBhvr>
                                        <p:cTn id="18" dur="1" fill="hold">
                                          <p:stCondLst>
                                            <p:cond delay="0"/>
                                          </p:stCondLst>
                                        </p:cTn>
                                        <p:tgtEl>
                                          <p:spTgt spid="2"/>
                                        </p:tgtEl>
                                        <p:attrNameLst>
                                          <p:attrName>style.visibility</p:attrName>
                                        </p:attrNameLst>
                                      </p:cBhvr>
                                      <p:to>
                                        <p:strVal val="visible"/>
                                      </p:to>
                                    </p:set>
                                    <p:animEffect transition="in" filter="wipe(left)">
                                      <p:cBhvr>
                                        <p:cTn id="19" dur="500"/>
                                        <p:tgtEl>
                                          <p:spTgt spid="2"/>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1" fill="hold" grpId="0" nodeType="clickEffect">
                                  <p:stCondLst>
                                    <p:cond delay="0"/>
                                  </p:stCondLst>
                                  <p:childTnLst>
                                    <p:set>
                                      <p:cBhvr>
                                        <p:cTn id="23" dur="1" fill="hold">
                                          <p:stCondLst>
                                            <p:cond delay="0"/>
                                          </p:stCondLst>
                                        </p:cTn>
                                        <p:tgtEl>
                                          <p:spTgt spid="34819">
                                            <p:txEl>
                                              <p:pRg st="4" end="4"/>
                                            </p:txEl>
                                          </p:spTgt>
                                        </p:tgtEl>
                                        <p:attrNameLst>
                                          <p:attrName>style.visibility</p:attrName>
                                        </p:attrNameLst>
                                      </p:cBhvr>
                                      <p:to>
                                        <p:strVal val="visible"/>
                                      </p:to>
                                    </p:set>
                                    <p:animEffect transition="in" filter="wipe(up)">
                                      <p:cBhvr>
                                        <p:cTn id="24" dur="500"/>
                                        <p:tgtEl>
                                          <p:spTgt spid="34819">
                                            <p:txEl>
                                              <p:pRg st="4" end="4"/>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1" fill="hold" grpId="0" nodeType="clickEffect">
                                  <p:stCondLst>
                                    <p:cond delay="0"/>
                                  </p:stCondLst>
                                  <p:childTnLst>
                                    <p:set>
                                      <p:cBhvr>
                                        <p:cTn id="28" dur="1" fill="hold">
                                          <p:stCondLst>
                                            <p:cond delay="0"/>
                                          </p:stCondLst>
                                        </p:cTn>
                                        <p:tgtEl>
                                          <p:spTgt spid="34819">
                                            <p:txEl>
                                              <p:pRg st="5" end="5"/>
                                            </p:txEl>
                                          </p:spTgt>
                                        </p:tgtEl>
                                        <p:attrNameLst>
                                          <p:attrName>style.visibility</p:attrName>
                                        </p:attrNameLst>
                                      </p:cBhvr>
                                      <p:to>
                                        <p:strVal val="visible"/>
                                      </p:to>
                                    </p:set>
                                    <p:animEffect transition="in" filter="wipe(up)">
                                      <p:cBhvr>
                                        <p:cTn id="29" dur="500"/>
                                        <p:tgtEl>
                                          <p:spTgt spid="34819">
                                            <p:txEl>
                                              <p:pRg st="5" end="5"/>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1" fill="hold" grpId="0" nodeType="clickEffect">
                                  <p:stCondLst>
                                    <p:cond delay="0"/>
                                  </p:stCondLst>
                                  <p:childTnLst>
                                    <p:set>
                                      <p:cBhvr>
                                        <p:cTn id="33" dur="1" fill="hold">
                                          <p:stCondLst>
                                            <p:cond delay="0"/>
                                          </p:stCondLst>
                                        </p:cTn>
                                        <p:tgtEl>
                                          <p:spTgt spid="34819">
                                            <p:txEl>
                                              <p:pRg st="6" end="6"/>
                                            </p:txEl>
                                          </p:spTgt>
                                        </p:tgtEl>
                                        <p:attrNameLst>
                                          <p:attrName>style.visibility</p:attrName>
                                        </p:attrNameLst>
                                      </p:cBhvr>
                                      <p:to>
                                        <p:strVal val="visible"/>
                                      </p:to>
                                    </p:set>
                                    <p:animEffect transition="in" filter="wipe(up)">
                                      <p:cBhvr>
                                        <p:cTn id="34" dur="500"/>
                                        <p:tgtEl>
                                          <p:spTgt spid="34819">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819" grpId="0" uiExpand="1" build="p"/>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a:xfrm>
            <a:off x="1981200" y="457201"/>
            <a:ext cx="8229600" cy="739775"/>
          </a:xfrm>
        </p:spPr>
        <p:txBody>
          <a:bodyPr/>
          <a:lstStyle/>
          <a:p>
            <a:pPr algn="ctr" eaLnBrk="1" hangingPunct="1"/>
            <a:r>
              <a:rPr lang="zh-CN" altLang="en-US" dirty="0">
                <a:solidFill>
                  <a:srgbClr val="008000"/>
                </a:solidFill>
                <a:latin typeface="黑体" pitchFamily="49" charset="-122"/>
              </a:rPr>
              <a:t>模糊集和普通集合的关系</a:t>
            </a:r>
          </a:p>
        </p:txBody>
      </p:sp>
      <p:sp>
        <p:nvSpPr>
          <p:cNvPr id="37891" name="Rectangle 3"/>
          <p:cNvSpPr>
            <a:spLocks noGrp="1" noChangeArrowheads="1"/>
          </p:cNvSpPr>
          <p:nvPr>
            <p:ph idx="1"/>
          </p:nvPr>
        </p:nvSpPr>
        <p:spPr>
          <a:xfrm>
            <a:off x="1055440" y="1557338"/>
            <a:ext cx="10153128" cy="5300662"/>
          </a:xfrm>
        </p:spPr>
        <p:txBody>
          <a:bodyPr>
            <a:normAutofit/>
          </a:bodyPr>
          <a:lstStyle/>
          <a:p>
            <a:pPr eaLnBrk="1" hangingPunct="1">
              <a:lnSpc>
                <a:spcPct val="120000"/>
              </a:lnSpc>
            </a:pPr>
            <a:r>
              <a:rPr lang="zh-CN" altLang="en-US" sz="3200" dirty="0">
                <a:solidFill>
                  <a:srgbClr val="CC00FF"/>
                </a:solidFill>
                <a:ea typeface="黑体" pitchFamily="49" charset="-122"/>
              </a:rPr>
              <a:t>论域Ｕ中的元素是分明的，即Ｕ本身是普通集合，</a:t>
            </a:r>
          </a:p>
          <a:p>
            <a:pPr lvl="1" eaLnBrk="1" hangingPunct="1">
              <a:lnSpc>
                <a:spcPct val="120000"/>
              </a:lnSpc>
            </a:pPr>
            <a:r>
              <a:rPr lang="zh-CN" altLang="en-US" sz="2800" dirty="0">
                <a:solidFill>
                  <a:srgbClr val="0000FF"/>
                </a:solidFill>
                <a:ea typeface="黑体" pitchFamily="49" charset="-122"/>
              </a:rPr>
              <a:t>只是Ｕ的子集是模糊集合，故称模糊子集Ａ为Ｕ的模糊子集，简称模糊集；</a:t>
            </a:r>
          </a:p>
          <a:p>
            <a:pPr eaLnBrk="1" hangingPunct="1">
              <a:lnSpc>
                <a:spcPct val="120000"/>
              </a:lnSpc>
            </a:pPr>
            <a:r>
              <a:rPr lang="zh-CN" altLang="en-US" sz="3200" dirty="0">
                <a:ea typeface="黑体" pitchFamily="49" charset="-122"/>
              </a:rPr>
              <a:t>当</a:t>
            </a:r>
            <a:r>
              <a:rPr lang="en-US" altLang="zh-CN" sz="3200" dirty="0">
                <a:ea typeface="黑体" pitchFamily="49" charset="-122"/>
              </a:rPr>
              <a:t>A(x)</a:t>
            </a:r>
            <a:r>
              <a:rPr lang="zh-CN" altLang="en-US" sz="3200" dirty="0">
                <a:ea typeface="黑体" pitchFamily="49" charset="-122"/>
              </a:rPr>
              <a:t>的值域为</a:t>
            </a:r>
            <a:r>
              <a:rPr lang="en-US" altLang="zh-CN" sz="3200" dirty="0">
                <a:solidFill>
                  <a:srgbClr val="008000"/>
                </a:solidFill>
                <a:ea typeface="黑体" pitchFamily="49" charset="-122"/>
              </a:rPr>
              <a:t>{0, 1}</a:t>
            </a:r>
            <a:r>
              <a:rPr lang="zh-CN" altLang="en-US" sz="3200" dirty="0">
                <a:ea typeface="黑体" pitchFamily="49" charset="-122"/>
              </a:rPr>
              <a:t>时，隶属函数</a:t>
            </a:r>
            <a:r>
              <a:rPr lang="en-US" altLang="zh-CN" sz="3200" dirty="0">
                <a:ea typeface="黑体" pitchFamily="49" charset="-122"/>
              </a:rPr>
              <a:t>A(x)</a:t>
            </a:r>
            <a:r>
              <a:rPr lang="zh-CN" altLang="en-US" sz="3200" dirty="0">
                <a:ea typeface="黑体" pitchFamily="49" charset="-122"/>
              </a:rPr>
              <a:t>已蜕变为普通集合的特征函数，模糊集合</a:t>
            </a:r>
            <a:r>
              <a:rPr lang="en-US" altLang="zh-CN" sz="3200" dirty="0">
                <a:ea typeface="黑体" pitchFamily="49" charset="-122"/>
              </a:rPr>
              <a:t>A</a:t>
            </a:r>
            <a:r>
              <a:rPr lang="zh-CN" altLang="en-US" sz="3200" dirty="0">
                <a:ea typeface="黑体" pitchFamily="49" charset="-122"/>
              </a:rPr>
              <a:t>也就蜕变为一个</a:t>
            </a:r>
            <a:r>
              <a:rPr lang="zh-CN" altLang="en-US" sz="3200" dirty="0">
                <a:solidFill>
                  <a:srgbClr val="008000"/>
                </a:solidFill>
                <a:ea typeface="黑体" pitchFamily="49" charset="-122"/>
              </a:rPr>
              <a:t>经典集合</a:t>
            </a:r>
            <a:r>
              <a:rPr lang="zh-CN" altLang="en-US" sz="3200" dirty="0">
                <a:ea typeface="黑体" pitchFamily="49" charset="-122"/>
              </a:rPr>
              <a:t>。</a:t>
            </a:r>
            <a:endParaRPr lang="en-US" altLang="zh-CN" sz="3200" dirty="0">
              <a:ea typeface="黑体" pitchFamily="49" charset="-122"/>
            </a:endParaRPr>
          </a:p>
          <a:p>
            <a:pPr eaLnBrk="1" hangingPunct="1">
              <a:lnSpc>
                <a:spcPct val="120000"/>
              </a:lnSpc>
            </a:pPr>
            <a:r>
              <a:rPr lang="zh-CN" altLang="en-US" sz="3200" dirty="0">
                <a:solidFill>
                  <a:srgbClr val="FF0000"/>
                </a:solidFill>
                <a:ea typeface="黑体" pitchFamily="49" charset="-122"/>
              </a:rPr>
              <a:t>经典集合和模糊集合间的互变关系：</a:t>
            </a:r>
          </a:p>
          <a:p>
            <a:pPr lvl="1" eaLnBrk="1" hangingPunct="1">
              <a:lnSpc>
                <a:spcPct val="120000"/>
              </a:lnSpc>
            </a:pPr>
            <a:r>
              <a:rPr lang="zh-CN" altLang="en-US" sz="2800" dirty="0">
                <a:solidFill>
                  <a:srgbClr val="3333FF"/>
                </a:solidFill>
                <a:ea typeface="黑体" pitchFamily="49" charset="-122"/>
              </a:rPr>
              <a:t>经典集合是模糊集合的一种特殊形式，</a:t>
            </a:r>
          </a:p>
          <a:p>
            <a:pPr lvl="1" eaLnBrk="1" hangingPunct="1">
              <a:lnSpc>
                <a:spcPct val="120000"/>
              </a:lnSpc>
            </a:pPr>
            <a:r>
              <a:rPr lang="zh-CN" altLang="en-US" sz="2800" dirty="0">
                <a:solidFill>
                  <a:srgbClr val="3333FF"/>
                </a:solidFill>
                <a:ea typeface="黑体" pitchFamily="49" charset="-122"/>
              </a:rPr>
              <a:t>经典集合的特征函数是隶属函数的一个特例。</a:t>
            </a:r>
            <a:endParaRPr lang="en-US" altLang="zh-CN" sz="2800" dirty="0">
              <a:ea typeface="黑体" pitchFamily="49" charset="-122"/>
            </a:endParaRPr>
          </a:p>
          <a:p>
            <a:pPr marL="0" indent="0" eaLnBrk="1" hangingPunct="1">
              <a:lnSpc>
                <a:spcPct val="130000"/>
              </a:lnSpc>
              <a:buNone/>
            </a:pPr>
            <a:endParaRPr lang="zh-CN" altLang="en-US" sz="2800" dirty="0">
              <a:ea typeface="黑体" pitchFamily="49" charset="-122"/>
            </a:endParaRPr>
          </a:p>
        </p:txBody>
      </p:sp>
      <p:grpSp>
        <p:nvGrpSpPr>
          <p:cNvPr id="2" name="组合 1">
            <a:extLst>
              <a:ext uri="{FF2B5EF4-FFF2-40B4-BE49-F238E27FC236}">
                <a16:creationId xmlns:a16="http://schemas.microsoft.com/office/drawing/2014/main" id="{F1A3CDBC-CFEA-15F4-14A6-2DDBB2DF0602}"/>
              </a:ext>
            </a:extLst>
          </p:cNvPr>
          <p:cNvGrpSpPr/>
          <p:nvPr/>
        </p:nvGrpSpPr>
        <p:grpSpPr>
          <a:xfrm>
            <a:off x="9023648" y="5025698"/>
            <a:ext cx="3168352" cy="1800200"/>
            <a:chOff x="5652120" y="3501008"/>
            <a:chExt cx="3168352" cy="1800200"/>
          </a:xfrm>
        </p:grpSpPr>
        <p:sp>
          <p:nvSpPr>
            <p:cNvPr id="3" name="矩形 2">
              <a:extLst>
                <a:ext uri="{FF2B5EF4-FFF2-40B4-BE49-F238E27FC236}">
                  <a16:creationId xmlns:a16="http://schemas.microsoft.com/office/drawing/2014/main" id="{10491B0A-6710-3C3B-A76E-EF9490DAA3F2}"/>
                </a:ext>
              </a:extLst>
            </p:cNvPr>
            <p:cNvSpPr/>
            <p:nvPr/>
          </p:nvSpPr>
          <p:spPr>
            <a:xfrm>
              <a:off x="5652120" y="3501008"/>
              <a:ext cx="3168352" cy="1800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椭圆 3">
              <a:extLst>
                <a:ext uri="{FF2B5EF4-FFF2-40B4-BE49-F238E27FC236}">
                  <a16:creationId xmlns:a16="http://schemas.microsoft.com/office/drawing/2014/main" id="{74C2BB0F-E6DF-05EF-7BC0-8906A0515A76}"/>
                </a:ext>
              </a:extLst>
            </p:cNvPr>
            <p:cNvSpPr/>
            <p:nvPr/>
          </p:nvSpPr>
          <p:spPr>
            <a:xfrm>
              <a:off x="6228184" y="3861048"/>
              <a:ext cx="1296144" cy="1296144"/>
            </a:xfrm>
            <a:prstGeom prst="ellipse">
              <a:avLst/>
            </a:prstGeom>
            <a:solidFill>
              <a:srgbClr val="FFFF9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TextBox 6">
              <a:extLst>
                <a:ext uri="{FF2B5EF4-FFF2-40B4-BE49-F238E27FC236}">
                  <a16:creationId xmlns:a16="http://schemas.microsoft.com/office/drawing/2014/main" id="{428D53D4-F75F-B97C-6132-88D2E108C41F}"/>
                </a:ext>
              </a:extLst>
            </p:cNvPr>
            <p:cNvSpPr txBox="1"/>
            <p:nvPr/>
          </p:nvSpPr>
          <p:spPr>
            <a:xfrm>
              <a:off x="6732240" y="4149080"/>
              <a:ext cx="360040" cy="461665"/>
            </a:xfrm>
            <a:prstGeom prst="rect">
              <a:avLst/>
            </a:prstGeom>
            <a:noFill/>
          </p:spPr>
          <p:txBody>
            <a:bodyPr wrap="square" rtlCol="0">
              <a:spAutoFit/>
            </a:bodyPr>
            <a:lstStyle/>
            <a:p>
              <a:r>
                <a:rPr lang="en-US" altLang="zh-CN" sz="2400" b="1" dirty="0">
                  <a:solidFill>
                    <a:srgbClr val="FF0000"/>
                  </a:solidFill>
                </a:rPr>
                <a:t>A</a:t>
              </a:r>
              <a:endParaRPr lang="zh-CN" altLang="en-US" sz="2400" b="1" dirty="0">
                <a:solidFill>
                  <a:srgbClr val="FF0000"/>
                </a:solidFill>
              </a:endParaRPr>
            </a:p>
          </p:txBody>
        </p:sp>
        <p:sp>
          <p:nvSpPr>
            <p:cNvPr id="6" name="TextBox 7">
              <a:extLst>
                <a:ext uri="{FF2B5EF4-FFF2-40B4-BE49-F238E27FC236}">
                  <a16:creationId xmlns:a16="http://schemas.microsoft.com/office/drawing/2014/main" id="{54295E79-AAC7-BADB-512A-FAD1F1A06EBA}"/>
                </a:ext>
              </a:extLst>
            </p:cNvPr>
            <p:cNvSpPr txBox="1"/>
            <p:nvPr/>
          </p:nvSpPr>
          <p:spPr>
            <a:xfrm>
              <a:off x="8316416" y="4839543"/>
              <a:ext cx="360040" cy="461665"/>
            </a:xfrm>
            <a:prstGeom prst="rect">
              <a:avLst/>
            </a:prstGeom>
            <a:noFill/>
          </p:spPr>
          <p:txBody>
            <a:bodyPr wrap="square" rtlCol="0">
              <a:spAutoFit/>
            </a:bodyPr>
            <a:lstStyle/>
            <a:p>
              <a:r>
                <a:rPr lang="en-US" altLang="zh-CN" sz="2400" b="1" dirty="0"/>
                <a:t>U</a:t>
              </a:r>
              <a:endParaRPr lang="zh-CN" altLang="en-US" sz="2400" b="1" dirty="0"/>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37891">
                                            <p:txEl>
                                              <p:pRg st="0" end="0"/>
                                            </p:txEl>
                                          </p:spTgt>
                                        </p:tgtEl>
                                        <p:attrNameLst>
                                          <p:attrName>style.visibility</p:attrName>
                                        </p:attrNameLst>
                                      </p:cBhvr>
                                      <p:to>
                                        <p:strVal val="visible"/>
                                      </p:to>
                                    </p:set>
                                    <p:animEffect transition="in" filter="wipe(up)">
                                      <p:cBhvr>
                                        <p:cTn id="7" dur="500"/>
                                        <p:tgtEl>
                                          <p:spTgt spid="3789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37891">
                                            <p:txEl>
                                              <p:pRg st="1" end="1"/>
                                            </p:txEl>
                                          </p:spTgt>
                                        </p:tgtEl>
                                        <p:attrNameLst>
                                          <p:attrName>style.visibility</p:attrName>
                                        </p:attrNameLst>
                                      </p:cBhvr>
                                      <p:to>
                                        <p:strVal val="visible"/>
                                      </p:to>
                                    </p:set>
                                    <p:animEffect transition="in" filter="wipe(up)">
                                      <p:cBhvr>
                                        <p:cTn id="12" dur="500"/>
                                        <p:tgtEl>
                                          <p:spTgt spid="37891">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37891">
                                            <p:txEl>
                                              <p:pRg st="2" end="2"/>
                                            </p:txEl>
                                          </p:spTgt>
                                        </p:tgtEl>
                                        <p:attrNameLst>
                                          <p:attrName>style.visibility</p:attrName>
                                        </p:attrNameLst>
                                      </p:cBhvr>
                                      <p:to>
                                        <p:strVal val="visible"/>
                                      </p:to>
                                    </p:set>
                                    <p:animEffect transition="in" filter="wipe(up)">
                                      <p:cBhvr>
                                        <p:cTn id="17" dur="500"/>
                                        <p:tgtEl>
                                          <p:spTgt spid="3789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fade">
                                      <p:cBhvr>
                                        <p:cTn id="22" dur="500"/>
                                        <p:tgtEl>
                                          <p:spTgt spid="2"/>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37891">
                                            <p:txEl>
                                              <p:pRg st="3" end="3"/>
                                            </p:txEl>
                                          </p:spTgt>
                                        </p:tgtEl>
                                        <p:attrNameLst>
                                          <p:attrName>style.visibility</p:attrName>
                                        </p:attrNameLst>
                                      </p:cBhvr>
                                      <p:to>
                                        <p:strVal val="visible"/>
                                      </p:to>
                                    </p:set>
                                    <p:animEffect transition="in" filter="wipe(up)">
                                      <p:cBhvr>
                                        <p:cTn id="27" dur="500"/>
                                        <p:tgtEl>
                                          <p:spTgt spid="37891">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grpId="0" nodeType="clickEffect">
                                  <p:stCondLst>
                                    <p:cond delay="0"/>
                                  </p:stCondLst>
                                  <p:childTnLst>
                                    <p:set>
                                      <p:cBhvr>
                                        <p:cTn id="31" dur="1" fill="hold">
                                          <p:stCondLst>
                                            <p:cond delay="0"/>
                                          </p:stCondLst>
                                        </p:cTn>
                                        <p:tgtEl>
                                          <p:spTgt spid="37891">
                                            <p:txEl>
                                              <p:pRg st="4" end="4"/>
                                            </p:txEl>
                                          </p:spTgt>
                                        </p:tgtEl>
                                        <p:attrNameLst>
                                          <p:attrName>style.visibility</p:attrName>
                                        </p:attrNameLst>
                                      </p:cBhvr>
                                      <p:to>
                                        <p:strVal val="visible"/>
                                      </p:to>
                                    </p:set>
                                    <p:animEffect transition="in" filter="wipe(up)">
                                      <p:cBhvr>
                                        <p:cTn id="32" dur="500"/>
                                        <p:tgtEl>
                                          <p:spTgt spid="37891">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1" fill="hold" grpId="0" nodeType="clickEffect">
                                  <p:stCondLst>
                                    <p:cond delay="0"/>
                                  </p:stCondLst>
                                  <p:childTnLst>
                                    <p:set>
                                      <p:cBhvr>
                                        <p:cTn id="36" dur="1" fill="hold">
                                          <p:stCondLst>
                                            <p:cond delay="0"/>
                                          </p:stCondLst>
                                        </p:cTn>
                                        <p:tgtEl>
                                          <p:spTgt spid="37891">
                                            <p:txEl>
                                              <p:pRg st="5" end="5"/>
                                            </p:txEl>
                                          </p:spTgt>
                                        </p:tgtEl>
                                        <p:attrNameLst>
                                          <p:attrName>style.visibility</p:attrName>
                                        </p:attrNameLst>
                                      </p:cBhvr>
                                      <p:to>
                                        <p:strVal val="visible"/>
                                      </p:to>
                                    </p:set>
                                    <p:animEffect transition="in" filter="wipe(up)">
                                      <p:cBhvr>
                                        <p:cTn id="37" dur="500"/>
                                        <p:tgtEl>
                                          <p:spTgt spid="37891">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891" grpId="0" uiExpand="1" build="p"/>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a:xfrm>
            <a:off x="1981200" y="457201"/>
            <a:ext cx="8229600" cy="739775"/>
          </a:xfrm>
        </p:spPr>
        <p:txBody>
          <a:bodyPr/>
          <a:lstStyle/>
          <a:p>
            <a:pPr algn="ctr" eaLnBrk="1" hangingPunct="1"/>
            <a:r>
              <a:rPr lang="zh-CN" altLang="en-US" dirty="0">
                <a:solidFill>
                  <a:srgbClr val="008000"/>
                </a:solidFill>
                <a:latin typeface="黑体" pitchFamily="49" charset="-122"/>
              </a:rPr>
              <a:t>模糊集和普通集合的关系</a:t>
            </a:r>
          </a:p>
        </p:txBody>
      </p:sp>
      <p:sp>
        <p:nvSpPr>
          <p:cNvPr id="96259" name="Rectangle 3"/>
          <p:cNvSpPr>
            <a:spLocks noGrp="1" noChangeArrowheads="1"/>
          </p:cNvSpPr>
          <p:nvPr>
            <p:ph idx="1"/>
          </p:nvPr>
        </p:nvSpPr>
        <p:spPr>
          <a:xfrm>
            <a:off x="911424" y="1412776"/>
            <a:ext cx="10657184" cy="5256584"/>
          </a:xfrm>
        </p:spPr>
        <p:txBody>
          <a:bodyPr>
            <a:normAutofit lnSpcReduction="10000"/>
          </a:bodyPr>
          <a:lstStyle/>
          <a:p>
            <a:pPr eaLnBrk="1" hangingPunct="1">
              <a:lnSpc>
                <a:spcPct val="120000"/>
              </a:lnSpc>
            </a:pPr>
            <a:r>
              <a:rPr lang="zh-CN" altLang="en-US" sz="3200" dirty="0">
                <a:solidFill>
                  <a:srgbClr val="3333FF"/>
                </a:solidFill>
                <a:ea typeface="黑体" pitchFamily="49" charset="-122"/>
              </a:rPr>
              <a:t>模糊集合完全由它的</a:t>
            </a:r>
            <a:r>
              <a:rPr lang="zh-CN" altLang="en-US" sz="3200" dirty="0">
                <a:solidFill>
                  <a:srgbClr val="CC00FF"/>
                </a:solidFill>
                <a:ea typeface="黑体" pitchFamily="49" charset="-122"/>
              </a:rPr>
              <a:t>隶属函数</a:t>
            </a:r>
            <a:r>
              <a:rPr lang="zh-CN" altLang="en-US" sz="3200" dirty="0">
                <a:solidFill>
                  <a:srgbClr val="3333FF"/>
                </a:solidFill>
                <a:ea typeface="黑体" pitchFamily="49" charset="-122"/>
              </a:rPr>
              <a:t>来描述。</a:t>
            </a:r>
            <a:endParaRPr lang="en-US" altLang="zh-CN" sz="3200" dirty="0">
              <a:solidFill>
                <a:srgbClr val="3333FF"/>
              </a:solidFill>
              <a:ea typeface="黑体" pitchFamily="49" charset="-122"/>
            </a:endParaRPr>
          </a:p>
          <a:p>
            <a:pPr lvl="1" eaLnBrk="1" hangingPunct="1">
              <a:lnSpc>
                <a:spcPct val="120000"/>
              </a:lnSpc>
            </a:pPr>
            <a:r>
              <a:rPr lang="zh-CN" altLang="en-US" sz="2800" dirty="0">
                <a:ea typeface="黑体" pitchFamily="49" charset="-122"/>
              </a:rPr>
              <a:t>事实上可以建立模糊子集与隶属函数间的一一对应关系。</a:t>
            </a:r>
            <a:endParaRPr lang="en-US" altLang="zh-CN" sz="2800" dirty="0">
              <a:ea typeface="黑体" pitchFamily="49" charset="-122"/>
            </a:endParaRPr>
          </a:p>
          <a:p>
            <a:pPr lvl="1" eaLnBrk="1" hangingPunct="1">
              <a:lnSpc>
                <a:spcPct val="120000"/>
              </a:lnSpc>
            </a:pPr>
            <a:r>
              <a:rPr lang="en-US" altLang="zh-CN" sz="2800" dirty="0">
                <a:solidFill>
                  <a:srgbClr val="FF0000"/>
                </a:solidFill>
                <a:ea typeface="黑体" pitchFamily="49" charset="-122"/>
              </a:rPr>
              <a:t>A(x)</a:t>
            </a:r>
            <a:r>
              <a:rPr lang="zh-CN" altLang="en-US" sz="2800" dirty="0">
                <a:solidFill>
                  <a:srgbClr val="FF0000"/>
                </a:solidFill>
                <a:ea typeface="黑体" pitchFamily="49" charset="-122"/>
              </a:rPr>
              <a:t>的值越接近</a:t>
            </a:r>
            <a:r>
              <a:rPr lang="en-US" altLang="zh-CN" sz="2800" dirty="0">
                <a:solidFill>
                  <a:srgbClr val="FF0000"/>
                </a:solidFill>
                <a:ea typeface="黑体" pitchFamily="49" charset="-122"/>
              </a:rPr>
              <a:t>1</a:t>
            </a:r>
            <a:r>
              <a:rPr lang="zh-CN" altLang="en-US" sz="2800" dirty="0">
                <a:solidFill>
                  <a:srgbClr val="FF0000"/>
                </a:solidFill>
                <a:ea typeface="黑体" pitchFamily="49" charset="-122"/>
              </a:rPr>
              <a:t>，表示</a:t>
            </a:r>
            <a:r>
              <a:rPr lang="en-US" altLang="zh-CN" sz="2800" dirty="0">
                <a:solidFill>
                  <a:srgbClr val="FF0000"/>
                </a:solidFill>
                <a:ea typeface="黑体" pitchFamily="49" charset="-122"/>
              </a:rPr>
              <a:t>x</a:t>
            </a:r>
            <a:r>
              <a:rPr lang="zh-CN" altLang="en-US" sz="2800" dirty="0">
                <a:solidFill>
                  <a:srgbClr val="FF0000"/>
                </a:solidFill>
                <a:ea typeface="黑体" pitchFamily="49" charset="-122"/>
              </a:rPr>
              <a:t>属于</a:t>
            </a:r>
            <a:r>
              <a:rPr lang="en-US" altLang="zh-CN" sz="2800" dirty="0">
                <a:solidFill>
                  <a:srgbClr val="FF0000"/>
                </a:solidFill>
                <a:ea typeface="黑体" pitchFamily="49" charset="-122"/>
              </a:rPr>
              <a:t>A</a:t>
            </a:r>
            <a:r>
              <a:rPr lang="zh-CN" altLang="en-US" sz="2800" dirty="0">
                <a:solidFill>
                  <a:srgbClr val="FF0000"/>
                </a:solidFill>
                <a:ea typeface="黑体" pitchFamily="49" charset="-122"/>
              </a:rPr>
              <a:t>的程度越大；</a:t>
            </a:r>
            <a:endParaRPr lang="en-US" altLang="zh-CN" sz="2800" dirty="0">
              <a:solidFill>
                <a:srgbClr val="FF0000"/>
              </a:solidFill>
              <a:ea typeface="黑体" pitchFamily="49" charset="-122"/>
            </a:endParaRPr>
          </a:p>
          <a:p>
            <a:pPr lvl="1" eaLnBrk="1" hangingPunct="1">
              <a:lnSpc>
                <a:spcPct val="120000"/>
              </a:lnSpc>
            </a:pPr>
            <a:r>
              <a:rPr lang="zh-CN" altLang="en-US" sz="2800" dirty="0">
                <a:solidFill>
                  <a:srgbClr val="FF0000"/>
                </a:solidFill>
                <a:ea typeface="黑体" pitchFamily="49" charset="-122"/>
              </a:rPr>
              <a:t> 反之，</a:t>
            </a:r>
            <a:r>
              <a:rPr lang="en-US" altLang="zh-CN" sz="2800" dirty="0">
                <a:solidFill>
                  <a:srgbClr val="FF0000"/>
                </a:solidFill>
                <a:ea typeface="黑体" pitchFamily="49" charset="-122"/>
              </a:rPr>
              <a:t>A(x)</a:t>
            </a:r>
            <a:r>
              <a:rPr lang="zh-CN" altLang="en-US" sz="2800" dirty="0">
                <a:solidFill>
                  <a:srgbClr val="FF0000"/>
                </a:solidFill>
                <a:ea typeface="黑体" pitchFamily="49" charset="-122"/>
              </a:rPr>
              <a:t>的值越接近</a:t>
            </a:r>
            <a:r>
              <a:rPr lang="en-US" altLang="zh-CN" sz="2800" dirty="0">
                <a:solidFill>
                  <a:srgbClr val="FF0000"/>
                </a:solidFill>
                <a:ea typeface="黑体" pitchFamily="49" charset="-122"/>
              </a:rPr>
              <a:t>0</a:t>
            </a:r>
            <a:r>
              <a:rPr lang="zh-CN" altLang="en-US" sz="2800" dirty="0">
                <a:solidFill>
                  <a:srgbClr val="FF0000"/>
                </a:solidFill>
                <a:ea typeface="黑体" pitchFamily="49" charset="-122"/>
              </a:rPr>
              <a:t>，表示</a:t>
            </a:r>
            <a:r>
              <a:rPr lang="en-US" altLang="zh-CN" sz="2800" dirty="0">
                <a:solidFill>
                  <a:srgbClr val="FF0000"/>
                </a:solidFill>
                <a:ea typeface="黑体" pitchFamily="49" charset="-122"/>
              </a:rPr>
              <a:t>x</a:t>
            </a:r>
            <a:r>
              <a:rPr lang="zh-CN" altLang="en-US" sz="2800" dirty="0">
                <a:solidFill>
                  <a:srgbClr val="FF0000"/>
                </a:solidFill>
                <a:ea typeface="黑体" pitchFamily="49" charset="-122"/>
              </a:rPr>
              <a:t>属于</a:t>
            </a:r>
            <a:r>
              <a:rPr lang="en-US" altLang="zh-CN" sz="2800" dirty="0">
                <a:solidFill>
                  <a:srgbClr val="FF0000"/>
                </a:solidFill>
                <a:ea typeface="黑体" pitchFamily="49" charset="-122"/>
              </a:rPr>
              <a:t>A</a:t>
            </a:r>
            <a:r>
              <a:rPr lang="zh-CN" altLang="en-US" sz="2800" dirty="0">
                <a:solidFill>
                  <a:srgbClr val="FF0000"/>
                </a:solidFill>
                <a:ea typeface="黑体" pitchFamily="49" charset="-122"/>
              </a:rPr>
              <a:t>的程度越小。</a:t>
            </a:r>
            <a:endParaRPr lang="zh-CN" altLang="en-US" sz="2800" dirty="0">
              <a:ea typeface="黑体" pitchFamily="49" charset="-122"/>
            </a:endParaRPr>
          </a:p>
          <a:p>
            <a:pPr eaLnBrk="1" hangingPunct="1">
              <a:lnSpc>
                <a:spcPct val="120000"/>
              </a:lnSpc>
            </a:pPr>
            <a:r>
              <a:rPr lang="zh-CN" altLang="en-US" sz="3200" dirty="0">
                <a:solidFill>
                  <a:srgbClr val="CC00FF"/>
                </a:solidFill>
                <a:ea typeface="黑体" pitchFamily="49" charset="-122"/>
              </a:rPr>
              <a:t>隶属函数</a:t>
            </a:r>
            <a:r>
              <a:rPr lang="zh-CN" altLang="en-US" sz="3200" dirty="0">
                <a:ea typeface="黑体" pitchFamily="49" charset="-122"/>
              </a:rPr>
              <a:t>的最基本概念，借助它才有可能对模糊集合进行量化，也才有可能用</a:t>
            </a:r>
            <a:r>
              <a:rPr lang="zh-CN" altLang="en-US" sz="3200" u="sng" dirty="0">
                <a:solidFill>
                  <a:srgbClr val="7030A0"/>
                </a:solidFill>
                <a:ea typeface="黑体" pitchFamily="49" charset="-122"/>
              </a:rPr>
              <a:t>精确数学方法</a:t>
            </a:r>
            <a:r>
              <a:rPr lang="zh-CN" altLang="en-US" sz="3200" dirty="0">
                <a:ea typeface="黑体" pitchFamily="49" charset="-122"/>
              </a:rPr>
              <a:t>去分析和处理模糊信息。</a:t>
            </a:r>
            <a:endParaRPr lang="en-US" altLang="zh-CN" sz="3200" dirty="0">
              <a:ea typeface="黑体" pitchFamily="49" charset="-122"/>
            </a:endParaRPr>
          </a:p>
          <a:p>
            <a:pPr eaLnBrk="1" hangingPunct="1">
              <a:lnSpc>
                <a:spcPct val="120000"/>
              </a:lnSpc>
            </a:pPr>
            <a:r>
              <a:rPr lang="zh-CN" altLang="en-US" sz="3200" dirty="0">
                <a:solidFill>
                  <a:srgbClr val="008000"/>
                </a:solidFill>
                <a:ea typeface="黑体" pitchFamily="49" charset="-122"/>
              </a:rPr>
              <a:t>正确地建立隶属函数</a:t>
            </a:r>
            <a:r>
              <a:rPr lang="zh-CN" altLang="en-US" sz="3200" dirty="0">
                <a:ea typeface="黑体" pitchFamily="49" charset="-122"/>
              </a:rPr>
              <a:t>，是使模糊集合能够恰当地表达模糊概念的关键。</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96259">
                                            <p:txEl>
                                              <p:pRg st="0" end="0"/>
                                            </p:txEl>
                                          </p:spTgt>
                                        </p:tgtEl>
                                        <p:attrNameLst>
                                          <p:attrName>style.visibility</p:attrName>
                                        </p:attrNameLst>
                                      </p:cBhvr>
                                      <p:to>
                                        <p:strVal val="visible"/>
                                      </p:to>
                                    </p:set>
                                    <p:animEffect transition="in" filter="wipe(up)">
                                      <p:cBhvr>
                                        <p:cTn id="7" dur="500"/>
                                        <p:tgtEl>
                                          <p:spTgt spid="9625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96259">
                                            <p:txEl>
                                              <p:pRg st="1" end="1"/>
                                            </p:txEl>
                                          </p:spTgt>
                                        </p:tgtEl>
                                        <p:attrNameLst>
                                          <p:attrName>style.visibility</p:attrName>
                                        </p:attrNameLst>
                                      </p:cBhvr>
                                      <p:to>
                                        <p:strVal val="visible"/>
                                      </p:to>
                                    </p:set>
                                    <p:animEffect transition="in" filter="wipe(up)">
                                      <p:cBhvr>
                                        <p:cTn id="12" dur="500"/>
                                        <p:tgtEl>
                                          <p:spTgt spid="9625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96259">
                                            <p:txEl>
                                              <p:pRg st="2" end="2"/>
                                            </p:txEl>
                                          </p:spTgt>
                                        </p:tgtEl>
                                        <p:attrNameLst>
                                          <p:attrName>style.visibility</p:attrName>
                                        </p:attrNameLst>
                                      </p:cBhvr>
                                      <p:to>
                                        <p:strVal val="visible"/>
                                      </p:to>
                                    </p:set>
                                    <p:animEffect transition="in" filter="wipe(up)">
                                      <p:cBhvr>
                                        <p:cTn id="17" dur="500"/>
                                        <p:tgtEl>
                                          <p:spTgt spid="96259">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96259">
                                            <p:txEl>
                                              <p:pRg st="3" end="3"/>
                                            </p:txEl>
                                          </p:spTgt>
                                        </p:tgtEl>
                                        <p:attrNameLst>
                                          <p:attrName>style.visibility</p:attrName>
                                        </p:attrNameLst>
                                      </p:cBhvr>
                                      <p:to>
                                        <p:strVal val="visible"/>
                                      </p:to>
                                    </p:set>
                                    <p:animEffect transition="in" filter="wipe(up)">
                                      <p:cBhvr>
                                        <p:cTn id="22" dur="500"/>
                                        <p:tgtEl>
                                          <p:spTgt spid="96259">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96259">
                                            <p:txEl>
                                              <p:pRg st="4" end="4"/>
                                            </p:txEl>
                                          </p:spTgt>
                                        </p:tgtEl>
                                        <p:attrNameLst>
                                          <p:attrName>style.visibility</p:attrName>
                                        </p:attrNameLst>
                                      </p:cBhvr>
                                      <p:to>
                                        <p:strVal val="visible"/>
                                      </p:to>
                                    </p:set>
                                    <p:animEffect transition="in" filter="wipe(up)">
                                      <p:cBhvr>
                                        <p:cTn id="27" dur="500"/>
                                        <p:tgtEl>
                                          <p:spTgt spid="96259">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grpId="0" nodeType="clickEffect">
                                  <p:stCondLst>
                                    <p:cond delay="0"/>
                                  </p:stCondLst>
                                  <p:childTnLst>
                                    <p:set>
                                      <p:cBhvr>
                                        <p:cTn id="31" dur="1" fill="hold">
                                          <p:stCondLst>
                                            <p:cond delay="0"/>
                                          </p:stCondLst>
                                        </p:cTn>
                                        <p:tgtEl>
                                          <p:spTgt spid="96259">
                                            <p:txEl>
                                              <p:pRg st="5" end="5"/>
                                            </p:txEl>
                                          </p:spTgt>
                                        </p:tgtEl>
                                        <p:attrNameLst>
                                          <p:attrName>style.visibility</p:attrName>
                                        </p:attrNameLst>
                                      </p:cBhvr>
                                      <p:to>
                                        <p:strVal val="visible"/>
                                      </p:to>
                                    </p:set>
                                    <p:animEffect transition="in" filter="wipe(up)">
                                      <p:cBhvr>
                                        <p:cTn id="32" dur="500"/>
                                        <p:tgtEl>
                                          <p:spTgt spid="96259">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6259" grpId="0" uiExpand="1" build="p"/>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a:xfrm>
            <a:off x="1974816" y="82552"/>
            <a:ext cx="8229600" cy="1371600"/>
          </a:xfrm>
        </p:spPr>
        <p:txBody>
          <a:bodyPr/>
          <a:lstStyle/>
          <a:p>
            <a:pPr algn="ctr" eaLnBrk="1" hangingPunct="1"/>
            <a:r>
              <a:rPr lang="zh-CN" altLang="en-US" dirty="0">
                <a:solidFill>
                  <a:srgbClr val="008000"/>
                </a:solidFill>
                <a:latin typeface="黑体" panose="02010609060101010101" pitchFamily="49" charset="-122"/>
                <a:ea typeface="黑体" panose="02010609060101010101" pitchFamily="49" charset="-122"/>
              </a:rPr>
              <a:t>模糊集合的表示方法</a:t>
            </a:r>
          </a:p>
        </p:txBody>
      </p:sp>
      <p:sp>
        <p:nvSpPr>
          <p:cNvPr id="38915" name="Rectangle 3"/>
          <p:cNvSpPr>
            <a:spLocks noGrp="1" noChangeArrowheads="1"/>
          </p:cNvSpPr>
          <p:nvPr>
            <p:ph type="body" sz="half" idx="1"/>
          </p:nvPr>
        </p:nvSpPr>
        <p:spPr>
          <a:xfrm>
            <a:off x="983432" y="1412876"/>
            <a:ext cx="10369151" cy="5040313"/>
          </a:xfrm>
        </p:spPr>
        <p:txBody>
          <a:bodyPr/>
          <a:lstStyle/>
          <a:p>
            <a:pPr eaLnBrk="1" hangingPunct="1">
              <a:buFont typeface="Wingdings" panose="05000000000000000000" pitchFamily="2" charset="2"/>
              <a:buChar char="n"/>
            </a:pPr>
            <a:r>
              <a:rPr kumimoji="1" lang="zh-CN" altLang="en-US" sz="2800" dirty="0">
                <a:ea typeface="黑体" pitchFamily="49" charset="-122"/>
                <a:cs typeface="Arial" charset="0"/>
              </a:rPr>
              <a:t>设论域</a:t>
            </a:r>
            <a:r>
              <a:rPr kumimoji="1" lang="en-US" altLang="zh-CN" sz="2800" i="1" dirty="0">
                <a:ea typeface="黑体" pitchFamily="49" charset="-122"/>
                <a:cs typeface="Arial" charset="0"/>
              </a:rPr>
              <a:t>U </a:t>
            </a:r>
            <a:r>
              <a:rPr kumimoji="1" lang="en-US" altLang="zh-CN" sz="2800" dirty="0">
                <a:ea typeface="黑体" pitchFamily="49" charset="-122"/>
                <a:cs typeface="Arial" charset="0"/>
              </a:rPr>
              <a:t>= {1,2,3,4,5,6}</a:t>
            </a:r>
            <a:r>
              <a:rPr kumimoji="1" lang="zh-CN" altLang="en-US" sz="2800" dirty="0">
                <a:ea typeface="黑体" pitchFamily="49" charset="-122"/>
                <a:cs typeface="Arial" charset="0"/>
              </a:rPr>
              <a:t>，</a:t>
            </a:r>
            <a:r>
              <a:rPr kumimoji="1" lang="en-US" altLang="zh-CN" sz="2800" dirty="0">
                <a:ea typeface="黑体" pitchFamily="49" charset="-122"/>
                <a:cs typeface="Arial" charset="0"/>
              </a:rPr>
              <a:t>A</a:t>
            </a:r>
            <a:r>
              <a:rPr kumimoji="1" lang="zh-CN" altLang="en-US" sz="2800" dirty="0">
                <a:ea typeface="黑体" pitchFamily="49" charset="-122"/>
                <a:cs typeface="Arial" charset="0"/>
              </a:rPr>
              <a:t>表示</a:t>
            </a:r>
            <a:r>
              <a:rPr kumimoji="1" lang="zh-CN" altLang="en-US" sz="2800" dirty="0">
                <a:solidFill>
                  <a:srgbClr val="3333FF"/>
                </a:solidFill>
                <a:ea typeface="黑体" pitchFamily="49" charset="-122"/>
                <a:cs typeface="Arial" charset="0"/>
              </a:rPr>
              <a:t>“靠近</a:t>
            </a:r>
            <a:r>
              <a:rPr kumimoji="1" lang="en-US" altLang="zh-CN" sz="2800" dirty="0">
                <a:solidFill>
                  <a:srgbClr val="3333FF"/>
                </a:solidFill>
                <a:ea typeface="黑体" pitchFamily="49" charset="-122"/>
                <a:cs typeface="Arial" charset="0"/>
              </a:rPr>
              <a:t>4</a:t>
            </a:r>
            <a:r>
              <a:rPr kumimoji="1" lang="en-US" altLang="zh-CN" sz="2800" dirty="0">
                <a:ea typeface="黑体" pitchFamily="49" charset="-122"/>
                <a:cs typeface="Arial" charset="0"/>
              </a:rPr>
              <a:t>”</a:t>
            </a:r>
            <a:r>
              <a:rPr kumimoji="1" lang="zh-CN" altLang="en-US" sz="2800" dirty="0">
                <a:ea typeface="黑体" pitchFamily="49" charset="-122"/>
                <a:cs typeface="Arial" charset="0"/>
              </a:rPr>
              <a:t>的数集，则</a:t>
            </a:r>
            <a:r>
              <a:rPr kumimoji="1" lang="en-US" altLang="zh-CN" sz="2800" dirty="0">
                <a:ea typeface="黑体" pitchFamily="49" charset="-122"/>
                <a:cs typeface="Arial" charset="0"/>
              </a:rPr>
              <a:t>A</a:t>
            </a:r>
            <a:r>
              <a:rPr kumimoji="1" lang="en-US" altLang="zh-CN" sz="2800" b="1" dirty="0">
                <a:ea typeface="黑体" pitchFamily="49" charset="-122"/>
                <a:cs typeface="Arial" charset="0"/>
                <a:sym typeface="Symbol" pitchFamily="18" charset="2"/>
              </a:rPr>
              <a:t></a:t>
            </a:r>
            <a:r>
              <a:rPr lang="en-US" altLang="zh-CN" sz="2800" b="1" dirty="0">
                <a:latin typeface="Monotype Corsiva" pitchFamily="66" charset="0"/>
                <a:ea typeface="黑体" pitchFamily="49" charset="-122"/>
                <a:cs typeface="Arial" charset="0"/>
                <a:sym typeface="Symbol" pitchFamily="18" charset="2"/>
              </a:rPr>
              <a:t> F </a:t>
            </a:r>
            <a:r>
              <a:rPr kumimoji="1" lang="en-US" altLang="zh-CN" sz="2800" dirty="0">
                <a:ea typeface="黑体" pitchFamily="49" charset="-122"/>
                <a:cs typeface="Arial" charset="0"/>
              </a:rPr>
              <a:t>(U)</a:t>
            </a:r>
            <a:r>
              <a:rPr kumimoji="1" lang="zh-CN" altLang="en-US" sz="2800" dirty="0">
                <a:ea typeface="黑体" pitchFamily="49" charset="-122"/>
                <a:cs typeface="Arial" charset="0"/>
              </a:rPr>
              <a:t>，各数属于</a:t>
            </a:r>
            <a:r>
              <a:rPr kumimoji="1" lang="en-US" altLang="zh-CN" sz="2800" dirty="0">
                <a:ea typeface="黑体" pitchFamily="49" charset="-122"/>
                <a:cs typeface="Arial" charset="0"/>
              </a:rPr>
              <a:t>A</a:t>
            </a:r>
            <a:r>
              <a:rPr kumimoji="1" lang="zh-CN" altLang="en-US" sz="2800" dirty="0">
                <a:ea typeface="黑体" pitchFamily="49" charset="-122"/>
                <a:cs typeface="Arial" charset="0"/>
              </a:rPr>
              <a:t>的程度</a:t>
            </a:r>
            <a:r>
              <a:rPr kumimoji="1" lang="en-US" altLang="zh-CN" sz="2800" dirty="0">
                <a:ea typeface="黑体" pitchFamily="49" charset="-122"/>
                <a:cs typeface="Arial" charset="0"/>
              </a:rPr>
              <a:t>A(u)</a:t>
            </a:r>
            <a:r>
              <a:rPr kumimoji="1" lang="zh-CN" altLang="en-US" sz="2800" dirty="0">
                <a:ea typeface="黑体" pitchFamily="49" charset="-122"/>
                <a:cs typeface="Arial" charset="0"/>
              </a:rPr>
              <a:t>如下：</a:t>
            </a:r>
          </a:p>
          <a:p>
            <a:pPr eaLnBrk="1" hangingPunct="1">
              <a:buFont typeface="Wingdings" panose="05000000000000000000" pitchFamily="2" charset="2"/>
              <a:buChar char="n"/>
            </a:pPr>
            <a:endParaRPr lang="zh-CN" altLang="en-US" dirty="0">
              <a:ea typeface="黑体" pitchFamily="49" charset="-122"/>
              <a:cs typeface="Arial" charset="0"/>
            </a:endParaRPr>
          </a:p>
          <a:p>
            <a:pPr eaLnBrk="1" hangingPunct="1">
              <a:buFont typeface="Wingdings" panose="05000000000000000000" pitchFamily="2" charset="2"/>
              <a:buChar char="n"/>
            </a:pPr>
            <a:endParaRPr lang="zh-CN" altLang="en-US" sz="3600" dirty="0">
              <a:ea typeface="黑体" pitchFamily="49" charset="-122"/>
              <a:cs typeface="Arial" charset="0"/>
            </a:endParaRPr>
          </a:p>
          <a:p>
            <a:pPr eaLnBrk="1" hangingPunct="1">
              <a:buFont typeface="Wingdings" panose="05000000000000000000" pitchFamily="2" charset="2"/>
              <a:buChar char="n"/>
            </a:pPr>
            <a:r>
              <a:rPr lang="en-US" altLang="zh-CN" sz="3200" dirty="0">
                <a:solidFill>
                  <a:srgbClr val="FF0000"/>
                </a:solidFill>
                <a:ea typeface="黑体" pitchFamily="49" charset="-122"/>
                <a:cs typeface="Arial" charset="0"/>
              </a:rPr>
              <a:t>Zadeh</a:t>
            </a:r>
            <a:r>
              <a:rPr lang="zh-CN" altLang="en-US" sz="3200" dirty="0">
                <a:solidFill>
                  <a:srgbClr val="FF0000"/>
                </a:solidFill>
                <a:ea typeface="黑体" pitchFamily="49" charset="-122"/>
                <a:cs typeface="Arial" charset="0"/>
              </a:rPr>
              <a:t>表示方法：</a:t>
            </a:r>
          </a:p>
          <a:p>
            <a:pPr marL="0" indent="0" eaLnBrk="1" hangingPunct="1">
              <a:buNone/>
            </a:pPr>
            <a:r>
              <a:rPr lang="zh-CN" altLang="en-US" b="1" dirty="0">
                <a:ea typeface="黑体" pitchFamily="49" charset="-122"/>
                <a:cs typeface="Arial" charset="0"/>
              </a:rPr>
              <a:t>   </a:t>
            </a:r>
            <a:r>
              <a:rPr lang="zh-CN" altLang="en-US" sz="2800" b="1" dirty="0">
                <a:ea typeface="黑体" pitchFamily="49" charset="-122"/>
                <a:cs typeface="Arial" charset="0"/>
              </a:rPr>
              <a:t>当</a:t>
            </a:r>
            <a:r>
              <a:rPr lang="en-US" altLang="zh-CN" sz="2800" b="1" dirty="0">
                <a:ea typeface="黑体" pitchFamily="49" charset="-122"/>
                <a:cs typeface="Arial" charset="0"/>
              </a:rPr>
              <a:t>U</a:t>
            </a:r>
            <a:r>
              <a:rPr lang="zh-CN" altLang="en-US" sz="2800" b="1" dirty="0">
                <a:ea typeface="黑体" pitchFamily="49" charset="-122"/>
                <a:cs typeface="Arial" charset="0"/>
              </a:rPr>
              <a:t>为离散论域</a:t>
            </a:r>
            <a:r>
              <a:rPr lang="en-US" altLang="zh-CN" sz="2800" b="1" dirty="0">
                <a:ea typeface="黑体" pitchFamily="49" charset="-122"/>
                <a:cs typeface="Arial" charset="0"/>
              </a:rPr>
              <a:t>{u</a:t>
            </a:r>
            <a:r>
              <a:rPr lang="en-US" altLang="zh-CN" sz="2800" b="1" baseline="-25000" dirty="0">
                <a:ea typeface="黑体" pitchFamily="49" charset="-122"/>
                <a:cs typeface="Arial" charset="0"/>
              </a:rPr>
              <a:t>1</a:t>
            </a:r>
            <a:r>
              <a:rPr lang="en-US" altLang="zh-CN" sz="2800" b="1" dirty="0">
                <a:ea typeface="黑体" pitchFamily="49" charset="-122"/>
                <a:cs typeface="Arial" charset="0"/>
              </a:rPr>
              <a:t>,u</a:t>
            </a:r>
            <a:r>
              <a:rPr lang="en-US" altLang="zh-CN" sz="2800" b="1" baseline="-25000" dirty="0">
                <a:ea typeface="黑体" pitchFamily="49" charset="-122"/>
                <a:cs typeface="Arial" charset="0"/>
              </a:rPr>
              <a:t>2</a:t>
            </a:r>
            <a:r>
              <a:rPr lang="en-US" altLang="zh-CN" sz="2800" b="1" dirty="0">
                <a:ea typeface="黑体" pitchFamily="49" charset="-122"/>
                <a:cs typeface="Arial" charset="0"/>
              </a:rPr>
              <a:t>,…,u</a:t>
            </a:r>
            <a:r>
              <a:rPr lang="en-US" altLang="zh-CN" sz="2800" b="1" baseline="-25000" dirty="0">
                <a:ea typeface="黑体" pitchFamily="49" charset="-122"/>
                <a:cs typeface="Arial" charset="0"/>
              </a:rPr>
              <a:t>n</a:t>
            </a:r>
            <a:r>
              <a:rPr lang="en-US" altLang="zh-CN" sz="2800" b="1" dirty="0">
                <a:ea typeface="黑体" pitchFamily="49" charset="-122"/>
                <a:cs typeface="Arial" charset="0"/>
              </a:rPr>
              <a:t>}</a:t>
            </a:r>
            <a:r>
              <a:rPr lang="zh-CN" altLang="en-US" sz="2800" b="1" dirty="0">
                <a:ea typeface="黑体" pitchFamily="49" charset="-122"/>
                <a:cs typeface="Arial" charset="0"/>
              </a:rPr>
              <a:t>时，</a:t>
            </a:r>
            <a:endParaRPr lang="zh-CN" altLang="en-US" sz="3200" b="1" dirty="0">
              <a:ea typeface="黑体" pitchFamily="49" charset="-122"/>
              <a:cs typeface="Arial" charset="0"/>
            </a:endParaRPr>
          </a:p>
        </p:txBody>
      </p:sp>
      <p:graphicFrame>
        <p:nvGraphicFramePr>
          <p:cNvPr id="38916" name="Object 4"/>
          <p:cNvGraphicFramePr>
            <a:graphicFrameLocks noGrp="1" noChangeAspect="1"/>
          </p:cNvGraphicFramePr>
          <p:nvPr>
            <p:ph sz="quarter" idx="2"/>
            <p:extLst>
              <p:ext uri="{D42A27DB-BD31-4B8C-83A1-F6EECF244321}">
                <p14:modId xmlns:p14="http://schemas.microsoft.com/office/powerpoint/2010/main" val="1230737135"/>
              </p:ext>
            </p:extLst>
          </p:nvPr>
        </p:nvGraphicFramePr>
        <p:xfrm>
          <a:off x="1343472" y="4869161"/>
          <a:ext cx="7549929" cy="965138"/>
        </p:xfrm>
        <a:graphic>
          <a:graphicData uri="http://schemas.openxmlformats.org/presentationml/2006/ole">
            <mc:AlternateContent xmlns:mc="http://schemas.openxmlformats.org/markup-compatibility/2006">
              <mc:Choice xmlns:v="urn:schemas-microsoft-com:vml" Requires="v">
                <p:oleObj name="公式" r:id="rId2" imgW="3378200" imgH="431800" progId="Equation.3">
                  <p:embed/>
                </p:oleObj>
              </mc:Choice>
              <mc:Fallback>
                <p:oleObj name="公式" r:id="rId2" imgW="3378200" imgH="431800" progId="Equation.3">
                  <p:embed/>
                  <p:pic>
                    <p:nvPicPr>
                      <p:cNvPr id="38916"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43472" y="4869161"/>
                        <a:ext cx="7549929" cy="965138"/>
                      </a:xfrm>
                      <a:prstGeom prst="rect">
                        <a:avLst/>
                      </a:prstGeom>
                      <a:noFill/>
                      <a:ln>
                        <a:noFill/>
                      </a:ln>
                      <a:effectLst/>
                    </p:spPr>
                  </p:pic>
                </p:oleObj>
              </mc:Fallback>
            </mc:AlternateContent>
          </a:graphicData>
        </a:graphic>
      </p:graphicFrame>
      <p:graphicFrame>
        <p:nvGraphicFramePr>
          <p:cNvPr id="38949" name="Group 37"/>
          <p:cNvGraphicFramePr>
            <a:graphicFrameLocks noGrp="1"/>
          </p:cNvGraphicFramePr>
          <p:nvPr>
            <p:ph sz="quarter" idx="3"/>
            <p:extLst>
              <p:ext uri="{D42A27DB-BD31-4B8C-83A1-F6EECF244321}">
                <p14:modId xmlns:p14="http://schemas.microsoft.com/office/powerpoint/2010/main" val="99096771"/>
              </p:ext>
            </p:extLst>
          </p:nvPr>
        </p:nvGraphicFramePr>
        <p:xfrm>
          <a:off x="2561397" y="2515149"/>
          <a:ext cx="7056437" cy="936626"/>
        </p:xfrm>
        <a:graphic>
          <a:graphicData uri="http://schemas.openxmlformats.org/drawingml/2006/table">
            <a:tbl>
              <a:tblPr/>
              <a:tblGrid>
                <a:gridCol w="1008062">
                  <a:extLst>
                    <a:ext uri="{9D8B030D-6E8A-4147-A177-3AD203B41FA5}">
                      <a16:colId xmlns:a16="http://schemas.microsoft.com/office/drawing/2014/main" val="20000"/>
                    </a:ext>
                  </a:extLst>
                </a:gridCol>
                <a:gridCol w="1008063">
                  <a:extLst>
                    <a:ext uri="{9D8B030D-6E8A-4147-A177-3AD203B41FA5}">
                      <a16:colId xmlns:a16="http://schemas.microsoft.com/office/drawing/2014/main" val="20001"/>
                    </a:ext>
                  </a:extLst>
                </a:gridCol>
                <a:gridCol w="1008062">
                  <a:extLst>
                    <a:ext uri="{9D8B030D-6E8A-4147-A177-3AD203B41FA5}">
                      <a16:colId xmlns:a16="http://schemas.microsoft.com/office/drawing/2014/main" val="20002"/>
                    </a:ext>
                  </a:extLst>
                </a:gridCol>
                <a:gridCol w="1008063">
                  <a:extLst>
                    <a:ext uri="{9D8B030D-6E8A-4147-A177-3AD203B41FA5}">
                      <a16:colId xmlns:a16="http://schemas.microsoft.com/office/drawing/2014/main" val="20003"/>
                    </a:ext>
                  </a:extLst>
                </a:gridCol>
                <a:gridCol w="1008062">
                  <a:extLst>
                    <a:ext uri="{9D8B030D-6E8A-4147-A177-3AD203B41FA5}">
                      <a16:colId xmlns:a16="http://schemas.microsoft.com/office/drawing/2014/main" val="20004"/>
                    </a:ext>
                  </a:extLst>
                </a:gridCol>
                <a:gridCol w="1008063">
                  <a:extLst>
                    <a:ext uri="{9D8B030D-6E8A-4147-A177-3AD203B41FA5}">
                      <a16:colId xmlns:a16="http://schemas.microsoft.com/office/drawing/2014/main" val="20005"/>
                    </a:ext>
                  </a:extLst>
                </a:gridCol>
                <a:gridCol w="1008062">
                  <a:extLst>
                    <a:ext uri="{9D8B030D-6E8A-4147-A177-3AD203B41FA5}">
                      <a16:colId xmlns:a16="http://schemas.microsoft.com/office/drawing/2014/main" val="20006"/>
                    </a:ext>
                  </a:extLst>
                </a:gridCol>
              </a:tblGrid>
              <a:tr h="468313">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400" b="0" i="0" u="none" strike="noStrike" cap="none" normalizeH="0" baseline="0" dirty="0">
                          <a:ln>
                            <a:noFill/>
                          </a:ln>
                          <a:solidFill>
                            <a:schemeClr val="tx1"/>
                          </a:solidFill>
                          <a:effectLst/>
                          <a:latin typeface="Arial" charset="0"/>
                          <a:ea typeface="宋体" pitchFamily="2" charset="-122"/>
                        </a:rPr>
                        <a:t>u</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99FF66"/>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400" b="0" i="0" u="none" strike="noStrike" cap="none" normalizeH="0" baseline="0">
                          <a:ln>
                            <a:noFill/>
                          </a:ln>
                          <a:solidFill>
                            <a:schemeClr val="tx1"/>
                          </a:solidFill>
                          <a:effectLst/>
                          <a:latin typeface="Arial" charset="0"/>
                          <a:ea typeface="宋体"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99FF66"/>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400" b="0" i="0" u="none" strike="noStrike" cap="none" normalizeH="0" baseline="0">
                          <a:ln>
                            <a:noFill/>
                          </a:ln>
                          <a:solidFill>
                            <a:schemeClr val="tx1"/>
                          </a:solidFill>
                          <a:effectLst/>
                          <a:latin typeface="Arial" charset="0"/>
                          <a:ea typeface="宋体" pitchFamily="2" charset="-122"/>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99FF66"/>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400" b="0" i="0" u="none" strike="noStrike" cap="none" normalizeH="0" baseline="0">
                          <a:ln>
                            <a:noFill/>
                          </a:ln>
                          <a:solidFill>
                            <a:schemeClr val="tx1"/>
                          </a:solidFill>
                          <a:effectLst/>
                          <a:latin typeface="Arial" charset="0"/>
                          <a:ea typeface="宋体" pitchFamily="2" charset="-122"/>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99FF66"/>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400" b="0" i="0" u="none" strike="noStrike" cap="none" normalizeH="0" baseline="0">
                          <a:ln>
                            <a:noFill/>
                          </a:ln>
                          <a:solidFill>
                            <a:schemeClr val="tx1"/>
                          </a:solidFill>
                          <a:effectLst/>
                          <a:latin typeface="Arial" charset="0"/>
                          <a:ea typeface="宋体" pitchFamily="2" charset="-122"/>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99FF66"/>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400" b="0" i="0" u="none" strike="noStrike" cap="none" normalizeH="0" baseline="0">
                          <a:ln>
                            <a:noFill/>
                          </a:ln>
                          <a:solidFill>
                            <a:schemeClr val="tx1"/>
                          </a:solidFill>
                          <a:effectLst/>
                          <a:latin typeface="Arial" charset="0"/>
                          <a:ea typeface="宋体" pitchFamily="2" charset="-122"/>
                        </a:rPr>
                        <a:t>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99FF66"/>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400" b="0" i="0" u="none" strike="noStrike" cap="none" normalizeH="0" baseline="0">
                          <a:ln>
                            <a:noFill/>
                          </a:ln>
                          <a:solidFill>
                            <a:schemeClr val="tx1"/>
                          </a:solidFill>
                          <a:effectLst/>
                          <a:latin typeface="Arial" charset="0"/>
                          <a:ea typeface="宋体" pitchFamily="2" charset="-122"/>
                        </a:rPr>
                        <a:t>6</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99FF66"/>
                    </a:solidFill>
                  </a:tcPr>
                </a:tc>
                <a:extLst>
                  <a:ext uri="{0D108BD9-81ED-4DB2-BD59-A6C34878D82A}">
                    <a16:rowId xmlns:a16="http://schemas.microsoft.com/office/drawing/2014/main" val="10000"/>
                  </a:ext>
                </a:extLst>
              </a:tr>
              <a:tr h="468313">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400" b="0" i="0" u="none" strike="noStrike" cap="none" normalizeH="0" baseline="0">
                          <a:ln>
                            <a:noFill/>
                          </a:ln>
                          <a:solidFill>
                            <a:schemeClr val="tx1"/>
                          </a:solidFill>
                          <a:effectLst/>
                          <a:latin typeface="Arial" charset="0"/>
                          <a:ea typeface="宋体" pitchFamily="2" charset="-122"/>
                        </a:rPr>
                        <a:t>A(u)</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99FF66"/>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400" b="0" i="0" u="none" strike="noStrike" cap="none" normalizeH="0" baseline="0">
                          <a:ln>
                            <a:noFill/>
                          </a:ln>
                          <a:solidFill>
                            <a:schemeClr val="tx1"/>
                          </a:solidFill>
                          <a:effectLst/>
                          <a:latin typeface="Arial" charset="0"/>
                          <a:ea typeface="宋体"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99FF66"/>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400" b="0" i="0" u="none" strike="noStrike" cap="none" normalizeH="0" baseline="0" dirty="0">
                          <a:ln>
                            <a:noFill/>
                          </a:ln>
                          <a:solidFill>
                            <a:schemeClr val="tx1"/>
                          </a:solidFill>
                          <a:effectLst/>
                          <a:latin typeface="Arial" charset="0"/>
                          <a:ea typeface="宋体" pitchFamily="2" charset="-122"/>
                        </a:rPr>
                        <a:t>0.2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99FF66"/>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400" b="0" i="0" u="none" strike="noStrike" cap="none" normalizeH="0" baseline="0">
                          <a:ln>
                            <a:noFill/>
                          </a:ln>
                          <a:solidFill>
                            <a:schemeClr val="tx1"/>
                          </a:solidFill>
                          <a:effectLst/>
                          <a:latin typeface="Arial" charset="0"/>
                          <a:ea typeface="宋体" pitchFamily="2" charset="-122"/>
                        </a:rPr>
                        <a:t>0.8</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99FF66"/>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400" b="0" i="0" u="none" strike="noStrike" cap="none" normalizeH="0" baseline="0">
                          <a:ln>
                            <a:noFill/>
                          </a:ln>
                          <a:solidFill>
                            <a:schemeClr val="tx1"/>
                          </a:solidFill>
                          <a:effectLst/>
                          <a:latin typeface="Arial" charset="0"/>
                          <a:ea typeface="宋体"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99FF66"/>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400" b="0" i="0" u="none" strike="noStrike" cap="none" normalizeH="0" baseline="0" dirty="0">
                          <a:ln>
                            <a:noFill/>
                          </a:ln>
                          <a:solidFill>
                            <a:schemeClr val="tx1"/>
                          </a:solidFill>
                          <a:effectLst/>
                          <a:latin typeface="Arial" charset="0"/>
                          <a:ea typeface="宋体" pitchFamily="2" charset="-122"/>
                        </a:rPr>
                        <a:t>0.8</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99FF66"/>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400" b="0" i="0" u="none" strike="noStrike" cap="none" normalizeH="0" baseline="0" dirty="0">
                          <a:ln>
                            <a:noFill/>
                          </a:ln>
                          <a:solidFill>
                            <a:schemeClr val="tx1"/>
                          </a:solidFill>
                          <a:effectLst/>
                          <a:latin typeface="Arial" charset="0"/>
                          <a:ea typeface="宋体" pitchFamily="2" charset="-122"/>
                        </a:rPr>
                        <a:t>0.2</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99FF66"/>
                    </a:solidFill>
                  </a:tcPr>
                </a:tc>
                <a:extLst>
                  <a:ext uri="{0D108BD9-81ED-4DB2-BD59-A6C34878D82A}">
                    <a16:rowId xmlns:a16="http://schemas.microsoft.com/office/drawing/2014/main" val="10001"/>
                  </a:ext>
                </a:extLst>
              </a:tr>
            </a:tbl>
          </a:graphicData>
        </a:graphic>
      </p:graphicFrame>
      <p:sp>
        <p:nvSpPr>
          <p:cNvPr id="38918" name="AutoShape 6"/>
          <p:cNvSpPr>
            <a:spLocks noChangeArrowheads="1"/>
          </p:cNvSpPr>
          <p:nvPr/>
        </p:nvSpPr>
        <p:spPr bwMode="auto">
          <a:xfrm>
            <a:off x="9383688" y="4040087"/>
            <a:ext cx="2808312" cy="2089150"/>
          </a:xfrm>
          <a:prstGeom prst="wedgeRoundRectCallout">
            <a:avLst>
              <a:gd name="adj1" fmla="val -62431"/>
              <a:gd name="adj2" fmla="val 8542"/>
              <a:gd name="adj3" fmla="val 16667"/>
            </a:avLst>
          </a:prstGeom>
          <a:solidFill>
            <a:srgbClr val="F9B4F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sz="2400" b="1" dirty="0">
                <a:ea typeface="楷体_GB2312" pitchFamily="49" charset="-122"/>
              </a:rPr>
              <a:t>不代表</a:t>
            </a:r>
            <a:r>
              <a:rPr lang="en-US" altLang="zh-CN" sz="2400" b="1" dirty="0">
                <a:ea typeface="楷体_GB2312" pitchFamily="49" charset="-122"/>
              </a:rPr>
              <a:t>”</a:t>
            </a:r>
            <a:r>
              <a:rPr lang="zh-CN" altLang="en-US" sz="2400" b="1" dirty="0">
                <a:ea typeface="楷体_GB2312" pitchFamily="49" charset="-122"/>
              </a:rPr>
              <a:t>分式</a:t>
            </a:r>
            <a:r>
              <a:rPr lang="en-US" altLang="zh-CN" sz="2400" b="1" dirty="0">
                <a:ea typeface="楷体_GB2312" pitchFamily="49" charset="-122"/>
              </a:rPr>
              <a:t>”, </a:t>
            </a:r>
            <a:r>
              <a:rPr lang="zh-CN" altLang="en-US" sz="2400" b="1" dirty="0">
                <a:ea typeface="楷体_GB2312" pitchFamily="49" charset="-122"/>
              </a:rPr>
              <a:t>而是表示元素</a:t>
            </a:r>
            <a:r>
              <a:rPr lang="en-US" altLang="zh-CN" sz="2400" b="1" dirty="0" err="1">
                <a:ea typeface="楷体_GB2312" pitchFamily="49" charset="-122"/>
              </a:rPr>
              <a:t>u</a:t>
            </a:r>
            <a:r>
              <a:rPr lang="en-US" altLang="zh-CN" sz="2400" b="1" baseline="-25000" dirty="0" err="1">
                <a:ea typeface="楷体_GB2312" pitchFamily="49" charset="-122"/>
              </a:rPr>
              <a:t>i</a:t>
            </a:r>
            <a:r>
              <a:rPr lang="zh-CN" altLang="en-US" sz="2400" b="1" dirty="0">
                <a:ea typeface="楷体_GB2312" pitchFamily="49" charset="-122"/>
              </a:rPr>
              <a:t>对于集合</a:t>
            </a:r>
            <a:r>
              <a:rPr lang="en-US" altLang="zh-CN" sz="2400" b="1" dirty="0">
                <a:ea typeface="楷体_GB2312" pitchFamily="49" charset="-122"/>
              </a:rPr>
              <a:t>A</a:t>
            </a:r>
            <a:r>
              <a:rPr lang="zh-CN" altLang="en-US" sz="2400" b="1" dirty="0">
                <a:ea typeface="楷体_GB2312" pitchFamily="49" charset="-122"/>
              </a:rPr>
              <a:t>的隶属度</a:t>
            </a:r>
            <a:r>
              <a:rPr lang="en-US" altLang="zh-CN" sz="2400" b="1" dirty="0">
                <a:ea typeface="楷体_GB2312" pitchFamily="49" charset="-122"/>
              </a:rPr>
              <a:t>A(</a:t>
            </a:r>
            <a:r>
              <a:rPr lang="en-US" altLang="zh-CN" sz="2400" b="1" dirty="0" err="1">
                <a:ea typeface="楷体_GB2312" pitchFamily="49" charset="-122"/>
              </a:rPr>
              <a:t>u</a:t>
            </a:r>
            <a:r>
              <a:rPr lang="en-US" altLang="zh-CN" sz="2000" b="1" baseline="-25000" dirty="0" err="1">
                <a:ea typeface="楷体_GB2312" pitchFamily="49" charset="-122"/>
              </a:rPr>
              <a:t>i</a:t>
            </a:r>
            <a:r>
              <a:rPr lang="en-US" altLang="zh-CN" sz="2400" b="1" dirty="0">
                <a:ea typeface="楷体_GB2312" pitchFamily="49" charset="-122"/>
              </a:rPr>
              <a:t>)</a:t>
            </a:r>
            <a:r>
              <a:rPr lang="zh-CN" altLang="en-US" sz="2400" b="1" dirty="0">
                <a:ea typeface="楷体_GB2312" pitchFamily="49" charset="-122"/>
              </a:rPr>
              <a:t>和元素</a:t>
            </a:r>
            <a:r>
              <a:rPr lang="en-US" altLang="zh-CN" sz="2400" b="1" dirty="0" err="1">
                <a:ea typeface="楷体_GB2312" pitchFamily="49" charset="-122"/>
              </a:rPr>
              <a:t>u</a:t>
            </a:r>
            <a:r>
              <a:rPr lang="en-US" altLang="zh-CN" sz="2000" b="1" baseline="-25000" dirty="0" err="1">
                <a:ea typeface="楷体_GB2312" pitchFamily="49" charset="-122"/>
              </a:rPr>
              <a:t>i</a:t>
            </a:r>
            <a:r>
              <a:rPr lang="zh-CN" altLang="en-US" sz="2400" b="1" dirty="0">
                <a:ea typeface="楷体_GB2312" pitchFamily="49" charset="-122"/>
              </a:rPr>
              <a:t>本身的对应关系</a:t>
            </a:r>
          </a:p>
        </p:txBody>
      </p:sp>
      <p:graphicFrame>
        <p:nvGraphicFramePr>
          <p:cNvPr id="38948" name="Object 36"/>
          <p:cNvGraphicFramePr>
            <a:graphicFrameLocks noChangeAspect="1"/>
          </p:cNvGraphicFramePr>
          <p:nvPr>
            <p:extLst>
              <p:ext uri="{D42A27DB-BD31-4B8C-83A1-F6EECF244321}">
                <p14:modId xmlns:p14="http://schemas.microsoft.com/office/powerpoint/2010/main" val="3393101134"/>
              </p:ext>
            </p:extLst>
          </p:nvPr>
        </p:nvGraphicFramePr>
        <p:xfrm>
          <a:off x="1703512" y="5834298"/>
          <a:ext cx="5184775" cy="1004888"/>
        </p:xfrm>
        <a:graphic>
          <a:graphicData uri="http://schemas.openxmlformats.org/presentationml/2006/ole">
            <mc:AlternateContent xmlns:mc="http://schemas.openxmlformats.org/markup-compatibility/2006">
              <mc:Choice xmlns:v="urn:schemas-microsoft-com:vml" Requires="v">
                <p:oleObj name="公式" r:id="rId4" imgW="2032000" imgH="393700" progId="Equation.3">
                  <p:embed/>
                </p:oleObj>
              </mc:Choice>
              <mc:Fallback>
                <p:oleObj name="公式" r:id="rId4" imgW="2032000" imgH="393700" progId="Equation.3">
                  <p:embed/>
                  <p:pic>
                    <p:nvPicPr>
                      <p:cNvPr id="38948" name="Object 3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03512" y="5834298"/>
                        <a:ext cx="5184775" cy="10048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8915">
                                            <p:txEl>
                                              <p:pRg st="0" end="0"/>
                                            </p:txEl>
                                          </p:spTgt>
                                        </p:tgtEl>
                                        <p:attrNameLst>
                                          <p:attrName>style.visibility</p:attrName>
                                        </p:attrNameLst>
                                      </p:cBhvr>
                                      <p:to>
                                        <p:strVal val="visible"/>
                                      </p:to>
                                    </p:set>
                                    <p:animEffect transition="in" filter="wipe(left)">
                                      <p:cBhvr>
                                        <p:cTn id="7" dur="500"/>
                                        <p:tgtEl>
                                          <p:spTgt spid="3891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38949"/>
                                        </p:tgtEl>
                                        <p:attrNameLst>
                                          <p:attrName>style.visibility</p:attrName>
                                        </p:attrNameLst>
                                      </p:cBhvr>
                                      <p:to>
                                        <p:strVal val="visible"/>
                                      </p:to>
                                    </p:set>
                                    <p:animEffect transition="in" filter="wipe(up)">
                                      <p:cBhvr>
                                        <p:cTn id="12" dur="500"/>
                                        <p:tgtEl>
                                          <p:spTgt spid="38949"/>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8915">
                                            <p:txEl>
                                              <p:pRg st="3" end="3"/>
                                            </p:txEl>
                                          </p:spTgt>
                                        </p:tgtEl>
                                        <p:attrNameLst>
                                          <p:attrName>style.visibility</p:attrName>
                                        </p:attrNameLst>
                                      </p:cBhvr>
                                      <p:to>
                                        <p:strVal val="visible"/>
                                      </p:to>
                                    </p:set>
                                    <p:animEffect transition="in" filter="wipe(left)">
                                      <p:cBhvr>
                                        <p:cTn id="17" dur="500"/>
                                        <p:tgtEl>
                                          <p:spTgt spid="38915">
                                            <p:txEl>
                                              <p:pRg st="3" end="3"/>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38915">
                                            <p:txEl>
                                              <p:pRg st="4" end="4"/>
                                            </p:txEl>
                                          </p:spTgt>
                                        </p:tgtEl>
                                        <p:attrNameLst>
                                          <p:attrName>style.visibility</p:attrName>
                                        </p:attrNameLst>
                                      </p:cBhvr>
                                      <p:to>
                                        <p:strVal val="visible"/>
                                      </p:to>
                                    </p:set>
                                    <p:animEffect transition="in" filter="wipe(left)">
                                      <p:cBhvr>
                                        <p:cTn id="22" dur="500"/>
                                        <p:tgtEl>
                                          <p:spTgt spid="38915">
                                            <p:txEl>
                                              <p:pRg st="4" end="4"/>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1" fill="hold" nodeType="clickEffect">
                                  <p:stCondLst>
                                    <p:cond delay="0"/>
                                  </p:stCondLst>
                                  <p:childTnLst>
                                    <p:set>
                                      <p:cBhvr>
                                        <p:cTn id="26" dur="1" fill="hold">
                                          <p:stCondLst>
                                            <p:cond delay="0"/>
                                          </p:stCondLst>
                                        </p:cTn>
                                        <p:tgtEl>
                                          <p:spTgt spid="38916"/>
                                        </p:tgtEl>
                                        <p:attrNameLst>
                                          <p:attrName>style.visibility</p:attrName>
                                        </p:attrNameLst>
                                      </p:cBhvr>
                                      <p:to>
                                        <p:strVal val="visible"/>
                                      </p:to>
                                    </p:set>
                                    <p:animEffect transition="in" filter="wipe(up)">
                                      <p:cBhvr>
                                        <p:cTn id="27" dur="500"/>
                                        <p:tgtEl>
                                          <p:spTgt spid="38916"/>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 presetClass="entr" presetSubtype="2" fill="hold" grpId="0" nodeType="clickEffect">
                                  <p:stCondLst>
                                    <p:cond delay="0"/>
                                  </p:stCondLst>
                                  <p:childTnLst>
                                    <p:set>
                                      <p:cBhvr>
                                        <p:cTn id="31" dur="1" fill="hold">
                                          <p:stCondLst>
                                            <p:cond delay="0"/>
                                          </p:stCondLst>
                                        </p:cTn>
                                        <p:tgtEl>
                                          <p:spTgt spid="38918"/>
                                        </p:tgtEl>
                                        <p:attrNameLst>
                                          <p:attrName>style.visibility</p:attrName>
                                        </p:attrNameLst>
                                      </p:cBhvr>
                                      <p:to>
                                        <p:strVal val="visible"/>
                                      </p:to>
                                    </p:set>
                                    <p:anim calcmode="lin" valueType="num">
                                      <p:cBhvr additive="base">
                                        <p:cTn id="32" dur="500" fill="hold"/>
                                        <p:tgtEl>
                                          <p:spTgt spid="38918"/>
                                        </p:tgtEl>
                                        <p:attrNameLst>
                                          <p:attrName>ppt_x</p:attrName>
                                        </p:attrNameLst>
                                      </p:cBhvr>
                                      <p:tavLst>
                                        <p:tav tm="0">
                                          <p:val>
                                            <p:strVal val="1+#ppt_w/2"/>
                                          </p:val>
                                        </p:tav>
                                        <p:tav tm="100000">
                                          <p:val>
                                            <p:strVal val="#ppt_x"/>
                                          </p:val>
                                        </p:tav>
                                      </p:tavLst>
                                    </p:anim>
                                    <p:anim calcmode="lin" valueType="num">
                                      <p:cBhvr additive="base">
                                        <p:cTn id="33" dur="500" fill="hold"/>
                                        <p:tgtEl>
                                          <p:spTgt spid="38918"/>
                                        </p:tgtEl>
                                        <p:attrNameLst>
                                          <p:attrName>ppt_y</p:attrName>
                                        </p:attrNameLst>
                                      </p:cBhvr>
                                      <p:tavLst>
                                        <p:tav tm="0">
                                          <p:val>
                                            <p:strVal val="#ppt_y"/>
                                          </p:val>
                                        </p:tav>
                                        <p:tav tm="100000">
                                          <p:val>
                                            <p:strVal val="#ppt_y"/>
                                          </p:val>
                                        </p:tav>
                                      </p:tavLst>
                                    </p:anim>
                                  </p:childTnLst>
                                </p:cTn>
                              </p:par>
                            </p:childTnLst>
                          </p:cTn>
                        </p:par>
                      </p:childTnLst>
                    </p:cTn>
                  </p:par>
                  <p:par>
                    <p:cTn id="34" fill="hold" nodeType="clickPar">
                      <p:stCondLst>
                        <p:cond delay="indefinite"/>
                      </p:stCondLst>
                      <p:childTnLst>
                        <p:par>
                          <p:cTn id="35" fill="hold" nodeType="withGroup">
                            <p:stCondLst>
                              <p:cond delay="0"/>
                            </p:stCondLst>
                            <p:childTnLst>
                              <p:par>
                                <p:cTn id="36" presetID="22" presetClass="entr" presetSubtype="1" fill="hold" nodeType="clickEffect">
                                  <p:stCondLst>
                                    <p:cond delay="0"/>
                                  </p:stCondLst>
                                  <p:childTnLst>
                                    <p:set>
                                      <p:cBhvr>
                                        <p:cTn id="37" dur="1" fill="hold">
                                          <p:stCondLst>
                                            <p:cond delay="0"/>
                                          </p:stCondLst>
                                        </p:cTn>
                                        <p:tgtEl>
                                          <p:spTgt spid="38948"/>
                                        </p:tgtEl>
                                        <p:attrNameLst>
                                          <p:attrName>style.visibility</p:attrName>
                                        </p:attrNameLst>
                                      </p:cBhvr>
                                      <p:to>
                                        <p:strVal val="visible"/>
                                      </p:to>
                                    </p:set>
                                    <p:animEffect transition="in" filter="wipe(up)">
                                      <p:cBhvr>
                                        <p:cTn id="38" dur="500"/>
                                        <p:tgtEl>
                                          <p:spTgt spid="389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915" grpId="0" build="p"/>
      <p:bldP spid="38918"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a:xfrm>
            <a:off x="1981199" y="71654"/>
            <a:ext cx="8229600" cy="1371600"/>
          </a:xfrm>
        </p:spPr>
        <p:txBody>
          <a:bodyPr/>
          <a:lstStyle/>
          <a:p>
            <a:pPr algn="ctr" eaLnBrk="1" hangingPunct="1"/>
            <a:r>
              <a:rPr lang="zh-CN" altLang="en-US" dirty="0">
                <a:solidFill>
                  <a:srgbClr val="008000"/>
                </a:solidFill>
                <a:latin typeface="黑体" panose="02010609060101010101" pitchFamily="49" charset="-122"/>
                <a:ea typeface="黑体" panose="02010609060101010101" pitchFamily="49" charset="-122"/>
              </a:rPr>
              <a:t>模糊集合的表示方法</a:t>
            </a:r>
          </a:p>
        </p:txBody>
      </p:sp>
      <p:sp>
        <p:nvSpPr>
          <p:cNvPr id="60419" name="Rectangle 3"/>
          <p:cNvSpPr>
            <a:spLocks noGrp="1" noChangeArrowheads="1"/>
          </p:cNvSpPr>
          <p:nvPr>
            <p:ph type="body" sz="half" idx="1"/>
          </p:nvPr>
        </p:nvSpPr>
        <p:spPr>
          <a:xfrm>
            <a:off x="839416" y="1412876"/>
            <a:ext cx="10729191" cy="5445125"/>
          </a:xfrm>
        </p:spPr>
        <p:txBody>
          <a:bodyPr/>
          <a:lstStyle/>
          <a:p>
            <a:pPr eaLnBrk="1" hangingPunct="1">
              <a:lnSpc>
                <a:spcPct val="90000"/>
              </a:lnSpc>
              <a:buFont typeface="Wingdings" panose="05000000000000000000" pitchFamily="2" charset="2"/>
              <a:buChar char="n"/>
            </a:pPr>
            <a:r>
              <a:rPr kumimoji="1" lang="zh-CN" altLang="en-US" sz="2800" dirty="0">
                <a:ea typeface="黑体" pitchFamily="49" charset="-122"/>
              </a:rPr>
              <a:t>设论域</a:t>
            </a:r>
            <a:r>
              <a:rPr kumimoji="1" lang="en-US" altLang="zh-CN" sz="2800" i="1" dirty="0">
                <a:ea typeface="黑体" pitchFamily="49" charset="-122"/>
              </a:rPr>
              <a:t>U </a:t>
            </a:r>
            <a:r>
              <a:rPr kumimoji="1" lang="en-US" altLang="zh-CN" sz="2800" dirty="0">
                <a:ea typeface="黑体" pitchFamily="49" charset="-122"/>
              </a:rPr>
              <a:t>= {1,2,3,4,5,6}</a:t>
            </a:r>
            <a:r>
              <a:rPr kumimoji="1" lang="zh-CN" altLang="en-US" sz="2800" dirty="0">
                <a:ea typeface="黑体" pitchFamily="49" charset="-122"/>
              </a:rPr>
              <a:t>，</a:t>
            </a:r>
            <a:r>
              <a:rPr kumimoji="1" lang="en-US" altLang="zh-CN" sz="2800" dirty="0">
                <a:ea typeface="黑体" pitchFamily="49" charset="-122"/>
              </a:rPr>
              <a:t>A</a:t>
            </a:r>
            <a:r>
              <a:rPr kumimoji="1" lang="zh-CN" altLang="en-US" sz="2800" dirty="0">
                <a:ea typeface="黑体" pitchFamily="49" charset="-122"/>
              </a:rPr>
              <a:t>表示“</a:t>
            </a:r>
            <a:r>
              <a:rPr kumimoji="1" lang="zh-CN" altLang="en-US" sz="2800" dirty="0">
                <a:solidFill>
                  <a:srgbClr val="3333FF"/>
                </a:solidFill>
                <a:ea typeface="黑体" pitchFamily="49" charset="-122"/>
              </a:rPr>
              <a:t>靠近</a:t>
            </a:r>
            <a:r>
              <a:rPr kumimoji="1" lang="en-US" altLang="zh-CN" sz="2800" dirty="0">
                <a:solidFill>
                  <a:srgbClr val="3333FF"/>
                </a:solidFill>
                <a:ea typeface="黑体" pitchFamily="49" charset="-122"/>
              </a:rPr>
              <a:t>4</a:t>
            </a:r>
            <a:r>
              <a:rPr kumimoji="1" lang="en-US" altLang="zh-CN" sz="2800" dirty="0">
                <a:ea typeface="黑体" pitchFamily="49" charset="-122"/>
              </a:rPr>
              <a:t>”</a:t>
            </a:r>
            <a:r>
              <a:rPr kumimoji="1" lang="zh-CN" altLang="en-US" sz="2800" dirty="0">
                <a:ea typeface="黑体" pitchFamily="49" charset="-122"/>
              </a:rPr>
              <a:t>的数集，则</a:t>
            </a:r>
            <a:r>
              <a:rPr kumimoji="1" lang="en-US" altLang="zh-CN" sz="2800" dirty="0">
                <a:ea typeface="黑体" pitchFamily="49" charset="-122"/>
              </a:rPr>
              <a:t>A</a:t>
            </a:r>
            <a:r>
              <a:rPr kumimoji="1" lang="en-US" altLang="zh-CN" sz="2800" b="1" dirty="0">
                <a:sym typeface="Symbol" pitchFamily="18" charset="2"/>
              </a:rPr>
              <a:t></a:t>
            </a:r>
            <a:r>
              <a:rPr kumimoji="1" lang="en-US" altLang="zh-CN" sz="2800" b="1" dirty="0">
                <a:latin typeface="Vladimir Script" pitchFamily="66" charset="0"/>
                <a:ea typeface="黑体" pitchFamily="49" charset="-122"/>
              </a:rPr>
              <a:t> </a:t>
            </a:r>
            <a:r>
              <a:rPr lang="en-US" altLang="zh-CN" sz="2800" b="1" dirty="0">
                <a:latin typeface="Monotype Corsiva" pitchFamily="66" charset="0"/>
                <a:sym typeface="Symbol" pitchFamily="18" charset="2"/>
              </a:rPr>
              <a:t>F </a:t>
            </a:r>
            <a:r>
              <a:rPr kumimoji="1" lang="en-US" altLang="zh-CN" sz="2800" dirty="0">
                <a:ea typeface="黑体" pitchFamily="49" charset="-122"/>
              </a:rPr>
              <a:t>(U)</a:t>
            </a:r>
            <a:r>
              <a:rPr kumimoji="1" lang="zh-CN" altLang="en-US" sz="2800" dirty="0">
                <a:ea typeface="黑体" pitchFamily="49" charset="-122"/>
              </a:rPr>
              <a:t>，各数属于</a:t>
            </a:r>
            <a:r>
              <a:rPr kumimoji="1" lang="en-US" altLang="zh-CN" sz="2800" dirty="0">
                <a:ea typeface="黑体" pitchFamily="49" charset="-122"/>
              </a:rPr>
              <a:t>A</a:t>
            </a:r>
            <a:r>
              <a:rPr kumimoji="1" lang="zh-CN" altLang="en-US" sz="2800" dirty="0">
                <a:ea typeface="黑体" pitchFamily="49" charset="-122"/>
              </a:rPr>
              <a:t>的程度</a:t>
            </a:r>
            <a:r>
              <a:rPr kumimoji="1" lang="en-US" altLang="zh-CN" sz="2800" dirty="0">
                <a:ea typeface="黑体" pitchFamily="49" charset="-122"/>
              </a:rPr>
              <a:t>A(u)</a:t>
            </a:r>
            <a:r>
              <a:rPr kumimoji="1" lang="zh-CN" altLang="en-US" sz="2800" dirty="0">
                <a:ea typeface="黑体" pitchFamily="49" charset="-122"/>
              </a:rPr>
              <a:t>如下：</a:t>
            </a:r>
          </a:p>
          <a:p>
            <a:pPr eaLnBrk="1" hangingPunct="1">
              <a:lnSpc>
                <a:spcPct val="90000"/>
              </a:lnSpc>
            </a:pPr>
            <a:endParaRPr lang="zh-CN" altLang="en-US" dirty="0"/>
          </a:p>
          <a:p>
            <a:pPr eaLnBrk="1" hangingPunct="1">
              <a:lnSpc>
                <a:spcPct val="90000"/>
              </a:lnSpc>
            </a:pPr>
            <a:endParaRPr lang="zh-CN" altLang="en-US" sz="2400" dirty="0"/>
          </a:p>
          <a:p>
            <a:pPr eaLnBrk="1" hangingPunct="1">
              <a:lnSpc>
                <a:spcPct val="90000"/>
              </a:lnSpc>
            </a:pPr>
            <a:endParaRPr lang="zh-CN" altLang="en-US" dirty="0">
              <a:solidFill>
                <a:srgbClr val="FF0000"/>
              </a:solidFill>
              <a:ea typeface="黑体" pitchFamily="49" charset="-122"/>
            </a:endParaRPr>
          </a:p>
          <a:p>
            <a:pPr eaLnBrk="1" hangingPunct="1">
              <a:lnSpc>
                <a:spcPct val="90000"/>
              </a:lnSpc>
              <a:buFont typeface="Wingdings" panose="05000000000000000000" pitchFamily="2" charset="2"/>
              <a:buChar char="n"/>
            </a:pPr>
            <a:r>
              <a:rPr lang="zh-CN" altLang="en-US" sz="3200" dirty="0">
                <a:solidFill>
                  <a:srgbClr val="FF0000"/>
                </a:solidFill>
                <a:ea typeface="黑体" pitchFamily="49" charset="-122"/>
              </a:rPr>
              <a:t>矢量表示方法</a:t>
            </a:r>
            <a:r>
              <a:rPr lang="zh-CN" altLang="en-US" sz="3200" dirty="0">
                <a:solidFill>
                  <a:srgbClr val="FF0000"/>
                </a:solidFill>
              </a:rPr>
              <a:t>：</a:t>
            </a:r>
          </a:p>
          <a:p>
            <a:pPr marL="0" indent="0" eaLnBrk="1" hangingPunct="1">
              <a:lnSpc>
                <a:spcPct val="90000"/>
              </a:lnSpc>
              <a:buNone/>
            </a:pPr>
            <a:r>
              <a:rPr lang="zh-CN" altLang="en-US" sz="2800" b="1" dirty="0">
                <a:latin typeface="+mn-lt"/>
              </a:rPr>
              <a:t>   当</a:t>
            </a:r>
            <a:r>
              <a:rPr lang="en-US" altLang="zh-CN" sz="2800" b="1" dirty="0">
                <a:latin typeface="+mn-lt"/>
              </a:rPr>
              <a:t>U</a:t>
            </a:r>
            <a:r>
              <a:rPr lang="zh-CN" altLang="en-US" sz="2800" b="1" dirty="0">
                <a:latin typeface="+mn-lt"/>
              </a:rPr>
              <a:t>为离散论域</a:t>
            </a:r>
            <a:r>
              <a:rPr lang="en-US" altLang="zh-CN" sz="2800" b="1" dirty="0">
                <a:latin typeface="+mn-lt"/>
              </a:rPr>
              <a:t>{</a:t>
            </a:r>
            <a:r>
              <a:rPr lang="en-US" altLang="zh-CN" sz="2400" b="1" dirty="0">
                <a:latin typeface="+mn-lt"/>
              </a:rPr>
              <a:t>u</a:t>
            </a:r>
            <a:r>
              <a:rPr lang="en-US" altLang="zh-CN" sz="2400" b="1" baseline="-25000" dirty="0">
                <a:latin typeface="+mn-lt"/>
              </a:rPr>
              <a:t>1</a:t>
            </a:r>
            <a:r>
              <a:rPr lang="en-US" altLang="zh-CN" sz="2400" b="1" dirty="0">
                <a:latin typeface="+mn-lt"/>
              </a:rPr>
              <a:t>,u</a:t>
            </a:r>
            <a:r>
              <a:rPr lang="en-US" altLang="zh-CN" sz="2400" b="1" baseline="-25000" dirty="0">
                <a:latin typeface="+mn-lt"/>
              </a:rPr>
              <a:t>2</a:t>
            </a:r>
            <a:r>
              <a:rPr lang="en-US" altLang="zh-CN" sz="2400" b="1" dirty="0">
                <a:latin typeface="+mn-lt"/>
              </a:rPr>
              <a:t>,…,u</a:t>
            </a:r>
            <a:r>
              <a:rPr lang="en-US" altLang="zh-CN" sz="2400" b="1" baseline="-25000" dirty="0">
                <a:latin typeface="+mn-lt"/>
              </a:rPr>
              <a:t>n</a:t>
            </a:r>
            <a:r>
              <a:rPr lang="en-US" altLang="zh-CN" sz="2800" b="1" dirty="0">
                <a:latin typeface="+mn-lt"/>
              </a:rPr>
              <a:t>}</a:t>
            </a:r>
            <a:r>
              <a:rPr lang="zh-CN" altLang="en-US" sz="2800" b="1" dirty="0">
                <a:latin typeface="+mn-lt"/>
              </a:rPr>
              <a:t>时，</a:t>
            </a:r>
          </a:p>
          <a:p>
            <a:pPr marL="0" indent="0" eaLnBrk="1" hangingPunct="1">
              <a:lnSpc>
                <a:spcPct val="90000"/>
              </a:lnSpc>
              <a:buNone/>
            </a:pPr>
            <a:r>
              <a:rPr lang="en-US" altLang="zh-CN" sz="2800" dirty="0">
                <a:solidFill>
                  <a:srgbClr val="3333FF"/>
                </a:solidFill>
                <a:latin typeface="+mn-lt"/>
              </a:rPr>
              <a:t>     A = </a:t>
            </a:r>
            <a:r>
              <a:rPr lang="en-US" altLang="zh-CN" sz="2800" dirty="0">
                <a:solidFill>
                  <a:srgbClr val="FF0000"/>
                </a:solidFill>
                <a:latin typeface="+mn-lt"/>
              </a:rPr>
              <a:t>(</a:t>
            </a:r>
            <a:r>
              <a:rPr lang="en-US" altLang="zh-CN" sz="2800" dirty="0">
                <a:solidFill>
                  <a:srgbClr val="3333FF"/>
                </a:solidFill>
                <a:latin typeface="+mn-lt"/>
              </a:rPr>
              <a:t>A(u</a:t>
            </a:r>
            <a:r>
              <a:rPr lang="en-US" altLang="zh-CN" sz="2400" baseline="-25000" dirty="0">
                <a:solidFill>
                  <a:srgbClr val="3333FF"/>
                </a:solidFill>
                <a:latin typeface="+mn-lt"/>
              </a:rPr>
              <a:t>1</a:t>
            </a:r>
            <a:r>
              <a:rPr lang="en-US" altLang="zh-CN" sz="2800" dirty="0">
                <a:solidFill>
                  <a:srgbClr val="3333FF"/>
                </a:solidFill>
                <a:latin typeface="+mn-lt"/>
              </a:rPr>
              <a:t>),A(u</a:t>
            </a:r>
            <a:r>
              <a:rPr lang="en-US" altLang="zh-CN" sz="2400" baseline="-25000" dirty="0">
                <a:solidFill>
                  <a:srgbClr val="3333FF"/>
                </a:solidFill>
                <a:latin typeface="+mn-lt"/>
              </a:rPr>
              <a:t>2</a:t>
            </a:r>
            <a:r>
              <a:rPr lang="en-US" altLang="zh-CN" sz="2800" dirty="0">
                <a:solidFill>
                  <a:srgbClr val="3333FF"/>
                </a:solidFill>
                <a:latin typeface="+mn-lt"/>
              </a:rPr>
              <a:t>),…,A(u</a:t>
            </a:r>
            <a:r>
              <a:rPr lang="en-US" altLang="zh-CN" sz="2400" baseline="-25000" dirty="0">
                <a:solidFill>
                  <a:srgbClr val="3333FF"/>
                </a:solidFill>
                <a:latin typeface="+mn-lt"/>
              </a:rPr>
              <a:t>n</a:t>
            </a:r>
            <a:r>
              <a:rPr lang="en-US" altLang="zh-CN" sz="2800" dirty="0">
                <a:solidFill>
                  <a:srgbClr val="3333FF"/>
                </a:solidFill>
                <a:latin typeface="+mn-lt"/>
              </a:rPr>
              <a:t>)</a:t>
            </a:r>
            <a:r>
              <a:rPr lang="en-US" altLang="zh-CN" sz="2800" dirty="0">
                <a:solidFill>
                  <a:srgbClr val="FF0000"/>
                </a:solidFill>
                <a:latin typeface="+mn-lt"/>
              </a:rPr>
              <a:t>)</a:t>
            </a:r>
          </a:p>
          <a:p>
            <a:pPr eaLnBrk="1" hangingPunct="1">
              <a:lnSpc>
                <a:spcPct val="90000"/>
              </a:lnSpc>
            </a:pPr>
            <a:r>
              <a:rPr lang="zh-CN" altLang="en-US" sz="3200" dirty="0">
                <a:latin typeface="+mn-lt"/>
              </a:rPr>
              <a:t>例：</a:t>
            </a:r>
            <a:r>
              <a:rPr lang="en-US" altLang="zh-CN" sz="3200" dirty="0">
                <a:latin typeface="+mn-lt"/>
              </a:rPr>
              <a:t>A=</a:t>
            </a:r>
            <a:r>
              <a:rPr lang="en-US" altLang="zh-CN" sz="3200" dirty="0">
                <a:solidFill>
                  <a:srgbClr val="FF0000"/>
                </a:solidFill>
                <a:latin typeface="+mn-lt"/>
              </a:rPr>
              <a:t> ( </a:t>
            </a:r>
            <a:r>
              <a:rPr lang="en-US" altLang="zh-CN" sz="3200" dirty="0">
                <a:solidFill>
                  <a:srgbClr val="CC00FF"/>
                </a:solidFill>
                <a:latin typeface="+mn-lt"/>
              </a:rPr>
              <a:t>0</a:t>
            </a:r>
            <a:r>
              <a:rPr lang="en-US" altLang="zh-CN" sz="3200" dirty="0">
                <a:latin typeface="+mn-lt"/>
              </a:rPr>
              <a:t>, 0.2, 0.8, 1, 0.8, 0.2</a:t>
            </a:r>
            <a:r>
              <a:rPr lang="en-US" altLang="zh-CN" sz="3200" dirty="0">
                <a:solidFill>
                  <a:srgbClr val="FF0000"/>
                </a:solidFill>
                <a:latin typeface="+mn-lt"/>
              </a:rPr>
              <a:t>)</a:t>
            </a:r>
            <a:endParaRPr lang="en-US" altLang="zh-CN" sz="3200" dirty="0">
              <a:latin typeface="+mn-lt"/>
            </a:endParaRPr>
          </a:p>
          <a:p>
            <a:pPr eaLnBrk="1" hangingPunct="1">
              <a:lnSpc>
                <a:spcPct val="90000"/>
              </a:lnSpc>
            </a:pPr>
            <a:r>
              <a:rPr lang="zh-CN" altLang="en-US" sz="2800" dirty="0">
                <a:solidFill>
                  <a:srgbClr val="008000"/>
                </a:solidFill>
                <a:ea typeface="黑体" pitchFamily="49" charset="-122"/>
              </a:rPr>
              <a:t>注意</a:t>
            </a:r>
            <a:r>
              <a:rPr lang="zh-CN" altLang="en-US" sz="2800" dirty="0">
                <a:solidFill>
                  <a:srgbClr val="008000"/>
                </a:solidFill>
              </a:rPr>
              <a:t>：</a:t>
            </a:r>
            <a:r>
              <a:rPr lang="en-US" altLang="zh-CN" sz="2800" dirty="0">
                <a:ea typeface="黑体" pitchFamily="49" charset="-122"/>
              </a:rPr>
              <a:t>A</a:t>
            </a:r>
            <a:r>
              <a:rPr lang="zh-CN" altLang="en-US" sz="2800" dirty="0">
                <a:ea typeface="黑体" pitchFamily="49" charset="-122"/>
              </a:rPr>
              <a:t>中的元素次序不能随意调换，隶属度为</a:t>
            </a:r>
            <a:r>
              <a:rPr lang="en-US" altLang="zh-CN" sz="2800" dirty="0">
                <a:solidFill>
                  <a:srgbClr val="CC00FF"/>
                </a:solidFill>
                <a:ea typeface="黑体" pitchFamily="49" charset="-122"/>
              </a:rPr>
              <a:t>0</a:t>
            </a:r>
            <a:r>
              <a:rPr lang="zh-CN" altLang="en-US" sz="2800" dirty="0">
                <a:ea typeface="黑体" pitchFamily="49" charset="-122"/>
              </a:rPr>
              <a:t>的项不能舍弃。</a:t>
            </a:r>
          </a:p>
        </p:txBody>
      </p:sp>
      <p:graphicFrame>
        <p:nvGraphicFramePr>
          <p:cNvPr id="60422" name="Group 6"/>
          <p:cNvGraphicFramePr>
            <a:graphicFrameLocks noGrp="1"/>
          </p:cNvGraphicFramePr>
          <p:nvPr>
            <p:ph sz="quarter" idx="2"/>
          </p:nvPr>
        </p:nvGraphicFramePr>
        <p:xfrm>
          <a:off x="2567781" y="2492374"/>
          <a:ext cx="7056437" cy="936626"/>
        </p:xfrm>
        <a:graphic>
          <a:graphicData uri="http://schemas.openxmlformats.org/drawingml/2006/table">
            <a:tbl>
              <a:tblPr/>
              <a:tblGrid>
                <a:gridCol w="1008062">
                  <a:extLst>
                    <a:ext uri="{9D8B030D-6E8A-4147-A177-3AD203B41FA5}">
                      <a16:colId xmlns:a16="http://schemas.microsoft.com/office/drawing/2014/main" val="20000"/>
                    </a:ext>
                  </a:extLst>
                </a:gridCol>
                <a:gridCol w="1008063">
                  <a:extLst>
                    <a:ext uri="{9D8B030D-6E8A-4147-A177-3AD203B41FA5}">
                      <a16:colId xmlns:a16="http://schemas.microsoft.com/office/drawing/2014/main" val="20001"/>
                    </a:ext>
                  </a:extLst>
                </a:gridCol>
                <a:gridCol w="1008062">
                  <a:extLst>
                    <a:ext uri="{9D8B030D-6E8A-4147-A177-3AD203B41FA5}">
                      <a16:colId xmlns:a16="http://schemas.microsoft.com/office/drawing/2014/main" val="20002"/>
                    </a:ext>
                  </a:extLst>
                </a:gridCol>
                <a:gridCol w="1008063">
                  <a:extLst>
                    <a:ext uri="{9D8B030D-6E8A-4147-A177-3AD203B41FA5}">
                      <a16:colId xmlns:a16="http://schemas.microsoft.com/office/drawing/2014/main" val="20003"/>
                    </a:ext>
                  </a:extLst>
                </a:gridCol>
                <a:gridCol w="1008062">
                  <a:extLst>
                    <a:ext uri="{9D8B030D-6E8A-4147-A177-3AD203B41FA5}">
                      <a16:colId xmlns:a16="http://schemas.microsoft.com/office/drawing/2014/main" val="20004"/>
                    </a:ext>
                  </a:extLst>
                </a:gridCol>
                <a:gridCol w="1008063">
                  <a:extLst>
                    <a:ext uri="{9D8B030D-6E8A-4147-A177-3AD203B41FA5}">
                      <a16:colId xmlns:a16="http://schemas.microsoft.com/office/drawing/2014/main" val="20005"/>
                    </a:ext>
                  </a:extLst>
                </a:gridCol>
                <a:gridCol w="1008062">
                  <a:extLst>
                    <a:ext uri="{9D8B030D-6E8A-4147-A177-3AD203B41FA5}">
                      <a16:colId xmlns:a16="http://schemas.microsoft.com/office/drawing/2014/main" val="20006"/>
                    </a:ext>
                  </a:extLst>
                </a:gridCol>
              </a:tblGrid>
              <a:tr h="468313">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400" b="0" i="0" u="none" strike="noStrike" cap="none" normalizeH="0" baseline="0">
                          <a:ln>
                            <a:noFill/>
                          </a:ln>
                          <a:solidFill>
                            <a:schemeClr val="tx1"/>
                          </a:solidFill>
                          <a:effectLst/>
                          <a:latin typeface="Arial" charset="0"/>
                          <a:ea typeface="宋体" pitchFamily="2" charset="-122"/>
                        </a:rPr>
                        <a:t>u</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99FF66"/>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400" b="0" i="0" u="none" strike="noStrike" cap="none" normalizeH="0" baseline="0">
                          <a:ln>
                            <a:noFill/>
                          </a:ln>
                          <a:solidFill>
                            <a:schemeClr val="tx1"/>
                          </a:solidFill>
                          <a:effectLst/>
                          <a:latin typeface="Arial" charset="0"/>
                          <a:ea typeface="宋体"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99FF66"/>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400" b="0" i="0" u="none" strike="noStrike" cap="none" normalizeH="0" baseline="0">
                          <a:ln>
                            <a:noFill/>
                          </a:ln>
                          <a:solidFill>
                            <a:schemeClr val="tx1"/>
                          </a:solidFill>
                          <a:effectLst/>
                          <a:latin typeface="Arial" charset="0"/>
                          <a:ea typeface="宋体" pitchFamily="2" charset="-122"/>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99FF66"/>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400" b="0" i="0" u="none" strike="noStrike" cap="none" normalizeH="0" baseline="0">
                          <a:ln>
                            <a:noFill/>
                          </a:ln>
                          <a:solidFill>
                            <a:schemeClr val="tx1"/>
                          </a:solidFill>
                          <a:effectLst/>
                          <a:latin typeface="Arial" charset="0"/>
                          <a:ea typeface="宋体" pitchFamily="2" charset="-122"/>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99FF66"/>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400" b="0" i="0" u="none" strike="noStrike" cap="none" normalizeH="0" baseline="0">
                          <a:ln>
                            <a:noFill/>
                          </a:ln>
                          <a:solidFill>
                            <a:schemeClr val="tx1"/>
                          </a:solidFill>
                          <a:effectLst/>
                          <a:latin typeface="Arial" charset="0"/>
                          <a:ea typeface="宋体" pitchFamily="2" charset="-122"/>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99FF66"/>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400" b="0" i="0" u="none" strike="noStrike" cap="none" normalizeH="0" baseline="0">
                          <a:ln>
                            <a:noFill/>
                          </a:ln>
                          <a:solidFill>
                            <a:schemeClr val="tx1"/>
                          </a:solidFill>
                          <a:effectLst/>
                          <a:latin typeface="Arial" charset="0"/>
                          <a:ea typeface="宋体" pitchFamily="2" charset="-122"/>
                        </a:rPr>
                        <a:t>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99FF66"/>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400" b="0" i="0" u="none" strike="noStrike" cap="none" normalizeH="0" baseline="0">
                          <a:ln>
                            <a:noFill/>
                          </a:ln>
                          <a:solidFill>
                            <a:schemeClr val="tx1"/>
                          </a:solidFill>
                          <a:effectLst/>
                          <a:latin typeface="Arial" charset="0"/>
                          <a:ea typeface="宋体" pitchFamily="2" charset="-122"/>
                        </a:rPr>
                        <a:t>6</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99FF66"/>
                    </a:solidFill>
                  </a:tcPr>
                </a:tc>
                <a:extLst>
                  <a:ext uri="{0D108BD9-81ED-4DB2-BD59-A6C34878D82A}">
                    <a16:rowId xmlns:a16="http://schemas.microsoft.com/office/drawing/2014/main" val="10000"/>
                  </a:ext>
                </a:extLst>
              </a:tr>
              <a:tr h="468313">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400" b="0" i="0" u="none" strike="noStrike" cap="none" normalizeH="0" baseline="0">
                          <a:ln>
                            <a:noFill/>
                          </a:ln>
                          <a:solidFill>
                            <a:schemeClr val="tx1"/>
                          </a:solidFill>
                          <a:effectLst/>
                          <a:latin typeface="Arial" charset="0"/>
                          <a:ea typeface="宋体" pitchFamily="2" charset="-122"/>
                        </a:rPr>
                        <a:t>A(u)</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99FF66"/>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400" b="0" i="0" u="none" strike="noStrike" cap="none" normalizeH="0" baseline="0">
                          <a:ln>
                            <a:noFill/>
                          </a:ln>
                          <a:solidFill>
                            <a:schemeClr val="tx1"/>
                          </a:solidFill>
                          <a:effectLst/>
                          <a:latin typeface="Arial" charset="0"/>
                          <a:ea typeface="宋体"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99FF66"/>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400" b="0" i="0" u="none" strike="noStrike" cap="none" normalizeH="0" baseline="0">
                          <a:ln>
                            <a:noFill/>
                          </a:ln>
                          <a:solidFill>
                            <a:schemeClr val="tx1"/>
                          </a:solidFill>
                          <a:effectLst/>
                          <a:latin typeface="Arial" charset="0"/>
                          <a:ea typeface="宋体" pitchFamily="2" charset="-122"/>
                        </a:rPr>
                        <a:t>0.2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99FF66"/>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400" b="0" i="0" u="none" strike="noStrike" cap="none" normalizeH="0" baseline="0">
                          <a:ln>
                            <a:noFill/>
                          </a:ln>
                          <a:solidFill>
                            <a:schemeClr val="tx1"/>
                          </a:solidFill>
                          <a:effectLst/>
                          <a:latin typeface="Arial" charset="0"/>
                          <a:ea typeface="宋体" pitchFamily="2" charset="-122"/>
                        </a:rPr>
                        <a:t>0.8</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99FF66"/>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400" b="0" i="0" u="none" strike="noStrike" cap="none" normalizeH="0" baseline="0">
                          <a:ln>
                            <a:noFill/>
                          </a:ln>
                          <a:solidFill>
                            <a:schemeClr val="tx1"/>
                          </a:solidFill>
                          <a:effectLst/>
                          <a:latin typeface="Arial" charset="0"/>
                          <a:ea typeface="宋体"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99FF66"/>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400" b="0" i="0" u="none" strike="noStrike" cap="none" normalizeH="0" baseline="0">
                          <a:ln>
                            <a:noFill/>
                          </a:ln>
                          <a:solidFill>
                            <a:schemeClr val="tx1"/>
                          </a:solidFill>
                          <a:effectLst/>
                          <a:latin typeface="Arial" charset="0"/>
                          <a:ea typeface="宋体" pitchFamily="2" charset="-122"/>
                        </a:rPr>
                        <a:t>0.8</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99FF66"/>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400" b="0" i="0" u="none" strike="noStrike" cap="none" normalizeH="0" baseline="0" dirty="0">
                          <a:ln>
                            <a:noFill/>
                          </a:ln>
                          <a:solidFill>
                            <a:schemeClr val="tx1"/>
                          </a:solidFill>
                          <a:effectLst/>
                          <a:latin typeface="Arial" charset="0"/>
                          <a:ea typeface="宋体" pitchFamily="2" charset="-122"/>
                        </a:rPr>
                        <a:t>0.2</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99FF66"/>
                    </a:solidFill>
                  </a:tcPr>
                </a:tc>
                <a:extLst>
                  <a:ext uri="{0D108BD9-81ED-4DB2-BD59-A6C34878D82A}">
                    <a16:rowId xmlns:a16="http://schemas.microsoft.com/office/drawing/2014/main" val="10001"/>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0419">
                                            <p:txEl>
                                              <p:pRg st="4" end="4"/>
                                            </p:txEl>
                                          </p:spTgt>
                                        </p:tgtEl>
                                        <p:attrNameLst>
                                          <p:attrName>style.visibility</p:attrName>
                                        </p:attrNameLst>
                                      </p:cBhvr>
                                      <p:to>
                                        <p:strVal val="visible"/>
                                      </p:to>
                                    </p:set>
                                    <p:animEffect transition="in" filter="wipe(left)">
                                      <p:cBhvr>
                                        <p:cTn id="7" dur="500"/>
                                        <p:tgtEl>
                                          <p:spTgt spid="60419">
                                            <p:txEl>
                                              <p:pRg st="4" end="4"/>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0419">
                                            <p:txEl>
                                              <p:pRg st="5" end="5"/>
                                            </p:txEl>
                                          </p:spTgt>
                                        </p:tgtEl>
                                        <p:attrNameLst>
                                          <p:attrName>style.visibility</p:attrName>
                                        </p:attrNameLst>
                                      </p:cBhvr>
                                      <p:to>
                                        <p:strVal val="visible"/>
                                      </p:to>
                                    </p:set>
                                    <p:animEffect transition="in" filter="wipe(left)">
                                      <p:cBhvr>
                                        <p:cTn id="12" dur="500"/>
                                        <p:tgtEl>
                                          <p:spTgt spid="60419">
                                            <p:txEl>
                                              <p:pRg st="5" end="5"/>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60419">
                                            <p:txEl>
                                              <p:pRg st="6" end="6"/>
                                            </p:txEl>
                                          </p:spTgt>
                                        </p:tgtEl>
                                        <p:attrNameLst>
                                          <p:attrName>style.visibility</p:attrName>
                                        </p:attrNameLst>
                                      </p:cBhvr>
                                      <p:to>
                                        <p:strVal val="visible"/>
                                      </p:to>
                                    </p:set>
                                    <p:animEffect transition="in" filter="wipe(left)">
                                      <p:cBhvr>
                                        <p:cTn id="17" dur="500"/>
                                        <p:tgtEl>
                                          <p:spTgt spid="60419">
                                            <p:txEl>
                                              <p:pRg st="6" end="6"/>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60419">
                                            <p:txEl>
                                              <p:pRg st="7" end="7"/>
                                            </p:txEl>
                                          </p:spTgt>
                                        </p:tgtEl>
                                        <p:attrNameLst>
                                          <p:attrName>style.visibility</p:attrName>
                                        </p:attrNameLst>
                                      </p:cBhvr>
                                      <p:to>
                                        <p:strVal val="visible"/>
                                      </p:to>
                                    </p:set>
                                    <p:animEffect transition="in" filter="wipe(left)">
                                      <p:cBhvr>
                                        <p:cTn id="22" dur="500"/>
                                        <p:tgtEl>
                                          <p:spTgt spid="60419">
                                            <p:txEl>
                                              <p:pRg st="7" end="7"/>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60419">
                                            <p:txEl>
                                              <p:pRg st="8" end="8"/>
                                            </p:txEl>
                                          </p:spTgt>
                                        </p:tgtEl>
                                        <p:attrNameLst>
                                          <p:attrName>style.visibility</p:attrName>
                                        </p:attrNameLst>
                                      </p:cBhvr>
                                      <p:to>
                                        <p:strVal val="visible"/>
                                      </p:to>
                                    </p:set>
                                    <p:animEffect transition="in" filter="wipe(left)">
                                      <p:cBhvr>
                                        <p:cTn id="27" dur="500"/>
                                        <p:tgtEl>
                                          <p:spTgt spid="60419">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419" grpId="0" build="p"/>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a:xfrm>
            <a:off x="1992313" y="188913"/>
            <a:ext cx="8229600" cy="1371600"/>
          </a:xfrm>
        </p:spPr>
        <p:txBody>
          <a:bodyPr/>
          <a:lstStyle/>
          <a:p>
            <a:pPr algn="ctr" eaLnBrk="1" hangingPunct="1"/>
            <a:r>
              <a:rPr lang="zh-CN" altLang="en-US" dirty="0">
                <a:solidFill>
                  <a:srgbClr val="008000"/>
                </a:solidFill>
                <a:latin typeface="黑体" panose="02010609060101010101" pitchFamily="49" charset="-122"/>
                <a:ea typeface="黑体" panose="02010609060101010101" pitchFamily="49" charset="-122"/>
              </a:rPr>
              <a:t>模糊集合的表示方法</a:t>
            </a:r>
          </a:p>
        </p:txBody>
      </p:sp>
      <p:sp>
        <p:nvSpPr>
          <p:cNvPr id="61443" name="Rectangle 3"/>
          <p:cNvSpPr>
            <a:spLocks noGrp="1" noChangeArrowheads="1"/>
          </p:cNvSpPr>
          <p:nvPr>
            <p:ph type="body" sz="half" idx="1"/>
          </p:nvPr>
        </p:nvSpPr>
        <p:spPr>
          <a:xfrm>
            <a:off x="911424" y="1412876"/>
            <a:ext cx="10513167" cy="5040313"/>
          </a:xfrm>
        </p:spPr>
        <p:txBody>
          <a:bodyPr/>
          <a:lstStyle/>
          <a:p>
            <a:pPr eaLnBrk="1" hangingPunct="1"/>
            <a:r>
              <a:rPr kumimoji="1" lang="zh-CN" altLang="en-US" sz="2800" dirty="0">
                <a:ea typeface="黑体" pitchFamily="49" charset="-122"/>
              </a:rPr>
              <a:t>设论域</a:t>
            </a:r>
            <a:r>
              <a:rPr kumimoji="1" lang="en-US" altLang="zh-CN" sz="2800" i="1" dirty="0">
                <a:ea typeface="黑体" pitchFamily="49" charset="-122"/>
              </a:rPr>
              <a:t>U </a:t>
            </a:r>
            <a:r>
              <a:rPr kumimoji="1" lang="en-US" altLang="zh-CN" sz="2800" dirty="0">
                <a:ea typeface="黑体" pitchFamily="49" charset="-122"/>
              </a:rPr>
              <a:t>= {1,2,3,4,5,6}</a:t>
            </a:r>
            <a:r>
              <a:rPr kumimoji="1" lang="zh-CN" altLang="en-US" sz="2800" dirty="0">
                <a:ea typeface="黑体" pitchFamily="49" charset="-122"/>
              </a:rPr>
              <a:t>，</a:t>
            </a:r>
            <a:r>
              <a:rPr kumimoji="1" lang="en-US" altLang="zh-CN" sz="2800" dirty="0">
                <a:ea typeface="黑体" pitchFamily="49" charset="-122"/>
              </a:rPr>
              <a:t>A</a:t>
            </a:r>
            <a:r>
              <a:rPr kumimoji="1" lang="zh-CN" altLang="en-US" sz="2800" dirty="0">
                <a:ea typeface="黑体" pitchFamily="49" charset="-122"/>
              </a:rPr>
              <a:t>表示“靠近</a:t>
            </a:r>
            <a:r>
              <a:rPr kumimoji="1" lang="en-US" altLang="zh-CN" sz="2800" dirty="0">
                <a:ea typeface="黑体" pitchFamily="49" charset="-122"/>
              </a:rPr>
              <a:t>4”</a:t>
            </a:r>
            <a:r>
              <a:rPr kumimoji="1" lang="zh-CN" altLang="en-US" sz="2800" dirty="0">
                <a:ea typeface="黑体" pitchFamily="49" charset="-122"/>
              </a:rPr>
              <a:t>的数集，则</a:t>
            </a:r>
            <a:r>
              <a:rPr kumimoji="1" lang="en-US" altLang="zh-CN" sz="2800" dirty="0">
                <a:ea typeface="黑体" pitchFamily="49" charset="-122"/>
              </a:rPr>
              <a:t>A</a:t>
            </a:r>
            <a:r>
              <a:rPr kumimoji="1" lang="en-US" altLang="zh-CN" sz="2800" b="1" dirty="0">
                <a:sym typeface="Symbol" pitchFamily="18" charset="2"/>
              </a:rPr>
              <a:t></a:t>
            </a:r>
            <a:r>
              <a:rPr kumimoji="1" lang="en-US" altLang="zh-CN" sz="2800" b="1" dirty="0">
                <a:latin typeface="Vladimir Script" pitchFamily="66" charset="0"/>
                <a:ea typeface="黑体" pitchFamily="49" charset="-122"/>
              </a:rPr>
              <a:t> </a:t>
            </a:r>
            <a:r>
              <a:rPr lang="en-US" altLang="zh-CN" sz="2800" b="1" dirty="0">
                <a:latin typeface="Monotype Corsiva" pitchFamily="66" charset="0"/>
                <a:sym typeface="Symbol" pitchFamily="18" charset="2"/>
              </a:rPr>
              <a:t>F </a:t>
            </a:r>
            <a:r>
              <a:rPr kumimoji="1" lang="en-US" altLang="zh-CN" sz="2800" dirty="0">
                <a:ea typeface="黑体" pitchFamily="49" charset="-122"/>
              </a:rPr>
              <a:t>(U)</a:t>
            </a:r>
            <a:r>
              <a:rPr kumimoji="1" lang="zh-CN" altLang="en-US" sz="2800" dirty="0">
                <a:ea typeface="黑体" pitchFamily="49" charset="-122"/>
              </a:rPr>
              <a:t>，各数属于</a:t>
            </a:r>
            <a:r>
              <a:rPr kumimoji="1" lang="en-US" altLang="zh-CN" sz="2800" dirty="0">
                <a:ea typeface="黑体" pitchFamily="49" charset="-122"/>
              </a:rPr>
              <a:t>A</a:t>
            </a:r>
            <a:r>
              <a:rPr kumimoji="1" lang="zh-CN" altLang="en-US" sz="2800" dirty="0">
                <a:ea typeface="黑体" pitchFamily="49" charset="-122"/>
              </a:rPr>
              <a:t>的程度</a:t>
            </a:r>
            <a:r>
              <a:rPr kumimoji="1" lang="en-US" altLang="zh-CN" sz="2800" dirty="0">
                <a:ea typeface="黑体" pitchFamily="49" charset="-122"/>
              </a:rPr>
              <a:t>A(u)</a:t>
            </a:r>
            <a:r>
              <a:rPr kumimoji="1" lang="zh-CN" altLang="en-US" sz="2800" dirty="0">
                <a:ea typeface="黑体" pitchFamily="49" charset="-122"/>
              </a:rPr>
              <a:t>如下：</a:t>
            </a:r>
          </a:p>
          <a:p>
            <a:pPr eaLnBrk="1" hangingPunct="1"/>
            <a:endParaRPr lang="zh-CN" altLang="en-US" dirty="0"/>
          </a:p>
          <a:p>
            <a:pPr eaLnBrk="1" hangingPunct="1"/>
            <a:endParaRPr lang="zh-CN" altLang="en-US" dirty="0"/>
          </a:p>
          <a:p>
            <a:pPr eaLnBrk="1" hangingPunct="1"/>
            <a:r>
              <a:rPr lang="zh-CN" altLang="en-US" sz="3200" dirty="0">
                <a:solidFill>
                  <a:srgbClr val="FF0000"/>
                </a:solidFill>
                <a:ea typeface="黑体" pitchFamily="49" charset="-122"/>
              </a:rPr>
              <a:t>序偶表示方法</a:t>
            </a:r>
            <a:r>
              <a:rPr lang="zh-CN" altLang="en-US" sz="3200" dirty="0">
                <a:solidFill>
                  <a:srgbClr val="FF0000"/>
                </a:solidFill>
              </a:rPr>
              <a:t>：</a:t>
            </a:r>
          </a:p>
          <a:p>
            <a:pPr marL="0" indent="0" eaLnBrk="1" hangingPunct="1">
              <a:buNone/>
            </a:pPr>
            <a:r>
              <a:rPr lang="zh-CN" altLang="en-US" sz="2800" b="1" dirty="0"/>
              <a:t>   当</a:t>
            </a:r>
            <a:r>
              <a:rPr lang="en-US" altLang="zh-CN" sz="2800" b="1" dirty="0"/>
              <a:t>U</a:t>
            </a:r>
            <a:r>
              <a:rPr lang="zh-CN" altLang="en-US" sz="2800" b="1" dirty="0"/>
              <a:t>为离散论域</a:t>
            </a:r>
            <a:r>
              <a:rPr lang="en-US" altLang="zh-CN" sz="2800" b="1" dirty="0"/>
              <a:t>{u</a:t>
            </a:r>
            <a:r>
              <a:rPr lang="en-US" altLang="zh-CN" sz="2400" b="1" baseline="-25000" dirty="0"/>
              <a:t>1</a:t>
            </a:r>
            <a:r>
              <a:rPr lang="en-US" altLang="zh-CN" sz="2800" b="1" dirty="0"/>
              <a:t>,u</a:t>
            </a:r>
            <a:r>
              <a:rPr lang="en-US" altLang="zh-CN" sz="2400" b="1" baseline="-25000" dirty="0"/>
              <a:t>2</a:t>
            </a:r>
            <a:r>
              <a:rPr lang="en-US" altLang="zh-CN" sz="2800" b="1" dirty="0"/>
              <a:t>,…,u</a:t>
            </a:r>
            <a:r>
              <a:rPr lang="en-US" altLang="zh-CN" sz="2400" b="1" baseline="-25000" dirty="0"/>
              <a:t>n</a:t>
            </a:r>
            <a:r>
              <a:rPr lang="en-US" altLang="zh-CN" sz="2800" b="1" dirty="0"/>
              <a:t>}</a:t>
            </a:r>
            <a:r>
              <a:rPr lang="zh-CN" altLang="en-US" sz="2800" b="1" dirty="0"/>
              <a:t>时，</a:t>
            </a:r>
          </a:p>
          <a:p>
            <a:pPr eaLnBrk="1" hangingPunct="1"/>
            <a:r>
              <a:rPr lang="en-US" altLang="zh-CN" dirty="0">
                <a:solidFill>
                  <a:srgbClr val="3333FF"/>
                </a:solidFill>
                <a:latin typeface="+mn-lt"/>
              </a:rPr>
              <a:t>A = {(u, A(u))|u</a:t>
            </a:r>
            <a:r>
              <a:rPr lang="en-US" altLang="zh-CN" dirty="0">
                <a:solidFill>
                  <a:srgbClr val="3333FF"/>
                </a:solidFill>
                <a:latin typeface="+mn-lt"/>
                <a:sym typeface="Symbol" pitchFamily="18" charset="2"/>
              </a:rPr>
              <a:t>U,0 ≤ A(u) ≤1</a:t>
            </a:r>
            <a:r>
              <a:rPr lang="en-US" altLang="zh-CN" dirty="0">
                <a:solidFill>
                  <a:srgbClr val="3333FF"/>
                </a:solidFill>
                <a:latin typeface="+mn-lt"/>
              </a:rPr>
              <a:t>}</a:t>
            </a:r>
          </a:p>
          <a:p>
            <a:pPr eaLnBrk="1" hangingPunct="1">
              <a:buFont typeface="Wingdings" pitchFamily="2" charset="2"/>
              <a:buNone/>
            </a:pPr>
            <a:r>
              <a:rPr lang="en-US" altLang="zh-CN" sz="2800" dirty="0">
                <a:solidFill>
                  <a:srgbClr val="3333FF"/>
                </a:solidFill>
                <a:latin typeface="+mn-lt"/>
              </a:rPr>
              <a:t>       ={(u</a:t>
            </a:r>
            <a:r>
              <a:rPr lang="en-US" altLang="zh-CN" sz="2800" baseline="-25000" dirty="0">
                <a:solidFill>
                  <a:srgbClr val="3333FF"/>
                </a:solidFill>
                <a:latin typeface="+mn-lt"/>
              </a:rPr>
              <a:t>1</a:t>
            </a:r>
            <a:r>
              <a:rPr lang="en-US" altLang="zh-CN" sz="2800" dirty="0">
                <a:solidFill>
                  <a:srgbClr val="3333FF"/>
                </a:solidFill>
                <a:latin typeface="+mn-lt"/>
              </a:rPr>
              <a:t>, A(u</a:t>
            </a:r>
            <a:r>
              <a:rPr lang="en-US" altLang="zh-CN" sz="2800" baseline="-25000" dirty="0">
                <a:solidFill>
                  <a:srgbClr val="3333FF"/>
                </a:solidFill>
                <a:latin typeface="+mn-lt"/>
              </a:rPr>
              <a:t>1</a:t>
            </a:r>
            <a:r>
              <a:rPr lang="en-US" altLang="zh-CN" sz="2800" dirty="0">
                <a:solidFill>
                  <a:srgbClr val="3333FF"/>
                </a:solidFill>
                <a:latin typeface="+mn-lt"/>
              </a:rPr>
              <a:t>)), (u</a:t>
            </a:r>
            <a:r>
              <a:rPr lang="en-US" altLang="zh-CN" sz="2800" baseline="-25000" dirty="0">
                <a:solidFill>
                  <a:srgbClr val="3333FF"/>
                </a:solidFill>
                <a:latin typeface="+mn-lt"/>
              </a:rPr>
              <a:t>2</a:t>
            </a:r>
            <a:r>
              <a:rPr lang="en-US" altLang="zh-CN" sz="2800" dirty="0">
                <a:solidFill>
                  <a:srgbClr val="3333FF"/>
                </a:solidFill>
                <a:latin typeface="+mn-lt"/>
              </a:rPr>
              <a:t>, A(u</a:t>
            </a:r>
            <a:r>
              <a:rPr lang="en-US" altLang="zh-CN" sz="2800" baseline="-25000" dirty="0">
                <a:solidFill>
                  <a:srgbClr val="3333FF"/>
                </a:solidFill>
                <a:latin typeface="+mn-lt"/>
              </a:rPr>
              <a:t>2</a:t>
            </a:r>
            <a:r>
              <a:rPr lang="en-US" altLang="zh-CN" sz="2800" dirty="0">
                <a:solidFill>
                  <a:srgbClr val="3333FF"/>
                </a:solidFill>
                <a:latin typeface="+mn-lt"/>
              </a:rPr>
              <a:t>)),…, (u</a:t>
            </a:r>
            <a:r>
              <a:rPr lang="en-US" altLang="zh-CN" sz="2400" baseline="-25000" dirty="0">
                <a:solidFill>
                  <a:srgbClr val="3333FF"/>
                </a:solidFill>
                <a:latin typeface="+mn-lt"/>
              </a:rPr>
              <a:t>n</a:t>
            </a:r>
            <a:r>
              <a:rPr lang="en-US" altLang="zh-CN" sz="2800" dirty="0">
                <a:solidFill>
                  <a:srgbClr val="3333FF"/>
                </a:solidFill>
                <a:latin typeface="+mn-lt"/>
              </a:rPr>
              <a:t>, A(u</a:t>
            </a:r>
            <a:r>
              <a:rPr lang="en-US" altLang="zh-CN" sz="2400" baseline="-25000" dirty="0">
                <a:solidFill>
                  <a:srgbClr val="3333FF"/>
                </a:solidFill>
                <a:latin typeface="+mn-lt"/>
              </a:rPr>
              <a:t>n</a:t>
            </a:r>
            <a:r>
              <a:rPr lang="en-US" altLang="zh-CN" sz="2800" dirty="0">
                <a:solidFill>
                  <a:srgbClr val="3333FF"/>
                </a:solidFill>
                <a:latin typeface="+mn-lt"/>
              </a:rPr>
              <a:t>))}</a:t>
            </a:r>
          </a:p>
          <a:p>
            <a:pPr eaLnBrk="1" hangingPunct="1"/>
            <a:r>
              <a:rPr lang="zh-CN" altLang="en-US" sz="3200" dirty="0"/>
              <a:t>例：</a:t>
            </a:r>
            <a:r>
              <a:rPr lang="en-US" altLang="zh-CN" sz="3200" dirty="0">
                <a:latin typeface="+mn-lt"/>
              </a:rPr>
              <a:t>A={(1,0), (2,0.2), (3,0.8), (4,1), (5,0.8), (6,0.2)}</a:t>
            </a:r>
          </a:p>
        </p:txBody>
      </p:sp>
      <p:graphicFrame>
        <p:nvGraphicFramePr>
          <p:cNvPr id="61444" name="Group 4"/>
          <p:cNvGraphicFramePr>
            <a:graphicFrameLocks noGrp="1"/>
          </p:cNvGraphicFramePr>
          <p:nvPr>
            <p:ph sz="quarter" idx="2"/>
          </p:nvPr>
        </p:nvGraphicFramePr>
        <p:xfrm>
          <a:off x="2640014" y="2565400"/>
          <a:ext cx="7056437" cy="936626"/>
        </p:xfrm>
        <a:graphic>
          <a:graphicData uri="http://schemas.openxmlformats.org/drawingml/2006/table">
            <a:tbl>
              <a:tblPr/>
              <a:tblGrid>
                <a:gridCol w="1008062">
                  <a:extLst>
                    <a:ext uri="{9D8B030D-6E8A-4147-A177-3AD203B41FA5}">
                      <a16:colId xmlns:a16="http://schemas.microsoft.com/office/drawing/2014/main" val="20000"/>
                    </a:ext>
                  </a:extLst>
                </a:gridCol>
                <a:gridCol w="1008063">
                  <a:extLst>
                    <a:ext uri="{9D8B030D-6E8A-4147-A177-3AD203B41FA5}">
                      <a16:colId xmlns:a16="http://schemas.microsoft.com/office/drawing/2014/main" val="20001"/>
                    </a:ext>
                  </a:extLst>
                </a:gridCol>
                <a:gridCol w="1008062">
                  <a:extLst>
                    <a:ext uri="{9D8B030D-6E8A-4147-A177-3AD203B41FA5}">
                      <a16:colId xmlns:a16="http://schemas.microsoft.com/office/drawing/2014/main" val="20002"/>
                    </a:ext>
                  </a:extLst>
                </a:gridCol>
                <a:gridCol w="1008063">
                  <a:extLst>
                    <a:ext uri="{9D8B030D-6E8A-4147-A177-3AD203B41FA5}">
                      <a16:colId xmlns:a16="http://schemas.microsoft.com/office/drawing/2014/main" val="20003"/>
                    </a:ext>
                  </a:extLst>
                </a:gridCol>
                <a:gridCol w="1008062">
                  <a:extLst>
                    <a:ext uri="{9D8B030D-6E8A-4147-A177-3AD203B41FA5}">
                      <a16:colId xmlns:a16="http://schemas.microsoft.com/office/drawing/2014/main" val="20004"/>
                    </a:ext>
                  </a:extLst>
                </a:gridCol>
                <a:gridCol w="1008063">
                  <a:extLst>
                    <a:ext uri="{9D8B030D-6E8A-4147-A177-3AD203B41FA5}">
                      <a16:colId xmlns:a16="http://schemas.microsoft.com/office/drawing/2014/main" val="20005"/>
                    </a:ext>
                  </a:extLst>
                </a:gridCol>
                <a:gridCol w="1008062">
                  <a:extLst>
                    <a:ext uri="{9D8B030D-6E8A-4147-A177-3AD203B41FA5}">
                      <a16:colId xmlns:a16="http://schemas.microsoft.com/office/drawing/2014/main" val="20006"/>
                    </a:ext>
                  </a:extLst>
                </a:gridCol>
              </a:tblGrid>
              <a:tr h="468313">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400" b="0" i="0" u="none" strike="noStrike" cap="none" normalizeH="0" baseline="0">
                          <a:ln>
                            <a:noFill/>
                          </a:ln>
                          <a:solidFill>
                            <a:schemeClr val="tx1"/>
                          </a:solidFill>
                          <a:effectLst/>
                          <a:latin typeface="Arial" charset="0"/>
                          <a:ea typeface="宋体" pitchFamily="2" charset="-122"/>
                        </a:rPr>
                        <a:t>u</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99FF66"/>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400" b="0" i="0" u="none" strike="noStrike" cap="none" normalizeH="0" baseline="0">
                          <a:ln>
                            <a:noFill/>
                          </a:ln>
                          <a:solidFill>
                            <a:schemeClr val="tx1"/>
                          </a:solidFill>
                          <a:effectLst/>
                          <a:latin typeface="Arial" charset="0"/>
                          <a:ea typeface="宋体"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99FF66"/>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400" b="0" i="0" u="none" strike="noStrike" cap="none" normalizeH="0" baseline="0">
                          <a:ln>
                            <a:noFill/>
                          </a:ln>
                          <a:solidFill>
                            <a:schemeClr val="tx1"/>
                          </a:solidFill>
                          <a:effectLst/>
                          <a:latin typeface="Arial" charset="0"/>
                          <a:ea typeface="宋体" pitchFamily="2" charset="-122"/>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99FF66"/>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400" b="0" i="0" u="none" strike="noStrike" cap="none" normalizeH="0" baseline="0">
                          <a:ln>
                            <a:noFill/>
                          </a:ln>
                          <a:solidFill>
                            <a:schemeClr val="tx1"/>
                          </a:solidFill>
                          <a:effectLst/>
                          <a:latin typeface="Arial" charset="0"/>
                          <a:ea typeface="宋体" pitchFamily="2" charset="-122"/>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99FF66"/>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400" b="0" i="0" u="none" strike="noStrike" cap="none" normalizeH="0" baseline="0">
                          <a:ln>
                            <a:noFill/>
                          </a:ln>
                          <a:solidFill>
                            <a:schemeClr val="tx1"/>
                          </a:solidFill>
                          <a:effectLst/>
                          <a:latin typeface="Arial" charset="0"/>
                          <a:ea typeface="宋体" pitchFamily="2" charset="-122"/>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99FF66"/>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400" b="0" i="0" u="none" strike="noStrike" cap="none" normalizeH="0" baseline="0">
                          <a:ln>
                            <a:noFill/>
                          </a:ln>
                          <a:solidFill>
                            <a:schemeClr val="tx1"/>
                          </a:solidFill>
                          <a:effectLst/>
                          <a:latin typeface="Arial" charset="0"/>
                          <a:ea typeface="宋体" pitchFamily="2" charset="-122"/>
                        </a:rPr>
                        <a:t>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99FF66"/>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400" b="0" i="0" u="none" strike="noStrike" cap="none" normalizeH="0" baseline="0" dirty="0">
                          <a:ln>
                            <a:noFill/>
                          </a:ln>
                          <a:solidFill>
                            <a:schemeClr val="tx1"/>
                          </a:solidFill>
                          <a:effectLst/>
                          <a:latin typeface="Arial" charset="0"/>
                          <a:ea typeface="宋体" pitchFamily="2" charset="-122"/>
                        </a:rPr>
                        <a:t>6</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99FF66"/>
                    </a:solidFill>
                  </a:tcPr>
                </a:tc>
                <a:extLst>
                  <a:ext uri="{0D108BD9-81ED-4DB2-BD59-A6C34878D82A}">
                    <a16:rowId xmlns:a16="http://schemas.microsoft.com/office/drawing/2014/main" val="10000"/>
                  </a:ext>
                </a:extLst>
              </a:tr>
              <a:tr h="468313">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400" b="0" i="0" u="none" strike="noStrike" cap="none" normalizeH="0" baseline="0">
                          <a:ln>
                            <a:noFill/>
                          </a:ln>
                          <a:solidFill>
                            <a:schemeClr val="tx1"/>
                          </a:solidFill>
                          <a:effectLst/>
                          <a:latin typeface="Arial" charset="0"/>
                          <a:ea typeface="宋体" pitchFamily="2" charset="-122"/>
                        </a:rPr>
                        <a:t>A(u)</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99FF66"/>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400" b="0" i="0" u="none" strike="noStrike" cap="none" normalizeH="0" baseline="0">
                          <a:ln>
                            <a:noFill/>
                          </a:ln>
                          <a:solidFill>
                            <a:schemeClr val="tx1"/>
                          </a:solidFill>
                          <a:effectLst/>
                          <a:latin typeface="Arial" charset="0"/>
                          <a:ea typeface="宋体"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99FF66"/>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400" b="0" i="0" u="none" strike="noStrike" cap="none" normalizeH="0" baseline="0">
                          <a:ln>
                            <a:noFill/>
                          </a:ln>
                          <a:solidFill>
                            <a:schemeClr val="tx1"/>
                          </a:solidFill>
                          <a:effectLst/>
                          <a:latin typeface="Arial" charset="0"/>
                          <a:ea typeface="宋体" pitchFamily="2" charset="-122"/>
                        </a:rPr>
                        <a:t>0.2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99FF66"/>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400" b="0" i="0" u="none" strike="noStrike" cap="none" normalizeH="0" baseline="0">
                          <a:ln>
                            <a:noFill/>
                          </a:ln>
                          <a:solidFill>
                            <a:schemeClr val="tx1"/>
                          </a:solidFill>
                          <a:effectLst/>
                          <a:latin typeface="Arial" charset="0"/>
                          <a:ea typeface="宋体" pitchFamily="2" charset="-122"/>
                        </a:rPr>
                        <a:t>0.8</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99FF66"/>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400" b="0" i="0" u="none" strike="noStrike" cap="none" normalizeH="0" baseline="0">
                          <a:ln>
                            <a:noFill/>
                          </a:ln>
                          <a:solidFill>
                            <a:schemeClr val="tx1"/>
                          </a:solidFill>
                          <a:effectLst/>
                          <a:latin typeface="Arial" charset="0"/>
                          <a:ea typeface="宋体"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99FF66"/>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400" b="0" i="0" u="none" strike="noStrike" cap="none" normalizeH="0" baseline="0">
                          <a:ln>
                            <a:noFill/>
                          </a:ln>
                          <a:solidFill>
                            <a:schemeClr val="tx1"/>
                          </a:solidFill>
                          <a:effectLst/>
                          <a:latin typeface="Arial" charset="0"/>
                          <a:ea typeface="宋体" pitchFamily="2" charset="-122"/>
                        </a:rPr>
                        <a:t>0.8</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99FF66"/>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400" b="0" i="0" u="none" strike="noStrike" cap="none" normalizeH="0" baseline="0" dirty="0">
                          <a:ln>
                            <a:noFill/>
                          </a:ln>
                          <a:solidFill>
                            <a:schemeClr val="tx1"/>
                          </a:solidFill>
                          <a:effectLst/>
                          <a:latin typeface="Arial" charset="0"/>
                          <a:ea typeface="宋体" pitchFamily="2" charset="-122"/>
                        </a:rPr>
                        <a:t>0.2</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99FF66"/>
                    </a:solidFill>
                  </a:tcPr>
                </a:tc>
                <a:extLst>
                  <a:ext uri="{0D108BD9-81ED-4DB2-BD59-A6C34878D82A}">
                    <a16:rowId xmlns:a16="http://schemas.microsoft.com/office/drawing/2014/main" val="10001"/>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1443">
                                            <p:txEl>
                                              <p:pRg st="3" end="3"/>
                                            </p:txEl>
                                          </p:spTgt>
                                        </p:tgtEl>
                                        <p:attrNameLst>
                                          <p:attrName>style.visibility</p:attrName>
                                        </p:attrNameLst>
                                      </p:cBhvr>
                                      <p:to>
                                        <p:strVal val="visible"/>
                                      </p:to>
                                    </p:set>
                                    <p:animEffect transition="in" filter="wipe(left)">
                                      <p:cBhvr>
                                        <p:cTn id="7" dur="500"/>
                                        <p:tgtEl>
                                          <p:spTgt spid="61443">
                                            <p:txEl>
                                              <p:pRg st="3" end="3"/>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1443">
                                            <p:txEl>
                                              <p:pRg st="4" end="4"/>
                                            </p:txEl>
                                          </p:spTgt>
                                        </p:tgtEl>
                                        <p:attrNameLst>
                                          <p:attrName>style.visibility</p:attrName>
                                        </p:attrNameLst>
                                      </p:cBhvr>
                                      <p:to>
                                        <p:strVal val="visible"/>
                                      </p:to>
                                    </p:set>
                                    <p:animEffect transition="in" filter="wipe(left)">
                                      <p:cBhvr>
                                        <p:cTn id="12" dur="500"/>
                                        <p:tgtEl>
                                          <p:spTgt spid="61443">
                                            <p:txEl>
                                              <p:pRg st="4" end="4"/>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61443">
                                            <p:txEl>
                                              <p:pRg st="5" end="5"/>
                                            </p:txEl>
                                          </p:spTgt>
                                        </p:tgtEl>
                                        <p:attrNameLst>
                                          <p:attrName>style.visibility</p:attrName>
                                        </p:attrNameLst>
                                      </p:cBhvr>
                                      <p:to>
                                        <p:strVal val="visible"/>
                                      </p:to>
                                    </p:set>
                                    <p:animEffect transition="in" filter="wipe(left)">
                                      <p:cBhvr>
                                        <p:cTn id="17" dur="500"/>
                                        <p:tgtEl>
                                          <p:spTgt spid="61443">
                                            <p:txEl>
                                              <p:pRg st="5" end="5"/>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61443">
                                            <p:txEl>
                                              <p:pRg st="6" end="6"/>
                                            </p:txEl>
                                          </p:spTgt>
                                        </p:tgtEl>
                                        <p:attrNameLst>
                                          <p:attrName>style.visibility</p:attrName>
                                        </p:attrNameLst>
                                      </p:cBhvr>
                                      <p:to>
                                        <p:strVal val="visible"/>
                                      </p:to>
                                    </p:set>
                                    <p:animEffect transition="in" filter="wipe(left)">
                                      <p:cBhvr>
                                        <p:cTn id="22" dur="500"/>
                                        <p:tgtEl>
                                          <p:spTgt spid="61443">
                                            <p:txEl>
                                              <p:pRg st="6" end="6"/>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61443">
                                            <p:txEl>
                                              <p:pRg st="7" end="7"/>
                                            </p:txEl>
                                          </p:spTgt>
                                        </p:tgtEl>
                                        <p:attrNameLst>
                                          <p:attrName>style.visibility</p:attrName>
                                        </p:attrNameLst>
                                      </p:cBhvr>
                                      <p:to>
                                        <p:strVal val="visible"/>
                                      </p:to>
                                    </p:set>
                                    <p:animEffect transition="in" filter="wipe(left)">
                                      <p:cBhvr>
                                        <p:cTn id="27" dur="500"/>
                                        <p:tgtEl>
                                          <p:spTgt spid="6144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43" grpId="0" build="p"/>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a:xfrm>
            <a:off x="1992313" y="188913"/>
            <a:ext cx="8229600" cy="1371600"/>
          </a:xfrm>
        </p:spPr>
        <p:txBody>
          <a:bodyPr/>
          <a:lstStyle/>
          <a:p>
            <a:pPr algn="ctr" eaLnBrk="1" hangingPunct="1"/>
            <a:r>
              <a:rPr lang="zh-CN" altLang="en-US">
                <a:solidFill>
                  <a:srgbClr val="008000"/>
                </a:solidFill>
              </a:rPr>
              <a:t>模糊集合的表示方法</a:t>
            </a:r>
          </a:p>
        </p:txBody>
      </p:sp>
      <p:sp>
        <p:nvSpPr>
          <p:cNvPr id="62467" name="Rectangle 3"/>
          <p:cNvSpPr>
            <a:spLocks noGrp="1" noChangeArrowheads="1"/>
          </p:cNvSpPr>
          <p:nvPr>
            <p:ph type="body" sz="half" idx="1"/>
          </p:nvPr>
        </p:nvSpPr>
        <p:spPr>
          <a:xfrm>
            <a:off x="1127448" y="1412876"/>
            <a:ext cx="10297143" cy="5040313"/>
          </a:xfrm>
        </p:spPr>
        <p:txBody>
          <a:bodyPr/>
          <a:lstStyle/>
          <a:p>
            <a:pPr eaLnBrk="1" hangingPunct="1"/>
            <a:r>
              <a:rPr kumimoji="1" lang="zh-CN" altLang="en-US" sz="2800" dirty="0">
                <a:ea typeface="黑体" pitchFamily="49" charset="-122"/>
              </a:rPr>
              <a:t>设论域</a:t>
            </a:r>
            <a:r>
              <a:rPr kumimoji="1" lang="en-US" altLang="zh-CN" sz="2800" i="1" dirty="0">
                <a:ea typeface="黑体" pitchFamily="49" charset="-122"/>
              </a:rPr>
              <a:t>U </a:t>
            </a:r>
            <a:r>
              <a:rPr kumimoji="1" lang="en-US" altLang="zh-CN" sz="2800" dirty="0">
                <a:ea typeface="黑体" pitchFamily="49" charset="-122"/>
              </a:rPr>
              <a:t>= {1,2,3,4,5,6}</a:t>
            </a:r>
            <a:r>
              <a:rPr kumimoji="1" lang="zh-CN" altLang="en-US" sz="2800" dirty="0">
                <a:ea typeface="黑体" pitchFamily="49" charset="-122"/>
              </a:rPr>
              <a:t>，</a:t>
            </a:r>
            <a:r>
              <a:rPr kumimoji="1" lang="en-US" altLang="zh-CN" sz="2800" dirty="0">
                <a:ea typeface="黑体" pitchFamily="49" charset="-122"/>
              </a:rPr>
              <a:t>A</a:t>
            </a:r>
            <a:r>
              <a:rPr kumimoji="1" lang="zh-CN" altLang="en-US" sz="2800" dirty="0">
                <a:ea typeface="黑体" pitchFamily="49" charset="-122"/>
              </a:rPr>
              <a:t>表示“靠近</a:t>
            </a:r>
            <a:r>
              <a:rPr kumimoji="1" lang="en-US" altLang="zh-CN" sz="2800" dirty="0">
                <a:ea typeface="黑体" pitchFamily="49" charset="-122"/>
              </a:rPr>
              <a:t>4”</a:t>
            </a:r>
            <a:r>
              <a:rPr kumimoji="1" lang="zh-CN" altLang="en-US" sz="2800" dirty="0">
                <a:ea typeface="黑体" pitchFamily="49" charset="-122"/>
              </a:rPr>
              <a:t>的数集，则</a:t>
            </a:r>
            <a:r>
              <a:rPr kumimoji="1" lang="en-US" altLang="zh-CN" sz="2800" dirty="0">
                <a:ea typeface="黑体" pitchFamily="49" charset="-122"/>
              </a:rPr>
              <a:t>A</a:t>
            </a:r>
            <a:r>
              <a:rPr kumimoji="1" lang="en-US" altLang="zh-CN" sz="2800" b="1" dirty="0">
                <a:sym typeface="Symbol" pitchFamily="18" charset="2"/>
              </a:rPr>
              <a:t></a:t>
            </a:r>
            <a:r>
              <a:rPr kumimoji="1" lang="en-US" altLang="zh-CN" sz="2800" b="1" dirty="0">
                <a:latin typeface="Vladimir Script" pitchFamily="66" charset="0"/>
                <a:ea typeface="黑体" pitchFamily="49" charset="-122"/>
              </a:rPr>
              <a:t> </a:t>
            </a:r>
            <a:r>
              <a:rPr lang="en-US" altLang="zh-CN" sz="2800" b="1" dirty="0">
                <a:latin typeface="Monotype Corsiva" pitchFamily="66" charset="0"/>
                <a:sym typeface="Symbol" pitchFamily="18" charset="2"/>
              </a:rPr>
              <a:t>F </a:t>
            </a:r>
            <a:r>
              <a:rPr kumimoji="1" lang="en-US" altLang="zh-CN" sz="2800" dirty="0">
                <a:ea typeface="黑体" pitchFamily="49" charset="-122"/>
              </a:rPr>
              <a:t>(U)</a:t>
            </a:r>
            <a:r>
              <a:rPr kumimoji="1" lang="zh-CN" altLang="en-US" sz="2800" dirty="0">
                <a:ea typeface="黑体" pitchFamily="49" charset="-122"/>
              </a:rPr>
              <a:t>，各数属于</a:t>
            </a:r>
            <a:r>
              <a:rPr kumimoji="1" lang="en-US" altLang="zh-CN" sz="2800" dirty="0">
                <a:ea typeface="黑体" pitchFamily="49" charset="-122"/>
              </a:rPr>
              <a:t>A</a:t>
            </a:r>
            <a:r>
              <a:rPr kumimoji="1" lang="zh-CN" altLang="en-US" sz="2800" dirty="0">
                <a:ea typeface="黑体" pitchFamily="49" charset="-122"/>
              </a:rPr>
              <a:t>的程度</a:t>
            </a:r>
            <a:r>
              <a:rPr kumimoji="1" lang="en-US" altLang="zh-CN" sz="2800" dirty="0">
                <a:ea typeface="黑体" pitchFamily="49" charset="-122"/>
              </a:rPr>
              <a:t>A(u)</a:t>
            </a:r>
            <a:r>
              <a:rPr kumimoji="1" lang="zh-CN" altLang="en-US" sz="2800" dirty="0">
                <a:ea typeface="黑体" pitchFamily="49" charset="-122"/>
              </a:rPr>
              <a:t>如下：</a:t>
            </a:r>
          </a:p>
          <a:p>
            <a:pPr eaLnBrk="1" hangingPunct="1"/>
            <a:endParaRPr lang="zh-CN" altLang="en-US" dirty="0"/>
          </a:p>
          <a:p>
            <a:pPr eaLnBrk="1" hangingPunct="1"/>
            <a:endParaRPr lang="zh-CN" altLang="en-US" dirty="0"/>
          </a:p>
          <a:p>
            <a:pPr eaLnBrk="1" hangingPunct="1"/>
            <a:r>
              <a:rPr lang="zh-CN" altLang="en-US" dirty="0">
                <a:solidFill>
                  <a:srgbClr val="FF0000"/>
                </a:solidFill>
                <a:ea typeface="黑体" pitchFamily="49" charset="-122"/>
              </a:rPr>
              <a:t>函数描述方法</a:t>
            </a:r>
            <a:r>
              <a:rPr lang="zh-CN" altLang="en-US" dirty="0">
                <a:solidFill>
                  <a:srgbClr val="FF0000"/>
                </a:solidFill>
              </a:rPr>
              <a:t>：</a:t>
            </a:r>
          </a:p>
          <a:p>
            <a:pPr marL="0" indent="0" eaLnBrk="1" hangingPunct="1">
              <a:buNone/>
            </a:pPr>
            <a:r>
              <a:rPr lang="zh-CN" altLang="en-US" sz="2800" b="1" dirty="0"/>
              <a:t>   当</a:t>
            </a:r>
            <a:r>
              <a:rPr lang="en-US" altLang="zh-CN" sz="2800" b="1" dirty="0"/>
              <a:t>U</a:t>
            </a:r>
            <a:r>
              <a:rPr lang="zh-CN" altLang="en-US" sz="2800" b="1" dirty="0"/>
              <a:t>为离散论域</a:t>
            </a:r>
            <a:r>
              <a:rPr lang="en-US" altLang="zh-CN" sz="2800" b="1" dirty="0"/>
              <a:t>{u</a:t>
            </a:r>
            <a:r>
              <a:rPr lang="en-US" altLang="zh-CN" sz="2400" b="1" baseline="-25000" dirty="0"/>
              <a:t>1</a:t>
            </a:r>
            <a:r>
              <a:rPr lang="en-US" altLang="zh-CN" sz="2800" b="1" dirty="0"/>
              <a:t>,u</a:t>
            </a:r>
            <a:r>
              <a:rPr lang="en-US" altLang="zh-CN" sz="2400" b="1" baseline="-25000" dirty="0"/>
              <a:t>2</a:t>
            </a:r>
            <a:r>
              <a:rPr lang="en-US" altLang="zh-CN" sz="2800" b="1" dirty="0"/>
              <a:t>,…,u</a:t>
            </a:r>
            <a:r>
              <a:rPr lang="en-US" altLang="zh-CN" sz="2400" b="1" baseline="-25000" dirty="0"/>
              <a:t>n</a:t>
            </a:r>
            <a:r>
              <a:rPr lang="en-US" altLang="zh-CN" sz="2800" b="1" dirty="0"/>
              <a:t>}</a:t>
            </a:r>
            <a:r>
              <a:rPr lang="zh-CN" altLang="en-US" sz="2800" b="1" dirty="0"/>
              <a:t>时，</a:t>
            </a:r>
          </a:p>
          <a:p>
            <a:pPr eaLnBrk="1" hangingPunct="1"/>
            <a:r>
              <a:rPr lang="en-US" altLang="zh-CN" sz="3200" dirty="0">
                <a:solidFill>
                  <a:srgbClr val="000099"/>
                </a:solidFill>
              </a:rPr>
              <a:t>A={A | A: U</a:t>
            </a:r>
            <a:r>
              <a:rPr lang="en-US" altLang="zh-CN" sz="3200" dirty="0">
                <a:solidFill>
                  <a:srgbClr val="000099"/>
                </a:solidFill>
                <a:sym typeface="Symbol" panose="05050102010706020507" pitchFamily="18" charset="2"/>
              </a:rPr>
              <a:t></a:t>
            </a:r>
            <a:r>
              <a:rPr lang="en-US" altLang="zh-CN" sz="3200" dirty="0">
                <a:solidFill>
                  <a:srgbClr val="000099"/>
                </a:solidFill>
                <a:sym typeface="Wingdings" pitchFamily="2" charset="2"/>
              </a:rPr>
              <a:t>[0,1]}</a:t>
            </a:r>
            <a:endParaRPr lang="en-US" altLang="zh-CN" sz="3200" dirty="0">
              <a:solidFill>
                <a:srgbClr val="000099"/>
              </a:solidFill>
            </a:endParaRPr>
          </a:p>
          <a:p>
            <a:pPr eaLnBrk="1" hangingPunct="1"/>
            <a:r>
              <a:rPr lang="zh-CN" altLang="en-US" sz="2800" dirty="0"/>
              <a:t>例：</a:t>
            </a:r>
          </a:p>
        </p:txBody>
      </p:sp>
      <p:graphicFrame>
        <p:nvGraphicFramePr>
          <p:cNvPr id="31774" name="Object 30"/>
          <p:cNvGraphicFramePr>
            <a:graphicFrameLocks noGrp="1" noChangeAspect="1"/>
          </p:cNvGraphicFramePr>
          <p:nvPr>
            <p:ph sz="quarter" idx="2"/>
          </p:nvPr>
        </p:nvGraphicFramePr>
        <p:xfrm>
          <a:off x="5090978" y="4581128"/>
          <a:ext cx="5122515" cy="2276872"/>
        </p:xfrm>
        <a:graphic>
          <a:graphicData uri="http://schemas.openxmlformats.org/presentationml/2006/ole">
            <mc:AlternateContent xmlns:mc="http://schemas.openxmlformats.org/markup-compatibility/2006">
              <mc:Choice xmlns:v="urn:schemas-microsoft-com:vml" Requires="v">
                <p:oleObj name="公式" r:id="rId2" imgW="1828800" imgH="812800" progId="Equation.3">
                  <p:embed/>
                </p:oleObj>
              </mc:Choice>
              <mc:Fallback>
                <p:oleObj name="公式" r:id="rId2" imgW="1828800" imgH="812800" progId="Equation.3">
                  <p:embed/>
                  <p:pic>
                    <p:nvPicPr>
                      <p:cNvPr id="31774" name="Object 3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90978" y="4581128"/>
                        <a:ext cx="5122515" cy="2276872"/>
                      </a:xfrm>
                      <a:prstGeom prst="rect">
                        <a:avLst/>
                      </a:prstGeom>
                      <a:noFill/>
                      <a:ln>
                        <a:noFill/>
                      </a:ln>
                      <a:effectLst/>
                    </p:spPr>
                  </p:pic>
                </p:oleObj>
              </mc:Fallback>
            </mc:AlternateContent>
          </a:graphicData>
        </a:graphic>
      </p:graphicFrame>
      <p:graphicFrame>
        <p:nvGraphicFramePr>
          <p:cNvPr id="62468" name="Group 4"/>
          <p:cNvGraphicFramePr>
            <a:graphicFrameLocks noGrp="1"/>
          </p:cNvGraphicFramePr>
          <p:nvPr>
            <p:ph sz="quarter" idx="3"/>
          </p:nvPr>
        </p:nvGraphicFramePr>
        <p:xfrm>
          <a:off x="2578894" y="2316163"/>
          <a:ext cx="7056437" cy="936626"/>
        </p:xfrm>
        <a:graphic>
          <a:graphicData uri="http://schemas.openxmlformats.org/drawingml/2006/table">
            <a:tbl>
              <a:tblPr/>
              <a:tblGrid>
                <a:gridCol w="1008062">
                  <a:extLst>
                    <a:ext uri="{9D8B030D-6E8A-4147-A177-3AD203B41FA5}">
                      <a16:colId xmlns:a16="http://schemas.microsoft.com/office/drawing/2014/main" val="20000"/>
                    </a:ext>
                  </a:extLst>
                </a:gridCol>
                <a:gridCol w="1008063">
                  <a:extLst>
                    <a:ext uri="{9D8B030D-6E8A-4147-A177-3AD203B41FA5}">
                      <a16:colId xmlns:a16="http://schemas.microsoft.com/office/drawing/2014/main" val="20001"/>
                    </a:ext>
                  </a:extLst>
                </a:gridCol>
                <a:gridCol w="1008062">
                  <a:extLst>
                    <a:ext uri="{9D8B030D-6E8A-4147-A177-3AD203B41FA5}">
                      <a16:colId xmlns:a16="http://schemas.microsoft.com/office/drawing/2014/main" val="20002"/>
                    </a:ext>
                  </a:extLst>
                </a:gridCol>
                <a:gridCol w="1008063">
                  <a:extLst>
                    <a:ext uri="{9D8B030D-6E8A-4147-A177-3AD203B41FA5}">
                      <a16:colId xmlns:a16="http://schemas.microsoft.com/office/drawing/2014/main" val="20003"/>
                    </a:ext>
                  </a:extLst>
                </a:gridCol>
                <a:gridCol w="1008062">
                  <a:extLst>
                    <a:ext uri="{9D8B030D-6E8A-4147-A177-3AD203B41FA5}">
                      <a16:colId xmlns:a16="http://schemas.microsoft.com/office/drawing/2014/main" val="20004"/>
                    </a:ext>
                  </a:extLst>
                </a:gridCol>
                <a:gridCol w="1008063">
                  <a:extLst>
                    <a:ext uri="{9D8B030D-6E8A-4147-A177-3AD203B41FA5}">
                      <a16:colId xmlns:a16="http://schemas.microsoft.com/office/drawing/2014/main" val="20005"/>
                    </a:ext>
                  </a:extLst>
                </a:gridCol>
                <a:gridCol w="1008062">
                  <a:extLst>
                    <a:ext uri="{9D8B030D-6E8A-4147-A177-3AD203B41FA5}">
                      <a16:colId xmlns:a16="http://schemas.microsoft.com/office/drawing/2014/main" val="20006"/>
                    </a:ext>
                  </a:extLst>
                </a:gridCol>
              </a:tblGrid>
              <a:tr h="468313">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400" b="0" i="0" u="none" strike="noStrike" cap="none" normalizeH="0" baseline="0">
                          <a:ln>
                            <a:noFill/>
                          </a:ln>
                          <a:solidFill>
                            <a:schemeClr val="tx1"/>
                          </a:solidFill>
                          <a:effectLst/>
                          <a:latin typeface="Arial" charset="0"/>
                          <a:ea typeface="宋体" pitchFamily="2" charset="-122"/>
                        </a:rPr>
                        <a:t>u</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99FF66"/>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400" b="0" i="0" u="none" strike="noStrike" cap="none" normalizeH="0" baseline="0">
                          <a:ln>
                            <a:noFill/>
                          </a:ln>
                          <a:solidFill>
                            <a:schemeClr val="tx1"/>
                          </a:solidFill>
                          <a:effectLst/>
                          <a:latin typeface="Arial" charset="0"/>
                          <a:ea typeface="宋体"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99FF66"/>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400" b="0" i="0" u="none" strike="noStrike" cap="none" normalizeH="0" baseline="0">
                          <a:ln>
                            <a:noFill/>
                          </a:ln>
                          <a:solidFill>
                            <a:schemeClr val="tx1"/>
                          </a:solidFill>
                          <a:effectLst/>
                          <a:latin typeface="Arial" charset="0"/>
                          <a:ea typeface="宋体" pitchFamily="2" charset="-122"/>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99FF66"/>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400" b="0" i="0" u="none" strike="noStrike" cap="none" normalizeH="0" baseline="0">
                          <a:ln>
                            <a:noFill/>
                          </a:ln>
                          <a:solidFill>
                            <a:schemeClr val="tx1"/>
                          </a:solidFill>
                          <a:effectLst/>
                          <a:latin typeface="Arial" charset="0"/>
                          <a:ea typeface="宋体" pitchFamily="2" charset="-122"/>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99FF66"/>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400" b="0" i="0" u="none" strike="noStrike" cap="none" normalizeH="0" baseline="0">
                          <a:ln>
                            <a:noFill/>
                          </a:ln>
                          <a:solidFill>
                            <a:schemeClr val="tx1"/>
                          </a:solidFill>
                          <a:effectLst/>
                          <a:latin typeface="Arial" charset="0"/>
                          <a:ea typeface="宋体" pitchFamily="2" charset="-122"/>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99FF66"/>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400" b="0" i="0" u="none" strike="noStrike" cap="none" normalizeH="0" baseline="0">
                          <a:ln>
                            <a:noFill/>
                          </a:ln>
                          <a:solidFill>
                            <a:schemeClr val="tx1"/>
                          </a:solidFill>
                          <a:effectLst/>
                          <a:latin typeface="Arial" charset="0"/>
                          <a:ea typeface="宋体" pitchFamily="2" charset="-122"/>
                        </a:rPr>
                        <a:t>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99FF66"/>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400" b="0" i="0" u="none" strike="noStrike" cap="none" normalizeH="0" baseline="0">
                          <a:ln>
                            <a:noFill/>
                          </a:ln>
                          <a:solidFill>
                            <a:schemeClr val="tx1"/>
                          </a:solidFill>
                          <a:effectLst/>
                          <a:latin typeface="Arial" charset="0"/>
                          <a:ea typeface="宋体" pitchFamily="2" charset="-122"/>
                        </a:rPr>
                        <a:t>6</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99FF66"/>
                    </a:solidFill>
                  </a:tcPr>
                </a:tc>
                <a:extLst>
                  <a:ext uri="{0D108BD9-81ED-4DB2-BD59-A6C34878D82A}">
                    <a16:rowId xmlns:a16="http://schemas.microsoft.com/office/drawing/2014/main" val="10000"/>
                  </a:ext>
                </a:extLst>
              </a:tr>
              <a:tr h="468313">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400" b="0" i="0" u="none" strike="noStrike" cap="none" normalizeH="0" baseline="0">
                          <a:ln>
                            <a:noFill/>
                          </a:ln>
                          <a:solidFill>
                            <a:schemeClr val="tx1"/>
                          </a:solidFill>
                          <a:effectLst/>
                          <a:latin typeface="Arial" charset="0"/>
                          <a:ea typeface="宋体" pitchFamily="2" charset="-122"/>
                        </a:rPr>
                        <a:t>A(u)</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99FF66"/>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400" b="0" i="0" u="none" strike="noStrike" cap="none" normalizeH="0" baseline="0">
                          <a:ln>
                            <a:noFill/>
                          </a:ln>
                          <a:solidFill>
                            <a:schemeClr val="tx1"/>
                          </a:solidFill>
                          <a:effectLst/>
                          <a:latin typeface="Arial" charset="0"/>
                          <a:ea typeface="宋体"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99FF66"/>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400" b="0" i="0" u="none" strike="noStrike" cap="none" normalizeH="0" baseline="0">
                          <a:ln>
                            <a:noFill/>
                          </a:ln>
                          <a:solidFill>
                            <a:schemeClr val="tx1"/>
                          </a:solidFill>
                          <a:effectLst/>
                          <a:latin typeface="Arial" charset="0"/>
                          <a:ea typeface="宋体" pitchFamily="2" charset="-122"/>
                        </a:rPr>
                        <a:t>0.2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99FF66"/>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400" b="0" i="0" u="none" strike="noStrike" cap="none" normalizeH="0" baseline="0">
                          <a:ln>
                            <a:noFill/>
                          </a:ln>
                          <a:solidFill>
                            <a:schemeClr val="tx1"/>
                          </a:solidFill>
                          <a:effectLst/>
                          <a:latin typeface="Arial" charset="0"/>
                          <a:ea typeface="宋体" pitchFamily="2" charset="-122"/>
                        </a:rPr>
                        <a:t>0.8</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99FF66"/>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400" b="0" i="0" u="none" strike="noStrike" cap="none" normalizeH="0" baseline="0">
                          <a:ln>
                            <a:noFill/>
                          </a:ln>
                          <a:solidFill>
                            <a:schemeClr val="tx1"/>
                          </a:solidFill>
                          <a:effectLst/>
                          <a:latin typeface="Arial" charset="0"/>
                          <a:ea typeface="宋体"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99FF66"/>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400" b="0" i="0" u="none" strike="noStrike" cap="none" normalizeH="0" baseline="0" dirty="0">
                          <a:ln>
                            <a:noFill/>
                          </a:ln>
                          <a:solidFill>
                            <a:schemeClr val="tx1"/>
                          </a:solidFill>
                          <a:effectLst/>
                          <a:latin typeface="Arial" charset="0"/>
                          <a:ea typeface="宋体" pitchFamily="2" charset="-122"/>
                        </a:rPr>
                        <a:t>0.8</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99FF66"/>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400" b="0" i="0" u="none" strike="noStrike" cap="none" normalizeH="0" baseline="0" dirty="0">
                          <a:ln>
                            <a:noFill/>
                          </a:ln>
                          <a:solidFill>
                            <a:schemeClr val="tx1"/>
                          </a:solidFill>
                          <a:effectLst/>
                          <a:latin typeface="Arial" charset="0"/>
                          <a:ea typeface="宋体" pitchFamily="2" charset="-122"/>
                        </a:rPr>
                        <a:t>0.2</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99FF66"/>
                    </a:solidFill>
                  </a:tcPr>
                </a:tc>
                <a:extLst>
                  <a:ext uri="{0D108BD9-81ED-4DB2-BD59-A6C34878D82A}">
                    <a16:rowId xmlns:a16="http://schemas.microsoft.com/office/drawing/2014/main" val="10001"/>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2467">
                                            <p:txEl>
                                              <p:pRg st="3" end="3"/>
                                            </p:txEl>
                                          </p:spTgt>
                                        </p:tgtEl>
                                        <p:attrNameLst>
                                          <p:attrName>style.visibility</p:attrName>
                                        </p:attrNameLst>
                                      </p:cBhvr>
                                      <p:to>
                                        <p:strVal val="visible"/>
                                      </p:to>
                                    </p:set>
                                    <p:animEffect transition="in" filter="wipe(left)">
                                      <p:cBhvr>
                                        <p:cTn id="7" dur="500"/>
                                        <p:tgtEl>
                                          <p:spTgt spid="62467">
                                            <p:txEl>
                                              <p:pRg st="3" end="3"/>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2467">
                                            <p:txEl>
                                              <p:pRg st="4" end="4"/>
                                            </p:txEl>
                                          </p:spTgt>
                                        </p:tgtEl>
                                        <p:attrNameLst>
                                          <p:attrName>style.visibility</p:attrName>
                                        </p:attrNameLst>
                                      </p:cBhvr>
                                      <p:to>
                                        <p:strVal val="visible"/>
                                      </p:to>
                                    </p:set>
                                    <p:animEffect transition="in" filter="wipe(left)">
                                      <p:cBhvr>
                                        <p:cTn id="12" dur="500"/>
                                        <p:tgtEl>
                                          <p:spTgt spid="62467">
                                            <p:txEl>
                                              <p:pRg st="4" end="4"/>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62467">
                                            <p:txEl>
                                              <p:pRg st="5" end="5"/>
                                            </p:txEl>
                                          </p:spTgt>
                                        </p:tgtEl>
                                        <p:attrNameLst>
                                          <p:attrName>style.visibility</p:attrName>
                                        </p:attrNameLst>
                                      </p:cBhvr>
                                      <p:to>
                                        <p:strVal val="visible"/>
                                      </p:to>
                                    </p:set>
                                    <p:animEffect transition="in" filter="wipe(left)">
                                      <p:cBhvr>
                                        <p:cTn id="17" dur="500"/>
                                        <p:tgtEl>
                                          <p:spTgt spid="62467">
                                            <p:txEl>
                                              <p:pRg st="5" end="5"/>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62467">
                                            <p:txEl>
                                              <p:pRg st="6" end="6"/>
                                            </p:txEl>
                                          </p:spTgt>
                                        </p:tgtEl>
                                        <p:attrNameLst>
                                          <p:attrName>style.visibility</p:attrName>
                                        </p:attrNameLst>
                                      </p:cBhvr>
                                      <p:to>
                                        <p:strVal val="visible"/>
                                      </p:to>
                                    </p:set>
                                    <p:animEffect transition="in" filter="wipe(left)">
                                      <p:cBhvr>
                                        <p:cTn id="22" dur="500"/>
                                        <p:tgtEl>
                                          <p:spTgt spid="62467">
                                            <p:txEl>
                                              <p:pRg st="6" end="6"/>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31774"/>
                                        </p:tgtEl>
                                        <p:attrNameLst>
                                          <p:attrName>style.visibility</p:attrName>
                                        </p:attrNameLst>
                                      </p:cBhvr>
                                      <p:to>
                                        <p:strVal val="visible"/>
                                      </p:to>
                                    </p:set>
                                    <p:anim calcmode="lin" valueType="num">
                                      <p:cBhvr additive="base">
                                        <p:cTn id="27" dur="500" fill="hold"/>
                                        <p:tgtEl>
                                          <p:spTgt spid="31774"/>
                                        </p:tgtEl>
                                        <p:attrNameLst>
                                          <p:attrName>ppt_x</p:attrName>
                                        </p:attrNameLst>
                                      </p:cBhvr>
                                      <p:tavLst>
                                        <p:tav tm="0">
                                          <p:val>
                                            <p:strVal val="#ppt_x"/>
                                          </p:val>
                                        </p:tav>
                                        <p:tav tm="100000">
                                          <p:val>
                                            <p:strVal val="#ppt_x"/>
                                          </p:val>
                                        </p:tav>
                                      </p:tavLst>
                                    </p:anim>
                                    <p:anim calcmode="lin" valueType="num">
                                      <p:cBhvr additive="base">
                                        <p:cTn id="28" dur="500" fill="hold"/>
                                        <p:tgtEl>
                                          <p:spTgt spid="3177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467" grpId="0" build="p"/>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descr="图表, 折线图&#10;&#10;AI 生成的内容可能不正确。">
            <a:extLst>
              <a:ext uri="{FF2B5EF4-FFF2-40B4-BE49-F238E27FC236}">
                <a16:creationId xmlns:a16="http://schemas.microsoft.com/office/drawing/2014/main" id="{A456B2EF-6BD0-BE52-0A99-0050B998783F}"/>
              </a:ext>
            </a:extLst>
          </p:cNvPr>
          <p:cNvPicPr>
            <a:picLocks noChangeAspect="1"/>
          </p:cNvPicPr>
          <p:nvPr/>
        </p:nvPicPr>
        <p:blipFill>
          <a:blip r:embed="rId3">
            <a:extLst>
              <a:ext uri="{28A0092B-C50C-407E-A947-70E740481C1C}">
                <a14:useLocalDpi xmlns:a14="http://schemas.microsoft.com/office/drawing/2010/main" val="0"/>
              </a:ext>
            </a:extLst>
          </a:blip>
          <a:srcRect t="43925"/>
          <a:stretch>
            <a:fillRect/>
          </a:stretch>
        </p:blipFill>
        <p:spPr>
          <a:xfrm>
            <a:off x="2174700" y="4781659"/>
            <a:ext cx="3880025" cy="2175733"/>
          </a:xfrm>
          <a:prstGeom prst="rect">
            <a:avLst/>
          </a:prstGeom>
        </p:spPr>
      </p:pic>
      <p:pic>
        <p:nvPicPr>
          <p:cNvPr id="4" name="图片 3">
            <a:extLst>
              <a:ext uri="{FF2B5EF4-FFF2-40B4-BE49-F238E27FC236}">
                <a16:creationId xmlns:a16="http://schemas.microsoft.com/office/drawing/2014/main" id="{A16B0A94-5499-B66B-EE29-A11F67D082B9}"/>
              </a:ext>
            </a:extLst>
          </p:cNvPr>
          <p:cNvPicPr>
            <a:picLocks noChangeAspect="1"/>
          </p:cNvPicPr>
          <p:nvPr/>
        </p:nvPicPr>
        <p:blipFill>
          <a:blip r:embed="rId4"/>
          <a:stretch>
            <a:fillRect/>
          </a:stretch>
        </p:blipFill>
        <p:spPr>
          <a:xfrm>
            <a:off x="8144272" y="4910022"/>
            <a:ext cx="2969478" cy="1947978"/>
          </a:xfrm>
          <a:prstGeom prst="rect">
            <a:avLst/>
          </a:prstGeom>
        </p:spPr>
      </p:pic>
      <p:sp>
        <p:nvSpPr>
          <p:cNvPr id="32770" name="Rectangle 2"/>
          <p:cNvSpPr>
            <a:spLocks noGrp="1" noChangeArrowheads="1"/>
          </p:cNvSpPr>
          <p:nvPr>
            <p:ph type="title"/>
          </p:nvPr>
        </p:nvSpPr>
        <p:spPr>
          <a:xfrm>
            <a:off x="1939925" y="59086"/>
            <a:ext cx="8229600" cy="1371600"/>
          </a:xfrm>
        </p:spPr>
        <p:txBody>
          <a:bodyPr/>
          <a:lstStyle/>
          <a:p>
            <a:pPr algn="ctr" eaLnBrk="1" hangingPunct="1"/>
            <a:r>
              <a:rPr lang="zh-CN" altLang="en-US" dirty="0">
                <a:solidFill>
                  <a:srgbClr val="008000"/>
                </a:solidFill>
              </a:rPr>
              <a:t>模糊集合的表示方法</a:t>
            </a:r>
          </a:p>
        </p:txBody>
      </p:sp>
      <p:sp>
        <p:nvSpPr>
          <p:cNvPr id="66563" name="Rectangle 3"/>
          <p:cNvSpPr>
            <a:spLocks noGrp="1" noChangeArrowheads="1"/>
          </p:cNvSpPr>
          <p:nvPr>
            <p:ph type="body" sz="half" idx="1"/>
          </p:nvPr>
        </p:nvSpPr>
        <p:spPr>
          <a:xfrm>
            <a:off x="947428" y="1525587"/>
            <a:ext cx="10297144" cy="4238625"/>
          </a:xfrm>
        </p:spPr>
        <p:txBody>
          <a:bodyPr/>
          <a:lstStyle/>
          <a:p>
            <a:pPr eaLnBrk="1" hangingPunct="1">
              <a:defRPr/>
            </a:pPr>
            <a:r>
              <a:rPr kumimoji="1" lang="zh-CN" altLang="en-US" sz="2800" dirty="0">
                <a:ea typeface="黑体" pitchFamily="2" charset="-122"/>
              </a:rPr>
              <a:t>设论域为实数域</a:t>
            </a:r>
            <a:r>
              <a:rPr kumimoji="1" lang="en-US" altLang="zh-CN" sz="2800" dirty="0">
                <a:ea typeface="黑体" pitchFamily="2" charset="-122"/>
              </a:rPr>
              <a:t>R, A</a:t>
            </a:r>
            <a:r>
              <a:rPr kumimoji="1" lang="zh-CN" altLang="en-US" sz="2800" dirty="0">
                <a:ea typeface="黑体" pitchFamily="2" charset="-122"/>
              </a:rPr>
              <a:t>表示”</a:t>
            </a:r>
            <a:r>
              <a:rPr kumimoji="1" lang="zh-CN" altLang="en-US" sz="2800" dirty="0">
                <a:solidFill>
                  <a:srgbClr val="0000FF"/>
                </a:solidFill>
                <a:ea typeface="黑体" pitchFamily="2" charset="-122"/>
              </a:rPr>
              <a:t>靠近</a:t>
            </a:r>
            <a:r>
              <a:rPr kumimoji="1" lang="en-US" altLang="zh-CN" sz="2800" dirty="0">
                <a:solidFill>
                  <a:srgbClr val="0000FF"/>
                </a:solidFill>
                <a:ea typeface="黑体" pitchFamily="2" charset="-122"/>
              </a:rPr>
              <a:t>4</a:t>
            </a:r>
            <a:r>
              <a:rPr kumimoji="1" lang="zh-CN" altLang="en-US" sz="2800" dirty="0">
                <a:solidFill>
                  <a:srgbClr val="0000FF"/>
                </a:solidFill>
                <a:ea typeface="黑体" pitchFamily="2" charset="-122"/>
              </a:rPr>
              <a:t>的数集</a:t>
            </a:r>
            <a:r>
              <a:rPr kumimoji="1" lang="zh-CN" altLang="en-US" sz="2800" dirty="0">
                <a:ea typeface="黑体" pitchFamily="2" charset="-122"/>
              </a:rPr>
              <a:t>”</a:t>
            </a:r>
            <a:r>
              <a:rPr kumimoji="1" lang="en-US" altLang="zh-CN" sz="2800" dirty="0">
                <a:ea typeface="黑体" pitchFamily="2" charset="-122"/>
              </a:rPr>
              <a:t>,B</a:t>
            </a:r>
            <a:r>
              <a:rPr kumimoji="1" lang="zh-CN" altLang="en-US" sz="2800" dirty="0">
                <a:ea typeface="黑体" pitchFamily="2" charset="-122"/>
              </a:rPr>
              <a:t>表示”</a:t>
            </a:r>
            <a:r>
              <a:rPr kumimoji="1" lang="zh-CN" altLang="en-US" sz="2800" dirty="0">
                <a:solidFill>
                  <a:srgbClr val="CC00FF"/>
                </a:solidFill>
                <a:ea typeface="黑体" pitchFamily="2" charset="-122"/>
              </a:rPr>
              <a:t>比</a:t>
            </a:r>
            <a:r>
              <a:rPr kumimoji="1" lang="en-US" altLang="zh-CN" sz="2800" dirty="0">
                <a:solidFill>
                  <a:srgbClr val="CC00FF"/>
                </a:solidFill>
                <a:ea typeface="黑体" pitchFamily="2" charset="-122"/>
              </a:rPr>
              <a:t>4</a:t>
            </a:r>
            <a:r>
              <a:rPr kumimoji="1" lang="zh-CN" altLang="en-US" sz="2800" dirty="0">
                <a:solidFill>
                  <a:srgbClr val="CC00FF"/>
                </a:solidFill>
                <a:ea typeface="黑体" pitchFamily="2" charset="-122"/>
              </a:rPr>
              <a:t>大得多的数集</a:t>
            </a:r>
            <a:r>
              <a:rPr kumimoji="1" lang="zh-CN" altLang="en-US" sz="2800" dirty="0">
                <a:ea typeface="黑体" pitchFamily="2" charset="-122"/>
              </a:rPr>
              <a:t>”</a:t>
            </a:r>
            <a:r>
              <a:rPr kumimoji="1" lang="en-US" altLang="zh-CN" sz="2800" dirty="0">
                <a:ea typeface="黑体" pitchFamily="2" charset="-122"/>
              </a:rPr>
              <a:t>, </a:t>
            </a:r>
            <a:r>
              <a:rPr kumimoji="1" lang="zh-CN" altLang="en-US" sz="2800" dirty="0">
                <a:ea typeface="黑体" pitchFamily="2" charset="-122"/>
              </a:rPr>
              <a:t>则</a:t>
            </a:r>
            <a:r>
              <a:rPr kumimoji="1" lang="en-US" altLang="zh-CN" sz="2800" dirty="0">
                <a:ea typeface="黑体" pitchFamily="2" charset="-122"/>
              </a:rPr>
              <a:t>A</a:t>
            </a:r>
            <a:r>
              <a:rPr kumimoji="1" lang="zh-CN" altLang="en-US" sz="2800" dirty="0">
                <a:ea typeface="黑体" pitchFamily="2" charset="-122"/>
              </a:rPr>
              <a:t>、</a:t>
            </a:r>
            <a:r>
              <a:rPr kumimoji="1" lang="en-US" altLang="zh-CN" sz="2800" dirty="0">
                <a:ea typeface="黑体" pitchFamily="2" charset="-122"/>
              </a:rPr>
              <a:t>B</a:t>
            </a:r>
            <a:r>
              <a:rPr kumimoji="1" lang="en-US" altLang="zh-CN" sz="2800" b="1" dirty="0">
                <a:sym typeface="Symbol" pitchFamily="18" charset="2"/>
              </a:rPr>
              <a:t></a:t>
            </a:r>
            <a:r>
              <a:rPr lang="en-US" altLang="zh-CN" b="1" dirty="0">
                <a:latin typeface="Monotype Corsiva" pitchFamily="66" charset="0"/>
                <a:sym typeface="Symbol" pitchFamily="18" charset="2"/>
              </a:rPr>
              <a:t>F</a:t>
            </a:r>
            <a:r>
              <a:rPr lang="en-US" altLang="zh-CN" sz="2800" b="1" dirty="0">
                <a:latin typeface="Monotype Corsiva" pitchFamily="66" charset="0"/>
                <a:sym typeface="Symbol" pitchFamily="18" charset="2"/>
              </a:rPr>
              <a:t> </a:t>
            </a:r>
            <a:r>
              <a:rPr kumimoji="1" lang="en-US" altLang="zh-CN" sz="2800" dirty="0">
                <a:ea typeface="黑体" pitchFamily="2" charset="-122"/>
              </a:rPr>
              <a:t>(U)</a:t>
            </a:r>
            <a:r>
              <a:rPr kumimoji="1" lang="zh-CN" altLang="en-US" sz="2800" dirty="0">
                <a:ea typeface="黑体" pitchFamily="2" charset="-122"/>
              </a:rPr>
              <a:t>，</a:t>
            </a:r>
            <a:endParaRPr lang="zh-CN" altLang="en-US" dirty="0"/>
          </a:p>
          <a:p>
            <a:pPr eaLnBrk="1" hangingPunct="1">
              <a:defRPr/>
            </a:pPr>
            <a:r>
              <a:rPr lang="zh-CN" altLang="en-US" dirty="0">
                <a:solidFill>
                  <a:srgbClr val="FF0000"/>
                </a:solidFill>
                <a:ea typeface="黑体" pitchFamily="2" charset="-122"/>
              </a:rPr>
              <a:t>函数描述方法</a:t>
            </a:r>
            <a:r>
              <a:rPr lang="zh-CN" altLang="en-US" dirty="0">
                <a:solidFill>
                  <a:srgbClr val="FF0000"/>
                </a:solidFill>
              </a:rPr>
              <a:t>：</a:t>
            </a:r>
          </a:p>
          <a:p>
            <a:pPr marL="0" indent="0" eaLnBrk="1" hangingPunct="1">
              <a:buNone/>
              <a:defRPr/>
            </a:pPr>
            <a:r>
              <a:rPr lang="zh-CN" altLang="en-US" sz="2800" b="1" dirty="0">
                <a:latin typeface="+mn-ea"/>
              </a:rPr>
              <a:t> 当</a:t>
            </a:r>
            <a:r>
              <a:rPr lang="en-US" altLang="zh-CN" sz="2800" b="1" dirty="0">
                <a:latin typeface="+mj-lt"/>
              </a:rPr>
              <a:t>U</a:t>
            </a:r>
            <a:r>
              <a:rPr lang="zh-CN" altLang="en-US" sz="2800" b="1" dirty="0">
                <a:latin typeface="+mn-ea"/>
              </a:rPr>
              <a:t>为无限不可数集时，  </a:t>
            </a:r>
            <a:r>
              <a:rPr lang="zh-CN" altLang="en-US" sz="2800" b="1" dirty="0">
                <a:solidFill>
                  <a:srgbClr val="000099"/>
                </a:solidFill>
                <a:latin typeface="+mn-ea"/>
              </a:rPr>
              <a:t> </a:t>
            </a:r>
            <a:endParaRPr lang="en-US" altLang="zh-CN" sz="2800" b="1" dirty="0">
              <a:solidFill>
                <a:srgbClr val="000099"/>
              </a:solidFill>
              <a:latin typeface="+mn-ea"/>
            </a:endParaRPr>
          </a:p>
          <a:p>
            <a:pPr eaLnBrk="1" hangingPunct="1">
              <a:defRPr/>
            </a:pPr>
            <a:r>
              <a:rPr lang="zh-CN" altLang="en-US" sz="2800" dirty="0"/>
              <a:t>例：</a:t>
            </a:r>
          </a:p>
        </p:txBody>
      </p:sp>
      <p:graphicFrame>
        <p:nvGraphicFramePr>
          <p:cNvPr id="66595" name="Object 35"/>
          <p:cNvGraphicFramePr>
            <a:graphicFrameLocks noGrp="1" noChangeAspect="1"/>
          </p:cNvGraphicFramePr>
          <p:nvPr>
            <p:ph sz="quarter" idx="3"/>
            <p:extLst>
              <p:ext uri="{D42A27DB-BD31-4B8C-83A1-F6EECF244321}">
                <p14:modId xmlns:p14="http://schemas.microsoft.com/office/powerpoint/2010/main" val="2539723962"/>
              </p:ext>
            </p:extLst>
          </p:nvPr>
        </p:nvGraphicFramePr>
        <p:xfrm>
          <a:off x="7406582" y="3272240"/>
          <a:ext cx="3707168" cy="1702113"/>
        </p:xfrm>
        <a:graphic>
          <a:graphicData uri="http://schemas.openxmlformats.org/presentationml/2006/ole">
            <mc:AlternateContent xmlns:mc="http://schemas.openxmlformats.org/markup-compatibility/2006">
              <mc:Choice xmlns:v="urn:schemas-microsoft-com:vml" Requires="v">
                <p:oleObj name="公式" r:id="rId5" imgW="1714500" imgH="787400" progId="Equation.3">
                  <p:embed/>
                </p:oleObj>
              </mc:Choice>
              <mc:Fallback>
                <p:oleObj name="公式" r:id="rId5" imgW="1714500" imgH="787400" progId="Equation.3">
                  <p:embed/>
                  <p:pic>
                    <p:nvPicPr>
                      <p:cNvPr id="66595" name="Object 3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406582" y="3272240"/>
                        <a:ext cx="3707168" cy="1702113"/>
                      </a:xfrm>
                      <a:prstGeom prst="rect">
                        <a:avLst/>
                      </a:prstGeom>
                      <a:noFill/>
                      <a:ln>
                        <a:noFill/>
                      </a:ln>
                      <a:effectLst/>
                    </p:spPr>
                  </p:pic>
                </p:oleObj>
              </mc:Fallback>
            </mc:AlternateContent>
          </a:graphicData>
        </a:graphic>
      </p:graphicFrame>
      <p:graphicFrame>
        <p:nvGraphicFramePr>
          <p:cNvPr id="2" name="对象 1"/>
          <p:cNvGraphicFramePr>
            <a:graphicFrameLocks noChangeAspect="1"/>
          </p:cNvGraphicFramePr>
          <p:nvPr>
            <p:extLst>
              <p:ext uri="{D42A27DB-BD31-4B8C-83A1-F6EECF244321}">
                <p14:modId xmlns:p14="http://schemas.microsoft.com/office/powerpoint/2010/main" val="2170507388"/>
              </p:ext>
            </p:extLst>
          </p:nvPr>
        </p:nvGraphicFramePr>
        <p:xfrm>
          <a:off x="4975931" y="2852936"/>
          <a:ext cx="1789410" cy="1008577"/>
        </p:xfrm>
        <a:graphic>
          <a:graphicData uri="http://schemas.openxmlformats.org/presentationml/2006/ole">
            <mc:AlternateContent xmlns:mc="http://schemas.openxmlformats.org/markup-compatibility/2006">
              <mc:Choice xmlns:v="urn:schemas-microsoft-com:vml" Requires="v">
                <p:oleObj name="Equation" r:id="rId7" imgW="698400" imgH="393480" progId="Equation.DSMT4">
                  <p:embed/>
                </p:oleObj>
              </mc:Choice>
              <mc:Fallback>
                <p:oleObj name="Equation" r:id="rId7" imgW="698400" imgH="393480" progId="Equation.DSMT4">
                  <p:embed/>
                  <p:pic>
                    <p:nvPicPr>
                      <p:cNvPr id="2" name="对象 1"/>
                      <p:cNvPicPr/>
                      <p:nvPr/>
                    </p:nvPicPr>
                    <p:blipFill>
                      <a:blip r:embed="rId8"/>
                      <a:stretch>
                        <a:fillRect/>
                      </a:stretch>
                    </p:blipFill>
                    <p:spPr>
                      <a:xfrm>
                        <a:off x="4975931" y="2852936"/>
                        <a:ext cx="1789410" cy="1008577"/>
                      </a:xfrm>
                      <a:prstGeom prst="rect">
                        <a:avLst/>
                      </a:prstGeom>
                    </p:spPr>
                  </p:pic>
                </p:oleObj>
              </mc:Fallback>
            </mc:AlternateContent>
          </a:graphicData>
        </a:graphic>
      </p:graphicFrame>
      <p:graphicFrame>
        <p:nvGraphicFramePr>
          <p:cNvPr id="66593" name="Object 33"/>
          <p:cNvGraphicFramePr>
            <a:graphicFrameLocks noGrp="1" noChangeAspect="1"/>
          </p:cNvGraphicFramePr>
          <p:nvPr>
            <p:ph sz="quarter" idx="2"/>
            <p:extLst>
              <p:ext uri="{D42A27DB-BD31-4B8C-83A1-F6EECF244321}">
                <p14:modId xmlns:p14="http://schemas.microsoft.com/office/powerpoint/2010/main" val="1787457773"/>
              </p:ext>
            </p:extLst>
          </p:nvPr>
        </p:nvGraphicFramePr>
        <p:xfrm>
          <a:off x="1810331" y="3802142"/>
          <a:ext cx="4030415" cy="1159945"/>
        </p:xfrm>
        <a:graphic>
          <a:graphicData uri="http://schemas.openxmlformats.org/presentationml/2006/ole">
            <mc:AlternateContent xmlns:mc="http://schemas.openxmlformats.org/markup-compatibility/2006">
              <mc:Choice xmlns:v="urn:schemas-microsoft-com:vml" Requires="v">
                <p:oleObj name="公式" r:id="rId9" imgW="1765300" imgH="508000" progId="Equation.3">
                  <p:embed/>
                </p:oleObj>
              </mc:Choice>
              <mc:Fallback>
                <p:oleObj name="公式" r:id="rId9" imgW="1765300" imgH="508000" progId="Equation.3">
                  <p:embed/>
                  <p:pic>
                    <p:nvPicPr>
                      <p:cNvPr id="66593" name="Object 33"/>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810331" y="3802142"/>
                        <a:ext cx="4030415" cy="1159945"/>
                      </a:xfrm>
                      <a:prstGeom prst="rect">
                        <a:avLst/>
                      </a:prstGeom>
                      <a:noFill/>
                      <a:ln>
                        <a:noFill/>
                      </a:ln>
                      <a:effectLst/>
                    </p:spPr>
                  </p:pic>
                </p:oleObj>
              </mc:Fallback>
            </mc:AlternateContent>
          </a:graphicData>
        </a:graphic>
      </p:graphicFrame>
      <p:sp>
        <p:nvSpPr>
          <p:cNvPr id="3" name="AutoShape 6">
            <a:extLst>
              <a:ext uri="{FF2B5EF4-FFF2-40B4-BE49-F238E27FC236}">
                <a16:creationId xmlns:a16="http://schemas.microsoft.com/office/drawing/2014/main" id="{42647980-B818-7674-6E45-357A350DD747}"/>
              </a:ext>
            </a:extLst>
          </p:cNvPr>
          <p:cNvSpPr>
            <a:spLocks noChangeArrowheads="1"/>
          </p:cNvSpPr>
          <p:nvPr/>
        </p:nvSpPr>
        <p:spPr bwMode="auto">
          <a:xfrm>
            <a:off x="7215294" y="2111737"/>
            <a:ext cx="3898456" cy="900624"/>
          </a:xfrm>
          <a:prstGeom prst="wedgeRoundRectCallout">
            <a:avLst>
              <a:gd name="adj1" fmla="val -62431"/>
              <a:gd name="adj2" fmla="val 100852"/>
              <a:gd name="adj3" fmla="val 16667"/>
            </a:avLst>
          </a:prstGeom>
          <a:solidFill>
            <a:srgbClr val="F9B4F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sz="2400" b="1" dirty="0">
                <a:ea typeface="楷体_GB2312" pitchFamily="49" charset="-122"/>
              </a:rPr>
              <a:t>不代表</a:t>
            </a:r>
            <a:r>
              <a:rPr lang="en-US" altLang="zh-CN" sz="2400" b="1" dirty="0">
                <a:ea typeface="楷体_GB2312" pitchFamily="49" charset="-122"/>
              </a:rPr>
              <a:t>”</a:t>
            </a:r>
            <a:r>
              <a:rPr lang="zh-CN" altLang="en-US" sz="2400" b="1" dirty="0">
                <a:ea typeface="楷体_GB2312" pitchFamily="49" charset="-122"/>
              </a:rPr>
              <a:t>分式</a:t>
            </a:r>
            <a:r>
              <a:rPr lang="en-US" altLang="zh-CN" sz="2400" b="1" dirty="0">
                <a:ea typeface="楷体_GB2312" pitchFamily="49" charset="-122"/>
              </a:rPr>
              <a:t>”, </a:t>
            </a:r>
            <a:r>
              <a:rPr lang="zh-CN" altLang="en-US" sz="2400" b="1" dirty="0">
                <a:ea typeface="楷体_GB2312" pitchFamily="49" charset="-122"/>
              </a:rPr>
              <a:t>而是表示元素</a:t>
            </a:r>
            <a:r>
              <a:rPr lang="en-US" altLang="zh-CN" sz="2400" b="1" dirty="0">
                <a:ea typeface="楷体_GB2312" pitchFamily="49" charset="-122"/>
              </a:rPr>
              <a:t>u</a:t>
            </a:r>
            <a:r>
              <a:rPr lang="zh-CN" altLang="en-US" sz="2400" b="1" dirty="0">
                <a:ea typeface="楷体_GB2312" pitchFamily="49" charset="-122"/>
              </a:rPr>
              <a:t>对于集合</a:t>
            </a:r>
            <a:r>
              <a:rPr lang="en-US" altLang="zh-CN" sz="2400" b="1" dirty="0">
                <a:ea typeface="楷体_GB2312" pitchFamily="49" charset="-122"/>
              </a:rPr>
              <a:t>A</a:t>
            </a:r>
            <a:r>
              <a:rPr lang="zh-CN" altLang="en-US" sz="2400" b="1" dirty="0">
                <a:ea typeface="楷体_GB2312" pitchFamily="49" charset="-122"/>
              </a:rPr>
              <a:t>的隶属度</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66563">
                                            <p:txEl>
                                              <p:pRg st="0" end="0"/>
                                            </p:txEl>
                                          </p:spTgt>
                                        </p:tgtEl>
                                        <p:attrNameLst>
                                          <p:attrName>style.visibility</p:attrName>
                                        </p:attrNameLst>
                                      </p:cBhvr>
                                      <p:to>
                                        <p:strVal val="visible"/>
                                      </p:to>
                                    </p:set>
                                    <p:animEffect transition="in" filter="wipe(left)">
                                      <p:cBhvr>
                                        <p:cTn id="7" dur="500"/>
                                        <p:tgtEl>
                                          <p:spTgt spid="6656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6563">
                                            <p:txEl>
                                              <p:pRg st="1" end="1"/>
                                            </p:txEl>
                                          </p:spTgt>
                                        </p:tgtEl>
                                        <p:attrNameLst>
                                          <p:attrName>style.visibility</p:attrName>
                                        </p:attrNameLst>
                                      </p:cBhvr>
                                      <p:to>
                                        <p:strVal val="visible"/>
                                      </p:to>
                                    </p:set>
                                    <p:animEffect transition="in" filter="wipe(left)">
                                      <p:cBhvr>
                                        <p:cTn id="12" dur="500"/>
                                        <p:tgtEl>
                                          <p:spTgt spid="66563">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66563">
                                            <p:txEl>
                                              <p:pRg st="2" end="2"/>
                                            </p:txEl>
                                          </p:spTgt>
                                        </p:tgtEl>
                                        <p:attrNameLst>
                                          <p:attrName>style.visibility</p:attrName>
                                        </p:attrNameLst>
                                      </p:cBhvr>
                                      <p:to>
                                        <p:strVal val="visible"/>
                                      </p:to>
                                    </p:set>
                                    <p:animEffect transition="in" filter="wipe(left)">
                                      <p:cBhvr>
                                        <p:cTn id="17" dur="500"/>
                                        <p:tgtEl>
                                          <p:spTgt spid="6656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fade">
                                      <p:cBhvr>
                                        <p:cTn id="22" dur="500"/>
                                        <p:tgtEl>
                                          <p:spTgt spid="2"/>
                                        </p:tgtEl>
                                      </p:cBhvr>
                                    </p:animEffect>
                                  </p:childTnLst>
                                </p:cTn>
                              </p:par>
                            </p:childTnLst>
                          </p:cTn>
                        </p:par>
                      </p:childTnLst>
                    </p:cTn>
                  </p:par>
                  <p:par>
                    <p:cTn id="23" fill="hold">
                      <p:stCondLst>
                        <p:cond delay="indefinite"/>
                      </p:stCondLst>
                      <p:childTnLst>
                        <p:par>
                          <p:cTn id="24" fill="hold">
                            <p:stCondLst>
                              <p:cond delay="0"/>
                            </p:stCondLst>
                            <p:childTnLst>
                              <p:par>
                                <p:cTn id="25" presetID="2" presetClass="entr" presetSubtype="2" fill="hold" grpId="0" nodeType="clickEffect">
                                  <p:stCondLst>
                                    <p:cond delay="0"/>
                                  </p:stCondLst>
                                  <p:childTnLst>
                                    <p:set>
                                      <p:cBhvr>
                                        <p:cTn id="26" dur="1" fill="hold">
                                          <p:stCondLst>
                                            <p:cond delay="0"/>
                                          </p:stCondLst>
                                        </p:cTn>
                                        <p:tgtEl>
                                          <p:spTgt spid="3"/>
                                        </p:tgtEl>
                                        <p:attrNameLst>
                                          <p:attrName>style.visibility</p:attrName>
                                        </p:attrNameLst>
                                      </p:cBhvr>
                                      <p:to>
                                        <p:strVal val="visible"/>
                                      </p:to>
                                    </p:set>
                                    <p:anim calcmode="lin" valueType="num">
                                      <p:cBhvr additive="base">
                                        <p:cTn id="27" dur="500" fill="hold"/>
                                        <p:tgtEl>
                                          <p:spTgt spid="3"/>
                                        </p:tgtEl>
                                        <p:attrNameLst>
                                          <p:attrName>ppt_x</p:attrName>
                                        </p:attrNameLst>
                                      </p:cBhvr>
                                      <p:tavLst>
                                        <p:tav tm="0">
                                          <p:val>
                                            <p:strVal val="1+#ppt_w/2"/>
                                          </p:val>
                                        </p:tav>
                                        <p:tav tm="100000">
                                          <p:val>
                                            <p:strVal val="#ppt_x"/>
                                          </p:val>
                                        </p:tav>
                                      </p:tavLst>
                                    </p:anim>
                                    <p:anim calcmode="lin" valueType="num">
                                      <p:cBhvr additive="base">
                                        <p:cTn id="28" dur="500" fill="hold"/>
                                        <p:tgtEl>
                                          <p:spTgt spid="3"/>
                                        </p:tgtEl>
                                        <p:attrNameLst>
                                          <p:attrName>ppt_y</p:attrName>
                                        </p:attrNameLst>
                                      </p:cBhvr>
                                      <p:tavLst>
                                        <p:tav tm="0">
                                          <p:val>
                                            <p:strVal val="#ppt_y"/>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66563">
                                            <p:txEl>
                                              <p:pRg st="3" end="3"/>
                                            </p:txEl>
                                          </p:spTgt>
                                        </p:tgtEl>
                                        <p:attrNameLst>
                                          <p:attrName>style.visibility</p:attrName>
                                        </p:attrNameLst>
                                      </p:cBhvr>
                                      <p:to>
                                        <p:strVal val="visible"/>
                                      </p:to>
                                    </p:set>
                                    <p:animEffect transition="in" filter="wipe(left)">
                                      <p:cBhvr>
                                        <p:cTn id="33" dur="500"/>
                                        <p:tgtEl>
                                          <p:spTgt spid="66563">
                                            <p:txEl>
                                              <p:pRg st="3" end="3"/>
                                            </p:txEl>
                                          </p:spTgt>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22" presetClass="entr" presetSubtype="1" fill="hold" nodeType="clickEffect">
                                  <p:stCondLst>
                                    <p:cond delay="0"/>
                                  </p:stCondLst>
                                  <p:childTnLst>
                                    <p:set>
                                      <p:cBhvr>
                                        <p:cTn id="37" dur="1" fill="hold">
                                          <p:stCondLst>
                                            <p:cond delay="0"/>
                                          </p:stCondLst>
                                        </p:cTn>
                                        <p:tgtEl>
                                          <p:spTgt spid="66593"/>
                                        </p:tgtEl>
                                        <p:attrNameLst>
                                          <p:attrName>style.visibility</p:attrName>
                                        </p:attrNameLst>
                                      </p:cBhvr>
                                      <p:to>
                                        <p:strVal val="visible"/>
                                      </p:to>
                                    </p:set>
                                    <p:animEffect transition="in" filter="wipe(up)">
                                      <p:cBhvr>
                                        <p:cTn id="38" dur="500"/>
                                        <p:tgtEl>
                                          <p:spTgt spid="66593"/>
                                        </p:tgtEl>
                                      </p:cBhvr>
                                    </p:animEffect>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9"/>
                                        </p:tgtEl>
                                        <p:attrNameLst>
                                          <p:attrName>style.visibility</p:attrName>
                                        </p:attrNameLst>
                                      </p:cBhvr>
                                      <p:to>
                                        <p:strVal val="visible"/>
                                      </p:to>
                                    </p:set>
                                    <p:anim calcmode="lin" valueType="num">
                                      <p:cBhvr additive="base">
                                        <p:cTn id="43" dur="500" fill="hold"/>
                                        <p:tgtEl>
                                          <p:spTgt spid="9"/>
                                        </p:tgtEl>
                                        <p:attrNameLst>
                                          <p:attrName>ppt_x</p:attrName>
                                        </p:attrNameLst>
                                      </p:cBhvr>
                                      <p:tavLst>
                                        <p:tav tm="0">
                                          <p:val>
                                            <p:strVal val="#ppt_x"/>
                                          </p:val>
                                        </p:tav>
                                        <p:tav tm="100000">
                                          <p:val>
                                            <p:strVal val="#ppt_x"/>
                                          </p:val>
                                        </p:tav>
                                      </p:tavLst>
                                    </p:anim>
                                    <p:anim calcmode="lin" valueType="num">
                                      <p:cBhvr additive="base">
                                        <p:cTn id="44"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2" presetClass="entr" presetSubtype="1" fill="hold" nodeType="clickEffect">
                                  <p:stCondLst>
                                    <p:cond delay="0"/>
                                  </p:stCondLst>
                                  <p:childTnLst>
                                    <p:set>
                                      <p:cBhvr>
                                        <p:cTn id="48" dur="1" fill="hold">
                                          <p:stCondLst>
                                            <p:cond delay="0"/>
                                          </p:stCondLst>
                                        </p:cTn>
                                        <p:tgtEl>
                                          <p:spTgt spid="66595"/>
                                        </p:tgtEl>
                                        <p:attrNameLst>
                                          <p:attrName>style.visibility</p:attrName>
                                        </p:attrNameLst>
                                      </p:cBhvr>
                                      <p:to>
                                        <p:strVal val="visible"/>
                                      </p:to>
                                    </p:set>
                                    <p:animEffect transition="in" filter="wipe(up)">
                                      <p:cBhvr>
                                        <p:cTn id="49" dur="500"/>
                                        <p:tgtEl>
                                          <p:spTgt spid="66595"/>
                                        </p:tgtEl>
                                      </p:cBhvr>
                                    </p:animEffect>
                                  </p:childTnLst>
                                </p:cTn>
                              </p:par>
                            </p:childTnLst>
                          </p:cTn>
                        </p:par>
                      </p:childTnLst>
                    </p:cTn>
                  </p:par>
                  <p:par>
                    <p:cTn id="50" fill="hold">
                      <p:stCondLst>
                        <p:cond delay="indefinite"/>
                      </p:stCondLst>
                      <p:childTnLst>
                        <p:par>
                          <p:cTn id="51" fill="hold">
                            <p:stCondLst>
                              <p:cond delay="0"/>
                            </p:stCondLst>
                            <p:childTnLst>
                              <p:par>
                                <p:cTn id="52" presetID="42" presetClass="entr" presetSubtype="0" fill="hold" nodeType="clickEffect">
                                  <p:stCondLst>
                                    <p:cond delay="0"/>
                                  </p:stCondLst>
                                  <p:childTnLst>
                                    <p:set>
                                      <p:cBhvr>
                                        <p:cTn id="53" dur="1" fill="hold">
                                          <p:stCondLst>
                                            <p:cond delay="0"/>
                                          </p:stCondLst>
                                        </p:cTn>
                                        <p:tgtEl>
                                          <p:spTgt spid="4"/>
                                        </p:tgtEl>
                                        <p:attrNameLst>
                                          <p:attrName>style.visibility</p:attrName>
                                        </p:attrNameLst>
                                      </p:cBhvr>
                                      <p:to>
                                        <p:strVal val="visible"/>
                                      </p:to>
                                    </p:set>
                                    <p:animEffect transition="in" filter="fade">
                                      <p:cBhvr>
                                        <p:cTn id="54" dur="1000"/>
                                        <p:tgtEl>
                                          <p:spTgt spid="4"/>
                                        </p:tgtEl>
                                      </p:cBhvr>
                                    </p:animEffect>
                                    <p:anim calcmode="lin" valueType="num">
                                      <p:cBhvr>
                                        <p:cTn id="55" dur="1000" fill="hold"/>
                                        <p:tgtEl>
                                          <p:spTgt spid="4"/>
                                        </p:tgtEl>
                                        <p:attrNameLst>
                                          <p:attrName>ppt_x</p:attrName>
                                        </p:attrNameLst>
                                      </p:cBhvr>
                                      <p:tavLst>
                                        <p:tav tm="0">
                                          <p:val>
                                            <p:strVal val="#ppt_x"/>
                                          </p:val>
                                        </p:tav>
                                        <p:tav tm="100000">
                                          <p:val>
                                            <p:strVal val="#ppt_x"/>
                                          </p:val>
                                        </p:tav>
                                      </p:tavLst>
                                    </p:anim>
                                    <p:anim calcmode="lin" valueType="num">
                                      <p:cBhvr>
                                        <p:cTn id="56"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563" grpId="0" uiExpand="1" build="p"/>
      <p:bldP spid="3"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a:xfrm>
            <a:off x="1992313" y="333375"/>
            <a:ext cx="8229600" cy="884238"/>
          </a:xfrm>
        </p:spPr>
        <p:txBody>
          <a:bodyPr/>
          <a:lstStyle/>
          <a:p>
            <a:pPr algn="ctr" eaLnBrk="1" hangingPunct="1"/>
            <a:r>
              <a:rPr lang="en-US" altLang="zh-CN" dirty="0">
                <a:solidFill>
                  <a:srgbClr val="008000"/>
                </a:solidFill>
              </a:rPr>
              <a:t>1.3 </a:t>
            </a:r>
            <a:r>
              <a:rPr lang="zh-CN" altLang="en-US" dirty="0">
                <a:solidFill>
                  <a:srgbClr val="008000"/>
                </a:solidFill>
              </a:rPr>
              <a:t>模糊集的运算</a:t>
            </a:r>
          </a:p>
        </p:txBody>
      </p:sp>
      <p:sp>
        <p:nvSpPr>
          <p:cNvPr id="40964" name="Rectangle 4"/>
          <p:cNvSpPr>
            <a:spLocks noGrp="1" noChangeArrowheads="1"/>
          </p:cNvSpPr>
          <p:nvPr>
            <p:ph idx="1"/>
          </p:nvPr>
        </p:nvSpPr>
        <p:spPr>
          <a:xfrm>
            <a:off x="1127448" y="1601788"/>
            <a:ext cx="10009112" cy="5256212"/>
          </a:xfrm>
          <a:noFill/>
        </p:spPr>
        <p:txBody>
          <a:bodyPr>
            <a:normAutofit/>
          </a:bodyPr>
          <a:lstStyle/>
          <a:p>
            <a:pPr eaLnBrk="1" hangingPunct="1">
              <a:lnSpc>
                <a:spcPct val="110000"/>
              </a:lnSpc>
            </a:pPr>
            <a:r>
              <a:rPr kumimoji="1" lang="zh-CN" altLang="en-US" sz="3200" b="1" dirty="0">
                <a:solidFill>
                  <a:srgbClr val="0000FF"/>
                </a:solidFill>
              </a:rPr>
              <a:t>相等</a:t>
            </a:r>
            <a:r>
              <a:rPr kumimoji="1" lang="zh-CN" altLang="en-US" sz="3200" b="1" dirty="0"/>
              <a:t>：</a:t>
            </a:r>
            <a:r>
              <a:rPr kumimoji="1" lang="en-US" altLang="zh-CN" sz="3200" b="1" i="1" dirty="0"/>
              <a:t>A</a:t>
            </a:r>
            <a:r>
              <a:rPr kumimoji="1" lang="en-US" altLang="zh-CN" sz="3200" b="1" dirty="0"/>
              <a:t> = </a:t>
            </a:r>
            <a:r>
              <a:rPr kumimoji="1" lang="en-US" altLang="zh-CN" sz="3200" b="1" i="1" dirty="0"/>
              <a:t>B</a:t>
            </a:r>
            <a:r>
              <a:rPr kumimoji="1" lang="en-US" altLang="zh-CN" sz="3200" b="1" dirty="0"/>
              <a:t> </a:t>
            </a:r>
            <a:r>
              <a:rPr kumimoji="1" lang="en-US" altLang="zh-CN" sz="3200" b="1" dirty="0">
                <a:sym typeface="Symbol" pitchFamily="18" charset="2"/>
              </a:rPr>
              <a:t></a:t>
            </a:r>
            <a:r>
              <a:rPr kumimoji="1" lang="en-US" altLang="zh-CN" sz="3200" b="1" dirty="0"/>
              <a:t> </a:t>
            </a:r>
            <a:r>
              <a:rPr kumimoji="1" lang="en-US" altLang="zh-CN" sz="3200" b="1" i="1" dirty="0"/>
              <a:t>A</a:t>
            </a:r>
            <a:r>
              <a:rPr kumimoji="1" lang="en-US" altLang="zh-CN" sz="3200" b="1" dirty="0"/>
              <a:t>(</a:t>
            </a:r>
            <a:r>
              <a:rPr kumimoji="1" lang="en-US" altLang="zh-CN" sz="3200" b="1" i="1" dirty="0"/>
              <a:t>x</a:t>
            </a:r>
            <a:r>
              <a:rPr kumimoji="1" lang="en-US" altLang="zh-CN" sz="3200" b="1" dirty="0"/>
              <a:t>) = </a:t>
            </a:r>
            <a:r>
              <a:rPr kumimoji="1" lang="en-US" altLang="zh-CN" sz="3200" b="1" i="1" dirty="0"/>
              <a:t>B</a:t>
            </a:r>
            <a:r>
              <a:rPr kumimoji="1" lang="en-US" altLang="zh-CN" sz="3200" b="1" dirty="0"/>
              <a:t>(</a:t>
            </a:r>
            <a:r>
              <a:rPr kumimoji="1" lang="en-US" altLang="zh-CN" sz="3200" b="1" i="1" dirty="0"/>
              <a:t>x</a:t>
            </a:r>
            <a:r>
              <a:rPr kumimoji="1" lang="en-US" altLang="zh-CN" sz="3200" b="1" dirty="0"/>
              <a:t>)</a:t>
            </a:r>
            <a:r>
              <a:rPr kumimoji="1" lang="zh-CN" altLang="en-US" sz="3200" b="1" dirty="0"/>
              <a:t>；</a:t>
            </a:r>
          </a:p>
          <a:p>
            <a:pPr eaLnBrk="1" hangingPunct="1">
              <a:lnSpc>
                <a:spcPct val="110000"/>
              </a:lnSpc>
            </a:pPr>
            <a:r>
              <a:rPr kumimoji="1" lang="zh-CN" altLang="en-US" sz="3200" b="1" dirty="0">
                <a:solidFill>
                  <a:srgbClr val="0000FF"/>
                </a:solidFill>
              </a:rPr>
              <a:t>包含</a:t>
            </a:r>
            <a:r>
              <a:rPr kumimoji="1" lang="zh-CN" altLang="en-US" sz="3200" b="1" dirty="0"/>
              <a:t>：</a:t>
            </a:r>
            <a:r>
              <a:rPr kumimoji="1" lang="en-US" altLang="zh-CN" sz="3200" b="1" i="1" dirty="0"/>
              <a:t>A </a:t>
            </a:r>
            <a:r>
              <a:rPr kumimoji="1" lang="en-US" altLang="zh-CN" sz="3200" b="1" dirty="0">
                <a:solidFill>
                  <a:srgbClr val="CC00CC"/>
                </a:solidFill>
                <a:sym typeface="Symbol" pitchFamily="18" charset="2"/>
              </a:rPr>
              <a:t></a:t>
            </a:r>
            <a:r>
              <a:rPr kumimoji="1" lang="en-US" altLang="zh-CN" sz="3200" b="1" dirty="0">
                <a:sym typeface="Symbol" pitchFamily="18" charset="2"/>
              </a:rPr>
              <a:t> </a:t>
            </a:r>
            <a:r>
              <a:rPr kumimoji="1" lang="en-US" altLang="zh-CN" sz="3200" b="1" i="1" dirty="0">
                <a:sym typeface="Symbol" pitchFamily="18" charset="2"/>
              </a:rPr>
              <a:t>B</a:t>
            </a:r>
            <a:r>
              <a:rPr kumimoji="1" lang="en-US" altLang="zh-CN" sz="3200" b="1" dirty="0"/>
              <a:t> </a:t>
            </a:r>
            <a:r>
              <a:rPr kumimoji="1" lang="en-US" altLang="zh-CN" sz="3200" b="1" dirty="0">
                <a:sym typeface="Symbol" pitchFamily="18" charset="2"/>
              </a:rPr>
              <a:t></a:t>
            </a:r>
            <a:r>
              <a:rPr kumimoji="1" lang="en-US" altLang="zh-CN" sz="3200" b="1" dirty="0"/>
              <a:t> A(</a:t>
            </a:r>
            <a:r>
              <a:rPr kumimoji="1" lang="en-US" altLang="zh-CN" sz="3200" b="1" i="1" dirty="0"/>
              <a:t>x</a:t>
            </a:r>
            <a:r>
              <a:rPr kumimoji="1" lang="en-US" altLang="zh-CN" sz="3200" b="1" dirty="0"/>
              <a:t>) </a:t>
            </a:r>
            <a:r>
              <a:rPr kumimoji="1" lang="en-US" altLang="zh-CN" sz="3200" b="1" dirty="0">
                <a:solidFill>
                  <a:srgbClr val="CC00CC"/>
                </a:solidFill>
              </a:rPr>
              <a:t>≤</a:t>
            </a:r>
            <a:r>
              <a:rPr kumimoji="1" lang="en-US" altLang="zh-CN" sz="3200" b="1" dirty="0"/>
              <a:t> </a:t>
            </a:r>
            <a:r>
              <a:rPr kumimoji="1" lang="en-US" altLang="zh-CN" sz="3200" b="1" i="1" dirty="0"/>
              <a:t>B</a:t>
            </a:r>
            <a:r>
              <a:rPr kumimoji="1" lang="en-US" altLang="zh-CN" sz="3200" b="1" dirty="0"/>
              <a:t>(</a:t>
            </a:r>
            <a:r>
              <a:rPr kumimoji="1" lang="en-US" altLang="zh-CN" sz="3200" b="1" i="1" dirty="0"/>
              <a:t>x</a:t>
            </a:r>
            <a:r>
              <a:rPr kumimoji="1" lang="en-US" altLang="zh-CN" sz="3200" b="1" dirty="0"/>
              <a:t>)</a:t>
            </a:r>
            <a:r>
              <a:rPr kumimoji="1" lang="zh-CN" altLang="en-US" sz="3200" b="1" dirty="0"/>
              <a:t>；</a:t>
            </a:r>
          </a:p>
          <a:p>
            <a:pPr eaLnBrk="1" hangingPunct="1">
              <a:lnSpc>
                <a:spcPct val="110000"/>
              </a:lnSpc>
            </a:pPr>
            <a:r>
              <a:rPr kumimoji="1" lang="zh-CN" altLang="en-US" sz="3200" b="1" dirty="0">
                <a:solidFill>
                  <a:srgbClr val="0000FF"/>
                </a:solidFill>
              </a:rPr>
              <a:t>并</a:t>
            </a:r>
            <a:r>
              <a:rPr kumimoji="1" lang="zh-CN" altLang="en-US" sz="3200" b="1" dirty="0"/>
              <a:t>：   </a:t>
            </a:r>
            <a:r>
              <a:rPr kumimoji="1" lang="en-US" altLang="zh-CN" sz="3200" b="1" i="1" dirty="0"/>
              <a:t>A</a:t>
            </a:r>
            <a:r>
              <a:rPr kumimoji="1" lang="en-US" altLang="zh-CN" sz="3200" b="1" dirty="0">
                <a:sym typeface="Symbol"/>
              </a:rPr>
              <a:t></a:t>
            </a:r>
            <a:r>
              <a:rPr kumimoji="1" lang="en-US" altLang="zh-CN" sz="3200" b="1" i="1" dirty="0"/>
              <a:t>B</a:t>
            </a:r>
            <a:r>
              <a:rPr kumimoji="1" lang="zh-CN" altLang="en-US" sz="3200" b="1" dirty="0"/>
              <a:t>的隶属函数为</a:t>
            </a:r>
          </a:p>
          <a:p>
            <a:pPr eaLnBrk="1" hangingPunct="1">
              <a:lnSpc>
                <a:spcPct val="110000"/>
              </a:lnSpc>
              <a:buNone/>
            </a:pPr>
            <a:r>
              <a:rPr kumimoji="1" lang="zh-CN" altLang="en-US" sz="3200" b="1" dirty="0"/>
              <a:t>              </a:t>
            </a:r>
            <a:r>
              <a:rPr kumimoji="1" lang="en-US" altLang="zh-CN" sz="3200" b="1" dirty="0"/>
              <a:t>(</a:t>
            </a:r>
            <a:r>
              <a:rPr kumimoji="1" lang="en-US" altLang="zh-CN" sz="3200" b="1" i="1" dirty="0"/>
              <a:t>A</a:t>
            </a:r>
            <a:r>
              <a:rPr kumimoji="1" lang="en-US" altLang="zh-CN" sz="3200" b="1" dirty="0">
                <a:sym typeface="Symbol"/>
              </a:rPr>
              <a:t></a:t>
            </a:r>
            <a:r>
              <a:rPr kumimoji="1" lang="en-US" altLang="zh-CN" sz="3200" b="1" i="1" dirty="0"/>
              <a:t>B</a:t>
            </a:r>
            <a:r>
              <a:rPr kumimoji="1" lang="en-US" altLang="zh-CN" sz="3200" b="1" dirty="0"/>
              <a:t>)(</a:t>
            </a:r>
            <a:r>
              <a:rPr kumimoji="1" lang="en-US" altLang="zh-CN" sz="3200" b="1" i="1" dirty="0"/>
              <a:t>x</a:t>
            </a:r>
            <a:r>
              <a:rPr kumimoji="1" lang="en-US" altLang="zh-CN" sz="3200" b="1" dirty="0"/>
              <a:t>)=</a:t>
            </a:r>
            <a:r>
              <a:rPr kumimoji="1" lang="en-US" altLang="zh-CN" sz="3200" b="1" i="1" dirty="0"/>
              <a:t>A</a:t>
            </a:r>
            <a:r>
              <a:rPr kumimoji="1" lang="en-US" altLang="zh-CN" sz="3200" b="1" dirty="0"/>
              <a:t>(</a:t>
            </a:r>
            <a:r>
              <a:rPr kumimoji="1" lang="en-US" altLang="zh-CN" sz="3200" b="1" i="1" dirty="0"/>
              <a:t>x</a:t>
            </a:r>
            <a:r>
              <a:rPr kumimoji="1" lang="en-US" altLang="zh-CN" sz="3200" b="1" dirty="0"/>
              <a:t>)</a:t>
            </a:r>
            <a:r>
              <a:rPr kumimoji="1" lang="en-US" altLang="zh-CN" sz="3200" b="1" dirty="0">
                <a:solidFill>
                  <a:srgbClr val="FF0000"/>
                </a:solidFill>
              </a:rPr>
              <a:t> </a:t>
            </a:r>
            <a:r>
              <a:rPr kumimoji="1" lang="en-US" altLang="zh-CN" sz="3200" b="1" dirty="0">
                <a:solidFill>
                  <a:srgbClr val="FF0000"/>
                </a:solidFill>
                <a:sym typeface="Symbol"/>
              </a:rPr>
              <a:t> </a:t>
            </a:r>
            <a:r>
              <a:rPr kumimoji="1" lang="en-US" altLang="zh-CN" sz="3200" b="1" i="1" dirty="0"/>
              <a:t>B</a:t>
            </a:r>
            <a:r>
              <a:rPr kumimoji="1" lang="en-US" altLang="zh-CN" sz="3200" b="1" dirty="0"/>
              <a:t>(</a:t>
            </a:r>
            <a:r>
              <a:rPr kumimoji="1" lang="en-US" altLang="zh-CN" sz="3200" b="1" i="1" dirty="0"/>
              <a:t>x</a:t>
            </a:r>
            <a:r>
              <a:rPr kumimoji="1" lang="en-US" altLang="zh-CN" sz="3200" b="1" dirty="0"/>
              <a:t>)=</a:t>
            </a:r>
            <a:r>
              <a:rPr kumimoji="1" lang="en-US" altLang="zh-CN" sz="3200" b="1" i="1" dirty="0">
                <a:solidFill>
                  <a:srgbClr val="FF0000"/>
                </a:solidFill>
              </a:rPr>
              <a:t>max</a:t>
            </a:r>
            <a:r>
              <a:rPr kumimoji="1" lang="en-US" altLang="zh-CN" sz="3200" b="1" dirty="0"/>
              <a:t>(</a:t>
            </a:r>
            <a:r>
              <a:rPr kumimoji="1" lang="en-US" altLang="zh-CN" sz="3200" b="1" i="1" dirty="0"/>
              <a:t>A</a:t>
            </a:r>
            <a:r>
              <a:rPr kumimoji="1" lang="en-US" altLang="zh-CN" sz="3200" b="1" dirty="0"/>
              <a:t>(</a:t>
            </a:r>
            <a:r>
              <a:rPr kumimoji="1" lang="en-US" altLang="zh-CN" sz="3200" b="1" i="1" dirty="0"/>
              <a:t>x</a:t>
            </a:r>
            <a:r>
              <a:rPr kumimoji="1" lang="en-US" altLang="zh-CN" sz="3200" b="1" dirty="0"/>
              <a:t>),</a:t>
            </a:r>
            <a:r>
              <a:rPr kumimoji="1" lang="en-US" altLang="zh-CN" sz="3200" b="1" i="1" dirty="0"/>
              <a:t>B</a:t>
            </a:r>
            <a:r>
              <a:rPr kumimoji="1" lang="en-US" altLang="zh-CN" sz="3200" b="1" dirty="0"/>
              <a:t>(</a:t>
            </a:r>
            <a:r>
              <a:rPr kumimoji="1" lang="en-US" altLang="zh-CN" sz="3200" b="1" i="1" dirty="0"/>
              <a:t>x</a:t>
            </a:r>
            <a:r>
              <a:rPr kumimoji="1" lang="en-US" altLang="zh-CN" sz="3200" b="1" dirty="0"/>
              <a:t>))</a:t>
            </a:r>
          </a:p>
          <a:p>
            <a:pPr eaLnBrk="1" hangingPunct="1">
              <a:lnSpc>
                <a:spcPct val="110000"/>
              </a:lnSpc>
            </a:pPr>
            <a:r>
              <a:rPr kumimoji="1" lang="zh-CN" altLang="en-US" sz="3200" b="1" dirty="0">
                <a:solidFill>
                  <a:srgbClr val="0000FF"/>
                </a:solidFill>
              </a:rPr>
              <a:t>交</a:t>
            </a:r>
            <a:r>
              <a:rPr kumimoji="1" lang="zh-CN" altLang="en-US" sz="3200" b="1" dirty="0"/>
              <a:t>：   </a:t>
            </a:r>
            <a:r>
              <a:rPr kumimoji="1" lang="en-US" altLang="zh-CN" sz="3200" b="1" i="1" dirty="0"/>
              <a:t>A</a:t>
            </a:r>
            <a:r>
              <a:rPr kumimoji="1" lang="en-US" altLang="zh-CN" sz="3200" b="1" dirty="0">
                <a:sym typeface="Symbol"/>
              </a:rPr>
              <a:t></a:t>
            </a:r>
            <a:r>
              <a:rPr kumimoji="1" lang="en-US" altLang="zh-CN" sz="3200" b="1" i="1" dirty="0"/>
              <a:t>B</a:t>
            </a:r>
            <a:r>
              <a:rPr kumimoji="1" lang="zh-CN" altLang="en-US" sz="3200" b="1" dirty="0"/>
              <a:t>的隶属函数为</a:t>
            </a:r>
          </a:p>
          <a:p>
            <a:pPr eaLnBrk="1" hangingPunct="1">
              <a:lnSpc>
                <a:spcPct val="110000"/>
              </a:lnSpc>
              <a:buNone/>
            </a:pPr>
            <a:r>
              <a:rPr kumimoji="1" lang="zh-CN" altLang="en-US" sz="3200" b="1" dirty="0"/>
              <a:t>              </a:t>
            </a:r>
            <a:r>
              <a:rPr kumimoji="1" lang="en-US" altLang="zh-CN" sz="3200" b="1" dirty="0"/>
              <a:t>(</a:t>
            </a:r>
            <a:r>
              <a:rPr kumimoji="1" lang="en-US" altLang="zh-CN" sz="3200" b="1" i="1" dirty="0"/>
              <a:t>A</a:t>
            </a:r>
            <a:r>
              <a:rPr kumimoji="1" lang="en-US" altLang="zh-CN" sz="3200" b="1" dirty="0">
                <a:sym typeface="Symbol"/>
              </a:rPr>
              <a:t></a:t>
            </a:r>
            <a:r>
              <a:rPr kumimoji="1" lang="en-US" altLang="zh-CN" sz="3200" b="1" i="1" dirty="0"/>
              <a:t>B</a:t>
            </a:r>
            <a:r>
              <a:rPr kumimoji="1" lang="en-US" altLang="zh-CN" sz="3200" b="1" dirty="0"/>
              <a:t>)(</a:t>
            </a:r>
            <a:r>
              <a:rPr kumimoji="1" lang="en-US" altLang="zh-CN" sz="3200" b="1" i="1" dirty="0"/>
              <a:t>x</a:t>
            </a:r>
            <a:r>
              <a:rPr kumimoji="1" lang="en-US" altLang="zh-CN" sz="3200" b="1" dirty="0"/>
              <a:t>)=</a:t>
            </a:r>
            <a:r>
              <a:rPr kumimoji="1" lang="en-US" altLang="zh-CN" sz="3200" b="1" i="1" dirty="0"/>
              <a:t>A</a:t>
            </a:r>
            <a:r>
              <a:rPr kumimoji="1" lang="en-US" altLang="zh-CN" sz="3200" b="1" dirty="0"/>
              <a:t>(</a:t>
            </a:r>
            <a:r>
              <a:rPr kumimoji="1" lang="en-US" altLang="zh-CN" sz="3200" b="1" i="1" dirty="0"/>
              <a:t>x</a:t>
            </a:r>
            <a:r>
              <a:rPr kumimoji="1" lang="en-US" altLang="zh-CN" sz="3200" b="1" dirty="0"/>
              <a:t>) </a:t>
            </a:r>
            <a:r>
              <a:rPr kumimoji="1" lang="en-US" altLang="zh-CN" sz="3200" b="1" dirty="0">
                <a:solidFill>
                  <a:srgbClr val="FF0000"/>
                </a:solidFill>
                <a:sym typeface="Symbol"/>
              </a:rPr>
              <a:t> </a:t>
            </a:r>
            <a:r>
              <a:rPr kumimoji="1" lang="en-US" altLang="zh-CN" sz="3200" b="1" i="1" dirty="0"/>
              <a:t>B</a:t>
            </a:r>
            <a:r>
              <a:rPr kumimoji="1" lang="en-US" altLang="zh-CN" sz="3200" b="1" dirty="0"/>
              <a:t>(</a:t>
            </a:r>
            <a:r>
              <a:rPr kumimoji="1" lang="en-US" altLang="zh-CN" sz="3200" b="1" i="1" dirty="0"/>
              <a:t>x</a:t>
            </a:r>
            <a:r>
              <a:rPr kumimoji="1" lang="en-US" altLang="zh-CN" sz="3200" b="1" dirty="0"/>
              <a:t>) =</a:t>
            </a:r>
            <a:r>
              <a:rPr kumimoji="1" lang="en-US" altLang="zh-CN" sz="3200" b="1" i="1" dirty="0">
                <a:solidFill>
                  <a:srgbClr val="FF0000"/>
                </a:solidFill>
              </a:rPr>
              <a:t>min</a:t>
            </a:r>
            <a:r>
              <a:rPr kumimoji="1" lang="en-US" altLang="zh-CN" sz="3200" b="1" dirty="0"/>
              <a:t>(</a:t>
            </a:r>
            <a:r>
              <a:rPr kumimoji="1" lang="en-US" altLang="zh-CN" sz="3200" b="1" i="1" dirty="0"/>
              <a:t>A</a:t>
            </a:r>
            <a:r>
              <a:rPr kumimoji="1" lang="en-US" altLang="zh-CN" sz="3200" b="1" dirty="0"/>
              <a:t>(</a:t>
            </a:r>
            <a:r>
              <a:rPr kumimoji="1" lang="en-US" altLang="zh-CN" sz="3200" b="1" i="1" dirty="0"/>
              <a:t>x</a:t>
            </a:r>
            <a:r>
              <a:rPr kumimoji="1" lang="en-US" altLang="zh-CN" sz="3200" b="1" dirty="0"/>
              <a:t>),</a:t>
            </a:r>
            <a:r>
              <a:rPr kumimoji="1" lang="en-US" altLang="zh-CN" sz="3200" b="1" i="1" dirty="0"/>
              <a:t>B</a:t>
            </a:r>
            <a:r>
              <a:rPr kumimoji="1" lang="en-US" altLang="zh-CN" sz="3200" b="1" dirty="0"/>
              <a:t>(</a:t>
            </a:r>
            <a:r>
              <a:rPr kumimoji="1" lang="en-US" altLang="zh-CN" sz="3200" b="1" i="1" dirty="0"/>
              <a:t>x</a:t>
            </a:r>
            <a:r>
              <a:rPr kumimoji="1" lang="en-US" altLang="zh-CN" sz="3200" b="1" dirty="0"/>
              <a:t>))</a:t>
            </a:r>
          </a:p>
          <a:p>
            <a:pPr eaLnBrk="1" hangingPunct="1">
              <a:lnSpc>
                <a:spcPct val="110000"/>
              </a:lnSpc>
            </a:pPr>
            <a:r>
              <a:rPr kumimoji="1" lang="zh-CN" altLang="en-US" sz="3200" b="1" dirty="0">
                <a:solidFill>
                  <a:srgbClr val="0000FF"/>
                </a:solidFill>
              </a:rPr>
              <a:t>余</a:t>
            </a:r>
            <a:r>
              <a:rPr kumimoji="1" lang="zh-CN" altLang="en-US" sz="3200" b="1" dirty="0"/>
              <a:t>： </a:t>
            </a:r>
            <a:r>
              <a:rPr kumimoji="1" lang="en-US" altLang="zh-CN" sz="3200" b="1" i="1" dirty="0"/>
              <a:t>A</a:t>
            </a:r>
            <a:r>
              <a:rPr kumimoji="1" lang="en-US" altLang="zh-CN" sz="3200" b="1" i="1" baseline="30000" dirty="0"/>
              <a:t>c</a:t>
            </a:r>
            <a:r>
              <a:rPr kumimoji="1" lang="zh-CN" altLang="en-US" sz="3200" b="1" dirty="0"/>
              <a:t>的隶属函数为</a:t>
            </a:r>
          </a:p>
          <a:p>
            <a:pPr eaLnBrk="1" hangingPunct="1">
              <a:lnSpc>
                <a:spcPct val="110000"/>
              </a:lnSpc>
              <a:buNone/>
            </a:pPr>
            <a:r>
              <a:rPr kumimoji="1" lang="zh-CN" altLang="en-US" sz="3200" b="1" i="1" dirty="0">
                <a:solidFill>
                  <a:srgbClr val="CC00FF"/>
                </a:solidFill>
              </a:rPr>
              <a:t>             </a:t>
            </a:r>
            <a:r>
              <a:rPr kumimoji="1" lang="en-US" altLang="zh-CN" sz="3200" b="1" i="1" dirty="0">
                <a:solidFill>
                  <a:srgbClr val="CC00FF"/>
                </a:solidFill>
              </a:rPr>
              <a:t>A</a:t>
            </a:r>
            <a:r>
              <a:rPr kumimoji="1" lang="en-US" altLang="zh-CN" sz="3200" b="1" i="1" baseline="30000" dirty="0">
                <a:solidFill>
                  <a:srgbClr val="CC00FF"/>
                </a:solidFill>
              </a:rPr>
              <a:t>c</a:t>
            </a:r>
            <a:r>
              <a:rPr kumimoji="1" lang="en-US" altLang="zh-CN" sz="3200" b="1" i="1" dirty="0">
                <a:solidFill>
                  <a:srgbClr val="CC00FF"/>
                </a:solidFill>
              </a:rPr>
              <a:t> </a:t>
            </a:r>
            <a:r>
              <a:rPr kumimoji="1" lang="en-US" altLang="zh-CN" sz="3200" b="1" dirty="0">
                <a:solidFill>
                  <a:srgbClr val="CC00FF"/>
                </a:solidFill>
              </a:rPr>
              <a:t>(</a:t>
            </a:r>
            <a:r>
              <a:rPr kumimoji="1" lang="en-US" altLang="zh-CN" sz="3200" b="1" i="1" dirty="0">
                <a:solidFill>
                  <a:srgbClr val="CC00FF"/>
                </a:solidFill>
              </a:rPr>
              <a:t>x</a:t>
            </a:r>
            <a:r>
              <a:rPr kumimoji="1" lang="en-US" altLang="zh-CN" sz="3200" b="1" dirty="0">
                <a:solidFill>
                  <a:srgbClr val="CC00FF"/>
                </a:solidFill>
              </a:rPr>
              <a:t>) =</a:t>
            </a:r>
            <a:r>
              <a:rPr kumimoji="1" lang="en-US" altLang="zh-CN" sz="3200" b="1" dirty="0"/>
              <a:t> </a:t>
            </a:r>
            <a:r>
              <a:rPr kumimoji="1" lang="en-US" altLang="zh-CN" sz="3200" b="1" dirty="0">
                <a:solidFill>
                  <a:srgbClr val="CC00FF"/>
                </a:solidFill>
              </a:rPr>
              <a:t>1</a:t>
            </a:r>
            <a:r>
              <a:rPr kumimoji="1" lang="en-US" altLang="zh-CN" sz="3200" b="1" dirty="0">
                <a:solidFill>
                  <a:srgbClr val="CC00FF"/>
                </a:solidFill>
                <a:sym typeface="Symbol" panose="05050102010706020507" pitchFamily="18" charset="2"/>
              </a:rPr>
              <a:t> </a:t>
            </a:r>
            <a:r>
              <a:rPr kumimoji="1" lang="en-US" altLang="zh-CN" sz="3200" b="1" dirty="0">
                <a:solidFill>
                  <a:srgbClr val="CC00FF"/>
                </a:solidFill>
              </a:rPr>
              <a:t> </a:t>
            </a:r>
            <a:r>
              <a:rPr kumimoji="1" lang="en-US" altLang="zh-CN" sz="3200" b="1" i="1" dirty="0">
                <a:solidFill>
                  <a:srgbClr val="CC00FF"/>
                </a:solidFill>
              </a:rPr>
              <a:t>A</a:t>
            </a:r>
            <a:r>
              <a:rPr kumimoji="1" lang="en-US" altLang="zh-CN" sz="3200" b="1" dirty="0">
                <a:solidFill>
                  <a:srgbClr val="CC00FF"/>
                </a:solidFill>
              </a:rPr>
              <a:t>(</a:t>
            </a:r>
            <a:r>
              <a:rPr kumimoji="1" lang="en-US" altLang="zh-CN" sz="3200" b="1" i="1" dirty="0">
                <a:solidFill>
                  <a:srgbClr val="CC00FF"/>
                </a:solidFill>
              </a:rPr>
              <a:t>x</a:t>
            </a:r>
            <a:r>
              <a:rPr kumimoji="1" lang="en-US" altLang="zh-CN" sz="3200" b="1" dirty="0">
                <a:solidFill>
                  <a:srgbClr val="CC00FF"/>
                </a:solidFill>
              </a:rPr>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0964">
                                            <p:txEl>
                                              <p:pRg st="0" end="0"/>
                                            </p:txEl>
                                          </p:spTgt>
                                        </p:tgtEl>
                                        <p:attrNameLst>
                                          <p:attrName>style.visibility</p:attrName>
                                        </p:attrNameLst>
                                      </p:cBhvr>
                                      <p:to>
                                        <p:strVal val="visible"/>
                                      </p:to>
                                    </p:set>
                                    <p:animEffect transition="in" filter="wipe(left)">
                                      <p:cBhvr>
                                        <p:cTn id="7" dur="500"/>
                                        <p:tgtEl>
                                          <p:spTgt spid="40964">
                                            <p:txEl>
                                              <p:pRg st="0" end="0"/>
                                            </p:txEl>
                                          </p:spTgt>
                                        </p:tgtEl>
                                      </p:cBhvr>
                                    </p:animEffect>
                                  </p:childTnLst>
                                  <p:subTnLst>
                                    <p:audio>
                                      <p:cMediaNode>
                                        <p:cTn display="0" masterRel="sameClick">
                                          <p:stCondLst>
                                            <p:cond evt="begin" delay="0">
                                              <p:tn val="5"/>
                                            </p:cond>
                                          </p:stCondLst>
                                          <p:endCondLst>
                                            <p:cond evt="onStopAudio" delay="0">
                                              <p:tgtEl>
                                                <p:sldTgt/>
                                              </p:tgtEl>
                                            </p:cond>
                                          </p:endCondLst>
                                        </p:cTn>
                                        <p:tgtEl>
                                          <p:sndTgt r:embed="rId3" name="type.wav"/>
                                        </p:tgtEl>
                                      </p:cMediaNode>
                                    </p:audio>
                                  </p:sub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0964">
                                            <p:txEl>
                                              <p:pRg st="1" end="1"/>
                                            </p:txEl>
                                          </p:spTgt>
                                        </p:tgtEl>
                                        <p:attrNameLst>
                                          <p:attrName>style.visibility</p:attrName>
                                        </p:attrNameLst>
                                      </p:cBhvr>
                                      <p:to>
                                        <p:strVal val="visible"/>
                                      </p:to>
                                    </p:set>
                                    <p:animEffect transition="in" filter="wipe(left)">
                                      <p:cBhvr>
                                        <p:cTn id="12" dur="500"/>
                                        <p:tgtEl>
                                          <p:spTgt spid="40964">
                                            <p:txEl>
                                              <p:pRg st="1" end="1"/>
                                            </p:txEl>
                                          </p:spTgt>
                                        </p:tgtEl>
                                      </p:cBhvr>
                                    </p:animEffect>
                                  </p:childTnLst>
                                  <p:subTnLst>
                                    <p:audio>
                                      <p:cMediaNode>
                                        <p:cTn display="0" masterRel="sameClick">
                                          <p:stCondLst>
                                            <p:cond evt="begin" delay="0">
                                              <p:tn val="10"/>
                                            </p:cond>
                                          </p:stCondLst>
                                          <p:endCondLst>
                                            <p:cond evt="onStopAudio" delay="0">
                                              <p:tgtEl>
                                                <p:sldTgt/>
                                              </p:tgtEl>
                                            </p:cond>
                                          </p:endCondLst>
                                        </p:cTn>
                                        <p:tgtEl>
                                          <p:sndTgt r:embed="rId3" name="type.wav"/>
                                        </p:tgtEl>
                                      </p:cMediaNode>
                                    </p:audio>
                                  </p:sub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40964">
                                            <p:txEl>
                                              <p:pRg st="2" end="2"/>
                                            </p:txEl>
                                          </p:spTgt>
                                        </p:tgtEl>
                                        <p:attrNameLst>
                                          <p:attrName>style.visibility</p:attrName>
                                        </p:attrNameLst>
                                      </p:cBhvr>
                                      <p:to>
                                        <p:strVal val="visible"/>
                                      </p:to>
                                    </p:set>
                                    <p:animEffect transition="in" filter="wipe(left)">
                                      <p:cBhvr>
                                        <p:cTn id="17" dur="500"/>
                                        <p:tgtEl>
                                          <p:spTgt spid="40964">
                                            <p:txEl>
                                              <p:pRg st="2" end="2"/>
                                            </p:txEl>
                                          </p:spTgt>
                                        </p:tgtEl>
                                      </p:cBhvr>
                                    </p:animEffect>
                                  </p:childTnLst>
                                  <p:subTnLst>
                                    <p:audio>
                                      <p:cMediaNode>
                                        <p:cTn display="0" masterRel="sameClick">
                                          <p:stCondLst>
                                            <p:cond evt="begin" delay="0">
                                              <p:tn val="15"/>
                                            </p:cond>
                                          </p:stCondLst>
                                          <p:endCondLst>
                                            <p:cond evt="onStopAudio" delay="0">
                                              <p:tgtEl>
                                                <p:sldTgt/>
                                              </p:tgtEl>
                                            </p:cond>
                                          </p:endCondLst>
                                        </p:cTn>
                                        <p:tgtEl>
                                          <p:sndTgt r:embed="rId3" name="type.wav"/>
                                        </p:tgtEl>
                                      </p:cMediaNode>
                                    </p:audio>
                                  </p:sub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40964">
                                            <p:txEl>
                                              <p:pRg st="3" end="3"/>
                                            </p:txEl>
                                          </p:spTgt>
                                        </p:tgtEl>
                                        <p:attrNameLst>
                                          <p:attrName>style.visibility</p:attrName>
                                        </p:attrNameLst>
                                      </p:cBhvr>
                                      <p:to>
                                        <p:strVal val="visible"/>
                                      </p:to>
                                    </p:set>
                                    <p:animEffect transition="in" filter="wipe(left)">
                                      <p:cBhvr>
                                        <p:cTn id="22" dur="500"/>
                                        <p:tgtEl>
                                          <p:spTgt spid="40964">
                                            <p:txEl>
                                              <p:pRg st="3" end="3"/>
                                            </p:txEl>
                                          </p:spTgt>
                                        </p:tgtEl>
                                      </p:cBhvr>
                                    </p:animEffect>
                                  </p:childTnLst>
                                  <p:subTnLst>
                                    <p:audio>
                                      <p:cMediaNode>
                                        <p:cTn display="0" masterRel="sameClick">
                                          <p:stCondLst>
                                            <p:cond evt="begin" delay="0">
                                              <p:tn val="20"/>
                                            </p:cond>
                                          </p:stCondLst>
                                          <p:endCondLst>
                                            <p:cond evt="onStopAudio" delay="0">
                                              <p:tgtEl>
                                                <p:sldTgt/>
                                              </p:tgtEl>
                                            </p:cond>
                                          </p:endCondLst>
                                        </p:cTn>
                                        <p:tgtEl>
                                          <p:sndTgt r:embed="rId3" name="type.wav"/>
                                        </p:tgtEl>
                                      </p:cMediaNode>
                                    </p:audio>
                                  </p:sub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40964">
                                            <p:txEl>
                                              <p:pRg st="4" end="4"/>
                                            </p:txEl>
                                          </p:spTgt>
                                        </p:tgtEl>
                                        <p:attrNameLst>
                                          <p:attrName>style.visibility</p:attrName>
                                        </p:attrNameLst>
                                      </p:cBhvr>
                                      <p:to>
                                        <p:strVal val="visible"/>
                                      </p:to>
                                    </p:set>
                                    <p:animEffect transition="in" filter="wipe(left)">
                                      <p:cBhvr>
                                        <p:cTn id="27" dur="500"/>
                                        <p:tgtEl>
                                          <p:spTgt spid="40964">
                                            <p:txEl>
                                              <p:pRg st="4" end="4"/>
                                            </p:txEl>
                                          </p:spTgt>
                                        </p:tgtEl>
                                      </p:cBhvr>
                                    </p:animEffect>
                                  </p:childTnLst>
                                  <p:subTnLst>
                                    <p:audio>
                                      <p:cMediaNode>
                                        <p:cTn display="0" masterRel="sameClick">
                                          <p:stCondLst>
                                            <p:cond evt="begin" delay="0">
                                              <p:tn val="25"/>
                                            </p:cond>
                                          </p:stCondLst>
                                          <p:endCondLst>
                                            <p:cond evt="onStopAudio" delay="0">
                                              <p:tgtEl>
                                                <p:sldTgt/>
                                              </p:tgtEl>
                                            </p:cond>
                                          </p:endCondLst>
                                        </p:cTn>
                                        <p:tgtEl>
                                          <p:sndTgt r:embed="rId3" name="type.wav"/>
                                        </p:tgtEl>
                                      </p:cMediaNode>
                                    </p:audio>
                                  </p:sub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40964">
                                            <p:txEl>
                                              <p:pRg st="5" end="5"/>
                                            </p:txEl>
                                          </p:spTgt>
                                        </p:tgtEl>
                                        <p:attrNameLst>
                                          <p:attrName>style.visibility</p:attrName>
                                        </p:attrNameLst>
                                      </p:cBhvr>
                                      <p:to>
                                        <p:strVal val="visible"/>
                                      </p:to>
                                    </p:set>
                                    <p:animEffect transition="in" filter="wipe(left)">
                                      <p:cBhvr>
                                        <p:cTn id="32" dur="500"/>
                                        <p:tgtEl>
                                          <p:spTgt spid="40964">
                                            <p:txEl>
                                              <p:pRg st="5" end="5"/>
                                            </p:txEl>
                                          </p:spTgt>
                                        </p:tgtEl>
                                      </p:cBhvr>
                                    </p:animEffect>
                                  </p:childTnLst>
                                  <p:subTnLst>
                                    <p:audio>
                                      <p:cMediaNode>
                                        <p:cTn display="0" masterRel="sameClick">
                                          <p:stCondLst>
                                            <p:cond evt="begin" delay="0">
                                              <p:tn val="30"/>
                                            </p:cond>
                                          </p:stCondLst>
                                          <p:endCondLst>
                                            <p:cond evt="onStopAudio" delay="0">
                                              <p:tgtEl>
                                                <p:sldTgt/>
                                              </p:tgtEl>
                                            </p:cond>
                                          </p:endCondLst>
                                        </p:cTn>
                                        <p:tgtEl>
                                          <p:sndTgt r:embed="rId3" name="type.wav"/>
                                        </p:tgtEl>
                                      </p:cMediaNode>
                                    </p:audio>
                                  </p:sub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40964">
                                            <p:txEl>
                                              <p:pRg st="6" end="6"/>
                                            </p:txEl>
                                          </p:spTgt>
                                        </p:tgtEl>
                                        <p:attrNameLst>
                                          <p:attrName>style.visibility</p:attrName>
                                        </p:attrNameLst>
                                      </p:cBhvr>
                                      <p:to>
                                        <p:strVal val="visible"/>
                                      </p:to>
                                    </p:set>
                                    <p:animEffect transition="in" filter="wipe(left)">
                                      <p:cBhvr>
                                        <p:cTn id="37" dur="500"/>
                                        <p:tgtEl>
                                          <p:spTgt spid="40964">
                                            <p:txEl>
                                              <p:pRg st="6" end="6"/>
                                            </p:txEl>
                                          </p:spTgt>
                                        </p:tgtEl>
                                      </p:cBhvr>
                                    </p:animEffect>
                                  </p:childTnLst>
                                  <p:subTnLst>
                                    <p:audio>
                                      <p:cMediaNode>
                                        <p:cTn display="0" masterRel="sameClick">
                                          <p:stCondLst>
                                            <p:cond evt="begin" delay="0">
                                              <p:tn val="35"/>
                                            </p:cond>
                                          </p:stCondLst>
                                          <p:endCondLst>
                                            <p:cond evt="onStopAudio" delay="0">
                                              <p:tgtEl>
                                                <p:sldTgt/>
                                              </p:tgtEl>
                                            </p:cond>
                                          </p:endCondLst>
                                        </p:cTn>
                                        <p:tgtEl>
                                          <p:sndTgt r:embed="rId3" name="type.wav"/>
                                        </p:tgtEl>
                                      </p:cMediaNode>
                                    </p:audio>
                                  </p:sub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40964">
                                            <p:txEl>
                                              <p:pRg st="7" end="7"/>
                                            </p:txEl>
                                          </p:spTgt>
                                        </p:tgtEl>
                                        <p:attrNameLst>
                                          <p:attrName>style.visibility</p:attrName>
                                        </p:attrNameLst>
                                      </p:cBhvr>
                                      <p:to>
                                        <p:strVal val="visible"/>
                                      </p:to>
                                    </p:set>
                                    <p:animEffect transition="in" filter="wipe(left)">
                                      <p:cBhvr>
                                        <p:cTn id="42" dur="500"/>
                                        <p:tgtEl>
                                          <p:spTgt spid="40964">
                                            <p:txEl>
                                              <p:pRg st="7" end="7"/>
                                            </p:txEl>
                                          </p:spTgt>
                                        </p:tgtEl>
                                      </p:cBhvr>
                                    </p:animEffect>
                                  </p:childTnLst>
                                  <p:subTnLst>
                                    <p:audio>
                                      <p:cMediaNode>
                                        <p:cTn display="0" masterRel="sameClick">
                                          <p:stCondLst>
                                            <p:cond evt="begin" delay="0">
                                              <p:tn val="40"/>
                                            </p:cond>
                                          </p:stCondLst>
                                          <p:endCondLst>
                                            <p:cond evt="onStopAudio" delay="0">
                                              <p:tgtEl>
                                                <p:sldTgt/>
                                              </p:tgtEl>
                                            </p:cond>
                                          </p:endCondLst>
                                        </p:cTn>
                                        <p:tgtEl>
                                          <p:sndTgt r:embed="rId3" name="type.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64" grpId="0" build="p" autoUpdateAnimBg="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15"/>
          <p:cNvSpPr>
            <a:spLocks noChangeArrowheads="1"/>
          </p:cNvSpPr>
          <p:nvPr/>
        </p:nvSpPr>
        <p:spPr bwMode="auto">
          <a:xfrm>
            <a:off x="2209208" y="5337178"/>
            <a:ext cx="7993063" cy="1439863"/>
          </a:xfrm>
          <a:prstGeom prst="rect">
            <a:avLst/>
          </a:prstGeom>
          <a:solidFill>
            <a:srgbClr val="CCFF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4819" name="Rectangle 2"/>
          <p:cNvSpPr>
            <a:spLocks noGrp="1" noChangeArrowheads="1"/>
          </p:cNvSpPr>
          <p:nvPr>
            <p:ph type="title"/>
          </p:nvPr>
        </p:nvSpPr>
        <p:spPr>
          <a:xfrm>
            <a:off x="1981200" y="188911"/>
            <a:ext cx="8229600" cy="1371600"/>
          </a:xfrm>
        </p:spPr>
        <p:txBody>
          <a:bodyPr/>
          <a:lstStyle/>
          <a:p>
            <a:pPr algn="ctr" eaLnBrk="1" hangingPunct="1"/>
            <a:r>
              <a:rPr lang="zh-CN" altLang="en-US" dirty="0">
                <a:solidFill>
                  <a:srgbClr val="008000"/>
                </a:solidFill>
              </a:rPr>
              <a:t>模糊集的运算</a:t>
            </a:r>
          </a:p>
        </p:txBody>
      </p:sp>
      <p:sp>
        <p:nvSpPr>
          <p:cNvPr id="34820" name="Rectangle 3"/>
          <p:cNvSpPr>
            <a:spLocks noGrp="1" noChangeArrowheads="1"/>
          </p:cNvSpPr>
          <p:nvPr>
            <p:ph type="body" sz="half" idx="1"/>
          </p:nvPr>
        </p:nvSpPr>
        <p:spPr>
          <a:xfrm>
            <a:off x="1055440" y="1412875"/>
            <a:ext cx="8937873" cy="4383088"/>
          </a:xfrm>
        </p:spPr>
        <p:txBody>
          <a:bodyPr/>
          <a:lstStyle/>
          <a:p>
            <a:pPr eaLnBrk="1" hangingPunct="1"/>
            <a:r>
              <a:rPr lang="en-US" altLang="zh-CN" sz="3200" dirty="0">
                <a:cs typeface="Arial" charset="0"/>
              </a:rPr>
              <a:t>[P6</a:t>
            </a:r>
            <a:r>
              <a:rPr lang="zh-CN" altLang="en-US" sz="3200" dirty="0">
                <a:cs typeface="Arial" charset="0"/>
              </a:rPr>
              <a:t>例</a:t>
            </a:r>
            <a:r>
              <a:rPr lang="en-US" altLang="zh-CN" sz="3200" dirty="0">
                <a:cs typeface="Arial" charset="0"/>
              </a:rPr>
              <a:t>1]</a:t>
            </a:r>
            <a:r>
              <a:rPr kumimoji="1" lang="en-US" altLang="zh-CN" sz="3200" dirty="0">
                <a:cs typeface="Arial" charset="0"/>
              </a:rPr>
              <a:t>U={u</a:t>
            </a:r>
            <a:r>
              <a:rPr kumimoji="1" lang="en-US" altLang="zh-CN" sz="3200" baseline="-25000" dirty="0">
                <a:cs typeface="Arial" charset="0"/>
              </a:rPr>
              <a:t>1</a:t>
            </a:r>
            <a:r>
              <a:rPr kumimoji="1" lang="en-US" altLang="zh-CN" sz="3200" dirty="0">
                <a:cs typeface="Arial" charset="0"/>
              </a:rPr>
              <a:t>, u</a:t>
            </a:r>
            <a:r>
              <a:rPr kumimoji="1" lang="en-US" altLang="zh-CN" sz="3200" baseline="-25000" dirty="0">
                <a:cs typeface="Arial" charset="0"/>
              </a:rPr>
              <a:t>2</a:t>
            </a:r>
            <a:r>
              <a:rPr kumimoji="1" lang="en-US" altLang="zh-CN" sz="3200" dirty="0">
                <a:cs typeface="Arial" charset="0"/>
              </a:rPr>
              <a:t>, u</a:t>
            </a:r>
            <a:r>
              <a:rPr kumimoji="1" lang="en-US" altLang="zh-CN" sz="3200" baseline="-25000" dirty="0">
                <a:cs typeface="Arial" charset="0"/>
              </a:rPr>
              <a:t>3</a:t>
            </a:r>
            <a:r>
              <a:rPr kumimoji="1" lang="en-US" altLang="zh-CN" sz="3200" dirty="0">
                <a:cs typeface="Arial" charset="0"/>
              </a:rPr>
              <a:t>, u</a:t>
            </a:r>
            <a:r>
              <a:rPr kumimoji="1" lang="en-US" altLang="zh-CN" sz="3200" baseline="-25000" dirty="0">
                <a:cs typeface="Arial" charset="0"/>
              </a:rPr>
              <a:t>4</a:t>
            </a:r>
            <a:r>
              <a:rPr kumimoji="1" lang="en-US" altLang="zh-CN" sz="3200" dirty="0">
                <a:cs typeface="Arial" charset="0"/>
              </a:rPr>
              <a:t> , u</a:t>
            </a:r>
            <a:r>
              <a:rPr kumimoji="1" lang="en-US" altLang="zh-CN" sz="3200" baseline="-25000" dirty="0">
                <a:cs typeface="Arial" charset="0"/>
              </a:rPr>
              <a:t>5</a:t>
            </a:r>
            <a:r>
              <a:rPr kumimoji="1" lang="en-US" altLang="zh-CN" sz="2800" dirty="0">
                <a:cs typeface="Arial" charset="0"/>
              </a:rPr>
              <a:t>}</a:t>
            </a:r>
            <a:r>
              <a:rPr kumimoji="1" lang="zh-CN" altLang="en-US" sz="2800" dirty="0">
                <a:cs typeface="Arial" charset="0"/>
              </a:rPr>
              <a:t>，求</a:t>
            </a:r>
            <a:r>
              <a:rPr kumimoji="1" lang="en-US" altLang="zh-CN" sz="2800" i="1" dirty="0">
                <a:cs typeface="Arial" charset="0"/>
              </a:rPr>
              <a:t>A</a:t>
            </a:r>
            <a:r>
              <a:rPr kumimoji="1" lang="en-US" altLang="zh-CN" sz="2800" dirty="0">
                <a:cs typeface="Arial" charset="0"/>
                <a:sym typeface="Symbol" panose="05050102010706020507" pitchFamily="18" charset="2"/>
              </a:rPr>
              <a:t></a:t>
            </a:r>
            <a:r>
              <a:rPr kumimoji="1" lang="en-US" altLang="zh-CN" sz="2800" i="1" dirty="0">
                <a:cs typeface="Arial" charset="0"/>
              </a:rPr>
              <a:t>B</a:t>
            </a:r>
          </a:p>
          <a:p>
            <a:pPr eaLnBrk="1" hangingPunct="1"/>
            <a:endParaRPr kumimoji="1" lang="en-US" altLang="zh-CN" sz="2800" dirty="0"/>
          </a:p>
          <a:p>
            <a:pPr eaLnBrk="1" hangingPunct="1">
              <a:buFont typeface="Wingdings" pitchFamily="2" charset="2"/>
              <a:buNone/>
            </a:pPr>
            <a:r>
              <a:rPr kumimoji="1" lang="en-US" altLang="zh-CN" sz="2800" dirty="0"/>
              <a:t>   </a:t>
            </a:r>
          </a:p>
        </p:txBody>
      </p:sp>
      <p:graphicFrame>
        <p:nvGraphicFramePr>
          <p:cNvPr id="71687" name="Object 7"/>
          <p:cNvGraphicFramePr>
            <a:graphicFrameLocks noGrp="1" noChangeAspect="1"/>
          </p:cNvGraphicFramePr>
          <p:nvPr>
            <p:ph sz="quarter" idx="2"/>
          </p:nvPr>
        </p:nvGraphicFramePr>
        <p:xfrm>
          <a:off x="2209207" y="2097087"/>
          <a:ext cx="6548437" cy="890587"/>
        </p:xfrm>
        <a:graphic>
          <a:graphicData uri="http://schemas.openxmlformats.org/presentationml/2006/ole">
            <mc:AlternateContent xmlns:mc="http://schemas.openxmlformats.org/markup-compatibility/2006">
              <mc:Choice xmlns:v="urn:schemas-microsoft-com:vml" Requires="v">
                <p:oleObj name="公式" r:id="rId2" imgW="3175000" imgH="431800" progId="Equation.3">
                  <p:embed/>
                </p:oleObj>
              </mc:Choice>
              <mc:Fallback>
                <p:oleObj name="公式" r:id="rId2" imgW="3175000" imgH="431800" progId="Equation.3">
                  <p:embed/>
                  <p:pic>
                    <p:nvPicPr>
                      <p:cNvPr id="71687" name="Object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09207" y="2097087"/>
                        <a:ext cx="6548437" cy="890587"/>
                      </a:xfrm>
                      <a:prstGeom prst="rect">
                        <a:avLst/>
                      </a:prstGeom>
                      <a:solidFill>
                        <a:srgbClr val="FFFF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1688" name="Object 8"/>
          <p:cNvGraphicFramePr>
            <a:graphicFrameLocks noGrp="1" noChangeAspect="1"/>
          </p:cNvGraphicFramePr>
          <p:nvPr>
            <p:ph sz="quarter" idx="3"/>
          </p:nvPr>
        </p:nvGraphicFramePr>
        <p:xfrm>
          <a:off x="2135560" y="3146399"/>
          <a:ext cx="7019925" cy="890587"/>
        </p:xfrm>
        <a:graphic>
          <a:graphicData uri="http://schemas.openxmlformats.org/presentationml/2006/ole">
            <mc:AlternateContent xmlns:mc="http://schemas.openxmlformats.org/markup-compatibility/2006">
              <mc:Choice xmlns:v="urn:schemas-microsoft-com:vml" Requires="v">
                <p:oleObj name="公式" r:id="rId4" imgW="3403600" imgH="431800" progId="Equation.3">
                  <p:embed/>
                </p:oleObj>
              </mc:Choice>
              <mc:Fallback>
                <p:oleObj name="公式" r:id="rId4" imgW="3403600" imgH="431800" progId="Equation.3">
                  <p:embed/>
                  <p:pic>
                    <p:nvPicPr>
                      <p:cNvPr id="71688" name="Object 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35560" y="3146399"/>
                        <a:ext cx="7019925" cy="8905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1690" name="Object 10"/>
          <p:cNvGraphicFramePr>
            <a:graphicFrameLocks noChangeAspect="1"/>
          </p:cNvGraphicFramePr>
          <p:nvPr/>
        </p:nvGraphicFramePr>
        <p:xfrm>
          <a:off x="2876922" y="4222725"/>
          <a:ext cx="3944938" cy="1006475"/>
        </p:xfrm>
        <a:graphic>
          <a:graphicData uri="http://schemas.openxmlformats.org/presentationml/2006/ole">
            <mc:AlternateContent xmlns:mc="http://schemas.openxmlformats.org/markup-compatibility/2006">
              <mc:Choice xmlns:v="urn:schemas-microsoft-com:vml" Requires="v">
                <p:oleObj name="公式" r:id="rId6" imgW="1688367" imgH="431613" progId="Equation.3">
                  <p:embed/>
                </p:oleObj>
              </mc:Choice>
              <mc:Fallback>
                <p:oleObj name="公式" r:id="rId6" imgW="1688367" imgH="431613" progId="Equation.3">
                  <p:embed/>
                  <p:pic>
                    <p:nvPicPr>
                      <p:cNvPr id="71690" name="Object 10"/>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876922" y="4222725"/>
                        <a:ext cx="3944938" cy="10064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1691" name="Object 11"/>
          <p:cNvGraphicFramePr>
            <a:graphicFrameLocks noChangeAspect="1"/>
          </p:cNvGraphicFramePr>
          <p:nvPr/>
        </p:nvGraphicFramePr>
        <p:xfrm>
          <a:off x="2209207" y="5553077"/>
          <a:ext cx="4052888" cy="998538"/>
        </p:xfrm>
        <a:graphic>
          <a:graphicData uri="http://schemas.openxmlformats.org/presentationml/2006/ole">
            <mc:AlternateContent xmlns:mc="http://schemas.openxmlformats.org/markup-compatibility/2006">
              <mc:Choice xmlns:v="urn:schemas-microsoft-com:vml" Requires="v">
                <p:oleObj name="公式" r:id="rId8" imgW="1803400" imgH="444500" progId="Equation.3">
                  <p:embed/>
                </p:oleObj>
              </mc:Choice>
              <mc:Fallback>
                <p:oleObj name="公式" r:id="rId8" imgW="1803400" imgH="444500" progId="Equation.3">
                  <p:embed/>
                  <p:pic>
                    <p:nvPicPr>
                      <p:cNvPr id="71691" name="Object 11"/>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209207" y="5553077"/>
                        <a:ext cx="4052888" cy="9985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1696" name="Object 16"/>
          <p:cNvGraphicFramePr>
            <a:graphicFrameLocks noChangeAspect="1"/>
          </p:cNvGraphicFramePr>
          <p:nvPr/>
        </p:nvGraphicFramePr>
        <p:xfrm>
          <a:off x="6673258" y="5624516"/>
          <a:ext cx="3509963" cy="998537"/>
        </p:xfrm>
        <a:graphic>
          <a:graphicData uri="http://schemas.openxmlformats.org/presentationml/2006/ole">
            <mc:AlternateContent xmlns:mc="http://schemas.openxmlformats.org/markup-compatibility/2006">
              <mc:Choice xmlns:v="urn:schemas-microsoft-com:vml" Requires="v">
                <p:oleObj name="公式" r:id="rId10" imgW="1562100" imgH="444500" progId="Equation.3">
                  <p:embed/>
                </p:oleObj>
              </mc:Choice>
              <mc:Fallback>
                <p:oleObj name="公式" r:id="rId10" imgW="1562100" imgH="444500" progId="Equation.3">
                  <p:embed/>
                  <p:pic>
                    <p:nvPicPr>
                      <p:cNvPr id="71696" name="Object 16"/>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673258" y="5624516"/>
                        <a:ext cx="3509963" cy="9985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1697" name="Oval 17"/>
          <p:cNvSpPr>
            <a:spLocks noChangeArrowheads="1"/>
          </p:cNvSpPr>
          <p:nvPr/>
        </p:nvSpPr>
        <p:spPr bwMode="auto">
          <a:xfrm>
            <a:off x="5934448" y="2930500"/>
            <a:ext cx="792163" cy="1296987"/>
          </a:xfrm>
          <a:prstGeom prst="ellipse">
            <a:avLst/>
          </a:prstGeom>
          <a:noFill/>
          <a:ln w="28575">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698" name="Oval 18"/>
          <p:cNvSpPr>
            <a:spLocks noChangeArrowheads="1"/>
          </p:cNvSpPr>
          <p:nvPr/>
        </p:nvSpPr>
        <p:spPr bwMode="auto">
          <a:xfrm>
            <a:off x="6798047" y="2930500"/>
            <a:ext cx="1081088" cy="1296987"/>
          </a:xfrm>
          <a:prstGeom prst="ellipse">
            <a:avLst/>
          </a:prstGeom>
          <a:noFill/>
          <a:ln w="28575">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71687"/>
                                        </p:tgtEl>
                                        <p:attrNameLst>
                                          <p:attrName>style.visibility</p:attrName>
                                        </p:attrNameLst>
                                      </p:cBhvr>
                                      <p:to>
                                        <p:strVal val="visible"/>
                                      </p:to>
                                    </p:set>
                                    <p:animEffect transition="in" filter="wipe(up)">
                                      <p:cBhvr>
                                        <p:cTn id="7" dur="500"/>
                                        <p:tgtEl>
                                          <p:spTgt spid="7168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71688"/>
                                        </p:tgtEl>
                                        <p:attrNameLst>
                                          <p:attrName>style.visibility</p:attrName>
                                        </p:attrNameLst>
                                      </p:cBhvr>
                                      <p:to>
                                        <p:strVal val="visible"/>
                                      </p:to>
                                    </p:set>
                                    <p:animEffect transition="in" filter="wipe(up)">
                                      <p:cBhvr>
                                        <p:cTn id="12" dur="500"/>
                                        <p:tgtEl>
                                          <p:spTgt spid="7168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8" presetClass="entr" presetSubtype="16" fill="hold" grpId="0" nodeType="clickEffect">
                                  <p:stCondLst>
                                    <p:cond delay="0"/>
                                  </p:stCondLst>
                                  <p:childTnLst>
                                    <p:set>
                                      <p:cBhvr>
                                        <p:cTn id="16" dur="1" fill="hold">
                                          <p:stCondLst>
                                            <p:cond delay="0"/>
                                          </p:stCondLst>
                                        </p:cTn>
                                        <p:tgtEl>
                                          <p:spTgt spid="71697"/>
                                        </p:tgtEl>
                                        <p:attrNameLst>
                                          <p:attrName>style.visibility</p:attrName>
                                        </p:attrNameLst>
                                      </p:cBhvr>
                                      <p:to>
                                        <p:strVal val="visible"/>
                                      </p:to>
                                    </p:set>
                                    <p:animEffect transition="in" filter="diamond(in)">
                                      <p:cBhvr>
                                        <p:cTn id="17" dur="2000"/>
                                        <p:tgtEl>
                                          <p:spTgt spid="71697"/>
                                        </p:tgtEl>
                                      </p:cBhvr>
                                    </p:animEffect>
                                  </p:childTnLst>
                                </p:cTn>
                              </p:par>
                            </p:childTnLst>
                          </p:cTn>
                        </p:par>
                        <p:par>
                          <p:cTn id="18" fill="hold" nodeType="afterGroup">
                            <p:stCondLst>
                              <p:cond delay="2000"/>
                            </p:stCondLst>
                            <p:childTnLst>
                              <p:par>
                                <p:cTn id="19" presetID="8" presetClass="entr" presetSubtype="16" fill="hold" grpId="0" nodeType="afterEffect">
                                  <p:stCondLst>
                                    <p:cond delay="0"/>
                                  </p:stCondLst>
                                  <p:childTnLst>
                                    <p:set>
                                      <p:cBhvr>
                                        <p:cTn id="20" dur="1" fill="hold">
                                          <p:stCondLst>
                                            <p:cond delay="0"/>
                                          </p:stCondLst>
                                        </p:cTn>
                                        <p:tgtEl>
                                          <p:spTgt spid="71698"/>
                                        </p:tgtEl>
                                        <p:attrNameLst>
                                          <p:attrName>style.visibility</p:attrName>
                                        </p:attrNameLst>
                                      </p:cBhvr>
                                      <p:to>
                                        <p:strVal val="visible"/>
                                      </p:to>
                                    </p:set>
                                    <p:animEffect transition="in" filter="diamond(in)">
                                      <p:cBhvr>
                                        <p:cTn id="21" dur="2000"/>
                                        <p:tgtEl>
                                          <p:spTgt spid="71698"/>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1" fill="hold" nodeType="clickEffect">
                                  <p:stCondLst>
                                    <p:cond delay="0"/>
                                  </p:stCondLst>
                                  <p:childTnLst>
                                    <p:set>
                                      <p:cBhvr>
                                        <p:cTn id="25" dur="1" fill="hold">
                                          <p:stCondLst>
                                            <p:cond delay="0"/>
                                          </p:stCondLst>
                                        </p:cTn>
                                        <p:tgtEl>
                                          <p:spTgt spid="71690"/>
                                        </p:tgtEl>
                                        <p:attrNameLst>
                                          <p:attrName>style.visibility</p:attrName>
                                        </p:attrNameLst>
                                      </p:cBhvr>
                                      <p:to>
                                        <p:strVal val="visible"/>
                                      </p:to>
                                    </p:set>
                                    <p:animEffect transition="in" filter="wipe(up)">
                                      <p:cBhvr>
                                        <p:cTn id="26" dur="500"/>
                                        <p:tgtEl>
                                          <p:spTgt spid="71690"/>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1" fill="hold" nodeType="clickEffect">
                                  <p:stCondLst>
                                    <p:cond delay="0"/>
                                  </p:stCondLst>
                                  <p:childTnLst>
                                    <p:set>
                                      <p:cBhvr>
                                        <p:cTn id="30" dur="1" fill="hold">
                                          <p:stCondLst>
                                            <p:cond delay="0"/>
                                          </p:stCondLst>
                                        </p:cTn>
                                        <p:tgtEl>
                                          <p:spTgt spid="71691"/>
                                        </p:tgtEl>
                                        <p:attrNameLst>
                                          <p:attrName>style.visibility</p:attrName>
                                        </p:attrNameLst>
                                      </p:cBhvr>
                                      <p:to>
                                        <p:strVal val="visible"/>
                                      </p:to>
                                    </p:set>
                                    <p:animEffect transition="in" filter="wipe(up)">
                                      <p:cBhvr>
                                        <p:cTn id="31" dur="500"/>
                                        <p:tgtEl>
                                          <p:spTgt spid="71691"/>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22" presetClass="entr" presetSubtype="1" fill="hold" nodeType="clickEffect">
                                  <p:stCondLst>
                                    <p:cond delay="0"/>
                                  </p:stCondLst>
                                  <p:childTnLst>
                                    <p:set>
                                      <p:cBhvr>
                                        <p:cTn id="35" dur="1" fill="hold">
                                          <p:stCondLst>
                                            <p:cond delay="0"/>
                                          </p:stCondLst>
                                        </p:cTn>
                                        <p:tgtEl>
                                          <p:spTgt spid="71696"/>
                                        </p:tgtEl>
                                        <p:attrNameLst>
                                          <p:attrName>style.visibility</p:attrName>
                                        </p:attrNameLst>
                                      </p:cBhvr>
                                      <p:to>
                                        <p:strVal val="visible"/>
                                      </p:to>
                                    </p:set>
                                    <p:animEffect transition="in" filter="wipe(up)">
                                      <p:cBhvr>
                                        <p:cTn id="36" dur="500"/>
                                        <p:tgtEl>
                                          <p:spTgt spid="716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697" grpId="0" animBg="1"/>
      <p:bldP spid="71698"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ChangeArrowheads="1"/>
          </p:cNvSpPr>
          <p:nvPr/>
        </p:nvSpPr>
        <p:spPr bwMode="auto">
          <a:xfrm>
            <a:off x="2135189" y="5157788"/>
            <a:ext cx="7921625" cy="1439862"/>
          </a:xfrm>
          <a:prstGeom prst="rect">
            <a:avLst/>
          </a:prstGeom>
          <a:solidFill>
            <a:srgbClr val="F9B4F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843" name="Rectangle 3"/>
          <p:cNvSpPr>
            <a:spLocks noGrp="1" noChangeArrowheads="1"/>
          </p:cNvSpPr>
          <p:nvPr>
            <p:ph type="title"/>
          </p:nvPr>
        </p:nvSpPr>
        <p:spPr>
          <a:xfrm>
            <a:off x="1992313" y="116632"/>
            <a:ext cx="8229600" cy="1371600"/>
          </a:xfrm>
        </p:spPr>
        <p:txBody>
          <a:bodyPr/>
          <a:lstStyle/>
          <a:p>
            <a:pPr algn="ctr" eaLnBrk="1" hangingPunct="1"/>
            <a:r>
              <a:rPr lang="zh-CN" altLang="en-US" dirty="0">
                <a:solidFill>
                  <a:srgbClr val="008000"/>
                </a:solidFill>
              </a:rPr>
              <a:t>模糊集的运算</a:t>
            </a:r>
          </a:p>
        </p:txBody>
      </p:sp>
      <p:sp>
        <p:nvSpPr>
          <p:cNvPr id="35844" name="Rectangle 4"/>
          <p:cNvSpPr>
            <a:spLocks noGrp="1" noChangeArrowheads="1"/>
          </p:cNvSpPr>
          <p:nvPr>
            <p:ph type="body" sz="half" idx="1"/>
          </p:nvPr>
        </p:nvSpPr>
        <p:spPr>
          <a:xfrm>
            <a:off x="983432" y="1412875"/>
            <a:ext cx="9009881" cy="4383088"/>
          </a:xfrm>
        </p:spPr>
        <p:txBody>
          <a:bodyPr/>
          <a:lstStyle/>
          <a:p>
            <a:pPr eaLnBrk="1" hangingPunct="1"/>
            <a:r>
              <a:rPr lang="en-US" altLang="zh-CN" sz="3200" dirty="0">
                <a:cs typeface="Arial" charset="0"/>
              </a:rPr>
              <a:t>[P6</a:t>
            </a:r>
            <a:r>
              <a:rPr lang="zh-CN" altLang="en-US" sz="3200" dirty="0">
                <a:cs typeface="Arial" charset="0"/>
              </a:rPr>
              <a:t>例</a:t>
            </a:r>
            <a:r>
              <a:rPr lang="en-US" altLang="zh-CN" sz="3200" dirty="0">
                <a:cs typeface="Arial" charset="0"/>
              </a:rPr>
              <a:t>1]</a:t>
            </a:r>
            <a:r>
              <a:rPr kumimoji="1" lang="en-US" altLang="zh-CN" sz="3200" dirty="0">
                <a:cs typeface="Arial" charset="0"/>
              </a:rPr>
              <a:t>U={u</a:t>
            </a:r>
            <a:r>
              <a:rPr kumimoji="1" lang="en-US" altLang="zh-CN" sz="3200" baseline="-25000" dirty="0">
                <a:cs typeface="Arial" charset="0"/>
              </a:rPr>
              <a:t>1</a:t>
            </a:r>
            <a:r>
              <a:rPr kumimoji="1" lang="en-US" altLang="zh-CN" sz="3200" dirty="0">
                <a:cs typeface="Arial" charset="0"/>
              </a:rPr>
              <a:t>, u</a:t>
            </a:r>
            <a:r>
              <a:rPr kumimoji="1" lang="en-US" altLang="zh-CN" sz="3200" baseline="-25000" dirty="0">
                <a:cs typeface="Arial" charset="0"/>
              </a:rPr>
              <a:t>2</a:t>
            </a:r>
            <a:r>
              <a:rPr kumimoji="1" lang="en-US" altLang="zh-CN" sz="3200" dirty="0">
                <a:cs typeface="Arial" charset="0"/>
              </a:rPr>
              <a:t>, u</a:t>
            </a:r>
            <a:r>
              <a:rPr kumimoji="1" lang="en-US" altLang="zh-CN" sz="3200" baseline="-25000" dirty="0">
                <a:cs typeface="Arial" charset="0"/>
              </a:rPr>
              <a:t>3</a:t>
            </a:r>
            <a:r>
              <a:rPr kumimoji="1" lang="en-US" altLang="zh-CN" sz="3200" dirty="0">
                <a:cs typeface="Arial" charset="0"/>
              </a:rPr>
              <a:t>, u</a:t>
            </a:r>
            <a:r>
              <a:rPr kumimoji="1" lang="en-US" altLang="zh-CN" sz="3200" baseline="-25000" dirty="0">
                <a:cs typeface="Arial" charset="0"/>
              </a:rPr>
              <a:t>4</a:t>
            </a:r>
            <a:r>
              <a:rPr kumimoji="1" lang="en-US" altLang="zh-CN" sz="3200" dirty="0">
                <a:cs typeface="Arial" charset="0"/>
              </a:rPr>
              <a:t> , u</a:t>
            </a:r>
            <a:r>
              <a:rPr kumimoji="1" lang="en-US" altLang="zh-CN" sz="3200" baseline="-25000" dirty="0">
                <a:cs typeface="Arial" charset="0"/>
              </a:rPr>
              <a:t>5</a:t>
            </a:r>
            <a:r>
              <a:rPr kumimoji="1" lang="en-US" altLang="zh-CN" sz="3200" dirty="0">
                <a:cs typeface="Arial" charset="0"/>
              </a:rPr>
              <a:t>}, </a:t>
            </a:r>
            <a:r>
              <a:rPr kumimoji="1" lang="en-US" altLang="zh-CN" i="1" dirty="0">
                <a:cs typeface="Arial" charset="0"/>
              </a:rPr>
              <a:t>A</a:t>
            </a:r>
            <a:r>
              <a:rPr kumimoji="1" lang="en-US" altLang="zh-CN" dirty="0">
                <a:cs typeface="Arial" charset="0"/>
                <a:sym typeface="Symbol" panose="05050102010706020507" pitchFamily="18" charset="2"/>
              </a:rPr>
              <a:t></a:t>
            </a:r>
            <a:r>
              <a:rPr kumimoji="1" lang="en-US" altLang="zh-CN" i="1" dirty="0">
                <a:cs typeface="Arial" charset="0"/>
              </a:rPr>
              <a:t>B</a:t>
            </a:r>
            <a:endParaRPr kumimoji="1" lang="en-US" altLang="zh-CN" sz="3200" dirty="0">
              <a:cs typeface="Arial" charset="0"/>
            </a:endParaRPr>
          </a:p>
          <a:p>
            <a:pPr eaLnBrk="1" hangingPunct="1"/>
            <a:endParaRPr kumimoji="1" lang="en-US" altLang="zh-CN" sz="2800" dirty="0"/>
          </a:p>
          <a:p>
            <a:pPr eaLnBrk="1" hangingPunct="1">
              <a:buFont typeface="Wingdings" pitchFamily="2" charset="2"/>
              <a:buNone/>
            </a:pPr>
            <a:r>
              <a:rPr kumimoji="1" lang="en-US" altLang="zh-CN" sz="2800" dirty="0"/>
              <a:t>   </a:t>
            </a:r>
          </a:p>
        </p:txBody>
      </p:sp>
      <p:graphicFrame>
        <p:nvGraphicFramePr>
          <p:cNvPr id="75781" name="Object 5"/>
          <p:cNvGraphicFramePr>
            <a:graphicFrameLocks noGrp="1" noChangeAspect="1"/>
          </p:cNvGraphicFramePr>
          <p:nvPr>
            <p:ph sz="quarter" idx="2"/>
          </p:nvPr>
        </p:nvGraphicFramePr>
        <p:xfrm>
          <a:off x="2287893" y="2005014"/>
          <a:ext cx="6548437" cy="890587"/>
        </p:xfrm>
        <a:graphic>
          <a:graphicData uri="http://schemas.openxmlformats.org/presentationml/2006/ole">
            <mc:AlternateContent xmlns:mc="http://schemas.openxmlformats.org/markup-compatibility/2006">
              <mc:Choice xmlns:v="urn:schemas-microsoft-com:vml" Requires="v">
                <p:oleObj name="公式" r:id="rId2" imgW="3175000" imgH="431800" progId="Equation.3">
                  <p:embed/>
                </p:oleObj>
              </mc:Choice>
              <mc:Fallback>
                <p:oleObj name="公式" r:id="rId2" imgW="3175000" imgH="431800" progId="Equation.3">
                  <p:embed/>
                  <p:pic>
                    <p:nvPicPr>
                      <p:cNvPr id="75781"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7893" y="2005014"/>
                        <a:ext cx="6548437" cy="890587"/>
                      </a:xfrm>
                      <a:prstGeom prst="rect">
                        <a:avLst/>
                      </a:prstGeom>
                      <a:solidFill>
                        <a:srgbClr val="FFFF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5787" name="Object 11"/>
          <p:cNvGraphicFramePr>
            <a:graphicFrameLocks noGrp="1" noChangeAspect="1"/>
          </p:cNvGraphicFramePr>
          <p:nvPr>
            <p:ph sz="quarter" idx="3"/>
          </p:nvPr>
        </p:nvGraphicFramePr>
        <p:xfrm>
          <a:off x="2136775" y="5445125"/>
          <a:ext cx="4102100" cy="1011238"/>
        </p:xfrm>
        <a:graphic>
          <a:graphicData uri="http://schemas.openxmlformats.org/presentationml/2006/ole">
            <mc:AlternateContent xmlns:mc="http://schemas.openxmlformats.org/markup-compatibility/2006">
              <mc:Choice xmlns:v="urn:schemas-microsoft-com:vml" Requires="v">
                <p:oleObj name="公式" r:id="rId4" imgW="1803400" imgH="444500" progId="Equation.3">
                  <p:embed/>
                </p:oleObj>
              </mc:Choice>
              <mc:Fallback>
                <p:oleObj name="公式" r:id="rId4" imgW="1803400" imgH="444500" progId="Equation.3">
                  <p:embed/>
                  <p:pic>
                    <p:nvPicPr>
                      <p:cNvPr id="75787" name="Object 1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36775" y="5445125"/>
                        <a:ext cx="4102100" cy="10112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5784" name="Object 8"/>
          <p:cNvGraphicFramePr>
            <a:graphicFrameLocks noChangeAspect="1"/>
          </p:cNvGraphicFramePr>
          <p:nvPr/>
        </p:nvGraphicFramePr>
        <p:xfrm>
          <a:off x="2306639" y="2954338"/>
          <a:ext cx="7648575" cy="969962"/>
        </p:xfrm>
        <a:graphic>
          <a:graphicData uri="http://schemas.openxmlformats.org/presentationml/2006/ole">
            <mc:AlternateContent xmlns:mc="http://schemas.openxmlformats.org/markup-compatibility/2006">
              <mc:Choice xmlns:v="urn:schemas-microsoft-com:vml" Requires="v">
                <p:oleObj name="公式" r:id="rId6" imgW="3403600" imgH="431800" progId="Equation.3">
                  <p:embed/>
                </p:oleObj>
              </mc:Choice>
              <mc:Fallback>
                <p:oleObj name="公式" r:id="rId6" imgW="3403600" imgH="431800" progId="Equation.3">
                  <p:embed/>
                  <p:pic>
                    <p:nvPicPr>
                      <p:cNvPr id="75784" name="Object 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306639" y="2954338"/>
                        <a:ext cx="7648575" cy="9699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5785" name="Object 9"/>
          <p:cNvGraphicFramePr>
            <a:graphicFrameLocks noChangeAspect="1"/>
          </p:cNvGraphicFramePr>
          <p:nvPr/>
        </p:nvGraphicFramePr>
        <p:xfrm>
          <a:off x="3143250" y="4030663"/>
          <a:ext cx="2592388" cy="1047750"/>
        </p:xfrm>
        <a:graphic>
          <a:graphicData uri="http://schemas.openxmlformats.org/presentationml/2006/ole">
            <mc:AlternateContent xmlns:mc="http://schemas.openxmlformats.org/markup-compatibility/2006">
              <mc:Choice xmlns:v="urn:schemas-microsoft-com:vml" Requires="v">
                <p:oleObj name="公式" r:id="rId8" imgW="1066800" imgH="431800" progId="Equation.3">
                  <p:embed/>
                </p:oleObj>
              </mc:Choice>
              <mc:Fallback>
                <p:oleObj name="公式" r:id="rId8" imgW="1066800" imgH="431800" progId="Equation.3">
                  <p:embed/>
                  <p:pic>
                    <p:nvPicPr>
                      <p:cNvPr id="75785" name="Object 9"/>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143250" y="4030663"/>
                        <a:ext cx="2592388" cy="10477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5789" name="Object 13"/>
          <p:cNvGraphicFramePr>
            <a:graphicFrameLocks noChangeAspect="1"/>
          </p:cNvGraphicFramePr>
          <p:nvPr/>
        </p:nvGraphicFramePr>
        <p:xfrm>
          <a:off x="6456363" y="5445125"/>
          <a:ext cx="3509962" cy="998538"/>
        </p:xfrm>
        <a:graphic>
          <a:graphicData uri="http://schemas.openxmlformats.org/presentationml/2006/ole">
            <mc:AlternateContent xmlns:mc="http://schemas.openxmlformats.org/markup-compatibility/2006">
              <mc:Choice xmlns:v="urn:schemas-microsoft-com:vml" Requires="v">
                <p:oleObj name="公式" r:id="rId10" imgW="1562100" imgH="444500" progId="Equation.3">
                  <p:embed/>
                </p:oleObj>
              </mc:Choice>
              <mc:Fallback>
                <p:oleObj name="公式" r:id="rId10" imgW="1562100" imgH="444500" progId="Equation.3">
                  <p:embed/>
                  <p:pic>
                    <p:nvPicPr>
                      <p:cNvPr id="75789" name="Object 13"/>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456363" y="5445125"/>
                        <a:ext cx="3509962" cy="9985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5790" name="Oval 14"/>
          <p:cNvSpPr>
            <a:spLocks noChangeArrowheads="1"/>
          </p:cNvSpPr>
          <p:nvPr/>
        </p:nvSpPr>
        <p:spPr bwMode="auto">
          <a:xfrm>
            <a:off x="6456363" y="2852739"/>
            <a:ext cx="792162" cy="1296987"/>
          </a:xfrm>
          <a:prstGeom prst="ellipse">
            <a:avLst/>
          </a:prstGeom>
          <a:noFill/>
          <a:ln w="28575">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791" name="Oval 15"/>
          <p:cNvSpPr>
            <a:spLocks noChangeArrowheads="1"/>
          </p:cNvSpPr>
          <p:nvPr/>
        </p:nvSpPr>
        <p:spPr bwMode="auto">
          <a:xfrm>
            <a:off x="7391400" y="2852739"/>
            <a:ext cx="1081088" cy="1296987"/>
          </a:xfrm>
          <a:prstGeom prst="ellipse">
            <a:avLst/>
          </a:prstGeom>
          <a:noFill/>
          <a:ln w="28575">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75784"/>
                                        </p:tgtEl>
                                        <p:attrNameLst>
                                          <p:attrName>style.visibility</p:attrName>
                                        </p:attrNameLst>
                                      </p:cBhvr>
                                      <p:to>
                                        <p:strVal val="visible"/>
                                      </p:to>
                                    </p:set>
                                    <p:animEffect transition="in" filter="wipe(up)">
                                      <p:cBhvr>
                                        <p:cTn id="7" dur="500"/>
                                        <p:tgtEl>
                                          <p:spTgt spid="7578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8" presetClass="entr" presetSubtype="16" fill="hold" grpId="0" nodeType="clickEffect">
                                  <p:stCondLst>
                                    <p:cond delay="0"/>
                                  </p:stCondLst>
                                  <p:childTnLst>
                                    <p:set>
                                      <p:cBhvr>
                                        <p:cTn id="11" dur="1" fill="hold">
                                          <p:stCondLst>
                                            <p:cond delay="0"/>
                                          </p:stCondLst>
                                        </p:cTn>
                                        <p:tgtEl>
                                          <p:spTgt spid="75790"/>
                                        </p:tgtEl>
                                        <p:attrNameLst>
                                          <p:attrName>style.visibility</p:attrName>
                                        </p:attrNameLst>
                                      </p:cBhvr>
                                      <p:to>
                                        <p:strVal val="visible"/>
                                      </p:to>
                                    </p:set>
                                    <p:animEffect transition="in" filter="diamond(in)">
                                      <p:cBhvr>
                                        <p:cTn id="12" dur="2000"/>
                                        <p:tgtEl>
                                          <p:spTgt spid="75790"/>
                                        </p:tgtEl>
                                      </p:cBhvr>
                                    </p:animEffect>
                                  </p:childTnLst>
                                </p:cTn>
                              </p:par>
                            </p:childTnLst>
                          </p:cTn>
                        </p:par>
                        <p:par>
                          <p:cTn id="13" fill="hold" nodeType="afterGroup">
                            <p:stCondLst>
                              <p:cond delay="2000"/>
                            </p:stCondLst>
                            <p:childTnLst>
                              <p:par>
                                <p:cTn id="14" presetID="8" presetClass="entr" presetSubtype="16" fill="hold" grpId="0" nodeType="afterEffect">
                                  <p:stCondLst>
                                    <p:cond delay="0"/>
                                  </p:stCondLst>
                                  <p:childTnLst>
                                    <p:set>
                                      <p:cBhvr>
                                        <p:cTn id="15" dur="1" fill="hold">
                                          <p:stCondLst>
                                            <p:cond delay="0"/>
                                          </p:stCondLst>
                                        </p:cTn>
                                        <p:tgtEl>
                                          <p:spTgt spid="75791"/>
                                        </p:tgtEl>
                                        <p:attrNameLst>
                                          <p:attrName>style.visibility</p:attrName>
                                        </p:attrNameLst>
                                      </p:cBhvr>
                                      <p:to>
                                        <p:strVal val="visible"/>
                                      </p:to>
                                    </p:set>
                                    <p:animEffect transition="in" filter="diamond(in)">
                                      <p:cBhvr>
                                        <p:cTn id="16" dur="2000"/>
                                        <p:tgtEl>
                                          <p:spTgt spid="75791"/>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1" fill="hold" nodeType="clickEffect">
                                  <p:stCondLst>
                                    <p:cond delay="0"/>
                                  </p:stCondLst>
                                  <p:childTnLst>
                                    <p:set>
                                      <p:cBhvr>
                                        <p:cTn id="20" dur="1" fill="hold">
                                          <p:stCondLst>
                                            <p:cond delay="0"/>
                                          </p:stCondLst>
                                        </p:cTn>
                                        <p:tgtEl>
                                          <p:spTgt spid="75785"/>
                                        </p:tgtEl>
                                        <p:attrNameLst>
                                          <p:attrName>style.visibility</p:attrName>
                                        </p:attrNameLst>
                                      </p:cBhvr>
                                      <p:to>
                                        <p:strVal val="visible"/>
                                      </p:to>
                                    </p:set>
                                    <p:animEffect transition="in" filter="wipe(up)">
                                      <p:cBhvr>
                                        <p:cTn id="21" dur="500"/>
                                        <p:tgtEl>
                                          <p:spTgt spid="75785"/>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1" fill="hold" nodeType="clickEffect">
                                  <p:stCondLst>
                                    <p:cond delay="0"/>
                                  </p:stCondLst>
                                  <p:childTnLst>
                                    <p:set>
                                      <p:cBhvr>
                                        <p:cTn id="25" dur="1" fill="hold">
                                          <p:stCondLst>
                                            <p:cond delay="0"/>
                                          </p:stCondLst>
                                        </p:cTn>
                                        <p:tgtEl>
                                          <p:spTgt spid="75787"/>
                                        </p:tgtEl>
                                        <p:attrNameLst>
                                          <p:attrName>style.visibility</p:attrName>
                                        </p:attrNameLst>
                                      </p:cBhvr>
                                      <p:to>
                                        <p:strVal val="visible"/>
                                      </p:to>
                                    </p:set>
                                    <p:animEffect transition="in" filter="wipe(up)">
                                      <p:cBhvr>
                                        <p:cTn id="26" dur="500"/>
                                        <p:tgtEl>
                                          <p:spTgt spid="75787"/>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1" fill="hold" nodeType="clickEffect">
                                  <p:stCondLst>
                                    <p:cond delay="0"/>
                                  </p:stCondLst>
                                  <p:childTnLst>
                                    <p:set>
                                      <p:cBhvr>
                                        <p:cTn id="30" dur="1" fill="hold">
                                          <p:stCondLst>
                                            <p:cond delay="0"/>
                                          </p:stCondLst>
                                        </p:cTn>
                                        <p:tgtEl>
                                          <p:spTgt spid="75789"/>
                                        </p:tgtEl>
                                        <p:attrNameLst>
                                          <p:attrName>style.visibility</p:attrName>
                                        </p:attrNameLst>
                                      </p:cBhvr>
                                      <p:to>
                                        <p:strVal val="visible"/>
                                      </p:to>
                                    </p:set>
                                    <p:animEffect transition="in" filter="wipe(up)">
                                      <p:cBhvr>
                                        <p:cTn id="31" dur="500"/>
                                        <p:tgtEl>
                                          <p:spTgt spid="7578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790" grpId="0" animBg="1"/>
      <p:bldP spid="75791"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a:xfrm>
            <a:off x="1992313" y="116632"/>
            <a:ext cx="8229600" cy="1371600"/>
          </a:xfrm>
        </p:spPr>
        <p:txBody>
          <a:bodyPr/>
          <a:lstStyle/>
          <a:p>
            <a:pPr algn="ctr" eaLnBrk="1" hangingPunct="1"/>
            <a:r>
              <a:rPr lang="zh-CN" altLang="en-US" dirty="0">
                <a:solidFill>
                  <a:srgbClr val="008000"/>
                </a:solidFill>
              </a:rPr>
              <a:t>模糊集的运算</a:t>
            </a:r>
          </a:p>
        </p:txBody>
      </p:sp>
      <p:sp>
        <p:nvSpPr>
          <p:cNvPr id="36867" name="Rectangle 3"/>
          <p:cNvSpPr>
            <a:spLocks noGrp="1" noChangeArrowheads="1"/>
          </p:cNvSpPr>
          <p:nvPr>
            <p:ph type="body" sz="half" idx="1"/>
          </p:nvPr>
        </p:nvSpPr>
        <p:spPr>
          <a:xfrm>
            <a:off x="1343472" y="1412875"/>
            <a:ext cx="8867329" cy="4383088"/>
          </a:xfrm>
        </p:spPr>
        <p:txBody>
          <a:bodyPr/>
          <a:lstStyle/>
          <a:p>
            <a:pPr eaLnBrk="1" hangingPunct="1"/>
            <a:r>
              <a:rPr lang="en-US" altLang="zh-CN" sz="3200" dirty="0"/>
              <a:t>[P6</a:t>
            </a:r>
            <a:r>
              <a:rPr lang="zh-CN" altLang="en-US" sz="3200" dirty="0"/>
              <a:t>例</a:t>
            </a:r>
            <a:r>
              <a:rPr lang="en-US" altLang="zh-CN" sz="3200" dirty="0"/>
              <a:t>1]</a:t>
            </a:r>
            <a:r>
              <a:rPr kumimoji="1" lang="en-US" altLang="zh-CN" sz="3200" dirty="0"/>
              <a:t>U</a:t>
            </a:r>
            <a:r>
              <a:rPr kumimoji="1" lang="en-US" altLang="zh-CN" sz="3200" dirty="0">
                <a:cs typeface="Arial" charset="0"/>
              </a:rPr>
              <a:t>={u</a:t>
            </a:r>
            <a:r>
              <a:rPr kumimoji="1" lang="en-US" altLang="zh-CN" sz="3200" baseline="-25000" dirty="0">
                <a:cs typeface="Arial" charset="0"/>
              </a:rPr>
              <a:t>1</a:t>
            </a:r>
            <a:r>
              <a:rPr kumimoji="1" lang="en-US" altLang="zh-CN" sz="3200" dirty="0">
                <a:cs typeface="Arial" charset="0"/>
              </a:rPr>
              <a:t>, u</a:t>
            </a:r>
            <a:r>
              <a:rPr kumimoji="1" lang="en-US" altLang="zh-CN" sz="3200" baseline="-25000" dirty="0">
                <a:cs typeface="Arial" charset="0"/>
              </a:rPr>
              <a:t>2</a:t>
            </a:r>
            <a:r>
              <a:rPr kumimoji="1" lang="en-US" altLang="zh-CN" sz="3200" dirty="0">
                <a:cs typeface="Arial" charset="0"/>
              </a:rPr>
              <a:t>, u</a:t>
            </a:r>
            <a:r>
              <a:rPr kumimoji="1" lang="en-US" altLang="zh-CN" sz="3200" baseline="-25000" dirty="0">
                <a:cs typeface="Arial" charset="0"/>
              </a:rPr>
              <a:t>3</a:t>
            </a:r>
            <a:r>
              <a:rPr kumimoji="1" lang="en-US" altLang="zh-CN" sz="3200" dirty="0">
                <a:cs typeface="Arial" charset="0"/>
              </a:rPr>
              <a:t>, u</a:t>
            </a:r>
            <a:r>
              <a:rPr kumimoji="1" lang="en-US" altLang="zh-CN" sz="3200" baseline="-25000" dirty="0">
                <a:cs typeface="Arial" charset="0"/>
              </a:rPr>
              <a:t>4</a:t>
            </a:r>
            <a:r>
              <a:rPr kumimoji="1" lang="en-US" altLang="zh-CN" sz="3200" dirty="0">
                <a:cs typeface="Arial" charset="0"/>
              </a:rPr>
              <a:t> , u</a:t>
            </a:r>
            <a:r>
              <a:rPr kumimoji="1" lang="en-US" altLang="zh-CN" sz="3200" baseline="-25000" dirty="0">
                <a:cs typeface="Arial" charset="0"/>
              </a:rPr>
              <a:t>5</a:t>
            </a:r>
            <a:r>
              <a:rPr kumimoji="1" lang="en-US" altLang="zh-CN" sz="3200" dirty="0">
                <a:cs typeface="Arial" charset="0"/>
              </a:rPr>
              <a:t>}, </a:t>
            </a:r>
            <a:r>
              <a:rPr kumimoji="1" lang="en-US" altLang="zh-CN" i="1" dirty="0">
                <a:cs typeface="Arial" charset="0"/>
              </a:rPr>
              <a:t>A</a:t>
            </a:r>
            <a:r>
              <a:rPr kumimoji="1" lang="en-US" altLang="zh-CN" i="1" baseline="30000" dirty="0">
                <a:cs typeface="Arial" charset="0"/>
              </a:rPr>
              <a:t>C</a:t>
            </a:r>
            <a:endParaRPr kumimoji="1" lang="en-US" altLang="zh-CN" sz="3200" baseline="30000" dirty="0">
              <a:cs typeface="Arial" charset="0"/>
            </a:endParaRPr>
          </a:p>
          <a:p>
            <a:pPr eaLnBrk="1" hangingPunct="1"/>
            <a:endParaRPr kumimoji="1" lang="en-US" altLang="zh-CN" sz="2800" dirty="0"/>
          </a:p>
          <a:p>
            <a:pPr eaLnBrk="1" hangingPunct="1">
              <a:buFont typeface="Wingdings" pitchFamily="2" charset="2"/>
              <a:buNone/>
            </a:pPr>
            <a:r>
              <a:rPr kumimoji="1" lang="en-US" altLang="zh-CN" sz="2800" dirty="0"/>
              <a:t>   </a:t>
            </a:r>
          </a:p>
        </p:txBody>
      </p:sp>
      <p:graphicFrame>
        <p:nvGraphicFramePr>
          <p:cNvPr id="74756" name="Object 4"/>
          <p:cNvGraphicFramePr>
            <a:graphicFrameLocks noGrp="1" noChangeAspect="1"/>
          </p:cNvGraphicFramePr>
          <p:nvPr>
            <p:ph sz="quarter" idx="2"/>
          </p:nvPr>
        </p:nvGraphicFramePr>
        <p:xfrm>
          <a:off x="2898775" y="2060575"/>
          <a:ext cx="3273425" cy="942975"/>
        </p:xfrm>
        <a:graphic>
          <a:graphicData uri="http://schemas.openxmlformats.org/presentationml/2006/ole">
            <mc:AlternateContent xmlns:mc="http://schemas.openxmlformats.org/markup-compatibility/2006">
              <mc:Choice xmlns:v="urn:schemas-microsoft-com:vml" Requires="v">
                <p:oleObj name="公式" r:id="rId2" imgW="1497950" imgH="431613" progId="Equation.3">
                  <p:embed/>
                </p:oleObj>
              </mc:Choice>
              <mc:Fallback>
                <p:oleObj name="公式" r:id="rId2" imgW="1497950" imgH="431613" progId="Equation.3">
                  <p:embed/>
                  <p:pic>
                    <p:nvPicPr>
                      <p:cNvPr id="74756"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98775" y="2060575"/>
                        <a:ext cx="3273425" cy="942975"/>
                      </a:xfrm>
                      <a:prstGeom prst="rect">
                        <a:avLst/>
                      </a:prstGeom>
                      <a:solidFill>
                        <a:srgbClr val="FFFF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4761" name="Object 9"/>
          <p:cNvGraphicFramePr>
            <a:graphicFrameLocks noChangeAspect="1"/>
          </p:cNvGraphicFramePr>
          <p:nvPr/>
        </p:nvGraphicFramePr>
        <p:xfrm>
          <a:off x="2479675" y="3019425"/>
          <a:ext cx="6946900" cy="1136650"/>
        </p:xfrm>
        <a:graphic>
          <a:graphicData uri="http://schemas.openxmlformats.org/presentationml/2006/ole">
            <mc:AlternateContent xmlns:mc="http://schemas.openxmlformats.org/markup-compatibility/2006">
              <mc:Choice xmlns:v="urn:schemas-microsoft-com:vml" Requires="v">
                <p:oleObj name="公式" r:id="rId4" imgW="2641600" imgH="431800" progId="Equation.3">
                  <p:embed/>
                </p:oleObj>
              </mc:Choice>
              <mc:Fallback>
                <p:oleObj name="公式" r:id="rId4" imgW="2641600" imgH="431800" progId="Equation.3">
                  <p:embed/>
                  <p:pic>
                    <p:nvPicPr>
                      <p:cNvPr id="74761" name="Object 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479675" y="3019425"/>
                        <a:ext cx="6946900" cy="11366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4762" name="Object 10"/>
          <p:cNvGraphicFramePr>
            <a:graphicFrameLocks noChangeAspect="1"/>
          </p:cNvGraphicFramePr>
          <p:nvPr/>
        </p:nvGraphicFramePr>
        <p:xfrm>
          <a:off x="3065464" y="4171950"/>
          <a:ext cx="3540125" cy="1123950"/>
        </p:xfrm>
        <a:graphic>
          <a:graphicData uri="http://schemas.openxmlformats.org/presentationml/2006/ole">
            <mc:AlternateContent xmlns:mc="http://schemas.openxmlformats.org/markup-compatibility/2006">
              <mc:Choice xmlns:v="urn:schemas-microsoft-com:vml" Requires="v">
                <p:oleObj name="公式" r:id="rId6" imgW="1358310" imgH="431613" progId="Equation.3">
                  <p:embed/>
                </p:oleObj>
              </mc:Choice>
              <mc:Fallback>
                <p:oleObj name="公式" r:id="rId6" imgW="1358310" imgH="431613" progId="Equation.3">
                  <p:embed/>
                  <p:pic>
                    <p:nvPicPr>
                      <p:cNvPr id="74762" name="Object 10"/>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065464" y="4171950"/>
                        <a:ext cx="3540125" cy="11239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6871" name="Rectangle 12"/>
          <p:cNvSpPr>
            <a:spLocks noChangeArrowheads="1"/>
          </p:cNvSpPr>
          <p:nvPr/>
        </p:nvSpPr>
        <p:spPr bwMode="auto">
          <a:xfrm>
            <a:off x="2320131" y="5295900"/>
            <a:ext cx="7704137" cy="1439863"/>
          </a:xfrm>
          <a:prstGeom prst="rect">
            <a:avLst/>
          </a:prstGeom>
          <a:solidFill>
            <a:srgbClr val="CCE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74766" name="Object 14"/>
          <p:cNvGraphicFramePr>
            <a:graphicFrameLocks noChangeAspect="1"/>
          </p:cNvGraphicFramePr>
          <p:nvPr/>
        </p:nvGraphicFramePr>
        <p:xfrm>
          <a:off x="6311900" y="5445125"/>
          <a:ext cx="2425700" cy="998538"/>
        </p:xfrm>
        <a:graphic>
          <a:graphicData uri="http://schemas.openxmlformats.org/presentationml/2006/ole">
            <mc:AlternateContent xmlns:mc="http://schemas.openxmlformats.org/markup-compatibility/2006">
              <mc:Choice xmlns:v="urn:schemas-microsoft-com:vml" Requires="v">
                <p:oleObj name="公式" r:id="rId8" imgW="1079032" imgH="444307" progId="Equation.3">
                  <p:embed/>
                </p:oleObj>
              </mc:Choice>
              <mc:Fallback>
                <p:oleObj name="公式" r:id="rId8" imgW="1079032" imgH="444307" progId="Equation.3">
                  <p:embed/>
                  <p:pic>
                    <p:nvPicPr>
                      <p:cNvPr id="74766" name="Object 1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311900" y="5445125"/>
                        <a:ext cx="2425700" cy="9985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4767" name="Oval 15"/>
          <p:cNvSpPr>
            <a:spLocks noChangeArrowheads="1"/>
          </p:cNvSpPr>
          <p:nvPr/>
        </p:nvSpPr>
        <p:spPr bwMode="auto">
          <a:xfrm>
            <a:off x="7104064" y="2924175"/>
            <a:ext cx="936625" cy="1296988"/>
          </a:xfrm>
          <a:prstGeom prst="ellipse">
            <a:avLst/>
          </a:prstGeom>
          <a:noFill/>
          <a:ln w="28575">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74765" name="Object 13"/>
          <p:cNvGraphicFramePr>
            <a:graphicFrameLocks noGrp="1" noChangeAspect="1"/>
          </p:cNvGraphicFramePr>
          <p:nvPr>
            <p:ph sz="quarter" idx="3"/>
          </p:nvPr>
        </p:nvGraphicFramePr>
        <p:xfrm>
          <a:off x="3359150" y="5445125"/>
          <a:ext cx="1906588" cy="1011238"/>
        </p:xfrm>
        <a:graphic>
          <a:graphicData uri="http://schemas.openxmlformats.org/presentationml/2006/ole">
            <mc:AlternateContent xmlns:mc="http://schemas.openxmlformats.org/markup-compatibility/2006">
              <mc:Choice xmlns:v="urn:schemas-microsoft-com:vml" Requires="v">
                <p:oleObj name="公式" r:id="rId10" imgW="837836" imgH="444307" progId="Equation.3">
                  <p:embed/>
                </p:oleObj>
              </mc:Choice>
              <mc:Fallback>
                <p:oleObj name="公式" r:id="rId10" imgW="837836" imgH="444307" progId="Equation.3">
                  <p:embed/>
                  <p:pic>
                    <p:nvPicPr>
                      <p:cNvPr id="74765" name="Object 13"/>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359150" y="5445125"/>
                        <a:ext cx="1906588" cy="10112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74761"/>
                                        </p:tgtEl>
                                        <p:attrNameLst>
                                          <p:attrName>style.visibility</p:attrName>
                                        </p:attrNameLst>
                                      </p:cBhvr>
                                      <p:to>
                                        <p:strVal val="visible"/>
                                      </p:to>
                                    </p:set>
                                    <p:animEffect transition="in" filter="wipe(up)">
                                      <p:cBhvr>
                                        <p:cTn id="7" dur="500"/>
                                        <p:tgtEl>
                                          <p:spTgt spid="7476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8" presetClass="entr" presetSubtype="16" fill="hold" grpId="0" nodeType="clickEffect">
                                  <p:stCondLst>
                                    <p:cond delay="0"/>
                                  </p:stCondLst>
                                  <p:childTnLst>
                                    <p:set>
                                      <p:cBhvr>
                                        <p:cTn id="11" dur="1" fill="hold">
                                          <p:stCondLst>
                                            <p:cond delay="0"/>
                                          </p:stCondLst>
                                        </p:cTn>
                                        <p:tgtEl>
                                          <p:spTgt spid="74767"/>
                                        </p:tgtEl>
                                        <p:attrNameLst>
                                          <p:attrName>style.visibility</p:attrName>
                                        </p:attrNameLst>
                                      </p:cBhvr>
                                      <p:to>
                                        <p:strVal val="visible"/>
                                      </p:to>
                                    </p:set>
                                    <p:animEffect transition="in" filter="diamond(in)">
                                      <p:cBhvr>
                                        <p:cTn id="12" dur="2000"/>
                                        <p:tgtEl>
                                          <p:spTgt spid="7476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nodeType="clickEffect">
                                  <p:stCondLst>
                                    <p:cond delay="0"/>
                                  </p:stCondLst>
                                  <p:childTnLst>
                                    <p:set>
                                      <p:cBhvr>
                                        <p:cTn id="16" dur="1" fill="hold">
                                          <p:stCondLst>
                                            <p:cond delay="0"/>
                                          </p:stCondLst>
                                        </p:cTn>
                                        <p:tgtEl>
                                          <p:spTgt spid="74762"/>
                                        </p:tgtEl>
                                        <p:attrNameLst>
                                          <p:attrName>style.visibility</p:attrName>
                                        </p:attrNameLst>
                                      </p:cBhvr>
                                      <p:to>
                                        <p:strVal val="visible"/>
                                      </p:to>
                                    </p:set>
                                    <p:animEffect transition="in" filter="wipe(up)">
                                      <p:cBhvr>
                                        <p:cTn id="17" dur="500"/>
                                        <p:tgtEl>
                                          <p:spTgt spid="74762"/>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1" fill="hold" nodeType="clickEffect">
                                  <p:stCondLst>
                                    <p:cond delay="0"/>
                                  </p:stCondLst>
                                  <p:childTnLst>
                                    <p:set>
                                      <p:cBhvr>
                                        <p:cTn id="21" dur="1" fill="hold">
                                          <p:stCondLst>
                                            <p:cond delay="0"/>
                                          </p:stCondLst>
                                        </p:cTn>
                                        <p:tgtEl>
                                          <p:spTgt spid="74765"/>
                                        </p:tgtEl>
                                        <p:attrNameLst>
                                          <p:attrName>style.visibility</p:attrName>
                                        </p:attrNameLst>
                                      </p:cBhvr>
                                      <p:to>
                                        <p:strVal val="visible"/>
                                      </p:to>
                                    </p:set>
                                    <p:animEffect transition="in" filter="wipe(up)">
                                      <p:cBhvr>
                                        <p:cTn id="22" dur="500"/>
                                        <p:tgtEl>
                                          <p:spTgt spid="74765"/>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1" fill="hold" nodeType="clickEffect">
                                  <p:stCondLst>
                                    <p:cond delay="0"/>
                                  </p:stCondLst>
                                  <p:childTnLst>
                                    <p:set>
                                      <p:cBhvr>
                                        <p:cTn id="26" dur="1" fill="hold">
                                          <p:stCondLst>
                                            <p:cond delay="0"/>
                                          </p:stCondLst>
                                        </p:cTn>
                                        <p:tgtEl>
                                          <p:spTgt spid="74766"/>
                                        </p:tgtEl>
                                        <p:attrNameLst>
                                          <p:attrName>style.visibility</p:attrName>
                                        </p:attrNameLst>
                                      </p:cBhvr>
                                      <p:to>
                                        <p:strVal val="visible"/>
                                      </p:to>
                                    </p:set>
                                    <p:animEffect transition="in" filter="wipe(up)">
                                      <p:cBhvr>
                                        <p:cTn id="27" dur="500"/>
                                        <p:tgtEl>
                                          <p:spTgt spid="7476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767"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2" name="Rectangle 4"/>
          <p:cNvSpPr>
            <a:spLocks noChangeArrowheads="1"/>
          </p:cNvSpPr>
          <p:nvPr/>
        </p:nvSpPr>
        <p:spPr bwMode="auto">
          <a:xfrm>
            <a:off x="1415480" y="2852936"/>
            <a:ext cx="8342348"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3200" b="1" dirty="0">
                <a:latin typeface="Times New Roman" pitchFamily="18" charset="0"/>
              </a:rPr>
              <a:t>则</a:t>
            </a:r>
            <a:r>
              <a:rPr kumimoji="1" lang="en-US" altLang="zh-CN" sz="3200" b="1" i="1" dirty="0">
                <a:solidFill>
                  <a:srgbClr val="CC00CC"/>
                </a:solidFill>
                <a:latin typeface="Times New Roman" pitchFamily="18" charset="0"/>
              </a:rPr>
              <a:t>A</a:t>
            </a:r>
            <a:r>
              <a:rPr kumimoji="1" lang="en-US" altLang="zh-CN" sz="3200" b="1" i="1" baseline="30000" dirty="0">
                <a:solidFill>
                  <a:srgbClr val="CC00CC"/>
                </a:solidFill>
                <a:latin typeface="Times New Roman" pitchFamily="18" charset="0"/>
                <a:ea typeface="黑体" pitchFamily="49" charset="-122"/>
              </a:rPr>
              <a:t>c</a:t>
            </a:r>
            <a:r>
              <a:rPr kumimoji="1" lang="en-US" altLang="zh-CN" sz="3200" b="1" dirty="0">
                <a:solidFill>
                  <a:srgbClr val="CC00CC"/>
                </a:solidFill>
                <a:latin typeface="Times New Roman" pitchFamily="18" charset="0"/>
              </a:rPr>
              <a:t>=“</a:t>
            </a:r>
            <a:r>
              <a:rPr kumimoji="1" lang="zh-CN" altLang="en-US" sz="3200" b="1" dirty="0">
                <a:solidFill>
                  <a:srgbClr val="CC00CC"/>
                </a:solidFill>
                <a:latin typeface="Times New Roman" pitchFamily="18" charset="0"/>
              </a:rPr>
              <a:t>商品质量不好”</a:t>
            </a:r>
            <a:r>
              <a:rPr kumimoji="1" lang="en-US" altLang="zh-CN" sz="3200" b="1" dirty="0">
                <a:latin typeface="Times New Roman" pitchFamily="18" charset="0"/>
              </a:rPr>
              <a:t>, </a:t>
            </a:r>
            <a:r>
              <a:rPr kumimoji="1" lang="en-US" altLang="zh-CN" sz="3200" b="1" i="1" dirty="0" err="1">
                <a:solidFill>
                  <a:srgbClr val="996633"/>
                </a:solidFill>
                <a:latin typeface="Times New Roman" pitchFamily="18" charset="0"/>
              </a:rPr>
              <a:t>B</a:t>
            </a:r>
            <a:r>
              <a:rPr kumimoji="1" lang="en-US" altLang="zh-CN" sz="3200" b="1" i="1" baseline="30000" dirty="0" err="1">
                <a:solidFill>
                  <a:srgbClr val="996633"/>
                </a:solidFill>
                <a:latin typeface="Times New Roman" pitchFamily="18" charset="0"/>
                <a:ea typeface="黑体" pitchFamily="49" charset="-122"/>
              </a:rPr>
              <a:t>c</a:t>
            </a:r>
            <a:r>
              <a:rPr kumimoji="1" lang="en-US" altLang="zh-CN" sz="3200" b="1" dirty="0">
                <a:solidFill>
                  <a:srgbClr val="996633"/>
                </a:solidFill>
                <a:latin typeface="Times New Roman" pitchFamily="18" charset="0"/>
              </a:rPr>
              <a:t>=“</a:t>
            </a:r>
            <a:r>
              <a:rPr kumimoji="1" lang="zh-CN" altLang="en-US" sz="3200" b="1" dirty="0">
                <a:solidFill>
                  <a:srgbClr val="996633"/>
                </a:solidFill>
                <a:latin typeface="Times New Roman" pitchFamily="18" charset="0"/>
              </a:rPr>
              <a:t>商品质量不坏”</a:t>
            </a:r>
            <a:r>
              <a:rPr kumimoji="1" lang="en-US" altLang="zh-CN" sz="3200" b="1" dirty="0">
                <a:latin typeface="Times New Roman" pitchFamily="18" charset="0"/>
              </a:rPr>
              <a:t>.</a:t>
            </a:r>
          </a:p>
        </p:txBody>
      </p:sp>
      <p:sp>
        <p:nvSpPr>
          <p:cNvPr id="43013" name="Rectangle 5"/>
          <p:cNvSpPr>
            <a:spLocks noChangeArrowheads="1"/>
          </p:cNvSpPr>
          <p:nvPr/>
        </p:nvSpPr>
        <p:spPr bwMode="auto">
          <a:xfrm>
            <a:off x="2613065" y="3573660"/>
            <a:ext cx="6985001" cy="11018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
              </a:spcBef>
              <a:buClr>
                <a:schemeClr val="accent2"/>
              </a:buClr>
              <a:buSzPct val="80000"/>
              <a:buFont typeface="Wingdings" pitchFamily="2" charset="2"/>
              <a:buNone/>
            </a:pPr>
            <a:r>
              <a:rPr kumimoji="1" lang="en-US" altLang="zh-CN" sz="3200" b="1" i="1" dirty="0">
                <a:solidFill>
                  <a:srgbClr val="CC00CC"/>
                </a:solidFill>
                <a:ea typeface="黑体" pitchFamily="49" charset="-122"/>
              </a:rPr>
              <a:t>A</a:t>
            </a:r>
            <a:r>
              <a:rPr kumimoji="1" lang="en-US" altLang="zh-CN" sz="3200" b="1" i="1" baseline="30000" dirty="0">
                <a:solidFill>
                  <a:srgbClr val="CC00CC"/>
                </a:solidFill>
                <a:ea typeface="黑体" pitchFamily="49" charset="-122"/>
              </a:rPr>
              <a:t>c </a:t>
            </a:r>
            <a:r>
              <a:rPr kumimoji="1" lang="en-US" altLang="zh-CN" sz="3200" b="1" dirty="0">
                <a:solidFill>
                  <a:srgbClr val="CC00CC"/>
                </a:solidFill>
              </a:rPr>
              <a:t>= 1</a:t>
            </a:r>
            <a:r>
              <a:rPr kumimoji="1" lang="zh-CN" altLang="en-US" sz="3200" b="1" dirty="0">
                <a:solidFill>
                  <a:srgbClr val="CC00CC"/>
                </a:solidFill>
              </a:rPr>
              <a:t>－</a:t>
            </a:r>
            <a:r>
              <a:rPr kumimoji="1" lang="en-US" altLang="zh-CN" sz="3200" b="1" i="1" dirty="0">
                <a:solidFill>
                  <a:srgbClr val="CC00CC"/>
                </a:solidFill>
              </a:rPr>
              <a:t>A</a:t>
            </a:r>
            <a:r>
              <a:rPr kumimoji="1" lang="en-US" altLang="zh-CN" sz="3200" b="1" dirty="0">
                <a:solidFill>
                  <a:srgbClr val="CC00CC"/>
                </a:solidFill>
              </a:rPr>
              <a:t> = (0.2,  0.45,       1,  0.7,  0)</a:t>
            </a:r>
          </a:p>
          <a:p>
            <a:pPr>
              <a:spcBef>
                <a:spcPct val="5000"/>
              </a:spcBef>
              <a:buClr>
                <a:schemeClr val="accent2"/>
              </a:buClr>
              <a:buSzPct val="80000"/>
              <a:buFont typeface="Wingdings" pitchFamily="2" charset="2"/>
              <a:buNone/>
            </a:pPr>
            <a:r>
              <a:rPr kumimoji="1" lang="en-US" altLang="zh-CN" sz="3200" b="1" i="1" dirty="0" err="1">
                <a:solidFill>
                  <a:srgbClr val="7030A0"/>
                </a:solidFill>
                <a:ea typeface="黑体" pitchFamily="49" charset="-122"/>
              </a:rPr>
              <a:t>B</a:t>
            </a:r>
            <a:r>
              <a:rPr kumimoji="1" lang="en-US" altLang="zh-CN" sz="3200" b="1" i="1" baseline="30000" dirty="0" err="1">
                <a:solidFill>
                  <a:srgbClr val="7030A0"/>
                </a:solidFill>
                <a:ea typeface="黑体" pitchFamily="49" charset="-122"/>
              </a:rPr>
              <a:t>c</a:t>
            </a:r>
            <a:r>
              <a:rPr kumimoji="1" lang="en-US" altLang="zh-CN" sz="3200" b="1" i="1" baseline="30000" dirty="0">
                <a:solidFill>
                  <a:srgbClr val="7030A0"/>
                </a:solidFill>
                <a:ea typeface="黑体" pitchFamily="49" charset="-122"/>
              </a:rPr>
              <a:t> </a:t>
            </a:r>
            <a:r>
              <a:rPr kumimoji="1" lang="en-US" altLang="zh-CN" sz="3200" b="1" dirty="0">
                <a:solidFill>
                  <a:srgbClr val="7030A0"/>
                </a:solidFill>
              </a:rPr>
              <a:t>= 1</a:t>
            </a:r>
            <a:r>
              <a:rPr kumimoji="1" lang="zh-CN" altLang="en-US" sz="3200" b="1" dirty="0">
                <a:solidFill>
                  <a:srgbClr val="7030A0"/>
                </a:solidFill>
              </a:rPr>
              <a:t>－</a:t>
            </a:r>
            <a:r>
              <a:rPr kumimoji="1" lang="en-US" altLang="zh-CN" sz="3200" b="1" i="1" dirty="0">
                <a:solidFill>
                  <a:srgbClr val="7030A0"/>
                </a:solidFill>
              </a:rPr>
              <a:t>B</a:t>
            </a:r>
            <a:r>
              <a:rPr kumimoji="1" lang="en-US" altLang="zh-CN" sz="3200" b="1" dirty="0">
                <a:solidFill>
                  <a:srgbClr val="7030A0"/>
                </a:solidFill>
              </a:rPr>
              <a:t> = (0.9,  0.79,  0.14,  0.4,  1)</a:t>
            </a:r>
          </a:p>
        </p:txBody>
      </p:sp>
      <p:sp>
        <p:nvSpPr>
          <p:cNvPr id="43014" name="Rectangle 6"/>
          <p:cNvSpPr>
            <a:spLocks noChangeArrowheads="1"/>
          </p:cNvSpPr>
          <p:nvPr/>
        </p:nvSpPr>
        <p:spPr bwMode="auto">
          <a:xfrm>
            <a:off x="1395560" y="4725144"/>
            <a:ext cx="3635932"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3200" b="1" dirty="0">
                <a:latin typeface="Times New Roman" pitchFamily="18" charset="0"/>
              </a:rPr>
              <a:t>可见</a:t>
            </a:r>
            <a:r>
              <a:rPr kumimoji="1" lang="en-US" altLang="zh-CN" sz="3200" b="1" i="1" dirty="0">
                <a:solidFill>
                  <a:srgbClr val="CC00CC"/>
                </a:solidFill>
                <a:sym typeface="Symbol" pitchFamily="18" charset="2"/>
              </a:rPr>
              <a:t>A</a:t>
            </a:r>
            <a:r>
              <a:rPr kumimoji="1" lang="en-US" altLang="zh-CN" sz="3200" b="1" i="1" baseline="30000" dirty="0">
                <a:solidFill>
                  <a:srgbClr val="CC00CC"/>
                </a:solidFill>
                <a:ea typeface="黑体" pitchFamily="49" charset="-122"/>
              </a:rPr>
              <a:t>c</a:t>
            </a:r>
            <a:r>
              <a:rPr kumimoji="1" lang="en-US" altLang="zh-CN" sz="3200" b="1" i="1" dirty="0">
                <a:sym typeface="Symbol" pitchFamily="18" charset="2"/>
              </a:rPr>
              <a:t> </a:t>
            </a:r>
            <a:r>
              <a:rPr kumimoji="1" lang="en-US" altLang="zh-CN" sz="3200" b="1" dirty="0">
                <a:sym typeface="Symbol" pitchFamily="18" charset="2"/>
              </a:rPr>
              <a:t></a:t>
            </a:r>
            <a:r>
              <a:rPr kumimoji="1" lang="en-US" altLang="zh-CN" sz="3200" b="1" i="1" dirty="0">
                <a:solidFill>
                  <a:srgbClr val="008000"/>
                </a:solidFill>
                <a:ea typeface="黑体" pitchFamily="49" charset="-122"/>
              </a:rPr>
              <a:t>B</a:t>
            </a:r>
            <a:r>
              <a:rPr kumimoji="1" lang="en-US" altLang="zh-CN" sz="3200" b="1" dirty="0">
                <a:ea typeface="黑体" pitchFamily="49" charset="-122"/>
              </a:rPr>
              <a:t>,</a:t>
            </a:r>
            <a:r>
              <a:rPr kumimoji="1" lang="en-US" altLang="zh-CN" sz="3200" b="1" dirty="0">
                <a:sym typeface="Symbol" pitchFamily="18" charset="2"/>
              </a:rPr>
              <a:t> </a:t>
            </a:r>
            <a:r>
              <a:rPr kumimoji="1" lang="en-US" altLang="zh-CN" sz="3200" b="1" i="1" dirty="0" err="1">
                <a:solidFill>
                  <a:srgbClr val="7030A0"/>
                </a:solidFill>
                <a:sym typeface="Symbol" pitchFamily="18" charset="2"/>
              </a:rPr>
              <a:t>B</a:t>
            </a:r>
            <a:r>
              <a:rPr kumimoji="1" lang="en-US" altLang="zh-CN" sz="3200" b="1" i="1" baseline="30000" dirty="0" err="1">
                <a:solidFill>
                  <a:srgbClr val="7030A0"/>
                </a:solidFill>
                <a:ea typeface="黑体" pitchFamily="49" charset="-122"/>
              </a:rPr>
              <a:t>c</a:t>
            </a:r>
            <a:r>
              <a:rPr kumimoji="1" lang="en-US" altLang="zh-CN" sz="3200" b="1" i="1" dirty="0">
                <a:sym typeface="Symbol" pitchFamily="18" charset="2"/>
              </a:rPr>
              <a:t> </a:t>
            </a:r>
            <a:r>
              <a:rPr kumimoji="1" lang="en-US" altLang="zh-CN" sz="3200" b="1" dirty="0">
                <a:sym typeface="Symbol" pitchFamily="18" charset="2"/>
              </a:rPr>
              <a:t></a:t>
            </a:r>
            <a:r>
              <a:rPr kumimoji="1" lang="en-US" altLang="zh-CN" sz="3200" b="1" i="1" dirty="0">
                <a:solidFill>
                  <a:srgbClr val="FF0000"/>
                </a:solidFill>
                <a:ea typeface="黑体" pitchFamily="49" charset="-122"/>
              </a:rPr>
              <a:t>A</a:t>
            </a:r>
            <a:r>
              <a:rPr kumimoji="1" lang="en-US" altLang="zh-CN" sz="3200" b="1" i="1" dirty="0">
                <a:ea typeface="黑体" pitchFamily="49" charset="-122"/>
              </a:rPr>
              <a:t>.</a:t>
            </a:r>
            <a:r>
              <a:rPr kumimoji="1" lang="en-US" altLang="zh-CN" sz="3600" b="1" dirty="0">
                <a:latin typeface="Times New Roman" pitchFamily="18" charset="0"/>
                <a:sym typeface="Symbol" pitchFamily="18" charset="2"/>
              </a:rPr>
              <a:t> </a:t>
            </a:r>
          </a:p>
        </p:txBody>
      </p:sp>
      <p:sp>
        <p:nvSpPr>
          <p:cNvPr id="43015" name="Rectangle 7"/>
          <p:cNvSpPr>
            <a:spLocks noChangeArrowheads="1"/>
          </p:cNvSpPr>
          <p:nvPr/>
        </p:nvSpPr>
        <p:spPr bwMode="auto">
          <a:xfrm>
            <a:off x="2566989" y="5516563"/>
            <a:ext cx="7178568"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3200" b="1" dirty="0">
                <a:solidFill>
                  <a:srgbClr val="0000FF"/>
                </a:solidFill>
              </a:rPr>
              <a:t>又 </a:t>
            </a:r>
            <a:r>
              <a:rPr kumimoji="1" lang="en-US" altLang="zh-CN" sz="3200" b="1" i="1" dirty="0">
                <a:solidFill>
                  <a:srgbClr val="FF0000"/>
                </a:solidFill>
              </a:rPr>
              <a:t>A</a:t>
            </a:r>
            <a:r>
              <a:rPr kumimoji="1" lang="en-US" altLang="zh-CN" sz="3200" b="1" dirty="0">
                <a:solidFill>
                  <a:srgbClr val="3333FF"/>
                </a:solidFill>
                <a:sym typeface="Symbol"/>
              </a:rPr>
              <a:t>  </a:t>
            </a:r>
            <a:r>
              <a:rPr kumimoji="1" lang="en-US" altLang="zh-CN" sz="3200" b="1" i="1" dirty="0">
                <a:solidFill>
                  <a:srgbClr val="CC00CC"/>
                </a:solidFill>
                <a:sym typeface="Symbol" pitchFamily="18" charset="2"/>
              </a:rPr>
              <a:t>A</a:t>
            </a:r>
            <a:r>
              <a:rPr kumimoji="1" lang="en-US" altLang="zh-CN" sz="3200" b="1" i="1" baseline="30000" dirty="0">
                <a:solidFill>
                  <a:srgbClr val="CC00CC"/>
                </a:solidFill>
                <a:ea typeface="黑体" pitchFamily="49" charset="-122"/>
              </a:rPr>
              <a:t>c</a:t>
            </a:r>
            <a:r>
              <a:rPr kumimoji="1" lang="en-US" altLang="zh-CN" sz="3200" b="1" i="1" dirty="0">
                <a:solidFill>
                  <a:srgbClr val="0000FF"/>
                </a:solidFill>
                <a:sym typeface="Symbol" pitchFamily="18" charset="2"/>
              </a:rPr>
              <a:t> </a:t>
            </a:r>
            <a:r>
              <a:rPr kumimoji="1" lang="en-US" altLang="zh-CN" sz="3200" b="1" dirty="0">
                <a:solidFill>
                  <a:srgbClr val="0000FF"/>
                </a:solidFill>
              </a:rPr>
              <a:t>= (0.8,  0.55,      1,  0.7,   1) </a:t>
            </a:r>
          </a:p>
          <a:p>
            <a:r>
              <a:rPr kumimoji="1" lang="en-US" altLang="zh-CN" sz="3200" b="1" i="1" dirty="0">
                <a:solidFill>
                  <a:srgbClr val="0000FF"/>
                </a:solidFill>
              </a:rPr>
              <a:t>     </a:t>
            </a:r>
            <a:r>
              <a:rPr kumimoji="1" lang="en-US" altLang="zh-CN" sz="3200" b="1" i="1" dirty="0">
                <a:solidFill>
                  <a:srgbClr val="FF0000"/>
                </a:solidFill>
              </a:rPr>
              <a:t>A</a:t>
            </a:r>
            <a:r>
              <a:rPr kumimoji="1" lang="en-US" altLang="zh-CN" sz="3200" b="1" dirty="0">
                <a:solidFill>
                  <a:srgbClr val="3333FF"/>
                </a:solidFill>
                <a:sym typeface="Symbol"/>
              </a:rPr>
              <a:t> </a:t>
            </a:r>
            <a:r>
              <a:rPr kumimoji="1" lang="en-US" altLang="zh-CN" sz="3200" b="1" dirty="0">
                <a:solidFill>
                  <a:srgbClr val="3333FF"/>
                </a:solidFill>
                <a:ea typeface="黑体" pitchFamily="49" charset="-122"/>
                <a:sym typeface="Symbol" pitchFamily="18" charset="2"/>
              </a:rPr>
              <a:t> </a:t>
            </a:r>
            <a:r>
              <a:rPr kumimoji="1" lang="en-US" altLang="zh-CN" sz="3200" b="1" i="1" dirty="0">
                <a:solidFill>
                  <a:srgbClr val="CC00CC"/>
                </a:solidFill>
                <a:sym typeface="Symbol" pitchFamily="18" charset="2"/>
              </a:rPr>
              <a:t>A</a:t>
            </a:r>
            <a:r>
              <a:rPr kumimoji="1" lang="en-US" altLang="zh-CN" sz="3200" b="1" i="1" baseline="30000" dirty="0">
                <a:solidFill>
                  <a:srgbClr val="CC00CC"/>
                </a:solidFill>
                <a:ea typeface="黑体" pitchFamily="49" charset="-122"/>
              </a:rPr>
              <a:t>c</a:t>
            </a:r>
            <a:r>
              <a:rPr kumimoji="1" lang="en-US" altLang="zh-CN" sz="3200" b="1" i="1" dirty="0">
                <a:solidFill>
                  <a:srgbClr val="0000FF"/>
                </a:solidFill>
                <a:sym typeface="Symbol" pitchFamily="18" charset="2"/>
              </a:rPr>
              <a:t> </a:t>
            </a:r>
            <a:r>
              <a:rPr kumimoji="1" lang="en-US" altLang="zh-CN" sz="3200" b="1" dirty="0">
                <a:solidFill>
                  <a:srgbClr val="0000FF"/>
                </a:solidFill>
              </a:rPr>
              <a:t>= (0.2,  0.45,      0,  0.3,   0)</a:t>
            </a:r>
            <a:r>
              <a:rPr kumimoji="1" lang="en-US" altLang="zh-CN" sz="3200" b="1" i="1" dirty="0">
                <a:solidFill>
                  <a:srgbClr val="0000FF"/>
                </a:solidFill>
                <a:sym typeface="Symbol" pitchFamily="18" charset="2"/>
              </a:rPr>
              <a:t> </a:t>
            </a:r>
            <a:endParaRPr kumimoji="1" lang="en-US" altLang="zh-CN" sz="3600" b="1" i="1" dirty="0">
              <a:solidFill>
                <a:srgbClr val="0000FF"/>
              </a:solidFill>
              <a:cs typeface="Times New Roman" pitchFamily="18" charset="0"/>
              <a:sym typeface="Symbol" pitchFamily="18" charset="2"/>
            </a:endParaRPr>
          </a:p>
        </p:txBody>
      </p:sp>
      <p:sp>
        <p:nvSpPr>
          <p:cNvPr id="3" name="文本框 2">
            <a:extLst>
              <a:ext uri="{FF2B5EF4-FFF2-40B4-BE49-F238E27FC236}">
                <a16:creationId xmlns:a16="http://schemas.microsoft.com/office/drawing/2014/main" id="{45BBF29A-8A65-F26A-64BF-36B0C8EF8291}"/>
              </a:ext>
            </a:extLst>
          </p:cNvPr>
          <p:cNvSpPr txBox="1"/>
          <p:nvPr/>
        </p:nvSpPr>
        <p:spPr>
          <a:xfrm>
            <a:off x="9554539" y="5508522"/>
            <a:ext cx="1184956" cy="584775"/>
          </a:xfrm>
          <a:prstGeom prst="rect">
            <a:avLst/>
          </a:prstGeom>
          <a:noFill/>
        </p:spPr>
        <p:txBody>
          <a:bodyPr wrap="square">
            <a:spAutoFit/>
          </a:bodyPr>
          <a:lstStyle/>
          <a:p>
            <a:r>
              <a:rPr kumimoji="1" lang="en-US" altLang="zh-CN" sz="3200" b="1" dirty="0">
                <a:solidFill>
                  <a:srgbClr val="0000FF"/>
                </a:solidFill>
                <a:sym typeface="Symbol" pitchFamily="18" charset="2"/>
              </a:rPr>
              <a:t> </a:t>
            </a:r>
            <a:r>
              <a:rPr kumimoji="1" lang="en-US" altLang="zh-CN" sz="3200" b="1" i="1" dirty="0">
                <a:sym typeface="Symbol" pitchFamily="18" charset="2"/>
              </a:rPr>
              <a:t>U</a:t>
            </a:r>
            <a:r>
              <a:rPr kumimoji="1" lang="en-US" altLang="zh-CN" sz="3200" b="1" dirty="0">
                <a:solidFill>
                  <a:srgbClr val="0000FF"/>
                </a:solidFill>
              </a:rPr>
              <a:t>,</a:t>
            </a:r>
            <a:endParaRPr lang="zh-CN" altLang="en-US" sz="3200" dirty="0"/>
          </a:p>
        </p:txBody>
      </p:sp>
      <p:sp>
        <p:nvSpPr>
          <p:cNvPr id="5" name="文本框 4">
            <a:extLst>
              <a:ext uri="{FF2B5EF4-FFF2-40B4-BE49-F238E27FC236}">
                <a16:creationId xmlns:a16="http://schemas.microsoft.com/office/drawing/2014/main" id="{1D7448DF-85C2-8CA3-C373-B324F178A66A}"/>
              </a:ext>
            </a:extLst>
          </p:cNvPr>
          <p:cNvSpPr txBox="1"/>
          <p:nvPr/>
        </p:nvSpPr>
        <p:spPr>
          <a:xfrm>
            <a:off x="9571348" y="6012578"/>
            <a:ext cx="1205172" cy="584775"/>
          </a:xfrm>
          <a:prstGeom prst="rect">
            <a:avLst/>
          </a:prstGeom>
          <a:noFill/>
        </p:spPr>
        <p:txBody>
          <a:bodyPr wrap="square">
            <a:spAutoFit/>
          </a:bodyPr>
          <a:lstStyle/>
          <a:p>
            <a:r>
              <a:rPr kumimoji="1" lang="en-US" altLang="zh-CN" sz="3200" b="1" dirty="0">
                <a:solidFill>
                  <a:srgbClr val="0000FF"/>
                </a:solidFill>
                <a:sym typeface="Symbol" pitchFamily="18" charset="2"/>
              </a:rPr>
              <a:t> </a:t>
            </a:r>
            <a:r>
              <a:rPr lang="en-US" altLang="zh-CN" sz="3200" dirty="0"/>
              <a:t>Ø</a:t>
            </a:r>
            <a:r>
              <a:rPr kumimoji="1" lang="en-US" altLang="zh-CN" sz="3200" b="1" i="1" dirty="0">
                <a:solidFill>
                  <a:srgbClr val="0000FF"/>
                </a:solidFill>
                <a:cs typeface="Times New Roman" pitchFamily="18" charset="0"/>
                <a:sym typeface="Symbol" pitchFamily="18" charset="2"/>
              </a:rPr>
              <a:t>.</a:t>
            </a:r>
            <a:endParaRPr lang="zh-CN" altLang="en-US" sz="3200" dirty="0"/>
          </a:p>
        </p:txBody>
      </p:sp>
      <p:sp>
        <p:nvSpPr>
          <p:cNvPr id="2" name="矩形 1">
            <a:extLst>
              <a:ext uri="{FF2B5EF4-FFF2-40B4-BE49-F238E27FC236}">
                <a16:creationId xmlns:a16="http://schemas.microsoft.com/office/drawing/2014/main" id="{04053C57-19C3-7FD0-2F83-BC20C884DB94}"/>
              </a:ext>
            </a:extLst>
          </p:cNvPr>
          <p:cNvSpPr/>
          <p:nvPr/>
        </p:nvSpPr>
        <p:spPr>
          <a:xfrm>
            <a:off x="0" y="0"/>
            <a:ext cx="12192000" cy="2708920"/>
          </a:xfrm>
          <a:prstGeom prst="rect">
            <a:avLst/>
          </a:prstGeom>
          <a:solidFill>
            <a:srgbClr val="FFFFCC"/>
          </a:solidFill>
          <a:ln>
            <a:solidFill>
              <a:srgbClr val="FFC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a:p>
        </p:txBody>
      </p:sp>
      <p:sp>
        <p:nvSpPr>
          <p:cNvPr id="37890" name="Rectangle 2"/>
          <p:cNvSpPr>
            <a:spLocks noChangeArrowheads="1"/>
          </p:cNvSpPr>
          <p:nvPr/>
        </p:nvSpPr>
        <p:spPr bwMode="auto">
          <a:xfrm>
            <a:off x="334853" y="113834"/>
            <a:ext cx="11449272"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buClr>
                <a:schemeClr val="accent2"/>
              </a:buClr>
              <a:buSzPct val="80000"/>
              <a:buFont typeface="Wingdings" pitchFamily="2" charset="2"/>
              <a:buNone/>
            </a:pPr>
            <a:r>
              <a:rPr kumimoji="1" lang="zh-CN" altLang="en-US" sz="3600" b="1" dirty="0"/>
              <a:t>例</a:t>
            </a:r>
            <a:r>
              <a:rPr kumimoji="1" lang="en-US" altLang="zh-CN" sz="3600" b="1" dirty="0"/>
              <a:t>:</a:t>
            </a:r>
            <a:r>
              <a:rPr kumimoji="1" lang="zh-CN" altLang="en-US" sz="3600" b="1" dirty="0"/>
              <a:t>  设论域</a:t>
            </a:r>
            <a:r>
              <a:rPr kumimoji="1" lang="en-US" altLang="zh-CN" sz="3600" b="1" i="1" dirty="0"/>
              <a:t>U </a:t>
            </a:r>
            <a:r>
              <a:rPr kumimoji="1" lang="en-US" altLang="zh-CN" sz="3600" b="1" dirty="0"/>
              <a:t>= {</a:t>
            </a:r>
            <a:r>
              <a:rPr kumimoji="1" lang="en-US" altLang="zh-CN" sz="3600" b="1" i="1" dirty="0"/>
              <a:t>x</a:t>
            </a:r>
            <a:r>
              <a:rPr kumimoji="1" lang="en-US" altLang="zh-CN" sz="3600" b="1" baseline="-30000" dirty="0"/>
              <a:t>1</a:t>
            </a:r>
            <a:r>
              <a:rPr kumimoji="1" lang="en-US" altLang="zh-CN" sz="3600" b="1" dirty="0"/>
              <a:t>, </a:t>
            </a:r>
            <a:r>
              <a:rPr kumimoji="1" lang="en-US" altLang="zh-CN" sz="3600" b="1" i="1" dirty="0"/>
              <a:t>x</a:t>
            </a:r>
            <a:r>
              <a:rPr kumimoji="1" lang="en-US" altLang="zh-CN" sz="3600" b="1" baseline="-30000" dirty="0"/>
              <a:t>2</a:t>
            </a:r>
            <a:r>
              <a:rPr kumimoji="1" lang="en-US" altLang="zh-CN" sz="3600" b="1" dirty="0"/>
              <a:t>, </a:t>
            </a:r>
            <a:r>
              <a:rPr kumimoji="1" lang="en-US" altLang="zh-CN" sz="3600" b="1" i="1" dirty="0"/>
              <a:t>x</a:t>
            </a:r>
            <a:r>
              <a:rPr kumimoji="1" lang="en-US" altLang="zh-CN" sz="3600" b="1" baseline="-30000" dirty="0"/>
              <a:t>3</a:t>
            </a:r>
            <a:r>
              <a:rPr kumimoji="1" lang="en-US" altLang="zh-CN" sz="3600" b="1" dirty="0"/>
              <a:t>, </a:t>
            </a:r>
            <a:r>
              <a:rPr kumimoji="1" lang="en-US" altLang="zh-CN" sz="3600" b="1" i="1" dirty="0"/>
              <a:t>x</a:t>
            </a:r>
            <a:r>
              <a:rPr kumimoji="1" lang="en-US" altLang="zh-CN" sz="3600" b="1" baseline="-30000" dirty="0"/>
              <a:t>4</a:t>
            </a:r>
            <a:r>
              <a:rPr kumimoji="1" lang="en-US" altLang="zh-CN" sz="3600" b="1" dirty="0"/>
              <a:t>, </a:t>
            </a:r>
            <a:r>
              <a:rPr kumimoji="1" lang="en-US" altLang="zh-CN" sz="3600" b="1" i="1" dirty="0"/>
              <a:t>x</a:t>
            </a:r>
            <a:r>
              <a:rPr kumimoji="1" lang="en-US" altLang="zh-CN" sz="3600" b="1" baseline="-30000" dirty="0"/>
              <a:t>5</a:t>
            </a:r>
            <a:r>
              <a:rPr kumimoji="1" lang="en-US" altLang="zh-CN" sz="3600" b="1" dirty="0"/>
              <a:t>}(</a:t>
            </a:r>
            <a:r>
              <a:rPr kumimoji="1" lang="zh-CN" altLang="en-US" sz="3600" b="1" dirty="0"/>
              <a:t>商品集</a:t>
            </a:r>
            <a:r>
              <a:rPr kumimoji="1" lang="en-US" altLang="zh-CN" sz="3600" b="1" dirty="0"/>
              <a:t>)</a:t>
            </a:r>
            <a:r>
              <a:rPr kumimoji="1" lang="zh-CN" altLang="en-US" sz="3600" b="1" dirty="0"/>
              <a:t>，在</a:t>
            </a:r>
            <a:r>
              <a:rPr kumimoji="1" lang="en-US" altLang="zh-CN" sz="3600" b="1" i="1" dirty="0"/>
              <a:t>U</a:t>
            </a:r>
            <a:r>
              <a:rPr kumimoji="1" lang="zh-CN" altLang="en-US" sz="3600" b="1" dirty="0"/>
              <a:t>上定义两个模糊集： </a:t>
            </a:r>
            <a:r>
              <a:rPr kumimoji="1" lang="en-US" altLang="zh-CN" sz="3600" b="1" i="1" dirty="0">
                <a:solidFill>
                  <a:srgbClr val="FF0000"/>
                </a:solidFill>
              </a:rPr>
              <a:t>A </a:t>
            </a:r>
            <a:r>
              <a:rPr kumimoji="1" lang="en-US" altLang="zh-CN" sz="3600" b="1" dirty="0">
                <a:solidFill>
                  <a:srgbClr val="FF0000"/>
                </a:solidFill>
              </a:rPr>
              <a:t>=“</a:t>
            </a:r>
            <a:r>
              <a:rPr kumimoji="1" lang="zh-CN" altLang="en-US" sz="3600" b="1" dirty="0">
                <a:solidFill>
                  <a:srgbClr val="FF0000"/>
                </a:solidFill>
              </a:rPr>
              <a:t>商品质量好”，</a:t>
            </a:r>
            <a:r>
              <a:rPr kumimoji="1" lang="zh-CN" altLang="en-US" sz="3600" b="1" dirty="0"/>
              <a:t>   </a:t>
            </a:r>
            <a:r>
              <a:rPr kumimoji="1" lang="en-US" altLang="zh-CN" sz="3600" b="1" i="1" dirty="0">
                <a:solidFill>
                  <a:srgbClr val="008000"/>
                </a:solidFill>
              </a:rPr>
              <a:t>B </a:t>
            </a:r>
            <a:r>
              <a:rPr kumimoji="1" lang="en-US" altLang="zh-CN" sz="3600" b="1" dirty="0">
                <a:solidFill>
                  <a:srgbClr val="008000"/>
                </a:solidFill>
              </a:rPr>
              <a:t>=“</a:t>
            </a:r>
            <a:r>
              <a:rPr kumimoji="1" lang="zh-CN" altLang="en-US" sz="3600" b="1" dirty="0">
                <a:solidFill>
                  <a:srgbClr val="008000"/>
                </a:solidFill>
              </a:rPr>
              <a:t>商品质量坏”，</a:t>
            </a:r>
            <a:r>
              <a:rPr kumimoji="1" lang="zh-CN" altLang="en-US" sz="3600" b="1" dirty="0"/>
              <a:t>并设</a:t>
            </a:r>
          </a:p>
        </p:txBody>
      </p:sp>
      <p:sp>
        <p:nvSpPr>
          <p:cNvPr id="43011" name="Rectangle 3"/>
          <p:cNvSpPr>
            <a:spLocks noChangeArrowheads="1"/>
          </p:cNvSpPr>
          <p:nvPr/>
        </p:nvSpPr>
        <p:spPr bwMode="auto">
          <a:xfrm>
            <a:off x="4036640" y="1429958"/>
            <a:ext cx="6019800" cy="11018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
              </a:spcBef>
              <a:buClr>
                <a:schemeClr val="accent2"/>
              </a:buClr>
              <a:buSzPct val="80000"/>
              <a:buFont typeface="Wingdings" pitchFamily="2" charset="2"/>
              <a:buNone/>
            </a:pPr>
            <a:r>
              <a:rPr kumimoji="1" lang="en-US" altLang="zh-CN" sz="3200" b="1" i="1" dirty="0">
                <a:solidFill>
                  <a:srgbClr val="FF0000"/>
                </a:solidFill>
                <a:ea typeface="黑体" pitchFamily="49" charset="-122"/>
              </a:rPr>
              <a:t>A</a:t>
            </a:r>
            <a:r>
              <a:rPr kumimoji="1" lang="en-US" altLang="zh-CN" sz="3200" b="1" dirty="0">
                <a:solidFill>
                  <a:srgbClr val="FF0000"/>
                </a:solidFill>
                <a:ea typeface="黑体" pitchFamily="49" charset="-122"/>
              </a:rPr>
              <a:t> </a:t>
            </a:r>
            <a:r>
              <a:rPr kumimoji="1" lang="en-US" altLang="zh-CN" sz="3200" b="1" dirty="0">
                <a:solidFill>
                  <a:srgbClr val="FF0000"/>
                </a:solidFill>
              </a:rPr>
              <a:t>= (0.8,  0.55,       0,  0.3,  1).</a:t>
            </a:r>
          </a:p>
          <a:p>
            <a:pPr>
              <a:spcBef>
                <a:spcPct val="5000"/>
              </a:spcBef>
              <a:buClr>
                <a:schemeClr val="accent2"/>
              </a:buClr>
              <a:buSzPct val="80000"/>
              <a:buFont typeface="Wingdings" pitchFamily="2" charset="2"/>
              <a:buNone/>
            </a:pPr>
            <a:r>
              <a:rPr kumimoji="1" lang="en-US" altLang="zh-CN" sz="3200" b="1" i="1" dirty="0">
                <a:solidFill>
                  <a:srgbClr val="008000"/>
                </a:solidFill>
                <a:ea typeface="黑体" pitchFamily="49" charset="-122"/>
              </a:rPr>
              <a:t>B</a:t>
            </a:r>
            <a:r>
              <a:rPr kumimoji="1" lang="en-US" altLang="zh-CN" sz="3200" b="1" dirty="0">
                <a:solidFill>
                  <a:srgbClr val="008000"/>
                </a:solidFill>
                <a:ea typeface="黑体" pitchFamily="49" charset="-122"/>
              </a:rPr>
              <a:t> </a:t>
            </a:r>
            <a:r>
              <a:rPr kumimoji="1" lang="en-US" altLang="zh-CN" sz="3200" b="1" dirty="0">
                <a:solidFill>
                  <a:srgbClr val="008000"/>
                </a:solidFill>
              </a:rPr>
              <a:t>= (0.1,  0.21,  0.86,  0.6,  0).</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3011">
                                            <p:txEl>
                                              <p:pRg st="0" end="0"/>
                                            </p:txEl>
                                          </p:spTgt>
                                        </p:tgtEl>
                                        <p:attrNameLst>
                                          <p:attrName>style.visibility</p:attrName>
                                        </p:attrNameLst>
                                      </p:cBhvr>
                                      <p:to>
                                        <p:strVal val="visible"/>
                                      </p:to>
                                    </p:set>
                                    <p:animEffect transition="in" filter="wipe(left)">
                                      <p:cBhvr>
                                        <p:cTn id="7" dur="500"/>
                                        <p:tgtEl>
                                          <p:spTgt spid="43011">
                                            <p:txEl>
                                              <p:pRg st="0" end="0"/>
                                            </p:txEl>
                                          </p:spTgt>
                                        </p:tgtEl>
                                      </p:cBhvr>
                                    </p:animEffect>
                                  </p:childTnLst>
                                  <p:subTnLst>
                                    <p:audio>
                                      <p:cMediaNode>
                                        <p:cTn display="0" masterRel="sameClick">
                                          <p:stCondLst>
                                            <p:cond evt="begin" delay="0">
                                              <p:tn val="5"/>
                                            </p:cond>
                                          </p:stCondLst>
                                          <p:endCondLst>
                                            <p:cond evt="onStopAudio" delay="0">
                                              <p:tgtEl>
                                                <p:sldTgt/>
                                              </p:tgtEl>
                                            </p:cond>
                                          </p:endCondLst>
                                        </p:cTn>
                                        <p:tgtEl>
                                          <p:sndTgt r:embed="rId3" name="type.wav"/>
                                        </p:tgtEl>
                                      </p:cMediaNode>
                                    </p:audio>
                                  </p:sub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3011">
                                            <p:txEl>
                                              <p:pRg st="1" end="1"/>
                                            </p:txEl>
                                          </p:spTgt>
                                        </p:tgtEl>
                                        <p:attrNameLst>
                                          <p:attrName>style.visibility</p:attrName>
                                        </p:attrNameLst>
                                      </p:cBhvr>
                                      <p:to>
                                        <p:strVal val="visible"/>
                                      </p:to>
                                    </p:set>
                                    <p:animEffect transition="in" filter="wipe(left)">
                                      <p:cBhvr>
                                        <p:cTn id="12" dur="500"/>
                                        <p:tgtEl>
                                          <p:spTgt spid="43011">
                                            <p:txEl>
                                              <p:pRg st="1" end="1"/>
                                            </p:txEl>
                                          </p:spTgt>
                                        </p:tgtEl>
                                      </p:cBhvr>
                                    </p:animEffect>
                                  </p:childTnLst>
                                  <p:subTnLst>
                                    <p:audio>
                                      <p:cMediaNode>
                                        <p:cTn display="0" masterRel="sameClick">
                                          <p:stCondLst>
                                            <p:cond evt="begin" delay="0">
                                              <p:tn val="10"/>
                                            </p:cond>
                                          </p:stCondLst>
                                          <p:endCondLst>
                                            <p:cond evt="onStopAudio" delay="0">
                                              <p:tgtEl>
                                                <p:sldTgt/>
                                              </p:tgtEl>
                                            </p:cond>
                                          </p:endCondLst>
                                        </p:cTn>
                                        <p:tgtEl>
                                          <p:sndTgt r:embed="rId3" name="type.wav"/>
                                        </p:tgtEl>
                                      </p:cMediaNode>
                                    </p:audio>
                                  </p:sub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8" fill="hold" grpId="0" nodeType="clickEffect">
                                  <p:stCondLst>
                                    <p:cond delay="0"/>
                                  </p:stCondLst>
                                  <p:childTnLst>
                                    <p:set>
                                      <p:cBhvr>
                                        <p:cTn id="16" dur="1" fill="hold">
                                          <p:stCondLst>
                                            <p:cond delay="0"/>
                                          </p:stCondLst>
                                        </p:cTn>
                                        <p:tgtEl>
                                          <p:spTgt spid="43012">
                                            <p:txEl>
                                              <p:pRg st="0" end="0"/>
                                            </p:txEl>
                                          </p:spTgt>
                                        </p:tgtEl>
                                        <p:attrNameLst>
                                          <p:attrName>style.visibility</p:attrName>
                                        </p:attrNameLst>
                                      </p:cBhvr>
                                      <p:to>
                                        <p:strVal val="visible"/>
                                      </p:to>
                                    </p:set>
                                    <p:anim calcmode="lin" valueType="num">
                                      <p:cBhvr additive="base">
                                        <p:cTn id="17" dur="500" fill="hold"/>
                                        <p:tgtEl>
                                          <p:spTgt spid="43012">
                                            <p:txEl>
                                              <p:pRg st="0" end="0"/>
                                            </p:txEl>
                                          </p:spTgt>
                                        </p:tgtEl>
                                        <p:attrNameLst>
                                          <p:attrName>ppt_x</p:attrName>
                                        </p:attrNameLst>
                                      </p:cBhvr>
                                      <p:tavLst>
                                        <p:tav tm="0">
                                          <p:val>
                                            <p:strVal val="0-#ppt_w/2"/>
                                          </p:val>
                                        </p:tav>
                                        <p:tav tm="100000">
                                          <p:val>
                                            <p:strVal val="#ppt_x"/>
                                          </p:val>
                                        </p:tav>
                                      </p:tavLst>
                                    </p:anim>
                                    <p:anim calcmode="lin" valueType="num">
                                      <p:cBhvr additive="base">
                                        <p:cTn id="18" dur="500" fill="hold"/>
                                        <p:tgtEl>
                                          <p:spTgt spid="43012">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5"/>
                                            </p:cond>
                                          </p:stCondLst>
                                          <p:endCondLst>
                                            <p:cond evt="onStopAudio" delay="0">
                                              <p:tgtEl>
                                                <p:sldTgt/>
                                              </p:tgtEl>
                                            </p:cond>
                                          </p:endCondLst>
                                        </p:cTn>
                                        <p:tgtEl>
                                          <p:sndTgt r:embed="rId4" name="chimes.wav"/>
                                        </p:tgtEl>
                                      </p:cMediaNode>
                                    </p:audio>
                                  </p:subTnLst>
                                </p:cTn>
                              </p:par>
                            </p:childTnLst>
                          </p:cTn>
                        </p:par>
                      </p:childTnLst>
                    </p:cTn>
                  </p:par>
                  <p:par>
                    <p:cTn id="19" fill="hold" nodeType="clickPar">
                      <p:stCondLst>
                        <p:cond delay="indefinite"/>
                      </p:stCondLst>
                      <p:childTnLst>
                        <p:par>
                          <p:cTn id="20" fill="hold" nodeType="withGroup">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43013">
                                            <p:txEl>
                                              <p:pRg st="0" end="0"/>
                                            </p:txEl>
                                          </p:spTgt>
                                        </p:tgtEl>
                                        <p:attrNameLst>
                                          <p:attrName>style.visibility</p:attrName>
                                        </p:attrNameLst>
                                      </p:cBhvr>
                                      <p:to>
                                        <p:strVal val="visible"/>
                                      </p:to>
                                    </p:set>
                                    <p:animEffect transition="in" filter="wipe(left)">
                                      <p:cBhvr>
                                        <p:cTn id="23" dur="500"/>
                                        <p:tgtEl>
                                          <p:spTgt spid="43013">
                                            <p:txEl>
                                              <p:pRg st="0" end="0"/>
                                            </p:txEl>
                                          </p:spTgt>
                                        </p:tgtEl>
                                      </p:cBhvr>
                                    </p:animEffect>
                                  </p:childTnLst>
                                  <p:subTnLst>
                                    <p:audio>
                                      <p:cMediaNode>
                                        <p:cTn display="0" masterRel="sameClick">
                                          <p:stCondLst>
                                            <p:cond evt="begin" delay="0">
                                              <p:tn val="21"/>
                                            </p:cond>
                                          </p:stCondLst>
                                          <p:endCondLst>
                                            <p:cond evt="onStopAudio" delay="0">
                                              <p:tgtEl>
                                                <p:sldTgt/>
                                              </p:tgtEl>
                                            </p:cond>
                                          </p:endCondLst>
                                        </p:cTn>
                                        <p:tgtEl>
                                          <p:sndTgt r:embed="rId3" name="type.wav"/>
                                        </p:tgtEl>
                                      </p:cMediaNode>
                                    </p:audio>
                                  </p:subTnLst>
                                </p:cTn>
                              </p:par>
                            </p:childTnLst>
                          </p:cTn>
                        </p:par>
                      </p:childTnLst>
                    </p:cTn>
                  </p:par>
                  <p:par>
                    <p:cTn id="24" fill="hold" nodeType="clickPar">
                      <p:stCondLst>
                        <p:cond delay="indefinite"/>
                      </p:stCondLst>
                      <p:childTnLst>
                        <p:par>
                          <p:cTn id="25" fill="hold" nodeType="withGroup">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43013">
                                            <p:txEl>
                                              <p:pRg st="1" end="1"/>
                                            </p:txEl>
                                          </p:spTgt>
                                        </p:tgtEl>
                                        <p:attrNameLst>
                                          <p:attrName>style.visibility</p:attrName>
                                        </p:attrNameLst>
                                      </p:cBhvr>
                                      <p:to>
                                        <p:strVal val="visible"/>
                                      </p:to>
                                    </p:set>
                                    <p:animEffect transition="in" filter="wipe(left)">
                                      <p:cBhvr>
                                        <p:cTn id="28" dur="500"/>
                                        <p:tgtEl>
                                          <p:spTgt spid="43013">
                                            <p:txEl>
                                              <p:pRg st="1" end="1"/>
                                            </p:txEl>
                                          </p:spTgt>
                                        </p:tgtEl>
                                      </p:cBhvr>
                                    </p:animEffect>
                                  </p:childTnLst>
                                  <p:subTnLst>
                                    <p:audio>
                                      <p:cMediaNode>
                                        <p:cTn display="0" masterRel="sameClick">
                                          <p:stCondLst>
                                            <p:cond evt="begin" delay="0">
                                              <p:tn val="26"/>
                                            </p:cond>
                                          </p:stCondLst>
                                          <p:endCondLst>
                                            <p:cond evt="onStopAudio" delay="0">
                                              <p:tgtEl>
                                                <p:sldTgt/>
                                              </p:tgtEl>
                                            </p:cond>
                                          </p:endCondLst>
                                        </p:cTn>
                                        <p:tgtEl>
                                          <p:sndTgt r:embed="rId3" name="type.wav"/>
                                        </p:tgtEl>
                                      </p:cMediaNode>
                                    </p:audio>
                                  </p:subTnLst>
                                </p:cTn>
                              </p:par>
                            </p:childTnLst>
                          </p:cTn>
                        </p:par>
                      </p:childTnLst>
                    </p:cTn>
                  </p:par>
                  <p:par>
                    <p:cTn id="29" fill="hold" nodeType="clickPar">
                      <p:stCondLst>
                        <p:cond delay="indefinite"/>
                      </p:stCondLst>
                      <p:childTnLst>
                        <p:par>
                          <p:cTn id="30" fill="hold" nodeType="withGroup">
                            <p:stCondLst>
                              <p:cond delay="0"/>
                            </p:stCondLst>
                            <p:childTnLst>
                              <p:par>
                                <p:cTn id="31" presetID="2" presetClass="entr" presetSubtype="8" fill="hold" grpId="0" nodeType="clickEffect">
                                  <p:stCondLst>
                                    <p:cond delay="0"/>
                                  </p:stCondLst>
                                  <p:childTnLst>
                                    <p:set>
                                      <p:cBhvr>
                                        <p:cTn id="32" dur="1" fill="hold">
                                          <p:stCondLst>
                                            <p:cond delay="0"/>
                                          </p:stCondLst>
                                        </p:cTn>
                                        <p:tgtEl>
                                          <p:spTgt spid="43014">
                                            <p:txEl>
                                              <p:pRg st="0" end="0"/>
                                            </p:txEl>
                                          </p:spTgt>
                                        </p:tgtEl>
                                        <p:attrNameLst>
                                          <p:attrName>style.visibility</p:attrName>
                                        </p:attrNameLst>
                                      </p:cBhvr>
                                      <p:to>
                                        <p:strVal val="visible"/>
                                      </p:to>
                                    </p:set>
                                    <p:anim calcmode="lin" valueType="num">
                                      <p:cBhvr additive="base">
                                        <p:cTn id="33" dur="500" fill="hold"/>
                                        <p:tgtEl>
                                          <p:spTgt spid="43014">
                                            <p:txEl>
                                              <p:pRg st="0" end="0"/>
                                            </p:txEl>
                                          </p:spTgt>
                                        </p:tgtEl>
                                        <p:attrNameLst>
                                          <p:attrName>ppt_x</p:attrName>
                                        </p:attrNameLst>
                                      </p:cBhvr>
                                      <p:tavLst>
                                        <p:tav tm="0">
                                          <p:val>
                                            <p:strVal val="0-#ppt_w/2"/>
                                          </p:val>
                                        </p:tav>
                                        <p:tav tm="100000">
                                          <p:val>
                                            <p:strVal val="#ppt_x"/>
                                          </p:val>
                                        </p:tav>
                                      </p:tavLst>
                                    </p:anim>
                                    <p:anim calcmode="lin" valueType="num">
                                      <p:cBhvr additive="base">
                                        <p:cTn id="34" dur="500" fill="hold"/>
                                        <p:tgtEl>
                                          <p:spTgt spid="43014">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31"/>
                                            </p:cond>
                                          </p:stCondLst>
                                          <p:endCondLst>
                                            <p:cond evt="onStopAudio" delay="0">
                                              <p:tgtEl>
                                                <p:sldTgt/>
                                              </p:tgtEl>
                                            </p:cond>
                                          </p:endCondLst>
                                        </p:cTn>
                                        <p:tgtEl>
                                          <p:sndTgt r:embed="rId3" name="type.wav"/>
                                        </p:tgtEl>
                                      </p:cMediaNode>
                                    </p:audio>
                                  </p:subTnLst>
                                </p:cTn>
                              </p:par>
                            </p:childTnLst>
                          </p:cTn>
                        </p:par>
                      </p:childTnLst>
                    </p:cTn>
                  </p:par>
                  <p:par>
                    <p:cTn id="35" fill="hold" nodeType="clickPar">
                      <p:stCondLst>
                        <p:cond delay="indefinite"/>
                      </p:stCondLst>
                      <p:childTnLst>
                        <p:par>
                          <p:cTn id="36" fill="hold" nodeType="withGroup">
                            <p:stCondLst>
                              <p:cond delay="0"/>
                            </p:stCondLst>
                            <p:childTnLst>
                              <p:par>
                                <p:cTn id="37" presetID="4" presetClass="entr" presetSubtype="32" fill="hold" grpId="0" nodeType="clickEffect">
                                  <p:stCondLst>
                                    <p:cond delay="0"/>
                                  </p:stCondLst>
                                  <p:childTnLst>
                                    <p:set>
                                      <p:cBhvr>
                                        <p:cTn id="38" dur="1" fill="hold">
                                          <p:stCondLst>
                                            <p:cond delay="0"/>
                                          </p:stCondLst>
                                        </p:cTn>
                                        <p:tgtEl>
                                          <p:spTgt spid="43015">
                                            <p:txEl>
                                              <p:pRg st="0" end="0"/>
                                            </p:txEl>
                                          </p:spTgt>
                                        </p:tgtEl>
                                        <p:attrNameLst>
                                          <p:attrName>style.visibility</p:attrName>
                                        </p:attrNameLst>
                                      </p:cBhvr>
                                      <p:to>
                                        <p:strVal val="visible"/>
                                      </p:to>
                                    </p:set>
                                    <p:animEffect transition="in" filter="box(out)">
                                      <p:cBhvr>
                                        <p:cTn id="39" dur="500"/>
                                        <p:tgtEl>
                                          <p:spTgt spid="43015">
                                            <p:txEl>
                                              <p:pRg st="0" end="0"/>
                                            </p:txEl>
                                          </p:spTgt>
                                        </p:tgtEl>
                                      </p:cBhvr>
                                    </p:animEffect>
                                  </p:childTnLst>
                                  <p:subTnLst>
                                    <p:audio>
                                      <p:cMediaNode>
                                        <p:cTn display="0" masterRel="sameClick">
                                          <p:stCondLst>
                                            <p:cond evt="begin" delay="0">
                                              <p:tn val="37"/>
                                            </p:cond>
                                          </p:stCondLst>
                                          <p:endCondLst>
                                            <p:cond evt="onStopAudio" delay="0">
                                              <p:tgtEl>
                                                <p:sldTgt/>
                                              </p:tgtEl>
                                            </p:cond>
                                          </p:endCondLst>
                                        </p:cTn>
                                        <p:tgtEl>
                                          <p:sndTgt r:embed="rId5" name="camera.wav"/>
                                        </p:tgtEl>
                                      </p:cMediaNode>
                                    </p:audio>
                                  </p:subTnLst>
                                </p:cTn>
                              </p:par>
                            </p:childTnLst>
                          </p:cTn>
                        </p:par>
                      </p:childTnLst>
                    </p:cTn>
                  </p:par>
                  <p:par>
                    <p:cTn id="40" fill="hold" nodeType="clickPar">
                      <p:stCondLst>
                        <p:cond delay="indefinite"/>
                      </p:stCondLst>
                      <p:childTnLst>
                        <p:par>
                          <p:cTn id="41" fill="hold" nodeType="withGroup">
                            <p:stCondLst>
                              <p:cond delay="0"/>
                            </p:stCondLst>
                            <p:childTnLst>
                              <p:par>
                                <p:cTn id="42" presetID="22" presetClass="entr" presetSubtype="8" fill="hold" grpId="0" nodeType="clickEffect">
                                  <p:stCondLst>
                                    <p:cond delay="0"/>
                                  </p:stCondLst>
                                  <p:childTnLst>
                                    <p:set>
                                      <p:cBhvr>
                                        <p:cTn id="43" dur="1" fill="hold">
                                          <p:stCondLst>
                                            <p:cond delay="0"/>
                                          </p:stCondLst>
                                        </p:cTn>
                                        <p:tgtEl>
                                          <p:spTgt spid="3"/>
                                        </p:tgtEl>
                                        <p:attrNameLst>
                                          <p:attrName>style.visibility</p:attrName>
                                        </p:attrNameLst>
                                      </p:cBhvr>
                                      <p:to>
                                        <p:strVal val="visible"/>
                                      </p:to>
                                    </p:set>
                                    <p:animEffect transition="in" filter="wipe(left)">
                                      <p:cBhvr>
                                        <p:cTn id="44" dur="500"/>
                                        <p:tgtEl>
                                          <p:spTgt spid="3"/>
                                        </p:tgtEl>
                                      </p:cBhvr>
                                    </p:animEffect>
                                  </p:childTnLst>
                                </p:cTn>
                              </p:par>
                            </p:childTnLst>
                          </p:cTn>
                        </p:par>
                      </p:childTnLst>
                    </p:cTn>
                  </p:par>
                  <p:par>
                    <p:cTn id="45" fill="hold">
                      <p:stCondLst>
                        <p:cond delay="indefinite"/>
                      </p:stCondLst>
                      <p:childTnLst>
                        <p:par>
                          <p:cTn id="46" fill="hold">
                            <p:stCondLst>
                              <p:cond delay="0"/>
                            </p:stCondLst>
                            <p:childTnLst>
                              <p:par>
                                <p:cTn id="47" presetID="4" presetClass="entr" presetSubtype="32" fill="hold" grpId="0" nodeType="clickEffect">
                                  <p:stCondLst>
                                    <p:cond delay="0"/>
                                  </p:stCondLst>
                                  <p:childTnLst>
                                    <p:set>
                                      <p:cBhvr>
                                        <p:cTn id="48" dur="1" fill="hold">
                                          <p:stCondLst>
                                            <p:cond delay="0"/>
                                          </p:stCondLst>
                                        </p:cTn>
                                        <p:tgtEl>
                                          <p:spTgt spid="43015">
                                            <p:txEl>
                                              <p:pRg st="1" end="1"/>
                                            </p:txEl>
                                          </p:spTgt>
                                        </p:tgtEl>
                                        <p:attrNameLst>
                                          <p:attrName>style.visibility</p:attrName>
                                        </p:attrNameLst>
                                      </p:cBhvr>
                                      <p:to>
                                        <p:strVal val="visible"/>
                                      </p:to>
                                    </p:set>
                                    <p:animEffect transition="in" filter="box(out)">
                                      <p:cBhvr>
                                        <p:cTn id="49" dur="500"/>
                                        <p:tgtEl>
                                          <p:spTgt spid="43015">
                                            <p:txEl>
                                              <p:pRg st="1" end="1"/>
                                            </p:txEl>
                                          </p:spTgt>
                                        </p:tgtEl>
                                      </p:cBhvr>
                                    </p:animEffect>
                                  </p:childTnLst>
                                  <p:subTnLst>
                                    <p:audio>
                                      <p:cMediaNode>
                                        <p:cTn display="0" masterRel="sameClick">
                                          <p:stCondLst>
                                            <p:cond evt="begin" delay="0">
                                              <p:tn val="47"/>
                                            </p:cond>
                                          </p:stCondLst>
                                          <p:endCondLst>
                                            <p:cond evt="onStopAudio" delay="0">
                                              <p:tgtEl>
                                                <p:sldTgt/>
                                              </p:tgtEl>
                                            </p:cond>
                                          </p:endCondLst>
                                        </p:cTn>
                                        <p:tgtEl>
                                          <p:sndTgt r:embed="rId5" name="camera.wav"/>
                                        </p:tgtEl>
                                      </p:cMediaNode>
                                    </p:audio>
                                  </p:subTnLst>
                                </p:cTn>
                              </p:par>
                            </p:childTnLst>
                          </p:cTn>
                        </p:par>
                      </p:childTnLst>
                    </p:cTn>
                  </p:par>
                  <p:par>
                    <p:cTn id="50" fill="hold">
                      <p:stCondLst>
                        <p:cond delay="indefinite"/>
                      </p:stCondLst>
                      <p:childTnLst>
                        <p:par>
                          <p:cTn id="51" fill="hold">
                            <p:stCondLst>
                              <p:cond delay="0"/>
                            </p:stCondLst>
                            <p:childTnLst>
                              <p:par>
                                <p:cTn id="52" presetID="22" presetClass="entr" presetSubtype="8" fill="hold" grpId="0" nodeType="clickEffect">
                                  <p:stCondLst>
                                    <p:cond delay="0"/>
                                  </p:stCondLst>
                                  <p:childTnLst>
                                    <p:set>
                                      <p:cBhvr>
                                        <p:cTn id="53" dur="1" fill="hold">
                                          <p:stCondLst>
                                            <p:cond delay="0"/>
                                          </p:stCondLst>
                                        </p:cTn>
                                        <p:tgtEl>
                                          <p:spTgt spid="5"/>
                                        </p:tgtEl>
                                        <p:attrNameLst>
                                          <p:attrName>style.visibility</p:attrName>
                                        </p:attrNameLst>
                                      </p:cBhvr>
                                      <p:to>
                                        <p:strVal val="visible"/>
                                      </p:to>
                                    </p:set>
                                    <p:animEffect transition="in" filter="wipe(left)">
                                      <p:cBhvr>
                                        <p:cTn id="54"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012" grpId="0" build="p" autoUpdateAnimBg="0"/>
      <p:bldP spid="43013" grpId="0" build="p" autoUpdateAnimBg="0"/>
      <p:bldP spid="43014" grpId="0" build="p" autoUpdateAnimBg="0"/>
      <p:bldP spid="43015" grpId="0" uiExpand="1" build="p" autoUpdateAnimBg="0"/>
      <p:bldP spid="3" grpId="0"/>
      <p:bldP spid="5" grpId="0"/>
      <p:bldP spid="43011" grpId="0" build="p" autoUpdateAnimBg="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a:xfrm>
            <a:off x="1958327" y="146844"/>
            <a:ext cx="8229600" cy="1371600"/>
          </a:xfrm>
        </p:spPr>
        <p:txBody>
          <a:bodyPr/>
          <a:lstStyle/>
          <a:p>
            <a:pPr algn="ctr" eaLnBrk="1" hangingPunct="1"/>
            <a:r>
              <a:rPr lang="zh-CN" altLang="en-US" dirty="0">
                <a:solidFill>
                  <a:srgbClr val="008000"/>
                </a:solidFill>
              </a:rPr>
              <a:t>模糊集的运算</a:t>
            </a:r>
          </a:p>
        </p:txBody>
      </p:sp>
      <p:sp>
        <p:nvSpPr>
          <p:cNvPr id="38915" name="Rectangle 3"/>
          <p:cNvSpPr>
            <a:spLocks noGrp="1" noChangeArrowheads="1"/>
          </p:cNvSpPr>
          <p:nvPr>
            <p:ph type="body" sz="half" idx="1"/>
          </p:nvPr>
        </p:nvSpPr>
        <p:spPr>
          <a:xfrm>
            <a:off x="767408" y="1391841"/>
            <a:ext cx="8002587" cy="4310063"/>
          </a:xfrm>
        </p:spPr>
        <p:txBody>
          <a:bodyPr>
            <a:normAutofit/>
          </a:bodyPr>
          <a:lstStyle/>
          <a:p>
            <a:pPr eaLnBrk="1" hangingPunct="1"/>
            <a:r>
              <a:rPr lang="en-US" altLang="zh-CN" sz="3200" b="1" dirty="0"/>
              <a:t>[P7</a:t>
            </a:r>
            <a:r>
              <a:rPr lang="zh-CN" altLang="en-US" sz="3200" b="1" dirty="0"/>
              <a:t>例</a:t>
            </a:r>
            <a:r>
              <a:rPr lang="en-US" altLang="zh-CN" sz="3200" b="1" dirty="0"/>
              <a:t>2]</a:t>
            </a:r>
            <a:r>
              <a:rPr lang="zh-CN" altLang="en-US" sz="3200" b="1" dirty="0"/>
              <a:t>设</a:t>
            </a:r>
            <a:r>
              <a:rPr lang="en-US" altLang="zh-CN" sz="3200" b="1" i="1" dirty="0"/>
              <a:t>F</a:t>
            </a:r>
            <a:r>
              <a:rPr lang="zh-CN" altLang="en-US" sz="3200" b="1" dirty="0"/>
              <a:t>集</a:t>
            </a:r>
            <a:r>
              <a:rPr lang="en-US" altLang="zh-CN" sz="3200" b="1" i="1" dirty="0"/>
              <a:t>A</a:t>
            </a:r>
            <a:r>
              <a:rPr lang="zh-CN" altLang="en-US" sz="3200" b="1" dirty="0"/>
              <a:t>和</a:t>
            </a:r>
            <a:r>
              <a:rPr lang="en-US" altLang="zh-CN" sz="3200" b="1" i="1" dirty="0"/>
              <a:t>B</a:t>
            </a:r>
            <a:r>
              <a:rPr lang="zh-CN" altLang="en-US" sz="3200" b="1" dirty="0"/>
              <a:t>的隶属函数为</a:t>
            </a:r>
          </a:p>
        </p:txBody>
      </p:sp>
      <p:graphicFrame>
        <p:nvGraphicFramePr>
          <p:cNvPr id="38916" name="Object 4"/>
          <p:cNvGraphicFramePr>
            <a:graphicFrameLocks noGrp="1" noChangeAspect="1"/>
          </p:cNvGraphicFramePr>
          <p:nvPr>
            <p:ph sz="quarter" idx="2"/>
          </p:nvPr>
        </p:nvGraphicFramePr>
        <p:xfrm>
          <a:off x="1847528" y="1916113"/>
          <a:ext cx="5329237" cy="1506537"/>
        </p:xfrm>
        <a:graphic>
          <a:graphicData uri="http://schemas.openxmlformats.org/presentationml/2006/ole">
            <mc:AlternateContent xmlns:mc="http://schemas.openxmlformats.org/markup-compatibility/2006">
              <mc:Choice xmlns:v="urn:schemas-microsoft-com:vml" Requires="v">
                <p:oleObj name="公式" r:id="rId2" imgW="2514600" imgH="711200" progId="Equation.3">
                  <p:embed/>
                </p:oleObj>
              </mc:Choice>
              <mc:Fallback>
                <p:oleObj name="公式" r:id="rId2" imgW="2514600" imgH="711200" progId="Equation.3">
                  <p:embed/>
                  <p:pic>
                    <p:nvPicPr>
                      <p:cNvPr id="38916"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47528" y="1916113"/>
                        <a:ext cx="5329237" cy="15065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8917" name="Object 6"/>
          <p:cNvGraphicFramePr>
            <a:graphicFrameLocks noGrp="1" noChangeAspect="1"/>
          </p:cNvGraphicFramePr>
          <p:nvPr>
            <p:ph sz="quarter" idx="3"/>
          </p:nvPr>
        </p:nvGraphicFramePr>
        <p:xfrm>
          <a:off x="1847528" y="3429000"/>
          <a:ext cx="5184775" cy="1497013"/>
        </p:xfrm>
        <a:graphic>
          <a:graphicData uri="http://schemas.openxmlformats.org/presentationml/2006/ole">
            <mc:AlternateContent xmlns:mc="http://schemas.openxmlformats.org/markup-compatibility/2006">
              <mc:Choice xmlns:v="urn:schemas-microsoft-com:vml" Requires="v">
                <p:oleObj name="公式" r:id="rId4" imgW="2463800" imgH="711200" progId="Equation.3">
                  <p:embed/>
                </p:oleObj>
              </mc:Choice>
              <mc:Fallback>
                <p:oleObj name="公式" r:id="rId4" imgW="2463800" imgH="711200" progId="Equation.3">
                  <p:embed/>
                  <p:pic>
                    <p:nvPicPr>
                      <p:cNvPr id="38917"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847528" y="3429000"/>
                        <a:ext cx="5184775" cy="14970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7832" name="Object 8"/>
          <p:cNvGraphicFramePr>
            <a:graphicFrameLocks noChangeAspect="1"/>
          </p:cNvGraphicFramePr>
          <p:nvPr>
            <p:extLst>
              <p:ext uri="{D42A27DB-BD31-4B8C-83A1-F6EECF244321}">
                <p14:modId xmlns:p14="http://schemas.microsoft.com/office/powerpoint/2010/main" val="1527034300"/>
              </p:ext>
            </p:extLst>
          </p:nvPr>
        </p:nvGraphicFramePr>
        <p:xfrm>
          <a:off x="1739981" y="4982370"/>
          <a:ext cx="3057525" cy="914400"/>
        </p:xfrm>
        <a:graphic>
          <a:graphicData uri="http://schemas.openxmlformats.org/presentationml/2006/ole">
            <mc:AlternateContent xmlns:mc="http://schemas.openxmlformats.org/markup-compatibility/2006">
              <mc:Choice xmlns:v="urn:schemas-microsoft-com:vml" Requires="v">
                <p:oleObj name="Equation" r:id="rId6" imgW="1485720" imgH="444240" progId="Equation.DSMT4">
                  <p:embed/>
                </p:oleObj>
              </mc:Choice>
              <mc:Fallback>
                <p:oleObj name="Equation" r:id="rId6" imgW="1485720" imgH="444240" progId="Equation.DSMT4">
                  <p:embed/>
                  <p:pic>
                    <p:nvPicPr>
                      <p:cNvPr id="77832" name="Object 8"/>
                      <p:cNvPicPr>
                        <a:picLocks noChangeAspect="1" noChangeArrowheads="1"/>
                      </p:cNvPicPr>
                      <p:nvPr/>
                    </p:nvPicPr>
                    <p:blipFill>
                      <a:blip r:embed="rId7"/>
                      <a:srcRect/>
                      <a:stretch>
                        <a:fillRect/>
                      </a:stretch>
                    </p:blipFill>
                    <p:spPr bwMode="auto">
                      <a:xfrm>
                        <a:off x="1739981" y="4982370"/>
                        <a:ext cx="3057525" cy="914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7833" name="Object 9"/>
          <p:cNvGraphicFramePr>
            <a:graphicFrameLocks noChangeAspect="1"/>
          </p:cNvGraphicFramePr>
          <p:nvPr/>
        </p:nvGraphicFramePr>
        <p:xfrm>
          <a:off x="2495551" y="5589589"/>
          <a:ext cx="7921625" cy="1095375"/>
        </p:xfrm>
        <a:graphic>
          <a:graphicData uri="http://schemas.openxmlformats.org/presentationml/2006/ole">
            <mc:AlternateContent xmlns:mc="http://schemas.openxmlformats.org/markup-compatibility/2006">
              <mc:Choice xmlns:v="urn:schemas-microsoft-com:vml" Requires="v">
                <p:oleObj name="公式" r:id="rId8" imgW="4038600" imgH="558800" progId="Equation.3">
                  <p:embed/>
                </p:oleObj>
              </mc:Choice>
              <mc:Fallback>
                <p:oleObj name="公式" r:id="rId8" imgW="4038600" imgH="558800" progId="Equation.3">
                  <p:embed/>
                  <p:pic>
                    <p:nvPicPr>
                      <p:cNvPr id="77833" name="Object 9"/>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495551" y="5589589"/>
                        <a:ext cx="7921625" cy="10953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pic>
        <p:nvPicPr>
          <p:cNvPr id="3" name="图片 2">
            <a:extLst>
              <a:ext uri="{FF2B5EF4-FFF2-40B4-BE49-F238E27FC236}">
                <a16:creationId xmlns:a16="http://schemas.microsoft.com/office/drawing/2014/main" id="{EBCBB87D-8F41-E084-F588-EFA708D23E9A}"/>
              </a:ext>
            </a:extLst>
          </p:cNvPr>
          <p:cNvPicPr>
            <a:picLocks noChangeAspect="1"/>
          </p:cNvPicPr>
          <p:nvPr/>
        </p:nvPicPr>
        <p:blipFill>
          <a:blip r:embed="rId10"/>
          <a:stretch>
            <a:fillRect/>
          </a:stretch>
        </p:blipFill>
        <p:spPr>
          <a:xfrm>
            <a:off x="8515448" y="3567907"/>
            <a:ext cx="2487679" cy="1508125"/>
          </a:xfrm>
          <a:prstGeom prst="rect">
            <a:avLst/>
          </a:prstGeom>
        </p:spPr>
      </p:pic>
      <p:pic>
        <p:nvPicPr>
          <p:cNvPr id="5" name="图片 4" descr="图表&#10;&#10;低可信度描述已自动生成">
            <a:extLst>
              <a:ext uri="{FF2B5EF4-FFF2-40B4-BE49-F238E27FC236}">
                <a16:creationId xmlns:a16="http://schemas.microsoft.com/office/drawing/2014/main" id="{9B7AC376-FD80-E9D9-86FA-8CFBD97C69BE}"/>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8724271" y="2054348"/>
            <a:ext cx="2268969" cy="1256780"/>
          </a:xfrm>
          <a:prstGeom prst="rect">
            <a:avLst/>
          </a:prstGeom>
        </p:spPr>
      </p:pic>
      <p:pic>
        <p:nvPicPr>
          <p:cNvPr id="2" name="图片 1" descr="图片包含 形状&#10;&#10;描述已自动生成">
            <a:extLst>
              <a:ext uri="{FF2B5EF4-FFF2-40B4-BE49-F238E27FC236}">
                <a16:creationId xmlns:a16="http://schemas.microsoft.com/office/drawing/2014/main" id="{AF7A680F-BA33-78CC-2BF0-C1F285011216}"/>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8463372" y="332656"/>
            <a:ext cx="3537284" cy="1662322"/>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3"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1+#ppt_w/2"/>
                                          </p:val>
                                        </p:tav>
                                        <p:tav tm="100000">
                                          <p:val>
                                            <p:strVal val="#ppt_x"/>
                                          </p:val>
                                        </p:tav>
                                      </p:tavLst>
                                    </p:anim>
                                    <p:anim calcmode="lin" valueType="num">
                                      <p:cBhvr additive="base">
                                        <p:cTn id="8" dur="500" fill="hold"/>
                                        <p:tgtEl>
                                          <p:spTgt spid="5"/>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nodeType="click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fade">
                                      <p:cBhvr>
                                        <p:cTn id="13" dur="1000"/>
                                        <p:tgtEl>
                                          <p:spTgt spid="3"/>
                                        </p:tgtEl>
                                      </p:cBhvr>
                                    </p:animEffect>
                                    <p:anim calcmode="lin" valueType="num">
                                      <p:cBhvr>
                                        <p:cTn id="14" dur="1000" fill="hold"/>
                                        <p:tgtEl>
                                          <p:spTgt spid="3"/>
                                        </p:tgtEl>
                                        <p:attrNameLst>
                                          <p:attrName>ppt_x</p:attrName>
                                        </p:attrNameLst>
                                      </p:cBhvr>
                                      <p:tavLst>
                                        <p:tav tm="0">
                                          <p:val>
                                            <p:strVal val="#ppt_x"/>
                                          </p:val>
                                        </p:tav>
                                        <p:tav tm="100000">
                                          <p:val>
                                            <p:strVal val="#ppt_x"/>
                                          </p:val>
                                        </p:tav>
                                      </p:tavLst>
                                    </p:anim>
                                    <p:anim calcmode="lin" valueType="num">
                                      <p:cBhvr>
                                        <p:cTn id="15"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nodeType="clickEffect">
                                  <p:stCondLst>
                                    <p:cond delay="0"/>
                                  </p:stCondLst>
                                  <p:childTnLst>
                                    <p:set>
                                      <p:cBhvr>
                                        <p:cTn id="19" dur="1" fill="hold">
                                          <p:stCondLst>
                                            <p:cond delay="0"/>
                                          </p:stCondLst>
                                        </p:cTn>
                                        <p:tgtEl>
                                          <p:spTgt spid="77832"/>
                                        </p:tgtEl>
                                        <p:attrNameLst>
                                          <p:attrName>style.visibility</p:attrName>
                                        </p:attrNameLst>
                                      </p:cBhvr>
                                      <p:to>
                                        <p:strVal val="visible"/>
                                      </p:to>
                                    </p:set>
                                    <p:animEffect transition="in" filter="wipe(left)">
                                      <p:cBhvr>
                                        <p:cTn id="20" dur="500"/>
                                        <p:tgtEl>
                                          <p:spTgt spid="77832"/>
                                        </p:tgtEl>
                                      </p:cBhvr>
                                    </p:animEffect>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2"/>
                                        </p:tgtEl>
                                        <p:attrNameLst>
                                          <p:attrName>style.visibility</p:attrName>
                                        </p:attrNameLst>
                                      </p:cBhvr>
                                      <p:to>
                                        <p:strVal val="visible"/>
                                      </p:to>
                                    </p:set>
                                    <p:anim calcmode="lin" valueType="num">
                                      <p:cBhvr additive="base">
                                        <p:cTn id="25" dur="500" fill="hold"/>
                                        <p:tgtEl>
                                          <p:spTgt spid="2"/>
                                        </p:tgtEl>
                                        <p:attrNameLst>
                                          <p:attrName>ppt_x</p:attrName>
                                        </p:attrNameLst>
                                      </p:cBhvr>
                                      <p:tavLst>
                                        <p:tav tm="0">
                                          <p:val>
                                            <p:strVal val="#ppt_x"/>
                                          </p:val>
                                        </p:tav>
                                        <p:tav tm="100000">
                                          <p:val>
                                            <p:strVal val="#ppt_x"/>
                                          </p:val>
                                        </p:tav>
                                      </p:tavLst>
                                    </p:anim>
                                    <p:anim calcmode="lin" valueType="num">
                                      <p:cBhvr additive="base">
                                        <p:cTn id="26"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nodeType="clickEffect">
                                  <p:stCondLst>
                                    <p:cond delay="0"/>
                                  </p:stCondLst>
                                  <p:childTnLst>
                                    <p:set>
                                      <p:cBhvr>
                                        <p:cTn id="30" dur="1" fill="hold">
                                          <p:stCondLst>
                                            <p:cond delay="0"/>
                                          </p:stCondLst>
                                        </p:cTn>
                                        <p:tgtEl>
                                          <p:spTgt spid="77833"/>
                                        </p:tgtEl>
                                        <p:attrNameLst>
                                          <p:attrName>style.visibility</p:attrName>
                                        </p:attrNameLst>
                                      </p:cBhvr>
                                      <p:to>
                                        <p:strVal val="visible"/>
                                      </p:to>
                                    </p:set>
                                    <p:animEffect transition="in" filter="wipe(left)">
                                      <p:cBhvr>
                                        <p:cTn id="31" dur="500"/>
                                        <p:tgtEl>
                                          <p:spTgt spid="778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a:xfrm>
            <a:off x="1992313" y="44624"/>
            <a:ext cx="8229600" cy="1371600"/>
          </a:xfrm>
        </p:spPr>
        <p:txBody>
          <a:bodyPr/>
          <a:lstStyle/>
          <a:p>
            <a:pPr algn="ctr" eaLnBrk="1" hangingPunct="1"/>
            <a:r>
              <a:rPr lang="zh-CN" altLang="en-US" dirty="0">
                <a:solidFill>
                  <a:srgbClr val="008000"/>
                </a:solidFill>
              </a:rPr>
              <a:t>模糊集的运算</a:t>
            </a:r>
          </a:p>
        </p:txBody>
      </p:sp>
      <p:sp>
        <p:nvSpPr>
          <p:cNvPr id="39939" name="Rectangle 3"/>
          <p:cNvSpPr>
            <a:spLocks noGrp="1" noChangeArrowheads="1"/>
          </p:cNvSpPr>
          <p:nvPr>
            <p:ph type="body" sz="half" idx="1"/>
          </p:nvPr>
        </p:nvSpPr>
        <p:spPr>
          <a:xfrm>
            <a:off x="1271464" y="1412876"/>
            <a:ext cx="8723437" cy="4310063"/>
          </a:xfrm>
        </p:spPr>
        <p:txBody>
          <a:bodyPr>
            <a:normAutofit/>
          </a:bodyPr>
          <a:lstStyle/>
          <a:p>
            <a:pPr eaLnBrk="1" hangingPunct="1"/>
            <a:r>
              <a:rPr lang="en-US" altLang="zh-CN" sz="3200" b="1" dirty="0"/>
              <a:t>[P7</a:t>
            </a:r>
            <a:r>
              <a:rPr lang="zh-CN" altLang="en-US" sz="3200" b="1" dirty="0"/>
              <a:t>例</a:t>
            </a:r>
            <a:r>
              <a:rPr lang="en-US" altLang="zh-CN" sz="3200" b="1" dirty="0"/>
              <a:t>2]</a:t>
            </a:r>
            <a:r>
              <a:rPr lang="zh-CN" altLang="en-US" sz="3200" b="1" dirty="0"/>
              <a:t>设</a:t>
            </a:r>
            <a:r>
              <a:rPr lang="en-US" altLang="zh-CN" sz="3200" b="1" dirty="0"/>
              <a:t>F</a:t>
            </a:r>
            <a:r>
              <a:rPr lang="zh-CN" altLang="en-US" sz="3200" b="1" dirty="0"/>
              <a:t>集</a:t>
            </a:r>
            <a:r>
              <a:rPr lang="en-US" altLang="zh-CN" sz="3200" b="1" dirty="0"/>
              <a:t>A</a:t>
            </a:r>
            <a:r>
              <a:rPr lang="zh-CN" altLang="en-US" sz="3200" b="1" dirty="0"/>
              <a:t>和</a:t>
            </a:r>
            <a:r>
              <a:rPr lang="en-US" altLang="zh-CN" sz="3200" b="1" dirty="0"/>
              <a:t>B</a:t>
            </a:r>
            <a:r>
              <a:rPr lang="zh-CN" altLang="en-US" sz="3200" b="1" dirty="0"/>
              <a:t>的隶属函数为</a:t>
            </a:r>
          </a:p>
        </p:txBody>
      </p:sp>
      <p:graphicFrame>
        <p:nvGraphicFramePr>
          <p:cNvPr id="39940" name="Object 4"/>
          <p:cNvGraphicFramePr>
            <a:graphicFrameLocks noGrp="1" noChangeAspect="1"/>
          </p:cNvGraphicFramePr>
          <p:nvPr>
            <p:ph sz="quarter" idx="2"/>
          </p:nvPr>
        </p:nvGraphicFramePr>
        <p:xfrm>
          <a:off x="1992684" y="1989138"/>
          <a:ext cx="4535488" cy="1282700"/>
        </p:xfrm>
        <a:graphic>
          <a:graphicData uri="http://schemas.openxmlformats.org/presentationml/2006/ole">
            <mc:AlternateContent xmlns:mc="http://schemas.openxmlformats.org/markup-compatibility/2006">
              <mc:Choice xmlns:v="urn:schemas-microsoft-com:vml" Requires="v">
                <p:oleObj name="公式" r:id="rId2" imgW="2514600" imgH="711200" progId="Equation.3">
                  <p:embed/>
                </p:oleObj>
              </mc:Choice>
              <mc:Fallback>
                <p:oleObj name="公式" r:id="rId2" imgW="2514600" imgH="711200" progId="Equation.3">
                  <p:embed/>
                  <p:pic>
                    <p:nvPicPr>
                      <p:cNvPr id="3994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92684" y="1989138"/>
                        <a:ext cx="4535488" cy="1282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9941" name="Object 5"/>
          <p:cNvGraphicFramePr>
            <a:graphicFrameLocks noGrp="1" noChangeAspect="1"/>
          </p:cNvGraphicFramePr>
          <p:nvPr>
            <p:ph sz="quarter" idx="3"/>
          </p:nvPr>
        </p:nvGraphicFramePr>
        <p:xfrm>
          <a:off x="1921247" y="3357563"/>
          <a:ext cx="4822825" cy="1392237"/>
        </p:xfrm>
        <a:graphic>
          <a:graphicData uri="http://schemas.openxmlformats.org/presentationml/2006/ole">
            <mc:AlternateContent xmlns:mc="http://schemas.openxmlformats.org/markup-compatibility/2006">
              <mc:Choice xmlns:v="urn:schemas-microsoft-com:vml" Requires="v">
                <p:oleObj name="公式" r:id="rId4" imgW="2463800" imgH="711200" progId="Equation.3">
                  <p:embed/>
                </p:oleObj>
              </mc:Choice>
              <mc:Fallback>
                <p:oleObj name="公式" r:id="rId4" imgW="2463800" imgH="711200" progId="Equation.3">
                  <p:embed/>
                  <p:pic>
                    <p:nvPicPr>
                      <p:cNvPr id="39941"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21247" y="3357563"/>
                        <a:ext cx="4822825" cy="13922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1926" name="Object 6"/>
          <p:cNvGraphicFramePr>
            <a:graphicFrameLocks noChangeAspect="1"/>
          </p:cNvGraphicFramePr>
          <p:nvPr>
            <p:extLst>
              <p:ext uri="{D42A27DB-BD31-4B8C-83A1-F6EECF244321}">
                <p14:modId xmlns:p14="http://schemas.microsoft.com/office/powerpoint/2010/main" val="3064857867"/>
              </p:ext>
            </p:extLst>
          </p:nvPr>
        </p:nvGraphicFramePr>
        <p:xfrm>
          <a:off x="1703512" y="4867809"/>
          <a:ext cx="3057525" cy="914400"/>
        </p:xfrm>
        <a:graphic>
          <a:graphicData uri="http://schemas.openxmlformats.org/presentationml/2006/ole">
            <mc:AlternateContent xmlns:mc="http://schemas.openxmlformats.org/markup-compatibility/2006">
              <mc:Choice xmlns:v="urn:schemas-microsoft-com:vml" Requires="v">
                <p:oleObj name="Equation" r:id="rId6" imgW="1485720" imgH="444240" progId="Equation.DSMT4">
                  <p:embed/>
                </p:oleObj>
              </mc:Choice>
              <mc:Fallback>
                <p:oleObj name="Equation" r:id="rId6" imgW="1485720" imgH="444240" progId="Equation.DSMT4">
                  <p:embed/>
                  <p:pic>
                    <p:nvPicPr>
                      <p:cNvPr id="81926" name="Object 6"/>
                      <p:cNvPicPr>
                        <a:picLocks noChangeAspect="1" noChangeArrowheads="1"/>
                      </p:cNvPicPr>
                      <p:nvPr/>
                    </p:nvPicPr>
                    <p:blipFill>
                      <a:blip r:embed="rId7"/>
                      <a:srcRect/>
                      <a:stretch>
                        <a:fillRect/>
                      </a:stretch>
                    </p:blipFill>
                    <p:spPr bwMode="auto">
                      <a:xfrm>
                        <a:off x="1703512" y="4867809"/>
                        <a:ext cx="3057525" cy="914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1927" name="Object 7"/>
          <p:cNvGraphicFramePr>
            <a:graphicFrameLocks noChangeAspect="1"/>
          </p:cNvGraphicFramePr>
          <p:nvPr/>
        </p:nvGraphicFramePr>
        <p:xfrm>
          <a:off x="3043238" y="5589589"/>
          <a:ext cx="6826250" cy="1095375"/>
        </p:xfrm>
        <a:graphic>
          <a:graphicData uri="http://schemas.openxmlformats.org/presentationml/2006/ole">
            <mc:AlternateContent xmlns:mc="http://schemas.openxmlformats.org/markup-compatibility/2006">
              <mc:Choice xmlns:v="urn:schemas-microsoft-com:vml" Requires="v">
                <p:oleObj name="公式" r:id="rId8" imgW="3479800" imgH="558800" progId="Equation.3">
                  <p:embed/>
                </p:oleObj>
              </mc:Choice>
              <mc:Fallback>
                <p:oleObj name="公式" r:id="rId8" imgW="3479800" imgH="558800" progId="Equation.3">
                  <p:embed/>
                  <p:pic>
                    <p:nvPicPr>
                      <p:cNvPr id="81927" name="Object 7"/>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043238" y="5589589"/>
                        <a:ext cx="6826250" cy="10953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pic>
        <p:nvPicPr>
          <p:cNvPr id="3" name="图片 2" descr="图片包含 形状&#10;&#10;描述已自动生成">
            <a:extLst>
              <a:ext uri="{FF2B5EF4-FFF2-40B4-BE49-F238E27FC236}">
                <a16:creationId xmlns:a16="http://schemas.microsoft.com/office/drawing/2014/main" id="{91ECB9B2-6E00-679A-27B8-8AB08E996330}"/>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7255119" y="1950140"/>
            <a:ext cx="4679163" cy="219894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81926"/>
                                        </p:tgtEl>
                                        <p:attrNameLst>
                                          <p:attrName>style.visibility</p:attrName>
                                        </p:attrNameLst>
                                      </p:cBhvr>
                                      <p:to>
                                        <p:strVal val="visible"/>
                                      </p:to>
                                    </p:set>
                                    <p:animEffect transition="in" filter="wipe(left)">
                                      <p:cBhvr>
                                        <p:cTn id="7" dur="500"/>
                                        <p:tgtEl>
                                          <p:spTgt spid="8192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81927"/>
                                        </p:tgtEl>
                                        <p:attrNameLst>
                                          <p:attrName>style.visibility</p:attrName>
                                        </p:attrNameLst>
                                      </p:cBhvr>
                                      <p:to>
                                        <p:strVal val="visible"/>
                                      </p:to>
                                    </p:set>
                                    <p:animEffect transition="in" filter="wipe(left)">
                                      <p:cBhvr>
                                        <p:cTn id="12" dur="500"/>
                                        <p:tgtEl>
                                          <p:spTgt spid="819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a:xfrm>
            <a:off x="1992313" y="260350"/>
            <a:ext cx="8229600" cy="1371600"/>
          </a:xfrm>
        </p:spPr>
        <p:txBody>
          <a:bodyPr/>
          <a:lstStyle/>
          <a:p>
            <a:pPr algn="ctr" eaLnBrk="1" hangingPunct="1"/>
            <a:r>
              <a:rPr lang="zh-CN" altLang="en-US" dirty="0">
                <a:solidFill>
                  <a:srgbClr val="008000"/>
                </a:solidFill>
              </a:rPr>
              <a:t>模糊集的运算</a:t>
            </a:r>
          </a:p>
        </p:txBody>
      </p:sp>
      <p:sp>
        <p:nvSpPr>
          <p:cNvPr id="40963" name="Rectangle 3"/>
          <p:cNvSpPr>
            <a:spLocks noGrp="1" noChangeArrowheads="1"/>
          </p:cNvSpPr>
          <p:nvPr>
            <p:ph type="body" sz="half" idx="1"/>
          </p:nvPr>
        </p:nvSpPr>
        <p:spPr>
          <a:xfrm>
            <a:off x="1055440" y="1412876"/>
            <a:ext cx="8939461" cy="4310063"/>
          </a:xfrm>
        </p:spPr>
        <p:txBody>
          <a:bodyPr>
            <a:normAutofit/>
          </a:bodyPr>
          <a:lstStyle/>
          <a:p>
            <a:pPr eaLnBrk="1" hangingPunct="1"/>
            <a:r>
              <a:rPr lang="en-US" altLang="zh-CN" sz="3200" b="1" dirty="0"/>
              <a:t>[P7</a:t>
            </a:r>
            <a:r>
              <a:rPr lang="zh-CN" altLang="en-US" sz="3200" b="1" dirty="0"/>
              <a:t>例</a:t>
            </a:r>
            <a:r>
              <a:rPr lang="en-US" altLang="zh-CN" sz="3200" b="1" dirty="0"/>
              <a:t>2]</a:t>
            </a:r>
            <a:r>
              <a:rPr lang="zh-CN" altLang="en-US" sz="3200" b="1" dirty="0"/>
              <a:t>设</a:t>
            </a:r>
            <a:r>
              <a:rPr lang="en-US" altLang="zh-CN" sz="3200" b="1" dirty="0"/>
              <a:t>F</a:t>
            </a:r>
            <a:r>
              <a:rPr lang="zh-CN" altLang="en-US" sz="3200" b="1" dirty="0"/>
              <a:t>集</a:t>
            </a:r>
            <a:r>
              <a:rPr lang="en-US" altLang="zh-CN" sz="3200" b="1" dirty="0"/>
              <a:t>A</a:t>
            </a:r>
            <a:r>
              <a:rPr lang="zh-CN" altLang="en-US" sz="3200" b="1" dirty="0"/>
              <a:t>的隶属函数为</a:t>
            </a:r>
          </a:p>
        </p:txBody>
      </p:sp>
      <p:graphicFrame>
        <p:nvGraphicFramePr>
          <p:cNvPr id="40964" name="Object 4"/>
          <p:cNvGraphicFramePr>
            <a:graphicFrameLocks noGrp="1" noChangeAspect="1"/>
          </p:cNvGraphicFramePr>
          <p:nvPr>
            <p:ph sz="quarter" idx="2"/>
          </p:nvPr>
        </p:nvGraphicFramePr>
        <p:xfrm>
          <a:off x="2197099" y="2218730"/>
          <a:ext cx="4849824" cy="1371599"/>
        </p:xfrm>
        <a:graphic>
          <a:graphicData uri="http://schemas.openxmlformats.org/presentationml/2006/ole">
            <mc:AlternateContent xmlns:mc="http://schemas.openxmlformats.org/markup-compatibility/2006">
              <mc:Choice xmlns:v="urn:schemas-microsoft-com:vml" Requires="v">
                <p:oleObj name="公式" r:id="rId2" imgW="2514600" imgH="711200" progId="Equation.3">
                  <p:embed/>
                </p:oleObj>
              </mc:Choice>
              <mc:Fallback>
                <p:oleObj name="公式" r:id="rId2" imgW="2514600" imgH="711200" progId="Equation.3">
                  <p:embed/>
                  <p:pic>
                    <p:nvPicPr>
                      <p:cNvPr id="40964"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97099" y="2218730"/>
                        <a:ext cx="4849824" cy="1371599"/>
                      </a:xfrm>
                      <a:prstGeom prst="rect">
                        <a:avLst/>
                      </a:prstGeom>
                      <a:noFill/>
                      <a:ln>
                        <a:noFill/>
                      </a:ln>
                      <a:effectLst/>
                    </p:spPr>
                  </p:pic>
                </p:oleObj>
              </mc:Fallback>
            </mc:AlternateContent>
          </a:graphicData>
        </a:graphic>
      </p:graphicFrame>
      <p:graphicFrame>
        <p:nvGraphicFramePr>
          <p:cNvPr id="94214" name="Object 6"/>
          <p:cNvGraphicFramePr>
            <a:graphicFrameLocks noChangeAspect="1"/>
          </p:cNvGraphicFramePr>
          <p:nvPr>
            <p:extLst>
              <p:ext uri="{D42A27DB-BD31-4B8C-83A1-F6EECF244321}">
                <p14:modId xmlns:p14="http://schemas.microsoft.com/office/powerpoint/2010/main" val="2799906062"/>
              </p:ext>
            </p:extLst>
          </p:nvPr>
        </p:nvGraphicFramePr>
        <p:xfrm>
          <a:off x="2135560" y="3921125"/>
          <a:ext cx="2493962" cy="1065213"/>
        </p:xfrm>
        <a:graphic>
          <a:graphicData uri="http://schemas.openxmlformats.org/presentationml/2006/ole">
            <mc:AlternateContent xmlns:mc="http://schemas.openxmlformats.org/markup-compatibility/2006">
              <mc:Choice xmlns:v="urn:schemas-microsoft-com:vml" Requires="v">
                <p:oleObj name="Equation" r:id="rId4" imgW="1041120" imgH="444240" progId="Equation.DSMT4">
                  <p:embed/>
                </p:oleObj>
              </mc:Choice>
              <mc:Fallback>
                <p:oleObj name="Equation" r:id="rId4" imgW="1041120" imgH="444240" progId="Equation.DSMT4">
                  <p:embed/>
                  <p:pic>
                    <p:nvPicPr>
                      <p:cNvPr id="94214" name="Object 6"/>
                      <p:cNvPicPr>
                        <a:picLocks noChangeAspect="1" noChangeArrowheads="1"/>
                      </p:cNvPicPr>
                      <p:nvPr/>
                    </p:nvPicPr>
                    <p:blipFill>
                      <a:blip r:embed="rId5"/>
                      <a:srcRect/>
                      <a:stretch>
                        <a:fillRect/>
                      </a:stretch>
                    </p:blipFill>
                    <p:spPr bwMode="auto">
                      <a:xfrm>
                        <a:off x="2135560" y="3921125"/>
                        <a:ext cx="2493962" cy="10652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4215" name="Object 7"/>
          <p:cNvGraphicFramePr>
            <a:graphicFrameLocks noChangeAspect="1"/>
          </p:cNvGraphicFramePr>
          <p:nvPr/>
        </p:nvGraphicFramePr>
        <p:xfrm>
          <a:off x="2567361" y="4932957"/>
          <a:ext cx="6480175" cy="1376363"/>
        </p:xfrm>
        <a:graphic>
          <a:graphicData uri="http://schemas.openxmlformats.org/presentationml/2006/ole">
            <mc:AlternateContent xmlns:mc="http://schemas.openxmlformats.org/markup-compatibility/2006">
              <mc:Choice xmlns:v="urn:schemas-microsoft-com:vml" Requires="v">
                <p:oleObj name="公式" r:id="rId6" imgW="2628900" imgH="558800" progId="Equation.3">
                  <p:embed/>
                </p:oleObj>
              </mc:Choice>
              <mc:Fallback>
                <p:oleObj name="公式" r:id="rId6" imgW="2628900" imgH="558800" progId="Equation.3">
                  <p:embed/>
                  <p:pic>
                    <p:nvPicPr>
                      <p:cNvPr id="94215" name="Object 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567361" y="4932957"/>
                        <a:ext cx="6480175" cy="13763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pic>
        <p:nvPicPr>
          <p:cNvPr id="3" name="图片 2" descr="图表&#10;&#10;低可信度描述已自动生成">
            <a:extLst>
              <a:ext uri="{FF2B5EF4-FFF2-40B4-BE49-F238E27FC236}">
                <a16:creationId xmlns:a16="http://schemas.microsoft.com/office/drawing/2014/main" id="{7F9D443A-A942-6409-4027-687C152763D8}"/>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7490130" y="2146321"/>
            <a:ext cx="4169619" cy="2234259"/>
          </a:xfrm>
          <a:prstGeom prst="rect">
            <a:avLst/>
          </a:prstGeom>
        </p:spPr>
      </p:pic>
      <p:pic>
        <p:nvPicPr>
          <p:cNvPr id="7" name="图片 6">
            <a:extLst>
              <a:ext uri="{FF2B5EF4-FFF2-40B4-BE49-F238E27FC236}">
                <a16:creationId xmlns:a16="http://schemas.microsoft.com/office/drawing/2014/main" id="{0B556BED-E884-6D22-CE14-56DB1E0DE6E5}"/>
              </a:ext>
            </a:extLst>
          </p:cNvPr>
          <p:cNvPicPr>
            <a:picLocks noChangeAspect="1"/>
          </p:cNvPicPr>
          <p:nvPr/>
        </p:nvPicPr>
        <p:blipFill>
          <a:blip r:embed="rId9"/>
          <a:stretch>
            <a:fillRect/>
          </a:stretch>
        </p:blipFill>
        <p:spPr>
          <a:xfrm>
            <a:off x="7169263" y="2060848"/>
            <a:ext cx="4805992" cy="2405204"/>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2" presetClass="entr" presetSubtype="8" fill="hold" nodeType="clickEffect">
                                  <p:stCondLst>
                                    <p:cond delay="0"/>
                                  </p:stCondLst>
                                  <p:childTnLst>
                                    <p:set>
                                      <p:cBhvr>
                                        <p:cTn id="13" dur="1" fill="hold">
                                          <p:stCondLst>
                                            <p:cond delay="0"/>
                                          </p:stCondLst>
                                        </p:cTn>
                                        <p:tgtEl>
                                          <p:spTgt spid="94214"/>
                                        </p:tgtEl>
                                        <p:attrNameLst>
                                          <p:attrName>style.visibility</p:attrName>
                                        </p:attrNameLst>
                                      </p:cBhvr>
                                      <p:to>
                                        <p:strVal val="visible"/>
                                      </p:to>
                                    </p:set>
                                    <p:animEffect transition="in" filter="wipe(left)">
                                      <p:cBhvr>
                                        <p:cTn id="14" dur="500"/>
                                        <p:tgtEl>
                                          <p:spTgt spid="94214"/>
                                        </p:tgtEl>
                                      </p:cBhvr>
                                    </p:animEffect>
                                  </p:childTnLst>
                                </p:cTn>
                              </p:par>
                            </p:childTnLst>
                          </p:cTn>
                        </p:par>
                      </p:childTnLst>
                    </p:cTn>
                  </p:par>
                  <p:par>
                    <p:cTn id="15" fill="hold" nodeType="clickPar">
                      <p:stCondLst>
                        <p:cond delay="indefinite"/>
                      </p:stCondLst>
                      <p:childTnLst>
                        <p:par>
                          <p:cTn id="16" fill="hold" nodeType="withGroup">
                            <p:stCondLst>
                              <p:cond delay="0"/>
                            </p:stCondLst>
                            <p:childTnLst>
                              <p:par>
                                <p:cTn id="17" presetID="22" presetClass="entr" presetSubtype="8" fill="hold" nodeType="clickEffect">
                                  <p:stCondLst>
                                    <p:cond delay="0"/>
                                  </p:stCondLst>
                                  <p:childTnLst>
                                    <p:set>
                                      <p:cBhvr>
                                        <p:cTn id="18" dur="1" fill="hold">
                                          <p:stCondLst>
                                            <p:cond delay="0"/>
                                          </p:stCondLst>
                                        </p:cTn>
                                        <p:tgtEl>
                                          <p:spTgt spid="94215"/>
                                        </p:tgtEl>
                                        <p:attrNameLst>
                                          <p:attrName>style.visibility</p:attrName>
                                        </p:attrNameLst>
                                      </p:cBhvr>
                                      <p:to>
                                        <p:strVal val="visible"/>
                                      </p:to>
                                    </p:set>
                                    <p:animEffect transition="in" filter="wipe(left)">
                                      <p:cBhvr>
                                        <p:cTn id="19" dur="500"/>
                                        <p:tgtEl>
                                          <p:spTgt spid="94215"/>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7"/>
                                        </p:tgtEl>
                                        <p:attrNameLst>
                                          <p:attrName>style.visibility</p:attrName>
                                        </p:attrNameLst>
                                      </p:cBhvr>
                                      <p:to>
                                        <p:strVal val="visible"/>
                                      </p:to>
                                    </p:set>
                                    <p:animEffect transition="in" filter="fade">
                                      <p:cBhvr>
                                        <p:cTn id="24"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a:xfrm>
            <a:off x="1343856" y="312738"/>
            <a:ext cx="9504287" cy="1027386"/>
          </a:xfrm>
        </p:spPr>
        <p:txBody>
          <a:bodyPr>
            <a:normAutofit/>
          </a:bodyPr>
          <a:lstStyle/>
          <a:p>
            <a:pPr algn="ctr" eaLnBrk="1" hangingPunct="1"/>
            <a:r>
              <a:rPr lang="en-US" altLang="zh-CN" dirty="0">
                <a:solidFill>
                  <a:srgbClr val="008000"/>
                </a:solidFill>
                <a:latin typeface="黑体" pitchFamily="49" charset="-122"/>
              </a:rPr>
              <a:t> </a:t>
            </a:r>
            <a:r>
              <a:rPr lang="zh-CN" altLang="en-US" dirty="0">
                <a:solidFill>
                  <a:srgbClr val="008000"/>
                </a:solidFill>
                <a:latin typeface="黑体" pitchFamily="49" charset="-122"/>
              </a:rPr>
              <a:t>模糊集的</a:t>
            </a:r>
            <a:r>
              <a:rPr lang="zh-CN" altLang="en-US" dirty="0">
                <a:solidFill>
                  <a:srgbClr val="008000"/>
                </a:solidFill>
              </a:rPr>
              <a:t>并、交、余运算性质</a:t>
            </a:r>
            <a:endParaRPr lang="zh-CN" altLang="en-US" dirty="0">
              <a:solidFill>
                <a:srgbClr val="008000"/>
              </a:solidFill>
              <a:latin typeface="黑体" pitchFamily="49" charset="-122"/>
            </a:endParaRPr>
          </a:p>
        </p:txBody>
      </p:sp>
      <p:sp>
        <p:nvSpPr>
          <p:cNvPr id="41988" name="Rectangle 4"/>
          <p:cNvSpPr>
            <a:spLocks noGrp="1" noChangeArrowheads="1"/>
          </p:cNvSpPr>
          <p:nvPr>
            <p:ph idx="1"/>
          </p:nvPr>
        </p:nvSpPr>
        <p:spPr>
          <a:xfrm>
            <a:off x="1343856" y="1340124"/>
            <a:ext cx="8855832" cy="5517876"/>
          </a:xfrm>
          <a:noFill/>
        </p:spPr>
        <p:txBody>
          <a:bodyPr>
            <a:normAutofit fontScale="92500" lnSpcReduction="20000"/>
          </a:bodyPr>
          <a:lstStyle/>
          <a:p>
            <a:pPr eaLnBrk="1" hangingPunct="1">
              <a:lnSpc>
                <a:spcPct val="110000"/>
              </a:lnSpc>
            </a:pPr>
            <a:r>
              <a:rPr kumimoji="1" lang="zh-CN" altLang="en-US" sz="2800" b="1" dirty="0">
                <a:sym typeface="Symbol" pitchFamily="18" charset="2"/>
              </a:rPr>
              <a:t>幂等律：</a:t>
            </a:r>
            <a:r>
              <a:rPr kumimoji="1" lang="en-US" altLang="zh-CN" sz="2800" b="1" i="1" dirty="0"/>
              <a:t>A</a:t>
            </a:r>
            <a:r>
              <a:rPr kumimoji="1" lang="en-US" altLang="zh-CN" sz="2800" b="1" dirty="0">
                <a:sym typeface="Symbol"/>
              </a:rPr>
              <a:t></a:t>
            </a:r>
            <a:r>
              <a:rPr kumimoji="1" lang="en-US" altLang="zh-CN" sz="2800" b="1" i="1" dirty="0">
                <a:sym typeface="Symbol" pitchFamily="18" charset="2"/>
              </a:rPr>
              <a:t>A </a:t>
            </a:r>
            <a:r>
              <a:rPr kumimoji="1" lang="en-US" altLang="zh-CN" sz="2800" b="1" dirty="0">
                <a:sym typeface="Symbol" pitchFamily="18" charset="2"/>
              </a:rPr>
              <a:t>= </a:t>
            </a:r>
            <a:r>
              <a:rPr kumimoji="1" lang="en-US" altLang="zh-CN" sz="2800" b="1" i="1" dirty="0"/>
              <a:t>A</a:t>
            </a:r>
            <a:r>
              <a:rPr kumimoji="1" lang="zh-CN" altLang="en-US" sz="2800" b="1" dirty="0">
                <a:sym typeface="Symbol" pitchFamily="18" charset="2"/>
              </a:rPr>
              <a:t>， </a:t>
            </a:r>
            <a:r>
              <a:rPr kumimoji="1" lang="en-US" altLang="zh-CN" sz="2800" b="1" i="1" dirty="0"/>
              <a:t>A</a:t>
            </a:r>
            <a:r>
              <a:rPr kumimoji="1" lang="en-US" altLang="zh-CN" sz="2800" b="1" dirty="0">
                <a:sym typeface="Symbol"/>
              </a:rPr>
              <a:t></a:t>
            </a:r>
            <a:r>
              <a:rPr kumimoji="1" lang="en-US" altLang="zh-CN" sz="2800" b="1" i="1" dirty="0">
                <a:sym typeface="Symbol" pitchFamily="18" charset="2"/>
              </a:rPr>
              <a:t>A </a:t>
            </a:r>
            <a:r>
              <a:rPr kumimoji="1" lang="en-US" altLang="zh-CN" sz="2800" b="1" dirty="0">
                <a:sym typeface="Symbol" pitchFamily="18" charset="2"/>
              </a:rPr>
              <a:t>= </a:t>
            </a:r>
            <a:r>
              <a:rPr kumimoji="1" lang="en-US" altLang="zh-CN" sz="2800" b="1" i="1" dirty="0"/>
              <a:t>A</a:t>
            </a:r>
            <a:r>
              <a:rPr kumimoji="1" lang="zh-CN" altLang="en-US" sz="2800" b="1" dirty="0">
                <a:sym typeface="Symbol" pitchFamily="18" charset="2"/>
              </a:rPr>
              <a:t>；</a:t>
            </a:r>
          </a:p>
          <a:p>
            <a:pPr eaLnBrk="1" hangingPunct="1">
              <a:lnSpc>
                <a:spcPct val="110000"/>
              </a:lnSpc>
            </a:pPr>
            <a:r>
              <a:rPr kumimoji="1" lang="zh-CN" altLang="en-US" sz="2800" b="1" dirty="0">
                <a:sym typeface="Symbol" pitchFamily="18" charset="2"/>
              </a:rPr>
              <a:t>交换律：</a:t>
            </a:r>
            <a:r>
              <a:rPr kumimoji="1" lang="en-US" altLang="zh-CN" sz="2800" b="1" i="1" dirty="0"/>
              <a:t>A</a:t>
            </a:r>
            <a:r>
              <a:rPr kumimoji="1" lang="en-US" altLang="zh-CN" sz="2800" b="1" dirty="0">
                <a:sym typeface="Symbol"/>
              </a:rPr>
              <a:t></a:t>
            </a:r>
            <a:r>
              <a:rPr kumimoji="1" lang="en-US" altLang="zh-CN" sz="2800" b="1" i="1" dirty="0">
                <a:sym typeface="Symbol" pitchFamily="18" charset="2"/>
              </a:rPr>
              <a:t>B </a:t>
            </a:r>
            <a:r>
              <a:rPr kumimoji="1" lang="en-US" altLang="zh-CN" sz="2800" b="1" dirty="0">
                <a:sym typeface="Symbol" pitchFamily="18" charset="2"/>
              </a:rPr>
              <a:t>= </a:t>
            </a:r>
            <a:r>
              <a:rPr kumimoji="1" lang="en-US" altLang="zh-CN" sz="2800" b="1" i="1" dirty="0"/>
              <a:t>B</a:t>
            </a:r>
            <a:r>
              <a:rPr kumimoji="1" lang="en-US" altLang="zh-CN" sz="2800" b="1" dirty="0">
                <a:sym typeface="Symbol"/>
              </a:rPr>
              <a:t>  </a:t>
            </a:r>
            <a:r>
              <a:rPr kumimoji="1" lang="en-US" altLang="zh-CN" sz="2800" b="1" i="1" dirty="0">
                <a:sym typeface="Symbol" pitchFamily="18" charset="2"/>
              </a:rPr>
              <a:t>A</a:t>
            </a:r>
            <a:r>
              <a:rPr kumimoji="1" lang="zh-CN" altLang="en-US" sz="2800" b="1" dirty="0">
                <a:sym typeface="Symbol" pitchFamily="18" charset="2"/>
              </a:rPr>
              <a:t>，</a:t>
            </a:r>
            <a:r>
              <a:rPr kumimoji="1" lang="en-US" altLang="zh-CN" sz="2800" b="1" i="1" dirty="0"/>
              <a:t>A</a:t>
            </a:r>
            <a:r>
              <a:rPr kumimoji="1" lang="en-US" altLang="zh-CN" sz="2800" b="1" dirty="0">
                <a:sym typeface="Symbol"/>
              </a:rPr>
              <a:t>  </a:t>
            </a:r>
            <a:r>
              <a:rPr kumimoji="1" lang="en-US" altLang="zh-CN" sz="2800" b="1" i="1" dirty="0">
                <a:sym typeface="Symbol" pitchFamily="18" charset="2"/>
              </a:rPr>
              <a:t>B </a:t>
            </a:r>
            <a:r>
              <a:rPr kumimoji="1" lang="en-US" altLang="zh-CN" sz="2800" b="1" dirty="0">
                <a:sym typeface="Symbol" pitchFamily="18" charset="2"/>
              </a:rPr>
              <a:t>= </a:t>
            </a:r>
            <a:r>
              <a:rPr kumimoji="1" lang="en-US" altLang="zh-CN" sz="2800" b="1" i="1" dirty="0"/>
              <a:t>B</a:t>
            </a:r>
            <a:r>
              <a:rPr kumimoji="1" lang="en-US" altLang="zh-CN" sz="2800" b="1" dirty="0">
                <a:sym typeface="Symbol"/>
              </a:rPr>
              <a:t>  </a:t>
            </a:r>
            <a:r>
              <a:rPr kumimoji="1" lang="en-US" altLang="zh-CN" sz="2800" b="1" i="1" dirty="0">
                <a:sym typeface="Symbol" pitchFamily="18" charset="2"/>
              </a:rPr>
              <a:t>A</a:t>
            </a:r>
            <a:r>
              <a:rPr kumimoji="1" lang="zh-CN" altLang="en-US" sz="2800" b="1" dirty="0">
                <a:sym typeface="Symbol" pitchFamily="18" charset="2"/>
              </a:rPr>
              <a:t>；</a:t>
            </a:r>
          </a:p>
          <a:p>
            <a:pPr eaLnBrk="1" hangingPunct="1">
              <a:lnSpc>
                <a:spcPct val="110000"/>
              </a:lnSpc>
            </a:pPr>
            <a:r>
              <a:rPr kumimoji="1" lang="zh-CN" altLang="en-US" sz="2800" b="1" dirty="0">
                <a:sym typeface="Symbol" pitchFamily="18" charset="2"/>
              </a:rPr>
              <a:t>结合律：</a:t>
            </a:r>
            <a:r>
              <a:rPr kumimoji="1" lang="en-US" altLang="zh-CN" sz="2800" b="1" dirty="0">
                <a:sym typeface="Symbol" pitchFamily="18" charset="2"/>
              </a:rPr>
              <a:t>(</a:t>
            </a:r>
            <a:r>
              <a:rPr kumimoji="1" lang="en-US" altLang="zh-CN" sz="2800" b="1" i="1" dirty="0"/>
              <a:t>A</a:t>
            </a:r>
            <a:r>
              <a:rPr kumimoji="1" lang="en-US" altLang="zh-CN" sz="2800" b="1" dirty="0">
                <a:sym typeface="Symbol"/>
              </a:rPr>
              <a:t></a:t>
            </a:r>
            <a:r>
              <a:rPr kumimoji="1" lang="en-US" altLang="zh-CN" sz="2800" b="1" i="1" dirty="0">
                <a:sym typeface="Symbol" pitchFamily="18" charset="2"/>
              </a:rPr>
              <a:t>B</a:t>
            </a:r>
            <a:r>
              <a:rPr kumimoji="1" lang="en-US" altLang="zh-CN" sz="2800" b="1" dirty="0">
                <a:sym typeface="Symbol" pitchFamily="18" charset="2"/>
              </a:rPr>
              <a:t>)</a:t>
            </a:r>
            <a:r>
              <a:rPr kumimoji="1" lang="en-US" altLang="zh-CN" sz="2800" b="1" dirty="0">
                <a:sym typeface="Symbol"/>
              </a:rPr>
              <a:t>  </a:t>
            </a:r>
            <a:r>
              <a:rPr kumimoji="1" lang="en-US" altLang="zh-CN" sz="2800" b="1" i="1" dirty="0">
                <a:sym typeface="Symbol" pitchFamily="18" charset="2"/>
              </a:rPr>
              <a:t>C</a:t>
            </a:r>
            <a:r>
              <a:rPr kumimoji="1" lang="en-US" altLang="zh-CN" sz="2800" b="1" dirty="0">
                <a:sym typeface="Symbol" pitchFamily="18" charset="2"/>
              </a:rPr>
              <a:t> = </a:t>
            </a:r>
            <a:r>
              <a:rPr kumimoji="1" lang="en-US" altLang="zh-CN" sz="2800" b="1" i="1" dirty="0"/>
              <a:t>A</a:t>
            </a:r>
            <a:r>
              <a:rPr kumimoji="1" lang="en-US" altLang="zh-CN" sz="2800" b="1" dirty="0">
                <a:sym typeface="Symbol"/>
              </a:rPr>
              <a:t>  </a:t>
            </a:r>
            <a:r>
              <a:rPr kumimoji="1" lang="en-US" altLang="zh-CN" sz="2800" b="1" dirty="0">
                <a:sym typeface="Symbol" pitchFamily="18" charset="2"/>
              </a:rPr>
              <a:t>(</a:t>
            </a:r>
            <a:r>
              <a:rPr kumimoji="1" lang="en-US" altLang="zh-CN" sz="2800" b="1" i="1" dirty="0">
                <a:sym typeface="Symbol" pitchFamily="18" charset="2"/>
              </a:rPr>
              <a:t>B</a:t>
            </a:r>
            <a:r>
              <a:rPr kumimoji="1" lang="en-US" altLang="zh-CN" sz="2800" b="1" dirty="0">
                <a:sym typeface="Symbol"/>
              </a:rPr>
              <a:t>  </a:t>
            </a:r>
            <a:r>
              <a:rPr kumimoji="1" lang="en-US" altLang="zh-CN" sz="2800" b="1" i="1" dirty="0">
                <a:sym typeface="Symbol" pitchFamily="18" charset="2"/>
              </a:rPr>
              <a:t>C</a:t>
            </a:r>
            <a:r>
              <a:rPr kumimoji="1" lang="en-US" altLang="zh-CN" sz="2800" b="1" dirty="0">
                <a:sym typeface="Symbol" pitchFamily="18" charset="2"/>
              </a:rPr>
              <a:t>)</a:t>
            </a:r>
            <a:r>
              <a:rPr kumimoji="1" lang="zh-CN" altLang="en-US" sz="2800" b="1" dirty="0">
                <a:sym typeface="Symbol" pitchFamily="18" charset="2"/>
              </a:rPr>
              <a:t>，</a:t>
            </a:r>
          </a:p>
          <a:p>
            <a:pPr eaLnBrk="1" hangingPunct="1">
              <a:lnSpc>
                <a:spcPct val="110000"/>
              </a:lnSpc>
              <a:buNone/>
            </a:pPr>
            <a:r>
              <a:rPr kumimoji="1" lang="zh-CN" altLang="en-US" sz="2800" b="1" dirty="0">
                <a:sym typeface="Symbol" pitchFamily="18" charset="2"/>
              </a:rPr>
              <a:t>                  </a:t>
            </a:r>
            <a:r>
              <a:rPr kumimoji="1" lang="en-US" altLang="zh-CN" sz="2800" b="1" dirty="0">
                <a:sym typeface="Symbol" pitchFamily="18" charset="2"/>
              </a:rPr>
              <a:t>(</a:t>
            </a:r>
            <a:r>
              <a:rPr kumimoji="1" lang="en-US" altLang="zh-CN" sz="2800" b="1" i="1" dirty="0"/>
              <a:t>A</a:t>
            </a:r>
            <a:r>
              <a:rPr kumimoji="1" lang="en-US" altLang="zh-CN" sz="2800" b="1" dirty="0">
                <a:sym typeface="Symbol"/>
              </a:rPr>
              <a:t></a:t>
            </a:r>
            <a:r>
              <a:rPr kumimoji="1" lang="en-US" altLang="zh-CN" sz="2800" b="1" i="1" dirty="0">
                <a:sym typeface="Symbol" pitchFamily="18" charset="2"/>
              </a:rPr>
              <a:t>B</a:t>
            </a:r>
            <a:r>
              <a:rPr kumimoji="1" lang="en-US" altLang="zh-CN" sz="2800" b="1" dirty="0">
                <a:sym typeface="Symbol" pitchFamily="18" charset="2"/>
              </a:rPr>
              <a:t>)</a:t>
            </a:r>
            <a:r>
              <a:rPr kumimoji="1" lang="en-US" altLang="zh-CN" sz="2800" b="1" dirty="0">
                <a:sym typeface="Symbol"/>
              </a:rPr>
              <a:t>  </a:t>
            </a:r>
            <a:r>
              <a:rPr kumimoji="1" lang="en-US" altLang="zh-CN" sz="2800" b="1" i="1" dirty="0">
                <a:sym typeface="Symbol" pitchFamily="18" charset="2"/>
              </a:rPr>
              <a:t>C</a:t>
            </a:r>
            <a:r>
              <a:rPr kumimoji="1" lang="en-US" altLang="zh-CN" sz="2800" b="1" dirty="0">
                <a:sym typeface="Symbol" pitchFamily="18" charset="2"/>
              </a:rPr>
              <a:t> = </a:t>
            </a:r>
            <a:r>
              <a:rPr kumimoji="1" lang="en-US" altLang="zh-CN" sz="2800" b="1" i="1" dirty="0"/>
              <a:t>A</a:t>
            </a:r>
            <a:r>
              <a:rPr kumimoji="1" lang="en-US" altLang="zh-CN" sz="2800" b="1" dirty="0">
                <a:sym typeface="Symbol"/>
              </a:rPr>
              <a:t>  </a:t>
            </a:r>
            <a:r>
              <a:rPr kumimoji="1" lang="en-US" altLang="zh-CN" sz="2800" b="1" dirty="0">
                <a:sym typeface="Symbol" pitchFamily="18" charset="2"/>
              </a:rPr>
              <a:t>(</a:t>
            </a:r>
            <a:r>
              <a:rPr kumimoji="1" lang="en-US" altLang="zh-CN" sz="2800" b="1" i="1" dirty="0">
                <a:sym typeface="Symbol" pitchFamily="18" charset="2"/>
              </a:rPr>
              <a:t>B</a:t>
            </a:r>
            <a:r>
              <a:rPr kumimoji="1" lang="en-US" altLang="zh-CN" sz="2800" b="1" dirty="0">
                <a:sym typeface="Symbol"/>
              </a:rPr>
              <a:t>  </a:t>
            </a:r>
            <a:r>
              <a:rPr kumimoji="1" lang="en-US" altLang="zh-CN" sz="2800" b="1" i="1" dirty="0">
                <a:sym typeface="Symbol" pitchFamily="18" charset="2"/>
              </a:rPr>
              <a:t>C</a:t>
            </a:r>
            <a:r>
              <a:rPr kumimoji="1" lang="en-US" altLang="zh-CN" sz="2800" b="1" dirty="0">
                <a:sym typeface="Symbol" pitchFamily="18" charset="2"/>
              </a:rPr>
              <a:t>)</a:t>
            </a:r>
            <a:r>
              <a:rPr kumimoji="1" lang="en-US" altLang="zh-CN" sz="2800" b="1" i="1" dirty="0">
                <a:sym typeface="Symbol" pitchFamily="18" charset="2"/>
              </a:rPr>
              <a:t> </a:t>
            </a:r>
            <a:r>
              <a:rPr kumimoji="1" lang="zh-CN" altLang="en-US" sz="2800" b="1" dirty="0">
                <a:sym typeface="Symbol" pitchFamily="18" charset="2"/>
              </a:rPr>
              <a:t>；</a:t>
            </a:r>
          </a:p>
          <a:p>
            <a:pPr eaLnBrk="1" hangingPunct="1">
              <a:lnSpc>
                <a:spcPct val="110000"/>
              </a:lnSpc>
            </a:pPr>
            <a:r>
              <a:rPr kumimoji="1" lang="zh-CN" altLang="en-US" sz="2800" b="1" dirty="0"/>
              <a:t>吸收律：</a:t>
            </a:r>
            <a:r>
              <a:rPr kumimoji="1" lang="en-US" altLang="zh-CN" sz="2800" b="1" i="1" dirty="0"/>
              <a:t>A</a:t>
            </a:r>
            <a:r>
              <a:rPr kumimoji="1" lang="en-US" altLang="zh-CN" sz="2800" b="1" dirty="0">
                <a:sym typeface="Symbol"/>
              </a:rPr>
              <a:t>  </a:t>
            </a:r>
            <a:r>
              <a:rPr kumimoji="1" lang="en-US" altLang="zh-CN" sz="2800" b="1" dirty="0">
                <a:sym typeface="Symbol" pitchFamily="18" charset="2"/>
              </a:rPr>
              <a:t>(</a:t>
            </a:r>
            <a:r>
              <a:rPr kumimoji="1" lang="en-US" altLang="zh-CN" sz="2800" b="1" i="1" dirty="0">
                <a:sym typeface="Symbol" pitchFamily="18" charset="2"/>
              </a:rPr>
              <a:t>A</a:t>
            </a:r>
            <a:r>
              <a:rPr kumimoji="1" lang="en-US" altLang="zh-CN" sz="2800" b="1" dirty="0">
                <a:sym typeface="Symbol"/>
              </a:rPr>
              <a:t></a:t>
            </a:r>
            <a:r>
              <a:rPr kumimoji="1" lang="en-US" altLang="zh-CN" sz="2800" b="1" i="1" dirty="0">
                <a:sym typeface="Symbol" pitchFamily="18" charset="2"/>
              </a:rPr>
              <a:t>B</a:t>
            </a:r>
            <a:r>
              <a:rPr kumimoji="1" lang="en-US" altLang="zh-CN" sz="2800" b="1" dirty="0">
                <a:sym typeface="Symbol" pitchFamily="18" charset="2"/>
              </a:rPr>
              <a:t>) = </a:t>
            </a:r>
            <a:r>
              <a:rPr kumimoji="1" lang="en-US" altLang="zh-CN" sz="2800" b="1" i="1" dirty="0"/>
              <a:t>A</a:t>
            </a:r>
            <a:r>
              <a:rPr kumimoji="1" lang="zh-CN" altLang="en-US" sz="2800" b="1" dirty="0"/>
              <a:t>，</a:t>
            </a:r>
            <a:r>
              <a:rPr kumimoji="1" lang="en-US" altLang="zh-CN" sz="2800" b="1" i="1" dirty="0"/>
              <a:t>A</a:t>
            </a:r>
            <a:r>
              <a:rPr kumimoji="1" lang="en-US" altLang="zh-CN" sz="2800" b="1" dirty="0">
                <a:sym typeface="Symbol"/>
              </a:rPr>
              <a:t>  </a:t>
            </a:r>
            <a:r>
              <a:rPr kumimoji="1" lang="en-US" altLang="zh-CN" sz="2800" b="1" dirty="0">
                <a:sym typeface="Symbol" pitchFamily="18" charset="2"/>
              </a:rPr>
              <a:t>(</a:t>
            </a:r>
            <a:r>
              <a:rPr kumimoji="1" lang="en-US" altLang="zh-CN" sz="2800" b="1" i="1" dirty="0">
                <a:sym typeface="Symbol" pitchFamily="18" charset="2"/>
              </a:rPr>
              <a:t>A</a:t>
            </a:r>
            <a:r>
              <a:rPr kumimoji="1" lang="en-US" altLang="zh-CN" sz="2800" b="1" dirty="0">
                <a:sym typeface="Symbol"/>
              </a:rPr>
              <a:t></a:t>
            </a:r>
            <a:r>
              <a:rPr kumimoji="1" lang="en-US" altLang="zh-CN" sz="2800" b="1" i="1" dirty="0">
                <a:sym typeface="Symbol" pitchFamily="18" charset="2"/>
              </a:rPr>
              <a:t>B</a:t>
            </a:r>
            <a:r>
              <a:rPr kumimoji="1" lang="en-US" altLang="zh-CN" sz="2800" b="1" dirty="0">
                <a:sym typeface="Symbol" pitchFamily="18" charset="2"/>
              </a:rPr>
              <a:t>) = </a:t>
            </a:r>
            <a:r>
              <a:rPr kumimoji="1" lang="en-US" altLang="zh-CN" sz="2800" b="1" i="1" dirty="0"/>
              <a:t>A</a:t>
            </a:r>
            <a:r>
              <a:rPr kumimoji="1" lang="zh-CN" altLang="en-US" sz="2800" b="1" dirty="0"/>
              <a:t>；</a:t>
            </a:r>
            <a:r>
              <a:rPr kumimoji="1" lang="zh-CN" altLang="en-US" sz="2800" b="1" i="1" dirty="0"/>
              <a:t> </a:t>
            </a:r>
            <a:endParaRPr kumimoji="1" lang="zh-CN" altLang="en-US" sz="2800" b="1" dirty="0"/>
          </a:p>
          <a:p>
            <a:pPr eaLnBrk="1" hangingPunct="1">
              <a:lnSpc>
                <a:spcPct val="110000"/>
              </a:lnSpc>
            </a:pPr>
            <a:r>
              <a:rPr kumimoji="1" lang="zh-CN" altLang="en-US" sz="2800" b="1" dirty="0">
                <a:solidFill>
                  <a:srgbClr val="FF0000"/>
                </a:solidFill>
              </a:rPr>
              <a:t>分配律</a:t>
            </a:r>
            <a:r>
              <a:rPr kumimoji="1" lang="zh-CN" altLang="en-US" sz="2800" b="1" dirty="0"/>
              <a:t>：</a:t>
            </a:r>
            <a:r>
              <a:rPr kumimoji="1" lang="en-US" altLang="zh-CN" sz="2800" b="1" dirty="0">
                <a:sym typeface="Symbol" pitchFamily="18" charset="2"/>
              </a:rPr>
              <a:t>(</a:t>
            </a:r>
            <a:r>
              <a:rPr kumimoji="1" lang="en-US" altLang="zh-CN" sz="2800" b="1" i="1" dirty="0"/>
              <a:t>A</a:t>
            </a:r>
            <a:r>
              <a:rPr kumimoji="1" lang="en-US" altLang="zh-CN" sz="2800" b="1" dirty="0">
                <a:sym typeface="Symbol"/>
              </a:rPr>
              <a:t></a:t>
            </a:r>
            <a:r>
              <a:rPr kumimoji="1" lang="en-US" altLang="zh-CN" sz="2800" b="1" i="1" dirty="0">
                <a:sym typeface="Symbol" pitchFamily="18" charset="2"/>
              </a:rPr>
              <a:t>B</a:t>
            </a:r>
            <a:r>
              <a:rPr kumimoji="1" lang="en-US" altLang="zh-CN" sz="2800" b="1" dirty="0">
                <a:sym typeface="Symbol" pitchFamily="18" charset="2"/>
              </a:rPr>
              <a:t>)</a:t>
            </a:r>
            <a:r>
              <a:rPr kumimoji="1" lang="en-US" altLang="zh-CN" sz="2800" b="1" dirty="0">
                <a:sym typeface="Symbol"/>
              </a:rPr>
              <a:t>  </a:t>
            </a:r>
            <a:r>
              <a:rPr kumimoji="1" lang="en-US" altLang="zh-CN" sz="2800" b="1" i="1" dirty="0">
                <a:sym typeface="Symbol" pitchFamily="18" charset="2"/>
              </a:rPr>
              <a:t>C</a:t>
            </a:r>
            <a:r>
              <a:rPr kumimoji="1" lang="en-US" altLang="zh-CN" sz="2800" b="1" dirty="0">
                <a:sym typeface="Symbol" pitchFamily="18" charset="2"/>
              </a:rPr>
              <a:t> = (</a:t>
            </a:r>
            <a:r>
              <a:rPr kumimoji="1" lang="en-US" altLang="zh-CN" sz="2800" b="1" i="1" dirty="0">
                <a:sym typeface="Symbol" pitchFamily="18" charset="2"/>
              </a:rPr>
              <a:t>A</a:t>
            </a:r>
            <a:r>
              <a:rPr kumimoji="1" lang="en-US" altLang="zh-CN" sz="2800" b="1" dirty="0">
                <a:sym typeface="Symbol"/>
              </a:rPr>
              <a:t>  </a:t>
            </a:r>
            <a:r>
              <a:rPr kumimoji="1" lang="en-US" altLang="zh-CN" sz="2800" b="1" i="1" dirty="0">
                <a:sym typeface="Symbol" pitchFamily="18" charset="2"/>
              </a:rPr>
              <a:t>C</a:t>
            </a:r>
            <a:r>
              <a:rPr kumimoji="1" lang="en-US" altLang="zh-CN" sz="2800" b="1" dirty="0">
                <a:sym typeface="Symbol" pitchFamily="18" charset="2"/>
              </a:rPr>
              <a:t>)</a:t>
            </a:r>
            <a:r>
              <a:rPr kumimoji="1" lang="en-US" altLang="zh-CN" sz="2800" b="1" dirty="0">
                <a:sym typeface="Symbol"/>
              </a:rPr>
              <a:t>  </a:t>
            </a:r>
            <a:r>
              <a:rPr kumimoji="1" lang="en-US" altLang="zh-CN" sz="2800" b="1" dirty="0">
                <a:sym typeface="Symbol" pitchFamily="18" charset="2"/>
              </a:rPr>
              <a:t>(</a:t>
            </a:r>
            <a:r>
              <a:rPr kumimoji="1" lang="en-US" altLang="zh-CN" sz="2800" b="1" i="1" dirty="0">
                <a:sym typeface="Symbol" pitchFamily="18" charset="2"/>
              </a:rPr>
              <a:t>B</a:t>
            </a:r>
            <a:r>
              <a:rPr kumimoji="1" lang="en-US" altLang="zh-CN" sz="2800" b="1" dirty="0">
                <a:sym typeface="Symbol"/>
              </a:rPr>
              <a:t>  </a:t>
            </a:r>
            <a:r>
              <a:rPr kumimoji="1" lang="en-US" altLang="zh-CN" sz="2800" b="1" i="1" dirty="0">
                <a:sym typeface="Symbol" pitchFamily="18" charset="2"/>
              </a:rPr>
              <a:t>C</a:t>
            </a:r>
            <a:r>
              <a:rPr kumimoji="1" lang="en-US" altLang="zh-CN" sz="2800" b="1" dirty="0">
                <a:sym typeface="Symbol" pitchFamily="18" charset="2"/>
              </a:rPr>
              <a:t>)</a:t>
            </a:r>
            <a:r>
              <a:rPr kumimoji="1" lang="zh-CN" altLang="en-US" sz="2800" b="1" dirty="0">
                <a:sym typeface="Symbol" pitchFamily="18" charset="2"/>
              </a:rPr>
              <a:t>；</a:t>
            </a:r>
          </a:p>
          <a:p>
            <a:pPr eaLnBrk="1" hangingPunct="1">
              <a:lnSpc>
                <a:spcPct val="110000"/>
              </a:lnSpc>
              <a:buNone/>
            </a:pPr>
            <a:r>
              <a:rPr kumimoji="1" lang="zh-CN" altLang="en-US" sz="2800" b="1" dirty="0">
                <a:solidFill>
                  <a:schemeClr val="bg2">
                    <a:lumMod val="60000"/>
                    <a:lumOff val="40000"/>
                  </a:schemeClr>
                </a:solidFill>
                <a:sym typeface="Symbol" pitchFamily="18" charset="2"/>
              </a:rPr>
              <a:t>                  </a:t>
            </a:r>
            <a:r>
              <a:rPr kumimoji="1" lang="en-US" altLang="zh-CN" sz="2800" b="1" dirty="0">
                <a:solidFill>
                  <a:schemeClr val="bg2">
                    <a:lumMod val="60000"/>
                    <a:lumOff val="40000"/>
                  </a:schemeClr>
                </a:solidFill>
                <a:sym typeface="Symbol" pitchFamily="18" charset="2"/>
              </a:rPr>
              <a:t>(</a:t>
            </a:r>
            <a:r>
              <a:rPr kumimoji="1" lang="en-US" altLang="zh-CN" sz="2800" b="1" i="1" dirty="0">
                <a:solidFill>
                  <a:schemeClr val="bg2">
                    <a:lumMod val="60000"/>
                    <a:lumOff val="40000"/>
                  </a:schemeClr>
                </a:solidFill>
              </a:rPr>
              <a:t>A</a:t>
            </a:r>
            <a:r>
              <a:rPr kumimoji="1" lang="en-US" altLang="zh-CN" sz="2800" b="1" dirty="0">
                <a:solidFill>
                  <a:schemeClr val="bg2">
                    <a:lumMod val="60000"/>
                    <a:lumOff val="40000"/>
                  </a:schemeClr>
                </a:solidFill>
                <a:sym typeface="Symbol"/>
              </a:rPr>
              <a:t></a:t>
            </a:r>
            <a:r>
              <a:rPr kumimoji="1" lang="en-US" altLang="zh-CN" sz="2800" b="1" i="1" dirty="0">
                <a:solidFill>
                  <a:schemeClr val="bg2">
                    <a:lumMod val="60000"/>
                    <a:lumOff val="40000"/>
                  </a:schemeClr>
                </a:solidFill>
                <a:sym typeface="Symbol" pitchFamily="18" charset="2"/>
              </a:rPr>
              <a:t>B</a:t>
            </a:r>
            <a:r>
              <a:rPr kumimoji="1" lang="en-US" altLang="zh-CN" sz="2800" b="1" dirty="0">
                <a:solidFill>
                  <a:schemeClr val="bg2">
                    <a:lumMod val="60000"/>
                    <a:lumOff val="40000"/>
                  </a:schemeClr>
                </a:solidFill>
                <a:sym typeface="Symbol" pitchFamily="18" charset="2"/>
              </a:rPr>
              <a:t>)</a:t>
            </a:r>
            <a:r>
              <a:rPr kumimoji="1" lang="en-US" altLang="zh-CN" sz="2800" b="1" dirty="0">
                <a:solidFill>
                  <a:schemeClr val="bg2">
                    <a:lumMod val="60000"/>
                    <a:lumOff val="40000"/>
                  </a:schemeClr>
                </a:solidFill>
                <a:sym typeface="Symbol"/>
              </a:rPr>
              <a:t>  </a:t>
            </a:r>
            <a:r>
              <a:rPr kumimoji="1" lang="en-US" altLang="zh-CN" sz="2800" b="1" i="1" dirty="0">
                <a:solidFill>
                  <a:schemeClr val="bg2">
                    <a:lumMod val="60000"/>
                    <a:lumOff val="40000"/>
                  </a:schemeClr>
                </a:solidFill>
                <a:sym typeface="Symbol" pitchFamily="18" charset="2"/>
              </a:rPr>
              <a:t>C</a:t>
            </a:r>
            <a:r>
              <a:rPr kumimoji="1" lang="en-US" altLang="zh-CN" sz="2800" b="1" dirty="0">
                <a:solidFill>
                  <a:schemeClr val="bg2">
                    <a:lumMod val="60000"/>
                    <a:lumOff val="40000"/>
                  </a:schemeClr>
                </a:solidFill>
                <a:sym typeface="Symbol" pitchFamily="18" charset="2"/>
              </a:rPr>
              <a:t> = (</a:t>
            </a:r>
            <a:r>
              <a:rPr kumimoji="1" lang="en-US" altLang="zh-CN" sz="2800" b="1" i="1" dirty="0">
                <a:solidFill>
                  <a:schemeClr val="bg2">
                    <a:lumMod val="60000"/>
                    <a:lumOff val="40000"/>
                  </a:schemeClr>
                </a:solidFill>
                <a:sym typeface="Symbol" pitchFamily="18" charset="2"/>
              </a:rPr>
              <a:t>A</a:t>
            </a:r>
            <a:r>
              <a:rPr kumimoji="1" lang="en-US" altLang="zh-CN" sz="2800" b="1" dirty="0">
                <a:solidFill>
                  <a:schemeClr val="bg2">
                    <a:lumMod val="60000"/>
                    <a:lumOff val="40000"/>
                  </a:schemeClr>
                </a:solidFill>
                <a:sym typeface="Symbol"/>
              </a:rPr>
              <a:t>  </a:t>
            </a:r>
            <a:r>
              <a:rPr kumimoji="1" lang="en-US" altLang="zh-CN" sz="2800" b="1" i="1" dirty="0">
                <a:solidFill>
                  <a:schemeClr val="bg2">
                    <a:lumMod val="60000"/>
                    <a:lumOff val="40000"/>
                  </a:schemeClr>
                </a:solidFill>
                <a:sym typeface="Symbol" pitchFamily="18" charset="2"/>
              </a:rPr>
              <a:t>C</a:t>
            </a:r>
            <a:r>
              <a:rPr kumimoji="1" lang="en-US" altLang="zh-CN" sz="2800" b="1" dirty="0">
                <a:solidFill>
                  <a:schemeClr val="bg2">
                    <a:lumMod val="60000"/>
                    <a:lumOff val="40000"/>
                  </a:schemeClr>
                </a:solidFill>
                <a:sym typeface="Symbol" pitchFamily="18" charset="2"/>
              </a:rPr>
              <a:t>)</a:t>
            </a:r>
            <a:r>
              <a:rPr kumimoji="1" lang="en-US" altLang="zh-CN" sz="2800" b="1" dirty="0">
                <a:solidFill>
                  <a:schemeClr val="bg2">
                    <a:lumMod val="60000"/>
                    <a:lumOff val="40000"/>
                  </a:schemeClr>
                </a:solidFill>
                <a:sym typeface="Symbol"/>
              </a:rPr>
              <a:t>  </a:t>
            </a:r>
            <a:r>
              <a:rPr kumimoji="1" lang="en-US" altLang="zh-CN" sz="2800" b="1" dirty="0">
                <a:solidFill>
                  <a:schemeClr val="bg2">
                    <a:lumMod val="60000"/>
                    <a:lumOff val="40000"/>
                  </a:schemeClr>
                </a:solidFill>
                <a:sym typeface="Symbol" pitchFamily="18" charset="2"/>
              </a:rPr>
              <a:t>(</a:t>
            </a:r>
            <a:r>
              <a:rPr kumimoji="1" lang="en-US" altLang="zh-CN" sz="2800" b="1" i="1" dirty="0">
                <a:solidFill>
                  <a:schemeClr val="bg2">
                    <a:lumMod val="60000"/>
                    <a:lumOff val="40000"/>
                  </a:schemeClr>
                </a:solidFill>
                <a:sym typeface="Symbol" pitchFamily="18" charset="2"/>
              </a:rPr>
              <a:t>B</a:t>
            </a:r>
            <a:r>
              <a:rPr kumimoji="1" lang="en-US" altLang="zh-CN" sz="2800" b="1" dirty="0">
                <a:solidFill>
                  <a:schemeClr val="bg2">
                    <a:lumMod val="60000"/>
                    <a:lumOff val="40000"/>
                  </a:schemeClr>
                </a:solidFill>
                <a:sym typeface="Symbol"/>
              </a:rPr>
              <a:t>  </a:t>
            </a:r>
            <a:r>
              <a:rPr kumimoji="1" lang="en-US" altLang="zh-CN" sz="2800" b="1" i="1" dirty="0">
                <a:solidFill>
                  <a:schemeClr val="bg2">
                    <a:lumMod val="60000"/>
                    <a:lumOff val="40000"/>
                  </a:schemeClr>
                </a:solidFill>
                <a:sym typeface="Symbol" pitchFamily="18" charset="2"/>
              </a:rPr>
              <a:t>C</a:t>
            </a:r>
            <a:r>
              <a:rPr kumimoji="1" lang="en-US" altLang="zh-CN" sz="2800" b="1" dirty="0">
                <a:solidFill>
                  <a:schemeClr val="bg2">
                    <a:lumMod val="60000"/>
                    <a:lumOff val="40000"/>
                  </a:schemeClr>
                </a:solidFill>
                <a:sym typeface="Symbol" pitchFamily="18" charset="2"/>
              </a:rPr>
              <a:t>)</a:t>
            </a:r>
            <a:r>
              <a:rPr kumimoji="1" lang="zh-CN" altLang="en-US" sz="2800" b="1" dirty="0">
                <a:solidFill>
                  <a:schemeClr val="bg2">
                    <a:lumMod val="60000"/>
                    <a:lumOff val="40000"/>
                  </a:schemeClr>
                </a:solidFill>
                <a:sym typeface="Symbol" pitchFamily="18" charset="2"/>
              </a:rPr>
              <a:t>；</a:t>
            </a:r>
            <a:endParaRPr kumimoji="1" lang="zh-CN" altLang="en-US" sz="2800" b="1" dirty="0">
              <a:solidFill>
                <a:schemeClr val="bg2">
                  <a:lumMod val="60000"/>
                  <a:lumOff val="40000"/>
                </a:schemeClr>
              </a:solidFill>
            </a:endParaRPr>
          </a:p>
          <a:p>
            <a:pPr eaLnBrk="1" hangingPunct="1">
              <a:lnSpc>
                <a:spcPct val="110000"/>
              </a:lnSpc>
            </a:pPr>
            <a:r>
              <a:rPr kumimoji="1" lang="en-US" altLang="zh-CN" sz="2800" b="1" dirty="0"/>
              <a:t>0</a:t>
            </a:r>
            <a:r>
              <a:rPr kumimoji="1" lang="en-US" altLang="zh-CN" sz="2800" b="1" dirty="0">
                <a:sym typeface="Symbol" panose="05050102010706020507" pitchFamily="18" charset="2"/>
              </a:rPr>
              <a:t>  </a:t>
            </a:r>
            <a:r>
              <a:rPr kumimoji="1" lang="en-US" altLang="zh-CN" sz="2800" b="1" dirty="0"/>
              <a:t>1</a:t>
            </a:r>
            <a:r>
              <a:rPr kumimoji="1" lang="zh-CN" altLang="en-US" sz="2800" b="1" dirty="0"/>
              <a:t>律：</a:t>
            </a:r>
            <a:r>
              <a:rPr kumimoji="1" lang="en-US" altLang="zh-CN" sz="2800" b="1" i="1" dirty="0"/>
              <a:t>A</a:t>
            </a:r>
            <a:r>
              <a:rPr kumimoji="1" lang="en-US" altLang="zh-CN" sz="2800" b="1" dirty="0">
                <a:sym typeface="Symbol"/>
              </a:rPr>
              <a:t>  </a:t>
            </a:r>
            <a:r>
              <a:rPr kumimoji="1" lang="en-US" altLang="zh-CN" sz="2800" b="1" i="1" dirty="0">
                <a:sym typeface="Symbol" pitchFamily="18" charset="2"/>
              </a:rPr>
              <a:t>U </a:t>
            </a:r>
            <a:r>
              <a:rPr kumimoji="1" lang="en-US" altLang="zh-CN" sz="2800" b="1" dirty="0">
                <a:sym typeface="Symbol" pitchFamily="18" charset="2"/>
              </a:rPr>
              <a:t>= </a:t>
            </a:r>
            <a:r>
              <a:rPr kumimoji="1" lang="en-US" altLang="zh-CN" sz="2800" b="1" i="1" dirty="0"/>
              <a:t>U</a:t>
            </a:r>
            <a:r>
              <a:rPr kumimoji="1" lang="zh-CN" altLang="en-US" sz="2800" b="1" dirty="0">
                <a:sym typeface="Symbol" pitchFamily="18" charset="2"/>
              </a:rPr>
              <a:t>，</a:t>
            </a:r>
            <a:r>
              <a:rPr kumimoji="1" lang="en-US" altLang="zh-CN" sz="2800" b="1" i="1" dirty="0"/>
              <a:t>A</a:t>
            </a:r>
            <a:r>
              <a:rPr kumimoji="1" lang="en-US" altLang="zh-CN" sz="2800" b="1" dirty="0">
                <a:sym typeface="Symbol"/>
              </a:rPr>
              <a:t>  </a:t>
            </a:r>
            <a:r>
              <a:rPr kumimoji="1" lang="en-US" altLang="zh-CN" sz="2800" b="1" i="1" dirty="0">
                <a:sym typeface="Symbol" pitchFamily="18" charset="2"/>
              </a:rPr>
              <a:t>U </a:t>
            </a:r>
            <a:r>
              <a:rPr kumimoji="1" lang="en-US" altLang="zh-CN" sz="2800" b="1" dirty="0">
                <a:sym typeface="Symbol" pitchFamily="18" charset="2"/>
              </a:rPr>
              <a:t>= </a:t>
            </a:r>
            <a:r>
              <a:rPr kumimoji="1" lang="en-US" altLang="zh-CN" sz="2800" b="1" i="1" dirty="0"/>
              <a:t>A</a:t>
            </a:r>
            <a:r>
              <a:rPr kumimoji="1" lang="zh-CN" altLang="en-US" sz="2800" b="1" dirty="0">
                <a:sym typeface="Symbol" pitchFamily="18" charset="2"/>
              </a:rPr>
              <a:t>；</a:t>
            </a:r>
          </a:p>
          <a:p>
            <a:pPr eaLnBrk="1" hangingPunct="1">
              <a:lnSpc>
                <a:spcPct val="110000"/>
              </a:lnSpc>
              <a:buNone/>
            </a:pPr>
            <a:r>
              <a:rPr kumimoji="1" lang="zh-CN" altLang="en-US" sz="2800" b="1" dirty="0">
                <a:sym typeface="Symbol" pitchFamily="18" charset="2"/>
              </a:rPr>
              <a:t>                   </a:t>
            </a:r>
            <a:r>
              <a:rPr kumimoji="1" lang="en-US" altLang="zh-CN" sz="2800" b="1" i="1" dirty="0"/>
              <a:t>A</a:t>
            </a:r>
            <a:r>
              <a:rPr kumimoji="1" lang="en-US" altLang="zh-CN" sz="2800" b="1" dirty="0">
                <a:sym typeface="Symbol"/>
              </a:rPr>
              <a:t>  </a:t>
            </a:r>
            <a:r>
              <a:rPr lang="en-US" altLang="zh-CN" sz="2800" dirty="0">
                <a:cs typeface="Arial" charset="0"/>
              </a:rPr>
              <a:t>Ø </a:t>
            </a:r>
            <a:r>
              <a:rPr kumimoji="1" lang="en-US" altLang="zh-CN" sz="2800" b="1" dirty="0">
                <a:sym typeface="Symbol" pitchFamily="18" charset="2"/>
              </a:rPr>
              <a:t>= </a:t>
            </a:r>
            <a:r>
              <a:rPr kumimoji="1" lang="en-US" altLang="zh-CN" sz="2800" b="1" i="1" dirty="0">
                <a:sym typeface="Symbol" pitchFamily="18" charset="2"/>
              </a:rPr>
              <a:t>A</a:t>
            </a:r>
            <a:r>
              <a:rPr kumimoji="1" lang="zh-CN" altLang="en-US" sz="2800" b="1" dirty="0">
                <a:sym typeface="Symbol" pitchFamily="18" charset="2"/>
              </a:rPr>
              <a:t>，</a:t>
            </a:r>
            <a:r>
              <a:rPr kumimoji="1" lang="en-US" altLang="zh-CN" sz="2800" b="1" i="1" dirty="0"/>
              <a:t>A</a:t>
            </a:r>
            <a:r>
              <a:rPr kumimoji="1" lang="en-US" altLang="zh-CN" sz="2800" b="1" dirty="0">
                <a:sym typeface="Symbol"/>
              </a:rPr>
              <a:t>  </a:t>
            </a:r>
            <a:r>
              <a:rPr lang="en-US" altLang="zh-CN" sz="2800" dirty="0">
                <a:cs typeface="Arial" charset="0"/>
              </a:rPr>
              <a:t>Ø</a:t>
            </a:r>
            <a:r>
              <a:rPr kumimoji="1" lang="en-US" altLang="zh-CN" sz="2800" b="1" dirty="0">
                <a:sym typeface="Symbol" pitchFamily="18" charset="2"/>
              </a:rPr>
              <a:t> = </a:t>
            </a:r>
            <a:r>
              <a:rPr lang="en-US" altLang="zh-CN" sz="2800" dirty="0">
                <a:cs typeface="Arial" charset="0"/>
              </a:rPr>
              <a:t>Ø</a:t>
            </a:r>
            <a:r>
              <a:rPr kumimoji="1" lang="en-US" altLang="zh-CN" sz="2800" b="1" dirty="0">
                <a:sym typeface="Symbol" pitchFamily="18" charset="2"/>
              </a:rPr>
              <a:t> </a:t>
            </a:r>
            <a:r>
              <a:rPr kumimoji="1" lang="zh-CN" altLang="en-US" sz="2800" b="1" dirty="0">
                <a:sym typeface="Symbol" pitchFamily="18" charset="2"/>
              </a:rPr>
              <a:t>；</a:t>
            </a:r>
          </a:p>
          <a:p>
            <a:pPr eaLnBrk="1" hangingPunct="1">
              <a:lnSpc>
                <a:spcPct val="110000"/>
              </a:lnSpc>
            </a:pPr>
            <a:r>
              <a:rPr kumimoji="1" lang="zh-CN" altLang="en-US" sz="2800" b="1" dirty="0"/>
              <a:t>还原律： </a:t>
            </a:r>
            <a:r>
              <a:rPr kumimoji="1" lang="en-US" altLang="zh-CN" sz="2800" b="1" dirty="0">
                <a:sym typeface="Symbol" pitchFamily="18" charset="2"/>
              </a:rPr>
              <a:t>(</a:t>
            </a:r>
            <a:r>
              <a:rPr kumimoji="1" lang="en-US" altLang="zh-CN" sz="2800" b="1" i="1" dirty="0"/>
              <a:t>A</a:t>
            </a:r>
            <a:r>
              <a:rPr kumimoji="1" lang="en-US" altLang="zh-CN" sz="2800" b="1" i="1" baseline="30000" dirty="0"/>
              <a:t>c</a:t>
            </a:r>
            <a:r>
              <a:rPr kumimoji="1" lang="en-US" altLang="zh-CN" sz="2800" b="1" dirty="0">
                <a:sym typeface="Symbol" pitchFamily="18" charset="2"/>
              </a:rPr>
              <a:t>)</a:t>
            </a:r>
            <a:r>
              <a:rPr kumimoji="1" lang="en-US" altLang="zh-CN" sz="2800" b="1" i="1" baseline="30000" dirty="0"/>
              <a:t>c</a:t>
            </a:r>
            <a:r>
              <a:rPr kumimoji="1" lang="en-US" altLang="zh-CN" sz="2800" b="1" dirty="0">
                <a:sym typeface="Symbol" pitchFamily="18" charset="2"/>
              </a:rPr>
              <a:t> = </a:t>
            </a:r>
            <a:r>
              <a:rPr kumimoji="1" lang="en-US" altLang="zh-CN" sz="2800" b="1" i="1" dirty="0"/>
              <a:t>A</a:t>
            </a:r>
            <a:r>
              <a:rPr kumimoji="1" lang="en-US" altLang="zh-CN" sz="2800" b="1" dirty="0">
                <a:sym typeface="Symbol" pitchFamily="18" charset="2"/>
              </a:rPr>
              <a:t> </a:t>
            </a:r>
            <a:r>
              <a:rPr kumimoji="1" lang="zh-CN" altLang="en-US" sz="2800" b="1" dirty="0">
                <a:sym typeface="Symbol" pitchFamily="18" charset="2"/>
              </a:rPr>
              <a:t>；</a:t>
            </a:r>
          </a:p>
          <a:p>
            <a:pPr eaLnBrk="1" hangingPunct="1">
              <a:lnSpc>
                <a:spcPct val="110000"/>
              </a:lnSpc>
              <a:spcBef>
                <a:spcPct val="10000"/>
              </a:spcBef>
            </a:pPr>
            <a:r>
              <a:rPr lang="zh-CN" altLang="en-US" sz="2800" b="1" dirty="0">
                <a:solidFill>
                  <a:srgbClr val="FF0000"/>
                </a:solidFill>
              </a:rPr>
              <a:t>对偶律</a:t>
            </a:r>
            <a:r>
              <a:rPr lang="zh-CN" altLang="en-US" sz="2800" b="1" dirty="0"/>
              <a:t>： </a:t>
            </a:r>
            <a:r>
              <a:rPr lang="en-US" altLang="zh-CN" sz="2800" b="1" dirty="0">
                <a:solidFill>
                  <a:schemeClr val="bg2">
                    <a:lumMod val="60000"/>
                    <a:lumOff val="40000"/>
                  </a:schemeClr>
                </a:solidFill>
                <a:sym typeface="Symbol" pitchFamily="18" charset="2"/>
              </a:rPr>
              <a:t>(</a:t>
            </a:r>
            <a:r>
              <a:rPr lang="en-US" altLang="zh-CN" sz="2800" b="1" i="1" dirty="0">
                <a:solidFill>
                  <a:schemeClr val="bg2">
                    <a:lumMod val="60000"/>
                    <a:lumOff val="40000"/>
                  </a:schemeClr>
                </a:solidFill>
              </a:rPr>
              <a:t>A</a:t>
            </a:r>
            <a:r>
              <a:rPr kumimoji="1" lang="en-US" altLang="zh-CN" sz="2800" b="1" dirty="0">
                <a:solidFill>
                  <a:schemeClr val="bg2">
                    <a:lumMod val="60000"/>
                    <a:lumOff val="40000"/>
                  </a:schemeClr>
                </a:solidFill>
                <a:sym typeface="Symbol"/>
              </a:rPr>
              <a:t>  </a:t>
            </a:r>
            <a:r>
              <a:rPr lang="en-US" altLang="zh-CN" sz="2800" b="1" i="1" dirty="0">
                <a:solidFill>
                  <a:schemeClr val="bg2">
                    <a:lumMod val="60000"/>
                    <a:lumOff val="40000"/>
                  </a:schemeClr>
                </a:solidFill>
                <a:sym typeface="Symbol" pitchFamily="18" charset="2"/>
              </a:rPr>
              <a:t>B</a:t>
            </a:r>
            <a:r>
              <a:rPr lang="en-US" altLang="zh-CN" sz="2800" b="1" dirty="0">
                <a:solidFill>
                  <a:schemeClr val="bg2">
                    <a:lumMod val="60000"/>
                    <a:lumOff val="40000"/>
                  </a:schemeClr>
                </a:solidFill>
                <a:sym typeface="Symbol" pitchFamily="18" charset="2"/>
              </a:rPr>
              <a:t>)</a:t>
            </a:r>
            <a:r>
              <a:rPr lang="en-US" altLang="zh-CN" sz="2800" b="1" i="1" baseline="30000" dirty="0">
                <a:solidFill>
                  <a:schemeClr val="bg2">
                    <a:lumMod val="60000"/>
                    <a:lumOff val="40000"/>
                  </a:schemeClr>
                </a:solidFill>
                <a:ea typeface="黑体" pitchFamily="49" charset="-122"/>
              </a:rPr>
              <a:t>c </a:t>
            </a:r>
            <a:r>
              <a:rPr lang="en-US" altLang="zh-CN" sz="2800" b="1" dirty="0">
                <a:solidFill>
                  <a:schemeClr val="bg2">
                    <a:lumMod val="60000"/>
                    <a:lumOff val="40000"/>
                  </a:schemeClr>
                </a:solidFill>
                <a:sym typeface="Symbol" pitchFamily="18" charset="2"/>
              </a:rPr>
              <a:t>= </a:t>
            </a:r>
            <a:r>
              <a:rPr lang="en-US" altLang="zh-CN" sz="2800" b="1" i="1" dirty="0">
                <a:solidFill>
                  <a:schemeClr val="bg2">
                    <a:lumMod val="60000"/>
                    <a:lumOff val="40000"/>
                  </a:schemeClr>
                </a:solidFill>
                <a:sym typeface="Symbol" pitchFamily="18" charset="2"/>
              </a:rPr>
              <a:t>A</a:t>
            </a:r>
            <a:r>
              <a:rPr lang="en-US" altLang="zh-CN" sz="2800" b="1" i="1" baseline="30000" dirty="0">
                <a:solidFill>
                  <a:schemeClr val="bg2">
                    <a:lumMod val="60000"/>
                    <a:lumOff val="40000"/>
                  </a:schemeClr>
                </a:solidFill>
                <a:ea typeface="黑体" pitchFamily="49" charset="-122"/>
              </a:rPr>
              <a:t>c</a:t>
            </a:r>
            <a:r>
              <a:rPr kumimoji="1" lang="en-US" altLang="zh-CN" sz="2800" b="1" dirty="0">
                <a:solidFill>
                  <a:schemeClr val="bg2">
                    <a:lumMod val="60000"/>
                    <a:lumOff val="40000"/>
                  </a:schemeClr>
                </a:solidFill>
                <a:sym typeface="Symbol"/>
              </a:rPr>
              <a:t> </a:t>
            </a:r>
            <a:r>
              <a:rPr lang="en-US" altLang="zh-CN" sz="2800" b="1" i="1" dirty="0" err="1">
                <a:solidFill>
                  <a:schemeClr val="bg2">
                    <a:lumMod val="60000"/>
                    <a:lumOff val="40000"/>
                  </a:schemeClr>
                </a:solidFill>
                <a:sym typeface="Symbol" pitchFamily="18" charset="2"/>
              </a:rPr>
              <a:t>B</a:t>
            </a:r>
            <a:r>
              <a:rPr lang="en-US" altLang="zh-CN" sz="2800" b="1" i="1" baseline="30000" dirty="0" err="1">
                <a:solidFill>
                  <a:schemeClr val="bg2">
                    <a:lumMod val="60000"/>
                    <a:lumOff val="40000"/>
                  </a:schemeClr>
                </a:solidFill>
                <a:ea typeface="黑体" pitchFamily="49" charset="-122"/>
              </a:rPr>
              <a:t>c</a:t>
            </a:r>
            <a:r>
              <a:rPr lang="zh-CN" altLang="en-US" sz="2800" b="1" dirty="0">
                <a:sym typeface="Symbol" pitchFamily="18" charset="2"/>
              </a:rPr>
              <a:t>，</a:t>
            </a:r>
          </a:p>
          <a:p>
            <a:pPr eaLnBrk="1" hangingPunct="1">
              <a:lnSpc>
                <a:spcPct val="110000"/>
              </a:lnSpc>
              <a:spcBef>
                <a:spcPct val="10000"/>
              </a:spcBef>
              <a:buNone/>
            </a:pPr>
            <a:r>
              <a:rPr lang="zh-CN" altLang="en-US" sz="2800" b="1" dirty="0">
                <a:latin typeface="宋体" pitchFamily="2" charset="-122"/>
                <a:sym typeface="Symbol" pitchFamily="18" charset="2"/>
              </a:rPr>
              <a:t>          </a:t>
            </a:r>
            <a:r>
              <a:rPr lang="en-US" altLang="zh-CN" sz="2800" b="1" dirty="0">
                <a:sym typeface="Symbol" pitchFamily="18" charset="2"/>
              </a:rPr>
              <a:t>(</a:t>
            </a:r>
            <a:r>
              <a:rPr lang="en-US" altLang="zh-CN" sz="2800" b="1" i="1" dirty="0"/>
              <a:t>A </a:t>
            </a:r>
            <a:r>
              <a:rPr kumimoji="1" lang="en-US" altLang="zh-CN" sz="2800" b="1" dirty="0">
                <a:sym typeface="Symbol"/>
              </a:rPr>
              <a:t> </a:t>
            </a:r>
            <a:r>
              <a:rPr lang="en-US" altLang="zh-CN" sz="2800" b="1" i="1" dirty="0">
                <a:sym typeface="Symbol" pitchFamily="18" charset="2"/>
              </a:rPr>
              <a:t>B</a:t>
            </a:r>
            <a:r>
              <a:rPr lang="en-US" altLang="zh-CN" sz="2800" b="1" dirty="0">
                <a:sym typeface="Symbol" pitchFamily="18" charset="2"/>
              </a:rPr>
              <a:t>)</a:t>
            </a:r>
            <a:r>
              <a:rPr lang="en-US" altLang="zh-CN" sz="2800" b="1" i="1" baseline="30000" dirty="0">
                <a:ea typeface="黑体" pitchFamily="49" charset="-122"/>
              </a:rPr>
              <a:t>c </a:t>
            </a:r>
            <a:r>
              <a:rPr lang="en-US" altLang="zh-CN" sz="2800" b="1" dirty="0">
                <a:sym typeface="Symbol" pitchFamily="18" charset="2"/>
              </a:rPr>
              <a:t>= </a:t>
            </a:r>
            <a:r>
              <a:rPr lang="en-US" altLang="zh-CN" sz="2800" b="1" i="1" dirty="0">
                <a:sym typeface="Symbol" pitchFamily="18" charset="2"/>
              </a:rPr>
              <a:t>A</a:t>
            </a:r>
            <a:r>
              <a:rPr lang="en-US" altLang="zh-CN" sz="2800" b="1" i="1" baseline="30000" dirty="0">
                <a:ea typeface="黑体" pitchFamily="49" charset="-122"/>
              </a:rPr>
              <a:t>c</a:t>
            </a:r>
            <a:r>
              <a:rPr kumimoji="1" lang="en-US" altLang="zh-CN" sz="2800" b="1" dirty="0">
                <a:sym typeface="Symbol"/>
              </a:rPr>
              <a:t> </a:t>
            </a:r>
            <a:r>
              <a:rPr lang="en-US" altLang="zh-CN" sz="2800" b="1" i="1" dirty="0" err="1">
                <a:sym typeface="Symbol" pitchFamily="18" charset="2"/>
              </a:rPr>
              <a:t>B</a:t>
            </a:r>
            <a:r>
              <a:rPr lang="en-US" altLang="zh-CN" sz="2800" b="1" i="1" baseline="30000" dirty="0" err="1">
                <a:ea typeface="黑体" pitchFamily="49" charset="-122"/>
              </a:rPr>
              <a:t>c</a:t>
            </a:r>
            <a:r>
              <a:rPr lang="zh-CN" altLang="en-US" b="1" dirty="0">
                <a:sym typeface="Symbol" pitchFamily="18" charset="2"/>
              </a:rPr>
              <a:t>；</a:t>
            </a:r>
            <a:r>
              <a:rPr lang="zh-CN" altLang="en-US" b="1" i="1" dirty="0"/>
              <a:t> </a:t>
            </a:r>
            <a:endParaRPr kumimoji="1" lang="zh-CN" altLang="en-US" sz="2800" b="1" dirty="0">
              <a:sym typeface="Symbol" pitchFamily="18" charset="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1988">
                                            <p:txEl>
                                              <p:pRg st="0" end="0"/>
                                            </p:txEl>
                                          </p:spTgt>
                                        </p:tgtEl>
                                        <p:attrNameLst>
                                          <p:attrName>style.visibility</p:attrName>
                                        </p:attrNameLst>
                                      </p:cBhvr>
                                      <p:to>
                                        <p:strVal val="visible"/>
                                      </p:to>
                                    </p:set>
                                    <p:animEffect transition="in" filter="wipe(left)">
                                      <p:cBhvr>
                                        <p:cTn id="7" dur="500"/>
                                        <p:tgtEl>
                                          <p:spTgt spid="41988">
                                            <p:txEl>
                                              <p:pRg st="0" end="0"/>
                                            </p:txEl>
                                          </p:spTgt>
                                        </p:tgtEl>
                                      </p:cBhvr>
                                    </p:animEffect>
                                  </p:childTnLst>
                                  <p:subTnLst>
                                    <p:audio>
                                      <p:cMediaNode>
                                        <p:cTn display="0" masterRel="sameClick">
                                          <p:stCondLst>
                                            <p:cond evt="begin" delay="0">
                                              <p:tn val="5"/>
                                            </p:cond>
                                          </p:stCondLst>
                                          <p:endCondLst>
                                            <p:cond evt="onStopAudio" delay="0">
                                              <p:tgtEl>
                                                <p:sldTgt/>
                                              </p:tgtEl>
                                            </p:cond>
                                          </p:endCondLst>
                                        </p:cTn>
                                        <p:tgtEl>
                                          <p:sndTgt r:embed="rId2" name="type.wav"/>
                                        </p:tgtEl>
                                      </p:cMediaNode>
                                    </p:audio>
                                  </p:sub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1988">
                                            <p:txEl>
                                              <p:pRg st="1" end="1"/>
                                            </p:txEl>
                                          </p:spTgt>
                                        </p:tgtEl>
                                        <p:attrNameLst>
                                          <p:attrName>style.visibility</p:attrName>
                                        </p:attrNameLst>
                                      </p:cBhvr>
                                      <p:to>
                                        <p:strVal val="visible"/>
                                      </p:to>
                                    </p:set>
                                    <p:animEffect transition="in" filter="wipe(left)">
                                      <p:cBhvr>
                                        <p:cTn id="12" dur="500"/>
                                        <p:tgtEl>
                                          <p:spTgt spid="41988">
                                            <p:txEl>
                                              <p:pRg st="1" end="1"/>
                                            </p:txEl>
                                          </p:spTgt>
                                        </p:tgtEl>
                                      </p:cBhvr>
                                    </p:animEffect>
                                  </p:childTnLst>
                                  <p:subTnLst>
                                    <p:audio>
                                      <p:cMediaNode>
                                        <p:cTn display="0" masterRel="sameClick">
                                          <p:stCondLst>
                                            <p:cond evt="begin" delay="0">
                                              <p:tn val="10"/>
                                            </p:cond>
                                          </p:stCondLst>
                                          <p:endCondLst>
                                            <p:cond evt="onStopAudio" delay="0">
                                              <p:tgtEl>
                                                <p:sldTgt/>
                                              </p:tgtEl>
                                            </p:cond>
                                          </p:endCondLst>
                                        </p:cTn>
                                        <p:tgtEl>
                                          <p:sndTgt r:embed="rId2" name="type.wav"/>
                                        </p:tgtEl>
                                      </p:cMediaNode>
                                    </p:audio>
                                  </p:sub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41988">
                                            <p:txEl>
                                              <p:pRg st="2" end="2"/>
                                            </p:txEl>
                                          </p:spTgt>
                                        </p:tgtEl>
                                        <p:attrNameLst>
                                          <p:attrName>style.visibility</p:attrName>
                                        </p:attrNameLst>
                                      </p:cBhvr>
                                      <p:to>
                                        <p:strVal val="visible"/>
                                      </p:to>
                                    </p:set>
                                    <p:animEffect transition="in" filter="wipe(left)">
                                      <p:cBhvr>
                                        <p:cTn id="17" dur="500"/>
                                        <p:tgtEl>
                                          <p:spTgt spid="41988">
                                            <p:txEl>
                                              <p:pRg st="2" end="2"/>
                                            </p:txEl>
                                          </p:spTgt>
                                        </p:tgtEl>
                                      </p:cBhvr>
                                    </p:animEffect>
                                  </p:childTnLst>
                                  <p:subTnLst>
                                    <p:audio>
                                      <p:cMediaNode>
                                        <p:cTn display="0" masterRel="sameClick">
                                          <p:stCondLst>
                                            <p:cond evt="begin" delay="0">
                                              <p:tn val="15"/>
                                            </p:cond>
                                          </p:stCondLst>
                                          <p:endCondLst>
                                            <p:cond evt="onStopAudio" delay="0">
                                              <p:tgtEl>
                                                <p:sldTgt/>
                                              </p:tgtEl>
                                            </p:cond>
                                          </p:endCondLst>
                                        </p:cTn>
                                        <p:tgtEl>
                                          <p:sndTgt r:embed="rId2" name="type.wav"/>
                                        </p:tgtEl>
                                      </p:cMediaNode>
                                    </p:audio>
                                  </p:sub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41988">
                                            <p:txEl>
                                              <p:pRg st="3" end="3"/>
                                            </p:txEl>
                                          </p:spTgt>
                                        </p:tgtEl>
                                        <p:attrNameLst>
                                          <p:attrName>style.visibility</p:attrName>
                                        </p:attrNameLst>
                                      </p:cBhvr>
                                      <p:to>
                                        <p:strVal val="visible"/>
                                      </p:to>
                                    </p:set>
                                    <p:animEffect transition="in" filter="wipe(left)">
                                      <p:cBhvr>
                                        <p:cTn id="22" dur="500"/>
                                        <p:tgtEl>
                                          <p:spTgt spid="41988">
                                            <p:txEl>
                                              <p:pRg st="3" end="3"/>
                                            </p:txEl>
                                          </p:spTgt>
                                        </p:tgtEl>
                                      </p:cBhvr>
                                    </p:animEffect>
                                  </p:childTnLst>
                                  <p:subTnLst>
                                    <p:audio>
                                      <p:cMediaNode>
                                        <p:cTn display="0" masterRel="sameClick">
                                          <p:stCondLst>
                                            <p:cond evt="begin" delay="0">
                                              <p:tn val="20"/>
                                            </p:cond>
                                          </p:stCondLst>
                                          <p:endCondLst>
                                            <p:cond evt="onStopAudio" delay="0">
                                              <p:tgtEl>
                                                <p:sldTgt/>
                                              </p:tgtEl>
                                            </p:cond>
                                          </p:endCondLst>
                                        </p:cTn>
                                        <p:tgtEl>
                                          <p:sndTgt r:embed="rId2" name="type.wav"/>
                                        </p:tgtEl>
                                      </p:cMediaNode>
                                    </p:audio>
                                  </p:sub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41988">
                                            <p:txEl>
                                              <p:pRg st="4" end="4"/>
                                            </p:txEl>
                                          </p:spTgt>
                                        </p:tgtEl>
                                        <p:attrNameLst>
                                          <p:attrName>style.visibility</p:attrName>
                                        </p:attrNameLst>
                                      </p:cBhvr>
                                      <p:to>
                                        <p:strVal val="visible"/>
                                      </p:to>
                                    </p:set>
                                    <p:animEffect transition="in" filter="wipe(left)">
                                      <p:cBhvr>
                                        <p:cTn id="27" dur="500"/>
                                        <p:tgtEl>
                                          <p:spTgt spid="41988">
                                            <p:txEl>
                                              <p:pRg st="4" end="4"/>
                                            </p:txEl>
                                          </p:spTgt>
                                        </p:tgtEl>
                                      </p:cBhvr>
                                    </p:animEffect>
                                  </p:childTnLst>
                                  <p:subTnLst>
                                    <p:audio>
                                      <p:cMediaNode>
                                        <p:cTn display="0" masterRel="sameClick">
                                          <p:stCondLst>
                                            <p:cond evt="begin" delay="0">
                                              <p:tn val="25"/>
                                            </p:cond>
                                          </p:stCondLst>
                                          <p:endCondLst>
                                            <p:cond evt="onStopAudio" delay="0">
                                              <p:tgtEl>
                                                <p:sldTgt/>
                                              </p:tgtEl>
                                            </p:cond>
                                          </p:endCondLst>
                                        </p:cTn>
                                        <p:tgtEl>
                                          <p:sndTgt r:embed="rId2" name="type.wav"/>
                                        </p:tgtEl>
                                      </p:cMediaNode>
                                    </p:audio>
                                  </p:sub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41988">
                                            <p:txEl>
                                              <p:pRg st="5" end="5"/>
                                            </p:txEl>
                                          </p:spTgt>
                                        </p:tgtEl>
                                        <p:attrNameLst>
                                          <p:attrName>style.visibility</p:attrName>
                                        </p:attrNameLst>
                                      </p:cBhvr>
                                      <p:to>
                                        <p:strVal val="visible"/>
                                      </p:to>
                                    </p:set>
                                    <p:animEffect transition="in" filter="wipe(left)">
                                      <p:cBhvr>
                                        <p:cTn id="32" dur="500"/>
                                        <p:tgtEl>
                                          <p:spTgt spid="41988">
                                            <p:txEl>
                                              <p:pRg st="5" end="5"/>
                                            </p:txEl>
                                          </p:spTgt>
                                        </p:tgtEl>
                                      </p:cBhvr>
                                    </p:animEffect>
                                  </p:childTnLst>
                                  <p:subTnLst>
                                    <p:audio>
                                      <p:cMediaNode>
                                        <p:cTn display="0" masterRel="sameClick">
                                          <p:stCondLst>
                                            <p:cond evt="begin" delay="0">
                                              <p:tn val="30"/>
                                            </p:cond>
                                          </p:stCondLst>
                                          <p:endCondLst>
                                            <p:cond evt="onStopAudio" delay="0">
                                              <p:tgtEl>
                                                <p:sldTgt/>
                                              </p:tgtEl>
                                            </p:cond>
                                          </p:endCondLst>
                                        </p:cTn>
                                        <p:tgtEl>
                                          <p:sndTgt r:embed="rId2" name="type.wav"/>
                                        </p:tgtEl>
                                      </p:cMediaNode>
                                    </p:audio>
                                  </p:sub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41988">
                                            <p:txEl>
                                              <p:pRg st="6" end="6"/>
                                            </p:txEl>
                                          </p:spTgt>
                                        </p:tgtEl>
                                        <p:attrNameLst>
                                          <p:attrName>style.visibility</p:attrName>
                                        </p:attrNameLst>
                                      </p:cBhvr>
                                      <p:to>
                                        <p:strVal val="visible"/>
                                      </p:to>
                                    </p:set>
                                    <p:animEffect transition="in" filter="wipe(left)">
                                      <p:cBhvr>
                                        <p:cTn id="37" dur="500"/>
                                        <p:tgtEl>
                                          <p:spTgt spid="41988">
                                            <p:txEl>
                                              <p:pRg st="6" end="6"/>
                                            </p:txEl>
                                          </p:spTgt>
                                        </p:tgtEl>
                                      </p:cBhvr>
                                    </p:animEffect>
                                  </p:childTnLst>
                                  <p:subTnLst>
                                    <p:audio>
                                      <p:cMediaNode>
                                        <p:cTn display="0" masterRel="sameClick">
                                          <p:stCondLst>
                                            <p:cond evt="begin" delay="0">
                                              <p:tn val="35"/>
                                            </p:cond>
                                          </p:stCondLst>
                                          <p:endCondLst>
                                            <p:cond evt="onStopAudio" delay="0">
                                              <p:tgtEl>
                                                <p:sldTgt/>
                                              </p:tgtEl>
                                            </p:cond>
                                          </p:endCondLst>
                                        </p:cTn>
                                        <p:tgtEl>
                                          <p:sndTgt r:embed="rId2" name="type.wav"/>
                                        </p:tgtEl>
                                      </p:cMediaNode>
                                    </p:audio>
                                  </p:sub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41988">
                                            <p:txEl>
                                              <p:pRg st="7" end="7"/>
                                            </p:txEl>
                                          </p:spTgt>
                                        </p:tgtEl>
                                        <p:attrNameLst>
                                          <p:attrName>style.visibility</p:attrName>
                                        </p:attrNameLst>
                                      </p:cBhvr>
                                      <p:to>
                                        <p:strVal val="visible"/>
                                      </p:to>
                                    </p:set>
                                    <p:animEffect transition="in" filter="wipe(left)">
                                      <p:cBhvr>
                                        <p:cTn id="42" dur="500"/>
                                        <p:tgtEl>
                                          <p:spTgt spid="41988">
                                            <p:txEl>
                                              <p:pRg st="7" end="7"/>
                                            </p:txEl>
                                          </p:spTgt>
                                        </p:tgtEl>
                                      </p:cBhvr>
                                    </p:animEffect>
                                  </p:childTnLst>
                                  <p:subTnLst>
                                    <p:audio>
                                      <p:cMediaNode>
                                        <p:cTn display="0" masterRel="sameClick">
                                          <p:stCondLst>
                                            <p:cond evt="begin" delay="0">
                                              <p:tn val="40"/>
                                            </p:cond>
                                          </p:stCondLst>
                                          <p:endCondLst>
                                            <p:cond evt="onStopAudio" delay="0">
                                              <p:tgtEl>
                                                <p:sldTgt/>
                                              </p:tgtEl>
                                            </p:cond>
                                          </p:endCondLst>
                                        </p:cTn>
                                        <p:tgtEl>
                                          <p:sndTgt r:embed="rId2" name="type.wav"/>
                                        </p:tgtEl>
                                      </p:cMediaNode>
                                    </p:audio>
                                  </p:sub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41988">
                                            <p:txEl>
                                              <p:pRg st="8" end="8"/>
                                            </p:txEl>
                                          </p:spTgt>
                                        </p:tgtEl>
                                        <p:attrNameLst>
                                          <p:attrName>style.visibility</p:attrName>
                                        </p:attrNameLst>
                                      </p:cBhvr>
                                      <p:to>
                                        <p:strVal val="visible"/>
                                      </p:to>
                                    </p:set>
                                    <p:animEffect transition="in" filter="wipe(left)">
                                      <p:cBhvr>
                                        <p:cTn id="47" dur="500"/>
                                        <p:tgtEl>
                                          <p:spTgt spid="41988">
                                            <p:txEl>
                                              <p:pRg st="8" end="8"/>
                                            </p:txEl>
                                          </p:spTgt>
                                        </p:tgtEl>
                                      </p:cBhvr>
                                    </p:animEffect>
                                  </p:childTnLst>
                                  <p:subTnLst>
                                    <p:audio>
                                      <p:cMediaNode>
                                        <p:cTn display="0" masterRel="sameClick">
                                          <p:stCondLst>
                                            <p:cond evt="begin" delay="0">
                                              <p:tn val="45"/>
                                            </p:cond>
                                          </p:stCondLst>
                                          <p:endCondLst>
                                            <p:cond evt="onStopAudio" delay="0">
                                              <p:tgtEl>
                                                <p:sldTgt/>
                                              </p:tgtEl>
                                            </p:cond>
                                          </p:endCondLst>
                                        </p:cTn>
                                        <p:tgtEl>
                                          <p:sndTgt r:embed="rId2" name="type.wav"/>
                                        </p:tgtEl>
                                      </p:cMediaNode>
                                    </p:audio>
                                  </p:sub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41988">
                                            <p:txEl>
                                              <p:pRg st="9" end="9"/>
                                            </p:txEl>
                                          </p:spTgt>
                                        </p:tgtEl>
                                        <p:attrNameLst>
                                          <p:attrName>style.visibility</p:attrName>
                                        </p:attrNameLst>
                                      </p:cBhvr>
                                      <p:to>
                                        <p:strVal val="visible"/>
                                      </p:to>
                                    </p:set>
                                    <p:animEffect transition="in" filter="wipe(left)">
                                      <p:cBhvr>
                                        <p:cTn id="52" dur="500"/>
                                        <p:tgtEl>
                                          <p:spTgt spid="41988">
                                            <p:txEl>
                                              <p:pRg st="9" end="9"/>
                                            </p:txEl>
                                          </p:spTgt>
                                        </p:tgtEl>
                                      </p:cBhvr>
                                    </p:animEffect>
                                  </p:childTnLst>
                                  <p:subTnLst>
                                    <p:audio>
                                      <p:cMediaNode>
                                        <p:cTn display="0" masterRel="sameClick">
                                          <p:stCondLst>
                                            <p:cond evt="begin" delay="0">
                                              <p:tn val="50"/>
                                            </p:cond>
                                          </p:stCondLst>
                                          <p:endCondLst>
                                            <p:cond evt="onStopAudio" delay="0">
                                              <p:tgtEl>
                                                <p:sldTgt/>
                                              </p:tgtEl>
                                            </p:cond>
                                          </p:endCondLst>
                                        </p:cTn>
                                        <p:tgtEl>
                                          <p:sndTgt r:embed="rId2" name="type.wav"/>
                                        </p:tgtEl>
                                      </p:cMediaNode>
                                    </p:audio>
                                  </p:sub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41988">
                                            <p:txEl>
                                              <p:pRg st="10" end="10"/>
                                            </p:txEl>
                                          </p:spTgt>
                                        </p:tgtEl>
                                        <p:attrNameLst>
                                          <p:attrName>style.visibility</p:attrName>
                                        </p:attrNameLst>
                                      </p:cBhvr>
                                      <p:to>
                                        <p:strVal val="visible"/>
                                      </p:to>
                                    </p:set>
                                    <p:animEffect transition="in" filter="wipe(left)">
                                      <p:cBhvr>
                                        <p:cTn id="57" dur="500"/>
                                        <p:tgtEl>
                                          <p:spTgt spid="41988">
                                            <p:txEl>
                                              <p:pRg st="10" end="10"/>
                                            </p:txEl>
                                          </p:spTgt>
                                        </p:tgtEl>
                                      </p:cBhvr>
                                    </p:animEffect>
                                  </p:childTnLst>
                                  <p:subTnLst>
                                    <p:audio>
                                      <p:cMediaNode>
                                        <p:cTn display="0" masterRel="sameClick">
                                          <p:stCondLst>
                                            <p:cond evt="begin" delay="0">
                                              <p:tn val="55"/>
                                            </p:cond>
                                          </p:stCondLst>
                                          <p:endCondLst>
                                            <p:cond evt="onStopAudio" delay="0">
                                              <p:tgtEl>
                                                <p:sldTgt/>
                                              </p:tgtEl>
                                            </p:cond>
                                          </p:endCondLst>
                                        </p:cTn>
                                        <p:tgtEl>
                                          <p:sndTgt r:embed="rId2" name="type.wav"/>
                                        </p:tgtEl>
                                      </p:cMediaNode>
                                    </p:audio>
                                  </p:subTnLst>
                                </p:cTn>
                              </p:par>
                            </p:childTnLst>
                          </p:cTn>
                        </p:par>
                      </p:childTnLst>
                    </p:cTn>
                  </p:par>
                  <p:par>
                    <p:cTn id="58" fill="hold" nodeType="clickPar">
                      <p:stCondLst>
                        <p:cond delay="indefinite"/>
                      </p:stCondLst>
                      <p:childTnLst>
                        <p:par>
                          <p:cTn id="59" fill="hold" nodeType="withGroup">
                            <p:stCondLst>
                              <p:cond delay="0"/>
                            </p:stCondLst>
                            <p:childTnLst>
                              <p:par>
                                <p:cTn id="60" presetID="22" presetClass="entr" presetSubtype="8" fill="hold" grpId="0" nodeType="clickEffect">
                                  <p:stCondLst>
                                    <p:cond delay="0"/>
                                  </p:stCondLst>
                                  <p:childTnLst>
                                    <p:set>
                                      <p:cBhvr>
                                        <p:cTn id="61" dur="1" fill="hold">
                                          <p:stCondLst>
                                            <p:cond delay="0"/>
                                          </p:stCondLst>
                                        </p:cTn>
                                        <p:tgtEl>
                                          <p:spTgt spid="41988">
                                            <p:txEl>
                                              <p:pRg st="11" end="11"/>
                                            </p:txEl>
                                          </p:spTgt>
                                        </p:tgtEl>
                                        <p:attrNameLst>
                                          <p:attrName>style.visibility</p:attrName>
                                        </p:attrNameLst>
                                      </p:cBhvr>
                                      <p:to>
                                        <p:strVal val="visible"/>
                                      </p:to>
                                    </p:set>
                                    <p:animEffect transition="in" filter="wipe(left)">
                                      <p:cBhvr>
                                        <p:cTn id="62" dur="500"/>
                                        <p:tgtEl>
                                          <p:spTgt spid="41988">
                                            <p:txEl>
                                              <p:pRg st="11" end="11"/>
                                            </p:txEl>
                                          </p:spTgt>
                                        </p:tgtEl>
                                      </p:cBhvr>
                                    </p:animEffect>
                                  </p:childTnLst>
                                  <p:subTnLst>
                                    <p:audio>
                                      <p:cMediaNode>
                                        <p:cTn display="0" masterRel="sameClick">
                                          <p:stCondLst>
                                            <p:cond evt="begin" delay="0">
                                              <p:tn val="60"/>
                                            </p:cond>
                                          </p:stCondLst>
                                          <p:endCondLst>
                                            <p:cond evt="onStopAudio" delay="0">
                                              <p:tgtEl>
                                                <p:sldTgt/>
                                              </p:tgtEl>
                                            </p:cond>
                                          </p:endCondLst>
                                        </p:cTn>
                                        <p:tgtEl>
                                          <p:sndTgt r:embed="rId2" name="type.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988" grpId="0" build="p" autoUpdateAnimBg="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a:xfrm>
            <a:off x="1981200" y="322572"/>
            <a:ext cx="8229600" cy="739775"/>
          </a:xfrm>
        </p:spPr>
        <p:txBody>
          <a:bodyPr>
            <a:normAutofit fontScale="90000"/>
          </a:bodyPr>
          <a:lstStyle/>
          <a:p>
            <a:pPr algn="ctr" eaLnBrk="1" hangingPunct="1"/>
            <a:r>
              <a:rPr lang="en-US" altLang="zh-CN" dirty="0">
                <a:solidFill>
                  <a:srgbClr val="008000"/>
                </a:solidFill>
                <a:latin typeface="黑体" pitchFamily="49" charset="-122"/>
              </a:rPr>
              <a:t> </a:t>
            </a:r>
            <a:r>
              <a:rPr lang="zh-CN" altLang="en-US" dirty="0">
                <a:solidFill>
                  <a:srgbClr val="008000"/>
                </a:solidFill>
                <a:latin typeface="黑体" pitchFamily="49" charset="-122"/>
              </a:rPr>
              <a:t>模糊集的</a:t>
            </a:r>
            <a:r>
              <a:rPr lang="zh-CN" altLang="en-US" dirty="0">
                <a:solidFill>
                  <a:srgbClr val="008000"/>
                </a:solidFill>
              </a:rPr>
              <a:t>并、交、余运算性质</a:t>
            </a:r>
          </a:p>
        </p:txBody>
      </p:sp>
      <p:sp>
        <p:nvSpPr>
          <p:cNvPr id="44035" name="Rectangle 3"/>
          <p:cNvSpPr>
            <a:spLocks noGrp="1" noChangeArrowheads="1"/>
          </p:cNvSpPr>
          <p:nvPr>
            <p:ph idx="1"/>
          </p:nvPr>
        </p:nvSpPr>
        <p:spPr>
          <a:xfrm>
            <a:off x="1055440" y="1268760"/>
            <a:ext cx="10369152" cy="5400600"/>
          </a:xfrm>
        </p:spPr>
        <p:txBody>
          <a:bodyPr>
            <a:normAutofit fontScale="92500"/>
          </a:bodyPr>
          <a:lstStyle/>
          <a:p>
            <a:pPr eaLnBrk="1" hangingPunct="1">
              <a:lnSpc>
                <a:spcPct val="110000"/>
              </a:lnSpc>
              <a:spcBef>
                <a:spcPct val="10000"/>
              </a:spcBef>
            </a:pPr>
            <a:r>
              <a:rPr lang="zh-CN" altLang="en-US" sz="3200" b="1" dirty="0">
                <a:solidFill>
                  <a:srgbClr val="FF0000"/>
                </a:solidFill>
              </a:rPr>
              <a:t>分配律</a:t>
            </a:r>
            <a:r>
              <a:rPr lang="zh-CN" altLang="en-US" sz="3200" b="1" dirty="0">
                <a:solidFill>
                  <a:srgbClr val="0000FF"/>
                </a:solidFill>
              </a:rPr>
              <a:t>：  </a:t>
            </a:r>
            <a:r>
              <a:rPr lang="zh-CN" altLang="en-US" sz="3200" b="1" dirty="0">
                <a:solidFill>
                  <a:srgbClr val="0000FF"/>
                </a:solidFill>
                <a:sym typeface="Symbol" pitchFamily="18" charset="2"/>
              </a:rPr>
              <a:t>     </a:t>
            </a:r>
            <a:r>
              <a:rPr kumimoji="1" lang="en-US" altLang="zh-CN" sz="3200" b="1" dirty="0">
                <a:solidFill>
                  <a:srgbClr val="3333FF"/>
                </a:solidFill>
                <a:sym typeface="Symbol" pitchFamily="18" charset="2"/>
              </a:rPr>
              <a:t>(</a:t>
            </a:r>
            <a:r>
              <a:rPr kumimoji="1" lang="en-US" altLang="zh-CN" sz="3200" b="1" i="1" dirty="0">
                <a:solidFill>
                  <a:srgbClr val="3333FF"/>
                </a:solidFill>
              </a:rPr>
              <a:t>A</a:t>
            </a:r>
            <a:r>
              <a:rPr kumimoji="1" lang="en-US" altLang="zh-CN" sz="3200" b="1" dirty="0">
                <a:solidFill>
                  <a:srgbClr val="3333FF"/>
                </a:solidFill>
                <a:sym typeface="Symbol"/>
              </a:rPr>
              <a:t></a:t>
            </a:r>
            <a:r>
              <a:rPr kumimoji="1" lang="en-US" altLang="zh-CN" sz="3200" b="1" i="1" dirty="0">
                <a:solidFill>
                  <a:srgbClr val="3333FF"/>
                </a:solidFill>
                <a:sym typeface="Symbol" pitchFamily="18" charset="2"/>
              </a:rPr>
              <a:t>B</a:t>
            </a:r>
            <a:r>
              <a:rPr kumimoji="1" lang="en-US" altLang="zh-CN" sz="3200" b="1" dirty="0">
                <a:solidFill>
                  <a:srgbClr val="3333FF"/>
                </a:solidFill>
                <a:sym typeface="Symbol" pitchFamily="18" charset="2"/>
              </a:rPr>
              <a:t>)</a:t>
            </a:r>
            <a:r>
              <a:rPr kumimoji="1" lang="en-US" altLang="zh-CN" sz="3200" b="1" dirty="0">
                <a:solidFill>
                  <a:srgbClr val="3333FF"/>
                </a:solidFill>
                <a:sym typeface="Symbol"/>
              </a:rPr>
              <a:t>  </a:t>
            </a:r>
            <a:r>
              <a:rPr kumimoji="1" lang="en-US" altLang="zh-CN" sz="3200" b="1" i="1" dirty="0">
                <a:solidFill>
                  <a:srgbClr val="3333FF"/>
                </a:solidFill>
                <a:sym typeface="Symbol" pitchFamily="18" charset="2"/>
              </a:rPr>
              <a:t>C</a:t>
            </a:r>
            <a:r>
              <a:rPr kumimoji="1" lang="en-US" altLang="zh-CN" sz="3200" b="1" dirty="0">
                <a:solidFill>
                  <a:srgbClr val="3333FF"/>
                </a:solidFill>
                <a:sym typeface="Symbol" pitchFamily="18" charset="2"/>
              </a:rPr>
              <a:t> = (</a:t>
            </a:r>
            <a:r>
              <a:rPr kumimoji="1" lang="en-US" altLang="zh-CN" sz="3200" b="1" i="1" dirty="0">
                <a:solidFill>
                  <a:srgbClr val="3333FF"/>
                </a:solidFill>
                <a:sym typeface="Symbol" pitchFamily="18" charset="2"/>
              </a:rPr>
              <a:t>A</a:t>
            </a:r>
            <a:r>
              <a:rPr kumimoji="1" lang="en-US" altLang="zh-CN" sz="3200" b="1" dirty="0">
                <a:solidFill>
                  <a:srgbClr val="3333FF"/>
                </a:solidFill>
                <a:sym typeface="Symbol"/>
              </a:rPr>
              <a:t>  </a:t>
            </a:r>
            <a:r>
              <a:rPr kumimoji="1" lang="en-US" altLang="zh-CN" sz="3200" b="1" i="1" dirty="0">
                <a:solidFill>
                  <a:srgbClr val="3333FF"/>
                </a:solidFill>
                <a:sym typeface="Symbol" pitchFamily="18" charset="2"/>
              </a:rPr>
              <a:t>C</a:t>
            </a:r>
            <a:r>
              <a:rPr kumimoji="1" lang="en-US" altLang="zh-CN" sz="3200" b="1" dirty="0">
                <a:solidFill>
                  <a:srgbClr val="3333FF"/>
                </a:solidFill>
                <a:sym typeface="Symbol" pitchFamily="18" charset="2"/>
              </a:rPr>
              <a:t>)</a:t>
            </a:r>
            <a:r>
              <a:rPr kumimoji="1" lang="en-US" altLang="zh-CN" sz="3200" b="1" dirty="0">
                <a:solidFill>
                  <a:srgbClr val="3333FF"/>
                </a:solidFill>
                <a:sym typeface="Symbol"/>
              </a:rPr>
              <a:t>  </a:t>
            </a:r>
            <a:r>
              <a:rPr kumimoji="1" lang="en-US" altLang="zh-CN" sz="3200" b="1" dirty="0">
                <a:solidFill>
                  <a:srgbClr val="3333FF"/>
                </a:solidFill>
                <a:sym typeface="Symbol" pitchFamily="18" charset="2"/>
              </a:rPr>
              <a:t>(</a:t>
            </a:r>
            <a:r>
              <a:rPr kumimoji="1" lang="en-US" altLang="zh-CN" sz="3200" b="1" i="1" dirty="0">
                <a:solidFill>
                  <a:srgbClr val="3333FF"/>
                </a:solidFill>
                <a:sym typeface="Symbol" pitchFamily="18" charset="2"/>
              </a:rPr>
              <a:t>B</a:t>
            </a:r>
            <a:r>
              <a:rPr kumimoji="1" lang="en-US" altLang="zh-CN" sz="3200" b="1" dirty="0">
                <a:solidFill>
                  <a:srgbClr val="3333FF"/>
                </a:solidFill>
                <a:sym typeface="Symbol"/>
              </a:rPr>
              <a:t>  </a:t>
            </a:r>
            <a:r>
              <a:rPr kumimoji="1" lang="en-US" altLang="zh-CN" sz="3200" b="1" i="1" dirty="0">
                <a:solidFill>
                  <a:srgbClr val="3333FF"/>
                </a:solidFill>
                <a:sym typeface="Symbol" pitchFamily="18" charset="2"/>
              </a:rPr>
              <a:t>C</a:t>
            </a:r>
            <a:r>
              <a:rPr kumimoji="1" lang="en-US" altLang="zh-CN" sz="3200" b="1" dirty="0">
                <a:solidFill>
                  <a:srgbClr val="3333FF"/>
                </a:solidFill>
                <a:sym typeface="Symbol" pitchFamily="18" charset="2"/>
              </a:rPr>
              <a:t>)</a:t>
            </a:r>
            <a:endParaRPr lang="en-US" altLang="zh-CN" sz="3200" b="1" dirty="0">
              <a:solidFill>
                <a:srgbClr val="3333FF"/>
              </a:solidFill>
              <a:sym typeface="Symbol" pitchFamily="18" charset="2"/>
            </a:endParaRPr>
          </a:p>
          <a:p>
            <a:pPr marL="0" indent="0" eaLnBrk="1" hangingPunct="1">
              <a:lnSpc>
                <a:spcPct val="110000"/>
              </a:lnSpc>
              <a:spcBef>
                <a:spcPct val="10000"/>
              </a:spcBef>
              <a:buNone/>
            </a:pPr>
            <a:r>
              <a:rPr kumimoji="1" lang="zh-CN" altLang="en-US" b="1" dirty="0"/>
              <a:t>    只需证明</a:t>
            </a:r>
            <a:r>
              <a:rPr kumimoji="1" lang="en-US" altLang="zh-CN" b="1" dirty="0"/>
              <a:t>: </a:t>
            </a:r>
            <a:r>
              <a:rPr kumimoji="1" lang="zh-CN" altLang="en-US" b="1" dirty="0">
                <a:sym typeface="Symbol" panose="05050102010706020507" pitchFamily="18" charset="2"/>
              </a:rPr>
              <a:t></a:t>
            </a:r>
            <a:r>
              <a:rPr kumimoji="1" lang="en-US" altLang="zh-CN" b="1" i="1" dirty="0" err="1">
                <a:sym typeface="Symbol" panose="05050102010706020507" pitchFamily="18" charset="2"/>
              </a:rPr>
              <a:t>x</a:t>
            </a:r>
            <a:r>
              <a:rPr kumimoji="1" lang="en-US" altLang="zh-CN" b="1" dirty="0" err="1">
                <a:sym typeface="Symbol" panose="05050102010706020507" pitchFamily="18" charset="2"/>
              </a:rPr>
              <a:t></a:t>
            </a:r>
            <a:r>
              <a:rPr kumimoji="1" lang="en-US" altLang="zh-CN" b="1" i="1" dirty="0" err="1">
                <a:sym typeface="Symbol" panose="05050102010706020507" pitchFamily="18" charset="2"/>
              </a:rPr>
              <a:t>U</a:t>
            </a:r>
            <a:r>
              <a:rPr kumimoji="1" lang="en-US" altLang="zh-CN" b="1" dirty="0">
                <a:sym typeface="Symbol" panose="05050102010706020507" pitchFamily="18" charset="2"/>
              </a:rPr>
              <a:t>,    </a:t>
            </a:r>
          </a:p>
          <a:p>
            <a:pPr marL="0" indent="0" eaLnBrk="1" hangingPunct="1">
              <a:lnSpc>
                <a:spcPct val="110000"/>
              </a:lnSpc>
              <a:spcBef>
                <a:spcPct val="10000"/>
              </a:spcBef>
              <a:buNone/>
            </a:pPr>
            <a:r>
              <a:rPr kumimoji="1" lang="en-US" altLang="zh-CN" b="1" dirty="0">
                <a:sym typeface="Symbol" panose="05050102010706020507" pitchFamily="18" charset="2"/>
              </a:rPr>
              <a:t>               </a:t>
            </a:r>
            <a:r>
              <a:rPr kumimoji="1" lang="en-US" altLang="zh-CN" b="1" dirty="0">
                <a:solidFill>
                  <a:srgbClr val="008000"/>
                </a:solidFill>
                <a:sym typeface="Symbol" panose="05050102010706020507" pitchFamily="18" charset="2"/>
              </a:rPr>
              <a:t>(</a:t>
            </a:r>
            <a:r>
              <a:rPr kumimoji="1" lang="en-US" altLang="zh-CN" b="1" i="1" dirty="0">
                <a:solidFill>
                  <a:srgbClr val="008000"/>
                </a:solidFill>
              </a:rPr>
              <a:t>A</a:t>
            </a:r>
            <a:r>
              <a:rPr kumimoji="1" lang="en-US" altLang="zh-CN" b="1" dirty="0">
                <a:solidFill>
                  <a:srgbClr val="008000"/>
                </a:solidFill>
              </a:rPr>
              <a:t>(</a:t>
            </a:r>
            <a:r>
              <a:rPr kumimoji="1" lang="en-US" altLang="zh-CN" b="1" i="1" dirty="0">
                <a:solidFill>
                  <a:srgbClr val="008000"/>
                </a:solidFill>
              </a:rPr>
              <a:t>x</a:t>
            </a:r>
            <a:r>
              <a:rPr kumimoji="1" lang="en-US" altLang="zh-CN" b="1" dirty="0">
                <a:solidFill>
                  <a:srgbClr val="008000"/>
                </a:solidFill>
              </a:rPr>
              <a:t>)</a:t>
            </a:r>
            <a:r>
              <a:rPr kumimoji="1" lang="en-US" altLang="zh-CN" b="1" dirty="0">
                <a:solidFill>
                  <a:srgbClr val="008000"/>
                </a:solidFill>
                <a:sym typeface="Symbol" panose="05050102010706020507" pitchFamily="18" charset="2"/>
              </a:rPr>
              <a:t></a:t>
            </a:r>
            <a:r>
              <a:rPr kumimoji="1" lang="en-US" altLang="zh-CN" b="1" i="1" dirty="0">
                <a:solidFill>
                  <a:srgbClr val="008000"/>
                </a:solidFill>
                <a:sym typeface="Symbol" pitchFamily="18" charset="2"/>
              </a:rPr>
              <a:t>B</a:t>
            </a:r>
            <a:r>
              <a:rPr kumimoji="1" lang="en-US" altLang="zh-CN" b="1" dirty="0">
                <a:solidFill>
                  <a:srgbClr val="008000"/>
                </a:solidFill>
              </a:rPr>
              <a:t>(</a:t>
            </a:r>
            <a:r>
              <a:rPr kumimoji="1" lang="en-US" altLang="zh-CN" b="1" i="1" dirty="0">
                <a:solidFill>
                  <a:srgbClr val="008000"/>
                </a:solidFill>
              </a:rPr>
              <a:t>x</a:t>
            </a:r>
            <a:r>
              <a:rPr kumimoji="1" lang="en-US" altLang="zh-CN" b="1" dirty="0">
                <a:solidFill>
                  <a:srgbClr val="008000"/>
                </a:solidFill>
              </a:rPr>
              <a:t>)</a:t>
            </a:r>
            <a:r>
              <a:rPr kumimoji="1" lang="en-US" altLang="zh-CN" b="1" dirty="0">
                <a:solidFill>
                  <a:srgbClr val="008000"/>
                </a:solidFill>
                <a:sym typeface="Symbol" pitchFamily="18" charset="2"/>
              </a:rPr>
              <a:t>)</a:t>
            </a:r>
            <a:r>
              <a:rPr kumimoji="1" lang="en-US" altLang="zh-CN" b="1" i="1" dirty="0">
                <a:solidFill>
                  <a:srgbClr val="008000"/>
                </a:solidFill>
                <a:sym typeface="Symbol" pitchFamily="18" charset="2"/>
              </a:rPr>
              <a:t>C</a:t>
            </a:r>
            <a:r>
              <a:rPr kumimoji="1" lang="en-US" altLang="zh-CN" b="1" dirty="0">
                <a:solidFill>
                  <a:srgbClr val="008000"/>
                </a:solidFill>
              </a:rPr>
              <a:t>(</a:t>
            </a:r>
            <a:r>
              <a:rPr kumimoji="1" lang="en-US" altLang="zh-CN" b="1" i="1" dirty="0">
                <a:solidFill>
                  <a:srgbClr val="008000"/>
                </a:solidFill>
              </a:rPr>
              <a:t>x</a:t>
            </a:r>
            <a:r>
              <a:rPr kumimoji="1" lang="en-US" altLang="zh-CN" b="1" dirty="0">
                <a:solidFill>
                  <a:srgbClr val="008000"/>
                </a:solidFill>
              </a:rPr>
              <a:t>)</a:t>
            </a:r>
            <a:r>
              <a:rPr kumimoji="1" lang="en-US" altLang="zh-CN" b="1" dirty="0">
                <a:solidFill>
                  <a:srgbClr val="008000"/>
                </a:solidFill>
                <a:sym typeface="Symbol" pitchFamily="18" charset="2"/>
              </a:rPr>
              <a:t>=(</a:t>
            </a:r>
            <a:r>
              <a:rPr kumimoji="1" lang="en-US" altLang="zh-CN" b="1" i="1" dirty="0">
                <a:solidFill>
                  <a:srgbClr val="008000"/>
                </a:solidFill>
                <a:sym typeface="Symbol" pitchFamily="18" charset="2"/>
              </a:rPr>
              <a:t>A</a:t>
            </a:r>
            <a:r>
              <a:rPr kumimoji="1" lang="en-US" altLang="zh-CN" b="1" dirty="0">
                <a:solidFill>
                  <a:srgbClr val="008000"/>
                </a:solidFill>
              </a:rPr>
              <a:t>(</a:t>
            </a:r>
            <a:r>
              <a:rPr kumimoji="1" lang="en-US" altLang="zh-CN" b="1" i="1" dirty="0">
                <a:solidFill>
                  <a:srgbClr val="008000"/>
                </a:solidFill>
              </a:rPr>
              <a:t>x</a:t>
            </a:r>
            <a:r>
              <a:rPr kumimoji="1" lang="en-US" altLang="zh-CN" b="1" dirty="0">
                <a:solidFill>
                  <a:srgbClr val="008000"/>
                </a:solidFill>
              </a:rPr>
              <a:t>)</a:t>
            </a:r>
            <a:r>
              <a:rPr kumimoji="1" lang="en-US" altLang="zh-CN" b="1" dirty="0">
                <a:solidFill>
                  <a:srgbClr val="008000"/>
                </a:solidFill>
                <a:sym typeface="Symbol" pitchFamily="18" charset="2"/>
              </a:rPr>
              <a:t></a:t>
            </a:r>
            <a:r>
              <a:rPr kumimoji="1" lang="en-US" altLang="zh-CN" b="1" i="1" dirty="0">
                <a:solidFill>
                  <a:srgbClr val="008000"/>
                </a:solidFill>
                <a:sym typeface="Symbol" pitchFamily="18" charset="2"/>
              </a:rPr>
              <a:t>C</a:t>
            </a:r>
            <a:r>
              <a:rPr kumimoji="1" lang="en-US" altLang="zh-CN" b="1" dirty="0">
                <a:solidFill>
                  <a:srgbClr val="008000"/>
                </a:solidFill>
              </a:rPr>
              <a:t>(</a:t>
            </a:r>
            <a:r>
              <a:rPr kumimoji="1" lang="en-US" altLang="zh-CN" b="1" i="1" dirty="0">
                <a:solidFill>
                  <a:srgbClr val="008000"/>
                </a:solidFill>
              </a:rPr>
              <a:t>x</a:t>
            </a:r>
            <a:r>
              <a:rPr kumimoji="1" lang="en-US" altLang="zh-CN" b="1" dirty="0">
                <a:solidFill>
                  <a:srgbClr val="008000"/>
                </a:solidFill>
              </a:rPr>
              <a:t>)</a:t>
            </a:r>
            <a:r>
              <a:rPr kumimoji="1" lang="en-US" altLang="zh-CN" b="1" dirty="0">
                <a:solidFill>
                  <a:srgbClr val="008000"/>
                </a:solidFill>
                <a:sym typeface="Symbol" pitchFamily="18" charset="2"/>
              </a:rPr>
              <a:t>)(</a:t>
            </a:r>
            <a:r>
              <a:rPr kumimoji="1" lang="en-US" altLang="zh-CN" b="1" i="1" dirty="0">
                <a:solidFill>
                  <a:srgbClr val="008000"/>
                </a:solidFill>
                <a:sym typeface="Symbol" pitchFamily="18" charset="2"/>
              </a:rPr>
              <a:t>B</a:t>
            </a:r>
            <a:r>
              <a:rPr kumimoji="1" lang="en-US" altLang="zh-CN" b="1" dirty="0">
                <a:solidFill>
                  <a:srgbClr val="008000"/>
                </a:solidFill>
              </a:rPr>
              <a:t>(</a:t>
            </a:r>
            <a:r>
              <a:rPr kumimoji="1" lang="en-US" altLang="zh-CN" b="1" i="1" dirty="0">
                <a:solidFill>
                  <a:srgbClr val="008000"/>
                </a:solidFill>
              </a:rPr>
              <a:t>x</a:t>
            </a:r>
            <a:r>
              <a:rPr kumimoji="1" lang="en-US" altLang="zh-CN" b="1" dirty="0">
                <a:solidFill>
                  <a:srgbClr val="008000"/>
                </a:solidFill>
              </a:rPr>
              <a:t>)</a:t>
            </a:r>
            <a:r>
              <a:rPr kumimoji="1" lang="en-US" altLang="zh-CN" b="1" dirty="0">
                <a:solidFill>
                  <a:srgbClr val="008000"/>
                </a:solidFill>
                <a:sym typeface="Symbol" pitchFamily="18" charset="2"/>
              </a:rPr>
              <a:t></a:t>
            </a:r>
            <a:r>
              <a:rPr kumimoji="1" lang="en-US" altLang="zh-CN" b="1" i="1" dirty="0">
                <a:solidFill>
                  <a:srgbClr val="008000"/>
                </a:solidFill>
                <a:sym typeface="Symbol" pitchFamily="18" charset="2"/>
              </a:rPr>
              <a:t>C</a:t>
            </a:r>
            <a:r>
              <a:rPr kumimoji="1" lang="en-US" altLang="zh-CN" b="1" dirty="0">
                <a:solidFill>
                  <a:srgbClr val="008000"/>
                </a:solidFill>
              </a:rPr>
              <a:t>(</a:t>
            </a:r>
            <a:r>
              <a:rPr kumimoji="1" lang="en-US" altLang="zh-CN" b="1" i="1" dirty="0">
                <a:solidFill>
                  <a:srgbClr val="008000"/>
                </a:solidFill>
              </a:rPr>
              <a:t>x</a:t>
            </a:r>
            <a:r>
              <a:rPr kumimoji="1" lang="en-US" altLang="zh-CN" b="1" dirty="0">
                <a:solidFill>
                  <a:srgbClr val="008000"/>
                </a:solidFill>
              </a:rPr>
              <a:t>)</a:t>
            </a:r>
            <a:r>
              <a:rPr kumimoji="1" lang="en-US" altLang="zh-CN" b="1" dirty="0">
                <a:solidFill>
                  <a:srgbClr val="008000"/>
                </a:solidFill>
                <a:sym typeface="Symbol" pitchFamily="18" charset="2"/>
              </a:rPr>
              <a:t>)</a:t>
            </a:r>
            <a:endParaRPr kumimoji="1" lang="en-US" altLang="zh-CN" b="1" dirty="0">
              <a:solidFill>
                <a:srgbClr val="008000"/>
              </a:solidFill>
            </a:endParaRPr>
          </a:p>
          <a:p>
            <a:pPr eaLnBrk="1" hangingPunct="1">
              <a:lnSpc>
                <a:spcPct val="110000"/>
              </a:lnSpc>
              <a:spcBef>
                <a:spcPct val="10000"/>
              </a:spcBef>
            </a:pPr>
            <a:r>
              <a:rPr kumimoji="1" lang="zh-CN" altLang="en-US" sz="3200" b="1" dirty="0">
                <a:solidFill>
                  <a:srgbClr val="CC00FF"/>
                </a:solidFill>
              </a:rPr>
              <a:t>证明</a:t>
            </a:r>
            <a:r>
              <a:rPr kumimoji="1" lang="zh-CN" altLang="en-US" sz="3200" b="1" dirty="0"/>
              <a:t>：</a:t>
            </a:r>
            <a:r>
              <a:rPr kumimoji="1" lang="zh-CN" altLang="en-US" b="1" dirty="0">
                <a:sym typeface="Symbol" panose="05050102010706020507" pitchFamily="18" charset="2"/>
              </a:rPr>
              <a:t></a:t>
            </a:r>
            <a:r>
              <a:rPr kumimoji="1" lang="en-US" altLang="zh-CN" b="1" dirty="0" err="1">
                <a:sym typeface="Symbol" panose="05050102010706020507" pitchFamily="18" charset="2"/>
              </a:rPr>
              <a:t>x</a:t>
            </a:r>
            <a:r>
              <a:rPr kumimoji="1" lang="en-US" altLang="zh-CN" b="1" i="1" dirty="0" err="1">
                <a:sym typeface="Symbol" panose="05050102010706020507" pitchFamily="18" charset="2"/>
              </a:rPr>
              <a:t>U</a:t>
            </a:r>
            <a:r>
              <a:rPr kumimoji="1" lang="en-US" altLang="zh-CN" b="1" dirty="0">
                <a:sym typeface="Symbol" panose="05050102010706020507" pitchFamily="18" charset="2"/>
              </a:rPr>
              <a:t>,</a:t>
            </a:r>
            <a:r>
              <a:rPr kumimoji="1" lang="en-US" altLang="zh-CN" b="1" i="1" dirty="0"/>
              <a:t> A</a:t>
            </a:r>
            <a:r>
              <a:rPr kumimoji="1" lang="en-US" altLang="zh-CN" b="1" dirty="0"/>
              <a:t>(</a:t>
            </a:r>
            <a:r>
              <a:rPr kumimoji="1" lang="en-US" altLang="zh-CN" b="1" i="1" dirty="0"/>
              <a:t>x</a:t>
            </a:r>
            <a:r>
              <a:rPr kumimoji="1" lang="en-US" altLang="zh-CN" b="1" dirty="0"/>
              <a:t>)</a:t>
            </a:r>
            <a:r>
              <a:rPr kumimoji="1" lang="zh-CN" altLang="en-US" b="1" dirty="0">
                <a:sym typeface="Symbol" panose="05050102010706020507" pitchFamily="18" charset="2"/>
              </a:rPr>
              <a:t>、</a:t>
            </a:r>
            <a:r>
              <a:rPr kumimoji="1" lang="en-US" altLang="zh-CN" b="1" i="1" dirty="0">
                <a:sym typeface="Symbol" pitchFamily="18" charset="2"/>
              </a:rPr>
              <a:t>B</a:t>
            </a:r>
            <a:r>
              <a:rPr kumimoji="1" lang="en-US" altLang="zh-CN" b="1" dirty="0"/>
              <a:t>(</a:t>
            </a:r>
            <a:r>
              <a:rPr kumimoji="1" lang="en-US" altLang="zh-CN" b="1" i="1" dirty="0"/>
              <a:t>x</a:t>
            </a:r>
            <a:r>
              <a:rPr kumimoji="1" lang="en-US" altLang="zh-CN" b="1" dirty="0"/>
              <a:t>)</a:t>
            </a:r>
            <a:r>
              <a:rPr kumimoji="1" lang="zh-CN" altLang="en-US" b="1" dirty="0">
                <a:sym typeface="Symbol" pitchFamily="18" charset="2"/>
              </a:rPr>
              <a:t>、</a:t>
            </a:r>
            <a:r>
              <a:rPr kumimoji="1" lang="en-US" altLang="zh-CN" b="1" i="1" dirty="0">
                <a:sym typeface="Symbol" pitchFamily="18" charset="2"/>
              </a:rPr>
              <a:t>C</a:t>
            </a:r>
            <a:r>
              <a:rPr kumimoji="1" lang="en-US" altLang="zh-CN" b="1" dirty="0"/>
              <a:t>(</a:t>
            </a:r>
            <a:r>
              <a:rPr kumimoji="1" lang="en-US" altLang="zh-CN" b="1" i="1" dirty="0"/>
              <a:t>x</a:t>
            </a:r>
            <a:r>
              <a:rPr kumimoji="1" lang="en-US" altLang="zh-CN" b="1" dirty="0"/>
              <a:t>)</a:t>
            </a:r>
            <a:r>
              <a:rPr kumimoji="1" lang="zh-CN" altLang="en-US" b="1" dirty="0">
                <a:sym typeface="Symbol" pitchFamily="18" charset="2"/>
              </a:rPr>
              <a:t>之间有</a:t>
            </a:r>
            <a:r>
              <a:rPr kumimoji="1" lang="en-US" altLang="zh-CN" b="1" dirty="0">
                <a:sym typeface="Symbol" pitchFamily="18" charset="2"/>
              </a:rPr>
              <a:t>6</a:t>
            </a:r>
            <a:r>
              <a:rPr kumimoji="1" lang="zh-CN" altLang="en-US" b="1" dirty="0">
                <a:sym typeface="Symbol" pitchFamily="18" charset="2"/>
              </a:rPr>
              <a:t>种可能大小关系：</a:t>
            </a:r>
            <a:endParaRPr kumimoji="1" lang="en-US" altLang="zh-CN" b="1" dirty="0">
              <a:sym typeface="Symbol" pitchFamily="18" charset="2"/>
            </a:endParaRPr>
          </a:p>
          <a:p>
            <a:pPr marL="400050" lvl="1" indent="0" eaLnBrk="1" hangingPunct="1">
              <a:lnSpc>
                <a:spcPct val="110000"/>
              </a:lnSpc>
              <a:spcBef>
                <a:spcPct val="10000"/>
              </a:spcBef>
              <a:buNone/>
            </a:pPr>
            <a:r>
              <a:rPr kumimoji="1" lang="en-US" altLang="zh-CN" sz="2800" b="1" dirty="0"/>
              <a:t>              ① </a:t>
            </a:r>
            <a:r>
              <a:rPr kumimoji="1" lang="en-US" altLang="zh-CN" sz="2800" b="1" i="1" dirty="0"/>
              <a:t>A</a:t>
            </a:r>
            <a:r>
              <a:rPr kumimoji="1" lang="en-US" altLang="zh-CN" sz="2800" b="1" dirty="0"/>
              <a:t>(</a:t>
            </a:r>
            <a:r>
              <a:rPr kumimoji="1" lang="en-US" altLang="zh-CN" sz="2800" b="1" i="1" dirty="0"/>
              <a:t>x</a:t>
            </a:r>
            <a:r>
              <a:rPr kumimoji="1" lang="en-US" altLang="zh-CN" sz="2800" b="1" dirty="0"/>
              <a:t>)</a:t>
            </a:r>
            <a:r>
              <a:rPr kumimoji="1" lang="zh-CN" altLang="en-US" sz="2800" b="1" dirty="0">
                <a:sym typeface="Symbol" panose="05050102010706020507" pitchFamily="18" charset="2"/>
              </a:rPr>
              <a:t></a:t>
            </a:r>
            <a:r>
              <a:rPr kumimoji="1" lang="en-US" altLang="zh-CN" sz="2800" b="1" i="1" dirty="0">
                <a:sym typeface="Symbol" pitchFamily="18" charset="2"/>
              </a:rPr>
              <a:t>B</a:t>
            </a:r>
            <a:r>
              <a:rPr kumimoji="1" lang="en-US" altLang="zh-CN" sz="2800" b="1" dirty="0"/>
              <a:t>(</a:t>
            </a:r>
            <a:r>
              <a:rPr kumimoji="1" lang="en-US" altLang="zh-CN" sz="2800" b="1" i="1" dirty="0"/>
              <a:t>x</a:t>
            </a:r>
            <a:r>
              <a:rPr kumimoji="1" lang="en-US" altLang="zh-CN" sz="2800" b="1" dirty="0"/>
              <a:t>)</a:t>
            </a:r>
            <a:r>
              <a:rPr kumimoji="1" lang="zh-CN" altLang="en-US" sz="2800" b="1" dirty="0">
                <a:sym typeface="Symbol" panose="05050102010706020507" pitchFamily="18" charset="2"/>
              </a:rPr>
              <a:t></a:t>
            </a:r>
            <a:r>
              <a:rPr kumimoji="1" lang="en-US" altLang="zh-CN" sz="2800" b="1" i="1" dirty="0">
                <a:sym typeface="Symbol" pitchFamily="18" charset="2"/>
              </a:rPr>
              <a:t>C</a:t>
            </a:r>
            <a:r>
              <a:rPr kumimoji="1" lang="en-US" altLang="zh-CN" sz="2800" b="1" dirty="0"/>
              <a:t>(</a:t>
            </a:r>
            <a:r>
              <a:rPr kumimoji="1" lang="en-US" altLang="zh-CN" sz="2800" b="1" i="1" dirty="0"/>
              <a:t>x</a:t>
            </a:r>
            <a:r>
              <a:rPr kumimoji="1" lang="en-US" altLang="zh-CN" sz="2800" b="1" dirty="0"/>
              <a:t>)             </a:t>
            </a:r>
            <a:r>
              <a:rPr kumimoji="1" lang="en-US" altLang="zh-CN" b="1" dirty="0"/>
              <a:t>④ </a:t>
            </a:r>
            <a:r>
              <a:rPr kumimoji="1" lang="en-US" altLang="zh-CN" sz="2800" b="1" i="1" dirty="0"/>
              <a:t>A</a:t>
            </a:r>
            <a:r>
              <a:rPr kumimoji="1" lang="en-US" altLang="zh-CN" sz="2800" b="1" dirty="0"/>
              <a:t>(</a:t>
            </a:r>
            <a:r>
              <a:rPr kumimoji="1" lang="en-US" altLang="zh-CN" sz="2800" b="1" i="1" dirty="0"/>
              <a:t>x</a:t>
            </a:r>
            <a:r>
              <a:rPr kumimoji="1" lang="en-US" altLang="zh-CN" sz="2800" b="1" dirty="0"/>
              <a:t>)</a:t>
            </a:r>
            <a:r>
              <a:rPr kumimoji="1" lang="zh-CN" altLang="en-US" sz="2800" b="1" dirty="0">
                <a:sym typeface="Symbol" panose="05050102010706020507" pitchFamily="18" charset="2"/>
              </a:rPr>
              <a:t></a:t>
            </a:r>
            <a:r>
              <a:rPr kumimoji="1" lang="en-US" altLang="zh-CN" sz="2800" b="1" i="1" dirty="0">
                <a:sym typeface="Symbol" pitchFamily="18" charset="2"/>
              </a:rPr>
              <a:t>C</a:t>
            </a:r>
            <a:r>
              <a:rPr kumimoji="1" lang="en-US" altLang="zh-CN" sz="2800" b="1" dirty="0"/>
              <a:t>(</a:t>
            </a:r>
            <a:r>
              <a:rPr kumimoji="1" lang="en-US" altLang="zh-CN" sz="2800" b="1" i="1" dirty="0"/>
              <a:t>x</a:t>
            </a:r>
            <a:r>
              <a:rPr kumimoji="1" lang="en-US" altLang="zh-CN" sz="2800" b="1" dirty="0"/>
              <a:t>)</a:t>
            </a:r>
            <a:r>
              <a:rPr kumimoji="1" lang="zh-CN" altLang="en-US" sz="2800" b="1" dirty="0">
                <a:sym typeface="Symbol" panose="05050102010706020507" pitchFamily="18" charset="2"/>
              </a:rPr>
              <a:t></a:t>
            </a:r>
            <a:r>
              <a:rPr kumimoji="1" lang="en-US" altLang="zh-CN" sz="2800" b="1" i="1" dirty="0">
                <a:sym typeface="Symbol" pitchFamily="18" charset="2"/>
              </a:rPr>
              <a:t>B</a:t>
            </a:r>
            <a:r>
              <a:rPr kumimoji="1" lang="en-US" altLang="zh-CN" sz="2800" b="1" dirty="0"/>
              <a:t>(</a:t>
            </a:r>
            <a:r>
              <a:rPr kumimoji="1" lang="en-US" altLang="zh-CN" sz="2800" b="1" i="1" dirty="0"/>
              <a:t>x</a:t>
            </a:r>
            <a:r>
              <a:rPr kumimoji="1" lang="en-US" altLang="zh-CN" sz="2800" b="1" dirty="0"/>
              <a:t>)   </a:t>
            </a:r>
            <a:endParaRPr kumimoji="1" lang="zh-CN" altLang="en-US" sz="2800" b="1" dirty="0"/>
          </a:p>
          <a:p>
            <a:pPr marL="400050" lvl="1" indent="0" eaLnBrk="1" hangingPunct="1">
              <a:lnSpc>
                <a:spcPct val="110000"/>
              </a:lnSpc>
              <a:spcBef>
                <a:spcPct val="10000"/>
              </a:spcBef>
              <a:buNone/>
            </a:pPr>
            <a:r>
              <a:rPr kumimoji="1" lang="en-US" altLang="zh-CN" sz="2800" b="1" dirty="0"/>
              <a:t>              </a:t>
            </a:r>
            <a:r>
              <a:rPr kumimoji="1" lang="en-US" altLang="zh-CN" b="1" dirty="0"/>
              <a:t>②</a:t>
            </a:r>
            <a:r>
              <a:rPr kumimoji="1" lang="en-US" altLang="zh-CN" sz="2800" b="1" dirty="0"/>
              <a:t> </a:t>
            </a:r>
            <a:r>
              <a:rPr kumimoji="1" lang="en-US" altLang="zh-CN" sz="2800" b="1" i="1" dirty="0"/>
              <a:t>B</a:t>
            </a:r>
            <a:r>
              <a:rPr kumimoji="1" lang="en-US" altLang="zh-CN" sz="2800" b="1" dirty="0"/>
              <a:t>(</a:t>
            </a:r>
            <a:r>
              <a:rPr kumimoji="1" lang="en-US" altLang="zh-CN" sz="2800" b="1" i="1" dirty="0"/>
              <a:t>x</a:t>
            </a:r>
            <a:r>
              <a:rPr kumimoji="1" lang="en-US" altLang="zh-CN" sz="2800" b="1" dirty="0"/>
              <a:t>)</a:t>
            </a:r>
            <a:r>
              <a:rPr kumimoji="1" lang="zh-CN" altLang="en-US" sz="2800" b="1" dirty="0">
                <a:sym typeface="Symbol" panose="05050102010706020507" pitchFamily="18" charset="2"/>
              </a:rPr>
              <a:t></a:t>
            </a:r>
            <a:r>
              <a:rPr kumimoji="1" lang="en-US" altLang="zh-CN" sz="2800" b="1" i="1" dirty="0">
                <a:sym typeface="Symbol" pitchFamily="18" charset="2"/>
              </a:rPr>
              <a:t>A</a:t>
            </a:r>
            <a:r>
              <a:rPr kumimoji="1" lang="en-US" altLang="zh-CN" sz="2800" b="1" dirty="0"/>
              <a:t>(</a:t>
            </a:r>
            <a:r>
              <a:rPr kumimoji="1" lang="en-US" altLang="zh-CN" sz="2800" b="1" i="1" dirty="0"/>
              <a:t>x</a:t>
            </a:r>
            <a:r>
              <a:rPr kumimoji="1" lang="en-US" altLang="zh-CN" sz="2800" b="1" dirty="0"/>
              <a:t>)</a:t>
            </a:r>
            <a:r>
              <a:rPr kumimoji="1" lang="zh-CN" altLang="en-US" sz="2800" b="1" dirty="0">
                <a:sym typeface="Symbol" panose="05050102010706020507" pitchFamily="18" charset="2"/>
              </a:rPr>
              <a:t></a:t>
            </a:r>
            <a:r>
              <a:rPr kumimoji="1" lang="en-US" altLang="zh-CN" sz="2800" b="1" i="1" dirty="0">
                <a:sym typeface="Symbol" pitchFamily="18" charset="2"/>
              </a:rPr>
              <a:t>C</a:t>
            </a:r>
            <a:r>
              <a:rPr kumimoji="1" lang="en-US" altLang="zh-CN" sz="2800" b="1" dirty="0"/>
              <a:t>(</a:t>
            </a:r>
            <a:r>
              <a:rPr kumimoji="1" lang="en-US" altLang="zh-CN" sz="2800" b="1" i="1" dirty="0"/>
              <a:t>x</a:t>
            </a:r>
            <a:r>
              <a:rPr kumimoji="1" lang="en-US" altLang="zh-CN" sz="2800" b="1" dirty="0"/>
              <a:t>)             </a:t>
            </a:r>
            <a:r>
              <a:rPr kumimoji="1" lang="en-US" altLang="zh-CN" b="1" dirty="0"/>
              <a:t>⑤</a:t>
            </a:r>
            <a:r>
              <a:rPr kumimoji="1" lang="en-US" altLang="zh-CN" sz="2800" b="1" dirty="0"/>
              <a:t> </a:t>
            </a:r>
            <a:r>
              <a:rPr kumimoji="1" lang="en-US" altLang="zh-CN" sz="2800" b="1" i="1" dirty="0"/>
              <a:t>B</a:t>
            </a:r>
            <a:r>
              <a:rPr kumimoji="1" lang="en-US" altLang="zh-CN" sz="2800" b="1" dirty="0"/>
              <a:t>(</a:t>
            </a:r>
            <a:r>
              <a:rPr kumimoji="1" lang="en-US" altLang="zh-CN" sz="2800" b="1" i="1" dirty="0"/>
              <a:t>x</a:t>
            </a:r>
            <a:r>
              <a:rPr kumimoji="1" lang="en-US" altLang="zh-CN" sz="2800" b="1" dirty="0"/>
              <a:t>)</a:t>
            </a:r>
            <a:r>
              <a:rPr kumimoji="1" lang="zh-CN" altLang="en-US" sz="2800" b="1" dirty="0">
                <a:sym typeface="Symbol" panose="05050102010706020507" pitchFamily="18" charset="2"/>
              </a:rPr>
              <a:t></a:t>
            </a:r>
            <a:r>
              <a:rPr kumimoji="1" lang="en-US" altLang="zh-CN" sz="2800" b="1" i="1" dirty="0">
                <a:sym typeface="Symbol" pitchFamily="18" charset="2"/>
              </a:rPr>
              <a:t>C</a:t>
            </a:r>
            <a:r>
              <a:rPr kumimoji="1" lang="en-US" altLang="zh-CN" sz="2800" b="1" dirty="0"/>
              <a:t>(</a:t>
            </a:r>
            <a:r>
              <a:rPr kumimoji="1" lang="en-US" altLang="zh-CN" sz="2800" b="1" i="1" dirty="0"/>
              <a:t>x</a:t>
            </a:r>
            <a:r>
              <a:rPr kumimoji="1" lang="en-US" altLang="zh-CN" sz="2800" b="1" dirty="0"/>
              <a:t>)</a:t>
            </a:r>
            <a:r>
              <a:rPr kumimoji="1" lang="zh-CN" altLang="en-US" sz="2800" b="1" dirty="0">
                <a:sym typeface="Symbol" panose="05050102010706020507" pitchFamily="18" charset="2"/>
              </a:rPr>
              <a:t></a:t>
            </a:r>
            <a:r>
              <a:rPr kumimoji="1" lang="en-US" altLang="zh-CN" sz="2800" b="1" i="1" dirty="0">
                <a:sym typeface="Symbol" pitchFamily="18" charset="2"/>
              </a:rPr>
              <a:t>A</a:t>
            </a:r>
            <a:r>
              <a:rPr kumimoji="1" lang="en-US" altLang="zh-CN" sz="2800" b="1" dirty="0"/>
              <a:t>(</a:t>
            </a:r>
            <a:r>
              <a:rPr kumimoji="1" lang="en-US" altLang="zh-CN" sz="2800" b="1" i="1" dirty="0"/>
              <a:t>x</a:t>
            </a:r>
            <a:r>
              <a:rPr kumimoji="1" lang="en-US" altLang="zh-CN" sz="2800" b="1" dirty="0"/>
              <a:t>) </a:t>
            </a:r>
          </a:p>
          <a:p>
            <a:pPr marL="400050" lvl="1" indent="0" eaLnBrk="1" hangingPunct="1">
              <a:lnSpc>
                <a:spcPct val="110000"/>
              </a:lnSpc>
              <a:spcBef>
                <a:spcPct val="10000"/>
              </a:spcBef>
              <a:buNone/>
            </a:pPr>
            <a:r>
              <a:rPr kumimoji="1" lang="en-US" altLang="zh-CN" sz="2800" b="1" dirty="0"/>
              <a:t>              </a:t>
            </a:r>
            <a:r>
              <a:rPr kumimoji="1" lang="en-US" altLang="zh-CN" b="1" dirty="0"/>
              <a:t>③</a:t>
            </a:r>
            <a:r>
              <a:rPr kumimoji="1" lang="en-US" altLang="zh-CN" sz="2800" b="1" dirty="0"/>
              <a:t> </a:t>
            </a:r>
            <a:r>
              <a:rPr kumimoji="1" lang="en-US" altLang="zh-CN" sz="2800" b="1" i="1" dirty="0"/>
              <a:t>C</a:t>
            </a:r>
            <a:r>
              <a:rPr kumimoji="1" lang="en-US" altLang="zh-CN" sz="2800" b="1" dirty="0"/>
              <a:t>(</a:t>
            </a:r>
            <a:r>
              <a:rPr kumimoji="1" lang="en-US" altLang="zh-CN" sz="2800" b="1" i="1" dirty="0"/>
              <a:t>x</a:t>
            </a:r>
            <a:r>
              <a:rPr kumimoji="1" lang="en-US" altLang="zh-CN" sz="2800" b="1" dirty="0"/>
              <a:t>)</a:t>
            </a:r>
            <a:r>
              <a:rPr kumimoji="1" lang="zh-CN" altLang="en-US" sz="2800" b="1" dirty="0">
                <a:sym typeface="Symbol" panose="05050102010706020507" pitchFamily="18" charset="2"/>
              </a:rPr>
              <a:t></a:t>
            </a:r>
            <a:r>
              <a:rPr kumimoji="1" lang="en-US" altLang="zh-CN" sz="2800" b="1" i="1" dirty="0">
                <a:sym typeface="Symbol" pitchFamily="18" charset="2"/>
              </a:rPr>
              <a:t>A</a:t>
            </a:r>
            <a:r>
              <a:rPr kumimoji="1" lang="en-US" altLang="zh-CN" sz="2800" b="1" dirty="0"/>
              <a:t>(</a:t>
            </a:r>
            <a:r>
              <a:rPr kumimoji="1" lang="en-US" altLang="zh-CN" sz="2800" b="1" i="1" dirty="0"/>
              <a:t>x</a:t>
            </a:r>
            <a:r>
              <a:rPr kumimoji="1" lang="en-US" altLang="zh-CN" sz="2800" b="1" dirty="0"/>
              <a:t>)</a:t>
            </a:r>
            <a:r>
              <a:rPr kumimoji="1" lang="zh-CN" altLang="en-US" sz="2800" b="1" dirty="0">
                <a:sym typeface="Symbol" panose="05050102010706020507" pitchFamily="18" charset="2"/>
              </a:rPr>
              <a:t></a:t>
            </a:r>
            <a:r>
              <a:rPr kumimoji="1" lang="en-US" altLang="zh-CN" sz="2800" b="1" i="1" dirty="0">
                <a:sym typeface="Symbol" pitchFamily="18" charset="2"/>
              </a:rPr>
              <a:t>C</a:t>
            </a:r>
            <a:r>
              <a:rPr kumimoji="1" lang="en-US" altLang="zh-CN" sz="2800" b="1" dirty="0"/>
              <a:t>(</a:t>
            </a:r>
            <a:r>
              <a:rPr kumimoji="1" lang="en-US" altLang="zh-CN" sz="2800" b="1" i="1" dirty="0"/>
              <a:t>x</a:t>
            </a:r>
            <a:r>
              <a:rPr kumimoji="1" lang="en-US" altLang="zh-CN" sz="2800" b="1" dirty="0"/>
              <a:t>)             ⑥ </a:t>
            </a:r>
            <a:r>
              <a:rPr kumimoji="1" lang="en-US" altLang="zh-CN" sz="2800" b="1" i="1" dirty="0"/>
              <a:t>C</a:t>
            </a:r>
            <a:r>
              <a:rPr kumimoji="1" lang="en-US" altLang="zh-CN" sz="2800" b="1" dirty="0"/>
              <a:t>(</a:t>
            </a:r>
            <a:r>
              <a:rPr kumimoji="1" lang="en-US" altLang="zh-CN" sz="2800" b="1" i="1" dirty="0"/>
              <a:t>x</a:t>
            </a:r>
            <a:r>
              <a:rPr kumimoji="1" lang="en-US" altLang="zh-CN" sz="2800" b="1" dirty="0"/>
              <a:t>)</a:t>
            </a:r>
            <a:r>
              <a:rPr kumimoji="1" lang="zh-CN" altLang="en-US" sz="2800" b="1" dirty="0">
                <a:sym typeface="Symbol" panose="05050102010706020507" pitchFamily="18" charset="2"/>
              </a:rPr>
              <a:t></a:t>
            </a:r>
            <a:r>
              <a:rPr kumimoji="1" lang="en-US" altLang="zh-CN" sz="2800" b="1" i="1" dirty="0">
                <a:sym typeface="Symbol" pitchFamily="18" charset="2"/>
              </a:rPr>
              <a:t>B</a:t>
            </a:r>
            <a:r>
              <a:rPr kumimoji="1" lang="en-US" altLang="zh-CN" sz="2800" b="1" dirty="0"/>
              <a:t>(</a:t>
            </a:r>
            <a:r>
              <a:rPr kumimoji="1" lang="en-US" altLang="zh-CN" sz="2800" b="1" i="1" dirty="0"/>
              <a:t>x</a:t>
            </a:r>
            <a:r>
              <a:rPr kumimoji="1" lang="en-US" altLang="zh-CN" sz="2800" b="1" dirty="0"/>
              <a:t>)</a:t>
            </a:r>
            <a:r>
              <a:rPr kumimoji="1" lang="zh-CN" altLang="en-US" sz="2800" b="1" dirty="0">
                <a:sym typeface="Symbol" panose="05050102010706020507" pitchFamily="18" charset="2"/>
              </a:rPr>
              <a:t></a:t>
            </a:r>
            <a:r>
              <a:rPr kumimoji="1" lang="en-US" altLang="zh-CN" sz="2800" b="1" i="1" dirty="0">
                <a:sym typeface="Symbol" pitchFamily="18" charset="2"/>
              </a:rPr>
              <a:t>A</a:t>
            </a:r>
            <a:r>
              <a:rPr kumimoji="1" lang="en-US" altLang="zh-CN" sz="2800" b="1" dirty="0"/>
              <a:t>(</a:t>
            </a:r>
            <a:r>
              <a:rPr kumimoji="1" lang="en-US" altLang="zh-CN" sz="2800" b="1" i="1" dirty="0"/>
              <a:t>x</a:t>
            </a:r>
            <a:r>
              <a:rPr kumimoji="1" lang="en-US" altLang="zh-CN" sz="2800" b="1" dirty="0"/>
              <a:t>)   </a:t>
            </a:r>
            <a:endParaRPr kumimoji="1" lang="zh-CN" altLang="en-US" sz="2800" b="1" dirty="0"/>
          </a:p>
          <a:p>
            <a:pPr eaLnBrk="1" hangingPunct="1">
              <a:lnSpc>
                <a:spcPct val="110000"/>
              </a:lnSpc>
              <a:buNone/>
            </a:pPr>
            <a:r>
              <a:rPr kumimoji="1" lang="zh-CN" altLang="en-US" b="1" dirty="0">
                <a:sym typeface="Symbol" pitchFamily="18" charset="2"/>
              </a:rPr>
              <a:t>          </a:t>
            </a:r>
            <a:r>
              <a:rPr kumimoji="1" lang="zh-CN" altLang="en-US" sz="2800" b="1" dirty="0">
                <a:sym typeface="Symbol" pitchFamily="18" charset="2"/>
              </a:rPr>
              <a:t>对于</a:t>
            </a:r>
            <a:r>
              <a:rPr kumimoji="1" lang="en-US" altLang="zh-CN" sz="2800" b="1" dirty="0"/>
              <a:t>①: </a:t>
            </a:r>
            <a:r>
              <a:rPr kumimoji="1" lang="en-US" altLang="zh-CN" sz="2800" b="1" dirty="0">
                <a:sym typeface="Symbol" pitchFamily="18" charset="2"/>
              </a:rPr>
              <a:t>(</a:t>
            </a:r>
            <a:r>
              <a:rPr kumimoji="1" lang="en-US" altLang="zh-CN" sz="2800" b="1" i="1" dirty="0"/>
              <a:t>A</a:t>
            </a:r>
            <a:r>
              <a:rPr kumimoji="1" lang="en-US" altLang="zh-CN" sz="2800" b="1" dirty="0"/>
              <a:t>(</a:t>
            </a:r>
            <a:r>
              <a:rPr kumimoji="1" lang="en-US" altLang="zh-CN" sz="2800" b="1" i="1" dirty="0"/>
              <a:t>x</a:t>
            </a:r>
            <a:r>
              <a:rPr kumimoji="1" lang="en-US" altLang="zh-CN" sz="2800" b="1" dirty="0"/>
              <a:t>)</a:t>
            </a:r>
            <a:r>
              <a:rPr kumimoji="1" lang="en-US" altLang="zh-CN" sz="2800" b="1" dirty="0">
                <a:sym typeface="Symbol" panose="05050102010706020507" pitchFamily="18" charset="2"/>
              </a:rPr>
              <a:t></a:t>
            </a:r>
            <a:r>
              <a:rPr kumimoji="1" lang="en-US" altLang="zh-CN" sz="2800" b="1" i="1" dirty="0">
                <a:sym typeface="Symbol" pitchFamily="18" charset="2"/>
              </a:rPr>
              <a:t>B</a:t>
            </a:r>
            <a:r>
              <a:rPr kumimoji="1" lang="en-US" altLang="zh-CN" sz="2800" b="1" dirty="0"/>
              <a:t>(</a:t>
            </a:r>
            <a:r>
              <a:rPr kumimoji="1" lang="en-US" altLang="zh-CN" sz="2800" b="1" i="1" dirty="0"/>
              <a:t>x</a:t>
            </a:r>
            <a:r>
              <a:rPr kumimoji="1" lang="en-US" altLang="zh-CN" sz="2800" b="1" dirty="0"/>
              <a:t>)</a:t>
            </a:r>
            <a:r>
              <a:rPr kumimoji="1" lang="en-US" altLang="zh-CN" sz="2800" b="1" dirty="0">
                <a:sym typeface="Symbol" pitchFamily="18" charset="2"/>
              </a:rPr>
              <a:t>)</a:t>
            </a:r>
            <a:r>
              <a:rPr kumimoji="1" lang="en-US" altLang="zh-CN" sz="2800" b="1" i="1" dirty="0">
                <a:sym typeface="Symbol" pitchFamily="18" charset="2"/>
              </a:rPr>
              <a:t>C</a:t>
            </a:r>
            <a:r>
              <a:rPr kumimoji="1" lang="en-US" altLang="zh-CN" sz="2800" b="1" dirty="0"/>
              <a:t>(</a:t>
            </a:r>
            <a:r>
              <a:rPr kumimoji="1" lang="en-US" altLang="zh-CN" sz="2800" b="1" i="1" dirty="0"/>
              <a:t>x</a:t>
            </a:r>
            <a:r>
              <a:rPr kumimoji="1" lang="en-US" altLang="zh-CN" sz="2800" b="1" dirty="0"/>
              <a:t>)</a:t>
            </a:r>
          </a:p>
          <a:p>
            <a:pPr eaLnBrk="1" hangingPunct="1">
              <a:lnSpc>
                <a:spcPct val="110000"/>
              </a:lnSpc>
              <a:buNone/>
            </a:pPr>
            <a:r>
              <a:rPr kumimoji="1" lang="en-US" altLang="zh-CN" sz="2800" b="1" dirty="0">
                <a:sym typeface="Symbol" pitchFamily="18" charset="2"/>
              </a:rPr>
              <a:t>                         (</a:t>
            </a:r>
            <a:r>
              <a:rPr kumimoji="1" lang="en-US" altLang="zh-CN" sz="2800" b="1" i="1" dirty="0">
                <a:sym typeface="Symbol" pitchFamily="18" charset="2"/>
              </a:rPr>
              <a:t>A</a:t>
            </a:r>
            <a:r>
              <a:rPr kumimoji="1" lang="en-US" altLang="zh-CN" sz="2800" b="1" dirty="0"/>
              <a:t>(</a:t>
            </a:r>
            <a:r>
              <a:rPr kumimoji="1" lang="en-US" altLang="zh-CN" sz="2800" b="1" i="1" dirty="0"/>
              <a:t>x</a:t>
            </a:r>
            <a:r>
              <a:rPr kumimoji="1" lang="en-US" altLang="zh-CN" sz="2800" b="1" dirty="0"/>
              <a:t>)</a:t>
            </a:r>
            <a:r>
              <a:rPr kumimoji="1" lang="en-US" altLang="zh-CN" sz="2800" b="1" dirty="0">
                <a:sym typeface="Symbol" pitchFamily="18" charset="2"/>
              </a:rPr>
              <a:t></a:t>
            </a:r>
            <a:r>
              <a:rPr kumimoji="1" lang="en-US" altLang="zh-CN" sz="2800" b="1" i="1" dirty="0">
                <a:sym typeface="Symbol" pitchFamily="18" charset="2"/>
              </a:rPr>
              <a:t>C</a:t>
            </a:r>
            <a:r>
              <a:rPr kumimoji="1" lang="en-US" altLang="zh-CN" sz="2800" b="1" dirty="0"/>
              <a:t>(</a:t>
            </a:r>
            <a:r>
              <a:rPr kumimoji="1" lang="en-US" altLang="zh-CN" sz="2800" b="1" i="1" dirty="0"/>
              <a:t>x</a:t>
            </a:r>
            <a:r>
              <a:rPr kumimoji="1" lang="en-US" altLang="zh-CN" sz="2800" b="1" dirty="0"/>
              <a:t>)</a:t>
            </a:r>
            <a:r>
              <a:rPr kumimoji="1" lang="en-US" altLang="zh-CN" sz="2800" b="1" dirty="0">
                <a:sym typeface="Symbol" pitchFamily="18" charset="2"/>
              </a:rPr>
              <a:t>)(</a:t>
            </a:r>
            <a:r>
              <a:rPr kumimoji="1" lang="en-US" altLang="zh-CN" sz="2800" b="1" i="1" dirty="0">
                <a:sym typeface="Symbol" pitchFamily="18" charset="2"/>
              </a:rPr>
              <a:t>B</a:t>
            </a:r>
            <a:r>
              <a:rPr kumimoji="1" lang="en-US" altLang="zh-CN" sz="2800" b="1" dirty="0"/>
              <a:t>(</a:t>
            </a:r>
            <a:r>
              <a:rPr kumimoji="1" lang="en-US" altLang="zh-CN" sz="2800" b="1" i="1" dirty="0"/>
              <a:t>x</a:t>
            </a:r>
            <a:r>
              <a:rPr kumimoji="1" lang="en-US" altLang="zh-CN" sz="2800" b="1" dirty="0"/>
              <a:t>)</a:t>
            </a:r>
            <a:r>
              <a:rPr kumimoji="1" lang="en-US" altLang="zh-CN" sz="2800" b="1" dirty="0">
                <a:sym typeface="Symbol" pitchFamily="18" charset="2"/>
              </a:rPr>
              <a:t></a:t>
            </a:r>
            <a:r>
              <a:rPr kumimoji="1" lang="en-US" altLang="zh-CN" sz="2800" b="1" i="1" dirty="0">
                <a:sym typeface="Symbol" pitchFamily="18" charset="2"/>
              </a:rPr>
              <a:t>C</a:t>
            </a:r>
            <a:r>
              <a:rPr kumimoji="1" lang="en-US" altLang="zh-CN" sz="2800" b="1" dirty="0"/>
              <a:t>(</a:t>
            </a:r>
            <a:r>
              <a:rPr kumimoji="1" lang="en-US" altLang="zh-CN" sz="2800" b="1" i="1" dirty="0"/>
              <a:t>x</a:t>
            </a:r>
            <a:r>
              <a:rPr kumimoji="1" lang="en-US" altLang="zh-CN" sz="2800" b="1" dirty="0"/>
              <a:t>)</a:t>
            </a:r>
            <a:r>
              <a:rPr kumimoji="1" lang="en-US" altLang="zh-CN" sz="2800" b="1" dirty="0">
                <a:sym typeface="Symbol" pitchFamily="18" charset="2"/>
              </a:rPr>
              <a:t>)</a:t>
            </a:r>
            <a:endParaRPr kumimoji="1" lang="en-US" altLang="zh-CN" sz="2800" b="1" dirty="0"/>
          </a:p>
          <a:p>
            <a:pPr eaLnBrk="1" hangingPunct="1">
              <a:lnSpc>
                <a:spcPct val="110000"/>
              </a:lnSpc>
              <a:buNone/>
            </a:pPr>
            <a:r>
              <a:rPr kumimoji="1" lang="zh-CN" altLang="en-US" sz="3200" b="1" dirty="0"/>
              <a:t>         即对</a:t>
            </a:r>
            <a:r>
              <a:rPr kumimoji="1" lang="en-US" altLang="zh-CN" sz="3200" b="1" dirty="0"/>
              <a:t>①</a:t>
            </a:r>
            <a:r>
              <a:rPr kumimoji="1" lang="zh-CN" altLang="en-US" sz="3200" b="1" dirty="0"/>
              <a:t>结论正确，类似地证明其他</a:t>
            </a:r>
            <a:r>
              <a:rPr kumimoji="1" lang="en-US" altLang="zh-CN" sz="3200" b="1" dirty="0"/>
              <a:t>5</a:t>
            </a:r>
            <a:r>
              <a:rPr kumimoji="1" lang="zh-CN" altLang="en-US" sz="3200" b="1" dirty="0"/>
              <a:t>种情况结论正确。</a:t>
            </a:r>
            <a:endParaRPr kumimoji="1" lang="en-US" altLang="zh-CN" sz="3200" b="1" dirty="0"/>
          </a:p>
        </p:txBody>
      </p:sp>
      <p:sp>
        <p:nvSpPr>
          <p:cNvPr id="5" name="文本框 4">
            <a:extLst>
              <a:ext uri="{FF2B5EF4-FFF2-40B4-BE49-F238E27FC236}">
                <a16:creationId xmlns:a16="http://schemas.microsoft.com/office/drawing/2014/main" id="{8E791B59-B229-B517-DA3E-D8498D7C3299}"/>
              </a:ext>
            </a:extLst>
          </p:cNvPr>
          <p:cNvSpPr txBox="1"/>
          <p:nvPr/>
        </p:nvSpPr>
        <p:spPr>
          <a:xfrm>
            <a:off x="5879976" y="4983501"/>
            <a:ext cx="3096344" cy="523220"/>
          </a:xfrm>
          <a:prstGeom prst="rect">
            <a:avLst/>
          </a:prstGeom>
          <a:noFill/>
        </p:spPr>
        <p:txBody>
          <a:bodyPr wrap="square">
            <a:spAutoFit/>
          </a:bodyPr>
          <a:lstStyle/>
          <a:p>
            <a:r>
              <a:rPr kumimoji="1" lang="en-US" altLang="zh-CN" sz="2800" b="1" dirty="0">
                <a:sym typeface="Symbol" pitchFamily="18" charset="2"/>
              </a:rPr>
              <a:t>=</a:t>
            </a:r>
            <a:r>
              <a:rPr kumimoji="1" lang="en-US" altLang="zh-CN" sz="2800" b="1" i="1" dirty="0">
                <a:sym typeface="Symbol" pitchFamily="18" charset="2"/>
              </a:rPr>
              <a:t>B</a:t>
            </a:r>
            <a:r>
              <a:rPr kumimoji="1" lang="en-US" altLang="zh-CN" sz="2800" b="1" dirty="0"/>
              <a:t>(</a:t>
            </a:r>
            <a:r>
              <a:rPr kumimoji="1" lang="en-US" altLang="zh-CN" sz="2800" b="1" i="1" dirty="0"/>
              <a:t>x</a:t>
            </a:r>
            <a:r>
              <a:rPr kumimoji="1" lang="en-US" altLang="zh-CN" sz="2800" b="1" dirty="0"/>
              <a:t>)</a:t>
            </a:r>
            <a:r>
              <a:rPr kumimoji="1" lang="en-US" altLang="zh-CN" sz="2800" b="1" dirty="0">
                <a:sym typeface="Symbol" pitchFamily="18" charset="2"/>
              </a:rPr>
              <a:t></a:t>
            </a:r>
            <a:r>
              <a:rPr kumimoji="1" lang="en-US" altLang="zh-CN" sz="2800" b="1" i="1" dirty="0">
                <a:sym typeface="Symbol" pitchFamily="18" charset="2"/>
              </a:rPr>
              <a:t>C</a:t>
            </a:r>
            <a:r>
              <a:rPr kumimoji="1" lang="en-US" altLang="zh-CN" sz="2800" b="1" dirty="0"/>
              <a:t>(</a:t>
            </a:r>
            <a:r>
              <a:rPr kumimoji="1" lang="en-US" altLang="zh-CN" sz="2800" b="1" i="1" dirty="0"/>
              <a:t>x</a:t>
            </a:r>
            <a:r>
              <a:rPr kumimoji="1" lang="en-US" altLang="zh-CN" sz="2800" b="1" dirty="0"/>
              <a:t>)</a:t>
            </a:r>
            <a:endParaRPr lang="zh-CN" altLang="en-US" sz="2800" dirty="0"/>
          </a:p>
        </p:txBody>
      </p:sp>
      <p:sp>
        <p:nvSpPr>
          <p:cNvPr id="7" name="文本框 6">
            <a:extLst>
              <a:ext uri="{FF2B5EF4-FFF2-40B4-BE49-F238E27FC236}">
                <a16:creationId xmlns:a16="http://schemas.microsoft.com/office/drawing/2014/main" id="{7A243669-EF1E-AC0E-0437-B8259491C76C}"/>
              </a:ext>
            </a:extLst>
          </p:cNvPr>
          <p:cNvSpPr txBox="1"/>
          <p:nvPr/>
        </p:nvSpPr>
        <p:spPr>
          <a:xfrm>
            <a:off x="6974755" y="5498068"/>
            <a:ext cx="2395331" cy="523220"/>
          </a:xfrm>
          <a:prstGeom prst="rect">
            <a:avLst/>
          </a:prstGeom>
          <a:noFill/>
        </p:spPr>
        <p:txBody>
          <a:bodyPr wrap="square">
            <a:spAutoFit/>
          </a:bodyPr>
          <a:lstStyle/>
          <a:p>
            <a:r>
              <a:rPr kumimoji="1" lang="en-US" altLang="zh-CN" sz="2800" b="1" dirty="0">
                <a:sym typeface="Symbol" pitchFamily="18" charset="2"/>
              </a:rPr>
              <a:t>=</a:t>
            </a:r>
            <a:r>
              <a:rPr kumimoji="1" lang="en-US" altLang="zh-CN" sz="2800" b="1" i="1" dirty="0"/>
              <a:t>A</a:t>
            </a:r>
            <a:r>
              <a:rPr kumimoji="1" lang="en-US" altLang="zh-CN" sz="2800" b="1" dirty="0"/>
              <a:t>(</a:t>
            </a:r>
            <a:r>
              <a:rPr kumimoji="1" lang="en-US" altLang="zh-CN" sz="2800" b="1" i="1" dirty="0"/>
              <a:t>x</a:t>
            </a:r>
            <a:r>
              <a:rPr kumimoji="1" lang="en-US" altLang="zh-CN" sz="2800" b="1" dirty="0"/>
              <a:t>)</a:t>
            </a:r>
            <a:r>
              <a:rPr kumimoji="1" lang="en-US" altLang="zh-CN" sz="2800" b="1" dirty="0">
                <a:sym typeface="Symbol" panose="05050102010706020507" pitchFamily="18" charset="2"/>
              </a:rPr>
              <a:t></a:t>
            </a:r>
            <a:r>
              <a:rPr kumimoji="1" lang="en-US" altLang="zh-CN" sz="2800" b="1" i="1" dirty="0">
                <a:sym typeface="Symbol" pitchFamily="18" charset="2"/>
              </a:rPr>
              <a:t>B</a:t>
            </a:r>
            <a:r>
              <a:rPr kumimoji="1" lang="en-US" altLang="zh-CN" sz="2800" b="1" dirty="0"/>
              <a:t>(</a:t>
            </a:r>
            <a:r>
              <a:rPr kumimoji="1" lang="en-US" altLang="zh-CN" sz="2800" b="1" i="1" dirty="0"/>
              <a:t>x</a:t>
            </a:r>
            <a:r>
              <a:rPr kumimoji="1" lang="en-US" altLang="zh-CN" sz="2800" b="1" dirty="0"/>
              <a:t>)</a:t>
            </a:r>
            <a:endParaRPr lang="zh-CN" altLang="en-US" sz="2800" dirty="0"/>
          </a:p>
        </p:txBody>
      </p:sp>
      <p:cxnSp>
        <p:nvCxnSpPr>
          <p:cNvPr id="3" name="直接连接符 2">
            <a:extLst>
              <a:ext uri="{FF2B5EF4-FFF2-40B4-BE49-F238E27FC236}">
                <a16:creationId xmlns:a16="http://schemas.microsoft.com/office/drawing/2014/main" id="{491EBD3F-A135-D541-09EB-AD8525A2552A}"/>
              </a:ext>
            </a:extLst>
          </p:cNvPr>
          <p:cNvCxnSpPr/>
          <p:nvPr/>
        </p:nvCxnSpPr>
        <p:spPr>
          <a:xfrm>
            <a:off x="3287688" y="3933056"/>
            <a:ext cx="2160240" cy="0"/>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sp>
        <p:nvSpPr>
          <p:cNvPr id="6" name="文本框 5">
            <a:extLst>
              <a:ext uri="{FF2B5EF4-FFF2-40B4-BE49-F238E27FC236}">
                <a16:creationId xmlns:a16="http://schemas.microsoft.com/office/drawing/2014/main" id="{A1A9CC56-5CA8-AE1E-4248-CF94FF2D1F92}"/>
              </a:ext>
            </a:extLst>
          </p:cNvPr>
          <p:cNvSpPr txBox="1"/>
          <p:nvPr/>
        </p:nvSpPr>
        <p:spPr>
          <a:xfrm>
            <a:off x="7691676" y="4994012"/>
            <a:ext cx="1678410" cy="523220"/>
          </a:xfrm>
          <a:prstGeom prst="rect">
            <a:avLst/>
          </a:prstGeom>
          <a:noFill/>
        </p:spPr>
        <p:txBody>
          <a:bodyPr wrap="square">
            <a:spAutoFit/>
          </a:bodyPr>
          <a:lstStyle/>
          <a:p>
            <a:r>
              <a:rPr kumimoji="1" lang="en-US" altLang="zh-CN" sz="2800" b="1" dirty="0"/>
              <a:t>=</a:t>
            </a:r>
            <a:r>
              <a:rPr kumimoji="1" lang="en-US" altLang="zh-CN" sz="2800" b="1" i="1" dirty="0">
                <a:sym typeface="Symbol" pitchFamily="18" charset="2"/>
              </a:rPr>
              <a:t>B</a:t>
            </a:r>
            <a:r>
              <a:rPr kumimoji="1" lang="en-US" altLang="zh-CN" sz="2800" b="1" dirty="0"/>
              <a:t>(</a:t>
            </a:r>
            <a:r>
              <a:rPr kumimoji="1" lang="en-US" altLang="zh-CN" sz="2800" b="1" i="1" dirty="0"/>
              <a:t>x</a:t>
            </a:r>
            <a:r>
              <a:rPr kumimoji="1" lang="en-US" altLang="zh-CN" sz="2800" b="1" dirty="0"/>
              <a:t>)</a:t>
            </a:r>
            <a:endParaRPr lang="zh-CN" altLang="en-US" sz="2800" dirty="0"/>
          </a:p>
        </p:txBody>
      </p:sp>
      <p:sp>
        <p:nvSpPr>
          <p:cNvPr id="8" name="文本框 7">
            <a:extLst>
              <a:ext uri="{FF2B5EF4-FFF2-40B4-BE49-F238E27FC236}">
                <a16:creationId xmlns:a16="http://schemas.microsoft.com/office/drawing/2014/main" id="{07B14AC5-5757-72D3-2DF8-1133B0F07989}"/>
              </a:ext>
            </a:extLst>
          </p:cNvPr>
          <p:cNvSpPr txBox="1"/>
          <p:nvPr/>
        </p:nvSpPr>
        <p:spPr>
          <a:xfrm>
            <a:off x="8832304" y="5498068"/>
            <a:ext cx="1678410" cy="523220"/>
          </a:xfrm>
          <a:prstGeom prst="rect">
            <a:avLst/>
          </a:prstGeom>
          <a:noFill/>
        </p:spPr>
        <p:txBody>
          <a:bodyPr wrap="square">
            <a:spAutoFit/>
          </a:bodyPr>
          <a:lstStyle/>
          <a:p>
            <a:r>
              <a:rPr kumimoji="1" lang="en-US" altLang="zh-CN" sz="2800" b="1" dirty="0"/>
              <a:t>=</a:t>
            </a:r>
            <a:r>
              <a:rPr kumimoji="1" lang="en-US" altLang="zh-CN" sz="2800" b="1" i="1" dirty="0">
                <a:sym typeface="Symbol" pitchFamily="18" charset="2"/>
              </a:rPr>
              <a:t>B</a:t>
            </a:r>
            <a:r>
              <a:rPr kumimoji="1" lang="en-US" altLang="zh-CN" sz="2800" b="1" dirty="0"/>
              <a:t>(</a:t>
            </a:r>
            <a:r>
              <a:rPr kumimoji="1" lang="en-US" altLang="zh-CN" sz="2800" b="1" i="1" dirty="0"/>
              <a:t>x</a:t>
            </a:r>
            <a:r>
              <a:rPr kumimoji="1" lang="en-US" altLang="zh-CN" sz="2800" b="1" dirty="0"/>
              <a:t>)</a:t>
            </a:r>
            <a:endParaRPr lang="zh-CN" altLang="en-US" sz="2800"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4035">
                                            <p:txEl>
                                              <p:pRg st="0" end="0"/>
                                            </p:txEl>
                                          </p:spTgt>
                                        </p:tgtEl>
                                        <p:attrNameLst>
                                          <p:attrName>style.visibility</p:attrName>
                                        </p:attrNameLst>
                                      </p:cBhvr>
                                      <p:to>
                                        <p:strVal val="visible"/>
                                      </p:to>
                                    </p:set>
                                    <p:animEffect transition="in" filter="wipe(left)">
                                      <p:cBhvr>
                                        <p:cTn id="7" dur="500"/>
                                        <p:tgtEl>
                                          <p:spTgt spid="4403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4035">
                                            <p:txEl>
                                              <p:pRg st="1" end="1"/>
                                            </p:txEl>
                                          </p:spTgt>
                                        </p:tgtEl>
                                        <p:attrNameLst>
                                          <p:attrName>style.visibility</p:attrName>
                                        </p:attrNameLst>
                                      </p:cBhvr>
                                      <p:to>
                                        <p:strVal val="visible"/>
                                      </p:to>
                                    </p:set>
                                    <p:animEffect transition="in" filter="wipe(left)">
                                      <p:cBhvr>
                                        <p:cTn id="12" dur="500"/>
                                        <p:tgtEl>
                                          <p:spTgt spid="4403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44035">
                                            <p:txEl>
                                              <p:pRg st="2" end="2"/>
                                            </p:txEl>
                                          </p:spTgt>
                                        </p:tgtEl>
                                        <p:attrNameLst>
                                          <p:attrName>style.visibility</p:attrName>
                                        </p:attrNameLst>
                                      </p:cBhvr>
                                      <p:to>
                                        <p:strVal val="visible"/>
                                      </p:to>
                                    </p:set>
                                    <p:animEffect transition="in" filter="wipe(left)">
                                      <p:cBhvr>
                                        <p:cTn id="17" dur="500"/>
                                        <p:tgtEl>
                                          <p:spTgt spid="4403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44035">
                                            <p:txEl>
                                              <p:pRg st="3" end="3"/>
                                            </p:txEl>
                                          </p:spTgt>
                                        </p:tgtEl>
                                        <p:attrNameLst>
                                          <p:attrName>style.visibility</p:attrName>
                                        </p:attrNameLst>
                                      </p:cBhvr>
                                      <p:to>
                                        <p:strVal val="visible"/>
                                      </p:to>
                                    </p:set>
                                    <p:animEffect transition="in" filter="wipe(left)">
                                      <p:cBhvr>
                                        <p:cTn id="22" dur="500"/>
                                        <p:tgtEl>
                                          <p:spTgt spid="4403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44035">
                                            <p:txEl>
                                              <p:pRg st="4" end="4"/>
                                            </p:txEl>
                                          </p:spTgt>
                                        </p:tgtEl>
                                        <p:attrNameLst>
                                          <p:attrName>style.visibility</p:attrName>
                                        </p:attrNameLst>
                                      </p:cBhvr>
                                      <p:to>
                                        <p:strVal val="visible"/>
                                      </p:to>
                                    </p:set>
                                    <p:animEffect transition="in" filter="wipe(left)">
                                      <p:cBhvr>
                                        <p:cTn id="27" dur="1000"/>
                                        <p:tgtEl>
                                          <p:spTgt spid="44035">
                                            <p:txEl>
                                              <p:pRg st="4" end="4"/>
                                            </p:txEl>
                                          </p:spTgt>
                                        </p:tgtEl>
                                      </p:cBhvr>
                                    </p:animEffect>
                                  </p:childTnLst>
                                </p:cTn>
                              </p:par>
                              <p:par>
                                <p:cTn id="28" presetID="22" presetClass="entr" presetSubtype="8" fill="hold" grpId="0" nodeType="withEffect">
                                  <p:stCondLst>
                                    <p:cond delay="0"/>
                                  </p:stCondLst>
                                  <p:childTnLst>
                                    <p:set>
                                      <p:cBhvr>
                                        <p:cTn id="29" dur="1" fill="hold">
                                          <p:stCondLst>
                                            <p:cond delay="0"/>
                                          </p:stCondLst>
                                        </p:cTn>
                                        <p:tgtEl>
                                          <p:spTgt spid="44035">
                                            <p:txEl>
                                              <p:pRg st="5" end="5"/>
                                            </p:txEl>
                                          </p:spTgt>
                                        </p:tgtEl>
                                        <p:attrNameLst>
                                          <p:attrName>style.visibility</p:attrName>
                                        </p:attrNameLst>
                                      </p:cBhvr>
                                      <p:to>
                                        <p:strVal val="visible"/>
                                      </p:to>
                                    </p:set>
                                    <p:animEffect transition="in" filter="wipe(left)">
                                      <p:cBhvr>
                                        <p:cTn id="30" dur="1000"/>
                                        <p:tgtEl>
                                          <p:spTgt spid="44035">
                                            <p:txEl>
                                              <p:pRg st="5" end="5"/>
                                            </p:txEl>
                                          </p:spTgt>
                                        </p:tgtEl>
                                      </p:cBhvr>
                                    </p:animEffect>
                                  </p:childTnLst>
                                </p:cTn>
                              </p:par>
                              <p:par>
                                <p:cTn id="31" presetID="22" presetClass="entr" presetSubtype="8" fill="hold" grpId="0" nodeType="withEffect">
                                  <p:stCondLst>
                                    <p:cond delay="0"/>
                                  </p:stCondLst>
                                  <p:childTnLst>
                                    <p:set>
                                      <p:cBhvr>
                                        <p:cTn id="32" dur="1" fill="hold">
                                          <p:stCondLst>
                                            <p:cond delay="0"/>
                                          </p:stCondLst>
                                        </p:cTn>
                                        <p:tgtEl>
                                          <p:spTgt spid="44035">
                                            <p:txEl>
                                              <p:pRg st="6" end="6"/>
                                            </p:txEl>
                                          </p:spTgt>
                                        </p:tgtEl>
                                        <p:attrNameLst>
                                          <p:attrName>style.visibility</p:attrName>
                                        </p:attrNameLst>
                                      </p:cBhvr>
                                      <p:to>
                                        <p:strVal val="visible"/>
                                      </p:to>
                                    </p:set>
                                    <p:animEffect transition="in" filter="wipe(left)">
                                      <p:cBhvr>
                                        <p:cTn id="33" dur="1000"/>
                                        <p:tgtEl>
                                          <p:spTgt spid="44035">
                                            <p:txEl>
                                              <p:pRg st="6" end="6"/>
                                            </p:txEl>
                                          </p:spTgt>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22" presetClass="entr" presetSubtype="8" fill="hold" nodeType="clickEffect">
                                  <p:stCondLst>
                                    <p:cond delay="0"/>
                                  </p:stCondLst>
                                  <p:childTnLst>
                                    <p:set>
                                      <p:cBhvr>
                                        <p:cTn id="37" dur="1" fill="hold">
                                          <p:stCondLst>
                                            <p:cond delay="0"/>
                                          </p:stCondLst>
                                        </p:cTn>
                                        <p:tgtEl>
                                          <p:spTgt spid="3"/>
                                        </p:tgtEl>
                                        <p:attrNameLst>
                                          <p:attrName>style.visibility</p:attrName>
                                        </p:attrNameLst>
                                      </p:cBhvr>
                                      <p:to>
                                        <p:strVal val="visible"/>
                                      </p:to>
                                    </p:set>
                                    <p:animEffect transition="in" filter="wipe(left)">
                                      <p:cBhvr>
                                        <p:cTn id="38" dur="500"/>
                                        <p:tgtEl>
                                          <p:spTgt spid="3"/>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grpId="0" nodeType="clickEffect">
                                  <p:stCondLst>
                                    <p:cond delay="0"/>
                                  </p:stCondLst>
                                  <p:childTnLst>
                                    <p:set>
                                      <p:cBhvr>
                                        <p:cTn id="42" dur="1" fill="hold">
                                          <p:stCondLst>
                                            <p:cond delay="0"/>
                                          </p:stCondLst>
                                        </p:cTn>
                                        <p:tgtEl>
                                          <p:spTgt spid="44035">
                                            <p:txEl>
                                              <p:pRg st="7" end="7"/>
                                            </p:txEl>
                                          </p:spTgt>
                                        </p:tgtEl>
                                        <p:attrNameLst>
                                          <p:attrName>style.visibility</p:attrName>
                                        </p:attrNameLst>
                                      </p:cBhvr>
                                      <p:to>
                                        <p:strVal val="visible"/>
                                      </p:to>
                                    </p:set>
                                    <p:animEffect transition="in" filter="wipe(left)">
                                      <p:cBhvr>
                                        <p:cTn id="43" dur="500"/>
                                        <p:tgtEl>
                                          <p:spTgt spid="44035">
                                            <p:txEl>
                                              <p:pRg st="7" end="7"/>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8" fill="hold" grpId="0" nodeType="clickEffect">
                                  <p:stCondLst>
                                    <p:cond delay="0"/>
                                  </p:stCondLst>
                                  <p:childTnLst>
                                    <p:set>
                                      <p:cBhvr>
                                        <p:cTn id="47" dur="1" fill="hold">
                                          <p:stCondLst>
                                            <p:cond delay="0"/>
                                          </p:stCondLst>
                                        </p:cTn>
                                        <p:tgtEl>
                                          <p:spTgt spid="5"/>
                                        </p:tgtEl>
                                        <p:attrNameLst>
                                          <p:attrName>style.visibility</p:attrName>
                                        </p:attrNameLst>
                                      </p:cBhvr>
                                      <p:to>
                                        <p:strVal val="visible"/>
                                      </p:to>
                                    </p:set>
                                    <p:animEffect transition="in" filter="wipe(left)">
                                      <p:cBhvr>
                                        <p:cTn id="48" dur="500"/>
                                        <p:tgtEl>
                                          <p:spTgt spid="5"/>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8" fill="hold" grpId="0" nodeType="clickEffect">
                                  <p:stCondLst>
                                    <p:cond delay="0"/>
                                  </p:stCondLst>
                                  <p:childTnLst>
                                    <p:set>
                                      <p:cBhvr>
                                        <p:cTn id="52" dur="1" fill="hold">
                                          <p:stCondLst>
                                            <p:cond delay="0"/>
                                          </p:stCondLst>
                                        </p:cTn>
                                        <p:tgtEl>
                                          <p:spTgt spid="6"/>
                                        </p:tgtEl>
                                        <p:attrNameLst>
                                          <p:attrName>style.visibility</p:attrName>
                                        </p:attrNameLst>
                                      </p:cBhvr>
                                      <p:to>
                                        <p:strVal val="visible"/>
                                      </p:to>
                                    </p:set>
                                    <p:animEffect transition="in" filter="wipe(left)">
                                      <p:cBhvr>
                                        <p:cTn id="53" dur="500"/>
                                        <p:tgtEl>
                                          <p:spTgt spid="6"/>
                                        </p:tgtEl>
                                      </p:cBhvr>
                                    </p:animEffect>
                                  </p:childTnLst>
                                </p:cTn>
                              </p:par>
                            </p:childTnLst>
                          </p:cTn>
                        </p:par>
                      </p:childTnLst>
                    </p:cTn>
                  </p:par>
                  <p:par>
                    <p:cTn id="54" fill="hold">
                      <p:stCondLst>
                        <p:cond delay="indefinite"/>
                      </p:stCondLst>
                      <p:childTnLst>
                        <p:par>
                          <p:cTn id="55" fill="hold">
                            <p:stCondLst>
                              <p:cond delay="0"/>
                            </p:stCondLst>
                            <p:childTnLst>
                              <p:par>
                                <p:cTn id="56" presetID="22" presetClass="entr" presetSubtype="8" fill="hold" grpId="0" nodeType="clickEffect">
                                  <p:stCondLst>
                                    <p:cond delay="0"/>
                                  </p:stCondLst>
                                  <p:childTnLst>
                                    <p:set>
                                      <p:cBhvr>
                                        <p:cTn id="57" dur="1" fill="hold">
                                          <p:stCondLst>
                                            <p:cond delay="0"/>
                                          </p:stCondLst>
                                        </p:cTn>
                                        <p:tgtEl>
                                          <p:spTgt spid="44035">
                                            <p:txEl>
                                              <p:pRg st="8" end="8"/>
                                            </p:txEl>
                                          </p:spTgt>
                                        </p:tgtEl>
                                        <p:attrNameLst>
                                          <p:attrName>style.visibility</p:attrName>
                                        </p:attrNameLst>
                                      </p:cBhvr>
                                      <p:to>
                                        <p:strVal val="visible"/>
                                      </p:to>
                                    </p:set>
                                    <p:animEffect transition="in" filter="wipe(left)">
                                      <p:cBhvr>
                                        <p:cTn id="58" dur="500"/>
                                        <p:tgtEl>
                                          <p:spTgt spid="44035">
                                            <p:txEl>
                                              <p:pRg st="8" end="8"/>
                                            </p:txEl>
                                          </p:spTgt>
                                        </p:tgtEl>
                                      </p:cBhvr>
                                    </p:animEffect>
                                  </p:childTnLst>
                                </p:cTn>
                              </p:par>
                            </p:childTnLst>
                          </p:cTn>
                        </p:par>
                      </p:childTnLst>
                    </p:cTn>
                  </p:par>
                  <p:par>
                    <p:cTn id="59" fill="hold">
                      <p:stCondLst>
                        <p:cond delay="indefinite"/>
                      </p:stCondLst>
                      <p:childTnLst>
                        <p:par>
                          <p:cTn id="60" fill="hold">
                            <p:stCondLst>
                              <p:cond delay="0"/>
                            </p:stCondLst>
                            <p:childTnLst>
                              <p:par>
                                <p:cTn id="61" presetID="22" presetClass="entr" presetSubtype="8" fill="hold" grpId="0" nodeType="clickEffect">
                                  <p:stCondLst>
                                    <p:cond delay="0"/>
                                  </p:stCondLst>
                                  <p:childTnLst>
                                    <p:set>
                                      <p:cBhvr>
                                        <p:cTn id="62" dur="1" fill="hold">
                                          <p:stCondLst>
                                            <p:cond delay="0"/>
                                          </p:stCondLst>
                                        </p:cTn>
                                        <p:tgtEl>
                                          <p:spTgt spid="7"/>
                                        </p:tgtEl>
                                        <p:attrNameLst>
                                          <p:attrName>style.visibility</p:attrName>
                                        </p:attrNameLst>
                                      </p:cBhvr>
                                      <p:to>
                                        <p:strVal val="visible"/>
                                      </p:to>
                                    </p:set>
                                    <p:animEffect transition="in" filter="wipe(left)">
                                      <p:cBhvr>
                                        <p:cTn id="63" dur="500"/>
                                        <p:tgtEl>
                                          <p:spTgt spid="7"/>
                                        </p:tgtEl>
                                      </p:cBhvr>
                                    </p:animEffect>
                                  </p:childTnLst>
                                </p:cTn>
                              </p:par>
                            </p:childTnLst>
                          </p:cTn>
                        </p:par>
                      </p:childTnLst>
                    </p:cTn>
                  </p:par>
                  <p:par>
                    <p:cTn id="64" fill="hold">
                      <p:stCondLst>
                        <p:cond delay="indefinite"/>
                      </p:stCondLst>
                      <p:childTnLst>
                        <p:par>
                          <p:cTn id="65" fill="hold">
                            <p:stCondLst>
                              <p:cond delay="0"/>
                            </p:stCondLst>
                            <p:childTnLst>
                              <p:par>
                                <p:cTn id="66" presetID="22" presetClass="entr" presetSubtype="8" fill="hold" grpId="0" nodeType="clickEffect">
                                  <p:stCondLst>
                                    <p:cond delay="0"/>
                                  </p:stCondLst>
                                  <p:childTnLst>
                                    <p:set>
                                      <p:cBhvr>
                                        <p:cTn id="67" dur="1" fill="hold">
                                          <p:stCondLst>
                                            <p:cond delay="0"/>
                                          </p:stCondLst>
                                        </p:cTn>
                                        <p:tgtEl>
                                          <p:spTgt spid="8"/>
                                        </p:tgtEl>
                                        <p:attrNameLst>
                                          <p:attrName>style.visibility</p:attrName>
                                        </p:attrNameLst>
                                      </p:cBhvr>
                                      <p:to>
                                        <p:strVal val="visible"/>
                                      </p:to>
                                    </p:set>
                                    <p:animEffect transition="in" filter="wipe(left)">
                                      <p:cBhvr>
                                        <p:cTn id="68" dur="500"/>
                                        <p:tgtEl>
                                          <p:spTgt spid="8"/>
                                        </p:tgtEl>
                                      </p:cBhvr>
                                    </p:animEffect>
                                  </p:childTnLst>
                                </p:cTn>
                              </p:par>
                            </p:childTnLst>
                          </p:cTn>
                        </p:par>
                      </p:childTnLst>
                    </p:cTn>
                  </p:par>
                  <p:par>
                    <p:cTn id="69" fill="hold">
                      <p:stCondLst>
                        <p:cond delay="indefinite"/>
                      </p:stCondLst>
                      <p:childTnLst>
                        <p:par>
                          <p:cTn id="70" fill="hold">
                            <p:stCondLst>
                              <p:cond delay="0"/>
                            </p:stCondLst>
                            <p:childTnLst>
                              <p:par>
                                <p:cTn id="71" presetID="22" presetClass="entr" presetSubtype="8" fill="hold" grpId="0" nodeType="clickEffect">
                                  <p:stCondLst>
                                    <p:cond delay="0"/>
                                  </p:stCondLst>
                                  <p:childTnLst>
                                    <p:set>
                                      <p:cBhvr>
                                        <p:cTn id="72" dur="1" fill="hold">
                                          <p:stCondLst>
                                            <p:cond delay="0"/>
                                          </p:stCondLst>
                                        </p:cTn>
                                        <p:tgtEl>
                                          <p:spTgt spid="44035">
                                            <p:txEl>
                                              <p:pRg st="9" end="9"/>
                                            </p:txEl>
                                          </p:spTgt>
                                        </p:tgtEl>
                                        <p:attrNameLst>
                                          <p:attrName>style.visibility</p:attrName>
                                        </p:attrNameLst>
                                      </p:cBhvr>
                                      <p:to>
                                        <p:strVal val="visible"/>
                                      </p:to>
                                    </p:set>
                                    <p:animEffect transition="in" filter="wipe(left)">
                                      <p:cBhvr>
                                        <p:cTn id="73" dur="500"/>
                                        <p:tgtEl>
                                          <p:spTgt spid="44035">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035" grpId="0" uiExpand="1" build="p"/>
      <p:bldP spid="5" grpId="0"/>
      <p:bldP spid="7" grpId="0"/>
      <p:bldP spid="6" grpId="0"/>
      <p:bldP spid="8"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a:xfrm>
            <a:off x="1981200" y="332657"/>
            <a:ext cx="8229600" cy="864320"/>
          </a:xfrm>
        </p:spPr>
        <p:txBody>
          <a:bodyPr>
            <a:normAutofit/>
          </a:bodyPr>
          <a:lstStyle/>
          <a:p>
            <a:pPr algn="ctr" eaLnBrk="1" hangingPunct="1"/>
            <a:r>
              <a:rPr lang="en-US" altLang="zh-CN" dirty="0">
                <a:solidFill>
                  <a:srgbClr val="008000"/>
                </a:solidFill>
                <a:latin typeface="黑体" pitchFamily="49" charset="-122"/>
              </a:rPr>
              <a:t> </a:t>
            </a:r>
            <a:r>
              <a:rPr lang="zh-CN" altLang="en-US" dirty="0">
                <a:solidFill>
                  <a:srgbClr val="008000"/>
                </a:solidFill>
                <a:latin typeface="黑体" pitchFamily="49" charset="-122"/>
              </a:rPr>
              <a:t>模糊集的</a:t>
            </a:r>
            <a:r>
              <a:rPr lang="zh-CN" altLang="en-US" dirty="0">
                <a:solidFill>
                  <a:srgbClr val="008000"/>
                </a:solidFill>
              </a:rPr>
              <a:t>并、交、余运算性质</a:t>
            </a:r>
          </a:p>
        </p:txBody>
      </p:sp>
      <p:sp>
        <p:nvSpPr>
          <p:cNvPr id="44035" name="Rectangle 3"/>
          <p:cNvSpPr>
            <a:spLocks noGrp="1" noChangeArrowheads="1"/>
          </p:cNvSpPr>
          <p:nvPr>
            <p:ph idx="1"/>
          </p:nvPr>
        </p:nvSpPr>
        <p:spPr>
          <a:xfrm>
            <a:off x="795737" y="1412776"/>
            <a:ext cx="9505056" cy="5327650"/>
          </a:xfrm>
        </p:spPr>
        <p:txBody>
          <a:bodyPr>
            <a:noAutofit/>
          </a:bodyPr>
          <a:lstStyle/>
          <a:p>
            <a:pPr eaLnBrk="1" hangingPunct="1">
              <a:lnSpc>
                <a:spcPct val="110000"/>
              </a:lnSpc>
              <a:spcBef>
                <a:spcPct val="10000"/>
              </a:spcBef>
            </a:pPr>
            <a:r>
              <a:rPr lang="zh-CN" altLang="en-US" sz="3200" b="1" dirty="0">
                <a:solidFill>
                  <a:srgbClr val="FF0000"/>
                </a:solidFill>
              </a:rPr>
              <a:t>对偶律</a:t>
            </a:r>
            <a:r>
              <a:rPr lang="zh-CN" altLang="en-US" sz="3200" b="1" dirty="0">
                <a:solidFill>
                  <a:srgbClr val="0000FF"/>
                </a:solidFill>
              </a:rPr>
              <a:t>：</a:t>
            </a:r>
          </a:p>
          <a:p>
            <a:pPr eaLnBrk="1" hangingPunct="1">
              <a:lnSpc>
                <a:spcPct val="110000"/>
              </a:lnSpc>
              <a:spcBef>
                <a:spcPct val="10000"/>
              </a:spcBef>
              <a:buFont typeface="Wingdings" pitchFamily="2" charset="2"/>
              <a:buNone/>
            </a:pPr>
            <a:r>
              <a:rPr lang="zh-CN" altLang="en-US" sz="3200" b="1" dirty="0">
                <a:solidFill>
                  <a:srgbClr val="0000FF"/>
                </a:solidFill>
                <a:sym typeface="Symbol" pitchFamily="18" charset="2"/>
              </a:rPr>
              <a:t>              </a:t>
            </a:r>
            <a:r>
              <a:rPr lang="en-US" altLang="zh-CN" sz="4000" b="1" dirty="0">
                <a:solidFill>
                  <a:srgbClr val="0000FF"/>
                </a:solidFill>
                <a:sym typeface="Symbol" pitchFamily="18" charset="2"/>
              </a:rPr>
              <a:t>(</a:t>
            </a:r>
            <a:r>
              <a:rPr lang="en-US" altLang="zh-CN" sz="4000" b="1" i="1" dirty="0">
                <a:solidFill>
                  <a:srgbClr val="0000FF"/>
                </a:solidFill>
              </a:rPr>
              <a:t>A</a:t>
            </a:r>
            <a:r>
              <a:rPr lang="en-US" altLang="zh-CN" sz="4000" b="1" dirty="0">
                <a:solidFill>
                  <a:srgbClr val="0000FF"/>
                </a:solidFill>
                <a:sym typeface="Symbol"/>
              </a:rPr>
              <a:t></a:t>
            </a:r>
            <a:r>
              <a:rPr lang="en-US" altLang="zh-CN" sz="4000" b="1" i="1" dirty="0">
                <a:solidFill>
                  <a:srgbClr val="0000FF"/>
                </a:solidFill>
                <a:sym typeface="Symbol" pitchFamily="18" charset="2"/>
              </a:rPr>
              <a:t>B</a:t>
            </a:r>
            <a:r>
              <a:rPr lang="en-US" altLang="zh-CN" sz="4000" b="1" dirty="0">
                <a:solidFill>
                  <a:srgbClr val="0000FF"/>
                </a:solidFill>
                <a:sym typeface="Symbol" pitchFamily="18" charset="2"/>
              </a:rPr>
              <a:t>)</a:t>
            </a:r>
            <a:r>
              <a:rPr lang="en-US" altLang="zh-CN" sz="4000" b="1" i="1" baseline="30000" dirty="0">
                <a:solidFill>
                  <a:srgbClr val="0000FF"/>
                </a:solidFill>
                <a:ea typeface="黑体" pitchFamily="49" charset="-122"/>
              </a:rPr>
              <a:t>c </a:t>
            </a:r>
            <a:r>
              <a:rPr lang="en-US" altLang="zh-CN" sz="4000" b="1" dirty="0">
                <a:solidFill>
                  <a:srgbClr val="0000FF"/>
                </a:solidFill>
                <a:sym typeface="Symbol" pitchFamily="18" charset="2"/>
              </a:rPr>
              <a:t>= </a:t>
            </a:r>
            <a:r>
              <a:rPr lang="en-US" altLang="zh-CN" sz="4000" b="1" i="1" dirty="0" err="1">
                <a:solidFill>
                  <a:srgbClr val="0000FF"/>
                </a:solidFill>
                <a:sym typeface="Symbol" pitchFamily="18" charset="2"/>
              </a:rPr>
              <a:t>A</a:t>
            </a:r>
            <a:r>
              <a:rPr lang="en-US" altLang="zh-CN" sz="4000" b="1" i="1" baseline="30000" dirty="0" err="1">
                <a:solidFill>
                  <a:srgbClr val="0000FF"/>
                </a:solidFill>
                <a:ea typeface="黑体" pitchFamily="49" charset="-122"/>
              </a:rPr>
              <a:t>c</a:t>
            </a:r>
            <a:r>
              <a:rPr lang="en-US" altLang="zh-CN" sz="4000" b="1" dirty="0" err="1">
                <a:solidFill>
                  <a:srgbClr val="0000FF"/>
                </a:solidFill>
                <a:ea typeface="黑体" pitchFamily="49" charset="-122"/>
                <a:sym typeface="Symbol"/>
              </a:rPr>
              <a:t></a:t>
            </a:r>
            <a:r>
              <a:rPr lang="en-US" altLang="zh-CN" sz="4000" b="1" i="1" dirty="0" err="1">
                <a:solidFill>
                  <a:srgbClr val="0000FF"/>
                </a:solidFill>
                <a:sym typeface="Symbol" pitchFamily="18" charset="2"/>
              </a:rPr>
              <a:t>B</a:t>
            </a:r>
            <a:r>
              <a:rPr lang="en-US" altLang="zh-CN" sz="4000" b="1" i="1" baseline="30000" dirty="0" err="1">
                <a:solidFill>
                  <a:srgbClr val="0000FF"/>
                </a:solidFill>
                <a:ea typeface="黑体" pitchFamily="49" charset="-122"/>
              </a:rPr>
              <a:t>c</a:t>
            </a:r>
            <a:r>
              <a:rPr lang="en-US" altLang="zh-CN" sz="3200" b="1" dirty="0">
                <a:solidFill>
                  <a:srgbClr val="0000FF"/>
                </a:solidFill>
                <a:latin typeface="宋体" pitchFamily="2" charset="-122"/>
                <a:sym typeface="Symbol" pitchFamily="18" charset="2"/>
              </a:rPr>
              <a:t>          </a:t>
            </a:r>
            <a:endParaRPr lang="en-US" altLang="zh-CN" sz="4000" b="1" dirty="0">
              <a:solidFill>
                <a:srgbClr val="0000FF"/>
              </a:solidFill>
              <a:sym typeface="Symbol" pitchFamily="18" charset="2"/>
            </a:endParaRPr>
          </a:p>
          <a:p>
            <a:pPr eaLnBrk="1" hangingPunct="1">
              <a:lnSpc>
                <a:spcPct val="110000"/>
              </a:lnSpc>
              <a:spcBef>
                <a:spcPct val="10000"/>
              </a:spcBef>
            </a:pPr>
            <a:r>
              <a:rPr kumimoji="1" lang="zh-CN" altLang="en-US" sz="3200" b="1" dirty="0"/>
              <a:t>证明：对于 </a:t>
            </a:r>
            <a:r>
              <a:rPr kumimoji="1" lang="zh-CN" altLang="en-US" sz="3200" b="1" dirty="0">
                <a:sym typeface="Symbol" panose="05050102010706020507" pitchFamily="18" charset="2"/>
              </a:rPr>
              <a:t></a:t>
            </a:r>
            <a:r>
              <a:rPr kumimoji="1" lang="en-US" altLang="zh-CN" sz="3200" b="1" i="1" dirty="0" err="1"/>
              <a:t>x</a:t>
            </a:r>
            <a:r>
              <a:rPr kumimoji="1" lang="en-US" altLang="zh-CN" sz="3200" b="1" dirty="0" err="1">
                <a:sym typeface="Symbol" pitchFamily="18" charset="2"/>
              </a:rPr>
              <a:t></a:t>
            </a:r>
            <a:r>
              <a:rPr kumimoji="1" lang="en-US" altLang="zh-CN" sz="3200" b="1" i="1" dirty="0" err="1"/>
              <a:t>U</a:t>
            </a:r>
            <a:r>
              <a:rPr kumimoji="1" lang="en-US" altLang="zh-CN" sz="3200" b="1" i="1" dirty="0"/>
              <a:t> </a:t>
            </a:r>
            <a:r>
              <a:rPr kumimoji="1" lang="en-US" altLang="zh-CN" sz="3200" b="1" dirty="0"/>
              <a:t>(</a:t>
            </a:r>
            <a:r>
              <a:rPr kumimoji="1" lang="zh-CN" altLang="en-US" sz="3200" b="1" dirty="0"/>
              <a:t>论域</a:t>
            </a:r>
            <a:r>
              <a:rPr kumimoji="1" lang="en-US" altLang="zh-CN" sz="3200" b="1" dirty="0"/>
              <a:t>)</a:t>
            </a:r>
            <a:r>
              <a:rPr kumimoji="1" lang="zh-CN" altLang="en-US" sz="3200" b="1" dirty="0"/>
              <a:t>，</a:t>
            </a:r>
          </a:p>
          <a:p>
            <a:pPr eaLnBrk="1" hangingPunct="1">
              <a:lnSpc>
                <a:spcPct val="110000"/>
              </a:lnSpc>
              <a:buNone/>
            </a:pPr>
            <a:r>
              <a:rPr kumimoji="1" lang="zh-CN" altLang="en-US" sz="3200" b="1" dirty="0">
                <a:sym typeface="Symbol" pitchFamily="18" charset="2"/>
              </a:rPr>
              <a:t>           </a:t>
            </a:r>
            <a:r>
              <a:rPr kumimoji="1" lang="en-US" altLang="zh-CN" sz="3200" b="1" dirty="0">
                <a:sym typeface="Symbol" pitchFamily="18" charset="2"/>
              </a:rPr>
              <a:t>(</a:t>
            </a:r>
            <a:r>
              <a:rPr kumimoji="1" lang="en-US" altLang="zh-CN" sz="3200" b="1" i="1" dirty="0"/>
              <a:t>A</a:t>
            </a:r>
            <a:r>
              <a:rPr kumimoji="1" lang="en-US" altLang="zh-CN" sz="3200" b="1" dirty="0">
                <a:sym typeface="Symbol"/>
              </a:rPr>
              <a:t></a:t>
            </a:r>
            <a:r>
              <a:rPr kumimoji="1" lang="en-US" altLang="zh-CN" sz="3200" b="1" i="1" dirty="0">
                <a:sym typeface="Symbol" pitchFamily="18" charset="2"/>
              </a:rPr>
              <a:t>B</a:t>
            </a:r>
            <a:r>
              <a:rPr kumimoji="1" lang="en-US" altLang="zh-CN" sz="3200" b="1" dirty="0">
                <a:sym typeface="Symbol" pitchFamily="18" charset="2"/>
              </a:rPr>
              <a:t>)</a:t>
            </a:r>
            <a:r>
              <a:rPr kumimoji="1" lang="en-US" altLang="zh-CN" sz="3200" b="1" i="1" baseline="30000" dirty="0"/>
              <a:t>c</a:t>
            </a:r>
            <a:r>
              <a:rPr kumimoji="1" lang="en-US" altLang="zh-CN" sz="3200" b="1" dirty="0"/>
              <a:t>(</a:t>
            </a:r>
            <a:r>
              <a:rPr kumimoji="1" lang="en-US" altLang="zh-CN" sz="3200" b="1" i="1" dirty="0"/>
              <a:t>x</a:t>
            </a:r>
            <a:r>
              <a:rPr kumimoji="1" lang="en-US" altLang="zh-CN" sz="3200" b="1" dirty="0"/>
              <a:t>) = 1 </a:t>
            </a:r>
            <a:r>
              <a:rPr kumimoji="1" lang="en-US" altLang="zh-CN" sz="3200" b="1" dirty="0">
                <a:sym typeface="Symbol" panose="05050102010706020507" pitchFamily="18" charset="2"/>
              </a:rPr>
              <a:t></a:t>
            </a:r>
            <a:r>
              <a:rPr kumimoji="1" lang="en-US" altLang="zh-CN" sz="3200" b="1" dirty="0"/>
              <a:t> </a:t>
            </a:r>
            <a:r>
              <a:rPr kumimoji="1" lang="en-US" altLang="zh-CN" sz="3200" b="1" dirty="0">
                <a:sym typeface="Symbol" pitchFamily="18" charset="2"/>
              </a:rPr>
              <a:t>(</a:t>
            </a:r>
            <a:r>
              <a:rPr kumimoji="1" lang="en-US" altLang="zh-CN" sz="3200" b="1" i="1" dirty="0"/>
              <a:t>A</a:t>
            </a:r>
            <a:r>
              <a:rPr kumimoji="1" lang="en-US" altLang="zh-CN" sz="3200" b="1" dirty="0">
                <a:sym typeface="Symbol"/>
              </a:rPr>
              <a:t>  </a:t>
            </a:r>
            <a:r>
              <a:rPr kumimoji="1" lang="en-US" altLang="zh-CN" sz="3200" b="1" i="1" dirty="0">
                <a:sym typeface="Symbol" pitchFamily="18" charset="2"/>
              </a:rPr>
              <a:t>B</a:t>
            </a:r>
            <a:r>
              <a:rPr kumimoji="1" lang="en-US" altLang="zh-CN" sz="3200" b="1" dirty="0">
                <a:sym typeface="Symbol" pitchFamily="18" charset="2"/>
              </a:rPr>
              <a:t>)</a:t>
            </a:r>
            <a:r>
              <a:rPr kumimoji="1" lang="en-US" altLang="zh-CN" sz="3200" b="1" dirty="0"/>
              <a:t>(</a:t>
            </a:r>
            <a:r>
              <a:rPr kumimoji="1" lang="en-US" altLang="zh-CN" sz="3200" b="1" i="1" dirty="0"/>
              <a:t>x</a:t>
            </a:r>
            <a:r>
              <a:rPr kumimoji="1" lang="en-US" altLang="zh-CN" sz="3200" b="1" dirty="0"/>
              <a:t>) </a:t>
            </a:r>
          </a:p>
          <a:p>
            <a:pPr eaLnBrk="1" hangingPunct="1">
              <a:lnSpc>
                <a:spcPct val="110000"/>
              </a:lnSpc>
              <a:buNone/>
            </a:pPr>
            <a:r>
              <a:rPr kumimoji="1" lang="en-US" altLang="zh-CN" sz="3200" b="1" dirty="0"/>
              <a:t>                            = 1 </a:t>
            </a:r>
            <a:r>
              <a:rPr kumimoji="1" lang="en-US" altLang="zh-CN" sz="3200" b="1" dirty="0">
                <a:sym typeface="Symbol" panose="05050102010706020507" pitchFamily="18" charset="2"/>
              </a:rPr>
              <a:t></a:t>
            </a:r>
            <a:r>
              <a:rPr kumimoji="1" lang="en-US" altLang="zh-CN" sz="3200" b="1" dirty="0"/>
              <a:t> </a:t>
            </a:r>
            <a:r>
              <a:rPr kumimoji="1" lang="en-US" altLang="zh-CN" sz="3200" b="1" dirty="0">
                <a:sym typeface="Symbol" pitchFamily="18" charset="2"/>
              </a:rPr>
              <a:t>(</a:t>
            </a:r>
            <a:r>
              <a:rPr kumimoji="1" lang="en-US" altLang="zh-CN" sz="3200" b="1" i="1" dirty="0"/>
              <a:t>A</a:t>
            </a:r>
            <a:r>
              <a:rPr kumimoji="1" lang="en-US" altLang="zh-CN" sz="3200" b="1" dirty="0"/>
              <a:t>(</a:t>
            </a:r>
            <a:r>
              <a:rPr kumimoji="1" lang="en-US" altLang="zh-CN" sz="3200" b="1" i="1" dirty="0"/>
              <a:t>x</a:t>
            </a:r>
            <a:r>
              <a:rPr kumimoji="1" lang="en-US" altLang="zh-CN" sz="3200" b="1" dirty="0"/>
              <a:t>)</a:t>
            </a:r>
            <a:r>
              <a:rPr kumimoji="1" lang="en-US" altLang="zh-CN" sz="3200" b="1" dirty="0">
                <a:sym typeface="Symbol"/>
              </a:rPr>
              <a:t></a:t>
            </a:r>
            <a:r>
              <a:rPr kumimoji="1" lang="en-US" altLang="zh-CN" sz="3200" b="1" i="1" dirty="0">
                <a:sym typeface="Symbol" pitchFamily="18" charset="2"/>
              </a:rPr>
              <a:t>B</a:t>
            </a:r>
            <a:r>
              <a:rPr kumimoji="1" lang="en-US" altLang="zh-CN" sz="3200" b="1" dirty="0"/>
              <a:t>(</a:t>
            </a:r>
            <a:r>
              <a:rPr kumimoji="1" lang="en-US" altLang="zh-CN" sz="3200" b="1" i="1" dirty="0"/>
              <a:t>x</a:t>
            </a:r>
            <a:r>
              <a:rPr kumimoji="1" lang="en-US" altLang="zh-CN" sz="3200" b="1" dirty="0"/>
              <a:t>))</a:t>
            </a:r>
            <a:endParaRPr kumimoji="1" lang="en-US" altLang="zh-CN" sz="3200" b="1" dirty="0">
              <a:sym typeface="Symbol" pitchFamily="18" charset="2"/>
            </a:endParaRPr>
          </a:p>
          <a:p>
            <a:pPr eaLnBrk="1" hangingPunct="1">
              <a:lnSpc>
                <a:spcPct val="110000"/>
              </a:lnSpc>
              <a:buNone/>
            </a:pPr>
            <a:r>
              <a:rPr kumimoji="1" lang="en-US" altLang="zh-CN" sz="3200" b="1" dirty="0">
                <a:sym typeface="Symbol" pitchFamily="18" charset="2"/>
              </a:rPr>
              <a:t>                            = (</a:t>
            </a:r>
            <a:r>
              <a:rPr kumimoji="1" lang="en-US" altLang="zh-CN" sz="3200" b="1" dirty="0"/>
              <a:t>1 </a:t>
            </a:r>
            <a:r>
              <a:rPr kumimoji="1" lang="en-US" altLang="zh-CN" sz="3200" b="1" dirty="0">
                <a:sym typeface="Symbol" panose="05050102010706020507" pitchFamily="18" charset="2"/>
              </a:rPr>
              <a:t> </a:t>
            </a:r>
            <a:r>
              <a:rPr kumimoji="1" lang="en-US" altLang="zh-CN" sz="3200" b="1" i="1" dirty="0"/>
              <a:t>A</a:t>
            </a:r>
            <a:r>
              <a:rPr kumimoji="1" lang="en-US" altLang="zh-CN" sz="3200" b="1" dirty="0"/>
              <a:t>(</a:t>
            </a:r>
            <a:r>
              <a:rPr kumimoji="1" lang="en-US" altLang="zh-CN" sz="3200" b="1" i="1" dirty="0"/>
              <a:t>x</a:t>
            </a:r>
            <a:r>
              <a:rPr kumimoji="1" lang="en-US" altLang="zh-CN" sz="3200" b="1" dirty="0"/>
              <a:t>))</a:t>
            </a:r>
            <a:r>
              <a:rPr kumimoji="1" lang="en-US" altLang="zh-CN" sz="3200" b="1" dirty="0">
                <a:sym typeface="Symbol"/>
              </a:rPr>
              <a:t></a:t>
            </a:r>
            <a:r>
              <a:rPr kumimoji="1" lang="en-US" altLang="zh-CN" sz="3200" b="1" dirty="0"/>
              <a:t>(1 </a:t>
            </a:r>
            <a:r>
              <a:rPr kumimoji="1" lang="en-US" altLang="zh-CN" sz="3200" b="1" dirty="0">
                <a:sym typeface="Symbol" panose="05050102010706020507" pitchFamily="18" charset="2"/>
              </a:rPr>
              <a:t></a:t>
            </a:r>
            <a:r>
              <a:rPr kumimoji="1" lang="en-US" altLang="zh-CN" sz="3200" b="1" dirty="0"/>
              <a:t> </a:t>
            </a:r>
            <a:r>
              <a:rPr kumimoji="1" lang="en-US" altLang="zh-CN" sz="3200" b="1" i="1" dirty="0">
                <a:sym typeface="Symbol" pitchFamily="18" charset="2"/>
              </a:rPr>
              <a:t>B</a:t>
            </a:r>
            <a:r>
              <a:rPr kumimoji="1" lang="en-US" altLang="zh-CN" sz="3200" b="1" dirty="0"/>
              <a:t>(</a:t>
            </a:r>
            <a:r>
              <a:rPr kumimoji="1" lang="en-US" altLang="zh-CN" sz="3200" b="1" i="1" dirty="0"/>
              <a:t>x</a:t>
            </a:r>
            <a:r>
              <a:rPr kumimoji="1" lang="en-US" altLang="zh-CN" sz="3200" b="1" dirty="0"/>
              <a:t>)</a:t>
            </a:r>
            <a:r>
              <a:rPr kumimoji="1" lang="en-US" altLang="zh-CN" sz="3200" b="1" dirty="0">
                <a:sym typeface="Symbol" pitchFamily="18" charset="2"/>
              </a:rPr>
              <a:t>) </a:t>
            </a:r>
          </a:p>
          <a:p>
            <a:pPr eaLnBrk="1" hangingPunct="1">
              <a:lnSpc>
                <a:spcPct val="110000"/>
              </a:lnSpc>
              <a:buNone/>
            </a:pPr>
            <a:r>
              <a:rPr kumimoji="1" lang="en-US" altLang="zh-CN" sz="3200" b="1" dirty="0">
                <a:sym typeface="Symbol" pitchFamily="18" charset="2"/>
              </a:rPr>
              <a:t>                            = </a:t>
            </a:r>
            <a:r>
              <a:rPr kumimoji="1" lang="en-US" altLang="zh-CN" sz="3200" b="1" i="1" dirty="0"/>
              <a:t>A</a:t>
            </a:r>
            <a:r>
              <a:rPr kumimoji="1" lang="en-US" altLang="zh-CN" sz="3200" b="1" i="1" baseline="30000" dirty="0"/>
              <a:t>c</a:t>
            </a:r>
            <a:r>
              <a:rPr kumimoji="1" lang="en-US" altLang="zh-CN" sz="3200" b="1" dirty="0"/>
              <a:t>(</a:t>
            </a:r>
            <a:r>
              <a:rPr kumimoji="1" lang="en-US" altLang="zh-CN" sz="3200" b="1" i="1" dirty="0"/>
              <a:t>x</a:t>
            </a:r>
            <a:r>
              <a:rPr kumimoji="1" lang="en-US" altLang="zh-CN" sz="3200" b="1" dirty="0"/>
              <a:t>)</a:t>
            </a:r>
            <a:r>
              <a:rPr kumimoji="1" lang="en-US" altLang="zh-CN" sz="3200" b="1" dirty="0">
                <a:sym typeface="Symbol"/>
              </a:rPr>
              <a:t>  </a:t>
            </a:r>
            <a:r>
              <a:rPr kumimoji="1" lang="en-US" altLang="zh-CN" sz="3200" b="1" i="1" dirty="0" err="1">
                <a:sym typeface="Symbol" pitchFamily="18" charset="2"/>
              </a:rPr>
              <a:t>B</a:t>
            </a:r>
            <a:r>
              <a:rPr kumimoji="1" lang="en-US" altLang="zh-CN" sz="3200" b="1" i="1" baseline="30000" dirty="0" err="1"/>
              <a:t>c</a:t>
            </a:r>
            <a:r>
              <a:rPr kumimoji="1" lang="en-US" altLang="zh-CN" sz="3200" b="1" dirty="0"/>
              <a:t>(</a:t>
            </a:r>
            <a:r>
              <a:rPr kumimoji="1" lang="en-US" altLang="zh-CN" sz="3200" b="1" i="1" dirty="0"/>
              <a:t>x</a:t>
            </a:r>
            <a:r>
              <a:rPr kumimoji="1" lang="en-US" altLang="zh-CN" sz="3200" b="1" dirty="0"/>
              <a:t>)</a:t>
            </a:r>
          </a:p>
          <a:p>
            <a:pPr eaLnBrk="1" hangingPunct="1">
              <a:lnSpc>
                <a:spcPct val="110000"/>
              </a:lnSpc>
              <a:buFont typeface="Wingdings" pitchFamily="2" charset="2"/>
              <a:buNone/>
            </a:pPr>
            <a:r>
              <a:rPr kumimoji="1" lang="en-US" altLang="zh-CN" sz="3200" b="1" dirty="0"/>
              <a:t>                            </a:t>
            </a:r>
            <a:r>
              <a:rPr kumimoji="1" lang="en-US" altLang="zh-CN" sz="3200" b="1" dirty="0">
                <a:sym typeface="Symbol" pitchFamily="18" charset="2"/>
              </a:rPr>
              <a:t>= </a:t>
            </a:r>
            <a:r>
              <a:rPr kumimoji="1" lang="en-US" altLang="zh-CN" sz="3200" b="1" i="1" dirty="0" err="1">
                <a:sym typeface="Symbol" pitchFamily="18" charset="2"/>
              </a:rPr>
              <a:t>A</a:t>
            </a:r>
            <a:r>
              <a:rPr kumimoji="1" lang="en-US" altLang="zh-CN" sz="3200" b="1" i="1" baseline="30000" dirty="0" err="1"/>
              <a:t>c</a:t>
            </a:r>
            <a:r>
              <a:rPr kumimoji="1" lang="en-US" altLang="zh-CN" sz="3200" b="1" dirty="0" err="1">
                <a:sym typeface="Symbol"/>
              </a:rPr>
              <a:t></a:t>
            </a:r>
            <a:r>
              <a:rPr kumimoji="1" lang="en-US" altLang="zh-CN" sz="3200" b="1" i="1" dirty="0" err="1">
                <a:sym typeface="Symbol" pitchFamily="18" charset="2"/>
              </a:rPr>
              <a:t>B</a:t>
            </a:r>
            <a:r>
              <a:rPr kumimoji="1" lang="en-US" altLang="zh-CN" sz="3200" b="1" i="1" baseline="30000" dirty="0" err="1"/>
              <a:t>c</a:t>
            </a:r>
            <a:r>
              <a:rPr kumimoji="1" lang="en-US" altLang="zh-CN" sz="3200" b="1" i="1" dirty="0"/>
              <a:t> </a:t>
            </a:r>
            <a:r>
              <a:rPr kumimoji="1" lang="en-US" altLang="zh-CN" sz="3200" b="1" dirty="0"/>
              <a:t>(</a:t>
            </a:r>
            <a:r>
              <a:rPr kumimoji="1" lang="en-US" altLang="zh-CN" sz="3200" b="1" i="1" dirty="0"/>
              <a:t>x</a:t>
            </a:r>
            <a:r>
              <a:rPr kumimoji="1" lang="en-US" altLang="zh-CN" sz="3200" b="1" dirty="0"/>
              <a:t>)</a:t>
            </a:r>
          </a:p>
        </p:txBody>
      </p:sp>
      <p:sp>
        <p:nvSpPr>
          <p:cNvPr id="2" name="矩形标注 1"/>
          <p:cNvSpPr/>
          <p:nvPr/>
        </p:nvSpPr>
        <p:spPr>
          <a:xfrm>
            <a:off x="6756474" y="2368327"/>
            <a:ext cx="3456384" cy="720080"/>
          </a:xfrm>
          <a:prstGeom prst="wedgeRectCallout">
            <a:avLst>
              <a:gd name="adj1" fmla="val -38628"/>
              <a:gd name="adj2" fmla="val 102932"/>
            </a:avLst>
          </a:prstGeom>
          <a:solidFill>
            <a:srgbClr val="FFFF9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eaLnBrk="1" hangingPunct="1">
              <a:buFont typeface="Wingdings" pitchFamily="2" charset="2"/>
              <a:buNone/>
            </a:pPr>
            <a:r>
              <a:rPr kumimoji="1" lang="en-US" altLang="zh-CN" sz="3200" b="1" i="1" dirty="0">
                <a:solidFill>
                  <a:srgbClr val="CC00FF"/>
                </a:solidFill>
              </a:rPr>
              <a:t>A</a:t>
            </a:r>
            <a:r>
              <a:rPr kumimoji="1" lang="en-US" altLang="zh-CN" sz="3200" b="1" i="1" baseline="30000" dirty="0">
                <a:solidFill>
                  <a:srgbClr val="CC00FF"/>
                </a:solidFill>
              </a:rPr>
              <a:t>c</a:t>
            </a:r>
            <a:r>
              <a:rPr kumimoji="1" lang="en-US" altLang="zh-CN" sz="3200" b="1" i="1" dirty="0">
                <a:solidFill>
                  <a:srgbClr val="CC00FF"/>
                </a:solidFill>
              </a:rPr>
              <a:t> </a:t>
            </a:r>
            <a:r>
              <a:rPr kumimoji="1" lang="en-US" altLang="zh-CN" sz="3200" b="1" dirty="0">
                <a:solidFill>
                  <a:srgbClr val="CC00FF"/>
                </a:solidFill>
              </a:rPr>
              <a:t>(</a:t>
            </a:r>
            <a:r>
              <a:rPr kumimoji="1" lang="en-US" altLang="zh-CN" sz="3200" b="1" i="1" dirty="0">
                <a:solidFill>
                  <a:srgbClr val="CC00FF"/>
                </a:solidFill>
              </a:rPr>
              <a:t>x</a:t>
            </a:r>
            <a:r>
              <a:rPr kumimoji="1" lang="en-US" altLang="zh-CN" sz="3200" b="1" dirty="0">
                <a:solidFill>
                  <a:srgbClr val="CC00FF"/>
                </a:solidFill>
              </a:rPr>
              <a:t>) =</a:t>
            </a:r>
            <a:r>
              <a:rPr kumimoji="1" lang="en-US" altLang="zh-CN" sz="3200" b="1" dirty="0"/>
              <a:t> </a:t>
            </a:r>
            <a:r>
              <a:rPr kumimoji="1" lang="en-US" altLang="zh-CN" sz="3200" b="1" dirty="0">
                <a:solidFill>
                  <a:srgbClr val="CC00FF"/>
                </a:solidFill>
              </a:rPr>
              <a:t>1</a:t>
            </a:r>
            <a:r>
              <a:rPr kumimoji="1" lang="en-US" altLang="zh-CN" sz="3200" b="1" dirty="0">
                <a:solidFill>
                  <a:srgbClr val="CC00FF"/>
                </a:solidFill>
                <a:sym typeface="Symbol" panose="05050102010706020507" pitchFamily="18" charset="2"/>
              </a:rPr>
              <a:t> </a:t>
            </a:r>
            <a:r>
              <a:rPr kumimoji="1" lang="en-US" altLang="zh-CN" sz="3200" b="1" dirty="0">
                <a:solidFill>
                  <a:srgbClr val="CC00FF"/>
                </a:solidFill>
              </a:rPr>
              <a:t> </a:t>
            </a:r>
            <a:r>
              <a:rPr kumimoji="1" lang="en-US" altLang="zh-CN" sz="3200" b="1" i="1" dirty="0">
                <a:solidFill>
                  <a:srgbClr val="CC00FF"/>
                </a:solidFill>
              </a:rPr>
              <a:t>A</a:t>
            </a:r>
            <a:r>
              <a:rPr kumimoji="1" lang="en-US" altLang="zh-CN" sz="3200" b="1" dirty="0">
                <a:solidFill>
                  <a:srgbClr val="CC00FF"/>
                </a:solidFill>
              </a:rPr>
              <a:t>(</a:t>
            </a:r>
            <a:r>
              <a:rPr kumimoji="1" lang="en-US" altLang="zh-CN" sz="3200" b="1" i="1" dirty="0">
                <a:solidFill>
                  <a:srgbClr val="CC00FF"/>
                </a:solidFill>
              </a:rPr>
              <a:t>x</a:t>
            </a:r>
            <a:r>
              <a:rPr kumimoji="1" lang="en-US" altLang="zh-CN" sz="3200" b="1" dirty="0">
                <a:solidFill>
                  <a:srgbClr val="CC00FF"/>
                </a:solidFill>
              </a:rPr>
              <a:t>)</a:t>
            </a:r>
          </a:p>
        </p:txBody>
      </p:sp>
      <p:graphicFrame>
        <p:nvGraphicFramePr>
          <p:cNvPr id="6" name="Object 4">
            <a:extLst>
              <a:ext uri="{FF2B5EF4-FFF2-40B4-BE49-F238E27FC236}">
                <a16:creationId xmlns:a16="http://schemas.microsoft.com/office/drawing/2014/main" id="{AE503F08-457C-C320-F1C5-4FF7887F983E}"/>
              </a:ext>
            </a:extLst>
          </p:cNvPr>
          <p:cNvGraphicFramePr>
            <a:graphicFrameLocks noChangeAspect="1"/>
          </p:cNvGraphicFramePr>
          <p:nvPr>
            <p:extLst>
              <p:ext uri="{D42A27DB-BD31-4B8C-83A1-F6EECF244321}">
                <p14:modId xmlns:p14="http://schemas.microsoft.com/office/powerpoint/2010/main" val="2859651214"/>
              </p:ext>
            </p:extLst>
          </p:nvPr>
        </p:nvGraphicFramePr>
        <p:xfrm>
          <a:off x="7248128" y="3769594"/>
          <a:ext cx="4608512" cy="1133003"/>
        </p:xfrm>
        <a:graphic>
          <a:graphicData uri="http://schemas.openxmlformats.org/presentationml/2006/ole">
            <mc:AlternateContent xmlns:mc="http://schemas.openxmlformats.org/markup-compatibility/2006">
              <mc:Choice xmlns:v="urn:schemas-microsoft-com:vml" Requires="v">
                <p:oleObj name="Equation" r:id="rId2" imgW="1968480" imgH="482400" progId="Equation.DSMT4">
                  <p:embed/>
                </p:oleObj>
              </mc:Choice>
              <mc:Fallback>
                <p:oleObj name="Equation" r:id="rId2" imgW="1968480" imgH="482400" progId="Equation.DSMT4">
                  <p:embed/>
                  <p:pic>
                    <p:nvPicPr>
                      <p:cNvPr id="6" name="Object 4">
                        <a:extLst>
                          <a:ext uri="{FF2B5EF4-FFF2-40B4-BE49-F238E27FC236}">
                            <a16:creationId xmlns:a16="http://schemas.microsoft.com/office/drawing/2014/main" id="{AE503F08-457C-C320-F1C5-4FF7887F983E}"/>
                          </a:ext>
                        </a:extLst>
                      </p:cNvPr>
                      <p:cNvPicPr>
                        <a:picLocks noChangeAspect="1" noChangeArrowheads="1"/>
                      </p:cNvPicPr>
                      <p:nvPr/>
                    </p:nvPicPr>
                    <p:blipFill>
                      <a:blip r:embed="rId3"/>
                      <a:srcRect/>
                      <a:stretch>
                        <a:fillRect/>
                      </a:stretch>
                    </p:blipFill>
                    <p:spPr bwMode="auto">
                      <a:xfrm>
                        <a:off x="7248128" y="3769594"/>
                        <a:ext cx="4608512" cy="1133003"/>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337344240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4035">
                                            <p:txEl>
                                              <p:pRg st="0" end="0"/>
                                            </p:txEl>
                                          </p:spTgt>
                                        </p:tgtEl>
                                        <p:attrNameLst>
                                          <p:attrName>style.visibility</p:attrName>
                                        </p:attrNameLst>
                                      </p:cBhvr>
                                      <p:to>
                                        <p:strVal val="visible"/>
                                      </p:to>
                                    </p:set>
                                    <p:animEffect transition="in" filter="wipe(left)">
                                      <p:cBhvr>
                                        <p:cTn id="7" dur="500"/>
                                        <p:tgtEl>
                                          <p:spTgt spid="4403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4035">
                                            <p:txEl>
                                              <p:pRg st="1" end="1"/>
                                            </p:txEl>
                                          </p:spTgt>
                                        </p:tgtEl>
                                        <p:attrNameLst>
                                          <p:attrName>style.visibility</p:attrName>
                                        </p:attrNameLst>
                                      </p:cBhvr>
                                      <p:to>
                                        <p:strVal val="visible"/>
                                      </p:to>
                                    </p:set>
                                    <p:animEffect transition="in" filter="wipe(left)">
                                      <p:cBhvr>
                                        <p:cTn id="12" dur="500"/>
                                        <p:tgtEl>
                                          <p:spTgt spid="44035">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44035">
                                            <p:txEl>
                                              <p:pRg st="2" end="2"/>
                                            </p:txEl>
                                          </p:spTgt>
                                        </p:tgtEl>
                                        <p:attrNameLst>
                                          <p:attrName>style.visibility</p:attrName>
                                        </p:attrNameLst>
                                      </p:cBhvr>
                                      <p:to>
                                        <p:strVal val="visible"/>
                                      </p:to>
                                    </p:set>
                                    <p:animEffect transition="in" filter="wipe(left)">
                                      <p:cBhvr>
                                        <p:cTn id="17" dur="500"/>
                                        <p:tgtEl>
                                          <p:spTgt spid="4403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 presetClass="entr" presetSubtype="3" fill="hold" grpId="0" nodeType="clickEffect">
                                  <p:stCondLst>
                                    <p:cond delay="0"/>
                                  </p:stCondLst>
                                  <p:childTnLst>
                                    <p:set>
                                      <p:cBhvr>
                                        <p:cTn id="21" dur="1" fill="hold">
                                          <p:stCondLst>
                                            <p:cond delay="0"/>
                                          </p:stCondLst>
                                        </p:cTn>
                                        <p:tgtEl>
                                          <p:spTgt spid="2"/>
                                        </p:tgtEl>
                                        <p:attrNameLst>
                                          <p:attrName>style.visibility</p:attrName>
                                        </p:attrNameLst>
                                      </p:cBhvr>
                                      <p:to>
                                        <p:strVal val="visible"/>
                                      </p:to>
                                    </p:set>
                                    <p:anim calcmode="lin" valueType="num">
                                      <p:cBhvr additive="base">
                                        <p:cTn id="22" dur="500" fill="hold"/>
                                        <p:tgtEl>
                                          <p:spTgt spid="2"/>
                                        </p:tgtEl>
                                        <p:attrNameLst>
                                          <p:attrName>ppt_x</p:attrName>
                                        </p:attrNameLst>
                                      </p:cBhvr>
                                      <p:tavLst>
                                        <p:tav tm="0">
                                          <p:val>
                                            <p:strVal val="1+#ppt_w/2"/>
                                          </p:val>
                                        </p:tav>
                                        <p:tav tm="100000">
                                          <p:val>
                                            <p:strVal val="#ppt_x"/>
                                          </p:val>
                                        </p:tav>
                                      </p:tavLst>
                                    </p:anim>
                                    <p:anim calcmode="lin" valueType="num">
                                      <p:cBhvr additive="base">
                                        <p:cTn id="23" dur="500" fill="hold"/>
                                        <p:tgtEl>
                                          <p:spTgt spid="2"/>
                                        </p:tgtEl>
                                        <p:attrNameLst>
                                          <p:attrName>ppt_y</p:attrName>
                                        </p:attrNameLst>
                                      </p:cBhvr>
                                      <p:tavLst>
                                        <p:tav tm="0">
                                          <p:val>
                                            <p:strVal val="0-#ppt_h/2"/>
                                          </p:val>
                                        </p:tav>
                                        <p:tav tm="100000">
                                          <p:val>
                                            <p:strVal val="#ppt_y"/>
                                          </p:val>
                                        </p:tav>
                                      </p:tavLst>
                                    </p:anim>
                                  </p:childTnLst>
                                </p:cTn>
                              </p:par>
                            </p:childTnLst>
                          </p:cTn>
                        </p:par>
                      </p:childTnLst>
                    </p:cTn>
                  </p:par>
                  <p:par>
                    <p:cTn id="24" fill="hold" nodeType="clickPar">
                      <p:stCondLst>
                        <p:cond delay="indefinite"/>
                      </p:stCondLst>
                      <p:childTnLst>
                        <p:par>
                          <p:cTn id="25" fill="hold" nodeType="withGroup">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44035">
                                            <p:txEl>
                                              <p:pRg st="3" end="3"/>
                                            </p:txEl>
                                          </p:spTgt>
                                        </p:tgtEl>
                                        <p:attrNameLst>
                                          <p:attrName>style.visibility</p:attrName>
                                        </p:attrNameLst>
                                      </p:cBhvr>
                                      <p:to>
                                        <p:strVal val="visible"/>
                                      </p:to>
                                    </p:set>
                                    <p:animEffect transition="in" filter="wipe(left)">
                                      <p:cBhvr>
                                        <p:cTn id="28" dur="500"/>
                                        <p:tgtEl>
                                          <p:spTgt spid="44035">
                                            <p:txEl>
                                              <p:pRg st="3" end="3"/>
                                            </p:txEl>
                                          </p:spTgt>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44035">
                                            <p:txEl>
                                              <p:pRg st="4" end="4"/>
                                            </p:txEl>
                                          </p:spTgt>
                                        </p:tgtEl>
                                        <p:attrNameLst>
                                          <p:attrName>style.visibility</p:attrName>
                                        </p:attrNameLst>
                                      </p:cBhvr>
                                      <p:to>
                                        <p:strVal val="visible"/>
                                      </p:to>
                                    </p:set>
                                    <p:animEffect transition="in" filter="wipe(left)">
                                      <p:cBhvr>
                                        <p:cTn id="33" dur="500"/>
                                        <p:tgtEl>
                                          <p:spTgt spid="44035">
                                            <p:txEl>
                                              <p:pRg st="4" end="4"/>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2" presetClass="entr" presetSubtype="2" fill="hold" nodeType="clickEffect">
                                  <p:stCondLst>
                                    <p:cond delay="0"/>
                                  </p:stCondLst>
                                  <p:childTnLst>
                                    <p:set>
                                      <p:cBhvr>
                                        <p:cTn id="37" dur="1" fill="hold">
                                          <p:stCondLst>
                                            <p:cond delay="0"/>
                                          </p:stCondLst>
                                        </p:cTn>
                                        <p:tgtEl>
                                          <p:spTgt spid="6"/>
                                        </p:tgtEl>
                                        <p:attrNameLst>
                                          <p:attrName>style.visibility</p:attrName>
                                        </p:attrNameLst>
                                      </p:cBhvr>
                                      <p:to>
                                        <p:strVal val="visible"/>
                                      </p:to>
                                    </p:set>
                                    <p:anim calcmode="lin" valueType="num">
                                      <p:cBhvr additive="base">
                                        <p:cTn id="38" dur="500" fill="hold"/>
                                        <p:tgtEl>
                                          <p:spTgt spid="6"/>
                                        </p:tgtEl>
                                        <p:attrNameLst>
                                          <p:attrName>ppt_x</p:attrName>
                                        </p:attrNameLst>
                                      </p:cBhvr>
                                      <p:tavLst>
                                        <p:tav tm="0">
                                          <p:val>
                                            <p:strVal val="1+#ppt_w/2"/>
                                          </p:val>
                                        </p:tav>
                                        <p:tav tm="100000">
                                          <p:val>
                                            <p:strVal val="#ppt_x"/>
                                          </p:val>
                                        </p:tav>
                                      </p:tavLst>
                                    </p:anim>
                                    <p:anim calcmode="lin" valueType="num">
                                      <p:cBhvr additive="base">
                                        <p:cTn id="39" dur="500" fill="hold"/>
                                        <p:tgtEl>
                                          <p:spTgt spid="6"/>
                                        </p:tgtEl>
                                        <p:attrNameLst>
                                          <p:attrName>ppt_y</p:attrName>
                                        </p:attrNameLst>
                                      </p:cBhvr>
                                      <p:tavLst>
                                        <p:tav tm="0">
                                          <p:val>
                                            <p:strVal val="#ppt_y"/>
                                          </p:val>
                                        </p:tav>
                                        <p:tav tm="100000">
                                          <p:val>
                                            <p:strVal val="#ppt_y"/>
                                          </p:val>
                                        </p:tav>
                                      </p:tavLst>
                                    </p:anim>
                                  </p:childTnLst>
                                </p:cTn>
                              </p:par>
                            </p:childTnLst>
                          </p:cTn>
                        </p:par>
                      </p:childTnLst>
                    </p:cTn>
                  </p:par>
                  <p:par>
                    <p:cTn id="40" fill="hold" nodeType="clickPar">
                      <p:stCondLst>
                        <p:cond delay="indefinite"/>
                      </p:stCondLst>
                      <p:childTnLst>
                        <p:par>
                          <p:cTn id="41" fill="hold" nodeType="withGroup">
                            <p:stCondLst>
                              <p:cond delay="0"/>
                            </p:stCondLst>
                            <p:childTnLst>
                              <p:par>
                                <p:cTn id="42" presetID="22" presetClass="entr" presetSubtype="8" fill="hold" grpId="0" nodeType="clickEffect">
                                  <p:stCondLst>
                                    <p:cond delay="0"/>
                                  </p:stCondLst>
                                  <p:childTnLst>
                                    <p:set>
                                      <p:cBhvr>
                                        <p:cTn id="43" dur="1" fill="hold">
                                          <p:stCondLst>
                                            <p:cond delay="0"/>
                                          </p:stCondLst>
                                        </p:cTn>
                                        <p:tgtEl>
                                          <p:spTgt spid="44035">
                                            <p:txEl>
                                              <p:pRg st="5" end="5"/>
                                            </p:txEl>
                                          </p:spTgt>
                                        </p:tgtEl>
                                        <p:attrNameLst>
                                          <p:attrName>style.visibility</p:attrName>
                                        </p:attrNameLst>
                                      </p:cBhvr>
                                      <p:to>
                                        <p:strVal val="visible"/>
                                      </p:to>
                                    </p:set>
                                    <p:animEffect transition="in" filter="wipe(left)">
                                      <p:cBhvr>
                                        <p:cTn id="44" dur="500"/>
                                        <p:tgtEl>
                                          <p:spTgt spid="44035">
                                            <p:txEl>
                                              <p:pRg st="5" end="5"/>
                                            </p:txEl>
                                          </p:spTgt>
                                        </p:tgtEl>
                                      </p:cBhvr>
                                    </p:animEffect>
                                  </p:childTnLst>
                                </p:cTn>
                              </p:par>
                            </p:childTnLst>
                          </p:cTn>
                        </p:par>
                      </p:childTnLst>
                    </p:cTn>
                  </p:par>
                  <p:par>
                    <p:cTn id="45" fill="hold" nodeType="clickPar">
                      <p:stCondLst>
                        <p:cond delay="indefinite"/>
                      </p:stCondLst>
                      <p:childTnLst>
                        <p:par>
                          <p:cTn id="46" fill="hold" nodeType="withGroup">
                            <p:stCondLst>
                              <p:cond delay="0"/>
                            </p:stCondLst>
                            <p:childTnLst>
                              <p:par>
                                <p:cTn id="47" presetID="22" presetClass="entr" presetSubtype="8" fill="hold" grpId="0" nodeType="clickEffect">
                                  <p:stCondLst>
                                    <p:cond delay="0"/>
                                  </p:stCondLst>
                                  <p:childTnLst>
                                    <p:set>
                                      <p:cBhvr>
                                        <p:cTn id="48" dur="1" fill="hold">
                                          <p:stCondLst>
                                            <p:cond delay="0"/>
                                          </p:stCondLst>
                                        </p:cTn>
                                        <p:tgtEl>
                                          <p:spTgt spid="44035">
                                            <p:txEl>
                                              <p:pRg st="6" end="6"/>
                                            </p:txEl>
                                          </p:spTgt>
                                        </p:tgtEl>
                                        <p:attrNameLst>
                                          <p:attrName>style.visibility</p:attrName>
                                        </p:attrNameLst>
                                      </p:cBhvr>
                                      <p:to>
                                        <p:strVal val="visible"/>
                                      </p:to>
                                    </p:set>
                                    <p:animEffect transition="in" filter="wipe(left)">
                                      <p:cBhvr>
                                        <p:cTn id="49" dur="500"/>
                                        <p:tgtEl>
                                          <p:spTgt spid="44035">
                                            <p:txEl>
                                              <p:pRg st="6" end="6"/>
                                            </p:txEl>
                                          </p:spTgt>
                                        </p:tgtEl>
                                      </p:cBhvr>
                                    </p:animEffect>
                                  </p:childTnLst>
                                </p:cTn>
                              </p:par>
                            </p:childTnLst>
                          </p:cTn>
                        </p:par>
                      </p:childTnLst>
                    </p:cTn>
                  </p:par>
                  <p:par>
                    <p:cTn id="50" fill="hold" nodeType="clickPar">
                      <p:stCondLst>
                        <p:cond delay="indefinite"/>
                      </p:stCondLst>
                      <p:childTnLst>
                        <p:par>
                          <p:cTn id="51" fill="hold" nodeType="withGroup">
                            <p:stCondLst>
                              <p:cond delay="0"/>
                            </p:stCondLst>
                            <p:childTnLst>
                              <p:par>
                                <p:cTn id="52" presetID="22" presetClass="entr" presetSubtype="8" fill="hold" grpId="0" nodeType="clickEffect">
                                  <p:stCondLst>
                                    <p:cond delay="0"/>
                                  </p:stCondLst>
                                  <p:childTnLst>
                                    <p:set>
                                      <p:cBhvr>
                                        <p:cTn id="53" dur="1" fill="hold">
                                          <p:stCondLst>
                                            <p:cond delay="0"/>
                                          </p:stCondLst>
                                        </p:cTn>
                                        <p:tgtEl>
                                          <p:spTgt spid="44035">
                                            <p:txEl>
                                              <p:pRg st="7" end="7"/>
                                            </p:txEl>
                                          </p:spTgt>
                                        </p:tgtEl>
                                        <p:attrNameLst>
                                          <p:attrName>style.visibility</p:attrName>
                                        </p:attrNameLst>
                                      </p:cBhvr>
                                      <p:to>
                                        <p:strVal val="visible"/>
                                      </p:to>
                                    </p:set>
                                    <p:animEffect transition="in" filter="wipe(left)">
                                      <p:cBhvr>
                                        <p:cTn id="54" dur="500"/>
                                        <p:tgtEl>
                                          <p:spTgt spid="44035">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035" grpId="0" uiExpand="1" build="p"/>
      <p:bldP spid="2" grpId="0" animBg="1"/>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zh-CN" altLang="en-US" dirty="0">
                <a:solidFill>
                  <a:srgbClr val="008000"/>
                </a:solidFill>
              </a:rPr>
              <a:t>作业</a:t>
            </a:r>
            <a:r>
              <a:rPr lang="en-US" altLang="zh-CN" dirty="0">
                <a:solidFill>
                  <a:srgbClr val="008000"/>
                </a:solidFill>
              </a:rPr>
              <a:t>1</a:t>
            </a:r>
            <a:endParaRPr lang="zh-CN" altLang="en-US" dirty="0">
              <a:solidFill>
                <a:srgbClr val="008000"/>
              </a:solidFill>
            </a:endParaRPr>
          </a:p>
        </p:txBody>
      </p:sp>
      <p:sp>
        <p:nvSpPr>
          <p:cNvPr id="3" name="内容占位符 2"/>
          <p:cNvSpPr>
            <a:spLocks noGrp="1"/>
          </p:cNvSpPr>
          <p:nvPr>
            <p:ph idx="1"/>
          </p:nvPr>
        </p:nvSpPr>
        <p:spPr/>
        <p:txBody>
          <a:bodyPr/>
          <a:lstStyle/>
          <a:p>
            <a:r>
              <a:rPr lang="zh-CN" altLang="en-US"/>
              <a:t>习题一</a:t>
            </a:r>
            <a:r>
              <a:rPr lang="en-US" altLang="zh-CN"/>
              <a:t>: </a:t>
            </a:r>
            <a:r>
              <a:rPr lang="en-US" altLang="zh-CN" dirty="0"/>
              <a:t>1, 2, 3, 4</a:t>
            </a:r>
            <a:r>
              <a:rPr lang="en-US" altLang="zh-CN"/>
              <a:t>, </a:t>
            </a:r>
            <a:endParaRPr lang="zh-CN" altLang="en-US" dirty="0">
              <a:solidFill>
                <a:srgbClr val="FF0000"/>
              </a:solidFill>
            </a:endParaRPr>
          </a:p>
        </p:txBody>
      </p:sp>
      <p:pic>
        <p:nvPicPr>
          <p:cNvPr id="5" name="图片 4" descr="一些文字和图片的手机截图&#10;&#10;中度可信度描述已自动生成">
            <a:extLst>
              <a:ext uri="{FF2B5EF4-FFF2-40B4-BE49-F238E27FC236}">
                <a16:creationId xmlns:a16="http://schemas.microsoft.com/office/drawing/2014/main" id="{8CDAD47B-39D0-3619-3453-72644F95029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81200" y="2565234"/>
            <a:ext cx="8388424" cy="3835567"/>
          </a:xfrm>
          <a:prstGeom prst="rect">
            <a:avLst/>
          </a:prstGeom>
        </p:spPr>
      </p:pic>
      <p:sp>
        <p:nvSpPr>
          <p:cNvPr id="4" name="文本框 3">
            <a:extLst>
              <a:ext uri="{FF2B5EF4-FFF2-40B4-BE49-F238E27FC236}">
                <a16:creationId xmlns:a16="http://schemas.microsoft.com/office/drawing/2014/main" id="{4966DA6E-BE6C-26E3-5D4F-461DDD7BE8CD}"/>
              </a:ext>
            </a:extLst>
          </p:cNvPr>
          <p:cNvSpPr txBox="1"/>
          <p:nvPr/>
        </p:nvSpPr>
        <p:spPr>
          <a:xfrm>
            <a:off x="1981200" y="6381328"/>
            <a:ext cx="8388424" cy="369332"/>
          </a:xfrm>
          <a:prstGeom prst="rect">
            <a:avLst/>
          </a:prstGeom>
          <a:solidFill>
            <a:schemeClr val="accent3">
              <a:lumMod val="75000"/>
            </a:schemeClr>
          </a:solidFill>
        </p:spPr>
        <p:txBody>
          <a:bodyPr wrap="square" rtlCol="0">
            <a:spAutoFit/>
          </a:bodyPr>
          <a:lstStyle/>
          <a:p>
            <a:r>
              <a:rPr lang="zh-CN" altLang="en-US" dirty="0"/>
              <a:t>          求</a:t>
            </a:r>
            <a:r>
              <a:rPr kumimoji="1" lang="en-US" altLang="zh-CN" i="1" dirty="0"/>
              <a:t>A</a:t>
            </a:r>
            <a:r>
              <a:rPr kumimoji="1" lang="en-US" altLang="zh-CN" i="1" baseline="30000" dirty="0"/>
              <a:t>c</a:t>
            </a:r>
            <a:r>
              <a:rPr kumimoji="1" lang="zh-CN" altLang="en-US" dirty="0">
                <a:sym typeface="Symbol" pitchFamily="18" charset="2"/>
              </a:rPr>
              <a:t>，</a:t>
            </a:r>
            <a:r>
              <a:rPr kumimoji="1" lang="en-US" altLang="zh-CN" i="1" dirty="0"/>
              <a:t>A</a:t>
            </a:r>
            <a:r>
              <a:rPr kumimoji="1" lang="en-US" altLang="zh-CN" dirty="0">
                <a:sym typeface="Symbol"/>
              </a:rPr>
              <a:t></a:t>
            </a:r>
            <a:r>
              <a:rPr kumimoji="1" lang="en-US" altLang="zh-CN" i="1" dirty="0">
                <a:sym typeface="Symbol" pitchFamily="18" charset="2"/>
              </a:rPr>
              <a:t>B</a:t>
            </a:r>
            <a:r>
              <a:rPr kumimoji="1" lang="zh-CN" altLang="en-US" dirty="0">
                <a:sym typeface="Symbol"/>
              </a:rPr>
              <a:t>，</a:t>
            </a:r>
            <a:r>
              <a:rPr kumimoji="1" lang="en-US" altLang="zh-CN" i="1" dirty="0"/>
              <a:t>A</a:t>
            </a:r>
            <a:r>
              <a:rPr kumimoji="1" lang="en-US" altLang="zh-CN" dirty="0">
                <a:sym typeface="Symbol"/>
              </a:rPr>
              <a:t></a:t>
            </a:r>
            <a:r>
              <a:rPr kumimoji="1" lang="en-US" altLang="zh-CN" i="1" dirty="0">
                <a:sym typeface="Symbol" pitchFamily="18" charset="2"/>
              </a:rPr>
              <a:t>B</a:t>
            </a:r>
            <a:r>
              <a:rPr kumimoji="1" lang="zh-CN" altLang="en-US" dirty="0">
                <a:sym typeface="Symbol"/>
              </a:rPr>
              <a:t>，并作图</a:t>
            </a:r>
            <a:r>
              <a:rPr kumimoji="1" lang="en-US" altLang="zh-CN" dirty="0">
                <a:sym typeface="Symbol"/>
              </a:rPr>
              <a:t>.</a:t>
            </a:r>
            <a:endParaRPr lang="zh-CN" altLang="en-US" dirty="0"/>
          </a:p>
        </p:txBody>
      </p:sp>
    </p:spTree>
    <p:extLst>
      <p:ext uri="{BB962C8B-B14F-4D97-AF65-F5344CB8AC3E}">
        <p14:creationId xmlns:p14="http://schemas.microsoft.com/office/powerpoint/2010/main" val="33397135"/>
      </p:ext>
    </p:extLst>
  </p:cSld>
  <p:clrMapOvr>
    <a:masterClrMapping/>
  </p:clrMapOvr>
</p:sld>
</file>

<file path=ppt/theme/theme1.xml><?xml version="1.0" encoding="utf-8"?>
<a:theme xmlns:a="http://schemas.openxmlformats.org/drawingml/2006/main" name="Pixel">
  <a:themeElements>
    <a:clrScheme name="Pixel 12">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A8AB9"/>
      </a:accent6>
      <a:hlink>
        <a:srgbClr val="666699"/>
      </a:hlink>
      <a:folHlink>
        <a:srgbClr val="CCCCE6"/>
      </a:folHlink>
    </a:clrScheme>
    <a:fontScheme name="Pixel">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Pixel 1">
        <a:dk1>
          <a:srgbClr val="0066FF"/>
        </a:dk1>
        <a:lt1>
          <a:srgbClr val="FFFFFF"/>
        </a:lt1>
        <a:dk2>
          <a:srgbClr val="000066"/>
        </a:dk2>
        <a:lt2>
          <a:srgbClr val="FFFFFF"/>
        </a:lt2>
        <a:accent1>
          <a:srgbClr val="6699FF"/>
        </a:accent1>
        <a:accent2>
          <a:srgbClr val="3333FF"/>
        </a:accent2>
        <a:accent3>
          <a:srgbClr val="AAAAB8"/>
        </a:accent3>
        <a:accent4>
          <a:srgbClr val="DADADA"/>
        </a:accent4>
        <a:accent5>
          <a:srgbClr val="B8CAFF"/>
        </a:accent5>
        <a:accent6>
          <a:srgbClr val="2D2DE7"/>
        </a:accent6>
        <a:hlink>
          <a:srgbClr val="FFCC00"/>
        </a:hlink>
        <a:folHlink>
          <a:srgbClr val="0000CC"/>
        </a:folHlink>
      </a:clrScheme>
      <a:clrMap bg1="dk2" tx1="lt1" bg2="dk1" tx2="lt2" accent1="accent1" accent2="accent2" accent3="accent3" accent4="accent4" accent5="accent5" accent6="accent6" hlink="hlink" folHlink="folHlink"/>
    </a:extraClrScheme>
    <a:extraClrScheme>
      <a:clrScheme name="Pixel 2">
        <a:dk1>
          <a:srgbClr val="009999"/>
        </a:dk1>
        <a:lt1>
          <a:srgbClr val="FFFFFF"/>
        </a:lt1>
        <a:dk2>
          <a:srgbClr val="334B49"/>
        </a:dk2>
        <a:lt2>
          <a:srgbClr val="FFFFFF"/>
        </a:lt2>
        <a:accent1>
          <a:srgbClr val="33CCCC"/>
        </a:accent1>
        <a:accent2>
          <a:srgbClr val="008080"/>
        </a:accent2>
        <a:accent3>
          <a:srgbClr val="ADB1B1"/>
        </a:accent3>
        <a:accent4>
          <a:srgbClr val="DADADA"/>
        </a:accent4>
        <a:accent5>
          <a:srgbClr val="ADE2E2"/>
        </a:accent5>
        <a:accent6>
          <a:srgbClr val="007373"/>
        </a:accent6>
        <a:hlink>
          <a:srgbClr val="FFCC00"/>
        </a:hlink>
        <a:folHlink>
          <a:srgbClr val="006666"/>
        </a:folHlink>
      </a:clrScheme>
      <a:clrMap bg1="dk2" tx1="lt1" bg2="dk1" tx2="lt2" accent1="accent1" accent2="accent2" accent3="accent3" accent4="accent4" accent5="accent5" accent6="accent6" hlink="hlink" folHlink="folHlink"/>
    </a:extraClrScheme>
    <a:extraClrScheme>
      <a:clrScheme name="Pixel 3">
        <a:dk1>
          <a:srgbClr val="006699"/>
        </a:dk1>
        <a:lt1>
          <a:srgbClr val="FFFFFF"/>
        </a:lt1>
        <a:dk2>
          <a:srgbClr val="333399"/>
        </a:dk2>
        <a:lt2>
          <a:srgbClr val="FFFFFF"/>
        </a:lt2>
        <a:accent1>
          <a:srgbClr val="0099CC"/>
        </a:accent1>
        <a:accent2>
          <a:srgbClr val="0386AF"/>
        </a:accent2>
        <a:accent3>
          <a:srgbClr val="ADADCA"/>
        </a:accent3>
        <a:accent4>
          <a:srgbClr val="DADADA"/>
        </a:accent4>
        <a:accent5>
          <a:srgbClr val="AACAE2"/>
        </a:accent5>
        <a:accent6>
          <a:srgbClr val="02799E"/>
        </a:accent6>
        <a:hlink>
          <a:srgbClr val="FFCC00"/>
        </a:hlink>
        <a:folHlink>
          <a:srgbClr val="6699FF"/>
        </a:folHlink>
      </a:clrScheme>
      <a:clrMap bg1="dk2" tx1="lt1" bg2="dk1" tx2="lt2" accent1="accent1" accent2="accent2" accent3="accent3" accent4="accent4" accent5="accent5" accent6="accent6" hlink="hlink" folHlink="folHlink"/>
    </a:extraClrScheme>
    <a:extraClrScheme>
      <a:clrScheme name="Pixel 4">
        <a:dk1>
          <a:srgbClr val="008080"/>
        </a:dk1>
        <a:lt1>
          <a:srgbClr val="FFFFFF"/>
        </a:lt1>
        <a:dk2>
          <a:srgbClr val="2F978D"/>
        </a:dk2>
        <a:lt2>
          <a:srgbClr val="FFFFFF"/>
        </a:lt2>
        <a:accent1>
          <a:srgbClr val="0099FF"/>
        </a:accent1>
        <a:accent2>
          <a:srgbClr val="009999"/>
        </a:accent2>
        <a:accent3>
          <a:srgbClr val="ADC9C5"/>
        </a:accent3>
        <a:accent4>
          <a:srgbClr val="DADADA"/>
        </a:accent4>
        <a:accent5>
          <a:srgbClr val="AACAFF"/>
        </a:accent5>
        <a:accent6>
          <a:srgbClr val="008A8A"/>
        </a:accent6>
        <a:hlink>
          <a:srgbClr val="FFFFCC"/>
        </a:hlink>
        <a:folHlink>
          <a:srgbClr val="70CAC6"/>
        </a:folHlink>
      </a:clrScheme>
      <a:clrMap bg1="dk2" tx1="lt1" bg2="dk1" tx2="lt2" accent1="accent1" accent2="accent2" accent3="accent3" accent4="accent4" accent5="accent5" accent6="accent6" hlink="hlink" folHlink="folHlink"/>
    </a:extraClrScheme>
    <a:extraClrScheme>
      <a:clrScheme name="Pixel 5">
        <a:dk1>
          <a:srgbClr val="822504"/>
        </a:dk1>
        <a:lt1>
          <a:srgbClr val="FFFFFF"/>
        </a:lt1>
        <a:dk2>
          <a:srgbClr val="330000"/>
        </a:dk2>
        <a:lt2>
          <a:srgbClr val="FFFFFF"/>
        </a:lt2>
        <a:accent1>
          <a:srgbClr val="FF9900"/>
        </a:accent1>
        <a:accent2>
          <a:srgbClr val="9E2A06"/>
        </a:accent2>
        <a:accent3>
          <a:srgbClr val="ADAAAA"/>
        </a:accent3>
        <a:accent4>
          <a:srgbClr val="DADADA"/>
        </a:accent4>
        <a:accent5>
          <a:srgbClr val="FFCAAA"/>
        </a:accent5>
        <a:accent6>
          <a:srgbClr val="8F2505"/>
        </a:accent6>
        <a:hlink>
          <a:srgbClr val="FF3300"/>
        </a:hlink>
        <a:folHlink>
          <a:srgbClr val="7C0704"/>
        </a:folHlink>
      </a:clrScheme>
      <a:clrMap bg1="dk2" tx1="lt1" bg2="dk1" tx2="lt2" accent1="accent1" accent2="accent2" accent3="accent3" accent4="accent4" accent5="accent5" accent6="accent6" hlink="hlink" folHlink="folHlink"/>
    </a:extraClrScheme>
    <a:extraClrScheme>
      <a:clrScheme name="Pixel 6">
        <a:dk1>
          <a:srgbClr val="336600"/>
        </a:dk1>
        <a:lt1>
          <a:srgbClr val="FFFFFF"/>
        </a:lt1>
        <a:dk2>
          <a:srgbClr val="4A7911"/>
        </a:dk2>
        <a:lt2>
          <a:srgbClr val="FFFFFF"/>
        </a:lt2>
        <a:accent1>
          <a:srgbClr val="666633"/>
        </a:accent1>
        <a:accent2>
          <a:srgbClr val="669900"/>
        </a:accent2>
        <a:accent3>
          <a:srgbClr val="B1BEAA"/>
        </a:accent3>
        <a:accent4>
          <a:srgbClr val="DADADA"/>
        </a:accent4>
        <a:accent5>
          <a:srgbClr val="B8B8AD"/>
        </a:accent5>
        <a:accent6>
          <a:srgbClr val="5C8A00"/>
        </a:accent6>
        <a:hlink>
          <a:srgbClr val="FFCC00"/>
        </a:hlink>
        <a:folHlink>
          <a:srgbClr val="99CC00"/>
        </a:folHlink>
      </a:clrScheme>
      <a:clrMap bg1="dk2" tx1="lt1" bg2="dk1" tx2="lt2" accent1="accent1" accent2="accent2" accent3="accent3" accent4="accent4" accent5="accent5" accent6="accent6" hlink="hlink" folHlink="folHlink"/>
    </a:extraClrScheme>
    <a:extraClrScheme>
      <a:clrScheme name="Pixel 7">
        <a:dk1>
          <a:srgbClr val="000000"/>
        </a:dk1>
        <a:lt1>
          <a:srgbClr val="FFFFFF"/>
        </a:lt1>
        <a:dk2>
          <a:srgbClr val="000000"/>
        </a:dk2>
        <a:lt2>
          <a:srgbClr val="CC3300"/>
        </a:lt2>
        <a:accent1>
          <a:srgbClr val="FFCC00"/>
        </a:accent1>
        <a:accent2>
          <a:srgbClr val="CC6600"/>
        </a:accent2>
        <a:accent3>
          <a:srgbClr val="FFFFFF"/>
        </a:accent3>
        <a:accent4>
          <a:srgbClr val="000000"/>
        </a:accent4>
        <a:accent5>
          <a:srgbClr val="FFE2AA"/>
        </a:accent5>
        <a:accent6>
          <a:srgbClr val="B95C00"/>
        </a:accent6>
        <a:hlink>
          <a:srgbClr val="663300"/>
        </a:hlink>
        <a:folHlink>
          <a:srgbClr val="CC9900"/>
        </a:folHlink>
      </a:clrScheme>
      <a:clrMap bg1="lt1" tx1="dk1" bg2="lt2" tx2="dk2" accent1="accent1" accent2="accent2" accent3="accent3" accent4="accent4" accent5="accent5" accent6="accent6" hlink="hlink" folHlink="folHlink"/>
    </a:extraClrScheme>
    <a:extraClrScheme>
      <a:clrScheme name="Pixel 8">
        <a:dk1>
          <a:srgbClr val="003300"/>
        </a:dk1>
        <a:lt1>
          <a:srgbClr val="FFFFFF"/>
        </a:lt1>
        <a:dk2>
          <a:srgbClr val="000000"/>
        </a:dk2>
        <a:lt2>
          <a:srgbClr val="336600"/>
        </a:lt2>
        <a:accent1>
          <a:srgbClr val="CCCC00"/>
        </a:accent1>
        <a:accent2>
          <a:srgbClr val="669900"/>
        </a:accent2>
        <a:accent3>
          <a:srgbClr val="FFFFFF"/>
        </a:accent3>
        <a:accent4>
          <a:srgbClr val="002A00"/>
        </a:accent4>
        <a:accent5>
          <a:srgbClr val="E2E2AA"/>
        </a:accent5>
        <a:accent6>
          <a:srgbClr val="5C8A00"/>
        </a:accent6>
        <a:hlink>
          <a:srgbClr val="333300"/>
        </a:hlink>
        <a:folHlink>
          <a:srgbClr val="99CC00"/>
        </a:folHlink>
      </a:clrScheme>
      <a:clrMap bg1="lt1" tx1="dk1" bg2="lt2" tx2="dk2" accent1="accent1" accent2="accent2" accent3="accent3" accent4="accent4" accent5="accent5" accent6="accent6" hlink="hlink" folHlink="folHlink"/>
    </a:extraClrScheme>
    <a:extraClrScheme>
      <a:clrScheme name="Pixel 9">
        <a:dk1>
          <a:srgbClr val="000000"/>
        </a:dk1>
        <a:lt1>
          <a:srgbClr val="FFFFFF"/>
        </a:lt1>
        <a:dk2>
          <a:srgbClr val="000000"/>
        </a:dk2>
        <a:lt2>
          <a:srgbClr val="440044"/>
        </a:lt2>
        <a:accent1>
          <a:srgbClr val="FFCCCC"/>
        </a:accent1>
        <a:accent2>
          <a:srgbClr val="790571"/>
        </a:accent2>
        <a:accent3>
          <a:srgbClr val="FFFFFF"/>
        </a:accent3>
        <a:accent4>
          <a:srgbClr val="000000"/>
        </a:accent4>
        <a:accent5>
          <a:srgbClr val="FFE2E2"/>
        </a:accent5>
        <a:accent6>
          <a:srgbClr val="6D0466"/>
        </a:accent6>
        <a:hlink>
          <a:srgbClr val="993366"/>
        </a:hlink>
        <a:folHlink>
          <a:srgbClr val="9F839F"/>
        </a:folHlink>
      </a:clrScheme>
      <a:clrMap bg1="lt1" tx1="dk1" bg2="lt2" tx2="dk2" accent1="accent1" accent2="accent2" accent3="accent3" accent4="accent4" accent5="accent5" accent6="accent6" hlink="hlink" folHlink="folHlink"/>
    </a:extraClrScheme>
    <a:extraClrScheme>
      <a:clrScheme name="Pixel 10">
        <a:dk1>
          <a:srgbClr val="000000"/>
        </a:dk1>
        <a:lt1>
          <a:srgbClr val="FFFFFF"/>
        </a:lt1>
        <a:dk2>
          <a:srgbClr val="000000"/>
        </a:dk2>
        <a:lt2>
          <a:srgbClr val="FF9900"/>
        </a:lt2>
        <a:accent1>
          <a:srgbClr val="FFCC99"/>
        </a:accent1>
        <a:accent2>
          <a:srgbClr val="FBA313"/>
        </a:accent2>
        <a:accent3>
          <a:srgbClr val="FFFFFF"/>
        </a:accent3>
        <a:accent4>
          <a:srgbClr val="000000"/>
        </a:accent4>
        <a:accent5>
          <a:srgbClr val="FFE2CA"/>
        </a:accent5>
        <a:accent6>
          <a:srgbClr val="E39310"/>
        </a:accent6>
        <a:hlink>
          <a:srgbClr val="CC3300"/>
        </a:hlink>
        <a:folHlink>
          <a:srgbClr val="FCC66E"/>
        </a:folHlink>
      </a:clrScheme>
      <a:clrMap bg1="lt1" tx1="dk1" bg2="lt2" tx2="dk2" accent1="accent1" accent2="accent2" accent3="accent3" accent4="accent4" accent5="accent5" accent6="accent6" hlink="hlink" folHlink="folHlink"/>
    </a:extraClrScheme>
    <a:extraClrScheme>
      <a:clrScheme name="Pixel 11">
        <a:dk1>
          <a:srgbClr val="000000"/>
        </a:dk1>
        <a:lt1>
          <a:srgbClr val="FFFFFF"/>
        </a:lt1>
        <a:dk2>
          <a:srgbClr val="000000"/>
        </a:dk2>
        <a:lt2>
          <a:srgbClr val="779F92"/>
        </a:lt2>
        <a:accent1>
          <a:srgbClr val="33CCCC"/>
        </a:accent1>
        <a:accent2>
          <a:srgbClr val="9DC2D7"/>
        </a:accent2>
        <a:accent3>
          <a:srgbClr val="FFFFFF"/>
        </a:accent3>
        <a:accent4>
          <a:srgbClr val="000000"/>
        </a:accent4>
        <a:accent5>
          <a:srgbClr val="ADE2E2"/>
        </a:accent5>
        <a:accent6>
          <a:srgbClr val="8EB0C3"/>
        </a:accent6>
        <a:hlink>
          <a:srgbClr val="006666"/>
        </a:hlink>
        <a:folHlink>
          <a:srgbClr val="CCCCFF"/>
        </a:folHlink>
      </a:clrScheme>
      <a:clrMap bg1="lt1" tx1="dk1" bg2="lt2" tx2="dk2" accent1="accent1" accent2="accent2" accent3="accent3" accent4="accent4" accent5="accent5" accent6="accent6" hlink="hlink" folHlink="folHlink"/>
    </a:extraClrScheme>
    <a:extraClrScheme>
      <a:clrScheme name="Pixel 12">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A8AB9"/>
        </a:accent6>
        <a:hlink>
          <a:srgbClr val="666699"/>
        </a:hlink>
        <a:folHlink>
          <a:srgbClr val="CCCCE6"/>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Pixel</Template>
  <TotalTime>19151</TotalTime>
  <Words>5243</Words>
  <Application>Microsoft Office PowerPoint</Application>
  <PresentationFormat>宽屏</PresentationFormat>
  <Paragraphs>551</Paragraphs>
  <Slides>53</Slides>
  <Notes>14</Notes>
  <HiddenSlides>0</HiddenSlides>
  <MMClips>0</MMClips>
  <ScaleCrop>false</ScaleCrop>
  <HeadingPairs>
    <vt:vector size="8" baseType="variant">
      <vt:variant>
        <vt:lpstr>已用的字体</vt:lpstr>
      </vt:variant>
      <vt:variant>
        <vt:i4>16</vt:i4>
      </vt:variant>
      <vt:variant>
        <vt:lpstr>主题</vt:lpstr>
      </vt:variant>
      <vt:variant>
        <vt:i4>1</vt:i4>
      </vt:variant>
      <vt:variant>
        <vt:lpstr>嵌入 OLE 服务器</vt:lpstr>
      </vt:variant>
      <vt:variant>
        <vt:i4>4</vt:i4>
      </vt:variant>
      <vt:variant>
        <vt:lpstr>幻灯片标题</vt:lpstr>
      </vt:variant>
      <vt:variant>
        <vt:i4>53</vt:i4>
      </vt:variant>
    </vt:vector>
  </HeadingPairs>
  <TitlesOfParts>
    <vt:vector size="74" baseType="lpstr">
      <vt:lpstr>ITC Zapf Chancery</vt:lpstr>
      <vt:lpstr>黑体</vt:lpstr>
      <vt:lpstr>华文彩云</vt:lpstr>
      <vt:lpstr>华文行楷</vt:lpstr>
      <vt:lpstr>华文楷体</vt:lpstr>
      <vt:lpstr>华文中宋</vt:lpstr>
      <vt:lpstr>楷体_GB2312</vt:lpstr>
      <vt:lpstr>宋体</vt:lpstr>
      <vt:lpstr>Microsoft YaHei</vt:lpstr>
      <vt:lpstr>Arial</vt:lpstr>
      <vt:lpstr>Arial Black</vt:lpstr>
      <vt:lpstr>Monotype Corsiva</vt:lpstr>
      <vt:lpstr>Symbol</vt:lpstr>
      <vt:lpstr>Times New Roman</vt:lpstr>
      <vt:lpstr>Vladimir Script</vt:lpstr>
      <vt:lpstr>Wingdings</vt:lpstr>
      <vt:lpstr>Pixel</vt:lpstr>
      <vt:lpstr>Visio.Drawing.11</vt:lpstr>
      <vt:lpstr>MathType 6.0 Equation</vt:lpstr>
      <vt:lpstr>公式</vt:lpstr>
      <vt:lpstr>Equation</vt:lpstr>
      <vt:lpstr>模糊数学</vt:lpstr>
      <vt:lpstr>自我介绍</vt:lpstr>
      <vt:lpstr>课程内容</vt:lpstr>
      <vt:lpstr>授课方式和成绩评定方式</vt:lpstr>
      <vt:lpstr>参考书目</vt:lpstr>
      <vt:lpstr>模糊数学的引入</vt:lpstr>
      <vt:lpstr>模糊现象</vt:lpstr>
      <vt:lpstr>秃顶悖论</vt:lpstr>
      <vt:lpstr>朋友悖论</vt:lpstr>
      <vt:lpstr>为什么需要模糊数学</vt:lpstr>
      <vt:lpstr>PowerPoint 演示文稿</vt:lpstr>
      <vt:lpstr>PowerPoint 演示文稿</vt:lpstr>
      <vt:lpstr>经典二值逻辑与模糊逻辑的关系</vt:lpstr>
      <vt:lpstr>模糊数学</vt:lpstr>
      <vt:lpstr>模糊理论的创立</vt:lpstr>
      <vt:lpstr>模糊数学发展的主流是在它的应用方面</vt:lpstr>
      <vt:lpstr>模糊数学的研究与发展</vt:lpstr>
      <vt:lpstr>模糊数学的研究内容</vt:lpstr>
      <vt:lpstr>第一章   模糊集合</vt:lpstr>
      <vt:lpstr>    </vt:lpstr>
      <vt:lpstr>系统模式中系统复杂性与精确性的关系</vt:lpstr>
      <vt:lpstr>系统模式中系统复杂性与精确性的关系</vt:lpstr>
      <vt:lpstr>系统模式中系统复杂性与精确性的关系</vt:lpstr>
      <vt:lpstr>系统模式中系统复杂性与精确性的关系</vt:lpstr>
      <vt:lpstr>引例</vt:lpstr>
      <vt:lpstr>模糊逻辑与随机事件的联系与区别</vt:lpstr>
      <vt:lpstr>1.2  模糊集合的基本概念 1.2.1 经典集合</vt:lpstr>
      <vt:lpstr>经典集合</vt:lpstr>
      <vt:lpstr>经典集合</vt:lpstr>
      <vt:lpstr>经典集合</vt:lpstr>
      <vt:lpstr>经典集合</vt:lpstr>
      <vt:lpstr>经典集合</vt:lpstr>
      <vt:lpstr>1.2.2  模糊集合</vt:lpstr>
      <vt:lpstr>1.2.2  模糊集合</vt:lpstr>
      <vt:lpstr>模糊集和普通集合的关系</vt:lpstr>
      <vt:lpstr>模糊集和普通集合的关系</vt:lpstr>
      <vt:lpstr>模糊集合的表示方法</vt:lpstr>
      <vt:lpstr>模糊集合的表示方法</vt:lpstr>
      <vt:lpstr>模糊集合的表示方法</vt:lpstr>
      <vt:lpstr>模糊集合的表示方法</vt:lpstr>
      <vt:lpstr>模糊集合的表示方法</vt:lpstr>
      <vt:lpstr>1.3 模糊集的运算</vt:lpstr>
      <vt:lpstr>模糊集的运算</vt:lpstr>
      <vt:lpstr>模糊集的运算</vt:lpstr>
      <vt:lpstr>模糊集的运算</vt:lpstr>
      <vt:lpstr>PowerPoint 演示文稿</vt:lpstr>
      <vt:lpstr>模糊集的运算</vt:lpstr>
      <vt:lpstr>模糊集的运算</vt:lpstr>
      <vt:lpstr>模糊集的运算</vt:lpstr>
      <vt:lpstr> 模糊集的并、交、余运算性质</vt:lpstr>
      <vt:lpstr> 模糊集的并、交、余运算性质</vt:lpstr>
      <vt:lpstr> 模糊集的并、交、余运算性质</vt:lpstr>
      <vt:lpstr>作业1</vt:lpstr>
    </vt:vector>
  </TitlesOfParts>
  <Company>微软中国</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 3 章 模糊关系与聚类分析</dc:title>
  <dc:creator>凌卫新</dc:creator>
  <cp:lastModifiedBy>wxling66@outlook.com</cp:lastModifiedBy>
  <cp:revision>178</cp:revision>
  <cp:lastPrinted>2026-03-02T12:59:00Z</cp:lastPrinted>
  <dcterms:created xsi:type="dcterms:W3CDTF">2008-03-21T16:00:48Z</dcterms:created>
  <dcterms:modified xsi:type="dcterms:W3CDTF">2026-03-03T09:29:17Z</dcterms:modified>
</cp:coreProperties>
</file>