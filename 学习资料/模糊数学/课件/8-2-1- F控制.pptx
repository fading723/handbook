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9"/>
  </p:notesMasterIdLst>
  <p:handoutMasterIdLst>
    <p:handoutMasterId r:id="rId60"/>
  </p:handoutMasterIdLst>
  <p:sldIdLst>
    <p:sldId id="339" r:id="rId2"/>
    <p:sldId id="259" r:id="rId3"/>
    <p:sldId id="260" r:id="rId4"/>
    <p:sldId id="261" r:id="rId5"/>
    <p:sldId id="336" r:id="rId6"/>
    <p:sldId id="263" r:id="rId7"/>
    <p:sldId id="264" r:id="rId8"/>
    <p:sldId id="265" r:id="rId9"/>
    <p:sldId id="262" r:id="rId10"/>
    <p:sldId id="268" r:id="rId11"/>
    <p:sldId id="269" r:id="rId12"/>
    <p:sldId id="270" r:id="rId13"/>
    <p:sldId id="338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285" r:id="rId22"/>
    <p:sldId id="322" r:id="rId23"/>
    <p:sldId id="287" r:id="rId24"/>
    <p:sldId id="288" r:id="rId25"/>
    <p:sldId id="289" r:id="rId26"/>
    <p:sldId id="291" r:id="rId27"/>
    <p:sldId id="292" r:id="rId28"/>
    <p:sldId id="294" r:id="rId29"/>
    <p:sldId id="295" r:id="rId30"/>
    <p:sldId id="296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23" r:id="rId41"/>
    <p:sldId id="324" r:id="rId42"/>
    <p:sldId id="307" r:id="rId43"/>
    <p:sldId id="308" r:id="rId44"/>
    <p:sldId id="309" r:id="rId45"/>
    <p:sldId id="325" r:id="rId46"/>
    <p:sldId id="326" r:id="rId47"/>
    <p:sldId id="313" r:id="rId48"/>
    <p:sldId id="310" r:id="rId49"/>
    <p:sldId id="315" r:id="rId50"/>
    <p:sldId id="311" r:id="rId51"/>
    <p:sldId id="312" r:id="rId52"/>
    <p:sldId id="316" r:id="rId53"/>
    <p:sldId id="317" r:id="rId54"/>
    <p:sldId id="321" r:id="rId55"/>
    <p:sldId id="318" r:id="rId56"/>
    <p:sldId id="319" r:id="rId57"/>
    <p:sldId id="327" r:id="rId5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CC00CC"/>
    <a:srgbClr val="FF0066"/>
    <a:srgbClr val="FF0000"/>
    <a:srgbClr val="CCFF99"/>
    <a:srgbClr val="FFFFCC"/>
    <a:srgbClr val="FFCCFF"/>
    <a:srgbClr val="CCFF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72" y="3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74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A16C515-5038-4F29-9793-72B23A8885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296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33F81A-6228-4033-8C95-C4667528D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8026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32795BB-585E-415F-86F4-044CB2548693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抄这</a:t>
            </a:r>
            <a:r>
              <a:rPr lang="en-US" altLang="zh-CN"/>
              <a:t>2</a:t>
            </a:r>
            <a:r>
              <a:rPr lang="zh-CN" altLang="en-US"/>
              <a:t>条规则　</a:t>
            </a:r>
          </a:p>
        </p:txBody>
      </p:sp>
    </p:spTree>
    <p:extLst>
      <p:ext uri="{BB962C8B-B14F-4D97-AF65-F5344CB8AC3E}">
        <p14:creationId xmlns:p14="http://schemas.microsoft.com/office/powerpoint/2010/main" val="370188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3F81A-6228-4033-8C95-C4667528DA50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206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7460A76-5854-43CB-952B-B39944AA8776}" type="slidenum">
              <a:rPr lang="en-US" altLang="zh-CN" smtClean="0"/>
              <a:pPr eaLnBrk="1" hangingPunct="1"/>
              <a:t>16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控制输入变量较多</a:t>
            </a:r>
          </a:p>
        </p:txBody>
      </p:sp>
    </p:spTree>
    <p:extLst>
      <p:ext uri="{BB962C8B-B14F-4D97-AF65-F5344CB8AC3E}">
        <p14:creationId xmlns:p14="http://schemas.microsoft.com/office/powerpoint/2010/main" val="4230139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222D7BF-01A5-42E8-8EEE-EB9980C6F359}" type="slidenum">
              <a:rPr lang="en-US" altLang="zh-CN" smtClean="0"/>
              <a:pPr eaLnBrk="1" hangingPunct="1"/>
              <a:t>17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控制输入变量较少，但变量语言值较多（细致）</a:t>
            </a:r>
          </a:p>
        </p:txBody>
      </p:sp>
    </p:spTree>
    <p:extLst>
      <p:ext uri="{BB962C8B-B14F-4D97-AF65-F5344CB8AC3E}">
        <p14:creationId xmlns:p14="http://schemas.microsoft.com/office/powerpoint/2010/main" val="4060943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6E766E1-5740-4810-96B6-36E46B95684C}" type="slidenum">
              <a:rPr lang="en-US" altLang="zh-CN" smtClean="0"/>
              <a:pPr eaLnBrk="1" hangingPunct="1"/>
              <a:t>18</a:t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控制输入变量较少，但变量语言值较多（细致），控制规则复杂，控制特性并不见得比其他两种方法好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854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1470D16-779B-4432-BF95-1E99B32FA39C}" type="slidenum">
              <a:rPr lang="en-US" altLang="zh-CN" smtClean="0"/>
              <a:pPr eaLnBrk="1" hangingPunct="1"/>
              <a:t>20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种方法</a:t>
            </a:r>
            <a:r>
              <a:rPr lang="en-US" altLang="zh-CN" dirty="0"/>
              <a:t>——</a:t>
            </a:r>
            <a:r>
              <a:rPr lang="zh-CN" altLang="en-US" dirty="0"/>
              <a:t>输入变量语言值少，但控制变量在稳态附近刻画细致，控制特性好。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7411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B549420-D466-42A4-9FF7-42EDEB939FD1}" type="slidenum">
              <a:rPr lang="en-US" altLang="zh-CN" smtClean="0"/>
              <a:pPr eaLnBrk="1" hangingPunct="1"/>
              <a:t>21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抄图下来</a:t>
            </a:r>
          </a:p>
        </p:txBody>
      </p:sp>
    </p:spTree>
    <p:extLst>
      <p:ext uri="{BB962C8B-B14F-4D97-AF65-F5344CB8AC3E}">
        <p14:creationId xmlns:p14="http://schemas.microsoft.com/office/powerpoint/2010/main" val="2664958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B549420-D466-42A4-9FF7-42EDEB939FD1}" type="slidenum">
              <a:rPr lang="en-US" altLang="zh-CN" smtClean="0"/>
              <a:pPr eaLnBrk="1" hangingPunct="1"/>
              <a:t>22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抄图下来</a:t>
            </a:r>
          </a:p>
        </p:txBody>
      </p:sp>
    </p:spTree>
    <p:extLst>
      <p:ext uri="{BB962C8B-B14F-4D97-AF65-F5344CB8AC3E}">
        <p14:creationId xmlns:p14="http://schemas.microsoft.com/office/powerpoint/2010/main" val="1413507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CC00CC"/>
                </a:solidFill>
                <a:sym typeface="Symbol"/>
              </a:rPr>
              <a:t>合理选择多个调整因子的值</a:t>
            </a:r>
            <a:r>
              <a:rPr lang="zh-CN" altLang="en-US" b="1" dirty="0">
                <a:sym typeface="Symbol"/>
              </a:rPr>
              <a:t>可提高</a:t>
            </a:r>
            <a:r>
              <a:rPr lang="en-US" altLang="zh-CN" b="1" dirty="0">
                <a:sym typeface="Symbol"/>
              </a:rPr>
              <a:t>F</a:t>
            </a:r>
            <a:r>
              <a:rPr lang="zh-CN" altLang="en-US" b="1" dirty="0">
                <a:sym typeface="Symbol"/>
              </a:rPr>
              <a:t>控制的性能，这需要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对多个</a:t>
            </a:r>
            <a:r>
              <a:rPr lang="zh-CN" alt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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值进行优化</a:t>
            </a:r>
            <a:r>
              <a:rPr lang="zh-CN" altLang="en-US" b="1" dirty="0">
                <a:sym typeface="Symbol"/>
              </a:rPr>
              <a:t>，一般优化算法复杂，不便于实时控制。 </a:t>
            </a:r>
            <a:endParaRPr lang="en-US" altLang="zh-CN" b="1" dirty="0">
              <a:sym typeface="Symbol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3F81A-6228-4033-8C95-C4667528DA50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66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752" y="6247897"/>
            <a:ext cx="51784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CB426-8E95-4BBB-9181-885B2B64E6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75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1080" y="626650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E0329-027F-44B1-A42A-8643FF5939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884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CA9C1-0131-48F7-AA99-CF8DF35E01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939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41762" y="628309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DC69-780A-4B1C-97E7-61C7E54B9D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6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979C5-4197-4E15-8450-D6EFDC2FA7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06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3086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95C34-E364-4B19-9DC1-3C25DD4113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83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55617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A47BA-BA63-4780-94A9-8AFA2EA44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001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1B6D3-6BB7-4272-938F-C3C6CB1DE3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10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324F-2DC6-4E2C-A824-0AA5A2A441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500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C9D07-ECF5-49E4-9AEC-081DA34766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443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0FCB0-6827-4052-B1F8-50690392B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52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9F246-5609-47AB-8E41-68E47FB000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667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DC022-E2FC-4194-89EB-F0AC4449F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477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752" y="6280362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33C39-8941-4754-97F1-DAC9E9289B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10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138" y="6264275"/>
            <a:ext cx="589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461A77B0-1F5B-4DE1-802B-D0CEC0E6B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21.wmf"/><Relationship Id="rId7" Type="http://schemas.openxmlformats.org/officeDocument/2006/relationships/oleObject" Target="../embeddings/oleObject13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6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7588" y="2060575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8 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模糊控制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63753" y="4270375"/>
            <a:ext cx="6192837" cy="23495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8.1  F</a:t>
            </a:r>
            <a:r>
              <a:rPr lang="zh-CN" altLang="en-US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控制的概念</a:t>
            </a:r>
          </a:p>
          <a:p>
            <a:pPr eaLnBrk="1" hangingPunct="1"/>
            <a:r>
              <a:rPr lang="en-US" altLang="zh-CN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8.2  F </a:t>
            </a:r>
            <a:r>
              <a:rPr lang="zh-CN" altLang="en-US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控制原理</a:t>
            </a:r>
          </a:p>
          <a:p>
            <a:pPr eaLnBrk="1" hangingPunct="1"/>
            <a:r>
              <a:rPr lang="en-US" altLang="zh-CN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8.3 </a:t>
            </a:r>
            <a:r>
              <a:rPr lang="zh-CN" altLang="en-US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自组织 </a:t>
            </a:r>
            <a:r>
              <a:rPr lang="en-US" altLang="zh-CN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F </a:t>
            </a:r>
            <a:r>
              <a:rPr lang="zh-CN" altLang="en-US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控制器简介</a:t>
            </a:r>
          </a:p>
          <a:p>
            <a:pPr eaLnBrk="1" hangingPunct="1"/>
            <a:r>
              <a:rPr lang="en-US" altLang="zh-CN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8.4  F </a:t>
            </a:r>
            <a:r>
              <a:rPr lang="zh-CN" altLang="en-US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控制应用实例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FE8D79-9D91-7633-201D-C15E7168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CB426-8E95-4BBB-9181-885B2B64E6D8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2430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</a:rPr>
              <a:t>8.1</a:t>
            </a:r>
            <a:r>
              <a:rPr lang="zh-CN" altLang="en-US">
                <a:solidFill>
                  <a:srgbClr val="008000"/>
                </a:solidFill>
              </a:rPr>
              <a:t>　</a:t>
            </a:r>
            <a:r>
              <a:rPr lang="en-US" altLang="zh-CN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控制的概念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73238"/>
            <a:ext cx="9433048" cy="3886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1</a:t>
            </a:r>
            <a:r>
              <a:rPr lang="zh-CN" altLang="en-US" dirty="0">
                <a:ea typeface="黑体" pitchFamily="2" charset="-122"/>
              </a:rPr>
              <a:t>：关于贮水容器水位的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控制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可变的水位</a:t>
            </a:r>
            <a:r>
              <a:rPr lang="en-US" altLang="zh-CN" b="1" dirty="0">
                <a:ea typeface="楷体_GB2312" pitchFamily="49" charset="-122"/>
              </a:rPr>
              <a:t>x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调节阀</a:t>
            </a:r>
            <a:r>
              <a:rPr lang="en-US" altLang="zh-CN" b="1" dirty="0">
                <a:ea typeface="楷体_GB2312" pitchFamily="49" charset="-122"/>
              </a:rPr>
              <a:t>a</a:t>
            </a:r>
            <a:r>
              <a:rPr lang="zh-CN" altLang="en-US" b="1" dirty="0">
                <a:ea typeface="楷体_GB2312" pitchFamily="49" charset="-122"/>
              </a:rPr>
              <a:t>可控制注水或排水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设计一控制器，通过</a:t>
            </a:r>
            <a:r>
              <a:rPr lang="en-US" altLang="zh-CN" dirty="0">
                <a:ea typeface="黑体" pitchFamily="2" charset="-122"/>
              </a:rPr>
              <a:t>a</a:t>
            </a:r>
            <a:r>
              <a:rPr lang="zh-CN" altLang="en-US" dirty="0">
                <a:ea typeface="黑体" pitchFamily="2" charset="-122"/>
              </a:rPr>
              <a:t>将水位控制在</a:t>
            </a:r>
            <a:r>
              <a:rPr lang="en-US" altLang="zh-CN" dirty="0"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点附近</a:t>
            </a: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6707188" y="4076700"/>
            <a:ext cx="3960812" cy="2520950"/>
            <a:chOff x="3016" y="2069"/>
            <a:chExt cx="2495" cy="1588"/>
          </a:xfrm>
        </p:grpSpPr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4105" y="2069"/>
              <a:ext cx="1134" cy="15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1" name="Rectangle 7" descr="横虚线"/>
            <p:cNvSpPr>
              <a:spLocks noChangeArrowheads="1"/>
            </p:cNvSpPr>
            <p:nvPr/>
          </p:nvSpPr>
          <p:spPr bwMode="auto">
            <a:xfrm>
              <a:off x="4105" y="2568"/>
              <a:ext cx="1134" cy="1089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2" name="Rectangle 8" descr="横虚线"/>
            <p:cNvSpPr>
              <a:spLocks noChangeArrowheads="1"/>
            </p:cNvSpPr>
            <p:nvPr/>
          </p:nvSpPr>
          <p:spPr bwMode="auto">
            <a:xfrm>
              <a:off x="3152" y="3203"/>
              <a:ext cx="953" cy="182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3" name="Line 9"/>
            <p:cNvSpPr>
              <a:spLocks noChangeShapeType="1"/>
            </p:cNvSpPr>
            <p:nvPr/>
          </p:nvSpPr>
          <p:spPr bwMode="auto">
            <a:xfrm>
              <a:off x="3152" y="3203"/>
              <a:ext cx="0" cy="182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Line 10"/>
            <p:cNvSpPr>
              <a:spLocks noChangeShapeType="1"/>
            </p:cNvSpPr>
            <p:nvPr/>
          </p:nvSpPr>
          <p:spPr bwMode="auto">
            <a:xfrm flipV="1">
              <a:off x="3152" y="306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5" name="Line 11"/>
            <p:cNvSpPr>
              <a:spLocks noChangeShapeType="1"/>
            </p:cNvSpPr>
            <p:nvPr/>
          </p:nvSpPr>
          <p:spPr bwMode="auto">
            <a:xfrm flipV="1">
              <a:off x="3152" y="3385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Line 12"/>
            <p:cNvSpPr>
              <a:spLocks noChangeShapeType="1"/>
            </p:cNvSpPr>
            <p:nvPr/>
          </p:nvSpPr>
          <p:spPr bwMode="auto">
            <a:xfrm flipH="1">
              <a:off x="3016" y="3067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13"/>
            <p:cNvSpPr>
              <a:spLocks noChangeShapeType="1"/>
            </p:cNvSpPr>
            <p:nvPr/>
          </p:nvSpPr>
          <p:spPr bwMode="auto">
            <a:xfrm flipH="1">
              <a:off x="3016" y="3566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Oval 14"/>
            <p:cNvSpPr>
              <a:spLocks noChangeArrowheads="1"/>
            </p:cNvSpPr>
            <p:nvPr/>
          </p:nvSpPr>
          <p:spPr bwMode="auto">
            <a:xfrm>
              <a:off x="3424" y="3113"/>
              <a:ext cx="363" cy="3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Line 15"/>
            <p:cNvSpPr>
              <a:spLocks noChangeShapeType="1"/>
            </p:cNvSpPr>
            <p:nvPr/>
          </p:nvSpPr>
          <p:spPr bwMode="auto">
            <a:xfrm>
              <a:off x="3470" y="3158"/>
              <a:ext cx="272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 flipH="1">
              <a:off x="3515" y="3158"/>
              <a:ext cx="181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5284" y="2432"/>
              <a:ext cx="22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3366FF"/>
                  </a:solidFill>
                </a:rPr>
                <a:t>0</a:t>
              </a:r>
            </a:p>
          </p:txBody>
        </p:sp>
        <p:sp>
          <p:nvSpPr>
            <p:cNvPr id="11282" name="Text Box 18"/>
            <p:cNvSpPr txBox="1">
              <a:spLocks noChangeArrowheads="1"/>
            </p:cNvSpPr>
            <p:nvPr/>
          </p:nvSpPr>
          <p:spPr bwMode="auto">
            <a:xfrm>
              <a:off x="3515" y="279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1283" name="Line 19"/>
            <p:cNvSpPr>
              <a:spLocks noChangeShapeType="1"/>
            </p:cNvSpPr>
            <p:nvPr/>
          </p:nvSpPr>
          <p:spPr bwMode="auto">
            <a:xfrm>
              <a:off x="4105" y="2750"/>
              <a:ext cx="1179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Line 20"/>
            <p:cNvSpPr>
              <a:spLocks noChangeShapeType="1"/>
            </p:cNvSpPr>
            <p:nvPr/>
          </p:nvSpPr>
          <p:spPr bwMode="auto">
            <a:xfrm>
              <a:off x="4105" y="2069"/>
              <a:ext cx="113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" name="Rectangle 5" descr="横虚线"/>
            <p:cNvSpPr>
              <a:spLocks noChangeArrowheads="1"/>
            </p:cNvSpPr>
            <p:nvPr/>
          </p:nvSpPr>
          <p:spPr bwMode="auto">
            <a:xfrm>
              <a:off x="3016" y="3067"/>
              <a:ext cx="136" cy="499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20BA69-7802-7943-ABAB-9CB68A423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2430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700214"/>
            <a:ext cx="10369152" cy="468153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假定对水位变化原因不详，按人们的经验得大概的控制原理：</a:t>
            </a:r>
          </a:p>
          <a:p>
            <a:pPr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若水面高于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0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点，则排出水。差值越大，排水越快</a:t>
            </a:r>
          </a:p>
          <a:p>
            <a:pPr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若水面低于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0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点，则注入水。差值越大，注入越快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7391772" y="4076700"/>
            <a:ext cx="3960812" cy="2520950"/>
            <a:chOff x="3016" y="2069"/>
            <a:chExt cx="2495" cy="1588"/>
          </a:xfrm>
        </p:grpSpPr>
        <p:sp>
          <p:nvSpPr>
            <p:cNvPr id="12307" name="Rectangle 6"/>
            <p:cNvSpPr>
              <a:spLocks noChangeArrowheads="1"/>
            </p:cNvSpPr>
            <p:nvPr/>
          </p:nvSpPr>
          <p:spPr bwMode="auto">
            <a:xfrm>
              <a:off x="4105" y="2069"/>
              <a:ext cx="1134" cy="15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8" name="Rectangle 7" descr="横虚线"/>
            <p:cNvSpPr>
              <a:spLocks noChangeArrowheads="1"/>
            </p:cNvSpPr>
            <p:nvPr/>
          </p:nvSpPr>
          <p:spPr bwMode="auto">
            <a:xfrm>
              <a:off x="4105" y="2568"/>
              <a:ext cx="1134" cy="1089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9" name="Rectangle 8" descr="横虚线"/>
            <p:cNvSpPr>
              <a:spLocks noChangeArrowheads="1"/>
            </p:cNvSpPr>
            <p:nvPr/>
          </p:nvSpPr>
          <p:spPr bwMode="auto">
            <a:xfrm>
              <a:off x="3152" y="3203"/>
              <a:ext cx="953" cy="182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0" name="Line 9"/>
            <p:cNvSpPr>
              <a:spLocks noChangeShapeType="1"/>
            </p:cNvSpPr>
            <p:nvPr/>
          </p:nvSpPr>
          <p:spPr bwMode="auto">
            <a:xfrm>
              <a:off x="3152" y="3203"/>
              <a:ext cx="0" cy="182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10"/>
            <p:cNvSpPr>
              <a:spLocks noChangeShapeType="1"/>
            </p:cNvSpPr>
            <p:nvPr/>
          </p:nvSpPr>
          <p:spPr bwMode="auto">
            <a:xfrm flipV="1">
              <a:off x="3152" y="306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11"/>
            <p:cNvSpPr>
              <a:spLocks noChangeShapeType="1"/>
            </p:cNvSpPr>
            <p:nvPr/>
          </p:nvSpPr>
          <p:spPr bwMode="auto">
            <a:xfrm flipV="1">
              <a:off x="3152" y="3385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12"/>
            <p:cNvSpPr>
              <a:spLocks noChangeShapeType="1"/>
            </p:cNvSpPr>
            <p:nvPr/>
          </p:nvSpPr>
          <p:spPr bwMode="auto">
            <a:xfrm flipH="1">
              <a:off x="3016" y="3067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13"/>
            <p:cNvSpPr>
              <a:spLocks noChangeShapeType="1"/>
            </p:cNvSpPr>
            <p:nvPr/>
          </p:nvSpPr>
          <p:spPr bwMode="auto">
            <a:xfrm flipH="1">
              <a:off x="3016" y="3566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Oval 14"/>
            <p:cNvSpPr>
              <a:spLocks noChangeArrowheads="1"/>
            </p:cNvSpPr>
            <p:nvPr/>
          </p:nvSpPr>
          <p:spPr bwMode="auto">
            <a:xfrm>
              <a:off x="3424" y="3113"/>
              <a:ext cx="363" cy="3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6" name="Line 15"/>
            <p:cNvSpPr>
              <a:spLocks noChangeShapeType="1"/>
            </p:cNvSpPr>
            <p:nvPr/>
          </p:nvSpPr>
          <p:spPr bwMode="auto">
            <a:xfrm>
              <a:off x="3470" y="3158"/>
              <a:ext cx="272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16"/>
            <p:cNvSpPr>
              <a:spLocks noChangeShapeType="1"/>
            </p:cNvSpPr>
            <p:nvPr/>
          </p:nvSpPr>
          <p:spPr bwMode="auto">
            <a:xfrm flipH="1">
              <a:off x="3515" y="3158"/>
              <a:ext cx="181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Text Box 17"/>
            <p:cNvSpPr txBox="1">
              <a:spLocks noChangeArrowheads="1"/>
            </p:cNvSpPr>
            <p:nvPr/>
          </p:nvSpPr>
          <p:spPr bwMode="auto">
            <a:xfrm>
              <a:off x="5284" y="2432"/>
              <a:ext cx="22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3366FF"/>
                  </a:solidFill>
                </a:rPr>
                <a:t>0</a:t>
              </a:r>
            </a:p>
          </p:txBody>
        </p:sp>
        <p:sp>
          <p:nvSpPr>
            <p:cNvPr id="12319" name="Text Box 18"/>
            <p:cNvSpPr txBox="1">
              <a:spLocks noChangeArrowheads="1"/>
            </p:cNvSpPr>
            <p:nvPr/>
          </p:nvSpPr>
          <p:spPr bwMode="auto">
            <a:xfrm>
              <a:off x="3515" y="279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2320" name="Line 19"/>
            <p:cNvSpPr>
              <a:spLocks noChangeShapeType="1"/>
            </p:cNvSpPr>
            <p:nvPr/>
          </p:nvSpPr>
          <p:spPr bwMode="auto">
            <a:xfrm>
              <a:off x="4105" y="2750"/>
              <a:ext cx="1179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Line 20"/>
            <p:cNvSpPr>
              <a:spLocks noChangeShapeType="1"/>
            </p:cNvSpPr>
            <p:nvPr/>
          </p:nvSpPr>
          <p:spPr bwMode="auto">
            <a:xfrm>
              <a:off x="4105" y="2069"/>
              <a:ext cx="113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Rectangle 5" descr="横虚线"/>
            <p:cNvSpPr>
              <a:spLocks noChangeArrowheads="1"/>
            </p:cNvSpPr>
            <p:nvPr/>
          </p:nvSpPr>
          <p:spPr bwMode="auto">
            <a:xfrm>
              <a:off x="3016" y="3067"/>
              <a:ext cx="136" cy="499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274" name="Group 34"/>
          <p:cNvGrpSpPr>
            <a:grpSpLocks/>
          </p:cNvGrpSpPr>
          <p:nvPr/>
        </p:nvGrpSpPr>
        <p:grpSpPr bwMode="auto">
          <a:xfrm>
            <a:off x="1631951" y="4076701"/>
            <a:ext cx="4968875" cy="2341563"/>
            <a:chOff x="68" y="2568"/>
            <a:chExt cx="3130" cy="1475"/>
          </a:xfrm>
        </p:grpSpPr>
        <p:sp>
          <p:nvSpPr>
            <p:cNvPr id="12294" name="Rectangle 32"/>
            <p:cNvSpPr>
              <a:spLocks noChangeArrowheads="1"/>
            </p:cNvSpPr>
            <p:nvPr/>
          </p:nvSpPr>
          <p:spPr bwMode="auto">
            <a:xfrm>
              <a:off x="68" y="2568"/>
              <a:ext cx="3130" cy="59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" name="Text Box 21"/>
            <p:cNvSpPr txBox="1">
              <a:spLocks noChangeArrowheads="1"/>
            </p:cNvSpPr>
            <p:nvPr/>
          </p:nvSpPr>
          <p:spPr bwMode="auto">
            <a:xfrm>
              <a:off x="204" y="2750"/>
              <a:ext cx="635" cy="25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观测量</a:t>
              </a:r>
            </a:p>
          </p:txBody>
        </p:sp>
        <p:sp>
          <p:nvSpPr>
            <p:cNvPr id="12296" name="Text Box 22"/>
            <p:cNvSpPr txBox="1">
              <a:spLocks noChangeArrowheads="1"/>
            </p:cNvSpPr>
            <p:nvPr/>
          </p:nvSpPr>
          <p:spPr bwMode="auto">
            <a:xfrm>
              <a:off x="1202" y="2750"/>
              <a:ext cx="862" cy="252"/>
            </a:xfrm>
            <a:prstGeom prst="rect">
              <a:avLst/>
            </a:prstGeom>
            <a:solidFill>
              <a:srgbClr val="33CC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控制规则</a:t>
              </a:r>
            </a:p>
          </p:txBody>
        </p:sp>
        <p:sp>
          <p:nvSpPr>
            <p:cNvPr id="12297" name="Text Box 23"/>
            <p:cNvSpPr txBox="1">
              <a:spLocks noChangeArrowheads="1"/>
            </p:cNvSpPr>
            <p:nvPr/>
          </p:nvSpPr>
          <p:spPr bwMode="auto">
            <a:xfrm>
              <a:off x="2381" y="2750"/>
              <a:ext cx="635" cy="252"/>
            </a:xfrm>
            <a:prstGeom prst="rect">
              <a:avLst/>
            </a:prstGeom>
            <a:solidFill>
              <a:srgbClr val="66FF33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控制量</a:t>
              </a:r>
            </a:p>
          </p:txBody>
        </p:sp>
        <p:sp>
          <p:nvSpPr>
            <p:cNvPr id="12298" name="Text Box 24"/>
            <p:cNvSpPr txBox="1">
              <a:spLocks noChangeArrowheads="1"/>
            </p:cNvSpPr>
            <p:nvPr/>
          </p:nvSpPr>
          <p:spPr bwMode="auto">
            <a:xfrm>
              <a:off x="1111" y="3294"/>
              <a:ext cx="952" cy="252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被控制对象</a:t>
              </a:r>
            </a:p>
          </p:txBody>
        </p:sp>
        <p:sp>
          <p:nvSpPr>
            <p:cNvPr id="12299" name="Line 25"/>
            <p:cNvSpPr>
              <a:spLocks noChangeShapeType="1"/>
            </p:cNvSpPr>
            <p:nvPr/>
          </p:nvSpPr>
          <p:spPr bwMode="auto">
            <a:xfrm>
              <a:off x="839" y="2886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Line 27"/>
            <p:cNvSpPr>
              <a:spLocks noChangeShapeType="1"/>
            </p:cNvSpPr>
            <p:nvPr/>
          </p:nvSpPr>
          <p:spPr bwMode="auto">
            <a:xfrm>
              <a:off x="2064" y="2886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" name="Line 28"/>
            <p:cNvSpPr>
              <a:spLocks noChangeShapeType="1"/>
            </p:cNvSpPr>
            <p:nvPr/>
          </p:nvSpPr>
          <p:spPr bwMode="auto">
            <a:xfrm>
              <a:off x="476" y="3022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" name="Line 29"/>
            <p:cNvSpPr>
              <a:spLocks noChangeShapeType="1"/>
            </p:cNvSpPr>
            <p:nvPr/>
          </p:nvSpPr>
          <p:spPr bwMode="auto">
            <a:xfrm>
              <a:off x="2699" y="3022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" name="Line 30"/>
            <p:cNvSpPr>
              <a:spLocks noChangeShapeType="1"/>
            </p:cNvSpPr>
            <p:nvPr/>
          </p:nvSpPr>
          <p:spPr bwMode="auto">
            <a:xfrm>
              <a:off x="476" y="3430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4" name="Line 31"/>
            <p:cNvSpPr>
              <a:spLocks noChangeShapeType="1"/>
            </p:cNvSpPr>
            <p:nvPr/>
          </p:nvSpPr>
          <p:spPr bwMode="auto">
            <a:xfrm>
              <a:off x="2064" y="3430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305" name="Text Box 33"/>
            <p:cNvSpPr txBox="1">
              <a:spLocks noChangeArrowheads="1"/>
            </p:cNvSpPr>
            <p:nvPr/>
          </p:nvSpPr>
          <p:spPr bwMode="auto">
            <a:xfrm>
              <a:off x="1066" y="3793"/>
              <a:ext cx="11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楷体_GB2312" pitchFamily="49" charset="-122"/>
                </a:rPr>
                <a:t>F</a:t>
              </a:r>
              <a:r>
                <a:rPr lang="zh-CN" altLang="en-US" sz="2000" b="1">
                  <a:ea typeface="楷体_GB2312" pitchFamily="49" charset="-122"/>
                </a:rPr>
                <a:t>控制的框图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04FECB-9ED6-C04F-37B2-9F155CCD91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2656"/>
            <a:ext cx="8229600" cy="124301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</a:t>
            </a:r>
            <a:r>
              <a:rPr lang="zh-CN" altLang="en-US" dirty="0"/>
              <a:t>　　　　　　　　　　　　　　　　　　　　　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526382"/>
            <a:ext cx="10225136" cy="24479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确定误差</a:t>
            </a:r>
            <a:r>
              <a:rPr lang="en-US" altLang="zh-CN" dirty="0">
                <a:ea typeface="黑体" pitchFamily="2" charset="-122"/>
              </a:rPr>
              <a:t>x</a:t>
            </a:r>
          </a:p>
          <a:p>
            <a:pPr lvl="1" eaLnBrk="1" hangingPunct="1"/>
            <a:r>
              <a:rPr lang="en-US" altLang="zh-CN" dirty="0">
                <a:ea typeface="黑体" pitchFamily="2" charset="-122"/>
              </a:rPr>
              <a:t>x</a:t>
            </a:r>
            <a:r>
              <a:rPr lang="zh-CN" altLang="en-US" dirty="0">
                <a:ea typeface="黑体" pitchFamily="2" charset="-122"/>
              </a:rPr>
              <a:t>是水位对</a:t>
            </a:r>
            <a:r>
              <a:rPr lang="en-US" altLang="zh-CN" dirty="0"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点的偏差，将它分为</a:t>
            </a:r>
            <a:r>
              <a:rPr lang="en-US" altLang="zh-CN" dirty="0">
                <a:ea typeface="黑体" pitchFamily="2" charset="-122"/>
              </a:rPr>
              <a:t>7</a:t>
            </a:r>
            <a:r>
              <a:rPr lang="zh-CN" altLang="en-US" dirty="0">
                <a:ea typeface="黑体" pitchFamily="2" charset="-122"/>
              </a:rPr>
              <a:t>级：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误差论域 </a:t>
            </a:r>
            <a:r>
              <a:rPr lang="en-US" altLang="zh-CN" b="1" dirty="0">
                <a:ea typeface="楷体_GB2312" pitchFamily="49" charset="-122"/>
              </a:rPr>
              <a:t>X</a:t>
            </a:r>
            <a:r>
              <a:rPr lang="zh-CN" altLang="en-US" b="1" dirty="0">
                <a:ea typeface="楷体_GB2312" pitchFamily="49" charset="-122"/>
              </a:rPr>
              <a:t>＝</a:t>
            </a:r>
            <a:r>
              <a:rPr lang="en-US" altLang="zh-CN" b="1" dirty="0">
                <a:ea typeface="楷体_GB2312" pitchFamily="49" charset="-122"/>
              </a:rPr>
              <a:t>{-3, -2, -1, 0, 1, 2, 3 }</a:t>
            </a:r>
            <a:r>
              <a:rPr lang="zh-CN" altLang="en-US" b="1" dirty="0">
                <a:ea typeface="楷体_GB2312" pitchFamily="49" charset="-122"/>
              </a:rPr>
              <a:t>　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误差取五个语言值</a:t>
            </a:r>
            <a:r>
              <a:rPr lang="en-US" altLang="zh-CN" dirty="0">
                <a:ea typeface="黑体" pitchFamily="2" charset="-122"/>
              </a:rPr>
              <a:t>Ai (</a:t>
            </a:r>
            <a:r>
              <a:rPr lang="en-US" altLang="zh-CN" dirty="0" err="1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=1,2,…5)</a:t>
            </a:r>
            <a:r>
              <a:rPr lang="zh-CN" altLang="en-US" dirty="0">
                <a:ea typeface="黑体" pitchFamily="2" charset="-122"/>
              </a:rPr>
              <a:t>，它是论域</a:t>
            </a:r>
            <a:r>
              <a:rPr lang="en-US" altLang="zh-CN" dirty="0">
                <a:ea typeface="黑体" pitchFamily="2" charset="-122"/>
              </a:rPr>
              <a:t>X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将误差 </a:t>
            </a:r>
            <a:r>
              <a:rPr lang="en-US" altLang="zh-CN" dirty="0">
                <a:ea typeface="黑体" pitchFamily="2" charset="-122"/>
              </a:rPr>
              <a:t>x </a:t>
            </a:r>
            <a:r>
              <a:rPr lang="zh-CN" altLang="en-US" dirty="0">
                <a:ea typeface="黑体" pitchFamily="2" charset="-122"/>
              </a:rPr>
              <a:t>模糊化</a:t>
            </a:r>
          </a:p>
        </p:txBody>
      </p:sp>
      <p:graphicFrame>
        <p:nvGraphicFramePr>
          <p:cNvPr id="13389" name="Group 77"/>
          <p:cNvGraphicFramePr>
            <a:graphicFrameLocks noGrp="1"/>
          </p:cNvGraphicFramePr>
          <p:nvPr>
            <p:ph sz="half" idx="2"/>
          </p:nvPr>
        </p:nvGraphicFramePr>
        <p:xfrm>
          <a:off x="2135188" y="4292600"/>
          <a:ext cx="8075612" cy="2378076"/>
        </p:xfrm>
        <a:graphic>
          <a:graphicData uri="http://schemas.openxmlformats.org/drawingml/2006/table">
            <a:tbl>
              <a:tblPr/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集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\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论域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951FBC-7C77-0964-7023-28F3D6AAAB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2656"/>
            <a:ext cx="109728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</a:t>
            </a:r>
            <a:r>
              <a:rPr lang="zh-CN" altLang="en-US" dirty="0"/>
              <a:t>　　　　　　　　　　　　　　　　　　　　　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31107" y="1540746"/>
            <a:ext cx="8147050" cy="6477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将误差 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x 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模糊化</a:t>
            </a:r>
          </a:p>
        </p:txBody>
      </p:sp>
      <p:graphicFrame>
        <p:nvGraphicFramePr>
          <p:cNvPr id="14427" name="Group 91"/>
          <p:cNvGraphicFramePr>
            <a:graphicFrameLocks noGrp="1"/>
          </p:cNvGraphicFramePr>
          <p:nvPr>
            <p:ph sz="half" idx="2"/>
          </p:nvPr>
        </p:nvGraphicFramePr>
        <p:xfrm>
          <a:off x="2208213" y="2205038"/>
          <a:ext cx="8075612" cy="2378076"/>
        </p:xfrm>
        <a:graphic>
          <a:graphicData uri="http://schemas.openxmlformats.org/drawingml/2006/table">
            <a:tbl>
              <a:tblPr/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集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\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论域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4405" name="Group 69"/>
          <p:cNvGrpSpPr>
            <a:grpSpLocks/>
          </p:cNvGrpSpPr>
          <p:nvPr/>
        </p:nvGrpSpPr>
        <p:grpSpPr bwMode="auto">
          <a:xfrm>
            <a:off x="2855913" y="4906964"/>
            <a:ext cx="6985000" cy="1951037"/>
            <a:chOff x="793" y="2205"/>
            <a:chExt cx="4400" cy="1229"/>
          </a:xfrm>
        </p:grpSpPr>
        <p:sp>
          <p:nvSpPr>
            <p:cNvPr id="14406" name="Line 70"/>
            <p:cNvSpPr>
              <a:spLocks noChangeShapeType="1"/>
            </p:cNvSpPr>
            <p:nvPr/>
          </p:nvSpPr>
          <p:spPr bwMode="auto">
            <a:xfrm>
              <a:off x="839" y="3158"/>
              <a:ext cx="4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7" name="Line 71"/>
            <p:cNvSpPr>
              <a:spLocks noChangeShapeType="1"/>
            </p:cNvSpPr>
            <p:nvPr/>
          </p:nvSpPr>
          <p:spPr bwMode="auto">
            <a:xfrm flipV="1">
              <a:off x="2880" y="2387"/>
              <a:ext cx="0" cy="7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8" name="Text Box 72"/>
            <p:cNvSpPr txBox="1">
              <a:spLocks noChangeArrowheads="1"/>
            </p:cNvSpPr>
            <p:nvPr/>
          </p:nvSpPr>
          <p:spPr bwMode="auto">
            <a:xfrm>
              <a:off x="793" y="3203"/>
              <a:ext cx="4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　　</a:t>
              </a:r>
              <a:r>
                <a:rPr lang="en-US" altLang="zh-CN"/>
                <a:t>-3</a:t>
              </a:r>
              <a:r>
                <a:rPr lang="zh-CN" altLang="en-US"/>
                <a:t>　　　</a:t>
              </a:r>
              <a:r>
                <a:rPr lang="en-US" altLang="zh-CN"/>
                <a:t>-2</a:t>
              </a:r>
              <a:r>
                <a:rPr lang="zh-CN" altLang="en-US"/>
                <a:t>　　　</a:t>
              </a:r>
              <a:r>
                <a:rPr lang="en-US" altLang="zh-CN"/>
                <a:t>-1</a:t>
              </a:r>
              <a:r>
                <a:rPr lang="zh-CN" altLang="en-US"/>
                <a:t>　　　</a:t>
              </a:r>
              <a:r>
                <a:rPr lang="en-US" altLang="zh-CN"/>
                <a:t>0</a:t>
              </a:r>
              <a:r>
                <a:rPr lang="zh-CN" altLang="en-US"/>
                <a:t>　　　</a:t>
              </a:r>
              <a:r>
                <a:rPr lang="en-US" altLang="zh-CN"/>
                <a:t>1</a:t>
              </a:r>
              <a:r>
                <a:rPr lang="zh-CN" altLang="en-US"/>
                <a:t>　　　</a:t>
              </a:r>
              <a:r>
                <a:rPr lang="en-US" altLang="zh-CN"/>
                <a:t>2</a:t>
              </a:r>
              <a:r>
                <a:rPr lang="zh-CN" altLang="en-US"/>
                <a:t>　　　</a:t>
              </a:r>
              <a:r>
                <a:rPr lang="en-US" altLang="zh-CN"/>
                <a:t>3</a:t>
              </a:r>
              <a:r>
                <a:rPr lang="zh-CN" altLang="en-US"/>
                <a:t>　　　  </a:t>
              </a:r>
              <a:r>
                <a:rPr lang="en-US" altLang="zh-CN"/>
                <a:t>x</a:t>
              </a:r>
            </a:p>
          </p:txBody>
        </p:sp>
        <p:sp>
          <p:nvSpPr>
            <p:cNvPr id="14409" name="Line 73"/>
            <p:cNvSpPr>
              <a:spLocks noChangeShapeType="1"/>
            </p:cNvSpPr>
            <p:nvPr/>
          </p:nvSpPr>
          <p:spPr bwMode="auto">
            <a:xfrm flipV="1">
              <a:off x="1791" y="2568"/>
              <a:ext cx="108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0" name="Line 74"/>
            <p:cNvSpPr>
              <a:spLocks noChangeShapeType="1"/>
            </p:cNvSpPr>
            <p:nvPr/>
          </p:nvSpPr>
          <p:spPr bwMode="auto">
            <a:xfrm flipH="1" flipV="1">
              <a:off x="2880" y="2568"/>
              <a:ext cx="108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1" name="Line 75"/>
            <p:cNvSpPr>
              <a:spLocks noChangeShapeType="1"/>
            </p:cNvSpPr>
            <p:nvPr/>
          </p:nvSpPr>
          <p:spPr bwMode="auto">
            <a:xfrm flipV="1">
              <a:off x="1247" y="2568"/>
              <a:ext cx="1089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2" name="Line 76"/>
            <p:cNvSpPr>
              <a:spLocks noChangeShapeType="1"/>
            </p:cNvSpPr>
            <p:nvPr/>
          </p:nvSpPr>
          <p:spPr bwMode="auto">
            <a:xfrm>
              <a:off x="2336" y="2568"/>
              <a:ext cx="544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3" name="Line 77"/>
            <p:cNvSpPr>
              <a:spLocks noChangeShapeType="1"/>
            </p:cNvSpPr>
            <p:nvPr/>
          </p:nvSpPr>
          <p:spPr bwMode="auto">
            <a:xfrm flipH="1" flipV="1">
              <a:off x="1247" y="2568"/>
              <a:ext cx="1089" cy="59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4" name="Line 78"/>
            <p:cNvSpPr>
              <a:spLocks noChangeShapeType="1"/>
            </p:cNvSpPr>
            <p:nvPr/>
          </p:nvSpPr>
          <p:spPr bwMode="auto">
            <a:xfrm flipH="1">
              <a:off x="975" y="2568"/>
              <a:ext cx="272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5" name="Line 79"/>
            <p:cNvSpPr>
              <a:spLocks noChangeShapeType="1"/>
            </p:cNvSpPr>
            <p:nvPr/>
          </p:nvSpPr>
          <p:spPr bwMode="auto">
            <a:xfrm flipV="1">
              <a:off x="3379" y="2568"/>
              <a:ext cx="1089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6" name="Line 80"/>
            <p:cNvSpPr>
              <a:spLocks noChangeShapeType="1"/>
            </p:cNvSpPr>
            <p:nvPr/>
          </p:nvSpPr>
          <p:spPr bwMode="auto">
            <a:xfrm>
              <a:off x="4468" y="2568"/>
              <a:ext cx="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7" name="Line 81"/>
            <p:cNvSpPr>
              <a:spLocks noChangeShapeType="1"/>
            </p:cNvSpPr>
            <p:nvPr/>
          </p:nvSpPr>
          <p:spPr bwMode="auto">
            <a:xfrm flipH="1" flipV="1">
              <a:off x="3379" y="2568"/>
              <a:ext cx="1089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8" name="Line 82"/>
            <p:cNvSpPr>
              <a:spLocks noChangeShapeType="1"/>
            </p:cNvSpPr>
            <p:nvPr/>
          </p:nvSpPr>
          <p:spPr bwMode="auto">
            <a:xfrm flipH="1">
              <a:off x="2880" y="2568"/>
              <a:ext cx="499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9" name="Text Box 83"/>
            <p:cNvSpPr txBox="1">
              <a:spLocks noChangeArrowheads="1"/>
            </p:cNvSpPr>
            <p:nvPr/>
          </p:nvSpPr>
          <p:spPr bwMode="auto">
            <a:xfrm>
              <a:off x="975" y="2205"/>
              <a:ext cx="39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5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008000"/>
                  </a:solidFill>
                  <a:ea typeface="楷体_GB2312" pitchFamily="49" charset="-122"/>
                </a:rPr>
                <a:t>负大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 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3366FF"/>
                  </a:solidFill>
                  <a:ea typeface="楷体_GB2312" pitchFamily="49" charset="-122"/>
                </a:rPr>
                <a:t>4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3366FF"/>
                  </a:solidFill>
                  <a:ea typeface="楷体_GB2312" pitchFamily="49" charset="-122"/>
                </a:rPr>
                <a:t>负小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)</a:t>
              </a:r>
              <a:r>
                <a:rPr lang="zh-CN" altLang="en-US" b="1" dirty="0">
                  <a:ea typeface="楷体_GB2312" pitchFamily="49" charset="-122"/>
                </a:rPr>
                <a:t>　　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  <a:ea typeface="楷体_GB2312" pitchFamily="49" charset="-122"/>
                </a:rPr>
                <a:t>3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(0)</a:t>
              </a:r>
              <a:r>
                <a:rPr lang="en-US" altLang="zh-CN" b="1" dirty="0">
                  <a:ea typeface="楷体_GB2312" pitchFamily="49" charset="-122"/>
                </a:rPr>
                <a:t>    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CC6600"/>
                  </a:solidFill>
                  <a:ea typeface="楷体_GB2312" pitchFamily="49" charset="-122"/>
                </a:rPr>
                <a:t>2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CC6600"/>
                  </a:solidFill>
                  <a:ea typeface="楷体_GB2312" pitchFamily="49" charset="-122"/>
                </a:rPr>
                <a:t>正小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A</a:t>
              </a:r>
              <a:r>
                <a:rPr lang="en-US" altLang="zh-CN" b="1" baseline="-25000" dirty="0">
                  <a:ea typeface="楷体_GB2312" pitchFamily="49" charset="-122"/>
                </a:rPr>
                <a:t>1</a:t>
              </a:r>
              <a:r>
                <a:rPr lang="en-US" altLang="zh-CN" b="1" dirty="0">
                  <a:ea typeface="楷体_GB2312" pitchFamily="49" charset="-122"/>
                </a:rPr>
                <a:t>(</a:t>
              </a:r>
              <a:r>
                <a:rPr lang="zh-CN" altLang="en-US" b="1" dirty="0">
                  <a:ea typeface="楷体_GB2312" pitchFamily="49" charset="-122"/>
                </a:rPr>
                <a:t>正大</a:t>
              </a:r>
              <a:r>
                <a:rPr lang="en-US" altLang="zh-CN" b="1" dirty="0">
                  <a:ea typeface="楷体_GB2312" pitchFamily="49" charset="-122"/>
                </a:rPr>
                <a:t>)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6CFAE9-EFB1-9E85-368E-15FC597807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0648"/>
            <a:ext cx="109728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700362"/>
            <a:ext cx="10153128" cy="22399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控制量的确定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当观测到一个误差，按经验调节阀门，设控制量</a:t>
            </a:r>
            <a:r>
              <a:rPr lang="en-US" altLang="zh-CN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分为</a:t>
            </a:r>
            <a:r>
              <a:rPr lang="en-US" altLang="zh-CN" dirty="0">
                <a:ea typeface="黑体" pitchFamily="2" charset="-122"/>
              </a:rPr>
              <a:t>9</a:t>
            </a:r>
            <a:r>
              <a:rPr lang="zh-CN" altLang="en-US" dirty="0">
                <a:ea typeface="黑体" pitchFamily="2" charset="-122"/>
              </a:rPr>
              <a:t>级：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b="1" dirty="0">
                <a:ea typeface="楷体_GB2312" pitchFamily="49" charset="-122"/>
              </a:rPr>
              <a:t>论域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b="1" dirty="0">
                <a:ea typeface="楷体_GB2312" pitchFamily="49" charset="-122"/>
              </a:rPr>
              <a:t>{-4, -3, -2, -1, 0, 1, 2, 3, 4 }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控制量取五个语言值</a:t>
            </a:r>
            <a:r>
              <a:rPr lang="en-US" altLang="zh-CN" dirty="0">
                <a:ea typeface="黑体" pitchFamily="2" charset="-122"/>
              </a:rPr>
              <a:t>Bi (</a:t>
            </a:r>
            <a:r>
              <a:rPr lang="en-US" altLang="zh-CN" dirty="0" err="1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=1,2,…5)</a:t>
            </a:r>
            <a:r>
              <a:rPr lang="zh-CN" altLang="en-US" dirty="0">
                <a:ea typeface="黑体" pitchFamily="2" charset="-122"/>
              </a:rPr>
              <a:t>，它是论域</a:t>
            </a:r>
            <a:r>
              <a:rPr lang="en-US" altLang="zh-CN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</a:t>
            </a:r>
          </a:p>
        </p:txBody>
      </p:sp>
      <p:graphicFrame>
        <p:nvGraphicFramePr>
          <p:cNvPr id="15480" name="Group 120"/>
          <p:cNvGraphicFramePr>
            <a:graphicFrameLocks noGrp="1"/>
          </p:cNvGraphicFramePr>
          <p:nvPr>
            <p:ph sz="half" idx="2"/>
          </p:nvPr>
        </p:nvGraphicFramePr>
        <p:xfrm>
          <a:off x="1703389" y="4292600"/>
          <a:ext cx="8785225" cy="2378076"/>
        </p:xfrm>
        <a:graphic>
          <a:graphicData uri="http://schemas.openxmlformats.org/drawingml/2006/table">
            <a:tbl>
              <a:tblPr/>
              <a:tblGrid>
                <a:gridCol w="1382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07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集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\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论域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C1C159-FDF4-B225-BD56-6F21F692AB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2362" y="1663556"/>
            <a:ext cx="8002587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C00CC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CC00CC"/>
                </a:solidFill>
                <a:ea typeface="黑体" pitchFamily="2" charset="-122"/>
              </a:rPr>
              <a:t>控制量的确定</a:t>
            </a:r>
            <a:endParaRPr lang="zh-CN" altLang="en-US">
              <a:solidFill>
                <a:srgbClr val="CC00CC"/>
              </a:solidFill>
            </a:endParaRPr>
          </a:p>
        </p:txBody>
      </p:sp>
      <p:graphicFrame>
        <p:nvGraphicFramePr>
          <p:cNvPr id="16536" name="Group 152"/>
          <p:cNvGraphicFramePr>
            <a:graphicFrameLocks noGrp="1"/>
          </p:cNvGraphicFramePr>
          <p:nvPr>
            <p:ph sz="half" idx="2"/>
          </p:nvPr>
        </p:nvGraphicFramePr>
        <p:xfrm>
          <a:off x="1524001" y="2349500"/>
          <a:ext cx="8964613" cy="2378076"/>
        </p:xfrm>
        <a:graphic>
          <a:graphicData uri="http://schemas.openxmlformats.org/drawingml/2006/table">
            <a:tbl>
              <a:tblPr/>
              <a:tblGrid>
                <a:gridCol w="1411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集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\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论域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471" name="Group 129"/>
          <p:cNvGrpSpPr>
            <a:grpSpLocks/>
          </p:cNvGrpSpPr>
          <p:nvPr/>
        </p:nvGrpSpPr>
        <p:grpSpPr bwMode="auto">
          <a:xfrm>
            <a:off x="2135188" y="4906964"/>
            <a:ext cx="8208962" cy="1951037"/>
            <a:chOff x="476" y="2205"/>
            <a:chExt cx="5171" cy="1229"/>
          </a:xfrm>
        </p:grpSpPr>
        <p:sp>
          <p:nvSpPr>
            <p:cNvPr id="16472" name="Line 130"/>
            <p:cNvSpPr>
              <a:spLocks noChangeShapeType="1"/>
            </p:cNvSpPr>
            <p:nvPr/>
          </p:nvSpPr>
          <p:spPr bwMode="auto">
            <a:xfrm>
              <a:off x="567" y="3158"/>
              <a:ext cx="48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3" name="Line 131"/>
            <p:cNvSpPr>
              <a:spLocks noChangeShapeType="1"/>
            </p:cNvSpPr>
            <p:nvPr/>
          </p:nvSpPr>
          <p:spPr bwMode="auto">
            <a:xfrm flipV="1">
              <a:off x="2880" y="2387"/>
              <a:ext cx="0" cy="7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4" name="Text Box 132"/>
            <p:cNvSpPr txBox="1">
              <a:spLocks noChangeArrowheads="1"/>
            </p:cNvSpPr>
            <p:nvPr/>
          </p:nvSpPr>
          <p:spPr bwMode="auto">
            <a:xfrm>
              <a:off x="476" y="3203"/>
              <a:ext cx="5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　</a:t>
              </a:r>
              <a:r>
                <a:rPr lang="en-US" altLang="zh-CN"/>
                <a:t>-4</a:t>
              </a:r>
              <a:r>
                <a:rPr lang="zh-CN" altLang="en-US"/>
                <a:t>　　　</a:t>
              </a:r>
              <a:r>
                <a:rPr lang="en-US" altLang="zh-CN"/>
                <a:t>3</a:t>
              </a:r>
              <a:r>
                <a:rPr lang="zh-CN" altLang="en-US"/>
                <a:t>　　　</a:t>
              </a:r>
              <a:r>
                <a:rPr lang="en-US" altLang="zh-CN"/>
                <a:t>-2</a:t>
              </a:r>
              <a:r>
                <a:rPr lang="zh-CN" altLang="en-US"/>
                <a:t>　　　</a:t>
              </a:r>
              <a:r>
                <a:rPr lang="en-US" altLang="zh-CN"/>
                <a:t>-1</a:t>
              </a:r>
              <a:r>
                <a:rPr lang="zh-CN" altLang="en-US"/>
                <a:t>　　　</a:t>
              </a:r>
              <a:r>
                <a:rPr lang="en-US" altLang="zh-CN"/>
                <a:t>0</a:t>
              </a:r>
              <a:r>
                <a:rPr lang="zh-CN" altLang="en-US"/>
                <a:t>　　　</a:t>
              </a:r>
              <a:r>
                <a:rPr lang="en-US" altLang="zh-CN"/>
                <a:t>1</a:t>
              </a:r>
              <a:r>
                <a:rPr lang="zh-CN" altLang="en-US"/>
                <a:t>　　　</a:t>
              </a:r>
              <a:r>
                <a:rPr lang="en-US" altLang="zh-CN"/>
                <a:t>2</a:t>
              </a:r>
              <a:r>
                <a:rPr lang="zh-CN" altLang="en-US"/>
                <a:t>　　　</a:t>
              </a:r>
              <a:r>
                <a:rPr lang="en-US" altLang="zh-CN"/>
                <a:t>3</a:t>
              </a:r>
              <a:r>
                <a:rPr lang="zh-CN" altLang="en-US"/>
                <a:t>　　　 </a:t>
              </a:r>
              <a:r>
                <a:rPr lang="en-US" altLang="zh-CN"/>
                <a:t>4</a:t>
              </a:r>
              <a:r>
                <a:rPr lang="zh-CN" altLang="en-US"/>
                <a:t>　　 </a:t>
              </a:r>
              <a:r>
                <a:rPr lang="en-US" altLang="zh-CN"/>
                <a:t>y</a:t>
              </a:r>
            </a:p>
          </p:txBody>
        </p:sp>
        <p:sp>
          <p:nvSpPr>
            <p:cNvPr id="16475" name="Line 133"/>
            <p:cNvSpPr>
              <a:spLocks noChangeShapeType="1"/>
            </p:cNvSpPr>
            <p:nvPr/>
          </p:nvSpPr>
          <p:spPr bwMode="auto">
            <a:xfrm flipV="1">
              <a:off x="1837" y="2568"/>
              <a:ext cx="1043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6" name="Line 134"/>
            <p:cNvSpPr>
              <a:spLocks noChangeShapeType="1"/>
            </p:cNvSpPr>
            <p:nvPr/>
          </p:nvSpPr>
          <p:spPr bwMode="auto">
            <a:xfrm flipH="1" flipV="1">
              <a:off x="2880" y="2568"/>
              <a:ext cx="108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7" name="Line 135"/>
            <p:cNvSpPr>
              <a:spLocks noChangeShapeType="1"/>
            </p:cNvSpPr>
            <p:nvPr/>
          </p:nvSpPr>
          <p:spPr bwMode="auto">
            <a:xfrm flipV="1">
              <a:off x="793" y="2568"/>
              <a:ext cx="1044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8" name="Line 136"/>
            <p:cNvSpPr>
              <a:spLocks noChangeShapeType="1"/>
            </p:cNvSpPr>
            <p:nvPr/>
          </p:nvSpPr>
          <p:spPr bwMode="auto">
            <a:xfrm flipH="1" flipV="1">
              <a:off x="793" y="2568"/>
              <a:ext cx="1044" cy="59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9" name="Line 137"/>
            <p:cNvSpPr>
              <a:spLocks noChangeShapeType="1"/>
            </p:cNvSpPr>
            <p:nvPr/>
          </p:nvSpPr>
          <p:spPr bwMode="auto">
            <a:xfrm flipH="1">
              <a:off x="567" y="2568"/>
              <a:ext cx="226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0" name="Line 138"/>
            <p:cNvSpPr>
              <a:spLocks noChangeShapeType="1"/>
            </p:cNvSpPr>
            <p:nvPr/>
          </p:nvSpPr>
          <p:spPr bwMode="auto">
            <a:xfrm flipV="1">
              <a:off x="3969" y="2568"/>
              <a:ext cx="998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1" name="Line 139"/>
            <p:cNvSpPr>
              <a:spLocks noChangeShapeType="1"/>
            </p:cNvSpPr>
            <p:nvPr/>
          </p:nvSpPr>
          <p:spPr bwMode="auto">
            <a:xfrm>
              <a:off x="4967" y="2568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2" name="Line 140"/>
            <p:cNvSpPr>
              <a:spLocks noChangeShapeType="1"/>
            </p:cNvSpPr>
            <p:nvPr/>
          </p:nvSpPr>
          <p:spPr bwMode="auto">
            <a:xfrm flipH="1" flipV="1">
              <a:off x="3923" y="2568"/>
              <a:ext cx="1044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3" name="Text Box 141"/>
            <p:cNvSpPr txBox="1">
              <a:spLocks noChangeArrowheads="1"/>
            </p:cNvSpPr>
            <p:nvPr/>
          </p:nvSpPr>
          <p:spPr bwMode="auto">
            <a:xfrm>
              <a:off x="567" y="2205"/>
              <a:ext cx="47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5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008000"/>
                  </a:solidFill>
                  <a:ea typeface="楷体_GB2312" pitchFamily="49" charset="-122"/>
                </a:rPr>
                <a:t>负大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3366FF"/>
                  </a:solidFill>
                  <a:ea typeface="楷体_GB2312" pitchFamily="49" charset="-122"/>
                </a:rPr>
                <a:t>4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3366FF"/>
                  </a:solidFill>
                  <a:ea typeface="楷体_GB2312" pitchFamily="49" charset="-122"/>
                </a:rPr>
                <a:t>负小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)</a:t>
              </a:r>
              <a:r>
                <a:rPr lang="zh-CN" altLang="en-US" b="1" dirty="0">
                  <a:ea typeface="楷体_GB2312" pitchFamily="49" charset="-122"/>
                </a:rPr>
                <a:t>　　　　  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FF0000"/>
                  </a:solidFill>
                  <a:ea typeface="楷体_GB2312" pitchFamily="49" charset="-122"/>
                </a:rPr>
                <a:t>3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(0)</a:t>
              </a:r>
              <a:r>
                <a:rPr lang="en-US" altLang="zh-CN" b="1" dirty="0">
                  <a:ea typeface="楷体_GB2312" pitchFamily="49" charset="-122"/>
                </a:rPr>
                <a:t>    </a:t>
              </a:r>
              <a:r>
                <a:rPr lang="zh-CN" altLang="en-US" b="1" dirty="0">
                  <a:ea typeface="楷体_GB2312" pitchFamily="49" charset="-122"/>
                </a:rPr>
                <a:t>　　　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CC6600"/>
                  </a:solidFill>
                  <a:ea typeface="楷体_GB2312" pitchFamily="49" charset="-122"/>
                </a:rPr>
                <a:t>2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CC6600"/>
                  </a:solidFill>
                  <a:ea typeface="楷体_GB2312" pitchFamily="49" charset="-122"/>
                </a:rPr>
                <a:t>正小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</a:t>
              </a:r>
              <a:r>
                <a:rPr lang="zh-CN" altLang="en-US" b="1" dirty="0">
                  <a:ea typeface="楷体_GB2312" pitchFamily="49" charset="-122"/>
                </a:rPr>
                <a:t>　</a:t>
              </a:r>
              <a:r>
                <a:rPr lang="en-US" altLang="zh-CN" b="1" dirty="0"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ea typeface="楷体_GB2312" pitchFamily="49" charset="-122"/>
                </a:rPr>
                <a:t>1</a:t>
              </a:r>
              <a:r>
                <a:rPr lang="en-US" altLang="zh-CN" b="1" dirty="0">
                  <a:ea typeface="楷体_GB2312" pitchFamily="49" charset="-122"/>
                </a:rPr>
                <a:t>(</a:t>
              </a:r>
              <a:r>
                <a:rPr lang="zh-CN" altLang="en-US" b="1" dirty="0">
                  <a:ea typeface="楷体_GB2312" pitchFamily="49" charset="-122"/>
                </a:rPr>
                <a:t>正大</a:t>
              </a:r>
              <a:r>
                <a:rPr lang="en-US" altLang="zh-CN" b="1" dirty="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16484" name="Line 142"/>
            <p:cNvSpPr>
              <a:spLocks noChangeShapeType="1"/>
            </p:cNvSpPr>
            <p:nvPr/>
          </p:nvSpPr>
          <p:spPr bwMode="auto">
            <a:xfrm flipH="1" flipV="1">
              <a:off x="1837" y="2568"/>
              <a:ext cx="1043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5" name="Line 143"/>
            <p:cNvSpPr>
              <a:spLocks noChangeShapeType="1"/>
            </p:cNvSpPr>
            <p:nvPr/>
          </p:nvSpPr>
          <p:spPr bwMode="auto">
            <a:xfrm flipV="1">
              <a:off x="2880" y="2568"/>
              <a:ext cx="1043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11DAF5-D66B-F73C-7BE9-B317A8222A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2656"/>
            <a:ext cx="109728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5414" y="1757798"/>
            <a:ext cx="9145712" cy="479742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控制规则的确定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b="1" dirty="0"/>
              <a:t>按经验得下述规则</a:t>
            </a:r>
          </a:p>
          <a:p>
            <a:pPr lvl="1" eaLnBrk="1" hangingPunct="1"/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IF  x=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负大  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THEN y=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正大</a:t>
            </a:r>
          </a:p>
          <a:p>
            <a:pPr lvl="1" eaLnBrk="1" hangingPunct="1"/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IF  x=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负小  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THEN y=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正小</a:t>
            </a:r>
          </a:p>
          <a:p>
            <a:pPr lvl="1" eaLnBrk="1" hangingPunct="1"/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IF  x=  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零    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THEN y= 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零</a:t>
            </a:r>
          </a:p>
          <a:p>
            <a:pPr lvl="1" eaLnBrk="1" hangingPunct="1"/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IF  x=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正小  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THEN y=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负小</a:t>
            </a:r>
          </a:p>
          <a:p>
            <a:pPr lvl="1" eaLnBrk="1" hangingPunct="1"/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IF  x=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正大  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THEN y=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负大</a:t>
            </a:r>
          </a:p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这是多重条件语句，它可表示从</a:t>
            </a:r>
            <a:r>
              <a:rPr lang="en-US" altLang="zh-CN" sz="2800" b="1" dirty="0">
                <a:ea typeface="楷体_GB2312" pitchFamily="49" charset="-122"/>
              </a:rPr>
              <a:t>X</a:t>
            </a:r>
            <a:r>
              <a:rPr lang="zh-CN" altLang="en-US" sz="2800" b="1" dirty="0">
                <a:ea typeface="楷体_GB2312" pitchFamily="49" charset="-122"/>
              </a:rPr>
              <a:t>到</a:t>
            </a:r>
            <a:r>
              <a:rPr lang="en-US" altLang="zh-CN" sz="2800" b="1" dirty="0">
                <a:ea typeface="楷体_GB2312" pitchFamily="49" charset="-122"/>
              </a:rPr>
              <a:t>Y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ea typeface="楷体_GB2312" pitchFamily="49" charset="-122"/>
              </a:rPr>
              <a:t>关系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　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33CCFF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33CCFF"/>
                </a:solidFill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33CCFF"/>
                </a:solidFill>
                <a:sym typeface="Symbol"/>
              </a:rPr>
              <a:t></a:t>
            </a:r>
            <a:r>
              <a:rPr lang="en-US" altLang="zh-CN" sz="2800" b="1" dirty="0">
                <a:solidFill>
                  <a:srgbClr val="33CCFF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33CC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CC00CC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CC00CC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</a:rPr>
              <a:t> </a:t>
            </a:r>
            <a:r>
              <a:rPr lang="en-US" altLang="zh-CN" sz="2800" b="1" dirty="0">
                <a:sym typeface="Symbol"/>
              </a:rPr>
              <a:t> </a:t>
            </a:r>
            <a:r>
              <a:rPr lang="en-US" altLang="zh-CN" sz="2800" b="1" dirty="0">
                <a:solidFill>
                  <a:srgbClr val="00B05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00B05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B05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00B05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00B05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altLang="zh-CN" sz="2800" b="1" dirty="0">
                <a:sym typeface="Symbol"/>
              </a:rPr>
              <a:t> </a:t>
            </a:r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7030A0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7030A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7030A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7030A0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7030A0"/>
                </a:solidFill>
                <a:sym typeface="Symbol"/>
              </a:rPr>
              <a:t> 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C000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FFC00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FFC00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FFC000"/>
                </a:solidFill>
                <a:ea typeface="楷体_GB2312" pitchFamily="49" charset="-122"/>
              </a:rPr>
              <a:t>5</a:t>
            </a:r>
            <a:endParaRPr lang="en-US" altLang="zh-CN" sz="2400" b="1" dirty="0">
              <a:solidFill>
                <a:srgbClr val="FFC000"/>
              </a:solidFill>
            </a:endParaRPr>
          </a:p>
        </p:txBody>
      </p:sp>
      <p:graphicFrame>
        <p:nvGraphicFramePr>
          <p:cNvPr id="17412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3226019"/>
              </p:ext>
            </p:extLst>
          </p:nvPr>
        </p:nvGraphicFramePr>
        <p:xfrm>
          <a:off x="8112224" y="1953418"/>
          <a:ext cx="3095625" cy="2951163"/>
        </p:xfrm>
        <a:graphic>
          <a:graphicData uri="http://schemas.openxmlformats.org/drawingml/2006/table">
            <a:tbl>
              <a:tblPr/>
              <a:tblGrid>
                <a:gridCol w="151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IF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THEN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C65561-81C5-5126-11EF-2F3865609A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</a:t>
            </a:r>
            <a:r>
              <a:rPr lang="zh-CN" altLang="en-US"/>
              <a:t>　　　　　　　　　　　　　　　　　　　　　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88192" y="1629396"/>
            <a:ext cx="8147050" cy="6477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将误差 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x 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模糊化</a:t>
            </a:r>
          </a:p>
        </p:txBody>
      </p:sp>
      <p:grpSp>
        <p:nvGrpSpPr>
          <p:cNvPr id="14405" name="Group 69"/>
          <p:cNvGrpSpPr>
            <a:grpSpLocks/>
          </p:cNvGrpSpPr>
          <p:nvPr/>
        </p:nvGrpSpPr>
        <p:grpSpPr bwMode="auto">
          <a:xfrm>
            <a:off x="2711624" y="2204865"/>
            <a:ext cx="6985000" cy="1951037"/>
            <a:chOff x="793" y="2205"/>
            <a:chExt cx="4400" cy="1229"/>
          </a:xfrm>
        </p:grpSpPr>
        <p:sp>
          <p:nvSpPr>
            <p:cNvPr id="14406" name="Line 70"/>
            <p:cNvSpPr>
              <a:spLocks noChangeShapeType="1"/>
            </p:cNvSpPr>
            <p:nvPr/>
          </p:nvSpPr>
          <p:spPr bwMode="auto">
            <a:xfrm>
              <a:off x="839" y="3158"/>
              <a:ext cx="4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7" name="Line 71"/>
            <p:cNvSpPr>
              <a:spLocks noChangeShapeType="1"/>
            </p:cNvSpPr>
            <p:nvPr/>
          </p:nvSpPr>
          <p:spPr bwMode="auto">
            <a:xfrm flipV="1">
              <a:off x="2880" y="2387"/>
              <a:ext cx="0" cy="7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8" name="Text Box 72"/>
            <p:cNvSpPr txBox="1">
              <a:spLocks noChangeArrowheads="1"/>
            </p:cNvSpPr>
            <p:nvPr/>
          </p:nvSpPr>
          <p:spPr bwMode="auto">
            <a:xfrm>
              <a:off x="793" y="3203"/>
              <a:ext cx="4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　　</a:t>
              </a:r>
              <a:r>
                <a:rPr lang="en-US" altLang="zh-CN"/>
                <a:t>-3</a:t>
              </a:r>
              <a:r>
                <a:rPr lang="zh-CN" altLang="en-US"/>
                <a:t>　　　</a:t>
              </a:r>
              <a:r>
                <a:rPr lang="en-US" altLang="zh-CN"/>
                <a:t>-2</a:t>
              </a:r>
              <a:r>
                <a:rPr lang="zh-CN" altLang="en-US"/>
                <a:t>　　　</a:t>
              </a:r>
              <a:r>
                <a:rPr lang="en-US" altLang="zh-CN"/>
                <a:t>-1</a:t>
              </a:r>
              <a:r>
                <a:rPr lang="zh-CN" altLang="en-US"/>
                <a:t>　　　</a:t>
              </a:r>
              <a:r>
                <a:rPr lang="en-US" altLang="zh-CN"/>
                <a:t>0</a:t>
              </a:r>
              <a:r>
                <a:rPr lang="zh-CN" altLang="en-US"/>
                <a:t>　　　</a:t>
              </a:r>
              <a:r>
                <a:rPr lang="en-US" altLang="zh-CN"/>
                <a:t>1</a:t>
              </a:r>
              <a:r>
                <a:rPr lang="zh-CN" altLang="en-US"/>
                <a:t>　　　</a:t>
              </a:r>
              <a:r>
                <a:rPr lang="en-US" altLang="zh-CN"/>
                <a:t>2</a:t>
              </a:r>
              <a:r>
                <a:rPr lang="zh-CN" altLang="en-US"/>
                <a:t>　　　</a:t>
              </a:r>
              <a:r>
                <a:rPr lang="en-US" altLang="zh-CN"/>
                <a:t>3</a:t>
              </a:r>
              <a:r>
                <a:rPr lang="zh-CN" altLang="en-US"/>
                <a:t>　　　  </a:t>
              </a:r>
              <a:r>
                <a:rPr lang="en-US" altLang="zh-CN"/>
                <a:t>x</a:t>
              </a:r>
            </a:p>
          </p:txBody>
        </p:sp>
        <p:sp>
          <p:nvSpPr>
            <p:cNvPr id="14409" name="Line 73"/>
            <p:cNvSpPr>
              <a:spLocks noChangeShapeType="1"/>
            </p:cNvSpPr>
            <p:nvPr/>
          </p:nvSpPr>
          <p:spPr bwMode="auto">
            <a:xfrm flipV="1">
              <a:off x="1791" y="2568"/>
              <a:ext cx="108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0" name="Line 74"/>
            <p:cNvSpPr>
              <a:spLocks noChangeShapeType="1"/>
            </p:cNvSpPr>
            <p:nvPr/>
          </p:nvSpPr>
          <p:spPr bwMode="auto">
            <a:xfrm flipH="1" flipV="1">
              <a:off x="2880" y="2568"/>
              <a:ext cx="108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1" name="Line 75"/>
            <p:cNvSpPr>
              <a:spLocks noChangeShapeType="1"/>
            </p:cNvSpPr>
            <p:nvPr/>
          </p:nvSpPr>
          <p:spPr bwMode="auto">
            <a:xfrm flipV="1">
              <a:off x="1247" y="2568"/>
              <a:ext cx="1089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2" name="Line 76"/>
            <p:cNvSpPr>
              <a:spLocks noChangeShapeType="1"/>
            </p:cNvSpPr>
            <p:nvPr/>
          </p:nvSpPr>
          <p:spPr bwMode="auto">
            <a:xfrm>
              <a:off x="2336" y="2568"/>
              <a:ext cx="544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3" name="Line 77"/>
            <p:cNvSpPr>
              <a:spLocks noChangeShapeType="1"/>
            </p:cNvSpPr>
            <p:nvPr/>
          </p:nvSpPr>
          <p:spPr bwMode="auto">
            <a:xfrm flipH="1" flipV="1">
              <a:off x="1247" y="2568"/>
              <a:ext cx="1089" cy="59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4" name="Line 78"/>
            <p:cNvSpPr>
              <a:spLocks noChangeShapeType="1"/>
            </p:cNvSpPr>
            <p:nvPr/>
          </p:nvSpPr>
          <p:spPr bwMode="auto">
            <a:xfrm flipH="1">
              <a:off x="975" y="2568"/>
              <a:ext cx="272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5" name="Line 79"/>
            <p:cNvSpPr>
              <a:spLocks noChangeShapeType="1"/>
            </p:cNvSpPr>
            <p:nvPr/>
          </p:nvSpPr>
          <p:spPr bwMode="auto">
            <a:xfrm flipV="1">
              <a:off x="3379" y="2568"/>
              <a:ext cx="1089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6" name="Line 80"/>
            <p:cNvSpPr>
              <a:spLocks noChangeShapeType="1"/>
            </p:cNvSpPr>
            <p:nvPr/>
          </p:nvSpPr>
          <p:spPr bwMode="auto">
            <a:xfrm>
              <a:off x="4468" y="2568"/>
              <a:ext cx="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7" name="Line 81"/>
            <p:cNvSpPr>
              <a:spLocks noChangeShapeType="1"/>
            </p:cNvSpPr>
            <p:nvPr/>
          </p:nvSpPr>
          <p:spPr bwMode="auto">
            <a:xfrm flipH="1" flipV="1">
              <a:off x="3379" y="2568"/>
              <a:ext cx="1089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8" name="Line 82"/>
            <p:cNvSpPr>
              <a:spLocks noChangeShapeType="1"/>
            </p:cNvSpPr>
            <p:nvPr/>
          </p:nvSpPr>
          <p:spPr bwMode="auto">
            <a:xfrm flipH="1">
              <a:off x="2880" y="2568"/>
              <a:ext cx="499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9" name="Text Box 83"/>
            <p:cNvSpPr txBox="1">
              <a:spLocks noChangeArrowheads="1"/>
            </p:cNvSpPr>
            <p:nvPr/>
          </p:nvSpPr>
          <p:spPr bwMode="auto">
            <a:xfrm>
              <a:off x="975" y="2205"/>
              <a:ext cx="39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5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008000"/>
                  </a:solidFill>
                  <a:ea typeface="楷体_GB2312" pitchFamily="49" charset="-122"/>
                </a:rPr>
                <a:t>负大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 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3366FF"/>
                  </a:solidFill>
                  <a:ea typeface="楷体_GB2312" pitchFamily="49" charset="-122"/>
                </a:rPr>
                <a:t>4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3366FF"/>
                  </a:solidFill>
                  <a:ea typeface="楷体_GB2312" pitchFamily="49" charset="-122"/>
                </a:rPr>
                <a:t>负小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)</a:t>
              </a:r>
              <a:r>
                <a:rPr lang="zh-CN" altLang="en-US" b="1" dirty="0">
                  <a:ea typeface="楷体_GB2312" pitchFamily="49" charset="-122"/>
                </a:rPr>
                <a:t>　　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  <a:ea typeface="楷体_GB2312" pitchFamily="49" charset="-122"/>
                </a:rPr>
                <a:t>3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(0)</a:t>
              </a:r>
              <a:r>
                <a:rPr lang="en-US" altLang="zh-CN" b="1" dirty="0">
                  <a:ea typeface="楷体_GB2312" pitchFamily="49" charset="-122"/>
                </a:rPr>
                <a:t>    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CC6600"/>
                  </a:solidFill>
                  <a:ea typeface="楷体_GB2312" pitchFamily="49" charset="-122"/>
                </a:rPr>
                <a:t>2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CC6600"/>
                  </a:solidFill>
                  <a:ea typeface="楷体_GB2312" pitchFamily="49" charset="-122"/>
                </a:rPr>
                <a:t>正小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A</a:t>
              </a:r>
              <a:r>
                <a:rPr lang="en-US" altLang="zh-CN" b="1" baseline="-25000" dirty="0">
                  <a:ea typeface="楷体_GB2312" pitchFamily="49" charset="-122"/>
                </a:rPr>
                <a:t>1</a:t>
              </a:r>
              <a:r>
                <a:rPr lang="en-US" altLang="zh-CN" b="1" dirty="0">
                  <a:ea typeface="楷体_GB2312" pitchFamily="49" charset="-122"/>
                </a:rPr>
                <a:t>(</a:t>
              </a:r>
              <a:r>
                <a:rPr lang="zh-CN" altLang="en-US" b="1" dirty="0">
                  <a:ea typeface="楷体_GB2312" pitchFamily="49" charset="-122"/>
                </a:rPr>
                <a:t>正大</a:t>
              </a:r>
              <a:r>
                <a:rPr lang="en-US" altLang="zh-CN" b="1" dirty="0">
                  <a:ea typeface="楷体_GB2312" pitchFamily="49" charset="-122"/>
                </a:rPr>
                <a:t>)</a:t>
              </a:r>
            </a:p>
          </p:txBody>
        </p:sp>
      </p:grpSp>
      <p:sp>
        <p:nvSpPr>
          <p:cNvPr id="21" name="Rectangle 3">
            <a:extLst>
              <a:ext uri="{FF2B5EF4-FFF2-40B4-BE49-F238E27FC236}">
                <a16:creationId xmlns:a16="http://schemas.microsoft.com/office/drawing/2014/main" id="{5C6105E7-C76B-46DC-89ED-89417F4A7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192" y="4193613"/>
            <a:ext cx="80025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kern="0" dirty="0">
                <a:solidFill>
                  <a:srgbClr val="CC00CC"/>
                </a:solidFill>
                <a:ea typeface="黑体" pitchFamily="2" charset="-122"/>
              </a:rPr>
              <a:t>F</a:t>
            </a:r>
            <a:r>
              <a:rPr lang="zh-CN" altLang="en-US" kern="0" dirty="0">
                <a:solidFill>
                  <a:srgbClr val="CC00CC"/>
                </a:solidFill>
                <a:ea typeface="黑体" pitchFamily="2" charset="-122"/>
              </a:rPr>
              <a:t>控制量的确定</a:t>
            </a:r>
            <a:endParaRPr lang="zh-CN" altLang="en-US" kern="0" dirty="0">
              <a:solidFill>
                <a:srgbClr val="CC00CC"/>
              </a:solidFill>
            </a:endParaRPr>
          </a:p>
        </p:txBody>
      </p:sp>
      <p:grpSp>
        <p:nvGrpSpPr>
          <p:cNvPr id="22" name="Group 129">
            <a:extLst>
              <a:ext uri="{FF2B5EF4-FFF2-40B4-BE49-F238E27FC236}">
                <a16:creationId xmlns:a16="http://schemas.microsoft.com/office/drawing/2014/main" id="{D673B0FD-08C1-47AA-842E-700E1AA0D2C4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4906964"/>
            <a:ext cx="8208962" cy="1951037"/>
            <a:chOff x="476" y="2205"/>
            <a:chExt cx="5171" cy="1229"/>
          </a:xfrm>
        </p:grpSpPr>
        <p:sp>
          <p:nvSpPr>
            <p:cNvPr id="23" name="Line 130">
              <a:extLst>
                <a:ext uri="{FF2B5EF4-FFF2-40B4-BE49-F238E27FC236}">
                  <a16:creationId xmlns:a16="http://schemas.microsoft.com/office/drawing/2014/main" id="{D34310AE-3740-455E-99E5-CFCE4F6C7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3158"/>
              <a:ext cx="48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31">
              <a:extLst>
                <a:ext uri="{FF2B5EF4-FFF2-40B4-BE49-F238E27FC236}">
                  <a16:creationId xmlns:a16="http://schemas.microsoft.com/office/drawing/2014/main" id="{DD5DF253-45A6-44E3-8616-283D21493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387"/>
              <a:ext cx="0" cy="7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132">
              <a:extLst>
                <a:ext uri="{FF2B5EF4-FFF2-40B4-BE49-F238E27FC236}">
                  <a16:creationId xmlns:a16="http://schemas.microsoft.com/office/drawing/2014/main" id="{9116A8FA-13D4-45CE-81C0-027B1A41E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203"/>
              <a:ext cx="5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　</a:t>
              </a:r>
              <a:r>
                <a:rPr lang="en-US" altLang="zh-CN"/>
                <a:t>-4</a:t>
              </a:r>
              <a:r>
                <a:rPr lang="zh-CN" altLang="en-US"/>
                <a:t>　　　</a:t>
              </a:r>
              <a:r>
                <a:rPr lang="en-US" altLang="zh-CN"/>
                <a:t>3</a:t>
              </a:r>
              <a:r>
                <a:rPr lang="zh-CN" altLang="en-US"/>
                <a:t>　　　</a:t>
              </a:r>
              <a:r>
                <a:rPr lang="en-US" altLang="zh-CN"/>
                <a:t>-2</a:t>
              </a:r>
              <a:r>
                <a:rPr lang="zh-CN" altLang="en-US"/>
                <a:t>　　　</a:t>
              </a:r>
              <a:r>
                <a:rPr lang="en-US" altLang="zh-CN"/>
                <a:t>-1</a:t>
              </a:r>
              <a:r>
                <a:rPr lang="zh-CN" altLang="en-US"/>
                <a:t>　　　</a:t>
              </a:r>
              <a:r>
                <a:rPr lang="en-US" altLang="zh-CN"/>
                <a:t>0</a:t>
              </a:r>
              <a:r>
                <a:rPr lang="zh-CN" altLang="en-US"/>
                <a:t>　　　</a:t>
              </a:r>
              <a:r>
                <a:rPr lang="en-US" altLang="zh-CN"/>
                <a:t>1</a:t>
              </a:r>
              <a:r>
                <a:rPr lang="zh-CN" altLang="en-US"/>
                <a:t>　　　</a:t>
              </a:r>
              <a:r>
                <a:rPr lang="en-US" altLang="zh-CN"/>
                <a:t>2</a:t>
              </a:r>
              <a:r>
                <a:rPr lang="zh-CN" altLang="en-US"/>
                <a:t>　　　</a:t>
              </a:r>
              <a:r>
                <a:rPr lang="en-US" altLang="zh-CN"/>
                <a:t>3</a:t>
              </a:r>
              <a:r>
                <a:rPr lang="zh-CN" altLang="en-US"/>
                <a:t>　　　 </a:t>
              </a:r>
              <a:r>
                <a:rPr lang="en-US" altLang="zh-CN"/>
                <a:t>4</a:t>
              </a:r>
              <a:r>
                <a:rPr lang="zh-CN" altLang="en-US"/>
                <a:t>　　 </a:t>
              </a:r>
              <a:r>
                <a:rPr lang="en-US" altLang="zh-CN"/>
                <a:t>y</a:t>
              </a:r>
            </a:p>
          </p:txBody>
        </p:sp>
        <p:sp>
          <p:nvSpPr>
            <p:cNvPr id="26" name="Line 133">
              <a:extLst>
                <a:ext uri="{FF2B5EF4-FFF2-40B4-BE49-F238E27FC236}">
                  <a16:creationId xmlns:a16="http://schemas.microsoft.com/office/drawing/2014/main" id="{62ECDE37-FA2A-4EE0-B0A8-F94A3A234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2568"/>
              <a:ext cx="1043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34">
              <a:extLst>
                <a:ext uri="{FF2B5EF4-FFF2-40B4-BE49-F238E27FC236}">
                  <a16:creationId xmlns:a16="http://schemas.microsoft.com/office/drawing/2014/main" id="{D374178E-DFAA-42C0-9D01-555E9F86F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2568"/>
              <a:ext cx="108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35">
              <a:extLst>
                <a:ext uri="{FF2B5EF4-FFF2-40B4-BE49-F238E27FC236}">
                  <a16:creationId xmlns:a16="http://schemas.microsoft.com/office/drawing/2014/main" id="{19189932-F19C-469C-91DD-2A6F5489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3" y="2568"/>
              <a:ext cx="1044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36">
              <a:extLst>
                <a:ext uri="{FF2B5EF4-FFF2-40B4-BE49-F238E27FC236}">
                  <a16:creationId xmlns:a16="http://schemas.microsoft.com/office/drawing/2014/main" id="{1C40AB89-52AF-4968-A392-6F0AAAFF45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3" y="2568"/>
              <a:ext cx="1044" cy="59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37">
              <a:extLst>
                <a:ext uri="{FF2B5EF4-FFF2-40B4-BE49-F238E27FC236}">
                  <a16:creationId xmlns:a16="http://schemas.microsoft.com/office/drawing/2014/main" id="{F88E9194-BB09-4E92-8A3A-D33FE2BBF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7" y="2568"/>
              <a:ext cx="226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38">
              <a:extLst>
                <a:ext uri="{FF2B5EF4-FFF2-40B4-BE49-F238E27FC236}">
                  <a16:creationId xmlns:a16="http://schemas.microsoft.com/office/drawing/2014/main" id="{F1D29348-9DE2-46CB-92F8-A4AFC7B7A8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9" y="2568"/>
              <a:ext cx="998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39">
              <a:extLst>
                <a:ext uri="{FF2B5EF4-FFF2-40B4-BE49-F238E27FC236}">
                  <a16:creationId xmlns:a16="http://schemas.microsoft.com/office/drawing/2014/main" id="{6B438FCC-D914-4EA7-8B14-00060A9B8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2568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40">
              <a:extLst>
                <a:ext uri="{FF2B5EF4-FFF2-40B4-BE49-F238E27FC236}">
                  <a16:creationId xmlns:a16="http://schemas.microsoft.com/office/drawing/2014/main" id="{F1D07B10-9DCD-4B10-A534-0A761D305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3" y="2568"/>
              <a:ext cx="1044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141">
              <a:extLst>
                <a:ext uri="{FF2B5EF4-FFF2-40B4-BE49-F238E27FC236}">
                  <a16:creationId xmlns:a16="http://schemas.microsoft.com/office/drawing/2014/main" id="{ABE3F740-4723-4102-B90C-71F0EBF23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205"/>
              <a:ext cx="47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5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008000"/>
                  </a:solidFill>
                  <a:ea typeface="楷体_GB2312" pitchFamily="49" charset="-122"/>
                </a:rPr>
                <a:t>负大</a:t>
              </a:r>
              <a:r>
                <a:rPr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3366FF"/>
                  </a:solidFill>
                  <a:ea typeface="楷体_GB2312" pitchFamily="49" charset="-122"/>
                </a:rPr>
                <a:t>4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3366FF"/>
                  </a:solidFill>
                  <a:ea typeface="楷体_GB2312" pitchFamily="49" charset="-122"/>
                </a:rPr>
                <a:t>负小</a:t>
              </a:r>
              <a:r>
                <a:rPr lang="en-US" altLang="zh-CN" b="1" dirty="0">
                  <a:solidFill>
                    <a:srgbClr val="3366FF"/>
                  </a:solidFill>
                  <a:ea typeface="楷体_GB2312" pitchFamily="49" charset="-122"/>
                </a:rPr>
                <a:t>)</a:t>
              </a:r>
              <a:r>
                <a:rPr lang="zh-CN" altLang="en-US" b="1" dirty="0">
                  <a:ea typeface="楷体_GB2312" pitchFamily="49" charset="-122"/>
                </a:rPr>
                <a:t>　　　　  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FF0000"/>
                  </a:solidFill>
                  <a:ea typeface="楷体_GB2312" pitchFamily="49" charset="-122"/>
                </a:rPr>
                <a:t>3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(0)</a:t>
              </a:r>
              <a:r>
                <a:rPr lang="en-US" altLang="zh-CN" b="1" dirty="0">
                  <a:ea typeface="楷体_GB2312" pitchFamily="49" charset="-122"/>
                </a:rPr>
                <a:t>    </a:t>
              </a:r>
              <a:r>
                <a:rPr lang="zh-CN" altLang="en-US" b="1" dirty="0">
                  <a:ea typeface="楷体_GB2312" pitchFamily="49" charset="-122"/>
                </a:rPr>
                <a:t>　　　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solidFill>
                    <a:srgbClr val="CC6600"/>
                  </a:solidFill>
                  <a:ea typeface="楷体_GB2312" pitchFamily="49" charset="-122"/>
                </a:rPr>
                <a:t>2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(</a:t>
              </a:r>
              <a:r>
                <a:rPr lang="zh-CN" altLang="en-US" b="1" dirty="0">
                  <a:solidFill>
                    <a:srgbClr val="CC6600"/>
                  </a:solidFill>
                  <a:ea typeface="楷体_GB2312" pitchFamily="49" charset="-122"/>
                </a:rPr>
                <a:t>正小</a:t>
              </a:r>
              <a:r>
                <a:rPr lang="en-US" altLang="zh-CN" b="1" dirty="0">
                  <a:solidFill>
                    <a:srgbClr val="CC6600"/>
                  </a:solidFill>
                  <a:ea typeface="楷体_GB2312" pitchFamily="49" charset="-122"/>
                </a:rPr>
                <a:t>)</a:t>
              </a:r>
              <a:r>
                <a:rPr lang="en-US" altLang="zh-CN" b="1" dirty="0">
                  <a:ea typeface="楷体_GB2312" pitchFamily="49" charset="-122"/>
                </a:rPr>
                <a:t>        </a:t>
              </a:r>
              <a:r>
                <a:rPr lang="zh-CN" altLang="en-US" b="1" dirty="0">
                  <a:ea typeface="楷体_GB2312" pitchFamily="49" charset="-122"/>
                </a:rPr>
                <a:t>　</a:t>
              </a:r>
              <a:r>
                <a:rPr lang="en-US" altLang="zh-CN" b="1" dirty="0">
                  <a:ea typeface="楷体_GB2312" pitchFamily="49" charset="-122"/>
                </a:rPr>
                <a:t>B</a:t>
              </a:r>
              <a:r>
                <a:rPr lang="en-US" altLang="zh-CN" b="1" baseline="-25000" dirty="0">
                  <a:ea typeface="楷体_GB2312" pitchFamily="49" charset="-122"/>
                </a:rPr>
                <a:t>1</a:t>
              </a:r>
              <a:r>
                <a:rPr lang="en-US" altLang="zh-CN" b="1" dirty="0">
                  <a:ea typeface="楷体_GB2312" pitchFamily="49" charset="-122"/>
                </a:rPr>
                <a:t>(</a:t>
              </a:r>
              <a:r>
                <a:rPr lang="zh-CN" altLang="en-US" b="1" dirty="0">
                  <a:ea typeface="楷体_GB2312" pitchFamily="49" charset="-122"/>
                </a:rPr>
                <a:t>正大</a:t>
              </a:r>
              <a:r>
                <a:rPr lang="en-US" altLang="zh-CN" b="1" dirty="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35" name="Line 142">
              <a:extLst>
                <a:ext uri="{FF2B5EF4-FFF2-40B4-BE49-F238E27FC236}">
                  <a16:creationId xmlns:a16="http://schemas.microsoft.com/office/drawing/2014/main" id="{17C62F0D-B428-474D-88D9-52C2065CA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37" y="2568"/>
              <a:ext cx="1043" cy="59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43">
              <a:extLst>
                <a:ext uri="{FF2B5EF4-FFF2-40B4-BE49-F238E27FC236}">
                  <a16:creationId xmlns:a16="http://schemas.microsoft.com/office/drawing/2014/main" id="{B3951AF3-03B3-4B34-BD07-28A641A2E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568"/>
              <a:ext cx="1043" cy="59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7" name="Group 4">
            <a:extLst>
              <a:ext uri="{FF2B5EF4-FFF2-40B4-BE49-F238E27FC236}">
                <a16:creationId xmlns:a16="http://schemas.microsoft.com/office/drawing/2014/main" id="{C9A066EE-4918-4B58-8E20-F52F59069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90065"/>
              </p:ext>
            </p:extLst>
          </p:nvPr>
        </p:nvGraphicFramePr>
        <p:xfrm>
          <a:off x="10221993" y="324889"/>
          <a:ext cx="1691680" cy="2377440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IF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THEN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1CB073-1987-C610-03E1-81C6DE9361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773238"/>
            <a:ext cx="9721080" cy="40941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控制规则中从</a:t>
            </a:r>
            <a:r>
              <a:rPr lang="en-US" altLang="zh-CN" dirty="0">
                <a:ea typeface="黑体" pitchFamily="2" charset="-122"/>
              </a:rPr>
              <a:t>X</a:t>
            </a:r>
            <a:r>
              <a:rPr lang="zh-CN" altLang="en-US" dirty="0">
                <a:ea typeface="黑体" pitchFamily="2" charset="-122"/>
              </a:rPr>
              <a:t>到</a:t>
            </a:r>
            <a:r>
              <a:rPr lang="en-US" altLang="zh-CN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关系的确定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　　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33CCFF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33CCFF"/>
                </a:solidFill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33CCFF"/>
                </a:solidFill>
                <a:sym typeface="Symbol"/>
              </a:rPr>
              <a:t></a:t>
            </a:r>
            <a:r>
              <a:rPr lang="en-US" altLang="zh-CN" sz="2800" b="1" dirty="0">
                <a:solidFill>
                  <a:srgbClr val="33CCFF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33CC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CC00CC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CC00CC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</a:rPr>
              <a:t> 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00B05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B05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00B05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00B05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7030A0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7030A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7030A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7030A0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7030A0"/>
                </a:solidFill>
                <a:sym typeface="Symbol"/>
              </a:rPr>
              <a:t> </a:t>
            </a:r>
            <a:r>
              <a:rPr lang="en-US" altLang="zh-CN" sz="2800" b="1" dirty="0">
                <a:sym typeface="Symbol"/>
              </a:rPr>
              <a:t> 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C000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FFC00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FFC00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FFC000"/>
                </a:solidFill>
                <a:ea typeface="楷体_GB2312" pitchFamily="49" charset="-122"/>
              </a:rPr>
              <a:t>5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900" b="1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en-US" altLang="zh-CN" sz="2400" baseline="-25000" dirty="0">
                <a:ea typeface="楷体_GB2312" pitchFamily="49" charset="-122"/>
              </a:rPr>
              <a:t>5</a:t>
            </a:r>
            <a:r>
              <a:rPr lang="en-US" altLang="zh-CN" sz="2400" dirty="0"/>
              <a:t>×</a:t>
            </a:r>
            <a:r>
              <a:rPr lang="en-US" altLang="zh-CN" sz="2400" i="1" dirty="0"/>
              <a:t>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</a:t>
            </a:r>
          </a:p>
        </p:txBody>
      </p:sp>
      <p:graphicFrame>
        <p:nvGraphicFramePr>
          <p:cNvPr id="20521" name="Object 4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86263347"/>
              </p:ext>
            </p:extLst>
          </p:nvPr>
        </p:nvGraphicFramePr>
        <p:xfrm>
          <a:off x="2423592" y="2996952"/>
          <a:ext cx="10080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7200" imgH="241300" progId="Equation.3">
                  <p:embed/>
                </p:oleObj>
              </mc:Choice>
              <mc:Fallback>
                <p:oleObj name="公式" r:id="rId2" imgW="457200" imgH="241300" progId="Equation.3">
                  <p:embed/>
                  <p:pic>
                    <p:nvPicPr>
                      <p:cNvPr id="2052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996952"/>
                        <a:ext cx="100806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7" name="Object 47"/>
          <p:cNvGraphicFramePr>
            <a:graphicFrameLocks noChangeAspect="1"/>
          </p:cNvGraphicFramePr>
          <p:nvPr/>
        </p:nvGraphicFramePr>
        <p:xfrm>
          <a:off x="1858963" y="3573464"/>
          <a:ext cx="4514850" cy="281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65360" imgH="1600200" progId="Equation.3">
                  <p:embed/>
                </p:oleObj>
              </mc:Choice>
              <mc:Fallback>
                <p:oleObj name="公式" r:id="rId4" imgW="2565360" imgH="1600200" progId="Equation.3">
                  <p:embed/>
                  <p:pic>
                    <p:nvPicPr>
                      <p:cNvPr id="20527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3573464"/>
                        <a:ext cx="4514850" cy="281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9" name="Object 4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383338" y="3475038"/>
          <a:ext cx="4284662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36800" imgH="1600200" progId="Equation.3">
                  <p:embed/>
                </p:oleObj>
              </mc:Choice>
              <mc:Fallback>
                <p:oleObj name="公式" r:id="rId6" imgW="2336800" imgH="1600200" progId="Equation.3">
                  <p:embed/>
                  <p:pic>
                    <p:nvPicPr>
                      <p:cNvPr id="2052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3475038"/>
                        <a:ext cx="4284662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/>
        </p:nvSpPr>
        <p:spPr>
          <a:xfrm>
            <a:off x="9390063" y="3459163"/>
            <a:ext cx="1223962" cy="863600"/>
          </a:xfrm>
          <a:prstGeom prst="roundRect">
            <a:avLst/>
          </a:prstGeom>
          <a:noFill/>
          <a:ln w="57150">
            <a:solidFill>
              <a:srgbClr val="33CC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0D8EB3-7492-90FB-7C08-DA441EEF01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3" name="Group 4">
            <a:extLst>
              <a:ext uri="{FF2B5EF4-FFF2-40B4-BE49-F238E27FC236}">
                <a16:creationId xmlns:a16="http://schemas.microsoft.com/office/drawing/2014/main" id="{1DE6D8BB-70C6-8905-1893-9BD3734A8F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214824"/>
              </p:ext>
            </p:extLst>
          </p:nvPr>
        </p:nvGraphicFramePr>
        <p:xfrm>
          <a:off x="10202431" y="203518"/>
          <a:ext cx="1691680" cy="2377440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IF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THEN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7904" y="387202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2850" y="1727847"/>
            <a:ext cx="8771582" cy="40941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控制规则中从</a:t>
            </a:r>
            <a:r>
              <a:rPr lang="en-US" altLang="zh-CN" dirty="0">
                <a:ea typeface="黑体" pitchFamily="2" charset="-122"/>
              </a:rPr>
              <a:t>X</a:t>
            </a:r>
            <a:r>
              <a:rPr lang="zh-CN" altLang="en-US" dirty="0">
                <a:ea typeface="黑体" pitchFamily="2" charset="-122"/>
              </a:rPr>
              <a:t>到</a:t>
            </a:r>
            <a:r>
              <a:rPr lang="en-US" altLang="zh-CN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关系的确定</a:t>
            </a:r>
          </a:p>
          <a:p>
            <a:pPr eaLnBrk="1" hangingPunct="1"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　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33CCFF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33CCFF"/>
                </a:solidFill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33CCFF"/>
                </a:solidFill>
                <a:sym typeface="Symbol"/>
              </a:rPr>
              <a:t></a:t>
            </a:r>
            <a:r>
              <a:rPr lang="en-US" altLang="zh-CN" sz="2800" b="1" dirty="0">
                <a:solidFill>
                  <a:srgbClr val="33CCFF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33CC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CC00CC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CC00CC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</a:rPr>
              <a:t> </a:t>
            </a:r>
            <a:r>
              <a:rPr lang="en-US" altLang="zh-CN" sz="2800" b="1" dirty="0">
                <a:sym typeface="Symbol"/>
              </a:rPr>
              <a:t> </a:t>
            </a:r>
            <a:r>
              <a:rPr lang="en-US" altLang="zh-CN" sz="2800" b="1" dirty="0">
                <a:solidFill>
                  <a:srgbClr val="00B05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00B05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B05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00B05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00B05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7030A0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7030A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7030A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7030A0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7030A0"/>
                </a:solidFill>
                <a:sym typeface="Symbol"/>
              </a:rPr>
              <a:t> </a:t>
            </a:r>
            <a:r>
              <a:rPr lang="en-US" altLang="zh-CN" sz="2800" b="1" dirty="0">
                <a:sym typeface="Symbol"/>
              </a:rPr>
              <a:t>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C000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FFC000"/>
                </a:solidFill>
                <a:sym typeface="Symbol"/>
              </a:rPr>
              <a:t>  </a:t>
            </a:r>
            <a:r>
              <a:rPr lang="en-US" altLang="zh-CN" sz="2800" b="1" dirty="0">
                <a:solidFill>
                  <a:srgbClr val="FFC000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FFC000"/>
                </a:solidFill>
                <a:ea typeface="楷体_GB2312" pitchFamily="49" charset="-122"/>
              </a:rPr>
              <a:t>5</a:t>
            </a:r>
            <a:endParaRPr lang="en-US" altLang="zh-CN" b="1" dirty="0">
              <a:solidFill>
                <a:srgbClr val="FFC000"/>
              </a:solidFill>
            </a:endParaRPr>
          </a:p>
          <a:p>
            <a:pPr eaLnBrk="1" hangingPunct="1">
              <a:buNone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900" b="1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</p:txBody>
      </p:sp>
      <p:graphicFrame>
        <p:nvGraphicFramePr>
          <p:cNvPr id="22534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78075" y="3068638"/>
          <a:ext cx="7145338" cy="353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238200" imgH="1600200" progId="Equation.3">
                  <p:embed/>
                </p:oleObj>
              </mc:Choice>
              <mc:Fallback>
                <p:oleObj name="公式" r:id="rId3" imgW="3238200" imgH="1600200" progId="Equation.3">
                  <p:embed/>
                  <p:pic>
                    <p:nvPicPr>
                      <p:cNvPr id="225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3068638"/>
                        <a:ext cx="7145338" cy="353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 2"/>
          <p:cNvSpPr/>
          <p:nvPr/>
        </p:nvSpPr>
        <p:spPr>
          <a:xfrm>
            <a:off x="8112126" y="3068639"/>
            <a:ext cx="1223963" cy="936625"/>
          </a:xfrm>
          <a:prstGeom prst="roundRect">
            <a:avLst/>
          </a:prstGeom>
          <a:noFill/>
          <a:ln w="57150">
            <a:solidFill>
              <a:srgbClr val="33CC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672264" y="3573464"/>
            <a:ext cx="2016125" cy="935037"/>
          </a:xfrm>
          <a:prstGeom prst="roundRect">
            <a:avLst/>
          </a:prstGeom>
          <a:noFill/>
          <a:ln w="57150">
            <a:solidFill>
              <a:srgbClr val="FF99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792539" y="5084764"/>
            <a:ext cx="2016125" cy="936625"/>
          </a:xfrm>
          <a:prstGeom prst="roundRect">
            <a:avLst/>
          </a:prstGeom>
          <a:noFill/>
          <a:ln w="5715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071813" y="5589589"/>
            <a:ext cx="1295400" cy="935037"/>
          </a:xfrm>
          <a:prstGeom prst="roundRect">
            <a:avLst/>
          </a:prstGeom>
          <a:noFill/>
          <a:ln w="5715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232401" y="4076700"/>
            <a:ext cx="2016125" cy="1512888"/>
          </a:xfrm>
          <a:prstGeom prst="roundRect">
            <a:avLst/>
          </a:prstGeom>
          <a:noFill/>
          <a:ln w="57150">
            <a:solidFill>
              <a:srgbClr val="66FF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3" name="Group 4">
            <a:extLst>
              <a:ext uri="{FF2B5EF4-FFF2-40B4-BE49-F238E27FC236}">
                <a16:creationId xmlns:a16="http://schemas.microsoft.com/office/drawing/2014/main" id="{009E6D3F-573E-425D-88F4-F4699CE50C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333087"/>
              </p:ext>
            </p:extLst>
          </p:nvPr>
        </p:nvGraphicFramePr>
        <p:xfrm>
          <a:off x="10202431" y="203518"/>
          <a:ext cx="1691680" cy="2377440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IF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THEN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6BB71148-ECBA-4E6B-993D-99E0C3C00F12}"/>
              </a:ext>
            </a:extLst>
          </p:cNvPr>
          <p:cNvSpPr/>
          <p:nvPr/>
        </p:nvSpPr>
        <p:spPr>
          <a:xfrm>
            <a:off x="9914002" y="5229146"/>
            <a:ext cx="2268538" cy="1621036"/>
          </a:xfrm>
          <a:prstGeom prst="wedgeRoundRectCallout">
            <a:avLst>
              <a:gd name="adj1" fmla="val 18978"/>
              <a:gd name="adj2" fmla="val -45369"/>
              <a:gd name="adj3" fmla="val 16667"/>
            </a:avLst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得到误差</a:t>
            </a:r>
            <a:r>
              <a:rPr lang="en-US" altLang="zh-CN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与控制量</a:t>
            </a:r>
            <a:r>
              <a:rPr lang="en-US" altLang="zh-CN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C021DE-CEA7-92A5-F671-BBC967FAFD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70638"/>
            <a:ext cx="661344" cy="457200"/>
          </a:xfrm>
        </p:spPr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3" grpId="0" animBg="1"/>
      <p:bldP spid="7" grpId="0" animBg="1"/>
      <p:bldP spid="10" grpId="0" animBg="1"/>
      <p:bldP spid="11" grpId="0" animBg="1"/>
      <p:bldP spid="12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628776"/>
            <a:ext cx="10657183" cy="522922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对于观察到的某一误差</a:t>
            </a:r>
            <a:r>
              <a:rPr lang="en-US" altLang="zh-CN" sz="2800" b="1" dirty="0">
                <a:ea typeface="楷体_GB2312" pitchFamily="49" charset="-122"/>
              </a:rPr>
              <a:t>x</a:t>
            </a:r>
            <a:r>
              <a:rPr lang="zh-CN" altLang="en-US" sz="2800" b="1" dirty="0">
                <a:ea typeface="楷体_GB2312" pitchFamily="49" charset="-122"/>
              </a:rPr>
              <a:t>相应的语言值</a:t>
            </a:r>
            <a:r>
              <a:rPr lang="en-US" altLang="zh-CN" sz="2800" b="1" dirty="0">
                <a:ea typeface="楷体_GB2312" pitchFamily="49" charset="-122"/>
              </a:rPr>
              <a:t>A</a:t>
            </a:r>
            <a:r>
              <a:rPr lang="zh-CN" altLang="en-US" sz="2800" b="1" dirty="0">
                <a:ea typeface="楷体_GB2312" pitchFamily="49" charset="-122"/>
              </a:rPr>
              <a:t>，作为输入经</a:t>
            </a:r>
            <a:r>
              <a:rPr lang="en-US" altLang="zh-CN" sz="2800" b="1" dirty="0">
                <a:ea typeface="楷体_GB2312" pitchFamily="49" charset="-122"/>
              </a:rPr>
              <a:t>R</a:t>
            </a:r>
            <a:r>
              <a:rPr lang="zh-CN" altLang="en-US" sz="2800" b="1" dirty="0">
                <a:ea typeface="楷体_GB2312" pitchFamily="49" charset="-122"/>
              </a:rPr>
              <a:t>响应（即合成运算），得输出</a:t>
            </a:r>
            <a:r>
              <a:rPr lang="en-US" altLang="zh-CN" sz="2800" b="1" dirty="0">
                <a:ea typeface="楷体_GB2312" pitchFamily="49" charset="-122"/>
              </a:rPr>
              <a:t>B</a:t>
            </a:r>
            <a:r>
              <a:rPr lang="zh-CN" altLang="en-US" sz="2800" b="1" dirty="0">
                <a:ea typeface="楷体_GB2312" pitchFamily="49" charset="-122"/>
              </a:rPr>
              <a:t>（控制量）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66"/>
                </a:solidFill>
              </a:rPr>
              <a:t>           </a:t>
            </a:r>
            <a:r>
              <a:rPr lang="zh-CN" altLang="en-US" sz="2800" dirty="0">
                <a:solidFill>
                  <a:srgbClr val="FF0000"/>
                </a:solidFill>
              </a:rPr>
              <a:t>   </a:t>
            </a:r>
            <a:r>
              <a:rPr lang="en-US" altLang="zh-CN" sz="2800" b="1" dirty="0"/>
              <a:t>B=</a:t>
            </a:r>
            <a:r>
              <a:rPr lang="en-US" altLang="zh-CN" sz="2800" b="1" dirty="0">
                <a:solidFill>
                  <a:srgbClr val="3333FF"/>
                </a:solidFill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/>
              <a:t>◦ </a:t>
            </a:r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</a:p>
          <a:p>
            <a:pPr eaLnBrk="1" hangingPunct="1"/>
            <a:r>
              <a:rPr lang="zh-CN" altLang="en-US" sz="2800" dirty="0"/>
              <a:t>设</a:t>
            </a:r>
            <a:r>
              <a:rPr lang="en-US" altLang="zh-CN" sz="2800" dirty="0">
                <a:solidFill>
                  <a:srgbClr val="3333FF"/>
                </a:solidFill>
              </a:rPr>
              <a:t>A=(1, 0.5, 0, 0, 0, 0, 0)</a:t>
            </a:r>
            <a:r>
              <a:rPr lang="en-US" altLang="zh-CN" sz="2800" dirty="0"/>
              <a:t> </a:t>
            </a:r>
            <a:r>
              <a:rPr lang="zh-CN" altLang="en-US" sz="2800" dirty="0"/>
              <a:t>， 则</a:t>
            </a:r>
          </a:p>
          <a:p>
            <a:pPr eaLnBrk="1" hangingPunct="1"/>
            <a:r>
              <a:rPr lang="en-US" altLang="zh-CN" sz="2800" dirty="0"/>
              <a:t>B=</a:t>
            </a:r>
            <a:r>
              <a:rPr lang="en-US" altLang="zh-CN" sz="2800" dirty="0">
                <a:solidFill>
                  <a:srgbClr val="3333FF"/>
                </a:solidFill>
              </a:rPr>
              <a:t>A </a:t>
            </a:r>
            <a:r>
              <a:rPr lang="en-US" altLang="zh-CN" sz="2800" b="1" dirty="0"/>
              <a:t>◦</a:t>
            </a:r>
            <a:r>
              <a:rPr lang="en-US" altLang="zh-CN" sz="2800" dirty="0">
                <a:solidFill>
                  <a:srgbClr val="FF0000"/>
                </a:solidFill>
              </a:rPr>
              <a:t> R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36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3333FF"/>
                </a:solidFill>
              </a:rPr>
              <a:t>=(0, 0, 0, 0, 0, 0, 0.5, 0.5, 0.5, 1)</a:t>
            </a:r>
          </a:p>
        </p:txBody>
      </p:sp>
      <p:graphicFrame>
        <p:nvGraphicFramePr>
          <p:cNvPr id="2355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55950536"/>
              </p:ext>
            </p:extLst>
          </p:nvPr>
        </p:nvGraphicFramePr>
        <p:xfrm>
          <a:off x="1415480" y="3574050"/>
          <a:ext cx="7272338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52900" imgH="1600200" progId="Equation.3">
                  <p:embed/>
                </p:oleObj>
              </mc:Choice>
              <mc:Fallback>
                <p:oleObj name="公式" r:id="rId2" imgW="4152900" imgH="1600200" progId="Equation.3">
                  <p:embed/>
                  <p:pic>
                    <p:nvPicPr>
                      <p:cNvPr id="23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3574050"/>
                        <a:ext cx="7272338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73613A-DFCE-E792-D294-B00555851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2656"/>
            <a:ext cx="8229600" cy="1100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：关于贮水容器水位的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900588"/>
            <a:ext cx="10369151" cy="482441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决定控制量的确切量</a:t>
            </a:r>
          </a:p>
          <a:p>
            <a:pPr lvl="1" eaLnBrk="1" hangingPunct="1"/>
            <a:r>
              <a:rPr lang="zh-CN" altLang="en-US" sz="2400" dirty="0"/>
              <a:t> </a:t>
            </a:r>
            <a:r>
              <a:rPr lang="en-US" altLang="zh-CN" dirty="0">
                <a:solidFill>
                  <a:srgbClr val="3333FF"/>
                </a:solidFill>
              </a:rPr>
              <a:t>B=(0, 0, 0, 0, 0, 0, 0.5, 0.5, 0.5, 1)</a:t>
            </a:r>
          </a:p>
          <a:p>
            <a:pPr lvl="1" eaLnBrk="1" hangingPunct="1"/>
            <a:endParaRPr lang="en-US" altLang="zh-CN" sz="2400" dirty="0">
              <a:solidFill>
                <a:srgbClr val="3333FF"/>
              </a:solidFill>
            </a:endParaRPr>
          </a:p>
          <a:p>
            <a:pPr lvl="1" eaLnBrk="1" hangingPunct="1"/>
            <a:endParaRPr lang="en-US" altLang="zh-CN" sz="2400" dirty="0"/>
          </a:p>
          <a:p>
            <a:pPr lvl="1" eaLnBrk="1" hangingPunct="1"/>
            <a:endParaRPr lang="en-US" altLang="zh-CN" sz="2400" dirty="0"/>
          </a:p>
          <a:p>
            <a:pPr lvl="1" eaLnBrk="1" hangingPunct="1"/>
            <a:r>
              <a:rPr lang="zh-CN" altLang="en-US" sz="2400" b="1" dirty="0">
                <a:ea typeface="楷体_GB2312" pitchFamily="49" charset="-122"/>
              </a:rPr>
              <a:t>控制量</a:t>
            </a:r>
            <a:r>
              <a:rPr lang="en-US" altLang="zh-CN" sz="2400" b="1" dirty="0">
                <a:ea typeface="楷体_GB2312" pitchFamily="49" charset="-122"/>
              </a:rPr>
              <a:t>B</a:t>
            </a:r>
            <a:r>
              <a:rPr lang="zh-CN" altLang="en-US" sz="2400" b="1" dirty="0">
                <a:ea typeface="楷体_GB2312" pitchFamily="49" charset="-122"/>
              </a:rPr>
              <a:t>是一个</a:t>
            </a:r>
            <a:r>
              <a:rPr lang="en-US" altLang="zh-CN" sz="2400" b="1" dirty="0">
                <a:ea typeface="楷体_GB2312" pitchFamily="49" charset="-122"/>
              </a:rPr>
              <a:t>F</a:t>
            </a:r>
            <a:r>
              <a:rPr lang="zh-CN" altLang="en-US" sz="2400" b="1" dirty="0">
                <a:ea typeface="楷体_GB2312" pitchFamily="49" charset="-122"/>
              </a:rPr>
              <a:t>集，要输出控制则要将</a:t>
            </a:r>
            <a:r>
              <a:rPr lang="en-US" altLang="zh-CN" sz="2400" b="1" dirty="0">
                <a:ea typeface="楷体_GB2312" pitchFamily="49" charset="-122"/>
              </a:rPr>
              <a:t>F</a:t>
            </a:r>
            <a:r>
              <a:rPr lang="zh-CN" altLang="en-US" sz="2400" b="1" dirty="0">
                <a:ea typeface="楷体_GB2312" pitchFamily="49" charset="-122"/>
              </a:rPr>
              <a:t>集化为确定值</a:t>
            </a:r>
            <a:r>
              <a:rPr lang="en-US" altLang="zh-CN" sz="2400" b="1" dirty="0">
                <a:ea typeface="楷体_GB2312" pitchFamily="49" charset="-122"/>
              </a:rPr>
              <a:t>——</a:t>
            </a:r>
            <a:r>
              <a:rPr lang="zh-CN" altLang="en-US" sz="2400" b="1" dirty="0">
                <a:ea typeface="楷体_GB2312" pitchFamily="49" charset="-122"/>
              </a:rPr>
              <a:t>即要明确注入几级的水</a:t>
            </a:r>
          </a:p>
          <a:p>
            <a:pPr lvl="1" eaLnBrk="1" hangingPunct="1"/>
            <a:r>
              <a:rPr lang="zh-CN" altLang="en-US" sz="2400" b="1" dirty="0">
                <a:ea typeface="楷体_GB2312" pitchFamily="49" charset="-122"/>
              </a:rPr>
              <a:t>可采用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最大隶属原则</a:t>
            </a:r>
            <a:r>
              <a:rPr lang="zh-CN" altLang="en-US" sz="2400" b="1" dirty="0">
                <a:ea typeface="楷体_GB2312" pitchFamily="49" charset="-122"/>
              </a:rPr>
              <a:t>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因为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B(4)=</a:t>
            </a:r>
            <a:r>
              <a:rPr lang="en-US" altLang="zh-CN" sz="2400" dirty="0">
                <a:solidFill>
                  <a:srgbClr val="008000"/>
                </a:solidFill>
                <a:ea typeface="楷体_GB2312" pitchFamily="49" charset="-122"/>
              </a:rPr>
              <a:t>1</a:t>
            </a:r>
            <a:r>
              <a:rPr lang="en-US" altLang="zh-CN" sz="2400" dirty="0">
                <a:ea typeface="楷体_GB2312" pitchFamily="49" charset="-122"/>
              </a:rPr>
              <a:t>=max{</a:t>
            </a:r>
            <a:r>
              <a:rPr lang="en-US" altLang="zh-CN" dirty="0">
                <a:solidFill>
                  <a:srgbClr val="3333FF"/>
                </a:solidFill>
                <a:ea typeface="楷体_GB2312" pitchFamily="49" charset="-122"/>
              </a:rPr>
              <a:t>0, 0, 0, 0, 0, 0, 0.5, 0.5, 0.5, 1</a:t>
            </a:r>
            <a:r>
              <a:rPr lang="en-US" altLang="zh-CN" sz="2400" b="1" dirty="0">
                <a:ea typeface="楷体_GB2312" pitchFamily="49" charset="-122"/>
              </a:rPr>
              <a:t>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zh-CN" altLang="en-US" b="1" dirty="0">
                <a:ea typeface="楷体_GB2312" pitchFamily="49" charset="-122"/>
              </a:rPr>
              <a:t>所以，</a:t>
            </a:r>
            <a:r>
              <a:rPr lang="zh-CN" altLang="en-US" b="1" dirty="0">
                <a:solidFill>
                  <a:srgbClr val="008000"/>
                </a:solidFill>
                <a:ea typeface="楷体_GB2312" pitchFamily="49" charset="-122"/>
              </a:rPr>
              <a:t>选控制量为</a:t>
            </a:r>
            <a:r>
              <a:rPr lang="en-US" altLang="zh-CN" b="1" dirty="0">
                <a:solidFill>
                  <a:srgbClr val="008000"/>
                </a:solidFill>
                <a:ea typeface="楷体_GB2312" pitchFamily="49" charset="-122"/>
              </a:rPr>
              <a:t>4</a:t>
            </a:r>
            <a:r>
              <a:rPr lang="zh-CN" altLang="en-US" b="1" dirty="0">
                <a:solidFill>
                  <a:srgbClr val="008000"/>
                </a:solidFill>
                <a:ea typeface="楷体_GB2312" pitchFamily="49" charset="-122"/>
              </a:rPr>
              <a:t>级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5581007"/>
              </p:ext>
            </p:extLst>
          </p:nvPr>
        </p:nvGraphicFramePr>
        <p:xfrm>
          <a:off x="1981200" y="3036646"/>
          <a:ext cx="712946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22600" imgH="393700" progId="Equation.3">
                  <p:embed/>
                </p:oleObj>
              </mc:Choice>
              <mc:Fallback>
                <p:oleObj name="公式" r:id="rId2" imgW="3022600" imgH="393700" progId="Equation.3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36646"/>
                        <a:ext cx="712946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D3F0A4-4637-018F-36E5-BCEA21AB4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8DD7A4-E14E-2FE2-E653-040262755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1295750"/>
            <a:ext cx="5105400" cy="1209675"/>
          </a:xfrm>
          <a:prstGeom prst="rect">
            <a:avLst/>
          </a:prstGeom>
          <a:effectLst>
            <a:glow rad="127000">
              <a:schemeClr val="bg2">
                <a:lumMod val="20000"/>
                <a:lumOff val="8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6" y="404814"/>
            <a:ext cx="8893175" cy="131603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：关于热交换装置水温的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700214"/>
            <a:ext cx="10657184" cy="416718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水柜由几个隔开的水槽组成，冷水由第一个水槽注入，经加热后由最后一个水槽流出。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通过调整</a:t>
            </a:r>
          </a:p>
          <a:p>
            <a:pPr lvl="1" eaLnBrk="1" hangingPunct="1"/>
            <a:r>
              <a:rPr lang="zh-CN" altLang="en-US" b="1" dirty="0">
                <a:solidFill>
                  <a:srgbClr val="FF0066"/>
                </a:solidFill>
                <a:ea typeface="楷体_GB2312" pitchFamily="49" charset="-122"/>
              </a:rPr>
              <a:t>热水流量</a:t>
            </a:r>
            <a:r>
              <a:rPr lang="en-US" altLang="zh-CN" b="1" dirty="0">
                <a:solidFill>
                  <a:srgbClr val="FF0066"/>
                </a:solidFill>
                <a:ea typeface="楷体_GB2312" pitchFamily="49" charset="-122"/>
              </a:rPr>
              <a:t>F</a:t>
            </a:r>
            <a:r>
              <a:rPr lang="en-US" altLang="zh-CN" b="1" baseline="-25000" dirty="0">
                <a:solidFill>
                  <a:srgbClr val="FF0066"/>
                </a:solidFill>
                <a:ea typeface="楷体_GB2312" pitchFamily="49" charset="-122"/>
              </a:rPr>
              <a:t>1</a:t>
            </a:r>
          </a:p>
          <a:p>
            <a:pPr lvl="1" eaLnBrk="1" hangingPunct="1"/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</a:rPr>
              <a:t>冷水流量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</a:rPr>
              <a:t>F</a:t>
            </a:r>
            <a:r>
              <a:rPr lang="en-US" altLang="zh-CN" b="1" baseline="-25000" dirty="0">
                <a:solidFill>
                  <a:schemeClr val="bg2"/>
                </a:solidFill>
                <a:ea typeface="楷体_GB2312" pitchFamily="49" charset="-122"/>
              </a:rPr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来控制水槽的水温。</a:t>
            </a:r>
            <a:endParaRPr lang="en-US" altLang="zh-CN" sz="2800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下面通过三种不同的</a:t>
            </a:r>
            <a:endParaRPr lang="en-US" altLang="zh-CN" sz="2800" dirty="0">
              <a:latin typeface="黑体" pitchFamily="2" charset="-122"/>
              <a:ea typeface="黑体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  F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控制器实现控制，</a:t>
            </a:r>
            <a:endParaRPr lang="en-US" altLang="zh-CN" sz="2800" dirty="0">
              <a:latin typeface="黑体" pitchFamily="2" charset="-122"/>
              <a:ea typeface="黑体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比较它们的结果。</a:t>
            </a:r>
          </a:p>
        </p:txBody>
      </p:sp>
      <p:grpSp>
        <p:nvGrpSpPr>
          <p:cNvPr id="22532" name="Group 34"/>
          <p:cNvGrpSpPr>
            <a:grpSpLocks/>
          </p:cNvGrpSpPr>
          <p:nvPr/>
        </p:nvGrpSpPr>
        <p:grpSpPr bwMode="auto">
          <a:xfrm>
            <a:off x="5951538" y="3357563"/>
            <a:ext cx="4464050" cy="3205162"/>
            <a:chOff x="703" y="1752"/>
            <a:chExt cx="2812" cy="2019"/>
          </a:xfrm>
        </p:grpSpPr>
        <p:sp>
          <p:nvSpPr>
            <p:cNvPr id="22533" name="Rectangle 35"/>
            <p:cNvSpPr>
              <a:spLocks noChangeArrowheads="1"/>
            </p:cNvSpPr>
            <p:nvPr/>
          </p:nvSpPr>
          <p:spPr bwMode="auto">
            <a:xfrm>
              <a:off x="703" y="2115"/>
              <a:ext cx="2812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4" name="Rectangle 36" descr="横虚线"/>
            <p:cNvSpPr>
              <a:spLocks noChangeArrowheads="1"/>
            </p:cNvSpPr>
            <p:nvPr/>
          </p:nvSpPr>
          <p:spPr bwMode="auto">
            <a:xfrm>
              <a:off x="703" y="2432"/>
              <a:ext cx="816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5" name="Rectangle 37" descr="宽上对角线"/>
            <p:cNvSpPr>
              <a:spLocks noChangeArrowheads="1"/>
            </p:cNvSpPr>
            <p:nvPr/>
          </p:nvSpPr>
          <p:spPr bwMode="auto">
            <a:xfrm>
              <a:off x="1519" y="2614"/>
              <a:ext cx="635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6" name="Rectangle 38" descr="宽下对角线"/>
            <p:cNvSpPr>
              <a:spLocks noChangeArrowheads="1"/>
            </p:cNvSpPr>
            <p:nvPr/>
          </p:nvSpPr>
          <p:spPr bwMode="auto">
            <a:xfrm>
              <a:off x="2154" y="2750"/>
              <a:ext cx="862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7" name="Rectangle 39" descr="深色横线"/>
            <p:cNvSpPr>
              <a:spLocks noChangeArrowheads="1"/>
            </p:cNvSpPr>
            <p:nvPr/>
          </p:nvSpPr>
          <p:spPr bwMode="auto">
            <a:xfrm>
              <a:off x="3016" y="2886"/>
              <a:ext cx="499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8" name="Line 40"/>
            <p:cNvSpPr>
              <a:spLocks noChangeShapeType="1"/>
            </p:cNvSpPr>
            <p:nvPr/>
          </p:nvSpPr>
          <p:spPr bwMode="auto">
            <a:xfrm>
              <a:off x="1020" y="3385"/>
              <a:ext cx="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Line 41"/>
            <p:cNvSpPr>
              <a:spLocks noChangeShapeType="1"/>
            </p:cNvSpPr>
            <p:nvPr/>
          </p:nvSpPr>
          <p:spPr bwMode="auto">
            <a:xfrm>
              <a:off x="1156" y="3385"/>
              <a:ext cx="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Line 42"/>
            <p:cNvSpPr>
              <a:spLocks noChangeShapeType="1"/>
            </p:cNvSpPr>
            <p:nvPr/>
          </p:nvSpPr>
          <p:spPr bwMode="auto">
            <a:xfrm>
              <a:off x="3198" y="3385"/>
              <a:ext cx="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Line 43"/>
            <p:cNvSpPr>
              <a:spLocks noChangeShapeType="1"/>
            </p:cNvSpPr>
            <p:nvPr/>
          </p:nvSpPr>
          <p:spPr bwMode="auto">
            <a:xfrm>
              <a:off x="3334" y="3385"/>
              <a:ext cx="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Line 45"/>
            <p:cNvSpPr>
              <a:spLocks noChangeShapeType="1"/>
            </p:cNvSpPr>
            <p:nvPr/>
          </p:nvSpPr>
          <p:spPr bwMode="auto">
            <a:xfrm>
              <a:off x="1020" y="1933"/>
              <a:ext cx="0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Line 46"/>
            <p:cNvSpPr>
              <a:spLocks noChangeShapeType="1"/>
            </p:cNvSpPr>
            <p:nvPr/>
          </p:nvSpPr>
          <p:spPr bwMode="auto">
            <a:xfrm flipH="1">
              <a:off x="929" y="2114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47"/>
            <p:cNvSpPr>
              <a:spLocks noChangeShapeType="1"/>
            </p:cNvSpPr>
            <p:nvPr/>
          </p:nvSpPr>
          <p:spPr bwMode="auto">
            <a:xfrm flipV="1">
              <a:off x="1066" y="3430"/>
              <a:ext cx="0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48"/>
            <p:cNvSpPr>
              <a:spLocks noChangeShapeType="1"/>
            </p:cNvSpPr>
            <p:nvPr/>
          </p:nvSpPr>
          <p:spPr bwMode="auto">
            <a:xfrm>
              <a:off x="3243" y="3475"/>
              <a:ext cx="0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49"/>
            <p:cNvSpPr>
              <a:spLocks noChangeShapeType="1"/>
            </p:cNvSpPr>
            <p:nvPr/>
          </p:nvSpPr>
          <p:spPr bwMode="auto">
            <a:xfrm>
              <a:off x="1111" y="2704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50"/>
            <p:cNvSpPr>
              <a:spLocks noChangeShapeType="1"/>
            </p:cNvSpPr>
            <p:nvPr/>
          </p:nvSpPr>
          <p:spPr bwMode="auto">
            <a:xfrm>
              <a:off x="1020" y="3385"/>
              <a:ext cx="13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51"/>
            <p:cNvSpPr>
              <a:spLocks noChangeShapeType="1"/>
            </p:cNvSpPr>
            <p:nvPr/>
          </p:nvSpPr>
          <p:spPr bwMode="auto">
            <a:xfrm>
              <a:off x="1020" y="2115"/>
              <a:ext cx="18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52"/>
            <p:cNvSpPr>
              <a:spLocks noChangeShapeType="1"/>
            </p:cNvSpPr>
            <p:nvPr/>
          </p:nvSpPr>
          <p:spPr bwMode="auto">
            <a:xfrm>
              <a:off x="3198" y="3385"/>
              <a:ext cx="13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Text Box 53"/>
            <p:cNvSpPr txBox="1">
              <a:spLocks noChangeArrowheads="1"/>
            </p:cNvSpPr>
            <p:nvPr/>
          </p:nvSpPr>
          <p:spPr bwMode="auto">
            <a:xfrm>
              <a:off x="1247" y="1752"/>
              <a:ext cx="8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2552" name="Text Box 54"/>
            <p:cNvSpPr txBox="1">
              <a:spLocks noChangeArrowheads="1"/>
            </p:cNvSpPr>
            <p:nvPr/>
          </p:nvSpPr>
          <p:spPr bwMode="auto">
            <a:xfrm>
              <a:off x="1111" y="3521"/>
              <a:ext cx="6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2553" name="Text Box 55"/>
            <p:cNvSpPr txBox="1">
              <a:spLocks noChangeArrowheads="1"/>
            </p:cNvSpPr>
            <p:nvPr/>
          </p:nvSpPr>
          <p:spPr bwMode="auto">
            <a:xfrm>
              <a:off x="2789" y="3475"/>
              <a:ext cx="4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2554" name="Line 56"/>
            <p:cNvSpPr>
              <a:spLocks noChangeShapeType="1"/>
            </p:cNvSpPr>
            <p:nvPr/>
          </p:nvSpPr>
          <p:spPr bwMode="auto">
            <a:xfrm>
              <a:off x="1111" y="1842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Line 44"/>
            <p:cNvSpPr>
              <a:spLocks noChangeShapeType="1"/>
            </p:cNvSpPr>
            <p:nvPr/>
          </p:nvSpPr>
          <p:spPr bwMode="auto">
            <a:xfrm>
              <a:off x="1202" y="1933"/>
              <a:ext cx="0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89B9BA-8FB7-857D-7E1C-84D86C9B26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482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：关于热交换装置流量的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solidFill>
                  <a:srgbClr val="CC00CC"/>
                </a:solidFill>
                <a:ea typeface="黑体" pitchFamily="2" charset="-122"/>
              </a:rPr>
              <a:t>第一种控制器</a:t>
            </a:r>
          </a:p>
          <a:p>
            <a:pPr eaLnBrk="1" hangingPunct="1"/>
            <a:r>
              <a:rPr lang="zh-CN" altLang="en-US" sz="2800">
                <a:ea typeface="黑体" pitchFamily="2" charset="-122"/>
              </a:rPr>
              <a:t>通过调整</a:t>
            </a:r>
          </a:p>
          <a:p>
            <a:pPr lvl="1" eaLnBrk="1" hangingPunct="1"/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水温误差</a:t>
            </a:r>
            <a:r>
              <a:rPr lang="en-US" altLang="zh-CN" b="1">
                <a:solidFill>
                  <a:srgbClr val="3333FF"/>
                </a:solidFill>
                <a:ea typeface="楷体_GB2312" pitchFamily="49" charset="-122"/>
              </a:rPr>
              <a:t>x</a:t>
            </a:r>
          </a:p>
          <a:p>
            <a:pPr lvl="1" eaLnBrk="1" hangingPunct="1"/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水温误差</a:t>
            </a:r>
            <a:r>
              <a:rPr lang="en-US" altLang="zh-CN" b="1">
                <a:solidFill>
                  <a:srgbClr val="3333FF"/>
                </a:solidFill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的变化率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来控制水槽的流量。</a:t>
            </a:r>
          </a:p>
        </p:txBody>
      </p:sp>
      <p:graphicFrame>
        <p:nvGraphicFramePr>
          <p:cNvPr id="27684" name="Object 3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32995758"/>
              </p:ext>
            </p:extLst>
          </p:nvPr>
        </p:nvGraphicFramePr>
        <p:xfrm>
          <a:off x="4583832" y="3429001"/>
          <a:ext cx="2571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890" imgH="279158" progId="Equation.3">
                  <p:embed/>
                </p:oleObj>
              </mc:Choice>
              <mc:Fallback>
                <p:oleObj name="公式" r:id="rId2" imgW="126890" imgH="279158" progId="Equation.3">
                  <p:embed/>
                  <p:pic>
                    <p:nvPicPr>
                      <p:cNvPr id="2768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3429001"/>
                        <a:ext cx="2571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85" name="Group 137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574370477"/>
              </p:ext>
            </p:extLst>
          </p:nvPr>
        </p:nvGraphicFramePr>
        <p:xfrm>
          <a:off x="869094" y="4941591"/>
          <a:ext cx="5384799" cy="1828800"/>
        </p:xfrm>
        <a:graphic>
          <a:graphicData uri="http://schemas.openxmlformats.org/drawingml/2006/table">
            <a:tbl>
              <a:tblPr/>
              <a:tblGrid>
                <a:gridCol w="2737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语言值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小、较小、很小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…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水温误差的变化率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小、中、大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很大、很小、稳态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3574" name="Group 93"/>
          <p:cNvGrpSpPr>
            <a:grpSpLocks/>
          </p:cNvGrpSpPr>
          <p:nvPr/>
        </p:nvGrpSpPr>
        <p:grpSpPr bwMode="auto">
          <a:xfrm>
            <a:off x="7536160" y="1907012"/>
            <a:ext cx="3492500" cy="3062288"/>
            <a:chOff x="4014" y="1887"/>
            <a:chExt cx="1746" cy="1929"/>
          </a:xfrm>
        </p:grpSpPr>
        <p:sp>
          <p:nvSpPr>
            <p:cNvPr id="23576" name="Rectangle 94"/>
            <p:cNvSpPr>
              <a:spLocks noChangeArrowheads="1"/>
            </p:cNvSpPr>
            <p:nvPr/>
          </p:nvSpPr>
          <p:spPr bwMode="auto">
            <a:xfrm>
              <a:off x="4014" y="2160"/>
              <a:ext cx="1746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Rectangle 95" descr="横虚线"/>
            <p:cNvSpPr>
              <a:spLocks noChangeArrowheads="1"/>
            </p:cNvSpPr>
            <p:nvPr/>
          </p:nvSpPr>
          <p:spPr bwMode="auto">
            <a:xfrm>
              <a:off x="4014" y="2477"/>
              <a:ext cx="507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Rectangle 96" descr="宽上对角线"/>
            <p:cNvSpPr>
              <a:spLocks noChangeArrowheads="1"/>
            </p:cNvSpPr>
            <p:nvPr/>
          </p:nvSpPr>
          <p:spPr bwMode="auto">
            <a:xfrm>
              <a:off x="4521" y="2659"/>
              <a:ext cx="394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Rectangle 97" descr="宽下对角线"/>
            <p:cNvSpPr>
              <a:spLocks noChangeArrowheads="1"/>
            </p:cNvSpPr>
            <p:nvPr/>
          </p:nvSpPr>
          <p:spPr bwMode="auto">
            <a:xfrm>
              <a:off x="4915" y="2795"/>
              <a:ext cx="535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Rectangle 98" descr="深色横线"/>
            <p:cNvSpPr>
              <a:spLocks noChangeArrowheads="1"/>
            </p:cNvSpPr>
            <p:nvPr/>
          </p:nvSpPr>
          <p:spPr bwMode="auto">
            <a:xfrm>
              <a:off x="5450" y="2931"/>
              <a:ext cx="310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Line 99"/>
            <p:cNvSpPr>
              <a:spLocks noChangeShapeType="1"/>
            </p:cNvSpPr>
            <p:nvPr/>
          </p:nvSpPr>
          <p:spPr bwMode="auto">
            <a:xfrm>
              <a:off x="4211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100"/>
            <p:cNvSpPr>
              <a:spLocks noChangeShapeType="1"/>
            </p:cNvSpPr>
            <p:nvPr/>
          </p:nvSpPr>
          <p:spPr bwMode="auto">
            <a:xfrm>
              <a:off x="4295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101"/>
            <p:cNvSpPr>
              <a:spLocks noChangeShapeType="1"/>
            </p:cNvSpPr>
            <p:nvPr/>
          </p:nvSpPr>
          <p:spPr bwMode="auto">
            <a:xfrm>
              <a:off x="5563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102"/>
            <p:cNvSpPr>
              <a:spLocks noChangeShapeType="1"/>
            </p:cNvSpPr>
            <p:nvPr/>
          </p:nvSpPr>
          <p:spPr bwMode="auto">
            <a:xfrm>
              <a:off x="5648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104"/>
            <p:cNvSpPr>
              <a:spLocks noChangeShapeType="1"/>
            </p:cNvSpPr>
            <p:nvPr/>
          </p:nvSpPr>
          <p:spPr bwMode="auto">
            <a:xfrm>
              <a:off x="4211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105"/>
            <p:cNvSpPr>
              <a:spLocks noChangeShapeType="1"/>
            </p:cNvSpPr>
            <p:nvPr/>
          </p:nvSpPr>
          <p:spPr bwMode="auto">
            <a:xfrm flipH="1">
              <a:off x="4154" y="2159"/>
              <a:ext cx="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106"/>
            <p:cNvSpPr>
              <a:spLocks noChangeShapeType="1"/>
            </p:cNvSpPr>
            <p:nvPr/>
          </p:nvSpPr>
          <p:spPr bwMode="auto">
            <a:xfrm flipV="1">
              <a:off x="4239" y="3475"/>
              <a:ext cx="1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107"/>
            <p:cNvSpPr>
              <a:spLocks noChangeShapeType="1"/>
            </p:cNvSpPr>
            <p:nvPr/>
          </p:nvSpPr>
          <p:spPr bwMode="auto">
            <a:xfrm>
              <a:off x="5591" y="3520"/>
              <a:ext cx="1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108"/>
            <p:cNvSpPr>
              <a:spLocks noChangeShapeType="1"/>
            </p:cNvSpPr>
            <p:nvPr/>
          </p:nvSpPr>
          <p:spPr bwMode="auto">
            <a:xfrm>
              <a:off x="4267" y="2749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109"/>
            <p:cNvSpPr>
              <a:spLocks noChangeShapeType="1"/>
            </p:cNvSpPr>
            <p:nvPr/>
          </p:nvSpPr>
          <p:spPr bwMode="auto">
            <a:xfrm>
              <a:off x="4211" y="3430"/>
              <a:ext cx="84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110"/>
            <p:cNvSpPr>
              <a:spLocks noChangeShapeType="1"/>
            </p:cNvSpPr>
            <p:nvPr/>
          </p:nvSpPr>
          <p:spPr bwMode="auto">
            <a:xfrm>
              <a:off x="4211" y="2160"/>
              <a:ext cx="113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3" name="Line 111"/>
            <p:cNvSpPr>
              <a:spLocks noChangeShapeType="1"/>
            </p:cNvSpPr>
            <p:nvPr/>
          </p:nvSpPr>
          <p:spPr bwMode="auto">
            <a:xfrm>
              <a:off x="5563" y="3430"/>
              <a:ext cx="85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Text Box 112"/>
            <p:cNvSpPr txBox="1">
              <a:spLocks noChangeArrowheads="1"/>
            </p:cNvSpPr>
            <p:nvPr/>
          </p:nvSpPr>
          <p:spPr bwMode="auto">
            <a:xfrm>
              <a:off x="4332" y="1888"/>
              <a:ext cx="8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3595" name="Text Box 113"/>
            <p:cNvSpPr txBox="1">
              <a:spLocks noChangeArrowheads="1"/>
            </p:cNvSpPr>
            <p:nvPr/>
          </p:nvSpPr>
          <p:spPr bwMode="auto">
            <a:xfrm>
              <a:off x="4267" y="3566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3596" name="Text Box 114"/>
            <p:cNvSpPr txBox="1">
              <a:spLocks noChangeArrowheads="1"/>
            </p:cNvSpPr>
            <p:nvPr/>
          </p:nvSpPr>
          <p:spPr bwMode="auto">
            <a:xfrm>
              <a:off x="5103" y="3520"/>
              <a:ext cx="5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3597" name="Line 115"/>
            <p:cNvSpPr>
              <a:spLocks noChangeShapeType="1"/>
            </p:cNvSpPr>
            <p:nvPr/>
          </p:nvSpPr>
          <p:spPr bwMode="auto">
            <a:xfrm>
              <a:off x="4267" y="1887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103"/>
            <p:cNvSpPr>
              <a:spLocks noChangeShapeType="1"/>
            </p:cNvSpPr>
            <p:nvPr/>
          </p:nvSpPr>
          <p:spPr bwMode="auto">
            <a:xfrm>
              <a:off x="4324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764" name="Text Box 116"/>
          <p:cNvSpPr txBox="1">
            <a:spLocks noChangeArrowheads="1"/>
          </p:cNvSpPr>
          <p:nvPr/>
        </p:nvSpPr>
        <p:spPr bwMode="auto">
          <a:xfrm>
            <a:off x="7250061" y="5463670"/>
            <a:ext cx="41767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控制器结构较复杂，各语言变量刻划较粗糙</a:t>
            </a:r>
          </a:p>
        </p:txBody>
      </p:sp>
      <p:graphicFrame>
        <p:nvGraphicFramePr>
          <p:cNvPr id="30" name="Object 36">
            <a:extLst>
              <a:ext uri="{FF2B5EF4-FFF2-40B4-BE49-F238E27FC236}">
                <a16:creationId xmlns:a16="http://schemas.microsoft.com/office/drawing/2014/main" id="{5FD2AA8E-E4CE-4AA4-9E26-1A32859CC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898161"/>
              </p:ext>
            </p:extLst>
          </p:nvPr>
        </p:nvGraphicFramePr>
        <p:xfrm>
          <a:off x="3791745" y="5762650"/>
          <a:ext cx="214791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890" imgH="279158" progId="Equation.3">
                  <p:embed/>
                </p:oleObj>
              </mc:Choice>
              <mc:Fallback>
                <p:oleObj name="公式" r:id="rId2" imgW="126890" imgH="279158" progId="Equation.3">
                  <p:embed/>
                  <p:pic>
                    <p:nvPicPr>
                      <p:cNvPr id="30" name="Object 36">
                        <a:extLst>
                          <a:ext uri="{FF2B5EF4-FFF2-40B4-BE49-F238E27FC236}">
                            <a16:creationId xmlns:a16="http://schemas.microsoft.com/office/drawing/2014/main" id="{5FD2AA8E-E4CE-4AA4-9E26-1A32859CC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5" y="5762650"/>
                        <a:ext cx="214791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9117F3-2E35-2BFF-EAE8-767863314C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32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7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：关于热交换装置流量的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773238"/>
            <a:ext cx="9001373" cy="489585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第一种控制器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用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水温误差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x 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及其变化率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来控制水槽的温度。</a:t>
            </a:r>
          </a:p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控制规则</a:t>
            </a: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当水温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低于</a:t>
            </a:r>
            <a:r>
              <a:rPr lang="zh-CN" altLang="en-US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期望温度时</a:t>
            </a: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不小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很大，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很小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 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小</a:t>
            </a:r>
            <a:r>
              <a:rPr lang="zh-CN" altLang="en-US" sz="2400" b="1" dirty="0"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很小，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很小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        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 </a:t>
            </a:r>
            <a:r>
              <a:rPr lang="en-US" altLang="zh-CN" sz="2400" b="1" u="sng" dirty="0">
                <a:ea typeface="楷体_GB2312" pitchFamily="49" charset="-122"/>
              </a:rPr>
              <a:t>     </a:t>
            </a:r>
            <a:r>
              <a:rPr lang="zh-CN" altLang="en-US" sz="2400" b="1" u="sng" dirty="0">
                <a:ea typeface="楷体_GB2312" pitchFamily="49" charset="-122"/>
              </a:rPr>
              <a:t>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减少量小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        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 </a:t>
            </a:r>
            <a:r>
              <a:rPr lang="en-US" altLang="zh-CN" sz="2400" b="1" u="sng" dirty="0">
                <a:ea typeface="楷体_GB2312" pitchFamily="49" charset="-122"/>
              </a:rPr>
              <a:t>     </a:t>
            </a:r>
            <a:r>
              <a:rPr lang="zh-CN" altLang="en-US" sz="2400" b="1" u="sng" dirty="0">
                <a:ea typeface="楷体_GB2312" pitchFamily="49" charset="-122"/>
              </a:rPr>
              <a:t>中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减少量中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        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 </a:t>
            </a:r>
            <a:r>
              <a:rPr lang="en-US" altLang="zh-CN" sz="2400" b="1" u="sng" dirty="0">
                <a:ea typeface="楷体_GB2312" pitchFamily="49" charset="-122"/>
              </a:rPr>
              <a:t>     </a:t>
            </a:r>
            <a:r>
              <a:rPr lang="zh-CN" altLang="en-US" sz="2400" b="1" u="sng" dirty="0">
                <a:ea typeface="楷体_GB2312" pitchFamily="49" charset="-122"/>
              </a:rPr>
              <a:t>大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THEN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减少量大</a:t>
            </a:r>
          </a:p>
        </p:txBody>
      </p:sp>
      <p:graphicFrame>
        <p:nvGraphicFramePr>
          <p:cNvPr id="327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03712" y="6021388"/>
          <a:ext cx="1905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890" imgH="279158" progId="Equation.3">
                  <p:embed/>
                </p:oleObj>
              </mc:Choice>
              <mc:Fallback>
                <p:oleObj name="公式" r:id="rId3" imgW="126890" imgH="279158" progId="Equation.3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6021388"/>
                        <a:ext cx="1905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1" name="Group 46"/>
          <p:cNvGrpSpPr>
            <a:grpSpLocks/>
          </p:cNvGrpSpPr>
          <p:nvPr/>
        </p:nvGrpSpPr>
        <p:grpSpPr bwMode="auto">
          <a:xfrm>
            <a:off x="7644060" y="1657078"/>
            <a:ext cx="3492500" cy="3062287"/>
            <a:chOff x="4014" y="1887"/>
            <a:chExt cx="1746" cy="1929"/>
          </a:xfrm>
        </p:grpSpPr>
        <p:sp>
          <p:nvSpPr>
            <p:cNvPr id="24585" name="Rectangle 6"/>
            <p:cNvSpPr>
              <a:spLocks noChangeArrowheads="1"/>
            </p:cNvSpPr>
            <p:nvPr/>
          </p:nvSpPr>
          <p:spPr bwMode="auto">
            <a:xfrm>
              <a:off x="4014" y="2160"/>
              <a:ext cx="1746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6" name="Rectangle 7" descr="横虚线"/>
            <p:cNvSpPr>
              <a:spLocks noChangeArrowheads="1"/>
            </p:cNvSpPr>
            <p:nvPr/>
          </p:nvSpPr>
          <p:spPr bwMode="auto">
            <a:xfrm>
              <a:off x="4014" y="2477"/>
              <a:ext cx="507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7" name="Rectangle 8" descr="宽上对角线"/>
            <p:cNvSpPr>
              <a:spLocks noChangeArrowheads="1"/>
            </p:cNvSpPr>
            <p:nvPr/>
          </p:nvSpPr>
          <p:spPr bwMode="auto">
            <a:xfrm>
              <a:off x="4521" y="2659"/>
              <a:ext cx="394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Rectangle 9" descr="宽下对角线"/>
            <p:cNvSpPr>
              <a:spLocks noChangeArrowheads="1"/>
            </p:cNvSpPr>
            <p:nvPr/>
          </p:nvSpPr>
          <p:spPr bwMode="auto">
            <a:xfrm>
              <a:off x="4915" y="2795"/>
              <a:ext cx="535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Rectangle 10" descr="深色横线"/>
            <p:cNvSpPr>
              <a:spLocks noChangeArrowheads="1"/>
            </p:cNvSpPr>
            <p:nvPr/>
          </p:nvSpPr>
          <p:spPr bwMode="auto">
            <a:xfrm>
              <a:off x="5450" y="2931"/>
              <a:ext cx="310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11"/>
            <p:cNvSpPr>
              <a:spLocks noChangeShapeType="1"/>
            </p:cNvSpPr>
            <p:nvPr/>
          </p:nvSpPr>
          <p:spPr bwMode="auto">
            <a:xfrm>
              <a:off x="4211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13"/>
            <p:cNvSpPr>
              <a:spLocks noChangeShapeType="1"/>
            </p:cNvSpPr>
            <p:nvPr/>
          </p:nvSpPr>
          <p:spPr bwMode="auto">
            <a:xfrm>
              <a:off x="5563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17"/>
            <p:cNvSpPr>
              <a:spLocks noChangeShapeType="1"/>
            </p:cNvSpPr>
            <p:nvPr/>
          </p:nvSpPr>
          <p:spPr bwMode="auto">
            <a:xfrm flipH="1">
              <a:off x="4154" y="2159"/>
              <a:ext cx="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18"/>
            <p:cNvSpPr>
              <a:spLocks noChangeShapeType="1"/>
            </p:cNvSpPr>
            <p:nvPr/>
          </p:nvSpPr>
          <p:spPr bwMode="auto">
            <a:xfrm flipV="1">
              <a:off x="4239" y="3475"/>
              <a:ext cx="1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8" name="Line 19"/>
            <p:cNvSpPr>
              <a:spLocks noChangeShapeType="1"/>
            </p:cNvSpPr>
            <p:nvPr/>
          </p:nvSpPr>
          <p:spPr bwMode="auto">
            <a:xfrm>
              <a:off x="5591" y="3520"/>
              <a:ext cx="1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9" name="Line 20"/>
            <p:cNvSpPr>
              <a:spLocks noChangeShapeType="1"/>
            </p:cNvSpPr>
            <p:nvPr/>
          </p:nvSpPr>
          <p:spPr bwMode="auto">
            <a:xfrm>
              <a:off x="4267" y="2749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21"/>
            <p:cNvSpPr>
              <a:spLocks noChangeShapeType="1"/>
            </p:cNvSpPr>
            <p:nvPr/>
          </p:nvSpPr>
          <p:spPr bwMode="auto">
            <a:xfrm>
              <a:off x="4211" y="3430"/>
              <a:ext cx="84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Line 22"/>
            <p:cNvSpPr>
              <a:spLocks noChangeShapeType="1"/>
            </p:cNvSpPr>
            <p:nvPr/>
          </p:nvSpPr>
          <p:spPr bwMode="auto">
            <a:xfrm>
              <a:off x="4211" y="2160"/>
              <a:ext cx="113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Line 23"/>
            <p:cNvSpPr>
              <a:spLocks noChangeShapeType="1"/>
            </p:cNvSpPr>
            <p:nvPr/>
          </p:nvSpPr>
          <p:spPr bwMode="auto">
            <a:xfrm>
              <a:off x="5563" y="3430"/>
              <a:ext cx="85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Text Box 24"/>
            <p:cNvSpPr txBox="1">
              <a:spLocks noChangeArrowheads="1"/>
            </p:cNvSpPr>
            <p:nvPr/>
          </p:nvSpPr>
          <p:spPr bwMode="auto">
            <a:xfrm>
              <a:off x="4332" y="1888"/>
              <a:ext cx="8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4604" name="Text Box 25"/>
            <p:cNvSpPr txBox="1">
              <a:spLocks noChangeArrowheads="1"/>
            </p:cNvSpPr>
            <p:nvPr/>
          </p:nvSpPr>
          <p:spPr bwMode="auto">
            <a:xfrm>
              <a:off x="4267" y="3566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4605" name="Text Box 26"/>
            <p:cNvSpPr txBox="1">
              <a:spLocks noChangeArrowheads="1"/>
            </p:cNvSpPr>
            <p:nvPr/>
          </p:nvSpPr>
          <p:spPr bwMode="auto">
            <a:xfrm>
              <a:off x="5103" y="3520"/>
              <a:ext cx="5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4606" name="Line 27"/>
            <p:cNvSpPr>
              <a:spLocks noChangeShapeType="1"/>
            </p:cNvSpPr>
            <p:nvPr/>
          </p:nvSpPr>
          <p:spPr bwMode="auto">
            <a:xfrm>
              <a:off x="4267" y="1887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15"/>
            <p:cNvSpPr>
              <a:spLocks noChangeShapeType="1"/>
            </p:cNvSpPr>
            <p:nvPr/>
          </p:nvSpPr>
          <p:spPr bwMode="auto">
            <a:xfrm>
              <a:off x="4324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16"/>
            <p:cNvSpPr>
              <a:spLocks noChangeShapeType="1"/>
            </p:cNvSpPr>
            <p:nvPr/>
          </p:nvSpPr>
          <p:spPr bwMode="auto">
            <a:xfrm>
              <a:off x="4211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14"/>
            <p:cNvSpPr>
              <a:spLocks noChangeShapeType="1"/>
            </p:cNvSpPr>
            <p:nvPr/>
          </p:nvSpPr>
          <p:spPr bwMode="auto">
            <a:xfrm>
              <a:off x="5648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12"/>
            <p:cNvSpPr>
              <a:spLocks noChangeShapeType="1"/>
            </p:cNvSpPr>
            <p:nvPr/>
          </p:nvSpPr>
          <p:spPr bwMode="auto">
            <a:xfrm>
              <a:off x="4295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2815" name="Object 4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669584" y="2060849"/>
          <a:ext cx="29051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890" imgH="279158" progId="Equation.3">
                  <p:embed/>
                </p:oleObj>
              </mc:Choice>
              <mc:Fallback>
                <p:oleObj name="公式" r:id="rId3" imgW="126890" imgH="279158" progId="Equation.3">
                  <p:embed/>
                  <p:pic>
                    <p:nvPicPr>
                      <p:cNvPr id="3281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584" y="2060849"/>
                        <a:ext cx="29051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7" name="Object 49"/>
          <p:cNvGraphicFramePr>
            <a:graphicFrameLocks noChangeAspect="1"/>
          </p:cNvGraphicFramePr>
          <p:nvPr/>
        </p:nvGraphicFramePr>
        <p:xfrm>
          <a:off x="3503712" y="5532338"/>
          <a:ext cx="222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890" imgH="279158" progId="Equation.3">
                  <p:embed/>
                </p:oleObj>
              </mc:Choice>
              <mc:Fallback>
                <p:oleObj name="公式" r:id="rId3" imgW="126890" imgH="279158" progId="Equation.3">
                  <p:embed/>
                  <p:pic>
                    <p:nvPicPr>
                      <p:cNvPr id="3281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5532338"/>
                        <a:ext cx="2222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8" name="Object 50"/>
          <p:cNvGraphicFramePr>
            <a:graphicFrameLocks noChangeAspect="1"/>
          </p:cNvGraphicFramePr>
          <p:nvPr/>
        </p:nvGraphicFramePr>
        <p:xfrm>
          <a:off x="3503712" y="5084763"/>
          <a:ext cx="222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890" imgH="279158" progId="Equation.3">
                  <p:embed/>
                </p:oleObj>
              </mc:Choice>
              <mc:Fallback>
                <p:oleObj name="公式" r:id="rId3" imgW="126890" imgH="279158" progId="Equation.3">
                  <p:embed/>
                  <p:pic>
                    <p:nvPicPr>
                      <p:cNvPr id="3281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5084763"/>
                        <a:ext cx="2222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Group 1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9293514"/>
              </p:ext>
            </p:extLst>
          </p:nvPr>
        </p:nvGraphicFramePr>
        <p:xfrm>
          <a:off x="6960097" y="5176941"/>
          <a:ext cx="4513028" cy="1584960"/>
        </p:xfrm>
        <a:graphic>
          <a:graphicData uri="http://schemas.openxmlformats.org/drawingml/2006/table">
            <a:tbl>
              <a:tblPr/>
              <a:tblGrid>
                <a:gridCol w="22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7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语言值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小、较小、很小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水温误差的变化率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小、中、大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很大、很小、稳态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Object 36">
            <a:extLst>
              <a:ext uri="{FF2B5EF4-FFF2-40B4-BE49-F238E27FC236}">
                <a16:creationId xmlns:a16="http://schemas.microsoft.com/office/drawing/2014/main" id="{637C85FD-DA4F-4C8A-B53A-A085B840E4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1158" y="5877273"/>
          <a:ext cx="149139" cy="32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890" imgH="279158" progId="Equation.3">
                  <p:embed/>
                </p:oleObj>
              </mc:Choice>
              <mc:Fallback>
                <p:oleObj name="公式" r:id="rId3" imgW="126890" imgH="279158" progId="Equation.3">
                  <p:embed/>
                  <p:pic>
                    <p:nvPicPr>
                      <p:cNvPr id="32" name="Object 36">
                        <a:extLst>
                          <a:ext uri="{FF2B5EF4-FFF2-40B4-BE49-F238E27FC236}">
                            <a16:creationId xmlns:a16="http://schemas.microsoft.com/office/drawing/2014/main" id="{637C85FD-DA4F-4C8A-B53A-A085B840E4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1158" y="5877273"/>
                        <a:ext cx="149139" cy="329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FC0F6D-06D2-8270-CD72-65D4A4A27A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063" y="6264304"/>
            <a:ext cx="445840" cy="457200"/>
          </a:xfrm>
        </p:spPr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23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：关于热交换装置流量的</a:t>
            </a:r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40814" y="2116138"/>
            <a:ext cx="4505758" cy="216058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第二种控制器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通过调整</a:t>
            </a:r>
          </a:p>
          <a:p>
            <a:pPr lvl="1" eaLnBrk="1" hangingPunct="1"/>
            <a:r>
              <a:rPr lang="zh-CN" altLang="en-US" sz="3200" b="1" dirty="0">
                <a:solidFill>
                  <a:srgbClr val="3333FF"/>
                </a:solidFill>
                <a:ea typeface="楷体_GB2312" pitchFamily="49" charset="-122"/>
              </a:rPr>
              <a:t>水温误差</a:t>
            </a:r>
            <a:r>
              <a:rPr lang="en-US" altLang="zh-CN" sz="3200" b="1" dirty="0">
                <a:solidFill>
                  <a:srgbClr val="3333FF"/>
                </a:solidFill>
                <a:ea typeface="楷体_GB2312" pitchFamily="49" charset="-122"/>
              </a:rPr>
              <a:t>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来控制水槽的温度。</a:t>
            </a:r>
          </a:p>
        </p:txBody>
      </p:sp>
      <p:graphicFrame>
        <p:nvGraphicFramePr>
          <p:cNvPr id="33875" name="Group 83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984830444"/>
              </p:ext>
            </p:extLst>
          </p:nvPr>
        </p:nvGraphicFramePr>
        <p:xfrm>
          <a:off x="787409" y="5276372"/>
          <a:ext cx="6479380" cy="1371690"/>
        </p:xfrm>
        <a:graphic>
          <a:graphicData uri="http://schemas.openxmlformats.org/drawingml/2006/table">
            <a:tbl>
              <a:tblPr/>
              <a:tblGrid>
                <a:gridCol w="173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语言值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小、较小、稍小、很小、极小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…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很大、很小、稳态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621" name="Group 31"/>
          <p:cNvGrpSpPr>
            <a:grpSpLocks/>
          </p:cNvGrpSpPr>
          <p:nvPr/>
        </p:nvGrpSpPr>
        <p:grpSpPr bwMode="auto">
          <a:xfrm>
            <a:off x="6816725" y="1916114"/>
            <a:ext cx="3492500" cy="3062287"/>
            <a:chOff x="4014" y="1887"/>
            <a:chExt cx="1746" cy="1929"/>
          </a:xfrm>
        </p:grpSpPr>
        <p:sp>
          <p:nvSpPr>
            <p:cNvPr id="25623" name="Rectangle 32"/>
            <p:cNvSpPr>
              <a:spLocks noChangeArrowheads="1"/>
            </p:cNvSpPr>
            <p:nvPr/>
          </p:nvSpPr>
          <p:spPr bwMode="auto">
            <a:xfrm>
              <a:off x="4014" y="2160"/>
              <a:ext cx="1746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4" name="Rectangle 33" descr="横虚线"/>
            <p:cNvSpPr>
              <a:spLocks noChangeArrowheads="1"/>
            </p:cNvSpPr>
            <p:nvPr/>
          </p:nvSpPr>
          <p:spPr bwMode="auto">
            <a:xfrm>
              <a:off x="4014" y="2477"/>
              <a:ext cx="507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Rectangle 34" descr="宽上对角线"/>
            <p:cNvSpPr>
              <a:spLocks noChangeArrowheads="1"/>
            </p:cNvSpPr>
            <p:nvPr/>
          </p:nvSpPr>
          <p:spPr bwMode="auto">
            <a:xfrm>
              <a:off x="4521" y="2659"/>
              <a:ext cx="394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Rectangle 35" descr="宽下对角线"/>
            <p:cNvSpPr>
              <a:spLocks noChangeArrowheads="1"/>
            </p:cNvSpPr>
            <p:nvPr/>
          </p:nvSpPr>
          <p:spPr bwMode="auto">
            <a:xfrm>
              <a:off x="4915" y="2795"/>
              <a:ext cx="535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7" name="Rectangle 36" descr="深色横线"/>
            <p:cNvSpPr>
              <a:spLocks noChangeArrowheads="1"/>
            </p:cNvSpPr>
            <p:nvPr/>
          </p:nvSpPr>
          <p:spPr bwMode="auto">
            <a:xfrm>
              <a:off x="5450" y="2931"/>
              <a:ext cx="310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8" name="Line 37"/>
            <p:cNvSpPr>
              <a:spLocks noChangeShapeType="1"/>
            </p:cNvSpPr>
            <p:nvPr/>
          </p:nvSpPr>
          <p:spPr bwMode="auto">
            <a:xfrm>
              <a:off x="4211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38"/>
            <p:cNvSpPr>
              <a:spLocks noChangeShapeType="1"/>
            </p:cNvSpPr>
            <p:nvPr/>
          </p:nvSpPr>
          <p:spPr bwMode="auto">
            <a:xfrm>
              <a:off x="4295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Line 39"/>
            <p:cNvSpPr>
              <a:spLocks noChangeShapeType="1"/>
            </p:cNvSpPr>
            <p:nvPr/>
          </p:nvSpPr>
          <p:spPr bwMode="auto">
            <a:xfrm>
              <a:off x="5563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40"/>
            <p:cNvSpPr>
              <a:spLocks noChangeShapeType="1"/>
            </p:cNvSpPr>
            <p:nvPr/>
          </p:nvSpPr>
          <p:spPr bwMode="auto">
            <a:xfrm>
              <a:off x="5648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42"/>
            <p:cNvSpPr>
              <a:spLocks noChangeShapeType="1"/>
            </p:cNvSpPr>
            <p:nvPr/>
          </p:nvSpPr>
          <p:spPr bwMode="auto">
            <a:xfrm>
              <a:off x="4211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43"/>
            <p:cNvSpPr>
              <a:spLocks noChangeShapeType="1"/>
            </p:cNvSpPr>
            <p:nvPr/>
          </p:nvSpPr>
          <p:spPr bwMode="auto">
            <a:xfrm flipH="1">
              <a:off x="4154" y="2159"/>
              <a:ext cx="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44"/>
            <p:cNvSpPr>
              <a:spLocks noChangeShapeType="1"/>
            </p:cNvSpPr>
            <p:nvPr/>
          </p:nvSpPr>
          <p:spPr bwMode="auto">
            <a:xfrm flipV="1">
              <a:off x="4239" y="3475"/>
              <a:ext cx="1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45"/>
            <p:cNvSpPr>
              <a:spLocks noChangeShapeType="1"/>
            </p:cNvSpPr>
            <p:nvPr/>
          </p:nvSpPr>
          <p:spPr bwMode="auto">
            <a:xfrm>
              <a:off x="5591" y="3520"/>
              <a:ext cx="1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46"/>
            <p:cNvSpPr>
              <a:spLocks noChangeShapeType="1"/>
            </p:cNvSpPr>
            <p:nvPr/>
          </p:nvSpPr>
          <p:spPr bwMode="auto">
            <a:xfrm>
              <a:off x="4267" y="2749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47"/>
            <p:cNvSpPr>
              <a:spLocks noChangeShapeType="1"/>
            </p:cNvSpPr>
            <p:nvPr/>
          </p:nvSpPr>
          <p:spPr bwMode="auto">
            <a:xfrm>
              <a:off x="4211" y="3430"/>
              <a:ext cx="84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48"/>
            <p:cNvSpPr>
              <a:spLocks noChangeShapeType="1"/>
            </p:cNvSpPr>
            <p:nvPr/>
          </p:nvSpPr>
          <p:spPr bwMode="auto">
            <a:xfrm>
              <a:off x="4211" y="2160"/>
              <a:ext cx="113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49"/>
            <p:cNvSpPr>
              <a:spLocks noChangeShapeType="1"/>
            </p:cNvSpPr>
            <p:nvPr/>
          </p:nvSpPr>
          <p:spPr bwMode="auto">
            <a:xfrm>
              <a:off x="5563" y="3430"/>
              <a:ext cx="85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Text Box 50"/>
            <p:cNvSpPr txBox="1">
              <a:spLocks noChangeArrowheads="1"/>
            </p:cNvSpPr>
            <p:nvPr/>
          </p:nvSpPr>
          <p:spPr bwMode="auto">
            <a:xfrm>
              <a:off x="4332" y="1888"/>
              <a:ext cx="8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5642" name="Text Box 51"/>
            <p:cNvSpPr txBox="1">
              <a:spLocks noChangeArrowheads="1"/>
            </p:cNvSpPr>
            <p:nvPr/>
          </p:nvSpPr>
          <p:spPr bwMode="auto">
            <a:xfrm>
              <a:off x="4267" y="3566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5643" name="Text Box 52"/>
            <p:cNvSpPr txBox="1">
              <a:spLocks noChangeArrowheads="1"/>
            </p:cNvSpPr>
            <p:nvPr/>
          </p:nvSpPr>
          <p:spPr bwMode="auto">
            <a:xfrm>
              <a:off x="5103" y="3520"/>
              <a:ext cx="5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5644" name="Line 53"/>
            <p:cNvSpPr>
              <a:spLocks noChangeShapeType="1"/>
            </p:cNvSpPr>
            <p:nvPr/>
          </p:nvSpPr>
          <p:spPr bwMode="auto">
            <a:xfrm>
              <a:off x="4267" y="1887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41"/>
            <p:cNvSpPr>
              <a:spLocks noChangeShapeType="1"/>
            </p:cNvSpPr>
            <p:nvPr/>
          </p:nvSpPr>
          <p:spPr bwMode="auto">
            <a:xfrm>
              <a:off x="4324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46" name="Text Box 54"/>
          <p:cNvSpPr txBox="1">
            <a:spLocks noChangeArrowheads="1"/>
          </p:cNvSpPr>
          <p:nvPr/>
        </p:nvSpPr>
        <p:spPr bwMode="auto">
          <a:xfrm>
            <a:off x="7659679" y="5446693"/>
            <a:ext cx="374491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控制器结构较简单，但语言变量刻划较细致。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818008-A30F-462A-3D66-F3658B6794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14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338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：关于热交换装置流量的</a:t>
            </a:r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69081" y="2091904"/>
            <a:ext cx="8064500" cy="44989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第二种控制器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ea typeface="楷体_GB2312" pitchFamily="49" charset="-122"/>
              </a:rPr>
              <a:t>用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水温误差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x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来控制水槽的温度。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控制规则</a:t>
            </a: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当水温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低于</a:t>
            </a:r>
            <a:r>
              <a:rPr lang="zh-CN" altLang="en-US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期望温度时</a:t>
            </a: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不小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很大，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很小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较小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很小，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小</a:t>
            </a:r>
            <a:r>
              <a:rPr lang="zh-CN" altLang="en-US" sz="2400" b="1" dirty="0">
                <a:ea typeface="楷体_GB2312" pitchFamily="49" charset="-122"/>
              </a:rPr>
              <a:t>  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大，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稍小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中，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极小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小，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</p:txBody>
      </p:sp>
      <p:grpSp>
        <p:nvGrpSpPr>
          <p:cNvPr id="26628" name="Group 5"/>
          <p:cNvGrpSpPr>
            <a:grpSpLocks/>
          </p:cNvGrpSpPr>
          <p:nvPr/>
        </p:nvGrpSpPr>
        <p:grpSpPr bwMode="auto">
          <a:xfrm>
            <a:off x="7104112" y="1772817"/>
            <a:ext cx="3492500" cy="3062287"/>
            <a:chOff x="4014" y="1887"/>
            <a:chExt cx="1746" cy="1929"/>
          </a:xfrm>
        </p:grpSpPr>
        <p:sp>
          <p:nvSpPr>
            <p:cNvPr id="26629" name="Rectangle 6"/>
            <p:cNvSpPr>
              <a:spLocks noChangeArrowheads="1"/>
            </p:cNvSpPr>
            <p:nvPr/>
          </p:nvSpPr>
          <p:spPr bwMode="auto">
            <a:xfrm>
              <a:off x="4014" y="2160"/>
              <a:ext cx="1746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0" name="Rectangle 7" descr="横虚线"/>
            <p:cNvSpPr>
              <a:spLocks noChangeArrowheads="1"/>
            </p:cNvSpPr>
            <p:nvPr/>
          </p:nvSpPr>
          <p:spPr bwMode="auto">
            <a:xfrm>
              <a:off x="4014" y="2477"/>
              <a:ext cx="507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1" name="Rectangle 8" descr="宽上对角线"/>
            <p:cNvSpPr>
              <a:spLocks noChangeArrowheads="1"/>
            </p:cNvSpPr>
            <p:nvPr/>
          </p:nvSpPr>
          <p:spPr bwMode="auto">
            <a:xfrm>
              <a:off x="4521" y="2659"/>
              <a:ext cx="394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2" name="Rectangle 9" descr="宽下对角线"/>
            <p:cNvSpPr>
              <a:spLocks noChangeArrowheads="1"/>
            </p:cNvSpPr>
            <p:nvPr/>
          </p:nvSpPr>
          <p:spPr bwMode="auto">
            <a:xfrm>
              <a:off x="4915" y="2795"/>
              <a:ext cx="535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" name="Rectangle 10" descr="深色横线"/>
            <p:cNvSpPr>
              <a:spLocks noChangeArrowheads="1"/>
            </p:cNvSpPr>
            <p:nvPr/>
          </p:nvSpPr>
          <p:spPr bwMode="auto">
            <a:xfrm>
              <a:off x="5450" y="2931"/>
              <a:ext cx="310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4" name="Line 11"/>
            <p:cNvSpPr>
              <a:spLocks noChangeShapeType="1"/>
            </p:cNvSpPr>
            <p:nvPr/>
          </p:nvSpPr>
          <p:spPr bwMode="auto">
            <a:xfrm>
              <a:off x="4211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Line 12"/>
            <p:cNvSpPr>
              <a:spLocks noChangeShapeType="1"/>
            </p:cNvSpPr>
            <p:nvPr/>
          </p:nvSpPr>
          <p:spPr bwMode="auto">
            <a:xfrm>
              <a:off x="4295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Line 13"/>
            <p:cNvSpPr>
              <a:spLocks noChangeShapeType="1"/>
            </p:cNvSpPr>
            <p:nvPr/>
          </p:nvSpPr>
          <p:spPr bwMode="auto">
            <a:xfrm>
              <a:off x="5563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Line 14"/>
            <p:cNvSpPr>
              <a:spLocks noChangeShapeType="1"/>
            </p:cNvSpPr>
            <p:nvPr/>
          </p:nvSpPr>
          <p:spPr bwMode="auto">
            <a:xfrm>
              <a:off x="5648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Line 16"/>
            <p:cNvSpPr>
              <a:spLocks noChangeShapeType="1"/>
            </p:cNvSpPr>
            <p:nvPr/>
          </p:nvSpPr>
          <p:spPr bwMode="auto">
            <a:xfrm>
              <a:off x="4211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Line 17"/>
            <p:cNvSpPr>
              <a:spLocks noChangeShapeType="1"/>
            </p:cNvSpPr>
            <p:nvPr/>
          </p:nvSpPr>
          <p:spPr bwMode="auto">
            <a:xfrm flipH="1">
              <a:off x="4154" y="2159"/>
              <a:ext cx="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Line 18"/>
            <p:cNvSpPr>
              <a:spLocks noChangeShapeType="1"/>
            </p:cNvSpPr>
            <p:nvPr/>
          </p:nvSpPr>
          <p:spPr bwMode="auto">
            <a:xfrm flipV="1">
              <a:off x="4239" y="3475"/>
              <a:ext cx="1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Line 19"/>
            <p:cNvSpPr>
              <a:spLocks noChangeShapeType="1"/>
            </p:cNvSpPr>
            <p:nvPr/>
          </p:nvSpPr>
          <p:spPr bwMode="auto">
            <a:xfrm>
              <a:off x="5591" y="3520"/>
              <a:ext cx="1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Line 20"/>
            <p:cNvSpPr>
              <a:spLocks noChangeShapeType="1"/>
            </p:cNvSpPr>
            <p:nvPr/>
          </p:nvSpPr>
          <p:spPr bwMode="auto">
            <a:xfrm>
              <a:off x="4267" y="2749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21"/>
            <p:cNvSpPr>
              <a:spLocks noChangeShapeType="1"/>
            </p:cNvSpPr>
            <p:nvPr/>
          </p:nvSpPr>
          <p:spPr bwMode="auto">
            <a:xfrm>
              <a:off x="4211" y="3430"/>
              <a:ext cx="84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Line 22"/>
            <p:cNvSpPr>
              <a:spLocks noChangeShapeType="1"/>
            </p:cNvSpPr>
            <p:nvPr/>
          </p:nvSpPr>
          <p:spPr bwMode="auto">
            <a:xfrm>
              <a:off x="4211" y="2160"/>
              <a:ext cx="113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23"/>
            <p:cNvSpPr>
              <a:spLocks noChangeShapeType="1"/>
            </p:cNvSpPr>
            <p:nvPr/>
          </p:nvSpPr>
          <p:spPr bwMode="auto">
            <a:xfrm>
              <a:off x="5563" y="3430"/>
              <a:ext cx="85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Text Box 24"/>
            <p:cNvSpPr txBox="1">
              <a:spLocks noChangeArrowheads="1"/>
            </p:cNvSpPr>
            <p:nvPr/>
          </p:nvSpPr>
          <p:spPr bwMode="auto">
            <a:xfrm>
              <a:off x="4332" y="1888"/>
              <a:ext cx="8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6648" name="Text Box 25"/>
            <p:cNvSpPr txBox="1">
              <a:spLocks noChangeArrowheads="1"/>
            </p:cNvSpPr>
            <p:nvPr/>
          </p:nvSpPr>
          <p:spPr bwMode="auto">
            <a:xfrm>
              <a:off x="4267" y="3566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6649" name="Text Box 26"/>
            <p:cNvSpPr txBox="1">
              <a:spLocks noChangeArrowheads="1"/>
            </p:cNvSpPr>
            <p:nvPr/>
          </p:nvSpPr>
          <p:spPr bwMode="auto">
            <a:xfrm>
              <a:off x="5103" y="3520"/>
              <a:ext cx="5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6650" name="Line 27"/>
            <p:cNvSpPr>
              <a:spLocks noChangeShapeType="1"/>
            </p:cNvSpPr>
            <p:nvPr/>
          </p:nvSpPr>
          <p:spPr bwMode="auto">
            <a:xfrm>
              <a:off x="4267" y="1887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Line 15"/>
            <p:cNvSpPr>
              <a:spLocks noChangeShapeType="1"/>
            </p:cNvSpPr>
            <p:nvPr/>
          </p:nvSpPr>
          <p:spPr bwMode="auto">
            <a:xfrm>
              <a:off x="4324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" name="Group 83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63786346"/>
              </p:ext>
            </p:extLst>
          </p:nvPr>
        </p:nvGraphicFramePr>
        <p:xfrm>
          <a:off x="6250078" y="5472713"/>
          <a:ext cx="5567006" cy="1188810"/>
        </p:xfrm>
        <a:graphic>
          <a:graphicData uri="http://schemas.openxmlformats.org/drawingml/2006/table">
            <a:tbl>
              <a:tblPr/>
              <a:tblGrid>
                <a:gridCol w="1881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 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语言值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小、较小、稍小、很小、极小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,F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很大、很小、稳态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D833D6-A4F7-068F-91A9-DADCC25E7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7321" y="6340887"/>
            <a:ext cx="589856" cy="457200"/>
          </a:xfrm>
        </p:spPr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673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：关于热交换装置流量的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7440" y="1916114"/>
            <a:ext cx="5703578" cy="216058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第三种控制器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假设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en-US" altLang="zh-CN" sz="2800" b="1" baseline="-25000" dirty="0">
                <a:ea typeface="楷体_GB2312" pitchFamily="49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的稳态值已知，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>
                <a:ea typeface="黑体" pitchFamily="2" charset="-122"/>
              </a:rPr>
              <a:t>则该系统静态的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流量</a:t>
            </a:r>
            <a:r>
              <a:rPr lang="en-US" altLang="zh-CN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800" b="1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温度特性</a:t>
            </a:r>
            <a:r>
              <a:rPr lang="zh-CN" altLang="en-US" sz="2800" dirty="0">
                <a:ea typeface="黑体" pitchFamily="2" charset="-122"/>
              </a:rPr>
              <a:t>也已知，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>
                <a:ea typeface="黑体" pitchFamily="2" charset="-122"/>
              </a:rPr>
              <a:t>引入新的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状态来描述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en-US" altLang="zh-CN" sz="2800" b="1" baseline="-25000" dirty="0">
                <a:ea typeface="楷体_GB2312" pitchFamily="49" charset="-122"/>
              </a:rPr>
              <a:t>1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5901" name="Group 61"/>
          <p:cNvGraphicFramePr>
            <a:graphicFrameLocks noGrp="1"/>
          </p:cNvGraphicFramePr>
          <p:nvPr>
            <p:ph sz="quarter" idx="3"/>
          </p:nvPr>
        </p:nvGraphicFramePr>
        <p:xfrm>
          <a:off x="1524726" y="4979121"/>
          <a:ext cx="7422024" cy="1991577"/>
        </p:xfrm>
        <a:graphic>
          <a:graphicData uri="http://schemas.openxmlformats.org/drawingml/2006/table">
            <a:tbl>
              <a:tblPr/>
              <a:tblGrid>
                <a:gridCol w="3145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语言值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小、较小、很小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lang="en-US" altLang="zh-CN" sz="2400" b="1" baseline="-25000" dirty="0"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,F</a:t>
                      </a:r>
                      <a:r>
                        <a:rPr lang="en-US" altLang="zh-CN" sz="2400" b="1" baseline="-25000" dirty="0">
                          <a:ea typeface="楷体_GB2312" pitchFamily="49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很大、很小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的变化率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稳态、接近稳态、很接近稳态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669" name="Group 30"/>
          <p:cNvGrpSpPr>
            <a:grpSpLocks/>
          </p:cNvGrpSpPr>
          <p:nvPr/>
        </p:nvGrpSpPr>
        <p:grpSpPr bwMode="auto">
          <a:xfrm>
            <a:off x="7725187" y="1678878"/>
            <a:ext cx="3492500" cy="3062288"/>
            <a:chOff x="4014" y="1887"/>
            <a:chExt cx="1746" cy="1929"/>
          </a:xfrm>
        </p:grpSpPr>
        <p:sp>
          <p:nvSpPr>
            <p:cNvPr id="27670" name="Rectangle 31"/>
            <p:cNvSpPr>
              <a:spLocks noChangeArrowheads="1"/>
            </p:cNvSpPr>
            <p:nvPr/>
          </p:nvSpPr>
          <p:spPr bwMode="auto">
            <a:xfrm>
              <a:off x="4014" y="2160"/>
              <a:ext cx="1746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1" name="Rectangle 32" descr="横虚线"/>
            <p:cNvSpPr>
              <a:spLocks noChangeArrowheads="1"/>
            </p:cNvSpPr>
            <p:nvPr/>
          </p:nvSpPr>
          <p:spPr bwMode="auto">
            <a:xfrm>
              <a:off x="4014" y="2477"/>
              <a:ext cx="507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2" name="Rectangle 33" descr="宽上对角线"/>
            <p:cNvSpPr>
              <a:spLocks noChangeArrowheads="1"/>
            </p:cNvSpPr>
            <p:nvPr/>
          </p:nvSpPr>
          <p:spPr bwMode="auto">
            <a:xfrm>
              <a:off x="4521" y="2659"/>
              <a:ext cx="394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3" name="Rectangle 34" descr="宽下对角线"/>
            <p:cNvSpPr>
              <a:spLocks noChangeArrowheads="1"/>
            </p:cNvSpPr>
            <p:nvPr/>
          </p:nvSpPr>
          <p:spPr bwMode="auto">
            <a:xfrm>
              <a:off x="4915" y="2795"/>
              <a:ext cx="535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4" name="Rectangle 35" descr="深色横线"/>
            <p:cNvSpPr>
              <a:spLocks noChangeArrowheads="1"/>
            </p:cNvSpPr>
            <p:nvPr/>
          </p:nvSpPr>
          <p:spPr bwMode="auto">
            <a:xfrm>
              <a:off x="5450" y="2931"/>
              <a:ext cx="310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5" name="Line 36"/>
            <p:cNvSpPr>
              <a:spLocks noChangeShapeType="1"/>
            </p:cNvSpPr>
            <p:nvPr/>
          </p:nvSpPr>
          <p:spPr bwMode="auto">
            <a:xfrm>
              <a:off x="4211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37"/>
            <p:cNvSpPr>
              <a:spLocks noChangeShapeType="1"/>
            </p:cNvSpPr>
            <p:nvPr/>
          </p:nvSpPr>
          <p:spPr bwMode="auto">
            <a:xfrm>
              <a:off x="4295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Line 38"/>
            <p:cNvSpPr>
              <a:spLocks noChangeShapeType="1"/>
            </p:cNvSpPr>
            <p:nvPr/>
          </p:nvSpPr>
          <p:spPr bwMode="auto">
            <a:xfrm>
              <a:off x="5563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39"/>
            <p:cNvSpPr>
              <a:spLocks noChangeShapeType="1"/>
            </p:cNvSpPr>
            <p:nvPr/>
          </p:nvSpPr>
          <p:spPr bwMode="auto">
            <a:xfrm>
              <a:off x="5648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Line 41"/>
            <p:cNvSpPr>
              <a:spLocks noChangeShapeType="1"/>
            </p:cNvSpPr>
            <p:nvPr/>
          </p:nvSpPr>
          <p:spPr bwMode="auto">
            <a:xfrm>
              <a:off x="4211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Line 42"/>
            <p:cNvSpPr>
              <a:spLocks noChangeShapeType="1"/>
            </p:cNvSpPr>
            <p:nvPr/>
          </p:nvSpPr>
          <p:spPr bwMode="auto">
            <a:xfrm flipH="1">
              <a:off x="4154" y="2159"/>
              <a:ext cx="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Line 43"/>
            <p:cNvSpPr>
              <a:spLocks noChangeShapeType="1"/>
            </p:cNvSpPr>
            <p:nvPr/>
          </p:nvSpPr>
          <p:spPr bwMode="auto">
            <a:xfrm flipV="1">
              <a:off x="4239" y="3475"/>
              <a:ext cx="1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Line 44"/>
            <p:cNvSpPr>
              <a:spLocks noChangeShapeType="1"/>
            </p:cNvSpPr>
            <p:nvPr/>
          </p:nvSpPr>
          <p:spPr bwMode="auto">
            <a:xfrm>
              <a:off x="5591" y="3520"/>
              <a:ext cx="1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Line 45"/>
            <p:cNvSpPr>
              <a:spLocks noChangeShapeType="1"/>
            </p:cNvSpPr>
            <p:nvPr/>
          </p:nvSpPr>
          <p:spPr bwMode="auto">
            <a:xfrm>
              <a:off x="4267" y="2749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46"/>
            <p:cNvSpPr>
              <a:spLocks noChangeShapeType="1"/>
            </p:cNvSpPr>
            <p:nvPr/>
          </p:nvSpPr>
          <p:spPr bwMode="auto">
            <a:xfrm>
              <a:off x="4211" y="3430"/>
              <a:ext cx="84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47"/>
            <p:cNvSpPr>
              <a:spLocks noChangeShapeType="1"/>
            </p:cNvSpPr>
            <p:nvPr/>
          </p:nvSpPr>
          <p:spPr bwMode="auto">
            <a:xfrm>
              <a:off x="4211" y="2160"/>
              <a:ext cx="113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Line 48"/>
            <p:cNvSpPr>
              <a:spLocks noChangeShapeType="1"/>
            </p:cNvSpPr>
            <p:nvPr/>
          </p:nvSpPr>
          <p:spPr bwMode="auto">
            <a:xfrm>
              <a:off x="5563" y="3430"/>
              <a:ext cx="85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Text Box 49"/>
            <p:cNvSpPr txBox="1">
              <a:spLocks noChangeArrowheads="1"/>
            </p:cNvSpPr>
            <p:nvPr/>
          </p:nvSpPr>
          <p:spPr bwMode="auto">
            <a:xfrm>
              <a:off x="4332" y="1888"/>
              <a:ext cx="8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7689" name="Text Box 50"/>
            <p:cNvSpPr txBox="1">
              <a:spLocks noChangeArrowheads="1"/>
            </p:cNvSpPr>
            <p:nvPr/>
          </p:nvSpPr>
          <p:spPr bwMode="auto">
            <a:xfrm>
              <a:off x="4267" y="3566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7690" name="Text Box 51"/>
            <p:cNvSpPr txBox="1">
              <a:spLocks noChangeArrowheads="1"/>
            </p:cNvSpPr>
            <p:nvPr/>
          </p:nvSpPr>
          <p:spPr bwMode="auto">
            <a:xfrm>
              <a:off x="5103" y="3520"/>
              <a:ext cx="5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7691" name="Line 52"/>
            <p:cNvSpPr>
              <a:spLocks noChangeShapeType="1"/>
            </p:cNvSpPr>
            <p:nvPr/>
          </p:nvSpPr>
          <p:spPr bwMode="auto">
            <a:xfrm>
              <a:off x="4267" y="1887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Line 40"/>
            <p:cNvSpPr>
              <a:spLocks noChangeShapeType="1"/>
            </p:cNvSpPr>
            <p:nvPr/>
          </p:nvSpPr>
          <p:spPr bwMode="auto">
            <a:xfrm>
              <a:off x="4324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91415C-FA47-4A61-FB5B-46B0BBFA82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6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：关于热交换装置流量的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8180" y="1700214"/>
            <a:ext cx="8838633" cy="489743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第三种控制器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控制规则</a:t>
            </a: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当水温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低于</a:t>
            </a:r>
            <a:r>
              <a:rPr lang="zh-CN" altLang="en-US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期望温度时</a:t>
            </a: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不小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很大，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很小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小</a:t>
            </a:r>
            <a:r>
              <a:rPr lang="zh-CN" altLang="en-US" sz="2400" b="1" dirty="0">
                <a:ea typeface="楷体_GB2312" pitchFamily="49" charset="-122"/>
              </a:rPr>
              <a:t>  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接近稳态，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IF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x </a:t>
            </a:r>
            <a:r>
              <a:rPr lang="zh-CN" altLang="en-US" sz="2400" b="1" u="sng" dirty="0">
                <a:ea typeface="楷体_GB2312" pitchFamily="49" charset="-122"/>
              </a:rPr>
              <a:t>很小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THEN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1</a:t>
            </a:r>
            <a:r>
              <a:rPr lang="zh-CN" altLang="en-US" sz="2400" b="1" u="sng" dirty="0">
                <a:ea typeface="楷体_GB2312" pitchFamily="49" charset="-122"/>
              </a:rPr>
              <a:t>很接近稳态，</a:t>
            </a:r>
            <a:r>
              <a:rPr lang="en-US" altLang="zh-CN" sz="2400" b="1" u="sng" dirty="0">
                <a:ea typeface="楷体_GB2312" pitchFamily="49" charset="-122"/>
              </a:rPr>
              <a:t>F</a:t>
            </a:r>
            <a:r>
              <a:rPr lang="en-US" altLang="zh-CN" sz="2400" b="1" u="sng" baseline="-25000" dirty="0">
                <a:ea typeface="楷体_GB2312" pitchFamily="49" charset="-122"/>
              </a:rPr>
              <a:t>2</a:t>
            </a:r>
            <a:r>
              <a:rPr lang="zh-CN" altLang="en-US" sz="2400" b="1" u="sng" dirty="0">
                <a:ea typeface="楷体_GB2312" pitchFamily="49" charset="-122"/>
              </a:rPr>
              <a:t>稳态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b="1" dirty="0">
                <a:ea typeface="楷体_GB2312" pitchFamily="49" charset="-122"/>
              </a:rPr>
              <a:t>可见，控制规则简单，但与上两种</a:t>
            </a:r>
            <a:endParaRPr lang="en-US" altLang="zh-CN" sz="2400" b="1" dirty="0">
              <a:ea typeface="楷体_GB2312" pitchFamily="49" charset="-122"/>
            </a:endParaRPr>
          </a:p>
          <a:p>
            <a:pPr marL="0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b="1" dirty="0">
                <a:ea typeface="楷体_GB2312" pitchFamily="49" charset="-122"/>
              </a:rPr>
              <a:t>    </a:t>
            </a:r>
            <a:r>
              <a:rPr lang="zh-CN" altLang="en-US" sz="2400" b="1" dirty="0">
                <a:ea typeface="楷体_GB2312" pitchFamily="49" charset="-122"/>
              </a:rPr>
              <a:t>控制器相比，控制特性最好。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b="1" dirty="0">
                <a:solidFill>
                  <a:srgbClr val="CC00CC"/>
                </a:solidFill>
                <a:ea typeface="华文楷体" pitchFamily="2" charset="-122"/>
              </a:rPr>
              <a:t>从某种意义上说，引入过多的</a:t>
            </a:r>
            <a:endParaRPr lang="en-US" altLang="zh-CN" sz="2400" b="1" dirty="0">
              <a:solidFill>
                <a:srgbClr val="CC00CC"/>
              </a:solidFill>
              <a:ea typeface="华文楷体" pitchFamily="2" charset="-122"/>
            </a:endParaRPr>
          </a:p>
          <a:p>
            <a:pPr marL="0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b="1" dirty="0">
                <a:solidFill>
                  <a:srgbClr val="CC00CC"/>
                </a:solidFill>
                <a:ea typeface="华文楷体" pitchFamily="2" charset="-122"/>
              </a:rPr>
              <a:t>    F</a:t>
            </a:r>
            <a:r>
              <a:rPr lang="zh-CN" altLang="en-US" sz="2400" b="1" dirty="0">
                <a:solidFill>
                  <a:srgbClr val="CC00CC"/>
                </a:solidFill>
                <a:ea typeface="华文楷体" pitchFamily="2" charset="-122"/>
              </a:rPr>
              <a:t>状态是不必要，因为这反而</a:t>
            </a:r>
            <a:endParaRPr lang="en-US" altLang="zh-CN" sz="2400" b="1" dirty="0">
              <a:solidFill>
                <a:srgbClr val="CC00CC"/>
              </a:solidFill>
              <a:ea typeface="华文楷体" pitchFamily="2" charset="-122"/>
            </a:endParaRPr>
          </a:p>
          <a:p>
            <a:pPr marL="0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b="1" dirty="0">
                <a:solidFill>
                  <a:srgbClr val="CC00CC"/>
                </a:solidFill>
                <a:ea typeface="华文楷体" pitchFamily="2" charset="-122"/>
              </a:rPr>
              <a:t>    </a:t>
            </a:r>
            <a:r>
              <a:rPr lang="zh-CN" altLang="en-US" sz="2400" b="1" dirty="0">
                <a:solidFill>
                  <a:srgbClr val="CC00CC"/>
                </a:solidFill>
                <a:ea typeface="华文楷体" pitchFamily="2" charset="-122"/>
              </a:rPr>
              <a:t>弱化了它的</a:t>
            </a:r>
            <a:r>
              <a:rPr lang="en-US" altLang="zh-CN" sz="2400" b="1" dirty="0">
                <a:solidFill>
                  <a:srgbClr val="CC00CC"/>
                </a:solidFill>
                <a:ea typeface="华文楷体" pitchFamily="2" charset="-122"/>
              </a:rPr>
              <a:t>F</a:t>
            </a:r>
            <a:r>
              <a:rPr lang="zh-CN" altLang="en-US" sz="2400" b="1" dirty="0">
                <a:solidFill>
                  <a:srgbClr val="CC00CC"/>
                </a:solidFill>
                <a:ea typeface="华文楷体" pitchFamily="2" charset="-122"/>
              </a:rPr>
              <a:t>性特点。</a:t>
            </a: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7464153" y="1340769"/>
            <a:ext cx="3132137" cy="3062287"/>
            <a:chOff x="4014" y="1887"/>
            <a:chExt cx="1746" cy="1929"/>
          </a:xfrm>
        </p:grpSpPr>
        <p:sp>
          <p:nvSpPr>
            <p:cNvPr id="28677" name="Rectangle 5"/>
            <p:cNvSpPr>
              <a:spLocks noChangeArrowheads="1"/>
            </p:cNvSpPr>
            <p:nvPr/>
          </p:nvSpPr>
          <p:spPr bwMode="auto">
            <a:xfrm>
              <a:off x="4014" y="2160"/>
              <a:ext cx="1746" cy="127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78" name="Rectangle 6" descr="横虚线"/>
            <p:cNvSpPr>
              <a:spLocks noChangeArrowheads="1"/>
            </p:cNvSpPr>
            <p:nvPr/>
          </p:nvSpPr>
          <p:spPr bwMode="auto">
            <a:xfrm>
              <a:off x="4014" y="2477"/>
              <a:ext cx="507" cy="953"/>
            </a:xfrm>
            <a:prstGeom prst="rect">
              <a:avLst/>
            </a:prstGeom>
            <a:pattFill prst="dashHorz">
              <a:fgClr>
                <a:srgbClr val="FF0066"/>
              </a:fgClr>
              <a:bgClr>
                <a:schemeClr val="bg2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79" name="Rectangle 7" descr="宽上对角线"/>
            <p:cNvSpPr>
              <a:spLocks noChangeArrowheads="1"/>
            </p:cNvSpPr>
            <p:nvPr/>
          </p:nvSpPr>
          <p:spPr bwMode="auto">
            <a:xfrm>
              <a:off x="4521" y="2659"/>
              <a:ext cx="394" cy="771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accent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0" name="Rectangle 8" descr="宽下对角线"/>
            <p:cNvSpPr>
              <a:spLocks noChangeArrowheads="1"/>
            </p:cNvSpPr>
            <p:nvPr/>
          </p:nvSpPr>
          <p:spPr bwMode="auto">
            <a:xfrm>
              <a:off x="4915" y="2795"/>
              <a:ext cx="535" cy="635"/>
            </a:xfrm>
            <a:prstGeom prst="rect">
              <a:avLst/>
            </a:prstGeom>
            <a:pattFill prst="wdDnDiag">
              <a:fgClr>
                <a:srgbClr val="33CC33"/>
              </a:fgClr>
              <a:bgClr>
                <a:schemeClr val="folHlink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1" name="Rectangle 9" descr="深色横线"/>
            <p:cNvSpPr>
              <a:spLocks noChangeArrowheads="1"/>
            </p:cNvSpPr>
            <p:nvPr/>
          </p:nvSpPr>
          <p:spPr bwMode="auto">
            <a:xfrm>
              <a:off x="5450" y="2931"/>
              <a:ext cx="310" cy="499"/>
            </a:xfrm>
            <a:prstGeom prst="rect">
              <a:avLst/>
            </a:prstGeom>
            <a:pattFill prst="dkHorz">
              <a:fgClr>
                <a:srgbClr val="33CC33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2" name="Line 10"/>
            <p:cNvSpPr>
              <a:spLocks noChangeShapeType="1"/>
            </p:cNvSpPr>
            <p:nvPr/>
          </p:nvSpPr>
          <p:spPr bwMode="auto">
            <a:xfrm>
              <a:off x="4211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4295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5563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5648" y="3430"/>
              <a:ext cx="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>
              <a:off x="4211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 flipH="1">
              <a:off x="4154" y="2159"/>
              <a:ext cx="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 flipV="1">
              <a:off x="4239" y="3475"/>
              <a:ext cx="1" cy="2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>
              <a:off x="5591" y="3520"/>
              <a:ext cx="1" cy="22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19"/>
            <p:cNvSpPr>
              <a:spLocks noChangeShapeType="1"/>
            </p:cNvSpPr>
            <p:nvPr/>
          </p:nvSpPr>
          <p:spPr bwMode="auto">
            <a:xfrm>
              <a:off x="4267" y="2749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20"/>
            <p:cNvSpPr>
              <a:spLocks noChangeShapeType="1"/>
            </p:cNvSpPr>
            <p:nvPr/>
          </p:nvSpPr>
          <p:spPr bwMode="auto">
            <a:xfrm>
              <a:off x="4211" y="3430"/>
              <a:ext cx="84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21"/>
            <p:cNvSpPr>
              <a:spLocks noChangeShapeType="1"/>
            </p:cNvSpPr>
            <p:nvPr/>
          </p:nvSpPr>
          <p:spPr bwMode="auto">
            <a:xfrm>
              <a:off x="4211" y="2160"/>
              <a:ext cx="113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22"/>
            <p:cNvSpPr>
              <a:spLocks noChangeShapeType="1"/>
            </p:cNvSpPr>
            <p:nvPr/>
          </p:nvSpPr>
          <p:spPr bwMode="auto">
            <a:xfrm>
              <a:off x="5563" y="3430"/>
              <a:ext cx="85" cy="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Text Box 23"/>
            <p:cNvSpPr txBox="1">
              <a:spLocks noChangeArrowheads="1"/>
            </p:cNvSpPr>
            <p:nvPr/>
          </p:nvSpPr>
          <p:spPr bwMode="auto">
            <a:xfrm>
              <a:off x="4332" y="1888"/>
              <a:ext cx="8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热水</a:t>
              </a:r>
            </a:p>
          </p:txBody>
        </p:sp>
        <p:sp>
          <p:nvSpPr>
            <p:cNvPr id="28696" name="Text Box 24"/>
            <p:cNvSpPr txBox="1">
              <a:spLocks noChangeArrowheads="1"/>
            </p:cNvSpPr>
            <p:nvPr/>
          </p:nvSpPr>
          <p:spPr bwMode="auto">
            <a:xfrm>
              <a:off x="4267" y="3566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F</a:t>
              </a:r>
              <a:r>
                <a:rPr lang="en-US" altLang="zh-CN" sz="2000" baseline="-25000">
                  <a:solidFill>
                    <a:schemeClr val="bg2"/>
                  </a:solidFill>
                  <a:ea typeface="楷体_GB2312" pitchFamily="49" charset="-122"/>
                </a:rPr>
                <a:t>2</a:t>
              </a:r>
              <a:r>
                <a:rPr lang="en-US" altLang="zh-CN" sz="2000" b="1">
                  <a:solidFill>
                    <a:schemeClr val="bg2"/>
                  </a:solidFill>
                  <a:ea typeface="楷体_GB2312" pitchFamily="49" charset="-122"/>
                </a:rPr>
                <a:t> </a:t>
              </a:r>
              <a:r>
                <a:rPr lang="zh-CN" altLang="en-US" sz="2000" b="1">
                  <a:solidFill>
                    <a:schemeClr val="bg2"/>
                  </a:solidFill>
                  <a:ea typeface="楷体_GB2312" pitchFamily="49" charset="-122"/>
                </a:rPr>
                <a:t>冷水</a:t>
              </a:r>
            </a:p>
          </p:txBody>
        </p:sp>
        <p:sp>
          <p:nvSpPr>
            <p:cNvPr id="28697" name="Text Box 25"/>
            <p:cNvSpPr txBox="1">
              <a:spLocks noChangeArrowheads="1"/>
            </p:cNvSpPr>
            <p:nvPr/>
          </p:nvSpPr>
          <p:spPr bwMode="auto">
            <a:xfrm>
              <a:off x="5103" y="3520"/>
              <a:ext cx="5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出口</a:t>
              </a:r>
            </a:p>
          </p:txBody>
        </p:sp>
        <p:sp>
          <p:nvSpPr>
            <p:cNvPr id="28698" name="Line 26"/>
            <p:cNvSpPr>
              <a:spLocks noChangeShapeType="1"/>
            </p:cNvSpPr>
            <p:nvPr/>
          </p:nvSpPr>
          <p:spPr bwMode="auto">
            <a:xfrm>
              <a:off x="4267" y="1887"/>
              <a:ext cx="1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>
              <a:off x="4324" y="1978"/>
              <a:ext cx="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" name="Group 61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77782487"/>
              </p:ext>
            </p:extLst>
          </p:nvPr>
        </p:nvGraphicFramePr>
        <p:xfrm>
          <a:off x="7248128" y="4838526"/>
          <a:ext cx="3958646" cy="1974850"/>
        </p:xfrm>
        <a:graphic>
          <a:graphicData uri="http://schemas.openxmlformats.org/drawingml/2006/table">
            <a:tbl>
              <a:tblPr/>
              <a:tblGrid>
                <a:gridCol w="1539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语言值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水温误差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小、较小、很小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lang="en-US" altLang="zh-CN" sz="2000" b="1" baseline="-25000" dirty="0"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,F</a:t>
                      </a:r>
                      <a:r>
                        <a:rPr lang="en-US" altLang="zh-CN" sz="2000" b="1" baseline="-25000" dirty="0">
                          <a:ea typeface="楷体_GB2312" pitchFamily="49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很大、很小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流量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的变化率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稳态、接近稳态、很接近稳态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DD5DC9-0346-8C88-3C8D-65F0D56D5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89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800">
                <a:solidFill>
                  <a:srgbClr val="1F8806"/>
                </a:solidFill>
                <a:ea typeface="黑体" pitchFamily="2" charset="-122"/>
              </a:rPr>
              <a:t>8.2  F </a:t>
            </a:r>
            <a:r>
              <a:rPr lang="zh-CN" altLang="en-US" sz="4800">
                <a:solidFill>
                  <a:srgbClr val="1F8806"/>
                </a:solidFill>
                <a:ea typeface="黑体" pitchFamily="2" charset="-122"/>
              </a:rPr>
              <a:t>控制原理</a:t>
            </a:r>
            <a:endParaRPr lang="zh-CN" altLang="en-US" sz="4800">
              <a:solidFill>
                <a:srgbClr val="1F8806"/>
              </a:solidFill>
              <a:latin typeface="Comic Sans MS" pitchFamily="66" charset="0"/>
              <a:ea typeface="黑体" pitchFamily="2" charset="-122"/>
            </a:endParaRPr>
          </a:p>
        </p:txBody>
      </p:sp>
      <p:grpSp>
        <p:nvGrpSpPr>
          <p:cNvPr id="29699" name="组合 2"/>
          <p:cNvGrpSpPr>
            <a:grpSpLocks/>
          </p:cNvGrpSpPr>
          <p:nvPr/>
        </p:nvGrpSpPr>
        <p:grpSpPr bwMode="auto">
          <a:xfrm>
            <a:off x="1811338" y="1879600"/>
            <a:ext cx="8172450" cy="2628900"/>
            <a:chOff x="0" y="1773238"/>
            <a:chExt cx="8172450" cy="2628900"/>
          </a:xfrm>
        </p:grpSpPr>
        <p:sp>
          <p:nvSpPr>
            <p:cNvPr id="29704" name="Rectangle 3"/>
            <p:cNvSpPr>
              <a:spLocks noChangeArrowheads="1"/>
            </p:cNvSpPr>
            <p:nvPr/>
          </p:nvSpPr>
          <p:spPr bwMode="auto">
            <a:xfrm>
              <a:off x="1187450" y="3213100"/>
              <a:ext cx="1296988" cy="863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确定</a:t>
              </a:r>
            </a:p>
            <a:p>
              <a:pPr algn="ctr"/>
              <a:r>
                <a:rPr lang="zh-CN" altLang="en-US" sz="2000" b="1">
                  <a:ea typeface="楷体_GB2312" pitchFamily="49" charset="-122"/>
                </a:rPr>
                <a:t>误差变化</a:t>
              </a:r>
            </a:p>
          </p:txBody>
        </p:sp>
        <p:sp>
          <p:nvSpPr>
            <p:cNvPr id="29705" name="Rectangle 4"/>
            <p:cNvSpPr>
              <a:spLocks noChangeArrowheads="1"/>
            </p:cNvSpPr>
            <p:nvPr/>
          </p:nvSpPr>
          <p:spPr bwMode="auto">
            <a:xfrm>
              <a:off x="3059113" y="3213100"/>
              <a:ext cx="936625" cy="8636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模糊化</a:t>
              </a:r>
            </a:p>
          </p:txBody>
        </p:sp>
        <p:sp>
          <p:nvSpPr>
            <p:cNvPr id="29706" name="Rectangle 5"/>
            <p:cNvSpPr>
              <a:spLocks noChangeArrowheads="1"/>
            </p:cNvSpPr>
            <p:nvPr/>
          </p:nvSpPr>
          <p:spPr bwMode="auto">
            <a:xfrm>
              <a:off x="4500563" y="3213100"/>
              <a:ext cx="1223962" cy="8636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rgbClr val="99FF99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模糊</a:t>
              </a:r>
            </a:p>
            <a:p>
              <a:pPr algn="ctr"/>
              <a:r>
                <a:rPr lang="zh-CN" altLang="en-US" sz="2000" b="1">
                  <a:ea typeface="楷体_GB2312" pitchFamily="49" charset="-122"/>
                </a:rPr>
                <a:t>控制规则</a:t>
              </a:r>
            </a:p>
          </p:txBody>
        </p:sp>
        <p:sp>
          <p:nvSpPr>
            <p:cNvPr id="29707" name="Rectangle 6"/>
            <p:cNvSpPr>
              <a:spLocks noChangeArrowheads="1"/>
            </p:cNvSpPr>
            <p:nvPr/>
          </p:nvSpPr>
          <p:spPr bwMode="auto">
            <a:xfrm>
              <a:off x="6300788" y="3213100"/>
              <a:ext cx="1295400" cy="86360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算出</a:t>
              </a:r>
            </a:p>
            <a:p>
              <a:pPr algn="ctr"/>
              <a:r>
                <a:rPr lang="zh-CN" altLang="en-US" sz="2000" b="1">
                  <a:ea typeface="楷体_GB2312" pitchFamily="49" charset="-122"/>
                </a:rPr>
                <a:t>确切的值</a:t>
              </a:r>
            </a:p>
          </p:txBody>
        </p:sp>
        <p:sp>
          <p:nvSpPr>
            <p:cNvPr id="29708" name="Line 7"/>
            <p:cNvSpPr>
              <a:spLocks noChangeShapeType="1"/>
            </p:cNvSpPr>
            <p:nvPr/>
          </p:nvSpPr>
          <p:spPr bwMode="auto">
            <a:xfrm>
              <a:off x="2484438" y="3500438"/>
              <a:ext cx="5746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8"/>
            <p:cNvSpPr>
              <a:spLocks noChangeShapeType="1"/>
            </p:cNvSpPr>
            <p:nvPr/>
          </p:nvSpPr>
          <p:spPr bwMode="auto">
            <a:xfrm>
              <a:off x="3995738" y="3500438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9"/>
            <p:cNvSpPr>
              <a:spLocks noChangeShapeType="1"/>
            </p:cNvSpPr>
            <p:nvPr/>
          </p:nvSpPr>
          <p:spPr bwMode="auto">
            <a:xfrm>
              <a:off x="5724525" y="3644900"/>
              <a:ext cx="576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10"/>
            <p:cNvSpPr>
              <a:spLocks noChangeShapeType="1"/>
            </p:cNvSpPr>
            <p:nvPr/>
          </p:nvSpPr>
          <p:spPr bwMode="auto">
            <a:xfrm>
              <a:off x="7596188" y="3644900"/>
              <a:ext cx="5762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1"/>
            <p:cNvSpPr>
              <a:spLocks noChangeShapeType="1"/>
            </p:cNvSpPr>
            <p:nvPr/>
          </p:nvSpPr>
          <p:spPr bwMode="auto">
            <a:xfrm>
              <a:off x="900113" y="3644900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12"/>
            <p:cNvSpPr>
              <a:spLocks noChangeShapeType="1"/>
            </p:cNvSpPr>
            <p:nvPr/>
          </p:nvSpPr>
          <p:spPr bwMode="auto">
            <a:xfrm>
              <a:off x="323850" y="364490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13"/>
            <p:cNvSpPr>
              <a:spLocks noChangeShapeType="1"/>
            </p:cNvSpPr>
            <p:nvPr/>
          </p:nvSpPr>
          <p:spPr bwMode="auto">
            <a:xfrm>
              <a:off x="2484438" y="3860800"/>
              <a:ext cx="5746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14"/>
            <p:cNvSpPr>
              <a:spLocks noChangeShapeType="1"/>
            </p:cNvSpPr>
            <p:nvPr/>
          </p:nvSpPr>
          <p:spPr bwMode="auto">
            <a:xfrm>
              <a:off x="3995738" y="3860800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Rectangle 15"/>
            <p:cNvSpPr>
              <a:spLocks noChangeArrowheads="1"/>
            </p:cNvSpPr>
            <p:nvPr/>
          </p:nvSpPr>
          <p:spPr bwMode="auto">
            <a:xfrm>
              <a:off x="3779838" y="1773238"/>
              <a:ext cx="1296987" cy="719137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测量装置</a:t>
              </a:r>
            </a:p>
          </p:txBody>
        </p:sp>
        <p:sp>
          <p:nvSpPr>
            <p:cNvPr id="29717" name="Line 16"/>
            <p:cNvSpPr>
              <a:spLocks noChangeShapeType="1"/>
            </p:cNvSpPr>
            <p:nvPr/>
          </p:nvSpPr>
          <p:spPr bwMode="auto">
            <a:xfrm flipV="1">
              <a:off x="7812088" y="2133600"/>
              <a:ext cx="0" cy="151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17"/>
            <p:cNvSpPr>
              <a:spLocks noChangeShapeType="1"/>
            </p:cNvSpPr>
            <p:nvPr/>
          </p:nvSpPr>
          <p:spPr bwMode="auto">
            <a:xfrm flipH="1">
              <a:off x="5076825" y="2133600"/>
              <a:ext cx="2735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18"/>
            <p:cNvSpPr>
              <a:spLocks noChangeShapeType="1"/>
            </p:cNvSpPr>
            <p:nvPr/>
          </p:nvSpPr>
          <p:spPr bwMode="auto">
            <a:xfrm flipH="1">
              <a:off x="755650" y="2133600"/>
              <a:ext cx="3024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19"/>
            <p:cNvSpPr>
              <a:spLocks noChangeShapeType="1"/>
            </p:cNvSpPr>
            <p:nvPr/>
          </p:nvSpPr>
          <p:spPr bwMode="auto">
            <a:xfrm>
              <a:off x="755650" y="2133600"/>
              <a:ext cx="0" cy="1366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Oval 20"/>
            <p:cNvSpPr>
              <a:spLocks noChangeArrowheads="1"/>
            </p:cNvSpPr>
            <p:nvPr/>
          </p:nvSpPr>
          <p:spPr bwMode="auto">
            <a:xfrm>
              <a:off x="611188" y="3500438"/>
              <a:ext cx="287337" cy="287337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×</a:t>
              </a:r>
            </a:p>
          </p:txBody>
        </p:sp>
        <p:sp>
          <p:nvSpPr>
            <p:cNvPr id="29722" name="Text Box 21"/>
            <p:cNvSpPr txBox="1">
              <a:spLocks noChangeArrowheads="1"/>
            </p:cNvSpPr>
            <p:nvPr/>
          </p:nvSpPr>
          <p:spPr bwMode="auto">
            <a:xfrm>
              <a:off x="2555875" y="3141663"/>
              <a:ext cx="2873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/>
                <a:t>x</a:t>
              </a:r>
            </a:p>
          </p:txBody>
        </p:sp>
        <p:sp>
          <p:nvSpPr>
            <p:cNvPr id="29723" name="Text Box 22"/>
            <p:cNvSpPr txBox="1">
              <a:spLocks noChangeArrowheads="1"/>
            </p:cNvSpPr>
            <p:nvPr/>
          </p:nvSpPr>
          <p:spPr bwMode="auto">
            <a:xfrm>
              <a:off x="2555875" y="4005263"/>
              <a:ext cx="3603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/>
                <a:t>x</a:t>
              </a:r>
            </a:p>
          </p:txBody>
        </p:sp>
        <p:sp>
          <p:nvSpPr>
            <p:cNvPr id="29724" name="Text Box 23"/>
            <p:cNvSpPr txBox="1">
              <a:spLocks noChangeArrowheads="1"/>
            </p:cNvSpPr>
            <p:nvPr/>
          </p:nvSpPr>
          <p:spPr bwMode="auto">
            <a:xfrm>
              <a:off x="2555875" y="3789363"/>
              <a:ext cx="3603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.</a:t>
              </a:r>
            </a:p>
          </p:txBody>
        </p:sp>
        <p:sp>
          <p:nvSpPr>
            <p:cNvPr id="29725" name="Text Box 24"/>
            <p:cNvSpPr txBox="1">
              <a:spLocks noChangeArrowheads="1"/>
            </p:cNvSpPr>
            <p:nvPr/>
          </p:nvSpPr>
          <p:spPr bwMode="auto">
            <a:xfrm>
              <a:off x="3995738" y="3141663"/>
              <a:ext cx="360362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29726" name="Text Box 25"/>
            <p:cNvSpPr txBox="1">
              <a:spLocks noChangeArrowheads="1"/>
            </p:cNvSpPr>
            <p:nvPr/>
          </p:nvSpPr>
          <p:spPr bwMode="auto">
            <a:xfrm>
              <a:off x="3995738" y="3933825"/>
              <a:ext cx="4333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29727" name="Text Box 26"/>
            <p:cNvSpPr txBox="1">
              <a:spLocks noChangeArrowheads="1"/>
            </p:cNvSpPr>
            <p:nvPr/>
          </p:nvSpPr>
          <p:spPr bwMode="auto">
            <a:xfrm>
              <a:off x="5724525" y="3284538"/>
              <a:ext cx="504825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29728" name="Text Box 27"/>
            <p:cNvSpPr txBox="1">
              <a:spLocks noChangeArrowheads="1"/>
            </p:cNvSpPr>
            <p:nvPr/>
          </p:nvSpPr>
          <p:spPr bwMode="auto">
            <a:xfrm>
              <a:off x="7667625" y="3644900"/>
              <a:ext cx="28733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u</a:t>
              </a:r>
            </a:p>
          </p:txBody>
        </p:sp>
        <p:sp>
          <p:nvSpPr>
            <p:cNvPr id="29729" name="Text Box 28"/>
            <p:cNvSpPr txBox="1">
              <a:spLocks noChangeArrowheads="1"/>
            </p:cNvSpPr>
            <p:nvPr/>
          </p:nvSpPr>
          <p:spPr bwMode="auto">
            <a:xfrm>
              <a:off x="0" y="3213100"/>
              <a:ext cx="10429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输入</a:t>
              </a: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027363" y="4941168"/>
            <a:ext cx="7956425" cy="1569660"/>
            <a:chOff x="1258888" y="4975018"/>
            <a:chExt cx="6039658" cy="2132778"/>
          </a:xfrm>
        </p:grpSpPr>
        <p:sp>
          <p:nvSpPr>
            <p:cNvPr id="29701" name="Text Box 29"/>
            <p:cNvSpPr txBox="1">
              <a:spLocks noChangeArrowheads="1"/>
            </p:cNvSpPr>
            <p:nvPr/>
          </p:nvSpPr>
          <p:spPr bwMode="auto">
            <a:xfrm>
              <a:off x="1258888" y="4975018"/>
              <a:ext cx="6039658" cy="213277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ea typeface="楷体_GB2312" pitchFamily="49" charset="-122"/>
                </a:rPr>
                <a:t>x ——</a:t>
              </a:r>
              <a:r>
                <a:rPr lang="zh-CN" altLang="en-US" sz="2400" b="1" dirty="0">
                  <a:ea typeface="楷体_GB2312" pitchFamily="49" charset="-122"/>
                </a:rPr>
                <a:t>误差，              　    Ａ</a:t>
              </a:r>
              <a:r>
                <a:rPr lang="en-US" altLang="zh-CN" sz="2400" b="1" dirty="0">
                  <a:ea typeface="楷体_GB2312" pitchFamily="49" charset="-122"/>
                </a:rPr>
                <a:t>—— x </a:t>
              </a:r>
              <a:r>
                <a:rPr lang="zh-CN" altLang="en-US" sz="2400" b="1" dirty="0">
                  <a:ea typeface="楷体_GB2312" pitchFamily="49" charset="-122"/>
                </a:rPr>
                <a:t>经Ｆ化处理后的量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ea typeface="楷体_GB2312" pitchFamily="49" charset="-122"/>
                </a:rPr>
                <a:t>x ——</a:t>
              </a:r>
              <a:r>
                <a:rPr lang="zh-CN" altLang="en-US" sz="2400" b="1" dirty="0">
                  <a:ea typeface="楷体_GB2312" pitchFamily="49" charset="-122"/>
                </a:rPr>
                <a:t>误差变化率，           Ｂ</a:t>
              </a:r>
              <a:r>
                <a:rPr lang="en-US" altLang="zh-CN" sz="2400" b="1" dirty="0">
                  <a:ea typeface="楷体_GB2312" pitchFamily="49" charset="-122"/>
                </a:rPr>
                <a:t>—— x </a:t>
              </a:r>
              <a:r>
                <a:rPr lang="zh-CN" altLang="en-US" sz="2400" b="1" dirty="0">
                  <a:ea typeface="楷体_GB2312" pitchFamily="49" charset="-122"/>
                </a:rPr>
                <a:t>经Ｆ化处理后的量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l-PL" altLang="zh-CN" sz="2400" b="1" dirty="0">
                  <a:ea typeface="楷体_GB2312" pitchFamily="49" charset="-122"/>
                </a:rPr>
                <a:t>u ——</a:t>
              </a:r>
              <a:r>
                <a:rPr lang="zh-CN" altLang="pl-PL" sz="2400" b="1" dirty="0">
                  <a:ea typeface="楷体_GB2312" pitchFamily="49" charset="-122"/>
                </a:rPr>
                <a:t>控制量的确切值</a:t>
              </a:r>
              <a:r>
                <a:rPr lang="en-US" altLang="zh-CN" sz="2400" b="1" dirty="0">
                  <a:ea typeface="楷体_GB2312" pitchFamily="49" charset="-122"/>
                </a:rPr>
                <a:t>       </a:t>
              </a:r>
              <a:r>
                <a:rPr lang="zh-CN" altLang="en-US" sz="2400" b="1" dirty="0">
                  <a:ea typeface="楷体_GB2312" pitchFamily="49" charset="-122"/>
                </a:rPr>
                <a:t>Ｃ</a:t>
              </a:r>
              <a:r>
                <a:rPr lang="en-US" altLang="zh-CN" sz="2400" b="1" dirty="0">
                  <a:ea typeface="楷体_GB2312" pitchFamily="49" charset="-122"/>
                </a:rPr>
                <a:t>——</a:t>
              </a:r>
              <a:r>
                <a:rPr lang="zh-CN" altLang="en-US" sz="2400" b="1" dirty="0">
                  <a:ea typeface="楷体_GB2312" pitchFamily="49" charset="-122"/>
                </a:rPr>
                <a:t>Ｆ控制量</a:t>
              </a:r>
            </a:p>
          </p:txBody>
        </p:sp>
        <p:sp>
          <p:nvSpPr>
            <p:cNvPr id="29702" name="Text Box 30"/>
            <p:cNvSpPr txBox="1">
              <a:spLocks noChangeArrowheads="1"/>
            </p:cNvSpPr>
            <p:nvPr/>
          </p:nvSpPr>
          <p:spPr bwMode="auto">
            <a:xfrm>
              <a:off x="1331318" y="5157192"/>
              <a:ext cx="360362" cy="5236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.</a:t>
              </a:r>
            </a:p>
          </p:txBody>
        </p:sp>
        <p:sp>
          <p:nvSpPr>
            <p:cNvPr id="29703" name="Text Box 31"/>
            <p:cNvSpPr txBox="1">
              <a:spLocks noChangeArrowheads="1"/>
            </p:cNvSpPr>
            <p:nvPr/>
          </p:nvSpPr>
          <p:spPr bwMode="auto">
            <a:xfrm>
              <a:off x="4800045" y="5268371"/>
              <a:ext cx="360362" cy="5236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.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C9340C-FE57-46F3-4148-BB711342C7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系统进行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控制必须的计算步骤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9584" y="4500748"/>
            <a:ext cx="8550910" cy="2312628"/>
          </a:xfrm>
          <a:solidFill>
            <a:srgbClr val="CCFFFF"/>
          </a:solidFill>
        </p:spPr>
        <p:txBody>
          <a:bodyPr/>
          <a:lstStyle/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800" b="1" dirty="0">
                <a:ea typeface="华文楷体" pitchFamily="2" charset="-122"/>
              </a:rPr>
              <a:t>确定现时误差和误差变化率</a:t>
            </a:r>
            <a:r>
              <a:rPr lang="en-US" altLang="zh-CN" sz="2800" b="1" dirty="0">
                <a:ea typeface="华文楷体" pitchFamily="2" charset="-122"/>
              </a:rPr>
              <a:t>;</a:t>
            </a: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800" b="1" dirty="0">
                <a:ea typeface="华文楷体" pitchFamily="2" charset="-122"/>
              </a:rPr>
              <a:t>把误差和误差变化率的确切值变成 </a:t>
            </a:r>
            <a:r>
              <a:rPr lang="en-US" altLang="zh-CN" sz="2800" b="1" dirty="0">
                <a:ea typeface="华文楷体" pitchFamily="2" charset="-122"/>
              </a:rPr>
              <a:t>F</a:t>
            </a:r>
            <a:r>
              <a:rPr lang="zh-CN" altLang="en-US" sz="2800" b="1" dirty="0">
                <a:ea typeface="华文楷体" pitchFamily="2" charset="-122"/>
              </a:rPr>
              <a:t>量作为输入量</a:t>
            </a: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800" b="1" dirty="0">
                <a:ea typeface="华文楷体" pitchFamily="2" charset="-122"/>
              </a:rPr>
              <a:t>由 </a:t>
            </a:r>
            <a:r>
              <a:rPr lang="en-US" altLang="zh-CN" sz="2800" b="1" dirty="0">
                <a:ea typeface="华文楷体" pitchFamily="2" charset="-122"/>
              </a:rPr>
              <a:t>F </a:t>
            </a:r>
            <a:r>
              <a:rPr lang="zh-CN" altLang="en-US" sz="2800" b="1" dirty="0">
                <a:ea typeface="华文楷体" pitchFamily="2" charset="-122"/>
              </a:rPr>
              <a:t>控制规则 </a:t>
            </a:r>
            <a:r>
              <a:rPr lang="en-US" altLang="zh-CN" sz="2800" b="1" dirty="0">
                <a:ea typeface="华文楷体" pitchFamily="2" charset="-122"/>
              </a:rPr>
              <a:t>(</a:t>
            </a:r>
            <a:r>
              <a:rPr lang="zh-CN" altLang="en-US" sz="2800" b="1" dirty="0">
                <a:ea typeface="华文楷体" pitchFamily="2" charset="-122"/>
              </a:rPr>
              <a:t>即合成规则</a:t>
            </a:r>
            <a:r>
              <a:rPr lang="en-US" altLang="zh-CN" sz="2800" b="1" dirty="0">
                <a:ea typeface="华文楷体" pitchFamily="2" charset="-122"/>
              </a:rPr>
              <a:t>) </a:t>
            </a:r>
            <a:r>
              <a:rPr lang="zh-CN" altLang="en-US" sz="2800" b="1" dirty="0">
                <a:ea typeface="华文楷体" pitchFamily="2" charset="-122"/>
              </a:rPr>
              <a:t>计算出 </a:t>
            </a:r>
            <a:r>
              <a:rPr lang="en-US" altLang="zh-CN" sz="2800" b="1" dirty="0">
                <a:ea typeface="华文楷体" pitchFamily="2" charset="-122"/>
              </a:rPr>
              <a:t>F </a:t>
            </a:r>
            <a:r>
              <a:rPr lang="zh-CN" altLang="en-US" sz="2800" b="1" dirty="0">
                <a:ea typeface="华文楷体" pitchFamily="2" charset="-122"/>
              </a:rPr>
              <a:t>控制量</a:t>
            </a:r>
            <a:r>
              <a:rPr lang="en-US" altLang="zh-CN" sz="2800" b="1" dirty="0">
                <a:ea typeface="华文楷体" pitchFamily="2" charset="-122"/>
              </a:rPr>
              <a:t>;</a:t>
            </a: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800" b="1" dirty="0">
                <a:ea typeface="华文楷体" pitchFamily="2" charset="-122"/>
              </a:rPr>
              <a:t>将 </a:t>
            </a:r>
            <a:r>
              <a:rPr lang="en-US" altLang="zh-CN" sz="2800" b="1" dirty="0">
                <a:ea typeface="华文楷体" pitchFamily="2" charset="-122"/>
              </a:rPr>
              <a:t>F </a:t>
            </a:r>
            <a:r>
              <a:rPr lang="zh-CN" altLang="en-US" sz="2800" b="1" dirty="0">
                <a:ea typeface="华文楷体" pitchFamily="2" charset="-122"/>
              </a:rPr>
              <a:t>控制量转化为确切的值加到控制对象上去。</a:t>
            </a:r>
          </a:p>
          <a:p>
            <a:endParaRPr lang="zh-CN" altLang="en-US" dirty="0"/>
          </a:p>
        </p:txBody>
      </p:sp>
      <p:grpSp>
        <p:nvGrpSpPr>
          <p:cNvPr id="29699" name="组合 2"/>
          <p:cNvGrpSpPr>
            <a:grpSpLocks/>
          </p:cNvGrpSpPr>
          <p:nvPr/>
        </p:nvGrpSpPr>
        <p:grpSpPr bwMode="auto">
          <a:xfrm>
            <a:off x="1919536" y="1700442"/>
            <a:ext cx="8172450" cy="2539049"/>
            <a:chOff x="0" y="1773238"/>
            <a:chExt cx="8172450" cy="2537825"/>
          </a:xfrm>
        </p:grpSpPr>
        <p:sp>
          <p:nvSpPr>
            <p:cNvPr id="29704" name="Rectangle 3"/>
            <p:cNvSpPr>
              <a:spLocks noChangeArrowheads="1"/>
            </p:cNvSpPr>
            <p:nvPr/>
          </p:nvSpPr>
          <p:spPr bwMode="auto">
            <a:xfrm>
              <a:off x="1187450" y="3213100"/>
              <a:ext cx="1296988" cy="863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确定</a:t>
              </a:r>
            </a:p>
            <a:p>
              <a:pPr algn="ctr"/>
              <a:r>
                <a:rPr lang="zh-CN" altLang="en-US" sz="2000" b="1">
                  <a:ea typeface="楷体_GB2312" pitchFamily="49" charset="-122"/>
                </a:rPr>
                <a:t>误差变化</a:t>
              </a:r>
            </a:p>
          </p:txBody>
        </p:sp>
        <p:sp>
          <p:nvSpPr>
            <p:cNvPr id="29705" name="Rectangle 4"/>
            <p:cNvSpPr>
              <a:spLocks noChangeArrowheads="1"/>
            </p:cNvSpPr>
            <p:nvPr/>
          </p:nvSpPr>
          <p:spPr bwMode="auto">
            <a:xfrm>
              <a:off x="3059113" y="3213100"/>
              <a:ext cx="936625" cy="8636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模糊化</a:t>
              </a:r>
            </a:p>
          </p:txBody>
        </p:sp>
        <p:sp>
          <p:nvSpPr>
            <p:cNvPr id="29706" name="Rectangle 5"/>
            <p:cNvSpPr>
              <a:spLocks noChangeArrowheads="1"/>
            </p:cNvSpPr>
            <p:nvPr/>
          </p:nvSpPr>
          <p:spPr bwMode="auto">
            <a:xfrm>
              <a:off x="4500563" y="3213100"/>
              <a:ext cx="1223962" cy="8636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rgbClr val="99FF99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ea typeface="楷体_GB2312" pitchFamily="49" charset="-122"/>
                </a:rPr>
                <a:t>模糊</a:t>
              </a:r>
            </a:p>
            <a:p>
              <a:pPr algn="ctr"/>
              <a:r>
                <a:rPr lang="zh-CN" altLang="en-US" sz="2000" b="1" dirty="0">
                  <a:ea typeface="楷体_GB2312" pitchFamily="49" charset="-122"/>
                </a:rPr>
                <a:t>控制规则</a:t>
              </a:r>
            </a:p>
          </p:txBody>
        </p:sp>
        <p:sp>
          <p:nvSpPr>
            <p:cNvPr id="29707" name="Rectangle 6"/>
            <p:cNvSpPr>
              <a:spLocks noChangeArrowheads="1"/>
            </p:cNvSpPr>
            <p:nvPr/>
          </p:nvSpPr>
          <p:spPr bwMode="auto">
            <a:xfrm>
              <a:off x="6300788" y="3213100"/>
              <a:ext cx="1295400" cy="86360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ea typeface="楷体_GB2312" pitchFamily="49" charset="-122"/>
                </a:rPr>
                <a:t>算出</a:t>
              </a:r>
            </a:p>
            <a:p>
              <a:pPr algn="ctr"/>
              <a:r>
                <a:rPr lang="zh-CN" altLang="en-US" sz="2000" b="1" dirty="0">
                  <a:ea typeface="楷体_GB2312" pitchFamily="49" charset="-122"/>
                </a:rPr>
                <a:t>确切的值</a:t>
              </a:r>
            </a:p>
          </p:txBody>
        </p:sp>
        <p:sp>
          <p:nvSpPr>
            <p:cNvPr id="29708" name="Line 7"/>
            <p:cNvSpPr>
              <a:spLocks noChangeShapeType="1"/>
            </p:cNvSpPr>
            <p:nvPr/>
          </p:nvSpPr>
          <p:spPr bwMode="auto">
            <a:xfrm>
              <a:off x="2484438" y="3500438"/>
              <a:ext cx="5746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8"/>
            <p:cNvSpPr>
              <a:spLocks noChangeShapeType="1"/>
            </p:cNvSpPr>
            <p:nvPr/>
          </p:nvSpPr>
          <p:spPr bwMode="auto">
            <a:xfrm>
              <a:off x="3995738" y="3500438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9"/>
            <p:cNvSpPr>
              <a:spLocks noChangeShapeType="1"/>
            </p:cNvSpPr>
            <p:nvPr/>
          </p:nvSpPr>
          <p:spPr bwMode="auto">
            <a:xfrm>
              <a:off x="5724525" y="3644900"/>
              <a:ext cx="576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10"/>
            <p:cNvSpPr>
              <a:spLocks noChangeShapeType="1"/>
            </p:cNvSpPr>
            <p:nvPr/>
          </p:nvSpPr>
          <p:spPr bwMode="auto">
            <a:xfrm>
              <a:off x="7596188" y="3644900"/>
              <a:ext cx="5762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1"/>
            <p:cNvSpPr>
              <a:spLocks noChangeShapeType="1"/>
            </p:cNvSpPr>
            <p:nvPr/>
          </p:nvSpPr>
          <p:spPr bwMode="auto">
            <a:xfrm>
              <a:off x="900113" y="3644900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12"/>
            <p:cNvSpPr>
              <a:spLocks noChangeShapeType="1"/>
            </p:cNvSpPr>
            <p:nvPr/>
          </p:nvSpPr>
          <p:spPr bwMode="auto">
            <a:xfrm>
              <a:off x="323850" y="364490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13"/>
            <p:cNvSpPr>
              <a:spLocks noChangeShapeType="1"/>
            </p:cNvSpPr>
            <p:nvPr/>
          </p:nvSpPr>
          <p:spPr bwMode="auto">
            <a:xfrm>
              <a:off x="2484438" y="3860800"/>
              <a:ext cx="5746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14"/>
            <p:cNvSpPr>
              <a:spLocks noChangeShapeType="1"/>
            </p:cNvSpPr>
            <p:nvPr/>
          </p:nvSpPr>
          <p:spPr bwMode="auto">
            <a:xfrm>
              <a:off x="3995738" y="3860800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Rectangle 15"/>
            <p:cNvSpPr>
              <a:spLocks noChangeArrowheads="1"/>
            </p:cNvSpPr>
            <p:nvPr/>
          </p:nvSpPr>
          <p:spPr bwMode="auto">
            <a:xfrm>
              <a:off x="3779838" y="1773238"/>
              <a:ext cx="1296987" cy="719137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测量装置</a:t>
              </a:r>
            </a:p>
          </p:txBody>
        </p:sp>
        <p:sp>
          <p:nvSpPr>
            <p:cNvPr id="29717" name="Line 16"/>
            <p:cNvSpPr>
              <a:spLocks noChangeShapeType="1"/>
            </p:cNvSpPr>
            <p:nvPr/>
          </p:nvSpPr>
          <p:spPr bwMode="auto">
            <a:xfrm flipV="1">
              <a:off x="7812088" y="2133600"/>
              <a:ext cx="0" cy="151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17"/>
            <p:cNvSpPr>
              <a:spLocks noChangeShapeType="1"/>
            </p:cNvSpPr>
            <p:nvPr/>
          </p:nvSpPr>
          <p:spPr bwMode="auto">
            <a:xfrm flipH="1">
              <a:off x="5076825" y="2133600"/>
              <a:ext cx="2735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18"/>
            <p:cNvSpPr>
              <a:spLocks noChangeShapeType="1"/>
            </p:cNvSpPr>
            <p:nvPr/>
          </p:nvSpPr>
          <p:spPr bwMode="auto">
            <a:xfrm flipH="1">
              <a:off x="755650" y="2133600"/>
              <a:ext cx="3024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19"/>
            <p:cNvSpPr>
              <a:spLocks noChangeShapeType="1"/>
            </p:cNvSpPr>
            <p:nvPr/>
          </p:nvSpPr>
          <p:spPr bwMode="auto">
            <a:xfrm>
              <a:off x="755650" y="2133600"/>
              <a:ext cx="0" cy="1366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Oval 20"/>
            <p:cNvSpPr>
              <a:spLocks noChangeArrowheads="1"/>
            </p:cNvSpPr>
            <p:nvPr/>
          </p:nvSpPr>
          <p:spPr bwMode="auto">
            <a:xfrm>
              <a:off x="611188" y="3500438"/>
              <a:ext cx="287337" cy="287337"/>
            </a:xfrm>
            <a:prstGeom prst="ellipse">
              <a:avLst/>
            </a:prstGeom>
            <a:solidFill>
              <a:srgbClr val="66CCFF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×</a:t>
              </a:r>
            </a:p>
          </p:txBody>
        </p:sp>
        <p:sp>
          <p:nvSpPr>
            <p:cNvPr id="29722" name="Text Box 21"/>
            <p:cNvSpPr txBox="1">
              <a:spLocks noChangeArrowheads="1"/>
            </p:cNvSpPr>
            <p:nvPr/>
          </p:nvSpPr>
          <p:spPr bwMode="auto">
            <a:xfrm>
              <a:off x="2555875" y="3141663"/>
              <a:ext cx="287338" cy="39687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/>
                <a:t>x</a:t>
              </a:r>
            </a:p>
          </p:txBody>
        </p:sp>
        <p:sp>
          <p:nvSpPr>
            <p:cNvPr id="29723" name="Text Box 22"/>
            <p:cNvSpPr txBox="1">
              <a:spLocks noChangeArrowheads="1"/>
            </p:cNvSpPr>
            <p:nvPr/>
          </p:nvSpPr>
          <p:spPr bwMode="auto">
            <a:xfrm>
              <a:off x="2555875" y="3914188"/>
              <a:ext cx="360363" cy="39687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/>
                <a:t>x</a:t>
              </a:r>
            </a:p>
          </p:txBody>
        </p:sp>
        <p:sp>
          <p:nvSpPr>
            <p:cNvPr id="29724" name="Text Box 23"/>
            <p:cNvSpPr txBox="1">
              <a:spLocks noChangeArrowheads="1"/>
            </p:cNvSpPr>
            <p:nvPr/>
          </p:nvSpPr>
          <p:spPr bwMode="auto">
            <a:xfrm>
              <a:off x="2555826" y="3676305"/>
              <a:ext cx="360363" cy="46166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.</a:t>
              </a:r>
            </a:p>
          </p:txBody>
        </p:sp>
        <p:sp>
          <p:nvSpPr>
            <p:cNvPr id="29725" name="Text Box 24"/>
            <p:cNvSpPr txBox="1">
              <a:spLocks noChangeArrowheads="1"/>
            </p:cNvSpPr>
            <p:nvPr/>
          </p:nvSpPr>
          <p:spPr bwMode="auto">
            <a:xfrm>
              <a:off x="3995738" y="3141663"/>
              <a:ext cx="360362" cy="36671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29726" name="Text Box 25"/>
            <p:cNvSpPr txBox="1">
              <a:spLocks noChangeArrowheads="1"/>
            </p:cNvSpPr>
            <p:nvPr/>
          </p:nvSpPr>
          <p:spPr bwMode="auto">
            <a:xfrm>
              <a:off x="4066655" y="3834893"/>
              <a:ext cx="433387" cy="366713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</a:p>
          </p:txBody>
        </p:sp>
        <p:sp>
          <p:nvSpPr>
            <p:cNvPr id="29727" name="Text Box 26"/>
            <p:cNvSpPr txBox="1">
              <a:spLocks noChangeArrowheads="1"/>
            </p:cNvSpPr>
            <p:nvPr/>
          </p:nvSpPr>
          <p:spPr bwMode="auto">
            <a:xfrm>
              <a:off x="5724525" y="3284538"/>
              <a:ext cx="504825" cy="36671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29728" name="Text Box 27"/>
            <p:cNvSpPr txBox="1">
              <a:spLocks noChangeArrowheads="1"/>
            </p:cNvSpPr>
            <p:nvPr/>
          </p:nvSpPr>
          <p:spPr bwMode="auto">
            <a:xfrm>
              <a:off x="7667625" y="3644900"/>
              <a:ext cx="287338" cy="366713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u</a:t>
              </a:r>
            </a:p>
          </p:txBody>
        </p:sp>
        <p:sp>
          <p:nvSpPr>
            <p:cNvPr id="29729" name="Text Box 28"/>
            <p:cNvSpPr txBox="1">
              <a:spLocks noChangeArrowheads="1"/>
            </p:cNvSpPr>
            <p:nvPr/>
          </p:nvSpPr>
          <p:spPr bwMode="auto">
            <a:xfrm>
              <a:off x="0" y="3213100"/>
              <a:ext cx="1042988" cy="39687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输入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D33F1C-E06D-223B-8B81-7FF8028AAD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46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F8806"/>
                </a:solidFill>
              </a:rPr>
              <a:t>Step1: </a:t>
            </a:r>
            <a:r>
              <a:rPr lang="zh-CN" altLang="en-US">
                <a:solidFill>
                  <a:srgbClr val="1F8806"/>
                </a:solidFill>
                <a:ea typeface="黑体" pitchFamily="2" charset="-122"/>
              </a:rPr>
              <a:t>确定误差和误差变化率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484314"/>
            <a:ext cx="10742983" cy="537368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用一定的手段观测误差 </a:t>
            </a:r>
            <a:r>
              <a:rPr lang="en-US" altLang="zh-CN" dirty="0">
                <a:ea typeface="黑体" pitchFamily="2" charset="-122"/>
              </a:rPr>
              <a:t>x </a:t>
            </a:r>
            <a:r>
              <a:rPr lang="zh-CN" altLang="en-US" dirty="0">
                <a:ea typeface="黑体" pitchFamily="2" charset="-122"/>
              </a:rPr>
              <a:t>，为了方便将它们分成若干等级，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如 </a:t>
            </a:r>
            <a:r>
              <a:rPr lang="en-US" altLang="zh-CN" dirty="0">
                <a:ea typeface="黑体" pitchFamily="2" charset="-122"/>
              </a:rPr>
              <a:t>12 </a:t>
            </a:r>
            <a:r>
              <a:rPr lang="zh-CN" altLang="en-US" dirty="0">
                <a:ea typeface="黑体" pitchFamily="2" charset="-122"/>
              </a:rPr>
              <a:t>级，其代号为 </a:t>
            </a:r>
            <a:r>
              <a:rPr lang="en-US" altLang="zh-CN" dirty="0">
                <a:ea typeface="黑体" pitchFamily="2" charset="-122"/>
              </a:rPr>
              <a:t>(-5, -4, -3, -2,- 1, -0, +0, 1, 2, 3, 4, 5)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误差论域 </a:t>
            </a:r>
            <a:r>
              <a:rPr lang="en-US" altLang="zh-CN" dirty="0">
                <a:ea typeface="黑体" pitchFamily="2" charset="-122"/>
              </a:rPr>
              <a:t>X </a:t>
            </a:r>
            <a:r>
              <a:rPr lang="zh-CN" altLang="en-US" dirty="0">
                <a:ea typeface="黑体" pitchFamily="2" charset="-122"/>
              </a:rPr>
              <a:t>为</a:t>
            </a:r>
          </a:p>
          <a:p>
            <a:pPr lvl="1" eaLnBrk="1" hangingPunct="1"/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X={-5, -4, -3, -2, -1, -0, +0, 1, 2, 3, 4, 5}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取 </a:t>
            </a:r>
            <a:r>
              <a:rPr lang="en-US" altLang="zh-CN" dirty="0">
                <a:ea typeface="黑体" pitchFamily="2" charset="-122"/>
              </a:rPr>
              <a:t>8 </a:t>
            </a:r>
            <a:r>
              <a:rPr lang="zh-CN" altLang="en-US" dirty="0">
                <a:ea typeface="黑体" pitchFamily="2" charset="-122"/>
              </a:rPr>
              <a:t>个语言值</a:t>
            </a:r>
          </a:p>
          <a:p>
            <a:pPr eaLnBrk="1" hangingPunct="1"/>
            <a:endParaRPr lang="zh-CN" altLang="en-US" dirty="0">
              <a:ea typeface="黑体" pitchFamily="2" charset="-122"/>
            </a:endParaRPr>
          </a:p>
          <a:p>
            <a:pPr eaLnBrk="1" hangingPunct="1"/>
            <a:endParaRPr lang="zh-CN" altLang="en-US" dirty="0">
              <a:ea typeface="黑体" pitchFamily="2" charset="-122"/>
            </a:endParaRPr>
          </a:p>
          <a:p>
            <a:pPr eaLnBrk="1" hangingPunct="1"/>
            <a:endParaRPr lang="zh-CN" altLang="en-US" sz="4000" dirty="0">
              <a:ea typeface="黑体" pitchFamily="2" charset="-122"/>
            </a:endParaRPr>
          </a:p>
          <a:p>
            <a:pPr lvl="1" eaLnBrk="1" hangingPunct="1"/>
            <a:r>
              <a:rPr lang="en-US" altLang="zh-CN" dirty="0">
                <a:ea typeface="黑体" pitchFamily="2" charset="-122"/>
              </a:rPr>
              <a:t>A</a:t>
            </a:r>
            <a:r>
              <a:rPr lang="en-US" altLang="zh-CN" baseline="-25000" dirty="0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en-US" altLang="zh-CN" dirty="0" err="1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=1,2, …,8) </a:t>
            </a:r>
            <a:r>
              <a:rPr lang="zh-CN" altLang="en-US" dirty="0">
                <a:ea typeface="黑体" pitchFamily="2" charset="-122"/>
              </a:rPr>
              <a:t>是论域 </a:t>
            </a:r>
            <a:r>
              <a:rPr lang="en-US" altLang="zh-CN" dirty="0">
                <a:ea typeface="黑体" pitchFamily="2" charset="-122"/>
              </a:rPr>
              <a:t>X </a:t>
            </a:r>
            <a:r>
              <a:rPr lang="zh-CN" altLang="en-US" dirty="0">
                <a:ea typeface="黑体" pitchFamily="2" charset="-122"/>
              </a:rPr>
              <a:t>上的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集</a:t>
            </a:r>
          </a:p>
        </p:txBody>
      </p:sp>
      <p:graphicFrame>
        <p:nvGraphicFramePr>
          <p:cNvPr id="52228" name="Group 4"/>
          <p:cNvGraphicFramePr>
            <a:graphicFrameLocks noGrp="1"/>
          </p:cNvGraphicFramePr>
          <p:nvPr>
            <p:ph sz="quarter" idx="3"/>
          </p:nvPr>
        </p:nvGraphicFramePr>
        <p:xfrm>
          <a:off x="2495550" y="4365626"/>
          <a:ext cx="7272338" cy="1676401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含义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记号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F701B1-81F8-CB92-C6E1-A58D05E3E6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F8806"/>
                </a:solidFill>
              </a:rPr>
              <a:t>Step1: </a:t>
            </a:r>
            <a:r>
              <a:rPr lang="zh-CN" altLang="en-US">
                <a:solidFill>
                  <a:srgbClr val="1F8806"/>
                </a:solidFill>
                <a:ea typeface="黑体" pitchFamily="2" charset="-122"/>
              </a:rPr>
              <a:t>确定误差和误差变化率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84314"/>
            <a:ext cx="10729191" cy="537368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用一定的手段观测误差变化率   的值，为了方便将它们分成若干等级，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如 </a:t>
            </a:r>
            <a:r>
              <a:rPr lang="en-US" altLang="zh-CN" dirty="0">
                <a:ea typeface="黑体" pitchFamily="2" charset="-122"/>
              </a:rPr>
              <a:t>11 </a:t>
            </a:r>
            <a:r>
              <a:rPr lang="zh-CN" altLang="en-US" dirty="0">
                <a:ea typeface="黑体" pitchFamily="2" charset="-122"/>
              </a:rPr>
              <a:t>级，其代号为 </a:t>
            </a:r>
            <a:r>
              <a:rPr lang="en-US" altLang="zh-CN" dirty="0">
                <a:ea typeface="黑体" pitchFamily="2" charset="-122"/>
              </a:rPr>
              <a:t>(-5, -4, -3, -2, -1, 0, 1, 2, 3, 4, 5)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误差论域 </a:t>
            </a:r>
            <a:r>
              <a:rPr lang="en-US" altLang="zh-CN" dirty="0">
                <a:ea typeface="黑体" pitchFamily="2" charset="-122"/>
              </a:rPr>
              <a:t>Y </a:t>
            </a:r>
            <a:r>
              <a:rPr lang="zh-CN" altLang="en-US" dirty="0">
                <a:ea typeface="黑体" pitchFamily="2" charset="-122"/>
              </a:rPr>
              <a:t>为</a:t>
            </a:r>
          </a:p>
          <a:p>
            <a:pPr lvl="1" eaLnBrk="1" hangingPunct="1"/>
            <a:r>
              <a:rPr lang="es-ES" altLang="zh-CN" dirty="0">
                <a:solidFill>
                  <a:srgbClr val="FF0000"/>
                </a:solidFill>
                <a:ea typeface="黑体" pitchFamily="2" charset="-122"/>
              </a:rPr>
              <a:t>Y={-5, -4, -3, -2, -1, 0, 1, 2, 3, 4, 5}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取 </a:t>
            </a:r>
            <a:r>
              <a:rPr lang="en-US" altLang="zh-CN" dirty="0">
                <a:ea typeface="黑体" pitchFamily="2" charset="-122"/>
              </a:rPr>
              <a:t>7 </a:t>
            </a:r>
            <a:r>
              <a:rPr lang="zh-CN" altLang="en-US" dirty="0">
                <a:ea typeface="黑体" pitchFamily="2" charset="-122"/>
              </a:rPr>
              <a:t>个语言值</a:t>
            </a:r>
          </a:p>
          <a:p>
            <a:pPr eaLnBrk="1" hangingPunct="1"/>
            <a:endParaRPr lang="zh-CN" altLang="en-US" dirty="0">
              <a:ea typeface="黑体" pitchFamily="2" charset="-122"/>
            </a:endParaRPr>
          </a:p>
          <a:p>
            <a:pPr eaLnBrk="1" hangingPunct="1"/>
            <a:endParaRPr lang="zh-CN" altLang="en-US" sz="4800" dirty="0">
              <a:ea typeface="黑体" pitchFamily="2" charset="-122"/>
            </a:endParaRPr>
          </a:p>
          <a:p>
            <a:pPr lvl="1" eaLnBrk="1" hangingPunct="1"/>
            <a:r>
              <a:rPr lang="en-US" altLang="zh-CN" dirty="0">
                <a:ea typeface="黑体" pitchFamily="2" charset="-122"/>
              </a:rPr>
              <a:t>B</a:t>
            </a:r>
            <a:r>
              <a:rPr lang="en-US" altLang="zh-CN" baseline="-25000" dirty="0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en-US" altLang="zh-CN" dirty="0" err="1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=1,2, …,7) </a:t>
            </a:r>
            <a:r>
              <a:rPr lang="zh-CN" altLang="en-US" dirty="0">
                <a:ea typeface="黑体" pitchFamily="2" charset="-122"/>
              </a:rPr>
              <a:t>是论域 </a:t>
            </a:r>
            <a:r>
              <a:rPr lang="en-US" altLang="zh-CN" dirty="0">
                <a:ea typeface="黑体" pitchFamily="2" charset="-122"/>
              </a:rPr>
              <a:t>Y </a:t>
            </a:r>
            <a:r>
              <a:rPr lang="zh-CN" altLang="en-US" dirty="0">
                <a:ea typeface="黑体" pitchFamily="2" charset="-122"/>
              </a:rPr>
              <a:t>上的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集</a:t>
            </a:r>
          </a:p>
        </p:txBody>
      </p:sp>
      <p:graphicFrame>
        <p:nvGraphicFramePr>
          <p:cNvPr id="3277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86448326"/>
              </p:ext>
            </p:extLst>
          </p:nvPr>
        </p:nvGraphicFramePr>
        <p:xfrm>
          <a:off x="6744072" y="1421086"/>
          <a:ext cx="2905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890" imgH="279158" progId="Equation.3">
                  <p:embed/>
                </p:oleObj>
              </mc:Choice>
              <mc:Fallback>
                <p:oleObj name="公式" r:id="rId2" imgW="126890" imgH="279158" progId="Equation.3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1421086"/>
                        <a:ext cx="29051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Group 5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93691787"/>
              </p:ext>
            </p:extLst>
          </p:nvPr>
        </p:nvGraphicFramePr>
        <p:xfrm>
          <a:off x="4295800" y="4406666"/>
          <a:ext cx="6464300" cy="1676401"/>
        </p:xfrm>
        <a:graphic>
          <a:graphicData uri="http://schemas.openxmlformats.org/drawingml/2006/table">
            <a:tbl>
              <a:tblPr/>
              <a:tblGrid>
                <a:gridCol w="808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含义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记号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6721C8-3357-3538-B9E3-BDBD3D63F6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2656"/>
            <a:ext cx="10972800" cy="13716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1F8806"/>
                </a:solidFill>
              </a:rPr>
              <a:t>Step2: </a:t>
            </a:r>
            <a:r>
              <a:rPr lang="zh-CN" altLang="en-US" dirty="0">
                <a:solidFill>
                  <a:srgbClr val="1F8806"/>
                </a:solidFill>
                <a:ea typeface="黑体" pitchFamily="2" charset="-122"/>
              </a:rPr>
              <a:t>将误差和误差变化率 </a:t>
            </a:r>
            <a:r>
              <a:rPr lang="en-US" altLang="zh-CN" dirty="0">
                <a:solidFill>
                  <a:srgbClr val="1F8806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F8806"/>
                </a:solidFill>
                <a:ea typeface="黑体" pitchFamily="2" charset="-122"/>
              </a:rPr>
              <a:t>化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628776"/>
            <a:ext cx="9084817" cy="11604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误差的语言值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是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集，可按实际问题给予不同的定义。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集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定义如下。</a:t>
            </a:r>
          </a:p>
        </p:txBody>
      </p:sp>
      <p:graphicFrame>
        <p:nvGraphicFramePr>
          <p:cNvPr id="54276" name="Group 4"/>
          <p:cNvGraphicFramePr>
            <a:graphicFrameLocks noGrp="1"/>
          </p:cNvGraphicFramePr>
          <p:nvPr>
            <p:ph sz="quarter" idx="2"/>
          </p:nvPr>
        </p:nvGraphicFramePr>
        <p:xfrm>
          <a:off x="2424114" y="2708275"/>
          <a:ext cx="7056437" cy="4054478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5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+0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552384" y="3064892"/>
            <a:ext cx="7920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dirty="0"/>
              <a:t>PB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PM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PS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PZ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NZ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NS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NM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NB</a:t>
            </a:r>
            <a:endParaRPr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22C105-E213-76B8-3E04-B078CDCF91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F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集 </a:t>
            </a:r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Ai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定义图形表示</a:t>
            </a:r>
          </a:p>
        </p:txBody>
      </p:sp>
      <p:grpSp>
        <p:nvGrpSpPr>
          <p:cNvPr id="35843" name="组合 31"/>
          <p:cNvGrpSpPr>
            <a:grpSpLocks/>
          </p:cNvGrpSpPr>
          <p:nvPr/>
        </p:nvGrpSpPr>
        <p:grpSpPr bwMode="auto">
          <a:xfrm>
            <a:off x="2208214" y="1484314"/>
            <a:ext cx="7920037" cy="5184775"/>
            <a:chOff x="612403" y="1484313"/>
            <a:chExt cx="7920037" cy="5185047"/>
          </a:xfrm>
        </p:grpSpPr>
        <p:pic>
          <p:nvPicPr>
            <p:cNvPr id="3584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403" y="1529035"/>
              <a:ext cx="7920037" cy="514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5" name="Rectangle 37"/>
            <p:cNvSpPr>
              <a:spLocks noChangeArrowheads="1"/>
            </p:cNvSpPr>
            <p:nvPr/>
          </p:nvSpPr>
          <p:spPr bwMode="auto">
            <a:xfrm>
              <a:off x="1331912" y="1484313"/>
              <a:ext cx="6984503" cy="369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dirty="0"/>
                <a:t>NB    NM              NS             NZ      PZ              PS    </a:t>
              </a:r>
              <a:r>
                <a:rPr lang="en-US" altLang="zh-CN"/>
                <a:t>PM           PB</a:t>
              </a:r>
              <a:endParaRPr lang="en-US" altLang="zh-CN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508253" y="5589803"/>
              <a:ext cx="714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0AB243-D374-9902-683C-ECC97C32AC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933C39-8941-4754-97F1-DAC9E9289B4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2656"/>
            <a:ext cx="10972800" cy="13716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1F8806"/>
                </a:solidFill>
              </a:rPr>
              <a:t>Step2: </a:t>
            </a:r>
            <a:r>
              <a:rPr lang="zh-CN" altLang="en-US" dirty="0">
                <a:solidFill>
                  <a:srgbClr val="1F8806"/>
                </a:solidFill>
                <a:ea typeface="黑体" pitchFamily="2" charset="-122"/>
              </a:rPr>
              <a:t>将误差和误差变化率 </a:t>
            </a:r>
            <a:r>
              <a:rPr lang="en-US" altLang="zh-CN" dirty="0">
                <a:solidFill>
                  <a:srgbClr val="1F8806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F8806"/>
                </a:solidFill>
                <a:ea typeface="黑体" pitchFamily="2" charset="-122"/>
              </a:rPr>
              <a:t>化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661634"/>
            <a:ext cx="8435975" cy="11604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误差变化率的语言值 </a:t>
            </a:r>
            <a:r>
              <a:rPr lang="en-US" altLang="zh-CN" dirty="0"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是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集，可按实际问题给予不同的定义。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集 </a:t>
            </a:r>
            <a:r>
              <a:rPr lang="en-US" altLang="zh-CN" dirty="0"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ea typeface="黑体" pitchFamily="2" charset="-122"/>
              </a:rPr>
              <a:t>定义如下。</a:t>
            </a:r>
          </a:p>
        </p:txBody>
      </p:sp>
      <p:graphicFrame>
        <p:nvGraphicFramePr>
          <p:cNvPr id="57348" name="Group 4"/>
          <p:cNvGraphicFramePr>
            <a:graphicFrameLocks noGrp="1"/>
          </p:cNvGraphicFramePr>
          <p:nvPr>
            <p:ph sz="quarter" idx="2"/>
          </p:nvPr>
        </p:nvGraphicFramePr>
        <p:xfrm>
          <a:off x="2782889" y="3068639"/>
          <a:ext cx="6516687" cy="3597277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5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6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480376" y="3345374"/>
            <a:ext cx="7920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dirty="0"/>
              <a:t>PB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PM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PS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Z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NS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NM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NB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9C25B2-B74B-6499-C2D2-AAA5A832A4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F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集 </a:t>
            </a:r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Bi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定义图形表示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4" y="1700213"/>
            <a:ext cx="66960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3071813" y="1557338"/>
            <a:ext cx="6394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NB             NM    NS               Z              PS     PM             PB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B23EE8-2A8A-3778-0B3A-9D7F89C565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F8806"/>
                </a:solidFill>
              </a:rPr>
              <a:t>Step3:  F </a:t>
            </a:r>
            <a:r>
              <a:rPr lang="zh-CN" altLang="en-US">
                <a:solidFill>
                  <a:srgbClr val="1F8806"/>
                </a:solidFill>
                <a:ea typeface="黑体" pitchFamily="2" charset="-122"/>
              </a:rPr>
              <a:t>控制规则（合成算法）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700213"/>
            <a:ext cx="10526960" cy="266541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控制规则是条件语句的应用，若输入一个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集，应用条件语句便可得一个输出的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集这就是所谓的控制量，记为 </a:t>
            </a:r>
            <a:r>
              <a:rPr lang="en-US" altLang="zh-CN" dirty="0">
                <a:ea typeface="黑体" pitchFamily="2" charset="-122"/>
              </a:rPr>
              <a:t>C </a:t>
            </a:r>
            <a:r>
              <a:rPr lang="zh-CN" altLang="en-US" dirty="0">
                <a:ea typeface="黑体" pitchFamily="2" charset="-122"/>
              </a:rPr>
              <a:t>。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控制量论域 </a:t>
            </a:r>
            <a:r>
              <a:rPr lang="en-US" altLang="zh-CN" dirty="0">
                <a:ea typeface="黑体" pitchFamily="2" charset="-122"/>
              </a:rPr>
              <a:t>Z </a:t>
            </a:r>
            <a:r>
              <a:rPr lang="zh-CN" altLang="en-US" dirty="0">
                <a:ea typeface="黑体" pitchFamily="2" charset="-122"/>
              </a:rPr>
              <a:t>为</a:t>
            </a:r>
          </a:p>
          <a:p>
            <a:pPr lvl="1" eaLnBrk="1" hangingPunct="1"/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Z={-6,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-5,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-4,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-3,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-2,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-1,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0,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1,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2,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3,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4,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5,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pl-PL" altLang="zh-CN" dirty="0">
                <a:solidFill>
                  <a:srgbClr val="FF0000"/>
                </a:solidFill>
                <a:ea typeface="黑体" pitchFamily="2" charset="-122"/>
              </a:rPr>
              <a:t>6}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取 </a:t>
            </a:r>
            <a:r>
              <a:rPr lang="en-US" altLang="zh-CN" dirty="0">
                <a:ea typeface="黑体" pitchFamily="2" charset="-122"/>
              </a:rPr>
              <a:t>7 </a:t>
            </a:r>
            <a:r>
              <a:rPr lang="zh-CN" altLang="en-US" dirty="0">
                <a:ea typeface="黑体" pitchFamily="2" charset="-122"/>
              </a:rPr>
              <a:t>个语言值</a:t>
            </a:r>
          </a:p>
        </p:txBody>
      </p:sp>
      <p:graphicFrame>
        <p:nvGraphicFramePr>
          <p:cNvPr id="60420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5621199"/>
              </p:ext>
            </p:extLst>
          </p:nvPr>
        </p:nvGraphicFramePr>
        <p:xfrm>
          <a:off x="2207568" y="4951685"/>
          <a:ext cx="8002587" cy="1717675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含义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记号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A37383-BBF4-1C3F-2D09-0385A18EC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控制量 </a:t>
            </a:r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Ci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隶属函数定义</a:t>
            </a:r>
          </a:p>
        </p:txBody>
      </p:sp>
      <p:graphicFrame>
        <p:nvGraphicFramePr>
          <p:cNvPr id="61443" name="Group 3"/>
          <p:cNvGraphicFramePr>
            <a:graphicFrameLocks noGrp="1"/>
          </p:cNvGraphicFramePr>
          <p:nvPr>
            <p:ph idx="1"/>
          </p:nvPr>
        </p:nvGraphicFramePr>
        <p:xfrm>
          <a:off x="2063553" y="2492376"/>
          <a:ext cx="7921625" cy="3597277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6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84432" y="2852937"/>
            <a:ext cx="7920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dirty="0"/>
              <a:t>PB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PM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PS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Z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NS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NM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NB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A865CD-DDC0-BADE-48CD-009A059911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933C39-8941-4754-97F1-DAC9E9289B4E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F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集 </a:t>
            </a:r>
            <a:r>
              <a:rPr lang="en-US" altLang="zh-CN">
                <a:solidFill>
                  <a:srgbClr val="009900"/>
                </a:solidFill>
                <a:ea typeface="黑体" pitchFamily="2" charset="-122"/>
              </a:rPr>
              <a:t>Ci </a:t>
            </a:r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定义图形表示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1700214"/>
            <a:ext cx="8353425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640014" y="1628776"/>
            <a:ext cx="7272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NB             NM           NS             Z             PS            PM           PB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43680D-8626-F18F-90EE-362B0A4D9B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1F8806"/>
                </a:solidFill>
              </a:rPr>
              <a:t>Step3:  F </a:t>
            </a:r>
            <a:r>
              <a:rPr lang="zh-CN" altLang="en-US">
                <a:solidFill>
                  <a:srgbClr val="1F8806"/>
                </a:solidFill>
                <a:ea typeface="黑体" pitchFamily="2" charset="-122"/>
              </a:rPr>
              <a:t>控制规则（合成算法）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844676"/>
            <a:ext cx="9361040" cy="4752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黑体" pitchFamily="2" charset="-122"/>
              </a:rPr>
              <a:t>一般地，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控制规则用下面的复合条件语句表示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若 </a:t>
            </a:r>
            <a:r>
              <a:rPr lang="en-US" altLang="zh-CN" b="1" i="1" dirty="0">
                <a:solidFill>
                  <a:srgbClr val="FF0000"/>
                </a:solidFill>
                <a:ea typeface="黑体" pitchFamily="2" charset="-122"/>
              </a:rPr>
              <a:t>A</a:t>
            </a:r>
            <a:r>
              <a:rPr lang="en-US" altLang="zh-CN" b="1" i="1" baseline="-25000" dirty="0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且 </a:t>
            </a:r>
            <a:r>
              <a:rPr lang="en-US" altLang="zh-CN" b="1" i="1" dirty="0" err="1">
                <a:solidFill>
                  <a:srgbClr val="FF0000"/>
                </a:solidFill>
                <a:ea typeface="黑体" pitchFamily="2" charset="-122"/>
              </a:rPr>
              <a:t>B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itchFamily="2" charset="-122"/>
              </a:rPr>
              <a:t>j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则 </a:t>
            </a:r>
            <a:r>
              <a:rPr lang="en-US" altLang="zh-CN" b="1" i="1" dirty="0" err="1">
                <a:solidFill>
                  <a:srgbClr val="FF0000"/>
                </a:solidFill>
                <a:ea typeface="黑体" pitchFamily="2" charset="-122"/>
              </a:rPr>
              <a:t>C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itchFamily="2" charset="-122"/>
              </a:rPr>
              <a:t>k</a:t>
            </a:r>
            <a:endParaRPr lang="en-US" altLang="zh-CN" b="1" i="1" dirty="0">
              <a:solidFill>
                <a:srgbClr val="FF0000"/>
              </a:solidFill>
              <a:ea typeface="黑体" pitchFamily="2" charset="-122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    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en-US" altLang="zh-CN" dirty="0" err="1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=1,2, …,8, j, k=1,2, …,7)</a:t>
            </a:r>
          </a:p>
          <a:p>
            <a:pPr eaLnBrk="1" hangingPunct="1">
              <a:defRPr/>
            </a:pPr>
            <a:r>
              <a:rPr lang="zh-CN" altLang="en-US" dirty="0">
                <a:ea typeface="黑体" pitchFamily="2" charset="-122"/>
              </a:rPr>
              <a:t>每一条语句对应一个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关系，即</a:t>
            </a:r>
          </a:p>
          <a:p>
            <a:pPr lvl="1" eaLnBrk="1" hangingPunct="1">
              <a:defRPr/>
            </a:pPr>
            <a:r>
              <a:rPr lang="en-US" altLang="zh-CN" b="1" i="1" dirty="0" err="1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</a:rPr>
              <a:t>=</a:t>
            </a:r>
            <a:r>
              <a:rPr lang="en-US" altLang="zh-CN" b="1" i="1" dirty="0">
                <a:solidFill>
                  <a:srgbClr val="FF0000"/>
                </a:solidFill>
                <a:ea typeface="黑体" pitchFamily="2" charset="-122"/>
              </a:rPr>
              <a:t>A</a:t>
            </a:r>
            <a:r>
              <a:rPr lang="en-US" altLang="zh-CN" b="1" i="1" baseline="-25000" dirty="0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sym typeface="Symbol"/>
              </a:rPr>
              <a:t> </a:t>
            </a:r>
            <a:r>
              <a:rPr lang="en-US" altLang="zh-CN" b="1" i="1" dirty="0" err="1">
                <a:solidFill>
                  <a:srgbClr val="FF0000"/>
                </a:solidFill>
                <a:ea typeface="黑体" pitchFamily="2" charset="-122"/>
              </a:rPr>
              <a:t>B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itchFamily="2" charset="-122"/>
              </a:rPr>
              <a:t>j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sym typeface="Symbol"/>
              </a:rPr>
              <a:t>  </a:t>
            </a:r>
            <a:r>
              <a:rPr lang="en-US" altLang="zh-CN" b="1" i="1" dirty="0" err="1">
                <a:solidFill>
                  <a:srgbClr val="FF0000"/>
                </a:solidFill>
                <a:ea typeface="黑体" pitchFamily="2" charset="-122"/>
              </a:rPr>
              <a:t>C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itchFamily="2" charset="-122"/>
              </a:rPr>
              <a:t>k</a:t>
            </a:r>
            <a:endParaRPr lang="en-US" altLang="zh-CN" b="1" i="1" dirty="0">
              <a:solidFill>
                <a:srgbClr val="FF0000"/>
              </a:solidFill>
              <a:ea typeface="黑体" pitchFamily="2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ea typeface="黑体" pitchFamily="2" charset="-122"/>
              </a:rPr>
              <a:t>总的 </a:t>
            </a:r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关系为</a:t>
            </a:r>
          </a:p>
          <a:p>
            <a:pPr lvl="1" eaLnBrk="1" hangingPunct="1">
              <a:defRPr/>
            </a:pPr>
            <a:endParaRPr lang="zh-CN" altLang="en-US" sz="4000" dirty="0">
              <a:ea typeface="黑体" pitchFamily="2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ea typeface="黑体" pitchFamily="2" charset="-122"/>
              </a:rPr>
              <a:t>故 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控制规则</a:t>
            </a:r>
            <a:r>
              <a:rPr lang="zh-CN" altLang="en-US" dirty="0">
                <a:ea typeface="黑体" pitchFamily="2" charset="-122"/>
              </a:rPr>
              <a:t>又称为 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关系。</a:t>
            </a:r>
          </a:p>
        </p:txBody>
      </p:sp>
      <p:graphicFrame>
        <p:nvGraphicFramePr>
          <p:cNvPr id="6451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72193908"/>
              </p:ext>
            </p:extLst>
          </p:nvPr>
        </p:nvGraphicFramePr>
        <p:xfrm>
          <a:off x="3864000" y="5013176"/>
          <a:ext cx="4464000" cy="919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342720" progId="Equation.DSMT4">
                  <p:embed/>
                </p:oleObj>
              </mc:Choice>
              <mc:Fallback>
                <p:oleObj name="Equation" r:id="rId2" imgW="1701720" imgH="342720" progId="Equation.DSMT4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000" y="5013176"/>
                        <a:ext cx="4464000" cy="919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B9509B83-85AF-4896-9559-5B107FA8F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375" y="2542971"/>
            <a:ext cx="3209925" cy="2333625"/>
          </a:xfrm>
          <a:prstGeom prst="rect">
            <a:avLst/>
          </a:prstGeom>
          <a:effectLst>
            <a:glow rad="127000">
              <a:srgbClr val="00B0F0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2EDBB7-12C8-9E97-0722-42FD23CDE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2656"/>
            <a:ext cx="109728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9900"/>
                </a:solidFill>
                <a:ea typeface="黑体" pitchFamily="2" charset="-122"/>
              </a:rPr>
              <a:t>按复合条件语句形成控制规则</a:t>
            </a:r>
          </a:p>
        </p:txBody>
      </p:sp>
      <p:graphicFrame>
        <p:nvGraphicFramePr>
          <p:cNvPr id="65539" name="Group 3"/>
          <p:cNvGraphicFramePr>
            <a:graphicFrameLocks noGrp="1"/>
          </p:cNvGraphicFramePr>
          <p:nvPr>
            <p:ph idx="1"/>
          </p:nvPr>
        </p:nvGraphicFramePr>
        <p:xfrm>
          <a:off x="2351088" y="2200276"/>
          <a:ext cx="7993062" cy="4664079"/>
        </p:xfrm>
        <a:graphic>
          <a:graphicData uri="http://schemas.openxmlformats.org/drawingml/2006/table">
            <a:tbl>
              <a:tblPr/>
              <a:tblGrid>
                <a:gridCol w="99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NZ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PZ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PM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115" name="Text Box 59"/>
          <p:cNvSpPr txBox="1">
            <a:spLocks noChangeArrowheads="1"/>
          </p:cNvSpPr>
          <p:nvPr/>
        </p:nvSpPr>
        <p:spPr bwMode="auto">
          <a:xfrm>
            <a:off x="4800600" y="2924176"/>
            <a:ext cx="1079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PB</a:t>
            </a:r>
          </a:p>
        </p:txBody>
      </p:sp>
      <p:sp>
        <p:nvSpPr>
          <p:cNvPr id="45116" name="Text Box 60"/>
          <p:cNvSpPr txBox="1">
            <a:spLocks noChangeArrowheads="1"/>
          </p:cNvSpPr>
          <p:nvPr/>
        </p:nvSpPr>
        <p:spPr bwMode="auto">
          <a:xfrm>
            <a:off x="7464426" y="2924176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PM</a:t>
            </a:r>
          </a:p>
        </p:txBody>
      </p:sp>
      <p:sp>
        <p:nvSpPr>
          <p:cNvPr id="45117" name="Text Box 61"/>
          <p:cNvSpPr txBox="1">
            <a:spLocks noChangeArrowheads="1"/>
          </p:cNvSpPr>
          <p:nvPr/>
        </p:nvSpPr>
        <p:spPr bwMode="auto">
          <a:xfrm>
            <a:off x="9120189" y="2997201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Z</a:t>
            </a:r>
          </a:p>
        </p:txBody>
      </p:sp>
      <p:sp>
        <p:nvSpPr>
          <p:cNvPr id="45118" name="Text Box 62"/>
          <p:cNvSpPr txBox="1">
            <a:spLocks noChangeArrowheads="1"/>
          </p:cNvSpPr>
          <p:nvPr/>
        </p:nvSpPr>
        <p:spPr bwMode="auto">
          <a:xfrm>
            <a:off x="4008439" y="4221163"/>
            <a:ext cx="72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PM</a:t>
            </a:r>
          </a:p>
        </p:txBody>
      </p:sp>
      <p:sp>
        <p:nvSpPr>
          <p:cNvPr id="45119" name="Text Box 63"/>
          <p:cNvSpPr txBox="1">
            <a:spLocks noChangeArrowheads="1"/>
          </p:cNvSpPr>
          <p:nvPr/>
        </p:nvSpPr>
        <p:spPr bwMode="auto">
          <a:xfrm>
            <a:off x="5951539" y="3933826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PM</a:t>
            </a:r>
          </a:p>
        </p:txBody>
      </p:sp>
      <p:sp>
        <p:nvSpPr>
          <p:cNvPr id="45120" name="Text Box 64"/>
          <p:cNvSpPr txBox="1">
            <a:spLocks noChangeArrowheads="1"/>
          </p:cNvSpPr>
          <p:nvPr/>
        </p:nvSpPr>
        <p:spPr bwMode="auto">
          <a:xfrm>
            <a:off x="7535864" y="4005263"/>
            <a:ext cx="72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Z</a:t>
            </a:r>
          </a:p>
        </p:txBody>
      </p:sp>
      <p:sp>
        <p:nvSpPr>
          <p:cNvPr id="45121" name="Text Box 65"/>
          <p:cNvSpPr txBox="1">
            <a:spLocks noChangeArrowheads="1"/>
          </p:cNvSpPr>
          <p:nvPr/>
        </p:nvSpPr>
        <p:spPr bwMode="auto">
          <a:xfrm>
            <a:off x="8975726" y="3933826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NB</a:t>
            </a:r>
          </a:p>
        </p:txBody>
      </p:sp>
      <p:sp>
        <p:nvSpPr>
          <p:cNvPr id="45122" name="Text Box 66"/>
          <p:cNvSpPr txBox="1">
            <a:spLocks noChangeArrowheads="1"/>
          </p:cNvSpPr>
          <p:nvPr/>
        </p:nvSpPr>
        <p:spPr bwMode="auto">
          <a:xfrm>
            <a:off x="4008439" y="6092826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Z</a:t>
            </a:r>
          </a:p>
        </p:txBody>
      </p:sp>
      <p:sp>
        <p:nvSpPr>
          <p:cNvPr id="45123" name="Text Box 67"/>
          <p:cNvSpPr txBox="1">
            <a:spLocks noChangeArrowheads="1"/>
          </p:cNvSpPr>
          <p:nvPr/>
        </p:nvSpPr>
        <p:spPr bwMode="auto">
          <a:xfrm>
            <a:off x="5448300" y="6092826"/>
            <a:ext cx="935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NM</a:t>
            </a:r>
          </a:p>
        </p:txBody>
      </p:sp>
      <p:sp>
        <p:nvSpPr>
          <p:cNvPr id="45124" name="Text Box 68"/>
          <p:cNvSpPr txBox="1">
            <a:spLocks noChangeArrowheads="1"/>
          </p:cNvSpPr>
          <p:nvPr/>
        </p:nvSpPr>
        <p:spPr bwMode="auto">
          <a:xfrm>
            <a:off x="7896226" y="6021388"/>
            <a:ext cx="72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NB</a:t>
            </a:r>
          </a:p>
        </p:txBody>
      </p:sp>
      <p:sp>
        <p:nvSpPr>
          <p:cNvPr id="45125" name="Text Box 69"/>
          <p:cNvSpPr txBox="1">
            <a:spLocks noChangeArrowheads="1"/>
          </p:cNvSpPr>
          <p:nvPr/>
        </p:nvSpPr>
        <p:spPr bwMode="auto">
          <a:xfrm>
            <a:off x="6576866" y="1556543"/>
            <a:ext cx="684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5126" name="Text Box 70"/>
          <p:cNvSpPr txBox="1">
            <a:spLocks noChangeArrowheads="1"/>
          </p:cNvSpPr>
          <p:nvPr/>
        </p:nvSpPr>
        <p:spPr bwMode="auto">
          <a:xfrm>
            <a:off x="1740695" y="4273746"/>
            <a:ext cx="576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5127" name="矩形 1"/>
          <p:cNvSpPr>
            <a:spLocks noChangeArrowheads="1"/>
          </p:cNvSpPr>
          <p:nvPr/>
        </p:nvSpPr>
        <p:spPr bwMode="auto">
          <a:xfrm>
            <a:off x="1435894" y="1585119"/>
            <a:ext cx="27024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若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i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且 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2" charset="-122"/>
              </a:rPr>
              <a:t>B</a:t>
            </a:r>
            <a:r>
              <a:rPr lang="en-US" altLang="zh-CN" sz="2800" baseline="-25000" dirty="0" err="1">
                <a:solidFill>
                  <a:srgbClr val="CC00CC"/>
                </a:solidFill>
                <a:ea typeface="黑体" pitchFamily="2" charset="-122"/>
              </a:rPr>
              <a:t>j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则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C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k</a:t>
            </a:r>
            <a:endParaRPr lang="en-US" altLang="zh-CN" sz="2800" dirty="0">
              <a:solidFill>
                <a:srgbClr val="CC00CC"/>
              </a:solidFill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6EF37C-6BCE-BB47-6516-1A0FF0942E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933C39-8941-4754-97F1-DAC9E9289B4E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按复合条件语句形成控制规则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18307"/>
            <a:ext cx="10598968" cy="48768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由上表可写出许多条规则</a:t>
            </a:r>
            <a:r>
              <a:rPr lang="en-US" altLang="zh-CN" dirty="0">
                <a:ea typeface="黑体" pitchFamily="2" charset="-122"/>
              </a:rPr>
              <a:t>, </a:t>
            </a:r>
            <a:r>
              <a:rPr lang="zh-CN" altLang="en-US" dirty="0">
                <a:ea typeface="黑体" pitchFamily="2" charset="-122"/>
              </a:rPr>
              <a:t>如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若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A =NB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且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B= NB,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则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C=PB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若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A =NB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且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B= NM,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则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C=PB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若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A =NS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且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B= NB,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则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C=PM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对于某一误差测量值</a:t>
            </a:r>
            <a:r>
              <a:rPr lang="en-US" altLang="zh-CN" dirty="0">
                <a:ea typeface="黑体" pitchFamily="2" charset="-122"/>
              </a:rPr>
              <a:t>A'</a:t>
            </a:r>
            <a:r>
              <a:rPr lang="zh-CN" altLang="en-US" dirty="0">
                <a:ea typeface="黑体" pitchFamily="2" charset="-122"/>
              </a:rPr>
              <a:t>和误差变化率 </a:t>
            </a:r>
            <a:r>
              <a:rPr lang="en-US" altLang="zh-CN" dirty="0">
                <a:ea typeface="黑体" pitchFamily="2" charset="-122"/>
              </a:rPr>
              <a:t>B' </a:t>
            </a:r>
            <a:r>
              <a:rPr lang="zh-CN" altLang="en-US" dirty="0">
                <a:ea typeface="黑体" pitchFamily="2" charset="-122"/>
              </a:rPr>
              <a:t>，与 </a:t>
            </a:r>
            <a:r>
              <a:rPr lang="en-US" altLang="zh-CN" dirty="0">
                <a:ea typeface="黑体" pitchFamily="2" charset="-122"/>
              </a:rPr>
              <a:t>R </a:t>
            </a:r>
            <a:r>
              <a:rPr lang="zh-CN" altLang="en-US" dirty="0">
                <a:ea typeface="黑体" pitchFamily="2" charset="-122"/>
              </a:rPr>
              <a:t>合成运算</a:t>
            </a:r>
            <a:r>
              <a:rPr lang="en-US" altLang="zh-CN" dirty="0">
                <a:ea typeface="黑体" pitchFamily="2" charset="-122"/>
              </a:rPr>
              <a:t>,</a:t>
            </a:r>
            <a:r>
              <a:rPr lang="zh-CN" altLang="en-US" dirty="0">
                <a:ea typeface="黑体" pitchFamily="2" charset="-122"/>
              </a:rPr>
              <a:t>便得相应的控制量</a:t>
            </a:r>
            <a:r>
              <a:rPr lang="en-US" altLang="zh-CN" dirty="0">
                <a:ea typeface="黑体" pitchFamily="2" charset="-122"/>
              </a:rPr>
              <a:t>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C=(A' 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  <a:sym typeface="Symbol"/>
              </a:rPr>
              <a:t> 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B')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◦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R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这里，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C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是一个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集，还需要把它转化为确切值，方能加到控制对象上去。</a:t>
            </a:r>
          </a:p>
        </p:txBody>
      </p:sp>
      <p:grpSp>
        <p:nvGrpSpPr>
          <p:cNvPr id="46084" name="组合 1"/>
          <p:cNvGrpSpPr>
            <a:grpSpLocks/>
          </p:cNvGrpSpPr>
          <p:nvPr/>
        </p:nvGrpSpPr>
        <p:grpSpPr bwMode="auto">
          <a:xfrm>
            <a:off x="8328248" y="1988840"/>
            <a:ext cx="2305050" cy="1158875"/>
            <a:chOff x="3995738" y="3141663"/>
            <a:chExt cx="2305050" cy="1158875"/>
          </a:xfrm>
        </p:grpSpPr>
        <p:sp>
          <p:nvSpPr>
            <p:cNvPr id="46085" name="Rectangle 5"/>
            <p:cNvSpPr>
              <a:spLocks noChangeArrowheads="1"/>
            </p:cNvSpPr>
            <p:nvPr/>
          </p:nvSpPr>
          <p:spPr bwMode="auto">
            <a:xfrm>
              <a:off x="4500563" y="3213100"/>
              <a:ext cx="1223962" cy="8636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rgbClr val="99FF99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模糊</a:t>
              </a:r>
            </a:p>
            <a:p>
              <a:pPr algn="ctr"/>
              <a:r>
                <a:rPr lang="zh-CN" altLang="en-US" sz="2000" b="1">
                  <a:ea typeface="楷体_GB2312" pitchFamily="49" charset="-122"/>
                </a:rPr>
                <a:t>控制规则</a:t>
              </a:r>
            </a:p>
          </p:txBody>
        </p:sp>
        <p:sp>
          <p:nvSpPr>
            <p:cNvPr id="46086" name="Line 8"/>
            <p:cNvSpPr>
              <a:spLocks noChangeShapeType="1"/>
            </p:cNvSpPr>
            <p:nvPr/>
          </p:nvSpPr>
          <p:spPr bwMode="auto">
            <a:xfrm>
              <a:off x="3995738" y="3500438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7" name="Line 9"/>
            <p:cNvSpPr>
              <a:spLocks noChangeShapeType="1"/>
            </p:cNvSpPr>
            <p:nvPr/>
          </p:nvSpPr>
          <p:spPr bwMode="auto">
            <a:xfrm>
              <a:off x="5724525" y="3644900"/>
              <a:ext cx="576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8" name="Line 14"/>
            <p:cNvSpPr>
              <a:spLocks noChangeShapeType="1"/>
            </p:cNvSpPr>
            <p:nvPr/>
          </p:nvSpPr>
          <p:spPr bwMode="auto">
            <a:xfrm>
              <a:off x="3995738" y="3860800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9" name="Text Box 24"/>
            <p:cNvSpPr txBox="1">
              <a:spLocks noChangeArrowheads="1"/>
            </p:cNvSpPr>
            <p:nvPr/>
          </p:nvSpPr>
          <p:spPr bwMode="auto">
            <a:xfrm>
              <a:off x="3995738" y="3141663"/>
              <a:ext cx="360362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46090" name="Text Box 25"/>
            <p:cNvSpPr txBox="1">
              <a:spLocks noChangeArrowheads="1"/>
            </p:cNvSpPr>
            <p:nvPr/>
          </p:nvSpPr>
          <p:spPr bwMode="auto">
            <a:xfrm>
              <a:off x="3995738" y="3933825"/>
              <a:ext cx="4333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46091" name="Text Box 26"/>
            <p:cNvSpPr txBox="1">
              <a:spLocks noChangeArrowheads="1"/>
            </p:cNvSpPr>
            <p:nvPr/>
          </p:nvSpPr>
          <p:spPr bwMode="auto">
            <a:xfrm>
              <a:off x="5724525" y="3284538"/>
              <a:ext cx="504825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834D0C-3F61-06AB-FB55-A0F682D94E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333375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9900"/>
                </a:solidFill>
                <a:ea typeface="黑体" pitchFamily="2" charset="-122"/>
              </a:rPr>
              <a:t>按控制规则形成的控制曲面</a:t>
            </a:r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731964"/>
            <a:ext cx="7561262" cy="512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4583113" y="2205038"/>
            <a:ext cx="1079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</a:rPr>
              <a:t>PB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3863975" y="36449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</a:rPr>
              <a:t>PM</a:t>
            </a: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6167438" y="270827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</a:rPr>
              <a:t>PM</a:t>
            </a:r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8401050" y="42926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Z</a:t>
            </a: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3719514" y="47244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Z</a:t>
            </a:r>
          </a:p>
        </p:txBody>
      </p:sp>
      <p:sp>
        <p:nvSpPr>
          <p:cNvPr id="47113" name="Rectangle 9"/>
          <p:cNvSpPr>
            <a:spLocks noChangeArrowheads="1"/>
          </p:cNvSpPr>
          <p:nvPr/>
        </p:nvSpPr>
        <p:spPr bwMode="auto">
          <a:xfrm>
            <a:off x="4872039" y="4797425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Z</a:t>
            </a:r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6311900" y="45815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Z</a:t>
            </a:r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7319964" y="47244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Z</a:t>
            </a:r>
          </a:p>
        </p:txBody>
      </p:sp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6743700" y="4003675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</a:rPr>
              <a:t>PS</a:t>
            </a:r>
          </a:p>
        </p:txBody>
      </p:sp>
      <p:sp>
        <p:nvSpPr>
          <p:cNvPr id="47117" name="Rectangle 14"/>
          <p:cNvSpPr>
            <a:spLocks noChangeArrowheads="1"/>
          </p:cNvSpPr>
          <p:nvPr/>
        </p:nvSpPr>
        <p:spPr bwMode="auto">
          <a:xfrm>
            <a:off x="7680325" y="3933825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</a:rPr>
              <a:t>PS</a:t>
            </a:r>
          </a:p>
        </p:txBody>
      </p:sp>
      <p:sp>
        <p:nvSpPr>
          <p:cNvPr id="47118" name="Rectangle 15"/>
          <p:cNvSpPr>
            <a:spLocks noChangeArrowheads="1"/>
          </p:cNvSpPr>
          <p:nvPr/>
        </p:nvSpPr>
        <p:spPr bwMode="auto">
          <a:xfrm>
            <a:off x="5880100" y="5157788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NS</a:t>
            </a:r>
          </a:p>
        </p:txBody>
      </p:sp>
      <p:sp>
        <p:nvSpPr>
          <p:cNvPr id="47119" name="Rectangle 16"/>
          <p:cNvSpPr>
            <a:spLocks noChangeArrowheads="1"/>
          </p:cNvSpPr>
          <p:nvPr/>
        </p:nvSpPr>
        <p:spPr bwMode="auto">
          <a:xfrm>
            <a:off x="7896225" y="5300663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chemeClr val="bg1"/>
                </a:solidFill>
              </a:rPr>
              <a:t>NM</a:t>
            </a:r>
          </a:p>
        </p:txBody>
      </p:sp>
      <p:sp>
        <p:nvSpPr>
          <p:cNvPr id="47120" name="Rectangle 17"/>
          <p:cNvSpPr>
            <a:spLocks noChangeArrowheads="1"/>
          </p:cNvSpPr>
          <p:nvPr/>
        </p:nvSpPr>
        <p:spPr bwMode="auto">
          <a:xfrm>
            <a:off x="6527800" y="5589588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chemeClr val="bg1"/>
                </a:solidFill>
              </a:rPr>
              <a:t>NM</a:t>
            </a:r>
          </a:p>
        </p:txBody>
      </p:sp>
      <p:sp>
        <p:nvSpPr>
          <p:cNvPr id="47121" name="Rectangle 18"/>
          <p:cNvSpPr>
            <a:spLocks noChangeArrowheads="1"/>
          </p:cNvSpPr>
          <p:nvPr/>
        </p:nvSpPr>
        <p:spPr bwMode="auto">
          <a:xfrm>
            <a:off x="4367213" y="5734051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NB</a:t>
            </a:r>
          </a:p>
        </p:txBody>
      </p:sp>
      <p:sp>
        <p:nvSpPr>
          <p:cNvPr id="47122" name="Rectangle 19"/>
          <p:cNvSpPr>
            <a:spLocks noChangeArrowheads="1"/>
          </p:cNvSpPr>
          <p:nvPr/>
        </p:nvSpPr>
        <p:spPr bwMode="auto">
          <a:xfrm>
            <a:off x="7104063" y="5949951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NB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275D02-41B6-8BBB-DE7C-A9D691BEFA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sz="4000">
                <a:solidFill>
                  <a:srgbClr val="1F8806"/>
                </a:solidFill>
              </a:rPr>
              <a:t>Step4: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决定 </a:t>
            </a:r>
            <a:r>
              <a:rPr lang="en-US" altLang="zh-CN" sz="4000">
                <a:solidFill>
                  <a:srgbClr val="1F8806"/>
                </a:solidFill>
                <a:ea typeface="黑体" pitchFamily="2" charset="-122"/>
              </a:rPr>
              <a:t>F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控制量 </a:t>
            </a:r>
            <a:r>
              <a:rPr lang="en-US" altLang="zh-CN" sz="4000">
                <a:solidFill>
                  <a:srgbClr val="1F8806"/>
                </a:solidFill>
                <a:ea typeface="黑体" pitchFamily="2" charset="-122"/>
              </a:rPr>
              <a:t>C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的确切值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628776"/>
            <a:ext cx="10526959" cy="238442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F </a:t>
            </a:r>
            <a:r>
              <a:rPr lang="zh-CN" altLang="en-US" dirty="0">
                <a:ea typeface="黑体" pitchFamily="2" charset="-122"/>
              </a:rPr>
              <a:t>控制量 </a:t>
            </a:r>
            <a:r>
              <a:rPr lang="en-US" altLang="zh-CN" dirty="0">
                <a:ea typeface="黑体" pitchFamily="2" charset="-122"/>
              </a:rPr>
              <a:t>C </a:t>
            </a:r>
            <a:r>
              <a:rPr lang="zh-CN" altLang="en-US" dirty="0">
                <a:ea typeface="黑体" pitchFamily="2" charset="-122"/>
              </a:rPr>
              <a:t>包含各种信息</a:t>
            </a:r>
            <a:r>
              <a:rPr lang="en-US" altLang="zh-CN" dirty="0">
                <a:ea typeface="黑体" pitchFamily="2" charset="-122"/>
              </a:rPr>
              <a:t>,</a:t>
            </a:r>
            <a:r>
              <a:rPr lang="zh-CN" altLang="en-US" dirty="0">
                <a:ea typeface="黑体" pitchFamily="2" charset="-122"/>
              </a:rPr>
              <a:t>应选哪一个加到控制对象上去呢</a:t>
            </a:r>
            <a:r>
              <a:rPr lang="en-US" altLang="zh-CN" dirty="0">
                <a:ea typeface="黑体" pitchFamily="2" charset="-122"/>
              </a:rPr>
              <a:t>?—— F</a:t>
            </a:r>
            <a:r>
              <a:rPr lang="zh-CN" altLang="en-US" dirty="0">
                <a:ea typeface="黑体" pitchFamily="2" charset="-122"/>
              </a:rPr>
              <a:t>判决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最大隶属度法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——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选取隶属度最大的论域元素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z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0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为判决结果，即选取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z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0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使</a:t>
            </a:r>
          </a:p>
        </p:txBody>
      </p:sp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4322018"/>
            <a:ext cx="535305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7644035" y="4695527"/>
            <a:ext cx="2628429" cy="46166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ea typeface="黑体" pitchFamily="2" charset="-122"/>
              </a:rPr>
              <a:t>则</a:t>
            </a:r>
            <a:r>
              <a:rPr lang="zh-CN" altLang="en-US" sz="2400" dirty="0"/>
              <a:t>    </a:t>
            </a:r>
            <a:r>
              <a:rPr lang="en-US" altLang="zh-CN" sz="2400" dirty="0"/>
              <a:t>z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=4               </a:t>
            </a: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7608888" y="5589588"/>
            <a:ext cx="2951162" cy="830262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华文楷体" pitchFamily="2" charset="-122"/>
                <a:ea typeface="华文楷体" pitchFamily="2" charset="-122"/>
              </a:rPr>
              <a:t>特点：只突出主要信息，缺乏全面考虑</a:t>
            </a:r>
            <a:r>
              <a:rPr lang="zh-CN" altLang="en-US" sz="2000" b="1">
                <a:ea typeface="楷体_GB2312" pitchFamily="49" charset="-122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3552" y="6228020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0       2          4               6               8             10     </a:t>
            </a:r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68368"/>
              </p:ext>
            </p:extLst>
          </p:nvPr>
        </p:nvGraphicFramePr>
        <p:xfrm>
          <a:off x="7676107" y="3902745"/>
          <a:ext cx="25955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393480" progId="Equation.DSMT4">
                  <p:embed/>
                </p:oleObj>
              </mc:Choice>
              <mc:Fallback>
                <p:oleObj name="Equation" r:id="rId3" imgW="1244520" imgH="39348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6107" y="3902745"/>
                        <a:ext cx="2595562" cy="8223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7EBF0FF-D991-C9FA-65D8-2EA42155A7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graphicFrame>
        <p:nvGraphicFramePr>
          <p:cNvPr id="4813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8325416"/>
              </p:ext>
            </p:extLst>
          </p:nvPr>
        </p:nvGraphicFramePr>
        <p:xfrm>
          <a:off x="3359696" y="3789412"/>
          <a:ext cx="2463506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15559" imgH="266584" progId="Equation.3">
                  <p:embed/>
                </p:oleObj>
              </mc:Choice>
              <mc:Fallback>
                <p:oleObj name="公式" r:id="rId5" imgW="1015559" imgH="266584" progId="Equation.3">
                  <p:embed/>
                  <p:pic>
                    <p:nvPicPr>
                      <p:cNvPr id="4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3789412"/>
                        <a:ext cx="2463506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nimBg="1"/>
      <p:bldP spid="68615" grpId="0" animBg="1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eaLnBrk="1" hangingPunct="1"/>
            <a:r>
              <a:rPr lang="en-US" altLang="zh-CN" sz="4000">
                <a:solidFill>
                  <a:srgbClr val="1F8806"/>
                </a:solidFill>
              </a:rPr>
              <a:t>Step4: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决定 </a:t>
            </a:r>
            <a:r>
              <a:rPr lang="en-US" altLang="zh-CN" sz="4000">
                <a:solidFill>
                  <a:srgbClr val="1F8806"/>
                </a:solidFill>
                <a:ea typeface="黑体" pitchFamily="2" charset="-122"/>
              </a:rPr>
              <a:t>F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控制量 </a:t>
            </a:r>
            <a:r>
              <a:rPr lang="en-US" altLang="zh-CN" sz="4000">
                <a:solidFill>
                  <a:srgbClr val="1F8806"/>
                </a:solidFill>
                <a:ea typeface="黑体" pitchFamily="2" charset="-122"/>
              </a:rPr>
              <a:t>C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的确切值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557338"/>
            <a:ext cx="9721079" cy="43100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中位数法</a:t>
            </a:r>
            <a:r>
              <a:rPr lang="en-US" altLang="zh-CN" dirty="0">
                <a:ea typeface="黑体" pitchFamily="2" charset="-122"/>
              </a:rPr>
              <a:t>——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将隶属函数曲线与横坐标所围成的面积平均分为两部分，将所对应论域元素</a:t>
            </a:r>
            <a:r>
              <a:rPr lang="en-US" altLang="zh-CN" dirty="0">
                <a:ea typeface="黑体" pitchFamily="2" charset="-122"/>
              </a:rPr>
              <a:t>z</a:t>
            </a:r>
            <a:r>
              <a:rPr lang="en-US" altLang="zh-CN" baseline="-25000" dirty="0"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作为输出判决，选取的</a:t>
            </a:r>
            <a:r>
              <a:rPr lang="en-US" altLang="zh-CN" dirty="0">
                <a:ea typeface="黑体" pitchFamily="2" charset="-122"/>
              </a:rPr>
              <a:t>z</a:t>
            </a:r>
            <a:r>
              <a:rPr lang="en-US" altLang="zh-CN" baseline="-25000" dirty="0"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使</a:t>
            </a:r>
          </a:p>
        </p:txBody>
      </p:sp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4437064"/>
            <a:ext cx="45339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9157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41110160"/>
              </p:ext>
            </p:extLst>
          </p:nvPr>
        </p:nvGraphicFramePr>
        <p:xfrm>
          <a:off x="2745780" y="3253522"/>
          <a:ext cx="2880916" cy="1183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43000" imgH="469900" progId="Equation.3">
                  <p:embed/>
                </p:oleObj>
              </mc:Choice>
              <mc:Fallback>
                <p:oleObj name="公式" r:id="rId3" imgW="1143000" imgH="469900" progId="Equation.3">
                  <p:embed/>
                  <p:pic>
                    <p:nvPicPr>
                      <p:cNvPr id="491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780" y="3253522"/>
                        <a:ext cx="2880916" cy="1183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7032748" y="4296038"/>
            <a:ext cx="3887788" cy="1323439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ea typeface="黑体" pitchFamily="2" charset="-122"/>
              </a:rPr>
              <a:t>S=0.8</a:t>
            </a:r>
            <a:r>
              <a:rPr lang="en-US" altLang="zh-CN" sz="2000" dirty="0">
                <a:ea typeface="黑体" pitchFamily="2" charset="-122"/>
                <a:sym typeface="Symbol" panose="05050102010706020507" pitchFamily="18" charset="2"/>
              </a:rPr>
              <a:t>4</a:t>
            </a:r>
            <a:r>
              <a:rPr lang="en-US" altLang="zh-CN" sz="2000" dirty="0">
                <a:ea typeface="黑体" pitchFamily="2" charset="-122"/>
              </a:rPr>
              <a:t>+0.3</a:t>
            </a:r>
            <a:r>
              <a:rPr lang="en-US" altLang="zh-CN" sz="2000" dirty="0">
                <a:ea typeface="黑体" pitchFamily="2" charset="-122"/>
                <a:sym typeface="Symbol" panose="05050102010706020507" pitchFamily="18" charset="2"/>
              </a:rPr>
              <a:t>6</a:t>
            </a:r>
            <a:r>
              <a:rPr lang="en-US" altLang="zh-CN" sz="2000" dirty="0">
                <a:ea typeface="黑体" pitchFamily="2" charset="-122"/>
              </a:rPr>
              <a:t>+0.6</a:t>
            </a:r>
            <a:r>
              <a:rPr lang="en-US" altLang="zh-CN" sz="2000" dirty="0">
                <a:ea typeface="黑体" pitchFamily="2" charset="-122"/>
                <a:sym typeface="Symbol" panose="05050102010706020507" pitchFamily="18" charset="2"/>
              </a:rPr>
              <a:t>8</a:t>
            </a:r>
            <a:r>
              <a:rPr lang="en-US" altLang="zh-CN" sz="2000" dirty="0">
                <a:ea typeface="黑体" pitchFamily="2" charset="-122"/>
              </a:rPr>
              <a:t>=9.8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ea typeface="黑体" pitchFamily="2" charset="-122"/>
              </a:rPr>
              <a:t>则将面积平分点落在</a:t>
            </a:r>
            <a:r>
              <a:rPr lang="en-US" altLang="zh-CN" sz="2000" dirty="0">
                <a:ea typeface="黑体" pitchFamily="2" charset="-122"/>
              </a:rPr>
              <a:t>4</a:t>
            </a:r>
            <a:r>
              <a:rPr lang="zh-CN" altLang="en-US" sz="2000" dirty="0">
                <a:ea typeface="黑体" pitchFamily="2" charset="-122"/>
              </a:rPr>
              <a:t>与</a:t>
            </a:r>
            <a:r>
              <a:rPr lang="en-US" altLang="zh-CN" sz="2000" dirty="0">
                <a:ea typeface="黑体" pitchFamily="2" charset="-122"/>
              </a:rPr>
              <a:t>6</a:t>
            </a:r>
            <a:r>
              <a:rPr lang="zh-CN" altLang="en-US" sz="2000" dirty="0">
                <a:ea typeface="黑体" pitchFamily="2" charset="-122"/>
              </a:rPr>
              <a:t>之间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ea typeface="黑体" pitchFamily="2" charset="-122"/>
              </a:rPr>
              <a:t>为方便，取接近中点   </a:t>
            </a:r>
            <a:r>
              <a:rPr lang="en-US" altLang="zh-CN" sz="2000" dirty="0">
                <a:ea typeface="黑体" pitchFamily="2" charset="-122"/>
              </a:rPr>
              <a:t>z</a:t>
            </a:r>
            <a:r>
              <a:rPr lang="en-US" altLang="zh-CN" sz="2000" baseline="-25000" dirty="0">
                <a:ea typeface="黑体" pitchFamily="2" charset="-122"/>
              </a:rPr>
              <a:t>0</a:t>
            </a:r>
            <a:r>
              <a:rPr lang="en-US" altLang="zh-CN" sz="2000" dirty="0">
                <a:ea typeface="黑体" pitchFamily="2" charset="-122"/>
              </a:rPr>
              <a:t>=5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7032748" y="5682506"/>
            <a:ext cx="3887788" cy="701675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latin typeface="华文楷体" pitchFamily="2" charset="-122"/>
                <a:ea typeface="华文楷体" pitchFamily="2" charset="-122"/>
              </a:rPr>
              <a:t>特点：能全面考虑，兼顾其他信息，但没有突出主要信息。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75520" y="6228020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0       2          4            6           8          10        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908009"/>
              </p:ext>
            </p:extLst>
          </p:nvPr>
        </p:nvGraphicFramePr>
        <p:xfrm>
          <a:off x="7032748" y="3501008"/>
          <a:ext cx="25955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393480" progId="Equation.DSMT4">
                  <p:embed/>
                </p:oleObj>
              </mc:Choice>
              <mc:Fallback>
                <p:oleObj name="Equation" r:id="rId5" imgW="1244520" imgH="3934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748" y="3501008"/>
                        <a:ext cx="2595562" cy="8223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36930B-C3F5-F7D0-63B2-AC0765090A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69638" grpId="0" animBg="1"/>
      <p:bldP spid="69639" grpId="0" animBg="1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eaLnBrk="1" hangingPunct="1"/>
            <a:r>
              <a:rPr lang="en-US" altLang="zh-CN" sz="4000">
                <a:solidFill>
                  <a:srgbClr val="1F8806"/>
                </a:solidFill>
              </a:rPr>
              <a:t>Step4: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决定 </a:t>
            </a:r>
            <a:r>
              <a:rPr lang="en-US" altLang="zh-CN" sz="4000">
                <a:solidFill>
                  <a:srgbClr val="1F8806"/>
                </a:solidFill>
                <a:ea typeface="黑体" pitchFamily="2" charset="-122"/>
              </a:rPr>
              <a:t>F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控制量 </a:t>
            </a:r>
            <a:r>
              <a:rPr lang="en-US" altLang="zh-CN" sz="4000">
                <a:solidFill>
                  <a:srgbClr val="1F8806"/>
                </a:solidFill>
                <a:ea typeface="黑体" pitchFamily="2" charset="-122"/>
              </a:rPr>
              <a:t>C </a:t>
            </a:r>
            <a:r>
              <a:rPr lang="zh-CN" altLang="en-US" sz="4000">
                <a:solidFill>
                  <a:srgbClr val="1F8806"/>
                </a:solidFill>
                <a:ea typeface="黑体" pitchFamily="2" charset="-122"/>
              </a:rPr>
              <a:t>的确切值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628776"/>
            <a:ext cx="10310936" cy="42386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加权平均法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重心法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)——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取定一组合适的权系数，于是有</a:t>
            </a:r>
          </a:p>
        </p:txBody>
      </p:sp>
      <p:graphicFrame>
        <p:nvGraphicFramePr>
          <p:cNvPr id="501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855914" y="2781300"/>
          <a:ext cx="2303983" cy="1376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4900" imgH="660400" progId="Equation.3">
                  <p:embed/>
                </p:oleObj>
              </mc:Choice>
              <mc:Fallback>
                <p:oleObj name="公式" r:id="rId2" imgW="1104900" imgH="660400" progId="Equation.3">
                  <p:embed/>
                  <p:pic>
                    <p:nvPicPr>
                      <p:cNvPr id="50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781300"/>
                        <a:ext cx="2303983" cy="1376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4292600"/>
            <a:ext cx="45053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7032626" y="5589588"/>
            <a:ext cx="3311525" cy="830262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特点：注意突出主要信息，也兼顾其他信息。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9496" y="616530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0      2          4            6           8          10        </a:t>
            </a:r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198386"/>
              </p:ext>
            </p:extLst>
          </p:nvPr>
        </p:nvGraphicFramePr>
        <p:xfrm>
          <a:off x="7058372" y="3501009"/>
          <a:ext cx="25955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393480" progId="Equation.DSMT4">
                  <p:embed/>
                </p:oleObj>
              </mc:Choice>
              <mc:Fallback>
                <p:oleObj name="Equation" r:id="rId5" imgW="1244520" imgH="393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372" y="3501009"/>
                        <a:ext cx="2595562" cy="8223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813856"/>
              </p:ext>
            </p:extLst>
          </p:nvPr>
        </p:nvGraphicFramePr>
        <p:xfrm>
          <a:off x="7032104" y="4334868"/>
          <a:ext cx="46085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9680" imgH="393480" progId="Equation.DSMT4">
                  <p:embed/>
                </p:oleObj>
              </mc:Choice>
              <mc:Fallback>
                <p:oleObj name="Equation" r:id="rId7" imgW="2209680" imgH="3934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4334868"/>
                        <a:ext cx="4608512" cy="8223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AF0250-B36A-6DF5-2983-E79ADE24A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70663" grpId="0" animBg="1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sz="4100">
                <a:solidFill>
                  <a:srgbClr val="008000"/>
                </a:solidFill>
                <a:ea typeface="黑体" pitchFamily="2" charset="-122"/>
              </a:rPr>
              <a:t>8.3 </a:t>
            </a:r>
            <a:r>
              <a:rPr lang="zh-CN" altLang="en-US" sz="4100">
                <a:solidFill>
                  <a:srgbClr val="008000"/>
                </a:solidFill>
                <a:ea typeface="黑体" pitchFamily="2" charset="-122"/>
              </a:rPr>
              <a:t>自组织 </a:t>
            </a:r>
            <a:r>
              <a:rPr lang="en-US" altLang="zh-CN" sz="410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en-US" altLang="zh-CN" sz="4100">
                <a:solidFill>
                  <a:srgbClr val="008000"/>
                </a:solidFill>
                <a:latin typeface="Comic Sans MS" pitchFamily="66" charset="0"/>
                <a:ea typeface="黑体" pitchFamily="2" charset="-122"/>
              </a:rPr>
              <a:t> </a:t>
            </a:r>
            <a:r>
              <a:rPr lang="zh-CN" altLang="en-US" sz="4100">
                <a:solidFill>
                  <a:srgbClr val="008000"/>
                </a:solidFill>
                <a:latin typeface="Comic Sans MS" pitchFamily="66" charset="0"/>
                <a:ea typeface="黑体" pitchFamily="2" charset="-122"/>
              </a:rPr>
              <a:t>控制器简介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28776"/>
            <a:ext cx="10153128" cy="52292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ea typeface="黑体" pitchFamily="2" charset="-122"/>
              </a:rPr>
              <a:t>当初设计的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控制器，由于人们认识过程的不足，或总结经验不完善</a:t>
            </a:r>
            <a:r>
              <a:rPr lang="en-US" altLang="zh-CN" sz="2800" dirty="0">
                <a:ea typeface="黑体" pitchFamily="2" charset="-122"/>
              </a:rPr>
              <a:t>——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b="1" dirty="0">
                <a:solidFill>
                  <a:schemeClr val="bg2"/>
                </a:solidFill>
                <a:ea typeface="楷体_GB2312" pitchFamily="49" charset="-122"/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控制器较粗糙、不完善</a:t>
            </a:r>
            <a:r>
              <a:rPr lang="zh-CN" altLang="en-US" sz="24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影响控制效果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ea typeface="黑体" pitchFamily="2" charset="-122"/>
              </a:rPr>
              <a:t>前面介绍的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查询表式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控制器</a:t>
            </a:r>
            <a:r>
              <a:rPr lang="zh-CN" altLang="en-US" sz="2800" dirty="0">
                <a:ea typeface="黑体" pitchFamily="2" charset="-122"/>
              </a:rPr>
              <a:t>的特点</a:t>
            </a:r>
            <a:endParaRPr lang="en-US" altLang="zh-CN" sz="2800" dirty="0">
              <a:ea typeface="黑体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最基本、最简单，实时性好、控制性能强；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但</a:t>
            </a:r>
            <a:r>
              <a:rPr lang="en-US" altLang="zh-CN" sz="2400" b="1" dirty="0">
                <a:solidFill>
                  <a:schemeClr val="bg2"/>
                </a:solidFill>
                <a:ea typeface="楷体_GB2312" pitchFamily="49" charset="-122"/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规则不易调整，稳态有待提高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ea typeface="黑体" pitchFamily="2" charset="-122"/>
              </a:rPr>
              <a:t>自组织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控制器，能在运行中</a:t>
            </a:r>
            <a:endParaRPr lang="en-US" altLang="zh-CN" sz="2800" dirty="0">
              <a:ea typeface="黑体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自动修改、调整参数；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chemeClr val="bg2"/>
                </a:solidFill>
                <a:ea typeface="楷体_GB2312" pitchFamily="49" charset="-122"/>
              </a:rPr>
              <a:t>使系统性能不断改善，直到达到预定的效果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1F3C636-FFAA-4366-9200-96BE8C77D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926" y="2204865"/>
            <a:ext cx="3887705" cy="261114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D1EB23-83B0-BF1B-C00E-7AC831D60F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sz="4100" dirty="0">
                <a:solidFill>
                  <a:srgbClr val="008000"/>
                </a:solidFill>
                <a:ea typeface="黑体" pitchFamily="2" charset="-122"/>
              </a:rPr>
              <a:t>自组织 </a:t>
            </a:r>
            <a:r>
              <a:rPr lang="en-US" altLang="zh-CN" sz="41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en-US" altLang="zh-CN" sz="4100" dirty="0">
                <a:solidFill>
                  <a:srgbClr val="008000"/>
                </a:solidFill>
                <a:latin typeface="Comic Sans MS" pitchFamily="66" charset="0"/>
                <a:ea typeface="黑体" pitchFamily="2" charset="-122"/>
              </a:rPr>
              <a:t> </a:t>
            </a:r>
            <a:r>
              <a:rPr lang="zh-CN" altLang="en-US" sz="4100" dirty="0">
                <a:solidFill>
                  <a:srgbClr val="008000"/>
                </a:solidFill>
                <a:latin typeface="Comic Sans MS" pitchFamily="66" charset="0"/>
                <a:ea typeface="黑体" pitchFamily="2" charset="-122"/>
              </a:rPr>
              <a:t>控制器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28776"/>
            <a:ext cx="9865096" cy="52292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改变控制规则的三条途径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增加语言变量；</a:t>
            </a:r>
            <a:endParaRPr lang="en-US" altLang="zh-CN" b="1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相当于重新设计一个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控制器，所以一般不采用。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改变</a:t>
            </a:r>
            <a:r>
              <a:rPr lang="en-US" altLang="zh-CN" b="1" dirty="0">
                <a:solidFill>
                  <a:schemeClr val="bg2"/>
                </a:solidFill>
                <a:ea typeface="MS Gothic" panose="020B0609070205080204" pitchFamily="49" charset="-128"/>
              </a:rPr>
              <a:t>F</a:t>
            </a:r>
            <a:r>
              <a:rPr lang="zh-CN" altLang="en-US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集的隶属度；</a:t>
            </a:r>
            <a:endParaRPr lang="en-US" altLang="zh-CN" b="1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可以改变隶属函数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分布的参数。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CC00CC"/>
                </a:solidFill>
                <a:latin typeface="楷体_GB2312" pitchFamily="49" charset="-122"/>
                <a:ea typeface="楷体_GB2312" pitchFamily="49" charset="-122"/>
              </a:rPr>
              <a:t>修改</a:t>
            </a: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F</a:t>
            </a:r>
            <a:r>
              <a:rPr lang="zh-CN" altLang="en-US" b="1" dirty="0">
                <a:solidFill>
                  <a:srgbClr val="CC00CC"/>
                </a:solidFill>
                <a:latin typeface="楷体_GB2312" pitchFamily="49" charset="-122"/>
                <a:ea typeface="楷体_GB2312" pitchFamily="49" charset="-122"/>
              </a:rPr>
              <a:t>控制状态表</a:t>
            </a:r>
            <a:endParaRPr lang="en-US" altLang="zh-CN" b="1" dirty="0">
              <a:solidFill>
                <a:srgbClr val="CC00CC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首选的方法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仅当此方法不能使性能继续改善时才采用其他方法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45F588-38ED-2BC3-4815-378A3DC8DA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00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修改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控制状态表的方法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464" y="1700808"/>
            <a:ext cx="9577064" cy="3886200"/>
          </a:xfrm>
        </p:spPr>
        <p:txBody>
          <a:bodyPr/>
          <a:lstStyle/>
          <a:p>
            <a:r>
              <a:rPr lang="zh-CN" altLang="en-US" b="1" dirty="0"/>
              <a:t>设</a:t>
            </a:r>
            <a:r>
              <a:rPr lang="zh-CN" altLang="en-US" b="1" dirty="0">
                <a:solidFill>
                  <a:srgbClr val="3333FF"/>
                </a:solidFill>
              </a:rPr>
              <a:t>误差</a:t>
            </a:r>
            <a:r>
              <a:rPr lang="en-US" altLang="zh-CN" b="1" i="1" dirty="0">
                <a:solidFill>
                  <a:srgbClr val="3333FF"/>
                </a:solidFill>
              </a:rPr>
              <a:t>E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3333FF"/>
                </a:solidFill>
              </a:rPr>
              <a:t>误差变化率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3333FF"/>
                </a:solidFill>
              </a:rPr>
              <a:t>控制量</a:t>
            </a:r>
            <a:r>
              <a:rPr lang="en-US" altLang="zh-CN" b="1" i="1" dirty="0">
                <a:solidFill>
                  <a:srgbClr val="3333FF"/>
                </a:solidFill>
              </a:rPr>
              <a:t>C</a:t>
            </a:r>
            <a:r>
              <a:rPr lang="zh-CN" altLang="en-US" b="1" dirty="0"/>
              <a:t>均可取</a:t>
            </a:r>
            <a:r>
              <a:rPr lang="en-US" altLang="zh-CN" b="1" dirty="0"/>
              <a:t>7</a:t>
            </a:r>
            <a:r>
              <a:rPr lang="zh-CN" altLang="en-US" b="1" dirty="0"/>
              <a:t>个语言值</a:t>
            </a:r>
            <a:r>
              <a:rPr lang="en-US" altLang="zh-CN" b="1" dirty="0"/>
              <a:t>——</a:t>
            </a:r>
          </a:p>
          <a:p>
            <a:pPr marL="0" indent="0">
              <a:buNone/>
            </a:pPr>
            <a:r>
              <a:rPr lang="en-US" altLang="zh-CN" sz="2400" dirty="0"/>
              <a:t>  </a:t>
            </a:r>
            <a:endParaRPr lang="zh-CN" altLang="en-US" dirty="0"/>
          </a:p>
        </p:txBody>
      </p:sp>
      <p:grpSp>
        <p:nvGrpSpPr>
          <p:cNvPr id="4" name="组合 1"/>
          <p:cNvGrpSpPr>
            <a:grpSpLocks/>
          </p:cNvGrpSpPr>
          <p:nvPr/>
        </p:nvGrpSpPr>
        <p:grpSpPr bwMode="auto">
          <a:xfrm>
            <a:off x="5015880" y="5445224"/>
            <a:ext cx="2375668" cy="1161494"/>
            <a:chOff x="3995738" y="3141663"/>
            <a:chExt cx="2375668" cy="1161494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4500563" y="3213100"/>
              <a:ext cx="1223962" cy="8636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rgbClr val="99FF99"/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_GB2312" pitchFamily="49" charset="-122"/>
                </a:rPr>
                <a:t>模糊</a:t>
              </a:r>
            </a:p>
            <a:p>
              <a:pPr algn="ctr"/>
              <a:r>
                <a:rPr lang="zh-CN" altLang="en-US" sz="2000" b="1">
                  <a:ea typeface="楷体_GB2312" pitchFamily="49" charset="-122"/>
                </a:rPr>
                <a:t>控制规则</a:t>
              </a:r>
            </a:p>
          </p:txBody>
        </p:sp>
        <p:sp>
          <p:nvSpPr>
            <p:cNvPr id="6" name="Line 8"/>
            <p:cNvSpPr>
              <a:spLocks noChangeShapeType="1"/>
            </p:cNvSpPr>
            <p:nvPr/>
          </p:nvSpPr>
          <p:spPr bwMode="auto">
            <a:xfrm>
              <a:off x="3995738" y="3500438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5724525" y="3644900"/>
              <a:ext cx="576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3995738" y="3860800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24"/>
            <p:cNvSpPr txBox="1">
              <a:spLocks noChangeArrowheads="1"/>
            </p:cNvSpPr>
            <p:nvPr/>
          </p:nvSpPr>
          <p:spPr bwMode="auto">
            <a:xfrm>
              <a:off x="3995738" y="3141663"/>
              <a:ext cx="3603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E</a:t>
              </a:r>
            </a:p>
          </p:txBody>
        </p:sp>
        <p:sp>
          <p:nvSpPr>
            <p:cNvPr id="10" name="Text Box 25"/>
            <p:cNvSpPr txBox="1">
              <a:spLocks noChangeArrowheads="1"/>
            </p:cNvSpPr>
            <p:nvPr/>
          </p:nvSpPr>
          <p:spPr bwMode="auto">
            <a:xfrm>
              <a:off x="3995738" y="3933825"/>
              <a:ext cx="43338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R</a:t>
              </a:r>
            </a:p>
          </p:txBody>
        </p:sp>
        <p:sp>
          <p:nvSpPr>
            <p:cNvPr id="11" name="Text Box 26"/>
            <p:cNvSpPr txBox="1">
              <a:spLocks noChangeArrowheads="1"/>
            </p:cNvSpPr>
            <p:nvPr/>
          </p:nvSpPr>
          <p:spPr bwMode="auto">
            <a:xfrm>
              <a:off x="5866581" y="3284538"/>
              <a:ext cx="504825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C</a:t>
              </a:r>
            </a:p>
          </p:txBody>
        </p:sp>
      </p:grpSp>
      <p:graphicFrame>
        <p:nvGraphicFramePr>
          <p:cNvPr id="12" name="Group 4"/>
          <p:cNvGraphicFramePr>
            <a:graphicFrameLocks/>
          </p:cNvGraphicFramePr>
          <p:nvPr/>
        </p:nvGraphicFramePr>
        <p:xfrm>
          <a:off x="2131393" y="2924945"/>
          <a:ext cx="8002587" cy="1717675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论域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含义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正小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负大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记号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6571386-E8B9-55D3-C6B2-5CADA9F481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59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修改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控制状态表的方法</a:t>
            </a:r>
          </a:p>
        </p:txBody>
      </p:sp>
      <p:graphicFrame>
        <p:nvGraphicFramePr>
          <p:cNvPr id="72707" name="Group 3"/>
          <p:cNvGraphicFramePr>
            <a:graphicFrameLocks noGrp="1"/>
          </p:cNvGraphicFramePr>
          <p:nvPr>
            <p:ph idx="1"/>
          </p:nvPr>
        </p:nvGraphicFramePr>
        <p:xfrm>
          <a:off x="3359151" y="1916113"/>
          <a:ext cx="5484813" cy="383699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2310" name="Text Box 86"/>
          <p:cNvSpPr txBox="1">
            <a:spLocks noChangeArrowheads="1"/>
          </p:cNvSpPr>
          <p:nvPr/>
        </p:nvSpPr>
        <p:spPr bwMode="auto">
          <a:xfrm>
            <a:off x="2495551" y="2420938"/>
            <a:ext cx="93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误差</a:t>
            </a:r>
            <a:r>
              <a:rPr lang="en-US" altLang="zh-CN" sz="2000" b="1" i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2311" name="Text Box 87"/>
          <p:cNvSpPr txBox="1">
            <a:spLocks noChangeArrowheads="1"/>
          </p:cNvSpPr>
          <p:nvPr/>
        </p:nvSpPr>
        <p:spPr bwMode="auto">
          <a:xfrm>
            <a:off x="4151313" y="1484313"/>
            <a:ext cx="1657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误差变化率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</a:p>
        </p:txBody>
      </p:sp>
      <p:sp>
        <p:nvSpPr>
          <p:cNvPr id="52313" name="Text Box 89"/>
          <p:cNvSpPr txBox="1">
            <a:spLocks noChangeArrowheads="1"/>
          </p:cNvSpPr>
          <p:nvPr/>
        </p:nvSpPr>
        <p:spPr bwMode="auto">
          <a:xfrm>
            <a:off x="9120189" y="1989138"/>
            <a:ext cx="1296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2400" i="1" dirty="0">
                <a:solidFill>
                  <a:srgbClr val="FF0000"/>
                </a:solidFill>
              </a:rPr>
              <a:t>α</a:t>
            </a:r>
            <a:r>
              <a:rPr lang="el-GR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Arial" charset="0"/>
              </a:rPr>
              <a:t>=0.5</a:t>
            </a:r>
            <a:endParaRPr lang="el-GR" altLang="zh-CN" sz="2400" dirty="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52314" name="Text Box 90"/>
          <p:cNvSpPr txBox="1">
            <a:spLocks noChangeArrowheads="1"/>
          </p:cNvSpPr>
          <p:nvPr/>
        </p:nvSpPr>
        <p:spPr bwMode="auto">
          <a:xfrm>
            <a:off x="9983788" y="35004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72796" name="Text Box 92"/>
          <p:cNvSpPr txBox="1">
            <a:spLocks noChangeArrowheads="1"/>
          </p:cNvSpPr>
          <p:nvPr/>
        </p:nvSpPr>
        <p:spPr bwMode="auto">
          <a:xfrm>
            <a:off x="6829874" y="5875300"/>
            <a:ext cx="47879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2800" b="1" i="1" dirty="0">
                <a:solidFill>
                  <a:srgbClr val="3333FF"/>
                </a:solidFill>
                <a:ea typeface="楷体_GB2312" pitchFamily="49" charset="-122"/>
              </a:rPr>
              <a:t>α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值的大小直接意味着</a:t>
            </a:r>
            <a:r>
              <a:rPr lang="en-US" altLang="zh-CN" sz="2800" b="1" i="1" dirty="0">
                <a:solidFill>
                  <a:srgbClr val="3333FF"/>
                </a:solidFill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和</a:t>
            </a:r>
            <a:r>
              <a:rPr lang="en-US" altLang="zh-CN" sz="2800" b="1" i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的加权程度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03512" y="6048931"/>
            <a:ext cx="3672409" cy="584775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ym typeface="Symbol"/>
              </a:rPr>
              <a:t>C </a:t>
            </a:r>
            <a:r>
              <a:rPr lang="en-US" altLang="zh-CN" sz="3200" b="1" dirty="0">
                <a:sym typeface="Symbol"/>
              </a:rPr>
              <a:t>=&lt;</a:t>
            </a:r>
            <a:r>
              <a:rPr lang="zh-CN" altLang="en-US" sz="3200" b="1" i="1" dirty="0">
                <a:sym typeface="Symbol"/>
              </a:rPr>
              <a:t></a:t>
            </a:r>
            <a:r>
              <a:rPr lang="en-US" altLang="zh-CN" sz="3200" b="1" i="1" dirty="0">
                <a:sym typeface="Symbol"/>
              </a:rPr>
              <a:t>E</a:t>
            </a:r>
            <a:r>
              <a:rPr lang="en-US" altLang="zh-CN" sz="3200" b="1" dirty="0">
                <a:sym typeface="Symbol"/>
              </a:rPr>
              <a:t>+(1-</a:t>
            </a:r>
            <a:r>
              <a:rPr lang="zh-CN" altLang="en-US" sz="3200" b="1" i="1" dirty="0">
                <a:sym typeface="Symbol"/>
              </a:rPr>
              <a:t></a:t>
            </a:r>
            <a:r>
              <a:rPr lang="en-US" altLang="zh-CN" sz="3200" b="1" dirty="0">
                <a:sym typeface="Symbol"/>
              </a:rPr>
              <a:t>)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</a:t>
            </a:r>
            <a:r>
              <a:rPr lang="en-US" altLang="zh-CN" sz="3200" b="1" i="1" dirty="0">
                <a:sym typeface="Symbol"/>
              </a:rPr>
              <a:t>R </a:t>
            </a:r>
            <a:r>
              <a:rPr lang="en-US" altLang="zh-CN" sz="3200" b="1" dirty="0">
                <a:sym typeface="Symbol"/>
              </a:rPr>
              <a:t>&gt;</a:t>
            </a:r>
            <a:endParaRPr lang="zh-CN" altLang="en-US" sz="32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1DF56B9-91D5-017F-7F3E-511130CE79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933C39-8941-4754-97F1-DAC9E9289B4E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修改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控制状态表的方法</a:t>
            </a:r>
          </a:p>
        </p:txBody>
      </p:sp>
      <p:graphicFrame>
        <p:nvGraphicFramePr>
          <p:cNvPr id="73731" name="Group 3"/>
          <p:cNvGraphicFramePr>
            <a:graphicFrameLocks noGrp="1"/>
          </p:cNvGraphicFramePr>
          <p:nvPr>
            <p:ph idx="1"/>
          </p:nvPr>
        </p:nvGraphicFramePr>
        <p:xfrm>
          <a:off x="3359151" y="1916113"/>
          <a:ext cx="5484813" cy="383699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334" name="Text Box 86"/>
          <p:cNvSpPr txBox="1">
            <a:spLocks noChangeArrowheads="1"/>
          </p:cNvSpPr>
          <p:nvPr/>
        </p:nvSpPr>
        <p:spPr bwMode="auto">
          <a:xfrm>
            <a:off x="2782888" y="5876926"/>
            <a:ext cx="5834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53336" name="Text Box 90"/>
          <p:cNvSpPr txBox="1">
            <a:spLocks noChangeArrowheads="1"/>
          </p:cNvSpPr>
          <p:nvPr/>
        </p:nvSpPr>
        <p:spPr bwMode="auto">
          <a:xfrm>
            <a:off x="9191625" y="2133601"/>
            <a:ext cx="1296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2400">
                <a:solidFill>
                  <a:srgbClr val="FF0000"/>
                </a:solidFill>
              </a:rPr>
              <a:t>α </a:t>
            </a:r>
            <a:r>
              <a:rPr lang="en-US" altLang="zh-CN" sz="2400">
                <a:solidFill>
                  <a:srgbClr val="FF0000"/>
                </a:solidFill>
                <a:cs typeface="Arial" charset="0"/>
              </a:rPr>
              <a:t>=0.2</a:t>
            </a:r>
            <a:endParaRPr lang="el-GR" altLang="zh-CN" sz="240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2" name="Text Box 91"/>
          <p:cNvSpPr txBox="1">
            <a:spLocks noChangeArrowheads="1"/>
          </p:cNvSpPr>
          <p:nvPr/>
        </p:nvSpPr>
        <p:spPr bwMode="auto">
          <a:xfrm>
            <a:off x="4079875" y="1484313"/>
            <a:ext cx="1657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误差变化率</a:t>
            </a:r>
            <a:r>
              <a:rPr lang="en-US" altLang="zh-CN" sz="2000" b="1" i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</a:p>
        </p:txBody>
      </p:sp>
      <p:sp>
        <p:nvSpPr>
          <p:cNvPr id="53337" name="Text Box 92"/>
          <p:cNvSpPr txBox="1">
            <a:spLocks noChangeArrowheads="1"/>
          </p:cNvSpPr>
          <p:nvPr/>
        </p:nvSpPr>
        <p:spPr bwMode="auto">
          <a:xfrm>
            <a:off x="2422526" y="2395509"/>
            <a:ext cx="93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误差</a:t>
            </a:r>
            <a:r>
              <a:rPr lang="en-US" altLang="zh-CN" sz="2000" b="1" i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73821" name="Text Box 93"/>
          <p:cNvSpPr txBox="1">
            <a:spLocks noChangeArrowheads="1"/>
          </p:cNvSpPr>
          <p:nvPr/>
        </p:nvSpPr>
        <p:spPr bwMode="auto">
          <a:xfrm>
            <a:off x="6473825" y="5905732"/>
            <a:ext cx="5435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当被控对象的阶次较高时，</a:t>
            </a:r>
            <a:r>
              <a:rPr lang="en-US" altLang="zh-CN" sz="2800" b="1" i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的权值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&gt;</a:t>
            </a:r>
            <a:r>
              <a:rPr lang="en-US" altLang="zh-CN" sz="2800" b="1" i="1" dirty="0">
                <a:solidFill>
                  <a:srgbClr val="3333FF"/>
                </a:solidFill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的权值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9496" y="6048931"/>
            <a:ext cx="3672905" cy="584775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ym typeface="Symbol"/>
              </a:rPr>
              <a:t>C</a:t>
            </a:r>
            <a:r>
              <a:rPr lang="en-US" altLang="zh-CN" sz="3200" b="1" dirty="0">
                <a:sym typeface="Symbol"/>
              </a:rPr>
              <a:t>=&lt;</a:t>
            </a:r>
            <a:r>
              <a:rPr lang="zh-CN" altLang="en-US" sz="3200" b="1" i="1" dirty="0">
                <a:sym typeface="Symbol"/>
              </a:rPr>
              <a:t></a:t>
            </a:r>
            <a:r>
              <a:rPr lang="en-US" altLang="zh-CN" sz="3200" b="1" i="1" dirty="0">
                <a:sym typeface="Symbol"/>
              </a:rPr>
              <a:t>E</a:t>
            </a:r>
            <a:r>
              <a:rPr lang="en-US" altLang="zh-CN" sz="3200" b="1" dirty="0">
                <a:sym typeface="Symbol"/>
              </a:rPr>
              <a:t>+(1-</a:t>
            </a:r>
            <a:r>
              <a:rPr lang="zh-CN" altLang="en-US" sz="3200" b="1" i="1" dirty="0">
                <a:sym typeface="Symbol"/>
              </a:rPr>
              <a:t></a:t>
            </a:r>
            <a:r>
              <a:rPr lang="en-US" altLang="zh-CN" sz="3200" b="1" dirty="0">
                <a:sym typeface="Symbol"/>
              </a:rPr>
              <a:t>)</a:t>
            </a:r>
            <a:r>
              <a:rPr lang="en-US" altLang="zh-CN" sz="3200" b="1" i="1" dirty="0">
                <a:sym typeface="Symbol"/>
              </a:rPr>
              <a:t>R </a:t>
            </a:r>
            <a:r>
              <a:rPr lang="en-US" altLang="zh-CN" sz="3200" b="1" dirty="0">
                <a:sym typeface="Symbol"/>
              </a:rPr>
              <a:t>&gt;</a:t>
            </a:r>
            <a:endParaRPr lang="zh-CN" altLang="en-US" sz="3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0C78A4-00A1-4F76-A439-2E73779D4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219" y="48077"/>
            <a:ext cx="2454781" cy="171926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9360E4-BF76-0221-D00B-5C66D1BB0B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933C39-8941-4754-97F1-DAC9E9289B4E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33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3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3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36" grpId="0"/>
      <p:bldP spid="738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修改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控制状态表的方法</a:t>
            </a:r>
          </a:p>
        </p:txBody>
      </p:sp>
      <p:graphicFrame>
        <p:nvGraphicFramePr>
          <p:cNvPr id="74755" name="Group 3"/>
          <p:cNvGraphicFramePr>
            <a:graphicFrameLocks noGrp="1"/>
          </p:cNvGraphicFramePr>
          <p:nvPr>
            <p:ph idx="1"/>
          </p:nvPr>
        </p:nvGraphicFramePr>
        <p:xfrm>
          <a:off x="2316163" y="1844675"/>
          <a:ext cx="5484812" cy="383699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4358" name="Text Box 86"/>
          <p:cNvSpPr txBox="1">
            <a:spLocks noChangeArrowheads="1"/>
          </p:cNvSpPr>
          <p:nvPr/>
        </p:nvSpPr>
        <p:spPr bwMode="auto">
          <a:xfrm>
            <a:off x="1703388" y="5805488"/>
            <a:ext cx="5834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54360" name="Text Box 90"/>
          <p:cNvSpPr txBox="1">
            <a:spLocks noChangeArrowheads="1"/>
          </p:cNvSpPr>
          <p:nvPr/>
        </p:nvSpPr>
        <p:spPr bwMode="auto">
          <a:xfrm>
            <a:off x="7248525" y="1412876"/>
            <a:ext cx="1296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2400" i="1" dirty="0">
                <a:solidFill>
                  <a:srgbClr val="FF0000"/>
                </a:solidFill>
              </a:rPr>
              <a:t>α</a:t>
            </a:r>
            <a:r>
              <a:rPr lang="el-GR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Arial" charset="0"/>
              </a:rPr>
              <a:t>=0.7</a:t>
            </a:r>
            <a:endParaRPr lang="el-GR" altLang="zh-CN" sz="2400" dirty="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2" name="Text Box 91"/>
          <p:cNvSpPr txBox="1">
            <a:spLocks noChangeArrowheads="1"/>
          </p:cNvSpPr>
          <p:nvPr/>
        </p:nvSpPr>
        <p:spPr bwMode="auto">
          <a:xfrm>
            <a:off x="1415480" y="2420938"/>
            <a:ext cx="93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误差</a:t>
            </a:r>
            <a:r>
              <a:rPr lang="en-US" altLang="zh-CN" sz="20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4361" name="Text Box 92"/>
          <p:cNvSpPr txBox="1">
            <a:spLocks noChangeArrowheads="1"/>
          </p:cNvSpPr>
          <p:nvPr/>
        </p:nvSpPr>
        <p:spPr bwMode="auto">
          <a:xfrm>
            <a:off x="3036888" y="1412876"/>
            <a:ext cx="1657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误差变化率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</a:p>
        </p:txBody>
      </p:sp>
      <p:sp>
        <p:nvSpPr>
          <p:cNvPr id="74845" name="Text Box 93"/>
          <p:cNvSpPr txBox="1">
            <a:spLocks noChangeArrowheads="1"/>
          </p:cNvSpPr>
          <p:nvPr/>
        </p:nvSpPr>
        <p:spPr bwMode="auto">
          <a:xfrm>
            <a:off x="5908754" y="5903893"/>
            <a:ext cx="5435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当被控对象的阶次较低时，</a:t>
            </a:r>
            <a:r>
              <a:rPr lang="en-US" altLang="zh-CN" sz="2800" b="1" i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的权值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&lt;</a:t>
            </a:r>
            <a:r>
              <a:rPr lang="en-US" altLang="zh-CN" sz="2800" b="1" i="1" dirty="0">
                <a:solidFill>
                  <a:srgbClr val="3333FF"/>
                </a:solidFill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的权值</a:t>
            </a:r>
          </a:p>
        </p:txBody>
      </p:sp>
      <p:sp>
        <p:nvSpPr>
          <p:cNvPr id="74847" name="Text Box 95"/>
          <p:cNvSpPr txBox="1">
            <a:spLocks noChangeArrowheads="1"/>
          </p:cNvSpPr>
          <p:nvPr/>
        </p:nvSpPr>
        <p:spPr bwMode="auto">
          <a:xfrm>
            <a:off x="8598845" y="2305615"/>
            <a:ext cx="295197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8000"/>
                </a:solidFill>
                <a:ea typeface="楷体_GB2312" pitchFamily="49" charset="-122"/>
              </a:rPr>
              <a:t>此方法所得到的控制规则反映了人脑推理过程的连续性、单调性等特点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464" y="6048931"/>
            <a:ext cx="3960440" cy="584775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ym typeface="Symbol"/>
              </a:rPr>
              <a:t>C</a:t>
            </a:r>
            <a:r>
              <a:rPr lang="en-US" altLang="zh-CN" sz="3200" b="1" dirty="0">
                <a:sym typeface="Symbol"/>
              </a:rPr>
              <a:t>=&lt;</a:t>
            </a:r>
            <a:r>
              <a:rPr lang="zh-CN" altLang="en-US" sz="3200" b="1" i="1" dirty="0">
                <a:sym typeface="Symbol"/>
              </a:rPr>
              <a:t></a:t>
            </a:r>
            <a:r>
              <a:rPr lang="en-US" altLang="zh-CN" sz="3200" b="1" i="1" dirty="0">
                <a:sym typeface="Symbol"/>
              </a:rPr>
              <a:t>E</a:t>
            </a:r>
            <a:r>
              <a:rPr lang="en-US" altLang="zh-CN" sz="3200" b="1" dirty="0">
                <a:sym typeface="Symbol"/>
              </a:rPr>
              <a:t>+(1-</a:t>
            </a:r>
            <a:r>
              <a:rPr lang="zh-CN" altLang="en-US" sz="3200" b="1" i="1" dirty="0">
                <a:sym typeface="Symbol"/>
              </a:rPr>
              <a:t></a:t>
            </a:r>
            <a:r>
              <a:rPr lang="en-US" altLang="zh-CN" sz="3200" b="1" dirty="0">
                <a:sym typeface="Symbol"/>
              </a:rPr>
              <a:t>)</a:t>
            </a:r>
            <a:r>
              <a:rPr lang="en-US" altLang="zh-CN" sz="3200" b="1" i="1" dirty="0">
                <a:sym typeface="Symbol"/>
              </a:rPr>
              <a:t>R </a:t>
            </a:r>
            <a:r>
              <a:rPr lang="en-US" altLang="zh-CN" sz="3200" b="1" dirty="0">
                <a:sym typeface="Symbol"/>
              </a:rPr>
              <a:t>&gt;</a:t>
            </a:r>
            <a:endParaRPr lang="zh-CN" altLang="en-US" sz="32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4DF5462-D368-4358-84C7-2D8707AA4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012" y="60323"/>
            <a:ext cx="2454781" cy="171926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1E3A306-33C4-C09D-19ED-C45CAA9E8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933C39-8941-4754-97F1-DAC9E9289B4E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4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4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4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60" grpId="0"/>
      <p:bldP spid="74845" grpId="0"/>
      <p:bldP spid="7484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修改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控制状态表的方法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83432" y="1124744"/>
            <a:ext cx="1051316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  <a:sym typeface="Symbol"/>
              </a:rPr>
              <a:t>                          C 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= &lt;</a:t>
            </a:r>
            <a:r>
              <a:rPr lang="zh-CN" altLang="en-US" b="1" i="1" dirty="0">
                <a:solidFill>
                  <a:srgbClr val="FF0000"/>
                </a:solidFill>
                <a:sym typeface="Symbol"/>
              </a:rPr>
              <a:t></a:t>
            </a:r>
            <a:r>
              <a:rPr lang="en-US" altLang="zh-CN" b="1" i="1" dirty="0">
                <a:solidFill>
                  <a:srgbClr val="FF0000"/>
                </a:solidFill>
                <a:sym typeface="Symbol"/>
              </a:rPr>
              <a:t>E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+(1-</a:t>
            </a:r>
            <a:r>
              <a:rPr lang="zh-CN" altLang="en-US" b="1" i="1" dirty="0">
                <a:solidFill>
                  <a:srgbClr val="FF0000"/>
                </a:solidFill>
                <a:sym typeface="Symbol"/>
              </a:rPr>
              <a:t>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</a:t>
            </a:r>
            <a:r>
              <a:rPr lang="en-US" altLang="zh-CN" b="1" i="1" dirty="0">
                <a:solidFill>
                  <a:srgbClr val="FF0000"/>
                </a:solidFill>
                <a:sym typeface="Symbol"/>
              </a:rPr>
              <a:t>R 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&gt;</a:t>
            </a:r>
          </a:p>
          <a:p>
            <a:r>
              <a:rPr lang="zh-CN" altLang="en-US" b="1" dirty="0">
                <a:solidFill>
                  <a:srgbClr val="CC00CC"/>
                </a:solidFill>
                <a:sym typeface="Symbol"/>
              </a:rPr>
              <a:t>自调整因子</a:t>
            </a:r>
            <a:r>
              <a:rPr lang="en-US" altLang="zh-CN" b="1" dirty="0">
                <a:solidFill>
                  <a:srgbClr val="CC00CC"/>
                </a:solidFill>
                <a:sym typeface="Symbol"/>
              </a:rPr>
              <a:t>F</a:t>
            </a:r>
            <a:r>
              <a:rPr lang="zh-CN" altLang="en-US" b="1" dirty="0">
                <a:solidFill>
                  <a:srgbClr val="CC00CC"/>
                </a:solidFill>
                <a:sym typeface="Symbol"/>
              </a:rPr>
              <a:t>控制的实质</a:t>
            </a:r>
            <a:r>
              <a:rPr lang="en-US" altLang="zh-CN" b="1" dirty="0">
                <a:solidFill>
                  <a:srgbClr val="CC00CC"/>
                </a:solidFill>
                <a:sym typeface="Symbol"/>
              </a:rPr>
              <a:t>——</a:t>
            </a:r>
          </a:p>
          <a:p>
            <a:pPr lvl="1"/>
            <a:r>
              <a:rPr lang="zh-CN" altLang="en-US" b="1" dirty="0">
                <a:sym typeface="Symbol"/>
              </a:rPr>
              <a:t>让</a:t>
            </a:r>
            <a:r>
              <a:rPr lang="zh-CN" altLang="en-US" b="1" dirty="0">
                <a:solidFill>
                  <a:srgbClr val="3333FF"/>
                </a:solidFill>
              </a:rPr>
              <a:t>误差</a:t>
            </a:r>
            <a:r>
              <a:rPr lang="en-US" altLang="zh-CN" b="1" i="1" dirty="0">
                <a:solidFill>
                  <a:srgbClr val="3333FF"/>
                </a:solidFill>
              </a:rPr>
              <a:t>E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3333FF"/>
                </a:solidFill>
              </a:rPr>
              <a:t>误差变化率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zh-CN" altLang="en-US" b="1" dirty="0">
                <a:sym typeface="Symbol"/>
              </a:rPr>
              <a:t>在控制过程中共同起作用，按被控动态过程特性的不同二者起的作用也不同。</a:t>
            </a:r>
            <a:endParaRPr lang="en-US" altLang="zh-CN" b="1" dirty="0">
              <a:sym typeface="Symbol"/>
            </a:endParaRPr>
          </a:p>
          <a:p>
            <a:pPr lvl="1"/>
            <a:r>
              <a:rPr lang="zh-CN" altLang="en-US" b="1" dirty="0">
                <a:sym typeface="Symbol"/>
              </a:rPr>
              <a:t>为了在控制过程中最大限度地发挥它们的控制作用，提高控制系统的性能，要不断地调整</a:t>
            </a:r>
            <a:r>
              <a:rPr lang="zh-CN" altLang="en-US" b="1" i="1" dirty="0">
                <a:solidFill>
                  <a:srgbClr val="FF0000"/>
                </a:solidFill>
                <a:sym typeface="Symbol"/>
              </a:rPr>
              <a:t></a:t>
            </a:r>
            <a:r>
              <a:rPr lang="zh-CN" altLang="en-US" b="1" i="1" dirty="0">
                <a:sym typeface="Symbol"/>
              </a:rPr>
              <a:t> </a:t>
            </a:r>
            <a:endParaRPr lang="en-US" altLang="zh-CN" b="1" i="1" dirty="0">
              <a:sym typeface="Symbol"/>
            </a:endParaRPr>
          </a:p>
          <a:p>
            <a:pPr lvl="1"/>
            <a:r>
              <a:rPr lang="zh-CN" altLang="en-US" b="1" dirty="0">
                <a:solidFill>
                  <a:srgbClr val="3333FF"/>
                </a:solidFill>
                <a:sym typeface="Symbol"/>
              </a:rPr>
              <a:t>多调整因子策略</a:t>
            </a:r>
            <a:r>
              <a:rPr lang="en-US" altLang="zh-CN" b="1" dirty="0">
                <a:solidFill>
                  <a:srgbClr val="3333FF"/>
                </a:solidFill>
                <a:sym typeface="Symbol"/>
              </a:rPr>
              <a:t>——</a:t>
            </a:r>
            <a:endParaRPr lang="en-US" altLang="zh-CN" b="1" dirty="0">
              <a:sym typeface="Symbol"/>
            </a:endParaRPr>
          </a:p>
          <a:p>
            <a:pPr lvl="1"/>
            <a:endParaRPr lang="en-US" altLang="zh-CN" b="1" dirty="0">
              <a:sym typeface="Symbol"/>
            </a:endParaRPr>
          </a:p>
          <a:p>
            <a:pPr lvl="1"/>
            <a:endParaRPr lang="zh-CN" altLang="en-US" b="1" dirty="0"/>
          </a:p>
          <a:p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55901" y="5013326"/>
          <a:ext cx="7205663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939600" progId="Equation.DSMT4">
                  <p:embed/>
                </p:oleObj>
              </mc:Choice>
              <mc:Fallback>
                <p:oleObj name="Equation" r:id="rId2" imgW="3670200" imgH="939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55901" y="5013326"/>
                        <a:ext cx="7205663" cy="18446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1C2450-352D-7D58-5742-EDD531675F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6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修改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控制状态表的方法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55440" y="1340768"/>
            <a:ext cx="10513168" cy="5373216"/>
          </a:xfrm>
        </p:spPr>
        <p:txBody>
          <a:bodyPr/>
          <a:lstStyle/>
          <a:p>
            <a:pPr marL="0" lvl="1" indent="0">
              <a:buClr>
                <a:schemeClr val="bg2"/>
              </a:buClr>
              <a:buSzPct val="75000"/>
              <a:buNone/>
            </a:pPr>
            <a:r>
              <a:rPr lang="en-US" altLang="zh-CN" sz="3200" b="1" i="1" dirty="0">
                <a:solidFill>
                  <a:srgbClr val="FF0000"/>
                </a:solidFill>
                <a:sym typeface="Symbol"/>
              </a:rPr>
              <a:t>                              C </a:t>
            </a:r>
            <a:r>
              <a:rPr lang="en-US" altLang="zh-CN" sz="3200" b="1" dirty="0">
                <a:solidFill>
                  <a:srgbClr val="FF0000"/>
                </a:solidFill>
                <a:sym typeface="Symbol"/>
              </a:rPr>
              <a:t>= &lt;</a:t>
            </a:r>
            <a:r>
              <a:rPr lang="zh-CN" altLang="en-US" sz="3200" b="1" i="1" dirty="0">
                <a:solidFill>
                  <a:srgbClr val="FF0000"/>
                </a:solidFill>
                <a:sym typeface="Symbol"/>
              </a:rPr>
              <a:t></a:t>
            </a:r>
            <a:r>
              <a:rPr lang="en-US" altLang="zh-CN" sz="3200" b="1" i="1" dirty="0">
                <a:solidFill>
                  <a:srgbClr val="FF0000"/>
                </a:solidFill>
                <a:sym typeface="Symbol"/>
              </a:rPr>
              <a:t>E</a:t>
            </a:r>
            <a:r>
              <a:rPr lang="en-US" altLang="zh-CN" sz="3200" b="1" dirty="0">
                <a:solidFill>
                  <a:srgbClr val="FF0000"/>
                </a:solidFill>
                <a:sym typeface="Symbol"/>
              </a:rPr>
              <a:t>+(1-</a:t>
            </a:r>
            <a:r>
              <a:rPr lang="zh-CN" altLang="en-US" sz="3200" b="1" i="1" dirty="0">
                <a:solidFill>
                  <a:srgbClr val="FF0000"/>
                </a:solidFill>
                <a:sym typeface="Symbol"/>
              </a:rPr>
              <a:t></a:t>
            </a:r>
            <a:r>
              <a:rPr lang="en-US" altLang="zh-CN" sz="3200" b="1" dirty="0">
                <a:solidFill>
                  <a:srgbClr val="FF0000"/>
                </a:solidFill>
                <a:sym typeface="Symbol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</a:t>
            </a:r>
            <a:r>
              <a:rPr lang="en-US" altLang="zh-CN" sz="3200" b="1" i="1" dirty="0">
                <a:solidFill>
                  <a:srgbClr val="FF0000"/>
                </a:solidFill>
                <a:sym typeface="Symbol"/>
              </a:rPr>
              <a:t>R </a:t>
            </a:r>
            <a:r>
              <a:rPr lang="en-US" altLang="zh-CN" sz="3200" b="1" dirty="0">
                <a:solidFill>
                  <a:srgbClr val="FF0000"/>
                </a:solidFill>
                <a:sym typeface="Symbol"/>
              </a:rPr>
              <a:t>&gt;</a:t>
            </a:r>
          </a:p>
          <a:p>
            <a:pPr marL="514350" lvl="1" indent="-51435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/>
              </a:rPr>
              <a:t>多调整因子策略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Symbol"/>
            </a:endParaRPr>
          </a:p>
          <a:p>
            <a:pPr lvl="1"/>
            <a:r>
              <a:rPr lang="zh-CN" altLang="en-US" b="1" dirty="0">
                <a:sym typeface="Symbol"/>
              </a:rPr>
              <a:t>具有多调整因子又可实时进行优化自调整形式的</a:t>
            </a:r>
            <a:r>
              <a:rPr lang="en-US" altLang="zh-CN" b="1" dirty="0">
                <a:sym typeface="Symbol"/>
              </a:rPr>
              <a:t>F</a:t>
            </a:r>
            <a:r>
              <a:rPr lang="zh-CN" altLang="en-US" b="1" dirty="0">
                <a:sym typeface="Symbol"/>
              </a:rPr>
              <a:t>控制规则为</a:t>
            </a:r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pPr marL="457200" lvl="1" indent="0">
              <a:buNone/>
            </a:pPr>
            <a:endParaRPr lang="en-US" altLang="zh-CN" b="1" dirty="0">
              <a:sym typeface="Symbol"/>
            </a:endParaRP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b="1" dirty="0">
                <a:sym typeface="Symbol"/>
              </a:rPr>
              <a:t>式中</a:t>
            </a:r>
            <a:r>
              <a:rPr lang="en-US" altLang="zh-CN" b="1" i="1" dirty="0">
                <a:sym typeface="Symbol"/>
              </a:rPr>
              <a:t>E</a:t>
            </a:r>
            <a:r>
              <a:rPr lang="en-US" altLang="zh-CN" b="1" dirty="0">
                <a:sym typeface="Symbol"/>
              </a:rPr>
              <a:t>,</a:t>
            </a:r>
            <a:r>
              <a:rPr lang="en-US" altLang="zh-CN" b="1" i="1" dirty="0">
                <a:sym typeface="Symbol"/>
              </a:rPr>
              <a:t>R</a:t>
            </a:r>
            <a:r>
              <a:rPr lang="zh-CN" altLang="en-US" b="1" dirty="0">
                <a:sym typeface="Symbol"/>
              </a:rPr>
              <a:t>和</a:t>
            </a:r>
            <a:r>
              <a:rPr lang="en-US" altLang="zh-CN" b="1" i="1" dirty="0">
                <a:sym typeface="Symbol"/>
              </a:rPr>
              <a:t>C</a:t>
            </a:r>
            <a:r>
              <a:rPr lang="zh-CN" altLang="en-US" b="1" dirty="0">
                <a:sym typeface="Symbol"/>
              </a:rPr>
              <a:t>的论域为 </a:t>
            </a:r>
            <a:r>
              <a:rPr lang="en-US" altLang="zh-CN" b="1" dirty="0">
                <a:sym typeface="Symbol"/>
              </a:rPr>
              <a:t>{ -</a:t>
            </a:r>
            <a:r>
              <a:rPr lang="en-US" altLang="zh-CN" b="1" i="1" dirty="0">
                <a:sym typeface="Symbol"/>
              </a:rPr>
              <a:t>N</a:t>
            </a:r>
            <a:r>
              <a:rPr lang="en-US" altLang="zh-CN" b="1" dirty="0">
                <a:sym typeface="Symbol"/>
              </a:rPr>
              <a:t>,…,-2,-1,0,1,2,…,</a:t>
            </a:r>
            <a:r>
              <a:rPr lang="en-US" altLang="zh-CN" b="1" i="1" dirty="0">
                <a:sym typeface="Symbol"/>
              </a:rPr>
              <a:t>N </a:t>
            </a:r>
            <a:r>
              <a:rPr lang="en-US" altLang="zh-CN" b="1" dirty="0">
                <a:sym typeface="Symbol"/>
              </a:rPr>
              <a:t>}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en-US" altLang="zh-CN" b="1" dirty="0">
                <a:sym typeface="Symbol"/>
              </a:rPr>
              <a:t> </a:t>
            </a:r>
            <a:r>
              <a:rPr lang="en-US" altLang="zh-CN" b="1" i="1" dirty="0">
                <a:sym typeface="Symbol"/>
              </a:rPr>
              <a:t></a:t>
            </a:r>
            <a:r>
              <a:rPr lang="zh-CN" altLang="en-US" b="1" dirty="0">
                <a:sym typeface="Symbol"/>
              </a:rPr>
              <a:t>在</a:t>
            </a:r>
            <a:r>
              <a:rPr lang="en-US" altLang="zh-CN" b="1" dirty="0">
                <a:sym typeface="Symbol"/>
              </a:rPr>
              <a:t>[</a:t>
            </a:r>
            <a:r>
              <a:rPr lang="en-US" altLang="zh-CN" b="1" i="1" dirty="0">
                <a:sym typeface="Symbol"/>
              </a:rPr>
              <a:t></a:t>
            </a:r>
            <a:r>
              <a:rPr lang="en-US" altLang="zh-CN" b="1" baseline="-25000" dirty="0">
                <a:sym typeface="Symbol"/>
              </a:rPr>
              <a:t>0</a:t>
            </a:r>
            <a:r>
              <a:rPr lang="en-US" altLang="zh-CN" b="1" dirty="0">
                <a:sym typeface="Symbol"/>
              </a:rPr>
              <a:t>, </a:t>
            </a:r>
            <a:r>
              <a:rPr lang="en-US" altLang="zh-CN" b="1" i="1" dirty="0">
                <a:sym typeface="Symbol"/>
              </a:rPr>
              <a:t></a:t>
            </a:r>
            <a:r>
              <a:rPr lang="en-US" altLang="zh-CN" b="1" i="1" baseline="-25000" dirty="0">
                <a:sym typeface="Symbol"/>
              </a:rPr>
              <a:t>M</a:t>
            </a:r>
            <a:r>
              <a:rPr lang="en-US" altLang="zh-CN" b="1" dirty="0">
                <a:sym typeface="Symbol"/>
              </a:rPr>
              <a:t>]</a:t>
            </a:r>
            <a:r>
              <a:rPr lang="zh-CN" altLang="en-US" b="1" dirty="0">
                <a:sym typeface="Symbol"/>
              </a:rPr>
              <a:t>间随着</a:t>
            </a:r>
            <a:r>
              <a:rPr lang="en-US" altLang="zh-CN" b="1" dirty="0">
                <a:solidFill>
                  <a:srgbClr val="3333FF"/>
                </a:solidFill>
                <a:sym typeface="Symbol"/>
              </a:rPr>
              <a:t>|</a:t>
            </a:r>
            <a:r>
              <a:rPr lang="en-US" altLang="zh-CN" b="1" i="1" dirty="0">
                <a:solidFill>
                  <a:srgbClr val="3333FF"/>
                </a:solidFill>
                <a:sym typeface="Symbol"/>
              </a:rPr>
              <a:t>E</a:t>
            </a:r>
            <a:r>
              <a:rPr lang="en-US" altLang="zh-CN" b="1" dirty="0">
                <a:solidFill>
                  <a:srgbClr val="3333FF"/>
                </a:solidFill>
                <a:sym typeface="Symbol"/>
              </a:rPr>
              <a:t>|</a:t>
            </a:r>
            <a:r>
              <a:rPr lang="zh-CN" altLang="en-US" b="1" dirty="0">
                <a:sym typeface="Symbol"/>
              </a:rPr>
              <a:t>的大小成比例变化，</a:t>
            </a:r>
            <a:endParaRPr lang="en-US" altLang="zh-CN" b="1" dirty="0">
              <a:sym typeface="Symbol"/>
            </a:endParaRP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b="1" dirty="0">
                <a:sym typeface="Symbol"/>
              </a:rPr>
              <a:t>因量化等级</a:t>
            </a:r>
            <a:r>
              <a:rPr lang="en-US" altLang="zh-CN" b="1" i="1" dirty="0">
                <a:sym typeface="Symbol"/>
              </a:rPr>
              <a:t>N</a:t>
            </a:r>
            <a:r>
              <a:rPr lang="zh-CN" altLang="en-US" b="1" dirty="0">
                <a:sym typeface="Symbol"/>
              </a:rPr>
              <a:t>的不同，</a:t>
            </a:r>
            <a:r>
              <a:rPr lang="en-US" altLang="zh-CN" b="1" i="1" dirty="0">
                <a:sym typeface="Symbol"/>
              </a:rPr>
              <a:t> </a:t>
            </a:r>
            <a:r>
              <a:rPr lang="zh-CN" altLang="en-US" b="1" dirty="0">
                <a:sym typeface="Symbol"/>
              </a:rPr>
              <a:t>可有</a:t>
            </a:r>
            <a:r>
              <a:rPr lang="en-US" altLang="zh-CN" b="1" i="1" dirty="0">
                <a:sym typeface="Symbol"/>
              </a:rPr>
              <a:t>N </a:t>
            </a:r>
            <a:r>
              <a:rPr lang="zh-CN" altLang="en-US" b="1" dirty="0">
                <a:sym typeface="Symbol"/>
              </a:rPr>
              <a:t>个取值。</a:t>
            </a:r>
            <a:endParaRPr lang="en-US" altLang="zh-CN" b="1" dirty="0">
              <a:sym typeface="Symbol"/>
            </a:endParaRPr>
          </a:p>
          <a:p>
            <a:pPr marL="457200" lvl="1" indent="0">
              <a:buNone/>
            </a:pPr>
            <a:r>
              <a:rPr lang="zh-CN" altLang="en-US" b="1" dirty="0">
                <a:solidFill>
                  <a:srgbClr val="FF0000"/>
                </a:solidFill>
                <a:sym typeface="Symbol"/>
              </a:rPr>
              <a:t>此自调整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sym typeface="Symbol"/>
              </a:rPr>
              <a:t>控制器具有较为满意的特性。</a:t>
            </a:r>
            <a:endParaRPr lang="en-US" altLang="zh-CN" b="1" dirty="0">
              <a:solidFill>
                <a:srgbClr val="FF0000"/>
              </a:solidFill>
              <a:sym typeface="Symbol"/>
            </a:endParaRPr>
          </a:p>
          <a:p>
            <a:pPr marL="457200" lvl="1" indent="0">
              <a:buNone/>
            </a:pPr>
            <a:endParaRPr lang="en-US" altLang="zh-CN" b="1" dirty="0">
              <a:sym typeface="Symbol"/>
            </a:endParaRPr>
          </a:p>
          <a:p>
            <a:pPr marL="457200" lvl="1" indent="0">
              <a:buNone/>
            </a:pPr>
            <a:endParaRPr lang="en-US" altLang="zh-CN" b="1" dirty="0">
              <a:sym typeface="Symbol"/>
            </a:endParaRPr>
          </a:p>
          <a:p>
            <a:pPr lvl="1"/>
            <a:endParaRPr lang="zh-CN" altLang="en-US" b="1" dirty="0"/>
          </a:p>
          <a:p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635076"/>
              </p:ext>
            </p:extLst>
          </p:nvPr>
        </p:nvGraphicFramePr>
        <p:xfrm>
          <a:off x="2783632" y="3141265"/>
          <a:ext cx="62245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660240" progId="Equation.DSMT4">
                  <p:embed/>
                </p:oleObj>
              </mc:Choice>
              <mc:Fallback>
                <p:oleObj name="Equation" r:id="rId3" imgW="2857320" imgH="6602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632" y="3141265"/>
                        <a:ext cx="6224588" cy="1439863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7E8AAFF-919A-79A9-8AAE-E631295E53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600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3"/>
            <a:ext cx="8229600" cy="1008062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8.4  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746250"/>
            <a:ext cx="9001249" cy="4275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输入参数</a:t>
            </a:r>
          </a:p>
          <a:p>
            <a:pPr lvl="1" eaLnBrk="1" hangingPunct="1"/>
            <a:r>
              <a:rPr lang="en-US" altLang="zh-CN" dirty="0">
                <a:ea typeface="黑体" pitchFamily="2" charset="-122"/>
              </a:rPr>
              <a:t>x——</a:t>
            </a:r>
            <a:r>
              <a:rPr lang="zh-CN" altLang="en-US" dirty="0">
                <a:ea typeface="黑体" pitchFamily="2" charset="-122"/>
              </a:rPr>
              <a:t>偏向角度，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en-US" altLang="zh-CN" dirty="0"/>
              <a:t>-2</a:t>
            </a:r>
            <a:r>
              <a:rPr lang="en-US" altLang="zh-CN" baseline="30000" dirty="0"/>
              <a:t>o</a:t>
            </a:r>
            <a:r>
              <a:rPr lang="en-US" altLang="zh-CN" dirty="0"/>
              <a:t> ≤ x ≤ +2</a:t>
            </a:r>
            <a:r>
              <a:rPr lang="en-US" altLang="zh-CN" baseline="30000" dirty="0"/>
              <a:t>o </a:t>
            </a:r>
            <a:r>
              <a:rPr lang="en-US" altLang="zh-CN" dirty="0">
                <a:ea typeface="黑体" pitchFamily="2" charset="-122"/>
              </a:rPr>
              <a:t>)</a:t>
            </a:r>
            <a:endParaRPr lang="en-US" altLang="zh-CN" baseline="30000" dirty="0"/>
          </a:p>
          <a:p>
            <a:pPr lvl="1" eaLnBrk="1" hangingPunct="1"/>
            <a:r>
              <a:rPr lang="en-US" altLang="zh-CN" dirty="0">
                <a:ea typeface="黑体" pitchFamily="2" charset="-122"/>
              </a:rPr>
              <a:t>y——</a:t>
            </a:r>
            <a:r>
              <a:rPr lang="zh-CN" altLang="en-US" dirty="0">
                <a:ea typeface="黑体" pitchFamily="2" charset="-122"/>
              </a:rPr>
              <a:t>偏向角度的变化率</a:t>
            </a:r>
            <a:r>
              <a:rPr lang="en-US" altLang="zh-CN" dirty="0">
                <a:ea typeface="黑体" pitchFamily="2" charset="-122"/>
              </a:rPr>
              <a:t>,(</a:t>
            </a:r>
            <a:r>
              <a:rPr lang="en-US" altLang="zh-CN" dirty="0"/>
              <a:t>-5 rad/s ≤ y ≤+5 rad/s)</a:t>
            </a:r>
            <a:endParaRPr lang="en-US" altLang="zh-CN" dirty="0"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输出参数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u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状态变化公式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3333FF"/>
                </a:solidFill>
              </a:rPr>
              <a:t>x(t+1)=x(t)+y(t)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3333FF"/>
                </a:solidFill>
              </a:rPr>
              <a:t>y(t+1)=x(t+1)-u(t)</a:t>
            </a:r>
          </a:p>
        </p:txBody>
      </p:sp>
      <p:grpSp>
        <p:nvGrpSpPr>
          <p:cNvPr id="55300" name="组合 1"/>
          <p:cNvGrpSpPr>
            <a:grpSpLocks/>
          </p:cNvGrpSpPr>
          <p:nvPr/>
        </p:nvGrpSpPr>
        <p:grpSpPr bwMode="auto">
          <a:xfrm>
            <a:off x="8040811" y="3799938"/>
            <a:ext cx="2879725" cy="2519363"/>
            <a:chOff x="5508625" y="3860800"/>
            <a:chExt cx="2879725" cy="2519363"/>
          </a:xfrm>
        </p:grpSpPr>
        <p:sp>
          <p:nvSpPr>
            <p:cNvPr id="55301" name="Rectangle 4"/>
            <p:cNvSpPr>
              <a:spLocks noChangeArrowheads="1"/>
            </p:cNvSpPr>
            <p:nvPr/>
          </p:nvSpPr>
          <p:spPr bwMode="auto">
            <a:xfrm>
              <a:off x="5508625" y="6092825"/>
              <a:ext cx="2879725" cy="28733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2" name="Text Box 5"/>
            <p:cNvSpPr txBox="1">
              <a:spLocks noChangeArrowheads="1"/>
            </p:cNvSpPr>
            <p:nvPr/>
          </p:nvSpPr>
          <p:spPr bwMode="auto">
            <a:xfrm>
              <a:off x="6229350" y="5372100"/>
              <a:ext cx="15113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5303" name="Rectangle 6"/>
            <p:cNvSpPr>
              <a:spLocks noChangeArrowheads="1"/>
            </p:cNvSpPr>
            <p:nvPr/>
          </p:nvSpPr>
          <p:spPr bwMode="auto">
            <a:xfrm>
              <a:off x="6156325" y="5300663"/>
              <a:ext cx="1657350" cy="792162"/>
            </a:xfrm>
            <a:prstGeom prst="rect">
              <a:avLst/>
            </a:prstGeom>
            <a:solidFill>
              <a:srgbClr val="13952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4" name="Line 7"/>
            <p:cNvSpPr>
              <a:spLocks noChangeShapeType="1"/>
            </p:cNvSpPr>
            <p:nvPr/>
          </p:nvSpPr>
          <p:spPr bwMode="auto">
            <a:xfrm flipV="1">
              <a:off x="6948488" y="3860800"/>
              <a:ext cx="0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5" name="Line 8"/>
            <p:cNvSpPr>
              <a:spLocks noChangeShapeType="1"/>
            </p:cNvSpPr>
            <p:nvPr/>
          </p:nvSpPr>
          <p:spPr bwMode="auto">
            <a:xfrm flipV="1">
              <a:off x="6948488" y="4005263"/>
              <a:ext cx="865187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Freeform 9"/>
            <p:cNvSpPr>
              <a:spLocks/>
            </p:cNvSpPr>
            <p:nvPr/>
          </p:nvSpPr>
          <p:spPr bwMode="auto">
            <a:xfrm rot="953082">
              <a:off x="6902450" y="4156075"/>
              <a:ext cx="630238" cy="69850"/>
            </a:xfrm>
            <a:custGeom>
              <a:avLst/>
              <a:gdLst>
                <a:gd name="T0" fmla="*/ 509884386 w 779"/>
                <a:gd name="T1" fmla="*/ 50299201 h 97"/>
                <a:gd name="T2" fmla="*/ 272287087 w 779"/>
                <a:gd name="T3" fmla="*/ 3630040 h 97"/>
                <a:gd name="T4" fmla="*/ 34690597 w 779"/>
                <a:gd name="T5" fmla="*/ 26964260 h 97"/>
                <a:gd name="T6" fmla="*/ 64798822 w 779"/>
                <a:gd name="T7" fmla="*/ 26964260 h 97"/>
                <a:gd name="T8" fmla="*/ 34690597 w 779"/>
                <a:gd name="T9" fmla="*/ 26964260 h 97"/>
                <a:gd name="T10" fmla="*/ 34690597 w 779"/>
                <a:gd name="T11" fmla="*/ 5029920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9" h="97">
                  <a:moveTo>
                    <a:pt x="779" y="97"/>
                  </a:moveTo>
                  <a:cubicBezTo>
                    <a:pt x="658" y="55"/>
                    <a:pt x="537" y="14"/>
                    <a:pt x="416" y="7"/>
                  </a:cubicBezTo>
                  <a:cubicBezTo>
                    <a:pt x="295" y="0"/>
                    <a:pt x="106" y="45"/>
                    <a:pt x="53" y="52"/>
                  </a:cubicBezTo>
                  <a:cubicBezTo>
                    <a:pt x="0" y="59"/>
                    <a:pt x="99" y="52"/>
                    <a:pt x="99" y="52"/>
                  </a:cubicBezTo>
                  <a:cubicBezTo>
                    <a:pt x="99" y="52"/>
                    <a:pt x="61" y="45"/>
                    <a:pt x="53" y="52"/>
                  </a:cubicBezTo>
                  <a:cubicBezTo>
                    <a:pt x="45" y="59"/>
                    <a:pt x="49" y="78"/>
                    <a:pt x="53" y="97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Freeform 10"/>
            <p:cNvSpPr>
              <a:spLocks/>
            </p:cNvSpPr>
            <p:nvPr/>
          </p:nvSpPr>
          <p:spPr bwMode="auto">
            <a:xfrm>
              <a:off x="6445250" y="4868863"/>
              <a:ext cx="647700" cy="431800"/>
            </a:xfrm>
            <a:custGeom>
              <a:avLst/>
              <a:gdLst>
                <a:gd name="T0" fmla="*/ 0 w 952"/>
                <a:gd name="T1" fmla="*/ 991761915 h 188"/>
                <a:gd name="T2" fmla="*/ 272639518 w 952"/>
                <a:gd name="T3" fmla="*/ 36928087 h 188"/>
                <a:gd name="T4" fmla="*/ 440667321 w 952"/>
                <a:gd name="T5" fmla="*/ 754372974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2" h="188">
                  <a:moveTo>
                    <a:pt x="0" y="188"/>
                  </a:moveTo>
                  <a:cubicBezTo>
                    <a:pt x="215" y="101"/>
                    <a:pt x="430" y="14"/>
                    <a:pt x="589" y="7"/>
                  </a:cubicBezTo>
                  <a:cubicBezTo>
                    <a:pt x="748" y="0"/>
                    <a:pt x="850" y="71"/>
                    <a:pt x="952" y="1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Text Box 11"/>
            <p:cNvSpPr txBox="1">
              <a:spLocks noChangeArrowheads="1"/>
            </p:cNvSpPr>
            <p:nvPr/>
          </p:nvSpPr>
          <p:spPr bwMode="auto">
            <a:xfrm>
              <a:off x="7092950" y="3860800"/>
              <a:ext cx="50482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x</a:t>
              </a:r>
              <a:endParaRPr lang="el-GR" altLang="zh-CN" sz="2000" b="1">
                <a:cs typeface="Arial" charset="0"/>
              </a:endParaRPr>
            </a:p>
          </p:txBody>
        </p:sp>
        <p:sp>
          <p:nvSpPr>
            <p:cNvPr id="55309" name="Text Box 12"/>
            <p:cNvSpPr txBox="1">
              <a:spLocks noChangeArrowheads="1"/>
            </p:cNvSpPr>
            <p:nvPr/>
          </p:nvSpPr>
          <p:spPr bwMode="auto">
            <a:xfrm>
              <a:off x="6300788" y="4652963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  <a:cs typeface="Arial" charset="0"/>
                </a:rPr>
                <a:t>y</a:t>
              </a:r>
              <a:endParaRPr lang="el-GR" altLang="zh-CN" sz="2400" b="1">
                <a:ea typeface="楷体_GB2312" pitchFamily="49" charset="-122"/>
                <a:cs typeface="Arial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DB74E5-8A21-F6FC-3CE4-7502EAEF7A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3"/>
            <a:ext cx="8229600" cy="1008062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210" y="1412876"/>
            <a:ext cx="11074438" cy="54451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输入参数隶属函数的建立</a:t>
            </a:r>
          </a:p>
          <a:p>
            <a:pPr lvl="1" eaLnBrk="1" hangingPunct="1"/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x——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偏向角度，</a:t>
            </a:r>
            <a:r>
              <a:rPr lang="en-US" altLang="zh-CN" dirty="0">
                <a:ea typeface="黑体" pitchFamily="2" charset="-122"/>
              </a:rPr>
              <a:t>x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={-2, -1, 0, 1, 2}, </a:t>
            </a:r>
          </a:p>
          <a:p>
            <a:pPr lvl="2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有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个语言值：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P(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正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、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Z(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零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和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N(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负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</a:p>
          <a:p>
            <a:pPr lvl="2" eaLnBrk="1" hangingPunct="1"/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lvl="2" eaLnBrk="1" hangingPunct="1"/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lvl="2" eaLnBrk="1" hangingPunct="1"/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lvl="2" eaLnBrk="1" hangingPunct="1"/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y——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偏向角度的变化率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,</a:t>
            </a:r>
          </a:p>
          <a:p>
            <a:pPr lvl="2" eaLnBrk="1" hangingPunct="1"/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Y=</a:t>
            </a:r>
            <a:r>
              <a:rPr lang="es-ES" altLang="zh-CN" dirty="0">
                <a:solidFill>
                  <a:schemeClr val="bg2"/>
                </a:solidFill>
                <a:ea typeface="黑体" pitchFamily="2" charset="-122"/>
              </a:rPr>
              <a:t>{-5, -4, -3, -2, -1, 0, 1, 2, 3, 4, 5}</a:t>
            </a:r>
            <a:r>
              <a:rPr lang="zh-CN" altLang="es-ES" dirty="0">
                <a:solidFill>
                  <a:schemeClr val="bg2"/>
                </a:solidFill>
                <a:ea typeface="黑体" pitchFamily="2" charset="-122"/>
              </a:rPr>
              <a:t>，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语言值：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P(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正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、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Z(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零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和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N(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负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  <a:endParaRPr lang="en-US" altLang="zh-CN" dirty="0">
              <a:ea typeface="黑体" pitchFamily="2" charset="-122"/>
              <a:cs typeface="Arial" charset="0"/>
            </a:endParaRPr>
          </a:p>
        </p:txBody>
      </p:sp>
      <p:grpSp>
        <p:nvGrpSpPr>
          <p:cNvPr id="75791" name="Group 15"/>
          <p:cNvGrpSpPr>
            <a:grpSpLocks/>
          </p:cNvGrpSpPr>
          <p:nvPr/>
        </p:nvGrpSpPr>
        <p:grpSpPr bwMode="auto">
          <a:xfrm>
            <a:off x="2682876" y="2924795"/>
            <a:ext cx="6551613" cy="1584325"/>
            <a:chOff x="930" y="754"/>
            <a:chExt cx="4127" cy="1535"/>
          </a:xfrm>
        </p:grpSpPr>
        <p:sp>
          <p:nvSpPr>
            <p:cNvPr id="56358" name="Line 16"/>
            <p:cNvSpPr>
              <a:spLocks noChangeShapeType="1"/>
            </p:cNvSpPr>
            <p:nvPr/>
          </p:nvSpPr>
          <p:spPr bwMode="auto">
            <a:xfrm>
              <a:off x="930" y="1842"/>
              <a:ext cx="38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9" name="Line 17"/>
            <p:cNvSpPr>
              <a:spLocks noChangeShapeType="1"/>
            </p:cNvSpPr>
            <p:nvPr/>
          </p:nvSpPr>
          <p:spPr bwMode="auto">
            <a:xfrm flipV="1">
              <a:off x="2835" y="799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18"/>
            <p:cNvSpPr>
              <a:spLocks noChangeShapeType="1"/>
            </p:cNvSpPr>
            <p:nvPr/>
          </p:nvSpPr>
          <p:spPr bwMode="auto">
            <a:xfrm flipV="1">
              <a:off x="2426" y="1752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Line 19"/>
            <p:cNvSpPr>
              <a:spLocks noChangeShapeType="1"/>
            </p:cNvSpPr>
            <p:nvPr/>
          </p:nvSpPr>
          <p:spPr bwMode="auto">
            <a:xfrm flipV="1">
              <a:off x="1973" y="1752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2" name="Line 20"/>
            <p:cNvSpPr>
              <a:spLocks noChangeShapeType="1"/>
            </p:cNvSpPr>
            <p:nvPr/>
          </p:nvSpPr>
          <p:spPr bwMode="auto">
            <a:xfrm flipV="1">
              <a:off x="3696" y="1752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Line 21"/>
            <p:cNvSpPr>
              <a:spLocks noChangeShapeType="1"/>
            </p:cNvSpPr>
            <p:nvPr/>
          </p:nvSpPr>
          <p:spPr bwMode="auto">
            <a:xfrm flipV="1">
              <a:off x="3243" y="1752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4" name="Text Box 22"/>
            <p:cNvSpPr txBox="1">
              <a:spLocks noChangeArrowheads="1"/>
            </p:cNvSpPr>
            <p:nvPr/>
          </p:nvSpPr>
          <p:spPr bwMode="auto">
            <a:xfrm>
              <a:off x="1701" y="1934"/>
              <a:ext cx="335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   -2       -1         0         1         2                           x</a:t>
              </a:r>
            </a:p>
          </p:txBody>
        </p:sp>
        <p:sp>
          <p:nvSpPr>
            <p:cNvPr id="56365" name="Line 23"/>
            <p:cNvSpPr>
              <a:spLocks noChangeShapeType="1"/>
            </p:cNvSpPr>
            <p:nvPr/>
          </p:nvSpPr>
          <p:spPr bwMode="auto">
            <a:xfrm flipV="1">
              <a:off x="1973" y="1026"/>
              <a:ext cx="862" cy="8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6" name="Line 24"/>
            <p:cNvSpPr>
              <a:spLocks noChangeShapeType="1"/>
            </p:cNvSpPr>
            <p:nvPr/>
          </p:nvSpPr>
          <p:spPr bwMode="auto">
            <a:xfrm>
              <a:off x="2835" y="1026"/>
              <a:ext cx="861" cy="8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Line 25"/>
            <p:cNvSpPr>
              <a:spLocks noChangeShapeType="1"/>
            </p:cNvSpPr>
            <p:nvPr/>
          </p:nvSpPr>
          <p:spPr bwMode="auto">
            <a:xfrm rot="5400000" flipV="1">
              <a:off x="1995" y="1004"/>
              <a:ext cx="862" cy="81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8" name="Line 26"/>
            <p:cNvSpPr>
              <a:spLocks noChangeShapeType="1"/>
            </p:cNvSpPr>
            <p:nvPr/>
          </p:nvSpPr>
          <p:spPr bwMode="auto">
            <a:xfrm flipV="1">
              <a:off x="2835" y="1026"/>
              <a:ext cx="862" cy="8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9" name="Line 27"/>
            <p:cNvSpPr>
              <a:spLocks noChangeShapeType="1"/>
            </p:cNvSpPr>
            <p:nvPr/>
          </p:nvSpPr>
          <p:spPr bwMode="auto">
            <a:xfrm>
              <a:off x="3696" y="1026"/>
              <a:ext cx="545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8"/>
            <p:cNvSpPr>
              <a:spLocks noChangeShapeType="1"/>
            </p:cNvSpPr>
            <p:nvPr/>
          </p:nvSpPr>
          <p:spPr bwMode="auto">
            <a:xfrm>
              <a:off x="1474" y="981"/>
              <a:ext cx="545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Text Box 29"/>
            <p:cNvSpPr txBox="1">
              <a:spLocks noChangeArrowheads="1"/>
            </p:cNvSpPr>
            <p:nvPr/>
          </p:nvSpPr>
          <p:spPr bwMode="auto">
            <a:xfrm>
              <a:off x="1655" y="754"/>
              <a:ext cx="27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N</a:t>
              </a:r>
            </a:p>
          </p:txBody>
        </p:sp>
        <p:sp>
          <p:nvSpPr>
            <p:cNvPr id="56372" name="Text Box 30"/>
            <p:cNvSpPr txBox="1">
              <a:spLocks noChangeArrowheads="1"/>
            </p:cNvSpPr>
            <p:nvPr/>
          </p:nvSpPr>
          <p:spPr bwMode="auto">
            <a:xfrm>
              <a:off x="2608" y="799"/>
              <a:ext cx="27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Z</a:t>
              </a:r>
            </a:p>
          </p:txBody>
        </p:sp>
        <p:sp>
          <p:nvSpPr>
            <p:cNvPr id="56373" name="Text Box 31"/>
            <p:cNvSpPr txBox="1">
              <a:spLocks noChangeArrowheads="1"/>
            </p:cNvSpPr>
            <p:nvPr/>
          </p:nvSpPr>
          <p:spPr bwMode="auto">
            <a:xfrm>
              <a:off x="3742" y="799"/>
              <a:ext cx="27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75808" name="Group 32"/>
          <p:cNvGrpSpPr>
            <a:grpSpLocks/>
          </p:cNvGrpSpPr>
          <p:nvPr/>
        </p:nvGrpSpPr>
        <p:grpSpPr bwMode="auto">
          <a:xfrm>
            <a:off x="2351088" y="5224859"/>
            <a:ext cx="7632700" cy="1660525"/>
            <a:chOff x="521" y="2432"/>
            <a:chExt cx="4808" cy="1455"/>
          </a:xfrm>
        </p:grpSpPr>
        <p:sp>
          <p:nvSpPr>
            <p:cNvPr id="56336" name="Line 33"/>
            <p:cNvSpPr>
              <a:spLocks noChangeShapeType="1"/>
            </p:cNvSpPr>
            <p:nvPr/>
          </p:nvSpPr>
          <p:spPr bwMode="auto">
            <a:xfrm>
              <a:off x="521" y="3475"/>
              <a:ext cx="46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7" name="Line 34"/>
            <p:cNvSpPr>
              <a:spLocks noChangeShapeType="1"/>
            </p:cNvSpPr>
            <p:nvPr/>
          </p:nvSpPr>
          <p:spPr bwMode="auto">
            <a:xfrm flipV="1">
              <a:off x="2426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8" name="Line 35"/>
            <p:cNvSpPr>
              <a:spLocks noChangeShapeType="1"/>
            </p:cNvSpPr>
            <p:nvPr/>
          </p:nvSpPr>
          <p:spPr bwMode="auto">
            <a:xfrm flipV="1">
              <a:off x="1973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9" name="Line 36"/>
            <p:cNvSpPr>
              <a:spLocks noChangeShapeType="1"/>
            </p:cNvSpPr>
            <p:nvPr/>
          </p:nvSpPr>
          <p:spPr bwMode="auto">
            <a:xfrm flipV="1">
              <a:off x="3696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Line 37"/>
            <p:cNvSpPr>
              <a:spLocks noChangeShapeType="1"/>
            </p:cNvSpPr>
            <p:nvPr/>
          </p:nvSpPr>
          <p:spPr bwMode="auto">
            <a:xfrm flipV="1">
              <a:off x="3243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Text Box 38"/>
            <p:cNvSpPr txBox="1">
              <a:spLocks noChangeArrowheads="1"/>
            </p:cNvSpPr>
            <p:nvPr/>
          </p:nvSpPr>
          <p:spPr bwMode="auto">
            <a:xfrm>
              <a:off x="521" y="3566"/>
              <a:ext cx="480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  -5      -4         -3       -2       -1         0         1         2       3         4         5   y</a:t>
              </a:r>
            </a:p>
          </p:txBody>
        </p:sp>
        <p:sp>
          <p:nvSpPr>
            <p:cNvPr id="56342" name="Line 39"/>
            <p:cNvSpPr>
              <a:spLocks noChangeShapeType="1"/>
            </p:cNvSpPr>
            <p:nvPr/>
          </p:nvSpPr>
          <p:spPr bwMode="auto">
            <a:xfrm flipV="1">
              <a:off x="2835" y="2432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3" name="Line 40"/>
            <p:cNvSpPr>
              <a:spLocks noChangeShapeType="1"/>
            </p:cNvSpPr>
            <p:nvPr/>
          </p:nvSpPr>
          <p:spPr bwMode="auto">
            <a:xfrm flipV="1">
              <a:off x="703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4" name="Line 41"/>
            <p:cNvSpPr>
              <a:spLocks noChangeShapeType="1"/>
            </p:cNvSpPr>
            <p:nvPr/>
          </p:nvSpPr>
          <p:spPr bwMode="auto">
            <a:xfrm flipV="1">
              <a:off x="1565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5" name="Line 42"/>
            <p:cNvSpPr>
              <a:spLocks noChangeShapeType="1"/>
            </p:cNvSpPr>
            <p:nvPr/>
          </p:nvSpPr>
          <p:spPr bwMode="auto">
            <a:xfrm flipV="1">
              <a:off x="1111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6" name="Line 43"/>
            <p:cNvSpPr>
              <a:spLocks noChangeShapeType="1"/>
            </p:cNvSpPr>
            <p:nvPr/>
          </p:nvSpPr>
          <p:spPr bwMode="auto">
            <a:xfrm flipV="1">
              <a:off x="4105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7" name="Line 44"/>
            <p:cNvSpPr>
              <a:spLocks noChangeShapeType="1"/>
            </p:cNvSpPr>
            <p:nvPr/>
          </p:nvSpPr>
          <p:spPr bwMode="auto">
            <a:xfrm flipV="1">
              <a:off x="4967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8" name="Line 45"/>
            <p:cNvSpPr>
              <a:spLocks noChangeShapeType="1"/>
            </p:cNvSpPr>
            <p:nvPr/>
          </p:nvSpPr>
          <p:spPr bwMode="auto">
            <a:xfrm flipV="1">
              <a:off x="4513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9" name="Line 46"/>
            <p:cNvSpPr>
              <a:spLocks noChangeShapeType="1"/>
            </p:cNvSpPr>
            <p:nvPr/>
          </p:nvSpPr>
          <p:spPr bwMode="auto">
            <a:xfrm flipH="1">
              <a:off x="703" y="2704"/>
              <a:ext cx="2132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0" name="Line 47"/>
            <p:cNvSpPr>
              <a:spLocks noChangeShapeType="1"/>
            </p:cNvSpPr>
            <p:nvPr/>
          </p:nvSpPr>
          <p:spPr bwMode="auto">
            <a:xfrm>
              <a:off x="2835" y="2704"/>
              <a:ext cx="2132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1" name="Line 48"/>
            <p:cNvSpPr>
              <a:spLocks noChangeShapeType="1"/>
            </p:cNvSpPr>
            <p:nvPr/>
          </p:nvSpPr>
          <p:spPr bwMode="auto">
            <a:xfrm>
              <a:off x="703" y="2704"/>
              <a:ext cx="2132" cy="771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Line 49"/>
            <p:cNvSpPr>
              <a:spLocks noChangeShapeType="1"/>
            </p:cNvSpPr>
            <p:nvPr/>
          </p:nvSpPr>
          <p:spPr bwMode="auto">
            <a:xfrm flipH="1">
              <a:off x="2835" y="2704"/>
              <a:ext cx="2132" cy="77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3" name="Line 50"/>
            <p:cNvSpPr>
              <a:spLocks noChangeShapeType="1"/>
            </p:cNvSpPr>
            <p:nvPr/>
          </p:nvSpPr>
          <p:spPr bwMode="auto">
            <a:xfrm flipH="1">
              <a:off x="567" y="2704"/>
              <a:ext cx="136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4" name="Line 51"/>
            <p:cNvSpPr>
              <a:spLocks noChangeShapeType="1"/>
            </p:cNvSpPr>
            <p:nvPr/>
          </p:nvSpPr>
          <p:spPr bwMode="auto">
            <a:xfrm flipH="1">
              <a:off x="4967" y="2704"/>
              <a:ext cx="136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5" name="Text Box 52"/>
            <p:cNvSpPr txBox="1">
              <a:spLocks noChangeArrowheads="1"/>
            </p:cNvSpPr>
            <p:nvPr/>
          </p:nvSpPr>
          <p:spPr bwMode="auto">
            <a:xfrm>
              <a:off x="748" y="2432"/>
              <a:ext cx="272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N</a:t>
              </a:r>
            </a:p>
          </p:txBody>
        </p:sp>
        <p:sp>
          <p:nvSpPr>
            <p:cNvPr id="56356" name="Text Box 53"/>
            <p:cNvSpPr txBox="1">
              <a:spLocks noChangeArrowheads="1"/>
            </p:cNvSpPr>
            <p:nvPr/>
          </p:nvSpPr>
          <p:spPr bwMode="auto">
            <a:xfrm>
              <a:off x="2608" y="2478"/>
              <a:ext cx="272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Z</a:t>
              </a:r>
            </a:p>
          </p:txBody>
        </p:sp>
        <p:sp>
          <p:nvSpPr>
            <p:cNvPr id="56357" name="Text Box 54"/>
            <p:cNvSpPr txBox="1">
              <a:spLocks noChangeArrowheads="1"/>
            </p:cNvSpPr>
            <p:nvPr/>
          </p:nvSpPr>
          <p:spPr bwMode="auto">
            <a:xfrm>
              <a:off x="4785" y="2432"/>
              <a:ext cx="272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56326" name="组合 43"/>
          <p:cNvGrpSpPr>
            <a:grpSpLocks/>
          </p:cNvGrpSpPr>
          <p:nvPr/>
        </p:nvGrpSpPr>
        <p:grpSpPr bwMode="auto">
          <a:xfrm>
            <a:off x="9461790" y="1393521"/>
            <a:ext cx="2159000" cy="2008187"/>
            <a:chOff x="5508625" y="3804646"/>
            <a:chExt cx="2879725" cy="2575517"/>
          </a:xfrm>
        </p:grpSpPr>
        <p:sp>
          <p:nvSpPr>
            <p:cNvPr id="56327" name="Rectangle 4"/>
            <p:cNvSpPr>
              <a:spLocks noChangeArrowheads="1"/>
            </p:cNvSpPr>
            <p:nvPr/>
          </p:nvSpPr>
          <p:spPr bwMode="auto">
            <a:xfrm>
              <a:off x="5508625" y="6092825"/>
              <a:ext cx="2879725" cy="28733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8" name="Text Box 5"/>
            <p:cNvSpPr txBox="1">
              <a:spLocks noChangeArrowheads="1"/>
            </p:cNvSpPr>
            <p:nvPr/>
          </p:nvSpPr>
          <p:spPr bwMode="auto">
            <a:xfrm>
              <a:off x="6229350" y="5372100"/>
              <a:ext cx="1511299" cy="473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6329" name="Rectangle 6"/>
            <p:cNvSpPr>
              <a:spLocks noChangeArrowheads="1"/>
            </p:cNvSpPr>
            <p:nvPr/>
          </p:nvSpPr>
          <p:spPr bwMode="auto">
            <a:xfrm>
              <a:off x="6156325" y="5300663"/>
              <a:ext cx="1657350" cy="792162"/>
            </a:xfrm>
            <a:prstGeom prst="rect">
              <a:avLst/>
            </a:prstGeom>
            <a:solidFill>
              <a:srgbClr val="13952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30" name="Line 7"/>
            <p:cNvSpPr>
              <a:spLocks noChangeShapeType="1"/>
            </p:cNvSpPr>
            <p:nvPr/>
          </p:nvSpPr>
          <p:spPr bwMode="auto">
            <a:xfrm flipV="1">
              <a:off x="6948488" y="3860800"/>
              <a:ext cx="0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1" name="Line 8"/>
            <p:cNvSpPr>
              <a:spLocks noChangeShapeType="1"/>
            </p:cNvSpPr>
            <p:nvPr/>
          </p:nvSpPr>
          <p:spPr bwMode="auto">
            <a:xfrm flipV="1">
              <a:off x="6948488" y="4005263"/>
              <a:ext cx="865187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2" name="Freeform 9"/>
            <p:cNvSpPr>
              <a:spLocks/>
            </p:cNvSpPr>
            <p:nvPr/>
          </p:nvSpPr>
          <p:spPr bwMode="auto">
            <a:xfrm rot="953082">
              <a:off x="6902450" y="4156075"/>
              <a:ext cx="630238" cy="69850"/>
            </a:xfrm>
            <a:custGeom>
              <a:avLst/>
              <a:gdLst>
                <a:gd name="T0" fmla="*/ 509884386 w 779"/>
                <a:gd name="T1" fmla="*/ 50299201 h 97"/>
                <a:gd name="T2" fmla="*/ 272287087 w 779"/>
                <a:gd name="T3" fmla="*/ 3630040 h 97"/>
                <a:gd name="T4" fmla="*/ 34690597 w 779"/>
                <a:gd name="T5" fmla="*/ 26964260 h 97"/>
                <a:gd name="T6" fmla="*/ 64798822 w 779"/>
                <a:gd name="T7" fmla="*/ 26964260 h 97"/>
                <a:gd name="T8" fmla="*/ 34690597 w 779"/>
                <a:gd name="T9" fmla="*/ 26964260 h 97"/>
                <a:gd name="T10" fmla="*/ 34690597 w 779"/>
                <a:gd name="T11" fmla="*/ 5029920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9" h="97">
                  <a:moveTo>
                    <a:pt x="779" y="97"/>
                  </a:moveTo>
                  <a:cubicBezTo>
                    <a:pt x="658" y="55"/>
                    <a:pt x="537" y="14"/>
                    <a:pt x="416" y="7"/>
                  </a:cubicBezTo>
                  <a:cubicBezTo>
                    <a:pt x="295" y="0"/>
                    <a:pt x="106" y="45"/>
                    <a:pt x="53" y="52"/>
                  </a:cubicBezTo>
                  <a:cubicBezTo>
                    <a:pt x="0" y="59"/>
                    <a:pt x="99" y="52"/>
                    <a:pt x="99" y="52"/>
                  </a:cubicBezTo>
                  <a:cubicBezTo>
                    <a:pt x="99" y="52"/>
                    <a:pt x="61" y="45"/>
                    <a:pt x="53" y="52"/>
                  </a:cubicBezTo>
                  <a:cubicBezTo>
                    <a:pt x="45" y="59"/>
                    <a:pt x="49" y="78"/>
                    <a:pt x="53" y="97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3" name="Freeform 10"/>
            <p:cNvSpPr>
              <a:spLocks/>
            </p:cNvSpPr>
            <p:nvPr/>
          </p:nvSpPr>
          <p:spPr bwMode="auto">
            <a:xfrm>
              <a:off x="6445250" y="4868863"/>
              <a:ext cx="647700" cy="431800"/>
            </a:xfrm>
            <a:custGeom>
              <a:avLst/>
              <a:gdLst>
                <a:gd name="T0" fmla="*/ 0 w 952"/>
                <a:gd name="T1" fmla="*/ 991761915 h 188"/>
                <a:gd name="T2" fmla="*/ 272639518 w 952"/>
                <a:gd name="T3" fmla="*/ 36928087 h 188"/>
                <a:gd name="T4" fmla="*/ 440667321 w 952"/>
                <a:gd name="T5" fmla="*/ 754372974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2" h="188">
                  <a:moveTo>
                    <a:pt x="0" y="188"/>
                  </a:moveTo>
                  <a:cubicBezTo>
                    <a:pt x="215" y="101"/>
                    <a:pt x="430" y="14"/>
                    <a:pt x="589" y="7"/>
                  </a:cubicBezTo>
                  <a:cubicBezTo>
                    <a:pt x="748" y="0"/>
                    <a:pt x="850" y="71"/>
                    <a:pt x="952" y="1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4" name="Text Box 11"/>
            <p:cNvSpPr txBox="1">
              <a:spLocks noChangeArrowheads="1"/>
            </p:cNvSpPr>
            <p:nvPr/>
          </p:nvSpPr>
          <p:spPr bwMode="auto">
            <a:xfrm>
              <a:off x="7092950" y="3804646"/>
              <a:ext cx="504826" cy="473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cs typeface="Arial" charset="0"/>
                </a:rPr>
                <a:t>x</a:t>
              </a:r>
              <a:endParaRPr lang="el-GR" altLang="zh-CN">
                <a:cs typeface="Arial" charset="0"/>
              </a:endParaRPr>
            </a:p>
          </p:txBody>
        </p:sp>
        <p:sp>
          <p:nvSpPr>
            <p:cNvPr id="56335" name="Text Box 12"/>
            <p:cNvSpPr txBox="1">
              <a:spLocks noChangeArrowheads="1"/>
            </p:cNvSpPr>
            <p:nvPr/>
          </p:nvSpPr>
          <p:spPr bwMode="auto">
            <a:xfrm>
              <a:off x="6300788" y="4652963"/>
              <a:ext cx="431800" cy="592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  <a:cs typeface="Arial" charset="0"/>
                </a:rPr>
                <a:t>y</a:t>
              </a:r>
              <a:endParaRPr lang="el-GR" altLang="zh-CN" sz="2400" b="1">
                <a:ea typeface="楷体_GB2312" pitchFamily="49" charset="-122"/>
                <a:cs typeface="Arial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6D8A2F-757B-D6D8-6998-71E6075096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74211" y="1490664"/>
            <a:ext cx="9195314" cy="43830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黑体" pitchFamily="2" charset="-122"/>
                <a:cs typeface="Arial" charset="0"/>
              </a:rPr>
              <a:t>控制量</a:t>
            </a:r>
            <a:r>
              <a:rPr lang="en-US" altLang="zh-CN" dirty="0">
                <a:ea typeface="黑体" pitchFamily="2" charset="-122"/>
                <a:cs typeface="Arial" charset="0"/>
              </a:rPr>
              <a:t>T=u(t)——</a:t>
            </a:r>
            <a:r>
              <a:rPr lang="zh-CN" altLang="en-US" dirty="0">
                <a:ea typeface="黑体" pitchFamily="2" charset="-122"/>
                <a:cs typeface="Arial" charset="0"/>
              </a:rPr>
              <a:t>作为用于杆的逆时针扭矩</a:t>
            </a:r>
          </a:p>
          <a:p>
            <a:pPr lvl="1" eaLnBrk="1" hangingPunct="1">
              <a:defRPr/>
            </a:pPr>
            <a:r>
              <a:rPr lang="en-US" altLang="zh-CN" dirty="0">
                <a:ea typeface="黑体" pitchFamily="2" charset="-122"/>
                <a:cs typeface="Arial" charset="0"/>
              </a:rPr>
              <a:t>U={-24,-20,-16,-12,-8,-4,0,4,8,12,16,20,24}</a:t>
            </a:r>
          </a:p>
          <a:p>
            <a:pPr lvl="1" eaLnBrk="1" hangingPunct="1">
              <a:defRPr/>
            </a:pPr>
            <a:r>
              <a:rPr lang="zh-CN" altLang="en-US" dirty="0">
                <a:ea typeface="黑体" pitchFamily="2" charset="-122"/>
                <a:cs typeface="Arial" charset="0"/>
              </a:rPr>
              <a:t>有</a:t>
            </a:r>
            <a:r>
              <a:rPr lang="en-US" altLang="zh-CN" dirty="0">
                <a:ea typeface="黑体" pitchFamily="2" charset="-122"/>
                <a:cs typeface="Arial" charset="0"/>
              </a:rPr>
              <a:t>5</a:t>
            </a:r>
            <a:r>
              <a:rPr lang="zh-CN" altLang="en-US" dirty="0">
                <a:ea typeface="黑体" pitchFamily="2" charset="-122"/>
                <a:cs typeface="Arial" charset="0"/>
              </a:rPr>
              <a:t>个语言值：</a:t>
            </a:r>
            <a:r>
              <a:rPr lang="en-US" altLang="zh-CN" dirty="0">
                <a:ea typeface="黑体" pitchFamily="2" charset="-122"/>
                <a:cs typeface="Arial" charset="0"/>
              </a:rPr>
              <a:t>NB(</a:t>
            </a:r>
            <a:r>
              <a:rPr lang="zh-CN" altLang="en-US" dirty="0">
                <a:ea typeface="黑体" pitchFamily="2" charset="-122"/>
                <a:cs typeface="Arial" charset="0"/>
              </a:rPr>
              <a:t>负大</a:t>
            </a:r>
            <a:r>
              <a:rPr lang="en-US" altLang="zh-CN" dirty="0">
                <a:ea typeface="黑体" pitchFamily="2" charset="-122"/>
                <a:cs typeface="Arial" charset="0"/>
              </a:rPr>
              <a:t>)</a:t>
            </a:r>
            <a:r>
              <a:rPr lang="zh-CN" altLang="en-US" dirty="0">
                <a:ea typeface="黑体" pitchFamily="2" charset="-122"/>
                <a:cs typeface="Arial" charset="0"/>
              </a:rPr>
              <a:t>，</a:t>
            </a:r>
            <a:r>
              <a:rPr lang="en-US" altLang="zh-CN" dirty="0">
                <a:ea typeface="黑体" pitchFamily="2" charset="-122"/>
                <a:cs typeface="Arial" charset="0"/>
              </a:rPr>
              <a:t>N(</a:t>
            </a:r>
            <a:r>
              <a:rPr lang="zh-CN" altLang="en-US" dirty="0">
                <a:ea typeface="黑体" pitchFamily="2" charset="-122"/>
                <a:cs typeface="Arial" charset="0"/>
              </a:rPr>
              <a:t>负</a:t>
            </a:r>
            <a:r>
              <a:rPr lang="en-US" altLang="zh-CN" dirty="0">
                <a:ea typeface="黑体" pitchFamily="2" charset="-122"/>
                <a:cs typeface="Arial" charset="0"/>
              </a:rPr>
              <a:t>)</a:t>
            </a:r>
            <a:r>
              <a:rPr lang="zh-CN" altLang="en-US" dirty="0">
                <a:ea typeface="黑体" pitchFamily="2" charset="-122"/>
                <a:cs typeface="Arial" charset="0"/>
              </a:rPr>
              <a:t>，</a:t>
            </a:r>
            <a:r>
              <a:rPr lang="en-US" altLang="zh-CN" dirty="0">
                <a:ea typeface="黑体" pitchFamily="2" charset="-122"/>
                <a:cs typeface="Arial" charset="0"/>
              </a:rPr>
              <a:t>Z(</a:t>
            </a:r>
            <a:r>
              <a:rPr lang="zh-CN" altLang="en-US" dirty="0">
                <a:ea typeface="黑体" pitchFamily="2" charset="-122"/>
                <a:cs typeface="Arial" charset="0"/>
              </a:rPr>
              <a:t>零</a:t>
            </a:r>
            <a:r>
              <a:rPr lang="en-US" altLang="zh-CN" dirty="0">
                <a:ea typeface="黑体" pitchFamily="2" charset="-122"/>
                <a:cs typeface="Arial" charset="0"/>
              </a:rPr>
              <a:t>)</a:t>
            </a:r>
            <a:r>
              <a:rPr lang="zh-CN" altLang="en-US" dirty="0">
                <a:ea typeface="黑体" pitchFamily="2" charset="-122"/>
                <a:cs typeface="Arial" charset="0"/>
              </a:rPr>
              <a:t>，</a:t>
            </a:r>
            <a:endParaRPr lang="en-US" altLang="zh-CN" dirty="0">
              <a:ea typeface="黑体" pitchFamily="2" charset="-122"/>
              <a:cs typeface="Arial" charset="0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>
                <a:ea typeface="黑体" pitchFamily="2" charset="-122"/>
                <a:cs typeface="Arial" charset="0"/>
              </a:rPr>
              <a:t>    P(</a:t>
            </a:r>
            <a:r>
              <a:rPr lang="zh-CN" altLang="en-US" dirty="0">
                <a:ea typeface="黑体" pitchFamily="2" charset="-122"/>
                <a:cs typeface="Arial" charset="0"/>
              </a:rPr>
              <a:t>正</a:t>
            </a:r>
            <a:r>
              <a:rPr lang="en-US" altLang="zh-CN" dirty="0">
                <a:ea typeface="黑体" pitchFamily="2" charset="-122"/>
                <a:cs typeface="Arial" charset="0"/>
              </a:rPr>
              <a:t>)</a:t>
            </a:r>
            <a:r>
              <a:rPr lang="zh-CN" altLang="en-US" dirty="0">
                <a:ea typeface="黑体" pitchFamily="2" charset="-122"/>
                <a:cs typeface="Arial" charset="0"/>
              </a:rPr>
              <a:t>和</a:t>
            </a:r>
            <a:r>
              <a:rPr lang="en-US" altLang="zh-CN" dirty="0">
                <a:ea typeface="黑体" pitchFamily="2" charset="-122"/>
                <a:cs typeface="Arial" charset="0"/>
              </a:rPr>
              <a:t>PB(</a:t>
            </a:r>
            <a:r>
              <a:rPr lang="zh-CN" altLang="en-US" dirty="0">
                <a:ea typeface="黑体" pitchFamily="2" charset="-122"/>
                <a:cs typeface="Arial" charset="0"/>
              </a:rPr>
              <a:t>正大</a:t>
            </a:r>
            <a:r>
              <a:rPr lang="en-US" altLang="zh-CN" dirty="0">
                <a:ea typeface="黑体" pitchFamily="2" charset="-122"/>
                <a:cs typeface="Arial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>
              <a:ea typeface="黑体" pitchFamily="2" charset="-122"/>
              <a:cs typeface="Arial" charset="0"/>
            </a:endParaRPr>
          </a:p>
        </p:txBody>
      </p:sp>
      <p:grpSp>
        <p:nvGrpSpPr>
          <p:cNvPr id="57348" name="Group 34"/>
          <p:cNvGrpSpPr>
            <a:grpSpLocks/>
          </p:cNvGrpSpPr>
          <p:nvPr/>
        </p:nvGrpSpPr>
        <p:grpSpPr bwMode="auto">
          <a:xfrm>
            <a:off x="1920503" y="4142382"/>
            <a:ext cx="8135937" cy="2166938"/>
            <a:chOff x="295" y="2432"/>
            <a:chExt cx="5125" cy="1365"/>
          </a:xfrm>
        </p:grpSpPr>
        <p:sp>
          <p:nvSpPr>
            <p:cNvPr id="57359" name="Line 35"/>
            <p:cNvSpPr>
              <a:spLocks noChangeShapeType="1"/>
            </p:cNvSpPr>
            <p:nvPr/>
          </p:nvSpPr>
          <p:spPr bwMode="auto">
            <a:xfrm>
              <a:off x="476" y="3475"/>
              <a:ext cx="4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0" name="Line 36"/>
            <p:cNvSpPr>
              <a:spLocks noChangeShapeType="1"/>
            </p:cNvSpPr>
            <p:nvPr/>
          </p:nvSpPr>
          <p:spPr bwMode="auto">
            <a:xfrm flipV="1">
              <a:off x="2511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1" name="Line 37"/>
            <p:cNvSpPr>
              <a:spLocks noChangeShapeType="1"/>
            </p:cNvSpPr>
            <p:nvPr/>
          </p:nvSpPr>
          <p:spPr bwMode="auto">
            <a:xfrm flipV="1">
              <a:off x="2113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2" name="Line 38"/>
            <p:cNvSpPr>
              <a:spLocks noChangeShapeType="1"/>
            </p:cNvSpPr>
            <p:nvPr/>
          </p:nvSpPr>
          <p:spPr bwMode="auto">
            <a:xfrm flipV="1">
              <a:off x="3625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3" name="Line 39"/>
            <p:cNvSpPr>
              <a:spLocks noChangeShapeType="1"/>
            </p:cNvSpPr>
            <p:nvPr/>
          </p:nvSpPr>
          <p:spPr bwMode="auto">
            <a:xfrm flipV="1">
              <a:off x="3228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4" name="Text Box 40"/>
            <p:cNvSpPr txBox="1">
              <a:spLocks noChangeArrowheads="1"/>
            </p:cNvSpPr>
            <p:nvPr/>
          </p:nvSpPr>
          <p:spPr bwMode="auto">
            <a:xfrm>
              <a:off x="295" y="3566"/>
              <a:ext cx="51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    -24     -20   -16    -12     -8       -4       0       4        8      12     16      20    24   u</a:t>
              </a:r>
            </a:p>
          </p:txBody>
        </p:sp>
        <p:sp>
          <p:nvSpPr>
            <p:cNvPr id="57365" name="Line 41"/>
            <p:cNvSpPr>
              <a:spLocks noChangeShapeType="1"/>
            </p:cNvSpPr>
            <p:nvPr/>
          </p:nvSpPr>
          <p:spPr bwMode="auto">
            <a:xfrm flipV="1">
              <a:off x="2870" y="2432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6" name="Line 42"/>
            <p:cNvSpPr>
              <a:spLocks noChangeShapeType="1"/>
            </p:cNvSpPr>
            <p:nvPr/>
          </p:nvSpPr>
          <p:spPr bwMode="auto">
            <a:xfrm flipV="1">
              <a:off x="999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7" name="Line 43"/>
            <p:cNvSpPr>
              <a:spLocks noChangeShapeType="1"/>
            </p:cNvSpPr>
            <p:nvPr/>
          </p:nvSpPr>
          <p:spPr bwMode="auto">
            <a:xfrm flipV="1">
              <a:off x="1755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8" name="Line 44"/>
            <p:cNvSpPr>
              <a:spLocks noChangeShapeType="1"/>
            </p:cNvSpPr>
            <p:nvPr/>
          </p:nvSpPr>
          <p:spPr bwMode="auto">
            <a:xfrm flipV="1">
              <a:off x="1357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9" name="Line 45"/>
            <p:cNvSpPr>
              <a:spLocks noChangeShapeType="1"/>
            </p:cNvSpPr>
            <p:nvPr/>
          </p:nvSpPr>
          <p:spPr bwMode="auto">
            <a:xfrm flipV="1">
              <a:off x="3984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Line 46"/>
            <p:cNvSpPr>
              <a:spLocks noChangeShapeType="1"/>
            </p:cNvSpPr>
            <p:nvPr/>
          </p:nvSpPr>
          <p:spPr bwMode="auto">
            <a:xfrm flipV="1">
              <a:off x="4740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1" name="Line 47"/>
            <p:cNvSpPr>
              <a:spLocks noChangeShapeType="1"/>
            </p:cNvSpPr>
            <p:nvPr/>
          </p:nvSpPr>
          <p:spPr bwMode="auto">
            <a:xfrm flipV="1">
              <a:off x="4342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Line 48"/>
            <p:cNvSpPr>
              <a:spLocks noChangeShapeType="1"/>
            </p:cNvSpPr>
            <p:nvPr/>
          </p:nvSpPr>
          <p:spPr bwMode="auto">
            <a:xfrm flipH="1">
              <a:off x="2109" y="2704"/>
              <a:ext cx="761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3" name="Line 49"/>
            <p:cNvSpPr>
              <a:spLocks noChangeShapeType="1"/>
            </p:cNvSpPr>
            <p:nvPr/>
          </p:nvSpPr>
          <p:spPr bwMode="auto">
            <a:xfrm>
              <a:off x="2870" y="2704"/>
              <a:ext cx="736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Line 50"/>
            <p:cNvSpPr>
              <a:spLocks noChangeShapeType="1"/>
            </p:cNvSpPr>
            <p:nvPr/>
          </p:nvSpPr>
          <p:spPr bwMode="auto">
            <a:xfrm flipH="1">
              <a:off x="476" y="2704"/>
              <a:ext cx="120" cy="1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5" name="Line 51"/>
            <p:cNvSpPr>
              <a:spLocks noChangeShapeType="1"/>
            </p:cNvSpPr>
            <p:nvPr/>
          </p:nvSpPr>
          <p:spPr bwMode="auto">
            <a:xfrm flipH="1">
              <a:off x="5103" y="2704"/>
              <a:ext cx="12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6" name="Text Box 52"/>
            <p:cNvSpPr txBox="1">
              <a:spLocks noChangeArrowheads="1"/>
            </p:cNvSpPr>
            <p:nvPr/>
          </p:nvSpPr>
          <p:spPr bwMode="auto">
            <a:xfrm>
              <a:off x="1247" y="2432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NB</a:t>
              </a:r>
            </a:p>
          </p:txBody>
        </p:sp>
        <p:sp>
          <p:nvSpPr>
            <p:cNvPr id="57377" name="Text Box 53"/>
            <p:cNvSpPr txBox="1">
              <a:spLocks noChangeArrowheads="1"/>
            </p:cNvSpPr>
            <p:nvPr/>
          </p:nvSpPr>
          <p:spPr bwMode="auto">
            <a:xfrm>
              <a:off x="2670" y="2478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Z</a:t>
              </a:r>
            </a:p>
          </p:txBody>
        </p:sp>
        <p:sp>
          <p:nvSpPr>
            <p:cNvPr id="57378" name="Text Box 54"/>
            <p:cNvSpPr txBox="1">
              <a:spLocks noChangeArrowheads="1"/>
            </p:cNvSpPr>
            <p:nvPr/>
          </p:nvSpPr>
          <p:spPr bwMode="auto">
            <a:xfrm>
              <a:off x="4241" y="2432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PB</a:t>
              </a:r>
            </a:p>
          </p:txBody>
        </p:sp>
        <p:sp>
          <p:nvSpPr>
            <p:cNvPr id="57379" name="Line 55"/>
            <p:cNvSpPr>
              <a:spLocks noChangeShapeType="1"/>
            </p:cNvSpPr>
            <p:nvPr/>
          </p:nvSpPr>
          <p:spPr bwMode="auto">
            <a:xfrm flipV="1">
              <a:off x="657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0" name="Line 56"/>
            <p:cNvSpPr>
              <a:spLocks noChangeShapeType="1"/>
            </p:cNvSpPr>
            <p:nvPr/>
          </p:nvSpPr>
          <p:spPr bwMode="auto">
            <a:xfrm flipV="1">
              <a:off x="5057" y="3385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1" name="Line 57"/>
            <p:cNvSpPr>
              <a:spLocks noChangeShapeType="1"/>
            </p:cNvSpPr>
            <p:nvPr/>
          </p:nvSpPr>
          <p:spPr bwMode="auto">
            <a:xfrm>
              <a:off x="2109" y="2704"/>
              <a:ext cx="736" cy="771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2" name="Line 58"/>
            <p:cNvSpPr>
              <a:spLocks noChangeShapeType="1"/>
            </p:cNvSpPr>
            <p:nvPr/>
          </p:nvSpPr>
          <p:spPr bwMode="auto">
            <a:xfrm flipH="1">
              <a:off x="1338" y="2704"/>
              <a:ext cx="761" cy="771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3" name="Line 59"/>
            <p:cNvSpPr>
              <a:spLocks noChangeShapeType="1"/>
            </p:cNvSpPr>
            <p:nvPr/>
          </p:nvSpPr>
          <p:spPr bwMode="auto">
            <a:xfrm flipH="1">
              <a:off x="2880" y="2704"/>
              <a:ext cx="761" cy="77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4" name="Line 60"/>
            <p:cNvSpPr>
              <a:spLocks noChangeShapeType="1"/>
            </p:cNvSpPr>
            <p:nvPr/>
          </p:nvSpPr>
          <p:spPr bwMode="auto">
            <a:xfrm>
              <a:off x="3606" y="2704"/>
              <a:ext cx="736" cy="77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5" name="Line 61"/>
            <p:cNvSpPr>
              <a:spLocks noChangeShapeType="1"/>
            </p:cNvSpPr>
            <p:nvPr/>
          </p:nvSpPr>
          <p:spPr bwMode="auto">
            <a:xfrm>
              <a:off x="1383" y="2704"/>
              <a:ext cx="736" cy="771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6" name="Line 62"/>
            <p:cNvSpPr>
              <a:spLocks noChangeShapeType="1"/>
            </p:cNvSpPr>
            <p:nvPr/>
          </p:nvSpPr>
          <p:spPr bwMode="auto">
            <a:xfrm flipH="1">
              <a:off x="657" y="2704"/>
              <a:ext cx="761" cy="771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7" name="Line 63"/>
            <p:cNvSpPr>
              <a:spLocks noChangeShapeType="1"/>
            </p:cNvSpPr>
            <p:nvPr/>
          </p:nvSpPr>
          <p:spPr bwMode="auto">
            <a:xfrm>
              <a:off x="612" y="2704"/>
              <a:ext cx="736" cy="771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8" name="Line 64"/>
            <p:cNvSpPr>
              <a:spLocks noChangeShapeType="1"/>
            </p:cNvSpPr>
            <p:nvPr/>
          </p:nvSpPr>
          <p:spPr bwMode="auto">
            <a:xfrm flipH="1">
              <a:off x="3606" y="2704"/>
              <a:ext cx="761" cy="77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9" name="Line 65"/>
            <p:cNvSpPr>
              <a:spLocks noChangeShapeType="1"/>
            </p:cNvSpPr>
            <p:nvPr/>
          </p:nvSpPr>
          <p:spPr bwMode="auto">
            <a:xfrm>
              <a:off x="4332" y="2704"/>
              <a:ext cx="736" cy="77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0" name="Line 66"/>
            <p:cNvSpPr>
              <a:spLocks noChangeShapeType="1"/>
            </p:cNvSpPr>
            <p:nvPr/>
          </p:nvSpPr>
          <p:spPr bwMode="auto">
            <a:xfrm flipH="1">
              <a:off x="4332" y="2704"/>
              <a:ext cx="761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1" name="Text Box 67"/>
            <p:cNvSpPr txBox="1">
              <a:spLocks noChangeArrowheads="1"/>
            </p:cNvSpPr>
            <p:nvPr/>
          </p:nvSpPr>
          <p:spPr bwMode="auto">
            <a:xfrm>
              <a:off x="1973" y="2478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N</a:t>
              </a:r>
            </a:p>
          </p:txBody>
        </p:sp>
        <p:sp>
          <p:nvSpPr>
            <p:cNvPr id="57392" name="Text Box 68"/>
            <p:cNvSpPr txBox="1">
              <a:spLocks noChangeArrowheads="1"/>
            </p:cNvSpPr>
            <p:nvPr/>
          </p:nvSpPr>
          <p:spPr bwMode="auto">
            <a:xfrm>
              <a:off x="3515" y="2432"/>
              <a:ext cx="2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57349" name="组合 38"/>
          <p:cNvGrpSpPr>
            <a:grpSpLocks/>
          </p:cNvGrpSpPr>
          <p:nvPr/>
        </p:nvGrpSpPr>
        <p:grpSpPr bwMode="auto">
          <a:xfrm>
            <a:off x="9625014" y="1628800"/>
            <a:ext cx="2195512" cy="2098675"/>
            <a:chOff x="5508625" y="3771298"/>
            <a:chExt cx="2879725" cy="2608865"/>
          </a:xfrm>
        </p:grpSpPr>
        <p:sp>
          <p:nvSpPr>
            <p:cNvPr id="57350" name="Rectangle 4"/>
            <p:cNvSpPr>
              <a:spLocks noChangeArrowheads="1"/>
            </p:cNvSpPr>
            <p:nvPr/>
          </p:nvSpPr>
          <p:spPr bwMode="auto">
            <a:xfrm>
              <a:off x="5508625" y="6092825"/>
              <a:ext cx="2879725" cy="28733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51" name="Text Box 5"/>
            <p:cNvSpPr txBox="1">
              <a:spLocks noChangeArrowheads="1"/>
            </p:cNvSpPr>
            <p:nvPr/>
          </p:nvSpPr>
          <p:spPr bwMode="auto">
            <a:xfrm>
              <a:off x="6229350" y="5372100"/>
              <a:ext cx="1511300" cy="4591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6156325" y="5300663"/>
              <a:ext cx="1657350" cy="792162"/>
            </a:xfrm>
            <a:prstGeom prst="rect">
              <a:avLst/>
            </a:prstGeom>
            <a:solidFill>
              <a:srgbClr val="13952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53" name="Line 7"/>
            <p:cNvSpPr>
              <a:spLocks noChangeShapeType="1"/>
            </p:cNvSpPr>
            <p:nvPr/>
          </p:nvSpPr>
          <p:spPr bwMode="auto">
            <a:xfrm flipV="1">
              <a:off x="6948488" y="3860800"/>
              <a:ext cx="0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4" name="Line 8"/>
            <p:cNvSpPr>
              <a:spLocks noChangeShapeType="1"/>
            </p:cNvSpPr>
            <p:nvPr/>
          </p:nvSpPr>
          <p:spPr bwMode="auto">
            <a:xfrm flipV="1">
              <a:off x="6948488" y="4005263"/>
              <a:ext cx="865187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5" name="Freeform 9"/>
            <p:cNvSpPr>
              <a:spLocks/>
            </p:cNvSpPr>
            <p:nvPr/>
          </p:nvSpPr>
          <p:spPr bwMode="auto">
            <a:xfrm rot="953082">
              <a:off x="6902450" y="4156075"/>
              <a:ext cx="630238" cy="69850"/>
            </a:xfrm>
            <a:custGeom>
              <a:avLst/>
              <a:gdLst>
                <a:gd name="T0" fmla="*/ 509884386 w 779"/>
                <a:gd name="T1" fmla="*/ 50299201 h 97"/>
                <a:gd name="T2" fmla="*/ 272287087 w 779"/>
                <a:gd name="T3" fmla="*/ 3630040 h 97"/>
                <a:gd name="T4" fmla="*/ 34690597 w 779"/>
                <a:gd name="T5" fmla="*/ 26964260 h 97"/>
                <a:gd name="T6" fmla="*/ 64798822 w 779"/>
                <a:gd name="T7" fmla="*/ 26964260 h 97"/>
                <a:gd name="T8" fmla="*/ 34690597 w 779"/>
                <a:gd name="T9" fmla="*/ 26964260 h 97"/>
                <a:gd name="T10" fmla="*/ 34690597 w 779"/>
                <a:gd name="T11" fmla="*/ 5029920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9" h="97">
                  <a:moveTo>
                    <a:pt x="779" y="97"/>
                  </a:moveTo>
                  <a:cubicBezTo>
                    <a:pt x="658" y="55"/>
                    <a:pt x="537" y="14"/>
                    <a:pt x="416" y="7"/>
                  </a:cubicBezTo>
                  <a:cubicBezTo>
                    <a:pt x="295" y="0"/>
                    <a:pt x="106" y="45"/>
                    <a:pt x="53" y="52"/>
                  </a:cubicBezTo>
                  <a:cubicBezTo>
                    <a:pt x="0" y="59"/>
                    <a:pt x="99" y="52"/>
                    <a:pt x="99" y="52"/>
                  </a:cubicBezTo>
                  <a:cubicBezTo>
                    <a:pt x="99" y="52"/>
                    <a:pt x="61" y="45"/>
                    <a:pt x="53" y="52"/>
                  </a:cubicBezTo>
                  <a:cubicBezTo>
                    <a:pt x="45" y="59"/>
                    <a:pt x="49" y="78"/>
                    <a:pt x="53" y="97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6" name="Freeform 10"/>
            <p:cNvSpPr>
              <a:spLocks/>
            </p:cNvSpPr>
            <p:nvPr/>
          </p:nvSpPr>
          <p:spPr bwMode="auto">
            <a:xfrm>
              <a:off x="6445250" y="4868863"/>
              <a:ext cx="647700" cy="431800"/>
            </a:xfrm>
            <a:custGeom>
              <a:avLst/>
              <a:gdLst>
                <a:gd name="T0" fmla="*/ 0 w 952"/>
                <a:gd name="T1" fmla="*/ 991761915 h 188"/>
                <a:gd name="T2" fmla="*/ 272639518 w 952"/>
                <a:gd name="T3" fmla="*/ 36928087 h 188"/>
                <a:gd name="T4" fmla="*/ 440667321 w 952"/>
                <a:gd name="T5" fmla="*/ 754372974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2" h="188">
                  <a:moveTo>
                    <a:pt x="0" y="188"/>
                  </a:moveTo>
                  <a:cubicBezTo>
                    <a:pt x="215" y="101"/>
                    <a:pt x="430" y="14"/>
                    <a:pt x="589" y="7"/>
                  </a:cubicBezTo>
                  <a:cubicBezTo>
                    <a:pt x="748" y="0"/>
                    <a:pt x="850" y="71"/>
                    <a:pt x="952" y="1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Text Box 11"/>
            <p:cNvSpPr txBox="1">
              <a:spLocks noChangeArrowheads="1"/>
            </p:cNvSpPr>
            <p:nvPr/>
          </p:nvSpPr>
          <p:spPr bwMode="auto">
            <a:xfrm>
              <a:off x="7092950" y="3771298"/>
              <a:ext cx="504825" cy="459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cs typeface="Arial" charset="0"/>
                </a:rPr>
                <a:t>x</a:t>
              </a:r>
              <a:endParaRPr lang="el-GR" altLang="zh-CN">
                <a:cs typeface="Arial" charset="0"/>
              </a:endParaRPr>
            </a:p>
          </p:txBody>
        </p:sp>
        <p:sp>
          <p:nvSpPr>
            <p:cNvPr id="57358" name="Text Box 12"/>
            <p:cNvSpPr txBox="1">
              <a:spLocks noChangeArrowheads="1"/>
            </p:cNvSpPr>
            <p:nvPr/>
          </p:nvSpPr>
          <p:spPr bwMode="auto">
            <a:xfrm>
              <a:off x="6300788" y="4652963"/>
              <a:ext cx="431800" cy="573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  <a:cs typeface="Arial" charset="0"/>
                </a:rPr>
                <a:t>y</a:t>
              </a:r>
              <a:endParaRPr lang="el-GR" altLang="zh-CN" sz="2400" b="1">
                <a:ea typeface="楷体_GB2312" pitchFamily="49" charset="-122"/>
                <a:cs typeface="Arial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7A6DDB-F14B-668A-5696-B0FD2B62A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8629" y="1957363"/>
            <a:ext cx="8147050" cy="4383087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  <a:cs typeface="Arial" charset="0"/>
              </a:rPr>
              <a:t>F</a:t>
            </a:r>
            <a:r>
              <a:rPr lang="zh-CN" altLang="en-US" dirty="0">
                <a:ea typeface="黑体" pitchFamily="2" charset="-122"/>
                <a:cs typeface="Arial" charset="0"/>
              </a:rPr>
              <a:t>控制规则如下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2" charset="-122"/>
              <a:cs typeface="Arial" charset="0"/>
            </a:endParaRPr>
          </a:p>
        </p:txBody>
      </p:sp>
      <p:graphicFrame>
        <p:nvGraphicFramePr>
          <p:cNvPr id="76804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80608569"/>
              </p:ext>
            </p:extLst>
          </p:nvPr>
        </p:nvGraphicFramePr>
        <p:xfrm>
          <a:off x="2711726" y="2996726"/>
          <a:ext cx="3960338" cy="2376490"/>
        </p:xfrm>
        <a:graphic>
          <a:graphicData uri="http://schemas.openxmlformats.org/drawingml/2006/table">
            <a:tbl>
              <a:tblPr/>
              <a:tblGrid>
                <a:gridCol w="99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0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399" name="Text Box 31"/>
          <p:cNvSpPr txBox="1">
            <a:spLocks noChangeArrowheads="1"/>
          </p:cNvSpPr>
          <p:nvPr/>
        </p:nvSpPr>
        <p:spPr bwMode="auto">
          <a:xfrm>
            <a:off x="2279677" y="3982969"/>
            <a:ext cx="720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X</a:t>
            </a:r>
          </a:p>
        </p:txBody>
      </p:sp>
      <p:sp>
        <p:nvSpPr>
          <p:cNvPr id="58400" name="Text Box 32"/>
          <p:cNvSpPr txBox="1">
            <a:spLocks noChangeArrowheads="1"/>
          </p:cNvSpPr>
          <p:nvPr/>
        </p:nvSpPr>
        <p:spPr bwMode="auto">
          <a:xfrm>
            <a:off x="4943973" y="2399236"/>
            <a:ext cx="720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Y</a:t>
            </a:r>
          </a:p>
        </p:txBody>
      </p:sp>
      <p:grpSp>
        <p:nvGrpSpPr>
          <p:cNvPr id="58401" name="组合 6"/>
          <p:cNvGrpSpPr>
            <a:grpSpLocks/>
          </p:cNvGrpSpPr>
          <p:nvPr/>
        </p:nvGrpSpPr>
        <p:grpSpPr bwMode="auto">
          <a:xfrm>
            <a:off x="8400256" y="2924944"/>
            <a:ext cx="2879725" cy="2519363"/>
            <a:chOff x="5508625" y="3860800"/>
            <a:chExt cx="2879725" cy="2519363"/>
          </a:xfrm>
        </p:grpSpPr>
        <p:sp>
          <p:nvSpPr>
            <p:cNvPr id="58402" name="Rectangle 4"/>
            <p:cNvSpPr>
              <a:spLocks noChangeArrowheads="1"/>
            </p:cNvSpPr>
            <p:nvPr/>
          </p:nvSpPr>
          <p:spPr bwMode="auto">
            <a:xfrm>
              <a:off x="5508625" y="6092825"/>
              <a:ext cx="2879725" cy="28733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3" name="Text Box 5"/>
            <p:cNvSpPr txBox="1">
              <a:spLocks noChangeArrowheads="1"/>
            </p:cNvSpPr>
            <p:nvPr/>
          </p:nvSpPr>
          <p:spPr bwMode="auto">
            <a:xfrm>
              <a:off x="6229350" y="5372100"/>
              <a:ext cx="15113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8404" name="Rectangle 6"/>
            <p:cNvSpPr>
              <a:spLocks noChangeArrowheads="1"/>
            </p:cNvSpPr>
            <p:nvPr/>
          </p:nvSpPr>
          <p:spPr bwMode="auto">
            <a:xfrm>
              <a:off x="6156325" y="5300663"/>
              <a:ext cx="1657350" cy="792162"/>
            </a:xfrm>
            <a:prstGeom prst="rect">
              <a:avLst/>
            </a:prstGeom>
            <a:solidFill>
              <a:srgbClr val="13952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5" name="Line 7"/>
            <p:cNvSpPr>
              <a:spLocks noChangeShapeType="1"/>
            </p:cNvSpPr>
            <p:nvPr/>
          </p:nvSpPr>
          <p:spPr bwMode="auto">
            <a:xfrm flipV="1">
              <a:off x="6948488" y="3860800"/>
              <a:ext cx="0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Line 8"/>
            <p:cNvSpPr>
              <a:spLocks noChangeShapeType="1"/>
            </p:cNvSpPr>
            <p:nvPr/>
          </p:nvSpPr>
          <p:spPr bwMode="auto">
            <a:xfrm flipV="1">
              <a:off x="6948488" y="4005263"/>
              <a:ext cx="865187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7" name="Freeform 9"/>
            <p:cNvSpPr>
              <a:spLocks/>
            </p:cNvSpPr>
            <p:nvPr/>
          </p:nvSpPr>
          <p:spPr bwMode="auto">
            <a:xfrm rot="953082">
              <a:off x="6902450" y="4156075"/>
              <a:ext cx="630238" cy="69850"/>
            </a:xfrm>
            <a:custGeom>
              <a:avLst/>
              <a:gdLst>
                <a:gd name="T0" fmla="*/ 509884386 w 779"/>
                <a:gd name="T1" fmla="*/ 50299201 h 97"/>
                <a:gd name="T2" fmla="*/ 272287087 w 779"/>
                <a:gd name="T3" fmla="*/ 3630040 h 97"/>
                <a:gd name="T4" fmla="*/ 34690597 w 779"/>
                <a:gd name="T5" fmla="*/ 26964260 h 97"/>
                <a:gd name="T6" fmla="*/ 64798822 w 779"/>
                <a:gd name="T7" fmla="*/ 26964260 h 97"/>
                <a:gd name="T8" fmla="*/ 34690597 w 779"/>
                <a:gd name="T9" fmla="*/ 26964260 h 97"/>
                <a:gd name="T10" fmla="*/ 34690597 w 779"/>
                <a:gd name="T11" fmla="*/ 5029920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9" h="97">
                  <a:moveTo>
                    <a:pt x="779" y="97"/>
                  </a:moveTo>
                  <a:cubicBezTo>
                    <a:pt x="658" y="55"/>
                    <a:pt x="537" y="14"/>
                    <a:pt x="416" y="7"/>
                  </a:cubicBezTo>
                  <a:cubicBezTo>
                    <a:pt x="295" y="0"/>
                    <a:pt x="106" y="45"/>
                    <a:pt x="53" y="52"/>
                  </a:cubicBezTo>
                  <a:cubicBezTo>
                    <a:pt x="0" y="59"/>
                    <a:pt x="99" y="52"/>
                    <a:pt x="99" y="52"/>
                  </a:cubicBezTo>
                  <a:cubicBezTo>
                    <a:pt x="99" y="52"/>
                    <a:pt x="61" y="45"/>
                    <a:pt x="53" y="52"/>
                  </a:cubicBezTo>
                  <a:cubicBezTo>
                    <a:pt x="45" y="59"/>
                    <a:pt x="49" y="78"/>
                    <a:pt x="53" y="97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Freeform 10"/>
            <p:cNvSpPr>
              <a:spLocks/>
            </p:cNvSpPr>
            <p:nvPr/>
          </p:nvSpPr>
          <p:spPr bwMode="auto">
            <a:xfrm>
              <a:off x="6445250" y="4868863"/>
              <a:ext cx="647700" cy="431800"/>
            </a:xfrm>
            <a:custGeom>
              <a:avLst/>
              <a:gdLst>
                <a:gd name="T0" fmla="*/ 0 w 952"/>
                <a:gd name="T1" fmla="*/ 991761915 h 188"/>
                <a:gd name="T2" fmla="*/ 272639518 w 952"/>
                <a:gd name="T3" fmla="*/ 36928087 h 188"/>
                <a:gd name="T4" fmla="*/ 440667321 w 952"/>
                <a:gd name="T5" fmla="*/ 754372974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2" h="188">
                  <a:moveTo>
                    <a:pt x="0" y="188"/>
                  </a:moveTo>
                  <a:cubicBezTo>
                    <a:pt x="215" y="101"/>
                    <a:pt x="430" y="14"/>
                    <a:pt x="589" y="7"/>
                  </a:cubicBezTo>
                  <a:cubicBezTo>
                    <a:pt x="748" y="0"/>
                    <a:pt x="850" y="71"/>
                    <a:pt x="952" y="1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9" name="Text Box 11"/>
            <p:cNvSpPr txBox="1">
              <a:spLocks noChangeArrowheads="1"/>
            </p:cNvSpPr>
            <p:nvPr/>
          </p:nvSpPr>
          <p:spPr bwMode="auto">
            <a:xfrm>
              <a:off x="7092950" y="3860800"/>
              <a:ext cx="5048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cs typeface="Arial" charset="0"/>
                </a:rPr>
                <a:t>x</a:t>
              </a:r>
              <a:endParaRPr lang="el-GR" altLang="zh-CN">
                <a:cs typeface="Arial" charset="0"/>
              </a:endParaRPr>
            </a:p>
          </p:txBody>
        </p:sp>
        <p:sp>
          <p:nvSpPr>
            <p:cNvPr id="58410" name="Text Box 12"/>
            <p:cNvSpPr txBox="1">
              <a:spLocks noChangeArrowheads="1"/>
            </p:cNvSpPr>
            <p:nvPr/>
          </p:nvSpPr>
          <p:spPr bwMode="auto">
            <a:xfrm>
              <a:off x="6300788" y="4652963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  <a:cs typeface="Arial" charset="0"/>
                </a:rPr>
                <a:t>y</a:t>
              </a:r>
              <a:endParaRPr lang="el-GR" altLang="zh-CN" sz="2400" b="1">
                <a:ea typeface="楷体_GB2312" pitchFamily="49" charset="-122"/>
                <a:cs typeface="Arial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4F1B95-A01D-BB0D-6AC0-8678133F52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9" grpId="0"/>
      <p:bldP spid="5840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488" y="332656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557338"/>
            <a:ext cx="9505751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初值：</a:t>
            </a:r>
            <a:r>
              <a:rPr lang="en-US" altLang="zh-CN" dirty="0">
                <a:ea typeface="黑体" pitchFamily="2" charset="-122"/>
              </a:rPr>
              <a:t>x(0)=1,   y(0)=-4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对照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控制规则表有各个规则的匹配度为</a:t>
            </a:r>
          </a:p>
          <a:p>
            <a:pPr lvl="1" eaLnBrk="1" hangingPunct="1"/>
            <a:r>
              <a:rPr lang="en-US" altLang="zh-CN" dirty="0"/>
              <a:t>If (x=P) and (y=Z)  then (u=P); </a:t>
            </a:r>
          </a:p>
          <a:p>
            <a:pPr lvl="2" eaLnBrk="1" hangingPunct="1"/>
            <a:r>
              <a:rPr lang="en-US" altLang="zh-CN" dirty="0">
                <a:solidFill>
                  <a:srgbClr val="3333FF"/>
                </a:solidFill>
              </a:rPr>
              <a:t>  min(0.5,0.2)=0.2(P)</a:t>
            </a:r>
          </a:p>
          <a:p>
            <a:pPr lvl="1" eaLnBrk="1" hangingPunct="1"/>
            <a:r>
              <a:rPr lang="en-US" altLang="zh-CN" dirty="0"/>
              <a:t>If (x=P) and (y=N)  then (u=Z);</a:t>
            </a:r>
          </a:p>
          <a:p>
            <a:pPr lvl="2" eaLnBrk="1" hangingPunct="1"/>
            <a:r>
              <a:rPr lang="en-US" altLang="zh-CN" dirty="0">
                <a:solidFill>
                  <a:srgbClr val="3333FF"/>
                </a:solidFill>
              </a:rPr>
              <a:t>min(0.5,0.8)=0.5(Z)</a:t>
            </a:r>
          </a:p>
          <a:p>
            <a:pPr lvl="1" eaLnBrk="1" hangingPunct="1"/>
            <a:r>
              <a:rPr lang="en-US" altLang="zh-CN" dirty="0"/>
              <a:t>If (x=Z) and (y=Z)  then (u=Z);</a:t>
            </a:r>
          </a:p>
          <a:p>
            <a:pPr lvl="2" eaLnBrk="1" hangingPunct="1"/>
            <a:r>
              <a:rPr lang="en-US" altLang="zh-CN" dirty="0">
                <a:solidFill>
                  <a:srgbClr val="3333FF"/>
                </a:solidFill>
              </a:rPr>
              <a:t>Min(0.5,0.2)=0.2(Z)</a:t>
            </a:r>
          </a:p>
          <a:p>
            <a:pPr lvl="1" eaLnBrk="1" hangingPunct="1"/>
            <a:r>
              <a:rPr lang="en-US" altLang="zh-CN" dirty="0"/>
              <a:t>If (x=Z) and (y=N)  then (u=N);</a:t>
            </a:r>
          </a:p>
          <a:p>
            <a:pPr lvl="2" eaLnBrk="1" hangingPunct="1"/>
            <a:r>
              <a:rPr lang="en-US" altLang="zh-CN" dirty="0">
                <a:solidFill>
                  <a:srgbClr val="3333FF"/>
                </a:solidFill>
              </a:rPr>
              <a:t>Min(0.5,0.8)=0.5(N)</a:t>
            </a:r>
          </a:p>
        </p:txBody>
      </p:sp>
      <p:grpSp>
        <p:nvGrpSpPr>
          <p:cNvPr id="59396" name="组合 3"/>
          <p:cNvGrpSpPr>
            <a:grpSpLocks/>
          </p:cNvGrpSpPr>
          <p:nvPr/>
        </p:nvGrpSpPr>
        <p:grpSpPr bwMode="auto">
          <a:xfrm>
            <a:off x="8770937" y="4114911"/>
            <a:ext cx="2879725" cy="2519362"/>
            <a:chOff x="5508625" y="3860800"/>
            <a:chExt cx="2879725" cy="2519363"/>
          </a:xfrm>
        </p:grpSpPr>
        <p:sp>
          <p:nvSpPr>
            <p:cNvPr id="59397" name="Rectangle 4"/>
            <p:cNvSpPr>
              <a:spLocks noChangeArrowheads="1"/>
            </p:cNvSpPr>
            <p:nvPr/>
          </p:nvSpPr>
          <p:spPr bwMode="auto">
            <a:xfrm>
              <a:off x="5508625" y="6092825"/>
              <a:ext cx="2879725" cy="28733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8" name="Text Box 5"/>
            <p:cNvSpPr txBox="1">
              <a:spLocks noChangeArrowheads="1"/>
            </p:cNvSpPr>
            <p:nvPr/>
          </p:nvSpPr>
          <p:spPr bwMode="auto">
            <a:xfrm>
              <a:off x="6229350" y="5372100"/>
              <a:ext cx="15113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9399" name="Rectangle 6"/>
            <p:cNvSpPr>
              <a:spLocks noChangeArrowheads="1"/>
            </p:cNvSpPr>
            <p:nvPr/>
          </p:nvSpPr>
          <p:spPr bwMode="auto">
            <a:xfrm>
              <a:off x="6156325" y="5300663"/>
              <a:ext cx="1657350" cy="792162"/>
            </a:xfrm>
            <a:prstGeom prst="rect">
              <a:avLst/>
            </a:prstGeom>
            <a:solidFill>
              <a:srgbClr val="13952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0" name="Line 7"/>
            <p:cNvSpPr>
              <a:spLocks noChangeShapeType="1"/>
            </p:cNvSpPr>
            <p:nvPr/>
          </p:nvSpPr>
          <p:spPr bwMode="auto">
            <a:xfrm flipV="1">
              <a:off x="6948488" y="3860800"/>
              <a:ext cx="0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1" name="Line 8"/>
            <p:cNvSpPr>
              <a:spLocks noChangeShapeType="1"/>
            </p:cNvSpPr>
            <p:nvPr/>
          </p:nvSpPr>
          <p:spPr bwMode="auto">
            <a:xfrm flipV="1">
              <a:off x="6948488" y="4005263"/>
              <a:ext cx="865187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2" name="Freeform 9"/>
            <p:cNvSpPr>
              <a:spLocks/>
            </p:cNvSpPr>
            <p:nvPr/>
          </p:nvSpPr>
          <p:spPr bwMode="auto">
            <a:xfrm rot="953082">
              <a:off x="6902450" y="4156075"/>
              <a:ext cx="630238" cy="69850"/>
            </a:xfrm>
            <a:custGeom>
              <a:avLst/>
              <a:gdLst>
                <a:gd name="T0" fmla="*/ 509884386 w 779"/>
                <a:gd name="T1" fmla="*/ 50299201 h 97"/>
                <a:gd name="T2" fmla="*/ 272287087 w 779"/>
                <a:gd name="T3" fmla="*/ 3630040 h 97"/>
                <a:gd name="T4" fmla="*/ 34690597 w 779"/>
                <a:gd name="T5" fmla="*/ 26964260 h 97"/>
                <a:gd name="T6" fmla="*/ 64798822 w 779"/>
                <a:gd name="T7" fmla="*/ 26964260 h 97"/>
                <a:gd name="T8" fmla="*/ 34690597 w 779"/>
                <a:gd name="T9" fmla="*/ 26964260 h 97"/>
                <a:gd name="T10" fmla="*/ 34690597 w 779"/>
                <a:gd name="T11" fmla="*/ 5029920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9" h="97">
                  <a:moveTo>
                    <a:pt x="779" y="97"/>
                  </a:moveTo>
                  <a:cubicBezTo>
                    <a:pt x="658" y="55"/>
                    <a:pt x="537" y="14"/>
                    <a:pt x="416" y="7"/>
                  </a:cubicBezTo>
                  <a:cubicBezTo>
                    <a:pt x="295" y="0"/>
                    <a:pt x="106" y="45"/>
                    <a:pt x="53" y="52"/>
                  </a:cubicBezTo>
                  <a:cubicBezTo>
                    <a:pt x="0" y="59"/>
                    <a:pt x="99" y="52"/>
                    <a:pt x="99" y="52"/>
                  </a:cubicBezTo>
                  <a:cubicBezTo>
                    <a:pt x="99" y="52"/>
                    <a:pt x="61" y="45"/>
                    <a:pt x="53" y="52"/>
                  </a:cubicBezTo>
                  <a:cubicBezTo>
                    <a:pt x="45" y="59"/>
                    <a:pt x="49" y="78"/>
                    <a:pt x="53" y="97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3" name="Freeform 10"/>
            <p:cNvSpPr>
              <a:spLocks/>
            </p:cNvSpPr>
            <p:nvPr/>
          </p:nvSpPr>
          <p:spPr bwMode="auto">
            <a:xfrm>
              <a:off x="6445250" y="4868863"/>
              <a:ext cx="647700" cy="431800"/>
            </a:xfrm>
            <a:custGeom>
              <a:avLst/>
              <a:gdLst>
                <a:gd name="T0" fmla="*/ 0 w 952"/>
                <a:gd name="T1" fmla="*/ 991761915 h 188"/>
                <a:gd name="T2" fmla="*/ 272639518 w 952"/>
                <a:gd name="T3" fmla="*/ 36928087 h 188"/>
                <a:gd name="T4" fmla="*/ 440667321 w 952"/>
                <a:gd name="T5" fmla="*/ 754372974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2" h="188">
                  <a:moveTo>
                    <a:pt x="0" y="188"/>
                  </a:moveTo>
                  <a:cubicBezTo>
                    <a:pt x="215" y="101"/>
                    <a:pt x="430" y="14"/>
                    <a:pt x="589" y="7"/>
                  </a:cubicBezTo>
                  <a:cubicBezTo>
                    <a:pt x="748" y="0"/>
                    <a:pt x="850" y="71"/>
                    <a:pt x="952" y="1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4" name="Text Box 11"/>
            <p:cNvSpPr txBox="1">
              <a:spLocks noChangeArrowheads="1"/>
            </p:cNvSpPr>
            <p:nvPr/>
          </p:nvSpPr>
          <p:spPr bwMode="auto">
            <a:xfrm>
              <a:off x="7092950" y="3860800"/>
              <a:ext cx="5048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cs typeface="Arial" charset="0"/>
                </a:rPr>
                <a:t>x</a:t>
              </a:r>
              <a:endParaRPr lang="el-GR" altLang="zh-CN">
                <a:cs typeface="Arial" charset="0"/>
              </a:endParaRPr>
            </a:p>
          </p:txBody>
        </p:sp>
        <p:sp>
          <p:nvSpPr>
            <p:cNvPr id="59405" name="Text Box 12"/>
            <p:cNvSpPr txBox="1">
              <a:spLocks noChangeArrowheads="1"/>
            </p:cNvSpPr>
            <p:nvPr/>
          </p:nvSpPr>
          <p:spPr bwMode="auto">
            <a:xfrm>
              <a:off x="6300788" y="4652963"/>
              <a:ext cx="431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  <a:cs typeface="Arial" charset="0"/>
                </a:rPr>
                <a:t>y</a:t>
              </a:r>
              <a:endParaRPr lang="el-GR" altLang="zh-CN" sz="2400" b="1">
                <a:ea typeface="楷体_GB2312" pitchFamily="49" charset="-122"/>
                <a:cs typeface="Arial" charset="0"/>
              </a:endParaRPr>
            </a:p>
          </p:txBody>
        </p:sp>
      </p:grpSp>
      <p:graphicFrame>
        <p:nvGraphicFramePr>
          <p:cNvPr id="15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4207223"/>
              </p:ext>
            </p:extLst>
          </p:nvPr>
        </p:nvGraphicFramePr>
        <p:xfrm>
          <a:off x="8924130" y="2842833"/>
          <a:ext cx="2862263" cy="853440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6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92EFB3-7853-F9C2-7441-A5DF988E5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EC6912-AA2D-9391-ADD7-945DFE31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837" y="43713"/>
            <a:ext cx="276225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6" y="332656"/>
            <a:ext cx="109728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58874" y="1700808"/>
            <a:ext cx="8969376" cy="3886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由规则所得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结果的并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用重心法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grpSp>
        <p:nvGrpSpPr>
          <p:cNvPr id="85035" name="Group 43"/>
          <p:cNvGrpSpPr>
            <a:grpSpLocks/>
          </p:cNvGrpSpPr>
          <p:nvPr/>
        </p:nvGrpSpPr>
        <p:grpSpPr bwMode="auto">
          <a:xfrm>
            <a:off x="3071813" y="2565400"/>
            <a:ext cx="6121400" cy="2166938"/>
            <a:chOff x="1111" y="2432"/>
            <a:chExt cx="3856" cy="1365"/>
          </a:xfrm>
        </p:grpSpPr>
        <p:sp>
          <p:nvSpPr>
            <p:cNvPr id="60425" name="Text Box 10"/>
            <p:cNvSpPr txBox="1">
              <a:spLocks noChangeArrowheads="1"/>
            </p:cNvSpPr>
            <p:nvPr/>
          </p:nvSpPr>
          <p:spPr bwMode="auto">
            <a:xfrm>
              <a:off x="1156" y="3566"/>
              <a:ext cx="381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-16     -12     -8       -4       0       4        8      12     16      u</a:t>
              </a:r>
            </a:p>
          </p:txBody>
        </p:sp>
        <p:grpSp>
          <p:nvGrpSpPr>
            <p:cNvPr id="60426" name="Group 42"/>
            <p:cNvGrpSpPr>
              <a:grpSpLocks/>
            </p:cNvGrpSpPr>
            <p:nvPr/>
          </p:nvGrpSpPr>
          <p:grpSpPr bwMode="auto">
            <a:xfrm>
              <a:off x="1111" y="2432"/>
              <a:ext cx="3674" cy="1043"/>
              <a:chOff x="1111" y="2432"/>
              <a:chExt cx="3674" cy="1043"/>
            </a:xfrm>
          </p:grpSpPr>
          <p:sp>
            <p:nvSpPr>
              <p:cNvPr id="60427" name="Line 5"/>
              <p:cNvSpPr>
                <a:spLocks noChangeShapeType="1"/>
              </p:cNvSpPr>
              <p:nvPr/>
            </p:nvSpPr>
            <p:spPr bwMode="auto">
              <a:xfrm>
                <a:off x="1111" y="3475"/>
                <a:ext cx="36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28" name="Line 6"/>
              <p:cNvSpPr>
                <a:spLocks noChangeShapeType="1"/>
              </p:cNvSpPr>
              <p:nvPr/>
            </p:nvSpPr>
            <p:spPr bwMode="auto">
              <a:xfrm flipV="1">
                <a:off x="2511" y="3385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29" name="Line 7"/>
              <p:cNvSpPr>
                <a:spLocks noChangeShapeType="1"/>
              </p:cNvSpPr>
              <p:nvPr/>
            </p:nvSpPr>
            <p:spPr bwMode="auto">
              <a:xfrm flipV="1">
                <a:off x="2113" y="3385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0" name="Line 8"/>
              <p:cNvSpPr>
                <a:spLocks noChangeShapeType="1"/>
              </p:cNvSpPr>
              <p:nvPr/>
            </p:nvSpPr>
            <p:spPr bwMode="auto">
              <a:xfrm flipV="1">
                <a:off x="3625" y="3385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1" name="Line 9"/>
              <p:cNvSpPr>
                <a:spLocks noChangeShapeType="1"/>
              </p:cNvSpPr>
              <p:nvPr/>
            </p:nvSpPr>
            <p:spPr bwMode="auto">
              <a:xfrm flipV="1">
                <a:off x="3228" y="3385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2" name="Line 11"/>
              <p:cNvSpPr>
                <a:spLocks noChangeShapeType="1"/>
              </p:cNvSpPr>
              <p:nvPr/>
            </p:nvSpPr>
            <p:spPr bwMode="auto">
              <a:xfrm flipV="1">
                <a:off x="2870" y="2432"/>
                <a:ext cx="0" cy="10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3" name="Line 13"/>
              <p:cNvSpPr>
                <a:spLocks noChangeShapeType="1"/>
              </p:cNvSpPr>
              <p:nvPr/>
            </p:nvSpPr>
            <p:spPr bwMode="auto">
              <a:xfrm flipV="1">
                <a:off x="1755" y="3385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4" name="Line 15"/>
              <p:cNvSpPr>
                <a:spLocks noChangeShapeType="1"/>
              </p:cNvSpPr>
              <p:nvPr/>
            </p:nvSpPr>
            <p:spPr bwMode="auto">
              <a:xfrm flipV="1">
                <a:off x="3984" y="3385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5" name="Line 18"/>
              <p:cNvSpPr>
                <a:spLocks noChangeShapeType="1"/>
              </p:cNvSpPr>
              <p:nvPr/>
            </p:nvSpPr>
            <p:spPr bwMode="auto">
              <a:xfrm flipH="1">
                <a:off x="2109" y="2704"/>
                <a:ext cx="761" cy="77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6" name="Line 19"/>
              <p:cNvSpPr>
                <a:spLocks noChangeShapeType="1"/>
              </p:cNvSpPr>
              <p:nvPr/>
            </p:nvSpPr>
            <p:spPr bwMode="auto">
              <a:xfrm>
                <a:off x="2870" y="2704"/>
                <a:ext cx="736" cy="77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7" name="Text Box 23"/>
              <p:cNvSpPr txBox="1">
                <a:spLocks noChangeArrowheads="1"/>
              </p:cNvSpPr>
              <p:nvPr/>
            </p:nvSpPr>
            <p:spPr bwMode="auto">
              <a:xfrm>
                <a:off x="2670" y="2478"/>
                <a:ext cx="23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Z</a:t>
                </a:r>
              </a:p>
            </p:txBody>
          </p:sp>
          <p:sp>
            <p:nvSpPr>
              <p:cNvPr id="60438" name="Line 27"/>
              <p:cNvSpPr>
                <a:spLocks noChangeShapeType="1"/>
              </p:cNvSpPr>
              <p:nvPr/>
            </p:nvSpPr>
            <p:spPr bwMode="auto">
              <a:xfrm>
                <a:off x="2109" y="2704"/>
                <a:ext cx="736" cy="771"/>
              </a:xfrm>
              <a:prstGeom prst="line">
                <a:avLst/>
              </a:pr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9" name="Line 28"/>
              <p:cNvSpPr>
                <a:spLocks noChangeShapeType="1"/>
              </p:cNvSpPr>
              <p:nvPr/>
            </p:nvSpPr>
            <p:spPr bwMode="auto">
              <a:xfrm flipH="1">
                <a:off x="1338" y="2704"/>
                <a:ext cx="761" cy="771"/>
              </a:xfrm>
              <a:prstGeom prst="line">
                <a:avLst/>
              </a:pr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0" name="Line 29"/>
              <p:cNvSpPr>
                <a:spLocks noChangeShapeType="1"/>
              </p:cNvSpPr>
              <p:nvPr/>
            </p:nvSpPr>
            <p:spPr bwMode="auto">
              <a:xfrm flipH="1">
                <a:off x="2880" y="2704"/>
                <a:ext cx="761" cy="771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1" name="Line 30"/>
              <p:cNvSpPr>
                <a:spLocks noChangeShapeType="1"/>
              </p:cNvSpPr>
              <p:nvPr/>
            </p:nvSpPr>
            <p:spPr bwMode="auto">
              <a:xfrm>
                <a:off x="3606" y="2704"/>
                <a:ext cx="736" cy="771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2" name="Text Box 37"/>
              <p:cNvSpPr txBox="1">
                <a:spLocks noChangeArrowheads="1"/>
              </p:cNvSpPr>
              <p:nvPr/>
            </p:nvSpPr>
            <p:spPr bwMode="auto">
              <a:xfrm>
                <a:off x="1973" y="2478"/>
                <a:ext cx="23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N</a:t>
                </a:r>
              </a:p>
            </p:txBody>
          </p:sp>
          <p:sp>
            <p:nvSpPr>
              <p:cNvPr id="60443" name="Text Box 38"/>
              <p:cNvSpPr txBox="1">
                <a:spLocks noChangeArrowheads="1"/>
              </p:cNvSpPr>
              <p:nvPr/>
            </p:nvSpPr>
            <p:spPr bwMode="auto">
              <a:xfrm>
                <a:off x="3515" y="2432"/>
                <a:ext cx="23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P</a:t>
                </a:r>
              </a:p>
            </p:txBody>
          </p:sp>
          <p:sp>
            <p:nvSpPr>
              <p:cNvPr id="60444" name="Line 40"/>
              <p:cNvSpPr>
                <a:spLocks noChangeShapeType="1"/>
              </p:cNvSpPr>
              <p:nvPr/>
            </p:nvSpPr>
            <p:spPr bwMode="auto">
              <a:xfrm flipH="1">
                <a:off x="1701" y="3113"/>
                <a:ext cx="158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5" name="Line 41"/>
              <p:cNvSpPr>
                <a:spLocks noChangeShapeType="1"/>
              </p:cNvSpPr>
              <p:nvPr/>
            </p:nvSpPr>
            <p:spPr bwMode="auto">
              <a:xfrm>
                <a:off x="2290" y="3339"/>
                <a:ext cx="19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5036" name="Line 44"/>
          <p:cNvSpPr>
            <a:spLocks noChangeShapeType="1"/>
          </p:cNvSpPr>
          <p:nvPr/>
        </p:nvSpPr>
        <p:spPr bwMode="auto">
          <a:xfrm>
            <a:off x="5591175" y="4221163"/>
            <a:ext cx="0" cy="5762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037" name="Object 45"/>
          <p:cNvGraphicFramePr>
            <a:graphicFrameLocks noGrp="1" noChangeAspect="1"/>
          </p:cNvGraphicFramePr>
          <p:nvPr>
            <p:ph sz="half" idx="2"/>
          </p:nvPr>
        </p:nvGraphicFramePr>
        <p:xfrm>
          <a:off x="1684339" y="5378747"/>
          <a:ext cx="2185987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4900" imgH="660400" progId="Equation.3">
                  <p:embed/>
                </p:oleObj>
              </mc:Choice>
              <mc:Fallback>
                <p:oleObj name="公式" r:id="rId2" imgW="1104900" imgH="660400" progId="Equation.3">
                  <p:embed/>
                  <p:pic>
                    <p:nvPicPr>
                      <p:cNvPr id="85037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9" y="5378747"/>
                        <a:ext cx="2185987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40" name="Text Box 48"/>
          <p:cNvSpPr txBox="1">
            <a:spLocks noChangeArrowheads="1"/>
          </p:cNvSpPr>
          <p:nvPr/>
        </p:nvSpPr>
        <p:spPr bwMode="auto">
          <a:xfrm>
            <a:off x="5591176" y="4797425"/>
            <a:ext cx="2449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CC00CC"/>
                </a:solidFill>
                <a:ea typeface="楷体_GB2312" pitchFamily="49" charset="-122"/>
              </a:rPr>
              <a:t>控制量</a:t>
            </a:r>
            <a:r>
              <a:rPr lang="en-US" altLang="zh-CN" sz="2400" b="1">
                <a:solidFill>
                  <a:srgbClr val="CC00CC"/>
                </a:solidFill>
                <a:ea typeface="楷体_GB2312" pitchFamily="49" charset="-122"/>
              </a:rPr>
              <a:t>u(0)=-2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4F73CCB-0D93-C859-CAA2-CDBE24F68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75926"/>
              </p:ext>
            </p:extLst>
          </p:nvPr>
        </p:nvGraphicFramePr>
        <p:xfrm>
          <a:off x="8534406" y="2492375"/>
          <a:ext cx="26209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393480" progId="Equation.DSMT4">
                  <p:embed/>
                </p:oleObj>
              </mc:Choice>
              <mc:Fallback>
                <p:oleObj name="Equation" r:id="rId4" imgW="1257120" imgH="393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4F73CCB-0D93-C859-CAA2-CDBE24F68F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34406" y="2492375"/>
                        <a:ext cx="2620962" cy="8223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AAA898E-A5D7-61C8-07C6-47DE047F5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7825" y="5587009"/>
          <a:ext cx="6106232" cy="889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393480" progId="Equation.DSMT4">
                  <p:embed/>
                </p:oleObj>
              </mc:Choice>
              <mc:Fallback>
                <p:oleObj name="Equation" r:id="rId6" imgW="2705040" imgH="393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AAA898E-A5D7-61C8-07C6-47DE047F5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5587009"/>
                        <a:ext cx="6106232" cy="88999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DE7542-1E22-5E4B-92D5-C8362048E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BF03FE-2271-87D1-CCAC-5A0084BA1D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726" y="0"/>
            <a:ext cx="276225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36" grpId="0" animBg="1"/>
      <p:bldP spid="8504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2656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557338"/>
            <a:ext cx="9217719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状态变化公式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x(t+1)=x(t)+y(t)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y(t+1)=x(t+1)-u(t)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修改系统参数：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黑体" pitchFamily="2" charset="-122"/>
              </a:rPr>
              <a:t>x(1)=x(0)+y(0)= 1-4 = 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-3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黑体" pitchFamily="2" charset="-122"/>
              </a:rPr>
              <a:t>y(1)=x(1)-u(0)= -3-(-2) = 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-1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对照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控制规则表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下一轮控制为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(x=N) and (y=N)  then (u=NB);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/>
              <a:t>min(1,0.2)=0.2(NB)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(x=N) and (y=Z)  then (u=N);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/>
              <a:t>min(1,0.8)=0.8(N)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按重心法得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z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=(0.2×(-16)+0.8×(-8))/(0.2+0.8)=-9.6=u(1)</a:t>
            </a:r>
          </a:p>
        </p:txBody>
      </p:sp>
      <p:graphicFrame>
        <p:nvGraphicFramePr>
          <p:cNvPr id="4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6581505"/>
              </p:ext>
            </p:extLst>
          </p:nvPr>
        </p:nvGraphicFramePr>
        <p:xfrm>
          <a:off x="8616280" y="1697038"/>
          <a:ext cx="2862263" cy="960438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07941"/>
              </p:ext>
            </p:extLst>
          </p:nvPr>
        </p:nvGraphicFramePr>
        <p:xfrm>
          <a:off x="8617024" y="2657428"/>
          <a:ext cx="2862263" cy="504825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B0F223-A876-AF54-051D-80A4C9EBD9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7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7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14178" y="334542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控制应用实例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: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倒摆</a:t>
            </a:r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控制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543050"/>
            <a:ext cx="8964167" cy="5111750"/>
          </a:xfrm>
        </p:spPr>
        <p:txBody>
          <a:bodyPr/>
          <a:lstStyle/>
          <a:p>
            <a:pPr eaLnBrk="1" hangingPunct="1">
              <a:lnSpc>
                <a:spcPct val="99000"/>
              </a:lnSpc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状态变化公式</a:t>
            </a:r>
          </a:p>
          <a:p>
            <a:pPr lvl="1"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x(t+1)=x(t)+y(t)</a:t>
            </a:r>
          </a:p>
          <a:p>
            <a:pPr lvl="1"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y(t+1)=x(t+1)-u(t)</a:t>
            </a:r>
          </a:p>
          <a:p>
            <a:pPr lvl="1"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修改系统参数：</a:t>
            </a:r>
          </a:p>
          <a:p>
            <a:pPr lvl="1" eaLnBrk="1" hangingPunct="1">
              <a:lnSpc>
                <a:spcPct val="99000"/>
              </a:lnSpc>
            </a:pPr>
            <a:r>
              <a:rPr lang="en-US" altLang="zh-CN" sz="2400" dirty="0">
                <a:ea typeface="黑体" pitchFamily="2" charset="-122"/>
              </a:rPr>
              <a:t>x(2)=x(1)+y(1)= -3+(-1) = 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-4</a:t>
            </a:r>
          </a:p>
          <a:p>
            <a:pPr lvl="1" eaLnBrk="1" hangingPunct="1">
              <a:lnSpc>
                <a:spcPct val="99000"/>
              </a:lnSpc>
            </a:pPr>
            <a:r>
              <a:rPr lang="en-US" altLang="zh-CN" sz="2400" dirty="0">
                <a:ea typeface="黑体" pitchFamily="2" charset="-122"/>
              </a:rPr>
              <a:t>y(2)=x(2)-u(1)= -4 -(-9.6)= 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5.6</a:t>
            </a:r>
          </a:p>
          <a:p>
            <a:pPr eaLnBrk="1" hangingPunct="1">
              <a:lnSpc>
                <a:spcPct val="99000"/>
              </a:lnSpc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对照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控制规则表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下一轮控制为</a:t>
            </a:r>
          </a:p>
          <a:p>
            <a:pPr lvl="1" eaLnBrk="1" hangingPunct="1">
              <a:lnSpc>
                <a:spcPct val="99000"/>
              </a:lnSpc>
            </a:pPr>
            <a:r>
              <a:rPr lang="en-US" altLang="zh-CN" sz="2400" dirty="0"/>
              <a:t>If (x=N) and (y=P)  then (u=Z); </a:t>
            </a:r>
          </a:p>
          <a:p>
            <a:pPr lvl="2" eaLnBrk="1" hangingPunct="1">
              <a:lnSpc>
                <a:spcPct val="99000"/>
              </a:lnSpc>
            </a:pPr>
            <a:r>
              <a:rPr lang="en-US" altLang="zh-CN" sz="2000" dirty="0"/>
              <a:t>min(1,1)=1(Z)</a:t>
            </a:r>
          </a:p>
          <a:p>
            <a:pPr eaLnBrk="1" hangingPunct="1">
              <a:lnSpc>
                <a:spcPct val="99000"/>
              </a:lnSpc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按重心法得</a:t>
            </a: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z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=(1.0×0)/1.0= 0=u(2)</a:t>
            </a:r>
          </a:p>
        </p:txBody>
      </p:sp>
      <p:graphicFrame>
        <p:nvGraphicFramePr>
          <p:cNvPr id="4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706841"/>
              </p:ext>
            </p:extLst>
          </p:nvPr>
        </p:nvGraphicFramePr>
        <p:xfrm>
          <a:off x="7932291" y="1412876"/>
          <a:ext cx="2862263" cy="1465263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2490" name="组合 5"/>
          <p:cNvGrpSpPr>
            <a:grpSpLocks/>
          </p:cNvGrpSpPr>
          <p:nvPr/>
        </p:nvGrpSpPr>
        <p:grpSpPr bwMode="auto">
          <a:xfrm>
            <a:off x="8149778" y="4437064"/>
            <a:ext cx="2698750" cy="2217737"/>
            <a:chOff x="5508625" y="3860800"/>
            <a:chExt cx="2879725" cy="2519363"/>
          </a:xfrm>
        </p:grpSpPr>
        <p:sp>
          <p:nvSpPr>
            <p:cNvPr id="62491" name="Rectangle 4"/>
            <p:cNvSpPr>
              <a:spLocks noChangeArrowheads="1"/>
            </p:cNvSpPr>
            <p:nvPr/>
          </p:nvSpPr>
          <p:spPr bwMode="auto">
            <a:xfrm>
              <a:off x="5508625" y="6092825"/>
              <a:ext cx="2879725" cy="28733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2" name="Text Box 5"/>
            <p:cNvSpPr txBox="1">
              <a:spLocks noChangeArrowheads="1"/>
            </p:cNvSpPr>
            <p:nvPr/>
          </p:nvSpPr>
          <p:spPr bwMode="auto">
            <a:xfrm>
              <a:off x="6229350" y="5372099"/>
              <a:ext cx="1511300" cy="419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62493" name="Rectangle 6"/>
            <p:cNvSpPr>
              <a:spLocks noChangeArrowheads="1"/>
            </p:cNvSpPr>
            <p:nvPr/>
          </p:nvSpPr>
          <p:spPr bwMode="auto">
            <a:xfrm>
              <a:off x="6156325" y="5300663"/>
              <a:ext cx="1657350" cy="792162"/>
            </a:xfrm>
            <a:prstGeom prst="rect">
              <a:avLst/>
            </a:prstGeom>
            <a:solidFill>
              <a:srgbClr val="13952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4" name="Line 7"/>
            <p:cNvSpPr>
              <a:spLocks noChangeShapeType="1"/>
            </p:cNvSpPr>
            <p:nvPr/>
          </p:nvSpPr>
          <p:spPr bwMode="auto">
            <a:xfrm flipV="1">
              <a:off x="6948488" y="3860800"/>
              <a:ext cx="0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5" name="Line 8"/>
            <p:cNvSpPr>
              <a:spLocks noChangeShapeType="1"/>
            </p:cNvSpPr>
            <p:nvPr/>
          </p:nvSpPr>
          <p:spPr bwMode="auto">
            <a:xfrm flipV="1">
              <a:off x="6948488" y="4005263"/>
              <a:ext cx="865187" cy="12954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6" name="Freeform 9"/>
            <p:cNvSpPr>
              <a:spLocks/>
            </p:cNvSpPr>
            <p:nvPr/>
          </p:nvSpPr>
          <p:spPr bwMode="auto">
            <a:xfrm rot="953082">
              <a:off x="6902450" y="4156075"/>
              <a:ext cx="630238" cy="69850"/>
            </a:xfrm>
            <a:custGeom>
              <a:avLst/>
              <a:gdLst>
                <a:gd name="T0" fmla="*/ 509884386 w 779"/>
                <a:gd name="T1" fmla="*/ 50299201 h 97"/>
                <a:gd name="T2" fmla="*/ 272287087 w 779"/>
                <a:gd name="T3" fmla="*/ 3630040 h 97"/>
                <a:gd name="T4" fmla="*/ 34690597 w 779"/>
                <a:gd name="T5" fmla="*/ 26964260 h 97"/>
                <a:gd name="T6" fmla="*/ 64798822 w 779"/>
                <a:gd name="T7" fmla="*/ 26964260 h 97"/>
                <a:gd name="T8" fmla="*/ 34690597 w 779"/>
                <a:gd name="T9" fmla="*/ 26964260 h 97"/>
                <a:gd name="T10" fmla="*/ 34690597 w 779"/>
                <a:gd name="T11" fmla="*/ 5029920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9" h="97">
                  <a:moveTo>
                    <a:pt x="779" y="97"/>
                  </a:moveTo>
                  <a:cubicBezTo>
                    <a:pt x="658" y="55"/>
                    <a:pt x="537" y="14"/>
                    <a:pt x="416" y="7"/>
                  </a:cubicBezTo>
                  <a:cubicBezTo>
                    <a:pt x="295" y="0"/>
                    <a:pt x="106" y="45"/>
                    <a:pt x="53" y="52"/>
                  </a:cubicBezTo>
                  <a:cubicBezTo>
                    <a:pt x="0" y="59"/>
                    <a:pt x="99" y="52"/>
                    <a:pt x="99" y="52"/>
                  </a:cubicBezTo>
                  <a:cubicBezTo>
                    <a:pt x="99" y="52"/>
                    <a:pt x="61" y="45"/>
                    <a:pt x="53" y="52"/>
                  </a:cubicBezTo>
                  <a:cubicBezTo>
                    <a:pt x="45" y="59"/>
                    <a:pt x="49" y="78"/>
                    <a:pt x="53" y="97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Freeform 10"/>
            <p:cNvSpPr>
              <a:spLocks/>
            </p:cNvSpPr>
            <p:nvPr/>
          </p:nvSpPr>
          <p:spPr bwMode="auto">
            <a:xfrm>
              <a:off x="6445250" y="4868863"/>
              <a:ext cx="647700" cy="431800"/>
            </a:xfrm>
            <a:custGeom>
              <a:avLst/>
              <a:gdLst>
                <a:gd name="T0" fmla="*/ 0 w 952"/>
                <a:gd name="T1" fmla="*/ 991761915 h 188"/>
                <a:gd name="T2" fmla="*/ 272639518 w 952"/>
                <a:gd name="T3" fmla="*/ 36928087 h 188"/>
                <a:gd name="T4" fmla="*/ 440667321 w 952"/>
                <a:gd name="T5" fmla="*/ 754372974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2" h="188">
                  <a:moveTo>
                    <a:pt x="0" y="188"/>
                  </a:moveTo>
                  <a:cubicBezTo>
                    <a:pt x="215" y="101"/>
                    <a:pt x="430" y="14"/>
                    <a:pt x="589" y="7"/>
                  </a:cubicBezTo>
                  <a:cubicBezTo>
                    <a:pt x="748" y="0"/>
                    <a:pt x="850" y="71"/>
                    <a:pt x="952" y="1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Text Box 11"/>
            <p:cNvSpPr txBox="1">
              <a:spLocks noChangeArrowheads="1"/>
            </p:cNvSpPr>
            <p:nvPr/>
          </p:nvSpPr>
          <p:spPr bwMode="auto">
            <a:xfrm>
              <a:off x="7092950" y="3860800"/>
              <a:ext cx="504825" cy="4196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cs typeface="Arial" charset="0"/>
                </a:rPr>
                <a:t>x</a:t>
              </a:r>
              <a:endParaRPr lang="el-GR" altLang="zh-CN">
                <a:cs typeface="Arial" charset="0"/>
              </a:endParaRPr>
            </a:p>
          </p:txBody>
        </p:sp>
        <p:sp>
          <p:nvSpPr>
            <p:cNvPr id="62499" name="Text Box 12"/>
            <p:cNvSpPr txBox="1">
              <a:spLocks noChangeArrowheads="1"/>
            </p:cNvSpPr>
            <p:nvPr/>
          </p:nvSpPr>
          <p:spPr bwMode="auto">
            <a:xfrm>
              <a:off x="6300788" y="4652963"/>
              <a:ext cx="431800" cy="524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  <a:cs typeface="Arial" charset="0"/>
                </a:rPr>
                <a:t>y</a:t>
              </a:r>
              <a:endParaRPr lang="el-GR" altLang="zh-CN" sz="2400" b="1">
                <a:ea typeface="楷体_GB2312" pitchFamily="49" charset="-122"/>
                <a:cs typeface="Arial" charset="0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503671"/>
              </p:ext>
            </p:extLst>
          </p:nvPr>
        </p:nvGraphicFramePr>
        <p:xfrm>
          <a:off x="7933035" y="3356992"/>
          <a:ext cx="2862263" cy="503238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51088"/>
              </p:ext>
            </p:extLst>
          </p:nvPr>
        </p:nvGraphicFramePr>
        <p:xfrm>
          <a:off x="7933035" y="2852936"/>
          <a:ext cx="2862263" cy="503238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769376"/>
              </p:ext>
            </p:extLst>
          </p:nvPr>
        </p:nvGraphicFramePr>
        <p:xfrm>
          <a:off x="7929991" y="3861866"/>
          <a:ext cx="2862263" cy="503238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-5.5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EB09F8-D4BC-9CCD-07A7-F224030D43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dirty="0">
                <a:solidFill>
                  <a:srgbClr val="13952C"/>
                </a:solidFill>
                <a:ea typeface="黑体" pitchFamily="2" charset="-122"/>
              </a:rPr>
              <a:t>逻辑应用于照相机自动聚焦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139" y="1491230"/>
            <a:ext cx="9083352" cy="496887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首先测量视野中的三个物体的距离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b="1" dirty="0"/>
              <a:t>通过利用这些数据以及它们之间的关系</a:t>
            </a:r>
          </a:p>
          <a:p>
            <a:pPr lvl="1" eaLnBrk="1" hangingPunct="1">
              <a:buNone/>
            </a:pPr>
            <a:r>
              <a:rPr lang="zh-CN" altLang="en-US" b="1" dirty="0"/>
              <a:t>   </a:t>
            </a:r>
            <a:r>
              <a:rPr lang="en-US" altLang="zh-CN" b="1" dirty="0"/>
              <a:t>F</a:t>
            </a:r>
            <a:r>
              <a:rPr lang="zh-CN" altLang="en-US" b="1" dirty="0"/>
              <a:t>逻辑决定应聚焦的位置并聚焦在该点上。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下面为用经验模拟的规则</a:t>
            </a:r>
          </a:p>
          <a:p>
            <a:pPr lvl="1"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是近的，则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Pc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是高的</a:t>
            </a:r>
          </a:p>
          <a:p>
            <a:pPr lvl="1"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是近的，则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en-US" altLang="zh-CN" b="1" i="1" dirty="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是高的</a:t>
            </a:r>
          </a:p>
          <a:p>
            <a:pPr lvl="1"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是近的，则</a:t>
            </a:r>
            <a:r>
              <a:rPr lang="en-US" altLang="zh-CN" b="1" dirty="0" err="1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en-US" altLang="zh-CN" b="1" i="1" dirty="0" err="1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是高的</a:t>
            </a:r>
          </a:p>
          <a:p>
            <a:pPr lvl="1"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是远的，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是中间的，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是近的，则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Pc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非常高</a:t>
            </a:r>
          </a:p>
          <a:p>
            <a:pPr lvl="1"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是远的，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是中间的，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是近的，则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Pc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非常高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实际产品中的规则更多</a:t>
            </a:r>
          </a:p>
        </p:txBody>
      </p:sp>
      <p:grpSp>
        <p:nvGrpSpPr>
          <p:cNvPr id="88078" name="Group 14"/>
          <p:cNvGrpSpPr>
            <a:grpSpLocks/>
          </p:cNvGrpSpPr>
          <p:nvPr/>
        </p:nvGrpSpPr>
        <p:grpSpPr bwMode="auto">
          <a:xfrm>
            <a:off x="8171421" y="3039042"/>
            <a:ext cx="3600450" cy="1873250"/>
            <a:chOff x="3198" y="1480"/>
            <a:chExt cx="2268" cy="1180"/>
          </a:xfrm>
        </p:grpSpPr>
        <p:sp>
          <p:nvSpPr>
            <p:cNvPr id="63494" name="Rectangle 5"/>
            <p:cNvSpPr>
              <a:spLocks noChangeArrowheads="1"/>
            </p:cNvSpPr>
            <p:nvPr/>
          </p:nvSpPr>
          <p:spPr bwMode="auto">
            <a:xfrm>
              <a:off x="3198" y="1480"/>
              <a:ext cx="2268" cy="11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5" name="Oval 6"/>
            <p:cNvSpPr>
              <a:spLocks noChangeArrowheads="1"/>
            </p:cNvSpPr>
            <p:nvPr/>
          </p:nvSpPr>
          <p:spPr bwMode="auto">
            <a:xfrm>
              <a:off x="3697" y="1707"/>
              <a:ext cx="46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6" name="Oval 7"/>
            <p:cNvSpPr>
              <a:spLocks noChangeArrowheads="1"/>
            </p:cNvSpPr>
            <p:nvPr/>
          </p:nvSpPr>
          <p:spPr bwMode="auto">
            <a:xfrm>
              <a:off x="4287" y="1934"/>
              <a:ext cx="46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7" name="Oval 8"/>
            <p:cNvSpPr>
              <a:spLocks noChangeArrowheads="1"/>
            </p:cNvSpPr>
            <p:nvPr/>
          </p:nvSpPr>
          <p:spPr bwMode="auto">
            <a:xfrm>
              <a:off x="5013" y="2342"/>
              <a:ext cx="46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8" name="Text Box 9"/>
            <p:cNvSpPr txBox="1">
              <a:spLocks noChangeArrowheads="1"/>
            </p:cNvSpPr>
            <p:nvPr/>
          </p:nvSpPr>
          <p:spPr bwMode="auto">
            <a:xfrm>
              <a:off x="3607" y="1843"/>
              <a:ext cx="2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L</a:t>
              </a:r>
            </a:p>
          </p:txBody>
        </p:sp>
        <p:sp>
          <p:nvSpPr>
            <p:cNvPr id="63499" name="Text Box 12"/>
            <p:cNvSpPr txBox="1">
              <a:spLocks noChangeArrowheads="1"/>
            </p:cNvSpPr>
            <p:nvPr/>
          </p:nvSpPr>
          <p:spPr bwMode="auto">
            <a:xfrm>
              <a:off x="4151" y="2025"/>
              <a:ext cx="2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63500" name="Text Box 13"/>
            <p:cNvSpPr txBox="1">
              <a:spLocks noChangeArrowheads="1"/>
            </p:cNvSpPr>
            <p:nvPr/>
          </p:nvSpPr>
          <p:spPr bwMode="auto">
            <a:xfrm>
              <a:off x="4741" y="2342"/>
              <a:ext cx="2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</p:grpSp>
      <p:sp>
        <p:nvSpPr>
          <p:cNvPr id="88079" name="AutoShape 15"/>
          <p:cNvSpPr>
            <a:spLocks noChangeArrowheads="1"/>
          </p:cNvSpPr>
          <p:nvPr/>
        </p:nvSpPr>
        <p:spPr bwMode="auto">
          <a:xfrm>
            <a:off x="5880101" y="6426200"/>
            <a:ext cx="4608513" cy="431800"/>
          </a:xfrm>
          <a:prstGeom prst="wedgeRectCallout">
            <a:avLst>
              <a:gd name="adj1" fmla="val -9140"/>
              <a:gd name="adj2" fmla="val -104975"/>
            </a:avLst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>
                <a:ea typeface="楷体_GB2312" pitchFamily="49" charset="-122"/>
              </a:rPr>
              <a:t>Pc</a:t>
            </a:r>
            <a:r>
              <a:rPr lang="zh-CN" altLang="en-US" sz="2000" b="1">
                <a:ea typeface="楷体_GB2312" pitchFamily="49" charset="-122"/>
              </a:rPr>
              <a:t>表示需聚焦在点</a:t>
            </a:r>
            <a:r>
              <a:rPr lang="en-US" altLang="zh-CN" sz="2000" b="1">
                <a:ea typeface="楷体_GB2312" pitchFamily="49" charset="-122"/>
              </a:rPr>
              <a:t>C</a:t>
            </a:r>
            <a:r>
              <a:rPr lang="zh-CN" altLang="en-US" sz="2000" b="1">
                <a:ea typeface="楷体_GB2312" pitchFamily="49" charset="-122"/>
              </a:rPr>
              <a:t>上物体的可能性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B3AF47-546D-3CA2-E362-71D58A3718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8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  <p:bldP spid="8807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26" name="Picture 14" descr="F:\相片\2013-01-20北欧考察2\景\P129048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542" y="4077073"/>
            <a:ext cx="3628875" cy="272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24" name="Picture 12" descr="F:\相片\2013-01-20北欧考察2\景\P124003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4113076"/>
            <a:ext cx="3600400" cy="27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82366"/>
            <a:ext cx="8229600" cy="1081088"/>
          </a:xfrm>
        </p:spPr>
        <p:txBody>
          <a:bodyPr/>
          <a:lstStyle/>
          <a:p>
            <a:pPr eaLnBrk="1" hangingPunct="1"/>
            <a:r>
              <a:rPr lang="en-US" altLang="zh-CN" sz="4500" dirty="0">
                <a:solidFill>
                  <a:srgbClr val="13952C"/>
                </a:solidFill>
                <a:ea typeface="黑体" pitchFamily="2" charset="-122"/>
              </a:rPr>
              <a:t>F </a:t>
            </a:r>
            <a:r>
              <a:rPr lang="zh-CN" altLang="en-US" sz="4500" dirty="0">
                <a:solidFill>
                  <a:srgbClr val="13952C"/>
                </a:solidFill>
                <a:ea typeface="黑体" pitchFamily="2" charset="-122"/>
              </a:rPr>
              <a:t>逻辑应用于照相机自动聚焦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8974" y="1415951"/>
            <a:ext cx="10225136" cy="423862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左图主要物体偏正中，右图主要物体偏右。</a:t>
            </a:r>
          </a:p>
          <a:p>
            <a:pPr eaLnBrk="1" hangingPunct="1"/>
            <a:r>
              <a:rPr lang="zh-CN" altLang="en-US" sz="2800" b="1" dirty="0">
                <a:ea typeface="华文楷体" pitchFamily="2" charset="-122"/>
              </a:rPr>
              <a:t>它们均满足关系：</a:t>
            </a:r>
            <a:r>
              <a:rPr lang="en-US" altLang="zh-CN" sz="2800" b="1" dirty="0">
                <a:ea typeface="华文楷体" pitchFamily="2" charset="-122"/>
              </a:rPr>
              <a:t>L&gt;C&gt;R</a:t>
            </a:r>
            <a:r>
              <a:rPr lang="zh-CN" altLang="en-US" sz="2800" b="1" dirty="0">
                <a:ea typeface="华文楷体" pitchFamily="2" charset="-122"/>
              </a:rPr>
              <a:t>，即均符合规则第</a:t>
            </a:r>
            <a:r>
              <a:rPr lang="en-US" altLang="zh-CN" sz="2800" b="1" dirty="0">
                <a:ea typeface="华文楷体" pitchFamily="2" charset="-122"/>
              </a:rPr>
              <a:t>1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3</a:t>
            </a:r>
            <a:r>
              <a:rPr lang="zh-CN" altLang="en-US" sz="2800" b="1" dirty="0">
                <a:ea typeface="华文楷体" pitchFamily="2" charset="-122"/>
              </a:rPr>
              <a:t>和</a:t>
            </a:r>
            <a:r>
              <a:rPr lang="en-US" altLang="zh-CN" sz="2800" b="1" dirty="0">
                <a:ea typeface="华文楷体" pitchFamily="2" charset="-122"/>
              </a:rPr>
              <a:t>5</a:t>
            </a:r>
            <a:r>
              <a:rPr lang="zh-CN" altLang="en-US" sz="2800" b="1" dirty="0">
                <a:ea typeface="华文楷体" pitchFamily="2" charset="-122"/>
              </a:rPr>
              <a:t>条，这时所做的决定取决于</a:t>
            </a:r>
            <a:r>
              <a:rPr lang="en-US" altLang="zh-CN" sz="2800" b="1" dirty="0">
                <a:ea typeface="华文楷体" pitchFamily="2" charset="-122"/>
              </a:rPr>
              <a:t>L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C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R</a:t>
            </a:r>
            <a:r>
              <a:rPr lang="zh-CN" altLang="en-US" sz="2800" b="1" dirty="0">
                <a:ea typeface="华文楷体" pitchFamily="2" charset="-122"/>
              </a:rPr>
              <a:t>的距离和在隶属函数帮助下所做的比较。</a:t>
            </a:r>
          </a:p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用二进制逻辑规则建此模型是很困难的。因为这需要大量的规则。然而，处理这类问题只需要几条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ea typeface="楷体_GB2312" pitchFamily="49" charset="-122"/>
              </a:rPr>
              <a:t>规则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6216898" y="5006504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5098678" y="4934496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2207568" y="508518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3791744" y="5438552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7608168" y="53736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8976320" y="5654576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7890FC-6DA4-2411-FC3E-79E2859A6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习题八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/>
              <a:t>                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ED8D1F-8F67-3877-7C44-09F672A60E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7453466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23110</TotalTime>
  <Words>5452</Words>
  <Application>Microsoft Office PowerPoint</Application>
  <PresentationFormat>宽屏</PresentationFormat>
  <Paragraphs>1428</Paragraphs>
  <Slides>57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MS Gothic</vt:lpstr>
      <vt:lpstr>黑体</vt:lpstr>
      <vt:lpstr>华文楷体</vt:lpstr>
      <vt:lpstr>楷体_GB2312</vt:lpstr>
      <vt:lpstr>隶书</vt:lpstr>
      <vt:lpstr>Arial</vt:lpstr>
      <vt:lpstr>Arial Black</vt:lpstr>
      <vt:lpstr>Comic Sans MS</vt:lpstr>
      <vt:lpstr>Symbol</vt:lpstr>
      <vt:lpstr>Times New Roman</vt:lpstr>
      <vt:lpstr>Wingdings</vt:lpstr>
      <vt:lpstr>Pixel</vt:lpstr>
      <vt:lpstr>公式</vt:lpstr>
      <vt:lpstr>Equation</vt:lpstr>
      <vt:lpstr>第 8 章 模糊控制</vt:lpstr>
      <vt:lpstr>8.1　F控制的概念</vt:lpstr>
      <vt:lpstr>例1：关于贮水容器水位的F控制</vt:lpstr>
      <vt:lpstr>例1：关于贮水容器水位的F控制　　　　　　　　　　　　　　　　　　　　　</vt:lpstr>
      <vt:lpstr>例1：关于贮水容器水位的F控制　　　　　　　　　　　　　　　　　　　　　</vt:lpstr>
      <vt:lpstr>例1：关于贮水容器水位的F控制</vt:lpstr>
      <vt:lpstr>例1：关于贮水容器水位的F控制</vt:lpstr>
      <vt:lpstr>例1：关于贮水容器水位的F控制</vt:lpstr>
      <vt:lpstr>例1：关于贮水容器水位的F控制　　　　　　　　　　　　　　　　　　　　　</vt:lpstr>
      <vt:lpstr>例1：关于贮水容器水位的F控制</vt:lpstr>
      <vt:lpstr>例1：关于贮水容器水位的F控制</vt:lpstr>
      <vt:lpstr>例1：关于贮水容器水位的F控制</vt:lpstr>
      <vt:lpstr>例1：关于贮水容器水位的F控制</vt:lpstr>
      <vt:lpstr>例2：关于热交换装置水温的F控制</vt:lpstr>
      <vt:lpstr>例2：关于热交换装置流量的F控制</vt:lpstr>
      <vt:lpstr>例2：关于热交换装置流量的F控制</vt:lpstr>
      <vt:lpstr>例2：关于热交换装置流量的F控制</vt:lpstr>
      <vt:lpstr>例2：关于热交换装置流量的F控制</vt:lpstr>
      <vt:lpstr>例2：关于热交换装置流量的F控制</vt:lpstr>
      <vt:lpstr>例2：关于热交换装置流量的F控制</vt:lpstr>
      <vt:lpstr>8.2  F 控制原理</vt:lpstr>
      <vt:lpstr>系统进行 F 控制必须的计算步骤</vt:lpstr>
      <vt:lpstr>Step1: 确定误差和误差变化率</vt:lpstr>
      <vt:lpstr>Step1: 确定误差和误差变化率</vt:lpstr>
      <vt:lpstr>Step2: 将误差和误差变化率 F 化</vt:lpstr>
      <vt:lpstr>F 集 Ai 定义图形表示</vt:lpstr>
      <vt:lpstr>Step2: 将误差和误差变化率 F 化</vt:lpstr>
      <vt:lpstr>F 集 Bi 定义图形表示</vt:lpstr>
      <vt:lpstr>Step3:  F 控制规则（合成算法）</vt:lpstr>
      <vt:lpstr>控制量 Ci 隶属函数定义</vt:lpstr>
      <vt:lpstr>F 集 Ci 定义图形表示</vt:lpstr>
      <vt:lpstr>Step3:  F 控制规则（合成算法）</vt:lpstr>
      <vt:lpstr>按复合条件语句形成控制规则</vt:lpstr>
      <vt:lpstr>按复合条件语句形成控制规则</vt:lpstr>
      <vt:lpstr>按控制规则形成的控制曲面</vt:lpstr>
      <vt:lpstr>Step4: 决定 F 控制量 C 的确切值</vt:lpstr>
      <vt:lpstr>Step4: 决定 F 控制量 C 的确切值</vt:lpstr>
      <vt:lpstr>Step4: 决定 F 控制量 C 的确切值</vt:lpstr>
      <vt:lpstr>8.3 自组织 F 控制器简介</vt:lpstr>
      <vt:lpstr>自组织 F 控制器</vt:lpstr>
      <vt:lpstr>修改F控制状态表的方法</vt:lpstr>
      <vt:lpstr>修改F控制状态表的方法</vt:lpstr>
      <vt:lpstr>修改F控制状态表的方法</vt:lpstr>
      <vt:lpstr>修改F控制状态表的方法</vt:lpstr>
      <vt:lpstr>修改F控制状态表的方法</vt:lpstr>
      <vt:lpstr>修改F控制状态表的方法</vt:lpstr>
      <vt:lpstr>8.4  F 控制应用实例: 倒摆F控制</vt:lpstr>
      <vt:lpstr>F 控制应用实例: 倒摆F控制</vt:lpstr>
      <vt:lpstr>F 控制应用实例: 倒摆F控制</vt:lpstr>
      <vt:lpstr>F 控制应用实例: 倒摆F控制</vt:lpstr>
      <vt:lpstr>F 控制应用实例: 倒摆F控制</vt:lpstr>
      <vt:lpstr>F 控制应用实例: 倒摆F控制</vt:lpstr>
      <vt:lpstr>F 控制应用实例: 倒摆F控制</vt:lpstr>
      <vt:lpstr>F 控制应用实例: 倒摆F控制</vt:lpstr>
      <vt:lpstr>F 逻辑应用于照相机自动聚焦</vt:lpstr>
      <vt:lpstr>F 逻辑应用于照相机自动聚焦</vt:lpstr>
      <vt:lpstr>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8 章 模糊控制</dc:title>
  <dc:creator>凌卫新</dc:creator>
  <cp:lastModifiedBy>wxling66@outlook.com</cp:lastModifiedBy>
  <cp:revision>189</cp:revision>
  <dcterms:created xsi:type="dcterms:W3CDTF">2007-06-19T18:06:18Z</dcterms:created>
  <dcterms:modified xsi:type="dcterms:W3CDTF">2026-06-01T14:09:15Z</dcterms:modified>
</cp:coreProperties>
</file>