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0"/>
  </p:notesMasterIdLst>
  <p:handoutMasterIdLst>
    <p:handoutMasterId r:id="rId81"/>
  </p:handoutMasterIdLst>
  <p:sldIdLst>
    <p:sldId id="264" r:id="rId2"/>
    <p:sldId id="513" r:id="rId3"/>
    <p:sldId id="525" r:id="rId4"/>
    <p:sldId id="526" r:id="rId5"/>
    <p:sldId id="527" r:id="rId6"/>
    <p:sldId id="544" r:id="rId7"/>
    <p:sldId id="724" r:id="rId8"/>
    <p:sldId id="725" r:id="rId9"/>
    <p:sldId id="531" r:id="rId10"/>
    <p:sldId id="532" r:id="rId11"/>
    <p:sldId id="722" r:id="rId12"/>
    <p:sldId id="533" r:id="rId13"/>
    <p:sldId id="548" r:id="rId14"/>
    <p:sldId id="534" r:id="rId15"/>
    <p:sldId id="535" r:id="rId16"/>
    <p:sldId id="720" r:id="rId17"/>
    <p:sldId id="721" r:id="rId18"/>
    <p:sldId id="713" r:id="rId19"/>
    <p:sldId id="489" r:id="rId20"/>
    <p:sldId id="714" r:id="rId21"/>
    <p:sldId id="326" r:id="rId22"/>
    <p:sldId id="715" r:id="rId23"/>
    <p:sldId id="328" r:id="rId24"/>
    <p:sldId id="716" r:id="rId25"/>
    <p:sldId id="385" r:id="rId26"/>
    <p:sldId id="717" r:id="rId27"/>
    <p:sldId id="718" r:id="rId28"/>
    <p:sldId id="380" r:id="rId29"/>
    <p:sldId id="719" r:id="rId30"/>
    <p:sldId id="398" r:id="rId31"/>
    <p:sldId id="399" r:id="rId32"/>
    <p:sldId id="400" r:id="rId33"/>
    <p:sldId id="401" r:id="rId34"/>
    <p:sldId id="402" r:id="rId35"/>
    <p:sldId id="395" r:id="rId36"/>
    <p:sldId id="396" r:id="rId37"/>
    <p:sldId id="327" r:id="rId38"/>
    <p:sldId id="330" r:id="rId39"/>
    <p:sldId id="712" r:id="rId40"/>
    <p:sldId id="331" r:id="rId41"/>
    <p:sldId id="332" r:id="rId42"/>
    <p:sldId id="333" r:id="rId43"/>
    <p:sldId id="334" r:id="rId44"/>
    <p:sldId id="335" r:id="rId45"/>
    <p:sldId id="336" r:id="rId46"/>
    <p:sldId id="338" r:id="rId47"/>
    <p:sldId id="339" r:id="rId48"/>
    <p:sldId id="340" r:id="rId49"/>
    <p:sldId id="341" r:id="rId50"/>
    <p:sldId id="342" r:id="rId51"/>
    <p:sldId id="343" r:id="rId52"/>
    <p:sldId id="344" r:id="rId53"/>
    <p:sldId id="345" r:id="rId54"/>
    <p:sldId id="397" r:id="rId55"/>
    <p:sldId id="346" r:id="rId56"/>
    <p:sldId id="347" r:id="rId57"/>
    <p:sldId id="348" r:id="rId58"/>
    <p:sldId id="351" r:id="rId59"/>
    <p:sldId id="352" r:id="rId60"/>
    <p:sldId id="353" r:id="rId61"/>
    <p:sldId id="354" r:id="rId62"/>
    <p:sldId id="355" r:id="rId63"/>
    <p:sldId id="356" r:id="rId64"/>
    <p:sldId id="357" r:id="rId65"/>
    <p:sldId id="358" r:id="rId66"/>
    <p:sldId id="359" r:id="rId67"/>
    <p:sldId id="360" r:id="rId68"/>
    <p:sldId id="361" r:id="rId69"/>
    <p:sldId id="362" r:id="rId70"/>
    <p:sldId id="363" r:id="rId71"/>
    <p:sldId id="364" r:id="rId72"/>
    <p:sldId id="365" r:id="rId73"/>
    <p:sldId id="373" r:id="rId74"/>
    <p:sldId id="374" r:id="rId75"/>
    <p:sldId id="379" r:id="rId76"/>
    <p:sldId id="383" r:id="rId77"/>
    <p:sldId id="384" r:id="rId78"/>
    <p:sldId id="386" r:id="rId79"/>
  </p:sldIdLst>
  <p:sldSz cx="12192000" cy="6858000"/>
  <p:notesSz cx="6669088"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CC00FF"/>
    <a:srgbClr val="008000"/>
    <a:srgbClr val="FF3300"/>
    <a:srgbClr val="0000FF"/>
    <a:srgbClr val="FF0000"/>
    <a:srgbClr val="FFFF99"/>
    <a:srgbClr val="00B0F0"/>
    <a:srgbClr val="66FF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078" autoAdjust="0"/>
    <p:restoredTop sz="89966" autoAdjust="0"/>
  </p:normalViewPr>
  <p:slideViewPr>
    <p:cSldViewPr>
      <p:cViewPr varScale="1">
        <p:scale>
          <a:sx n="61" d="100"/>
          <a:sy n="61" d="100"/>
        </p:scale>
        <p:origin x="90" y="37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3258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37891" name="Rectangle 3"/>
          <p:cNvSpPr>
            <a:spLocks noGrp="1" noChangeArrowheads="1"/>
          </p:cNvSpPr>
          <p:nvPr>
            <p:ph type="dt" sz="quarter"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37892" name="Rectangle 4"/>
          <p:cNvSpPr>
            <a:spLocks noGrp="1" noChangeArrowheads="1"/>
          </p:cNvSpPr>
          <p:nvPr>
            <p:ph type="ftr" sz="quarter" idx="2"/>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37893" name="Rectangle 5"/>
          <p:cNvSpPr>
            <a:spLocks noGrp="1" noChangeArrowheads="1"/>
          </p:cNvSpPr>
          <p:nvPr>
            <p:ph type="sldNum" sz="quarter" idx="3"/>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3084F53E-6D7A-47C1-A982-DF9EA22D7B94}" type="slidenum">
              <a:rPr lang="en-US" altLang="zh-CN"/>
              <a:pPr>
                <a:defRPr/>
              </a:pPr>
              <a:t>‹#›</a:t>
            </a:fld>
            <a:endParaRPr lang="en-US" altLang="zh-CN"/>
          </a:p>
        </p:txBody>
      </p:sp>
    </p:spTree>
    <p:extLst>
      <p:ext uri="{BB962C8B-B14F-4D97-AF65-F5344CB8AC3E}">
        <p14:creationId xmlns:p14="http://schemas.microsoft.com/office/powerpoint/2010/main" val="16746710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099" name="Rectangle 3"/>
          <p:cNvSpPr>
            <a:spLocks noGrp="1" noChangeArrowheads="1"/>
          </p:cNvSpPr>
          <p:nvPr>
            <p:ph type="dt"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47108"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66909" y="4715907"/>
            <a:ext cx="533527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F943EDF5-C172-4017-94A3-CEB936662F74}" type="slidenum">
              <a:rPr lang="en-US" altLang="zh-CN"/>
              <a:pPr>
                <a:defRPr/>
              </a:pPr>
              <a:t>‹#›</a:t>
            </a:fld>
            <a:endParaRPr lang="en-US" altLang="zh-CN"/>
          </a:p>
        </p:txBody>
      </p:sp>
    </p:spTree>
    <p:extLst>
      <p:ext uri="{BB962C8B-B14F-4D97-AF65-F5344CB8AC3E}">
        <p14:creationId xmlns:p14="http://schemas.microsoft.com/office/powerpoint/2010/main" val="17581505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说明 </a:t>
            </a:r>
            <a:r>
              <a:rPr lang="en-US" altLang="zh-CN" dirty="0"/>
              <a:t>P </a:t>
            </a:r>
            <a:r>
              <a:rPr lang="zh-CN" altLang="en-US" dirty="0"/>
              <a:t>和 </a:t>
            </a:r>
            <a:r>
              <a:rPr kumimoji="1" lang="en-US" altLang="zh-CN" sz="1200" b="1" dirty="0">
                <a:solidFill>
                  <a:srgbClr val="EE0006"/>
                </a:solidFill>
                <a:sym typeface="Symbol" pitchFamily="18" charset="2"/>
              </a:rPr>
              <a:t>Q</a:t>
            </a:r>
            <a:r>
              <a:rPr kumimoji="1" lang="en-US" altLang="zh-CN" sz="1200" b="1" i="1" dirty="0">
                <a:solidFill>
                  <a:srgbClr val="EE0006"/>
                </a:solidFill>
                <a:sym typeface="Symbol" pitchFamily="18" charset="2"/>
              </a:rPr>
              <a:t> </a:t>
            </a:r>
            <a:r>
              <a:rPr lang="en-US" altLang="zh-CN" sz="1200" b="1" dirty="0">
                <a:solidFill>
                  <a:srgbClr val="EE0006"/>
                </a:solidFill>
              </a:rPr>
              <a:t>◦</a:t>
            </a:r>
            <a:r>
              <a:rPr kumimoji="1" lang="en-US" altLang="zh-CN" sz="1200" dirty="0">
                <a:solidFill>
                  <a:srgbClr val="EE0006"/>
                </a:solidFill>
              </a:rPr>
              <a:t> </a:t>
            </a:r>
            <a:r>
              <a:rPr kumimoji="1" lang="en-US" altLang="zh-CN" sz="1200" b="1" dirty="0">
                <a:solidFill>
                  <a:srgbClr val="EE0006"/>
                </a:solidFill>
              </a:rPr>
              <a:t>R</a:t>
            </a:r>
            <a:r>
              <a:rPr kumimoji="1" lang="zh-CN" altLang="en-US" sz="1200" b="1" dirty="0">
                <a:solidFill>
                  <a:srgbClr val="EE0006"/>
                </a:solidFill>
              </a:rPr>
              <a:t>的</a:t>
            </a:r>
            <a:r>
              <a:rPr kumimoji="1" lang="en-US" altLang="zh-CN" sz="1200" b="1" dirty="0">
                <a:solidFill>
                  <a:srgbClr val="EE0006"/>
                </a:solidFill>
                <a:sym typeface="Symbol" pitchFamily="18" charset="2"/>
              </a:rPr>
              <a:t> </a:t>
            </a:r>
            <a:r>
              <a:rPr kumimoji="1" lang="en-US" altLang="zh-CN" sz="1200" b="1" i="1" kern="1200" dirty="0">
                <a:solidFill>
                  <a:srgbClr val="EE0006"/>
                </a:solidFill>
                <a:latin typeface="Arial" charset="0"/>
                <a:ea typeface="黑体" pitchFamily="2" charset="-122"/>
                <a:cs typeface="+mn-cs"/>
                <a:sym typeface="Symbol" pitchFamily="18" charset="2"/>
              </a:rPr>
              <a:t></a:t>
            </a:r>
            <a:r>
              <a:rPr kumimoji="1" lang="zh-CN" altLang="en-US" sz="1200" b="1" i="0" kern="1200" dirty="0">
                <a:solidFill>
                  <a:srgbClr val="EE0006"/>
                </a:solidFill>
                <a:latin typeface="Arial" charset="0"/>
                <a:ea typeface="黑体" pitchFamily="2" charset="-122"/>
                <a:cs typeface="+mn-cs"/>
                <a:sym typeface="Symbol" pitchFamily="18" charset="2"/>
              </a:rPr>
              <a:t>截集的</a:t>
            </a:r>
            <a:r>
              <a:rPr kumimoji="1" lang="en-US" altLang="zh-CN" sz="1200" b="1" i="0" kern="1200" dirty="0">
                <a:solidFill>
                  <a:srgbClr val="EE0006"/>
                </a:solidFill>
                <a:latin typeface="Arial" charset="0"/>
                <a:ea typeface="黑体" pitchFamily="2" charset="-122"/>
                <a:cs typeface="+mn-cs"/>
                <a:sym typeface="Symbol" pitchFamily="18" charset="2"/>
              </a:rPr>
              <a:t>(</a:t>
            </a:r>
            <a:r>
              <a:rPr kumimoji="1" lang="en-US" altLang="zh-CN" sz="1200" b="1" i="0" kern="1200" dirty="0" err="1">
                <a:solidFill>
                  <a:srgbClr val="EE0006"/>
                </a:solidFill>
                <a:latin typeface="Arial" charset="0"/>
                <a:ea typeface="黑体" pitchFamily="2" charset="-122"/>
                <a:cs typeface="+mn-cs"/>
                <a:sym typeface="Symbol" pitchFamily="18" charset="2"/>
              </a:rPr>
              <a:t>i,j</a:t>
            </a:r>
            <a:r>
              <a:rPr kumimoji="1" lang="en-US" altLang="zh-CN" sz="1200" b="1" i="0" kern="1200" dirty="0">
                <a:solidFill>
                  <a:srgbClr val="EE0006"/>
                </a:solidFill>
                <a:latin typeface="Arial" charset="0"/>
                <a:ea typeface="黑体" pitchFamily="2" charset="-122"/>
                <a:cs typeface="+mn-cs"/>
                <a:sym typeface="Symbol" pitchFamily="18" charset="2"/>
              </a:rPr>
              <a:t>)</a:t>
            </a:r>
            <a:r>
              <a:rPr kumimoji="1" lang="zh-CN" altLang="en-US" sz="1200" b="1" i="0" kern="1200" dirty="0">
                <a:solidFill>
                  <a:srgbClr val="EE0006"/>
                </a:solidFill>
                <a:latin typeface="Arial" charset="0"/>
                <a:ea typeface="黑体" pitchFamily="2" charset="-122"/>
                <a:cs typeface="+mn-cs"/>
                <a:sym typeface="Symbol" pitchFamily="18" charset="2"/>
              </a:rPr>
              <a:t>元素均为</a:t>
            </a:r>
            <a:r>
              <a:rPr kumimoji="1" lang="en-US" altLang="zh-CN" sz="1200" b="1" i="0" kern="1200" dirty="0">
                <a:solidFill>
                  <a:srgbClr val="EE0006"/>
                </a:solidFill>
                <a:latin typeface="Arial" charset="0"/>
                <a:ea typeface="黑体" pitchFamily="2" charset="-122"/>
                <a:cs typeface="+mn-cs"/>
                <a:sym typeface="Symbol" pitchFamily="18" charset="2"/>
              </a:rPr>
              <a:t>1</a:t>
            </a:r>
            <a:endParaRPr lang="zh-CN" altLang="en-US" i="0" dirty="0"/>
          </a:p>
        </p:txBody>
      </p:sp>
      <p:sp>
        <p:nvSpPr>
          <p:cNvPr id="4" name="灯片编号占位符 3"/>
          <p:cNvSpPr>
            <a:spLocks noGrp="1"/>
          </p:cNvSpPr>
          <p:nvPr>
            <p:ph type="sldNum" sz="quarter" idx="10"/>
          </p:nvPr>
        </p:nvSpPr>
        <p:spPr/>
        <p:txBody>
          <a:bodyPr/>
          <a:lstStyle/>
          <a:p>
            <a:pPr>
              <a:defRPr/>
            </a:pPr>
            <a:fld id="{370C552B-B808-4BB9-80CB-704898857D91}" type="slidenum">
              <a:rPr lang="en-US" altLang="zh-CN" smtClean="0"/>
              <a:pPr>
                <a:defRPr/>
              </a:pPr>
              <a:t>4</a:t>
            </a:fld>
            <a:endParaRPr lang="en-US" altLang="zh-CN"/>
          </a:p>
        </p:txBody>
      </p:sp>
    </p:spTree>
    <p:extLst>
      <p:ext uri="{BB962C8B-B14F-4D97-AF65-F5344CB8AC3E}">
        <p14:creationId xmlns:p14="http://schemas.microsoft.com/office/powerpoint/2010/main" val="3801595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说明 </a:t>
            </a:r>
            <a:r>
              <a:rPr lang="en-US" altLang="zh-CN" dirty="0"/>
              <a:t>P </a:t>
            </a:r>
            <a:r>
              <a:rPr lang="zh-CN" altLang="en-US" dirty="0"/>
              <a:t>和 </a:t>
            </a:r>
            <a:r>
              <a:rPr kumimoji="1" lang="en-US" altLang="zh-CN" sz="1200" b="1" dirty="0">
                <a:solidFill>
                  <a:srgbClr val="EE0006"/>
                </a:solidFill>
                <a:sym typeface="Symbol" pitchFamily="18" charset="2"/>
              </a:rPr>
              <a:t>Q</a:t>
            </a:r>
            <a:r>
              <a:rPr kumimoji="1" lang="en-US" altLang="zh-CN" sz="1200" b="1" i="1" dirty="0">
                <a:solidFill>
                  <a:srgbClr val="EE0006"/>
                </a:solidFill>
                <a:sym typeface="Symbol" pitchFamily="18" charset="2"/>
              </a:rPr>
              <a:t> </a:t>
            </a:r>
            <a:r>
              <a:rPr lang="en-US" altLang="zh-CN" sz="1200" b="1" dirty="0">
                <a:solidFill>
                  <a:srgbClr val="EE0006"/>
                </a:solidFill>
              </a:rPr>
              <a:t>◦</a:t>
            </a:r>
            <a:r>
              <a:rPr kumimoji="1" lang="en-US" altLang="zh-CN" sz="1200" dirty="0">
                <a:solidFill>
                  <a:srgbClr val="EE0006"/>
                </a:solidFill>
              </a:rPr>
              <a:t> </a:t>
            </a:r>
            <a:r>
              <a:rPr kumimoji="1" lang="en-US" altLang="zh-CN" sz="1200" b="1" dirty="0">
                <a:solidFill>
                  <a:srgbClr val="EE0006"/>
                </a:solidFill>
              </a:rPr>
              <a:t>R</a:t>
            </a:r>
            <a:r>
              <a:rPr kumimoji="1" lang="zh-CN" altLang="en-US" sz="1200" b="1" dirty="0">
                <a:solidFill>
                  <a:srgbClr val="EE0006"/>
                </a:solidFill>
              </a:rPr>
              <a:t>的</a:t>
            </a:r>
            <a:r>
              <a:rPr kumimoji="1" lang="en-US" altLang="zh-CN" sz="1200" b="1" dirty="0">
                <a:solidFill>
                  <a:srgbClr val="EE0006"/>
                </a:solidFill>
                <a:sym typeface="Symbol" pitchFamily="18" charset="2"/>
              </a:rPr>
              <a:t> </a:t>
            </a:r>
            <a:r>
              <a:rPr kumimoji="1" lang="en-US" altLang="zh-CN" sz="1200" b="1" i="1" kern="1200" dirty="0">
                <a:solidFill>
                  <a:srgbClr val="EE0006"/>
                </a:solidFill>
                <a:latin typeface="Arial" charset="0"/>
                <a:ea typeface="黑体" pitchFamily="2" charset="-122"/>
                <a:cs typeface="+mn-cs"/>
                <a:sym typeface="Symbol" pitchFamily="18" charset="2"/>
              </a:rPr>
              <a:t></a:t>
            </a:r>
            <a:r>
              <a:rPr kumimoji="1" lang="zh-CN" altLang="en-US" sz="1200" b="1" i="0" kern="1200" dirty="0">
                <a:solidFill>
                  <a:srgbClr val="EE0006"/>
                </a:solidFill>
                <a:latin typeface="Arial" charset="0"/>
                <a:ea typeface="黑体" pitchFamily="2" charset="-122"/>
                <a:cs typeface="+mn-cs"/>
                <a:sym typeface="Symbol" pitchFamily="18" charset="2"/>
              </a:rPr>
              <a:t>截集的</a:t>
            </a:r>
            <a:r>
              <a:rPr kumimoji="1" lang="en-US" altLang="zh-CN" sz="1200" b="1" i="0" kern="1200" dirty="0">
                <a:solidFill>
                  <a:srgbClr val="EE0006"/>
                </a:solidFill>
                <a:latin typeface="Arial" charset="0"/>
                <a:ea typeface="黑体" pitchFamily="2" charset="-122"/>
                <a:cs typeface="+mn-cs"/>
                <a:sym typeface="Symbol" pitchFamily="18" charset="2"/>
              </a:rPr>
              <a:t>(</a:t>
            </a:r>
            <a:r>
              <a:rPr kumimoji="1" lang="en-US" altLang="zh-CN" sz="1200" b="1" i="0" kern="1200" dirty="0" err="1">
                <a:solidFill>
                  <a:srgbClr val="EE0006"/>
                </a:solidFill>
                <a:latin typeface="Arial" charset="0"/>
                <a:ea typeface="黑体" pitchFamily="2" charset="-122"/>
                <a:cs typeface="+mn-cs"/>
                <a:sym typeface="Symbol" pitchFamily="18" charset="2"/>
              </a:rPr>
              <a:t>i,j</a:t>
            </a:r>
            <a:r>
              <a:rPr kumimoji="1" lang="en-US" altLang="zh-CN" sz="1200" b="1" i="0" kern="1200" dirty="0">
                <a:solidFill>
                  <a:srgbClr val="EE0006"/>
                </a:solidFill>
                <a:latin typeface="Arial" charset="0"/>
                <a:ea typeface="黑体" pitchFamily="2" charset="-122"/>
                <a:cs typeface="+mn-cs"/>
                <a:sym typeface="Symbol" pitchFamily="18" charset="2"/>
              </a:rPr>
              <a:t>)</a:t>
            </a:r>
            <a:r>
              <a:rPr kumimoji="1" lang="zh-CN" altLang="en-US" sz="1200" b="1" i="0" kern="1200" dirty="0">
                <a:solidFill>
                  <a:srgbClr val="EE0006"/>
                </a:solidFill>
                <a:latin typeface="Arial" charset="0"/>
                <a:ea typeface="黑体" pitchFamily="2" charset="-122"/>
                <a:cs typeface="+mn-cs"/>
                <a:sym typeface="Symbol" pitchFamily="18" charset="2"/>
              </a:rPr>
              <a:t>元素均为</a:t>
            </a:r>
            <a:r>
              <a:rPr kumimoji="1" lang="en-US" altLang="zh-CN" sz="1200" b="1" i="0" kern="1200" dirty="0">
                <a:solidFill>
                  <a:srgbClr val="EE0006"/>
                </a:solidFill>
                <a:latin typeface="Arial" charset="0"/>
                <a:ea typeface="黑体" pitchFamily="2" charset="-122"/>
                <a:cs typeface="+mn-cs"/>
                <a:sym typeface="Symbol" pitchFamily="18" charset="2"/>
              </a:rPr>
              <a:t>0</a:t>
            </a:r>
            <a:endParaRPr lang="zh-CN" altLang="en-US" i="0" dirty="0"/>
          </a:p>
          <a:p>
            <a:endParaRPr lang="zh-CN" altLang="en-US" dirty="0"/>
          </a:p>
        </p:txBody>
      </p:sp>
      <p:sp>
        <p:nvSpPr>
          <p:cNvPr id="4" name="灯片编号占位符 3"/>
          <p:cNvSpPr>
            <a:spLocks noGrp="1"/>
          </p:cNvSpPr>
          <p:nvPr>
            <p:ph type="sldNum" sz="quarter" idx="10"/>
          </p:nvPr>
        </p:nvSpPr>
        <p:spPr/>
        <p:txBody>
          <a:bodyPr/>
          <a:lstStyle/>
          <a:p>
            <a:pPr>
              <a:defRPr/>
            </a:pPr>
            <a:fld id="{370C552B-B808-4BB9-80CB-704898857D91}" type="slidenum">
              <a:rPr lang="en-US" altLang="zh-CN" smtClean="0"/>
              <a:pPr>
                <a:defRPr/>
              </a:pPr>
              <a:t>5</a:t>
            </a:fld>
            <a:endParaRPr lang="en-US" altLang="zh-CN"/>
          </a:p>
        </p:txBody>
      </p:sp>
    </p:spTree>
    <p:extLst>
      <p:ext uri="{BB962C8B-B14F-4D97-AF65-F5344CB8AC3E}">
        <p14:creationId xmlns:p14="http://schemas.microsoft.com/office/powerpoint/2010/main" val="1993887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E854A19-106E-47C9-8253-27F912CED1FA}" type="slidenum">
              <a:rPr lang="en-US" altLang="zh-CN" smtClean="0"/>
              <a:pPr eaLnBrk="1" hangingPunct="1"/>
              <a:t>10</a:t>
            </a:fld>
            <a:endParaRPr lang="en-US" altLang="zh-CN"/>
          </a:p>
        </p:txBody>
      </p:sp>
      <p:sp>
        <p:nvSpPr>
          <p:cNvPr id="79875" name="Rectangle 2"/>
          <p:cNvSpPr>
            <a:spLocks noGrp="1" noRot="1" noChangeAspect="1" noChangeArrowheads="1" noTextEdit="1"/>
          </p:cNvSpPr>
          <p:nvPr>
            <p:ph type="sldImg"/>
          </p:nvPr>
        </p:nvSpPr>
        <p:spPr>
          <a:xfrm>
            <a:off x="26988" y="744538"/>
            <a:ext cx="6615112" cy="3722687"/>
          </a:xfrm>
          <a:ln/>
        </p:spPr>
      </p:sp>
      <p:sp>
        <p:nvSpPr>
          <p:cNvPr id="79876" name="Rectangle 3"/>
          <p:cNvSpPr>
            <a:spLocks noGrp="1" noChangeArrowheads="1"/>
          </p:cNvSpPr>
          <p:nvPr>
            <p:ph type="body" idx="1"/>
          </p:nvPr>
        </p:nvSpPr>
        <p:spPr>
          <a:noFill/>
        </p:spPr>
        <p:txBody>
          <a:bodyPr/>
          <a:lstStyle/>
          <a:p>
            <a:pPr eaLnBrk="1" hangingPunct="1"/>
            <a:r>
              <a:rPr lang="zh-CN" altLang="en-US"/>
              <a:t>这提供了验证某</a:t>
            </a:r>
            <a:r>
              <a:rPr lang="en-US" altLang="zh-CN"/>
              <a:t>F</a:t>
            </a:r>
            <a:r>
              <a:rPr lang="zh-CN" altLang="en-US"/>
              <a:t>关系具有传递性的方法</a:t>
            </a:r>
          </a:p>
        </p:txBody>
      </p:sp>
    </p:spTree>
    <p:extLst>
      <p:ext uri="{BB962C8B-B14F-4D97-AF65-F5344CB8AC3E}">
        <p14:creationId xmlns:p14="http://schemas.microsoft.com/office/powerpoint/2010/main" val="863147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B780F81-C3B8-4D88-A4E2-9DFCBAC2C938}" type="slidenum">
              <a:rPr lang="en-US" altLang="zh-CN" smtClean="0"/>
              <a:pPr eaLnBrk="1" hangingPunct="1"/>
              <a:t>12</a:t>
            </a:fld>
            <a:endParaRPr lang="en-US" altLang="zh-CN"/>
          </a:p>
        </p:txBody>
      </p:sp>
      <p:sp>
        <p:nvSpPr>
          <p:cNvPr id="80899" name="Rectangle 2"/>
          <p:cNvSpPr>
            <a:spLocks noGrp="1" noRot="1" noChangeAspect="1" noChangeArrowheads="1" noTextEdit="1"/>
          </p:cNvSpPr>
          <p:nvPr>
            <p:ph type="sldImg"/>
          </p:nvPr>
        </p:nvSpPr>
        <p:spPr>
          <a:xfrm>
            <a:off x="26988" y="744538"/>
            <a:ext cx="6615112" cy="3722687"/>
          </a:xfrm>
          <a:ln/>
        </p:spPr>
      </p:sp>
      <p:sp>
        <p:nvSpPr>
          <p:cNvPr id="80900" name="Rectangle 3"/>
          <p:cNvSpPr>
            <a:spLocks noGrp="1" noChangeArrowheads="1"/>
          </p:cNvSpPr>
          <p:nvPr>
            <p:ph type="body" idx="1"/>
          </p:nvPr>
        </p:nvSpPr>
        <p:spPr>
          <a:noFill/>
        </p:spPr>
        <p:txBody>
          <a:bodyPr/>
          <a:lstStyle/>
          <a:p>
            <a:pPr eaLnBrk="1" hangingPunct="1"/>
            <a:r>
              <a:rPr kumimoji="1" lang="en-US" altLang="zh-CN" sz="1000">
                <a:solidFill>
                  <a:srgbClr val="EE0006"/>
                </a:solidFill>
                <a:ea typeface="黑体" pitchFamily="2" charset="-122"/>
              </a:rPr>
              <a:t>[</a:t>
            </a:r>
            <a:r>
              <a:rPr kumimoji="1" lang="zh-CN" altLang="en-US" sz="1000">
                <a:solidFill>
                  <a:srgbClr val="EE0006"/>
                </a:solidFill>
                <a:ea typeface="黑体" pitchFamily="2" charset="-122"/>
              </a:rPr>
              <a:t>定理</a:t>
            </a:r>
            <a:r>
              <a:rPr kumimoji="1" lang="en-US" altLang="zh-CN" sz="1000">
                <a:solidFill>
                  <a:srgbClr val="EE0006"/>
                </a:solidFill>
                <a:ea typeface="黑体" pitchFamily="2" charset="-122"/>
              </a:rPr>
              <a:t>4]</a:t>
            </a:r>
            <a:r>
              <a:rPr kumimoji="1" lang="zh-CN" altLang="en-US" sz="1000">
                <a:solidFill>
                  <a:srgbClr val="EE0006"/>
                </a:solidFill>
                <a:ea typeface="黑体" pitchFamily="2" charset="-122"/>
              </a:rPr>
              <a:t>给出了求</a:t>
            </a:r>
            <a:r>
              <a:rPr kumimoji="1" lang="en-US" altLang="zh-CN" sz="1000">
                <a:solidFill>
                  <a:srgbClr val="EE0006"/>
                </a:solidFill>
                <a:ea typeface="黑体" pitchFamily="2" charset="-122"/>
              </a:rPr>
              <a:t>R</a:t>
            </a:r>
            <a:r>
              <a:rPr kumimoji="1" lang="zh-CN" altLang="en-US" sz="1000">
                <a:solidFill>
                  <a:srgbClr val="EE0006"/>
                </a:solidFill>
                <a:ea typeface="黑体" pitchFamily="2" charset="-122"/>
              </a:rPr>
              <a:t>的传递闭包的方法</a:t>
            </a:r>
            <a:r>
              <a:rPr kumimoji="1" lang="zh-CN" altLang="en-US">
                <a:ea typeface="黑体" pitchFamily="2" charset="-122"/>
              </a:rPr>
              <a:t>            </a:t>
            </a:r>
          </a:p>
          <a:p>
            <a:pPr eaLnBrk="1" hangingPunct="1"/>
            <a:endParaRPr lang="en-US" altLang="zh-CN"/>
          </a:p>
        </p:txBody>
      </p:sp>
    </p:spTree>
    <p:extLst>
      <p:ext uri="{BB962C8B-B14F-4D97-AF65-F5344CB8AC3E}">
        <p14:creationId xmlns:p14="http://schemas.microsoft.com/office/powerpoint/2010/main" val="2800280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fld id="{58AC0FB3-C397-4DC1-A2D8-2F02B36F5140}" type="slidenum">
              <a:rPr lang="en-US" altLang="zh-CN" i="0" smtClean="0"/>
              <a:pPr eaLnBrk="1" hangingPunct="1"/>
              <a:t>16</a:t>
            </a:fld>
            <a:endParaRPr lang="en-US" altLang="zh-CN" i="0"/>
          </a:p>
        </p:txBody>
      </p:sp>
      <p:sp>
        <p:nvSpPr>
          <p:cNvPr id="35843" name="Rectangle 2"/>
          <p:cNvSpPr>
            <a:spLocks noGrp="1" noRot="1" noChangeAspect="1" noChangeArrowheads="1" noTextEdit="1"/>
          </p:cNvSpPr>
          <p:nvPr>
            <p:ph type="sldImg"/>
          </p:nvPr>
        </p:nvSpPr>
        <p:spPr>
          <a:xfrm>
            <a:off x="26988" y="744538"/>
            <a:ext cx="6615112" cy="3722687"/>
          </a:xfrm>
          <a:ln/>
        </p:spPr>
      </p:sp>
      <p:sp>
        <p:nvSpPr>
          <p:cNvPr id="35844" name="Rectangle 3"/>
          <p:cNvSpPr>
            <a:spLocks noGrp="1" noChangeArrowheads="1"/>
          </p:cNvSpPr>
          <p:nvPr>
            <p:ph type="body" idx="1"/>
          </p:nvPr>
        </p:nvSpPr>
        <p:spPr>
          <a:noFill/>
        </p:spPr>
        <p:txBody>
          <a:bodyPr/>
          <a:lstStyle/>
          <a:p>
            <a:pPr eaLnBrk="1" hangingPunct="1">
              <a:lnSpc>
                <a:spcPct val="105000"/>
              </a:lnSpc>
              <a:spcBef>
                <a:spcPct val="0"/>
              </a:spcBef>
            </a:pPr>
            <a:r>
              <a:rPr lang="zh-CN" altLang="en-US" dirty="0">
                <a:solidFill>
                  <a:srgbClr val="FF00FF"/>
                </a:solidFill>
              </a:rPr>
              <a:t>等价关系的关系矩阵和关系图的特点</a:t>
            </a:r>
          </a:p>
          <a:p>
            <a:pPr lvl="1" eaLnBrk="1" hangingPunct="1">
              <a:lnSpc>
                <a:spcPct val="105000"/>
              </a:lnSpc>
              <a:spcBef>
                <a:spcPct val="0"/>
              </a:spcBef>
            </a:pPr>
            <a:r>
              <a:rPr lang="zh-CN" altLang="en-US" dirty="0"/>
              <a:t>关系矩阵的主对角线全为</a:t>
            </a:r>
            <a:r>
              <a:rPr lang="en-US" altLang="zh-CN" dirty="0"/>
              <a:t>1</a:t>
            </a:r>
            <a:r>
              <a:rPr lang="zh-CN" altLang="en-US" dirty="0"/>
              <a:t>且是对称阵；</a:t>
            </a:r>
          </a:p>
          <a:p>
            <a:pPr lvl="1" eaLnBrk="1" hangingPunct="1">
              <a:lnSpc>
                <a:spcPct val="105000"/>
              </a:lnSpc>
              <a:spcBef>
                <a:spcPct val="0"/>
              </a:spcBef>
            </a:pPr>
            <a:r>
              <a:rPr lang="zh-CN" altLang="en-US" dirty="0"/>
              <a:t>关系图每一个结点上都有自回路且每两个结点间如果有边，一定有方向相反的两条边。目前对等价关系的研究是深入而完备的。</a:t>
            </a:r>
            <a:endParaRPr lang="zh-CN" altLang="en-US" dirty="0">
              <a:solidFill>
                <a:srgbClr val="FF3300"/>
              </a:solidFill>
            </a:endParaRPr>
          </a:p>
          <a:p>
            <a:pPr eaLnBrk="1" hangingPunct="1"/>
            <a:endParaRPr lang="en-US" altLang="zh-CN" dirty="0"/>
          </a:p>
        </p:txBody>
      </p:sp>
    </p:spTree>
    <p:extLst>
      <p:ext uri="{BB962C8B-B14F-4D97-AF65-F5344CB8AC3E}">
        <p14:creationId xmlns:p14="http://schemas.microsoft.com/office/powerpoint/2010/main" val="678691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a:t>自反性</a:t>
            </a:r>
            <a:r>
              <a:rPr lang="en-US" altLang="zh-CN" sz="1200" dirty="0">
                <a:sym typeface="Wingdings" panose="05000000000000000000" pitchFamily="2" charset="2"/>
              </a:rPr>
              <a:t>  </a:t>
            </a:r>
            <a:r>
              <a:rPr lang="en-US" altLang="zh-CN" sz="1200" dirty="0"/>
              <a:t>I </a:t>
            </a:r>
            <a:r>
              <a:rPr lang="en-US" altLang="zh-CN" sz="1200" dirty="0">
                <a:latin typeface="Batang" panose="02030600000101010101" pitchFamily="18" charset="-127"/>
                <a:ea typeface="Batang" panose="02030600000101010101" pitchFamily="18" charset="-127"/>
              </a:rPr>
              <a:t>⊆</a:t>
            </a:r>
            <a:r>
              <a:rPr lang="en-US" altLang="zh-CN" sz="1200" dirty="0"/>
              <a:t> A</a:t>
            </a:r>
            <a:r>
              <a:rPr lang="en-US" altLang="zh-CN" sz="1200" dirty="0">
                <a:latin typeface="Batang" panose="02030600000101010101" pitchFamily="18" charset="-127"/>
                <a:ea typeface="Batang" panose="02030600000101010101" pitchFamily="18" charset="-127"/>
              </a:rPr>
              <a:t>⊆</a:t>
            </a:r>
            <a:r>
              <a:rPr lang="en-US" altLang="zh-CN" sz="1200" dirty="0"/>
              <a:t>A</a:t>
            </a:r>
            <a:r>
              <a:rPr lang="en-US" altLang="zh-CN" sz="1200" baseline="30000" dirty="0"/>
              <a:t>2 </a:t>
            </a:r>
            <a:r>
              <a:rPr lang="en-US" altLang="zh-CN" sz="1200" dirty="0">
                <a:latin typeface="Batang" panose="02030600000101010101" pitchFamily="18" charset="-127"/>
                <a:ea typeface="Batang" panose="02030600000101010101" pitchFamily="18" charset="-127"/>
              </a:rPr>
              <a:t>⊆</a:t>
            </a:r>
            <a:r>
              <a:rPr lang="en-US" altLang="zh-CN" sz="1200" dirty="0"/>
              <a:t> A</a:t>
            </a:r>
            <a:r>
              <a:rPr lang="en-US" altLang="zh-CN" sz="1200" baseline="30000" dirty="0"/>
              <a:t>3</a:t>
            </a:r>
            <a:r>
              <a:rPr lang="en-US" altLang="zh-CN" sz="1200" dirty="0"/>
              <a:t> </a:t>
            </a:r>
            <a:r>
              <a:rPr lang="en-US" altLang="zh-CN" sz="1200" dirty="0">
                <a:latin typeface="Batang" panose="02030600000101010101" pitchFamily="18" charset="-127"/>
                <a:ea typeface="Batang" panose="02030600000101010101" pitchFamily="18" charset="-127"/>
              </a:rPr>
              <a:t>⊆</a:t>
            </a:r>
            <a:r>
              <a:rPr lang="en-US" altLang="zh-CN" sz="1200" dirty="0"/>
              <a:t>…</a:t>
            </a:r>
            <a:r>
              <a:rPr lang="en-US" altLang="zh-CN" sz="1200" dirty="0">
                <a:latin typeface="Batang" panose="02030600000101010101" pitchFamily="18" charset="-127"/>
                <a:ea typeface="Batang" panose="02030600000101010101" pitchFamily="18" charset="-127"/>
              </a:rPr>
              <a:t>⊆</a:t>
            </a:r>
            <a:r>
              <a:rPr lang="en-US" altLang="zh-CN" sz="1200" dirty="0"/>
              <a:t> A</a:t>
            </a:r>
            <a:r>
              <a:rPr lang="en-US" altLang="zh-CN" sz="1200" baseline="30000" dirty="0"/>
              <a:t>n-1</a:t>
            </a:r>
            <a:r>
              <a:rPr lang="en-US" altLang="zh-CN" sz="1200" dirty="0"/>
              <a:t> </a:t>
            </a:r>
            <a:r>
              <a:rPr lang="en-US" altLang="zh-CN" sz="1200" dirty="0">
                <a:latin typeface="Batang" panose="02030600000101010101" pitchFamily="18" charset="-127"/>
                <a:ea typeface="Batang" panose="02030600000101010101" pitchFamily="18" charset="-127"/>
              </a:rPr>
              <a:t>⊆</a:t>
            </a:r>
            <a:r>
              <a:rPr lang="en-US" altLang="zh-CN" sz="1200" dirty="0"/>
              <a:t>A</a:t>
            </a:r>
            <a:r>
              <a:rPr lang="en-US" altLang="zh-CN" sz="1200" baseline="30000" dirty="0"/>
              <a:t>n</a:t>
            </a:r>
            <a:r>
              <a:rPr lang="en-US" altLang="zh-CN" sz="1200" dirty="0">
                <a:latin typeface="Batang" panose="02030600000101010101" pitchFamily="18" charset="-127"/>
                <a:ea typeface="Batang" panose="02030600000101010101" pitchFamily="18" charset="-127"/>
              </a:rPr>
              <a:t>⊆</a:t>
            </a:r>
            <a:r>
              <a:rPr lang="en-US" altLang="zh-CN" sz="1200" dirty="0"/>
              <a:t>…</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传递性</a:t>
            </a:r>
            <a:r>
              <a:rPr lang="en-US" altLang="zh-CN" dirty="0">
                <a:sym typeface="Wingdings" panose="05000000000000000000" pitchFamily="2" charset="2"/>
              </a:rPr>
              <a:t>       </a:t>
            </a:r>
            <a:r>
              <a:rPr lang="en-US" altLang="zh-CN" dirty="0"/>
              <a:t>Q </a:t>
            </a:r>
            <a:r>
              <a:rPr lang="en-US" altLang="zh-CN" dirty="0">
                <a:latin typeface="Batang" panose="02030600000101010101" pitchFamily="18" charset="-127"/>
                <a:ea typeface="Batang" panose="02030600000101010101" pitchFamily="18" charset="-127"/>
              </a:rPr>
              <a:t>⊇</a:t>
            </a:r>
            <a:r>
              <a:rPr lang="en-US" altLang="zh-CN" dirty="0"/>
              <a:t>Q</a:t>
            </a:r>
            <a:r>
              <a:rPr lang="en-US" altLang="zh-CN" baseline="30000" dirty="0"/>
              <a:t>2 </a:t>
            </a:r>
            <a:r>
              <a:rPr lang="en-US" altLang="zh-CN" dirty="0">
                <a:latin typeface="Batang" panose="02030600000101010101" pitchFamily="18" charset="-127"/>
                <a:ea typeface="Batang" panose="02030600000101010101" pitchFamily="18" charset="-127"/>
              </a:rPr>
              <a:t>⊇</a:t>
            </a:r>
            <a:r>
              <a:rPr lang="en-US" altLang="zh-CN" dirty="0"/>
              <a:t> Q</a:t>
            </a:r>
            <a:r>
              <a:rPr lang="en-US" altLang="zh-CN" baseline="30000" dirty="0"/>
              <a:t>3</a:t>
            </a:r>
            <a:r>
              <a:rPr lang="en-US" altLang="zh-CN" dirty="0"/>
              <a:t> </a:t>
            </a:r>
            <a:r>
              <a:rPr lang="en-US" altLang="zh-CN" dirty="0">
                <a:latin typeface="Batang" panose="02030600000101010101" pitchFamily="18" charset="-127"/>
                <a:ea typeface="Batang" panose="02030600000101010101" pitchFamily="18" charset="-127"/>
              </a:rPr>
              <a:t>⊇</a:t>
            </a:r>
            <a:r>
              <a:rPr lang="en-US" altLang="zh-CN" dirty="0"/>
              <a:t>… </a:t>
            </a:r>
            <a:r>
              <a:rPr lang="en-US" altLang="zh-CN" dirty="0">
                <a:latin typeface="Batang" panose="02030600000101010101" pitchFamily="18" charset="-127"/>
                <a:ea typeface="Batang" panose="02030600000101010101" pitchFamily="18" charset="-127"/>
              </a:rPr>
              <a:t>⊇</a:t>
            </a:r>
            <a:r>
              <a:rPr lang="en-US" altLang="zh-CN" dirty="0"/>
              <a:t>Q</a:t>
            </a:r>
            <a:r>
              <a:rPr lang="en-US" altLang="zh-CN" baseline="30000" dirty="0"/>
              <a:t>n-1</a:t>
            </a:r>
            <a:r>
              <a:rPr lang="en-US" altLang="zh-CN" dirty="0"/>
              <a:t> </a:t>
            </a:r>
            <a:r>
              <a:rPr lang="en-US" altLang="zh-CN" dirty="0">
                <a:latin typeface="Batang" panose="02030600000101010101" pitchFamily="18" charset="-127"/>
                <a:ea typeface="Batang" panose="02030600000101010101" pitchFamily="18" charset="-127"/>
              </a:rPr>
              <a:t>⊇</a:t>
            </a:r>
            <a:r>
              <a:rPr lang="en-US" altLang="zh-CN" dirty="0" err="1"/>
              <a:t>Q</a:t>
            </a:r>
            <a:r>
              <a:rPr lang="en-US" altLang="zh-CN" baseline="30000" dirty="0" err="1"/>
              <a:t>n</a:t>
            </a:r>
            <a:r>
              <a:rPr lang="en-US" altLang="zh-CN" baseline="30000" dirty="0"/>
              <a:t> </a:t>
            </a:r>
            <a:r>
              <a:rPr lang="en-US" altLang="zh-CN" dirty="0">
                <a:latin typeface="Batang" panose="02030600000101010101" pitchFamily="18" charset="-127"/>
                <a:ea typeface="Batang" panose="02030600000101010101" pitchFamily="18" charset="-127"/>
              </a:rPr>
              <a:t>⊇</a:t>
            </a:r>
            <a:r>
              <a:rPr lang="en-US" altLang="zh-CN"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63286A50-BFF7-40BB-B8C1-5858406E89B3}" type="slidenum">
              <a:rPr lang="en-US" altLang="zh-CN" smtClean="0"/>
              <a:pPr>
                <a:defRPr/>
              </a:pPr>
              <a:t>18</a:t>
            </a:fld>
            <a:endParaRPr lang="en-US" altLang="zh-CN"/>
          </a:p>
        </p:txBody>
      </p:sp>
    </p:spTree>
    <p:extLst>
      <p:ext uri="{BB962C8B-B14F-4D97-AF65-F5344CB8AC3E}">
        <p14:creationId xmlns:p14="http://schemas.microsoft.com/office/powerpoint/2010/main" val="1862863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943EDF5-C172-4017-94A3-CEB936662F74}" type="slidenum">
              <a:rPr lang="en-US" altLang="zh-CN" smtClean="0"/>
              <a:pPr>
                <a:defRPr/>
              </a:pPr>
              <a:t>20</a:t>
            </a:fld>
            <a:endParaRPr lang="en-US" altLang="zh-CN"/>
          </a:p>
        </p:txBody>
      </p:sp>
    </p:spTree>
    <p:extLst>
      <p:ext uri="{BB962C8B-B14F-4D97-AF65-F5344CB8AC3E}">
        <p14:creationId xmlns:p14="http://schemas.microsoft.com/office/powerpoint/2010/main" val="3507935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DE8F05E-3145-433D-BE7D-DE76FD9F5D43}" type="slidenum">
              <a:rPr lang="en-US" altLang="zh-CN" smtClean="0"/>
              <a:pPr eaLnBrk="1" hangingPunct="1"/>
              <a:t>22</a:t>
            </a:fld>
            <a:endParaRPr lang="en-US" altLang="zh-CN"/>
          </a:p>
        </p:txBody>
      </p:sp>
      <p:sp>
        <p:nvSpPr>
          <p:cNvPr id="81923" name="Rectangle 2"/>
          <p:cNvSpPr>
            <a:spLocks noGrp="1" noRot="1" noChangeAspect="1" noChangeArrowheads="1" noTextEdit="1"/>
          </p:cNvSpPr>
          <p:nvPr>
            <p:ph type="sldImg"/>
          </p:nvPr>
        </p:nvSpPr>
        <p:spPr>
          <a:xfrm>
            <a:off x="26988" y="744538"/>
            <a:ext cx="6615112" cy="3722687"/>
          </a:xfrm>
          <a:ln/>
        </p:spPr>
      </p:sp>
      <p:sp>
        <p:nvSpPr>
          <p:cNvPr id="81924" name="Rectangle 3"/>
          <p:cNvSpPr>
            <a:spLocks noGrp="1" noChangeArrowheads="1"/>
          </p:cNvSpPr>
          <p:nvPr>
            <p:ph type="body" idx="1"/>
          </p:nvPr>
        </p:nvSpPr>
        <p:spPr>
          <a:noFill/>
        </p:spPr>
        <p:txBody>
          <a:bodyPr/>
          <a:lstStyle/>
          <a:p>
            <a:pPr eaLnBrk="1" hangingPunct="1"/>
            <a:r>
              <a:rPr lang="zh-CN" altLang="en-US"/>
              <a:t>抄</a:t>
            </a:r>
            <a:r>
              <a:rPr lang="en-US" altLang="zh-CN"/>
              <a:t>R=[ ]</a:t>
            </a:r>
          </a:p>
        </p:txBody>
      </p:sp>
    </p:spTree>
    <p:extLst>
      <p:ext uri="{BB962C8B-B14F-4D97-AF65-F5344CB8AC3E}">
        <p14:creationId xmlns:p14="http://schemas.microsoft.com/office/powerpoint/2010/main" val="902628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563AD6-ADAB-4EBF-9517-B1DB0BBF5016}" type="slidenum">
              <a:rPr lang="en-US" altLang="zh-CN"/>
              <a:pPr/>
              <a:t>33</a:t>
            </a:fld>
            <a:endParaRPr lang="en-US" altLang="zh-CN"/>
          </a:p>
        </p:txBody>
      </p:sp>
      <p:sp>
        <p:nvSpPr>
          <p:cNvPr id="1104898" name="Rectangle 2"/>
          <p:cNvSpPr>
            <a:spLocks noGrp="1" noRot="1" noChangeAspect="1" noChangeArrowheads="1" noTextEdit="1"/>
          </p:cNvSpPr>
          <p:nvPr>
            <p:ph type="sldImg"/>
          </p:nvPr>
        </p:nvSpPr>
        <p:spPr>
          <a:xfrm>
            <a:off x="26988" y="744538"/>
            <a:ext cx="6615112" cy="3722687"/>
          </a:xfrm>
          <a:ln/>
        </p:spPr>
      </p:sp>
      <p:sp>
        <p:nvSpPr>
          <p:cNvPr id="1104899" name="Rectangle 3"/>
          <p:cNvSpPr>
            <a:spLocks noGrp="1" noChangeArrowheads="1"/>
          </p:cNvSpPr>
          <p:nvPr>
            <p:ph type="body" idx="1"/>
          </p:nvPr>
        </p:nvSpPr>
        <p:spPr/>
        <p:txBody>
          <a:bodyPr/>
          <a:lstStyle/>
          <a:p>
            <a:r>
              <a:rPr lang="zh-CN" altLang="en-US"/>
              <a:t>问：这里至多求多少步，可以得到传递闭包？</a:t>
            </a:r>
          </a:p>
        </p:txBody>
      </p:sp>
    </p:spTree>
    <p:extLst>
      <p:ext uri="{BB962C8B-B14F-4D97-AF65-F5344CB8AC3E}">
        <p14:creationId xmlns:p14="http://schemas.microsoft.com/office/powerpoint/2010/main" val="2486215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en-US" altLang="zh-CN" dirty="0"/>
              <a:t>Wine DATA</a:t>
            </a:r>
            <a:endParaRPr lang="zh-CN" altLang="en-US" dirty="0"/>
          </a:p>
        </p:txBody>
      </p:sp>
      <p:sp>
        <p:nvSpPr>
          <p:cNvPr id="4" name="灯片编号占位符 3"/>
          <p:cNvSpPr>
            <a:spLocks noGrp="1"/>
          </p:cNvSpPr>
          <p:nvPr>
            <p:ph type="sldNum" sz="quarter" idx="5"/>
          </p:nvPr>
        </p:nvSpPr>
        <p:spPr/>
        <p:txBody>
          <a:bodyPr/>
          <a:lstStyle/>
          <a:p>
            <a:pPr>
              <a:defRPr/>
            </a:pPr>
            <a:fld id="{B63BFAED-664C-4F69-BD07-D71E3023CE71}" type="slidenum">
              <a:rPr lang="en-US" altLang="zh-CN" smtClean="0"/>
              <a:pPr>
                <a:defRPr/>
              </a:pPr>
              <a:t>39</a:t>
            </a:fld>
            <a:endParaRPr lang="en-US" altLang="zh-CN"/>
          </a:p>
        </p:txBody>
      </p:sp>
    </p:spTree>
    <p:extLst>
      <p:ext uri="{BB962C8B-B14F-4D97-AF65-F5344CB8AC3E}">
        <p14:creationId xmlns:p14="http://schemas.microsoft.com/office/powerpoint/2010/main" val="3791440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C45E53A-A40F-4390-9070-0AFD8811E8A0}" type="slidenum">
              <a:rPr lang="en-US" altLang="zh-CN" smtClean="0"/>
              <a:pPr eaLnBrk="1" hangingPunct="1"/>
              <a:t>40</a:t>
            </a:fld>
            <a:endParaRPr lang="en-US" altLang="zh-CN"/>
          </a:p>
        </p:txBody>
      </p:sp>
      <p:sp>
        <p:nvSpPr>
          <p:cNvPr id="82947" name="Rectangle 2"/>
          <p:cNvSpPr>
            <a:spLocks noGrp="1" noRot="1" noChangeAspect="1" noChangeArrowheads="1" noTextEdit="1"/>
          </p:cNvSpPr>
          <p:nvPr>
            <p:ph type="sldImg"/>
          </p:nvPr>
        </p:nvSpPr>
        <p:spPr>
          <a:xfrm>
            <a:off x="26988" y="744538"/>
            <a:ext cx="6615112" cy="3722687"/>
          </a:xfrm>
          <a:ln/>
        </p:spPr>
      </p:sp>
      <p:sp>
        <p:nvSpPr>
          <p:cNvPr id="82948" name="Rectangle 3"/>
          <p:cNvSpPr>
            <a:spLocks noGrp="1" noChangeArrowheads="1"/>
          </p:cNvSpPr>
          <p:nvPr>
            <p:ph type="body" idx="1"/>
          </p:nvPr>
        </p:nvSpPr>
        <p:spPr>
          <a:noFill/>
        </p:spPr>
        <p:txBody>
          <a:bodyPr/>
          <a:lstStyle/>
          <a:p>
            <a:pPr eaLnBrk="1" hangingPunct="1"/>
            <a:r>
              <a:rPr kumimoji="1" lang="zh-CN" altLang="en-US">
                <a:solidFill>
                  <a:schemeClr val="bg2"/>
                </a:solidFill>
                <a:ea typeface="黑体" pitchFamily="2" charset="-122"/>
              </a:rPr>
              <a:t>在实际问题中，不同的数据一般有不同的量纲。通常需要对数据作适当的变换</a:t>
            </a:r>
            <a:r>
              <a:rPr kumimoji="1" lang="en-US" altLang="zh-CN">
                <a:solidFill>
                  <a:schemeClr val="bg2"/>
                </a:solidFill>
                <a:ea typeface="黑体" pitchFamily="2" charset="-122"/>
              </a:rPr>
              <a:t>,</a:t>
            </a:r>
            <a:r>
              <a:rPr kumimoji="1" lang="zh-CN" altLang="en-US" b="1">
                <a:solidFill>
                  <a:schemeClr val="bg2"/>
                </a:solidFill>
              </a:rPr>
              <a:t>为使不同的量纲也能进行比较，</a:t>
            </a:r>
          </a:p>
        </p:txBody>
      </p:sp>
    </p:spTree>
    <p:extLst>
      <p:ext uri="{BB962C8B-B14F-4D97-AF65-F5344CB8AC3E}">
        <p14:creationId xmlns:p14="http://schemas.microsoft.com/office/powerpoint/2010/main" val="1047366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97DA7F8-3B15-4F6F-A889-DF98A7930D44}" type="slidenum">
              <a:rPr lang="en-US" altLang="zh-CN" smtClean="0"/>
              <a:pPr eaLnBrk="1" hangingPunct="1"/>
              <a:t>44</a:t>
            </a:fld>
            <a:endParaRPr lang="en-US" altLang="zh-CN"/>
          </a:p>
        </p:txBody>
      </p:sp>
      <p:sp>
        <p:nvSpPr>
          <p:cNvPr id="83971" name="Rectangle 2"/>
          <p:cNvSpPr>
            <a:spLocks noGrp="1" noRot="1" noChangeAspect="1" noChangeArrowheads="1" noTextEdit="1"/>
          </p:cNvSpPr>
          <p:nvPr>
            <p:ph type="sldImg"/>
          </p:nvPr>
        </p:nvSpPr>
        <p:spPr>
          <a:xfrm>
            <a:off x="26988" y="744538"/>
            <a:ext cx="6615112" cy="3722687"/>
          </a:xfrm>
          <a:ln/>
        </p:spPr>
      </p:sp>
      <p:sp>
        <p:nvSpPr>
          <p:cNvPr id="83972"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415020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943EDF5-C172-4017-94A3-CEB936662F74}" type="slidenum">
              <a:rPr lang="en-US" altLang="zh-CN" smtClean="0"/>
              <a:pPr>
                <a:defRPr/>
              </a:pPr>
              <a:t>45</a:t>
            </a:fld>
            <a:endParaRPr lang="en-US" altLang="zh-CN"/>
          </a:p>
        </p:txBody>
      </p:sp>
    </p:spTree>
    <p:extLst>
      <p:ext uri="{BB962C8B-B14F-4D97-AF65-F5344CB8AC3E}">
        <p14:creationId xmlns:p14="http://schemas.microsoft.com/office/powerpoint/2010/main" val="3549052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7FFAB75-7590-464D-A096-5ED295539A23}" type="slidenum">
              <a:rPr lang="en-US" altLang="zh-CN" smtClean="0"/>
              <a:pPr eaLnBrk="1" hangingPunct="1"/>
              <a:t>48</a:t>
            </a:fld>
            <a:endParaRPr lang="en-US" altLang="zh-CN"/>
          </a:p>
        </p:txBody>
      </p:sp>
      <p:sp>
        <p:nvSpPr>
          <p:cNvPr id="84995" name="Rectangle 2"/>
          <p:cNvSpPr>
            <a:spLocks noGrp="1" noRot="1" noChangeAspect="1" noChangeArrowheads="1" noTextEdit="1"/>
          </p:cNvSpPr>
          <p:nvPr>
            <p:ph type="sldImg"/>
          </p:nvPr>
        </p:nvSpPr>
        <p:spPr>
          <a:xfrm>
            <a:off x="26988" y="744538"/>
            <a:ext cx="6615112" cy="3722687"/>
          </a:xfrm>
          <a:ln/>
        </p:spPr>
      </p:sp>
      <p:sp>
        <p:nvSpPr>
          <p:cNvPr id="84996"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780695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两个样本之间相似性的度量</a:t>
            </a:r>
          </a:p>
        </p:txBody>
      </p:sp>
      <p:sp>
        <p:nvSpPr>
          <p:cNvPr id="4" name="灯片编号占位符 3"/>
          <p:cNvSpPr>
            <a:spLocks noGrp="1"/>
          </p:cNvSpPr>
          <p:nvPr>
            <p:ph type="sldNum" sz="quarter" idx="10"/>
          </p:nvPr>
        </p:nvSpPr>
        <p:spPr/>
        <p:txBody>
          <a:bodyPr/>
          <a:lstStyle/>
          <a:p>
            <a:pPr>
              <a:defRPr/>
            </a:pPr>
            <a:fld id="{63286A50-BFF7-40BB-B8C1-5858406E89B3}" type="slidenum">
              <a:rPr lang="en-US" altLang="zh-CN" smtClean="0"/>
              <a:pPr>
                <a:defRPr/>
              </a:pPr>
              <a:t>49</a:t>
            </a:fld>
            <a:endParaRPr lang="en-US" altLang="zh-CN"/>
          </a:p>
        </p:txBody>
      </p:sp>
    </p:spTree>
    <p:extLst>
      <p:ext uri="{BB962C8B-B14F-4D97-AF65-F5344CB8AC3E}">
        <p14:creationId xmlns:p14="http://schemas.microsoft.com/office/powerpoint/2010/main" val="2384798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两个特征的相似关系度量</a:t>
            </a:r>
          </a:p>
        </p:txBody>
      </p:sp>
      <p:sp>
        <p:nvSpPr>
          <p:cNvPr id="4" name="灯片编号占位符 3"/>
          <p:cNvSpPr>
            <a:spLocks noGrp="1"/>
          </p:cNvSpPr>
          <p:nvPr>
            <p:ph type="sldNum" sz="quarter" idx="10"/>
          </p:nvPr>
        </p:nvSpPr>
        <p:spPr/>
        <p:txBody>
          <a:bodyPr/>
          <a:lstStyle/>
          <a:p>
            <a:pPr>
              <a:defRPr/>
            </a:pPr>
            <a:fld id="{63286A50-BFF7-40BB-B8C1-5858406E89B3}" type="slidenum">
              <a:rPr lang="en-US" altLang="zh-CN" smtClean="0"/>
              <a:pPr>
                <a:defRPr/>
              </a:pPr>
              <a:t>50</a:t>
            </a:fld>
            <a:endParaRPr lang="en-US" altLang="zh-CN"/>
          </a:p>
        </p:txBody>
      </p:sp>
    </p:spTree>
    <p:extLst>
      <p:ext uri="{BB962C8B-B14F-4D97-AF65-F5344CB8AC3E}">
        <p14:creationId xmlns:p14="http://schemas.microsoft.com/office/powerpoint/2010/main" val="1549268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2DAEF3F-4F36-4A73-888A-A5B4BB818748}" type="slidenum">
              <a:rPr lang="en-US" altLang="zh-CN" smtClean="0"/>
              <a:pPr eaLnBrk="1" hangingPunct="1"/>
              <a:t>60</a:t>
            </a:fld>
            <a:endParaRPr lang="en-US" altLang="zh-CN"/>
          </a:p>
        </p:txBody>
      </p:sp>
      <p:sp>
        <p:nvSpPr>
          <p:cNvPr id="86019" name="Rectangle 2"/>
          <p:cNvSpPr>
            <a:spLocks noGrp="1" noRot="1" noChangeAspect="1" noChangeArrowheads="1" noTextEdit="1"/>
          </p:cNvSpPr>
          <p:nvPr>
            <p:ph type="sldImg"/>
          </p:nvPr>
        </p:nvSpPr>
        <p:spPr>
          <a:xfrm>
            <a:off x="26988" y="744538"/>
            <a:ext cx="6615112" cy="3722687"/>
          </a:xfrm>
          <a:ln/>
        </p:spPr>
      </p:sp>
      <p:sp>
        <p:nvSpPr>
          <p:cNvPr id="86020" name="Rectangle 3"/>
          <p:cNvSpPr>
            <a:spLocks noGrp="1" noChangeArrowheads="1"/>
          </p:cNvSpPr>
          <p:nvPr>
            <p:ph type="body" idx="1"/>
          </p:nvPr>
        </p:nvSpPr>
        <p:spPr>
          <a:xfrm>
            <a:off x="889212" y="4715907"/>
            <a:ext cx="4890665" cy="4467701"/>
          </a:xfrm>
          <a:noFill/>
        </p:spPr>
        <p:txBody>
          <a:bodyPr/>
          <a:lstStyle/>
          <a:p>
            <a:pPr eaLnBrk="1" hangingPunct="1"/>
            <a:endParaRPr lang="zh-CN" altLang="zh-CN"/>
          </a:p>
        </p:txBody>
      </p:sp>
    </p:spTree>
    <p:extLst>
      <p:ext uri="{BB962C8B-B14F-4D97-AF65-F5344CB8AC3E}">
        <p14:creationId xmlns:p14="http://schemas.microsoft.com/office/powerpoint/2010/main" val="3513938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D349F84-939F-426D-9D27-AFE868D51BF8}" type="slidenum">
              <a:rPr lang="en-US" altLang="zh-CN" smtClean="0"/>
              <a:pPr eaLnBrk="1" hangingPunct="1"/>
              <a:t>65</a:t>
            </a:fld>
            <a:endParaRPr lang="en-US" altLang="zh-CN"/>
          </a:p>
        </p:txBody>
      </p:sp>
      <p:sp>
        <p:nvSpPr>
          <p:cNvPr id="87043" name="Rectangle 2"/>
          <p:cNvSpPr>
            <a:spLocks noGrp="1" noRot="1" noChangeAspect="1" noChangeArrowheads="1" noTextEdit="1"/>
          </p:cNvSpPr>
          <p:nvPr>
            <p:ph type="sldImg"/>
          </p:nvPr>
        </p:nvSpPr>
        <p:spPr>
          <a:xfrm>
            <a:off x="26988" y="744538"/>
            <a:ext cx="6615112" cy="3722687"/>
          </a:xfrm>
          <a:ln/>
        </p:spPr>
      </p:sp>
      <p:sp>
        <p:nvSpPr>
          <p:cNvPr id="87044" name="Rectangle 3"/>
          <p:cNvSpPr>
            <a:spLocks noGrp="1" noChangeArrowheads="1"/>
          </p:cNvSpPr>
          <p:nvPr>
            <p:ph type="body" idx="1"/>
          </p:nvPr>
        </p:nvSpPr>
        <p:spPr>
          <a:xfrm>
            <a:off x="889212" y="4715907"/>
            <a:ext cx="4890665" cy="4467701"/>
          </a:xfrm>
          <a:noFill/>
        </p:spPr>
        <p:txBody>
          <a:bodyPr/>
          <a:lstStyle/>
          <a:p>
            <a:pPr eaLnBrk="1" hangingPunct="1"/>
            <a:endParaRPr lang="zh-CN" altLang="zh-CN"/>
          </a:p>
        </p:txBody>
      </p:sp>
    </p:spTree>
    <p:extLst>
      <p:ext uri="{BB962C8B-B14F-4D97-AF65-F5344CB8AC3E}">
        <p14:creationId xmlns:p14="http://schemas.microsoft.com/office/powerpoint/2010/main" val="4101765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34A219-CE0C-41A5-AA07-3A995830904B}" type="slidenum">
              <a:rPr lang="en-US" altLang="zh-CN" smtClean="0"/>
              <a:pPr eaLnBrk="1" hangingPunct="1"/>
              <a:t>70</a:t>
            </a:fld>
            <a:endParaRPr lang="en-US" altLang="zh-CN"/>
          </a:p>
        </p:txBody>
      </p:sp>
      <p:sp>
        <p:nvSpPr>
          <p:cNvPr id="88067" name="Rectangle 2"/>
          <p:cNvSpPr>
            <a:spLocks noGrp="1" noRot="1" noChangeAspect="1" noChangeArrowheads="1" noTextEdit="1"/>
          </p:cNvSpPr>
          <p:nvPr>
            <p:ph type="sldImg"/>
          </p:nvPr>
        </p:nvSpPr>
        <p:spPr>
          <a:xfrm>
            <a:off x="26988" y="744538"/>
            <a:ext cx="6615112" cy="3722687"/>
          </a:xfrm>
          <a:ln/>
        </p:spPr>
      </p:sp>
      <p:sp>
        <p:nvSpPr>
          <p:cNvPr id="88068" name="Rectangle 3"/>
          <p:cNvSpPr>
            <a:spLocks noGrp="1" noChangeArrowheads="1"/>
          </p:cNvSpPr>
          <p:nvPr>
            <p:ph type="body" idx="1"/>
          </p:nvPr>
        </p:nvSpPr>
        <p:spPr>
          <a:xfrm>
            <a:off x="889212" y="4715907"/>
            <a:ext cx="4890665" cy="4467701"/>
          </a:xfrm>
          <a:noFill/>
        </p:spPr>
        <p:txBody>
          <a:bodyPr/>
          <a:lstStyle/>
          <a:p>
            <a:pPr eaLnBrk="1" hangingPunct="1"/>
            <a:endParaRPr lang="zh-CN" altLang="zh-CN"/>
          </a:p>
        </p:txBody>
      </p:sp>
    </p:spTree>
    <p:extLst>
      <p:ext uri="{BB962C8B-B14F-4D97-AF65-F5344CB8AC3E}">
        <p14:creationId xmlns:p14="http://schemas.microsoft.com/office/powerpoint/2010/main" val="2741295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7001305-C3CC-4EC0-9515-10A3454CE099}" type="slidenum">
              <a:rPr lang="en-US" altLang="zh-CN" smtClean="0"/>
              <a:pPr eaLnBrk="1" hangingPunct="1"/>
              <a:t>75</a:t>
            </a:fld>
            <a:endParaRPr lang="en-US" altLang="zh-CN"/>
          </a:p>
        </p:txBody>
      </p:sp>
      <p:sp>
        <p:nvSpPr>
          <p:cNvPr id="90115" name="Rectangle 2"/>
          <p:cNvSpPr>
            <a:spLocks noGrp="1" noRot="1" noChangeAspect="1" noChangeArrowheads="1" noTextEdit="1"/>
          </p:cNvSpPr>
          <p:nvPr>
            <p:ph type="sldImg"/>
          </p:nvPr>
        </p:nvSpPr>
        <p:spPr>
          <a:xfrm>
            <a:off x="26988" y="744538"/>
            <a:ext cx="6615112" cy="3722687"/>
          </a:xfrm>
          <a:ln/>
        </p:spPr>
      </p:sp>
      <p:sp>
        <p:nvSpPr>
          <p:cNvPr id="90116" name="Rectangle 3"/>
          <p:cNvSpPr>
            <a:spLocks noGrp="1" noChangeArrowheads="1"/>
          </p:cNvSpPr>
          <p:nvPr>
            <p:ph type="body" idx="1"/>
          </p:nvPr>
        </p:nvSpPr>
        <p:spPr>
          <a:noFill/>
        </p:spPr>
        <p:txBody>
          <a:bodyPr/>
          <a:lstStyle/>
          <a:p>
            <a:pPr algn="just" eaLnBrk="1" hangingPunct="1">
              <a:lnSpc>
                <a:spcPct val="135000"/>
              </a:lnSpc>
            </a:pPr>
            <a:r>
              <a:rPr lang="en-US" altLang="zh-CN" dirty="0">
                <a:solidFill>
                  <a:schemeClr val="tx2"/>
                </a:solidFill>
                <a:latin typeface="宋体" pitchFamily="2" charset="-122"/>
              </a:rPr>
              <a:t> </a:t>
            </a:r>
            <a:r>
              <a:rPr lang="zh-CN" altLang="en-US" dirty="0">
                <a:solidFill>
                  <a:schemeClr val="tx2"/>
                </a:solidFill>
                <a:latin typeface="宋体" pitchFamily="2" charset="-122"/>
              </a:rPr>
              <a:t>在聚类分析过程中类的个数如何来确定才合适呢？这是一个十分困难的问题，人们至今仍未找到令人满意的方法。但是这个问题又是不可回避的。下面我们介绍几种方法。</a:t>
            </a:r>
            <a:endParaRPr lang="zh-CN" altLang="en-US" dirty="0">
              <a:solidFill>
                <a:schemeClr val="tx2"/>
              </a:solidFill>
            </a:endParaRPr>
          </a:p>
          <a:p>
            <a:pPr eaLnBrk="1" hangingPunct="1"/>
            <a:endParaRPr lang="en-US" altLang="zh-CN" dirty="0"/>
          </a:p>
        </p:txBody>
      </p:sp>
    </p:spTree>
    <p:extLst>
      <p:ext uri="{BB962C8B-B14F-4D97-AF65-F5344CB8AC3E}">
        <p14:creationId xmlns:p14="http://schemas.microsoft.com/office/powerpoint/2010/main" val="3163175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1934E46-1B70-4943-8161-852EBA6F5518}" type="slidenum">
              <a:rPr lang="en-US" altLang="zh-CN" smtClean="0"/>
              <a:pPr eaLnBrk="1" hangingPunct="1"/>
              <a:t>77</a:t>
            </a:fld>
            <a:endParaRPr lang="en-US" altLang="zh-CN"/>
          </a:p>
        </p:txBody>
      </p:sp>
      <p:sp>
        <p:nvSpPr>
          <p:cNvPr id="91139" name="Rectangle 2"/>
          <p:cNvSpPr>
            <a:spLocks noGrp="1" noRot="1" noChangeAspect="1" noChangeArrowheads="1" noTextEdit="1"/>
          </p:cNvSpPr>
          <p:nvPr>
            <p:ph type="sldImg"/>
          </p:nvPr>
        </p:nvSpPr>
        <p:spPr>
          <a:xfrm>
            <a:off x="26988" y="744538"/>
            <a:ext cx="6615112" cy="3722687"/>
          </a:xfrm>
          <a:ln/>
        </p:spPr>
      </p:sp>
      <p:sp>
        <p:nvSpPr>
          <p:cNvPr id="91140" name="Rectangle 3"/>
          <p:cNvSpPr>
            <a:spLocks noGrp="1" noChangeArrowheads="1"/>
          </p:cNvSpPr>
          <p:nvPr>
            <p:ph type="body" idx="1"/>
          </p:nvPr>
        </p:nvSpPr>
        <p:spPr>
          <a:noFill/>
        </p:spPr>
        <p:txBody>
          <a:bodyPr/>
          <a:lstStyle/>
          <a:p>
            <a:pPr eaLnBrk="1" hangingPunct="1"/>
            <a:r>
              <a:rPr lang="zh-CN" altLang="en-US"/>
              <a:t>上式为</a:t>
            </a:r>
            <a:r>
              <a:rPr lang="en-US" altLang="zh-CN"/>
              <a:t>F-</a:t>
            </a:r>
            <a:r>
              <a:rPr lang="zh-CN" altLang="en-US"/>
              <a:t>统计量</a:t>
            </a:r>
            <a:r>
              <a:rPr lang="en-US" altLang="zh-CN"/>
              <a:t>,</a:t>
            </a:r>
            <a:r>
              <a:rPr lang="zh-CN" altLang="en-US"/>
              <a:t>遵从自由度为</a:t>
            </a:r>
            <a:r>
              <a:rPr lang="en-US" altLang="zh-CN"/>
              <a:t>r-1,n-r</a:t>
            </a:r>
            <a:r>
              <a:rPr lang="zh-CN" altLang="en-US"/>
              <a:t>的</a:t>
            </a:r>
            <a:r>
              <a:rPr lang="en-US" altLang="zh-CN"/>
              <a:t>F</a:t>
            </a:r>
            <a:r>
              <a:rPr lang="zh-CN" altLang="en-US"/>
              <a:t>分布</a:t>
            </a:r>
            <a:r>
              <a:rPr lang="en-US" altLang="zh-CN"/>
              <a:t>,</a:t>
            </a:r>
          </a:p>
        </p:txBody>
      </p:sp>
    </p:spTree>
    <p:extLst>
      <p:ext uri="{BB962C8B-B14F-4D97-AF65-F5344CB8AC3E}">
        <p14:creationId xmlns:p14="http://schemas.microsoft.com/office/powerpoint/2010/main" val="4201305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solidFill>
                  <a:srgbClr val="057939"/>
                </a:solidFill>
                <a:latin typeface="+mn-lt"/>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700">
                <a:latin typeface="+mn-lt"/>
                <a:ea typeface="黑体" panose="02010609060101010101" pitchFamily="49" charset="-122"/>
              </a:defRPr>
            </a:lvl1pPr>
            <a:lvl2pPr>
              <a:defRPr sz="2400">
                <a:latin typeface="+mn-lt"/>
                <a:ea typeface="黑体" panose="02010609060101010101" pitchFamily="49" charset="-122"/>
              </a:defRPr>
            </a:lvl2pPr>
            <a:lvl3pPr>
              <a:defRPr sz="2100">
                <a:latin typeface="+mn-lt"/>
                <a:ea typeface="黑体" panose="02010609060101010101" pitchFamily="49" charset="-122"/>
              </a:defRPr>
            </a:lvl3pPr>
            <a:lvl4pPr>
              <a:defRPr sz="1800">
                <a:latin typeface="+mn-lt"/>
                <a:ea typeface="黑体" panose="02010609060101010101" pitchFamily="49" charset="-122"/>
              </a:defRPr>
            </a:lvl4pPr>
            <a:lvl5pPr>
              <a:defRPr sz="1800">
                <a:latin typeface="+mn-lt"/>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FAA851D4-8D62-4BD7-8848-E433E51002F9}"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8486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15379"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15380"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0E783F26-707F-43BD-95DA-AB5CF5A1D0EC}" type="slidenum">
              <a:rPr lang="en-US" altLang="zh-CN"/>
              <a:pPr>
                <a:defRPr/>
              </a:pPr>
              <a:t>‹#›</a:t>
            </a:fld>
            <a:endParaRPr lang="en-US" altLang="zh-CN"/>
          </a:p>
        </p:txBody>
      </p:sp>
    </p:spTree>
    <p:extLst>
      <p:ext uri="{BB962C8B-B14F-4D97-AF65-F5344CB8AC3E}">
        <p14:creationId xmlns:p14="http://schemas.microsoft.com/office/powerpoint/2010/main" val="3108632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F13753BC-CAEF-4333-AC48-2805658F6E3F}"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34935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3326D72-38FC-439D-8A6C-E57096185BB4}"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8099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CF5D13-9327-41E7-B85A-5EA9BAF71A8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8926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84C77B2E-71FB-4CED-867F-F36F39807AC3}"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75681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2F44A83F-C644-4D2F-BA00-DBFF3DBED7EA}"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7597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ED684311-88B0-4A0C-9DE6-0C14036BF0FF}"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92536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FF35D8AD-D14A-4D06-8D5D-B9FE0DFD82E9}"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5232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AD53E588-04E9-4312-8F61-26A4586A30E5}"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5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542842F1-8277-4440-8531-9F4C80F96C14}"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94071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541269FA-64BD-4494-B7BD-1ABD983F508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2662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11376B5-62E6-403F-97A0-5A1E42AE81D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0850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FC9A31AC-AC4A-4C65-A279-8DC32B7DED70}"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75037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a typeface="宋体" pitchFamily="2" charset="-122"/>
              </a:defRPr>
            </a:lvl1pPr>
          </a:lstStyle>
          <a:p>
            <a:pPr>
              <a:defRPr/>
            </a:pPr>
            <a:endParaRPr lang="en-US" altLang="zh-CN"/>
          </a:p>
        </p:txBody>
      </p:sp>
      <p:sp>
        <p:nvSpPr>
          <p:cNvPr id="14339" name="Rectangle 3"/>
          <p:cNvSpPr>
            <a:spLocks noGrp="1" noChangeArrowheads="1"/>
          </p:cNvSpPr>
          <p:nvPr>
            <p:ph type="sldNum" sz="quarter" idx="4"/>
          </p:nvPr>
        </p:nvSpPr>
        <p:spPr bwMode="auto">
          <a:xfrm>
            <a:off x="19744" y="6287267"/>
            <a:ext cx="58985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ea typeface="宋体" pitchFamily="2" charset="-122"/>
              </a:defRPr>
            </a:lvl1pPr>
          </a:lstStyle>
          <a:p>
            <a:pPr>
              <a:defRPr/>
            </a:pPr>
            <a:fld id="{78D34848-91A3-4FE9-8790-AB92C06A37A8}"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52" name="Rectangle 16"/>
          <p:cNvSpPr>
            <a:spLocks noGrp="1" noChangeArrowheads="1"/>
          </p:cNvSpPr>
          <p:nvPr>
            <p:ph type="dt" sz="half" idx="2"/>
          </p:nvPr>
        </p:nvSpPr>
        <p:spPr bwMode="auto">
          <a:xfrm>
            <a:off x="8026400" y="6266246"/>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61" r:id="rId1"/>
    <p:sldLayoutId id="2147483760"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audio" Target="../media/audio2.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3.x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3.xml"/><Relationship Id="rId6" Type="http://schemas.openxmlformats.org/officeDocument/2006/relationships/oleObject" Target="../embeddings/oleObject10.bin"/><Relationship Id="rId5" Type="http://schemas.openxmlformats.org/officeDocument/2006/relationships/image" Target="../media/image9.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6.bin"/><Relationship Id="rId18" Type="http://schemas.openxmlformats.org/officeDocument/2006/relationships/image" Target="../media/image18.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5.wmf"/><Relationship Id="rId17" Type="http://schemas.openxmlformats.org/officeDocument/2006/relationships/oleObject" Target="../embeddings/oleObject18.bin"/><Relationship Id="rId2" Type="http://schemas.openxmlformats.org/officeDocument/2006/relationships/notesSlide" Target="../notesSlides/notesSlide4.xml"/><Relationship Id="rId16" Type="http://schemas.openxmlformats.org/officeDocument/2006/relationships/image" Target="../media/image17.wmf"/><Relationship Id="rId1" Type="http://schemas.openxmlformats.org/officeDocument/2006/relationships/slideLayout" Target="../slideLayouts/slideLayout14.xml"/><Relationship Id="rId6" Type="http://schemas.openxmlformats.org/officeDocument/2006/relationships/image" Target="../media/image12.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oleObject" Target="../embeddings/oleObject17.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4.bin"/><Relationship Id="rId14" Type="http://schemas.openxmlformats.org/officeDocument/2006/relationships/image" Target="../media/image16.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4.wmf"/><Relationship Id="rId3" Type="http://schemas.openxmlformats.org/officeDocument/2006/relationships/image" Target="../media/image20.wmf"/><Relationship Id="rId7" Type="http://schemas.openxmlformats.org/officeDocument/2006/relationships/image" Target="../media/image21.wmf"/><Relationship Id="rId12" Type="http://schemas.openxmlformats.org/officeDocument/2006/relationships/oleObject" Target="../embeddings/oleObject23.bin"/><Relationship Id="rId17" Type="http://schemas.openxmlformats.org/officeDocument/2006/relationships/image" Target="../media/image26.wmf"/><Relationship Id="rId2" Type="http://schemas.openxmlformats.org/officeDocument/2006/relationships/oleObject" Target="../embeddings/oleObject19.bin"/><Relationship Id="rId16" Type="http://schemas.openxmlformats.org/officeDocument/2006/relationships/oleObject" Target="../embeddings/oleObject25.bin"/><Relationship Id="rId1" Type="http://schemas.openxmlformats.org/officeDocument/2006/relationships/slideLayout" Target="../slideLayouts/slideLayout14.xml"/><Relationship Id="rId6" Type="http://schemas.openxmlformats.org/officeDocument/2006/relationships/oleObject" Target="../embeddings/oleObject20.bin"/><Relationship Id="rId11" Type="http://schemas.openxmlformats.org/officeDocument/2006/relationships/image" Target="../media/image23.wmf"/><Relationship Id="rId5" Type="http://schemas.openxmlformats.org/officeDocument/2006/relationships/image" Target="../media/image11.wmf"/><Relationship Id="rId15" Type="http://schemas.openxmlformats.org/officeDocument/2006/relationships/image" Target="../media/image25.wmf"/><Relationship Id="rId10" Type="http://schemas.openxmlformats.org/officeDocument/2006/relationships/oleObject" Target="../embeddings/oleObject22.bin"/><Relationship Id="rId4" Type="http://schemas.openxmlformats.org/officeDocument/2006/relationships/oleObject" Target="../embeddings/oleObject11.bin"/><Relationship Id="rId9" Type="http://schemas.openxmlformats.org/officeDocument/2006/relationships/image" Target="../media/image22.wmf"/><Relationship Id="rId1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6.bin"/><Relationship Id="rId1" Type="http://schemas.openxmlformats.org/officeDocument/2006/relationships/slideLayout" Target="../slideLayouts/slideLayout14.xml"/><Relationship Id="rId5" Type="http://schemas.openxmlformats.org/officeDocument/2006/relationships/image" Target="../media/image28.wmf"/><Relationship Id="rId4" Type="http://schemas.openxmlformats.org/officeDocument/2006/relationships/oleObject" Target="../embeddings/oleObject27.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0.wmf"/><Relationship Id="rId5" Type="http://schemas.openxmlformats.org/officeDocument/2006/relationships/oleObject" Target="../embeddings/oleObject28.bin"/><Relationship Id="rId4" Type="http://schemas.openxmlformats.org/officeDocument/2006/relationships/audio" Target="../media/audio3.wav"/></Relationships>
</file>

<file path=ppt/slides/_rels/slide1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9.bin"/><Relationship Id="rId1" Type="http://schemas.openxmlformats.org/officeDocument/2006/relationships/slideLayout" Target="../slideLayouts/slideLayout13.xml"/><Relationship Id="rId5" Type="http://schemas.openxmlformats.org/officeDocument/2006/relationships/image" Target="../media/image32.wmf"/><Relationship Id="rId4" Type="http://schemas.openxmlformats.org/officeDocument/2006/relationships/oleObject" Target="../embeddings/oleObject30.bin"/></Relationships>
</file>

<file path=ppt/slides/_rels/slide2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audio" Target="../media/audio4.wav"/><Relationship Id="rId4" Type="http://schemas.openxmlformats.org/officeDocument/2006/relationships/audio" Target="../media/audio1.wav"/></Relationships>
</file>

<file path=ppt/slides/_rels/slide21.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34.wmf"/><Relationship Id="rId5" Type="http://schemas.openxmlformats.org/officeDocument/2006/relationships/oleObject" Target="../embeddings/oleObject32.bin"/><Relationship Id="rId4" Type="http://schemas.openxmlformats.org/officeDocument/2006/relationships/image" Target="../media/image33.wmf"/></Relationships>
</file>

<file path=ppt/slides/_rels/slide2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3.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5.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2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6.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2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37.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27.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8.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2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4.bin"/><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9.bin"/><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40.bin"/><Relationship Id="rId1" Type="http://schemas.openxmlformats.org/officeDocument/2006/relationships/slideLayout" Target="../slideLayouts/slideLayout3.xml"/><Relationship Id="rId6" Type="http://schemas.openxmlformats.org/officeDocument/2006/relationships/oleObject" Target="../embeddings/oleObject42.bin"/><Relationship Id="rId5" Type="http://schemas.openxmlformats.org/officeDocument/2006/relationships/image" Target="../media/image43.wmf"/><Relationship Id="rId4" Type="http://schemas.openxmlformats.org/officeDocument/2006/relationships/oleObject" Target="../embeddings/oleObject41.bin"/><Relationship Id="rId9" Type="http://schemas.openxmlformats.org/officeDocument/2006/relationships/image" Target="../media/image45.wmf"/></Relationships>
</file>

<file path=ppt/slides/_rels/slide33.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47.wmf"/><Relationship Id="rId5" Type="http://schemas.openxmlformats.org/officeDocument/2006/relationships/oleObject" Target="../embeddings/oleObject45.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7.bin"/></Relationships>
</file>

<file path=ppt/slides/_rels/slide34.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8.bin"/><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3.wav"/><Relationship Id="rId1" Type="http://schemas.openxmlformats.org/officeDocument/2006/relationships/slideLayout" Target="../slideLayouts/slideLayout3.xml"/><Relationship Id="rId5" Type="http://schemas.openxmlformats.org/officeDocument/2006/relationships/image" Target="../media/image51.wmf"/><Relationship Id="rId4" Type="http://schemas.openxmlformats.org/officeDocument/2006/relationships/oleObject" Target="../embeddings/oleObject49.bin"/></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55.emf"/><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oleObject" Target="../embeddings/oleObject51.bin"/><Relationship Id="rId5" Type="http://schemas.openxmlformats.org/officeDocument/2006/relationships/image" Target="../media/image54.wmf"/><Relationship Id="rId4" Type="http://schemas.openxmlformats.org/officeDocument/2006/relationships/oleObject" Target="../embeddings/oleObject50.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audio" Target="../media/audio3.wav"/><Relationship Id="rId1" Type="http://schemas.openxmlformats.org/officeDocument/2006/relationships/slideLayout" Target="../slideLayouts/slideLayout13.xml"/><Relationship Id="rId4" Type="http://schemas.openxmlformats.org/officeDocument/2006/relationships/image" Target="../media/image56.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61.wmf"/><Relationship Id="rId2" Type="http://schemas.openxmlformats.org/officeDocument/2006/relationships/audio" Target="../media/audio2.wav"/><Relationship Id="rId1" Type="http://schemas.openxmlformats.org/officeDocument/2006/relationships/slideLayout" Target="../slideLayouts/slideLayout3.xml"/><Relationship Id="rId6" Type="http://schemas.openxmlformats.org/officeDocument/2006/relationships/image" Target="../media/image58.wmf"/><Relationship Id="rId11" Type="http://schemas.openxmlformats.org/officeDocument/2006/relationships/oleObject" Target="../embeddings/oleObject57.bin"/><Relationship Id="rId5" Type="http://schemas.openxmlformats.org/officeDocument/2006/relationships/oleObject" Target="../embeddings/oleObject54.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56.bin"/></Relationships>
</file>

<file path=ppt/slides/_rels/slide44.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63.emf"/><Relationship Id="rId5" Type="http://schemas.openxmlformats.org/officeDocument/2006/relationships/oleObject" Target="../embeddings/oleObject59.bin"/><Relationship Id="rId10" Type="http://schemas.openxmlformats.org/officeDocument/2006/relationships/image" Target="../media/image65.wmf"/><Relationship Id="rId4" Type="http://schemas.openxmlformats.org/officeDocument/2006/relationships/image" Target="../media/image62.emf"/><Relationship Id="rId9" Type="http://schemas.openxmlformats.org/officeDocument/2006/relationships/oleObject" Target="../embeddings/oleObject61.bin"/></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67.wmf"/><Relationship Id="rId4" Type="http://schemas.openxmlformats.org/officeDocument/2006/relationships/oleObject" Target="../embeddings/oleObject62.bin"/></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5.xml"/><Relationship Id="rId5" Type="http://schemas.openxmlformats.org/officeDocument/2006/relationships/image" Target="../media/image63.emf"/><Relationship Id="rId4" Type="http://schemas.openxmlformats.org/officeDocument/2006/relationships/oleObject" Target="../embeddings/oleObject59.bin"/></Relationships>
</file>

<file path=ppt/slides/_rels/slide47.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63.bin"/><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71.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6.wmf"/><Relationship Id="rId3" Type="http://schemas.openxmlformats.org/officeDocument/2006/relationships/audio" Target="../media/audio2.wav"/><Relationship Id="rId7" Type="http://schemas.openxmlformats.org/officeDocument/2006/relationships/image" Target="../media/image73.wmf"/><Relationship Id="rId12" Type="http://schemas.openxmlformats.org/officeDocument/2006/relationships/oleObject" Target="../embeddings/oleObject69.bin"/><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oleObject" Target="../embeddings/oleObject66.bin"/><Relationship Id="rId11" Type="http://schemas.openxmlformats.org/officeDocument/2006/relationships/image" Target="../media/image75.e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74.emf"/><Relationship Id="rId14" Type="http://schemas.openxmlformats.org/officeDocument/2006/relationships/oleObject" Target="../embeddings/oleObject70.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82.wmf"/><Relationship Id="rId3" Type="http://schemas.openxmlformats.org/officeDocument/2006/relationships/audio" Target="../media/audio2.wav"/><Relationship Id="rId7" Type="http://schemas.openxmlformats.org/officeDocument/2006/relationships/image" Target="../media/image79.wmf"/><Relationship Id="rId12" Type="http://schemas.openxmlformats.org/officeDocument/2006/relationships/oleObject" Target="../embeddings/oleObject75.bin"/><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oleObject" Target="../embeddings/oleObject72.bin"/><Relationship Id="rId11" Type="http://schemas.openxmlformats.org/officeDocument/2006/relationships/image" Target="../media/image81.emf"/><Relationship Id="rId5" Type="http://schemas.openxmlformats.org/officeDocument/2006/relationships/image" Target="../media/image78.wmf"/><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80.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89.emf"/><Relationship Id="rId18" Type="http://schemas.openxmlformats.org/officeDocument/2006/relationships/image" Target="../media/image92.emf"/><Relationship Id="rId26" Type="http://schemas.openxmlformats.org/officeDocument/2006/relationships/image" Target="../media/image96.emf"/><Relationship Id="rId3" Type="http://schemas.openxmlformats.org/officeDocument/2006/relationships/image" Target="../media/image83.emf"/><Relationship Id="rId21" Type="http://schemas.openxmlformats.org/officeDocument/2006/relationships/oleObject" Target="../embeddings/oleObject84.bin"/><Relationship Id="rId7" Type="http://schemas.openxmlformats.org/officeDocument/2006/relationships/image" Target="../media/image85.emf"/><Relationship Id="rId12" Type="http://schemas.openxmlformats.org/officeDocument/2006/relationships/image" Target="../media/image88.emf"/><Relationship Id="rId17" Type="http://schemas.openxmlformats.org/officeDocument/2006/relationships/oleObject" Target="../embeddings/oleObject82.bin"/><Relationship Id="rId25" Type="http://schemas.openxmlformats.org/officeDocument/2006/relationships/oleObject" Target="../embeddings/oleObject86.bin"/><Relationship Id="rId2" Type="http://schemas.openxmlformats.org/officeDocument/2006/relationships/oleObject" Target="../embeddings/oleObject76.bin"/><Relationship Id="rId16" Type="http://schemas.openxmlformats.org/officeDocument/2006/relationships/image" Target="../media/image91.emf"/><Relationship Id="rId20" Type="http://schemas.openxmlformats.org/officeDocument/2006/relationships/image" Target="../media/image93.emf"/><Relationship Id="rId1" Type="http://schemas.openxmlformats.org/officeDocument/2006/relationships/slideLayout" Target="../slideLayouts/slideLayout7.xml"/><Relationship Id="rId6" Type="http://schemas.openxmlformats.org/officeDocument/2006/relationships/oleObject" Target="../embeddings/oleObject78.bin"/><Relationship Id="rId11" Type="http://schemas.openxmlformats.org/officeDocument/2006/relationships/image" Target="../media/image87.emf"/><Relationship Id="rId24" Type="http://schemas.openxmlformats.org/officeDocument/2006/relationships/image" Target="../media/image95.emf"/><Relationship Id="rId5" Type="http://schemas.openxmlformats.org/officeDocument/2006/relationships/image" Target="../media/image84.emf"/><Relationship Id="rId15" Type="http://schemas.openxmlformats.org/officeDocument/2006/relationships/oleObject" Target="../embeddings/oleObject81.bin"/><Relationship Id="rId23" Type="http://schemas.openxmlformats.org/officeDocument/2006/relationships/oleObject" Target="../embeddings/oleObject85.bin"/><Relationship Id="rId10" Type="http://schemas.openxmlformats.org/officeDocument/2006/relationships/oleObject" Target="../embeddings/oleObject80.bin"/><Relationship Id="rId19" Type="http://schemas.openxmlformats.org/officeDocument/2006/relationships/oleObject" Target="../embeddings/oleObject83.bin"/><Relationship Id="rId4" Type="http://schemas.openxmlformats.org/officeDocument/2006/relationships/oleObject" Target="../embeddings/oleObject77.bin"/><Relationship Id="rId9" Type="http://schemas.openxmlformats.org/officeDocument/2006/relationships/image" Target="../media/image86.emf"/><Relationship Id="rId14" Type="http://schemas.openxmlformats.org/officeDocument/2006/relationships/image" Target="../media/image90.emf"/><Relationship Id="rId22" Type="http://schemas.openxmlformats.org/officeDocument/2006/relationships/image" Target="../media/image9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8" Type="http://schemas.openxmlformats.org/officeDocument/2006/relationships/image" Target="../media/image99.e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98.wmf"/><Relationship Id="rId5" Type="http://schemas.openxmlformats.org/officeDocument/2006/relationships/oleObject" Target="../embeddings/oleObject88.bin"/><Relationship Id="rId4" Type="http://schemas.openxmlformats.org/officeDocument/2006/relationships/image" Target="../media/image97.wmf"/></Relationships>
</file>

<file path=ppt/slides/_rels/slide57.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image" Target="../media/image100.emf"/><Relationship Id="rId7" Type="http://schemas.openxmlformats.org/officeDocument/2006/relationships/oleObject" Target="../embeddings/oleObject88.bin"/><Relationship Id="rId2" Type="http://schemas.openxmlformats.org/officeDocument/2006/relationships/oleObject" Target="../embeddings/oleObject90.bin"/><Relationship Id="rId1" Type="http://schemas.openxmlformats.org/officeDocument/2006/relationships/slideLayout" Target="../slideLayouts/slideLayout7.xml"/><Relationship Id="rId6" Type="http://schemas.openxmlformats.org/officeDocument/2006/relationships/image" Target="../media/image97.wmf"/><Relationship Id="rId5" Type="http://schemas.openxmlformats.org/officeDocument/2006/relationships/oleObject" Target="../embeddings/oleObject87.bin"/><Relationship Id="rId4" Type="http://schemas.openxmlformats.org/officeDocument/2006/relationships/image" Target="../media/image106.png"/></Relationships>
</file>

<file path=ppt/slides/_rels/slide58.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101.wmf"/><Relationship Id="rId7" Type="http://schemas.openxmlformats.org/officeDocument/2006/relationships/oleObject" Target="../embeddings/oleObject87.bin"/><Relationship Id="rId2" Type="http://schemas.openxmlformats.org/officeDocument/2006/relationships/oleObject" Target="../embeddings/oleObject91.bin"/><Relationship Id="rId1" Type="http://schemas.openxmlformats.org/officeDocument/2006/relationships/slideLayout" Target="../slideLayouts/slideLayout5.xml"/><Relationship Id="rId6" Type="http://schemas.openxmlformats.org/officeDocument/2006/relationships/image" Target="../media/image112.png"/><Relationship Id="rId5" Type="http://schemas.openxmlformats.org/officeDocument/2006/relationships/image" Target="../media/image102.wmf"/><Relationship Id="rId10" Type="http://schemas.openxmlformats.org/officeDocument/2006/relationships/image" Target="../media/image98.wmf"/><Relationship Id="rId4" Type="http://schemas.openxmlformats.org/officeDocument/2006/relationships/oleObject" Target="../embeddings/oleObject92.bin"/><Relationship Id="rId9" Type="http://schemas.openxmlformats.org/officeDocument/2006/relationships/oleObject" Target="../embeddings/oleObject88.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08.emf"/><Relationship Id="rId3" Type="http://schemas.openxmlformats.org/officeDocument/2006/relationships/image" Target="../media/image103.emf"/><Relationship Id="rId7" Type="http://schemas.openxmlformats.org/officeDocument/2006/relationships/image" Target="../media/image105.emf"/><Relationship Id="rId12" Type="http://schemas.openxmlformats.org/officeDocument/2006/relationships/oleObject" Target="../embeddings/oleObject98.bin"/><Relationship Id="rId2" Type="http://schemas.openxmlformats.org/officeDocument/2006/relationships/oleObject" Target="../embeddings/oleObject93.bin"/><Relationship Id="rId1" Type="http://schemas.openxmlformats.org/officeDocument/2006/relationships/slideLayout" Target="../slideLayouts/slideLayout3.xml"/><Relationship Id="rId6" Type="http://schemas.openxmlformats.org/officeDocument/2006/relationships/oleObject" Target="../embeddings/oleObject95.bin"/><Relationship Id="rId11" Type="http://schemas.openxmlformats.org/officeDocument/2006/relationships/image" Target="../media/image107.emf"/><Relationship Id="rId5" Type="http://schemas.openxmlformats.org/officeDocument/2006/relationships/image" Target="../media/image104.e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106.emf"/></Relationships>
</file>

<file path=ppt/slides/_rels/slide60.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oleObject" Target="../embeddings/oleObject104.bin"/><Relationship Id="rId18" Type="http://schemas.openxmlformats.org/officeDocument/2006/relationships/image" Target="../media/image116.emf"/><Relationship Id="rId3" Type="http://schemas.openxmlformats.org/officeDocument/2006/relationships/oleObject" Target="../embeddings/oleObject99.bin"/><Relationship Id="rId21" Type="http://schemas.openxmlformats.org/officeDocument/2006/relationships/oleObject" Target="../embeddings/oleObject108.bin"/><Relationship Id="rId7" Type="http://schemas.openxmlformats.org/officeDocument/2006/relationships/oleObject" Target="../embeddings/oleObject101.bin"/><Relationship Id="rId12" Type="http://schemas.openxmlformats.org/officeDocument/2006/relationships/image" Target="../media/image113.emf"/><Relationship Id="rId17" Type="http://schemas.openxmlformats.org/officeDocument/2006/relationships/oleObject" Target="../embeddings/oleObject106.bin"/><Relationship Id="rId2" Type="http://schemas.openxmlformats.org/officeDocument/2006/relationships/notesSlide" Target="../notesSlides/notesSlide17.xml"/><Relationship Id="rId16" Type="http://schemas.openxmlformats.org/officeDocument/2006/relationships/image" Target="../media/image115.emf"/><Relationship Id="rId20" Type="http://schemas.openxmlformats.org/officeDocument/2006/relationships/image" Target="../media/image117.emf"/><Relationship Id="rId1" Type="http://schemas.openxmlformats.org/officeDocument/2006/relationships/slideLayout" Target="../slideLayouts/slideLayout3.xml"/><Relationship Id="rId6" Type="http://schemas.openxmlformats.org/officeDocument/2006/relationships/image" Target="../media/image110.emf"/><Relationship Id="rId11" Type="http://schemas.openxmlformats.org/officeDocument/2006/relationships/oleObject" Target="../embeddings/oleObject103.bin"/><Relationship Id="rId5" Type="http://schemas.openxmlformats.org/officeDocument/2006/relationships/oleObject" Target="../embeddings/oleObject100.bin"/><Relationship Id="rId15" Type="http://schemas.openxmlformats.org/officeDocument/2006/relationships/oleObject" Target="../embeddings/oleObject105.bin"/><Relationship Id="rId10" Type="http://schemas.openxmlformats.org/officeDocument/2006/relationships/image" Target="../media/image112.emf"/><Relationship Id="rId19" Type="http://schemas.openxmlformats.org/officeDocument/2006/relationships/oleObject" Target="../embeddings/oleObject107.bin"/><Relationship Id="rId4" Type="http://schemas.openxmlformats.org/officeDocument/2006/relationships/image" Target="../media/image109.emf"/><Relationship Id="rId9" Type="http://schemas.openxmlformats.org/officeDocument/2006/relationships/oleObject" Target="../embeddings/oleObject102.bin"/><Relationship Id="rId14" Type="http://schemas.openxmlformats.org/officeDocument/2006/relationships/image" Target="../media/image114.emf"/><Relationship Id="rId22" Type="http://schemas.openxmlformats.org/officeDocument/2006/relationships/image" Target="../media/image118.e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24.wmf"/><Relationship Id="rId3" Type="http://schemas.openxmlformats.org/officeDocument/2006/relationships/image" Target="../media/image119.wmf"/><Relationship Id="rId7" Type="http://schemas.openxmlformats.org/officeDocument/2006/relationships/image" Target="../media/image121.emf"/><Relationship Id="rId12" Type="http://schemas.openxmlformats.org/officeDocument/2006/relationships/oleObject" Target="../embeddings/oleObject114.bin"/><Relationship Id="rId2" Type="http://schemas.openxmlformats.org/officeDocument/2006/relationships/oleObject" Target="../embeddings/oleObject109.bin"/><Relationship Id="rId16" Type="http://schemas.openxmlformats.org/officeDocument/2006/relationships/image" Target="../media/image126.emf"/><Relationship Id="rId1" Type="http://schemas.openxmlformats.org/officeDocument/2006/relationships/slideLayout" Target="../slideLayouts/slideLayout7.xml"/><Relationship Id="rId6" Type="http://schemas.openxmlformats.org/officeDocument/2006/relationships/oleObject" Target="../embeddings/oleObject111.bin"/><Relationship Id="rId11" Type="http://schemas.openxmlformats.org/officeDocument/2006/relationships/image" Target="../media/image123.emf"/><Relationship Id="rId5" Type="http://schemas.openxmlformats.org/officeDocument/2006/relationships/image" Target="../media/image120.emf"/><Relationship Id="rId15" Type="http://schemas.openxmlformats.org/officeDocument/2006/relationships/image" Target="../media/image125.emf"/><Relationship Id="rId10" Type="http://schemas.openxmlformats.org/officeDocument/2006/relationships/oleObject" Target="../embeddings/oleObject113.bin"/><Relationship Id="rId4" Type="http://schemas.openxmlformats.org/officeDocument/2006/relationships/oleObject" Target="../embeddings/oleObject110.bin"/><Relationship Id="rId9" Type="http://schemas.openxmlformats.org/officeDocument/2006/relationships/image" Target="../media/image122.emf"/><Relationship Id="rId14" Type="http://schemas.openxmlformats.org/officeDocument/2006/relationships/oleObject" Target="../embeddings/oleObject115.bin"/></Relationships>
</file>

<file path=ppt/slides/_rels/slide6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7.emf"/><Relationship Id="rId7" Type="http://schemas.openxmlformats.org/officeDocument/2006/relationships/image" Target="../media/image129.emf"/><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8.bin"/><Relationship Id="rId5" Type="http://schemas.openxmlformats.org/officeDocument/2006/relationships/image" Target="../media/image128.emf"/><Relationship Id="rId4" Type="http://schemas.openxmlformats.org/officeDocument/2006/relationships/oleObject" Target="../embeddings/oleObject117.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119.bin"/><Relationship Id="rId1" Type="http://schemas.openxmlformats.org/officeDocument/2006/relationships/slideLayout" Target="../slideLayouts/slideLayout7.xml"/><Relationship Id="rId6" Type="http://schemas.openxmlformats.org/officeDocument/2006/relationships/oleObject" Target="../embeddings/oleObject121.bin"/><Relationship Id="rId11" Type="http://schemas.openxmlformats.org/officeDocument/2006/relationships/image" Target="../media/image135.wmf"/><Relationship Id="rId5" Type="http://schemas.openxmlformats.org/officeDocument/2006/relationships/image" Target="../media/image132.wmf"/><Relationship Id="rId10" Type="http://schemas.openxmlformats.org/officeDocument/2006/relationships/oleObject" Target="../embeddings/oleObject123.bin"/><Relationship Id="rId4" Type="http://schemas.openxmlformats.org/officeDocument/2006/relationships/oleObject" Target="../embeddings/oleObject120.bin"/><Relationship Id="rId9" Type="http://schemas.openxmlformats.org/officeDocument/2006/relationships/image" Target="../media/image134.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27.bin"/><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124.bin"/><Relationship Id="rId1" Type="http://schemas.openxmlformats.org/officeDocument/2006/relationships/slideLayout" Target="../slideLayouts/slideLayout7.xml"/><Relationship Id="rId6" Type="http://schemas.openxmlformats.org/officeDocument/2006/relationships/oleObject" Target="../embeddings/oleObject126.bin"/><Relationship Id="rId5" Type="http://schemas.openxmlformats.org/officeDocument/2006/relationships/image" Target="../media/image137.wmf"/><Relationship Id="rId4" Type="http://schemas.openxmlformats.org/officeDocument/2006/relationships/oleObject" Target="../embeddings/oleObject125.bin"/><Relationship Id="rId9" Type="http://schemas.openxmlformats.org/officeDocument/2006/relationships/image" Target="../media/image139.wmf"/></Relationships>
</file>

<file path=ppt/slides/_rels/slide65.xml.rels><?xml version="1.0" encoding="UTF-8" standalone="yes"?>
<Relationships xmlns="http://schemas.openxmlformats.org/package/2006/relationships"><Relationship Id="rId8" Type="http://schemas.openxmlformats.org/officeDocument/2006/relationships/image" Target="../media/image142.emf"/><Relationship Id="rId13" Type="http://schemas.openxmlformats.org/officeDocument/2006/relationships/oleObject" Target="../embeddings/oleObject104.bin"/><Relationship Id="rId18" Type="http://schemas.openxmlformats.org/officeDocument/2006/relationships/image" Target="../media/image147.emf"/><Relationship Id="rId3" Type="http://schemas.openxmlformats.org/officeDocument/2006/relationships/oleObject" Target="../embeddings/oleObject99.bin"/><Relationship Id="rId21" Type="http://schemas.openxmlformats.org/officeDocument/2006/relationships/oleObject" Target="../embeddings/oleObject108.bin"/><Relationship Id="rId7" Type="http://schemas.openxmlformats.org/officeDocument/2006/relationships/oleObject" Target="../embeddings/oleObject101.bin"/><Relationship Id="rId12" Type="http://schemas.openxmlformats.org/officeDocument/2006/relationships/image" Target="../media/image144.emf"/><Relationship Id="rId17" Type="http://schemas.openxmlformats.org/officeDocument/2006/relationships/oleObject" Target="../embeddings/oleObject106.bin"/><Relationship Id="rId2" Type="http://schemas.openxmlformats.org/officeDocument/2006/relationships/notesSlide" Target="../notesSlides/notesSlide18.xml"/><Relationship Id="rId16" Type="http://schemas.openxmlformats.org/officeDocument/2006/relationships/image" Target="../media/image146.emf"/><Relationship Id="rId20" Type="http://schemas.openxmlformats.org/officeDocument/2006/relationships/image" Target="../media/image148.emf"/><Relationship Id="rId1" Type="http://schemas.openxmlformats.org/officeDocument/2006/relationships/slideLayout" Target="../slideLayouts/slideLayout3.xml"/><Relationship Id="rId6" Type="http://schemas.openxmlformats.org/officeDocument/2006/relationships/image" Target="../media/image141.emf"/><Relationship Id="rId11" Type="http://schemas.openxmlformats.org/officeDocument/2006/relationships/oleObject" Target="../embeddings/oleObject103.bin"/><Relationship Id="rId5" Type="http://schemas.openxmlformats.org/officeDocument/2006/relationships/oleObject" Target="../embeddings/oleObject100.bin"/><Relationship Id="rId15" Type="http://schemas.openxmlformats.org/officeDocument/2006/relationships/oleObject" Target="../embeddings/oleObject105.bin"/><Relationship Id="rId10" Type="http://schemas.openxmlformats.org/officeDocument/2006/relationships/image" Target="../media/image143.emf"/><Relationship Id="rId19" Type="http://schemas.openxmlformats.org/officeDocument/2006/relationships/oleObject" Target="../embeddings/oleObject107.bin"/><Relationship Id="rId4" Type="http://schemas.openxmlformats.org/officeDocument/2006/relationships/image" Target="../media/image140.emf"/><Relationship Id="rId9" Type="http://schemas.openxmlformats.org/officeDocument/2006/relationships/oleObject" Target="../embeddings/oleObject102.bin"/><Relationship Id="rId14" Type="http://schemas.openxmlformats.org/officeDocument/2006/relationships/image" Target="../media/image145.emf"/><Relationship Id="rId22" Type="http://schemas.openxmlformats.org/officeDocument/2006/relationships/image" Target="../media/image149.e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2.emf"/><Relationship Id="rId12" Type="http://schemas.openxmlformats.org/officeDocument/2006/relationships/oleObject" Target="../embeddings/oleObject129.bin"/><Relationship Id="rId2" Type="http://schemas.openxmlformats.org/officeDocument/2006/relationships/oleObject" Target="../embeddings/oleObject128.bin"/><Relationship Id="rId16" Type="http://schemas.openxmlformats.org/officeDocument/2006/relationships/image" Target="../media/image157.emf"/><Relationship Id="rId1" Type="http://schemas.openxmlformats.org/officeDocument/2006/relationships/slideLayout" Target="../slideLayouts/slideLayout7.xml"/><Relationship Id="rId6" Type="http://schemas.openxmlformats.org/officeDocument/2006/relationships/oleObject" Target="../embeddings/oleObject111.bin"/><Relationship Id="rId11" Type="http://schemas.openxmlformats.org/officeDocument/2006/relationships/image" Target="../media/image154.emf"/><Relationship Id="rId5" Type="http://schemas.openxmlformats.org/officeDocument/2006/relationships/image" Target="../media/image151.emf"/><Relationship Id="rId15" Type="http://schemas.openxmlformats.org/officeDocument/2006/relationships/image" Target="../media/image156.emf"/><Relationship Id="rId10" Type="http://schemas.openxmlformats.org/officeDocument/2006/relationships/oleObject" Target="../embeddings/oleObject113.bin"/><Relationship Id="rId4" Type="http://schemas.openxmlformats.org/officeDocument/2006/relationships/oleObject" Target="../embeddings/oleObject110.bin"/><Relationship Id="rId9" Type="http://schemas.openxmlformats.org/officeDocument/2006/relationships/image" Target="../media/image153.emf"/><Relationship Id="rId14" Type="http://schemas.openxmlformats.org/officeDocument/2006/relationships/oleObject" Target="../embeddings/oleObject115.bin"/></Relationships>
</file>

<file path=ppt/slides/_rels/slide67.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158.emf"/><Relationship Id="rId7" Type="http://schemas.openxmlformats.org/officeDocument/2006/relationships/image" Target="../media/image160.emf"/><Relationship Id="rId2" Type="http://schemas.openxmlformats.org/officeDocument/2006/relationships/oleObject" Target="../embeddings/oleObject130.bin"/><Relationship Id="rId1" Type="http://schemas.openxmlformats.org/officeDocument/2006/relationships/slideLayout" Target="../slideLayouts/slideLayout3.xml"/><Relationship Id="rId6" Type="http://schemas.openxmlformats.org/officeDocument/2006/relationships/oleObject" Target="../embeddings/oleObject132.bin"/><Relationship Id="rId5" Type="http://schemas.openxmlformats.org/officeDocument/2006/relationships/image" Target="../media/image159.emf"/><Relationship Id="rId4" Type="http://schemas.openxmlformats.org/officeDocument/2006/relationships/oleObject" Target="../embeddings/oleObject131.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67.wmf"/><Relationship Id="rId18" Type="http://schemas.openxmlformats.org/officeDocument/2006/relationships/image" Target="../media/image169.wmf"/><Relationship Id="rId3" Type="http://schemas.openxmlformats.org/officeDocument/2006/relationships/image" Target="../media/image162.wmf"/><Relationship Id="rId21" Type="http://schemas.openxmlformats.org/officeDocument/2006/relationships/oleObject" Target="../embeddings/oleObject142.bin"/><Relationship Id="rId7" Type="http://schemas.openxmlformats.org/officeDocument/2006/relationships/image" Target="../media/image164.wmf"/><Relationship Id="rId12" Type="http://schemas.openxmlformats.org/officeDocument/2006/relationships/oleObject" Target="../embeddings/oleObject138.bin"/><Relationship Id="rId17" Type="http://schemas.openxmlformats.org/officeDocument/2006/relationships/oleObject" Target="../embeddings/oleObject140.bin"/><Relationship Id="rId2" Type="http://schemas.openxmlformats.org/officeDocument/2006/relationships/oleObject" Target="../embeddings/oleObject133.bin"/><Relationship Id="rId16" Type="http://schemas.openxmlformats.org/officeDocument/2006/relationships/image" Target="../media/image179.png"/><Relationship Id="rId20" Type="http://schemas.openxmlformats.org/officeDocument/2006/relationships/image" Target="../media/image170.wmf"/><Relationship Id="rId1" Type="http://schemas.openxmlformats.org/officeDocument/2006/relationships/slideLayout" Target="../slideLayouts/slideLayout7.xml"/><Relationship Id="rId6" Type="http://schemas.openxmlformats.org/officeDocument/2006/relationships/oleObject" Target="../embeddings/oleObject135.bin"/><Relationship Id="rId11" Type="http://schemas.openxmlformats.org/officeDocument/2006/relationships/image" Target="../media/image166.wmf"/><Relationship Id="rId24" Type="http://schemas.openxmlformats.org/officeDocument/2006/relationships/image" Target="../media/image172.wmf"/><Relationship Id="rId5" Type="http://schemas.openxmlformats.org/officeDocument/2006/relationships/image" Target="../media/image163.wmf"/><Relationship Id="rId15" Type="http://schemas.openxmlformats.org/officeDocument/2006/relationships/image" Target="../media/image168.wmf"/><Relationship Id="rId23" Type="http://schemas.openxmlformats.org/officeDocument/2006/relationships/oleObject" Target="../embeddings/oleObject143.bin"/><Relationship Id="rId10" Type="http://schemas.openxmlformats.org/officeDocument/2006/relationships/oleObject" Target="../embeddings/oleObject137.bin"/><Relationship Id="rId19" Type="http://schemas.openxmlformats.org/officeDocument/2006/relationships/oleObject" Target="../embeddings/oleObject141.bin"/><Relationship Id="rId4" Type="http://schemas.openxmlformats.org/officeDocument/2006/relationships/oleObject" Target="../embeddings/oleObject134.bin"/><Relationship Id="rId9" Type="http://schemas.openxmlformats.org/officeDocument/2006/relationships/image" Target="../media/image165.wmf"/><Relationship Id="rId14" Type="http://schemas.openxmlformats.org/officeDocument/2006/relationships/oleObject" Target="../embeddings/oleObject139.bin"/><Relationship Id="rId22" Type="http://schemas.openxmlformats.org/officeDocument/2006/relationships/image" Target="../media/image171.wmf"/></Relationships>
</file>

<file path=ppt/slides/_rels/slide70.xml.rels><?xml version="1.0" encoding="UTF-8" standalone="yes"?>
<Relationships xmlns="http://schemas.openxmlformats.org/package/2006/relationships"><Relationship Id="rId8" Type="http://schemas.openxmlformats.org/officeDocument/2006/relationships/image" Target="../media/image175.emf"/><Relationship Id="rId13" Type="http://schemas.openxmlformats.org/officeDocument/2006/relationships/oleObject" Target="../embeddings/oleObject149.bin"/><Relationship Id="rId18" Type="http://schemas.openxmlformats.org/officeDocument/2006/relationships/image" Target="../media/image180.emf"/><Relationship Id="rId3" Type="http://schemas.openxmlformats.org/officeDocument/2006/relationships/oleObject" Target="../embeddings/oleObject144.bin"/><Relationship Id="rId7" Type="http://schemas.openxmlformats.org/officeDocument/2006/relationships/oleObject" Target="../embeddings/oleObject146.bin"/><Relationship Id="rId12" Type="http://schemas.openxmlformats.org/officeDocument/2006/relationships/image" Target="../media/image177.emf"/><Relationship Id="rId17" Type="http://schemas.openxmlformats.org/officeDocument/2006/relationships/oleObject" Target="../embeddings/oleObject151.bin"/><Relationship Id="rId2" Type="http://schemas.openxmlformats.org/officeDocument/2006/relationships/notesSlide" Target="../notesSlides/notesSlide19.xml"/><Relationship Id="rId16" Type="http://schemas.openxmlformats.org/officeDocument/2006/relationships/image" Target="../media/image179.emf"/><Relationship Id="rId20" Type="http://schemas.openxmlformats.org/officeDocument/2006/relationships/image" Target="../media/image182.emf"/><Relationship Id="rId1" Type="http://schemas.openxmlformats.org/officeDocument/2006/relationships/slideLayout" Target="../slideLayouts/slideLayout3.xml"/><Relationship Id="rId6" Type="http://schemas.openxmlformats.org/officeDocument/2006/relationships/image" Target="../media/image174.emf"/><Relationship Id="rId11" Type="http://schemas.openxmlformats.org/officeDocument/2006/relationships/oleObject" Target="../embeddings/oleObject148.bin"/><Relationship Id="rId5" Type="http://schemas.openxmlformats.org/officeDocument/2006/relationships/oleObject" Target="../embeddings/oleObject145.bin"/><Relationship Id="rId15" Type="http://schemas.openxmlformats.org/officeDocument/2006/relationships/oleObject" Target="../embeddings/oleObject150.bin"/><Relationship Id="rId10" Type="http://schemas.openxmlformats.org/officeDocument/2006/relationships/image" Target="../media/image176.emf"/><Relationship Id="rId19" Type="http://schemas.openxmlformats.org/officeDocument/2006/relationships/image" Target="../media/image181.emf"/><Relationship Id="rId4" Type="http://schemas.openxmlformats.org/officeDocument/2006/relationships/image" Target="../media/image173.emf"/><Relationship Id="rId9" Type="http://schemas.openxmlformats.org/officeDocument/2006/relationships/oleObject" Target="../embeddings/oleObject147.bin"/><Relationship Id="rId14" Type="http://schemas.openxmlformats.org/officeDocument/2006/relationships/image" Target="../media/image178.emf"/></Relationships>
</file>

<file path=ppt/slides/_rels/slide71.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oleObject" Target="../embeddings/oleObject152.bin"/><Relationship Id="rId7" Type="http://schemas.openxmlformats.org/officeDocument/2006/relationships/oleObject" Target="../embeddings/oleObject154.bin"/><Relationship Id="rId2" Type="http://schemas.openxmlformats.org/officeDocument/2006/relationships/image" Target="../media/image183.png"/><Relationship Id="rId1" Type="http://schemas.openxmlformats.org/officeDocument/2006/relationships/slideLayout" Target="../slideLayouts/slideLayout7.xml"/><Relationship Id="rId6" Type="http://schemas.openxmlformats.org/officeDocument/2006/relationships/image" Target="../media/image185.wmf"/><Relationship Id="rId11" Type="http://schemas.openxmlformats.org/officeDocument/2006/relationships/image" Target="../media/image188.png"/><Relationship Id="rId5" Type="http://schemas.openxmlformats.org/officeDocument/2006/relationships/oleObject" Target="../embeddings/oleObject153.bin"/><Relationship Id="rId10" Type="http://schemas.openxmlformats.org/officeDocument/2006/relationships/image" Target="../media/image187.wmf"/><Relationship Id="rId4" Type="http://schemas.openxmlformats.org/officeDocument/2006/relationships/image" Target="../media/image184.wmf"/><Relationship Id="rId9" Type="http://schemas.openxmlformats.org/officeDocument/2006/relationships/oleObject" Target="../embeddings/oleObject155.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image" Target="../media/image194.emf"/><Relationship Id="rId3" Type="http://schemas.openxmlformats.org/officeDocument/2006/relationships/image" Target="../media/image189.wmf"/><Relationship Id="rId7" Type="http://schemas.openxmlformats.org/officeDocument/2006/relationships/image" Target="../media/image191.emf"/><Relationship Id="rId12" Type="http://schemas.openxmlformats.org/officeDocument/2006/relationships/oleObject" Target="../embeddings/oleObject161.bin"/><Relationship Id="rId2" Type="http://schemas.openxmlformats.org/officeDocument/2006/relationships/oleObject" Target="../embeddings/oleObject156.bin"/><Relationship Id="rId16" Type="http://schemas.openxmlformats.org/officeDocument/2006/relationships/image" Target="../media/image196.wmf"/><Relationship Id="rId1" Type="http://schemas.openxmlformats.org/officeDocument/2006/relationships/slideLayout" Target="../slideLayouts/slideLayout7.xml"/><Relationship Id="rId6" Type="http://schemas.openxmlformats.org/officeDocument/2006/relationships/oleObject" Target="../embeddings/oleObject158.bin"/><Relationship Id="rId11" Type="http://schemas.openxmlformats.org/officeDocument/2006/relationships/image" Target="../media/image193.emf"/><Relationship Id="rId5" Type="http://schemas.openxmlformats.org/officeDocument/2006/relationships/image" Target="../media/image190.emf"/><Relationship Id="rId15" Type="http://schemas.openxmlformats.org/officeDocument/2006/relationships/oleObject" Target="../embeddings/oleObject162.bin"/><Relationship Id="rId10" Type="http://schemas.openxmlformats.org/officeDocument/2006/relationships/oleObject" Target="../embeddings/oleObject160.bin"/><Relationship Id="rId4" Type="http://schemas.openxmlformats.org/officeDocument/2006/relationships/oleObject" Target="../embeddings/oleObject157.bin"/><Relationship Id="rId9" Type="http://schemas.openxmlformats.org/officeDocument/2006/relationships/image" Target="../media/image192.emf"/><Relationship Id="rId14" Type="http://schemas.openxmlformats.org/officeDocument/2006/relationships/image" Target="../media/image195.emf"/></Relationships>
</file>

<file path=ppt/slides/_rels/slide73.xml.rels><?xml version="1.0" encoding="UTF-8" standalone="yes"?>
<Relationships xmlns="http://schemas.openxmlformats.org/package/2006/relationships"><Relationship Id="rId3" Type="http://schemas.openxmlformats.org/officeDocument/2006/relationships/image" Target="../media/image197.wmf"/><Relationship Id="rId2"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image" Target="../media/image183.png"/><Relationship Id="rId5" Type="http://schemas.openxmlformats.org/officeDocument/2006/relationships/image" Target="../media/image198.emf"/><Relationship Id="rId4" Type="http://schemas.openxmlformats.org/officeDocument/2006/relationships/oleObject" Target="../embeddings/oleObject164.bin"/></Relationships>
</file>

<file path=ppt/slides/_rels/slide74.xml.rels><?xml version="1.0" encoding="UTF-8" standalone="yes"?>
<Relationships xmlns="http://schemas.openxmlformats.org/package/2006/relationships"><Relationship Id="rId8" Type="http://schemas.openxmlformats.org/officeDocument/2006/relationships/image" Target="../media/image202.wmf"/><Relationship Id="rId3" Type="http://schemas.openxmlformats.org/officeDocument/2006/relationships/oleObject" Target="../embeddings/oleObject165.bin"/><Relationship Id="rId7" Type="http://schemas.openxmlformats.org/officeDocument/2006/relationships/oleObject" Target="../embeddings/oleObject167.bin"/><Relationship Id="rId12" Type="http://schemas.openxmlformats.org/officeDocument/2006/relationships/image" Target="../media/image204.wmf"/><Relationship Id="rId2" Type="http://schemas.openxmlformats.org/officeDocument/2006/relationships/image" Target="../media/image199.png"/><Relationship Id="rId1" Type="http://schemas.openxmlformats.org/officeDocument/2006/relationships/slideLayout" Target="../slideLayouts/slideLayout3.xml"/><Relationship Id="rId6" Type="http://schemas.openxmlformats.org/officeDocument/2006/relationships/image" Target="../media/image201.wmf"/><Relationship Id="rId11" Type="http://schemas.openxmlformats.org/officeDocument/2006/relationships/oleObject" Target="../embeddings/oleObject169.bin"/><Relationship Id="rId5" Type="http://schemas.openxmlformats.org/officeDocument/2006/relationships/oleObject" Target="../embeddings/oleObject166.bin"/><Relationship Id="rId10" Type="http://schemas.openxmlformats.org/officeDocument/2006/relationships/image" Target="../media/image203.wmf"/><Relationship Id="rId4" Type="http://schemas.openxmlformats.org/officeDocument/2006/relationships/image" Target="../media/image200.wmf"/><Relationship Id="rId9" Type="http://schemas.openxmlformats.org/officeDocument/2006/relationships/oleObject" Target="../embeddings/oleObject168.bin"/></Relationships>
</file>

<file path=ppt/slides/_rels/slide75.xml.rels><?xml version="1.0" encoding="UTF-8" standalone="yes"?>
<Relationships xmlns="http://schemas.openxmlformats.org/package/2006/relationships"><Relationship Id="rId13" Type="http://schemas.openxmlformats.org/officeDocument/2006/relationships/oleObject" Target="../embeddings/oleObject175.bin"/><Relationship Id="rId18" Type="http://schemas.openxmlformats.org/officeDocument/2006/relationships/image" Target="../media/image212.wmf"/><Relationship Id="rId26" Type="http://schemas.openxmlformats.org/officeDocument/2006/relationships/image" Target="../media/image216.wmf"/><Relationship Id="rId39" Type="http://schemas.openxmlformats.org/officeDocument/2006/relationships/oleObject" Target="../embeddings/oleObject188.bin"/><Relationship Id="rId21" Type="http://schemas.openxmlformats.org/officeDocument/2006/relationships/oleObject" Target="../embeddings/oleObject179.bin"/><Relationship Id="rId34" Type="http://schemas.openxmlformats.org/officeDocument/2006/relationships/image" Target="../media/image220.wmf"/><Relationship Id="rId7" Type="http://schemas.openxmlformats.org/officeDocument/2006/relationships/oleObject" Target="../embeddings/oleObject172.bin"/><Relationship Id="rId2" Type="http://schemas.openxmlformats.org/officeDocument/2006/relationships/notesSlide" Target="../notesSlides/notesSlide20.xml"/><Relationship Id="rId16" Type="http://schemas.openxmlformats.org/officeDocument/2006/relationships/image" Target="../media/image211.wmf"/><Relationship Id="rId20" Type="http://schemas.openxmlformats.org/officeDocument/2006/relationships/image" Target="../media/image213.wmf"/><Relationship Id="rId29" Type="http://schemas.openxmlformats.org/officeDocument/2006/relationships/oleObject" Target="../embeddings/oleObject183.bin"/><Relationship Id="rId41" Type="http://schemas.openxmlformats.org/officeDocument/2006/relationships/oleObject" Target="../embeddings/oleObject189.bin"/><Relationship Id="rId1" Type="http://schemas.openxmlformats.org/officeDocument/2006/relationships/slideLayout" Target="../slideLayouts/slideLayout3.xml"/><Relationship Id="rId6" Type="http://schemas.openxmlformats.org/officeDocument/2006/relationships/image" Target="../media/image206.wmf"/><Relationship Id="rId11" Type="http://schemas.openxmlformats.org/officeDocument/2006/relationships/oleObject" Target="../embeddings/oleObject174.bin"/><Relationship Id="rId24" Type="http://schemas.openxmlformats.org/officeDocument/2006/relationships/image" Target="../media/image215.wmf"/><Relationship Id="rId32" Type="http://schemas.openxmlformats.org/officeDocument/2006/relationships/image" Target="../media/image219.wmf"/><Relationship Id="rId37" Type="http://schemas.openxmlformats.org/officeDocument/2006/relationships/oleObject" Target="../embeddings/oleObject187.bin"/><Relationship Id="rId40" Type="http://schemas.openxmlformats.org/officeDocument/2006/relationships/image" Target="../media/image223.wmf"/><Relationship Id="rId5" Type="http://schemas.openxmlformats.org/officeDocument/2006/relationships/oleObject" Target="../embeddings/oleObject171.bin"/><Relationship Id="rId15" Type="http://schemas.openxmlformats.org/officeDocument/2006/relationships/oleObject" Target="../embeddings/oleObject176.bin"/><Relationship Id="rId23" Type="http://schemas.openxmlformats.org/officeDocument/2006/relationships/oleObject" Target="../embeddings/oleObject180.bin"/><Relationship Id="rId28" Type="http://schemas.openxmlformats.org/officeDocument/2006/relationships/image" Target="../media/image217.wmf"/><Relationship Id="rId36" Type="http://schemas.openxmlformats.org/officeDocument/2006/relationships/image" Target="../media/image221.wmf"/><Relationship Id="rId10" Type="http://schemas.openxmlformats.org/officeDocument/2006/relationships/image" Target="../media/image208.wmf"/><Relationship Id="rId19" Type="http://schemas.openxmlformats.org/officeDocument/2006/relationships/oleObject" Target="../embeddings/oleObject178.bin"/><Relationship Id="rId31" Type="http://schemas.openxmlformats.org/officeDocument/2006/relationships/oleObject" Target="../embeddings/oleObject184.bin"/><Relationship Id="rId4" Type="http://schemas.openxmlformats.org/officeDocument/2006/relationships/image" Target="../media/image205.wmf"/><Relationship Id="rId9" Type="http://schemas.openxmlformats.org/officeDocument/2006/relationships/oleObject" Target="../embeddings/oleObject173.bin"/><Relationship Id="rId14" Type="http://schemas.openxmlformats.org/officeDocument/2006/relationships/image" Target="../media/image210.wmf"/><Relationship Id="rId22" Type="http://schemas.openxmlformats.org/officeDocument/2006/relationships/image" Target="../media/image214.wmf"/><Relationship Id="rId27" Type="http://schemas.openxmlformats.org/officeDocument/2006/relationships/oleObject" Target="../embeddings/oleObject182.bin"/><Relationship Id="rId30" Type="http://schemas.openxmlformats.org/officeDocument/2006/relationships/image" Target="../media/image218.wmf"/><Relationship Id="rId35" Type="http://schemas.openxmlformats.org/officeDocument/2006/relationships/oleObject" Target="../embeddings/oleObject186.bin"/><Relationship Id="rId8" Type="http://schemas.openxmlformats.org/officeDocument/2006/relationships/image" Target="../media/image207.wmf"/><Relationship Id="rId3" Type="http://schemas.openxmlformats.org/officeDocument/2006/relationships/oleObject" Target="../embeddings/oleObject170.bin"/><Relationship Id="rId12" Type="http://schemas.openxmlformats.org/officeDocument/2006/relationships/image" Target="../media/image209.wmf"/><Relationship Id="rId17" Type="http://schemas.openxmlformats.org/officeDocument/2006/relationships/oleObject" Target="../embeddings/oleObject177.bin"/><Relationship Id="rId25" Type="http://schemas.openxmlformats.org/officeDocument/2006/relationships/oleObject" Target="../embeddings/oleObject181.bin"/><Relationship Id="rId33" Type="http://schemas.openxmlformats.org/officeDocument/2006/relationships/oleObject" Target="../embeddings/oleObject185.bin"/><Relationship Id="rId38" Type="http://schemas.openxmlformats.org/officeDocument/2006/relationships/image" Target="../media/image222.wmf"/></Relationships>
</file>

<file path=ppt/slides/_rels/slide76.xml.rels><?xml version="1.0" encoding="UTF-8" standalone="yes"?>
<Relationships xmlns="http://schemas.openxmlformats.org/package/2006/relationships"><Relationship Id="rId3" Type="http://schemas.openxmlformats.org/officeDocument/2006/relationships/image" Target="../media/image224.emf"/><Relationship Id="rId7" Type="http://schemas.openxmlformats.org/officeDocument/2006/relationships/image" Target="../media/image226.emf"/><Relationship Id="rId2" Type="http://schemas.openxmlformats.org/officeDocument/2006/relationships/oleObject" Target="../embeddings/oleObject190.bin"/><Relationship Id="rId1" Type="http://schemas.openxmlformats.org/officeDocument/2006/relationships/slideLayout" Target="../slideLayouts/slideLayout8.xml"/><Relationship Id="rId6" Type="http://schemas.openxmlformats.org/officeDocument/2006/relationships/oleObject" Target="../embeddings/oleObject192.bin"/><Relationship Id="rId5" Type="http://schemas.openxmlformats.org/officeDocument/2006/relationships/image" Target="../media/image225.emf"/><Relationship Id="rId4" Type="http://schemas.openxmlformats.org/officeDocument/2006/relationships/oleObject" Target="../embeddings/oleObject191.bin"/></Relationships>
</file>

<file path=ppt/slides/_rels/slide77.xml.rels><?xml version="1.0" encoding="UTF-8" standalone="yes"?>
<Relationships xmlns="http://schemas.openxmlformats.org/package/2006/relationships"><Relationship Id="rId8" Type="http://schemas.openxmlformats.org/officeDocument/2006/relationships/image" Target="../media/image228.wmf"/><Relationship Id="rId3" Type="http://schemas.openxmlformats.org/officeDocument/2006/relationships/oleObject" Target="../embeddings/oleObject193.bin"/><Relationship Id="rId7" Type="http://schemas.openxmlformats.org/officeDocument/2006/relationships/oleObject" Target="../embeddings/oleObject194.bin"/><Relationship Id="rId12" Type="http://schemas.openxmlformats.org/officeDocument/2006/relationships/image" Target="../media/image230.wmf"/><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26.emf"/><Relationship Id="rId11" Type="http://schemas.openxmlformats.org/officeDocument/2006/relationships/oleObject" Target="../embeddings/oleObject196.bin"/><Relationship Id="rId5" Type="http://schemas.openxmlformats.org/officeDocument/2006/relationships/oleObject" Target="../embeddings/oleObject192.bin"/><Relationship Id="rId10" Type="http://schemas.openxmlformats.org/officeDocument/2006/relationships/image" Target="../media/image229.wmf"/><Relationship Id="rId4" Type="http://schemas.openxmlformats.org/officeDocument/2006/relationships/image" Target="../media/image227.wmf"/><Relationship Id="rId9" Type="http://schemas.openxmlformats.org/officeDocument/2006/relationships/oleObject" Target="../embeddings/oleObject195.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32176" y="1828800"/>
            <a:ext cx="7083425" cy="2209800"/>
          </a:xfrm>
        </p:spPr>
        <p:txBody>
          <a:bodyPr/>
          <a:lstStyle/>
          <a:p>
            <a:pPr algn="ctr" eaLnBrk="1" hangingPunct="1"/>
            <a:r>
              <a:rPr lang="zh-CN" altLang="en-US" sz="6000" b="1">
                <a:solidFill>
                  <a:srgbClr val="F5E50F"/>
                </a:solidFill>
                <a:latin typeface="隶书" pitchFamily="49" charset="-122"/>
                <a:ea typeface="隶书" pitchFamily="49" charset="-122"/>
              </a:rPr>
              <a:t>第</a:t>
            </a:r>
            <a:r>
              <a:rPr lang="zh-CN" altLang="en-US" sz="6000" b="1">
                <a:solidFill>
                  <a:srgbClr val="F5E50F"/>
                </a:solidFill>
                <a:ea typeface="隶书" pitchFamily="49" charset="-122"/>
              </a:rPr>
              <a:t> </a:t>
            </a:r>
            <a:r>
              <a:rPr lang="en-US" altLang="zh-CN" sz="6000" b="1">
                <a:solidFill>
                  <a:srgbClr val="F5E50F"/>
                </a:solidFill>
                <a:ea typeface="隶书" pitchFamily="49" charset="-122"/>
              </a:rPr>
              <a:t>3 </a:t>
            </a:r>
            <a:r>
              <a:rPr lang="zh-CN" altLang="en-US" sz="6000" b="1">
                <a:solidFill>
                  <a:srgbClr val="F5E50F"/>
                </a:solidFill>
                <a:latin typeface="隶书" pitchFamily="49" charset="-122"/>
                <a:ea typeface="隶书" pitchFamily="49" charset="-122"/>
              </a:rPr>
              <a:t>章</a:t>
            </a:r>
            <a:br>
              <a:rPr lang="zh-CN" altLang="en-US" sz="6000" b="1">
                <a:solidFill>
                  <a:srgbClr val="F5E50F"/>
                </a:solidFill>
                <a:latin typeface="隶书" pitchFamily="49" charset="-122"/>
                <a:ea typeface="隶书" pitchFamily="49" charset="-122"/>
              </a:rPr>
            </a:br>
            <a:r>
              <a:rPr lang="zh-CN" altLang="en-US" sz="6000" b="1">
                <a:solidFill>
                  <a:srgbClr val="F5E50F"/>
                </a:solidFill>
                <a:latin typeface="隶书" pitchFamily="49" charset="-122"/>
                <a:ea typeface="隶书" pitchFamily="49" charset="-122"/>
              </a:rPr>
              <a:t>模糊关系与聚类分析</a:t>
            </a:r>
          </a:p>
        </p:txBody>
      </p:sp>
      <p:sp>
        <p:nvSpPr>
          <p:cNvPr id="3075" name="Rectangle 3"/>
          <p:cNvSpPr>
            <a:spLocks noGrp="1" noChangeArrowheads="1"/>
          </p:cNvSpPr>
          <p:nvPr>
            <p:ph type="subTitle" idx="1"/>
          </p:nvPr>
        </p:nvSpPr>
        <p:spPr>
          <a:xfrm>
            <a:off x="3432175" y="4293097"/>
            <a:ext cx="6019800" cy="2564903"/>
          </a:xfrm>
        </p:spPr>
        <p:txBody>
          <a:bodyPr/>
          <a:lstStyle/>
          <a:p>
            <a:pPr eaLnBrk="1" hangingPunct="1">
              <a:buClr>
                <a:schemeClr val="tx1"/>
              </a:buClr>
            </a:pPr>
            <a:r>
              <a:rPr lang="en-US" altLang="zh-CN" sz="2800" dirty="0">
                <a:ea typeface="黑体" pitchFamily="2" charset="-122"/>
              </a:rPr>
              <a:t>3.5   F</a:t>
            </a:r>
            <a:r>
              <a:rPr lang="zh-CN" altLang="en-US" sz="2800" dirty="0">
                <a:ea typeface="黑体" pitchFamily="2" charset="-122"/>
              </a:rPr>
              <a:t>关系的合成</a:t>
            </a:r>
            <a:endParaRPr lang="en-US" altLang="zh-CN" sz="2800" dirty="0">
              <a:ea typeface="黑体" pitchFamily="2" charset="-122"/>
            </a:endParaRPr>
          </a:p>
          <a:p>
            <a:pPr eaLnBrk="1" hangingPunct="1">
              <a:buClr>
                <a:schemeClr val="tx1"/>
              </a:buClr>
            </a:pPr>
            <a:r>
              <a:rPr lang="en-US" altLang="zh-CN" sz="2800" dirty="0">
                <a:ea typeface="黑体" pitchFamily="2" charset="-122"/>
              </a:rPr>
              <a:t>3.6   F</a:t>
            </a:r>
            <a:r>
              <a:rPr lang="zh-CN" altLang="en-US" sz="2800" dirty="0">
                <a:ea typeface="黑体" pitchFamily="2" charset="-122"/>
              </a:rPr>
              <a:t>关系的传递性</a:t>
            </a:r>
          </a:p>
          <a:p>
            <a:pPr eaLnBrk="1" hangingPunct="1">
              <a:buClr>
                <a:schemeClr val="tx1"/>
              </a:buClr>
            </a:pPr>
            <a:r>
              <a:rPr lang="en-US" altLang="zh-CN" sz="2800" dirty="0">
                <a:ea typeface="黑体" pitchFamily="2" charset="-122"/>
              </a:rPr>
              <a:t>3.7   F</a:t>
            </a:r>
            <a:r>
              <a:rPr lang="zh-CN" altLang="en-US" sz="2800" dirty="0">
                <a:ea typeface="黑体" pitchFamily="2" charset="-122"/>
              </a:rPr>
              <a:t>等价关系及聚类图</a:t>
            </a:r>
          </a:p>
          <a:p>
            <a:pPr eaLnBrk="1" hangingPunct="1">
              <a:buClr>
                <a:schemeClr val="tx1"/>
              </a:buClr>
            </a:pPr>
            <a:r>
              <a:rPr lang="en-US" altLang="zh-CN" sz="2800" dirty="0">
                <a:ea typeface="黑体" pitchFamily="2" charset="-122"/>
              </a:rPr>
              <a:t>3.8   F</a:t>
            </a:r>
            <a:r>
              <a:rPr lang="zh-CN" altLang="en-US" sz="2800" dirty="0">
                <a:ea typeface="黑体" pitchFamily="2" charset="-122"/>
              </a:rPr>
              <a:t>相似关系</a:t>
            </a:r>
          </a:p>
          <a:p>
            <a:pPr eaLnBrk="1" hangingPunct="1">
              <a:buClr>
                <a:schemeClr val="tx1"/>
              </a:buClr>
            </a:pPr>
            <a:r>
              <a:rPr lang="en-US" altLang="zh-CN" sz="2800" dirty="0">
                <a:ea typeface="黑体" pitchFamily="2" charset="-122"/>
              </a:rPr>
              <a:t>3.9   </a:t>
            </a:r>
            <a:r>
              <a:rPr lang="zh-CN" altLang="en-US" sz="2800" dirty="0">
                <a:ea typeface="黑体" pitchFamily="2" charset="-122"/>
              </a:rPr>
              <a:t>聚类分析</a:t>
            </a:r>
            <a:endParaRPr lang="zh-CN" altLang="en-US" sz="2000" dirty="0"/>
          </a:p>
        </p:txBody>
      </p:sp>
      <p:sp>
        <p:nvSpPr>
          <p:cNvPr id="2" name="灯片编号占位符 1">
            <a:extLst>
              <a:ext uri="{FF2B5EF4-FFF2-40B4-BE49-F238E27FC236}">
                <a16:creationId xmlns:a16="http://schemas.microsoft.com/office/drawing/2014/main" id="{412BE293-D177-3128-5677-5A9E84363D4F}"/>
              </a:ext>
            </a:extLst>
          </p:cNvPr>
          <p:cNvSpPr>
            <a:spLocks noGrp="1"/>
          </p:cNvSpPr>
          <p:nvPr>
            <p:ph type="sldNum" sz="quarter" idx="12"/>
          </p:nvPr>
        </p:nvSpPr>
        <p:spPr/>
        <p:txBody>
          <a:bodyPr/>
          <a:lstStyle/>
          <a:p>
            <a:pPr>
              <a:defRPr/>
            </a:pPr>
            <a:fld id="{0E783F26-707F-43BD-95DA-AB5CF5A1D0EC}"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992313" y="333375"/>
            <a:ext cx="8229600" cy="1371600"/>
          </a:xfrm>
        </p:spPr>
        <p:txBody>
          <a:bodyPr/>
          <a:lstStyle/>
          <a:p>
            <a:pPr algn="ctr" eaLnBrk="1" hangingPunct="1"/>
            <a:r>
              <a:rPr lang="en-US" altLang="zh-CN" dirty="0">
                <a:solidFill>
                  <a:srgbClr val="008000"/>
                </a:solidFill>
              </a:rPr>
              <a:t>F</a:t>
            </a:r>
            <a:r>
              <a:rPr lang="zh-CN" altLang="en-US" dirty="0">
                <a:solidFill>
                  <a:srgbClr val="008000"/>
                </a:solidFill>
                <a:latin typeface="Times New Roman" pitchFamily="18" charset="0"/>
                <a:ea typeface="黑体" pitchFamily="2" charset="-122"/>
              </a:rPr>
              <a:t>关系的合成</a:t>
            </a:r>
          </a:p>
        </p:txBody>
      </p:sp>
      <p:sp>
        <p:nvSpPr>
          <p:cNvPr id="56323" name="Rectangle 3"/>
          <p:cNvSpPr>
            <a:spLocks noGrp="1" noChangeArrowheads="1"/>
          </p:cNvSpPr>
          <p:nvPr>
            <p:ph type="body" sz="half" idx="1"/>
          </p:nvPr>
        </p:nvSpPr>
        <p:spPr>
          <a:xfrm>
            <a:off x="983432" y="1628801"/>
            <a:ext cx="10225136" cy="4760913"/>
          </a:xfrm>
        </p:spPr>
        <p:txBody>
          <a:bodyPr/>
          <a:lstStyle/>
          <a:p>
            <a:pPr eaLnBrk="1" hangingPunct="1">
              <a:lnSpc>
                <a:spcPct val="120000"/>
              </a:lnSpc>
            </a:pPr>
            <a:r>
              <a:rPr lang="zh-CN" altLang="en-US" dirty="0"/>
              <a:t>设</a:t>
            </a:r>
            <a:r>
              <a:rPr lang="en-US" altLang="zh-CN" i="1" dirty="0">
                <a:solidFill>
                  <a:srgbClr val="CC00FF"/>
                </a:solidFill>
              </a:rPr>
              <a:t>Q</a:t>
            </a:r>
            <a:r>
              <a:rPr lang="en-US" altLang="zh-CN" dirty="0">
                <a:ea typeface="黑体" pitchFamily="2" charset="-122"/>
                <a:sym typeface="Symbol" pitchFamily="18" charset="2"/>
              </a:rPr>
              <a:t></a:t>
            </a:r>
            <a:r>
              <a:rPr lang="en-US" altLang="zh-CN" dirty="0">
                <a:latin typeface="Monotype Corsiva" pitchFamily="66" charset="0"/>
                <a:ea typeface="黑体" pitchFamily="2" charset="-122"/>
                <a:sym typeface="Symbol" pitchFamily="18" charset="2"/>
              </a:rPr>
              <a:t>F </a:t>
            </a:r>
            <a:r>
              <a:rPr lang="en-US" altLang="zh-CN" dirty="0">
                <a:ea typeface="黑体" pitchFamily="2" charset="-122"/>
                <a:sym typeface="Symbol" pitchFamily="18" charset="2"/>
              </a:rPr>
              <a:t>(</a:t>
            </a:r>
            <a:r>
              <a:rPr lang="en-US" altLang="zh-CN" dirty="0">
                <a:solidFill>
                  <a:srgbClr val="008000"/>
                </a:solidFill>
                <a:ea typeface="黑体" pitchFamily="2" charset="-122"/>
                <a:sym typeface="Symbol" pitchFamily="18" charset="2"/>
              </a:rPr>
              <a:t>U</a:t>
            </a:r>
            <a:r>
              <a:rPr lang="en-US" altLang="zh-CN" dirty="0">
                <a:sym typeface="Symbol" panose="05050102010706020507" pitchFamily="18" charset="2"/>
              </a:rPr>
              <a:t></a:t>
            </a:r>
            <a:r>
              <a:rPr lang="en-US" altLang="zh-CN" dirty="0">
                <a:solidFill>
                  <a:srgbClr val="FF0000"/>
                </a:solidFill>
                <a:ea typeface="黑体" pitchFamily="2" charset="-122"/>
                <a:sym typeface="Symbol" pitchFamily="18" charset="2"/>
              </a:rPr>
              <a:t>V</a:t>
            </a:r>
            <a:r>
              <a:rPr lang="en-US" altLang="zh-CN" dirty="0">
                <a:ea typeface="黑体" pitchFamily="2" charset="-122"/>
                <a:sym typeface="Symbol" pitchFamily="18" charset="2"/>
              </a:rPr>
              <a:t>)</a:t>
            </a:r>
            <a:r>
              <a:rPr lang="zh-CN" altLang="en-US" dirty="0">
                <a:ea typeface="黑体" pitchFamily="2" charset="-122"/>
                <a:sym typeface="Symbol" pitchFamily="18" charset="2"/>
              </a:rPr>
              <a:t>， </a:t>
            </a:r>
            <a:r>
              <a:rPr lang="en-US" altLang="zh-CN" i="1" dirty="0">
                <a:solidFill>
                  <a:schemeClr val="accent6"/>
                </a:solidFill>
                <a:ea typeface="黑体" pitchFamily="2" charset="-122"/>
                <a:sym typeface="Symbol" pitchFamily="18" charset="2"/>
              </a:rPr>
              <a:t>R</a:t>
            </a:r>
            <a:r>
              <a:rPr lang="en-US" altLang="zh-CN" dirty="0">
                <a:ea typeface="黑体" pitchFamily="2" charset="-122"/>
                <a:sym typeface="Symbol" pitchFamily="18" charset="2"/>
              </a:rPr>
              <a:t></a:t>
            </a:r>
            <a:r>
              <a:rPr lang="en-US" altLang="zh-CN" dirty="0">
                <a:latin typeface="Monotype Corsiva" pitchFamily="66" charset="0"/>
                <a:ea typeface="黑体" pitchFamily="2" charset="-122"/>
                <a:sym typeface="Symbol" pitchFamily="18" charset="2"/>
              </a:rPr>
              <a:t>F</a:t>
            </a:r>
            <a:r>
              <a:rPr lang="en-US" altLang="zh-CN" dirty="0">
                <a:ea typeface="黑体" pitchFamily="2" charset="-122"/>
                <a:sym typeface="Symbol" pitchFamily="18" charset="2"/>
              </a:rPr>
              <a:t>(</a:t>
            </a:r>
            <a:r>
              <a:rPr lang="en-US" altLang="zh-CN" dirty="0">
                <a:solidFill>
                  <a:srgbClr val="FF0000"/>
                </a:solidFill>
                <a:ea typeface="黑体" pitchFamily="2" charset="-122"/>
                <a:sym typeface="Symbol" pitchFamily="18" charset="2"/>
              </a:rPr>
              <a:t>V</a:t>
            </a:r>
            <a:r>
              <a:rPr lang="en-US" altLang="zh-CN" dirty="0">
                <a:sym typeface="Symbol" panose="05050102010706020507" pitchFamily="18" charset="2"/>
              </a:rPr>
              <a:t></a:t>
            </a:r>
            <a:r>
              <a:rPr lang="en-US" altLang="zh-CN" dirty="0">
                <a:solidFill>
                  <a:srgbClr val="0000FF"/>
                </a:solidFill>
                <a:ea typeface="黑体" pitchFamily="2" charset="-122"/>
                <a:sym typeface="Symbol" pitchFamily="18" charset="2"/>
              </a:rPr>
              <a:t>W</a:t>
            </a:r>
            <a:r>
              <a:rPr lang="en-US" altLang="zh-CN" dirty="0">
                <a:ea typeface="黑体" pitchFamily="2" charset="-122"/>
                <a:sym typeface="Symbol" pitchFamily="18" charset="2"/>
              </a:rPr>
              <a:t>)</a:t>
            </a:r>
            <a:r>
              <a:rPr lang="zh-CN" altLang="en-US" dirty="0">
                <a:ea typeface="黑体" pitchFamily="2" charset="-122"/>
                <a:sym typeface="Symbol" pitchFamily="18" charset="2"/>
              </a:rPr>
              <a:t>，</a:t>
            </a:r>
            <a:endParaRPr lang="zh-CN" altLang="en-US" sz="2400" dirty="0">
              <a:ea typeface="黑体" pitchFamily="2" charset="-122"/>
            </a:endParaRPr>
          </a:p>
          <a:p>
            <a:pPr eaLnBrk="1" hangingPunct="1">
              <a:lnSpc>
                <a:spcPct val="120000"/>
              </a:lnSpc>
            </a:pPr>
            <a:endParaRPr lang="zh-CN" altLang="en-US" dirty="0"/>
          </a:p>
        </p:txBody>
      </p:sp>
      <p:graphicFrame>
        <p:nvGraphicFramePr>
          <p:cNvPr id="56324" name="Object 4"/>
          <p:cNvGraphicFramePr>
            <a:graphicFrameLocks noGrp="1" noChangeAspect="1"/>
          </p:cNvGraphicFramePr>
          <p:nvPr>
            <p:ph sz="half" idx="2"/>
            <p:extLst>
              <p:ext uri="{D42A27DB-BD31-4B8C-83A1-F6EECF244321}">
                <p14:modId xmlns:p14="http://schemas.microsoft.com/office/powerpoint/2010/main" val="2015312021"/>
              </p:ext>
            </p:extLst>
          </p:nvPr>
        </p:nvGraphicFramePr>
        <p:xfrm>
          <a:off x="2306320" y="5290547"/>
          <a:ext cx="7058025" cy="889000"/>
        </p:xfrm>
        <a:graphic>
          <a:graphicData uri="http://schemas.openxmlformats.org/presentationml/2006/ole">
            <mc:AlternateContent xmlns:mc="http://schemas.openxmlformats.org/markup-compatibility/2006">
              <mc:Choice xmlns:v="urn:schemas-microsoft-com:vml" Requires="v">
                <p:oleObj name="公式" r:id="rId2" imgW="2222500" imgH="279400" progId="Equation.3">
                  <p:embed/>
                </p:oleObj>
              </mc:Choice>
              <mc:Fallback>
                <p:oleObj name="公式" r:id="rId2" imgW="2222500" imgH="279400" progId="Equation.3">
                  <p:embed/>
                  <p:pic>
                    <p:nvPicPr>
                      <p:cNvPr id="563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6320" y="5290547"/>
                        <a:ext cx="7058025" cy="889000"/>
                      </a:xfrm>
                      <a:prstGeom prst="rect">
                        <a:avLst/>
                      </a:prstGeom>
                      <a:solidFill>
                        <a:srgbClr val="FFC000"/>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74D3E8C8-EC08-F3CA-BF77-2883748FB83C}"/>
              </a:ext>
            </a:extLst>
          </p:cNvPr>
          <p:cNvSpPr>
            <a:spLocks noGrp="1"/>
          </p:cNvSpPr>
          <p:nvPr>
            <p:ph type="sldNum" sz="quarter" idx="11"/>
          </p:nvPr>
        </p:nvSpPr>
        <p:spPr/>
        <p:txBody>
          <a:bodyPr/>
          <a:lstStyle/>
          <a:p>
            <a:pPr>
              <a:defRPr/>
            </a:pPr>
            <a:fld id="{26C85EAC-6FAE-44AE-B9A5-47E3DC5EF4EF}" type="slidenum">
              <a:rPr lang="en-US" altLang="zh-CN" smtClean="0"/>
              <a:pPr>
                <a:defRPr/>
              </a:pPr>
              <a:t>2</a:t>
            </a:fld>
            <a:endParaRPr lang="en-US" altLang="zh-CN"/>
          </a:p>
        </p:txBody>
      </p:sp>
      <p:grpSp>
        <p:nvGrpSpPr>
          <p:cNvPr id="3" name="组合 2">
            <a:extLst>
              <a:ext uri="{FF2B5EF4-FFF2-40B4-BE49-F238E27FC236}">
                <a16:creationId xmlns:a16="http://schemas.microsoft.com/office/drawing/2014/main" id="{F2661EED-29F7-B778-7DD1-4ACAA6FEEA16}"/>
              </a:ext>
            </a:extLst>
          </p:cNvPr>
          <p:cNvGrpSpPr>
            <a:grpSpLocks/>
          </p:cNvGrpSpPr>
          <p:nvPr/>
        </p:nvGrpSpPr>
        <p:grpSpPr bwMode="auto">
          <a:xfrm>
            <a:off x="3287712" y="2138188"/>
            <a:ext cx="5616575" cy="2863800"/>
            <a:chOff x="1577975" y="1591292"/>
            <a:chExt cx="5543550" cy="3041458"/>
          </a:xfrm>
        </p:grpSpPr>
        <p:sp>
          <p:nvSpPr>
            <p:cNvPr id="5" name="Oval 4">
              <a:extLst>
                <a:ext uri="{FF2B5EF4-FFF2-40B4-BE49-F238E27FC236}">
                  <a16:creationId xmlns:a16="http://schemas.microsoft.com/office/drawing/2014/main" id="{1449EB56-FB45-4C42-6378-BD87C3A910D9}"/>
                </a:ext>
              </a:extLst>
            </p:cNvPr>
            <p:cNvSpPr>
              <a:spLocks noChangeArrowheads="1"/>
            </p:cNvSpPr>
            <p:nvPr/>
          </p:nvSpPr>
          <p:spPr bwMode="auto">
            <a:xfrm>
              <a:off x="1577975" y="2153774"/>
              <a:ext cx="1095918" cy="1719557"/>
            </a:xfrm>
            <a:prstGeom prst="ellipse">
              <a:avLst/>
            </a:prstGeom>
            <a:solidFill>
              <a:schemeClr val="bg1"/>
            </a:solidFill>
            <a:ln w="3810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Oval 5">
              <a:extLst>
                <a:ext uri="{FF2B5EF4-FFF2-40B4-BE49-F238E27FC236}">
                  <a16:creationId xmlns:a16="http://schemas.microsoft.com/office/drawing/2014/main" id="{FFEF0893-F3D0-C993-1D50-4A0D5E227EFE}"/>
                </a:ext>
              </a:extLst>
            </p:cNvPr>
            <p:cNvSpPr>
              <a:spLocks noChangeArrowheads="1"/>
            </p:cNvSpPr>
            <p:nvPr/>
          </p:nvSpPr>
          <p:spPr bwMode="auto">
            <a:xfrm>
              <a:off x="3769809" y="2153774"/>
              <a:ext cx="1095918" cy="1719557"/>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Oval 6">
              <a:extLst>
                <a:ext uri="{FF2B5EF4-FFF2-40B4-BE49-F238E27FC236}">
                  <a16:creationId xmlns:a16="http://schemas.microsoft.com/office/drawing/2014/main" id="{AE8C0B8D-1890-B844-792F-0FE87237DBF1}"/>
                </a:ext>
              </a:extLst>
            </p:cNvPr>
            <p:cNvSpPr>
              <a:spLocks noChangeArrowheads="1"/>
            </p:cNvSpPr>
            <p:nvPr/>
          </p:nvSpPr>
          <p:spPr bwMode="auto">
            <a:xfrm>
              <a:off x="6025608" y="2153774"/>
              <a:ext cx="1095917" cy="1719557"/>
            </a:xfrm>
            <a:prstGeom prst="ellipse">
              <a:avLst/>
            </a:prstGeom>
            <a:solidFill>
              <a:schemeClr val="bg1"/>
            </a:solidFill>
            <a:ln w="38100">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rgbClr val="3333FF"/>
                </a:solidFill>
              </a:endParaRPr>
            </a:p>
          </p:txBody>
        </p:sp>
        <p:sp>
          <p:nvSpPr>
            <p:cNvPr id="8" name="Oval 8">
              <a:extLst>
                <a:ext uri="{FF2B5EF4-FFF2-40B4-BE49-F238E27FC236}">
                  <a16:creationId xmlns:a16="http://schemas.microsoft.com/office/drawing/2014/main" id="{91165A62-7575-6458-5452-0E892D35CD79}"/>
                </a:ext>
              </a:extLst>
            </p:cNvPr>
            <p:cNvSpPr>
              <a:spLocks noChangeArrowheads="1"/>
            </p:cNvSpPr>
            <p:nvPr/>
          </p:nvSpPr>
          <p:spPr bwMode="auto">
            <a:xfrm>
              <a:off x="2028567" y="2479455"/>
              <a:ext cx="129349" cy="9319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9">
              <a:extLst>
                <a:ext uri="{FF2B5EF4-FFF2-40B4-BE49-F238E27FC236}">
                  <a16:creationId xmlns:a16="http://schemas.microsoft.com/office/drawing/2014/main" id="{C3E459E8-FEFD-02C2-1914-4AB4F02D3E0B}"/>
                </a:ext>
              </a:extLst>
            </p:cNvPr>
            <p:cNvSpPr>
              <a:spLocks noChangeArrowheads="1"/>
            </p:cNvSpPr>
            <p:nvPr/>
          </p:nvSpPr>
          <p:spPr bwMode="auto">
            <a:xfrm>
              <a:off x="2028567" y="3221968"/>
              <a:ext cx="129349" cy="93199"/>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10">
              <a:extLst>
                <a:ext uri="{FF2B5EF4-FFF2-40B4-BE49-F238E27FC236}">
                  <a16:creationId xmlns:a16="http://schemas.microsoft.com/office/drawing/2014/main" id="{3D766D1C-01AF-0A2E-AC72-EFFEF73880CC}"/>
                </a:ext>
              </a:extLst>
            </p:cNvPr>
            <p:cNvSpPr>
              <a:spLocks noChangeArrowheads="1"/>
            </p:cNvSpPr>
            <p:nvPr/>
          </p:nvSpPr>
          <p:spPr bwMode="auto">
            <a:xfrm>
              <a:off x="4220401" y="2479455"/>
              <a:ext cx="129349" cy="93198"/>
            </a:xfrm>
            <a:prstGeom prst="ellipse">
              <a:avLst/>
            </a:prstGeom>
            <a:solidFill>
              <a:srgbClr val="FF0000"/>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11">
              <a:extLst>
                <a:ext uri="{FF2B5EF4-FFF2-40B4-BE49-F238E27FC236}">
                  <a16:creationId xmlns:a16="http://schemas.microsoft.com/office/drawing/2014/main" id="{6A2BFF0D-12F0-D24A-5204-8ADF91F59C2C}"/>
                </a:ext>
              </a:extLst>
            </p:cNvPr>
            <p:cNvSpPr>
              <a:spLocks noChangeArrowheads="1"/>
            </p:cNvSpPr>
            <p:nvPr/>
          </p:nvSpPr>
          <p:spPr bwMode="auto">
            <a:xfrm>
              <a:off x="4220401" y="2897311"/>
              <a:ext cx="129349" cy="93198"/>
            </a:xfrm>
            <a:prstGeom prst="ellipse">
              <a:avLst/>
            </a:prstGeom>
            <a:solidFill>
              <a:srgbClr val="FF0000"/>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2">
              <a:extLst>
                <a:ext uri="{FF2B5EF4-FFF2-40B4-BE49-F238E27FC236}">
                  <a16:creationId xmlns:a16="http://schemas.microsoft.com/office/drawing/2014/main" id="{30FEAB16-1D41-2647-77DF-F014A3F14A58}"/>
                </a:ext>
              </a:extLst>
            </p:cNvPr>
            <p:cNvSpPr>
              <a:spLocks noChangeArrowheads="1"/>
            </p:cNvSpPr>
            <p:nvPr/>
          </p:nvSpPr>
          <p:spPr bwMode="auto">
            <a:xfrm>
              <a:off x="4220401" y="3408364"/>
              <a:ext cx="129349" cy="93199"/>
            </a:xfrm>
            <a:prstGeom prst="ellipse">
              <a:avLst/>
            </a:prstGeom>
            <a:solidFill>
              <a:srgbClr val="FF0000"/>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13">
              <a:extLst>
                <a:ext uri="{FF2B5EF4-FFF2-40B4-BE49-F238E27FC236}">
                  <a16:creationId xmlns:a16="http://schemas.microsoft.com/office/drawing/2014/main" id="{E4FCF8B1-DF19-DD50-6F8B-BA583B1B73CC}"/>
                </a:ext>
              </a:extLst>
            </p:cNvPr>
            <p:cNvSpPr>
              <a:spLocks noChangeArrowheads="1"/>
            </p:cNvSpPr>
            <p:nvPr/>
          </p:nvSpPr>
          <p:spPr bwMode="auto">
            <a:xfrm>
              <a:off x="6541584" y="2664827"/>
              <a:ext cx="129350" cy="93199"/>
            </a:xfrm>
            <a:prstGeom prst="ellipse">
              <a:avLst/>
            </a:prstGeom>
            <a:solidFill>
              <a:srgbClr val="3333FF"/>
            </a:solidFill>
            <a:ln w="2857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4">
              <a:extLst>
                <a:ext uri="{FF2B5EF4-FFF2-40B4-BE49-F238E27FC236}">
                  <a16:creationId xmlns:a16="http://schemas.microsoft.com/office/drawing/2014/main" id="{998855B4-AE2A-B551-3DC1-1A9DC10170C9}"/>
                </a:ext>
              </a:extLst>
            </p:cNvPr>
            <p:cNvSpPr>
              <a:spLocks noChangeArrowheads="1"/>
            </p:cNvSpPr>
            <p:nvPr/>
          </p:nvSpPr>
          <p:spPr bwMode="auto">
            <a:xfrm>
              <a:off x="6541584" y="3269079"/>
              <a:ext cx="129350" cy="93199"/>
            </a:xfrm>
            <a:prstGeom prst="ellipse">
              <a:avLst/>
            </a:prstGeom>
            <a:solidFill>
              <a:srgbClr val="3333FF"/>
            </a:solidFill>
            <a:ln w="2857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5">
              <a:extLst>
                <a:ext uri="{FF2B5EF4-FFF2-40B4-BE49-F238E27FC236}">
                  <a16:creationId xmlns:a16="http://schemas.microsoft.com/office/drawing/2014/main" id="{05DE7397-7A18-8F7C-9025-8B0370EE0212}"/>
                </a:ext>
              </a:extLst>
            </p:cNvPr>
            <p:cNvSpPr txBox="1">
              <a:spLocks noChangeArrowheads="1"/>
            </p:cNvSpPr>
            <p:nvPr/>
          </p:nvSpPr>
          <p:spPr bwMode="auto">
            <a:xfrm>
              <a:off x="1642831" y="2335122"/>
              <a:ext cx="555428"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u</a:t>
              </a:r>
              <a:r>
                <a:rPr lang="en-US" altLang="zh-CN" sz="2000" b="1" i="0" baseline="-25000" dirty="0">
                  <a:latin typeface="Symbol" pitchFamily="18" charset="2"/>
                </a:rPr>
                <a:t>1</a:t>
              </a:r>
            </a:p>
          </p:txBody>
        </p:sp>
        <p:sp>
          <p:nvSpPr>
            <p:cNvPr id="16" name="Text Box 16">
              <a:extLst>
                <a:ext uri="{FF2B5EF4-FFF2-40B4-BE49-F238E27FC236}">
                  <a16:creationId xmlns:a16="http://schemas.microsoft.com/office/drawing/2014/main" id="{8CC785A1-36E7-3875-2736-9F023777B399}"/>
                </a:ext>
              </a:extLst>
            </p:cNvPr>
            <p:cNvSpPr txBox="1">
              <a:spLocks noChangeArrowheads="1"/>
            </p:cNvSpPr>
            <p:nvPr/>
          </p:nvSpPr>
          <p:spPr bwMode="auto">
            <a:xfrm>
              <a:off x="1629685" y="3099872"/>
              <a:ext cx="555428"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u</a:t>
              </a:r>
              <a:r>
                <a:rPr lang="en-US" altLang="zh-CN" sz="2000" b="1" i="0" baseline="-25000" dirty="0">
                  <a:latin typeface="Symbol" pitchFamily="18" charset="2"/>
                </a:rPr>
                <a:t>2</a:t>
              </a:r>
            </a:p>
          </p:txBody>
        </p:sp>
        <p:sp>
          <p:nvSpPr>
            <p:cNvPr id="17" name="Text Box 17">
              <a:extLst>
                <a:ext uri="{FF2B5EF4-FFF2-40B4-BE49-F238E27FC236}">
                  <a16:creationId xmlns:a16="http://schemas.microsoft.com/office/drawing/2014/main" id="{BC8CE55E-EBAB-4BC3-39D2-5A61F4D95384}"/>
                </a:ext>
              </a:extLst>
            </p:cNvPr>
            <p:cNvSpPr txBox="1">
              <a:spLocks noChangeArrowheads="1"/>
            </p:cNvSpPr>
            <p:nvPr/>
          </p:nvSpPr>
          <p:spPr bwMode="auto">
            <a:xfrm>
              <a:off x="4098900" y="3421031"/>
              <a:ext cx="890497"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v</a:t>
              </a:r>
              <a:r>
                <a:rPr lang="en-US" altLang="zh-CN" sz="2000" b="1" i="0" baseline="-25000" dirty="0">
                  <a:latin typeface="Symbol" pitchFamily="18" charset="2"/>
                </a:rPr>
                <a:t>3</a:t>
              </a:r>
            </a:p>
          </p:txBody>
        </p:sp>
        <p:sp>
          <p:nvSpPr>
            <p:cNvPr id="18" name="Text Box 18">
              <a:extLst>
                <a:ext uri="{FF2B5EF4-FFF2-40B4-BE49-F238E27FC236}">
                  <a16:creationId xmlns:a16="http://schemas.microsoft.com/office/drawing/2014/main" id="{49CDD233-1607-1098-7F9C-AC38DC20F7D0}"/>
                </a:ext>
              </a:extLst>
            </p:cNvPr>
            <p:cNvSpPr txBox="1">
              <a:spLocks noChangeArrowheads="1"/>
            </p:cNvSpPr>
            <p:nvPr/>
          </p:nvSpPr>
          <p:spPr bwMode="auto">
            <a:xfrm>
              <a:off x="3761838" y="2623231"/>
              <a:ext cx="595249"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v</a:t>
              </a:r>
              <a:r>
                <a:rPr lang="en-US" altLang="zh-CN" sz="2000" b="1" i="0" baseline="-25000" dirty="0">
                  <a:latin typeface="Symbol" pitchFamily="18" charset="2"/>
                </a:rPr>
                <a:t>2</a:t>
              </a:r>
            </a:p>
          </p:txBody>
        </p:sp>
        <p:sp>
          <p:nvSpPr>
            <p:cNvPr id="19" name="Text Box 19">
              <a:extLst>
                <a:ext uri="{FF2B5EF4-FFF2-40B4-BE49-F238E27FC236}">
                  <a16:creationId xmlns:a16="http://schemas.microsoft.com/office/drawing/2014/main" id="{1F88F7ED-26E1-926F-6163-B7D4F0DD25A7}"/>
                </a:ext>
              </a:extLst>
            </p:cNvPr>
            <p:cNvSpPr txBox="1">
              <a:spLocks noChangeArrowheads="1"/>
            </p:cNvSpPr>
            <p:nvPr/>
          </p:nvSpPr>
          <p:spPr bwMode="auto">
            <a:xfrm>
              <a:off x="4092473" y="2087906"/>
              <a:ext cx="450590"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v</a:t>
              </a:r>
              <a:r>
                <a:rPr lang="en-US" altLang="zh-CN" sz="2000" b="1" i="0" baseline="-25000" dirty="0">
                  <a:latin typeface="Symbol" pitchFamily="18" charset="2"/>
                </a:rPr>
                <a:t>1</a:t>
              </a:r>
            </a:p>
          </p:txBody>
        </p:sp>
        <p:sp>
          <p:nvSpPr>
            <p:cNvPr id="20" name="Text Box 20">
              <a:extLst>
                <a:ext uri="{FF2B5EF4-FFF2-40B4-BE49-F238E27FC236}">
                  <a16:creationId xmlns:a16="http://schemas.microsoft.com/office/drawing/2014/main" id="{9C88A9D0-ED62-B5E4-81D0-DE12BCDEDDBE}"/>
                </a:ext>
              </a:extLst>
            </p:cNvPr>
            <p:cNvSpPr txBox="1">
              <a:spLocks noChangeArrowheads="1"/>
            </p:cNvSpPr>
            <p:nvPr/>
          </p:nvSpPr>
          <p:spPr bwMode="auto">
            <a:xfrm>
              <a:off x="6320422" y="2164380"/>
              <a:ext cx="773254"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w</a:t>
              </a:r>
              <a:r>
                <a:rPr lang="en-US" altLang="zh-CN" sz="2000" b="1" i="0" baseline="-25000" dirty="0">
                  <a:latin typeface="Symbol" pitchFamily="18" charset="2"/>
                </a:rPr>
                <a:t>1</a:t>
              </a:r>
            </a:p>
          </p:txBody>
        </p:sp>
        <p:sp>
          <p:nvSpPr>
            <p:cNvPr id="21" name="Text Box 21">
              <a:extLst>
                <a:ext uri="{FF2B5EF4-FFF2-40B4-BE49-F238E27FC236}">
                  <a16:creationId xmlns:a16="http://schemas.microsoft.com/office/drawing/2014/main" id="{53D8B08B-DE2A-D416-FBDD-9F676BC9A73A}"/>
                </a:ext>
              </a:extLst>
            </p:cNvPr>
            <p:cNvSpPr txBox="1">
              <a:spLocks noChangeArrowheads="1"/>
            </p:cNvSpPr>
            <p:nvPr/>
          </p:nvSpPr>
          <p:spPr bwMode="auto">
            <a:xfrm>
              <a:off x="6391494" y="2852657"/>
              <a:ext cx="707869" cy="42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w</a:t>
              </a:r>
              <a:r>
                <a:rPr lang="en-US" altLang="zh-CN" sz="2000" b="1" i="0" baseline="-25000" dirty="0">
                  <a:latin typeface="Symbol" pitchFamily="18" charset="2"/>
                </a:rPr>
                <a:t>2</a:t>
              </a:r>
            </a:p>
          </p:txBody>
        </p:sp>
        <p:cxnSp>
          <p:nvCxnSpPr>
            <p:cNvPr id="22" name="AutoShape 23">
              <a:extLst>
                <a:ext uri="{FF2B5EF4-FFF2-40B4-BE49-F238E27FC236}">
                  <a16:creationId xmlns:a16="http://schemas.microsoft.com/office/drawing/2014/main" id="{AF396FF5-384E-52F4-CAD0-57EBEB4402CB}"/>
                </a:ext>
              </a:extLst>
            </p:cNvPr>
            <p:cNvCxnSpPr>
              <a:cxnSpLocks noChangeShapeType="1"/>
            </p:cNvCxnSpPr>
            <p:nvPr/>
          </p:nvCxnSpPr>
          <p:spPr bwMode="auto">
            <a:xfrm>
              <a:off x="2092530" y="2525542"/>
              <a:ext cx="2115078" cy="23556"/>
            </a:xfrm>
            <a:prstGeom prst="straightConnector1">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5">
              <a:extLst>
                <a:ext uri="{FF2B5EF4-FFF2-40B4-BE49-F238E27FC236}">
                  <a16:creationId xmlns:a16="http://schemas.microsoft.com/office/drawing/2014/main" id="{1256C9CE-997E-3E06-953C-AD0EEDC9F873}"/>
                </a:ext>
              </a:extLst>
            </p:cNvPr>
            <p:cNvCxnSpPr>
              <a:cxnSpLocks noChangeShapeType="1"/>
              <a:endCxn id="12" idx="2"/>
            </p:cNvCxnSpPr>
            <p:nvPr/>
          </p:nvCxnSpPr>
          <p:spPr bwMode="auto">
            <a:xfrm>
              <a:off x="2028567" y="3315166"/>
              <a:ext cx="2179041" cy="140309"/>
            </a:xfrm>
            <a:prstGeom prst="curvedConnector3">
              <a:avLst>
                <a:gd name="adj1" fmla="val 50292"/>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Line 27">
              <a:extLst>
                <a:ext uri="{FF2B5EF4-FFF2-40B4-BE49-F238E27FC236}">
                  <a16:creationId xmlns:a16="http://schemas.microsoft.com/office/drawing/2014/main" id="{E6DEB8D7-1194-3445-905A-F0E7FF63B19D}"/>
                </a:ext>
              </a:extLst>
            </p:cNvPr>
            <p:cNvSpPr>
              <a:spLocks noChangeShapeType="1"/>
            </p:cNvSpPr>
            <p:nvPr/>
          </p:nvSpPr>
          <p:spPr bwMode="auto">
            <a:xfrm flipV="1">
              <a:off x="4349750" y="2758025"/>
              <a:ext cx="2257220" cy="18537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8">
              <a:extLst>
                <a:ext uri="{FF2B5EF4-FFF2-40B4-BE49-F238E27FC236}">
                  <a16:creationId xmlns:a16="http://schemas.microsoft.com/office/drawing/2014/main" id="{CBC26D77-4999-9CC2-669C-2342614CF78A}"/>
                </a:ext>
              </a:extLst>
            </p:cNvPr>
            <p:cNvSpPr>
              <a:spLocks noChangeShapeType="1"/>
            </p:cNvSpPr>
            <p:nvPr/>
          </p:nvSpPr>
          <p:spPr bwMode="auto">
            <a:xfrm flipV="1">
              <a:off x="4349750" y="3362277"/>
              <a:ext cx="2191834" cy="9217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6" name="AutoShape 29">
              <a:extLst>
                <a:ext uri="{FF2B5EF4-FFF2-40B4-BE49-F238E27FC236}">
                  <a16:creationId xmlns:a16="http://schemas.microsoft.com/office/drawing/2014/main" id="{053334D7-B524-E3B2-DFDF-0A920DDB0300}"/>
                </a:ext>
              </a:extLst>
            </p:cNvPr>
            <p:cNvCxnSpPr>
              <a:cxnSpLocks noChangeShapeType="1"/>
            </p:cNvCxnSpPr>
            <p:nvPr/>
          </p:nvCxnSpPr>
          <p:spPr bwMode="auto">
            <a:xfrm rot="16200000" flipH="1">
              <a:off x="4361470" y="1111612"/>
              <a:ext cx="60425" cy="4467533"/>
            </a:xfrm>
            <a:prstGeom prst="curvedConnector3">
              <a:avLst>
                <a:gd name="adj1" fmla="val 1305083"/>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Rectangle 31">
              <a:extLst>
                <a:ext uri="{FF2B5EF4-FFF2-40B4-BE49-F238E27FC236}">
                  <a16:creationId xmlns:a16="http://schemas.microsoft.com/office/drawing/2014/main" id="{F01B6A6A-3450-13A0-85BE-DC2D56CBAF23}"/>
                </a:ext>
              </a:extLst>
            </p:cNvPr>
            <p:cNvSpPr>
              <a:spLocks noChangeArrowheads="1"/>
            </p:cNvSpPr>
            <p:nvPr/>
          </p:nvSpPr>
          <p:spPr bwMode="auto">
            <a:xfrm>
              <a:off x="5387711" y="1622382"/>
              <a:ext cx="438575" cy="555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solidFill>
                    <a:schemeClr val="accent6"/>
                  </a:solidFill>
                  <a:cs typeface="Arial" charset="0"/>
                </a:rPr>
                <a:t>R</a:t>
              </a:r>
              <a:endParaRPr lang="en-US" altLang="zh-CN" sz="2800" b="1" dirty="0">
                <a:solidFill>
                  <a:schemeClr val="accent6"/>
                </a:solidFill>
                <a:cs typeface="Arial" charset="0"/>
              </a:endParaRPr>
            </a:p>
          </p:txBody>
        </p:sp>
        <p:sp>
          <p:nvSpPr>
            <p:cNvPr id="28" name="Rectangle 32">
              <a:extLst>
                <a:ext uri="{FF2B5EF4-FFF2-40B4-BE49-F238E27FC236}">
                  <a16:creationId xmlns:a16="http://schemas.microsoft.com/office/drawing/2014/main" id="{D170AAD5-5448-305D-AED2-0BF73B7C0996}"/>
                </a:ext>
              </a:extLst>
            </p:cNvPr>
            <p:cNvSpPr>
              <a:spLocks noChangeArrowheads="1"/>
            </p:cNvSpPr>
            <p:nvPr/>
          </p:nvSpPr>
          <p:spPr bwMode="auto">
            <a:xfrm>
              <a:off x="3007059" y="1591292"/>
              <a:ext cx="457562" cy="555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solidFill>
                    <a:srgbClr val="CC00FF"/>
                  </a:solidFill>
                  <a:cs typeface="Arial" charset="0"/>
                </a:rPr>
                <a:t>Q</a:t>
              </a:r>
              <a:endParaRPr lang="en-US" altLang="zh-CN" sz="2800" b="1" dirty="0">
                <a:solidFill>
                  <a:srgbClr val="CC00FF"/>
                </a:solidFill>
                <a:cs typeface="Arial" charset="0"/>
              </a:endParaRPr>
            </a:p>
          </p:txBody>
        </p:sp>
        <p:sp>
          <p:nvSpPr>
            <p:cNvPr id="29" name="Rectangle 31">
              <a:extLst>
                <a:ext uri="{FF2B5EF4-FFF2-40B4-BE49-F238E27FC236}">
                  <a16:creationId xmlns:a16="http://schemas.microsoft.com/office/drawing/2014/main" id="{2FB18106-0EF9-76F8-CA93-FC2D74613125}"/>
                </a:ext>
              </a:extLst>
            </p:cNvPr>
            <p:cNvSpPr>
              <a:spLocks noChangeArrowheads="1"/>
            </p:cNvSpPr>
            <p:nvPr/>
          </p:nvSpPr>
          <p:spPr bwMode="auto">
            <a:xfrm>
              <a:off x="3769809" y="4077072"/>
              <a:ext cx="1095918" cy="555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CC00FF"/>
                  </a:solidFill>
                  <a:cs typeface="Arial" charset="0"/>
                </a:rPr>
                <a:t>Q</a:t>
              </a:r>
              <a:r>
                <a:rPr lang="en-US" altLang="zh-CN" sz="2800" b="1" dirty="0">
                  <a:solidFill>
                    <a:srgbClr val="3333FF"/>
                  </a:solidFill>
                </a:rPr>
                <a:t> </a:t>
              </a:r>
              <a:r>
                <a:rPr lang="en-US" altLang="zh-CN" sz="2800" b="1" i="0" dirty="0">
                  <a:solidFill>
                    <a:srgbClr val="FF0000"/>
                  </a:solidFill>
                </a:rPr>
                <a:t>∘</a:t>
              </a:r>
              <a:r>
                <a:rPr lang="en-US" altLang="zh-CN" sz="2800" b="1" dirty="0">
                  <a:solidFill>
                    <a:srgbClr val="FF0000"/>
                  </a:solidFill>
                </a:rPr>
                <a:t> </a:t>
              </a:r>
              <a:r>
                <a:rPr lang="en-US" altLang="zh-CN" sz="2800" b="1" i="1" dirty="0">
                  <a:solidFill>
                    <a:schemeClr val="accent6"/>
                  </a:solidFill>
                  <a:cs typeface="Arial" charset="0"/>
                </a:rPr>
                <a:t>R</a:t>
              </a:r>
            </a:p>
          </p:txBody>
        </p:sp>
      </p:grpSp>
      <p:sp>
        <p:nvSpPr>
          <p:cNvPr id="30" name="Text Box 15">
            <a:extLst>
              <a:ext uri="{FF2B5EF4-FFF2-40B4-BE49-F238E27FC236}">
                <a16:creationId xmlns:a16="http://schemas.microsoft.com/office/drawing/2014/main" id="{1116D84F-AC52-8647-0F33-5BD3ECF258C7}"/>
              </a:ext>
            </a:extLst>
          </p:cNvPr>
          <p:cNvSpPr txBox="1">
            <a:spLocks noChangeArrowheads="1"/>
          </p:cNvSpPr>
          <p:nvPr/>
        </p:nvSpPr>
        <p:spPr bwMode="auto">
          <a:xfrm>
            <a:off x="4735621" y="2596647"/>
            <a:ext cx="562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q</a:t>
            </a:r>
            <a:r>
              <a:rPr lang="en-US" altLang="zh-CN" sz="2000" b="1" i="0" baseline="-25000" dirty="0">
                <a:latin typeface="Symbol" pitchFamily="18" charset="2"/>
              </a:rPr>
              <a:t>11</a:t>
            </a:r>
          </a:p>
        </p:txBody>
      </p:sp>
      <p:sp>
        <p:nvSpPr>
          <p:cNvPr id="31" name="Text Box 15">
            <a:extLst>
              <a:ext uri="{FF2B5EF4-FFF2-40B4-BE49-F238E27FC236}">
                <a16:creationId xmlns:a16="http://schemas.microsoft.com/office/drawing/2014/main" id="{46F57799-5F5A-D820-D730-92E8201B2EA4}"/>
              </a:ext>
            </a:extLst>
          </p:cNvPr>
          <p:cNvSpPr txBox="1">
            <a:spLocks noChangeArrowheads="1"/>
          </p:cNvSpPr>
          <p:nvPr/>
        </p:nvSpPr>
        <p:spPr bwMode="auto">
          <a:xfrm>
            <a:off x="4784897" y="3365597"/>
            <a:ext cx="562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q</a:t>
            </a:r>
            <a:r>
              <a:rPr lang="en-US" altLang="zh-CN" sz="2000" b="1" i="0" baseline="-25000" dirty="0">
                <a:latin typeface="Symbol" pitchFamily="18" charset="2"/>
              </a:rPr>
              <a:t>23</a:t>
            </a:r>
          </a:p>
        </p:txBody>
      </p:sp>
      <p:sp>
        <p:nvSpPr>
          <p:cNvPr id="32" name="Text Box 15">
            <a:extLst>
              <a:ext uri="{FF2B5EF4-FFF2-40B4-BE49-F238E27FC236}">
                <a16:creationId xmlns:a16="http://schemas.microsoft.com/office/drawing/2014/main" id="{AA401F41-2286-19D7-525A-1910F37F5871}"/>
              </a:ext>
            </a:extLst>
          </p:cNvPr>
          <p:cNvSpPr txBox="1">
            <a:spLocks noChangeArrowheads="1"/>
          </p:cNvSpPr>
          <p:nvPr/>
        </p:nvSpPr>
        <p:spPr bwMode="auto">
          <a:xfrm>
            <a:off x="7064737" y="2826578"/>
            <a:ext cx="562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r</a:t>
            </a:r>
            <a:r>
              <a:rPr lang="en-US" altLang="zh-CN" sz="2000" b="1" i="0" baseline="-25000" dirty="0">
                <a:latin typeface="Symbol" pitchFamily="18" charset="2"/>
              </a:rPr>
              <a:t>21</a:t>
            </a:r>
          </a:p>
        </p:txBody>
      </p:sp>
      <p:sp>
        <p:nvSpPr>
          <p:cNvPr id="33" name="Text Box 15">
            <a:extLst>
              <a:ext uri="{FF2B5EF4-FFF2-40B4-BE49-F238E27FC236}">
                <a16:creationId xmlns:a16="http://schemas.microsoft.com/office/drawing/2014/main" id="{7803B89E-82BB-41BB-110D-4E8F117B490D}"/>
              </a:ext>
            </a:extLst>
          </p:cNvPr>
          <p:cNvSpPr txBox="1">
            <a:spLocks noChangeArrowheads="1"/>
          </p:cNvSpPr>
          <p:nvPr/>
        </p:nvSpPr>
        <p:spPr bwMode="auto">
          <a:xfrm>
            <a:off x="7045836" y="3405615"/>
            <a:ext cx="562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50000"/>
              </a:spcBef>
            </a:pPr>
            <a:r>
              <a:rPr lang="en-US" altLang="zh-CN" sz="2000" b="1" dirty="0">
                <a:cs typeface="Arial" charset="0"/>
              </a:rPr>
              <a:t>r</a:t>
            </a:r>
            <a:r>
              <a:rPr lang="en-US" altLang="zh-CN" sz="2000" b="1" i="0" baseline="-25000" dirty="0">
                <a:latin typeface="Symbol" pitchFamily="18" charset="2"/>
              </a:rPr>
              <a:t>32</a:t>
            </a:r>
          </a:p>
        </p:txBody>
      </p:sp>
    </p:spTree>
    <p:extLst>
      <p:ext uri="{BB962C8B-B14F-4D97-AF65-F5344CB8AC3E}">
        <p14:creationId xmlns:p14="http://schemas.microsoft.com/office/powerpoint/2010/main" val="3554909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981200" y="457201"/>
            <a:ext cx="8229600" cy="1027113"/>
          </a:xfrm>
        </p:spPr>
        <p:txBody>
          <a:bodyPr/>
          <a:lstStyle/>
          <a:p>
            <a:pPr algn="ctr" eaLnBrk="1" hangingPunct="1"/>
            <a:r>
              <a:rPr lang="en-US" altLang="zh-CN" sz="4800" dirty="0">
                <a:solidFill>
                  <a:srgbClr val="008000"/>
                </a:solidFill>
                <a:latin typeface="黑体" pitchFamily="2" charset="-122"/>
                <a:ea typeface="黑体" pitchFamily="2" charset="-122"/>
              </a:rPr>
              <a:t>F</a:t>
            </a:r>
            <a:r>
              <a:rPr lang="zh-CN" altLang="en-US" sz="4800" dirty="0">
                <a:solidFill>
                  <a:srgbClr val="008000"/>
                </a:solidFill>
                <a:latin typeface="黑体" pitchFamily="2" charset="-122"/>
                <a:ea typeface="黑体" pitchFamily="2" charset="-122"/>
              </a:rPr>
              <a:t>关系合成的性质</a:t>
            </a:r>
            <a:r>
              <a:rPr lang="en-US" altLang="zh-CN" sz="4800" dirty="0">
                <a:solidFill>
                  <a:srgbClr val="008000"/>
                </a:solidFill>
                <a:ea typeface="黑体" pitchFamily="2" charset="-122"/>
              </a:rPr>
              <a:t>(4)</a:t>
            </a:r>
          </a:p>
        </p:txBody>
      </p:sp>
      <p:sp>
        <p:nvSpPr>
          <p:cNvPr id="65539" name="Rectangle 3"/>
          <p:cNvSpPr>
            <a:spLocks noGrp="1" noChangeArrowheads="1"/>
          </p:cNvSpPr>
          <p:nvPr>
            <p:ph type="body" sz="half" idx="1"/>
          </p:nvPr>
        </p:nvSpPr>
        <p:spPr>
          <a:xfrm>
            <a:off x="1415480" y="1628775"/>
            <a:ext cx="8218487" cy="3024188"/>
          </a:xfrm>
        </p:spPr>
        <p:txBody>
          <a:bodyPr/>
          <a:lstStyle/>
          <a:p>
            <a:pPr eaLnBrk="1" hangingPunct="1">
              <a:buFont typeface="Wingdings" pitchFamily="2" charset="2"/>
              <a:buNone/>
            </a:pPr>
            <a:r>
              <a:rPr kumimoji="1" lang="en-US" altLang="zh-CN" b="1" dirty="0">
                <a:solidFill>
                  <a:srgbClr val="FF0000"/>
                </a:solidFill>
                <a:latin typeface="Times New Roman" pitchFamily="18" charset="0"/>
              </a:rPr>
              <a:t>[</a:t>
            </a:r>
            <a:r>
              <a:rPr kumimoji="1" lang="zh-CN" altLang="en-US" b="1" dirty="0">
                <a:solidFill>
                  <a:srgbClr val="FF0000"/>
                </a:solidFill>
                <a:latin typeface="Times New Roman" pitchFamily="18" charset="0"/>
              </a:rPr>
              <a:t>性质</a:t>
            </a:r>
            <a:r>
              <a:rPr kumimoji="1" lang="en-US" altLang="zh-CN" b="1" dirty="0">
                <a:solidFill>
                  <a:srgbClr val="FF0000"/>
                </a:solidFill>
                <a:latin typeface="Times New Roman" pitchFamily="18" charset="0"/>
              </a:rPr>
              <a:t>5]</a:t>
            </a:r>
            <a:r>
              <a:rPr kumimoji="1" lang="zh-CN" altLang="en-US" b="1" dirty="0">
                <a:solidFill>
                  <a:srgbClr val="FF0000"/>
                </a:solidFill>
                <a:latin typeface="Times New Roman" pitchFamily="18" charset="0"/>
              </a:rPr>
              <a:t>： </a:t>
            </a:r>
            <a:r>
              <a:rPr kumimoji="1" lang="en-US" altLang="zh-CN" b="1" dirty="0">
                <a:solidFill>
                  <a:srgbClr val="FF0000"/>
                </a:solidFill>
                <a:latin typeface="Times New Roman" pitchFamily="18" charset="0"/>
                <a:sym typeface="Symbol" pitchFamily="18" charset="2"/>
              </a:rPr>
              <a:t>( </a:t>
            </a:r>
            <a:r>
              <a:rPr kumimoji="1" lang="en-US" altLang="zh-CN" b="1" i="1" dirty="0">
                <a:solidFill>
                  <a:srgbClr val="FF0000"/>
                </a:solidFill>
                <a:latin typeface="Times New Roman" pitchFamily="18" charset="0"/>
                <a:sym typeface="Symbol" pitchFamily="18" charset="2"/>
              </a:rPr>
              <a:t>Q </a:t>
            </a:r>
            <a:r>
              <a:rPr lang="en-US" altLang="zh-CN" sz="2800" b="1" dirty="0">
                <a:solidFill>
                  <a:srgbClr val="FF0000"/>
                </a:solidFill>
              </a:rPr>
              <a:t>◦</a:t>
            </a:r>
            <a:r>
              <a:rPr kumimoji="1" lang="en-US" altLang="zh-CN" sz="2800" dirty="0">
                <a:solidFill>
                  <a:srgbClr val="FF0000"/>
                </a:solidFill>
              </a:rPr>
              <a:t> </a:t>
            </a:r>
            <a:r>
              <a:rPr kumimoji="1" lang="en-US" altLang="zh-CN" b="1" i="1" dirty="0">
                <a:solidFill>
                  <a:srgbClr val="FF0000"/>
                </a:solidFill>
                <a:latin typeface="Times New Roman" pitchFamily="18" charset="0"/>
              </a:rPr>
              <a:t>R</a:t>
            </a:r>
            <a:r>
              <a:rPr kumimoji="1" lang="en-US" altLang="zh-CN" b="1" dirty="0">
                <a:solidFill>
                  <a:srgbClr val="FF0000"/>
                </a:solidFill>
                <a:latin typeface="Times New Roman" pitchFamily="18" charset="0"/>
                <a:sym typeface="Symbol" pitchFamily="18" charset="2"/>
              </a:rPr>
              <a:t> )</a:t>
            </a:r>
            <a:r>
              <a:rPr kumimoji="1" lang="en-US" altLang="zh-CN" b="1" i="1" baseline="-25000" dirty="0">
                <a:solidFill>
                  <a:srgbClr val="FF0000"/>
                </a:solidFill>
                <a:latin typeface="Times New Roman" pitchFamily="18" charset="0"/>
                <a:sym typeface="Symbol" pitchFamily="18" charset="2"/>
              </a:rPr>
              <a:t></a:t>
            </a:r>
            <a:r>
              <a:rPr kumimoji="1" lang="en-US" altLang="zh-CN" b="1" dirty="0">
                <a:solidFill>
                  <a:srgbClr val="FF0000"/>
                </a:solidFill>
                <a:latin typeface="Times New Roman" pitchFamily="18" charset="0"/>
              </a:rPr>
              <a:t> </a:t>
            </a:r>
            <a:r>
              <a:rPr kumimoji="1" lang="en-US" altLang="zh-CN" b="1" dirty="0">
                <a:solidFill>
                  <a:srgbClr val="FF0000"/>
                </a:solidFill>
                <a:latin typeface="Times New Roman" pitchFamily="18" charset="0"/>
                <a:sym typeface="Symbol" pitchFamily="18" charset="2"/>
              </a:rPr>
              <a:t>= </a:t>
            </a:r>
            <a:r>
              <a:rPr kumimoji="1" lang="en-US" altLang="zh-CN" b="1" i="1" dirty="0">
                <a:solidFill>
                  <a:srgbClr val="FF0000"/>
                </a:solidFill>
                <a:latin typeface="Times New Roman" pitchFamily="18" charset="0"/>
                <a:sym typeface="Symbol" pitchFamily="18" charset="2"/>
              </a:rPr>
              <a:t>Q</a:t>
            </a:r>
            <a:r>
              <a:rPr kumimoji="1" lang="en-US" altLang="zh-CN" b="1" i="1" baseline="-25000" dirty="0">
                <a:solidFill>
                  <a:srgbClr val="FF0000"/>
                </a:solidFill>
                <a:latin typeface="Times New Roman" pitchFamily="18" charset="0"/>
                <a:sym typeface="Symbol" pitchFamily="18" charset="2"/>
              </a:rPr>
              <a:t></a:t>
            </a:r>
            <a:r>
              <a:rPr kumimoji="1" lang="en-US" altLang="zh-CN" b="1" i="1" dirty="0">
                <a:solidFill>
                  <a:srgbClr val="FF0000"/>
                </a:solidFill>
                <a:latin typeface="Times New Roman" pitchFamily="18" charset="0"/>
                <a:sym typeface="Symbol" pitchFamily="18" charset="2"/>
              </a:rPr>
              <a:t> </a:t>
            </a:r>
            <a:r>
              <a:rPr lang="en-US" altLang="zh-CN" sz="2800" b="1" dirty="0">
                <a:solidFill>
                  <a:srgbClr val="FF0000"/>
                </a:solidFill>
              </a:rPr>
              <a:t>◦</a:t>
            </a:r>
            <a:r>
              <a:rPr kumimoji="1" lang="en-US" altLang="zh-CN" sz="2800" dirty="0">
                <a:solidFill>
                  <a:srgbClr val="FF0000"/>
                </a:solidFill>
              </a:rPr>
              <a:t> </a:t>
            </a:r>
            <a:r>
              <a:rPr kumimoji="1" lang="en-US" altLang="zh-CN" b="1" i="1" dirty="0">
                <a:solidFill>
                  <a:srgbClr val="FF0000"/>
                </a:solidFill>
                <a:latin typeface="Times New Roman" pitchFamily="18" charset="0"/>
              </a:rPr>
              <a:t>R</a:t>
            </a:r>
            <a:r>
              <a:rPr kumimoji="1" lang="en-US" altLang="zh-CN" b="1" i="1" baseline="-25000" dirty="0">
                <a:solidFill>
                  <a:srgbClr val="FF0000"/>
                </a:solidFill>
                <a:latin typeface="Times New Roman" pitchFamily="18" charset="0"/>
                <a:sym typeface="Symbol" pitchFamily="18" charset="2"/>
              </a:rPr>
              <a:t></a:t>
            </a:r>
            <a:r>
              <a:rPr kumimoji="1" lang="en-US" altLang="zh-CN" b="1" i="1" dirty="0">
                <a:solidFill>
                  <a:srgbClr val="FF0000"/>
                </a:solidFill>
                <a:latin typeface="Times New Roman" pitchFamily="18" charset="0"/>
                <a:sym typeface="Symbol" pitchFamily="18" charset="2"/>
              </a:rPr>
              <a:t> </a:t>
            </a:r>
            <a:r>
              <a:rPr kumimoji="1" lang="en-US" altLang="zh-CN" b="1" dirty="0">
                <a:solidFill>
                  <a:srgbClr val="FF0000"/>
                </a:solidFill>
                <a:latin typeface="Times New Roman" pitchFamily="18" charset="0"/>
                <a:sym typeface="Symbol" pitchFamily="18" charset="2"/>
              </a:rPr>
              <a:t> </a:t>
            </a:r>
          </a:p>
          <a:p>
            <a:pPr eaLnBrk="1" hangingPunct="1">
              <a:buFont typeface="Wingdings" pitchFamily="2" charset="2"/>
              <a:buNone/>
            </a:pPr>
            <a:r>
              <a:rPr kumimoji="1" lang="en-US" altLang="zh-CN" b="1" dirty="0">
                <a:solidFill>
                  <a:schemeClr val="bg2"/>
                </a:solidFill>
                <a:latin typeface="Times New Roman" pitchFamily="18" charset="0"/>
              </a:rPr>
              <a:t>[</a:t>
            </a:r>
            <a:r>
              <a:rPr kumimoji="1" lang="zh-CN" altLang="en-US" b="1" dirty="0">
                <a:solidFill>
                  <a:schemeClr val="bg2"/>
                </a:solidFill>
                <a:latin typeface="Times New Roman" pitchFamily="18" charset="0"/>
              </a:rPr>
              <a:t>推  论</a:t>
            </a:r>
            <a:r>
              <a:rPr kumimoji="1" lang="en-US" altLang="zh-CN" b="1" dirty="0">
                <a:solidFill>
                  <a:schemeClr val="bg2"/>
                </a:solidFill>
                <a:latin typeface="Times New Roman" pitchFamily="18" charset="0"/>
              </a:rPr>
              <a:t>]</a:t>
            </a:r>
            <a:r>
              <a:rPr kumimoji="1" lang="zh-CN" altLang="en-US" b="1" dirty="0">
                <a:solidFill>
                  <a:schemeClr val="bg2"/>
                </a:solidFill>
                <a:latin typeface="Times New Roman" pitchFamily="18" charset="0"/>
              </a:rPr>
              <a:t>： </a:t>
            </a:r>
            <a:r>
              <a:rPr kumimoji="1" lang="en-US" altLang="zh-CN" b="1" dirty="0">
                <a:solidFill>
                  <a:schemeClr val="bg2"/>
                </a:solidFill>
                <a:latin typeface="Times New Roman" pitchFamily="18" charset="0"/>
              </a:rPr>
              <a:t>(</a:t>
            </a:r>
            <a:r>
              <a:rPr kumimoji="1" lang="en-US" altLang="zh-CN" b="1" i="1" dirty="0" err="1">
                <a:solidFill>
                  <a:schemeClr val="bg2"/>
                </a:solidFill>
                <a:latin typeface="Times New Roman" pitchFamily="18" charset="0"/>
              </a:rPr>
              <a:t>R</a:t>
            </a:r>
            <a:r>
              <a:rPr kumimoji="1" lang="en-US" altLang="zh-CN" b="1" i="1" baseline="30000" dirty="0" err="1">
                <a:solidFill>
                  <a:schemeClr val="bg2"/>
                </a:solidFill>
                <a:latin typeface="Times New Roman" pitchFamily="18" charset="0"/>
              </a:rPr>
              <a:t>m</a:t>
            </a:r>
            <a:r>
              <a:rPr kumimoji="1" lang="en-US" altLang="zh-CN" b="1" dirty="0">
                <a:solidFill>
                  <a:schemeClr val="bg2"/>
                </a:solidFill>
                <a:latin typeface="Times New Roman" pitchFamily="18" charset="0"/>
              </a:rPr>
              <a:t>)</a:t>
            </a:r>
            <a:r>
              <a:rPr kumimoji="1" lang="en-US" altLang="zh-CN" b="1" i="1" baseline="-25000" dirty="0">
                <a:solidFill>
                  <a:schemeClr val="bg2"/>
                </a:solidFill>
                <a:latin typeface="Times New Roman" pitchFamily="18" charset="0"/>
                <a:sym typeface="Symbol" pitchFamily="18" charset="2"/>
              </a:rPr>
              <a:t></a:t>
            </a:r>
            <a:r>
              <a:rPr kumimoji="1" lang="en-US" altLang="zh-CN" b="1" i="1" dirty="0">
                <a:solidFill>
                  <a:schemeClr val="bg2"/>
                </a:solidFill>
                <a:latin typeface="Times New Roman" pitchFamily="18" charset="0"/>
              </a:rPr>
              <a:t> </a:t>
            </a:r>
            <a:r>
              <a:rPr kumimoji="1" lang="en-US" altLang="zh-CN" b="1" dirty="0">
                <a:solidFill>
                  <a:schemeClr val="bg2"/>
                </a:solidFill>
                <a:latin typeface="Times New Roman" pitchFamily="18" charset="0"/>
              </a:rPr>
              <a:t>= (</a:t>
            </a:r>
            <a:r>
              <a:rPr kumimoji="1" lang="en-US" altLang="zh-CN" b="1" i="1" dirty="0">
                <a:solidFill>
                  <a:schemeClr val="bg2"/>
                </a:solidFill>
                <a:latin typeface="Times New Roman" pitchFamily="18" charset="0"/>
              </a:rPr>
              <a:t>R</a:t>
            </a:r>
            <a:r>
              <a:rPr kumimoji="1" lang="en-US" altLang="zh-CN" b="1" i="1" baseline="-25000" dirty="0">
                <a:solidFill>
                  <a:schemeClr val="bg2"/>
                </a:solidFill>
                <a:latin typeface="Times New Roman" pitchFamily="18" charset="0"/>
                <a:sym typeface="Symbol" pitchFamily="18" charset="2"/>
              </a:rPr>
              <a:t></a:t>
            </a:r>
            <a:r>
              <a:rPr kumimoji="1" lang="en-US" altLang="zh-CN" b="1" dirty="0">
                <a:solidFill>
                  <a:schemeClr val="bg2"/>
                </a:solidFill>
                <a:latin typeface="Times New Roman" pitchFamily="18" charset="0"/>
              </a:rPr>
              <a:t>)</a:t>
            </a:r>
            <a:r>
              <a:rPr kumimoji="1" lang="en-US" altLang="zh-CN" b="1" i="1" baseline="30000" dirty="0">
                <a:solidFill>
                  <a:schemeClr val="bg2"/>
                </a:solidFill>
                <a:latin typeface="Times New Roman" pitchFamily="18" charset="0"/>
              </a:rPr>
              <a:t>m</a:t>
            </a:r>
          </a:p>
          <a:p>
            <a:pPr eaLnBrk="1" hangingPunct="1">
              <a:buFont typeface="Wingdings" pitchFamily="2" charset="2"/>
              <a:buNone/>
            </a:pPr>
            <a:r>
              <a:rPr kumimoji="1" lang="en-US" altLang="zh-CN" b="1" dirty="0">
                <a:solidFill>
                  <a:srgbClr val="FF00FF"/>
                </a:solidFill>
                <a:latin typeface="Times New Roman" pitchFamily="18" charset="0"/>
              </a:rPr>
              <a:t>[</a:t>
            </a:r>
            <a:r>
              <a:rPr kumimoji="1" lang="zh-CN" altLang="en-US" b="1" dirty="0">
                <a:solidFill>
                  <a:srgbClr val="FF00FF"/>
                </a:solidFill>
                <a:latin typeface="Times New Roman" pitchFamily="18" charset="0"/>
              </a:rPr>
              <a:t>性质</a:t>
            </a:r>
            <a:r>
              <a:rPr kumimoji="1" lang="en-US" altLang="zh-CN" b="1" dirty="0">
                <a:solidFill>
                  <a:srgbClr val="FF00FF"/>
                </a:solidFill>
                <a:latin typeface="Times New Roman" pitchFamily="18" charset="0"/>
              </a:rPr>
              <a:t>6]</a:t>
            </a:r>
            <a:r>
              <a:rPr kumimoji="1" lang="zh-CN" altLang="en-US" b="1" dirty="0">
                <a:solidFill>
                  <a:srgbClr val="FF00FF"/>
                </a:solidFill>
                <a:latin typeface="Times New Roman" pitchFamily="18" charset="0"/>
              </a:rPr>
              <a:t>： </a:t>
            </a:r>
            <a:r>
              <a:rPr kumimoji="1" lang="en-US" altLang="zh-CN" b="1" dirty="0">
                <a:solidFill>
                  <a:srgbClr val="FF00FF"/>
                </a:solidFill>
                <a:latin typeface="Times New Roman" pitchFamily="18" charset="0"/>
                <a:sym typeface="Symbol" pitchFamily="18" charset="2"/>
              </a:rPr>
              <a:t>( </a:t>
            </a:r>
            <a:r>
              <a:rPr kumimoji="1" lang="en-US" altLang="zh-CN" b="1" i="1" dirty="0">
                <a:solidFill>
                  <a:srgbClr val="FF00FF"/>
                </a:solidFill>
                <a:latin typeface="Times New Roman" pitchFamily="18" charset="0"/>
                <a:sym typeface="Symbol" pitchFamily="18" charset="2"/>
              </a:rPr>
              <a:t>Q </a:t>
            </a:r>
            <a:r>
              <a:rPr lang="en-US" altLang="zh-CN" sz="2800" b="1" dirty="0">
                <a:solidFill>
                  <a:srgbClr val="FF00FF"/>
                </a:solidFill>
              </a:rPr>
              <a:t>◦</a:t>
            </a:r>
            <a:r>
              <a:rPr kumimoji="1" lang="en-US" altLang="zh-CN" sz="2800" dirty="0">
                <a:solidFill>
                  <a:srgbClr val="FF00FF"/>
                </a:solidFill>
              </a:rPr>
              <a:t> </a:t>
            </a:r>
            <a:r>
              <a:rPr kumimoji="1" lang="en-US" altLang="zh-CN" b="1" i="1" dirty="0">
                <a:solidFill>
                  <a:srgbClr val="FF00FF"/>
                </a:solidFill>
                <a:latin typeface="Times New Roman" pitchFamily="18" charset="0"/>
              </a:rPr>
              <a:t>R</a:t>
            </a:r>
            <a:r>
              <a:rPr kumimoji="1" lang="en-US" altLang="zh-CN" b="1" dirty="0">
                <a:solidFill>
                  <a:srgbClr val="FF00FF"/>
                </a:solidFill>
                <a:latin typeface="Times New Roman" pitchFamily="18" charset="0"/>
                <a:sym typeface="Symbol" pitchFamily="18" charset="2"/>
              </a:rPr>
              <a:t> )</a:t>
            </a:r>
            <a:r>
              <a:rPr kumimoji="1" lang="en-US" altLang="zh-CN" b="1" baseline="30000" dirty="0">
                <a:solidFill>
                  <a:srgbClr val="FF00FF"/>
                </a:solidFill>
                <a:latin typeface="Times New Roman" pitchFamily="18" charset="0"/>
              </a:rPr>
              <a:t>T</a:t>
            </a:r>
            <a:r>
              <a:rPr kumimoji="1" lang="en-US" altLang="zh-CN" b="1" dirty="0">
                <a:solidFill>
                  <a:srgbClr val="FF00FF"/>
                </a:solidFill>
                <a:latin typeface="Times New Roman" pitchFamily="18" charset="0"/>
              </a:rPr>
              <a:t> </a:t>
            </a:r>
            <a:r>
              <a:rPr kumimoji="1" lang="en-US" altLang="zh-CN" b="1" dirty="0">
                <a:solidFill>
                  <a:srgbClr val="FF00FF"/>
                </a:solidFill>
                <a:latin typeface="Times New Roman" pitchFamily="18" charset="0"/>
                <a:sym typeface="Symbol" pitchFamily="18" charset="2"/>
              </a:rPr>
              <a:t>=</a:t>
            </a:r>
            <a:r>
              <a:rPr kumimoji="1" lang="en-US" altLang="zh-CN" b="1" i="1" dirty="0">
                <a:solidFill>
                  <a:srgbClr val="FF00FF"/>
                </a:solidFill>
                <a:latin typeface="Times New Roman" pitchFamily="18" charset="0"/>
                <a:sym typeface="Symbol" pitchFamily="18" charset="2"/>
              </a:rPr>
              <a:t>R</a:t>
            </a:r>
            <a:r>
              <a:rPr kumimoji="1" lang="en-US" altLang="zh-CN" b="1" baseline="30000" dirty="0">
                <a:solidFill>
                  <a:srgbClr val="FF00FF"/>
                </a:solidFill>
                <a:latin typeface="Times New Roman" pitchFamily="18" charset="0"/>
              </a:rPr>
              <a:t>T </a:t>
            </a:r>
            <a:r>
              <a:rPr lang="en-US" altLang="zh-CN" sz="2800" b="1" dirty="0">
                <a:solidFill>
                  <a:srgbClr val="FF00FF"/>
                </a:solidFill>
              </a:rPr>
              <a:t>◦</a:t>
            </a:r>
            <a:r>
              <a:rPr kumimoji="1" lang="en-US" altLang="zh-CN" sz="2800" dirty="0">
                <a:solidFill>
                  <a:srgbClr val="FF00FF"/>
                </a:solidFill>
              </a:rPr>
              <a:t> </a:t>
            </a:r>
            <a:r>
              <a:rPr kumimoji="1" lang="en-US" altLang="zh-CN" b="1" i="1" dirty="0">
                <a:solidFill>
                  <a:srgbClr val="FF00FF"/>
                </a:solidFill>
                <a:latin typeface="Times New Roman" pitchFamily="18" charset="0"/>
              </a:rPr>
              <a:t>Q</a:t>
            </a:r>
            <a:r>
              <a:rPr kumimoji="1" lang="en-US" altLang="zh-CN" b="1" baseline="30000" dirty="0">
                <a:solidFill>
                  <a:srgbClr val="FF00FF"/>
                </a:solidFill>
                <a:latin typeface="Times New Roman" pitchFamily="18" charset="0"/>
              </a:rPr>
              <a:t>T</a:t>
            </a:r>
            <a:r>
              <a:rPr kumimoji="1" lang="en-US" altLang="zh-CN" b="1" i="1" dirty="0">
                <a:solidFill>
                  <a:srgbClr val="FF00FF"/>
                </a:solidFill>
                <a:latin typeface="Times New Roman" pitchFamily="18" charset="0"/>
                <a:sym typeface="Symbol" pitchFamily="18" charset="2"/>
              </a:rPr>
              <a:t> </a:t>
            </a:r>
          </a:p>
          <a:p>
            <a:pPr eaLnBrk="1" hangingPunct="1">
              <a:buFont typeface="Wingdings" pitchFamily="2" charset="2"/>
              <a:buNone/>
            </a:pPr>
            <a:r>
              <a:rPr kumimoji="1" lang="en-US" altLang="zh-CN" b="1" dirty="0">
                <a:solidFill>
                  <a:schemeClr val="bg2"/>
                </a:solidFill>
                <a:latin typeface="Times New Roman" pitchFamily="18" charset="0"/>
              </a:rPr>
              <a:t>[</a:t>
            </a:r>
            <a:r>
              <a:rPr kumimoji="1" lang="zh-CN" altLang="en-US" b="1" dirty="0">
                <a:solidFill>
                  <a:schemeClr val="bg2"/>
                </a:solidFill>
                <a:latin typeface="Times New Roman" pitchFamily="18" charset="0"/>
              </a:rPr>
              <a:t>推  论</a:t>
            </a:r>
            <a:r>
              <a:rPr kumimoji="1" lang="en-US" altLang="zh-CN" b="1" dirty="0">
                <a:solidFill>
                  <a:schemeClr val="bg2"/>
                </a:solidFill>
                <a:latin typeface="Times New Roman" pitchFamily="18" charset="0"/>
              </a:rPr>
              <a:t>]</a:t>
            </a:r>
            <a:r>
              <a:rPr kumimoji="1" lang="zh-CN" altLang="en-US" b="1" dirty="0">
                <a:solidFill>
                  <a:schemeClr val="bg2"/>
                </a:solidFill>
                <a:latin typeface="Times New Roman" pitchFamily="18" charset="0"/>
              </a:rPr>
              <a:t>： </a:t>
            </a:r>
            <a:r>
              <a:rPr kumimoji="1" lang="en-US" altLang="zh-CN" b="1" dirty="0">
                <a:solidFill>
                  <a:schemeClr val="bg2"/>
                </a:solidFill>
                <a:latin typeface="Times New Roman" pitchFamily="18" charset="0"/>
              </a:rPr>
              <a:t>(</a:t>
            </a:r>
            <a:r>
              <a:rPr kumimoji="1" lang="en-US" altLang="zh-CN" b="1" i="1" dirty="0" err="1">
                <a:solidFill>
                  <a:schemeClr val="bg2"/>
                </a:solidFill>
                <a:latin typeface="Times New Roman" pitchFamily="18" charset="0"/>
              </a:rPr>
              <a:t>R</a:t>
            </a:r>
            <a:r>
              <a:rPr kumimoji="1" lang="en-US" altLang="zh-CN" b="1" i="1" baseline="30000" dirty="0" err="1">
                <a:solidFill>
                  <a:schemeClr val="bg2"/>
                </a:solidFill>
                <a:latin typeface="Times New Roman" pitchFamily="18" charset="0"/>
              </a:rPr>
              <a:t>n</a:t>
            </a:r>
            <a:r>
              <a:rPr kumimoji="1" lang="en-US" altLang="zh-CN" b="1" dirty="0">
                <a:solidFill>
                  <a:schemeClr val="bg2"/>
                </a:solidFill>
                <a:latin typeface="Times New Roman" pitchFamily="18" charset="0"/>
              </a:rPr>
              <a:t>)</a:t>
            </a:r>
            <a:r>
              <a:rPr kumimoji="1" lang="en-US" altLang="zh-CN" b="1" baseline="30000" dirty="0">
                <a:solidFill>
                  <a:schemeClr val="bg2"/>
                </a:solidFill>
                <a:latin typeface="Times New Roman" pitchFamily="18" charset="0"/>
              </a:rPr>
              <a:t>T</a:t>
            </a:r>
            <a:r>
              <a:rPr kumimoji="1" lang="en-US" altLang="zh-CN" b="1" dirty="0">
                <a:solidFill>
                  <a:schemeClr val="bg2"/>
                </a:solidFill>
                <a:latin typeface="Times New Roman" pitchFamily="18" charset="0"/>
              </a:rPr>
              <a:t>  </a:t>
            </a:r>
            <a:r>
              <a:rPr kumimoji="1" lang="en-US" altLang="zh-CN" b="1" dirty="0">
                <a:solidFill>
                  <a:schemeClr val="bg2"/>
                </a:solidFill>
                <a:latin typeface="Times New Roman" pitchFamily="18" charset="0"/>
                <a:sym typeface="Symbol" pitchFamily="18" charset="2"/>
              </a:rPr>
              <a:t>=(</a:t>
            </a:r>
            <a:r>
              <a:rPr kumimoji="1" lang="en-US" altLang="zh-CN" b="1" i="1" dirty="0">
                <a:solidFill>
                  <a:schemeClr val="bg2"/>
                </a:solidFill>
                <a:latin typeface="Times New Roman" pitchFamily="18" charset="0"/>
              </a:rPr>
              <a:t>R</a:t>
            </a:r>
            <a:r>
              <a:rPr kumimoji="1" lang="en-US" altLang="zh-CN" b="1" baseline="30000" dirty="0">
                <a:solidFill>
                  <a:schemeClr val="bg2"/>
                </a:solidFill>
                <a:latin typeface="Times New Roman" pitchFamily="18" charset="0"/>
              </a:rPr>
              <a:t>T</a:t>
            </a:r>
            <a:r>
              <a:rPr kumimoji="1" lang="en-US" altLang="zh-CN" b="1" dirty="0">
                <a:solidFill>
                  <a:schemeClr val="bg2"/>
                </a:solidFill>
                <a:latin typeface="Times New Roman" pitchFamily="18" charset="0"/>
                <a:sym typeface="Symbol" pitchFamily="18" charset="2"/>
              </a:rPr>
              <a:t>)</a:t>
            </a:r>
            <a:r>
              <a:rPr kumimoji="1" lang="en-US" altLang="zh-CN" b="1" i="1" baseline="30000" dirty="0">
                <a:solidFill>
                  <a:schemeClr val="bg2"/>
                </a:solidFill>
                <a:latin typeface="Times New Roman" pitchFamily="18" charset="0"/>
              </a:rPr>
              <a:t>n</a:t>
            </a:r>
            <a:r>
              <a:rPr kumimoji="1" lang="en-US" altLang="zh-CN" b="1" dirty="0">
                <a:solidFill>
                  <a:schemeClr val="bg2"/>
                </a:solidFill>
                <a:latin typeface="Times New Roman" pitchFamily="18" charset="0"/>
              </a:rPr>
              <a:t> </a:t>
            </a:r>
          </a:p>
          <a:p>
            <a:pPr eaLnBrk="1" hangingPunct="1">
              <a:buNone/>
            </a:pPr>
            <a:r>
              <a:rPr kumimoji="1" lang="en-US" altLang="zh-CN" b="1" dirty="0">
                <a:solidFill>
                  <a:srgbClr val="EE0006"/>
                </a:solidFill>
                <a:latin typeface="Times New Roman" pitchFamily="18" charset="0"/>
              </a:rPr>
              <a:t>[</a:t>
            </a:r>
            <a:r>
              <a:rPr kumimoji="1" lang="zh-CN" altLang="en-US" b="1" dirty="0">
                <a:solidFill>
                  <a:srgbClr val="EE0006"/>
                </a:solidFill>
                <a:latin typeface="Times New Roman" pitchFamily="18" charset="0"/>
              </a:rPr>
              <a:t>定理</a:t>
            </a:r>
            <a:r>
              <a:rPr kumimoji="1" lang="en-US" altLang="zh-CN" b="1" dirty="0">
                <a:solidFill>
                  <a:srgbClr val="EE0006"/>
                </a:solidFill>
                <a:latin typeface="Times New Roman" pitchFamily="18" charset="0"/>
              </a:rPr>
              <a:t>2]</a:t>
            </a:r>
            <a:r>
              <a:rPr kumimoji="1" lang="zh-CN" altLang="en-US" b="1" dirty="0">
                <a:latin typeface="Times New Roman" pitchFamily="18" charset="0"/>
              </a:rPr>
              <a:t>：设</a:t>
            </a:r>
            <a:r>
              <a:rPr kumimoji="1" lang="en-US" altLang="zh-CN" b="1" i="1" dirty="0">
                <a:latin typeface="Times New Roman" pitchFamily="18" charset="0"/>
              </a:rPr>
              <a:t>Q</a:t>
            </a:r>
            <a:r>
              <a:rPr kumimoji="1" lang="en-US" altLang="en-US" b="1" dirty="0">
                <a:latin typeface="Times New Roman" pitchFamily="18" charset="0"/>
                <a:sym typeface="Symbol" panose="05050102010706020507" pitchFamily="18" charset="2"/>
              </a:rPr>
              <a:t></a:t>
            </a:r>
            <a:r>
              <a:rPr kumimoji="1" lang="en-US" altLang="zh-CN" b="1" dirty="0">
                <a:latin typeface="Monotype Corsiva" pitchFamily="66" charset="0"/>
              </a:rPr>
              <a:t>F</a:t>
            </a:r>
            <a:r>
              <a:rPr kumimoji="1" lang="en-US" altLang="zh-CN" b="1" dirty="0">
                <a:latin typeface="Times New Roman" pitchFamily="18" charset="0"/>
              </a:rPr>
              <a:t>(</a:t>
            </a:r>
            <a:r>
              <a:rPr kumimoji="1" lang="en-US" altLang="zh-CN" b="1" i="1" dirty="0">
                <a:latin typeface="Times New Roman" pitchFamily="18" charset="0"/>
              </a:rPr>
              <a:t>U</a:t>
            </a:r>
            <a:r>
              <a:rPr kumimoji="1" lang="en-US" altLang="en-US" b="1" dirty="0">
                <a:latin typeface="Times New Roman" pitchFamily="18" charset="0"/>
              </a:rPr>
              <a:t>×</a:t>
            </a:r>
            <a:r>
              <a:rPr kumimoji="1" lang="en-US" altLang="zh-CN" b="1" i="1" dirty="0">
                <a:latin typeface="Times New Roman" pitchFamily="18" charset="0"/>
              </a:rPr>
              <a:t>V</a:t>
            </a:r>
            <a:r>
              <a:rPr kumimoji="1" lang="en-US" altLang="zh-CN" b="1" dirty="0">
                <a:latin typeface="Times New Roman" pitchFamily="18" charset="0"/>
              </a:rPr>
              <a:t>)</a:t>
            </a:r>
            <a:r>
              <a:rPr kumimoji="1" lang="zh-CN" altLang="en-US" b="1" dirty="0">
                <a:latin typeface="Times New Roman" pitchFamily="18" charset="0"/>
              </a:rPr>
              <a:t>，</a:t>
            </a:r>
            <a:r>
              <a:rPr kumimoji="1" lang="en-US" altLang="zh-CN" b="1" i="1" dirty="0">
                <a:latin typeface="Times New Roman" pitchFamily="18" charset="0"/>
              </a:rPr>
              <a:t>R</a:t>
            </a:r>
            <a:r>
              <a:rPr kumimoji="1" lang="en-US" altLang="en-US" b="1" dirty="0">
                <a:latin typeface="Times New Roman" pitchFamily="18" charset="0"/>
                <a:sym typeface="Symbol" panose="05050102010706020507" pitchFamily="18" charset="2"/>
              </a:rPr>
              <a:t></a:t>
            </a:r>
            <a:r>
              <a:rPr kumimoji="1" lang="en-US" altLang="zh-CN" b="1" dirty="0">
                <a:latin typeface="Monotype Corsiva" pitchFamily="66" charset="0"/>
              </a:rPr>
              <a:t>F</a:t>
            </a:r>
            <a:r>
              <a:rPr kumimoji="1" lang="en-US" altLang="zh-CN" b="1" dirty="0">
                <a:latin typeface="Times New Roman" pitchFamily="18" charset="0"/>
              </a:rPr>
              <a:t>(</a:t>
            </a:r>
            <a:r>
              <a:rPr kumimoji="1" lang="en-US" altLang="zh-CN" b="1" i="1" dirty="0">
                <a:latin typeface="Times New Roman" pitchFamily="18" charset="0"/>
              </a:rPr>
              <a:t>V</a:t>
            </a:r>
            <a:r>
              <a:rPr kumimoji="1" lang="en-US" altLang="en-US" b="1" dirty="0">
                <a:latin typeface="Times New Roman" pitchFamily="18" charset="0"/>
              </a:rPr>
              <a:t>×</a:t>
            </a:r>
            <a:r>
              <a:rPr kumimoji="1" lang="en-US" altLang="zh-CN" b="1" i="1" dirty="0">
                <a:latin typeface="Times New Roman" pitchFamily="18" charset="0"/>
              </a:rPr>
              <a:t>W</a:t>
            </a:r>
            <a:r>
              <a:rPr kumimoji="1" lang="en-US" altLang="zh-CN" b="1" dirty="0">
                <a:latin typeface="Times New Roman" pitchFamily="18" charset="0"/>
              </a:rPr>
              <a:t>)</a:t>
            </a:r>
            <a:r>
              <a:rPr kumimoji="1" lang="zh-CN" altLang="en-US" b="1" dirty="0"/>
              <a:t>，则</a:t>
            </a:r>
          </a:p>
        </p:txBody>
      </p:sp>
      <p:graphicFrame>
        <p:nvGraphicFramePr>
          <p:cNvPr id="65540" name="Object 4"/>
          <p:cNvGraphicFramePr>
            <a:graphicFrameLocks noGrp="1" noChangeAspect="1"/>
          </p:cNvGraphicFramePr>
          <p:nvPr>
            <p:ph sz="half" idx="2"/>
            <p:extLst>
              <p:ext uri="{D42A27DB-BD31-4B8C-83A1-F6EECF244321}">
                <p14:modId xmlns:p14="http://schemas.microsoft.com/office/powerpoint/2010/main" val="2003432421"/>
              </p:ext>
            </p:extLst>
          </p:nvPr>
        </p:nvGraphicFramePr>
        <p:xfrm>
          <a:off x="3244026" y="4932173"/>
          <a:ext cx="6899570" cy="1027112"/>
        </p:xfrm>
        <a:graphic>
          <a:graphicData uri="http://schemas.openxmlformats.org/presentationml/2006/ole">
            <mc:AlternateContent xmlns:mc="http://schemas.openxmlformats.org/markup-compatibility/2006">
              <mc:Choice xmlns:v="urn:schemas-microsoft-com:vml" Requires="v">
                <p:oleObj name="Equation" r:id="rId2" imgW="2476440" imgH="368280" progId="Equation.DSMT4">
                  <p:embed/>
                </p:oleObj>
              </mc:Choice>
              <mc:Fallback>
                <p:oleObj name="Equation" r:id="rId2" imgW="2476440" imgH="368280" progId="Equation.DSMT4">
                  <p:embed/>
                  <p:pic>
                    <p:nvPicPr>
                      <p:cNvPr id="65540" name="Object 4"/>
                      <p:cNvPicPr>
                        <a:picLocks noChangeAspect="1" noChangeArrowheads="1"/>
                      </p:cNvPicPr>
                      <p:nvPr/>
                    </p:nvPicPr>
                    <p:blipFill>
                      <a:blip r:embed="rId3"/>
                      <a:srcRect/>
                      <a:stretch>
                        <a:fillRect/>
                      </a:stretch>
                    </p:blipFill>
                    <p:spPr bwMode="auto">
                      <a:xfrm>
                        <a:off x="3244026" y="4932173"/>
                        <a:ext cx="6899570" cy="1027112"/>
                      </a:xfrm>
                      <a:prstGeom prst="rect">
                        <a:avLst/>
                      </a:prstGeom>
                      <a:solidFill>
                        <a:srgbClr val="FFC000"/>
                      </a:solid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4A809B1F-2757-B72E-556C-2915CAE58AAB}"/>
              </a:ext>
            </a:extLst>
          </p:cNvPr>
          <p:cNvSpPr>
            <a:spLocks noGrp="1"/>
          </p:cNvSpPr>
          <p:nvPr>
            <p:ph type="sldNum" sz="quarter" idx="11"/>
          </p:nvPr>
        </p:nvSpPr>
        <p:spPr/>
        <p:txBody>
          <a:bodyPr/>
          <a:lstStyle/>
          <a:p>
            <a:pPr>
              <a:defRPr/>
            </a:pPr>
            <a:fld id="{26C85EAC-6FAE-44AE-B9A5-47E3DC5EF4EF}" type="slidenum">
              <a:rPr lang="en-US" altLang="zh-CN" smtClean="0"/>
              <a:pPr>
                <a:defRPr/>
              </a:pPr>
              <a:t>3</a:t>
            </a:fld>
            <a:endParaRPr lang="en-US" altLang="zh-CN"/>
          </a:p>
        </p:txBody>
      </p:sp>
    </p:spTree>
    <p:extLst>
      <p:ext uri="{BB962C8B-B14F-4D97-AF65-F5344CB8AC3E}">
        <p14:creationId xmlns:p14="http://schemas.microsoft.com/office/powerpoint/2010/main" val="285032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left)">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wipe(left)">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wipe(left)">
                                      <p:cBhvr>
                                        <p:cTn id="17" dur="500"/>
                                        <p:tgtEl>
                                          <p:spTgt spid="65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Effect transition="in" filter="wipe(left)">
                                      <p:cBhvr>
                                        <p:cTn id="22" dur="500"/>
                                        <p:tgtEl>
                                          <p:spTgt spid="65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Effect transition="in" filter="wipe(left)">
                                      <p:cBhvr>
                                        <p:cTn id="27" dur="500"/>
                                        <p:tgtEl>
                                          <p:spTgt spid="655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5540"/>
                                        </p:tgtEl>
                                        <p:attrNameLst>
                                          <p:attrName>style.visibility</p:attrName>
                                        </p:attrNameLst>
                                      </p:cBhvr>
                                      <p:to>
                                        <p:strVal val="visible"/>
                                      </p:to>
                                    </p:set>
                                    <p:animEffect transition="in" filter="wipe(left)">
                                      <p:cBhvr>
                                        <p:cTn id="32" dur="500"/>
                                        <p:tgtEl>
                                          <p:spTgt spid="65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0540379-E69A-FF4A-80C6-2956AFFD43C4}"/>
              </a:ext>
            </a:extLst>
          </p:cNvPr>
          <p:cNvSpPr/>
          <p:nvPr/>
        </p:nvSpPr>
        <p:spPr>
          <a:xfrm>
            <a:off x="911425" y="260648"/>
            <a:ext cx="9289032" cy="1123959"/>
          </a:xfrm>
          <a:prstGeom prst="rect">
            <a:avLst/>
          </a:prstGeom>
          <a:solidFill>
            <a:srgbClr val="FFFF99"/>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99456" y="6058104"/>
            <a:ext cx="5760640" cy="683264"/>
          </a:xfrm>
          <a:prstGeom prst="rect">
            <a:avLst/>
          </a:prstGeom>
          <a:solidFill>
            <a:srgbClr val="66FFFF"/>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322" name="Rectangle 2"/>
          <p:cNvSpPr>
            <a:spLocks noChangeArrowheads="1"/>
          </p:cNvSpPr>
          <p:nvPr/>
        </p:nvSpPr>
        <p:spPr bwMode="auto">
          <a:xfrm>
            <a:off x="1040623" y="464931"/>
            <a:ext cx="91440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性质</a:t>
            </a:r>
            <a:r>
              <a:rPr kumimoji="1" lang="en-US" altLang="zh-CN" sz="4000" b="1" dirty="0">
                <a:solidFill>
                  <a:srgbClr val="EE0006"/>
                </a:solidFill>
                <a:ea typeface="黑体" pitchFamily="2" charset="-122"/>
              </a:rPr>
              <a:t>5</a:t>
            </a:r>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的证明： </a:t>
            </a:r>
            <a:r>
              <a:rPr kumimoji="1" lang="en-US" altLang="zh-CN" sz="3600" b="1" dirty="0">
                <a:solidFill>
                  <a:srgbClr val="EE0006"/>
                </a:solidFill>
                <a:sym typeface="Symbol" pitchFamily="18" charset="2"/>
              </a:rPr>
              <a:t>( </a:t>
            </a:r>
            <a:r>
              <a:rPr kumimoji="1" lang="en-US" altLang="zh-CN" sz="3600" b="1" i="1" dirty="0">
                <a:solidFill>
                  <a:srgbClr val="EE0006"/>
                </a:solidFill>
                <a:sym typeface="Symbol" pitchFamily="18" charset="2"/>
              </a:rPr>
              <a:t>Q </a:t>
            </a:r>
            <a:r>
              <a:rPr lang="en-US" altLang="zh-CN" sz="3600" b="1" dirty="0">
                <a:solidFill>
                  <a:srgbClr val="EE0006"/>
                </a:solidFill>
              </a:rPr>
              <a:t>◦</a:t>
            </a:r>
            <a:r>
              <a:rPr kumimoji="1" lang="en-US" altLang="zh-CN" sz="3600" dirty="0">
                <a:solidFill>
                  <a:srgbClr val="EE0006"/>
                </a:solidFill>
              </a:rPr>
              <a:t> </a:t>
            </a:r>
            <a:r>
              <a:rPr kumimoji="1" lang="en-US" altLang="zh-CN" sz="3600" b="1" i="1" dirty="0">
                <a:solidFill>
                  <a:srgbClr val="EE0006"/>
                </a:solidFill>
              </a:rPr>
              <a:t>R</a:t>
            </a:r>
            <a:r>
              <a:rPr kumimoji="1" lang="en-US" altLang="zh-CN" sz="3600" b="1" dirty="0">
                <a:solidFill>
                  <a:srgbClr val="EE0006"/>
                </a:solidFill>
                <a:sym typeface="Symbol" pitchFamily="18" charset="2"/>
              </a:rPr>
              <a:t> )</a:t>
            </a:r>
            <a:r>
              <a:rPr kumimoji="1" lang="en-US" altLang="zh-CN" sz="3600" b="1" i="1" baseline="-25000" dirty="0">
                <a:solidFill>
                  <a:srgbClr val="EE0006"/>
                </a:solidFill>
                <a:sym typeface="Symbol" pitchFamily="18" charset="2"/>
              </a:rPr>
              <a:t></a:t>
            </a:r>
            <a:r>
              <a:rPr kumimoji="1" lang="en-US" altLang="zh-CN" sz="3600" b="1" dirty="0">
                <a:solidFill>
                  <a:srgbClr val="EE0006"/>
                </a:solidFill>
              </a:rPr>
              <a:t> </a:t>
            </a:r>
            <a:r>
              <a:rPr kumimoji="1" lang="en-US" altLang="zh-CN" sz="3600" b="1" dirty="0">
                <a:solidFill>
                  <a:srgbClr val="EE0006"/>
                </a:solidFill>
                <a:sym typeface="Symbol" pitchFamily="18" charset="2"/>
              </a:rPr>
              <a:t>= </a:t>
            </a:r>
            <a:r>
              <a:rPr kumimoji="1" lang="en-US" altLang="zh-CN" sz="3600" b="1" i="1" dirty="0">
                <a:solidFill>
                  <a:srgbClr val="EE0006"/>
                </a:solidFill>
                <a:sym typeface="Symbol" pitchFamily="18" charset="2"/>
              </a:rPr>
              <a:t>Q</a:t>
            </a:r>
            <a:r>
              <a:rPr kumimoji="1" lang="en-US" altLang="zh-CN" sz="3600" b="1" i="1" baseline="-25000" dirty="0">
                <a:solidFill>
                  <a:srgbClr val="EE0006"/>
                </a:solidFill>
                <a:sym typeface="Symbol" pitchFamily="18" charset="2"/>
              </a:rPr>
              <a:t></a:t>
            </a:r>
            <a:r>
              <a:rPr kumimoji="1" lang="en-US" altLang="zh-CN" sz="3600" dirty="0">
                <a:solidFill>
                  <a:srgbClr val="EE0006"/>
                </a:solidFill>
                <a:sym typeface="Symbol" pitchFamily="18" charset="2"/>
              </a:rPr>
              <a:t> </a:t>
            </a:r>
            <a:r>
              <a:rPr lang="en-US" altLang="zh-CN" sz="3600" b="1" dirty="0">
                <a:solidFill>
                  <a:srgbClr val="EE0006"/>
                </a:solidFill>
              </a:rPr>
              <a:t>◦</a:t>
            </a:r>
            <a:r>
              <a:rPr kumimoji="1" lang="en-US" altLang="zh-CN" sz="3600" dirty="0">
                <a:solidFill>
                  <a:srgbClr val="EE0006"/>
                </a:solidFill>
              </a:rPr>
              <a:t> </a:t>
            </a:r>
            <a:r>
              <a:rPr kumimoji="1" lang="en-US" altLang="zh-CN" sz="3600" b="1" i="1" dirty="0">
                <a:solidFill>
                  <a:srgbClr val="EE0006"/>
                </a:solidFill>
              </a:rPr>
              <a:t>R</a:t>
            </a:r>
            <a:r>
              <a:rPr kumimoji="1" lang="en-US" altLang="zh-CN" sz="3600" b="1" i="1" baseline="-25000" dirty="0">
                <a:solidFill>
                  <a:srgbClr val="EE0006"/>
                </a:solidFill>
                <a:sym typeface="Symbol" pitchFamily="18" charset="2"/>
              </a:rPr>
              <a:t></a:t>
            </a:r>
            <a:r>
              <a:rPr kumimoji="1" lang="en-US" altLang="zh-CN" sz="2800" dirty="0">
                <a:solidFill>
                  <a:srgbClr val="EE0006"/>
                </a:solidFill>
                <a:sym typeface="Symbol" pitchFamily="18" charset="2"/>
              </a:rPr>
              <a:t> </a:t>
            </a:r>
          </a:p>
        </p:txBody>
      </p:sp>
      <p:sp>
        <p:nvSpPr>
          <p:cNvPr id="56323" name="Rectangle 3"/>
          <p:cNvSpPr>
            <a:spLocks noChangeArrowheads="1"/>
          </p:cNvSpPr>
          <p:nvPr/>
        </p:nvSpPr>
        <p:spPr bwMode="auto">
          <a:xfrm>
            <a:off x="1199456" y="1412777"/>
            <a:ext cx="88204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3200" b="1" dirty="0">
                <a:latin typeface="+mn-lt"/>
              </a:rPr>
              <a:t>设 </a:t>
            </a:r>
            <a:r>
              <a:rPr kumimoji="1" lang="en-US" altLang="zh-CN" sz="3200" b="1" i="1" dirty="0">
                <a:latin typeface="+mn-lt"/>
              </a:rPr>
              <a:t>Q</a:t>
            </a:r>
            <a:r>
              <a:rPr kumimoji="1" lang="en-US" altLang="zh-CN" sz="3200" b="1" dirty="0">
                <a:latin typeface="+mn-lt"/>
              </a:rPr>
              <a:t> </a:t>
            </a:r>
            <a:r>
              <a:rPr kumimoji="1" lang="en-US" altLang="zh-CN" sz="3200" b="1" dirty="0">
                <a:latin typeface="+mn-lt"/>
                <a:ea typeface="黑体" pitchFamily="2" charset="-122"/>
              </a:rPr>
              <a:t>= (</a:t>
            </a:r>
            <a:r>
              <a:rPr kumimoji="1" lang="en-US" altLang="zh-CN" sz="3200" b="1" i="1" dirty="0" err="1">
                <a:latin typeface="+mn-lt"/>
                <a:ea typeface="黑体" pitchFamily="2" charset="-122"/>
              </a:rPr>
              <a:t>q</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m</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s</a:t>
            </a:r>
            <a:r>
              <a:rPr kumimoji="1" lang="en-US" altLang="zh-CN" sz="3200" b="1" dirty="0">
                <a:latin typeface="+mn-lt"/>
              </a:rPr>
              <a:t>, </a:t>
            </a:r>
            <a:r>
              <a:rPr kumimoji="1" lang="en-US" altLang="zh-CN" sz="3200" b="1" i="1" dirty="0">
                <a:latin typeface="+mn-lt"/>
              </a:rPr>
              <a:t>R</a:t>
            </a:r>
            <a:r>
              <a:rPr kumimoji="1" lang="en-US" altLang="zh-CN" sz="3200" b="1" dirty="0">
                <a:latin typeface="+mn-lt"/>
              </a:rPr>
              <a:t> </a:t>
            </a:r>
            <a:r>
              <a:rPr kumimoji="1" lang="en-US" altLang="zh-CN" sz="3200" b="1" dirty="0">
                <a:latin typeface="+mn-lt"/>
                <a:ea typeface="黑体" pitchFamily="2" charset="-122"/>
              </a:rPr>
              <a:t>= (</a:t>
            </a:r>
            <a:r>
              <a:rPr kumimoji="1" lang="en-US" altLang="zh-CN" sz="3200" b="1" i="1" dirty="0" err="1">
                <a:latin typeface="+mn-lt"/>
                <a:ea typeface="黑体" pitchFamily="2" charset="-122"/>
              </a:rPr>
              <a:t>r</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s</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n</a:t>
            </a:r>
            <a:r>
              <a:rPr kumimoji="1" lang="en-US" altLang="zh-CN" sz="3200" b="1" dirty="0">
                <a:latin typeface="+mn-lt"/>
              </a:rPr>
              <a:t>,  </a:t>
            </a:r>
            <a:r>
              <a:rPr kumimoji="1" lang="en-US" altLang="zh-CN" sz="3200" b="1" i="1" dirty="0">
                <a:solidFill>
                  <a:srgbClr val="008000"/>
                </a:solidFill>
                <a:latin typeface="+mn-lt"/>
              </a:rPr>
              <a:t>Q</a:t>
            </a:r>
            <a:r>
              <a:rPr kumimoji="1" lang="en-US" altLang="zh-CN" sz="3200" b="1" i="1" dirty="0">
                <a:solidFill>
                  <a:srgbClr val="008000"/>
                </a:solidFill>
                <a:latin typeface="+mn-lt"/>
                <a:ea typeface="黑体" pitchFamily="2" charset="-122"/>
              </a:rPr>
              <a:t> </a:t>
            </a:r>
            <a:r>
              <a:rPr lang="en-US" altLang="zh-CN" sz="3200" b="1" dirty="0">
                <a:solidFill>
                  <a:srgbClr val="008000"/>
                </a:solidFill>
                <a:latin typeface="+mn-lt"/>
              </a:rPr>
              <a:t>◦</a:t>
            </a:r>
            <a:r>
              <a:rPr kumimoji="1" lang="en-US" altLang="zh-CN" sz="3200" dirty="0">
                <a:solidFill>
                  <a:srgbClr val="008000"/>
                </a:solidFill>
                <a:latin typeface="+mn-lt"/>
              </a:rPr>
              <a:t> </a:t>
            </a:r>
            <a:r>
              <a:rPr kumimoji="1" lang="en-US" altLang="zh-CN" sz="3200" b="1" i="1" dirty="0">
                <a:solidFill>
                  <a:srgbClr val="008000"/>
                </a:solidFill>
                <a:latin typeface="+mn-lt"/>
                <a:cs typeface="Times New Roman" pitchFamily="18" charset="0"/>
              </a:rPr>
              <a:t>R </a:t>
            </a:r>
            <a:r>
              <a:rPr kumimoji="1" lang="en-US" altLang="zh-CN" sz="3200" b="1" dirty="0">
                <a:latin typeface="+mn-lt"/>
                <a:sym typeface="Symbol" pitchFamily="18" charset="2"/>
              </a:rPr>
              <a:t>=</a:t>
            </a:r>
            <a:r>
              <a:rPr kumimoji="1" lang="en-US" altLang="zh-CN" sz="3200" b="1" i="1" dirty="0">
                <a:solidFill>
                  <a:srgbClr val="008000"/>
                </a:solidFill>
                <a:latin typeface="+mn-lt"/>
                <a:sym typeface="Symbol" pitchFamily="18" charset="2"/>
              </a:rPr>
              <a:t>P </a:t>
            </a:r>
            <a:r>
              <a:rPr kumimoji="1" lang="en-US" altLang="zh-CN" sz="3200" b="1" dirty="0">
                <a:latin typeface="+mn-lt"/>
                <a:ea typeface="黑体" pitchFamily="2" charset="-122"/>
              </a:rPr>
              <a:t>=(</a:t>
            </a:r>
            <a:r>
              <a:rPr kumimoji="1" lang="en-US" altLang="zh-CN" sz="3200" b="1" i="1" dirty="0" err="1">
                <a:latin typeface="+mn-lt"/>
                <a:ea typeface="黑体" pitchFamily="2" charset="-122"/>
              </a:rPr>
              <a:t>p</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m</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n</a:t>
            </a:r>
            <a:r>
              <a:rPr kumimoji="1" lang="en-US" altLang="zh-CN" sz="3200" b="1" dirty="0">
                <a:latin typeface="+mn-lt"/>
              </a:rPr>
              <a:t>,</a:t>
            </a:r>
          </a:p>
        </p:txBody>
      </p:sp>
      <p:sp>
        <p:nvSpPr>
          <p:cNvPr id="66564" name="Rectangle 4"/>
          <p:cNvSpPr>
            <a:spLocks noChangeArrowheads="1"/>
          </p:cNvSpPr>
          <p:nvPr/>
        </p:nvSpPr>
        <p:spPr bwMode="auto">
          <a:xfrm>
            <a:off x="1417828" y="2492896"/>
            <a:ext cx="336342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rgbClr val="EE0006"/>
                </a:solidFill>
                <a:latin typeface="+mn-lt"/>
                <a:ea typeface="黑体" pitchFamily="2" charset="-122"/>
              </a:rPr>
              <a:t>p</a:t>
            </a:r>
            <a:r>
              <a:rPr kumimoji="1" lang="en-US" altLang="zh-CN" sz="3200" b="1" i="1" baseline="-30000" dirty="0" err="1">
                <a:solidFill>
                  <a:srgbClr val="EE0006"/>
                </a:solidFill>
                <a:latin typeface="+mn-lt"/>
                <a:ea typeface="黑体" pitchFamily="2" charset="-122"/>
              </a:rPr>
              <a:t>ij</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 =1</a:t>
            </a:r>
            <a:r>
              <a:rPr kumimoji="1" lang="en-US" altLang="zh-CN" sz="3200" b="1" dirty="0">
                <a:solidFill>
                  <a:schemeClr val="bg2"/>
                </a:solidFill>
                <a:latin typeface="+mn-lt"/>
                <a:sym typeface="Symbol" pitchFamily="18" charset="2"/>
              </a:rPr>
              <a:t> </a:t>
            </a:r>
            <a:r>
              <a:rPr kumimoji="1" lang="en-US" altLang="zh-CN" sz="3200" b="1" i="1" dirty="0" err="1">
                <a:solidFill>
                  <a:schemeClr val="bg2"/>
                </a:solidFill>
                <a:latin typeface="+mn-lt"/>
                <a:sym typeface="Symbol" pitchFamily="18" charset="2"/>
              </a:rPr>
              <a:t>p</a:t>
            </a:r>
            <a:r>
              <a:rPr kumimoji="1" lang="en-US" altLang="zh-CN" sz="3200" b="1" i="1" baseline="-30000" dirty="0" err="1">
                <a:solidFill>
                  <a:schemeClr val="bg2"/>
                </a:solidFill>
                <a:latin typeface="+mn-lt"/>
                <a:ea typeface="黑体" pitchFamily="2" charset="-122"/>
              </a:rPr>
              <a:t>ij</a:t>
            </a:r>
            <a:r>
              <a:rPr kumimoji="1" lang="en-US" altLang="zh-CN" sz="3200" b="1" i="1" baseline="-30000" dirty="0">
                <a:solidFill>
                  <a:schemeClr val="bg2"/>
                </a:solidFill>
                <a:latin typeface="+mn-lt"/>
                <a:ea typeface="黑体" pitchFamily="2" charset="-122"/>
              </a:rPr>
              <a:t> </a:t>
            </a:r>
            <a:r>
              <a:rPr kumimoji="1" lang="en-US" altLang="zh-CN" sz="3200" b="1" dirty="0">
                <a:solidFill>
                  <a:schemeClr val="bg2"/>
                </a:solidFill>
                <a:latin typeface="+mn-lt"/>
              </a:rPr>
              <a:t>≥ </a:t>
            </a:r>
            <a:r>
              <a:rPr kumimoji="1" lang="en-US" altLang="zh-CN" sz="3200" b="1" i="1" dirty="0">
                <a:solidFill>
                  <a:schemeClr val="bg2"/>
                </a:solidFill>
                <a:latin typeface="+mn-lt"/>
                <a:sym typeface="Symbol" pitchFamily="18" charset="2"/>
              </a:rPr>
              <a:t></a:t>
            </a:r>
            <a:r>
              <a:rPr kumimoji="1" lang="en-US" altLang="zh-CN" sz="3200" b="1" dirty="0">
                <a:solidFill>
                  <a:schemeClr val="bg2"/>
                </a:solidFill>
                <a:latin typeface="+mn-lt"/>
              </a:rPr>
              <a:t> </a:t>
            </a:r>
            <a:endParaRPr kumimoji="1" lang="en-US" altLang="zh-CN" sz="3200" b="1" dirty="0">
              <a:latin typeface="+mn-lt"/>
            </a:endParaRPr>
          </a:p>
        </p:txBody>
      </p:sp>
      <p:sp>
        <p:nvSpPr>
          <p:cNvPr id="66565" name="Rectangle 5"/>
          <p:cNvSpPr>
            <a:spLocks noChangeArrowheads="1"/>
          </p:cNvSpPr>
          <p:nvPr/>
        </p:nvSpPr>
        <p:spPr bwMode="auto">
          <a:xfrm>
            <a:off x="2855641" y="6058105"/>
            <a:ext cx="4217821" cy="631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en-US" altLang="zh-CN" sz="3200" b="1" dirty="0">
                <a:solidFill>
                  <a:srgbClr val="CC00CC"/>
                </a:solidFill>
                <a:latin typeface="+mn-lt"/>
                <a:sym typeface="Symbol" pitchFamily="18" charset="2"/>
              </a:rPr>
              <a:t> ∨</a:t>
            </a:r>
            <a:r>
              <a:rPr kumimoji="1" lang="en-US" altLang="zh-CN" sz="3200" b="1" dirty="0">
                <a:solidFill>
                  <a:srgbClr val="CC00CC"/>
                </a:solidFill>
                <a:latin typeface="+mn-lt"/>
              </a:rPr>
              <a:t>(</a:t>
            </a:r>
            <a:r>
              <a:rPr kumimoji="1" lang="en-US" altLang="zh-CN" sz="3200" b="1" i="1" dirty="0" err="1">
                <a:solidFill>
                  <a:srgbClr val="CC00CC"/>
                </a:solidFill>
                <a:latin typeface="+mn-lt"/>
              </a:rPr>
              <a:t>q</a:t>
            </a:r>
            <a:r>
              <a:rPr kumimoji="1" lang="en-US" altLang="zh-CN" sz="3200" b="1" i="1" baseline="-30000" dirty="0" err="1">
                <a:solidFill>
                  <a:srgbClr val="CC00CC"/>
                </a:solidFill>
                <a:latin typeface="+mn-lt"/>
                <a:ea typeface="黑体" pitchFamily="2" charset="-122"/>
              </a:rPr>
              <a:t>ik</a:t>
            </a:r>
            <a:r>
              <a:rPr kumimoji="1" lang="en-US" altLang="zh-CN" sz="3200" b="1" dirty="0">
                <a:solidFill>
                  <a:srgbClr val="CC00CC"/>
                </a:solidFill>
                <a:latin typeface="+mn-lt"/>
                <a:ea typeface="黑体" pitchFamily="2" charset="-122"/>
              </a:rPr>
              <a:t>(</a:t>
            </a:r>
            <a:r>
              <a:rPr kumimoji="1" lang="en-US" altLang="zh-CN" sz="3200" b="1" i="1" dirty="0">
                <a:solidFill>
                  <a:srgbClr val="CC00CC"/>
                </a:solidFill>
                <a:latin typeface="+mn-lt"/>
                <a:ea typeface="黑体" pitchFamily="2" charset="-122"/>
                <a:sym typeface="Symbol" pitchFamily="18" charset="2"/>
              </a:rPr>
              <a:t></a:t>
            </a:r>
            <a:r>
              <a:rPr kumimoji="1" lang="en-US" altLang="zh-CN" sz="3200" b="1" dirty="0">
                <a:solidFill>
                  <a:srgbClr val="CC00CC"/>
                </a:solidFill>
                <a:latin typeface="+mn-lt"/>
                <a:ea typeface="黑体" pitchFamily="2" charset="-122"/>
              </a:rPr>
              <a:t>)</a:t>
            </a:r>
            <a:r>
              <a:rPr kumimoji="1" lang="en-US" altLang="zh-CN" sz="3200" b="1" dirty="0">
                <a:solidFill>
                  <a:srgbClr val="CC00CC"/>
                </a:solidFill>
                <a:latin typeface="Arial"/>
                <a:sym typeface="Symbol"/>
              </a:rPr>
              <a:t>  </a:t>
            </a:r>
            <a:r>
              <a:rPr kumimoji="1" lang="en-US" altLang="zh-CN" sz="3200" b="1" i="1" dirty="0" err="1">
                <a:solidFill>
                  <a:srgbClr val="CC00CC"/>
                </a:solidFill>
                <a:latin typeface="+mn-lt"/>
              </a:rPr>
              <a:t>r</a:t>
            </a:r>
            <a:r>
              <a:rPr kumimoji="1" lang="en-US" altLang="zh-CN" sz="3200" b="1" i="1" baseline="-30000" dirty="0" err="1">
                <a:solidFill>
                  <a:srgbClr val="CC00CC"/>
                </a:solidFill>
                <a:latin typeface="+mn-lt"/>
                <a:ea typeface="黑体" pitchFamily="2" charset="-122"/>
              </a:rPr>
              <a:t>kj</a:t>
            </a:r>
            <a:r>
              <a:rPr kumimoji="1" lang="en-US" altLang="zh-CN" sz="3200" b="1" dirty="0">
                <a:solidFill>
                  <a:srgbClr val="CC00CC"/>
                </a:solidFill>
                <a:latin typeface="+mn-lt"/>
                <a:ea typeface="黑体" pitchFamily="2" charset="-122"/>
              </a:rPr>
              <a:t>(</a:t>
            </a:r>
            <a:r>
              <a:rPr kumimoji="1" lang="en-US" altLang="zh-CN" sz="3200" b="1" i="1" dirty="0">
                <a:solidFill>
                  <a:srgbClr val="CC00CC"/>
                </a:solidFill>
                <a:latin typeface="+mn-lt"/>
                <a:ea typeface="黑体" pitchFamily="2" charset="-122"/>
                <a:sym typeface="Symbol" pitchFamily="18" charset="2"/>
              </a:rPr>
              <a:t></a:t>
            </a:r>
            <a:r>
              <a:rPr kumimoji="1" lang="en-US" altLang="zh-CN" sz="3200" b="1" dirty="0">
                <a:solidFill>
                  <a:srgbClr val="CC00CC"/>
                </a:solidFill>
                <a:latin typeface="+mn-lt"/>
                <a:ea typeface="黑体" pitchFamily="2" charset="-122"/>
              </a:rPr>
              <a:t>)</a:t>
            </a:r>
            <a:r>
              <a:rPr kumimoji="1" lang="en-US" altLang="zh-CN" sz="3200" b="1" dirty="0">
                <a:solidFill>
                  <a:srgbClr val="CC00CC"/>
                </a:solidFill>
                <a:latin typeface="+mn-lt"/>
              </a:rPr>
              <a:t>) =1</a:t>
            </a:r>
          </a:p>
        </p:txBody>
      </p:sp>
      <p:sp>
        <p:nvSpPr>
          <p:cNvPr id="2" name="矩形 1"/>
          <p:cNvSpPr/>
          <p:nvPr/>
        </p:nvSpPr>
        <p:spPr>
          <a:xfrm>
            <a:off x="2855641" y="3140968"/>
            <a:ext cx="3631803" cy="584775"/>
          </a:xfrm>
          <a:prstGeom prst="rect">
            <a:avLst/>
          </a:prstGeom>
        </p:spPr>
        <p:txBody>
          <a:bodyPr wrap="square">
            <a:spAutoFit/>
          </a:bodyPr>
          <a:lstStyle/>
          <a:p>
            <a:pPr lvl="0"/>
            <a:r>
              <a:rPr kumimoji="1" lang="en-US" altLang="zh-CN" sz="3200" b="1" dirty="0">
                <a:solidFill>
                  <a:srgbClr val="00007D"/>
                </a:solidFill>
                <a:latin typeface="Arial"/>
                <a:sym typeface="Symbol" pitchFamily="18" charset="2"/>
              </a:rPr>
              <a:t>∨</a:t>
            </a:r>
            <a:r>
              <a:rPr kumimoji="1" lang="en-US" altLang="zh-CN" sz="3200" b="1" dirty="0">
                <a:solidFill>
                  <a:srgbClr val="00007D"/>
                </a:solidFill>
                <a:latin typeface="Arial"/>
              </a:rPr>
              <a:t>(</a:t>
            </a:r>
            <a:r>
              <a:rPr kumimoji="1" lang="en-US" altLang="zh-CN" sz="3200" b="1" i="1" dirty="0" err="1">
                <a:solidFill>
                  <a:srgbClr val="00007D"/>
                </a:solidFill>
                <a:latin typeface="Arial"/>
              </a:rPr>
              <a:t>q</a:t>
            </a:r>
            <a:r>
              <a:rPr kumimoji="1" lang="en-US" altLang="zh-CN" sz="3200" b="1" i="1" baseline="-30000" dirty="0" err="1">
                <a:solidFill>
                  <a:srgbClr val="00007D"/>
                </a:solidFill>
                <a:latin typeface="Arial"/>
                <a:ea typeface="黑体" pitchFamily="2" charset="-122"/>
              </a:rPr>
              <a:t>ik</a:t>
            </a:r>
            <a:r>
              <a:rPr kumimoji="1" lang="en-US" altLang="zh-CN" sz="3200" b="1" dirty="0">
                <a:solidFill>
                  <a:srgbClr val="00007D"/>
                </a:solidFill>
                <a:latin typeface="Arial"/>
              </a:rPr>
              <a:t> </a:t>
            </a:r>
            <a:r>
              <a:rPr kumimoji="1" lang="en-US" altLang="zh-CN" sz="3200" b="1" dirty="0">
                <a:solidFill>
                  <a:srgbClr val="00007D"/>
                </a:solidFill>
                <a:latin typeface="Arial"/>
                <a:sym typeface="Symbol"/>
              </a:rPr>
              <a:t> </a:t>
            </a:r>
            <a:r>
              <a:rPr kumimoji="1" lang="en-US" altLang="zh-CN" sz="3200" b="1" i="1" dirty="0" err="1">
                <a:solidFill>
                  <a:srgbClr val="00007D"/>
                </a:solidFill>
                <a:latin typeface="Arial"/>
              </a:rPr>
              <a:t>r</a:t>
            </a:r>
            <a:r>
              <a:rPr kumimoji="1" lang="en-US" altLang="zh-CN" sz="3200" b="1" i="1" baseline="-30000" dirty="0" err="1">
                <a:solidFill>
                  <a:srgbClr val="00007D"/>
                </a:solidFill>
                <a:latin typeface="Arial"/>
                <a:ea typeface="黑体" pitchFamily="2" charset="-122"/>
              </a:rPr>
              <a:t>kj</a:t>
            </a:r>
            <a:r>
              <a:rPr kumimoji="1" lang="en-US" altLang="zh-CN" sz="3200" b="1" dirty="0">
                <a:solidFill>
                  <a:srgbClr val="00007D"/>
                </a:solidFill>
                <a:latin typeface="Arial"/>
              </a:rPr>
              <a:t>) ≥ </a:t>
            </a:r>
            <a:r>
              <a:rPr kumimoji="1" lang="en-US" altLang="zh-CN" sz="3200" b="1" i="1" dirty="0">
                <a:solidFill>
                  <a:srgbClr val="00007D"/>
                </a:solidFill>
                <a:latin typeface="Arial"/>
                <a:sym typeface="Symbol" pitchFamily="18" charset="2"/>
              </a:rPr>
              <a:t></a:t>
            </a:r>
            <a:r>
              <a:rPr kumimoji="1" lang="en-US" altLang="zh-CN" sz="3200" b="1" dirty="0">
                <a:solidFill>
                  <a:srgbClr val="000000"/>
                </a:solidFill>
                <a:latin typeface="Arial"/>
              </a:rPr>
              <a:t> </a:t>
            </a:r>
          </a:p>
        </p:txBody>
      </p:sp>
      <p:sp>
        <p:nvSpPr>
          <p:cNvPr id="3" name="矩形 2"/>
          <p:cNvSpPr/>
          <p:nvPr/>
        </p:nvSpPr>
        <p:spPr>
          <a:xfrm>
            <a:off x="2865396" y="3789040"/>
            <a:ext cx="4382732" cy="584775"/>
          </a:xfrm>
          <a:prstGeom prst="rect">
            <a:avLst/>
          </a:prstGeom>
        </p:spPr>
        <p:txBody>
          <a:bodyPr wrap="square">
            <a:spAutoFit/>
          </a:bodyPr>
          <a:lstStyle/>
          <a:p>
            <a:r>
              <a:rPr kumimoji="1" lang="en-US" altLang="zh-CN" sz="3200" b="1" dirty="0">
                <a:solidFill>
                  <a:srgbClr val="00007D"/>
                </a:solidFill>
                <a:latin typeface="Arial"/>
                <a:sym typeface="Symbol" pitchFamily="18" charset="2"/>
              </a:rPr>
              <a:t></a:t>
            </a:r>
            <a:r>
              <a:rPr kumimoji="1" lang="en-US" altLang="zh-CN" sz="3200" b="1" i="1" dirty="0">
                <a:solidFill>
                  <a:srgbClr val="00007D"/>
                </a:solidFill>
                <a:latin typeface="Arial"/>
                <a:sym typeface="Symbol" pitchFamily="18" charset="2"/>
              </a:rPr>
              <a:t>k</a:t>
            </a:r>
            <a:r>
              <a:rPr kumimoji="1" lang="en-US" altLang="zh-CN" sz="3200" b="1" baseline="-25000" dirty="0">
                <a:solidFill>
                  <a:srgbClr val="00007D"/>
                </a:solidFill>
                <a:latin typeface="Arial"/>
                <a:sym typeface="Symbol" pitchFamily="18" charset="2"/>
              </a:rPr>
              <a:t>0</a:t>
            </a:r>
            <a:r>
              <a:rPr kumimoji="1" lang="en-US" altLang="zh-CN" sz="3200" b="1" dirty="0">
                <a:solidFill>
                  <a:srgbClr val="00007D"/>
                </a:solidFill>
                <a:latin typeface="Arial"/>
                <a:sym typeface="Symbol" pitchFamily="18" charset="2"/>
              </a:rPr>
              <a:t>,  </a:t>
            </a:r>
            <a:r>
              <a:rPr kumimoji="1" lang="en-US" altLang="zh-CN" sz="3200" b="1" i="1" dirty="0">
                <a:solidFill>
                  <a:srgbClr val="00007D"/>
                </a:solidFill>
                <a:latin typeface="Arial"/>
              </a:rPr>
              <a:t>q</a:t>
            </a:r>
            <a:r>
              <a:rPr kumimoji="1" lang="en-US" altLang="zh-CN" sz="3200" b="1" i="1" baseline="-30000" dirty="0">
                <a:solidFill>
                  <a:srgbClr val="00007D"/>
                </a:solidFill>
                <a:latin typeface="Arial"/>
                <a:ea typeface="黑体" pitchFamily="2" charset="-122"/>
              </a:rPr>
              <a:t>ik</a:t>
            </a:r>
            <a:r>
              <a:rPr kumimoji="1" lang="en-US" altLang="zh-CN" sz="3200" b="1" baseline="-50000" dirty="0">
                <a:solidFill>
                  <a:srgbClr val="00007D"/>
                </a:solidFill>
                <a:latin typeface="Arial"/>
                <a:sym typeface="Symbol" pitchFamily="18" charset="2"/>
              </a:rPr>
              <a:t>0</a:t>
            </a:r>
            <a:r>
              <a:rPr kumimoji="1" lang="en-US" altLang="zh-CN" sz="3200" b="1" dirty="0">
                <a:solidFill>
                  <a:srgbClr val="00007D"/>
                </a:solidFill>
                <a:latin typeface="Arial"/>
              </a:rPr>
              <a:t> </a:t>
            </a:r>
            <a:r>
              <a:rPr kumimoji="1" lang="en-US" altLang="zh-CN" sz="3200" b="1" dirty="0">
                <a:solidFill>
                  <a:srgbClr val="00007D"/>
                </a:solidFill>
                <a:latin typeface="Arial"/>
                <a:sym typeface="Symbol"/>
              </a:rPr>
              <a:t> </a:t>
            </a:r>
            <a:r>
              <a:rPr kumimoji="1" lang="en-US" altLang="zh-CN" sz="3200" b="1" i="1" dirty="0">
                <a:solidFill>
                  <a:srgbClr val="00007D"/>
                </a:solidFill>
                <a:latin typeface="Arial"/>
              </a:rPr>
              <a:t>r</a:t>
            </a:r>
            <a:r>
              <a:rPr kumimoji="1" lang="en-US" altLang="zh-CN" sz="3200" b="1" i="1" baseline="-30000" dirty="0">
                <a:solidFill>
                  <a:srgbClr val="00007D"/>
                </a:solidFill>
                <a:latin typeface="Arial"/>
                <a:ea typeface="黑体" pitchFamily="2" charset="-122"/>
              </a:rPr>
              <a:t>k</a:t>
            </a:r>
            <a:r>
              <a:rPr kumimoji="1" lang="en-US" altLang="zh-CN" sz="3200" b="1" baseline="-50000" dirty="0">
                <a:solidFill>
                  <a:srgbClr val="00007D"/>
                </a:solidFill>
                <a:latin typeface="Arial"/>
                <a:sym typeface="Symbol" pitchFamily="18" charset="2"/>
              </a:rPr>
              <a:t>0</a:t>
            </a:r>
            <a:r>
              <a:rPr kumimoji="1" lang="en-US" altLang="zh-CN" sz="3200" b="1" i="1" baseline="-30000" dirty="0">
                <a:solidFill>
                  <a:srgbClr val="00007D"/>
                </a:solidFill>
                <a:latin typeface="Arial"/>
                <a:ea typeface="黑体" pitchFamily="2" charset="-122"/>
              </a:rPr>
              <a:t>j</a:t>
            </a:r>
            <a:r>
              <a:rPr kumimoji="1" lang="en-US" altLang="zh-CN" sz="3200" b="1" dirty="0">
                <a:solidFill>
                  <a:srgbClr val="00007D"/>
                </a:solidFill>
                <a:latin typeface="Arial"/>
              </a:rPr>
              <a:t> ≥ </a:t>
            </a:r>
            <a:r>
              <a:rPr kumimoji="1" lang="en-US" altLang="zh-CN" sz="3200" b="1" i="1" dirty="0">
                <a:solidFill>
                  <a:srgbClr val="00007D"/>
                </a:solidFill>
                <a:latin typeface="Arial"/>
                <a:sym typeface="Symbol" pitchFamily="18" charset="2"/>
              </a:rPr>
              <a:t></a:t>
            </a:r>
            <a:r>
              <a:rPr kumimoji="1" lang="en-US" altLang="zh-CN" sz="3200" b="1" dirty="0">
                <a:solidFill>
                  <a:srgbClr val="00007D"/>
                </a:solidFill>
                <a:latin typeface="Arial"/>
              </a:rPr>
              <a:t> </a:t>
            </a:r>
            <a:endParaRPr lang="zh-CN" altLang="en-US" dirty="0"/>
          </a:p>
        </p:txBody>
      </p:sp>
      <p:sp>
        <p:nvSpPr>
          <p:cNvPr id="4" name="矩形 3"/>
          <p:cNvSpPr/>
          <p:nvPr/>
        </p:nvSpPr>
        <p:spPr>
          <a:xfrm>
            <a:off x="2855640" y="4437156"/>
            <a:ext cx="5256584" cy="624595"/>
          </a:xfrm>
          <a:prstGeom prst="rect">
            <a:avLst/>
          </a:prstGeom>
        </p:spPr>
        <p:txBody>
          <a:bodyPr wrap="square">
            <a:spAutoFit/>
          </a:bodyPr>
          <a:lstStyle/>
          <a:p>
            <a:pPr lvl="0">
              <a:lnSpc>
                <a:spcPct val="120000"/>
              </a:lnSpc>
            </a:pPr>
            <a:r>
              <a:rPr kumimoji="1" lang="en-US" altLang="zh-CN" sz="3200" b="1" dirty="0">
                <a:solidFill>
                  <a:srgbClr val="00007D"/>
                </a:solidFill>
                <a:latin typeface="Arial"/>
                <a:sym typeface="Symbol" pitchFamily="18" charset="2"/>
              </a:rPr>
              <a:t></a:t>
            </a:r>
            <a:r>
              <a:rPr kumimoji="1" lang="en-US" altLang="zh-CN" sz="3200" b="1" i="1" dirty="0">
                <a:solidFill>
                  <a:srgbClr val="00007D"/>
                </a:solidFill>
                <a:latin typeface="Arial"/>
                <a:sym typeface="Symbol" pitchFamily="18" charset="2"/>
              </a:rPr>
              <a:t>k</a:t>
            </a:r>
            <a:r>
              <a:rPr kumimoji="1" lang="en-US" altLang="zh-CN" sz="3200" b="1" baseline="-25000" dirty="0">
                <a:solidFill>
                  <a:srgbClr val="00007D"/>
                </a:solidFill>
                <a:latin typeface="Arial"/>
                <a:sym typeface="Symbol" pitchFamily="18" charset="2"/>
              </a:rPr>
              <a:t>0</a:t>
            </a:r>
            <a:r>
              <a:rPr kumimoji="1" lang="en-US" altLang="zh-CN" sz="3200" b="1" dirty="0">
                <a:solidFill>
                  <a:srgbClr val="00007D"/>
                </a:solidFill>
                <a:latin typeface="Arial"/>
                <a:sym typeface="Symbol" pitchFamily="18" charset="2"/>
              </a:rPr>
              <a:t>,  </a:t>
            </a:r>
            <a:r>
              <a:rPr kumimoji="1" lang="en-US" altLang="zh-CN" sz="3200" b="1" i="1" dirty="0">
                <a:solidFill>
                  <a:srgbClr val="00007D"/>
                </a:solidFill>
                <a:latin typeface="Arial"/>
                <a:sym typeface="Symbol" pitchFamily="18" charset="2"/>
              </a:rPr>
              <a:t>q</a:t>
            </a:r>
            <a:r>
              <a:rPr kumimoji="1" lang="en-US" altLang="zh-CN" sz="3200" b="1" i="1" baseline="-30000" dirty="0">
                <a:solidFill>
                  <a:srgbClr val="00007D"/>
                </a:solidFill>
                <a:latin typeface="Arial"/>
                <a:ea typeface="黑体" pitchFamily="2" charset="-122"/>
              </a:rPr>
              <a:t>ik</a:t>
            </a:r>
            <a:r>
              <a:rPr kumimoji="1" lang="en-US" altLang="zh-CN" sz="3200" b="1" baseline="-50000" dirty="0">
                <a:solidFill>
                  <a:srgbClr val="00007D"/>
                </a:solidFill>
                <a:latin typeface="Arial"/>
                <a:sym typeface="Symbol" pitchFamily="18" charset="2"/>
              </a:rPr>
              <a:t>0</a:t>
            </a:r>
            <a:r>
              <a:rPr kumimoji="1" lang="en-US" altLang="zh-CN" sz="3200" b="1" i="1" baseline="-30000" dirty="0">
                <a:solidFill>
                  <a:srgbClr val="00007D"/>
                </a:solidFill>
                <a:latin typeface="Arial"/>
                <a:ea typeface="黑体" pitchFamily="2" charset="-122"/>
              </a:rPr>
              <a:t> </a:t>
            </a:r>
            <a:r>
              <a:rPr kumimoji="1" lang="en-US" altLang="zh-CN" sz="3200" b="1" dirty="0">
                <a:solidFill>
                  <a:srgbClr val="00007D"/>
                </a:solidFill>
                <a:latin typeface="Arial"/>
              </a:rPr>
              <a:t>≥</a:t>
            </a:r>
            <a:r>
              <a:rPr kumimoji="1" lang="en-US" altLang="zh-CN" sz="3200" b="1" i="1" dirty="0">
                <a:solidFill>
                  <a:srgbClr val="00007D"/>
                </a:solidFill>
                <a:latin typeface="Arial"/>
                <a:sym typeface="Symbol" pitchFamily="18" charset="2"/>
              </a:rPr>
              <a:t> </a:t>
            </a:r>
            <a:r>
              <a:rPr kumimoji="1" lang="en-US" altLang="zh-CN" sz="3200" b="1" dirty="0">
                <a:solidFill>
                  <a:srgbClr val="00007D"/>
                </a:solidFill>
                <a:latin typeface="Arial"/>
                <a:sym typeface="Symbol" pitchFamily="18" charset="2"/>
              </a:rPr>
              <a:t> </a:t>
            </a:r>
            <a:r>
              <a:rPr kumimoji="1" lang="zh-CN" altLang="en-US" sz="3200" b="1" dirty="0">
                <a:solidFill>
                  <a:srgbClr val="00007D"/>
                </a:solidFill>
                <a:latin typeface="Arial"/>
              </a:rPr>
              <a:t>且 </a:t>
            </a:r>
            <a:r>
              <a:rPr kumimoji="1" lang="en-US" altLang="zh-CN" sz="3200" b="1" dirty="0">
                <a:solidFill>
                  <a:srgbClr val="00007D"/>
                </a:solidFill>
                <a:latin typeface="Arial"/>
              </a:rPr>
              <a:t> </a:t>
            </a:r>
            <a:r>
              <a:rPr kumimoji="1" lang="en-US" altLang="zh-CN" sz="3200" b="1" i="1" dirty="0">
                <a:solidFill>
                  <a:srgbClr val="00007D"/>
                </a:solidFill>
                <a:latin typeface="Arial"/>
              </a:rPr>
              <a:t>r</a:t>
            </a:r>
            <a:r>
              <a:rPr kumimoji="1" lang="en-US" altLang="zh-CN" sz="3200" b="1" i="1" baseline="-30000" dirty="0">
                <a:solidFill>
                  <a:srgbClr val="00007D"/>
                </a:solidFill>
                <a:latin typeface="Arial"/>
                <a:ea typeface="黑体" pitchFamily="2" charset="-122"/>
              </a:rPr>
              <a:t>k</a:t>
            </a:r>
            <a:r>
              <a:rPr kumimoji="1" lang="en-US" altLang="zh-CN" sz="3200" b="1" baseline="-50000" dirty="0">
                <a:solidFill>
                  <a:srgbClr val="00007D"/>
                </a:solidFill>
                <a:latin typeface="Arial"/>
                <a:sym typeface="Symbol" pitchFamily="18" charset="2"/>
              </a:rPr>
              <a:t>0</a:t>
            </a:r>
            <a:r>
              <a:rPr kumimoji="1" lang="en-US" altLang="zh-CN" sz="3200" b="1" i="1" baseline="-30000" dirty="0">
                <a:solidFill>
                  <a:srgbClr val="00007D"/>
                </a:solidFill>
                <a:latin typeface="Arial"/>
                <a:ea typeface="黑体" pitchFamily="2" charset="-122"/>
              </a:rPr>
              <a:t>j </a:t>
            </a:r>
            <a:r>
              <a:rPr kumimoji="1" lang="en-US" altLang="zh-CN" sz="3200" b="1" dirty="0">
                <a:solidFill>
                  <a:srgbClr val="00007D"/>
                </a:solidFill>
                <a:latin typeface="Arial"/>
              </a:rPr>
              <a:t>≥ </a:t>
            </a:r>
            <a:r>
              <a:rPr kumimoji="1" lang="en-US" altLang="zh-CN" sz="3200" b="1" i="1" dirty="0">
                <a:solidFill>
                  <a:srgbClr val="00007D"/>
                </a:solidFill>
                <a:latin typeface="Arial"/>
                <a:sym typeface="Symbol" pitchFamily="18" charset="2"/>
              </a:rPr>
              <a:t></a:t>
            </a:r>
            <a:r>
              <a:rPr kumimoji="1" lang="en-US" altLang="zh-CN" sz="3200" b="1" dirty="0">
                <a:solidFill>
                  <a:srgbClr val="00007D"/>
                </a:solidFill>
                <a:latin typeface="Arial"/>
              </a:rPr>
              <a:t> </a:t>
            </a:r>
          </a:p>
        </p:txBody>
      </p:sp>
      <p:sp>
        <p:nvSpPr>
          <p:cNvPr id="5" name="矩形 4"/>
          <p:cNvSpPr/>
          <p:nvPr/>
        </p:nvSpPr>
        <p:spPr>
          <a:xfrm>
            <a:off x="2855640" y="5220489"/>
            <a:ext cx="4824536" cy="584775"/>
          </a:xfrm>
          <a:prstGeom prst="rect">
            <a:avLst/>
          </a:prstGeom>
        </p:spPr>
        <p:txBody>
          <a:bodyPr wrap="square">
            <a:spAutoFit/>
          </a:bodyPr>
          <a:lstStyle/>
          <a:p>
            <a:r>
              <a:rPr kumimoji="1" lang="en-US" altLang="zh-CN" sz="3200" b="1" dirty="0">
                <a:solidFill>
                  <a:srgbClr val="00007D"/>
                </a:solidFill>
                <a:latin typeface="Arial"/>
                <a:sym typeface="Symbol" pitchFamily="18" charset="2"/>
              </a:rPr>
              <a:t></a:t>
            </a:r>
            <a:r>
              <a:rPr kumimoji="1" lang="en-US" altLang="zh-CN" sz="3200" b="1" i="1" dirty="0">
                <a:solidFill>
                  <a:srgbClr val="00007D"/>
                </a:solidFill>
                <a:latin typeface="Arial"/>
                <a:sym typeface="Symbol" pitchFamily="18" charset="2"/>
              </a:rPr>
              <a:t>k</a:t>
            </a:r>
            <a:r>
              <a:rPr kumimoji="1" lang="en-US" altLang="zh-CN" sz="3200" b="1" baseline="-25000" dirty="0">
                <a:solidFill>
                  <a:srgbClr val="00007D"/>
                </a:solidFill>
                <a:latin typeface="Arial"/>
                <a:sym typeface="Symbol" pitchFamily="18" charset="2"/>
              </a:rPr>
              <a:t>0</a:t>
            </a:r>
            <a:r>
              <a:rPr kumimoji="1" lang="en-US" altLang="zh-CN" sz="3200" b="1" dirty="0">
                <a:solidFill>
                  <a:srgbClr val="00007D"/>
                </a:solidFill>
                <a:latin typeface="Arial"/>
                <a:sym typeface="Symbol" pitchFamily="18" charset="2"/>
              </a:rPr>
              <a:t>, </a:t>
            </a:r>
            <a:r>
              <a:rPr kumimoji="1" lang="en-US" altLang="zh-CN" sz="3200" b="1" i="1" dirty="0">
                <a:solidFill>
                  <a:srgbClr val="00007D"/>
                </a:solidFill>
                <a:latin typeface="Arial"/>
                <a:sym typeface="Symbol" pitchFamily="18" charset="2"/>
              </a:rPr>
              <a:t>q</a:t>
            </a:r>
            <a:r>
              <a:rPr kumimoji="1" lang="en-US" altLang="zh-CN" sz="3200" b="1" i="1" baseline="-30000" dirty="0">
                <a:solidFill>
                  <a:srgbClr val="00007D"/>
                </a:solidFill>
                <a:latin typeface="Arial"/>
                <a:ea typeface="黑体" pitchFamily="2" charset="-122"/>
              </a:rPr>
              <a:t>ik</a:t>
            </a:r>
            <a:r>
              <a:rPr kumimoji="1" lang="en-US" altLang="zh-CN" sz="3200" b="1" baseline="-50000" dirty="0">
                <a:solidFill>
                  <a:srgbClr val="00007D"/>
                </a:solidFill>
                <a:latin typeface="Arial"/>
                <a:sym typeface="Symbol" pitchFamily="18" charset="2"/>
              </a:rPr>
              <a:t>0 </a:t>
            </a:r>
            <a:r>
              <a:rPr kumimoji="1" lang="en-US" altLang="zh-CN" sz="3200" b="1" dirty="0">
                <a:solidFill>
                  <a:srgbClr val="00007D"/>
                </a:solidFill>
                <a:latin typeface="Arial"/>
                <a:ea typeface="黑体" pitchFamily="2" charset="-122"/>
              </a:rPr>
              <a:t>(</a:t>
            </a:r>
            <a:r>
              <a:rPr kumimoji="1" lang="en-US" altLang="zh-CN" sz="3200" b="1" i="1" dirty="0">
                <a:solidFill>
                  <a:srgbClr val="00007D"/>
                </a:solidFill>
                <a:latin typeface="Arial"/>
                <a:ea typeface="黑体" pitchFamily="2" charset="-122"/>
                <a:sym typeface="Symbol" pitchFamily="18" charset="2"/>
              </a:rPr>
              <a:t></a:t>
            </a:r>
            <a:r>
              <a:rPr kumimoji="1" lang="en-US" altLang="zh-CN" sz="3200" b="1" dirty="0">
                <a:solidFill>
                  <a:srgbClr val="00007D"/>
                </a:solidFill>
                <a:latin typeface="Arial"/>
                <a:ea typeface="黑体" pitchFamily="2" charset="-122"/>
              </a:rPr>
              <a:t>)</a:t>
            </a:r>
            <a:r>
              <a:rPr kumimoji="1" lang="en-US" altLang="zh-CN" sz="3200" b="1" dirty="0">
                <a:solidFill>
                  <a:srgbClr val="00007D"/>
                </a:solidFill>
                <a:latin typeface="Arial"/>
              </a:rPr>
              <a:t> = </a:t>
            </a:r>
            <a:r>
              <a:rPr kumimoji="1" lang="en-US" altLang="zh-CN" sz="3200" b="1" i="1" dirty="0">
                <a:solidFill>
                  <a:srgbClr val="00007D"/>
                </a:solidFill>
                <a:latin typeface="Arial"/>
              </a:rPr>
              <a:t>r</a:t>
            </a:r>
            <a:r>
              <a:rPr kumimoji="1" lang="en-US" altLang="zh-CN" sz="3200" b="1" i="1" baseline="-30000" dirty="0">
                <a:solidFill>
                  <a:srgbClr val="00007D"/>
                </a:solidFill>
                <a:latin typeface="Arial"/>
                <a:ea typeface="黑体" pitchFamily="2" charset="-122"/>
              </a:rPr>
              <a:t>k</a:t>
            </a:r>
            <a:r>
              <a:rPr kumimoji="1" lang="en-US" altLang="zh-CN" sz="3200" b="1" baseline="-50000" dirty="0">
                <a:solidFill>
                  <a:srgbClr val="00007D"/>
                </a:solidFill>
                <a:latin typeface="Arial"/>
                <a:sym typeface="Symbol" pitchFamily="18" charset="2"/>
              </a:rPr>
              <a:t>0</a:t>
            </a:r>
            <a:r>
              <a:rPr kumimoji="1" lang="en-US" altLang="zh-CN" sz="3200" b="1" i="1" baseline="-30000" dirty="0">
                <a:solidFill>
                  <a:srgbClr val="00007D"/>
                </a:solidFill>
                <a:latin typeface="Arial"/>
                <a:ea typeface="黑体" pitchFamily="2" charset="-122"/>
              </a:rPr>
              <a:t>j</a:t>
            </a:r>
            <a:r>
              <a:rPr kumimoji="1" lang="en-US" altLang="zh-CN" sz="3200" b="1" dirty="0">
                <a:solidFill>
                  <a:srgbClr val="00007D"/>
                </a:solidFill>
                <a:latin typeface="Arial"/>
                <a:ea typeface="黑体" pitchFamily="2" charset="-122"/>
              </a:rPr>
              <a:t>(</a:t>
            </a:r>
            <a:r>
              <a:rPr kumimoji="1" lang="en-US" altLang="zh-CN" sz="3200" b="1" i="1" dirty="0">
                <a:solidFill>
                  <a:srgbClr val="00007D"/>
                </a:solidFill>
                <a:latin typeface="Arial"/>
                <a:ea typeface="黑体" pitchFamily="2" charset="-122"/>
                <a:sym typeface="Symbol" pitchFamily="18" charset="2"/>
              </a:rPr>
              <a:t></a:t>
            </a:r>
            <a:r>
              <a:rPr kumimoji="1" lang="en-US" altLang="zh-CN" sz="3200" b="1" dirty="0">
                <a:solidFill>
                  <a:srgbClr val="00007D"/>
                </a:solidFill>
                <a:latin typeface="Arial"/>
                <a:ea typeface="黑体" pitchFamily="2" charset="-122"/>
              </a:rPr>
              <a:t>)</a:t>
            </a:r>
            <a:r>
              <a:rPr kumimoji="1" lang="en-US" altLang="zh-CN" sz="3200" b="1" dirty="0">
                <a:solidFill>
                  <a:srgbClr val="00007D"/>
                </a:solidFill>
                <a:latin typeface="Arial"/>
              </a:rPr>
              <a:t> = 1 </a:t>
            </a:r>
            <a:endParaRPr lang="zh-CN" altLang="en-US" dirty="0"/>
          </a:p>
        </p:txBody>
      </p:sp>
      <p:sp>
        <p:nvSpPr>
          <p:cNvPr id="6" name="矩形 5"/>
          <p:cNvSpPr/>
          <p:nvPr/>
        </p:nvSpPr>
        <p:spPr>
          <a:xfrm>
            <a:off x="6240016" y="2132856"/>
            <a:ext cx="3998210" cy="461665"/>
          </a:xfrm>
          <a:prstGeom prst="rect">
            <a:avLst/>
          </a:prstGeom>
        </p:spPr>
        <p:txBody>
          <a:bodyPr wrap="none">
            <a:spAutoFit/>
          </a:bodyPr>
          <a:lstStyle/>
          <a:p>
            <a:r>
              <a:rPr kumimoji="1" lang="zh-CN" altLang="en-US" b="1" i="1" dirty="0">
                <a:solidFill>
                  <a:srgbClr val="008000"/>
                </a:solidFill>
              </a:rPr>
              <a:t> </a:t>
            </a:r>
            <a:r>
              <a:rPr kumimoji="1" lang="en-US" altLang="zh-CN" sz="2400" b="1" i="1" dirty="0" err="1">
                <a:solidFill>
                  <a:srgbClr val="008000"/>
                </a:solidFill>
              </a:rPr>
              <a:t>p</a:t>
            </a:r>
            <a:r>
              <a:rPr kumimoji="1" lang="en-US" altLang="zh-CN" sz="2400" b="1" i="1" baseline="-25000" dirty="0" err="1">
                <a:solidFill>
                  <a:srgbClr val="008000"/>
                </a:solidFill>
              </a:rPr>
              <a:t>ij</a:t>
            </a:r>
            <a:r>
              <a:rPr kumimoji="1" lang="en-US" altLang="zh-CN" sz="2400" b="1" i="1" dirty="0">
                <a:solidFill>
                  <a:srgbClr val="008000"/>
                </a:solidFill>
              </a:rPr>
              <a:t> </a:t>
            </a:r>
            <a:r>
              <a:rPr kumimoji="1" lang="en-US" altLang="zh-CN" sz="2400" b="1" dirty="0">
                <a:solidFill>
                  <a:srgbClr val="008000"/>
                </a:solidFill>
              </a:rPr>
              <a:t>= </a:t>
            </a:r>
            <a:r>
              <a:rPr kumimoji="1" lang="en-US" altLang="zh-CN" sz="2400" b="1" dirty="0">
                <a:solidFill>
                  <a:srgbClr val="008000"/>
                </a:solidFill>
                <a:sym typeface="Symbol" pitchFamily="18" charset="2"/>
              </a:rPr>
              <a:t>∨</a:t>
            </a:r>
            <a:r>
              <a:rPr kumimoji="1" lang="en-US" altLang="zh-CN" sz="2400" b="1" dirty="0">
                <a:solidFill>
                  <a:srgbClr val="008000"/>
                </a:solidFill>
              </a:rPr>
              <a:t>{(</a:t>
            </a:r>
            <a:r>
              <a:rPr kumimoji="1" lang="en-US" altLang="zh-CN" sz="2400" b="1" i="1" dirty="0" err="1">
                <a:solidFill>
                  <a:srgbClr val="008000"/>
                </a:solidFill>
              </a:rPr>
              <a:t>q</a:t>
            </a:r>
            <a:r>
              <a:rPr kumimoji="1" lang="en-US" altLang="zh-CN" sz="2400" b="1" i="1" baseline="-25000" dirty="0" err="1">
                <a:solidFill>
                  <a:srgbClr val="008000"/>
                </a:solidFill>
              </a:rPr>
              <a:t>ik</a:t>
            </a:r>
            <a:r>
              <a:rPr kumimoji="1" lang="en-US" altLang="zh-CN" sz="2400" b="1" i="1" baseline="-25000" dirty="0">
                <a:solidFill>
                  <a:srgbClr val="008000"/>
                </a:solidFill>
              </a:rPr>
              <a:t> </a:t>
            </a:r>
            <a:r>
              <a:rPr kumimoji="1" lang="en-US" altLang="zh-CN" sz="2400" b="1" dirty="0">
                <a:solidFill>
                  <a:srgbClr val="008000"/>
                </a:solidFill>
                <a:sym typeface="Symbol"/>
              </a:rPr>
              <a:t> </a:t>
            </a:r>
            <a:r>
              <a:rPr kumimoji="1" lang="en-US" altLang="zh-CN" sz="2400" b="1" i="1" dirty="0" err="1">
                <a:solidFill>
                  <a:srgbClr val="008000"/>
                </a:solidFill>
              </a:rPr>
              <a:t>r</a:t>
            </a:r>
            <a:r>
              <a:rPr kumimoji="1" lang="en-US" altLang="zh-CN" sz="2400" b="1" i="1" baseline="-25000" dirty="0" err="1">
                <a:solidFill>
                  <a:srgbClr val="008000"/>
                </a:solidFill>
              </a:rPr>
              <a:t>kj</a:t>
            </a:r>
            <a:r>
              <a:rPr kumimoji="1" lang="en-US" altLang="zh-CN" sz="2400" b="1" dirty="0">
                <a:solidFill>
                  <a:srgbClr val="008000"/>
                </a:solidFill>
              </a:rPr>
              <a:t>) |1 ≤ </a:t>
            </a:r>
            <a:r>
              <a:rPr kumimoji="1" lang="en-US" altLang="zh-CN" sz="2400" b="1" i="1" dirty="0">
                <a:solidFill>
                  <a:srgbClr val="008000"/>
                </a:solidFill>
              </a:rPr>
              <a:t>k </a:t>
            </a:r>
            <a:r>
              <a:rPr kumimoji="1" lang="en-US" altLang="zh-CN" sz="2400" b="1" dirty="0">
                <a:solidFill>
                  <a:srgbClr val="008000"/>
                </a:solidFill>
              </a:rPr>
              <a:t>≤ </a:t>
            </a:r>
            <a:r>
              <a:rPr kumimoji="1" lang="en-US" altLang="zh-CN" sz="2400" b="1" i="1" dirty="0">
                <a:solidFill>
                  <a:srgbClr val="008000"/>
                </a:solidFill>
              </a:rPr>
              <a:t>s </a:t>
            </a:r>
            <a:r>
              <a:rPr kumimoji="1" lang="en-US" altLang="zh-CN" sz="2400" b="1" dirty="0">
                <a:solidFill>
                  <a:srgbClr val="008000"/>
                </a:solidFill>
              </a:rPr>
              <a:t>}</a:t>
            </a:r>
            <a:endParaRPr lang="zh-CN" altLang="en-US" sz="2400" dirty="0">
              <a:solidFill>
                <a:srgbClr val="008000"/>
              </a:solidFill>
            </a:endParaRPr>
          </a:p>
        </p:txBody>
      </p:sp>
      <p:sp>
        <p:nvSpPr>
          <p:cNvPr id="8" name="矩形 7"/>
          <p:cNvSpPr/>
          <p:nvPr/>
        </p:nvSpPr>
        <p:spPr>
          <a:xfrm>
            <a:off x="1343473" y="6156594"/>
            <a:ext cx="1665841" cy="584775"/>
          </a:xfrm>
          <a:prstGeom prst="rect">
            <a:avLst/>
          </a:prstGeom>
        </p:spPr>
        <p:txBody>
          <a:bodyPr wrap="none">
            <a:spAutoFit/>
          </a:bodyPr>
          <a:lstStyle/>
          <a:p>
            <a:r>
              <a:rPr kumimoji="1" lang="en-US" altLang="zh-CN" sz="3200" b="1" i="1" dirty="0" err="1">
                <a:solidFill>
                  <a:srgbClr val="EE0006"/>
                </a:solidFill>
                <a:ea typeface="黑体" pitchFamily="2" charset="-122"/>
              </a:rPr>
              <a:t>p</a:t>
            </a:r>
            <a:r>
              <a:rPr kumimoji="1" lang="en-US" altLang="zh-CN" sz="3200" b="1" i="1" baseline="-30000" dirty="0" err="1">
                <a:solidFill>
                  <a:srgbClr val="EE0006"/>
                </a:solidFill>
                <a:ea typeface="黑体" pitchFamily="2" charset="-122"/>
              </a:rPr>
              <a:t>ij</a:t>
            </a:r>
            <a:r>
              <a:rPr kumimoji="1" lang="en-US" altLang="zh-CN" sz="3200" b="1" dirty="0">
                <a:solidFill>
                  <a:srgbClr val="EE0006"/>
                </a:solidFill>
                <a:ea typeface="黑体" pitchFamily="2" charset="-122"/>
              </a:rPr>
              <a:t>(</a:t>
            </a:r>
            <a:r>
              <a:rPr kumimoji="1" lang="en-US" altLang="zh-CN" sz="3200" b="1" i="1" dirty="0">
                <a:solidFill>
                  <a:srgbClr val="EE0006"/>
                </a:solidFill>
                <a:ea typeface="黑体" pitchFamily="2" charset="-122"/>
                <a:sym typeface="Symbol" pitchFamily="18" charset="2"/>
              </a:rPr>
              <a:t></a:t>
            </a:r>
            <a:r>
              <a:rPr kumimoji="1" lang="en-US" altLang="zh-CN" sz="3200" b="1" dirty="0">
                <a:solidFill>
                  <a:srgbClr val="EE0006"/>
                </a:solidFill>
                <a:ea typeface="黑体" pitchFamily="2" charset="-122"/>
              </a:rPr>
              <a:t>)</a:t>
            </a:r>
            <a:r>
              <a:rPr kumimoji="1" lang="en-US" altLang="zh-CN" sz="3200" b="1" dirty="0">
                <a:solidFill>
                  <a:srgbClr val="EE0006"/>
                </a:solidFill>
              </a:rPr>
              <a:t> =1</a:t>
            </a:r>
            <a:endParaRPr lang="zh-CN" altLang="en-US" sz="3200" dirty="0"/>
          </a:p>
        </p:txBody>
      </p:sp>
      <p:sp>
        <p:nvSpPr>
          <p:cNvPr id="7" name="灯片编号占位符 6">
            <a:extLst>
              <a:ext uri="{FF2B5EF4-FFF2-40B4-BE49-F238E27FC236}">
                <a16:creationId xmlns:a16="http://schemas.microsoft.com/office/drawing/2014/main" id="{95F27E07-C30D-D9E0-DEC2-C8F6E09E9526}"/>
              </a:ext>
            </a:extLst>
          </p:cNvPr>
          <p:cNvSpPr>
            <a:spLocks noGrp="1"/>
          </p:cNvSpPr>
          <p:nvPr>
            <p:ph type="sldNum" sz="quarter" idx="11"/>
          </p:nvPr>
        </p:nvSpPr>
        <p:spPr/>
        <p:txBody>
          <a:bodyPr/>
          <a:lstStyle/>
          <a:p>
            <a:pPr>
              <a:defRPr/>
            </a:pPr>
            <a:fld id="{FCD2DEF3-CC22-46D7-B1CE-CC374960B969}" type="slidenum">
              <a:rPr lang="en-US" altLang="zh-CN" smtClean="0"/>
              <a:pPr>
                <a:defRPr/>
              </a:pPr>
              <a:t>4</a:t>
            </a:fld>
            <a:endParaRPr lang="en-US" altLang="zh-CN"/>
          </a:p>
        </p:txBody>
      </p:sp>
      <p:graphicFrame>
        <p:nvGraphicFramePr>
          <p:cNvPr id="10" name="Object 4">
            <a:extLst>
              <a:ext uri="{FF2B5EF4-FFF2-40B4-BE49-F238E27FC236}">
                <a16:creationId xmlns:a16="http://schemas.microsoft.com/office/drawing/2014/main" id="{DFFE101C-5312-BEAB-7225-B9829233C61D}"/>
              </a:ext>
            </a:extLst>
          </p:cNvPr>
          <p:cNvGraphicFramePr>
            <a:graphicFrameLocks noChangeAspect="1"/>
          </p:cNvGraphicFramePr>
          <p:nvPr>
            <p:extLst>
              <p:ext uri="{D42A27DB-BD31-4B8C-83A1-F6EECF244321}">
                <p14:modId xmlns:p14="http://schemas.microsoft.com/office/powerpoint/2010/main" val="2550024998"/>
              </p:ext>
            </p:extLst>
          </p:nvPr>
        </p:nvGraphicFramePr>
        <p:xfrm>
          <a:off x="7608168" y="2890425"/>
          <a:ext cx="4382732" cy="1123959"/>
        </p:xfrm>
        <a:graphic>
          <a:graphicData uri="http://schemas.openxmlformats.org/presentationml/2006/ole">
            <mc:AlternateContent xmlns:mc="http://schemas.openxmlformats.org/markup-compatibility/2006">
              <mc:Choice xmlns:v="urn:schemas-microsoft-com:vml" Requires="v">
                <p:oleObj name="Equation" r:id="rId5" imgW="2184120" imgH="558720" progId="Equation.DSMT4">
                  <p:embed/>
                </p:oleObj>
              </mc:Choice>
              <mc:Fallback>
                <p:oleObj name="Equation" r:id="rId5" imgW="2184120" imgH="558720" progId="Equation.DSMT4">
                  <p:embed/>
                  <p:pic>
                    <p:nvPicPr>
                      <p:cNvPr id="6" name="Object 4">
                        <a:extLst>
                          <a:ext uri="{FF2B5EF4-FFF2-40B4-BE49-F238E27FC236}">
                            <a16:creationId xmlns:a16="http://schemas.microsoft.com/office/drawing/2014/main" id="{B1E84F00-D0DB-912E-4EF4-22749B070D3F}"/>
                          </a:ext>
                        </a:extLst>
                      </p:cNvPr>
                      <p:cNvPicPr>
                        <a:picLocks noChangeAspect="1" noChangeArrowheads="1"/>
                      </p:cNvPicPr>
                      <p:nvPr/>
                    </p:nvPicPr>
                    <p:blipFill>
                      <a:blip r:embed="rId6"/>
                      <a:srcRect/>
                      <a:stretch>
                        <a:fillRect/>
                      </a:stretch>
                    </p:blipFill>
                    <p:spPr bwMode="auto">
                      <a:xfrm>
                        <a:off x="7608168" y="2890425"/>
                        <a:ext cx="4382732" cy="1123959"/>
                      </a:xfrm>
                      <a:prstGeom prst="rect">
                        <a:avLst/>
                      </a:prstGeom>
                      <a:solidFill>
                        <a:srgbClr val="99FF66"/>
                      </a:solidFill>
                      <a:ln>
                        <a:noFill/>
                      </a:ln>
                    </p:spPr>
                  </p:pic>
                </p:oleObj>
              </mc:Fallback>
            </mc:AlternateContent>
          </a:graphicData>
        </a:graphic>
      </p:graphicFrame>
    </p:spTree>
    <p:extLst>
      <p:ext uri="{BB962C8B-B14F-4D97-AF65-F5344CB8AC3E}">
        <p14:creationId xmlns:p14="http://schemas.microsoft.com/office/powerpoint/2010/main" val="631067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66564">
                                            <p:txEl>
                                              <p:pRg st="0" end="0"/>
                                            </p:txEl>
                                          </p:spTgt>
                                        </p:tgtEl>
                                        <p:attrNameLst>
                                          <p:attrName>style.visibility</p:attrName>
                                        </p:attrNameLst>
                                      </p:cBhvr>
                                      <p:to>
                                        <p:strVal val="visible"/>
                                      </p:to>
                                    </p:set>
                                    <p:anim calcmode="lin" valueType="num">
                                      <p:cBhvr additive="base">
                                        <p:cTn id="20" dur="500" fill="hold"/>
                                        <p:tgtEl>
                                          <p:spTgt spid="66564">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6656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6565">
                                            <p:txEl>
                                              <p:pRg st="0" end="0"/>
                                            </p:txEl>
                                          </p:spTgt>
                                        </p:tgtEl>
                                        <p:attrNameLst>
                                          <p:attrName>style.visibility</p:attrName>
                                        </p:attrNameLst>
                                      </p:cBhvr>
                                      <p:to>
                                        <p:strVal val="visible"/>
                                      </p:to>
                                    </p:set>
                                    <p:animEffect transition="in" filter="wipe(left)">
                                      <p:cBhvr>
                                        <p:cTn id="46" dur="500"/>
                                        <p:tgtEl>
                                          <p:spTgt spid="66565">
                                            <p:txEl>
                                              <p:pRg st="0" end="0"/>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6564" grpId="0" build="p" autoUpdateAnimBg="0"/>
      <p:bldP spid="66565" grpId="0" build="p" autoUpdateAnimBg="0"/>
      <p:bldP spid="2" grpId="0"/>
      <p:bldP spid="3" grpId="0"/>
      <p:bldP spid="4" grpId="0"/>
      <p:bldP spid="5"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78A69415-5188-E013-C488-8E35E7605576}"/>
              </a:ext>
            </a:extLst>
          </p:cNvPr>
          <p:cNvSpPr/>
          <p:nvPr/>
        </p:nvSpPr>
        <p:spPr>
          <a:xfrm>
            <a:off x="1055439" y="260648"/>
            <a:ext cx="9145017" cy="1123959"/>
          </a:xfrm>
          <a:prstGeom prst="rect">
            <a:avLst/>
          </a:prstGeom>
          <a:solidFill>
            <a:srgbClr val="FFFF99"/>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66" name="Rectangle 6"/>
          <p:cNvSpPr>
            <a:spLocks noChangeArrowheads="1"/>
          </p:cNvSpPr>
          <p:nvPr/>
        </p:nvSpPr>
        <p:spPr bwMode="auto">
          <a:xfrm>
            <a:off x="1487487" y="2276873"/>
            <a:ext cx="347402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rgbClr val="EE0006"/>
                </a:solidFill>
                <a:latin typeface="+mn-lt"/>
                <a:ea typeface="黑体" pitchFamily="2" charset="-122"/>
              </a:rPr>
              <a:t>p</a:t>
            </a:r>
            <a:r>
              <a:rPr kumimoji="1" lang="en-US" altLang="zh-CN" sz="3200" b="1" i="1" baseline="-30000" dirty="0" err="1">
                <a:solidFill>
                  <a:srgbClr val="EE0006"/>
                </a:solidFill>
                <a:latin typeface="+mn-lt"/>
                <a:ea typeface="黑体" pitchFamily="2" charset="-122"/>
              </a:rPr>
              <a:t>ij</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 =0 </a:t>
            </a:r>
            <a:r>
              <a:rPr kumimoji="1" lang="en-US" altLang="zh-CN" sz="3200" b="1" dirty="0">
                <a:latin typeface="+mn-lt"/>
                <a:sym typeface="Symbol" pitchFamily="18" charset="2"/>
              </a:rPr>
              <a:t></a:t>
            </a:r>
            <a:r>
              <a:rPr kumimoji="1" lang="en-US" altLang="zh-CN" sz="3200" b="1" i="1" dirty="0">
                <a:latin typeface="+mn-lt"/>
                <a:sym typeface="Symbol" pitchFamily="18" charset="2"/>
              </a:rPr>
              <a:t> </a:t>
            </a:r>
            <a:r>
              <a:rPr kumimoji="1" lang="en-US" altLang="zh-CN" sz="3200" b="1" i="1" dirty="0" err="1">
                <a:latin typeface="+mn-lt"/>
                <a:sym typeface="Symbol" pitchFamily="18" charset="2"/>
              </a:rPr>
              <a:t>p</a:t>
            </a:r>
            <a:r>
              <a:rPr kumimoji="1" lang="en-US" altLang="zh-CN" sz="3200" b="1" i="1" baseline="-30000" dirty="0" err="1">
                <a:latin typeface="+mn-lt"/>
                <a:ea typeface="黑体" pitchFamily="2" charset="-122"/>
              </a:rPr>
              <a:t>ij</a:t>
            </a:r>
            <a:r>
              <a:rPr kumimoji="1" lang="zh-CN" altLang="en-US" sz="3200" b="1" dirty="0">
                <a:latin typeface="+mn-lt"/>
              </a:rPr>
              <a:t>＜</a:t>
            </a:r>
            <a:r>
              <a:rPr kumimoji="1" lang="zh-CN" altLang="en-US" sz="3200" b="1" i="1" dirty="0">
                <a:latin typeface="+mn-lt"/>
                <a:sym typeface="Symbol" pitchFamily="18" charset="2"/>
              </a:rPr>
              <a:t></a:t>
            </a:r>
            <a:r>
              <a:rPr kumimoji="1" lang="zh-CN" altLang="en-US" sz="3200" b="1" dirty="0">
                <a:latin typeface="+mn-lt"/>
              </a:rPr>
              <a:t> </a:t>
            </a:r>
          </a:p>
        </p:txBody>
      </p:sp>
      <p:sp>
        <p:nvSpPr>
          <p:cNvPr id="66567" name="Rectangle 7"/>
          <p:cNvSpPr>
            <a:spLocks noChangeArrowheads="1"/>
          </p:cNvSpPr>
          <p:nvPr/>
        </p:nvSpPr>
        <p:spPr bwMode="auto">
          <a:xfrm>
            <a:off x="3071664" y="5589241"/>
            <a:ext cx="3990195" cy="631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en-US" altLang="zh-CN" sz="3200" b="1" dirty="0">
                <a:solidFill>
                  <a:srgbClr val="CC00CC"/>
                </a:solidFill>
                <a:latin typeface="+mn-lt"/>
                <a:sym typeface="Symbol" pitchFamily="18" charset="2"/>
              </a:rPr>
              <a:t>∨</a:t>
            </a:r>
            <a:r>
              <a:rPr kumimoji="1" lang="en-US" altLang="zh-CN" sz="3200" b="1" dirty="0">
                <a:solidFill>
                  <a:srgbClr val="CC00CC"/>
                </a:solidFill>
                <a:latin typeface="+mn-lt"/>
              </a:rPr>
              <a:t>(</a:t>
            </a:r>
            <a:r>
              <a:rPr kumimoji="1" lang="en-US" altLang="zh-CN" sz="3200" b="1" i="1" dirty="0" err="1">
                <a:solidFill>
                  <a:srgbClr val="CC00CC"/>
                </a:solidFill>
                <a:latin typeface="+mn-lt"/>
              </a:rPr>
              <a:t>q</a:t>
            </a:r>
            <a:r>
              <a:rPr kumimoji="1" lang="en-US" altLang="zh-CN" sz="3200" b="1" i="1" baseline="-30000" dirty="0" err="1">
                <a:solidFill>
                  <a:srgbClr val="CC00CC"/>
                </a:solidFill>
                <a:latin typeface="+mn-lt"/>
                <a:ea typeface="黑体" pitchFamily="2" charset="-122"/>
              </a:rPr>
              <a:t>ik</a:t>
            </a:r>
            <a:r>
              <a:rPr kumimoji="1" lang="en-US" altLang="zh-CN" sz="3200" b="1" dirty="0">
                <a:solidFill>
                  <a:srgbClr val="CC00CC"/>
                </a:solidFill>
                <a:latin typeface="+mn-lt"/>
                <a:ea typeface="黑体" pitchFamily="2" charset="-122"/>
              </a:rPr>
              <a:t>(</a:t>
            </a:r>
            <a:r>
              <a:rPr kumimoji="1" lang="en-US" altLang="zh-CN" sz="3200" b="1" i="1" dirty="0">
                <a:solidFill>
                  <a:srgbClr val="CC00CC"/>
                </a:solidFill>
                <a:latin typeface="+mn-lt"/>
                <a:ea typeface="黑体" pitchFamily="2" charset="-122"/>
                <a:sym typeface="Symbol" pitchFamily="18" charset="2"/>
              </a:rPr>
              <a:t></a:t>
            </a:r>
            <a:r>
              <a:rPr kumimoji="1" lang="en-US" altLang="zh-CN" sz="3200" b="1" dirty="0">
                <a:solidFill>
                  <a:srgbClr val="CC00CC"/>
                </a:solidFill>
                <a:latin typeface="+mn-lt"/>
                <a:ea typeface="黑体" pitchFamily="2" charset="-122"/>
              </a:rPr>
              <a:t>)</a:t>
            </a:r>
            <a:r>
              <a:rPr kumimoji="1" lang="en-US" altLang="zh-CN" sz="3200" b="1" dirty="0">
                <a:solidFill>
                  <a:srgbClr val="CC00CC"/>
                </a:solidFill>
                <a:latin typeface="Arial"/>
                <a:sym typeface="Symbol"/>
              </a:rPr>
              <a:t>  </a:t>
            </a:r>
            <a:r>
              <a:rPr kumimoji="1" lang="en-US" altLang="zh-CN" sz="3200" b="1" i="1" dirty="0" err="1">
                <a:solidFill>
                  <a:srgbClr val="CC00CC"/>
                </a:solidFill>
                <a:latin typeface="+mn-lt"/>
              </a:rPr>
              <a:t>r</a:t>
            </a:r>
            <a:r>
              <a:rPr kumimoji="1" lang="en-US" altLang="zh-CN" sz="3200" b="1" i="1" baseline="-30000" dirty="0" err="1">
                <a:solidFill>
                  <a:srgbClr val="CC00CC"/>
                </a:solidFill>
                <a:latin typeface="+mn-lt"/>
                <a:ea typeface="黑体" pitchFamily="2" charset="-122"/>
              </a:rPr>
              <a:t>kj</a:t>
            </a:r>
            <a:r>
              <a:rPr kumimoji="1" lang="en-US" altLang="zh-CN" sz="3200" b="1" dirty="0">
                <a:solidFill>
                  <a:srgbClr val="CC00CC"/>
                </a:solidFill>
                <a:latin typeface="+mn-lt"/>
                <a:ea typeface="黑体" pitchFamily="2" charset="-122"/>
              </a:rPr>
              <a:t>(</a:t>
            </a:r>
            <a:r>
              <a:rPr kumimoji="1" lang="en-US" altLang="zh-CN" sz="3200" b="1" i="1" dirty="0">
                <a:solidFill>
                  <a:srgbClr val="CC00CC"/>
                </a:solidFill>
                <a:latin typeface="+mn-lt"/>
                <a:ea typeface="黑体" pitchFamily="2" charset="-122"/>
                <a:sym typeface="Symbol" pitchFamily="18" charset="2"/>
              </a:rPr>
              <a:t></a:t>
            </a:r>
            <a:r>
              <a:rPr kumimoji="1" lang="en-US" altLang="zh-CN" sz="3200" b="1" dirty="0">
                <a:solidFill>
                  <a:srgbClr val="CC00CC"/>
                </a:solidFill>
                <a:latin typeface="+mn-lt"/>
                <a:ea typeface="黑体" pitchFamily="2" charset="-122"/>
              </a:rPr>
              <a:t>)</a:t>
            </a:r>
            <a:r>
              <a:rPr kumimoji="1" lang="en-US" altLang="zh-CN" sz="3200" b="1" dirty="0">
                <a:solidFill>
                  <a:srgbClr val="CC00CC"/>
                </a:solidFill>
                <a:latin typeface="+mn-lt"/>
              </a:rPr>
              <a:t>)=0</a:t>
            </a:r>
          </a:p>
        </p:txBody>
      </p:sp>
      <p:sp>
        <p:nvSpPr>
          <p:cNvPr id="66568" name="Rectangle 8"/>
          <p:cNvSpPr>
            <a:spLocks noChangeArrowheads="1"/>
          </p:cNvSpPr>
          <p:nvPr/>
        </p:nvSpPr>
        <p:spPr bwMode="auto">
          <a:xfrm>
            <a:off x="1477831" y="6290098"/>
            <a:ext cx="53046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EE0006"/>
                </a:solidFill>
                <a:latin typeface="Times New Roman" pitchFamily="18" charset="0"/>
              </a:rPr>
              <a:t>所以</a:t>
            </a:r>
            <a:r>
              <a:rPr kumimoji="1" lang="en-US" altLang="zh-CN" sz="3200" b="1" dirty="0">
                <a:solidFill>
                  <a:srgbClr val="EE0006"/>
                </a:solidFill>
                <a:latin typeface="Times New Roman" pitchFamily="18" charset="0"/>
              </a:rPr>
              <a:t>, </a:t>
            </a:r>
            <a:r>
              <a:rPr kumimoji="1" lang="en-US" altLang="zh-CN" sz="3200" b="1" i="1" dirty="0" err="1">
                <a:solidFill>
                  <a:srgbClr val="EE0006"/>
                </a:solidFill>
                <a:latin typeface="+mn-lt"/>
              </a:rPr>
              <a:t>p</a:t>
            </a:r>
            <a:r>
              <a:rPr kumimoji="1" lang="en-US" altLang="zh-CN" sz="3200" b="1" i="1" baseline="-30000" dirty="0" err="1">
                <a:solidFill>
                  <a:srgbClr val="EE0006"/>
                </a:solidFill>
                <a:latin typeface="+mn-lt"/>
                <a:ea typeface="黑体" pitchFamily="2" charset="-122"/>
              </a:rPr>
              <a:t>ij</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 = </a:t>
            </a:r>
            <a:r>
              <a:rPr kumimoji="1" lang="en-US" altLang="zh-CN" sz="3200" b="1" dirty="0">
                <a:solidFill>
                  <a:srgbClr val="EE0006"/>
                </a:solidFill>
                <a:latin typeface="+mn-lt"/>
                <a:sym typeface="Symbol" pitchFamily="18" charset="2"/>
              </a:rPr>
              <a:t>∨</a:t>
            </a:r>
            <a:r>
              <a:rPr kumimoji="1" lang="en-US" altLang="zh-CN" sz="3200" b="1" dirty="0">
                <a:solidFill>
                  <a:srgbClr val="EE0006"/>
                </a:solidFill>
                <a:latin typeface="+mn-lt"/>
              </a:rPr>
              <a:t>(</a:t>
            </a:r>
            <a:r>
              <a:rPr kumimoji="1" lang="en-US" altLang="zh-CN" sz="3200" b="1" i="1" dirty="0" err="1">
                <a:solidFill>
                  <a:srgbClr val="EE0006"/>
                </a:solidFill>
                <a:latin typeface="+mn-lt"/>
              </a:rPr>
              <a:t>q</a:t>
            </a:r>
            <a:r>
              <a:rPr kumimoji="1" lang="en-US" altLang="zh-CN" sz="3200" b="1" i="1" baseline="-30000" dirty="0" err="1">
                <a:solidFill>
                  <a:srgbClr val="EE0006"/>
                </a:solidFill>
                <a:latin typeface="+mn-lt"/>
                <a:ea typeface="黑体" pitchFamily="2" charset="-122"/>
              </a:rPr>
              <a:t>ik</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a:t>
            </a:r>
            <a:r>
              <a:rPr kumimoji="1" lang="en-US" altLang="zh-CN" sz="3200" b="1" i="1" dirty="0" err="1">
                <a:solidFill>
                  <a:srgbClr val="EE0006"/>
                </a:solidFill>
                <a:latin typeface="+mn-lt"/>
              </a:rPr>
              <a:t>r</a:t>
            </a:r>
            <a:r>
              <a:rPr kumimoji="1" lang="en-US" altLang="zh-CN" sz="3200" b="1" i="1" baseline="-30000" dirty="0" err="1">
                <a:solidFill>
                  <a:srgbClr val="EE0006"/>
                </a:solidFill>
                <a:latin typeface="+mn-lt"/>
                <a:ea typeface="黑体" pitchFamily="2" charset="-122"/>
              </a:rPr>
              <a:t>kj</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a:t>
            </a:r>
          </a:p>
        </p:txBody>
      </p:sp>
      <p:sp>
        <p:nvSpPr>
          <p:cNvPr id="10" name="Rectangle 2"/>
          <p:cNvSpPr>
            <a:spLocks noChangeArrowheads="1"/>
          </p:cNvSpPr>
          <p:nvPr/>
        </p:nvSpPr>
        <p:spPr bwMode="auto">
          <a:xfrm>
            <a:off x="1055440" y="476672"/>
            <a:ext cx="91440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性质</a:t>
            </a:r>
            <a:r>
              <a:rPr kumimoji="1" lang="en-US" altLang="zh-CN" sz="4000" b="1" dirty="0">
                <a:solidFill>
                  <a:srgbClr val="EE0006"/>
                </a:solidFill>
                <a:ea typeface="黑体" pitchFamily="2" charset="-122"/>
              </a:rPr>
              <a:t>5</a:t>
            </a:r>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的证明： </a:t>
            </a:r>
            <a:r>
              <a:rPr kumimoji="1" lang="en-US" altLang="zh-CN" sz="3600" b="1" dirty="0">
                <a:solidFill>
                  <a:srgbClr val="EE0006"/>
                </a:solidFill>
                <a:sym typeface="Symbol" pitchFamily="18" charset="2"/>
              </a:rPr>
              <a:t>( </a:t>
            </a:r>
            <a:r>
              <a:rPr kumimoji="1" lang="en-US" altLang="zh-CN" sz="3600" b="1" i="1" dirty="0">
                <a:solidFill>
                  <a:srgbClr val="EE0006"/>
                </a:solidFill>
                <a:sym typeface="Symbol" pitchFamily="18" charset="2"/>
              </a:rPr>
              <a:t>Q </a:t>
            </a:r>
            <a:r>
              <a:rPr lang="en-US" altLang="zh-CN" sz="3600" b="1" dirty="0">
                <a:solidFill>
                  <a:srgbClr val="EE0006"/>
                </a:solidFill>
              </a:rPr>
              <a:t>◦</a:t>
            </a:r>
            <a:r>
              <a:rPr kumimoji="1" lang="en-US" altLang="zh-CN" sz="3600" dirty="0">
                <a:solidFill>
                  <a:srgbClr val="EE0006"/>
                </a:solidFill>
              </a:rPr>
              <a:t> </a:t>
            </a:r>
            <a:r>
              <a:rPr kumimoji="1" lang="en-US" altLang="zh-CN" sz="3600" b="1" i="1" dirty="0">
                <a:solidFill>
                  <a:srgbClr val="EE0006"/>
                </a:solidFill>
              </a:rPr>
              <a:t>R</a:t>
            </a:r>
            <a:r>
              <a:rPr kumimoji="1" lang="en-US" altLang="zh-CN" sz="3600" b="1" dirty="0">
                <a:solidFill>
                  <a:srgbClr val="EE0006"/>
                </a:solidFill>
                <a:sym typeface="Symbol" pitchFamily="18" charset="2"/>
              </a:rPr>
              <a:t> )</a:t>
            </a:r>
            <a:r>
              <a:rPr kumimoji="1" lang="en-US" altLang="zh-CN" sz="3600" b="1" i="1" baseline="-25000" dirty="0">
                <a:solidFill>
                  <a:srgbClr val="EE0006"/>
                </a:solidFill>
                <a:sym typeface="Symbol" pitchFamily="18" charset="2"/>
              </a:rPr>
              <a:t></a:t>
            </a:r>
            <a:r>
              <a:rPr kumimoji="1" lang="en-US" altLang="zh-CN" sz="3600" b="1" dirty="0">
                <a:solidFill>
                  <a:srgbClr val="EE0006"/>
                </a:solidFill>
              </a:rPr>
              <a:t> </a:t>
            </a:r>
            <a:r>
              <a:rPr kumimoji="1" lang="en-US" altLang="zh-CN" sz="3600" b="1" dirty="0">
                <a:solidFill>
                  <a:srgbClr val="EE0006"/>
                </a:solidFill>
                <a:sym typeface="Symbol" pitchFamily="18" charset="2"/>
              </a:rPr>
              <a:t>= </a:t>
            </a:r>
            <a:r>
              <a:rPr kumimoji="1" lang="en-US" altLang="zh-CN" sz="3600" b="1" i="1" dirty="0">
                <a:solidFill>
                  <a:srgbClr val="EE0006"/>
                </a:solidFill>
                <a:sym typeface="Symbol" pitchFamily="18" charset="2"/>
              </a:rPr>
              <a:t>Q</a:t>
            </a:r>
            <a:r>
              <a:rPr kumimoji="1" lang="en-US" altLang="zh-CN" sz="3600" b="1" i="1" baseline="-25000" dirty="0">
                <a:solidFill>
                  <a:srgbClr val="EE0006"/>
                </a:solidFill>
                <a:sym typeface="Symbol" pitchFamily="18" charset="2"/>
              </a:rPr>
              <a:t></a:t>
            </a:r>
            <a:r>
              <a:rPr kumimoji="1" lang="en-US" altLang="zh-CN" sz="3600" dirty="0">
                <a:solidFill>
                  <a:srgbClr val="EE0006"/>
                </a:solidFill>
                <a:sym typeface="Symbol" pitchFamily="18" charset="2"/>
              </a:rPr>
              <a:t> </a:t>
            </a:r>
            <a:r>
              <a:rPr lang="en-US" altLang="zh-CN" sz="3600" b="1" dirty="0">
                <a:solidFill>
                  <a:srgbClr val="EE0006"/>
                </a:solidFill>
              </a:rPr>
              <a:t>◦</a:t>
            </a:r>
            <a:r>
              <a:rPr kumimoji="1" lang="en-US" altLang="zh-CN" sz="3600" dirty="0">
                <a:solidFill>
                  <a:srgbClr val="EE0006"/>
                </a:solidFill>
              </a:rPr>
              <a:t> </a:t>
            </a:r>
            <a:r>
              <a:rPr kumimoji="1" lang="en-US" altLang="zh-CN" sz="3600" b="1" i="1" dirty="0">
                <a:solidFill>
                  <a:srgbClr val="EE0006"/>
                </a:solidFill>
              </a:rPr>
              <a:t>R</a:t>
            </a:r>
            <a:r>
              <a:rPr kumimoji="1" lang="en-US" altLang="zh-CN" sz="3600" b="1" i="1" baseline="-25000" dirty="0">
                <a:solidFill>
                  <a:srgbClr val="EE0006"/>
                </a:solidFill>
                <a:sym typeface="Symbol" pitchFamily="18" charset="2"/>
              </a:rPr>
              <a:t></a:t>
            </a:r>
            <a:r>
              <a:rPr kumimoji="1" lang="en-US" altLang="zh-CN" sz="2800" dirty="0">
                <a:solidFill>
                  <a:srgbClr val="EE0006"/>
                </a:solidFill>
                <a:sym typeface="Symbol" pitchFamily="18" charset="2"/>
              </a:rPr>
              <a:t> </a:t>
            </a:r>
          </a:p>
        </p:txBody>
      </p:sp>
      <p:sp>
        <p:nvSpPr>
          <p:cNvPr id="11" name="Rectangle 3"/>
          <p:cNvSpPr>
            <a:spLocks noChangeArrowheads="1"/>
          </p:cNvSpPr>
          <p:nvPr/>
        </p:nvSpPr>
        <p:spPr bwMode="auto">
          <a:xfrm>
            <a:off x="1055439" y="1340769"/>
            <a:ext cx="88204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3200" b="1" dirty="0">
                <a:latin typeface="+mn-lt"/>
              </a:rPr>
              <a:t>设 </a:t>
            </a:r>
            <a:r>
              <a:rPr kumimoji="1" lang="en-US" altLang="zh-CN" sz="3200" b="1" i="1" dirty="0">
                <a:latin typeface="+mn-lt"/>
              </a:rPr>
              <a:t>Q</a:t>
            </a:r>
            <a:r>
              <a:rPr kumimoji="1" lang="en-US" altLang="zh-CN" sz="3200" b="1" dirty="0">
                <a:latin typeface="+mn-lt"/>
              </a:rPr>
              <a:t> </a:t>
            </a:r>
            <a:r>
              <a:rPr kumimoji="1" lang="en-US" altLang="zh-CN" sz="3200" b="1" dirty="0">
                <a:latin typeface="+mn-lt"/>
                <a:ea typeface="黑体" pitchFamily="2" charset="-122"/>
              </a:rPr>
              <a:t>= (</a:t>
            </a:r>
            <a:r>
              <a:rPr kumimoji="1" lang="en-US" altLang="zh-CN" sz="3200" b="1" i="1" dirty="0" err="1">
                <a:latin typeface="+mn-lt"/>
                <a:ea typeface="黑体" pitchFamily="2" charset="-122"/>
              </a:rPr>
              <a:t>q</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m</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s</a:t>
            </a:r>
            <a:r>
              <a:rPr kumimoji="1" lang="en-US" altLang="zh-CN" sz="3200" b="1" dirty="0">
                <a:latin typeface="+mn-lt"/>
              </a:rPr>
              <a:t>, </a:t>
            </a:r>
            <a:r>
              <a:rPr kumimoji="1" lang="en-US" altLang="zh-CN" sz="3200" b="1" i="1" dirty="0">
                <a:latin typeface="+mn-lt"/>
              </a:rPr>
              <a:t>R</a:t>
            </a:r>
            <a:r>
              <a:rPr kumimoji="1" lang="en-US" altLang="zh-CN" sz="3200" b="1" dirty="0">
                <a:latin typeface="+mn-lt"/>
              </a:rPr>
              <a:t> </a:t>
            </a:r>
            <a:r>
              <a:rPr kumimoji="1" lang="en-US" altLang="zh-CN" sz="3200" b="1" dirty="0">
                <a:latin typeface="+mn-lt"/>
                <a:ea typeface="黑体" pitchFamily="2" charset="-122"/>
              </a:rPr>
              <a:t>= (</a:t>
            </a:r>
            <a:r>
              <a:rPr kumimoji="1" lang="en-US" altLang="zh-CN" sz="3200" b="1" i="1" dirty="0" err="1">
                <a:latin typeface="+mn-lt"/>
                <a:ea typeface="黑体" pitchFamily="2" charset="-122"/>
              </a:rPr>
              <a:t>r</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s</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n</a:t>
            </a:r>
            <a:r>
              <a:rPr kumimoji="1" lang="en-US" altLang="zh-CN" sz="3200" b="1" dirty="0">
                <a:latin typeface="+mn-lt"/>
              </a:rPr>
              <a:t>,  </a:t>
            </a:r>
            <a:r>
              <a:rPr kumimoji="1" lang="en-US" altLang="zh-CN" sz="3200" b="1" i="1" dirty="0">
                <a:solidFill>
                  <a:srgbClr val="008000"/>
                </a:solidFill>
                <a:latin typeface="+mn-lt"/>
              </a:rPr>
              <a:t>Q</a:t>
            </a:r>
            <a:r>
              <a:rPr kumimoji="1" lang="en-US" altLang="zh-CN" sz="3200" b="1" i="1" dirty="0">
                <a:solidFill>
                  <a:srgbClr val="008000"/>
                </a:solidFill>
                <a:latin typeface="+mn-lt"/>
                <a:ea typeface="黑体" pitchFamily="2" charset="-122"/>
              </a:rPr>
              <a:t> </a:t>
            </a:r>
            <a:r>
              <a:rPr lang="en-US" altLang="zh-CN" sz="3200" b="1" dirty="0">
                <a:solidFill>
                  <a:srgbClr val="008000"/>
                </a:solidFill>
                <a:latin typeface="+mn-lt"/>
              </a:rPr>
              <a:t>◦</a:t>
            </a:r>
            <a:r>
              <a:rPr kumimoji="1" lang="en-US" altLang="zh-CN" sz="3200" dirty="0">
                <a:solidFill>
                  <a:srgbClr val="008000"/>
                </a:solidFill>
                <a:latin typeface="+mn-lt"/>
              </a:rPr>
              <a:t> </a:t>
            </a:r>
            <a:r>
              <a:rPr kumimoji="1" lang="en-US" altLang="zh-CN" sz="3200" b="1" i="1" dirty="0">
                <a:solidFill>
                  <a:srgbClr val="008000"/>
                </a:solidFill>
                <a:latin typeface="+mn-lt"/>
                <a:cs typeface="Times New Roman" pitchFamily="18" charset="0"/>
              </a:rPr>
              <a:t>R </a:t>
            </a:r>
            <a:r>
              <a:rPr kumimoji="1" lang="en-US" altLang="zh-CN" sz="3200" b="1" dirty="0">
                <a:latin typeface="+mn-lt"/>
                <a:sym typeface="Symbol" pitchFamily="18" charset="2"/>
              </a:rPr>
              <a:t>=</a:t>
            </a:r>
            <a:r>
              <a:rPr kumimoji="1" lang="en-US" altLang="zh-CN" sz="3200" b="1" i="1" dirty="0">
                <a:solidFill>
                  <a:srgbClr val="008000"/>
                </a:solidFill>
                <a:latin typeface="+mn-lt"/>
                <a:sym typeface="Symbol" pitchFamily="18" charset="2"/>
              </a:rPr>
              <a:t>P </a:t>
            </a:r>
            <a:r>
              <a:rPr kumimoji="1" lang="en-US" altLang="zh-CN" sz="3200" b="1" dirty="0">
                <a:latin typeface="+mn-lt"/>
                <a:ea typeface="黑体" pitchFamily="2" charset="-122"/>
              </a:rPr>
              <a:t>=(</a:t>
            </a:r>
            <a:r>
              <a:rPr kumimoji="1" lang="en-US" altLang="zh-CN" sz="3200" b="1" i="1" dirty="0" err="1">
                <a:latin typeface="+mn-lt"/>
                <a:ea typeface="黑体" pitchFamily="2" charset="-122"/>
              </a:rPr>
              <a:t>p</a:t>
            </a:r>
            <a:r>
              <a:rPr kumimoji="1" lang="en-US" altLang="zh-CN" sz="3200" b="1" i="1" baseline="-30000" dirty="0" err="1">
                <a:latin typeface="+mn-lt"/>
                <a:ea typeface="黑体" pitchFamily="2" charset="-122"/>
              </a:rPr>
              <a:t>ij</a:t>
            </a:r>
            <a:r>
              <a:rPr kumimoji="1" lang="en-US" altLang="zh-CN" sz="3200" b="1" dirty="0">
                <a:latin typeface="+mn-lt"/>
                <a:ea typeface="黑体" pitchFamily="2" charset="-122"/>
              </a:rPr>
              <a:t>)</a:t>
            </a:r>
            <a:r>
              <a:rPr kumimoji="1" lang="en-US" altLang="zh-CN" sz="3200" b="1" i="1" baseline="-30000" dirty="0" err="1">
                <a:latin typeface="+mn-lt"/>
                <a:ea typeface="黑体" pitchFamily="2" charset="-122"/>
              </a:rPr>
              <a:t>m</a:t>
            </a:r>
            <a:r>
              <a:rPr kumimoji="1" lang="en-US" altLang="zh-CN" sz="3200" b="1" baseline="-30000" dirty="0" err="1">
                <a:latin typeface="+mn-lt"/>
                <a:ea typeface="黑体" pitchFamily="2" charset="-122"/>
              </a:rPr>
              <a:t>×</a:t>
            </a:r>
            <a:r>
              <a:rPr kumimoji="1" lang="en-US" altLang="zh-CN" sz="3200" b="1" i="1" baseline="-30000" dirty="0" err="1">
                <a:latin typeface="+mn-lt"/>
                <a:ea typeface="黑体" pitchFamily="2" charset="-122"/>
              </a:rPr>
              <a:t>n</a:t>
            </a:r>
            <a:r>
              <a:rPr kumimoji="1" lang="en-US" altLang="zh-CN" sz="3200" b="1" dirty="0">
                <a:latin typeface="+mn-lt"/>
              </a:rPr>
              <a:t>,</a:t>
            </a:r>
          </a:p>
        </p:txBody>
      </p:sp>
      <p:sp>
        <p:nvSpPr>
          <p:cNvPr id="13" name="矩形 12"/>
          <p:cNvSpPr/>
          <p:nvPr/>
        </p:nvSpPr>
        <p:spPr>
          <a:xfrm>
            <a:off x="5807967" y="2060849"/>
            <a:ext cx="3998210" cy="461665"/>
          </a:xfrm>
          <a:prstGeom prst="rect">
            <a:avLst/>
          </a:prstGeom>
        </p:spPr>
        <p:txBody>
          <a:bodyPr wrap="none">
            <a:spAutoFit/>
          </a:bodyPr>
          <a:lstStyle/>
          <a:p>
            <a:r>
              <a:rPr kumimoji="1" lang="zh-CN" altLang="en-US" b="1" i="1" dirty="0">
                <a:solidFill>
                  <a:srgbClr val="008000"/>
                </a:solidFill>
              </a:rPr>
              <a:t> </a:t>
            </a:r>
            <a:r>
              <a:rPr kumimoji="1" lang="en-US" altLang="zh-CN" sz="2400" b="1" i="1" dirty="0" err="1">
                <a:solidFill>
                  <a:srgbClr val="008000"/>
                </a:solidFill>
              </a:rPr>
              <a:t>p</a:t>
            </a:r>
            <a:r>
              <a:rPr kumimoji="1" lang="en-US" altLang="zh-CN" sz="2400" b="1" i="1" baseline="-25000" dirty="0" err="1">
                <a:solidFill>
                  <a:srgbClr val="008000"/>
                </a:solidFill>
              </a:rPr>
              <a:t>ij</a:t>
            </a:r>
            <a:r>
              <a:rPr kumimoji="1" lang="en-US" altLang="zh-CN" sz="2400" b="1" i="1" dirty="0">
                <a:solidFill>
                  <a:srgbClr val="008000"/>
                </a:solidFill>
              </a:rPr>
              <a:t> </a:t>
            </a:r>
            <a:r>
              <a:rPr kumimoji="1" lang="en-US" altLang="zh-CN" sz="2400" b="1" dirty="0">
                <a:solidFill>
                  <a:srgbClr val="008000"/>
                </a:solidFill>
              </a:rPr>
              <a:t>= </a:t>
            </a:r>
            <a:r>
              <a:rPr kumimoji="1" lang="en-US" altLang="zh-CN" sz="2400" b="1" dirty="0">
                <a:solidFill>
                  <a:srgbClr val="008000"/>
                </a:solidFill>
                <a:sym typeface="Symbol" pitchFamily="18" charset="2"/>
              </a:rPr>
              <a:t>∨</a:t>
            </a:r>
            <a:r>
              <a:rPr kumimoji="1" lang="en-US" altLang="zh-CN" sz="2400" b="1" dirty="0">
                <a:solidFill>
                  <a:srgbClr val="008000"/>
                </a:solidFill>
              </a:rPr>
              <a:t>{(</a:t>
            </a:r>
            <a:r>
              <a:rPr kumimoji="1" lang="en-US" altLang="zh-CN" sz="2400" b="1" i="1" dirty="0" err="1">
                <a:solidFill>
                  <a:srgbClr val="008000"/>
                </a:solidFill>
              </a:rPr>
              <a:t>q</a:t>
            </a:r>
            <a:r>
              <a:rPr kumimoji="1" lang="en-US" altLang="zh-CN" sz="2400" b="1" i="1" baseline="-25000" dirty="0" err="1">
                <a:solidFill>
                  <a:srgbClr val="008000"/>
                </a:solidFill>
              </a:rPr>
              <a:t>ik</a:t>
            </a:r>
            <a:r>
              <a:rPr kumimoji="1" lang="en-US" altLang="zh-CN" sz="2400" b="1" i="1" baseline="-25000" dirty="0">
                <a:solidFill>
                  <a:srgbClr val="008000"/>
                </a:solidFill>
              </a:rPr>
              <a:t> </a:t>
            </a:r>
            <a:r>
              <a:rPr kumimoji="1" lang="en-US" altLang="zh-CN" sz="2400" b="1" dirty="0">
                <a:solidFill>
                  <a:srgbClr val="008000"/>
                </a:solidFill>
                <a:sym typeface="Symbol"/>
              </a:rPr>
              <a:t> </a:t>
            </a:r>
            <a:r>
              <a:rPr kumimoji="1" lang="en-US" altLang="zh-CN" sz="2400" b="1" i="1" dirty="0" err="1">
                <a:solidFill>
                  <a:srgbClr val="008000"/>
                </a:solidFill>
              </a:rPr>
              <a:t>r</a:t>
            </a:r>
            <a:r>
              <a:rPr kumimoji="1" lang="en-US" altLang="zh-CN" sz="2400" b="1" i="1" baseline="-25000" dirty="0" err="1">
                <a:solidFill>
                  <a:srgbClr val="008000"/>
                </a:solidFill>
              </a:rPr>
              <a:t>kj</a:t>
            </a:r>
            <a:r>
              <a:rPr kumimoji="1" lang="en-US" altLang="zh-CN" sz="2400" b="1" dirty="0">
                <a:solidFill>
                  <a:srgbClr val="008000"/>
                </a:solidFill>
              </a:rPr>
              <a:t>) |1 ≤ </a:t>
            </a:r>
            <a:r>
              <a:rPr kumimoji="1" lang="en-US" altLang="zh-CN" sz="2400" b="1" i="1" dirty="0">
                <a:solidFill>
                  <a:srgbClr val="008000"/>
                </a:solidFill>
              </a:rPr>
              <a:t>k </a:t>
            </a:r>
            <a:r>
              <a:rPr kumimoji="1" lang="en-US" altLang="zh-CN" sz="2400" b="1" dirty="0">
                <a:solidFill>
                  <a:srgbClr val="008000"/>
                </a:solidFill>
              </a:rPr>
              <a:t>≤ </a:t>
            </a:r>
            <a:r>
              <a:rPr kumimoji="1" lang="en-US" altLang="zh-CN" sz="2400" b="1" i="1" dirty="0">
                <a:solidFill>
                  <a:srgbClr val="008000"/>
                </a:solidFill>
              </a:rPr>
              <a:t>s </a:t>
            </a:r>
            <a:r>
              <a:rPr kumimoji="1" lang="en-US" altLang="zh-CN" sz="2400" b="1" dirty="0">
                <a:solidFill>
                  <a:srgbClr val="008000"/>
                </a:solidFill>
              </a:rPr>
              <a:t>}</a:t>
            </a:r>
            <a:endParaRPr lang="zh-CN" altLang="en-US" sz="2400" dirty="0">
              <a:solidFill>
                <a:srgbClr val="008000"/>
              </a:solidFill>
            </a:endParaRPr>
          </a:p>
        </p:txBody>
      </p:sp>
      <p:sp>
        <p:nvSpPr>
          <p:cNvPr id="2" name="矩形 1"/>
          <p:cNvSpPr/>
          <p:nvPr/>
        </p:nvSpPr>
        <p:spPr>
          <a:xfrm>
            <a:off x="3071663" y="2924945"/>
            <a:ext cx="3455442" cy="584775"/>
          </a:xfrm>
          <a:prstGeom prst="rect">
            <a:avLst/>
          </a:prstGeom>
        </p:spPr>
        <p:txBody>
          <a:bodyPr wrap="square">
            <a:spAutoFit/>
          </a:bodyPr>
          <a:lstStyle/>
          <a:p>
            <a:pPr lvl="0"/>
            <a:r>
              <a:rPr kumimoji="1" lang="zh-CN" altLang="en-US" sz="3200" b="1" dirty="0">
                <a:solidFill>
                  <a:srgbClr val="000000"/>
                </a:solidFill>
                <a:latin typeface="Arial"/>
                <a:sym typeface="Symbol" pitchFamily="18" charset="2"/>
              </a:rPr>
              <a:t>∨</a:t>
            </a:r>
            <a:r>
              <a:rPr kumimoji="1" lang="en-US" altLang="zh-CN" sz="3200" b="1" dirty="0">
                <a:solidFill>
                  <a:srgbClr val="000000"/>
                </a:solidFill>
                <a:latin typeface="Arial"/>
              </a:rPr>
              <a:t>(</a:t>
            </a:r>
            <a:r>
              <a:rPr kumimoji="1" lang="en-US" altLang="zh-CN" sz="3200" b="1" i="1" dirty="0" err="1">
                <a:solidFill>
                  <a:srgbClr val="000000"/>
                </a:solidFill>
                <a:latin typeface="Arial"/>
              </a:rPr>
              <a:t>q</a:t>
            </a:r>
            <a:r>
              <a:rPr kumimoji="1" lang="en-US" altLang="zh-CN" sz="3200" b="1" i="1" baseline="-30000" dirty="0" err="1">
                <a:solidFill>
                  <a:srgbClr val="000000"/>
                </a:solidFill>
                <a:latin typeface="Arial"/>
                <a:ea typeface="黑体" pitchFamily="2" charset="-122"/>
              </a:rPr>
              <a:t>ik</a:t>
            </a:r>
            <a:r>
              <a:rPr kumimoji="1" lang="en-US" altLang="zh-CN" sz="3200" b="1" i="1" baseline="-30000" dirty="0">
                <a:solidFill>
                  <a:srgbClr val="000000"/>
                </a:solidFill>
                <a:latin typeface="Arial"/>
                <a:ea typeface="黑体" pitchFamily="2" charset="-122"/>
              </a:rPr>
              <a:t> </a:t>
            </a:r>
            <a:r>
              <a:rPr kumimoji="1" lang="en-US" altLang="zh-CN" sz="3200" b="1" dirty="0">
                <a:solidFill>
                  <a:srgbClr val="000000"/>
                </a:solidFill>
                <a:latin typeface="Arial"/>
                <a:sym typeface="Symbol"/>
              </a:rPr>
              <a:t> </a:t>
            </a:r>
            <a:r>
              <a:rPr kumimoji="1" lang="en-US" altLang="zh-CN" sz="3200" b="1" i="1" dirty="0" err="1">
                <a:solidFill>
                  <a:srgbClr val="000000"/>
                </a:solidFill>
                <a:latin typeface="Arial"/>
              </a:rPr>
              <a:t>r</a:t>
            </a:r>
            <a:r>
              <a:rPr kumimoji="1" lang="en-US" altLang="zh-CN" sz="3200" b="1" i="1" baseline="-30000" dirty="0" err="1">
                <a:solidFill>
                  <a:srgbClr val="000000"/>
                </a:solidFill>
                <a:latin typeface="Arial"/>
                <a:ea typeface="黑体" pitchFamily="2" charset="-122"/>
              </a:rPr>
              <a:t>kj</a:t>
            </a:r>
            <a:r>
              <a:rPr kumimoji="1" lang="en-US" altLang="zh-CN" sz="3200" b="1" dirty="0">
                <a:solidFill>
                  <a:srgbClr val="000000"/>
                </a:solidFill>
                <a:latin typeface="Arial"/>
              </a:rPr>
              <a:t>)</a:t>
            </a:r>
            <a:r>
              <a:rPr kumimoji="1" lang="zh-CN" altLang="en-US" sz="3200" b="1" dirty="0">
                <a:solidFill>
                  <a:srgbClr val="000000"/>
                </a:solidFill>
                <a:latin typeface="Arial"/>
              </a:rPr>
              <a:t>＜</a:t>
            </a:r>
            <a:r>
              <a:rPr kumimoji="1" lang="zh-CN" altLang="en-US" sz="3200" b="1" i="1" dirty="0">
                <a:solidFill>
                  <a:srgbClr val="000000"/>
                </a:solidFill>
                <a:latin typeface="Arial"/>
                <a:sym typeface="Symbol" pitchFamily="18" charset="2"/>
              </a:rPr>
              <a:t></a:t>
            </a:r>
            <a:r>
              <a:rPr kumimoji="1" lang="zh-CN" altLang="en-US" sz="3200" b="1" dirty="0">
                <a:solidFill>
                  <a:srgbClr val="000000"/>
                </a:solidFill>
                <a:latin typeface="Arial"/>
              </a:rPr>
              <a:t> </a:t>
            </a:r>
          </a:p>
        </p:txBody>
      </p:sp>
      <p:sp>
        <p:nvSpPr>
          <p:cNvPr id="3" name="矩形 2"/>
          <p:cNvSpPr/>
          <p:nvPr/>
        </p:nvSpPr>
        <p:spPr>
          <a:xfrm>
            <a:off x="3071663" y="3573017"/>
            <a:ext cx="3898106" cy="584775"/>
          </a:xfrm>
          <a:prstGeom prst="rect">
            <a:avLst/>
          </a:prstGeom>
        </p:spPr>
        <p:txBody>
          <a:bodyPr wrap="square">
            <a:spAutoFit/>
          </a:bodyPr>
          <a:lstStyle/>
          <a:p>
            <a:r>
              <a:rPr kumimoji="1" lang="en-US" altLang="zh-CN" sz="3200" b="1" dirty="0">
                <a:solidFill>
                  <a:srgbClr val="000000"/>
                </a:solidFill>
                <a:latin typeface="Arial"/>
                <a:sym typeface="Symbol" pitchFamily="18" charset="2"/>
              </a:rPr>
              <a:t></a:t>
            </a:r>
            <a:r>
              <a:rPr kumimoji="1" lang="en-US" altLang="zh-CN" sz="3200" b="1" i="1" dirty="0">
                <a:solidFill>
                  <a:srgbClr val="000000"/>
                </a:solidFill>
                <a:latin typeface="Arial"/>
                <a:sym typeface="Symbol" pitchFamily="18" charset="2"/>
              </a:rPr>
              <a:t>k</a:t>
            </a:r>
            <a:r>
              <a:rPr kumimoji="1" lang="en-US" altLang="zh-CN" sz="3200" b="1" dirty="0">
                <a:solidFill>
                  <a:srgbClr val="000000"/>
                </a:solidFill>
                <a:latin typeface="Arial"/>
                <a:sym typeface="Symbol" pitchFamily="18" charset="2"/>
              </a:rPr>
              <a:t>, </a:t>
            </a:r>
            <a:r>
              <a:rPr kumimoji="1" lang="en-US" altLang="zh-CN" sz="3200" b="1" i="1" dirty="0" err="1">
                <a:solidFill>
                  <a:srgbClr val="000000"/>
                </a:solidFill>
                <a:latin typeface="Arial"/>
              </a:rPr>
              <a:t>q</a:t>
            </a:r>
            <a:r>
              <a:rPr kumimoji="1" lang="en-US" altLang="zh-CN" sz="3200" b="1" i="1" baseline="-30000" dirty="0" err="1">
                <a:solidFill>
                  <a:srgbClr val="000000"/>
                </a:solidFill>
                <a:latin typeface="Arial"/>
                <a:ea typeface="黑体" pitchFamily="2" charset="-122"/>
              </a:rPr>
              <a:t>ik</a:t>
            </a:r>
            <a:r>
              <a:rPr kumimoji="1" lang="en-US" altLang="zh-CN" sz="3200" b="1" dirty="0">
                <a:solidFill>
                  <a:srgbClr val="000000"/>
                </a:solidFill>
                <a:latin typeface="Arial"/>
                <a:sym typeface="Symbol"/>
              </a:rPr>
              <a:t>  </a:t>
            </a:r>
            <a:r>
              <a:rPr kumimoji="1" lang="en-US" altLang="zh-CN" sz="3200" b="1" i="1" dirty="0" err="1">
                <a:solidFill>
                  <a:srgbClr val="000000"/>
                </a:solidFill>
                <a:latin typeface="Arial"/>
              </a:rPr>
              <a:t>r</a:t>
            </a:r>
            <a:r>
              <a:rPr kumimoji="1" lang="en-US" altLang="zh-CN" sz="3200" b="1" i="1" baseline="-30000" dirty="0" err="1">
                <a:solidFill>
                  <a:srgbClr val="000000"/>
                </a:solidFill>
                <a:latin typeface="Arial"/>
                <a:ea typeface="黑体" pitchFamily="2" charset="-122"/>
              </a:rPr>
              <a:t>kj</a:t>
            </a:r>
            <a:r>
              <a:rPr kumimoji="1" lang="en-US" altLang="zh-CN" sz="3200" b="1" i="1" baseline="-30000" dirty="0">
                <a:solidFill>
                  <a:srgbClr val="000000"/>
                </a:solidFill>
                <a:latin typeface="Arial"/>
                <a:ea typeface="黑体" pitchFamily="2" charset="-122"/>
              </a:rPr>
              <a:t> </a:t>
            </a:r>
            <a:r>
              <a:rPr kumimoji="1" lang="zh-CN" altLang="en-US" sz="3200" b="1" dirty="0">
                <a:solidFill>
                  <a:srgbClr val="000000"/>
                </a:solidFill>
                <a:latin typeface="Arial"/>
              </a:rPr>
              <a:t>＜</a:t>
            </a:r>
            <a:r>
              <a:rPr kumimoji="1" lang="zh-CN" altLang="en-US" sz="3200" b="1" i="1" dirty="0">
                <a:solidFill>
                  <a:srgbClr val="000000"/>
                </a:solidFill>
                <a:latin typeface="Arial"/>
                <a:sym typeface="Symbol" pitchFamily="18" charset="2"/>
              </a:rPr>
              <a:t></a:t>
            </a:r>
            <a:r>
              <a:rPr kumimoji="1" lang="zh-CN" altLang="en-US" sz="3200" b="1" dirty="0">
                <a:solidFill>
                  <a:srgbClr val="000000"/>
                </a:solidFill>
                <a:latin typeface="Arial"/>
              </a:rPr>
              <a:t> </a:t>
            </a:r>
            <a:endParaRPr lang="zh-CN" altLang="en-US" dirty="0"/>
          </a:p>
        </p:txBody>
      </p:sp>
      <p:sp>
        <p:nvSpPr>
          <p:cNvPr id="4" name="矩形 3"/>
          <p:cNvSpPr/>
          <p:nvPr/>
        </p:nvSpPr>
        <p:spPr>
          <a:xfrm>
            <a:off x="3071663" y="4185897"/>
            <a:ext cx="4200352" cy="624595"/>
          </a:xfrm>
          <a:prstGeom prst="rect">
            <a:avLst/>
          </a:prstGeom>
        </p:spPr>
        <p:txBody>
          <a:bodyPr wrap="square">
            <a:spAutoFit/>
          </a:bodyPr>
          <a:lstStyle/>
          <a:p>
            <a:pPr lvl="0">
              <a:lnSpc>
                <a:spcPct val="120000"/>
              </a:lnSpc>
            </a:pPr>
            <a:r>
              <a:rPr kumimoji="1" lang="zh-CN" altLang="en-US" sz="3200" b="1" dirty="0">
                <a:solidFill>
                  <a:srgbClr val="000000"/>
                </a:solidFill>
                <a:latin typeface="Arial"/>
                <a:sym typeface="Symbol" pitchFamily="18" charset="2"/>
              </a:rPr>
              <a:t></a:t>
            </a:r>
            <a:r>
              <a:rPr kumimoji="1" lang="en-US" altLang="zh-CN" sz="3200" b="1" i="1" dirty="0">
                <a:solidFill>
                  <a:srgbClr val="000000"/>
                </a:solidFill>
                <a:latin typeface="Arial"/>
                <a:sym typeface="Symbol" pitchFamily="18" charset="2"/>
              </a:rPr>
              <a:t>k</a:t>
            </a:r>
            <a:r>
              <a:rPr kumimoji="1" lang="en-US" altLang="zh-CN" sz="3200" b="1" dirty="0">
                <a:solidFill>
                  <a:srgbClr val="000000"/>
                </a:solidFill>
                <a:latin typeface="Arial"/>
                <a:sym typeface="Symbol" pitchFamily="18" charset="2"/>
              </a:rPr>
              <a:t>, </a:t>
            </a:r>
            <a:r>
              <a:rPr kumimoji="1" lang="en-US" altLang="zh-CN" sz="3200" b="1" i="1" dirty="0" err="1">
                <a:solidFill>
                  <a:srgbClr val="000000"/>
                </a:solidFill>
                <a:latin typeface="Arial"/>
                <a:sym typeface="Symbol" pitchFamily="18" charset="2"/>
              </a:rPr>
              <a:t>q</a:t>
            </a:r>
            <a:r>
              <a:rPr kumimoji="1" lang="en-US" altLang="zh-CN" sz="3200" b="1" i="1" baseline="-30000" dirty="0" err="1">
                <a:solidFill>
                  <a:srgbClr val="000000"/>
                </a:solidFill>
                <a:latin typeface="Arial"/>
                <a:ea typeface="黑体" pitchFamily="2" charset="-122"/>
              </a:rPr>
              <a:t>ik</a:t>
            </a:r>
            <a:r>
              <a:rPr kumimoji="1" lang="zh-CN" altLang="en-US" sz="3200" b="1" dirty="0">
                <a:solidFill>
                  <a:srgbClr val="000000"/>
                </a:solidFill>
                <a:latin typeface="Arial"/>
              </a:rPr>
              <a:t>＜</a:t>
            </a:r>
            <a:r>
              <a:rPr kumimoji="1" lang="zh-CN" altLang="en-US" sz="3200" b="1" i="1" dirty="0">
                <a:solidFill>
                  <a:srgbClr val="000000"/>
                </a:solidFill>
                <a:latin typeface="Arial"/>
                <a:sym typeface="Symbol" pitchFamily="18" charset="2"/>
              </a:rPr>
              <a:t> </a:t>
            </a:r>
            <a:r>
              <a:rPr kumimoji="1" lang="zh-CN" altLang="en-US" sz="3200" b="1" dirty="0">
                <a:solidFill>
                  <a:srgbClr val="000000"/>
                </a:solidFill>
                <a:latin typeface="Arial"/>
              </a:rPr>
              <a:t>或 </a:t>
            </a:r>
            <a:r>
              <a:rPr kumimoji="1" lang="en-US" altLang="zh-CN" sz="3200" b="1" i="1" dirty="0" err="1">
                <a:solidFill>
                  <a:srgbClr val="000000"/>
                </a:solidFill>
                <a:latin typeface="Arial"/>
              </a:rPr>
              <a:t>r</a:t>
            </a:r>
            <a:r>
              <a:rPr kumimoji="1" lang="en-US" altLang="zh-CN" sz="3200" b="1" i="1" baseline="-30000" dirty="0" err="1">
                <a:solidFill>
                  <a:srgbClr val="000000"/>
                </a:solidFill>
                <a:latin typeface="Arial"/>
                <a:ea typeface="黑体" pitchFamily="2" charset="-122"/>
              </a:rPr>
              <a:t>kj</a:t>
            </a:r>
            <a:r>
              <a:rPr kumimoji="1" lang="zh-CN" altLang="en-US" sz="3200" b="1" dirty="0">
                <a:solidFill>
                  <a:srgbClr val="000000"/>
                </a:solidFill>
                <a:latin typeface="Arial"/>
              </a:rPr>
              <a:t>＜</a:t>
            </a:r>
            <a:r>
              <a:rPr kumimoji="1" lang="zh-CN" altLang="en-US" sz="3200" b="1" i="1" dirty="0">
                <a:solidFill>
                  <a:srgbClr val="000000"/>
                </a:solidFill>
                <a:latin typeface="Arial"/>
                <a:sym typeface="Symbol" pitchFamily="18" charset="2"/>
              </a:rPr>
              <a:t></a:t>
            </a:r>
            <a:r>
              <a:rPr kumimoji="1" lang="zh-CN" altLang="en-US" sz="3200" b="1" dirty="0">
                <a:solidFill>
                  <a:srgbClr val="000000"/>
                </a:solidFill>
                <a:latin typeface="Arial"/>
              </a:rPr>
              <a:t> </a:t>
            </a:r>
          </a:p>
        </p:txBody>
      </p:sp>
      <p:sp>
        <p:nvSpPr>
          <p:cNvPr id="5" name="矩形 4"/>
          <p:cNvSpPr/>
          <p:nvPr/>
        </p:nvSpPr>
        <p:spPr>
          <a:xfrm>
            <a:off x="3071663" y="4941169"/>
            <a:ext cx="5544617" cy="584775"/>
          </a:xfrm>
          <a:prstGeom prst="rect">
            <a:avLst/>
          </a:prstGeom>
        </p:spPr>
        <p:txBody>
          <a:bodyPr wrap="square">
            <a:spAutoFit/>
          </a:bodyPr>
          <a:lstStyle/>
          <a:p>
            <a:r>
              <a:rPr kumimoji="1" lang="zh-CN" altLang="en-US" sz="3200" b="1" dirty="0">
                <a:solidFill>
                  <a:srgbClr val="000000"/>
                </a:solidFill>
                <a:latin typeface="Arial"/>
                <a:sym typeface="Symbol" pitchFamily="18" charset="2"/>
              </a:rPr>
              <a:t></a:t>
            </a:r>
            <a:r>
              <a:rPr kumimoji="1" lang="en-US" altLang="zh-CN" sz="3200" b="1" i="1" dirty="0">
                <a:solidFill>
                  <a:srgbClr val="000000"/>
                </a:solidFill>
                <a:latin typeface="Arial"/>
                <a:sym typeface="Symbol" pitchFamily="18" charset="2"/>
              </a:rPr>
              <a:t>k</a:t>
            </a:r>
            <a:r>
              <a:rPr kumimoji="1" lang="en-US" altLang="zh-CN" sz="3200" b="1" dirty="0">
                <a:solidFill>
                  <a:srgbClr val="000000"/>
                </a:solidFill>
                <a:latin typeface="Arial"/>
                <a:sym typeface="Symbol" pitchFamily="18" charset="2"/>
              </a:rPr>
              <a:t>, </a:t>
            </a:r>
            <a:r>
              <a:rPr kumimoji="1" lang="en-US" altLang="zh-CN" sz="3200" b="1" i="1" dirty="0" err="1">
                <a:solidFill>
                  <a:srgbClr val="000000"/>
                </a:solidFill>
                <a:latin typeface="Arial"/>
                <a:sym typeface="Symbol" pitchFamily="18" charset="2"/>
              </a:rPr>
              <a:t>q</a:t>
            </a:r>
            <a:r>
              <a:rPr kumimoji="1" lang="en-US" altLang="zh-CN" sz="3200" b="1" i="1" baseline="-30000" dirty="0" err="1">
                <a:solidFill>
                  <a:srgbClr val="000000"/>
                </a:solidFill>
                <a:latin typeface="Arial"/>
                <a:ea typeface="黑体" pitchFamily="2" charset="-122"/>
              </a:rPr>
              <a:t>ik</a:t>
            </a:r>
            <a:r>
              <a:rPr kumimoji="1" lang="en-US" altLang="zh-CN" sz="3200" b="1" dirty="0">
                <a:solidFill>
                  <a:srgbClr val="00007D"/>
                </a:solidFill>
                <a:latin typeface="Arial"/>
                <a:ea typeface="黑体" pitchFamily="2" charset="-122"/>
              </a:rPr>
              <a:t> (</a:t>
            </a:r>
            <a:r>
              <a:rPr kumimoji="1" lang="en-US" altLang="zh-CN" sz="3200" b="1" i="1" dirty="0">
                <a:solidFill>
                  <a:srgbClr val="00007D"/>
                </a:solidFill>
                <a:latin typeface="Arial"/>
                <a:ea typeface="黑体" pitchFamily="2" charset="-122"/>
                <a:sym typeface="Symbol" pitchFamily="18" charset="2"/>
              </a:rPr>
              <a:t></a:t>
            </a:r>
            <a:r>
              <a:rPr kumimoji="1" lang="en-US" altLang="zh-CN" sz="3200" b="1" dirty="0">
                <a:solidFill>
                  <a:srgbClr val="00007D"/>
                </a:solidFill>
                <a:latin typeface="Arial"/>
                <a:ea typeface="黑体" pitchFamily="2" charset="-122"/>
              </a:rPr>
              <a:t>) </a:t>
            </a:r>
            <a:r>
              <a:rPr kumimoji="1" lang="en-US" altLang="zh-CN" sz="3200" b="1" dirty="0">
                <a:solidFill>
                  <a:srgbClr val="000000"/>
                </a:solidFill>
                <a:latin typeface="Arial"/>
              </a:rPr>
              <a:t>=0 </a:t>
            </a:r>
            <a:r>
              <a:rPr kumimoji="1" lang="zh-CN" altLang="en-US" sz="3200" b="1" dirty="0">
                <a:solidFill>
                  <a:srgbClr val="000000"/>
                </a:solidFill>
                <a:latin typeface="Arial"/>
              </a:rPr>
              <a:t>或 </a:t>
            </a:r>
            <a:r>
              <a:rPr kumimoji="1" lang="en-US" altLang="zh-CN" sz="3200" b="1" i="1" dirty="0" err="1">
                <a:solidFill>
                  <a:srgbClr val="000000"/>
                </a:solidFill>
                <a:latin typeface="Arial"/>
              </a:rPr>
              <a:t>r</a:t>
            </a:r>
            <a:r>
              <a:rPr kumimoji="1" lang="en-US" altLang="zh-CN" sz="3200" b="1" i="1" baseline="-30000" dirty="0" err="1">
                <a:solidFill>
                  <a:srgbClr val="000000"/>
                </a:solidFill>
                <a:latin typeface="Arial"/>
                <a:ea typeface="黑体" pitchFamily="2" charset="-122"/>
              </a:rPr>
              <a:t>kj</a:t>
            </a:r>
            <a:r>
              <a:rPr kumimoji="1" lang="en-US" altLang="zh-CN" sz="3200" b="1" dirty="0">
                <a:solidFill>
                  <a:srgbClr val="00007D"/>
                </a:solidFill>
                <a:latin typeface="Arial"/>
                <a:ea typeface="黑体" pitchFamily="2" charset="-122"/>
              </a:rPr>
              <a:t> (</a:t>
            </a:r>
            <a:r>
              <a:rPr kumimoji="1" lang="en-US" altLang="zh-CN" sz="3200" b="1" i="1" dirty="0">
                <a:solidFill>
                  <a:srgbClr val="00007D"/>
                </a:solidFill>
                <a:latin typeface="Arial"/>
                <a:ea typeface="黑体" pitchFamily="2" charset="-122"/>
                <a:sym typeface="Symbol" pitchFamily="18" charset="2"/>
              </a:rPr>
              <a:t></a:t>
            </a:r>
            <a:r>
              <a:rPr kumimoji="1" lang="en-US" altLang="zh-CN" sz="3200" b="1" dirty="0">
                <a:solidFill>
                  <a:srgbClr val="00007D"/>
                </a:solidFill>
                <a:latin typeface="Arial"/>
                <a:ea typeface="黑体" pitchFamily="2" charset="-122"/>
              </a:rPr>
              <a:t>) </a:t>
            </a:r>
            <a:r>
              <a:rPr kumimoji="1" lang="en-US" altLang="zh-CN" sz="3200" b="1" dirty="0">
                <a:solidFill>
                  <a:srgbClr val="000000"/>
                </a:solidFill>
                <a:latin typeface="Arial"/>
              </a:rPr>
              <a:t>=0 </a:t>
            </a:r>
            <a:endParaRPr lang="zh-CN" altLang="en-US" dirty="0"/>
          </a:p>
        </p:txBody>
      </p:sp>
      <p:sp>
        <p:nvSpPr>
          <p:cNvPr id="6" name="矩形: 圆角 5">
            <a:extLst>
              <a:ext uri="{FF2B5EF4-FFF2-40B4-BE49-F238E27FC236}">
                <a16:creationId xmlns:a16="http://schemas.microsoft.com/office/drawing/2014/main" id="{66460683-7B82-4347-9345-7A48708FA43E}"/>
              </a:ext>
            </a:extLst>
          </p:cNvPr>
          <p:cNvSpPr/>
          <p:nvPr/>
        </p:nvSpPr>
        <p:spPr>
          <a:xfrm>
            <a:off x="5051376" y="476672"/>
            <a:ext cx="4392488" cy="745578"/>
          </a:xfrm>
          <a:prstGeom prst="roundRect">
            <a:avLst/>
          </a:prstGeom>
          <a:noFill/>
          <a:ln w="571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6">
            <a:extLst>
              <a:ext uri="{FF2B5EF4-FFF2-40B4-BE49-F238E27FC236}">
                <a16:creationId xmlns:a16="http://schemas.microsoft.com/office/drawing/2014/main" id="{BD5C2021-FEF1-FC20-1742-101EC2F0CDE7}"/>
              </a:ext>
            </a:extLst>
          </p:cNvPr>
          <p:cNvSpPr>
            <a:spLocks noGrp="1"/>
          </p:cNvSpPr>
          <p:nvPr>
            <p:ph type="sldNum" sz="quarter" idx="11"/>
          </p:nvPr>
        </p:nvSpPr>
        <p:spPr/>
        <p:txBody>
          <a:bodyPr/>
          <a:lstStyle/>
          <a:p>
            <a:pPr>
              <a:defRPr/>
            </a:pPr>
            <a:fld id="{FCD2DEF3-CC22-46D7-B1CE-CC374960B969}" type="slidenum">
              <a:rPr lang="en-US" altLang="zh-CN" smtClean="0"/>
              <a:pPr>
                <a:defRPr/>
              </a:pPr>
              <a:t>5</a:t>
            </a:fld>
            <a:endParaRPr lang="en-US" altLang="zh-CN"/>
          </a:p>
        </p:txBody>
      </p:sp>
      <p:graphicFrame>
        <p:nvGraphicFramePr>
          <p:cNvPr id="9" name="Object 4">
            <a:extLst>
              <a:ext uri="{FF2B5EF4-FFF2-40B4-BE49-F238E27FC236}">
                <a16:creationId xmlns:a16="http://schemas.microsoft.com/office/drawing/2014/main" id="{45EED0C8-844F-3327-4BFC-DFF38763197A}"/>
              </a:ext>
            </a:extLst>
          </p:cNvPr>
          <p:cNvGraphicFramePr>
            <a:graphicFrameLocks noChangeAspect="1"/>
          </p:cNvGraphicFramePr>
          <p:nvPr>
            <p:extLst>
              <p:ext uri="{D42A27DB-BD31-4B8C-83A1-F6EECF244321}">
                <p14:modId xmlns:p14="http://schemas.microsoft.com/office/powerpoint/2010/main" val="1821128303"/>
              </p:ext>
            </p:extLst>
          </p:nvPr>
        </p:nvGraphicFramePr>
        <p:xfrm>
          <a:off x="7684545" y="2792226"/>
          <a:ext cx="4382732" cy="1123959"/>
        </p:xfrm>
        <a:graphic>
          <a:graphicData uri="http://schemas.openxmlformats.org/presentationml/2006/ole">
            <mc:AlternateContent xmlns:mc="http://schemas.openxmlformats.org/markup-compatibility/2006">
              <mc:Choice xmlns:v="urn:schemas-microsoft-com:vml" Requires="v">
                <p:oleObj name="Equation" r:id="rId5" imgW="2184120" imgH="558720" progId="Equation.DSMT4">
                  <p:embed/>
                </p:oleObj>
              </mc:Choice>
              <mc:Fallback>
                <p:oleObj name="Equation" r:id="rId5" imgW="2184120" imgH="558720" progId="Equation.DSMT4">
                  <p:embed/>
                  <p:pic>
                    <p:nvPicPr>
                      <p:cNvPr id="10" name="Object 4">
                        <a:extLst>
                          <a:ext uri="{FF2B5EF4-FFF2-40B4-BE49-F238E27FC236}">
                            <a16:creationId xmlns:a16="http://schemas.microsoft.com/office/drawing/2014/main" id="{DFFE101C-5312-BEAB-7225-B9829233C61D}"/>
                          </a:ext>
                        </a:extLst>
                      </p:cNvPr>
                      <p:cNvPicPr>
                        <a:picLocks noChangeAspect="1" noChangeArrowheads="1"/>
                      </p:cNvPicPr>
                      <p:nvPr/>
                    </p:nvPicPr>
                    <p:blipFill>
                      <a:blip r:embed="rId6"/>
                      <a:srcRect/>
                      <a:stretch>
                        <a:fillRect/>
                      </a:stretch>
                    </p:blipFill>
                    <p:spPr bwMode="auto">
                      <a:xfrm>
                        <a:off x="7684545" y="2792226"/>
                        <a:ext cx="4382732" cy="1123959"/>
                      </a:xfrm>
                      <a:prstGeom prst="rect">
                        <a:avLst/>
                      </a:prstGeom>
                      <a:solidFill>
                        <a:srgbClr val="99FF66"/>
                      </a:solidFill>
                      <a:ln>
                        <a:noFill/>
                      </a:ln>
                    </p:spPr>
                  </p:pic>
                </p:oleObj>
              </mc:Fallback>
            </mc:AlternateContent>
          </a:graphicData>
        </a:graphic>
      </p:graphicFrame>
      <p:sp>
        <p:nvSpPr>
          <p:cNvPr id="12" name="Rectangle 6">
            <a:extLst>
              <a:ext uri="{FF2B5EF4-FFF2-40B4-BE49-F238E27FC236}">
                <a16:creationId xmlns:a16="http://schemas.microsoft.com/office/drawing/2014/main" id="{C81B02AD-5EFF-25A4-D0D6-1B6CB694E4B5}"/>
              </a:ext>
            </a:extLst>
          </p:cNvPr>
          <p:cNvSpPr>
            <a:spLocks noChangeArrowheads="1"/>
          </p:cNvSpPr>
          <p:nvPr/>
        </p:nvSpPr>
        <p:spPr bwMode="auto">
          <a:xfrm>
            <a:off x="1477831" y="5652537"/>
            <a:ext cx="166584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rgbClr val="EE0006"/>
                </a:solidFill>
                <a:latin typeface="+mn-lt"/>
                <a:ea typeface="黑体" pitchFamily="2" charset="-122"/>
              </a:rPr>
              <a:t>p</a:t>
            </a:r>
            <a:r>
              <a:rPr kumimoji="1" lang="en-US" altLang="zh-CN" sz="3200" b="1" i="1" baseline="-30000" dirty="0" err="1">
                <a:solidFill>
                  <a:srgbClr val="EE0006"/>
                </a:solidFill>
                <a:latin typeface="+mn-lt"/>
                <a:ea typeface="黑体" pitchFamily="2" charset="-122"/>
              </a:rPr>
              <a:t>ij</a:t>
            </a:r>
            <a:r>
              <a:rPr kumimoji="1" lang="en-US" altLang="zh-CN" sz="3200" b="1" dirty="0">
                <a:solidFill>
                  <a:srgbClr val="EE0006"/>
                </a:solidFill>
                <a:latin typeface="+mn-lt"/>
                <a:ea typeface="黑体" pitchFamily="2" charset="-122"/>
              </a:rPr>
              <a:t>(</a:t>
            </a:r>
            <a:r>
              <a:rPr kumimoji="1" lang="en-US" altLang="zh-CN" sz="3200" b="1" i="1" dirty="0">
                <a:solidFill>
                  <a:srgbClr val="EE0006"/>
                </a:solidFill>
                <a:latin typeface="+mn-lt"/>
                <a:ea typeface="黑体" pitchFamily="2" charset="-122"/>
                <a:sym typeface="Symbol" pitchFamily="18" charset="2"/>
              </a:rPr>
              <a:t></a:t>
            </a:r>
            <a:r>
              <a:rPr kumimoji="1" lang="en-US" altLang="zh-CN" sz="3200" b="1" dirty="0">
                <a:solidFill>
                  <a:srgbClr val="EE0006"/>
                </a:solidFill>
                <a:latin typeface="+mn-lt"/>
                <a:ea typeface="黑体" pitchFamily="2" charset="-122"/>
              </a:rPr>
              <a:t>)</a:t>
            </a:r>
            <a:r>
              <a:rPr kumimoji="1" lang="en-US" altLang="zh-CN" sz="3200" b="1" dirty="0">
                <a:solidFill>
                  <a:srgbClr val="EE0006"/>
                </a:solidFill>
                <a:latin typeface="+mn-lt"/>
              </a:rPr>
              <a:t> =0</a:t>
            </a:r>
            <a:endParaRPr kumimoji="1" lang="zh-CN" altLang="en-US" sz="3200" b="1" dirty="0">
              <a:latin typeface="+mn-lt"/>
            </a:endParaRPr>
          </a:p>
        </p:txBody>
      </p:sp>
    </p:spTree>
    <p:extLst>
      <p:ext uri="{BB962C8B-B14F-4D97-AF65-F5344CB8AC3E}">
        <p14:creationId xmlns:p14="http://schemas.microsoft.com/office/powerpoint/2010/main" val="1084902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6">
                                            <p:txEl>
                                              <p:pRg st="0" end="0"/>
                                            </p:txEl>
                                          </p:spTgt>
                                        </p:tgtEl>
                                        <p:attrNameLst>
                                          <p:attrName>style.visibility</p:attrName>
                                        </p:attrNameLst>
                                      </p:cBhvr>
                                      <p:to>
                                        <p:strVal val="visible"/>
                                      </p:to>
                                    </p:set>
                                    <p:anim calcmode="lin" valueType="num">
                                      <p:cBhvr additive="base">
                                        <p:cTn id="7" dur="500" fill="hold"/>
                                        <p:tgtEl>
                                          <p:spTgt spid="665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5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6567">
                                            <p:txEl>
                                              <p:pRg st="0" end="0"/>
                                            </p:txEl>
                                          </p:spTgt>
                                        </p:tgtEl>
                                        <p:attrNameLst>
                                          <p:attrName>style.visibility</p:attrName>
                                        </p:attrNameLst>
                                      </p:cBhvr>
                                      <p:to>
                                        <p:strVal val="visible"/>
                                      </p:to>
                                    </p:set>
                                    <p:animEffect transition="in" filter="wipe(left)">
                                      <p:cBhvr>
                                        <p:cTn id="33" dur="500"/>
                                        <p:tgtEl>
                                          <p:spTgt spid="66567">
                                            <p:txEl>
                                              <p:pRg st="0" end="0"/>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 calcmode="lin" valueType="num">
                                      <p:cBhvr additive="base">
                                        <p:cTn id="38"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3" name="type.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66568">
                                            <p:txEl>
                                              <p:pRg st="0" end="0"/>
                                            </p:txEl>
                                          </p:spTgt>
                                        </p:tgtEl>
                                        <p:attrNameLst>
                                          <p:attrName>style.visibility</p:attrName>
                                        </p:attrNameLst>
                                      </p:cBhvr>
                                      <p:to>
                                        <p:strVal val="visible"/>
                                      </p:to>
                                    </p:set>
                                    <p:anim calcmode="lin" valueType="num">
                                      <p:cBhvr additive="base">
                                        <p:cTn id="44" dur="500" fill="hold"/>
                                        <p:tgtEl>
                                          <p:spTgt spid="66568">
                                            <p:txEl>
                                              <p:pRg st="0" end="0"/>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6656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3" name="type.wav"/>
                                        </p:tgtEl>
                                      </p:cMediaNode>
                                    </p:audio>
                                  </p:sub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p:cTn id="50" dur="500" fill="hold"/>
                                        <p:tgtEl>
                                          <p:spTgt spid="6"/>
                                        </p:tgtEl>
                                        <p:attrNameLst>
                                          <p:attrName>ppt_w</p:attrName>
                                        </p:attrNameLst>
                                      </p:cBhvr>
                                      <p:tavLst>
                                        <p:tav tm="0">
                                          <p:val>
                                            <p:fltVal val="0"/>
                                          </p:val>
                                        </p:tav>
                                        <p:tav tm="100000">
                                          <p:val>
                                            <p:strVal val="#ppt_w"/>
                                          </p:val>
                                        </p:tav>
                                      </p:tavLst>
                                    </p:anim>
                                    <p:anim calcmode="lin" valueType="num">
                                      <p:cBhvr>
                                        <p:cTn id="51" dur="500" fill="hold"/>
                                        <p:tgtEl>
                                          <p:spTgt spid="6"/>
                                        </p:tgtEl>
                                        <p:attrNameLst>
                                          <p:attrName>ppt_h</p:attrName>
                                        </p:attrNameLst>
                                      </p:cBhvr>
                                      <p:tavLst>
                                        <p:tav tm="0">
                                          <p:val>
                                            <p:fltVal val="0"/>
                                          </p:val>
                                        </p:tav>
                                        <p:tav tm="100000">
                                          <p:val>
                                            <p:strVal val="#ppt_h"/>
                                          </p:val>
                                        </p:tav>
                                      </p:tavLst>
                                    </p:anim>
                                    <p:animEffect transition="in" filter="fade">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6" grpId="0" build="p" autoUpdateAnimBg="0"/>
      <p:bldP spid="66567" grpId="0" build="p" autoUpdateAnimBg="0"/>
      <p:bldP spid="66568" grpId="0" build="p" autoUpdateAnimBg="0"/>
      <p:bldP spid="2" grpId="0"/>
      <p:bldP spid="3" grpId="0"/>
      <p:bldP spid="4" grpId="0"/>
      <p:bldP spid="5" grpId="0"/>
      <p:bldP spid="6" grpId="0" animBg="1"/>
      <p:bldP spid="12"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9A97-41E7-1A0C-88E1-4A2865D8FE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7F45EF-9E72-B9CE-41BF-05F931C4A5A3}"/>
              </a:ext>
            </a:extLst>
          </p:cNvPr>
          <p:cNvSpPr>
            <a:spLocks noGrp="1"/>
          </p:cNvSpPr>
          <p:nvPr>
            <p:ph type="title"/>
          </p:nvPr>
        </p:nvSpPr>
        <p:spPr>
          <a:xfrm>
            <a:off x="1981200" y="44624"/>
            <a:ext cx="8229600" cy="1143000"/>
          </a:xfrm>
          <a:solidFill>
            <a:srgbClr val="CCFF99"/>
          </a:solidFill>
        </p:spPr>
        <p:txBody>
          <a:bodyPr/>
          <a:lstStyle/>
          <a:p>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性质</a:t>
            </a:r>
            <a:r>
              <a:rPr kumimoji="1" lang="en-US" altLang="zh-CN" sz="4000" b="1" dirty="0">
                <a:solidFill>
                  <a:srgbClr val="EE0006"/>
                </a:solidFill>
                <a:ea typeface="黑体" pitchFamily="2" charset="-122"/>
              </a:rPr>
              <a:t>6</a:t>
            </a:r>
            <a:r>
              <a:rPr kumimoji="1" lang="en-US" altLang="zh-CN" sz="4000" b="1" dirty="0">
                <a:solidFill>
                  <a:srgbClr val="EE0006"/>
                </a:solidFill>
                <a:latin typeface="黑体" pitchFamily="2" charset="-122"/>
                <a:ea typeface="黑体" pitchFamily="2" charset="-122"/>
              </a:rPr>
              <a:t>]</a:t>
            </a:r>
            <a:r>
              <a:rPr kumimoji="1" lang="zh-CN" altLang="en-US" sz="4000" b="1" dirty="0">
                <a:solidFill>
                  <a:srgbClr val="EE0006"/>
                </a:solidFill>
                <a:latin typeface="黑体" pitchFamily="2" charset="-122"/>
                <a:ea typeface="黑体" pitchFamily="2" charset="-122"/>
              </a:rPr>
              <a:t>的证明：</a:t>
            </a:r>
            <a:r>
              <a:rPr kumimoji="1" lang="en-US" altLang="zh-CN" sz="4000" b="1" dirty="0">
                <a:solidFill>
                  <a:srgbClr val="EE0006"/>
                </a:solidFill>
                <a:sym typeface="Symbol" pitchFamily="18" charset="2"/>
              </a:rPr>
              <a:t>( </a:t>
            </a:r>
            <a:r>
              <a:rPr kumimoji="1" lang="en-US" altLang="zh-CN" sz="4000" b="1" i="1" dirty="0">
                <a:solidFill>
                  <a:srgbClr val="EE0006"/>
                </a:solidFill>
                <a:sym typeface="Symbol" pitchFamily="18" charset="2"/>
              </a:rPr>
              <a:t>Q</a:t>
            </a:r>
            <a:r>
              <a:rPr lang="en-US" altLang="zh-CN" sz="4000" b="1" dirty="0">
                <a:solidFill>
                  <a:srgbClr val="EE0006"/>
                </a:solidFill>
              </a:rPr>
              <a:t>◦</a:t>
            </a:r>
            <a:r>
              <a:rPr kumimoji="1" lang="en-US" altLang="zh-CN" sz="4000" b="1" i="1" dirty="0">
                <a:solidFill>
                  <a:srgbClr val="EE0006"/>
                </a:solidFill>
              </a:rPr>
              <a:t>R</a:t>
            </a:r>
            <a:r>
              <a:rPr kumimoji="1" lang="en-US" altLang="zh-CN" sz="4000" b="1" dirty="0">
                <a:solidFill>
                  <a:srgbClr val="EE0006"/>
                </a:solidFill>
                <a:sym typeface="Symbol" pitchFamily="18" charset="2"/>
              </a:rPr>
              <a:t> )</a:t>
            </a:r>
            <a:r>
              <a:rPr kumimoji="1" lang="en-US" altLang="zh-CN" sz="4000" b="1" baseline="30000" dirty="0">
                <a:solidFill>
                  <a:srgbClr val="EE0006"/>
                </a:solidFill>
                <a:sym typeface="Symbol" pitchFamily="18" charset="2"/>
              </a:rPr>
              <a:t>T</a:t>
            </a:r>
            <a:r>
              <a:rPr kumimoji="1" lang="en-US" altLang="zh-CN" sz="4000" b="1" dirty="0">
                <a:solidFill>
                  <a:srgbClr val="EE0006"/>
                </a:solidFill>
              </a:rPr>
              <a:t> </a:t>
            </a:r>
            <a:r>
              <a:rPr kumimoji="1" lang="en-US" altLang="zh-CN" sz="4000" b="1" dirty="0">
                <a:solidFill>
                  <a:srgbClr val="EE0006"/>
                </a:solidFill>
                <a:sym typeface="Symbol" pitchFamily="18" charset="2"/>
              </a:rPr>
              <a:t>= </a:t>
            </a:r>
            <a:r>
              <a:rPr kumimoji="1" lang="en-US" altLang="zh-CN" sz="4000" b="1" i="1" dirty="0">
                <a:solidFill>
                  <a:srgbClr val="EE0006"/>
                </a:solidFill>
                <a:sym typeface="Symbol" pitchFamily="18" charset="2"/>
              </a:rPr>
              <a:t>R</a:t>
            </a:r>
            <a:r>
              <a:rPr kumimoji="1" lang="en-US" altLang="zh-CN" sz="4000" b="1" baseline="30000" dirty="0">
                <a:solidFill>
                  <a:srgbClr val="EE0006"/>
                </a:solidFill>
                <a:sym typeface="Symbol" pitchFamily="18" charset="2"/>
              </a:rPr>
              <a:t>T</a:t>
            </a:r>
            <a:r>
              <a:rPr lang="en-US" altLang="zh-CN" sz="4000" b="1" dirty="0">
                <a:solidFill>
                  <a:srgbClr val="EE0006"/>
                </a:solidFill>
              </a:rPr>
              <a:t>◦</a:t>
            </a:r>
            <a:r>
              <a:rPr kumimoji="1" lang="en-US" altLang="zh-CN" sz="4000" b="1" i="1" dirty="0">
                <a:solidFill>
                  <a:srgbClr val="EE0006"/>
                </a:solidFill>
              </a:rPr>
              <a:t>Q</a:t>
            </a:r>
            <a:r>
              <a:rPr kumimoji="1" lang="en-US" altLang="zh-CN" sz="4000" b="1" baseline="30000" dirty="0">
                <a:solidFill>
                  <a:srgbClr val="EE0006"/>
                </a:solidFill>
                <a:sym typeface="Symbol" pitchFamily="18" charset="2"/>
              </a:rPr>
              <a:t>T</a:t>
            </a:r>
            <a:r>
              <a:rPr kumimoji="1" lang="en-US" altLang="zh-CN" sz="4000" dirty="0">
                <a:solidFill>
                  <a:srgbClr val="EE0006"/>
                </a:solidFill>
                <a:sym typeface="Symbol" pitchFamily="18" charset="2"/>
              </a:rPr>
              <a:t> </a:t>
            </a:r>
          </a:p>
        </p:txBody>
      </p:sp>
      <p:sp>
        <p:nvSpPr>
          <p:cNvPr id="3" name="内容占位符 2">
            <a:extLst>
              <a:ext uri="{FF2B5EF4-FFF2-40B4-BE49-F238E27FC236}">
                <a16:creationId xmlns:a16="http://schemas.microsoft.com/office/drawing/2014/main" id="{DEE3EE89-DA03-4455-2BDB-2B86E877CED8}"/>
              </a:ext>
            </a:extLst>
          </p:cNvPr>
          <p:cNvSpPr>
            <a:spLocks noGrp="1"/>
          </p:cNvSpPr>
          <p:nvPr>
            <p:ph idx="1"/>
          </p:nvPr>
        </p:nvSpPr>
        <p:spPr>
          <a:xfrm>
            <a:off x="911424" y="1196752"/>
            <a:ext cx="10225136" cy="5661248"/>
          </a:xfrm>
        </p:spPr>
        <p:txBody>
          <a:bodyPr/>
          <a:lstStyle/>
          <a:p>
            <a:pPr eaLnBrk="1" hangingPunct="1"/>
            <a:r>
              <a:rPr kumimoji="1" lang="zh-CN" altLang="en-US" sz="3200" b="1" dirty="0">
                <a:latin typeface="Times New Roman" pitchFamily="18" charset="0"/>
              </a:rPr>
              <a:t>证：设</a:t>
            </a:r>
            <a:r>
              <a:rPr kumimoji="1" lang="en-US" altLang="zh-CN" sz="3200" b="1" dirty="0">
                <a:latin typeface="Times New Roman" pitchFamily="18" charset="0"/>
              </a:rPr>
              <a:t>Q</a:t>
            </a:r>
            <a:r>
              <a:rPr kumimoji="1" lang="en-US" altLang="en-US" sz="3200" b="1" dirty="0">
                <a:latin typeface="Times New Roman" pitchFamily="18" charset="0"/>
                <a:sym typeface="Symbol"/>
              </a:rPr>
              <a:t></a:t>
            </a:r>
            <a:r>
              <a:rPr kumimoji="1" lang="en-US" altLang="zh-CN" sz="3200" b="1" dirty="0">
                <a:latin typeface="Monotype Corsiva" pitchFamily="66" charset="0"/>
              </a:rPr>
              <a:t>F</a:t>
            </a:r>
            <a:r>
              <a:rPr kumimoji="1" lang="en-US" altLang="zh-CN" sz="3200" b="1" dirty="0">
                <a:latin typeface="Times New Roman" pitchFamily="18" charset="0"/>
              </a:rPr>
              <a:t>(U</a:t>
            </a:r>
            <a:r>
              <a:rPr kumimoji="1" lang="en-US" altLang="en-US" sz="3200" b="1" dirty="0">
                <a:latin typeface="Times New Roman" pitchFamily="18" charset="0"/>
              </a:rPr>
              <a:t>×</a:t>
            </a:r>
            <a:r>
              <a:rPr kumimoji="1" lang="en-US" altLang="zh-CN" sz="3200" b="1" dirty="0">
                <a:latin typeface="Times New Roman" pitchFamily="18" charset="0"/>
              </a:rPr>
              <a:t>V)</a:t>
            </a:r>
            <a:r>
              <a:rPr kumimoji="1" lang="zh-CN" altLang="en-US" sz="3200" b="1" dirty="0">
                <a:latin typeface="Times New Roman" pitchFamily="18" charset="0"/>
              </a:rPr>
              <a:t>，</a:t>
            </a:r>
            <a:r>
              <a:rPr kumimoji="1" lang="en-US" altLang="zh-CN" sz="3200" b="1" dirty="0">
                <a:latin typeface="Times New Roman" pitchFamily="18" charset="0"/>
              </a:rPr>
              <a:t>R</a:t>
            </a:r>
            <a:r>
              <a:rPr kumimoji="1" lang="en-US" altLang="en-US" sz="3200" b="1" dirty="0">
                <a:latin typeface="Times New Roman" pitchFamily="18" charset="0"/>
                <a:sym typeface="Symbol"/>
              </a:rPr>
              <a:t>  </a:t>
            </a:r>
            <a:r>
              <a:rPr kumimoji="1" lang="en-US" altLang="zh-CN" sz="3200" b="1" dirty="0">
                <a:latin typeface="Monotype Corsiva" pitchFamily="66" charset="0"/>
              </a:rPr>
              <a:t>F</a:t>
            </a:r>
            <a:r>
              <a:rPr kumimoji="1" lang="en-US" altLang="zh-CN" sz="3200" b="1" dirty="0">
                <a:latin typeface="Times New Roman" pitchFamily="18" charset="0"/>
              </a:rPr>
              <a:t>(V</a:t>
            </a:r>
            <a:r>
              <a:rPr kumimoji="1" lang="en-US" altLang="en-US" sz="3200" b="1" dirty="0">
                <a:latin typeface="Times New Roman" pitchFamily="18" charset="0"/>
              </a:rPr>
              <a:t>×</a:t>
            </a:r>
            <a:r>
              <a:rPr kumimoji="1" lang="en-US" altLang="zh-CN" sz="3200" b="1" dirty="0">
                <a:latin typeface="Times New Roman" pitchFamily="18" charset="0"/>
              </a:rPr>
              <a:t>W)</a:t>
            </a:r>
            <a:r>
              <a:rPr kumimoji="1" lang="zh-CN" altLang="en-US" sz="3200" b="1" dirty="0"/>
              <a:t>，则</a:t>
            </a:r>
          </a:p>
          <a:p>
            <a:pPr marL="0" indent="0" eaLnBrk="1" hangingPunct="1">
              <a:lnSpc>
                <a:spcPct val="110000"/>
              </a:lnSpc>
              <a:buNone/>
            </a:pPr>
            <a:r>
              <a:rPr lang="en-US" altLang="zh-CN" b="1" dirty="0">
                <a:sym typeface="Symbol" panose="05050102010706020507" pitchFamily="18" charset="2"/>
              </a:rPr>
              <a:t>        </a:t>
            </a:r>
            <a:r>
              <a:rPr lang="zh-CN" altLang="en-US" sz="3200" b="1" dirty="0">
                <a:sym typeface="Symbol" panose="05050102010706020507" pitchFamily="18" charset="2"/>
              </a:rPr>
              <a:t>按转置定义有：</a:t>
            </a:r>
            <a:r>
              <a:rPr lang="en-US" altLang="zh-CN" sz="3200" b="1" i="1" dirty="0">
                <a:solidFill>
                  <a:srgbClr val="3333FF"/>
                </a:solidFill>
              </a:rPr>
              <a:t>Q</a:t>
            </a:r>
            <a:r>
              <a:rPr lang="en-US" altLang="zh-CN" sz="3200" b="1" baseline="30000" dirty="0">
                <a:solidFill>
                  <a:srgbClr val="3333FF"/>
                </a:solidFill>
              </a:rPr>
              <a:t>T</a:t>
            </a:r>
            <a:r>
              <a:rPr lang="en-US" altLang="zh-CN" sz="3200" b="1" dirty="0">
                <a:solidFill>
                  <a:srgbClr val="3333FF"/>
                </a:solidFill>
              </a:rPr>
              <a:t>(</a:t>
            </a:r>
            <a:r>
              <a:rPr lang="en-US" altLang="zh-CN" sz="3200" b="1" i="1" dirty="0" err="1">
                <a:solidFill>
                  <a:srgbClr val="3333FF"/>
                </a:solidFill>
              </a:rPr>
              <a:t>v,u</a:t>
            </a:r>
            <a:r>
              <a:rPr lang="en-US" altLang="zh-CN" sz="3200" b="1" dirty="0">
                <a:solidFill>
                  <a:srgbClr val="3333FF"/>
                </a:solidFill>
              </a:rPr>
              <a:t>)=</a:t>
            </a:r>
            <a:r>
              <a:rPr lang="en-US" altLang="zh-CN" sz="3200" b="1" i="1" dirty="0">
                <a:solidFill>
                  <a:srgbClr val="3333FF"/>
                </a:solidFill>
              </a:rPr>
              <a:t>Q</a:t>
            </a:r>
            <a:r>
              <a:rPr lang="en-US" altLang="zh-CN" sz="3200" b="1" dirty="0">
                <a:solidFill>
                  <a:srgbClr val="3333FF"/>
                </a:solidFill>
              </a:rPr>
              <a:t>(</a:t>
            </a:r>
            <a:r>
              <a:rPr lang="en-US" altLang="zh-CN" sz="3200" b="1" i="1" dirty="0" err="1">
                <a:solidFill>
                  <a:srgbClr val="3333FF"/>
                </a:solidFill>
              </a:rPr>
              <a:t>u,v</a:t>
            </a:r>
            <a:r>
              <a:rPr lang="en-US" altLang="zh-CN" sz="3200" b="1" dirty="0">
                <a:solidFill>
                  <a:srgbClr val="3333FF"/>
                </a:solidFill>
              </a:rPr>
              <a:t>),</a:t>
            </a:r>
            <a:r>
              <a:rPr lang="en-US" altLang="zh-CN" sz="3200" b="1" i="1" dirty="0">
                <a:solidFill>
                  <a:srgbClr val="3333FF"/>
                </a:solidFill>
              </a:rPr>
              <a:t> R</a:t>
            </a:r>
            <a:r>
              <a:rPr lang="en-US" altLang="zh-CN" sz="3200" b="1" baseline="30000" dirty="0">
                <a:solidFill>
                  <a:srgbClr val="3333FF"/>
                </a:solidFill>
              </a:rPr>
              <a:t>T</a:t>
            </a:r>
            <a:r>
              <a:rPr lang="en-US" altLang="zh-CN" sz="3200" b="1" dirty="0">
                <a:solidFill>
                  <a:srgbClr val="3333FF"/>
                </a:solidFill>
              </a:rPr>
              <a:t>(</a:t>
            </a:r>
            <a:r>
              <a:rPr lang="en-US" altLang="zh-CN" sz="3200" b="1" i="1" dirty="0" err="1">
                <a:solidFill>
                  <a:srgbClr val="3333FF"/>
                </a:solidFill>
              </a:rPr>
              <a:t>w,v</a:t>
            </a:r>
            <a:r>
              <a:rPr lang="en-US" altLang="zh-CN" sz="3200" b="1" dirty="0">
                <a:solidFill>
                  <a:srgbClr val="3333FF"/>
                </a:solidFill>
              </a:rPr>
              <a:t>)=</a:t>
            </a:r>
            <a:r>
              <a:rPr lang="en-US" altLang="zh-CN" sz="3200" b="1" i="1" dirty="0">
                <a:solidFill>
                  <a:srgbClr val="3333FF"/>
                </a:solidFill>
              </a:rPr>
              <a:t>R</a:t>
            </a:r>
            <a:r>
              <a:rPr lang="en-US" altLang="zh-CN" sz="3200" b="1" dirty="0">
                <a:solidFill>
                  <a:srgbClr val="3333FF"/>
                </a:solidFill>
              </a:rPr>
              <a:t>(</a:t>
            </a:r>
            <a:r>
              <a:rPr lang="en-US" altLang="zh-CN" sz="3200" b="1" i="1" dirty="0" err="1">
                <a:solidFill>
                  <a:srgbClr val="3333FF"/>
                </a:solidFill>
              </a:rPr>
              <a:t>v,w</a:t>
            </a:r>
            <a:r>
              <a:rPr lang="en-US" altLang="zh-CN" sz="3200" b="1" dirty="0">
                <a:solidFill>
                  <a:srgbClr val="3333FF"/>
                </a:solidFill>
              </a:rPr>
              <a:t>)</a:t>
            </a:r>
            <a:r>
              <a:rPr lang="en-US" altLang="zh-CN" sz="3200" b="1" dirty="0">
                <a:solidFill>
                  <a:srgbClr val="3333FF"/>
                </a:solidFill>
                <a:sym typeface="Symbol" panose="05050102010706020507" pitchFamily="18" charset="2"/>
              </a:rPr>
              <a:t> </a:t>
            </a:r>
          </a:p>
          <a:p>
            <a:pPr marL="0" indent="0" eaLnBrk="1" hangingPunct="1">
              <a:lnSpc>
                <a:spcPct val="110000"/>
              </a:lnSpc>
              <a:buNone/>
            </a:pPr>
            <a:r>
              <a:rPr lang="en-US" altLang="zh-CN" sz="3200" b="1" i="0" dirty="0">
                <a:solidFill>
                  <a:srgbClr val="CC00CC"/>
                </a:solidFill>
              </a:rPr>
              <a:t>          (</a:t>
            </a:r>
            <a:r>
              <a:rPr lang="en-US" altLang="zh-CN" sz="3200" b="1" i="1" dirty="0">
                <a:solidFill>
                  <a:srgbClr val="CC00CC"/>
                </a:solidFill>
              </a:rPr>
              <a:t>Q</a:t>
            </a:r>
            <a:r>
              <a:rPr lang="en-US" altLang="zh-CN" sz="3200" b="1" i="0" dirty="0">
                <a:solidFill>
                  <a:srgbClr val="CC00CC"/>
                </a:solidFill>
              </a:rPr>
              <a:t>∘</a:t>
            </a:r>
            <a:r>
              <a:rPr lang="en-US" altLang="zh-CN" sz="3200" b="1" i="1" dirty="0">
                <a:solidFill>
                  <a:srgbClr val="CC00CC"/>
                </a:solidFill>
              </a:rPr>
              <a:t>R</a:t>
            </a:r>
            <a:r>
              <a:rPr lang="en-US" altLang="zh-CN" sz="3200" b="1" i="0" dirty="0">
                <a:solidFill>
                  <a:srgbClr val="CC00CC"/>
                </a:solidFill>
              </a:rPr>
              <a:t>)</a:t>
            </a:r>
            <a:r>
              <a:rPr lang="en-US" altLang="zh-CN" sz="3200" b="1" i="0" baseline="30000" dirty="0">
                <a:solidFill>
                  <a:srgbClr val="CC00CC"/>
                </a:solidFill>
              </a:rPr>
              <a:t>T</a:t>
            </a:r>
            <a:r>
              <a:rPr lang="en-US" altLang="zh-CN" sz="3200" b="1" dirty="0">
                <a:sym typeface="Symbol" panose="05050102010706020507" pitchFamily="18" charset="2"/>
              </a:rPr>
              <a:t>(</a:t>
            </a:r>
            <a:r>
              <a:rPr lang="en-US" altLang="zh-CN" sz="3200" b="1" i="1" dirty="0"/>
              <a:t>w</a:t>
            </a:r>
            <a:r>
              <a:rPr lang="en-US" altLang="zh-CN" sz="3200" b="1" dirty="0"/>
              <a:t>, </a:t>
            </a:r>
            <a:r>
              <a:rPr lang="en-US" altLang="zh-CN" sz="3200" b="1" i="1" dirty="0"/>
              <a:t>u</a:t>
            </a:r>
            <a:r>
              <a:rPr lang="en-US" altLang="zh-CN" sz="3200" b="1" dirty="0"/>
              <a:t>)</a:t>
            </a:r>
          </a:p>
          <a:p>
            <a:pPr marL="0" indent="0">
              <a:lnSpc>
                <a:spcPct val="110000"/>
              </a:lnSpc>
              <a:buNone/>
            </a:pPr>
            <a:r>
              <a:rPr lang="en-US" altLang="zh-CN" sz="3200" b="1" i="0" dirty="0">
                <a:sym typeface="Symbol" pitchFamily="18" charset="2"/>
              </a:rPr>
              <a:t>          </a:t>
            </a:r>
            <a:endParaRPr lang="en-US" altLang="zh-CN" sz="3200" b="1" dirty="0"/>
          </a:p>
          <a:p>
            <a:pPr marL="0" lvl="1" indent="0">
              <a:lnSpc>
                <a:spcPct val="110000"/>
              </a:lnSpc>
              <a:buClr>
                <a:schemeClr val="bg2"/>
              </a:buClr>
              <a:buSzPct val="75000"/>
              <a:buNone/>
            </a:pPr>
            <a:endParaRPr lang="en-US" altLang="zh-CN" sz="2000" b="1" i="0" dirty="0">
              <a:sym typeface="Symbol" pitchFamily="18" charset="2"/>
            </a:endParaRPr>
          </a:p>
          <a:p>
            <a:pPr marL="0" lvl="1" indent="0">
              <a:lnSpc>
                <a:spcPct val="110000"/>
              </a:lnSpc>
              <a:buClr>
                <a:schemeClr val="bg2"/>
              </a:buClr>
              <a:buSzPct val="75000"/>
              <a:buNone/>
            </a:pPr>
            <a:endParaRPr lang="en-US" altLang="zh-CN" sz="2000" b="1" dirty="0">
              <a:sym typeface="Symbol" pitchFamily="18" charset="2"/>
            </a:endParaRPr>
          </a:p>
          <a:p>
            <a:pPr marL="0" lvl="1" indent="0">
              <a:lnSpc>
                <a:spcPct val="110000"/>
              </a:lnSpc>
              <a:buClr>
                <a:schemeClr val="bg2"/>
              </a:buClr>
              <a:buSzPct val="75000"/>
              <a:buNone/>
            </a:pPr>
            <a:endParaRPr lang="en-US" altLang="zh-CN" sz="2000" b="1" i="0" dirty="0">
              <a:sym typeface="Symbol" pitchFamily="18" charset="2"/>
            </a:endParaRPr>
          </a:p>
          <a:p>
            <a:pPr marL="0" lvl="1" indent="0">
              <a:buClr>
                <a:schemeClr val="bg2"/>
              </a:buClr>
              <a:buSzPct val="75000"/>
              <a:buNone/>
            </a:pPr>
            <a:endParaRPr lang="en-US" altLang="zh-CN" sz="2800" b="1" dirty="0">
              <a:sym typeface="Symbol" pitchFamily="18" charset="2"/>
            </a:endParaRPr>
          </a:p>
          <a:p>
            <a:pPr marL="0" lvl="1" indent="0">
              <a:lnSpc>
                <a:spcPct val="120000"/>
              </a:lnSpc>
              <a:buClr>
                <a:schemeClr val="bg2"/>
              </a:buClr>
              <a:buSzPct val="75000"/>
              <a:buNone/>
            </a:pPr>
            <a:r>
              <a:rPr lang="en-US" altLang="zh-CN" sz="3200" b="1" dirty="0">
                <a:sym typeface="Symbol" pitchFamily="18" charset="2"/>
              </a:rPr>
              <a:t>                              </a:t>
            </a:r>
            <a:r>
              <a:rPr lang="en-US" altLang="zh-CN" sz="3200" b="1" i="0" dirty="0">
                <a:sym typeface="Symbol" pitchFamily="18" charset="2"/>
              </a:rPr>
              <a:t> </a:t>
            </a:r>
            <a:r>
              <a:rPr lang="en-US" altLang="zh-CN" sz="3200" b="1" dirty="0"/>
              <a:t>(</a:t>
            </a:r>
            <a:r>
              <a:rPr lang="en-US" altLang="zh-CN" sz="3200" b="1" i="1" dirty="0">
                <a:solidFill>
                  <a:srgbClr val="CC00CC"/>
                </a:solidFill>
              </a:rPr>
              <a:t>R</a:t>
            </a:r>
            <a:r>
              <a:rPr lang="en-US" altLang="zh-CN" sz="3200" b="1" baseline="30000" dirty="0">
                <a:solidFill>
                  <a:srgbClr val="CC00CC"/>
                </a:solidFill>
              </a:rPr>
              <a:t>T</a:t>
            </a:r>
            <a:r>
              <a:rPr lang="en-US" altLang="zh-CN" sz="3200" b="1" dirty="0">
                <a:solidFill>
                  <a:srgbClr val="CC00CC"/>
                </a:solidFill>
              </a:rPr>
              <a:t>∘</a:t>
            </a:r>
            <a:r>
              <a:rPr lang="en-US" altLang="zh-CN" sz="3200" b="1" i="1" dirty="0">
                <a:solidFill>
                  <a:srgbClr val="CC00CC"/>
                </a:solidFill>
              </a:rPr>
              <a:t>Q</a:t>
            </a:r>
            <a:r>
              <a:rPr lang="en-US" altLang="zh-CN" sz="3200" b="1" baseline="30000" dirty="0">
                <a:solidFill>
                  <a:srgbClr val="CC00CC"/>
                </a:solidFill>
              </a:rPr>
              <a:t>T</a:t>
            </a:r>
            <a:r>
              <a:rPr lang="en-US" altLang="zh-CN" sz="3200" b="1" dirty="0"/>
              <a:t>)</a:t>
            </a:r>
            <a:r>
              <a:rPr lang="en-US" altLang="zh-CN" sz="3200" b="1" dirty="0">
                <a:sym typeface="Symbol"/>
              </a:rPr>
              <a:t> </a:t>
            </a:r>
            <a:r>
              <a:rPr lang="en-US" altLang="zh-CN" sz="3200" b="1" dirty="0">
                <a:solidFill>
                  <a:srgbClr val="008000"/>
                </a:solidFill>
              </a:rPr>
              <a:t>(</a:t>
            </a:r>
            <a:r>
              <a:rPr lang="en-US" altLang="zh-CN" sz="3200" b="1" i="1" dirty="0">
                <a:solidFill>
                  <a:srgbClr val="008000"/>
                </a:solidFill>
              </a:rPr>
              <a:t>w</a:t>
            </a:r>
            <a:r>
              <a:rPr lang="en-US" altLang="zh-CN" sz="3200" b="1" dirty="0">
                <a:solidFill>
                  <a:srgbClr val="008000"/>
                </a:solidFill>
              </a:rPr>
              <a:t>, </a:t>
            </a:r>
            <a:r>
              <a:rPr lang="en-US" altLang="zh-CN" sz="3200" b="1" i="1" dirty="0">
                <a:solidFill>
                  <a:srgbClr val="008000"/>
                </a:solidFill>
              </a:rPr>
              <a:t>u</a:t>
            </a:r>
            <a:r>
              <a:rPr lang="en-US" altLang="zh-CN" sz="3200" b="1" dirty="0">
                <a:solidFill>
                  <a:srgbClr val="008000"/>
                </a:solidFill>
              </a:rPr>
              <a:t>)</a:t>
            </a:r>
            <a:endParaRPr lang="en-US" altLang="zh-CN" sz="3200" b="1" dirty="0"/>
          </a:p>
          <a:p>
            <a:pPr marL="0" lvl="1" indent="0">
              <a:lnSpc>
                <a:spcPct val="120000"/>
              </a:lnSpc>
              <a:buNone/>
            </a:pPr>
            <a:r>
              <a:rPr lang="zh-CN" altLang="en-US" sz="3200" b="1" dirty="0"/>
              <a:t>        所以，</a:t>
            </a:r>
            <a:r>
              <a:rPr kumimoji="1" lang="en-US" altLang="zh-CN" sz="3200" b="1" dirty="0">
                <a:sym typeface="Symbol" pitchFamily="18" charset="2"/>
              </a:rPr>
              <a:t> </a:t>
            </a:r>
            <a:r>
              <a:rPr kumimoji="1" lang="en-US" altLang="zh-CN" sz="3200" b="1" dirty="0">
                <a:solidFill>
                  <a:srgbClr val="EE0006"/>
                </a:solidFill>
                <a:sym typeface="Symbol" pitchFamily="18" charset="2"/>
              </a:rPr>
              <a:t>( </a:t>
            </a:r>
            <a:r>
              <a:rPr kumimoji="1" lang="en-US" altLang="zh-CN" sz="3200" b="1" i="1" dirty="0">
                <a:solidFill>
                  <a:srgbClr val="EE0006"/>
                </a:solidFill>
                <a:sym typeface="Symbol" pitchFamily="18" charset="2"/>
              </a:rPr>
              <a:t>Q</a:t>
            </a:r>
            <a:r>
              <a:rPr lang="en-US" altLang="zh-CN" sz="3200" b="1" dirty="0">
                <a:solidFill>
                  <a:srgbClr val="EE0006"/>
                </a:solidFill>
              </a:rPr>
              <a:t>◦</a:t>
            </a:r>
            <a:r>
              <a:rPr kumimoji="1" lang="en-US" altLang="zh-CN" sz="3200" b="1" i="1" dirty="0">
                <a:solidFill>
                  <a:srgbClr val="EE0006"/>
                </a:solidFill>
              </a:rPr>
              <a:t>R</a:t>
            </a:r>
            <a:r>
              <a:rPr kumimoji="1" lang="en-US" altLang="zh-CN" sz="3200" b="1" dirty="0">
                <a:solidFill>
                  <a:srgbClr val="EE0006"/>
                </a:solidFill>
                <a:sym typeface="Symbol" pitchFamily="18" charset="2"/>
              </a:rPr>
              <a:t> )</a:t>
            </a:r>
            <a:r>
              <a:rPr kumimoji="1" lang="en-US" altLang="zh-CN" sz="3200" b="1" baseline="30000" dirty="0">
                <a:solidFill>
                  <a:srgbClr val="EE0006"/>
                </a:solidFill>
                <a:sym typeface="Symbol" pitchFamily="18" charset="2"/>
              </a:rPr>
              <a:t>T</a:t>
            </a:r>
            <a:r>
              <a:rPr kumimoji="1" lang="en-US" altLang="zh-CN" sz="3200" b="1" dirty="0">
                <a:solidFill>
                  <a:srgbClr val="EE0006"/>
                </a:solidFill>
              </a:rPr>
              <a:t> </a:t>
            </a:r>
            <a:r>
              <a:rPr kumimoji="1" lang="en-US" altLang="zh-CN" sz="3200" b="1" dirty="0">
                <a:solidFill>
                  <a:srgbClr val="EE0006"/>
                </a:solidFill>
                <a:sym typeface="Symbol" pitchFamily="18" charset="2"/>
              </a:rPr>
              <a:t>= </a:t>
            </a:r>
            <a:r>
              <a:rPr kumimoji="1" lang="en-US" altLang="zh-CN" sz="3200" b="1" i="1" dirty="0">
                <a:solidFill>
                  <a:srgbClr val="EE0006"/>
                </a:solidFill>
                <a:sym typeface="Symbol" pitchFamily="18" charset="2"/>
              </a:rPr>
              <a:t>R</a:t>
            </a:r>
            <a:r>
              <a:rPr kumimoji="1" lang="en-US" altLang="zh-CN" sz="3200" b="1" baseline="30000" dirty="0">
                <a:solidFill>
                  <a:srgbClr val="EE0006"/>
                </a:solidFill>
                <a:sym typeface="Symbol" pitchFamily="18" charset="2"/>
              </a:rPr>
              <a:t>T</a:t>
            </a:r>
            <a:r>
              <a:rPr lang="en-US" altLang="zh-CN" sz="3200" b="1" dirty="0">
                <a:solidFill>
                  <a:srgbClr val="EE0006"/>
                </a:solidFill>
              </a:rPr>
              <a:t>◦</a:t>
            </a:r>
            <a:r>
              <a:rPr kumimoji="1" lang="en-US" altLang="zh-CN" sz="3200" b="1" i="1" dirty="0">
                <a:solidFill>
                  <a:srgbClr val="EE0006"/>
                </a:solidFill>
              </a:rPr>
              <a:t>Q</a:t>
            </a:r>
            <a:r>
              <a:rPr kumimoji="1" lang="en-US" altLang="zh-CN" sz="3200" b="1" baseline="30000" dirty="0">
                <a:solidFill>
                  <a:srgbClr val="EE0006"/>
                </a:solidFill>
                <a:sym typeface="Symbol" pitchFamily="18" charset="2"/>
              </a:rPr>
              <a:t>T</a:t>
            </a:r>
            <a:r>
              <a:rPr kumimoji="1" lang="en-US" altLang="zh-CN" sz="3200" dirty="0">
                <a:solidFill>
                  <a:srgbClr val="EE0006"/>
                </a:solidFill>
                <a:sym typeface="Symbol" pitchFamily="18" charset="2"/>
              </a:rPr>
              <a:t> </a:t>
            </a:r>
            <a:endParaRPr lang="en-US" altLang="zh-CN" sz="3200" b="1" dirty="0">
              <a:solidFill>
                <a:srgbClr val="CC00CC"/>
              </a:solidFill>
            </a:endParaRPr>
          </a:p>
        </p:txBody>
      </p:sp>
      <p:graphicFrame>
        <p:nvGraphicFramePr>
          <p:cNvPr id="6" name="Object 4">
            <a:extLst>
              <a:ext uri="{FF2B5EF4-FFF2-40B4-BE49-F238E27FC236}">
                <a16:creationId xmlns:a16="http://schemas.microsoft.com/office/drawing/2014/main" id="{B1E84F00-D0DB-912E-4EF4-22749B070D3F}"/>
              </a:ext>
            </a:extLst>
          </p:cNvPr>
          <p:cNvGraphicFramePr>
            <a:graphicFrameLocks noChangeAspect="1"/>
          </p:cNvGraphicFramePr>
          <p:nvPr/>
        </p:nvGraphicFramePr>
        <p:xfrm>
          <a:off x="4367584" y="3140968"/>
          <a:ext cx="4051300" cy="757237"/>
        </p:xfrm>
        <a:graphic>
          <a:graphicData uri="http://schemas.openxmlformats.org/presentationml/2006/ole">
            <mc:AlternateContent xmlns:mc="http://schemas.openxmlformats.org/markup-compatibility/2006">
              <mc:Choice xmlns:v="urn:schemas-microsoft-com:vml" Requires="v">
                <p:oleObj name="Equation" r:id="rId2" imgW="1498320" imgH="279360" progId="Equation.DSMT4">
                  <p:embed/>
                </p:oleObj>
              </mc:Choice>
              <mc:Fallback>
                <p:oleObj name="Equation" r:id="rId2" imgW="1498320" imgH="279360" progId="Equation.DSMT4">
                  <p:embed/>
                  <p:pic>
                    <p:nvPicPr>
                      <p:cNvPr id="6" name="Object 4">
                        <a:extLst>
                          <a:ext uri="{FF2B5EF4-FFF2-40B4-BE49-F238E27FC236}">
                            <a16:creationId xmlns:a16="http://schemas.microsoft.com/office/drawing/2014/main" id="{B1E84F00-D0DB-912E-4EF4-22749B070D3F}"/>
                          </a:ext>
                        </a:extLst>
                      </p:cNvPr>
                      <p:cNvPicPr>
                        <a:picLocks noChangeAspect="1" noChangeArrowheads="1"/>
                      </p:cNvPicPr>
                      <p:nvPr/>
                    </p:nvPicPr>
                    <p:blipFill>
                      <a:blip r:embed="rId3"/>
                      <a:srcRect/>
                      <a:stretch>
                        <a:fillRect/>
                      </a:stretch>
                    </p:blipFill>
                    <p:spPr bwMode="auto">
                      <a:xfrm>
                        <a:off x="4367584" y="3140968"/>
                        <a:ext cx="4051300" cy="757237"/>
                      </a:xfrm>
                      <a:prstGeom prst="rect">
                        <a:avLst/>
                      </a:prstGeom>
                      <a:noFill/>
                      <a:ln>
                        <a:noFill/>
                      </a:ln>
                    </p:spPr>
                  </p:pic>
                </p:oleObj>
              </mc:Fallback>
            </mc:AlternateContent>
          </a:graphicData>
        </a:graphic>
      </p:graphicFrame>
      <p:graphicFrame>
        <p:nvGraphicFramePr>
          <p:cNvPr id="7" name="Object 4">
            <a:extLst>
              <a:ext uri="{FF2B5EF4-FFF2-40B4-BE49-F238E27FC236}">
                <a16:creationId xmlns:a16="http://schemas.microsoft.com/office/drawing/2014/main" id="{0C81204A-7106-18F3-F1CB-965ECA8E34AF}"/>
              </a:ext>
            </a:extLst>
          </p:cNvPr>
          <p:cNvGraphicFramePr>
            <a:graphicFrameLocks noChangeAspect="1"/>
          </p:cNvGraphicFramePr>
          <p:nvPr/>
        </p:nvGraphicFramePr>
        <p:xfrm>
          <a:off x="4369171" y="3863661"/>
          <a:ext cx="4460875" cy="790575"/>
        </p:xfrm>
        <a:graphic>
          <a:graphicData uri="http://schemas.openxmlformats.org/presentationml/2006/ole">
            <mc:AlternateContent xmlns:mc="http://schemas.openxmlformats.org/markup-compatibility/2006">
              <mc:Choice xmlns:v="urn:schemas-microsoft-com:vml" Requires="v">
                <p:oleObj name="Equation" r:id="rId4" imgW="1650960" imgH="291960" progId="Equation.DSMT4">
                  <p:embed/>
                </p:oleObj>
              </mc:Choice>
              <mc:Fallback>
                <p:oleObj name="Equation" r:id="rId4" imgW="1650960" imgH="291960" progId="Equation.DSMT4">
                  <p:embed/>
                  <p:pic>
                    <p:nvPicPr>
                      <p:cNvPr id="7" name="Object 4">
                        <a:extLst>
                          <a:ext uri="{FF2B5EF4-FFF2-40B4-BE49-F238E27FC236}">
                            <a16:creationId xmlns:a16="http://schemas.microsoft.com/office/drawing/2014/main" id="{0C81204A-7106-18F3-F1CB-965ECA8E34AF}"/>
                          </a:ext>
                        </a:extLst>
                      </p:cNvPr>
                      <p:cNvPicPr>
                        <a:picLocks noChangeAspect="1" noChangeArrowheads="1"/>
                      </p:cNvPicPr>
                      <p:nvPr/>
                    </p:nvPicPr>
                    <p:blipFill>
                      <a:blip r:embed="rId5"/>
                      <a:srcRect/>
                      <a:stretch>
                        <a:fillRect/>
                      </a:stretch>
                    </p:blipFill>
                    <p:spPr bwMode="auto">
                      <a:xfrm>
                        <a:off x="4369171" y="3863661"/>
                        <a:ext cx="4460875" cy="790575"/>
                      </a:xfrm>
                      <a:prstGeom prst="rect">
                        <a:avLst/>
                      </a:prstGeom>
                      <a:noFill/>
                      <a:ln>
                        <a:noFill/>
                      </a:ln>
                    </p:spPr>
                  </p:pic>
                </p:oleObj>
              </mc:Fallback>
            </mc:AlternateContent>
          </a:graphicData>
        </a:graphic>
      </p:graphicFrame>
      <p:graphicFrame>
        <p:nvGraphicFramePr>
          <p:cNvPr id="8" name="Object 4">
            <a:extLst>
              <a:ext uri="{FF2B5EF4-FFF2-40B4-BE49-F238E27FC236}">
                <a16:creationId xmlns:a16="http://schemas.microsoft.com/office/drawing/2014/main" id="{044FE189-222E-F52C-6020-DADFA4D77FB1}"/>
              </a:ext>
            </a:extLst>
          </p:cNvPr>
          <p:cNvGraphicFramePr>
            <a:graphicFrameLocks noChangeAspect="1"/>
          </p:cNvGraphicFramePr>
          <p:nvPr/>
        </p:nvGraphicFramePr>
        <p:xfrm>
          <a:off x="4381871" y="4510633"/>
          <a:ext cx="4460875" cy="790575"/>
        </p:xfrm>
        <a:graphic>
          <a:graphicData uri="http://schemas.openxmlformats.org/presentationml/2006/ole">
            <mc:AlternateContent xmlns:mc="http://schemas.openxmlformats.org/markup-compatibility/2006">
              <mc:Choice xmlns:v="urn:schemas-microsoft-com:vml" Requires="v">
                <p:oleObj name="Equation" r:id="rId6" imgW="1650960" imgH="291960" progId="Equation.DSMT4">
                  <p:embed/>
                </p:oleObj>
              </mc:Choice>
              <mc:Fallback>
                <p:oleObj name="Equation" r:id="rId6" imgW="1650960" imgH="291960" progId="Equation.DSMT4">
                  <p:embed/>
                  <p:pic>
                    <p:nvPicPr>
                      <p:cNvPr id="8" name="Object 4">
                        <a:extLst>
                          <a:ext uri="{FF2B5EF4-FFF2-40B4-BE49-F238E27FC236}">
                            <a16:creationId xmlns:a16="http://schemas.microsoft.com/office/drawing/2014/main" id="{044FE189-222E-F52C-6020-DADFA4D77FB1}"/>
                          </a:ext>
                        </a:extLst>
                      </p:cNvPr>
                      <p:cNvPicPr>
                        <a:picLocks noChangeAspect="1" noChangeArrowheads="1"/>
                      </p:cNvPicPr>
                      <p:nvPr/>
                    </p:nvPicPr>
                    <p:blipFill>
                      <a:blip r:embed="rId7"/>
                      <a:srcRect/>
                      <a:stretch>
                        <a:fillRect/>
                      </a:stretch>
                    </p:blipFill>
                    <p:spPr bwMode="auto">
                      <a:xfrm>
                        <a:off x="4381871" y="4510633"/>
                        <a:ext cx="4460875" cy="790575"/>
                      </a:xfrm>
                      <a:prstGeom prst="rect">
                        <a:avLst/>
                      </a:prstGeom>
                      <a:noFill/>
                      <a:ln>
                        <a:noFill/>
                      </a:ln>
                    </p:spPr>
                  </p:pic>
                </p:oleObj>
              </mc:Fallback>
            </mc:AlternateContent>
          </a:graphicData>
        </a:graphic>
      </p:graphicFrame>
      <p:sp>
        <p:nvSpPr>
          <p:cNvPr id="4" name="灯片编号占位符 3">
            <a:extLst>
              <a:ext uri="{FF2B5EF4-FFF2-40B4-BE49-F238E27FC236}">
                <a16:creationId xmlns:a16="http://schemas.microsoft.com/office/drawing/2014/main" id="{A156C040-6DC7-EC43-E192-BACCEC56BB64}"/>
              </a:ext>
            </a:extLst>
          </p:cNvPr>
          <p:cNvSpPr>
            <a:spLocks noGrp="1"/>
          </p:cNvSpPr>
          <p:nvPr>
            <p:ph type="sldNum" sz="quarter" idx="11"/>
          </p:nvPr>
        </p:nvSpPr>
        <p:spPr/>
        <p:txBody>
          <a:bodyPr/>
          <a:lstStyle/>
          <a:p>
            <a:pPr>
              <a:defRPr/>
            </a:pPr>
            <a:fld id="{FAA851D4-8D62-4BD7-8848-E433E51002F9}" type="slidenum">
              <a:rPr lang="en-US" altLang="zh-CN" smtClean="0"/>
              <a:pPr>
                <a:defRPr/>
              </a:pPr>
              <a:t>6</a:t>
            </a:fld>
            <a:endParaRPr lang="en-US" altLang="zh-CN" dirty="0"/>
          </a:p>
        </p:txBody>
      </p:sp>
      <p:sp>
        <p:nvSpPr>
          <p:cNvPr id="9" name="文本框 8">
            <a:extLst>
              <a:ext uri="{FF2B5EF4-FFF2-40B4-BE49-F238E27FC236}">
                <a16:creationId xmlns:a16="http://schemas.microsoft.com/office/drawing/2014/main" id="{76B79513-B837-3C14-F87A-E402B65DA378}"/>
              </a:ext>
            </a:extLst>
          </p:cNvPr>
          <p:cNvSpPr txBox="1"/>
          <p:nvPr/>
        </p:nvSpPr>
        <p:spPr>
          <a:xfrm>
            <a:off x="4367584" y="2447350"/>
            <a:ext cx="3548498" cy="584775"/>
          </a:xfrm>
          <a:prstGeom prst="rect">
            <a:avLst/>
          </a:prstGeom>
          <a:noFill/>
        </p:spPr>
        <p:txBody>
          <a:bodyPr wrap="square">
            <a:spAutoFit/>
          </a:bodyPr>
          <a:lstStyle/>
          <a:p>
            <a:r>
              <a:rPr lang="en-US" altLang="zh-CN" sz="3200" b="1" i="0" dirty="0">
                <a:sym typeface="Symbol" pitchFamily="18" charset="2"/>
              </a:rPr>
              <a:t> </a:t>
            </a:r>
            <a:r>
              <a:rPr lang="en-US" altLang="zh-CN" sz="3200" b="1" dirty="0">
                <a:solidFill>
                  <a:srgbClr val="CC00CC"/>
                </a:solidFill>
              </a:rPr>
              <a:t>(</a:t>
            </a:r>
            <a:r>
              <a:rPr lang="en-US" altLang="zh-CN" sz="3200" b="1" i="1" dirty="0">
                <a:solidFill>
                  <a:srgbClr val="CC00CC"/>
                </a:solidFill>
              </a:rPr>
              <a:t>Q</a:t>
            </a:r>
            <a:r>
              <a:rPr lang="en-US" altLang="zh-CN" sz="3200" b="1" dirty="0">
                <a:solidFill>
                  <a:srgbClr val="CC00CC"/>
                </a:solidFill>
              </a:rPr>
              <a:t>∘</a:t>
            </a:r>
            <a:r>
              <a:rPr lang="en-US" altLang="zh-CN" sz="3200" b="1" i="1" dirty="0">
                <a:solidFill>
                  <a:srgbClr val="CC00CC"/>
                </a:solidFill>
              </a:rPr>
              <a:t>R</a:t>
            </a:r>
            <a:r>
              <a:rPr lang="en-US" altLang="zh-CN" sz="3200" b="1" dirty="0">
                <a:solidFill>
                  <a:srgbClr val="CC00CC"/>
                </a:solidFill>
              </a:rPr>
              <a:t>)</a:t>
            </a:r>
            <a:r>
              <a:rPr lang="en-US" altLang="zh-CN" sz="3200" b="1" baseline="30000" dirty="0">
                <a:solidFill>
                  <a:srgbClr val="CC00CC"/>
                </a:solidFill>
              </a:rPr>
              <a:t> </a:t>
            </a:r>
            <a:r>
              <a:rPr lang="en-US" altLang="zh-CN" sz="3200" b="1" dirty="0">
                <a:sym typeface="Symbol" panose="05050102010706020507" pitchFamily="18" charset="2"/>
              </a:rPr>
              <a:t>(</a:t>
            </a:r>
            <a:r>
              <a:rPr lang="en-US" altLang="zh-CN" sz="3200" b="1" i="1" dirty="0"/>
              <a:t>u</a:t>
            </a:r>
            <a:r>
              <a:rPr lang="en-US" altLang="zh-CN" sz="3200" b="1" dirty="0"/>
              <a:t>, </a:t>
            </a:r>
            <a:r>
              <a:rPr lang="en-US" altLang="zh-CN" sz="3200" b="1" i="1" dirty="0"/>
              <a:t>w</a:t>
            </a:r>
            <a:r>
              <a:rPr lang="en-US" altLang="zh-CN" sz="3200" b="1" dirty="0"/>
              <a:t>)</a:t>
            </a:r>
            <a:endParaRPr lang="zh-CN" altLang="en-US" sz="3200" dirty="0"/>
          </a:p>
        </p:txBody>
      </p:sp>
    </p:spTree>
    <p:extLst>
      <p:ext uri="{BB962C8B-B14F-4D97-AF65-F5344CB8AC3E}">
        <p14:creationId xmlns:p14="http://schemas.microsoft.com/office/powerpoint/2010/main" val="197668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left)">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35560" y="2289052"/>
            <a:ext cx="5472608" cy="14279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23" name="Rectangle 2"/>
          <p:cNvSpPr>
            <a:spLocks noGrp="1" noChangeArrowheads="1"/>
          </p:cNvSpPr>
          <p:nvPr>
            <p:ph type="title"/>
          </p:nvPr>
        </p:nvSpPr>
        <p:spPr>
          <a:xfrm>
            <a:off x="1981200" y="457201"/>
            <a:ext cx="8229600" cy="955675"/>
          </a:xfrm>
        </p:spPr>
        <p:txBody>
          <a:bodyPr/>
          <a:lstStyle/>
          <a:p>
            <a:pPr algn="ctr" eaLnBrk="1" hangingPunct="1"/>
            <a:r>
              <a:rPr lang="en-US" altLang="zh-CN" dirty="0">
                <a:solidFill>
                  <a:srgbClr val="057939"/>
                </a:solidFill>
                <a:ea typeface="黑体" pitchFamily="2" charset="-122"/>
              </a:rPr>
              <a:t>3.6 </a:t>
            </a:r>
            <a:r>
              <a:rPr lang="en-US" altLang="zh-CN" dirty="0">
                <a:solidFill>
                  <a:srgbClr val="057939"/>
                </a:solidFill>
                <a:latin typeface="黑体" pitchFamily="2" charset="-122"/>
                <a:ea typeface="黑体" pitchFamily="2" charset="-122"/>
              </a:rPr>
              <a:t> F</a:t>
            </a:r>
            <a:r>
              <a:rPr lang="zh-CN" altLang="en-US" dirty="0">
                <a:solidFill>
                  <a:srgbClr val="057939"/>
                </a:solidFill>
                <a:latin typeface="黑体" pitchFamily="2" charset="-122"/>
                <a:ea typeface="黑体" pitchFamily="2" charset="-122"/>
              </a:rPr>
              <a:t>关系的传递性</a:t>
            </a:r>
          </a:p>
        </p:txBody>
      </p:sp>
      <p:sp>
        <p:nvSpPr>
          <p:cNvPr id="137219" name="Rectangle 3"/>
          <p:cNvSpPr>
            <a:spLocks noGrp="1" noChangeArrowheads="1"/>
          </p:cNvSpPr>
          <p:nvPr>
            <p:ph type="body" sz="half" idx="1"/>
          </p:nvPr>
        </p:nvSpPr>
        <p:spPr>
          <a:xfrm>
            <a:off x="1271464" y="1628801"/>
            <a:ext cx="9937103" cy="4464397"/>
          </a:xfrm>
        </p:spPr>
        <p:txBody>
          <a:bodyPr/>
          <a:lstStyle/>
          <a:p>
            <a:pPr eaLnBrk="1" hangingPunct="1">
              <a:lnSpc>
                <a:spcPct val="120000"/>
              </a:lnSpc>
              <a:buNone/>
            </a:pPr>
            <a:r>
              <a:rPr lang="en-US" altLang="zh-CN" dirty="0">
                <a:ea typeface="黑体" pitchFamily="2" charset="-122"/>
              </a:rPr>
              <a:t>[</a:t>
            </a:r>
            <a:r>
              <a:rPr lang="zh-CN" altLang="en-US" dirty="0">
                <a:ea typeface="黑体" pitchFamily="2" charset="-122"/>
              </a:rPr>
              <a:t>定义</a:t>
            </a:r>
            <a:r>
              <a:rPr lang="en-US" altLang="zh-CN" dirty="0">
                <a:latin typeface="Times New Roman" pitchFamily="18" charset="0"/>
                <a:ea typeface="黑体" pitchFamily="2" charset="-122"/>
              </a:rPr>
              <a:t>]</a:t>
            </a:r>
            <a:r>
              <a:rPr lang="zh-CN" altLang="en-US" dirty="0">
                <a:latin typeface="Times New Roman" pitchFamily="18" charset="0"/>
                <a:ea typeface="黑体" pitchFamily="2" charset="-122"/>
              </a:rPr>
              <a:t>设</a:t>
            </a:r>
            <a:r>
              <a:rPr kumimoji="1" lang="en-US" altLang="zh-CN" i="1" dirty="0">
                <a:ea typeface="黑体" pitchFamily="2" charset="-122"/>
              </a:rPr>
              <a:t>R</a:t>
            </a:r>
            <a:r>
              <a:rPr kumimoji="1" lang="en-US" altLang="en-US" dirty="0">
                <a:latin typeface="Times New Roman" pitchFamily="18" charset="0"/>
                <a:ea typeface="黑体" pitchFamily="2" charset="-122"/>
                <a:sym typeface="Symbol" panose="05050102010706020507" pitchFamily="18" charset="2"/>
              </a:rPr>
              <a:t></a:t>
            </a:r>
            <a:r>
              <a:rPr kumimoji="1" lang="en-US" altLang="zh-CN" dirty="0">
                <a:latin typeface="Monotype Corsiva" pitchFamily="66" charset="0"/>
                <a:ea typeface="黑体" pitchFamily="2" charset="-122"/>
              </a:rPr>
              <a:t>F</a:t>
            </a:r>
            <a:r>
              <a:rPr kumimoji="1" lang="en-US" altLang="zh-CN" dirty="0">
                <a:latin typeface="Times New Roman" pitchFamily="18" charset="0"/>
                <a:ea typeface="黑体" pitchFamily="2" charset="-122"/>
              </a:rPr>
              <a:t>(</a:t>
            </a:r>
            <a:r>
              <a:rPr kumimoji="1" lang="en-US" altLang="zh-CN" i="1" dirty="0">
                <a:ea typeface="黑体" pitchFamily="2" charset="-122"/>
              </a:rPr>
              <a:t>U</a:t>
            </a:r>
            <a:r>
              <a:rPr kumimoji="1" lang="en-US" altLang="en-US" dirty="0">
                <a:ea typeface="黑体" pitchFamily="2" charset="-122"/>
              </a:rPr>
              <a:t>×</a:t>
            </a:r>
            <a:r>
              <a:rPr kumimoji="1" lang="en-US" altLang="zh-CN" i="1" dirty="0">
                <a:ea typeface="黑体" pitchFamily="2" charset="-122"/>
              </a:rPr>
              <a:t>U</a:t>
            </a:r>
            <a:r>
              <a:rPr kumimoji="1" lang="en-US" altLang="zh-CN" dirty="0">
                <a:latin typeface="Times New Roman" pitchFamily="18" charset="0"/>
                <a:ea typeface="黑体" pitchFamily="2" charset="-122"/>
              </a:rPr>
              <a:t>)</a:t>
            </a:r>
            <a:r>
              <a:rPr kumimoji="1" lang="zh-CN" altLang="en-US" dirty="0">
                <a:latin typeface="Times New Roman" pitchFamily="18" charset="0"/>
                <a:ea typeface="黑体" pitchFamily="2" charset="-122"/>
              </a:rPr>
              <a:t>，</a:t>
            </a:r>
            <a:r>
              <a:rPr kumimoji="1" lang="zh-CN" altLang="en-US" b="1" dirty="0">
                <a:latin typeface="Times New Roman" pitchFamily="18" charset="0"/>
                <a:ea typeface="黑体" pitchFamily="2" charset="-122"/>
                <a:sym typeface="Symbol" pitchFamily="18" charset="2"/>
              </a:rPr>
              <a:t></a:t>
            </a:r>
            <a:r>
              <a:rPr kumimoji="1" lang="el-GR" altLang="zh-CN" b="1" i="1" dirty="0">
                <a:latin typeface="Times New Roman" pitchFamily="18" charset="0"/>
                <a:ea typeface="黑体" pitchFamily="2" charset="-122"/>
                <a:cs typeface="Arial" charset="0"/>
                <a:sym typeface="Symbol" pitchFamily="18" charset="2"/>
              </a:rPr>
              <a:t>λ</a:t>
            </a:r>
            <a:r>
              <a:rPr kumimoji="1" lang="en-US" altLang="en-US" dirty="0">
                <a:latin typeface="Times New Roman" pitchFamily="18" charset="0"/>
                <a:ea typeface="黑体" pitchFamily="2" charset="-122"/>
                <a:sym typeface="Symbol" panose="05050102010706020507" pitchFamily="18" charset="2"/>
              </a:rPr>
              <a:t></a:t>
            </a:r>
            <a:r>
              <a:rPr kumimoji="1" lang="en-US" altLang="zh-CN" dirty="0">
                <a:latin typeface="Times New Roman" pitchFamily="18" charset="0"/>
                <a:ea typeface="黑体" pitchFamily="2" charset="-122"/>
              </a:rPr>
              <a:t>[0,1]</a:t>
            </a:r>
            <a:r>
              <a:rPr kumimoji="1" lang="zh-CN" altLang="en-US" dirty="0">
                <a:latin typeface="Times New Roman" pitchFamily="18" charset="0"/>
                <a:ea typeface="黑体" pitchFamily="2" charset="-122"/>
              </a:rPr>
              <a:t>，</a:t>
            </a:r>
          </a:p>
          <a:p>
            <a:pPr eaLnBrk="1" hangingPunct="1">
              <a:lnSpc>
                <a:spcPct val="120000"/>
              </a:lnSpc>
              <a:buNone/>
            </a:pPr>
            <a:r>
              <a:rPr kumimoji="1" lang="zh-CN" altLang="en-US" b="1" dirty="0">
                <a:solidFill>
                  <a:srgbClr val="FFFF00"/>
                </a:solidFill>
                <a:effectLst>
                  <a:outerShdw blurRad="38100" dist="38100" dir="2700000" algn="tl">
                    <a:srgbClr val="000000">
                      <a:alpha val="43137"/>
                    </a:srgbClr>
                  </a:outerShdw>
                </a:effectLst>
                <a:ea typeface="黑体" pitchFamily="2" charset="-122"/>
              </a:rPr>
              <a:t>         若</a:t>
            </a:r>
            <a:r>
              <a:rPr kumimoji="1" lang="en-US" altLang="zh-CN" b="1" i="1" dirty="0">
                <a:solidFill>
                  <a:srgbClr val="FFFF00"/>
                </a:solidFill>
                <a:effectLst>
                  <a:outerShdw blurRad="38100" dist="38100" dir="2700000" algn="tl">
                    <a:srgbClr val="000000">
                      <a:alpha val="43137"/>
                    </a:srgbClr>
                  </a:outerShdw>
                </a:effectLst>
                <a:ea typeface="黑体" pitchFamily="2" charset="-122"/>
              </a:rPr>
              <a:t>R</a:t>
            </a:r>
            <a:r>
              <a:rPr kumimoji="1" lang="en-US" altLang="zh-CN" b="1" dirty="0">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u</a:t>
            </a:r>
            <a:r>
              <a:rPr kumimoji="1" lang="en-US" altLang="zh-CN" b="1" dirty="0" err="1">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v</a:t>
            </a:r>
            <a:r>
              <a:rPr kumimoji="1" lang="en-US" altLang="zh-CN" b="1" dirty="0">
                <a:solidFill>
                  <a:srgbClr val="FFFF00"/>
                </a:solidFill>
                <a:effectLst>
                  <a:outerShdw blurRad="38100" dist="38100" dir="2700000" algn="tl">
                    <a:srgbClr val="000000">
                      <a:alpha val="43137"/>
                    </a:srgbClr>
                  </a:outerShdw>
                </a:effectLst>
                <a:ea typeface="黑体" pitchFamily="2" charset="-122"/>
              </a:rPr>
              <a:t>) </a:t>
            </a:r>
            <a:r>
              <a:rPr kumimoji="1" lang="zh-CN" altLang="el-GR" b="1" dirty="0">
                <a:solidFill>
                  <a:srgbClr val="FFFF00"/>
                </a:solidFill>
                <a:effectLst>
                  <a:outerShdw blurRad="38100" dist="38100" dir="2700000" algn="tl">
                    <a:srgbClr val="000000">
                      <a:alpha val="43137"/>
                    </a:srgbClr>
                  </a:outerShdw>
                </a:effectLst>
                <a:ea typeface="黑体" pitchFamily="2" charset="-122"/>
              </a:rPr>
              <a:t>≥</a:t>
            </a:r>
            <a:r>
              <a:rPr kumimoji="1" lang="en-US" altLang="zh-CN" b="1" dirty="0">
                <a:solidFill>
                  <a:srgbClr val="FFFF00"/>
                </a:solidFill>
                <a:effectLst>
                  <a:outerShdw blurRad="38100" dist="38100" dir="2700000" algn="tl">
                    <a:srgbClr val="000000">
                      <a:alpha val="43137"/>
                    </a:srgbClr>
                  </a:outerShdw>
                </a:effectLst>
                <a:ea typeface="黑体" pitchFamily="2" charset="-122"/>
              </a:rPr>
              <a:t> </a:t>
            </a:r>
            <a:r>
              <a:rPr kumimoji="1" lang="el-GR" altLang="zh-CN" b="1" i="1" dirty="0">
                <a:solidFill>
                  <a:srgbClr val="FFFF00"/>
                </a:solidFill>
                <a:effectLst>
                  <a:outerShdw blurRad="38100" dist="38100" dir="2700000" algn="tl">
                    <a:srgbClr val="000000">
                      <a:alpha val="43137"/>
                    </a:srgbClr>
                  </a:outerShdw>
                </a:effectLst>
                <a:latin typeface="Times New Roman" panose="02020603050405020304" pitchFamily="18" charset="0"/>
                <a:ea typeface="黑体" pitchFamily="2" charset="-122"/>
                <a:cs typeface="Times New Roman" panose="02020603050405020304" pitchFamily="18" charset="0"/>
                <a:sym typeface="Symbol" pitchFamily="18" charset="2"/>
              </a:rPr>
              <a:t>λ</a:t>
            </a:r>
            <a:r>
              <a:rPr kumimoji="1" lang="en-US" altLang="zh-CN" b="1" i="1" dirty="0">
                <a:solidFill>
                  <a:srgbClr val="FFFF00"/>
                </a:solidFill>
                <a:effectLst>
                  <a:outerShdw blurRad="38100" dist="38100" dir="2700000" algn="tl">
                    <a:srgbClr val="000000">
                      <a:alpha val="43137"/>
                    </a:srgbClr>
                  </a:outerShdw>
                </a:effectLst>
                <a:ea typeface="黑体" pitchFamily="2" charset="-122"/>
                <a:sym typeface="Symbol" pitchFamily="18" charset="2"/>
              </a:rPr>
              <a:t> </a:t>
            </a:r>
            <a:r>
              <a:rPr kumimoji="1" lang="zh-CN" altLang="en-US" b="1" dirty="0">
                <a:solidFill>
                  <a:srgbClr val="FFFF00"/>
                </a:solidFill>
                <a:effectLst>
                  <a:outerShdw blurRad="38100" dist="38100" dir="2700000" algn="tl">
                    <a:srgbClr val="000000">
                      <a:alpha val="43137"/>
                    </a:srgbClr>
                  </a:outerShdw>
                </a:effectLst>
                <a:ea typeface="黑体" pitchFamily="2" charset="-122"/>
                <a:sym typeface="Symbol" pitchFamily="18" charset="2"/>
              </a:rPr>
              <a:t>且 </a:t>
            </a:r>
            <a:r>
              <a:rPr kumimoji="1" lang="en-US" altLang="zh-CN" b="1" i="1" dirty="0">
                <a:solidFill>
                  <a:srgbClr val="FFFF00"/>
                </a:solidFill>
                <a:effectLst>
                  <a:outerShdw blurRad="38100" dist="38100" dir="2700000" algn="tl">
                    <a:srgbClr val="000000">
                      <a:alpha val="43137"/>
                    </a:srgbClr>
                  </a:outerShdw>
                </a:effectLst>
                <a:ea typeface="黑体" pitchFamily="2" charset="-122"/>
              </a:rPr>
              <a:t>R</a:t>
            </a:r>
            <a:r>
              <a:rPr kumimoji="1" lang="en-US" altLang="zh-CN" b="1" dirty="0">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v</a:t>
            </a:r>
            <a:r>
              <a:rPr kumimoji="1" lang="en-US" altLang="zh-CN" b="1" dirty="0" err="1">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w</a:t>
            </a:r>
            <a:r>
              <a:rPr kumimoji="1" lang="en-US" altLang="zh-CN" b="1" dirty="0">
                <a:solidFill>
                  <a:srgbClr val="FFFF00"/>
                </a:solidFill>
                <a:effectLst>
                  <a:outerShdw blurRad="38100" dist="38100" dir="2700000" algn="tl">
                    <a:srgbClr val="000000">
                      <a:alpha val="43137"/>
                    </a:srgbClr>
                  </a:outerShdw>
                </a:effectLst>
                <a:ea typeface="黑体" pitchFamily="2" charset="-122"/>
              </a:rPr>
              <a:t>) </a:t>
            </a:r>
            <a:r>
              <a:rPr kumimoji="1" lang="zh-CN" altLang="el-GR" b="1" dirty="0">
                <a:solidFill>
                  <a:srgbClr val="FFFF00"/>
                </a:solidFill>
                <a:effectLst>
                  <a:outerShdw blurRad="38100" dist="38100" dir="2700000" algn="tl">
                    <a:srgbClr val="000000">
                      <a:alpha val="43137"/>
                    </a:srgbClr>
                  </a:outerShdw>
                </a:effectLst>
                <a:ea typeface="黑体" pitchFamily="2" charset="-122"/>
              </a:rPr>
              <a:t>≥</a:t>
            </a:r>
            <a:r>
              <a:rPr kumimoji="1" lang="el-GR" altLang="zh-CN" b="1" i="1" dirty="0">
                <a:solidFill>
                  <a:srgbClr val="FFFF00"/>
                </a:solidFill>
                <a:effectLst>
                  <a:outerShdw blurRad="38100" dist="38100" dir="2700000" algn="tl">
                    <a:srgbClr val="000000">
                      <a:alpha val="43137"/>
                    </a:srgbClr>
                  </a:outerShdw>
                </a:effectLst>
                <a:latin typeface="Times New Roman" panose="02020603050405020304" pitchFamily="18" charset="0"/>
                <a:ea typeface="黑体" pitchFamily="2" charset="-122"/>
                <a:cs typeface="Times New Roman" panose="02020603050405020304" pitchFamily="18" charset="0"/>
                <a:sym typeface="Symbol" pitchFamily="18" charset="2"/>
              </a:rPr>
              <a:t> λ</a:t>
            </a:r>
            <a:r>
              <a:rPr kumimoji="1" lang="en-US" altLang="zh-CN" b="1" dirty="0">
                <a:solidFill>
                  <a:srgbClr val="FFFF00"/>
                </a:solidFill>
                <a:effectLst>
                  <a:outerShdw blurRad="38100" dist="38100" dir="2700000" algn="tl">
                    <a:srgbClr val="000000">
                      <a:alpha val="43137"/>
                    </a:srgbClr>
                  </a:outerShdw>
                </a:effectLst>
                <a:ea typeface="黑体" pitchFamily="2" charset="-122"/>
                <a:sym typeface="Symbol" pitchFamily="18" charset="2"/>
              </a:rPr>
              <a:t>  </a:t>
            </a:r>
          </a:p>
          <a:p>
            <a:pPr eaLnBrk="1" hangingPunct="1">
              <a:lnSpc>
                <a:spcPct val="120000"/>
              </a:lnSpc>
              <a:buNone/>
            </a:pPr>
            <a:r>
              <a:rPr kumimoji="1" lang="en-US" altLang="zh-CN" b="1" dirty="0">
                <a:solidFill>
                  <a:srgbClr val="FFFF00"/>
                </a:solidFill>
                <a:effectLst>
                  <a:outerShdw blurRad="38100" dist="38100" dir="2700000" algn="tl">
                    <a:srgbClr val="000000">
                      <a:alpha val="43137"/>
                    </a:srgbClr>
                  </a:outerShdw>
                </a:effectLst>
                <a:ea typeface="黑体" pitchFamily="2" charset="-122"/>
                <a:sym typeface="Symbol" pitchFamily="18" charset="2"/>
              </a:rPr>
              <a:t>         </a:t>
            </a:r>
            <a:r>
              <a:rPr kumimoji="1" lang="zh-CN" altLang="en-US" b="1" dirty="0">
                <a:solidFill>
                  <a:srgbClr val="FFFF00"/>
                </a:solidFill>
                <a:effectLst>
                  <a:outerShdw blurRad="38100" dist="38100" dir="2700000" algn="tl">
                    <a:srgbClr val="000000">
                      <a:alpha val="43137"/>
                    </a:srgbClr>
                  </a:outerShdw>
                </a:effectLst>
                <a:ea typeface="黑体" pitchFamily="2" charset="-122"/>
                <a:sym typeface="Symbol" pitchFamily="18" charset="2"/>
              </a:rPr>
              <a:t>则 </a:t>
            </a:r>
            <a:r>
              <a:rPr kumimoji="1" lang="en-US" altLang="zh-CN" b="1" i="1" dirty="0">
                <a:solidFill>
                  <a:srgbClr val="FFFF00"/>
                </a:solidFill>
                <a:effectLst>
                  <a:outerShdw blurRad="38100" dist="38100" dir="2700000" algn="tl">
                    <a:srgbClr val="000000">
                      <a:alpha val="43137"/>
                    </a:srgbClr>
                  </a:outerShdw>
                </a:effectLst>
                <a:ea typeface="黑体" pitchFamily="2" charset="-122"/>
              </a:rPr>
              <a:t>R</a:t>
            </a:r>
            <a:r>
              <a:rPr kumimoji="1" lang="en-US" altLang="zh-CN" b="1" dirty="0">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u</a:t>
            </a:r>
            <a:r>
              <a:rPr kumimoji="1" lang="en-US" altLang="zh-CN" b="1" dirty="0" err="1">
                <a:solidFill>
                  <a:srgbClr val="FFFF00"/>
                </a:solidFill>
                <a:effectLst>
                  <a:outerShdw blurRad="38100" dist="38100" dir="2700000" algn="tl">
                    <a:srgbClr val="000000">
                      <a:alpha val="43137"/>
                    </a:srgbClr>
                  </a:outerShdw>
                </a:effectLst>
                <a:ea typeface="黑体" pitchFamily="2" charset="-122"/>
              </a:rPr>
              <a:t>,</a:t>
            </a:r>
            <a:r>
              <a:rPr kumimoji="1" lang="en-US" altLang="zh-CN" b="1" i="1" dirty="0" err="1">
                <a:solidFill>
                  <a:srgbClr val="FFFF00"/>
                </a:solidFill>
                <a:effectLst>
                  <a:outerShdw blurRad="38100" dist="38100" dir="2700000" algn="tl">
                    <a:srgbClr val="000000">
                      <a:alpha val="43137"/>
                    </a:srgbClr>
                  </a:outerShdw>
                </a:effectLst>
                <a:ea typeface="黑体" pitchFamily="2" charset="-122"/>
              </a:rPr>
              <a:t>w</a:t>
            </a:r>
            <a:r>
              <a:rPr kumimoji="1" lang="en-US" altLang="zh-CN" b="1" dirty="0">
                <a:solidFill>
                  <a:srgbClr val="FFFF00"/>
                </a:solidFill>
                <a:effectLst>
                  <a:outerShdw blurRad="38100" dist="38100" dir="2700000" algn="tl">
                    <a:srgbClr val="000000">
                      <a:alpha val="43137"/>
                    </a:srgbClr>
                  </a:outerShdw>
                </a:effectLst>
                <a:ea typeface="黑体" pitchFamily="2" charset="-122"/>
              </a:rPr>
              <a:t>) </a:t>
            </a:r>
            <a:r>
              <a:rPr kumimoji="1" lang="zh-CN" altLang="el-GR" b="1" dirty="0">
                <a:solidFill>
                  <a:srgbClr val="FFFF00"/>
                </a:solidFill>
                <a:effectLst>
                  <a:outerShdw blurRad="38100" dist="38100" dir="2700000" algn="tl">
                    <a:srgbClr val="000000">
                      <a:alpha val="43137"/>
                    </a:srgbClr>
                  </a:outerShdw>
                </a:effectLst>
                <a:ea typeface="黑体" pitchFamily="2" charset="-122"/>
              </a:rPr>
              <a:t>≥</a:t>
            </a:r>
            <a:r>
              <a:rPr kumimoji="1" lang="en-US" altLang="zh-CN" b="1" dirty="0">
                <a:solidFill>
                  <a:srgbClr val="FFFF00"/>
                </a:solidFill>
                <a:effectLst>
                  <a:outerShdw blurRad="38100" dist="38100" dir="2700000" algn="tl">
                    <a:srgbClr val="000000">
                      <a:alpha val="43137"/>
                    </a:srgbClr>
                  </a:outerShdw>
                </a:effectLst>
                <a:ea typeface="黑体" pitchFamily="2" charset="-122"/>
              </a:rPr>
              <a:t> </a:t>
            </a:r>
            <a:r>
              <a:rPr kumimoji="1" lang="el-GR" altLang="zh-CN" b="1" i="1" dirty="0">
                <a:solidFill>
                  <a:srgbClr val="FFFF00"/>
                </a:solidFill>
                <a:effectLst>
                  <a:outerShdw blurRad="38100" dist="38100" dir="2700000" algn="tl">
                    <a:srgbClr val="000000">
                      <a:alpha val="43137"/>
                    </a:srgbClr>
                  </a:outerShdw>
                </a:effectLst>
                <a:latin typeface="Times New Roman" panose="02020603050405020304" pitchFamily="18" charset="0"/>
                <a:ea typeface="黑体" pitchFamily="2" charset="-122"/>
                <a:cs typeface="Times New Roman" panose="02020603050405020304" pitchFamily="18" charset="0"/>
                <a:sym typeface="Symbol" pitchFamily="18" charset="2"/>
              </a:rPr>
              <a:t>λ</a:t>
            </a:r>
            <a:endParaRPr kumimoji="1" lang="en-US" altLang="zh-CN" b="1" i="1" dirty="0">
              <a:solidFill>
                <a:srgbClr val="FFFF00"/>
              </a:solidFill>
              <a:effectLst>
                <a:outerShdw blurRad="38100" dist="38100" dir="2700000" algn="tl">
                  <a:srgbClr val="000000">
                    <a:alpha val="43137"/>
                  </a:srgbClr>
                </a:outerShdw>
              </a:effectLst>
              <a:ea typeface="黑体" pitchFamily="2" charset="-122"/>
              <a:sym typeface="Symbol" pitchFamily="18" charset="2"/>
            </a:endParaRPr>
          </a:p>
          <a:p>
            <a:pPr eaLnBrk="1" hangingPunct="1">
              <a:lnSpc>
                <a:spcPct val="120000"/>
              </a:lnSpc>
              <a:buFont typeface="Wingdings" pitchFamily="2" charset="2"/>
              <a:buNone/>
            </a:pPr>
            <a:r>
              <a:rPr kumimoji="1" lang="en-US" altLang="zh-CN" dirty="0">
                <a:ea typeface="黑体" pitchFamily="2" charset="-122"/>
                <a:sym typeface="Symbol" pitchFamily="18" charset="2"/>
              </a:rPr>
              <a:t>         </a:t>
            </a:r>
            <a:r>
              <a:rPr kumimoji="1" lang="zh-CN" altLang="en-US" dirty="0">
                <a:ea typeface="黑体" pitchFamily="2" charset="-122"/>
                <a:sym typeface="Symbol" pitchFamily="18" charset="2"/>
              </a:rPr>
              <a:t>那么称</a:t>
            </a:r>
            <a:r>
              <a:rPr kumimoji="1" lang="en-US" altLang="zh-CN" i="1" dirty="0">
                <a:solidFill>
                  <a:srgbClr val="EE0006"/>
                </a:solidFill>
                <a:ea typeface="黑体" pitchFamily="2" charset="-122"/>
                <a:sym typeface="Symbol" pitchFamily="18" charset="2"/>
              </a:rPr>
              <a:t>R</a:t>
            </a:r>
            <a:r>
              <a:rPr kumimoji="1" lang="zh-CN" altLang="en-US" dirty="0">
                <a:solidFill>
                  <a:srgbClr val="EE0006"/>
                </a:solidFill>
                <a:ea typeface="黑体" pitchFamily="2" charset="-122"/>
                <a:sym typeface="Symbol" pitchFamily="18" charset="2"/>
              </a:rPr>
              <a:t>是传递</a:t>
            </a:r>
            <a:r>
              <a:rPr kumimoji="1" lang="en-US" altLang="zh-CN" dirty="0">
                <a:solidFill>
                  <a:srgbClr val="EE0006"/>
                </a:solidFill>
                <a:ea typeface="黑体" pitchFamily="2" charset="-122"/>
                <a:sym typeface="Symbol" pitchFamily="18" charset="2"/>
              </a:rPr>
              <a:t>F</a:t>
            </a:r>
            <a:r>
              <a:rPr kumimoji="1" lang="zh-CN" altLang="en-US" dirty="0">
                <a:solidFill>
                  <a:srgbClr val="EE0006"/>
                </a:solidFill>
                <a:ea typeface="黑体" pitchFamily="2" charset="-122"/>
                <a:sym typeface="Symbol" pitchFamily="18" charset="2"/>
              </a:rPr>
              <a:t>关系</a:t>
            </a:r>
            <a:r>
              <a:rPr kumimoji="1" lang="zh-CN" altLang="en-US" dirty="0">
                <a:ea typeface="黑体" pitchFamily="2" charset="-122"/>
                <a:sym typeface="Symbol" pitchFamily="18" charset="2"/>
              </a:rPr>
              <a:t>。</a:t>
            </a:r>
          </a:p>
          <a:p>
            <a:pPr eaLnBrk="1" hangingPunct="1">
              <a:lnSpc>
                <a:spcPct val="120000"/>
              </a:lnSpc>
            </a:pPr>
            <a:r>
              <a:rPr kumimoji="1" lang="en-US" altLang="zh-CN" b="1" i="1" dirty="0">
                <a:solidFill>
                  <a:srgbClr val="3333FF"/>
                </a:solidFill>
                <a:ea typeface="楷体_GB2312" pitchFamily="49" charset="-122"/>
                <a:sym typeface="Symbol" pitchFamily="18" charset="2"/>
              </a:rPr>
              <a:t>R</a:t>
            </a:r>
            <a:r>
              <a:rPr kumimoji="1" lang="zh-CN" altLang="en-US" b="1" dirty="0">
                <a:solidFill>
                  <a:srgbClr val="3333FF"/>
                </a:solidFill>
                <a:ea typeface="楷体_GB2312" pitchFamily="49" charset="-122"/>
                <a:sym typeface="Symbol" pitchFamily="18" charset="2"/>
              </a:rPr>
              <a:t>是传递的</a:t>
            </a:r>
            <a:r>
              <a:rPr kumimoji="1" lang="en-US" altLang="zh-CN" b="1" dirty="0">
                <a:solidFill>
                  <a:srgbClr val="3333FF"/>
                </a:solidFill>
                <a:ea typeface="楷体_GB2312" pitchFamily="49" charset="-122"/>
                <a:sym typeface="Symbol" pitchFamily="18" charset="2"/>
              </a:rPr>
              <a:t>F</a:t>
            </a:r>
            <a:r>
              <a:rPr kumimoji="1" lang="zh-CN" altLang="en-US" b="1" dirty="0">
                <a:solidFill>
                  <a:srgbClr val="3333FF"/>
                </a:solidFill>
                <a:ea typeface="楷体_GB2312" pitchFamily="49" charset="-122"/>
                <a:sym typeface="Symbol" pitchFamily="18" charset="2"/>
              </a:rPr>
              <a:t>关系 </a:t>
            </a:r>
            <a:r>
              <a:rPr kumimoji="1" lang="el-GR" altLang="zh-CN" b="1" i="1" dirty="0">
                <a:solidFill>
                  <a:srgbClr val="3333FF"/>
                </a:solidFill>
                <a:ea typeface="楷体_GB2312" pitchFamily="49" charset="-122"/>
                <a:sym typeface="Symbol" pitchFamily="18" charset="2"/>
              </a:rPr>
              <a:t>λ</a:t>
            </a:r>
            <a:r>
              <a:rPr kumimoji="1" lang="en-US" altLang="zh-CN" b="1" dirty="0">
                <a:solidFill>
                  <a:srgbClr val="3333FF"/>
                </a:solidFill>
                <a:ea typeface="楷体_GB2312" pitchFamily="49" charset="-122"/>
                <a:sym typeface="Symbol" pitchFamily="18" charset="2"/>
              </a:rPr>
              <a:t>, </a:t>
            </a:r>
            <a:r>
              <a:rPr kumimoji="1" lang="en-US" altLang="zh-CN" b="1" i="1" dirty="0">
                <a:solidFill>
                  <a:srgbClr val="3333FF"/>
                </a:solidFill>
                <a:ea typeface="楷体_GB2312" pitchFamily="49" charset="-122"/>
                <a:sym typeface="Symbol" pitchFamily="18" charset="2"/>
              </a:rPr>
              <a:t>R</a:t>
            </a:r>
            <a:r>
              <a:rPr kumimoji="1" lang="el-GR" altLang="zh-CN" b="1" i="1" baseline="-25000" dirty="0">
                <a:solidFill>
                  <a:srgbClr val="3333FF"/>
                </a:solidFill>
                <a:ea typeface="楷体_GB2312" pitchFamily="49" charset="-122"/>
                <a:sym typeface="Symbol" pitchFamily="18" charset="2"/>
              </a:rPr>
              <a:t>λ</a:t>
            </a:r>
            <a:r>
              <a:rPr kumimoji="1" lang="zh-CN" altLang="en-US" b="1" dirty="0">
                <a:solidFill>
                  <a:srgbClr val="3333FF"/>
                </a:solidFill>
                <a:ea typeface="楷体_GB2312" pitchFamily="49" charset="-122"/>
                <a:sym typeface="Symbol" pitchFamily="18" charset="2"/>
              </a:rPr>
              <a:t>是传递的普通关系。</a:t>
            </a:r>
          </a:p>
          <a:p>
            <a:pPr eaLnBrk="1" hangingPunct="1"/>
            <a:endParaRPr lang="zh-CN" altLang="el-GR" sz="2800" baseline="30000" dirty="0">
              <a:solidFill>
                <a:srgbClr val="057939"/>
              </a:solidFill>
              <a:ea typeface="黑体" pitchFamily="2" charset="-122"/>
            </a:endParaRPr>
          </a:p>
        </p:txBody>
      </p:sp>
      <p:sp>
        <p:nvSpPr>
          <p:cNvPr id="3" name="灯片编号占位符 2">
            <a:extLst>
              <a:ext uri="{FF2B5EF4-FFF2-40B4-BE49-F238E27FC236}">
                <a16:creationId xmlns:a16="http://schemas.microsoft.com/office/drawing/2014/main" id="{128876FD-4372-24C5-9911-0596E7CD9397}"/>
              </a:ext>
            </a:extLst>
          </p:cNvPr>
          <p:cNvSpPr>
            <a:spLocks noGrp="1"/>
          </p:cNvSpPr>
          <p:nvPr>
            <p:ph type="sldNum" sz="quarter" idx="11"/>
          </p:nvPr>
        </p:nvSpPr>
        <p:spPr/>
        <p:txBody>
          <a:bodyPr/>
          <a:lstStyle/>
          <a:p>
            <a:pPr>
              <a:defRPr/>
            </a:pPr>
            <a:fld id="{26C85EAC-6FAE-44AE-B9A5-47E3DC5EF4EF}" type="slidenum">
              <a:rPr lang="en-US" altLang="zh-CN" smtClean="0"/>
              <a:pPr>
                <a:defRPr/>
              </a:pPr>
              <a:t>7</a:t>
            </a:fld>
            <a:endParaRPr lang="en-US" altLang="zh-CN"/>
          </a:p>
        </p:txBody>
      </p:sp>
    </p:spTree>
    <p:extLst>
      <p:ext uri="{BB962C8B-B14F-4D97-AF65-F5344CB8AC3E}">
        <p14:creationId xmlns:p14="http://schemas.microsoft.com/office/powerpoint/2010/main" val="2475204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37219">
                                            <p:txEl>
                                              <p:pRg st="2" end="2"/>
                                            </p:txEl>
                                          </p:spTgt>
                                        </p:tgtEl>
                                        <p:attrNameLst>
                                          <p:attrName>style.visibility</p:attrName>
                                        </p:attrNameLst>
                                      </p:cBhvr>
                                      <p:to>
                                        <p:strVal val="visible"/>
                                      </p:to>
                                    </p:set>
                                    <p:animEffect transition="in" filter="wipe(left)">
                                      <p:cBhvr>
                                        <p:cTn id="19" dur="500"/>
                                        <p:tgtEl>
                                          <p:spTgt spid="137219">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7219">
                                            <p:txEl>
                                              <p:pRg st="3" end="3"/>
                                            </p:txEl>
                                          </p:spTgt>
                                        </p:tgtEl>
                                        <p:attrNameLst>
                                          <p:attrName>style.visibility</p:attrName>
                                        </p:attrNameLst>
                                      </p:cBhvr>
                                      <p:to>
                                        <p:strVal val="visible"/>
                                      </p:to>
                                    </p:set>
                                    <p:animEffect transition="in" filter="wipe(left)">
                                      <p:cBhvr>
                                        <p:cTn id="24" dur="500"/>
                                        <p:tgtEl>
                                          <p:spTgt spid="137219">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7219">
                                            <p:txEl>
                                              <p:pRg st="4" end="4"/>
                                            </p:txEl>
                                          </p:spTgt>
                                        </p:tgtEl>
                                        <p:attrNameLst>
                                          <p:attrName>style.visibility</p:attrName>
                                        </p:attrNameLst>
                                      </p:cBhvr>
                                      <p:to>
                                        <p:strVal val="visible"/>
                                      </p:to>
                                    </p:set>
                                    <p:animEffect transition="in" filter="wipe(left)">
                                      <p:cBhvr>
                                        <p:cTn id="29" dur="500"/>
                                        <p:tgtEl>
                                          <p:spTgt spid="137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animBg="1"/>
      <p:bldP spid="13721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4"/>
          <p:cNvSpPr>
            <a:spLocks noGrp="1"/>
          </p:cNvSpPr>
          <p:nvPr>
            <p:ph type="title"/>
          </p:nvPr>
        </p:nvSpPr>
        <p:spPr>
          <a:xfrm>
            <a:off x="1992313" y="188913"/>
            <a:ext cx="8229600" cy="1371600"/>
          </a:xfrm>
        </p:spPr>
        <p:txBody>
          <a:bodyPr/>
          <a:lstStyle/>
          <a:p>
            <a:pPr algn="ctr"/>
            <a:r>
              <a:rPr lang="en-US" altLang="zh-CN" dirty="0">
                <a:solidFill>
                  <a:srgbClr val="057939"/>
                </a:solidFill>
                <a:latin typeface="黑体" pitchFamily="2" charset="-122"/>
                <a:ea typeface="黑体" pitchFamily="2" charset="-122"/>
              </a:rPr>
              <a:t>F</a:t>
            </a:r>
            <a:r>
              <a:rPr lang="zh-CN" altLang="en-US" dirty="0">
                <a:solidFill>
                  <a:srgbClr val="057939"/>
                </a:solidFill>
                <a:latin typeface="黑体" pitchFamily="2" charset="-122"/>
                <a:ea typeface="黑体" pitchFamily="2" charset="-122"/>
              </a:rPr>
              <a:t>关系的传递性举例</a:t>
            </a:r>
            <a:r>
              <a:rPr lang="en-US" altLang="zh-CN" dirty="0">
                <a:solidFill>
                  <a:srgbClr val="057939"/>
                </a:solidFill>
                <a:latin typeface="黑体" pitchFamily="2" charset="-122"/>
                <a:ea typeface="黑体" pitchFamily="2" charset="-122"/>
              </a:rPr>
              <a:t>1</a:t>
            </a:r>
            <a:endParaRPr lang="zh-CN" altLang="en-US" dirty="0"/>
          </a:p>
        </p:txBody>
      </p:sp>
      <p:sp>
        <p:nvSpPr>
          <p:cNvPr id="6" name="内容占位符 5"/>
          <p:cNvSpPr>
            <a:spLocks noGrp="1"/>
          </p:cNvSpPr>
          <p:nvPr>
            <p:ph idx="1"/>
          </p:nvPr>
        </p:nvSpPr>
        <p:spPr>
          <a:xfrm>
            <a:off x="839416" y="1628776"/>
            <a:ext cx="10225136" cy="5040313"/>
          </a:xfrm>
        </p:spPr>
        <p:txBody>
          <a:bodyPr/>
          <a:lstStyle/>
          <a:p>
            <a:pPr>
              <a:defRPr/>
            </a:pPr>
            <a:r>
              <a:rPr lang="en-US" altLang="zh-CN" sz="3200" dirty="0">
                <a:ea typeface="黑体" pitchFamily="49" charset="-122"/>
              </a:rPr>
              <a:t>[P72</a:t>
            </a:r>
            <a:r>
              <a:rPr lang="zh-CN" altLang="en-US" sz="3200" dirty="0">
                <a:ea typeface="黑体" pitchFamily="49" charset="-122"/>
              </a:rPr>
              <a:t>例</a:t>
            </a:r>
            <a:r>
              <a:rPr lang="en-US" altLang="zh-CN" sz="3200" dirty="0">
                <a:ea typeface="黑体" pitchFamily="49" charset="-122"/>
              </a:rPr>
              <a:t>1]</a:t>
            </a:r>
            <a:r>
              <a:rPr lang="zh-CN" altLang="en-US" sz="3200" dirty="0">
                <a:latin typeface="黑体" pitchFamily="49" charset="-122"/>
                <a:ea typeface="黑体" pitchFamily="49" charset="-122"/>
              </a:rPr>
              <a:t>设论域</a:t>
            </a:r>
            <a:r>
              <a:rPr lang="en-US" altLang="zh-CN" sz="3200" dirty="0">
                <a:ea typeface="黑体" pitchFamily="49" charset="-122"/>
              </a:rPr>
              <a:t>U={150, 50, 2}, R</a:t>
            </a:r>
            <a:r>
              <a:rPr lang="zh-CN" altLang="en-US" sz="3200" dirty="0">
                <a:ea typeface="黑体" pitchFamily="49" charset="-122"/>
              </a:rPr>
              <a:t>表示“</a:t>
            </a:r>
            <a:r>
              <a:rPr lang="zh-CN" altLang="en-US" sz="3200" dirty="0">
                <a:solidFill>
                  <a:srgbClr val="FF00FF"/>
                </a:solidFill>
                <a:ea typeface="黑体" pitchFamily="49" charset="-122"/>
              </a:rPr>
              <a:t>大得多”</a:t>
            </a:r>
            <a:r>
              <a:rPr lang="zh-CN" altLang="en-US" sz="3200" dirty="0">
                <a:ea typeface="黑体" pitchFamily="49" charset="-122"/>
              </a:rPr>
              <a:t>的</a:t>
            </a:r>
            <a:r>
              <a:rPr lang="en-US" altLang="zh-CN" sz="3200" dirty="0">
                <a:ea typeface="黑体" pitchFamily="49" charset="-122"/>
              </a:rPr>
              <a:t>F</a:t>
            </a:r>
            <a:r>
              <a:rPr lang="zh-CN" altLang="en-US" sz="3200" dirty="0">
                <a:ea typeface="黑体" pitchFamily="49" charset="-122"/>
              </a:rPr>
              <a:t>关系。且</a:t>
            </a:r>
            <a:endParaRPr lang="en-US" altLang="zh-CN" sz="3200" dirty="0">
              <a:ea typeface="黑体" pitchFamily="49" charset="-122"/>
            </a:endParaRPr>
          </a:p>
          <a:p>
            <a:pPr marL="0" indent="0">
              <a:buNone/>
              <a:defRPr/>
            </a:pPr>
            <a:r>
              <a:rPr lang="en-US" altLang="zh-CN" sz="2800" dirty="0">
                <a:latin typeface="黑体" pitchFamily="49" charset="-122"/>
                <a:ea typeface="黑体" pitchFamily="49" charset="-122"/>
              </a:rPr>
              <a:t> </a:t>
            </a:r>
          </a:p>
          <a:p>
            <a:pPr marL="0" indent="0">
              <a:buNone/>
              <a:defRPr/>
            </a:pPr>
            <a:endParaRPr lang="en-US" altLang="zh-CN" dirty="0">
              <a:latin typeface="黑体" pitchFamily="49" charset="-122"/>
              <a:ea typeface="黑体" pitchFamily="49" charset="-122"/>
            </a:endParaRPr>
          </a:p>
          <a:p>
            <a:pPr marL="0" indent="0">
              <a:buNone/>
              <a:defRPr/>
            </a:pPr>
            <a:endParaRPr lang="en-US" altLang="zh-CN" sz="2800" dirty="0">
              <a:latin typeface="黑体" pitchFamily="49" charset="-122"/>
              <a:ea typeface="黑体" pitchFamily="49" charset="-122"/>
            </a:endParaRPr>
          </a:p>
          <a:p>
            <a:pPr marL="0" indent="0">
              <a:buNone/>
              <a:defRPr/>
            </a:pPr>
            <a:r>
              <a:rPr lang="en-US" altLang="zh-CN" sz="2800" dirty="0">
                <a:latin typeface="黑体" pitchFamily="49" charset="-122"/>
                <a:ea typeface="黑体" pitchFamily="49" charset="-122"/>
              </a:rPr>
              <a:t>  </a:t>
            </a:r>
            <a:r>
              <a:rPr lang="zh-CN" altLang="en-US" sz="3200" dirty="0">
                <a:latin typeface="黑体" pitchFamily="49" charset="-122"/>
                <a:ea typeface="黑体" pitchFamily="49" charset="-122"/>
              </a:rPr>
              <a:t>问</a:t>
            </a:r>
            <a:r>
              <a:rPr lang="en-US" altLang="zh-CN" sz="3200" dirty="0">
                <a:ea typeface="黑体" pitchFamily="49" charset="-122"/>
              </a:rPr>
              <a:t>R</a:t>
            </a:r>
            <a:r>
              <a:rPr lang="zh-CN" altLang="en-US" sz="3200" dirty="0">
                <a:ea typeface="黑体" pitchFamily="49" charset="-122"/>
              </a:rPr>
              <a:t>是传递关系吗？</a:t>
            </a:r>
            <a:endParaRPr lang="en-US" altLang="zh-CN" sz="2800" dirty="0">
              <a:ea typeface="黑体" pitchFamily="49" charset="-122"/>
            </a:endParaRPr>
          </a:p>
          <a:p>
            <a:pPr marL="0" indent="0">
              <a:buNone/>
              <a:defRPr/>
            </a:pPr>
            <a:r>
              <a:rPr lang="zh-CN" altLang="en-US" sz="2800" b="1" dirty="0">
                <a:ea typeface="华文楷体" pitchFamily="2" charset="-122"/>
              </a:rPr>
              <a:t>因为</a:t>
            </a:r>
            <a:r>
              <a:rPr lang="zh-CN" altLang="en-US" sz="2800" dirty="0">
                <a:ea typeface="华文楷体" pitchFamily="2" charset="-122"/>
              </a:rPr>
              <a:t>：</a:t>
            </a:r>
            <a:r>
              <a:rPr lang="en-US" altLang="zh-CN" sz="2800" dirty="0">
                <a:ea typeface="华文楷体" pitchFamily="2" charset="-122"/>
              </a:rPr>
              <a:t>R(150,50)=0.7, R(50,2)=0.5, R(150,2)=0.9</a:t>
            </a:r>
          </a:p>
          <a:p>
            <a:pPr eaLnBrk="1" hangingPunct="1">
              <a:lnSpc>
                <a:spcPct val="120000"/>
              </a:lnSpc>
              <a:buNone/>
              <a:defRPr/>
            </a:pPr>
            <a:r>
              <a:rPr lang="zh-CN" altLang="en-US" sz="2800" b="1" dirty="0">
                <a:ea typeface="华文楷体" pitchFamily="2" charset="-122"/>
              </a:rPr>
              <a:t>可知，</a:t>
            </a:r>
            <a:r>
              <a:rPr kumimoji="1" lang="zh-CN" altLang="en-US" sz="2800" b="1" dirty="0">
                <a:ea typeface="华文楷体" pitchFamily="2" charset="-122"/>
              </a:rPr>
              <a:t>对 </a:t>
            </a:r>
            <a:r>
              <a:rPr kumimoji="1" lang="zh-CN" altLang="en-US" sz="2800" b="1" dirty="0">
                <a:ea typeface="华文楷体" pitchFamily="2" charset="-122"/>
                <a:sym typeface="Symbol" pitchFamily="18" charset="2"/>
              </a:rPr>
              <a:t></a:t>
            </a:r>
            <a:r>
              <a:rPr kumimoji="1" lang="el-GR" altLang="zh-CN" sz="2800" b="1" i="1" dirty="0">
                <a:latin typeface="Times New Roman" panose="02020603050405020304" pitchFamily="18" charset="0"/>
                <a:ea typeface="华文楷体" pitchFamily="2" charset="-122"/>
                <a:cs typeface="Times New Roman" panose="02020603050405020304" pitchFamily="18" charset="0"/>
                <a:sym typeface="Symbol" pitchFamily="18" charset="2"/>
              </a:rPr>
              <a:t> λ </a:t>
            </a:r>
            <a:r>
              <a:rPr kumimoji="1" lang="en-US" altLang="en-US" sz="2800" dirty="0">
                <a:ea typeface="华文楷体" pitchFamily="2" charset="-122"/>
                <a:sym typeface="Symbol" panose="05050102010706020507" pitchFamily="18" charset="2"/>
              </a:rPr>
              <a:t></a:t>
            </a:r>
            <a:r>
              <a:rPr kumimoji="1" lang="en-US" altLang="zh-CN" sz="2800" dirty="0">
                <a:ea typeface="华文楷体" pitchFamily="2" charset="-122"/>
              </a:rPr>
              <a:t>[0,1]</a:t>
            </a:r>
            <a:r>
              <a:rPr kumimoji="1" lang="zh-CN" altLang="en-US" sz="2800" dirty="0">
                <a:ea typeface="华文楷体" pitchFamily="2" charset="-122"/>
              </a:rPr>
              <a:t>，</a:t>
            </a:r>
            <a:r>
              <a:rPr kumimoji="1" lang="zh-CN" altLang="en-US" sz="2800" b="1" dirty="0">
                <a:ea typeface="华文楷体" pitchFamily="2" charset="-122"/>
              </a:rPr>
              <a:t>若 </a:t>
            </a:r>
            <a:r>
              <a:rPr kumimoji="1" lang="en-US" altLang="zh-CN" sz="2800" b="1" dirty="0">
                <a:ea typeface="华文楷体" pitchFamily="2" charset="-122"/>
              </a:rPr>
              <a:t>R(</a:t>
            </a:r>
            <a:r>
              <a:rPr kumimoji="1" lang="en-US" altLang="zh-CN" sz="2800" b="1" dirty="0" err="1">
                <a:ea typeface="华文楷体" pitchFamily="2" charset="-122"/>
              </a:rPr>
              <a:t>u,v</a:t>
            </a:r>
            <a:r>
              <a:rPr kumimoji="1" lang="en-US" altLang="zh-CN" sz="2800" b="1" dirty="0">
                <a:ea typeface="华文楷体" pitchFamily="2" charset="-122"/>
              </a:rPr>
              <a:t>) </a:t>
            </a:r>
            <a:r>
              <a:rPr kumimoji="1" lang="zh-CN" altLang="el-GR" sz="2800" b="1" dirty="0">
                <a:ea typeface="华文楷体" pitchFamily="2" charset="-122"/>
              </a:rPr>
              <a:t>≥</a:t>
            </a:r>
            <a:r>
              <a:rPr kumimoji="1" lang="el-GR" altLang="zh-CN" sz="2800" b="1" i="1" dirty="0">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zh-CN" altLang="en-US" sz="2800" b="1" dirty="0">
                <a:ea typeface="华文楷体" pitchFamily="2" charset="-122"/>
                <a:sym typeface="Symbol" pitchFamily="18" charset="2"/>
              </a:rPr>
              <a:t>且 </a:t>
            </a:r>
            <a:r>
              <a:rPr kumimoji="1" lang="en-US" altLang="zh-CN" sz="2800" b="1" dirty="0">
                <a:ea typeface="华文楷体" pitchFamily="2" charset="-122"/>
              </a:rPr>
              <a:t>R(</a:t>
            </a:r>
            <a:r>
              <a:rPr kumimoji="1" lang="en-US" altLang="zh-CN" sz="2800" b="1" dirty="0" err="1">
                <a:ea typeface="华文楷体" pitchFamily="2" charset="-122"/>
              </a:rPr>
              <a:t>v,w</a:t>
            </a:r>
            <a:r>
              <a:rPr kumimoji="1" lang="en-US" altLang="zh-CN" sz="2800" b="1" dirty="0">
                <a:ea typeface="华文楷体" pitchFamily="2" charset="-122"/>
              </a:rPr>
              <a:t>) </a:t>
            </a:r>
            <a:r>
              <a:rPr kumimoji="1" lang="zh-CN" altLang="el-GR" sz="2800" b="1" dirty="0">
                <a:ea typeface="华文楷体" pitchFamily="2" charset="-122"/>
              </a:rPr>
              <a:t>≥</a:t>
            </a:r>
            <a:r>
              <a:rPr kumimoji="1" lang="el-GR" altLang="zh-CN" sz="2800" b="1" i="1" dirty="0">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en-US" altLang="zh-CN" sz="2800" b="1" dirty="0">
                <a:ea typeface="华文楷体" pitchFamily="2" charset="-122"/>
                <a:sym typeface="Symbol" pitchFamily="18" charset="2"/>
              </a:rPr>
              <a:t>  </a:t>
            </a:r>
          </a:p>
          <a:p>
            <a:pPr eaLnBrk="1" hangingPunct="1">
              <a:lnSpc>
                <a:spcPct val="120000"/>
              </a:lnSpc>
              <a:buNone/>
              <a:defRPr/>
            </a:pPr>
            <a:r>
              <a:rPr kumimoji="1" lang="zh-CN" altLang="en-US" sz="2800" b="1" dirty="0">
                <a:ea typeface="华文楷体" pitchFamily="2" charset="-122"/>
                <a:sym typeface="Symbol" pitchFamily="18" charset="2"/>
              </a:rPr>
              <a:t>           则 </a:t>
            </a:r>
            <a:r>
              <a:rPr kumimoji="1" lang="en-US" altLang="zh-CN" sz="2800" b="1" dirty="0">
                <a:ea typeface="华文楷体" pitchFamily="2" charset="-122"/>
              </a:rPr>
              <a:t>R(</a:t>
            </a:r>
            <a:r>
              <a:rPr kumimoji="1" lang="en-US" altLang="zh-CN" sz="2800" b="1" dirty="0" err="1">
                <a:ea typeface="华文楷体" pitchFamily="2" charset="-122"/>
              </a:rPr>
              <a:t>u,w</a:t>
            </a:r>
            <a:r>
              <a:rPr kumimoji="1" lang="en-US" altLang="zh-CN" sz="2800" b="1" dirty="0">
                <a:ea typeface="华文楷体" pitchFamily="2" charset="-122"/>
              </a:rPr>
              <a:t>) </a:t>
            </a:r>
            <a:r>
              <a:rPr kumimoji="1" lang="zh-CN" altLang="el-GR" sz="2800" b="1" dirty="0">
                <a:ea typeface="华文楷体" pitchFamily="2" charset="-122"/>
              </a:rPr>
              <a:t>≥</a:t>
            </a:r>
            <a:r>
              <a:rPr kumimoji="1" lang="el-GR" altLang="zh-CN" sz="2800" b="1" i="1" dirty="0">
                <a:latin typeface="Times New Roman" panose="02020603050405020304" pitchFamily="18" charset="0"/>
                <a:ea typeface="华文楷体" pitchFamily="2" charset="-122"/>
                <a:cs typeface="Times New Roman" panose="02020603050405020304" pitchFamily="18" charset="0"/>
                <a:sym typeface="Symbol" pitchFamily="18" charset="2"/>
              </a:rPr>
              <a:t> λ </a:t>
            </a:r>
            <a:r>
              <a:rPr kumimoji="1" lang="zh-CN" altLang="en-US" sz="2800" b="1" dirty="0">
                <a:ea typeface="华文楷体" pitchFamily="2" charset="-122"/>
                <a:sym typeface="Symbol" pitchFamily="18" charset="2"/>
              </a:rPr>
              <a:t>， 所以</a:t>
            </a:r>
            <a:r>
              <a:rPr lang="en-US" altLang="zh-CN" sz="2800" b="1" dirty="0">
                <a:solidFill>
                  <a:srgbClr val="3333FF"/>
                </a:solidFill>
                <a:ea typeface="华文楷体" pitchFamily="2" charset="-122"/>
              </a:rPr>
              <a:t>R</a:t>
            </a:r>
            <a:r>
              <a:rPr lang="zh-CN" altLang="en-US" sz="2800" b="1" dirty="0">
                <a:solidFill>
                  <a:srgbClr val="3333FF"/>
                </a:solidFill>
                <a:ea typeface="华文楷体" pitchFamily="2" charset="-122"/>
              </a:rPr>
              <a:t>是传递关系。</a:t>
            </a:r>
            <a:endParaRPr kumimoji="1" lang="en-US" altLang="zh-CN" sz="2800" b="1" dirty="0">
              <a:solidFill>
                <a:srgbClr val="3333FF"/>
              </a:solidFill>
              <a:ea typeface="华文楷体" pitchFamily="2" charset="-122"/>
              <a:sym typeface="Symbol" pitchFamily="18" charset="2"/>
            </a:endParaRPr>
          </a:p>
        </p:txBody>
      </p:sp>
      <p:graphicFrame>
        <p:nvGraphicFramePr>
          <p:cNvPr id="7" name="对象 6"/>
          <p:cNvGraphicFramePr>
            <a:graphicFrameLocks noChangeAspect="1"/>
          </p:cNvGraphicFramePr>
          <p:nvPr/>
        </p:nvGraphicFramePr>
        <p:xfrm>
          <a:off x="3432176" y="2636838"/>
          <a:ext cx="3076575" cy="1871662"/>
        </p:xfrm>
        <a:graphic>
          <a:graphicData uri="http://schemas.openxmlformats.org/presentationml/2006/ole">
            <mc:AlternateContent xmlns:mc="http://schemas.openxmlformats.org/markup-compatibility/2006">
              <mc:Choice xmlns:v="urn:schemas-microsoft-com:vml" Requires="v">
                <p:oleObj name="公式" r:id="rId2" imgW="1168400" imgH="711200" progId="Equation.3">
                  <p:embed/>
                </p:oleObj>
              </mc:Choice>
              <mc:Fallback>
                <p:oleObj name="公式" r:id="rId2" imgW="1168400" imgH="711200" progId="Equation.3">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176" y="2636838"/>
                        <a:ext cx="3076575"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标注 7"/>
          <p:cNvSpPr/>
          <p:nvPr/>
        </p:nvSpPr>
        <p:spPr>
          <a:xfrm>
            <a:off x="7551576" y="2565400"/>
            <a:ext cx="3771900" cy="1727200"/>
          </a:xfrm>
          <a:prstGeom prst="wedgeRectCallout">
            <a:avLst>
              <a:gd name="adj1" fmla="val -49419"/>
              <a:gd name="adj2" fmla="val 42410"/>
            </a:avLst>
          </a:prstGeom>
          <a:solidFill>
            <a:srgbClr val="66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0000"/>
              </a:lnSpc>
              <a:buFont typeface="Wingdings" pitchFamily="2" charset="2"/>
              <a:buNone/>
              <a:defRPr/>
            </a:pPr>
            <a:r>
              <a:rPr kumimoji="1" lang="zh-CN" altLang="en-US" sz="2400" b="1" dirty="0">
                <a:solidFill>
                  <a:schemeClr val="tx1"/>
                </a:solidFill>
                <a:latin typeface="华文楷体" pitchFamily="2" charset="-122"/>
                <a:ea typeface="华文楷体" pitchFamily="2" charset="-122"/>
              </a:rPr>
              <a:t>对 </a:t>
            </a:r>
            <a:r>
              <a:rPr kumimoji="1" lang="zh-CN" altLang="en-US" sz="2400" b="1" dirty="0">
                <a:solidFill>
                  <a:srgbClr val="FF00FF"/>
                </a:solidFill>
                <a:ea typeface="黑体" pitchFamily="2" charset="-122"/>
                <a:sym typeface="Symbol" pitchFamily="18" charset="2"/>
              </a:rPr>
              <a:t></a:t>
            </a:r>
            <a:r>
              <a:rPr kumimoji="1" lang="el-GR" altLang="zh-CN" sz="2400" b="1" i="1" dirty="0">
                <a:solidFill>
                  <a:srgbClr val="FF00FF"/>
                </a:solidFill>
                <a:latin typeface="Times New Roman" panose="02020603050405020304" pitchFamily="18" charset="0"/>
                <a:ea typeface="黑体" pitchFamily="2" charset="-122"/>
                <a:cs typeface="Times New Roman" panose="02020603050405020304" pitchFamily="18" charset="0"/>
                <a:sym typeface="Symbol" pitchFamily="18" charset="2"/>
              </a:rPr>
              <a:t>λ</a:t>
            </a:r>
            <a:r>
              <a:rPr kumimoji="1" lang="en-US" altLang="en-US" sz="2400" dirty="0">
                <a:latin typeface="Times New Roman" pitchFamily="18" charset="0"/>
                <a:ea typeface="黑体" pitchFamily="2" charset="-122"/>
                <a:sym typeface="Symbol" panose="05050102010706020507" pitchFamily="18" charset="2"/>
              </a:rPr>
              <a:t> </a:t>
            </a:r>
            <a:r>
              <a:rPr kumimoji="1" lang="en-US" altLang="en-US" sz="2400" b="1" dirty="0">
                <a:solidFill>
                  <a:schemeClr val="tx1"/>
                </a:solidFill>
                <a:latin typeface="Times New Roman" pitchFamily="18" charset="0"/>
                <a:ea typeface="黑体" pitchFamily="2" charset="-122"/>
                <a:sym typeface="Symbol" panose="05050102010706020507" pitchFamily="18" charset="2"/>
              </a:rPr>
              <a:t></a:t>
            </a:r>
            <a:r>
              <a:rPr kumimoji="1" lang="en-US" altLang="zh-CN" sz="2400" dirty="0">
                <a:solidFill>
                  <a:schemeClr val="tx1"/>
                </a:solidFill>
                <a:ea typeface="黑体" pitchFamily="2" charset="-122"/>
              </a:rPr>
              <a:t>[0,1]</a:t>
            </a:r>
          </a:p>
          <a:p>
            <a:pPr>
              <a:lnSpc>
                <a:spcPct val="120000"/>
              </a:lnSpc>
              <a:buFont typeface="Wingdings" pitchFamily="2" charset="2"/>
              <a:buNone/>
              <a:defRPr/>
            </a:pPr>
            <a:r>
              <a:rPr kumimoji="1" lang="zh-CN" altLang="en-US" sz="2400" b="1" dirty="0">
                <a:solidFill>
                  <a:schemeClr val="tx1"/>
                </a:solidFill>
                <a:ea typeface="华文楷体" pitchFamily="2" charset="-122"/>
              </a:rPr>
              <a:t>若 </a:t>
            </a:r>
            <a:r>
              <a:rPr kumimoji="1" lang="en-US" altLang="zh-CN" sz="2400" b="1" dirty="0">
                <a:solidFill>
                  <a:schemeClr val="tx1"/>
                </a:solidFill>
                <a:ea typeface="华文楷体" pitchFamily="2" charset="-122"/>
              </a:rPr>
              <a:t>R(</a:t>
            </a:r>
            <a:r>
              <a:rPr kumimoji="1" lang="en-US" altLang="zh-CN" sz="2400" b="1" dirty="0" err="1">
                <a:solidFill>
                  <a:schemeClr val="tx1"/>
                </a:solidFill>
                <a:ea typeface="华文楷体" pitchFamily="2" charset="-122"/>
              </a:rPr>
              <a:t>u,v</a:t>
            </a:r>
            <a:r>
              <a:rPr kumimoji="1" lang="en-US" altLang="zh-CN" sz="2400" b="1" dirty="0">
                <a:solidFill>
                  <a:schemeClr val="tx1"/>
                </a:solidFill>
                <a:ea typeface="华文楷体" pitchFamily="2" charset="-122"/>
              </a:rPr>
              <a:t>) </a:t>
            </a:r>
            <a:r>
              <a:rPr kumimoji="1" lang="zh-CN" altLang="el-GR" sz="2400" b="1" dirty="0">
                <a:solidFill>
                  <a:schemeClr val="tx1"/>
                </a:solidFill>
                <a:ea typeface="华文楷体" pitchFamily="2" charset="-122"/>
              </a:rPr>
              <a:t>≥</a:t>
            </a:r>
            <a:r>
              <a:rPr kumimoji="1" lang="en-US" altLang="zh-CN" sz="2400" b="1" dirty="0">
                <a:solidFill>
                  <a:schemeClr val="tx1"/>
                </a:solidFill>
                <a:ea typeface="华文楷体" pitchFamily="2" charset="-122"/>
              </a:rPr>
              <a:t> </a:t>
            </a:r>
            <a:r>
              <a:rPr kumimoji="1" lang="el-GR" altLang="zh-CN" sz="24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λ</a:t>
            </a:r>
            <a:r>
              <a:rPr kumimoji="1" lang="zh-CN" altLang="en-US" sz="2400" b="1" dirty="0">
                <a:solidFill>
                  <a:schemeClr val="tx1"/>
                </a:solidFill>
                <a:ea typeface="华文楷体" pitchFamily="2" charset="-122"/>
                <a:sym typeface="Symbol" pitchFamily="18" charset="2"/>
              </a:rPr>
              <a:t>且 </a:t>
            </a:r>
            <a:r>
              <a:rPr kumimoji="1" lang="en-US" altLang="zh-CN" sz="2400" b="1" dirty="0">
                <a:solidFill>
                  <a:schemeClr val="tx1"/>
                </a:solidFill>
                <a:ea typeface="华文楷体" pitchFamily="2" charset="-122"/>
              </a:rPr>
              <a:t>R(</a:t>
            </a:r>
            <a:r>
              <a:rPr kumimoji="1" lang="en-US" altLang="zh-CN" sz="2400" b="1" dirty="0" err="1">
                <a:solidFill>
                  <a:schemeClr val="tx1"/>
                </a:solidFill>
                <a:ea typeface="华文楷体" pitchFamily="2" charset="-122"/>
              </a:rPr>
              <a:t>v,w</a:t>
            </a:r>
            <a:r>
              <a:rPr kumimoji="1" lang="en-US" altLang="zh-CN" sz="2400" b="1" dirty="0">
                <a:solidFill>
                  <a:schemeClr val="tx1"/>
                </a:solidFill>
                <a:ea typeface="华文楷体" pitchFamily="2" charset="-122"/>
              </a:rPr>
              <a:t>) </a:t>
            </a:r>
            <a:r>
              <a:rPr kumimoji="1" lang="zh-CN" altLang="el-GR" sz="2400" b="1" dirty="0">
                <a:solidFill>
                  <a:schemeClr val="tx1"/>
                </a:solidFill>
                <a:ea typeface="华文楷体" pitchFamily="2" charset="-122"/>
              </a:rPr>
              <a:t>≥</a:t>
            </a:r>
            <a:r>
              <a:rPr kumimoji="1" lang="el-GR" altLang="zh-CN" sz="24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en-US" altLang="zh-CN" sz="2400" b="1" dirty="0">
                <a:solidFill>
                  <a:schemeClr val="tx1"/>
                </a:solidFill>
                <a:ea typeface="华文楷体" pitchFamily="2" charset="-122"/>
                <a:sym typeface="Symbol" pitchFamily="18" charset="2"/>
              </a:rPr>
              <a:t>  </a:t>
            </a:r>
          </a:p>
          <a:p>
            <a:pPr>
              <a:lnSpc>
                <a:spcPct val="120000"/>
              </a:lnSpc>
              <a:buFont typeface="Wingdings" pitchFamily="2" charset="2"/>
              <a:buNone/>
              <a:defRPr/>
            </a:pPr>
            <a:r>
              <a:rPr kumimoji="1" lang="zh-CN" altLang="en-US" sz="2400" b="1" dirty="0">
                <a:solidFill>
                  <a:schemeClr val="tx1"/>
                </a:solidFill>
                <a:ea typeface="华文楷体" pitchFamily="2" charset="-122"/>
                <a:sym typeface="Symbol" pitchFamily="18" charset="2"/>
              </a:rPr>
              <a:t>则 </a:t>
            </a:r>
            <a:r>
              <a:rPr kumimoji="1" lang="en-US" altLang="zh-CN" sz="2400" b="1" dirty="0">
                <a:solidFill>
                  <a:schemeClr val="tx1"/>
                </a:solidFill>
                <a:ea typeface="华文楷体" pitchFamily="2" charset="-122"/>
              </a:rPr>
              <a:t>R(</a:t>
            </a:r>
            <a:r>
              <a:rPr kumimoji="1" lang="en-US" altLang="zh-CN" sz="2400" b="1" dirty="0" err="1">
                <a:solidFill>
                  <a:schemeClr val="tx1"/>
                </a:solidFill>
                <a:ea typeface="华文楷体" pitchFamily="2" charset="-122"/>
              </a:rPr>
              <a:t>u,w</a:t>
            </a:r>
            <a:r>
              <a:rPr kumimoji="1" lang="en-US" altLang="zh-CN" sz="2400" b="1" dirty="0">
                <a:solidFill>
                  <a:schemeClr val="tx1"/>
                </a:solidFill>
                <a:ea typeface="华文楷体" pitchFamily="2" charset="-122"/>
              </a:rPr>
              <a:t>) </a:t>
            </a:r>
            <a:r>
              <a:rPr kumimoji="1" lang="zh-CN" altLang="el-GR" sz="2400" b="1" dirty="0">
                <a:solidFill>
                  <a:schemeClr val="tx1"/>
                </a:solidFill>
                <a:ea typeface="华文楷体" pitchFamily="2" charset="-122"/>
              </a:rPr>
              <a:t>≥</a:t>
            </a:r>
            <a:r>
              <a:rPr kumimoji="1" lang="el-GR" altLang="zh-CN" sz="24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endParaRPr kumimoji="1" lang="en-US" altLang="zh-CN" sz="2400" b="1" dirty="0">
              <a:solidFill>
                <a:schemeClr val="tx1"/>
              </a:solidFill>
              <a:ea typeface="华文楷体" pitchFamily="2" charset="-122"/>
              <a:sym typeface="Symbol" pitchFamily="18" charset="2"/>
            </a:endParaRPr>
          </a:p>
          <a:p>
            <a:pPr>
              <a:lnSpc>
                <a:spcPct val="120000"/>
              </a:lnSpc>
              <a:buFont typeface="Wingdings" pitchFamily="2" charset="2"/>
              <a:buNone/>
              <a:defRPr/>
            </a:pPr>
            <a:r>
              <a:rPr kumimoji="1" lang="zh-CN" altLang="en-US" sz="2400" b="1" dirty="0">
                <a:solidFill>
                  <a:schemeClr val="tx1"/>
                </a:solidFill>
                <a:ea typeface="华文楷体" pitchFamily="2" charset="-122"/>
                <a:sym typeface="Symbol" pitchFamily="18" charset="2"/>
              </a:rPr>
              <a:t>那么称</a:t>
            </a:r>
            <a:r>
              <a:rPr kumimoji="1" lang="en-US" altLang="zh-CN" sz="2400" b="1" dirty="0">
                <a:solidFill>
                  <a:srgbClr val="EE0006"/>
                </a:solidFill>
                <a:ea typeface="华文楷体" pitchFamily="2" charset="-122"/>
                <a:sym typeface="Symbol" pitchFamily="18" charset="2"/>
              </a:rPr>
              <a:t>R</a:t>
            </a:r>
            <a:r>
              <a:rPr kumimoji="1" lang="zh-CN" altLang="en-US" sz="2400" b="1" dirty="0">
                <a:solidFill>
                  <a:srgbClr val="EE0006"/>
                </a:solidFill>
                <a:ea typeface="华文楷体" pitchFamily="2" charset="-122"/>
                <a:sym typeface="Symbol" pitchFamily="18" charset="2"/>
              </a:rPr>
              <a:t>是传递</a:t>
            </a:r>
            <a:r>
              <a:rPr kumimoji="1" lang="en-US" altLang="zh-CN" sz="2400" b="1" dirty="0">
                <a:solidFill>
                  <a:srgbClr val="EE0006"/>
                </a:solidFill>
                <a:ea typeface="华文楷体" pitchFamily="2" charset="-122"/>
                <a:sym typeface="Symbol" pitchFamily="18" charset="2"/>
              </a:rPr>
              <a:t>F</a:t>
            </a:r>
            <a:r>
              <a:rPr kumimoji="1" lang="zh-CN" altLang="en-US" sz="2400" b="1" dirty="0">
                <a:solidFill>
                  <a:srgbClr val="EE0006"/>
                </a:solidFill>
                <a:ea typeface="华文楷体" pitchFamily="2" charset="-122"/>
                <a:sym typeface="Symbol" pitchFamily="18" charset="2"/>
              </a:rPr>
              <a:t>关系</a:t>
            </a:r>
            <a:r>
              <a:rPr kumimoji="1" lang="zh-CN" altLang="en-US" b="1" dirty="0">
                <a:solidFill>
                  <a:schemeClr val="tx1"/>
                </a:solidFill>
                <a:ea typeface="华文楷体" pitchFamily="2" charset="-122"/>
                <a:sym typeface="Symbol" pitchFamily="18" charset="2"/>
              </a:rPr>
              <a:t>。</a:t>
            </a:r>
            <a:endParaRPr lang="zh-CN" altLang="en-US" b="1" dirty="0">
              <a:solidFill>
                <a:schemeClr val="tx1"/>
              </a:solidFill>
              <a:ea typeface="华文楷体" pitchFamily="2" charset="-122"/>
            </a:endParaRPr>
          </a:p>
        </p:txBody>
      </p:sp>
      <p:sp>
        <p:nvSpPr>
          <p:cNvPr id="2" name="灯片编号占位符 1">
            <a:extLst>
              <a:ext uri="{FF2B5EF4-FFF2-40B4-BE49-F238E27FC236}">
                <a16:creationId xmlns:a16="http://schemas.microsoft.com/office/drawing/2014/main" id="{4B910B7E-3F9F-BB04-8B50-4DD5BB9170CD}"/>
              </a:ext>
            </a:extLst>
          </p:cNvPr>
          <p:cNvSpPr>
            <a:spLocks noGrp="1"/>
          </p:cNvSpPr>
          <p:nvPr>
            <p:ph type="sldNum" sz="quarter" idx="11"/>
          </p:nvPr>
        </p:nvSpPr>
        <p:spPr/>
        <p:txBody>
          <a:bodyPr/>
          <a:lstStyle/>
          <a:p>
            <a:pPr>
              <a:defRPr/>
            </a:pPr>
            <a:fld id="{FAA851D4-8D62-4BD7-8848-E433E51002F9}" type="slidenum">
              <a:rPr lang="en-US" altLang="zh-CN" smtClean="0"/>
              <a:pPr>
                <a:defRPr/>
              </a:pPr>
              <a:t>8</a:t>
            </a:fld>
            <a:endParaRPr lang="en-US" altLang="zh-CN"/>
          </a:p>
        </p:txBody>
      </p:sp>
      <p:sp>
        <p:nvSpPr>
          <p:cNvPr id="3" name="矩形 2">
            <a:extLst>
              <a:ext uri="{FF2B5EF4-FFF2-40B4-BE49-F238E27FC236}">
                <a16:creationId xmlns:a16="http://schemas.microsoft.com/office/drawing/2014/main" id="{6B5EB3A4-AFB5-35DB-89E3-A05A926FB58E}"/>
              </a:ext>
            </a:extLst>
          </p:cNvPr>
          <p:cNvSpPr/>
          <p:nvPr/>
        </p:nvSpPr>
        <p:spPr>
          <a:xfrm>
            <a:off x="4583832" y="6021288"/>
            <a:ext cx="3312368" cy="64779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981879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nodeType="with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left)">
                                      <p:cBhvr>
                                        <p:cTn id="21" dur="500"/>
                                        <p:tgtEl>
                                          <p:spTgt spid="6">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3"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1+#ppt_w/2"/>
                                          </p:val>
                                        </p:tav>
                                        <p:tav tm="100000">
                                          <p:val>
                                            <p:strVal val="#ppt_x"/>
                                          </p:val>
                                        </p:tav>
                                      </p:tavLst>
                                    </p:anim>
                                    <p:anim calcmode="lin" valueType="num">
                                      <p:cBhvr additive="base">
                                        <p:cTn id="27"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left)">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uiExpand="1"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03388" y="457201"/>
            <a:ext cx="8964612" cy="955675"/>
          </a:xfrm>
        </p:spPr>
        <p:txBody>
          <a:bodyPr/>
          <a:lstStyle/>
          <a:p>
            <a:pPr eaLnBrk="1" hangingPunct="1"/>
            <a:r>
              <a:rPr lang="en-US" altLang="zh-CN" sz="3600" dirty="0">
                <a:solidFill>
                  <a:srgbClr val="057939"/>
                </a:solidFill>
                <a:ea typeface="黑体" pitchFamily="2" charset="-122"/>
              </a:rPr>
              <a:t>[</a:t>
            </a:r>
            <a:r>
              <a:rPr lang="zh-CN" altLang="en-US" sz="3600" dirty="0">
                <a:solidFill>
                  <a:srgbClr val="057939"/>
                </a:solidFill>
                <a:ea typeface="黑体" pitchFamily="2" charset="-122"/>
              </a:rPr>
              <a:t>定理</a:t>
            </a:r>
            <a:r>
              <a:rPr lang="en-US" altLang="zh-CN" sz="3600" dirty="0">
                <a:solidFill>
                  <a:srgbClr val="057939"/>
                </a:solidFill>
                <a:ea typeface="黑体" pitchFamily="2" charset="-122"/>
              </a:rPr>
              <a:t>1]</a:t>
            </a:r>
            <a:r>
              <a:rPr lang="en-US" altLang="zh-CN" sz="3600" i="1" dirty="0">
                <a:solidFill>
                  <a:srgbClr val="057939"/>
                </a:solidFill>
                <a:ea typeface="黑体" pitchFamily="2" charset="-122"/>
              </a:rPr>
              <a:t>R</a:t>
            </a:r>
            <a:r>
              <a:rPr lang="zh-CN" altLang="en-US" sz="3600" dirty="0">
                <a:solidFill>
                  <a:srgbClr val="057939"/>
                </a:solidFill>
                <a:ea typeface="黑体" pitchFamily="2" charset="-122"/>
              </a:rPr>
              <a:t>是传递的</a:t>
            </a:r>
            <a:r>
              <a:rPr lang="en-US" altLang="zh-CN" sz="3600" dirty="0">
                <a:solidFill>
                  <a:srgbClr val="057939"/>
                </a:solidFill>
                <a:ea typeface="黑体" pitchFamily="2" charset="-122"/>
              </a:rPr>
              <a:t>F</a:t>
            </a:r>
            <a:r>
              <a:rPr lang="zh-CN" altLang="en-US" sz="3600" dirty="0">
                <a:solidFill>
                  <a:srgbClr val="057939"/>
                </a:solidFill>
                <a:ea typeface="黑体" pitchFamily="2" charset="-122"/>
              </a:rPr>
              <a:t>关系的</a:t>
            </a:r>
            <a:r>
              <a:rPr lang="zh-CN" altLang="en-US" sz="3600" u="sng" dirty="0">
                <a:solidFill>
                  <a:srgbClr val="057939"/>
                </a:solidFill>
                <a:ea typeface="黑体" pitchFamily="2" charset="-122"/>
              </a:rPr>
              <a:t>充要条件</a:t>
            </a:r>
            <a:r>
              <a:rPr lang="zh-CN" altLang="en-US" sz="3600" dirty="0">
                <a:solidFill>
                  <a:srgbClr val="057939"/>
                </a:solidFill>
                <a:ea typeface="黑体" pitchFamily="2" charset="-122"/>
              </a:rPr>
              <a:t>是</a:t>
            </a:r>
            <a:r>
              <a:rPr lang="en-US" altLang="zh-CN" sz="3600" i="1" dirty="0">
                <a:solidFill>
                  <a:srgbClr val="057939"/>
                </a:solidFill>
                <a:ea typeface="黑体" pitchFamily="2" charset="-122"/>
              </a:rPr>
              <a:t>R</a:t>
            </a:r>
            <a:r>
              <a:rPr lang="en-US" altLang="zh-CN" sz="3600" dirty="0">
                <a:solidFill>
                  <a:srgbClr val="057939"/>
                </a:solidFill>
                <a:ea typeface="黑体" pitchFamily="2" charset="-122"/>
                <a:sym typeface="Symbol" pitchFamily="18" charset="2"/>
              </a:rPr>
              <a:t></a:t>
            </a:r>
            <a:r>
              <a:rPr lang="en-US" altLang="zh-CN" sz="3600" i="1" dirty="0">
                <a:solidFill>
                  <a:srgbClr val="057939"/>
                </a:solidFill>
                <a:ea typeface="黑体" pitchFamily="2" charset="-122"/>
              </a:rPr>
              <a:t>R</a:t>
            </a:r>
            <a:r>
              <a:rPr lang="en-US" altLang="zh-CN" sz="3600" baseline="30000" dirty="0">
                <a:solidFill>
                  <a:srgbClr val="057939"/>
                </a:solidFill>
                <a:ea typeface="黑体" pitchFamily="2" charset="-122"/>
              </a:rPr>
              <a:t>2</a:t>
            </a:r>
          </a:p>
        </p:txBody>
      </p:sp>
      <p:sp>
        <p:nvSpPr>
          <p:cNvPr id="138243" name="Rectangle 3"/>
          <p:cNvSpPr>
            <a:spLocks noGrp="1" noChangeArrowheads="1"/>
          </p:cNvSpPr>
          <p:nvPr>
            <p:ph type="body" idx="1"/>
          </p:nvPr>
        </p:nvSpPr>
        <p:spPr>
          <a:xfrm>
            <a:off x="1415480" y="1557339"/>
            <a:ext cx="8712770" cy="5184775"/>
          </a:xfrm>
        </p:spPr>
        <p:txBody>
          <a:bodyPr/>
          <a:lstStyle/>
          <a:p>
            <a:pPr eaLnBrk="1" hangingPunct="1">
              <a:buFont typeface="Wingdings" pitchFamily="2" charset="2"/>
              <a:buNone/>
            </a:pPr>
            <a:r>
              <a:rPr lang="zh-CN" altLang="en-US" dirty="0">
                <a:solidFill>
                  <a:srgbClr val="EE0006"/>
                </a:solidFill>
                <a:ea typeface="黑体" pitchFamily="2" charset="-122"/>
              </a:rPr>
              <a:t>证：必要性</a:t>
            </a:r>
            <a:r>
              <a:rPr lang="en-US" altLang="zh-CN" dirty="0">
                <a:solidFill>
                  <a:srgbClr val="EE0006"/>
                </a:solidFill>
                <a:ea typeface="黑体" pitchFamily="2" charset="-122"/>
              </a:rPr>
              <a:t>(</a:t>
            </a:r>
            <a:r>
              <a:rPr lang="en-US" altLang="zh-CN" dirty="0">
                <a:solidFill>
                  <a:srgbClr val="EE0006"/>
                </a:solidFill>
                <a:ea typeface="黑体" pitchFamily="2" charset="-122"/>
                <a:sym typeface="Symbol"/>
              </a:rPr>
              <a:t></a:t>
            </a:r>
            <a:r>
              <a:rPr lang="en-US" altLang="zh-CN" dirty="0">
                <a:solidFill>
                  <a:srgbClr val="EE0006"/>
                </a:solidFill>
                <a:ea typeface="黑体" pitchFamily="2" charset="-122"/>
              </a:rPr>
              <a:t>)</a:t>
            </a:r>
            <a:endParaRPr lang="zh-CN" altLang="en-US" dirty="0">
              <a:solidFill>
                <a:srgbClr val="EE0006"/>
              </a:solidFill>
              <a:ea typeface="黑体" pitchFamily="2" charset="-122"/>
            </a:endParaRPr>
          </a:p>
          <a:p>
            <a:pPr eaLnBrk="1" hangingPunct="1">
              <a:buNone/>
            </a:pPr>
            <a:r>
              <a:rPr lang="zh-CN" altLang="en-US" sz="2800" dirty="0">
                <a:ea typeface="黑体" pitchFamily="2" charset="-122"/>
              </a:rPr>
              <a:t>         </a:t>
            </a:r>
            <a:r>
              <a:rPr kumimoji="1" lang="zh-CN" altLang="en-US" sz="2800" dirty="0">
                <a:ea typeface="黑体" pitchFamily="2" charset="-122"/>
                <a:sym typeface="Symbol" pitchFamily="18" charset="2"/>
              </a:rPr>
              <a:t></a:t>
            </a:r>
            <a:r>
              <a:rPr kumimoji="1" lang="en-US" altLang="zh-CN" sz="2800" i="1" dirty="0">
                <a:ea typeface="黑体" pitchFamily="2" charset="-122"/>
                <a:sym typeface="Symbol" pitchFamily="18" charset="2"/>
              </a:rPr>
              <a:t>u</a:t>
            </a:r>
            <a:r>
              <a:rPr kumimoji="1" lang="en-US" altLang="zh-CN" sz="2800" dirty="0">
                <a:ea typeface="黑体" pitchFamily="2" charset="-122"/>
                <a:sym typeface="Symbol" pitchFamily="18" charset="2"/>
              </a:rPr>
              <a:t>, </a:t>
            </a:r>
            <a:r>
              <a:rPr kumimoji="1" lang="en-US" altLang="zh-CN" sz="2800" i="1" dirty="0" err="1">
                <a:ea typeface="黑体" pitchFamily="2" charset="-122"/>
                <a:sym typeface="Symbol" pitchFamily="18" charset="2"/>
              </a:rPr>
              <a:t>w</a:t>
            </a:r>
            <a:r>
              <a:rPr kumimoji="1" lang="en-US" altLang="en-US" sz="2800" dirty="0" err="1">
                <a:ea typeface="黑体" pitchFamily="2" charset="-122"/>
                <a:sym typeface="Symbol" panose="05050102010706020507" pitchFamily="18" charset="2"/>
              </a:rPr>
              <a:t></a:t>
            </a:r>
            <a:r>
              <a:rPr kumimoji="1" lang="en-US" altLang="zh-CN" sz="2800" i="1" dirty="0" err="1">
                <a:ea typeface="黑体" pitchFamily="2" charset="-122"/>
              </a:rPr>
              <a:t>U</a:t>
            </a:r>
            <a:r>
              <a:rPr kumimoji="1" lang="en-US" altLang="zh-CN" sz="2800" dirty="0">
                <a:ea typeface="黑体" pitchFamily="2" charset="-122"/>
              </a:rPr>
              <a:t>, </a:t>
            </a:r>
            <a:r>
              <a:rPr kumimoji="1" lang="zh-CN" altLang="en-US" sz="2800" dirty="0">
                <a:ea typeface="黑体" pitchFamily="2" charset="-122"/>
              </a:rPr>
              <a:t>对</a:t>
            </a:r>
            <a:r>
              <a:rPr kumimoji="1" lang="en-US" altLang="zh-CN" sz="2800" dirty="0">
                <a:ea typeface="黑体" pitchFamily="2" charset="-122"/>
                <a:sym typeface="Symbol" pitchFamily="18" charset="2"/>
              </a:rPr>
              <a:t></a:t>
            </a:r>
            <a:r>
              <a:rPr kumimoji="1" lang="en-US" altLang="zh-CN" sz="2800" i="1" dirty="0">
                <a:ea typeface="黑体" pitchFamily="2" charset="-122"/>
                <a:sym typeface="Symbol" pitchFamily="18" charset="2"/>
              </a:rPr>
              <a:t>v</a:t>
            </a:r>
            <a:r>
              <a:rPr kumimoji="1" lang="en-US" altLang="zh-CN" sz="2800" baseline="-25000" dirty="0">
                <a:ea typeface="黑体" pitchFamily="2" charset="-122"/>
                <a:sym typeface="Symbol" pitchFamily="18" charset="2"/>
              </a:rPr>
              <a:t>0</a:t>
            </a:r>
            <a:r>
              <a:rPr kumimoji="1" lang="en-US" altLang="en-US" sz="2800" dirty="0">
                <a:ea typeface="黑体" pitchFamily="2" charset="-122"/>
                <a:sym typeface="Symbol" panose="05050102010706020507" pitchFamily="18" charset="2"/>
              </a:rPr>
              <a:t></a:t>
            </a:r>
            <a:r>
              <a:rPr kumimoji="1" lang="en-US" altLang="zh-CN" sz="2800" i="1" dirty="0">
                <a:ea typeface="黑体" pitchFamily="2" charset="-122"/>
              </a:rPr>
              <a:t>U</a:t>
            </a:r>
            <a:r>
              <a:rPr kumimoji="1" lang="en-US" altLang="zh-CN" sz="2800" dirty="0">
                <a:ea typeface="黑体" pitchFamily="2" charset="-122"/>
              </a:rPr>
              <a:t>, </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取  </a:t>
            </a:r>
            <a:r>
              <a:rPr kumimoji="1" lang="el-GR" altLang="zh-CN" sz="2800" i="1" dirty="0">
                <a:solidFill>
                  <a:srgbClr val="3333FF"/>
                </a:solidFill>
                <a:ea typeface="黑体" pitchFamily="2" charset="-122"/>
                <a:cs typeface="Arial" charset="0"/>
                <a:sym typeface="Symbol" pitchFamily="18" charset="2"/>
              </a:rPr>
              <a:t>λ</a:t>
            </a:r>
            <a:r>
              <a:rPr kumimoji="1" lang="en-US" altLang="zh-CN" sz="2800" dirty="0">
                <a:solidFill>
                  <a:srgbClr val="3333FF"/>
                </a:solidFill>
                <a:ea typeface="黑体" pitchFamily="2" charset="-122"/>
                <a:cs typeface="Arial" charset="0"/>
                <a:sym typeface="Symbol" pitchFamily="18" charset="2"/>
              </a:rPr>
              <a:t>=</a:t>
            </a:r>
            <a:r>
              <a:rPr kumimoji="1" lang="en-US" altLang="zh-CN" sz="2800" i="1" dirty="0">
                <a:solidFill>
                  <a:srgbClr val="3333FF"/>
                </a:solidFill>
                <a:ea typeface="黑体" pitchFamily="2" charset="-122"/>
                <a:cs typeface="Arial" charset="0"/>
                <a:sym typeface="Symbol" pitchFamily="18" charset="2"/>
              </a:rPr>
              <a:t>R</a:t>
            </a:r>
            <a:r>
              <a:rPr kumimoji="1" lang="en-US" altLang="zh-CN" sz="2800" dirty="0">
                <a:solidFill>
                  <a:srgbClr val="3333FF"/>
                </a:solidFill>
                <a:ea typeface="黑体" pitchFamily="2" charset="-122"/>
                <a:cs typeface="Arial" charset="0"/>
                <a:sym typeface="Symbol" pitchFamily="18" charset="2"/>
              </a:rPr>
              <a:t>(</a:t>
            </a:r>
            <a:r>
              <a:rPr kumimoji="1" lang="en-US" altLang="zh-CN" sz="2800" i="1" dirty="0">
                <a:solidFill>
                  <a:srgbClr val="3333FF"/>
                </a:solidFill>
                <a:ea typeface="黑体" pitchFamily="2" charset="-122"/>
                <a:cs typeface="Arial" charset="0"/>
                <a:sym typeface="Symbol" pitchFamily="18" charset="2"/>
              </a:rPr>
              <a:t>u</a:t>
            </a:r>
            <a:r>
              <a:rPr kumimoji="1" lang="en-US" altLang="zh-CN" sz="2800" dirty="0">
                <a:solidFill>
                  <a:srgbClr val="3333FF"/>
                </a:solidFill>
                <a:ea typeface="黑体" pitchFamily="2" charset="-122"/>
                <a:cs typeface="Arial" charset="0"/>
                <a:sym typeface="Symbol" pitchFamily="18" charset="2"/>
              </a:rPr>
              <a:t>, </a:t>
            </a:r>
            <a:r>
              <a:rPr kumimoji="1" lang="en-US" altLang="zh-CN" sz="2800" i="1" dirty="0">
                <a:solidFill>
                  <a:srgbClr val="3333FF"/>
                </a:solidFill>
                <a:ea typeface="黑体" pitchFamily="2" charset="-122"/>
                <a:sym typeface="Symbol" pitchFamily="18" charset="2"/>
              </a:rPr>
              <a:t>v</a:t>
            </a:r>
            <a:r>
              <a:rPr kumimoji="1" lang="en-US" altLang="zh-CN" sz="2800" baseline="-25000" dirty="0">
                <a:solidFill>
                  <a:srgbClr val="3333FF"/>
                </a:solidFill>
                <a:ea typeface="黑体" pitchFamily="2" charset="-122"/>
                <a:sym typeface="Symbol" pitchFamily="18" charset="2"/>
              </a:rPr>
              <a:t>0</a:t>
            </a:r>
            <a:r>
              <a:rPr kumimoji="1" lang="en-US" altLang="zh-CN" sz="2800" dirty="0">
                <a:solidFill>
                  <a:srgbClr val="3333FF"/>
                </a:solidFill>
                <a:ea typeface="黑体" pitchFamily="2" charset="-122"/>
              </a:rPr>
              <a:t>) </a:t>
            </a:r>
            <a:r>
              <a:rPr kumimoji="1" lang="en-US" altLang="zh-CN" dirty="0">
                <a:solidFill>
                  <a:srgbClr val="3333FF"/>
                </a:solidFill>
                <a:ea typeface="黑体" pitchFamily="2" charset="-122"/>
                <a:sym typeface="Symbol"/>
              </a:rPr>
              <a:t></a:t>
            </a:r>
            <a:r>
              <a:rPr kumimoji="1" lang="en-US" altLang="zh-CN" dirty="0">
                <a:solidFill>
                  <a:srgbClr val="3333FF"/>
                </a:solidFill>
                <a:ea typeface="黑体" pitchFamily="2" charset="-122"/>
              </a:rPr>
              <a:t> </a:t>
            </a:r>
            <a:r>
              <a:rPr kumimoji="1" lang="en-US" altLang="zh-CN" sz="2800" i="1" dirty="0">
                <a:solidFill>
                  <a:srgbClr val="3333FF"/>
                </a:solidFill>
                <a:ea typeface="黑体" pitchFamily="2" charset="-122"/>
                <a:sym typeface="Symbol" pitchFamily="18" charset="2"/>
              </a:rPr>
              <a:t>R</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v</a:t>
            </a:r>
            <a:r>
              <a:rPr kumimoji="1" lang="en-US" altLang="zh-CN" sz="2800" baseline="-25000" dirty="0">
                <a:solidFill>
                  <a:srgbClr val="3333FF"/>
                </a:solidFill>
                <a:ea typeface="黑体" pitchFamily="2" charset="-122"/>
                <a:sym typeface="Symbol" pitchFamily="18" charset="2"/>
              </a:rPr>
              <a:t>0</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w</a:t>
            </a:r>
            <a:r>
              <a:rPr kumimoji="1" lang="en-US" altLang="zh-CN" sz="2800" dirty="0">
                <a:solidFill>
                  <a:srgbClr val="3333FF"/>
                </a:solidFill>
                <a:ea typeface="黑体" pitchFamily="2" charset="-122"/>
              </a:rPr>
              <a:t>) </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显然有  </a:t>
            </a:r>
            <a:r>
              <a:rPr kumimoji="1" lang="en-US" altLang="zh-CN" sz="2800" i="1" dirty="0">
                <a:ea typeface="黑体" pitchFamily="2" charset="-122"/>
                <a:sym typeface="Symbol" pitchFamily="18" charset="2"/>
              </a:rPr>
              <a:t>R</a:t>
            </a:r>
            <a:r>
              <a:rPr kumimoji="1" lang="en-US" altLang="zh-CN" sz="2800" dirty="0">
                <a:ea typeface="黑体" pitchFamily="2" charset="-122"/>
                <a:sym typeface="Symbol" pitchFamily="18" charset="2"/>
              </a:rPr>
              <a:t>(</a:t>
            </a:r>
            <a:r>
              <a:rPr kumimoji="1" lang="en-US" altLang="zh-CN" sz="2800" i="1" dirty="0">
                <a:ea typeface="黑体" pitchFamily="2" charset="-122"/>
                <a:sym typeface="Symbol" pitchFamily="18" charset="2"/>
              </a:rPr>
              <a:t>u</a:t>
            </a:r>
            <a:r>
              <a:rPr kumimoji="1" lang="en-US" altLang="zh-CN" sz="2800" dirty="0">
                <a:ea typeface="黑体" pitchFamily="2" charset="-122"/>
                <a:sym typeface="Symbol" pitchFamily="18" charset="2"/>
              </a:rPr>
              <a:t>, </a:t>
            </a:r>
            <a:r>
              <a:rPr kumimoji="1" lang="en-US" altLang="zh-CN" sz="2800" i="1" dirty="0">
                <a:ea typeface="黑体" pitchFamily="2" charset="-122"/>
                <a:sym typeface="Symbol" pitchFamily="18" charset="2"/>
              </a:rPr>
              <a:t>v</a:t>
            </a:r>
            <a:r>
              <a:rPr kumimoji="1" lang="en-US" altLang="zh-CN" sz="2800" baseline="-25000" dirty="0">
                <a:ea typeface="黑体" pitchFamily="2" charset="-122"/>
                <a:sym typeface="Symbol" pitchFamily="18" charset="2"/>
              </a:rPr>
              <a:t>0</a:t>
            </a:r>
            <a:r>
              <a:rPr kumimoji="1" lang="en-US" altLang="zh-CN" sz="2800" dirty="0">
                <a:ea typeface="黑体" pitchFamily="2" charset="-122"/>
              </a:rPr>
              <a:t>)</a:t>
            </a:r>
            <a:r>
              <a:rPr kumimoji="1" lang="en-US" altLang="zh-CN" dirty="0">
                <a:ea typeface="黑体" pitchFamily="2" charset="-122"/>
              </a:rPr>
              <a:t>≥</a:t>
            </a:r>
            <a:r>
              <a:rPr kumimoji="1" lang="el-GR" altLang="zh-CN" sz="2800" i="1" dirty="0">
                <a:ea typeface="黑体" pitchFamily="2" charset="-122"/>
                <a:sym typeface="Symbol" pitchFamily="18" charset="2"/>
              </a:rPr>
              <a:t>λ</a:t>
            </a:r>
            <a:r>
              <a:rPr kumimoji="1" lang="en-US" altLang="zh-CN" sz="2800" dirty="0">
                <a:ea typeface="黑体" pitchFamily="2" charset="-122"/>
              </a:rPr>
              <a:t>,</a:t>
            </a:r>
            <a:r>
              <a:rPr kumimoji="1" lang="en-US" altLang="zh-CN" dirty="0">
                <a:ea typeface="黑体" pitchFamily="2" charset="-122"/>
              </a:rPr>
              <a:t> </a:t>
            </a:r>
            <a:r>
              <a:rPr kumimoji="1" lang="en-US" altLang="zh-CN" sz="2800" i="1" dirty="0">
                <a:ea typeface="黑体" pitchFamily="2" charset="-122"/>
                <a:sym typeface="Symbol" pitchFamily="18" charset="2"/>
              </a:rPr>
              <a:t>R</a:t>
            </a:r>
            <a:r>
              <a:rPr kumimoji="1" lang="en-US" altLang="zh-CN" sz="2800" dirty="0">
                <a:ea typeface="黑体" pitchFamily="2" charset="-122"/>
                <a:sym typeface="Symbol" pitchFamily="18" charset="2"/>
              </a:rPr>
              <a:t>(</a:t>
            </a:r>
            <a:r>
              <a:rPr kumimoji="1" lang="en-US" altLang="zh-CN" sz="2800" i="1" dirty="0">
                <a:ea typeface="黑体" pitchFamily="2" charset="-122"/>
                <a:sym typeface="Symbol" pitchFamily="18" charset="2"/>
              </a:rPr>
              <a:t>v</a:t>
            </a:r>
            <a:r>
              <a:rPr kumimoji="1" lang="en-US" altLang="zh-CN" sz="2800" baseline="-25000" dirty="0">
                <a:ea typeface="黑体" pitchFamily="2" charset="-122"/>
                <a:sym typeface="Symbol" pitchFamily="18" charset="2"/>
              </a:rPr>
              <a:t>0</a:t>
            </a:r>
            <a:r>
              <a:rPr kumimoji="1" lang="en-US" altLang="zh-CN" sz="2800" dirty="0">
                <a:ea typeface="黑体" pitchFamily="2" charset="-122"/>
                <a:sym typeface="Symbol" pitchFamily="18" charset="2"/>
              </a:rPr>
              <a:t>, </a:t>
            </a:r>
            <a:r>
              <a:rPr kumimoji="1" lang="en-US" altLang="zh-CN" sz="2800" i="1" dirty="0">
                <a:ea typeface="黑体" pitchFamily="2" charset="-122"/>
                <a:sym typeface="Symbol" pitchFamily="18" charset="2"/>
              </a:rPr>
              <a:t>w</a:t>
            </a:r>
            <a:r>
              <a:rPr kumimoji="1" lang="en-US" altLang="zh-CN" sz="2800" dirty="0">
                <a:ea typeface="黑体" pitchFamily="2" charset="-122"/>
              </a:rPr>
              <a:t>)</a:t>
            </a:r>
            <a:r>
              <a:rPr kumimoji="1" lang="en-US" altLang="zh-CN" dirty="0">
                <a:ea typeface="黑体" pitchFamily="2" charset="-122"/>
              </a:rPr>
              <a:t>≥</a:t>
            </a:r>
            <a:r>
              <a:rPr kumimoji="1" lang="el-GR" altLang="zh-CN" sz="2800" i="1" dirty="0">
                <a:ea typeface="黑体" pitchFamily="2" charset="-122"/>
                <a:sym typeface="Symbol" pitchFamily="18" charset="2"/>
              </a:rPr>
              <a:t>λ</a:t>
            </a:r>
            <a:endParaRPr kumimoji="1" lang="en-US" altLang="zh-CN" sz="2800" i="1" dirty="0">
              <a:ea typeface="黑体" pitchFamily="2" charset="-122"/>
              <a:sym typeface="Symbol" pitchFamily="18" charset="2"/>
            </a:endParaRPr>
          </a:p>
          <a:p>
            <a:pPr eaLnBrk="1" hangingPunct="1">
              <a:buFont typeface="Wingdings" pitchFamily="2" charset="2"/>
              <a:buNone/>
            </a:pPr>
            <a:r>
              <a:rPr kumimoji="1" lang="en-US" altLang="zh-CN" sz="2800" dirty="0">
                <a:ea typeface="黑体" pitchFamily="2" charset="-122"/>
                <a:sym typeface="Symbol" pitchFamily="18" charset="2"/>
              </a:rPr>
              <a:t>         </a:t>
            </a:r>
            <a:r>
              <a:rPr kumimoji="1" lang="zh-CN" altLang="en-US" sz="2800" dirty="0">
                <a:ea typeface="黑体" pitchFamily="2" charset="-122"/>
                <a:sym typeface="Symbol" pitchFamily="18" charset="2"/>
              </a:rPr>
              <a:t>由</a:t>
            </a:r>
            <a:r>
              <a:rPr kumimoji="1" lang="zh-CN" altLang="en-US" sz="2800" u="sng" dirty="0">
                <a:ea typeface="黑体" pitchFamily="2" charset="-122"/>
                <a:sym typeface="Symbol" pitchFamily="18" charset="2"/>
              </a:rPr>
              <a:t>传递性定义</a:t>
            </a:r>
            <a:r>
              <a:rPr kumimoji="1" lang="zh-CN" altLang="en-US" sz="2800" dirty="0">
                <a:ea typeface="黑体" pitchFamily="2" charset="-122"/>
                <a:sym typeface="Symbol" pitchFamily="18" charset="2"/>
              </a:rPr>
              <a:t>得：</a:t>
            </a:r>
            <a:r>
              <a:rPr kumimoji="1" lang="en-US" altLang="zh-CN" sz="2800" i="1" dirty="0">
                <a:ea typeface="黑体" pitchFamily="2" charset="-122"/>
                <a:sym typeface="Symbol" pitchFamily="18" charset="2"/>
              </a:rPr>
              <a:t>R</a:t>
            </a:r>
            <a:r>
              <a:rPr kumimoji="1" lang="en-US" altLang="zh-CN" sz="2800" dirty="0">
                <a:ea typeface="黑体" pitchFamily="2" charset="-122"/>
                <a:sym typeface="Symbol" pitchFamily="18" charset="2"/>
              </a:rPr>
              <a:t>(</a:t>
            </a:r>
            <a:r>
              <a:rPr kumimoji="1" lang="en-US" altLang="zh-CN" sz="2800" i="1" dirty="0" err="1">
                <a:ea typeface="黑体" pitchFamily="2" charset="-122"/>
                <a:sym typeface="Symbol" pitchFamily="18" charset="2"/>
              </a:rPr>
              <a:t>u</a:t>
            </a:r>
            <a:r>
              <a:rPr kumimoji="1" lang="en-US" altLang="zh-CN" sz="2800" dirty="0" err="1">
                <a:ea typeface="黑体" pitchFamily="2" charset="-122"/>
                <a:sym typeface="Symbol" pitchFamily="18" charset="2"/>
              </a:rPr>
              <a:t>,</a:t>
            </a:r>
            <a:r>
              <a:rPr kumimoji="1" lang="en-US" altLang="zh-CN" sz="2800" i="1" dirty="0" err="1">
                <a:ea typeface="黑体" pitchFamily="2" charset="-122"/>
                <a:sym typeface="Symbol" pitchFamily="18" charset="2"/>
              </a:rPr>
              <a:t>w</a:t>
            </a:r>
            <a:r>
              <a:rPr kumimoji="1" lang="en-US" altLang="zh-CN" sz="2800" dirty="0">
                <a:ea typeface="黑体" pitchFamily="2" charset="-122"/>
              </a:rPr>
              <a:t>) </a:t>
            </a:r>
            <a:r>
              <a:rPr kumimoji="1" lang="en-US" altLang="zh-CN" dirty="0">
                <a:ea typeface="黑体" pitchFamily="2" charset="-122"/>
              </a:rPr>
              <a:t>≥</a:t>
            </a:r>
            <a:r>
              <a:rPr kumimoji="1" lang="el-GR" altLang="zh-CN" sz="2800" i="1" dirty="0">
                <a:ea typeface="黑体" pitchFamily="2" charset="-122"/>
                <a:sym typeface="Symbol" pitchFamily="18" charset="2"/>
              </a:rPr>
              <a:t>λ</a:t>
            </a:r>
            <a:endParaRPr kumimoji="1" lang="en-US" altLang="zh-CN" sz="2800" i="1" dirty="0">
              <a:ea typeface="黑体" pitchFamily="2" charset="-122"/>
              <a:sym typeface="Symbol" pitchFamily="18" charset="2"/>
            </a:endParaRPr>
          </a:p>
          <a:p>
            <a:pPr eaLnBrk="1" hangingPunct="1">
              <a:buFont typeface="Wingdings" pitchFamily="2" charset="2"/>
              <a:buNone/>
            </a:pPr>
            <a:r>
              <a:rPr kumimoji="1" lang="en-US" altLang="zh-CN" sz="2800" dirty="0">
                <a:ea typeface="黑体" pitchFamily="2" charset="-122"/>
                <a:sym typeface="Symbol" pitchFamily="18" charset="2"/>
              </a:rPr>
              <a:t>         </a:t>
            </a:r>
            <a:r>
              <a:rPr kumimoji="1" lang="zh-CN" altLang="en-US" sz="2800" dirty="0">
                <a:ea typeface="黑体" pitchFamily="2" charset="-122"/>
                <a:sym typeface="Symbol" pitchFamily="18" charset="2"/>
              </a:rPr>
              <a:t>从而， </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u</a:t>
            </a:r>
            <a:r>
              <a:rPr kumimoji="1" lang="en-US" altLang="zh-CN" sz="2800" dirty="0">
                <a:solidFill>
                  <a:srgbClr val="FF00FF"/>
                </a:solidFill>
                <a:ea typeface="黑体" pitchFamily="2" charset="-122"/>
                <a:sym typeface="Symbol" pitchFamily="18" charset="2"/>
              </a:rPr>
              <a:t>, </a:t>
            </a:r>
            <a:r>
              <a:rPr kumimoji="1" lang="en-US" altLang="zh-CN" sz="2800" i="1" dirty="0">
                <a:solidFill>
                  <a:srgbClr val="FF00FF"/>
                </a:solidFill>
                <a:ea typeface="黑体" pitchFamily="2" charset="-122"/>
                <a:sym typeface="Symbol" pitchFamily="18" charset="2"/>
              </a:rPr>
              <a:t>w</a:t>
            </a:r>
            <a:r>
              <a:rPr kumimoji="1" lang="en-US" altLang="zh-CN" sz="2800" dirty="0">
                <a:solidFill>
                  <a:srgbClr val="FF00FF"/>
                </a:solidFill>
                <a:ea typeface="黑体" pitchFamily="2" charset="-122"/>
              </a:rPr>
              <a:t>) </a:t>
            </a:r>
            <a:r>
              <a:rPr kumimoji="1" lang="en-US" altLang="zh-CN" dirty="0">
                <a:solidFill>
                  <a:srgbClr val="FF00FF"/>
                </a:solidFill>
                <a:ea typeface="黑体" pitchFamily="2" charset="-122"/>
              </a:rPr>
              <a:t>≥ </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u</a:t>
            </a:r>
            <a:r>
              <a:rPr kumimoji="1" lang="en-US" altLang="zh-CN" sz="2800" dirty="0">
                <a:solidFill>
                  <a:srgbClr val="FF00FF"/>
                </a:solidFill>
                <a:ea typeface="黑体" pitchFamily="2" charset="-122"/>
                <a:sym typeface="Symbol" pitchFamily="18" charset="2"/>
              </a:rPr>
              <a:t>, </a:t>
            </a:r>
            <a:r>
              <a:rPr kumimoji="1" lang="en-US" altLang="zh-CN" sz="2800" i="1" dirty="0">
                <a:solidFill>
                  <a:srgbClr val="FF00FF"/>
                </a:solidFill>
                <a:ea typeface="黑体" pitchFamily="2" charset="-122"/>
                <a:sym typeface="Symbol" pitchFamily="18" charset="2"/>
              </a:rPr>
              <a:t>v</a:t>
            </a:r>
            <a:r>
              <a:rPr kumimoji="1" lang="en-US" altLang="zh-CN" sz="2800" baseline="-25000" dirty="0">
                <a:solidFill>
                  <a:srgbClr val="FF00FF"/>
                </a:solidFill>
                <a:ea typeface="黑体" pitchFamily="2" charset="-122"/>
                <a:sym typeface="Symbol" pitchFamily="18" charset="2"/>
              </a:rPr>
              <a:t>0</a:t>
            </a:r>
            <a:r>
              <a:rPr kumimoji="1" lang="en-US" altLang="zh-CN" sz="2800" dirty="0">
                <a:solidFill>
                  <a:srgbClr val="FF00FF"/>
                </a:solidFill>
                <a:ea typeface="黑体" pitchFamily="2" charset="-122"/>
              </a:rPr>
              <a:t>)</a:t>
            </a:r>
            <a:r>
              <a:rPr kumimoji="1" lang="en-US" altLang="zh-CN" dirty="0">
                <a:solidFill>
                  <a:srgbClr val="FF00FF"/>
                </a:solidFill>
                <a:ea typeface="黑体" pitchFamily="2" charset="-122"/>
                <a:sym typeface="Symbol"/>
              </a:rPr>
              <a:t></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v</a:t>
            </a:r>
            <a:r>
              <a:rPr kumimoji="1" lang="en-US" altLang="zh-CN" sz="2800" baseline="-25000" dirty="0">
                <a:solidFill>
                  <a:srgbClr val="FF00FF"/>
                </a:solidFill>
                <a:ea typeface="黑体" pitchFamily="2" charset="-122"/>
                <a:sym typeface="Symbol" pitchFamily="18" charset="2"/>
              </a:rPr>
              <a:t>0</a:t>
            </a:r>
            <a:r>
              <a:rPr kumimoji="1" lang="en-US" altLang="zh-CN" sz="2800" dirty="0">
                <a:solidFill>
                  <a:srgbClr val="FF00FF"/>
                </a:solidFill>
                <a:ea typeface="黑体" pitchFamily="2" charset="-122"/>
                <a:sym typeface="Symbol" pitchFamily="18" charset="2"/>
              </a:rPr>
              <a:t>, </a:t>
            </a:r>
            <a:r>
              <a:rPr kumimoji="1" lang="en-US" altLang="zh-CN" sz="2800" i="1" dirty="0">
                <a:solidFill>
                  <a:srgbClr val="FF00FF"/>
                </a:solidFill>
                <a:ea typeface="黑体" pitchFamily="2" charset="-122"/>
                <a:sym typeface="Symbol" pitchFamily="18" charset="2"/>
              </a:rPr>
              <a:t>w</a:t>
            </a:r>
            <a:r>
              <a:rPr kumimoji="1" lang="en-US" altLang="zh-CN" sz="2800" dirty="0">
                <a:solidFill>
                  <a:srgbClr val="FF00FF"/>
                </a:solidFill>
                <a:ea typeface="黑体" pitchFamily="2" charset="-122"/>
              </a:rPr>
              <a:t>) </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由于</a:t>
            </a:r>
            <a:r>
              <a:rPr kumimoji="1" lang="en-US" altLang="zh-CN" sz="2800" i="1" dirty="0">
                <a:ea typeface="黑体" pitchFamily="2" charset="-122"/>
                <a:sym typeface="Symbol" pitchFamily="18" charset="2"/>
              </a:rPr>
              <a:t>v</a:t>
            </a:r>
            <a:r>
              <a:rPr kumimoji="1" lang="en-US" altLang="zh-CN" sz="2800" baseline="-25000" dirty="0">
                <a:ea typeface="黑体" pitchFamily="2" charset="-122"/>
                <a:sym typeface="Symbol" pitchFamily="18" charset="2"/>
              </a:rPr>
              <a:t>0</a:t>
            </a:r>
            <a:r>
              <a:rPr kumimoji="1" lang="zh-CN" altLang="en-US" sz="2800" dirty="0">
                <a:ea typeface="黑体" pitchFamily="2" charset="-122"/>
              </a:rPr>
              <a:t>的任意性，有</a:t>
            </a:r>
          </a:p>
          <a:p>
            <a:pPr eaLnBrk="1" hangingPunct="1">
              <a:buFont typeface="Wingdings" pitchFamily="2" charset="2"/>
              <a:buNone/>
            </a:pPr>
            <a:r>
              <a:rPr kumimoji="1" lang="zh-CN" altLang="en-US" sz="2800" dirty="0">
                <a:solidFill>
                  <a:srgbClr val="FF0000"/>
                </a:solidFill>
                <a:ea typeface="黑体" pitchFamily="2" charset="-122"/>
              </a:rPr>
              <a:t>                    </a:t>
            </a:r>
            <a:r>
              <a:rPr kumimoji="1" lang="en-US" altLang="zh-CN" sz="2800" i="1" dirty="0">
                <a:solidFill>
                  <a:srgbClr val="CC00FF"/>
                </a:solidFill>
                <a:ea typeface="黑体" pitchFamily="2" charset="-122"/>
                <a:sym typeface="Symbol" pitchFamily="18" charset="2"/>
              </a:rPr>
              <a:t>R</a:t>
            </a:r>
            <a:r>
              <a:rPr kumimoji="1" lang="en-US" altLang="zh-CN" sz="2800" dirty="0">
                <a:solidFill>
                  <a:srgbClr val="CC00FF"/>
                </a:solidFill>
                <a:ea typeface="黑体" pitchFamily="2" charset="-122"/>
                <a:sym typeface="Symbol" pitchFamily="18" charset="2"/>
              </a:rPr>
              <a:t>(</a:t>
            </a:r>
            <a:r>
              <a:rPr kumimoji="1" lang="en-US" altLang="zh-CN" sz="2800" i="1" dirty="0" err="1">
                <a:solidFill>
                  <a:srgbClr val="CC00FF"/>
                </a:solidFill>
                <a:ea typeface="黑体" pitchFamily="2" charset="-122"/>
                <a:sym typeface="Symbol" pitchFamily="18" charset="2"/>
              </a:rPr>
              <a:t>u</a:t>
            </a:r>
            <a:r>
              <a:rPr kumimoji="1" lang="en-US" altLang="zh-CN" sz="2800" dirty="0" err="1">
                <a:solidFill>
                  <a:srgbClr val="CC00FF"/>
                </a:solidFill>
                <a:ea typeface="黑体" pitchFamily="2" charset="-122"/>
                <a:sym typeface="Symbol" pitchFamily="18" charset="2"/>
              </a:rPr>
              <a:t>,</a:t>
            </a:r>
            <a:r>
              <a:rPr kumimoji="1" lang="en-US" altLang="zh-CN" sz="2800" i="1" dirty="0" err="1">
                <a:solidFill>
                  <a:srgbClr val="CC00FF"/>
                </a:solidFill>
                <a:ea typeface="黑体" pitchFamily="2" charset="-122"/>
                <a:sym typeface="Symbol" pitchFamily="18" charset="2"/>
              </a:rPr>
              <a:t>w</a:t>
            </a:r>
            <a:r>
              <a:rPr kumimoji="1" lang="en-US" altLang="zh-CN" sz="2800" dirty="0">
                <a:solidFill>
                  <a:srgbClr val="CC00FF"/>
                </a:solidFill>
                <a:ea typeface="黑体" pitchFamily="2" charset="-122"/>
              </a:rPr>
              <a:t>) </a:t>
            </a:r>
            <a:r>
              <a:rPr kumimoji="1" lang="en-US" altLang="zh-CN" dirty="0">
                <a:solidFill>
                  <a:srgbClr val="CC00FF"/>
                </a:solidFill>
                <a:ea typeface="黑体" pitchFamily="2" charset="-122"/>
              </a:rPr>
              <a:t>≥</a:t>
            </a:r>
            <a:r>
              <a:rPr kumimoji="1" lang="en-US" altLang="en-US" sz="3600" dirty="0">
                <a:solidFill>
                  <a:srgbClr val="008000"/>
                </a:solidFill>
                <a:ea typeface="黑体" pitchFamily="2" charset="-122"/>
              </a:rPr>
              <a:t>∨</a:t>
            </a:r>
            <a:r>
              <a:rPr kumimoji="1" lang="en-US" altLang="zh-CN" dirty="0">
                <a:solidFill>
                  <a:srgbClr val="CC00FF"/>
                </a:solidFill>
                <a:ea typeface="黑体" pitchFamily="2" charset="-122"/>
              </a:rPr>
              <a:t>(</a:t>
            </a:r>
            <a:r>
              <a:rPr kumimoji="1" lang="en-US" altLang="zh-CN" sz="2800" i="1" dirty="0">
                <a:solidFill>
                  <a:srgbClr val="CC00FF"/>
                </a:solidFill>
                <a:ea typeface="黑体" pitchFamily="2" charset="-122"/>
                <a:sym typeface="Symbol" pitchFamily="18" charset="2"/>
              </a:rPr>
              <a:t>R</a:t>
            </a:r>
            <a:r>
              <a:rPr kumimoji="1" lang="en-US" altLang="zh-CN" sz="2800" dirty="0">
                <a:solidFill>
                  <a:srgbClr val="CC00FF"/>
                </a:solidFill>
                <a:ea typeface="黑体" pitchFamily="2" charset="-122"/>
                <a:sym typeface="Symbol" pitchFamily="18" charset="2"/>
              </a:rPr>
              <a:t>(</a:t>
            </a:r>
            <a:r>
              <a:rPr kumimoji="1" lang="en-US" altLang="zh-CN" sz="2800" i="1" dirty="0">
                <a:solidFill>
                  <a:srgbClr val="CC00FF"/>
                </a:solidFill>
                <a:ea typeface="黑体" pitchFamily="2" charset="-122"/>
                <a:sym typeface="Symbol" pitchFamily="18" charset="2"/>
              </a:rPr>
              <a:t>u</a:t>
            </a:r>
            <a:r>
              <a:rPr kumimoji="1" lang="en-US" altLang="zh-CN" sz="2800" dirty="0">
                <a:solidFill>
                  <a:srgbClr val="CC00FF"/>
                </a:solidFill>
                <a:ea typeface="黑体" pitchFamily="2" charset="-122"/>
                <a:sym typeface="Symbol" pitchFamily="18" charset="2"/>
              </a:rPr>
              <a:t>, </a:t>
            </a:r>
            <a:r>
              <a:rPr kumimoji="1" lang="en-US" altLang="zh-CN" sz="2800" i="1" dirty="0">
                <a:solidFill>
                  <a:srgbClr val="CC00FF"/>
                </a:solidFill>
                <a:ea typeface="黑体" pitchFamily="2" charset="-122"/>
                <a:sym typeface="Symbol" pitchFamily="18" charset="2"/>
              </a:rPr>
              <a:t>v</a:t>
            </a:r>
            <a:r>
              <a:rPr kumimoji="1" lang="en-US" altLang="zh-CN" sz="2800" dirty="0">
                <a:solidFill>
                  <a:srgbClr val="CC00FF"/>
                </a:solidFill>
                <a:ea typeface="黑体" pitchFamily="2" charset="-122"/>
              </a:rPr>
              <a:t>)</a:t>
            </a:r>
            <a:r>
              <a:rPr kumimoji="1" lang="en-US" altLang="zh-CN" dirty="0">
                <a:solidFill>
                  <a:srgbClr val="CC00FF"/>
                </a:solidFill>
                <a:ea typeface="黑体" pitchFamily="2" charset="-122"/>
                <a:sym typeface="Symbol"/>
              </a:rPr>
              <a:t></a:t>
            </a:r>
            <a:r>
              <a:rPr kumimoji="1" lang="en-US" altLang="zh-CN" sz="2800" i="1" dirty="0">
                <a:solidFill>
                  <a:srgbClr val="CC00FF"/>
                </a:solidFill>
                <a:ea typeface="黑体" pitchFamily="2" charset="-122"/>
                <a:sym typeface="Symbol" pitchFamily="18" charset="2"/>
              </a:rPr>
              <a:t>R</a:t>
            </a:r>
            <a:r>
              <a:rPr kumimoji="1" lang="en-US" altLang="zh-CN" sz="2800" dirty="0">
                <a:solidFill>
                  <a:srgbClr val="CC00FF"/>
                </a:solidFill>
                <a:ea typeface="黑体" pitchFamily="2" charset="-122"/>
                <a:sym typeface="Symbol" pitchFamily="18" charset="2"/>
              </a:rPr>
              <a:t>(</a:t>
            </a:r>
            <a:r>
              <a:rPr kumimoji="1" lang="en-US" altLang="zh-CN" sz="2800" i="1" dirty="0" err="1">
                <a:solidFill>
                  <a:srgbClr val="CC00FF"/>
                </a:solidFill>
                <a:ea typeface="黑体" pitchFamily="2" charset="-122"/>
                <a:sym typeface="Symbol" pitchFamily="18" charset="2"/>
              </a:rPr>
              <a:t>v</a:t>
            </a:r>
            <a:r>
              <a:rPr kumimoji="1" lang="en-US" altLang="zh-CN" sz="2800" dirty="0" err="1">
                <a:solidFill>
                  <a:srgbClr val="CC00FF"/>
                </a:solidFill>
                <a:ea typeface="黑体" pitchFamily="2" charset="-122"/>
                <a:sym typeface="Symbol" pitchFamily="18" charset="2"/>
              </a:rPr>
              <a:t>,</a:t>
            </a:r>
            <a:r>
              <a:rPr kumimoji="1" lang="en-US" altLang="zh-CN" sz="2800" i="1" dirty="0" err="1">
                <a:solidFill>
                  <a:srgbClr val="CC00FF"/>
                </a:solidFill>
                <a:ea typeface="黑体" pitchFamily="2" charset="-122"/>
                <a:sym typeface="Symbol" pitchFamily="18" charset="2"/>
              </a:rPr>
              <a:t>w</a:t>
            </a:r>
            <a:r>
              <a:rPr kumimoji="1" lang="en-US" altLang="zh-CN" sz="2800" dirty="0">
                <a:solidFill>
                  <a:srgbClr val="CC00FF"/>
                </a:solidFill>
                <a:ea typeface="黑体" pitchFamily="2" charset="-122"/>
              </a:rPr>
              <a:t>))</a:t>
            </a:r>
            <a:endParaRPr kumimoji="1" lang="en-US" altLang="zh-CN" sz="2800" i="1" dirty="0">
              <a:solidFill>
                <a:srgbClr val="CC00FF"/>
              </a:solidFill>
              <a:ea typeface="黑体" pitchFamily="2" charset="-122"/>
            </a:endParaRP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故   </a:t>
            </a:r>
            <a:r>
              <a:rPr lang="en-US" altLang="zh-CN" sz="2800" i="1" dirty="0">
                <a:solidFill>
                  <a:srgbClr val="EE0006"/>
                </a:solidFill>
                <a:ea typeface="黑体" pitchFamily="2" charset="-122"/>
              </a:rPr>
              <a:t>R </a:t>
            </a:r>
            <a:r>
              <a:rPr lang="en-US" altLang="zh-CN" sz="2800" dirty="0">
                <a:solidFill>
                  <a:srgbClr val="EE0006"/>
                </a:solidFill>
                <a:ea typeface="黑体" pitchFamily="2" charset="-122"/>
                <a:sym typeface="Symbol" pitchFamily="18" charset="2"/>
              </a:rPr>
              <a:t> </a:t>
            </a:r>
            <a:r>
              <a:rPr lang="en-US" altLang="zh-CN" sz="2800" i="1" dirty="0">
                <a:solidFill>
                  <a:srgbClr val="EE0006"/>
                </a:solidFill>
                <a:ea typeface="黑体" pitchFamily="2" charset="-122"/>
              </a:rPr>
              <a:t>R</a:t>
            </a:r>
            <a:r>
              <a:rPr lang="en-US" altLang="zh-CN" sz="2800" dirty="0">
                <a:solidFill>
                  <a:srgbClr val="EE0006"/>
                </a:solidFill>
                <a:ea typeface="黑体" pitchFamily="2" charset="-122"/>
              </a:rPr>
              <a:t> </a:t>
            </a:r>
            <a:r>
              <a:rPr lang="en-US" altLang="zh-CN" sz="2800" b="1" dirty="0">
                <a:solidFill>
                  <a:srgbClr val="EE0006"/>
                </a:solidFill>
              </a:rPr>
              <a:t>◦</a:t>
            </a:r>
            <a:r>
              <a:rPr kumimoji="1" lang="en-US" altLang="zh-CN" dirty="0">
                <a:solidFill>
                  <a:srgbClr val="EE0006"/>
                </a:solidFill>
                <a:ea typeface="黑体" pitchFamily="2" charset="-122"/>
              </a:rPr>
              <a:t> </a:t>
            </a:r>
            <a:r>
              <a:rPr lang="en-US" altLang="zh-CN" sz="2800" i="1" dirty="0">
                <a:solidFill>
                  <a:srgbClr val="EE0006"/>
                </a:solidFill>
                <a:ea typeface="黑体" pitchFamily="2" charset="-122"/>
              </a:rPr>
              <a:t>R </a:t>
            </a:r>
            <a:r>
              <a:rPr lang="en-US" altLang="zh-CN" sz="2800" dirty="0">
                <a:solidFill>
                  <a:srgbClr val="EE0006"/>
                </a:solidFill>
                <a:ea typeface="黑体" pitchFamily="2" charset="-122"/>
              </a:rPr>
              <a:t>=</a:t>
            </a:r>
            <a:r>
              <a:rPr lang="en-US" altLang="zh-CN" sz="2800" i="1" dirty="0">
                <a:solidFill>
                  <a:srgbClr val="EE0006"/>
                </a:solidFill>
                <a:ea typeface="黑体" pitchFamily="2" charset="-122"/>
              </a:rPr>
              <a:t>R</a:t>
            </a:r>
            <a:r>
              <a:rPr lang="en-US" altLang="zh-CN" sz="2800" baseline="30000" dirty="0">
                <a:solidFill>
                  <a:srgbClr val="EE0006"/>
                </a:solidFill>
                <a:ea typeface="黑体" pitchFamily="2" charset="-122"/>
              </a:rPr>
              <a:t>2</a:t>
            </a:r>
          </a:p>
        </p:txBody>
      </p:sp>
      <p:sp>
        <p:nvSpPr>
          <p:cNvPr id="2" name="矩形标注 1"/>
          <p:cNvSpPr/>
          <p:nvPr/>
        </p:nvSpPr>
        <p:spPr>
          <a:xfrm>
            <a:off x="7752184" y="1412876"/>
            <a:ext cx="4420047" cy="2160140"/>
          </a:xfrm>
          <a:prstGeom prst="wedgeRectCallout">
            <a:avLst>
              <a:gd name="adj1" fmla="val -20833"/>
              <a:gd name="adj2" fmla="val 47232"/>
            </a:avLst>
          </a:prstGeom>
          <a:solidFill>
            <a:srgbClr val="66FFFF"/>
          </a:solidFill>
          <a:ln>
            <a:solidFill>
              <a:schemeClr val="bg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0000"/>
              </a:lnSpc>
              <a:defRPr/>
            </a:pPr>
            <a:r>
              <a:rPr kumimoji="1" lang="zh-CN" altLang="en-US" sz="2800" b="1" dirty="0">
                <a:solidFill>
                  <a:schemeClr val="tx1"/>
                </a:solidFill>
                <a:latin typeface="华文楷体" pitchFamily="2" charset="-122"/>
                <a:ea typeface="华文楷体" pitchFamily="2" charset="-122"/>
              </a:rPr>
              <a:t>对 </a:t>
            </a:r>
            <a:r>
              <a:rPr kumimoji="1" lang="zh-CN" altLang="en-US" sz="2800" b="1" dirty="0">
                <a:solidFill>
                  <a:schemeClr val="tx1"/>
                </a:solidFill>
                <a:ea typeface="黑体" pitchFamily="2" charset="-122"/>
                <a:sym typeface="Symbol" pitchFamily="18" charset="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 </a:t>
            </a:r>
            <a:r>
              <a:rPr kumimoji="1" lang="en-US" altLang="en-US" sz="2800" dirty="0">
                <a:solidFill>
                  <a:schemeClr val="tx1"/>
                </a:solidFill>
                <a:ea typeface="黑体" pitchFamily="2" charset="-122"/>
              </a:rPr>
              <a:t>∈</a:t>
            </a:r>
            <a:r>
              <a:rPr kumimoji="1" lang="en-US" altLang="zh-CN" sz="2800" dirty="0">
                <a:solidFill>
                  <a:schemeClr val="tx1"/>
                </a:solidFill>
                <a:ea typeface="黑体" pitchFamily="2" charset="-122"/>
              </a:rPr>
              <a:t>[0,1]</a:t>
            </a:r>
          </a:p>
          <a:p>
            <a:pPr>
              <a:lnSpc>
                <a:spcPct val="120000"/>
              </a:lnSpc>
              <a:buFont typeface="Wingdings" pitchFamily="2" charset="2"/>
              <a:buNone/>
              <a:defRPr/>
            </a:pPr>
            <a:r>
              <a:rPr kumimoji="1" lang="zh-CN" altLang="en-US" sz="2800" b="1" dirty="0">
                <a:solidFill>
                  <a:schemeClr val="tx1"/>
                </a:solidFill>
                <a:ea typeface="华文楷体" pitchFamily="2" charset="-122"/>
              </a:rPr>
              <a:t>若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u,v</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zh-CN" altLang="en-US" sz="2800" b="1" dirty="0">
                <a:solidFill>
                  <a:schemeClr val="tx1"/>
                </a:solidFill>
                <a:ea typeface="华文楷体" pitchFamily="2" charset="-122"/>
                <a:sym typeface="Symbol" pitchFamily="18" charset="2"/>
              </a:rPr>
              <a:t>且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v,w</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en-US" altLang="zh-CN" sz="2800" b="1" dirty="0">
                <a:solidFill>
                  <a:schemeClr val="tx1"/>
                </a:solidFill>
                <a:ea typeface="华文楷体" pitchFamily="2" charset="-122"/>
                <a:sym typeface="Symbol" pitchFamily="18" charset="2"/>
              </a:rPr>
              <a:t>  </a:t>
            </a:r>
          </a:p>
          <a:p>
            <a:pPr>
              <a:lnSpc>
                <a:spcPct val="120000"/>
              </a:lnSpc>
              <a:buFont typeface="Wingdings" pitchFamily="2" charset="2"/>
              <a:buNone/>
              <a:defRPr/>
            </a:pPr>
            <a:r>
              <a:rPr kumimoji="1" lang="zh-CN" altLang="en-US" sz="2800" b="1" dirty="0">
                <a:solidFill>
                  <a:schemeClr val="tx1"/>
                </a:solidFill>
                <a:ea typeface="华文楷体" pitchFamily="2" charset="-122"/>
                <a:sym typeface="Symbol" pitchFamily="18" charset="2"/>
              </a:rPr>
              <a:t>则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u,w</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endParaRPr kumimoji="1" lang="en-US" altLang="zh-CN" sz="2800" b="1" dirty="0">
              <a:solidFill>
                <a:schemeClr val="tx1"/>
              </a:solidFill>
              <a:ea typeface="华文楷体" pitchFamily="2" charset="-122"/>
              <a:sym typeface="Symbol" pitchFamily="18" charset="2"/>
            </a:endParaRPr>
          </a:p>
          <a:p>
            <a:pPr>
              <a:lnSpc>
                <a:spcPct val="120000"/>
              </a:lnSpc>
              <a:buFont typeface="Wingdings" pitchFamily="2" charset="2"/>
              <a:buNone/>
              <a:defRPr/>
            </a:pPr>
            <a:r>
              <a:rPr kumimoji="1" lang="zh-CN" altLang="en-US" sz="2800" b="1" dirty="0">
                <a:solidFill>
                  <a:schemeClr val="tx1"/>
                </a:solidFill>
                <a:ea typeface="华文楷体" pitchFamily="2" charset="-122"/>
                <a:sym typeface="Symbol" pitchFamily="18" charset="2"/>
              </a:rPr>
              <a:t>那么称</a:t>
            </a:r>
            <a:r>
              <a:rPr kumimoji="1" lang="en-US" altLang="zh-CN" sz="2800" b="1" dirty="0">
                <a:solidFill>
                  <a:srgbClr val="EE0006"/>
                </a:solidFill>
                <a:ea typeface="华文楷体" pitchFamily="2" charset="-122"/>
                <a:sym typeface="Symbol" pitchFamily="18" charset="2"/>
              </a:rPr>
              <a:t>R</a:t>
            </a:r>
            <a:r>
              <a:rPr kumimoji="1" lang="zh-CN" altLang="en-US" sz="2800" b="1" dirty="0">
                <a:solidFill>
                  <a:srgbClr val="EE0006"/>
                </a:solidFill>
                <a:ea typeface="华文楷体" pitchFamily="2" charset="-122"/>
                <a:sym typeface="Symbol" pitchFamily="18" charset="2"/>
              </a:rPr>
              <a:t>是传递</a:t>
            </a:r>
            <a:r>
              <a:rPr kumimoji="1" lang="en-US" altLang="zh-CN" sz="2800" b="1" dirty="0">
                <a:solidFill>
                  <a:srgbClr val="EE0006"/>
                </a:solidFill>
                <a:ea typeface="华文楷体" pitchFamily="2" charset="-122"/>
                <a:sym typeface="Symbol" pitchFamily="18" charset="2"/>
              </a:rPr>
              <a:t>F</a:t>
            </a:r>
            <a:r>
              <a:rPr kumimoji="1" lang="zh-CN" altLang="en-US" sz="2800" b="1" dirty="0">
                <a:solidFill>
                  <a:srgbClr val="EE0006"/>
                </a:solidFill>
                <a:ea typeface="华文楷体" pitchFamily="2" charset="-122"/>
                <a:sym typeface="Symbol" pitchFamily="18" charset="2"/>
              </a:rPr>
              <a:t>关系</a:t>
            </a:r>
            <a:r>
              <a:rPr kumimoji="1" lang="zh-CN" altLang="en-US" sz="2000" b="1" dirty="0">
                <a:solidFill>
                  <a:schemeClr val="tx1"/>
                </a:solidFill>
                <a:ea typeface="华文楷体" pitchFamily="2" charset="-122"/>
                <a:sym typeface="Symbol" pitchFamily="18" charset="2"/>
              </a:rPr>
              <a:t>。</a:t>
            </a:r>
            <a:endParaRPr lang="zh-CN" altLang="en-US" sz="2000" b="1" dirty="0">
              <a:solidFill>
                <a:schemeClr val="tx1"/>
              </a:solidFill>
              <a:ea typeface="华文楷体" pitchFamily="2" charset="-122"/>
            </a:endParaRPr>
          </a:p>
        </p:txBody>
      </p:sp>
      <p:sp>
        <p:nvSpPr>
          <p:cNvPr id="4" name="文本框 3">
            <a:extLst>
              <a:ext uri="{FF2B5EF4-FFF2-40B4-BE49-F238E27FC236}">
                <a16:creationId xmlns:a16="http://schemas.microsoft.com/office/drawing/2014/main" id="{859E29F7-0775-82A1-27CE-022742ACDC51}"/>
              </a:ext>
            </a:extLst>
          </p:cNvPr>
          <p:cNvSpPr txBox="1"/>
          <p:nvPr/>
        </p:nvSpPr>
        <p:spPr>
          <a:xfrm>
            <a:off x="7752184" y="5642084"/>
            <a:ext cx="1709936" cy="523220"/>
          </a:xfrm>
          <a:prstGeom prst="rect">
            <a:avLst/>
          </a:prstGeom>
          <a:noFill/>
        </p:spPr>
        <p:txBody>
          <a:bodyPr wrap="square">
            <a:spAutoFit/>
          </a:bodyPr>
          <a:lstStyle/>
          <a:p>
            <a:r>
              <a:rPr kumimoji="1" lang="en-US" altLang="zh-CN" sz="2800" dirty="0">
                <a:solidFill>
                  <a:srgbClr val="057939"/>
                </a:solidFill>
                <a:ea typeface="黑体" pitchFamily="2" charset="-122"/>
              </a:rPr>
              <a:t>=</a:t>
            </a:r>
            <a:r>
              <a:rPr lang="en-US" altLang="zh-CN" sz="2800" dirty="0">
                <a:solidFill>
                  <a:srgbClr val="057939"/>
                </a:solidFill>
                <a:ea typeface="黑体" pitchFamily="2" charset="-122"/>
              </a:rPr>
              <a:t> </a:t>
            </a:r>
            <a:r>
              <a:rPr lang="en-US" altLang="zh-CN" sz="2800" i="1" dirty="0">
                <a:solidFill>
                  <a:srgbClr val="057939"/>
                </a:solidFill>
                <a:ea typeface="黑体" pitchFamily="2" charset="-122"/>
              </a:rPr>
              <a:t>R</a:t>
            </a:r>
            <a:r>
              <a:rPr lang="en-US" altLang="zh-CN" sz="2800" b="1" dirty="0">
                <a:solidFill>
                  <a:srgbClr val="057939"/>
                </a:solidFill>
              </a:rPr>
              <a:t>◦</a:t>
            </a:r>
            <a:r>
              <a:rPr lang="en-US" altLang="zh-CN" sz="2800" i="1" dirty="0">
                <a:solidFill>
                  <a:srgbClr val="057939"/>
                </a:solidFill>
                <a:ea typeface="黑体" pitchFamily="2" charset="-122"/>
              </a:rPr>
              <a:t>R</a:t>
            </a:r>
            <a:endParaRPr lang="zh-CN" altLang="en-US" sz="2800" dirty="0"/>
          </a:p>
        </p:txBody>
      </p:sp>
      <p:sp>
        <p:nvSpPr>
          <p:cNvPr id="3" name="灯片编号占位符 2">
            <a:extLst>
              <a:ext uri="{FF2B5EF4-FFF2-40B4-BE49-F238E27FC236}">
                <a16:creationId xmlns:a16="http://schemas.microsoft.com/office/drawing/2014/main" id="{2F3B84C2-E0E8-385A-0059-82FD775AA9B4}"/>
              </a:ext>
            </a:extLst>
          </p:cNvPr>
          <p:cNvSpPr>
            <a:spLocks noGrp="1"/>
          </p:cNvSpPr>
          <p:nvPr>
            <p:ph type="sldNum" sz="quarter" idx="11"/>
          </p:nvPr>
        </p:nvSpPr>
        <p:spPr/>
        <p:txBody>
          <a:bodyPr/>
          <a:lstStyle/>
          <a:p>
            <a:pPr>
              <a:defRPr/>
            </a:pPr>
            <a:fld id="{F13753BC-CAEF-4333-AC48-2805658F6E3F}" type="slidenum">
              <a:rPr lang="en-US" altLang="zh-CN" smtClean="0"/>
              <a:pPr>
                <a:defRPr/>
              </a:pPr>
              <a:t>9</a:t>
            </a:fld>
            <a:endParaRPr lang="en-US" altLang="zh-CN" dirty="0"/>
          </a:p>
        </p:txBody>
      </p:sp>
    </p:spTree>
    <p:extLst>
      <p:ext uri="{BB962C8B-B14F-4D97-AF65-F5344CB8AC3E}">
        <p14:creationId xmlns:p14="http://schemas.microsoft.com/office/powerpoint/2010/main" val="42102066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wipe(left)">
                                      <p:cBhvr>
                                        <p:cTn id="7" dur="500"/>
                                        <p:tgtEl>
                                          <p:spTgt spid="138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wipe(left)">
                                      <p:cBhvr>
                                        <p:cTn id="12" dur="500"/>
                                        <p:tgtEl>
                                          <p:spTgt spid="138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243">
                                            <p:txEl>
                                              <p:pRg st="2" end="2"/>
                                            </p:txEl>
                                          </p:spTgt>
                                        </p:tgtEl>
                                        <p:attrNameLst>
                                          <p:attrName>style.visibility</p:attrName>
                                        </p:attrNameLst>
                                      </p:cBhvr>
                                      <p:to>
                                        <p:strVal val="visible"/>
                                      </p:to>
                                    </p:set>
                                    <p:animEffect transition="in" filter="wipe(left)">
                                      <p:cBhvr>
                                        <p:cTn id="17" dur="500"/>
                                        <p:tgtEl>
                                          <p:spTgt spid="138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43">
                                            <p:txEl>
                                              <p:pRg st="3" end="3"/>
                                            </p:txEl>
                                          </p:spTgt>
                                        </p:tgtEl>
                                        <p:attrNameLst>
                                          <p:attrName>style.visibility</p:attrName>
                                        </p:attrNameLst>
                                      </p:cBhvr>
                                      <p:to>
                                        <p:strVal val="visible"/>
                                      </p:to>
                                    </p:set>
                                    <p:animEffect transition="in" filter="wipe(left)">
                                      <p:cBhvr>
                                        <p:cTn id="22" dur="500"/>
                                        <p:tgtEl>
                                          <p:spTgt spid="138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8243">
                                            <p:txEl>
                                              <p:pRg st="4" end="4"/>
                                            </p:txEl>
                                          </p:spTgt>
                                        </p:tgtEl>
                                        <p:attrNameLst>
                                          <p:attrName>style.visibility</p:attrName>
                                        </p:attrNameLst>
                                      </p:cBhvr>
                                      <p:to>
                                        <p:strVal val="visible"/>
                                      </p:to>
                                    </p:set>
                                    <p:animEffect transition="in" filter="wipe(left)">
                                      <p:cBhvr>
                                        <p:cTn id="33" dur="500"/>
                                        <p:tgtEl>
                                          <p:spTgt spid="138243">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8243">
                                            <p:txEl>
                                              <p:pRg st="5" end="5"/>
                                            </p:txEl>
                                          </p:spTgt>
                                        </p:tgtEl>
                                        <p:attrNameLst>
                                          <p:attrName>style.visibility</p:attrName>
                                        </p:attrNameLst>
                                      </p:cBhvr>
                                      <p:to>
                                        <p:strVal val="visible"/>
                                      </p:to>
                                    </p:set>
                                    <p:animEffect transition="in" filter="wipe(left)">
                                      <p:cBhvr>
                                        <p:cTn id="38" dur="500"/>
                                        <p:tgtEl>
                                          <p:spTgt spid="138243">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8243">
                                            <p:txEl>
                                              <p:pRg st="6" end="6"/>
                                            </p:txEl>
                                          </p:spTgt>
                                        </p:tgtEl>
                                        <p:attrNameLst>
                                          <p:attrName>style.visibility</p:attrName>
                                        </p:attrNameLst>
                                      </p:cBhvr>
                                      <p:to>
                                        <p:strVal val="visible"/>
                                      </p:to>
                                    </p:set>
                                    <p:animEffect transition="in" filter="wipe(left)">
                                      <p:cBhvr>
                                        <p:cTn id="43" dur="500"/>
                                        <p:tgtEl>
                                          <p:spTgt spid="138243">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8243">
                                            <p:txEl>
                                              <p:pRg st="7" end="7"/>
                                            </p:txEl>
                                          </p:spTgt>
                                        </p:tgtEl>
                                        <p:attrNameLst>
                                          <p:attrName>style.visibility</p:attrName>
                                        </p:attrNameLst>
                                      </p:cBhvr>
                                      <p:to>
                                        <p:strVal val="visible"/>
                                      </p:to>
                                    </p:set>
                                    <p:animEffect transition="in" filter="wipe(left)">
                                      <p:cBhvr>
                                        <p:cTn id="48" dur="500"/>
                                        <p:tgtEl>
                                          <p:spTgt spid="13824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500"/>
                                        <p:tgtEl>
                                          <p:spTgt spid="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38243">
                                            <p:txEl>
                                              <p:pRg st="8" end="8"/>
                                            </p:txEl>
                                          </p:spTgt>
                                        </p:tgtEl>
                                        <p:attrNameLst>
                                          <p:attrName>style.visibility</p:attrName>
                                        </p:attrNameLst>
                                      </p:cBhvr>
                                      <p:to>
                                        <p:strVal val="visible"/>
                                      </p:to>
                                    </p:set>
                                    <p:animEffect transition="in" filter="wipe(left)">
                                      <p:cBhvr>
                                        <p:cTn id="58" dur="500"/>
                                        <p:tgtEl>
                                          <p:spTgt spid="1382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uiExpand="1" build="p"/>
      <p:bldP spid="2" grpId="0" uiExpand="1"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524001" y="457201"/>
            <a:ext cx="8964613" cy="811213"/>
          </a:xfrm>
        </p:spPr>
        <p:txBody>
          <a:bodyPr/>
          <a:lstStyle/>
          <a:p>
            <a:pPr eaLnBrk="1" hangingPunct="1"/>
            <a:r>
              <a:rPr lang="en-US" altLang="zh-CN" sz="3600" dirty="0">
                <a:solidFill>
                  <a:srgbClr val="057939"/>
                </a:solidFill>
                <a:ea typeface="黑体" pitchFamily="2" charset="-122"/>
              </a:rPr>
              <a:t>[</a:t>
            </a:r>
            <a:r>
              <a:rPr lang="zh-CN" altLang="en-US" sz="3600" dirty="0">
                <a:solidFill>
                  <a:srgbClr val="057939"/>
                </a:solidFill>
                <a:ea typeface="黑体" pitchFamily="2" charset="-122"/>
              </a:rPr>
              <a:t>定理</a:t>
            </a:r>
            <a:r>
              <a:rPr lang="en-US" altLang="zh-CN" sz="3600" dirty="0">
                <a:solidFill>
                  <a:srgbClr val="057939"/>
                </a:solidFill>
                <a:ea typeface="黑体" pitchFamily="2" charset="-122"/>
              </a:rPr>
              <a:t>1]</a:t>
            </a:r>
            <a:r>
              <a:rPr lang="en-US" altLang="zh-CN" sz="3600" i="1" dirty="0">
                <a:solidFill>
                  <a:srgbClr val="057939"/>
                </a:solidFill>
                <a:ea typeface="黑体" pitchFamily="2" charset="-122"/>
              </a:rPr>
              <a:t>R</a:t>
            </a:r>
            <a:r>
              <a:rPr lang="zh-CN" altLang="en-US" sz="3600" dirty="0">
                <a:solidFill>
                  <a:srgbClr val="057939"/>
                </a:solidFill>
                <a:ea typeface="黑体" pitchFamily="2" charset="-122"/>
              </a:rPr>
              <a:t>是传递的</a:t>
            </a:r>
            <a:r>
              <a:rPr lang="en-US" altLang="zh-CN" sz="3600" dirty="0">
                <a:solidFill>
                  <a:srgbClr val="057939"/>
                </a:solidFill>
                <a:ea typeface="黑体" pitchFamily="2" charset="-122"/>
              </a:rPr>
              <a:t>F</a:t>
            </a:r>
            <a:r>
              <a:rPr lang="zh-CN" altLang="en-US" sz="3600" dirty="0">
                <a:solidFill>
                  <a:srgbClr val="057939"/>
                </a:solidFill>
                <a:ea typeface="黑体" pitchFamily="2" charset="-122"/>
              </a:rPr>
              <a:t>关系的</a:t>
            </a:r>
            <a:r>
              <a:rPr lang="zh-CN" altLang="en-US" sz="3600" u="sng" dirty="0">
                <a:solidFill>
                  <a:srgbClr val="057939"/>
                </a:solidFill>
                <a:ea typeface="黑体" pitchFamily="2" charset="-122"/>
              </a:rPr>
              <a:t>充要条件</a:t>
            </a:r>
            <a:r>
              <a:rPr lang="zh-CN" altLang="en-US" sz="3600" dirty="0">
                <a:solidFill>
                  <a:srgbClr val="057939"/>
                </a:solidFill>
                <a:ea typeface="黑体" pitchFamily="2" charset="-122"/>
              </a:rPr>
              <a:t>是</a:t>
            </a:r>
            <a:r>
              <a:rPr lang="en-US" altLang="zh-CN" sz="3600" i="1" dirty="0">
                <a:solidFill>
                  <a:srgbClr val="057939"/>
                </a:solidFill>
                <a:ea typeface="黑体" pitchFamily="2" charset="-122"/>
              </a:rPr>
              <a:t>R</a:t>
            </a:r>
            <a:r>
              <a:rPr lang="en-US" altLang="zh-CN" sz="3600" dirty="0">
                <a:solidFill>
                  <a:srgbClr val="057939"/>
                </a:solidFill>
                <a:ea typeface="黑体" pitchFamily="2" charset="-122"/>
                <a:sym typeface="Symbol" pitchFamily="18" charset="2"/>
              </a:rPr>
              <a:t></a:t>
            </a:r>
            <a:r>
              <a:rPr lang="en-US" altLang="zh-CN" sz="3600" i="1" dirty="0">
                <a:solidFill>
                  <a:srgbClr val="057939"/>
                </a:solidFill>
                <a:ea typeface="黑体" pitchFamily="2" charset="-122"/>
              </a:rPr>
              <a:t>R</a:t>
            </a:r>
            <a:r>
              <a:rPr lang="en-US" altLang="zh-CN" sz="3600" baseline="30000" dirty="0">
                <a:solidFill>
                  <a:srgbClr val="057939"/>
                </a:solidFill>
                <a:ea typeface="黑体" pitchFamily="2" charset="-122"/>
              </a:rPr>
              <a:t>2</a:t>
            </a:r>
          </a:p>
        </p:txBody>
      </p:sp>
      <p:sp>
        <p:nvSpPr>
          <p:cNvPr id="139267" name="Rectangle 3"/>
          <p:cNvSpPr>
            <a:spLocks noGrp="1" noChangeArrowheads="1"/>
          </p:cNvSpPr>
          <p:nvPr>
            <p:ph type="body" idx="1"/>
          </p:nvPr>
        </p:nvSpPr>
        <p:spPr>
          <a:xfrm>
            <a:off x="1308101" y="1557338"/>
            <a:ext cx="8964613" cy="5256212"/>
          </a:xfrm>
        </p:spPr>
        <p:txBody>
          <a:bodyPr/>
          <a:lstStyle/>
          <a:p>
            <a:pPr eaLnBrk="1" hangingPunct="1">
              <a:buNone/>
            </a:pPr>
            <a:r>
              <a:rPr lang="zh-CN" altLang="en-US" dirty="0">
                <a:solidFill>
                  <a:srgbClr val="EE0006"/>
                </a:solidFill>
                <a:latin typeface="Times New Roman" pitchFamily="18" charset="0"/>
                <a:ea typeface="黑体" pitchFamily="2" charset="-122"/>
              </a:rPr>
              <a:t>证：充分性</a:t>
            </a:r>
            <a:r>
              <a:rPr lang="en-US" altLang="zh-CN" dirty="0">
                <a:solidFill>
                  <a:srgbClr val="EE0006"/>
                </a:solidFill>
                <a:ea typeface="黑体" pitchFamily="2" charset="-122"/>
              </a:rPr>
              <a:t>(</a:t>
            </a:r>
            <a:r>
              <a:rPr lang="en-US" altLang="zh-CN" dirty="0">
                <a:solidFill>
                  <a:srgbClr val="EE0006"/>
                </a:solidFill>
                <a:ea typeface="黑体" pitchFamily="2" charset="-122"/>
                <a:sym typeface="Symbol"/>
              </a:rPr>
              <a:t></a:t>
            </a:r>
            <a:r>
              <a:rPr lang="en-US" altLang="zh-CN" dirty="0">
                <a:solidFill>
                  <a:srgbClr val="EE0006"/>
                </a:solidFill>
                <a:ea typeface="黑体" pitchFamily="2" charset="-122"/>
              </a:rPr>
              <a:t>)</a:t>
            </a:r>
            <a:endParaRPr lang="zh-CN" altLang="en-US" dirty="0">
              <a:solidFill>
                <a:srgbClr val="EE0006"/>
              </a:solidFill>
              <a:latin typeface="Times New Roman" pitchFamily="18" charset="0"/>
              <a:ea typeface="黑体" pitchFamily="2" charset="-122"/>
            </a:endParaRPr>
          </a:p>
          <a:p>
            <a:pPr eaLnBrk="1" hangingPunct="1">
              <a:buFont typeface="Wingdings" pitchFamily="2" charset="2"/>
              <a:buNone/>
            </a:pPr>
            <a:r>
              <a:rPr lang="zh-CN" altLang="en-US" sz="2800" dirty="0">
                <a:ea typeface="黑体" pitchFamily="2" charset="-122"/>
              </a:rPr>
              <a:t>       由</a:t>
            </a:r>
            <a:r>
              <a:rPr lang="en-US" altLang="zh-CN" sz="2800" i="1" dirty="0">
                <a:ea typeface="黑体" pitchFamily="2" charset="-122"/>
              </a:rPr>
              <a:t>R </a:t>
            </a:r>
            <a:r>
              <a:rPr lang="en-US" altLang="zh-CN" sz="2800" b="1" dirty="0">
                <a:ea typeface="黑体" pitchFamily="2" charset="-122"/>
                <a:sym typeface="Symbol" pitchFamily="18" charset="2"/>
              </a:rPr>
              <a:t></a:t>
            </a:r>
            <a:r>
              <a:rPr lang="en-US" altLang="zh-CN" sz="2800" dirty="0">
                <a:ea typeface="黑体" pitchFamily="2" charset="-122"/>
                <a:sym typeface="Symbol" pitchFamily="18" charset="2"/>
              </a:rPr>
              <a:t> </a:t>
            </a:r>
            <a:r>
              <a:rPr lang="en-US" altLang="zh-CN" sz="2800" i="1" dirty="0">
                <a:ea typeface="黑体" pitchFamily="2" charset="-122"/>
              </a:rPr>
              <a:t>R </a:t>
            </a:r>
            <a:r>
              <a:rPr lang="en-US" altLang="zh-CN" sz="2800" b="1" dirty="0"/>
              <a:t>◦</a:t>
            </a:r>
            <a:r>
              <a:rPr kumimoji="1" lang="en-US" altLang="zh-CN" sz="2800" i="1" dirty="0">
                <a:ea typeface="黑体" pitchFamily="2" charset="-122"/>
              </a:rPr>
              <a:t> </a:t>
            </a:r>
            <a:r>
              <a:rPr lang="en-US" altLang="zh-CN" sz="2800" i="1" dirty="0">
                <a:ea typeface="黑体" pitchFamily="2" charset="-122"/>
              </a:rPr>
              <a:t>R</a:t>
            </a:r>
            <a:r>
              <a:rPr lang="zh-CN" altLang="en-US" sz="2800" dirty="0">
                <a:ea typeface="黑体" pitchFamily="2" charset="-122"/>
              </a:rPr>
              <a:t>，得</a:t>
            </a:r>
          </a:p>
          <a:p>
            <a:pPr eaLnBrk="1" hangingPunct="1">
              <a:buFont typeface="Wingdings" pitchFamily="2" charset="2"/>
              <a:buNone/>
            </a:pPr>
            <a:r>
              <a:rPr lang="zh-CN" altLang="en-US" sz="2800" dirty="0">
                <a:ea typeface="黑体" pitchFamily="2" charset="-122"/>
              </a:rPr>
              <a:t>       </a:t>
            </a:r>
            <a:r>
              <a:rPr kumimoji="1" lang="zh-CN" altLang="en-US" sz="2800" dirty="0">
                <a:ea typeface="黑体" pitchFamily="2" charset="-122"/>
              </a:rPr>
              <a:t>            </a:t>
            </a:r>
            <a:r>
              <a:rPr kumimoji="1" lang="en-US" altLang="zh-CN" sz="2800" i="1" dirty="0">
                <a:solidFill>
                  <a:srgbClr val="3333FF"/>
                </a:solidFill>
                <a:ea typeface="黑体" pitchFamily="2" charset="-122"/>
                <a:cs typeface="Arial" charset="0"/>
                <a:sym typeface="Symbol" pitchFamily="18" charset="2"/>
              </a:rPr>
              <a:t>R</a:t>
            </a:r>
            <a:r>
              <a:rPr kumimoji="1" lang="en-US" altLang="zh-CN" sz="2800" dirty="0">
                <a:solidFill>
                  <a:srgbClr val="3333FF"/>
                </a:solidFill>
                <a:ea typeface="黑体" pitchFamily="2" charset="-122"/>
                <a:cs typeface="Arial" charset="0"/>
                <a:sym typeface="Symbol" pitchFamily="18" charset="2"/>
              </a:rPr>
              <a:t>(</a:t>
            </a:r>
            <a:r>
              <a:rPr kumimoji="1" lang="en-US" altLang="zh-CN" sz="2800" i="1" dirty="0">
                <a:solidFill>
                  <a:srgbClr val="3333FF"/>
                </a:solidFill>
                <a:ea typeface="黑体" pitchFamily="2" charset="-122"/>
                <a:cs typeface="Arial" charset="0"/>
                <a:sym typeface="Symbol" pitchFamily="18" charset="2"/>
              </a:rPr>
              <a:t>u</a:t>
            </a:r>
            <a:r>
              <a:rPr kumimoji="1" lang="en-US" altLang="zh-CN" sz="2800" dirty="0">
                <a:solidFill>
                  <a:srgbClr val="3333FF"/>
                </a:solidFill>
                <a:ea typeface="黑体" pitchFamily="2" charset="-122"/>
                <a:cs typeface="Arial" charset="0"/>
                <a:sym typeface="Symbol" pitchFamily="18" charset="2"/>
              </a:rPr>
              <a:t>,</a:t>
            </a:r>
            <a:r>
              <a:rPr kumimoji="1" lang="en-US" altLang="zh-CN" sz="2800" i="1" dirty="0">
                <a:solidFill>
                  <a:srgbClr val="3333FF"/>
                </a:solidFill>
                <a:ea typeface="黑体" pitchFamily="2" charset="-122"/>
                <a:cs typeface="Arial" charset="0"/>
                <a:sym typeface="Symbol" pitchFamily="18" charset="2"/>
              </a:rPr>
              <a:t> w</a:t>
            </a:r>
            <a:r>
              <a:rPr kumimoji="1" lang="en-US" altLang="zh-CN" sz="2800" dirty="0">
                <a:solidFill>
                  <a:srgbClr val="3333FF"/>
                </a:solidFill>
                <a:ea typeface="黑体" pitchFamily="2" charset="-122"/>
                <a:cs typeface="Arial" charset="0"/>
              </a:rPr>
              <a:t>) </a:t>
            </a:r>
            <a:r>
              <a:rPr kumimoji="1" lang="en-US" altLang="zh-CN" dirty="0">
                <a:solidFill>
                  <a:srgbClr val="3333FF"/>
                </a:solidFill>
                <a:ea typeface="黑体" pitchFamily="2" charset="-122"/>
                <a:cs typeface="Arial" charset="0"/>
              </a:rPr>
              <a:t>≥</a:t>
            </a:r>
            <a:r>
              <a:rPr kumimoji="1" lang="en-US" altLang="en-US" sz="3600" dirty="0">
                <a:solidFill>
                  <a:srgbClr val="FF0000"/>
                </a:solidFill>
                <a:ea typeface="黑体" pitchFamily="2" charset="-122"/>
                <a:cs typeface="Arial" charset="0"/>
              </a:rPr>
              <a:t>∨</a:t>
            </a:r>
            <a:r>
              <a:rPr kumimoji="1" lang="en-US" altLang="zh-CN" dirty="0">
                <a:solidFill>
                  <a:srgbClr val="3333FF"/>
                </a:solidFill>
                <a:ea typeface="黑体" pitchFamily="2" charset="-122"/>
                <a:cs typeface="Arial" charset="0"/>
              </a:rPr>
              <a:t>(</a:t>
            </a:r>
            <a:r>
              <a:rPr kumimoji="1" lang="en-US" altLang="zh-CN" sz="2800" i="1" dirty="0">
                <a:solidFill>
                  <a:srgbClr val="3333FF"/>
                </a:solidFill>
                <a:ea typeface="黑体" pitchFamily="2" charset="-122"/>
              </a:rPr>
              <a:t> </a:t>
            </a:r>
            <a:r>
              <a:rPr kumimoji="1" lang="en-US" altLang="zh-CN" sz="2800" i="1" dirty="0">
                <a:solidFill>
                  <a:srgbClr val="3333FF"/>
                </a:solidFill>
                <a:ea typeface="黑体" pitchFamily="2" charset="-122"/>
                <a:sym typeface="Symbol" pitchFamily="18" charset="2"/>
              </a:rPr>
              <a:t>R</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u</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 v</a:t>
            </a:r>
            <a:r>
              <a:rPr kumimoji="1" lang="en-US" altLang="zh-CN" sz="2800" dirty="0">
                <a:solidFill>
                  <a:srgbClr val="3333FF"/>
                </a:solidFill>
                <a:ea typeface="黑体" pitchFamily="2" charset="-122"/>
              </a:rPr>
              <a:t>)</a:t>
            </a:r>
            <a:r>
              <a:rPr kumimoji="1" lang="en-US" altLang="zh-CN" dirty="0">
                <a:solidFill>
                  <a:srgbClr val="3333FF"/>
                </a:solidFill>
                <a:ea typeface="黑体" pitchFamily="2" charset="-122"/>
                <a:sym typeface="Symbol"/>
              </a:rPr>
              <a:t></a:t>
            </a:r>
            <a:r>
              <a:rPr kumimoji="1" lang="en-US" altLang="zh-CN" sz="2800" i="1" dirty="0">
                <a:solidFill>
                  <a:srgbClr val="3333FF"/>
                </a:solidFill>
                <a:ea typeface="黑体" pitchFamily="2" charset="-122"/>
                <a:sym typeface="Symbol" pitchFamily="18" charset="2"/>
              </a:rPr>
              <a:t>R</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v</a:t>
            </a:r>
            <a:r>
              <a:rPr kumimoji="1" lang="en-US" altLang="zh-CN" sz="2800" dirty="0">
                <a:solidFill>
                  <a:srgbClr val="3333FF"/>
                </a:solidFill>
                <a:ea typeface="黑体" pitchFamily="2" charset="-122"/>
                <a:sym typeface="Symbol" pitchFamily="18" charset="2"/>
              </a:rPr>
              <a:t>,</a:t>
            </a:r>
            <a:r>
              <a:rPr kumimoji="1" lang="en-US" altLang="zh-CN" sz="2800" i="1" dirty="0">
                <a:solidFill>
                  <a:srgbClr val="3333FF"/>
                </a:solidFill>
                <a:ea typeface="黑体" pitchFamily="2" charset="-122"/>
                <a:sym typeface="Symbol" pitchFamily="18" charset="2"/>
              </a:rPr>
              <a:t> w</a:t>
            </a:r>
            <a:r>
              <a:rPr kumimoji="1" lang="en-US" altLang="zh-CN" sz="2800" dirty="0">
                <a:solidFill>
                  <a:srgbClr val="3333FF"/>
                </a:solidFill>
                <a:ea typeface="黑体" pitchFamily="2" charset="-122"/>
              </a:rPr>
              <a:t>) )</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从而    </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u</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 w</a:t>
            </a:r>
            <a:r>
              <a:rPr kumimoji="1" lang="en-US" altLang="zh-CN" sz="2800" dirty="0">
                <a:solidFill>
                  <a:srgbClr val="FF00FF"/>
                </a:solidFill>
                <a:ea typeface="黑体" pitchFamily="2" charset="-122"/>
              </a:rPr>
              <a:t>) </a:t>
            </a:r>
            <a:r>
              <a:rPr kumimoji="1" lang="en-US" altLang="zh-CN" dirty="0">
                <a:solidFill>
                  <a:srgbClr val="FF00FF"/>
                </a:solidFill>
                <a:ea typeface="黑体" pitchFamily="2" charset="-122"/>
              </a:rPr>
              <a:t>≥</a:t>
            </a:r>
            <a:r>
              <a:rPr kumimoji="1" lang="en-US" altLang="zh-CN" sz="2800" i="1" dirty="0">
                <a:solidFill>
                  <a:srgbClr val="FF00FF"/>
                </a:solidFill>
                <a:ea typeface="黑体" pitchFamily="2" charset="-122"/>
              </a:rPr>
              <a:t> </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u</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 v</a:t>
            </a:r>
            <a:r>
              <a:rPr kumimoji="1" lang="en-US" altLang="zh-CN" sz="2800" dirty="0">
                <a:solidFill>
                  <a:srgbClr val="FF00FF"/>
                </a:solidFill>
                <a:ea typeface="黑体" pitchFamily="2" charset="-122"/>
              </a:rPr>
              <a:t>) </a:t>
            </a:r>
            <a:r>
              <a:rPr kumimoji="1" lang="en-US" altLang="zh-CN" dirty="0">
                <a:solidFill>
                  <a:srgbClr val="FF00FF"/>
                </a:solidFill>
                <a:ea typeface="黑体" pitchFamily="2" charset="-122"/>
                <a:sym typeface="Symbol"/>
              </a:rPr>
              <a:t></a:t>
            </a:r>
            <a:r>
              <a:rPr kumimoji="1" lang="en-US" altLang="zh-CN" sz="2800" i="1" dirty="0">
                <a:solidFill>
                  <a:srgbClr val="FF00FF"/>
                </a:solidFill>
                <a:ea typeface="黑体" pitchFamily="2" charset="-122"/>
                <a:sym typeface="Symbol" pitchFamily="18" charset="2"/>
              </a:rPr>
              <a:t>R</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v</a:t>
            </a:r>
            <a:r>
              <a:rPr kumimoji="1" lang="en-US" altLang="zh-CN" sz="2800" dirty="0">
                <a:solidFill>
                  <a:srgbClr val="FF00FF"/>
                </a:solidFill>
                <a:ea typeface="黑体" pitchFamily="2" charset="-122"/>
                <a:sym typeface="Symbol" pitchFamily="18" charset="2"/>
              </a:rPr>
              <a:t>,</a:t>
            </a:r>
            <a:r>
              <a:rPr kumimoji="1" lang="en-US" altLang="zh-CN" sz="2800" i="1" dirty="0">
                <a:solidFill>
                  <a:srgbClr val="FF00FF"/>
                </a:solidFill>
                <a:ea typeface="黑体" pitchFamily="2" charset="-122"/>
                <a:sym typeface="Symbol" pitchFamily="18" charset="2"/>
              </a:rPr>
              <a:t> w</a:t>
            </a:r>
            <a:r>
              <a:rPr kumimoji="1" lang="en-US" altLang="zh-CN" sz="2800" dirty="0">
                <a:solidFill>
                  <a:srgbClr val="FF00FF"/>
                </a:solidFill>
                <a:ea typeface="黑体" pitchFamily="2" charset="-122"/>
              </a:rPr>
              <a:t>)</a:t>
            </a:r>
            <a:r>
              <a:rPr kumimoji="1" lang="en-US" altLang="zh-CN" sz="2800" i="1" dirty="0">
                <a:solidFill>
                  <a:srgbClr val="FF00FF"/>
                </a:solidFill>
                <a:ea typeface="黑体" pitchFamily="2" charset="-122"/>
              </a:rPr>
              <a:t> </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所以，当</a:t>
            </a:r>
            <a:r>
              <a:rPr kumimoji="1" lang="en-US" altLang="zh-CN" sz="2800" i="1" dirty="0">
                <a:solidFill>
                  <a:srgbClr val="057939"/>
                </a:solidFill>
                <a:ea typeface="黑体" pitchFamily="2" charset="-122"/>
                <a:sym typeface="Symbol" pitchFamily="18" charset="2"/>
              </a:rPr>
              <a:t>R</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u</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 v</a:t>
            </a:r>
            <a:r>
              <a:rPr kumimoji="1" lang="en-US" altLang="zh-CN" sz="2800" dirty="0">
                <a:solidFill>
                  <a:srgbClr val="057939"/>
                </a:solidFill>
                <a:ea typeface="黑体" pitchFamily="2" charset="-122"/>
              </a:rPr>
              <a:t>) </a:t>
            </a:r>
            <a:r>
              <a:rPr kumimoji="1" lang="en-US" altLang="zh-CN" dirty="0">
                <a:solidFill>
                  <a:srgbClr val="057939"/>
                </a:solidFill>
                <a:ea typeface="黑体" pitchFamily="2" charset="-122"/>
              </a:rPr>
              <a:t>≥</a:t>
            </a:r>
            <a:r>
              <a:rPr kumimoji="1" lang="en-US" altLang="zh-CN" sz="2800" i="1" dirty="0">
                <a:solidFill>
                  <a:srgbClr val="057939"/>
                </a:solidFill>
                <a:ea typeface="黑体" pitchFamily="2" charset="-122"/>
              </a:rPr>
              <a:t> </a:t>
            </a:r>
            <a:r>
              <a:rPr kumimoji="1" lang="el-GR" altLang="zh-CN" sz="2800" i="1" dirty="0">
                <a:solidFill>
                  <a:srgbClr val="057939"/>
                </a:solidFill>
                <a:ea typeface="黑体" pitchFamily="2" charset="-122"/>
                <a:sym typeface="Symbol" pitchFamily="18" charset="2"/>
              </a:rPr>
              <a:t>λ</a:t>
            </a:r>
            <a:r>
              <a:rPr kumimoji="1" lang="en-US" altLang="zh-CN" sz="2800" dirty="0">
                <a:solidFill>
                  <a:srgbClr val="057939"/>
                </a:solidFill>
                <a:ea typeface="黑体" pitchFamily="2" charset="-122"/>
              </a:rPr>
              <a:t>,</a:t>
            </a:r>
            <a:r>
              <a:rPr kumimoji="1" lang="en-US" altLang="zh-CN" i="1" dirty="0">
                <a:solidFill>
                  <a:srgbClr val="057939"/>
                </a:solidFill>
                <a:ea typeface="黑体" pitchFamily="2" charset="-122"/>
              </a:rPr>
              <a:t> </a:t>
            </a:r>
            <a:r>
              <a:rPr kumimoji="1" lang="en-US" altLang="zh-CN" sz="2800" i="1" dirty="0">
                <a:solidFill>
                  <a:srgbClr val="057939"/>
                </a:solidFill>
                <a:ea typeface="黑体" pitchFamily="2" charset="-122"/>
                <a:sym typeface="Symbol" pitchFamily="18" charset="2"/>
              </a:rPr>
              <a:t>R</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v</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 w</a:t>
            </a:r>
            <a:r>
              <a:rPr kumimoji="1" lang="en-US" altLang="zh-CN" sz="2800" dirty="0">
                <a:solidFill>
                  <a:srgbClr val="057939"/>
                </a:solidFill>
                <a:ea typeface="黑体" pitchFamily="2" charset="-122"/>
              </a:rPr>
              <a:t>) </a:t>
            </a:r>
            <a:r>
              <a:rPr kumimoji="1" lang="en-US" altLang="zh-CN" dirty="0">
                <a:solidFill>
                  <a:srgbClr val="057939"/>
                </a:solidFill>
                <a:ea typeface="黑体" pitchFamily="2" charset="-122"/>
              </a:rPr>
              <a:t>≥</a:t>
            </a:r>
            <a:r>
              <a:rPr kumimoji="1" lang="en-US" altLang="zh-CN" sz="2800" i="1" dirty="0">
                <a:solidFill>
                  <a:srgbClr val="057939"/>
                </a:solidFill>
                <a:ea typeface="黑体" pitchFamily="2" charset="-122"/>
              </a:rPr>
              <a:t> </a:t>
            </a:r>
            <a:r>
              <a:rPr kumimoji="1" lang="el-GR" altLang="zh-CN" sz="2800" i="1" dirty="0">
                <a:solidFill>
                  <a:srgbClr val="057939"/>
                </a:solidFill>
                <a:ea typeface="黑体" pitchFamily="2" charset="-122"/>
                <a:sym typeface="Symbol" pitchFamily="18" charset="2"/>
              </a:rPr>
              <a:t>λ</a:t>
            </a:r>
            <a:r>
              <a:rPr kumimoji="1" lang="zh-CN" altLang="en-US" sz="2800" dirty="0">
                <a:ea typeface="黑体" pitchFamily="2" charset="-122"/>
                <a:sym typeface="Symbol" pitchFamily="18" charset="2"/>
              </a:rPr>
              <a:t>时，有</a:t>
            </a:r>
          </a:p>
          <a:p>
            <a:pPr eaLnBrk="1" hangingPunct="1">
              <a:buFont typeface="Wingdings" pitchFamily="2" charset="2"/>
              <a:buNone/>
            </a:pPr>
            <a:r>
              <a:rPr kumimoji="1" lang="zh-CN" altLang="en-US" sz="2800" dirty="0">
                <a:ea typeface="黑体" pitchFamily="2" charset="-122"/>
              </a:rPr>
              <a:t>                      </a:t>
            </a:r>
            <a:r>
              <a:rPr kumimoji="1" lang="en-US" altLang="zh-CN" sz="2800" i="1" dirty="0">
                <a:solidFill>
                  <a:srgbClr val="057939"/>
                </a:solidFill>
                <a:ea typeface="黑体" pitchFamily="2" charset="-122"/>
                <a:sym typeface="Symbol" pitchFamily="18" charset="2"/>
              </a:rPr>
              <a:t>R</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u</a:t>
            </a:r>
            <a:r>
              <a:rPr kumimoji="1" lang="en-US" altLang="zh-CN" sz="2800" dirty="0">
                <a:solidFill>
                  <a:srgbClr val="057939"/>
                </a:solidFill>
                <a:ea typeface="黑体" pitchFamily="2" charset="-122"/>
                <a:sym typeface="Symbol" pitchFamily="18" charset="2"/>
              </a:rPr>
              <a:t>,</a:t>
            </a:r>
            <a:r>
              <a:rPr kumimoji="1" lang="en-US" altLang="zh-CN" sz="2800" i="1" dirty="0">
                <a:solidFill>
                  <a:srgbClr val="057939"/>
                </a:solidFill>
                <a:ea typeface="黑体" pitchFamily="2" charset="-122"/>
                <a:sym typeface="Symbol" pitchFamily="18" charset="2"/>
              </a:rPr>
              <a:t> w</a:t>
            </a:r>
            <a:r>
              <a:rPr kumimoji="1" lang="en-US" altLang="zh-CN" sz="2800" dirty="0">
                <a:solidFill>
                  <a:srgbClr val="057939"/>
                </a:solidFill>
                <a:ea typeface="黑体" pitchFamily="2" charset="-122"/>
              </a:rPr>
              <a:t>) </a:t>
            </a:r>
            <a:r>
              <a:rPr kumimoji="1" lang="en-US" altLang="zh-CN" dirty="0">
                <a:solidFill>
                  <a:srgbClr val="057939"/>
                </a:solidFill>
                <a:ea typeface="黑体" pitchFamily="2" charset="-122"/>
              </a:rPr>
              <a:t>≥</a:t>
            </a:r>
            <a:r>
              <a:rPr kumimoji="1" lang="en-US" altLang="zh-CN" sz="2800" i="1" dirty="0">
                <a:solidFill>
                  <a:srgbClr val="057939"/>
                </a:solidFill>
                <a:ea typeface="黑体" pitchFamily="2" charset="-122"/>
              </a:rPr>
              <a:t> </a:t>
            </a:r>
            <a:r>
              <a:rPr kumimoji="1" lang="el-GR" altLang="zh-CN" sz="2800" i="1" dirty="0">
                <a:solidFill>
                  <a:srgbClr val="057939"/>
                </a:solidFill>
                <a:ea typeface="黑体" pitchFamily="2" charset="-122"/>
                <a:sym typeface="Symbol" pitchFamily="18" charset="2"/>
              </a:rPr>
              <a:t>λ</a:t>
            </a:r>
            <a:endParaRPr kumimoji="1" lang="en-US" altLang="zh-CN" sz="2800" i="1" dirty="0">
              <a:solidFill>
                <a:srgbClr val="057939"/>
              </a:solidFill>
              <a:ea typeface="黑体" pitchFamily="2" charset="-122"/>
              <a:sym typeface="Symbol" pitchFamily="18" charset="2"/>
            </a:endParaRP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按定义知，</a:t>
            </a:r>
            <a:r>
              <a:rPr kumimoji="1" lang="en-US" altLang="zh-CN" sz="2800" i="1" dirty="0">
                <a:ea typeface="黑体" pitchFamily="2" charset="-122"/>
              </a:rPr>
              <a:t>R</a:t>
            </a:r>
            <a:r>
              <a:rPr kumimoji="1" lang="zh-CN" altLang="en-US" sz="2800" dirty="0">
                <a:ea typeface="黑体" pitchFamily="2" charset="-122"/>
              </a:rPr>
              <a:t>是传递的</a:t>
            </a:r>
            <a:r>
              <a:rPr kumimoji="1" lang="en-US" altLang="zh-CN" sz="2800" dirty="0">
                <a:ea typeface="黑体" pitchFamily="2" charset="-122"/>
              </a:rPr>
              <a:t>F</a:t>
            </a:r>
            <a:r>
              <a:rPr kumimoji="1" lang="zh-CN" altLang="en-US" sz="2800" dirty="0">
                <a:ea typeface="黑体" pitchFamily="2" charset="-122"/>
              </a:rPr>
              <a:t>关系。                  </a:t>
            </a:r>
            <a:endParaRPr kumimoji="1" lang="en-US" altLang="zh-CN" sz="2800" dirty="0">
              <a:ea typeface="黑体" pitchFamily="2" charset="-122"/>
            </a:endParaRPr>
          </a:p>
          <a:p>
            <a:pPr eaLnBrk="1" hangingPunct="1">
              <a:buFont typeface="Wingdings" pitchFamily="2" charset="2"/>
              <a:buNone/>
            </a:pPr>
            <a:endParaRPr kumimoji="1" lang="en-US" altLang="zh-CN" sz="2800" dirty="0">
              <a:solidFill>
                <a:srgbClr val="EE0006"/>
              </a:solidFill>
              <a:ea typeface="黑体" pitchFamily="2" charset="-122"/>
            </a:endParaRPr>
          </a:p>
          <a:p>
            <a:pPr eaLnBrk="1" hangingPunct="1">
              <a:buFont typeface="Wingdings" pitchFamily="2" charset="2"/>
              <a:buNone/>
            </a:pPr>
            <a:r>
              <a:rPr kumimoji="1" lang="en-US" altLang="zh-CN" sz="2800" dirty="0">
                <a:solidFill>
                  <a:srgbClr val="EE0006"/>
                </a:solidFill>
                <a:ea typeface="黑体" pitchFamily="2" charset="-122"/>
              </a:rPr>
              <a:t>                                                      </a:t>
            </a:r>
            <a:r>
              <a:rPr kumimoji="1" lang="zh-CN" altLang="en-US" sz="2800" dirty="0">
                <a:solidFill>
                  <a:srgbClr val="EE0006"/>
                </a:solidFill>
                <a:ea typeface="黑体" pitchFamily="2" charset="-122"/>
              </a:rPr>
              <a:t>证毕。</a:t>
            </a:r>
          </a:p>
        </p:txBody>
      </p:sp>
      <p:sp>
        <p:nvSpPr>
          <p:cNvPr id="4" name="矩形标注 3"/>
          <p:cNvSpPr/>
          <p:nvPr/>
        </p:nvSpPr>
        <p:spPr>
          <a:xfrm>
            <a:off x="7824192" y="1268414"/>
            <a:ext cx="4367808" cy="2016224"/>
          </a:xfrm>
          <a:prstGeom prst="wedgeRectCallout">
            <a:avLst>
              <a:gd name="adj1" fmla="val -20833"/>
              <a:gd name="adj2" fmla="val 47383"/>
            </a:avLst>
          </a:prstGeom>
          <a:solidFill>
            <a:srgbClr val="66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kumimoji="1" lang="zh-CN" altLang="en-US" sz="2800" b="1" dirty="0">
                <a:solidFill>
                  <a:schemeClr val="tx1"/>
                </a:solidFill>
                <a:latin typeface="华文楷体" pitchFamily="2" charset="-122"/>
                <a:ea typeface="华文楷体" pitchFamily="2" charset="-122"/>
              </a:rPr>
              <a:t>对 </a:t>
            </a:r>
            <a:r>
              <a:rPr kumimoji="1" lang="zh-CN" altLang="en-US" sz="2800" b="1" dirty="0">
                <a:solidFill>
                  <a:schemeClr val="tx1"/>
                </a:solidFill>
                <a:ea typeface="黑体" pitchFamily="2" charset="-122"/>
                <a:sym typeface="Symbol" pitchFamily="18" charset="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 </a:t>
            </a:r>
            <a:r>
              <a:rPr kumimoji="1" lang="en-US" altLang="en-US" sz="2800" dirty="0">
                <a:solidFill>
                  <a:schemeClr val="tx1"/>
                </a:solidFill>
                <a:ea typeface="黑体" pitchFamily="2" charset="-122"/>
              </a:rPr>
              <a:t>∈</a:t>
            </a:r>
            <a:r>
              <a:rPr kumimoji="1" lang="en-US" altLang="zh-CN" sz="2800" dirty="0">
                <a:solidFill>
                  <a:schemeClr val="tx1"/>
                </a:solidFill>
                <a:ea typeface="黑体" pitchFamily="2" charset="-122"/>
              </a:rPr>
              <a:t>[0,1]</a:t>
            </a:r>
          </a:p>
          <a:p>
            <a:pPr>
              <a:buFont typeface="Wingdings" pitchFamily="2" charset="2"/>
              <a:buNone/>
              <a:defRPr/>
            </a:pPr>
            <a:r>
              <a:rPr kumimoji="1" lang="zh-CN" altLang="en-US" sz="2800" b="1" dirty="0">
                <a:solidFill>
                  <a:schemeClr val="tx1"/>
                </a:solidFill>
                <a:ea typeface="华文楷体" pitchFamily="2" charset="-122"/>
              </a:rPr>
              <a:t>若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u,v</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zh-CN" altLang="en-US" sz="2800" b="1" dirty="0">
                <a:solidFill>
                  <a:schemeClr val="tx1"/>
                </a:solidFill>
                <a:ea typeface="华文楷体" pitchFamily="2" charset="-122"/>
                <a:sym typeface="Symbol" pitchFamily="18" charset="2"/>
              </a:rPr>
              <a:t>且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v,w</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r>
              <a:rPr kumimoji="1" lang="en-US" altLang="zh-CN" sz="2800" b="1" dirty="0">
                <a:solidFill>
                  <a:schemeClr val="tx1"/>
                </a:solidFill>
                <a:ea typeface="华文楷体" pitchFamily="2" charset="-122"/>
                <a:sym typeface="Symbol" pitchFamily="18" charset="2"/>
              </a:rPr>
              <a:t>  </a:t>
            </a:r>
          </a:p>
          <a:p>
            <a:pPr>
              <a:buFont typeface="Wingdings" pitchFamily="2" charset="2"/>
              <a:buNone/>
              <a:defRPr/>
            </a:pPr>
            <a:r>
              <a:rPr kumimoji="1" lang="zh-CN" altLang="en-US" sz="2800" b="1" dirty="0">
                <a:solidFill>
                  <a:schemeClr val="tx1"/>
                </a:solidFill>
                <a:ea typeface="华文楷体" pitchFamily="2" charset="-122"/>
                <a:sym typeface="Symbol" pitchFamily="18" charset="2"/>
              </a:rPr>
              <a:t>则 </a:t>
            </a:r>
            <a:r>
              <a:rPr kumimoji="1" lang="en-US" altLang="zh-CN" sz="2800" b="1" dirty="0">
                <a:solidFill>
                  <a:schemeClr val="tx1"/>
                </a:solidFill>
                <a:ea typeface="华文楷体" pitchFamily="2" charset="-122"/>
              </a:rPr>
              <a:t>R(</a:t>
            </a:r>
            <a:r>
              <a:rPr kumimoji="1" lang="en-US" altLang="zh-CN" sz="2800" b="1" dirty="0" err="1">
                <a:solidFill>
                  <a:schemeClr val="tx1"/>
                </a:solidFill>
                <a:ea typeface="华文楷体" pitchFamily="2" charset="-122"/>
              </a:rPr>
              <a:t>u,w</a:t>
            </a:r>
            <a:r>
              <a:rPr kumimoji="1" lang="en-US" altLang="zh-CN" sz="2800" b="1" dirty="0">
                <a:solidFill>
                  <a:schemeClr val="tx1"/>
                </a:solidFill>
                <a:ea typeface="华文楷体" pitchFamily="2" charset="-122"/>
              </a:rPr>
              <a:t>) </a:t>
            </a:r>
            <a:r>
              <a:rPr kumimoji="1" lang="zh-CN" altLang="el-GR" sz="2800" b="1" dirty="0">
                <a:solidFill>
                  <a:schemeClr val="tx1"/>
                </a:solidFill>
                <a:ea typeface="华文楷体" pitchFamily="2" charset="-122"/>
              </a:rPr>
              <a:t>≥</a:t>
            </a:r>
            <a:r>
              <a:rPr kumimoji="1" lang="el-GR" altLang="zh-CN" sz="2800" b="1" i="1" dirty="0">
                <a:solidFill>
                  <a:schemeClr val="tx1"/>
                </a:solidFill>
                <a:latin typeface="Times New Roman" panose="02020603050405020304" pitchFamily="18" charset="0"/>
                <a:ea typeface="华文楷体" pitchFamily="2" charset="-122"/>
                <a:cs typeface="Times New Roman" panose="02020603050405020304" pitchFamily="18" charset="0"/>
                <a:sym typeface="Symbol" pitchFamily="18" charset="2"/>
              </a:rPr>
              <a:t> λ</a:t>
            </a:r>
            <a:endParaRPr kumimoji="1" lang="en-US" altLang="zh-CN" sz="2800" b="1" dirty="0">
              <a:solidFill>
                <a:schemeClr val="tx1"/>
              </a:solidFill>
              <a:ea typeface="华文楷体" pitchFamily="2" charset="-122"/>
              <a:sym typeface="Symbol" pitchFamily="18" charset="2"/>
            </a:endParaRPr>
          </a:p>
          <a:p>
            <a:pPr>
              <a:buFont typeface="Wingdings" pitchFamily="2" charset="2"/>
              <a:buNone/>
              <a:defRPr/>
            </a:pPr>
            <a:r>
              <a:rPr kumimoji="1" lang="zh-CN" altLang="en-US" sz="2800" b="1" dirty="0">
                <a:solidFill>
                  <a:schemeClr val="tx1"/>
                </a:solidFill>
                <a:ea typeface="华文楷体" pitchFamily="2" charset="-122"/>
                <a:sym typeface="Symbol" pitchFamily="18" charset="2"/>
              </a:rPr>
              <a:t>那么称</a:t>
            </a:r>
            <a:r>
              <a:rPr kumimoji="1" lang="en-US" altLang="zh-CN" sz="2800" b="1" dirty="0">
                <a:solidFill>
                  <a:srgbClr val="EE0006"/>
                </a:solidFill>
                <a:ea typeface="华文楷体" pitchFamily="2" charset="-122"/>
                <a:sym typeface="Symbol" pitchFamily="18" charset="2"/>
              </a:rPr>
              <a:t>R</a:t>
            </a:r>
            <a:r>
              <a:rPr kumimoji="1" lang="zh-CN" altLang="en-US" sz="2800" b="1" dirty="0">
                <a:solidFill>
                  <a:srgbClr val="EE0006"/>
                </a:solidFill>
                <a:ea typeface="华文楷体" pitchFamily="2" charset="-122"/>
                <a:sym typeface="Symbol" pitchFamily="18" charset="2"/>
              </a:rPr>
              <a:t>是传递</a:t>
            </a:r>
            <a:r>
              <a:rPr kumimoji="1" lang="en-US" altLang="zh-CN" sz="2800" b="1" dirty="0">
                <a:solidFill>
                  <a:srgbClr val="EE0006"/>
                </a:solidFill>
                <a:ea typeface="华文楷体" pitchFamily="2" charset="-122"/>
                <a:sym typeface="Symbol" pitchFamily="18" charset="2"/>
              </a:rPr>
              <a:t>F</a:t>
            </a:r>
            <a:r>
              <a:rPr kumimoji="1" lang="zh-CN" altLang="en-US" sz="2800" b="1" dirty="0">
                <a:solidFill>
                  <a:srgbClr val="EE0006"/>
                </a:solidFill>
                <a:ea typeface="华文楷体" pitchFamily="2" charset="-122"/>
                <a:sym typeface="Symbol" pitchFamily="18" charset="2"/>
              </a:rPr>
              <a:t>关系</a:t>
            </a:r>
            <a:r>
              <a:rPr kumimoji="1" lang="zh-CN" altLang="en-US" sz="2800" b="1" dirty="0">
                <a:solidFill>
                  <a:schemeClr val="tx1"/>
                </a:solidFill>
                <a:ea typeface="华文楷体" pitchFamily="2" charset="-122"/>
                <a:sym typeface="Symbol" pitchFamily="18" charset="2"/>
              </a:rPr>
              <a:t>。</a:t>
            </a:r>
            <a:endParaRPr lang="zh-CN" altLang="en-US" sz="2800" b="1" dirty="0">
              <a:solidFill>
                <a:schemeClr val="tx1"/>
              </a:solidFill>
              <a:ea typeface="华文楷体" pitchFamily="2" charset="-122"/>
            </a:endParaRPr>
          </a:p>
        </p:txBody>
      </p:sp>
      <p:sp>
        <p:nvSpPr>
          <p:cNvPr id="2" name="灯片编号占位符 1">
            <a:extLst>
              <a:ext uri="{FF2B5EF4-FFF2-40B4-BE49-F238E27FC236}">
                <a16:creationId xmlns:a16="http://schemas.microsoft.com/office/drawing/2014/main" id="{94D3B49A-CED1-ED32-1930-AE2F6E73D4F9}"/>
              </a:ext>
            </a:extLst>
          </p:cNvPr>
          <p:cNvSpPr>
            <a:spLocks noGrp="1"/>
          </p:cNvSpPr>
          <p:nvPr>
            <p:ph type="sldNum" sz="quarter" idx="11"/>
          </p:nvPr>
        </p:nvSpPr>
        <p:spPr/>
        <p:txBody>
          <a:bodyPr/>
          <a:lstStyle/>
          <a:p>
            <a:pPr>
              <a:defRPr/>
            </a:pPr>
            <a:fld id="{F13753BC-CAEF-4333-AC48-2805658F6E3F}" type="slidenum">
              <a:rPr lang="en-US" altLang="zh-CN" smtClean="0"/>
              <a:pPr>
                <a:defRPr/>
              </a:pPr>
              <a:t>10</a:t>
            </a:fld>
            <a:endParaRPr lang="en-US" altLang="zh-CN"/>
          </a:p>
        </p:txBody>
      </p:sp>
    </p:spTree>
    <p:extLst>
      <p:ext uri="{BB962C8B-B14F-4D97-AF65-F5344CB8AC3E}">
        <p14:creationId xmlns:p14="http://schemas.microsoft.com/office/powerpoint/2010/main" val="8033074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wipe(left)">
                                      <p:cBhvr>
                                        <p:cTn id="7" dur="500"/>
                                        <p:tgtEl>
                                          <p:spTgt spid="139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wipe(left)">
                                      <p:cBhvr>
                                        <p:cTn id="12" dur="500"/>
                                        <p:tgtEl>
                                          <p:spTgt spid="139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Effect transition="in" filter="wipe(left)">
                                      <p:cBhvr>
                                        <p:cTn id="17" dur="500"/>
                                        <p:tgtEl>
                                          <p:spTgt spid="139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67">
                                            <p:txEl>
                                              <p:pRg st="3" end="3"/>
                                            </p:txEl>
                                          </p:spTgt>
                                        </p:tgtEl>
                                        <p:attrNameLst>
                                          <p:attrName>style.visibility</p:attrName>
                                        </p:attrNameLst>
                                      </p:cBhvr>
                                      <p:to>
                                        <p:strVal val="visible"/>
                                      </p:to>
                                    </p:set>
                                    <p:animEffect transition="in" filter="wipe(left)">
                                      <p:cBhvr>
                                        <p:cTn id="22" dur="500"/>
                                        <p:tgtEl>
                                          <p:spTgt spid="1392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67">
                                            <p:txEl>
                                              <p:pRg st="4" end="4"/>
                                            </p:txEl>
                                          </p:spTgt>
                                        </p:tgtEl>
                                        <p:attrNameLst>
                                          <p:attrName>style.visibility</p:attrName>
                                        </p:attrNameLst>
                                      </p:cBhvr>
                                      <p:to>
                                        <p:strVal val="visible"/>
                                      </p:to>
                                    </p:set>
                                    <p:animEffect transition="in" filter="wipe(left)">
                                      <p:cBhvr>
                                        <p:cTn id="27" dur="500"/>
                                        <p:tgtEl>
                                          <p:spTgt spid="1392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9267">
                                            <p:txEl>
                                              <p:pRg st="5" end="5"/>
                                            </p:txEl>
                                          </p:spTgt>
                                        </p:tgtEl>
                                        <p:attrNameLst>
                                          <p:attrName>style.visibility</p:attrName>
                                        </p:attrNameLst>
                                      </p:cBhvr>
                                      <p:to>
                                        <p:strVal val="visible"/>
                                      </p:to>
                                    </p:set>
                                    <p:animEffect transition="in" filter="wipe(left)">
                                      <p:cBhvr>
                                        <p:cTn id="32" dur="500"/>
                                        <p:tgtEl>
                                          <p:spTgt spid="1392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1+#ppt_w/2"/>
                                          </p:val>
                                        </p:tav>
                                        <p:tav tm="100000">
                                          <p:val>
                                            <p:strVal val="#ppt_x"/>
                                          </p:val>
                                        </p:tav>
                                      </p:tavLst>
                                    </p:anim>
                                    <p:anim calcmode="lin" valueType="num">
                                      <p:cBhvr additive="base">
                                        <p:cTn id="3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9267">
                                            <p:txEl>
                                              <p:pRg st="6" end="6"/>
                                            </p:txEl>
                                          </p:spTgt>
                                        </p:tgtEl>
                                        <p:attrNameLst>
                                          <p:attrName>style.visibility</p:attrName>
                                        </p:attrNameLst>
                                      </p:cBhvr>
                                      <p:to>
                                        <p:strVal val="visible"/>
                                      </p:to>
                                    </p:set>
                                    <p:animEffect transition="in" filter="wipe(left)">
                                      <p:cBhvr>
                                        <p:cTn id="43" dur="500"/>
                                        <p:tgtEl>
                                          <p:spTgt spid="139267">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9267">
                                            <p:txEl>
                                              <p:pRg st="8" end="8"/>
                                            </p:txEl>
                                          </p:spTgt>
                                        </p:tgtEl>
                                        <p:attrNameLst>
                                          <p:attrName>style.visibility</p:attrName>
                                        </p:attrNameLst>
                                      </p:cBhvr>
                                      <p:to>
                                        <p:strVal val="visible"/>
                                      </p:to>
                                    </p:set>
                                    <p:animEffect transition="in" filter="wipe(left)">
                                      <p:cBhvr>
                                        <p:cTn id="48" dur="500"/>
                                        <p:tgtEl>
                                          <p:spTgt spid="1392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BA9F-8C2F-4D7D-77BF-FB61823C9E36}"/>
            </a:ext>
          </a:extLst>
        </p:cNvPr>
        <p:cNvGrpSpPr/>
        <p:nvPr/>
      </p:nvGrpSpPr>
      <p:grpSpPr>
        <a:xfrm>
          <a:off x="0" y="0"/>
          <a:ext cx="0" cy="0"/>
          <a:chOff x="0" y="0"/>
          <a:chExt cx="0" cy="0"/>
        </a:xfrm>
      </p:grpSpPr>
      <p:sp>
        <p:nvSpPr>
          <p:cNvPr id="6146" name="标题 4">
            <a:extLst>
              <a:ext uri="{FF2B5EF4-FFF2-40B4-BE49-F238E27FC236}">
                <a16:creationId xmlns:a16="http://schemas.microsoft.com/office/drawing/2014/main" id="{93A4BAC0-A375-6295-E1DE-8FA73A7EF638}"/>
              </a:ext>
            </a:extLst>
          </p:cNvPr>
          <p:cNvSpPr>
            <a:spLocks noGrp="1"/>
          </p:cNvSpPr>
          <p:nvPr>
            <p:ph type="title"/>
          </p:nvPr>
        </p:nvSpPr>
        <p:spPr>
          <a:xfrm>
            <a:off x="1992313" y="188913"/>
            <a:ext cx="8229600" cy="1371600"/>
          </a:xfrm>
        </p:spPr>
        <p:txBody>
          <a:bodyPr/>
          <a:lstStyle/>
          <a:p>
            <a:pPr algn="ctr"/>
            <a:r>
              <a:rPr lang="en-US" altLang="zh-CN" dirty="0">
                <a:solidFill>
                  <a:srgbClr val="057939"/>
                </a:solidFill>
                <a:latin typeface="黑体" pitchFamily="2" charset="-122"/>
                <a:ea typeface="黑体" pitchFamily="2" charset="-122"/>
              </a:rPr>
              <a:t>F</a:t>
            </a:r>
            <a:r>
              <a:rPr lang="zh-CN" altLang="en-US" dirty="0">
                <a:solidFill>
                  <a:srgbClr val="057939"/>
                </a:solidFill>
                <a:latin typeface="黑体" pitchFamily="2" charset="-122"/>
                <a:ea typeface="黑体" pitchFamily="2" charset="-122"/>
              </a:rPr>
              <a:t>关系的传递性举例</a:t>
            </a:r>
            <a:r>
              <a:rPr lang="en-US" altLang="zh-CN" dirty="0">
                <a:solidFill>
                  <a:srgbClr val="057939"/>
                </a:solidFill>
                <a:latin typeface="黑体" pitchFamily="2" charset="-122"/>
                <a:ea typeface="黑体" pitchFamily="2" charset="-122"/>
              </a:rPr>
              <a:t>1</a:t>
            </a:r>
            <a:endParaRPr lang="zh-CN" altLang="en-US" dirty="0"/>
          </a:p>
        </p:txBody>
      </p:sp>
      <p:sp>
        <p:nvSpPr>
          <p:cNvPr id="6" name="内容占位符 5">
            <a:extLst>
              <a:ext uri="{FF2B5EF4-FFF2-40B4-BE49-F238E27FC236}">
                <a16:creationId xmlns:a16="http://schemas.microsoft.com/office/drawing/2014/main" id="{A6C910E4-2BA8-F682-286B-12E1F94ACD10}"/>
              </a:ext>
            </a:extLst>
          </p:cNvPr>
          <p:cNvSpPr>
            <a:spLocks noGrp="1"/>
          </p:cNvSpPr>
          <p:nvPr>
            <p:ph idx="1"/>
          </p:nvPr>
        </p:nvSpPr>
        <p:spPr>
          <a:xfrm>
            <a:off x="983432" y="1340768"/>
            <a:ext cx="10225136" cy="5040313"/>
          </a:xfrm>
        </p:spPr>
        <p:txBody>
          <a:bodyPr/>
          <a:lstStyle/>
          <a:p>
            <a:pPr>
              <a:defRPr/>
            </a:pPr>
            <a:r>
              <a:rPr lang="en-US" altLang="zh-CN" dirty="0">
                <a:ea typeface="黑体" pitchFamily="49" charset="-122"/>
              </a:rPr>
              <a:t>[P72</a:t>
            </a:r>
            <a:r>
              <a:rPr lang="zh-CN" altLang="en-US" dirty="0">
                <a:ea typeface="黑体" pitchFamily="49" charset="-122"/>
              </a:rPr>
              <a:t>例</a:t>
            </a:r>
            <a:r>
              <a:rPr lang="en-US" altLang="zh-CN" dirty="0">
                <a:ea typeface="黑体" pitchFamily="49" charset="-122"/>
              </a:rPr>
              <a:t>1]</a:t>
            </a:r>
            <a:r>
              <a:rPr lang="zh-CN" altLang="en-US" dirty="0">
                <a:latin typeface="黑体" pitchFamily="49" charset="-122"/>
                <a:ea typeface="黑体" pitchFamily="49" charset="-122"/>
              </a:rPr>
              <a:t>设论域</a:t>
            </a:r>
            <a:r>
              <a:rPr lang="en-US" altLang="zh-CN" dirty="0">
                <a:ea typeface="黑体" pitchFamily="49" charset="-122"/>
              </a:rPr>
              <a:t>U={150, 50, 2}, R</a:t>
            </a:r>
            <a:r>
              <a:rPr lang="zh-CN" altLang="en-US" dirty="0">
                <a:ea typeface="黑体" pitchFamily="49" charset="-122"/>
              </a:rPr>
              <a:t>表示“</a:t>
            </a:r>
            <a:r>
              <a:rPr lang="zh-CN" altLang="en-US" dirty="0">
                <a:solidFill>
                  <a:srgbClr val="FF00FF"/>
                </a:solidFill>
                <a:ea typeface="黑体" pitchFamily="49" charset="-122"/>
              </a:rPr>
              <a:t>大得多”</a:t>
            </a:r>
            <a:r>
              <a:rPr lang="zh-CN" altLang="en-US" dirty="0">
                <a:ea typeface="黑体" pitchFamily="49" charset="-122"/>
              </a:rPr>
              <a:t>的</a:t>
            </a:r>
            <a:r>
              <a:rPr lang="en-US" altLang="zh-CN" dirty="0">
                <a:ea typeface="黑体" pitchFamily="49" charset="-122"/>
              </a:rPr>
              <a:t>F</a:t>
            </a:r>
            <a:r>
              <a:rPr lang="zh-CN" altLang="en-US" dirty="0">
                <a:ea typeface="黑体" pitchFamily="49" charset="-122"/>
              </a:rPr>
              <a:t>关系。且</a:t>
            </a:r>
            <a:endParaRPr lang="en-US" altLang="zh-CN" dirty="0">
              <a:ea typeface="黑体" pitchFamily="49" charset="-122"/>
            </a:endParaRPr>
          </a:p>
          <a:p>
            <a:pPr marL="0" indent="0">
              <a:buNone/>
              <a:defRPr/>
            </a:pPr>
            <a:r>
              <a:rPr lang="en-US" altLang="zh-CN" sz="2800" dirty="0">
                <a:latin typeface="黑体" pitchFamily="49" charset="-122"/>
                <a:ea typeface="黑体" pitchFamily="49" charset="-122"/>
              </a:rPr>
              <a:t> </a:t>
            </a:r>
          </a:p>
          <a:p>
            <a:pPr marL="0" indent="0">
              <a:buNone/>
              <a:defRPr/>
            </a:pPr>
            <a:endParaRPr lang="en-US" altLang="zh-CN" sz="2000" dirty="0">
              <a:latin typeface="黑体" pitchFamily="49" charset="-122"/>
              <a:ea typeface="黑体" pitchFamily="49" charset="-122"/>
            </a:endParaRPr>
          </a:p>
          <a:p>
            <a:pPr marL="0" indent="0">
              <a:buNone/>
              <a:defRPr/>
            </a:pPr>
            <a:endParaRPr lang="en-US" altLang="zh-CN" sz="2000" dirty="0">
              <a:latin typeface="黑体" pitchFamily="49" charset="-122"/>
              <a:ea typeface="黑体" pitchFamily="49" charset="-122"/>
            </a:endParaRPr>
          </a:p>
          <a:p>
            <a:pPr marL="0" indent="0">
              <a:buNone/>
              <a:defRPr/>
            </a:pPr>
            <a:endParaRPr lang="en-US" altLang="zh-CN" sz="2800" dirty="0">
              <a:latin typeface="黑体" pitchFamily="49" charset="-122"/>
              <a:ea typeface="黑体" pitchFamily="49" charset="-122"/>
            </a:endParaRPr>
          </a:p>
          <a:p>
            <a:pPr marL="0" indent="0">
              <a:buNone/>
              <a:defRPr/>
            </a:pPr>
            <a:endParaRPr kumimoji="1" lang="en-US" altLang="zh-CN" sz="2800" b="1" dirty="0">
              <a:ea typeface="华文楷体" pitchFamily="2" charset="-122"/>
              <a:sym typeface="Symbol" pitchFamily="18" charset="2"/>
            </a:endParaRPr>
          </a:p>
          <a:p>
            <a:pPr marL="0" indent="0">
              <a:buNone/>
              <a:defRPr/>
            </a:pPr>
            <a:endParaRPr kumimoji="1" lang="en-US" altLang="zh-CN" sz="2800" b="1" dirty="0">
              <a:ea typeface="华文楷体" pitchFamily="2" charset="-122"/>
              <a:sym typeface="Symbol" pitchFamily="18" charset="2"/>
            </a:endParaRPr>
          </a:p>
          <a:p>
            <a:pPr marL="0" indent="0">
              <a:buNone/>
              <a:defRPr/>
            </a:pPr>
            <a:endParaRPr kumimoji="1" lang="en-US" altLang="zh-CN" sz="2800" b="1" dirty="0">
              <a:ea typeface="华文楷体" pitchFamily="2" charset="-122"/>
              <a:sym typeface="Symbol" pitchFamily="18" charset="2"/>
            </a:endParaRPr>
          </a:p>
          <a:p>
            <a:pPr marL="0" indent="0">
              <a:buNone/>
              <a:defRPr/>
            </a:pPr>
            <a:r>
              <a:rPr kumimoji="1" lang="zh-CN" altLang="en-US" sz="2800" b="1" dirty="0">
                <a:ea typeface="华文楷体" pitchFamily="2" charset="-122"/>
                <a:sym typeface="Symbol" pitchFamily="18" charset="2"/>
              </a:rPr>
              <a:t>      </a:t>
            </a:r>
            <a:r>
              <a:rPr kumimoji="1" lang="zh-CN" altLang="en-US" b="1" dirty="0">
                <a:ea typeface="华文楷体" pitchFamily="2" charset="-122"/>
                <a:sym typeface="Symbol" pitchFamily="18" charset="2"/>
              </a:rPr>
              <a:t>可见，</a:t>
            </a:r>
            <a:r>
              <a:rPr lang="en-US" altLang="zh-CN" i="1" dirty="0">
                <a:ea typeface="黑体" pitchFamily="2" charset="-122"/>
              </a:rPr>
              <a:t> R </a:t>
            </a:r>
            <a:r>
              <a:rPr lang="en-US" altLang="zh-CN" b="1" dirty="0">
                <a:ea typeface="黑体" pitchFamily="2" charset="-122"/>
                <a:sym typeface="Symbol" pitchFamily="18" charset="2"/>
              </a:rPr>
              <a:t></a:t>
            </a:r>
            <a:r>
              <a:rPr lang="en-US" altLang="zh-CN" dirty="0">
                <a:ea typeface="黑体" pitchFamily="2" charset="-122"/>
                <a:sym typeface="Symbol" pitchFamily="18" charset="2"/>
              </a:rPr>
              <a:t> </a:t>
            </a:r>
            <a:r>
              <a:rPr lang="en-US" altLang="zh-CN" i="1" dirty="0">
                <a:ea typeface="黑体" pitchFamily="2" charset="-122"/>
              </a:rPr>
              <a:t>R </a:t>
            </a:r>
            <a:r>
              <a:rPr lang="en-US" altLang="zh-CN" b="1" dirty="0"/>
              <a:t>◦</a:t>
            </a:r>
            <a:r>
              <a:rPr kumimoji="1" lang="en-US" altLang="zh-CN" i="1" dirty="0">
                <a:ea typeface="黑体" pitchFamily="2" charset="-122"/>
              </a:rPr>
              <a:t> </a:t>
            </a:r>
            <a:r>
              <a:rPr lang="en-US" altLang="zh-CN" i="1" dirty="0">
                <a:ea typeface="黑体" pitchFamily="2" charset="-122"/>
              </a:rPr>
              <a:t>R</a:t>
            </a:r>
            <a:r>
              <a:rPr lang="zh-CN" altLang="en-US" dirty="0">
                <a:ea typeface="黑体" pitchFamily="2" charset="-122"/>
              </a:rPr>
              <a:t>，</a:t>
            </a:r>
            <a:r>
              <a:rPr kumimoji="1" lang="zh-CN" altLang="en-US" b="1" dirty="0">
                <a:ea typeface="华文楷体" pitchFamily="2" charset="-122"/>
                <a:sym typeface="Symbol" pitchFamily="18" charset="2"/>
              </a:rPr>
              <a:t>所以</a:t>
            </a:r>
            <a:r>
              <a:rPr lang="en-US" altLang="zh-CN" b="1" dirty="0">
                <a:solidFill>
                  <a:srgbClr val="3333FF"/>
                </a:solidFill>
                <a:ea typeface="华文楷体" pitchFamily="2" charset="-122"/>
              </a:rPr>
              <a:t>R</a:t>
            </a:r>
            <a:r>
              <a:rPr lang="zh-CN" altLang="en-US" b="1" dirty="0">
                <a:solidFill>
                  <a:srgbClr val="3333FF"/>
                </a:solidFill>
                <a:ea typeface="华文楷体" pitchFamily="2" charset="-122"/>
              </a:rPr>
              <a:t>是传递关系。</a:t>
            </a:r>
            <a:endParaRPr kumimoji="1" lang="en-US" altLang="zh-CN" sz="2800" b="1" dirty="0">
              <a:solidFill>
                <a:srgbClr val="3333FF"/>
              </a:solidFill>
              <a:ea typeface="华文楷体" pitchFamily="2" charset="-122"/>
              <a:sym typeface="Symbol" pitchFamily="18" charset="2"/>
            </a:endParaRPr>
          </a:p>
        </p:txBody>
      </p:sp>
      <p:graphicFrame>
        <p:nvGraphicFramePr>
          <p:cNvPr id="7" name="对象 6">
            <a:extLst>
              <a:ext uri="{FF2B5EF4-FFF2-40B4-BE49-F238E27FC236}">
                <a16:creationId xmlns:a16="http://schemas.microsoft.com/office/drawing/2014/main" id="{32A6002F-743F-14D3-6051-350F746CA7FF}"/>
              </a:ext>
            </a:extLst>
          </p:cNvPr>
          <p:cNvGraphicFramePr>
            <a:graphicFrameLocks noChangeAspect="1"/>
          </p:cNvGraphicFramePr>
          <p:nvPr>
            <p:extLst>
              <p:ext uri="{D42A27DB-BD31-4B8C-83A1-F6EECF244321}">
                <p14:modId xmlns:p14="http://schemas.microsoft.com/office/powerpoint/2010/main" val="270359038"/>
              </p:ext>
            </p:extLst>
          </p:nvPr>
        </p:nvGraphicFramePr>
        <p:xfrm>
          <a:off x="4191000" y="1988840"/>
          <a:ext cx="3143250" cy="1871663"/>
        </p:xfrm>
        <a:graphic>
          <a:graphicData uri="http://schemas.openxmlformats.org/presentationml/2006/ole">
            <mc:AlternateContent xmlns:mc="http://schemas.openxmlformats.org/markup-compatibility/2006">
              <mc:Choice xmlns:v="urn:schemas-microsoft-com:vml" Requires="v">
                <p:oleObj name="Equation" r:id="rId2" imgW="1193760" imgH="711000" progId="Equation.DSMT4">
                  <p:embed/>
                </p:oleObj>
              </mc:Choice>
              <mc:Fallback>
                <p:oleObj name="Equation" r:id="rId2" imgW="1193760" imgH="711000" progId="Equation.DSMT4">
                  <p:embed/>
                  <p:pic>
                    <p:nvPicPr>
                      <p:cNvPr id="7" name="对象 6"/>
                      <p:cNvPicPr>
                        <a:picLocks noChangeAspect="1" noChangeArrowheads="1"/>
                      </p:cNvPicPr>
                      <p:nvPr/>
                    </p:nvPicPr>
                    <p:blipFill>
                      <a:blip r:embed="rId3"/>
                      <a:srcRect/>
                      <a:stretch>
                        <a:fillRect/>
                      </a:stretch>
                    </p:blipFill>
                    <p:spPr bwMode="auto">
                      <a:xfrm>
                        <a:off x="4191000" y="1988840"/>
                        <a:ext cx="314325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a:extLst>
              <a:ext uri="{FF2B5EF4-FFF2-40B4-BE49-F238E27FC236}">
                <a16:creationId xmlns:a16="http://schemas.microsoft.com/office/drawing/2014/main" id="{B651031E-F104-47DB-BDBD-04992F9D3259}"/>
              </a:ext>
            </a:extLst>
          </p:cNvPr>
          <p:cNvSpPr txBox="1"/>
          <p:nvPr/>
        </p:nvSpPr>
        <p:spPr>
          <a:xfrm>
            <a:off x="1199456" y="6309320"/>
            <a:ext cx="9143999" cy="584775"/>
          </a:xfrm>
          <a:prstGeom prst="rect">
            <a:avLst/>
          </a:prstGeom>
          <a:solidFill>
            <a:srgbClr val="FFFF00"/>
          </a:solidFill>
        </p:spPr>
        <p:txBody>
          <a:bodyPr wrap="square">
            <a:spAutoFit/>
          </a:bodyPr>
          <a:lstStyle/>
          <a:p>
            <a:pPr algn="ctr"/>
            <a:r>
              <a:rPr lang="en-US" altLang="zh-CN" sz="3200" dirty="0">
                <a:solidFill>
                  <a:srgbClr val="057939"/>
                </a:solidFill>
                <a:ea typeface="黑体" pitchFamily="2" charset="-122"/>
              </a:rPr>
              <a:t>[</a:t>
            </a:r>
            <a:r>
              <a:rPr lang="zh-CN" altLang="en-US" sz="3200" dirty="0">
                <a:solidFill>
                  <a:srgbClr val="057939"/>
                </a:solidFill>
                <a:ea typeface="黑体" pitchFamily="2" charset="-122"/>
              </a:rPr>
              <a:t>定理</a:t>
            </a:r>
            <a:r>
              <a:rPr lang="en-US" altLang="zh-CN" sz="3200" dirty="0">
                <a:solidFill>
                  <a:srgbClr val="057939"/>
                </a:solidFill>
                <a:ea typeface="黑体" pitchFamily="2" charset="-122"/>
              </a:rPr>
              <a:t>1] </a:t>
            </a:r>
            <a:r>
              <a:rPr lang="en-US" altLang="zh-CN" sz="3200" i="1" dirty="0">
                <a:solidFill>
                  <a:srgbClr val="057939"/>
                </a:solidFill>
                <a:ea typeface="黑体" pitchFamily="2" charset="-122"/>
              </a:rPr>
              <a:t>R</a:t>
            </a:r>
            <a:r>
              <a:rPr lang="zh-CN" altLang="en-US" sz="3200" dirty="0">
                <a:solidFill>
                  <a:srgbClr val="057939"/>
                </a:solidFill>
                <a:ea typeface="黑体" pitchFamily="2" charset="-122"/>
              </a:rPr>
              <a:t>是传递的</a:t>
            </a:r>
            <a:r>
              <a:rPr lang="en-US" altLang="zh-CN" sz="3200" dirty="0">
                <a:solidFill>
                  <a:srgbClr val="057939"/>
                </a:solidFill>
                <a:ea typeface="黑体" pitchFamily="2" charset="-122"/>
              </a:rPr>
              <a:t>F</a:t>
            </a:r>
            <a:r>
              <a:rPr lang="zh-CN" altLang="en-US" sz="3200" dirty="0">
                <a:solidFill>
                  <a:srgbClr val="057939"/>
                </a:solidFill>
                <a:ea typeface="黑体" pitchFamily="2" charset="-122"/>
              </a:rPr>
              <a:t>关系的</a:t>
            </a:r>
            <a:r>
              <a:rPr lang="zh-CN" altLang="en-US" sz="3200" u="sng" dirty="0">
                <a:solidFill>
                  <a:srgbClr val="057939"/>
                </a:solidFill>
                <a:ea typeface="黑体" pitchFamily="2" charset="-122"/>
              </a:rPr>
              <a:t>充要条件</a:t>
            </a:r>
            <a:r>
              <a:rPr lang="zh-CN" altLang="en-US" sz="3200" dirty="0">
                <a:solidFill>
                  <a:srgbClr val="057939"/>
                </a:solidFill>
                <a:ea typeface="黑体" pitchFamily="2" charset="-122"/>
              </a:rPr>
              <a:t>是</a:t>
            </a:r>
            <a:r>
              <a:rPr lang="en-US" altLang="zh-CN" sz="3200" i="1" dirty="0">
                <a:solidFill>
                  <a:srgbClr val="057939"/>
                </a:solidFill>
                <a:ea typeface="黑体" pitchFamily="2" charset="-122"/>
              </a:rPr>
              <a:t>R</a:t>
            </a:r>
            <a:r>
              <a:rPr lang="en-US" altLang="zh-CN" sz="3200" dirty="0">
                <a:solidFill>
                  <a:srgbClr val="057939"/>
                </a:solidFill>
                <a:ea typeface="黑体" pitchFamily="2" charset="-122"/>
                <a:sym typeface="Symbol" pitchFamily="18" charset="2"/>
              </a:rPr>
              <a:t></a:t>
            </a:r>
            <a:r>
              <a:rPr lang="en-US" altLang="zh-CN" sz="3200" i="1" dirty="0">
                <a:solidFill>
                  <a:srgbClr val="057939"/>
                </a:solidFill>
                <a:ea typeface="黑体" pitchFamily="2" charset="-122"/>
              </a:rPr>
              <a:t>R</a:t>
            </a:r>
            <a:r>
              <a:rPr lang="en-US" altLang="zh-CN" sz="3200" baseline="30000" dirty="0">
                <a:solidFill>
                  <a:srgbClr val="057939"/>
                </a:solidFill>
                <a:ea typeface="黑体" pitchFamily="2" charset="-122"/>
              </a:rPr>
              <a:t>2</a:t>
            </a:r>
            <a:endParaRPr lang="zh-CN" altLang="en-US" sz="3200" dirty="0"/>
          </a:p>
        </p:txBody>
      </p:sp>
      <p:graphicFrame>
        <p:nvGraphicFramePr>
          <p:cNvPr id="4" name="对象 3">
            <a:extLst>
              <a:ext uri="{FF2B5EF4-FFF2-40B4-BE49-F238E27FC236}">
                <a16:creationId xmlns:a16="http://schemas.microsoft.com/office/drawing/2014/main" id="{4B4612CC-C5F7-75EB-2FAF-E96326794C62}"/>
              </a:ext>
            </a:extLst>
          </p:cNvPr>
          <p:cNvGraphicFramePr>
            <a:graphicFrameLocks noChangeAspect="1"/>
          </p:cNvGraphicFramePr>
          <p:nvPr>
            <p:extLst>
              <p:ext uri="{D42A27DB-BD31-4B8C-83A1-F6EECF244321}">
                <p14:modId xmlns:p14="http://schemas.microsoft.com/office/powerpoint/2010/main" val="122124551"/>
              </p:ext>
            </p:extLst>
          </p:nvPr>
        </p:nvGraphicFramePr>
        <p:xfrm>
          <a:off x="1066325" y="3846397"/>
          <a:ext cx="6286500" cy="1871663"/>
        </p:xfrm>
        <a:graphic>
          <a:graphicData uri="http://schemas.openxmlformats.org/presentationml/2006/ole">
            <mc:AlternateContent xmlns:mc="http://schemas.openxmlformats.org/markup-compatibility/2006">
              <mc:Choice xmlns:v="urn:schemas-microsoft-com:vml" Requires="v">
                <p:oleObj name="Equation" r:id="rId4" imgW="2387520" imgH="711000" progId="Equation.DSMT4">
                  <p:embed/>
                </p:oleObj>
              </mc:Choice>
              <mc:Fallback>
                <p:oleObj name="Equation" r:id="rId4" imgW="2387520" imgH="711000" progId="Equation.DSMT4">
                  <p:embed/>
                  <p:pic>
                    <p:nvPicPr>
                      <p:cNvPr id="7" name="对象 6">
                        <a:extLst>
                          <a:ext uri="{FF2B5EF4-FFF2-40B4-BE49-F238E27FC236}">
                            <a16:creationId xmlns:a16="http://schemas.microsoft.com/office/drawing/2014/main" id="{32A6002F-743F-14D3-6051-350F746CA7FF}"/>
                          </a:ext>
                        </a:extLst>
                      </p:cNvPr>
                      <p:cNvPicPr>
                        <a:picLocks noChangeAspect="1" noChangeArrowheads="1"/>
                      </p:cNvPicPr>
                      <p:nvPr/>
                    </p:nvPicPr>
                    <p:blipFill>
                      <a:blip r:embed="rId5"/>
                      <a:srcRect/>
                      <a:stretch>
                        <a:fillRect/>
                      </a:stretch>
                    </p:blipFill>
                    <p:spPr bwMode="auto">
                      <a:xfrm>
                        <a:off x="1066325" y="3846397"/>
                        <a:ext cx="628650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D4C0DD33-4EBC-9ED7-D94C-6BDFF5C2768D}"/>
              </a:ext>
            </a:extLst>
          </p:cNvPr>
          <p:cNvSpPr>
            <a:spLocks noGrp="1"/>
          </p:cNvSpPr>
          <p:nvPr>
            <p:ph type="sldNum" sz="quarter" idx="11"/>
          </p:nvPr>
        </p:nvSpPr>
        <p:spPr/>
        <p:txBody>
          <a:bodyPr/>
          <a:lstStyle/>
          <a:p>
            <a:pPr>
              <a:defRPr/>
            </a:pPr>
            <a:fld id="{F13753BC-CAEF-4333-AC48-2805658F6E3F}" type="slidenum">
              <a:rPr lang="en-US" altLang="zh-CN" smtClean="0"/>
              <a:pPr>
                <a:defRPr/>
              </a:pPr>
              <a:t>11</a:t>
            </a:fld>
            <a:endParaRPr lang="en-US" altLang="zh-CN"/>
          </a:p>
        </p:txBody>
      </p:sp>
      <p:graphicFrame>
        <p:nvGraphicFramePr>
          <p:cNvPr id="5" name="对象 4">
            <a:extLst>
              <a:ext uri="{FF2B5EF4-FFF2-40B4-BE49-F238E27FC236}">
                <a16:creationId xmlns:a16="http://schemas.microsoft.com/office/drawing/2014/main" id="{66486258-6130-C4E8-8648-5F0196F3CD27}"/>
              </a:ext>
            </a:extLst>
          </p:cNvPr>
          <p:cNvGraphicFramePr>
            <a:graphicFrameLocks noChangeAspect="1"/>
          </p:cNvGraphicFramePr>
          <p:nvPr>
            <p:extLst>
              <p:ext uri="{D42A27DB-BD31-4B8C-83A1-F6EECF244321}">
                <p14:modId xmlns:p14="http://schemas.microsoft.com/office/powerpoint/2010/main" val="3332006384"/>
              </p:ext>
            </p:extLst>
          </p:nvPr>
        </p:nvGraphicFramePr>
        <p:xfrm>
          <a:off x="7334250" y="3854645"/>
          <a:ext cx="2474913" cy="1871662"/>
        </p:xfrm>
        <a:graphic>
          <a:graphicData uri="http://schemas.openxmlformats.org/presentationml/2006/ole">
            <mc:AlternateContent xmlns:mc="http://schemas.openxmlformats.org/markup-compatibility/2006">
              <mc:Choice xmlns:v="urn:schemas-microsoft-com:vml" Requires="v">
                <p:oleObj name="Equation" r:id="rId6" imgW="939600" imgH="711000" progId="Equation.DSMT4">
                  <p:embed/>
                </p:oleObj>
              </mc:Choice>
              <mc:Fallback>
                <p:oleObj name="Equation" r:id="rId6" imgW="939600" imgH="711000" progId="Equation.DSMT4">
                  <p:embed/>
                  <p:pic>
                    <p:nvPicPr>
                      <p:cNvPr id="4" name="对象 3">
                        <a:extLst>
                          <a:ext uri="{FF2B5EF4-FFF2-40B4-BE49-F238E27FC236}">
                            <a16:creationId xmlns:a16="http://schemas.microsoft.com/office/drawing/2014/main" id="{4B4612CC-C5F7-75EB-2FAF-E96326794C62}"/>
                          </a:ext>
                        </a:extLst>
                      </p:cNvPr>
                      <p:cNvPicPr>
                        <a:picLocks noChangeAspect="1" noChangeArrowheads="1"/>
                      </p:cNvPicPr>
                      <p:nvPr/>
                    </p:nvPicPr>
                    <p:blipFill>
                      <a:blip r:embed="rId7"/>
                      <a:srcRect/>
                      <a:stretch>
                        <a:fillRect/>
                      </a:stretch>
                    </p:blipFill>
                    <p:spPr bwMode="auto">
                      <a:xfrm>
                        <a:off x="7334250" y="3854645"/>
                        <a:ext cx="2474913"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862861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wipe(left)">
                                      <p:cBhvr>
                                        <p:cTn id="32" dur="500"/>
                                        <p:tgtEl>
                                          <p:spTgt spid="6">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457200"/>
            <a:ext cx="8229600" cy="884238"/>
          </a:xfrm>
        </p:spPr>
        <p:txBody>
          <a:bodyPr/>
          <a:lstStyle/>
          <a:p>
            <a:pPr algn="ctr" eaLnBrk="1" hangingPunct="1"/>
            <a:r>
              <a:rPr lang="en-US" altLang="zh-CN" i="1" dirty="0">
                <a:solidFill>
                  <a:srgbClr val="057939"/>
                </a:solidFill>
                <a:ea typeface="黑体" pitchFamily="2" charset="-122"/>
              </a:rPr>
              <a:t>R</a:t>
            </a:r>
            <a:r>
              <a:rPr lang="zh-CN" altLang="en-US" dirty="0">
                <a:solidFill>
                  <a:srgbClr val="057939"/>
                </a:solidFill>
                <a:ea typeface="黑体" pitchFamily="2" charset="-122"/>
              </a:rPr>
              <a:t>的传递闭包</a:t>
            </a:r>
          </a:p>
        </p:txBody>
      </p:sp>
      <p:sp>
        <p:nvSpPr>
          <p:cNvPr id="140291" name="Rectangle 3"/>
          <p:cNvSpPr>
            <a:spLocks noGrp="1" noChangeArrowheads="1"/>
          </p:cNvSpPr>
          <p:nvPr>
            <p:ph type="body" sz="half" idx="1"/>
          </p:nvPr>
        </p:nvSpPr>
        <p:spPr>
          <a:xfrm>
            <a:off x="983432" y="1412876"/>
            <a:ext cx="10225135" cy="5445125"/>
          </a:xfrm>
        </p:spPr>
        <p:txBody>
          <a:bodyPr/>
          <a:lstStyle/>
          <a:p>
            <a:pPr eaLnBrk="1" hangingPunct="1">
              <a:buFont typeface="Wingdings" pitchFamily="2" charset="2"/>
              <a:buNone/>
            </a:pPr>
            <a:r>
              <a:rPr lang="en-US" altLang="zh-CN" sz="2800" dirty="0"/>
              <a:t>[</a:t>
            </a:r>
            <a:r>
              <a:rPr lang="zh-CN" altLang="en-US" sz="2800" dirty="0">
                <a:ea typeface="黑体" pitchFamily="2" charset="-122"/>
              </a:rPr>
              <a:t>定义</a:t>
            </a:r>
            <a:r>
              <a:rPr lang="en-US" altLang="zh-CN" sz="2800" dirty="0"/>
              <a:t>2]</a:t>
            </a:r>
            <a:r>
              <a:rPr lang="zh-CN" altLang="en-US" sz="2800" dirty="0"/>
              <a:t>设</a:t>
            </a:r>
            <a:r>
              <a:rPr kumimoji="1" lang="en-US" altLang="zh-CN" sz="2800" i="1" dirty="0">
                <a:ea typeface="黑体" pitchFamily="2" charset="-122"/>
              </a:rPr>
              <a:t>R</a:t>
            </a:r>
            <a:r>
              <a:rPr kumimoji="1" lang="en-US" altLang="en-US" sz="2800" dirty="0">
                <a:ea typeface="黑体" pitchFamily="2" charset="-122"/>
                <a:sym typeface="Symbol" panose="05050102010706020507" pitchFamily="18" charset="2"/>
              </a:rPr>
              <a:t></a:t>
            </a:r>
            <a:r>
              <a:rPr kumimoji="1" lang="en-US" altLang="zh-CN" sz="2800" dirty="0">
                <a:latin typeface="Monotype Corsiva" pitchFamily="66" charset="0"/>
                <a:ea typeface="黑体" pitchFamily="2" charset="-122"/>
              </a:rPr>
              <a:t>F</a:t>
            </a:r>
            <a:r>
              <a:rPr kumimoji="1" lang="en-US" altLang="zh-CN" sz="2800" dirty="0">
                <a:ea typeface="黑体" pitchFamily="2" charset="-122"/>
              </a:rPr>
              <a:t>(U</a:t>
            </a:r>
            <a:r>
              <a:rPr kumimoji="1" lang="en-US" altLang="en-US" sz="2800" dirty="0">
                <a:ea typeface="黑体" pitchFamily="2" charset="-122"/>
              </a:rPr>
              <a:t>×</a:t>
            </a:r>
            <a:r>
              <a:rPr kumimoji="1" lang="en-US" altLang="zh-CN" sz="2800" dirty="0">
                <a:ea typeface="黑体" pitchFamily="2" charset="-122"/>
              </a:rPr>
              <a:t>U)</a:t>
            </a:r>
            <a:r>
              <a:rPr kumimoji="1" lang="zh-CN" altLang="en-US" sz="2800" dirty="0">
                <a:ea typeface="黑体" pitchFamily="2" charset="-122"/>
              </a:rPr>
              <a:t>，若</a:t>
            </a:r>
          </a:p>
          <a:p>
            <a:pPr lvl="1" eaLnBrk="1" hangingPunct="1">
              <a:buFont typeface="Wingdings" pitchFamily="2" charset="2"/>
              <a:buNone/>
            </a:pPr>
            <a:r>
              <a:rPr kumimoji="1" lang="en-US" altLang="zh-CN" dirty="0">
                <a:ea typeface="黑体" pitchFamily="2" charset="-122"/>
              </a:rPr>
              <a:t>(1)    </a:t>
            </a:r>
            <a:r>
              <a:rPr kumimoji="1" lang="zh-CN" altLang="en-US" dirty="0">
                <a:ea typeface="黑体" pitchFamily="2" charset="-122"/>
              </a:rPr>
              <a:t>是传递</a:t>
            </a:r>
            <a:r>
              <a:rPr kumimoji="1" lang="en-US" altLang="zh-CN" dirty="0">
                <a:ea typeface="黑体" pitchFamily="2" charset="-122"/>
              </a:rPr>
              <a:t>F</a:t>
            </a:r>
            <a:r>
              <a:rPr kumimoji="1" lang="zh-CN" altLang="en-US" dirty="0">
                <a:ea typeface="黑体" pitchFamily="2" charset="-122"/>
              </a:rPr>
              <a:t>关系且</a:t>
            </a:r>
          </a:p>
          <a:p>
            <a:pPr lvl="1" eaLnBrk="1" hangingPunct="1">
              <a:buFont typeface="Wingdings" pitchFamily="2" charset="2"/>
              <a:buNone/>
            </a:pPr>
            <a:r>
              <a:rPr kumimoji="1" lang="en-US" altLang="zh-CN" dirty="0">
                <a:ea typeface="黑体" pitchFamily="2" charset="-122"/>
              </a:rPr>
              <a:t>(2) </a:t>
            </a:r>
            <a:r>
              <a:rPr kumimoji="1" lang="en-US" altLang="zh-CN" i="1" dirty="0">
                <a:ea typeface="黑体" pitchFamily="2" charset="-122"/>
              </a:rPr>
              <a:t>Q</a:t>
            </a:r>
            <a:r>
              <a:rPr kumimoji="1" lang="zh-CN" altLang="en-US" dirty="0">
                <a:ea typeface="黑体" pitchFamily="2" charset="-122"/>
              </a:rPr>
              <a:t>是</a:t>
            </a:r>
            <a:r>
              <a:rPr kumimoji="1" lang="zh-CN" altLang="en-US" u="sng" dirty="0">
                <a:ea typeface="黑体" pitchFamily="2" charset="-122"/>
              </a:rPr>
              <a:t>任意传递</a:t>
            </a:r>
            <a:r>
              <a:rPr kumimoji="1" lang="en-US" altLang="zh-CN" u="sng" dirty="0">
                <a:ea typeface="黑体" pitchFamily="2" charset="-122"/>
              </a:rPr>
              <a:t>F</a:t>
            </a:r>
            <a:r>
              <a:rPr kumimoji="1" lang="zh-CN" altLang="en-US" u="sng" dirty="0">
                <a:ea typeface="黑体" pitchFamily="2" charset="-122"/>
              </a:rPr>
              <a:t>关系</a:t>
            </a:r>
            <a:r>
              <a:rPr kumimoji="1" lang="zh-CN" altLang="en-US" dirty="0">
                <a:ea typeface="黑体" pitchFamily="2" charset="-122"/>
              </a:rPr>
              <a:t>且</a:t>
            </a:r>
            <a:r>
              <a:rPr kumimoji="1" lang="en-US" altLang="zh-CN" i="1" dirty="0">
                <a:ea typeface="黑体" pitchFamily="2" charset="-122"/>
              </a:rPr>
              <a:t>Q</a:t>
            </a:r>
            <a:r>
              <a:rPr kumimoji="1" lang="en-US" altLang="zh-CN" dirty="0">
                <a:ea typeface="黑体" pitchFamily="2" charset="-122"/>
                <a:sym typeface="Symbol" pitchFamily="18" charset="2"/>
              </a:rPr>
              <a:t></a:t>
            </a:r>
            <a:r>
              <a:rPr kumimoji="1" lang="en-US" altLang="zh-CN" i="1" dirty="0">
                <a:ea typeface="黑体" pitchFamily="2" charset="-122"/>
              </a:rPr>
              <a:t>R</a:t>
            </a:r>
            <a:r>
              <a:rPr kumimoji="1" lang="zh-CN" altLang="en-US" dirty="0">
                <a:ea typeface="黑体" pitchFamily="2" charset="-122"/>
              </a:rPr>
              <a:t>和</a:t>
            </a:r>
          </a:p>
          <a:p>
            <a:pPr lvl="1" eaLnBrk="1" hangingPunct="1">
              <a:buFont typeface="Wingdings" pitchFamily="2" charset="2"/>
              <a:buNone/>
            </a:pPr>
            <a:r>
              <a:rPr kumimoji="1" lang="zh-CN" altLang="en-US" dirty="0">
                <a:ea typeface="黑体" pitchFamily="2" charset="-122"/>
              </a:rPr>
              <a:t>则称   为</a:t>
            </a:r>
            <a:r>
              <a:rPr kumimoji="1" lang="en-US" altLang="zh-CN" i="1" dirty="0">
                <a:solidFill>
                  <a:srgbClr val="EE0006"/>
                </a:solidFill>
                <a:ea typeface="黑体" pitchFamily="2" charset="-122"/>
              </a:rPr>
              <a:t>R</a:t>
            </a:r>
            <a:r>
              <a:rPr kumimoji="1" lang="zh-CN" altLang="en-US" dirty="0">
                <a:solidFill>
                  <a:srgbClr val="EE0006"/>
                </a:solidFill>
                <a:ea typeface="黑体" pitchFamily="2" charset="-122"/>
              </a:rPr>
              <a:t>的传递闭包</a:t>
            </a:r>
            <a:r>
              <a:rPr kumimoji="1" lang="zh-CN" altLang="en-US" dirty="0">
                <a:ea typeface="黑体" pitchFamily="2" charset="-122"/>
              </a:rPr>
              <a:t>，记</a:t>
            </a:r>
          </a:p>
          <a:p>
            <a:pPr lvl="1" eaLnBrk="1" hangingPunct="1">
              <a:buFont typeface="Wingdings" pitchFamily="2" charset="2"/>
              <a:buNone/>
            </a:pPr>
            <a:r>
              <a:rPr kumimoji="1" lang="zh-CN" altLang="en-US" dirty="0">
                <a:ea typeface="黑体" pitchFamily="2" charset="-122"/>
              </a:rPr>
              <a:t>可见，</a:t>
            </a:r>
            <a:r>
              <a:rPr kumimoji="1" lang="zh-CN" altLang="en-US" b="1" dirty="0">
                <a:solidFill>
                  <a:srgbClr val="CC00FF"/>
                </a:solidFill>
                <a:ea typeface="楷体_GB2312" pitchFamily="49" charset="-122"/>
              </a:rPr>
              <a:t>传递闭包是所有包含</a:t>
            </a:r>
            <a:r>
              <a:rPr kumimoji="1" lang="en-US" altLang="zh-CN" b="1" i="1" dirty="0">
                <a:solidFill>
                  <a:srgbClr val="CC00FF"/>
                </a:solidFill>
                <a:ea typeface="楷体_GB2312" pitchFamily="49" charset="-122"/>
              </a:rPr>
              <a:t>R</a:t>
            </a:r>
            <a:r>
              <a:rPr kumimoji="1" lang="zh-CN" altLang="en-US" b="1" dirty="0">
                <a:solidFill>
                  <a:srgbClr val="CC00FF"/>
                </a:solidFill>
                <a:ea typeface="楷体_GB2312" pitchFamily="49" charset="-122"/>
              </a:rPr>
              <a:t>的最小传递关系</a:t>
            </a:r>
            <a:r>
              <a:rPr kumimoji="1" lang="zh-CN" altLang="en-US" sz="2400" dirty="0">
                <a:solidFill>
                  <a:srgbClr val="CC00FF"/>
                </a:solidFill>
                <a:ea typeface="黑体" pitchFamily="2" charset="-122"/>
              </a:rPr>
              <a:t>。</a:t>
            </a:r>
          </a:p>
          <a:p>
            <a:pPr lvl="1" eaLnBrk="1" hangingPunct="1">
              <a:buFont typeface="Wingdings" pitchFamily="2" charset="2"/>
              <a:buNone/>
            </a:pPr>
            <a:endParaRPr kumimoji="1" lang="zh-CN" altLang="en-US" sz="900" dirty="0">
              <a:solidFill>
                <a:srgbClr val="CC00FF"/>
              </a:solidFill>
              <a:ea typeface="黑体" pitchFamily="2" charset="-122"/>
            </a:endParaRPr>
          </a:p>
          <a:p>
            <a:pPr eaLnBrk="1" hangingPunct="1">
              <a:buNone/>
            </a:pPr>
            <a:r>
              <a:rPr kumimoji="1" lang="en-US" altLang="zh-CN" sz="2800" dirty="0">
                <a:solidFill>
                  <a:srgbClr val="057939"/>
                </a:solidFill>
                <a:ea typeface="黑体" pitchFamily="2" charset="-122"/>
              </a:rPr>
              <a:t>[</a:t>
            </a:r>
            <a:r>
              <a:rPr kumimoji="1" lang="zh-CN" altLang="en-US" sz="2800" dirty="0">
                <a:solidFill>
                  <a:srgbClr val="057939"/>
                </a:solidFill>
                <a:ea typeface="黑体" pitchFamily="2" charset="-122"/>
              </a:rPr>
              <a:t>定理</a:t>
            </a:r>
            <a:r>
              <a:rPr kumimoji="1" lang="en-US" altLang="zh-CN" sz="2800" dirty="0">
                <a:solidFill>
                  <a:srgbClr val="057939"/>
                </a:solidFill>
                <a:ea typeface="黑体" pitchFamily="2" charset="-122"/>
              </a:rPr>
              <a:t>2] </a:t>
            </a:r>
            <a:r>
              <a:rPr kumimoji="1" lang="zh-CN" altLang="en-US" sz="2800" dirty="0">
                <a:ea typeface="黑体" pitchFamily="2" charset="-122"/>
              </a:rPr>
              <a:t>设</a:t>
            </a:r>
            <a:r>
              <a:rPr kumimoji="1" lang="en-US" altLang="zh-CN" sz="2800" i="1" dirty="0">
                <a:ea typeface="黑体" pitchFamily="2" charset="-122"/>
              </a:rPr>
              <a:t>R</a:t>
            </a:r>
            <a:r>
              <a:rPr kumimoji="1" lang="en-US" altLang="en-US" sz="2800" dirty="0">
                <a:ea typeface="黑体" pitchFamily="2" charset="-122"/>
                <a:sym typeface="Symbol" panose="05050102010706020507" pitchFamily="18" charset="2"/>
              </a:rPr>
              <a:t></a:t>
            </a:r>
            <a:r>
              <a:rPr kumimoji="1" lang="en-US" altLang="zh-CN" sz="2800" dirty="0">
                <a:latin typeface="Monotype Corsiva" pitchFamily="66" charset="0"/>
                <a:ea typeface="黑体" pitchFamily="2" charset="-122"/>
              </a:rPr>
              <a:t>F</a:t>
            </a:r>
            <a:r>
              <a:rPr kumimoji="1" lang="en-US" altLang="zh-CN" sz="2800" dirty="0">
                <a:ea typeface="黑体" pitchFamily="2" charset="-122"/>
              </a:rPr>
              <a:t>(U</a:t>
            </a:r>
            <a:r>
              <a:rPr kumimoji="1" lang="en-US" altLang="en-US" sz="2800" dirty="0">
                <a:ea typeface="黑体" pitchFamily="2" charset="-122"/>
              </a:rPr>
              <a:t>×</a:t>
            </a:r>
            <a:r>
              <a:rPr kumimoji="1" lang="en-US" altLang="zh-CN" sz="2800" dirty="0">
                <a:ea typeface="黑体" pitchFamily="2" charset="-122"/>
              </a:rPr>
              <a:t>U)</a:t>
            </a:r>
            <a:r>
              <a:rPr kumimoji="1" lang="zh-CN" altLang="en-US" sz="2800" dirty="0">
                <a:ea typeface="黑体" pitchFamily="2" charset="-122"/>
              </a:rPr>
              <a:t>，总有</a:t>
            </a:r>
          </a:p>
          <a:p>
            <a:pPr eaLnBrk="1" hangingPunct="1">
              <a:buFont typeface="Wingdings" pitchFamily="2" charset="2"/>
              <a:buNone/>
            </a:pPr>
            <a:endParaRPr kumimoji="1" lang="zh-CN" altLang="en-US" sz="2000" dirty="0">
              <a:ea typeface="黑体" pitchFamily="2" charset="-122"/>
            </a:endParaRPr>
          </a:p>
          <a:p>
            <a:pPr eaLnBrk="1" hangingPunct="1">
              <a:buFont typeface="Wingdings" pitchFamily="2" charset="2"/>
              <a:buNone/>
            </a:pPr>
            <a:r>
              <a:rPr kumimoji="1" lang="en-US" altLang="zh-CN" sz="2800" dirty="0">
                <a:solidFill>
                  <a:srgbClr val="057939"/>
                </a:solidFill>
                <a:ea typeface="黑体" pitchFamily="2" charset="-122"/>
              </a:rPr>
              <a:t>[</a:t>
            </a:r>
            <a:r>
              <a:rPr kumimoji="1" lang="zh-CN" altLang="en-US" sz="2800" dirty="0">
                <a:solidFill>
                  <a:srgbClr val="057939"/>
                </a:solidFill>
                <a:ea typeface="黑体" pitchFamily="2" charset="-122"/>
              </a:rPr>
              <a:t>定理</a:t>
            </a:r>
            <a:r>
              <a:rPr kumimoji="1" lang="en-US" altLang="zh-CN" sz="2800" dirty="0">
                <a:solidFill>
                  <a:srgbClr val="057939"/>
                </a:solidFill>
                <a:ea typeface="黑体" pitchFamily="2" charset="-122"/>
              </a:rPr>
              <a:t>3]</a:t>
            </a:r>
          </a:p>
          <a:p>
            <a:pPr eaLnBrk="1" hangingPunct="1">
              <a:buFont typeface="Wingdings" pitchFamily="2" charset="2"/>
              <a:buNone/>
            </a:pPr>
            <a:endParaRPr kumimoji="1" lang="en-US" altLang="zh-CN" sz="1800" dirty="0">
              <a:ea typeface="黑体" pitchFamily="2" charset="-122"/>
            </a:endParaRPr>
          </a:p>
          <a:p>
            <a:pPr eaLnBrk="1" hangingPunct="1">
              <a:buNone/>
            </a:pPr>
            <a:r>
              <a:rPr kumimoji="1" lang="en-US" altLang="zh-CN" sz="2800" dirty="0">
                <a:solidFill>
                  <a:srgbClr val="EE0006"/>
                </a:solidFill>
                <a:ea typeface="黑体" pitchFamily="2" charset="-122"/>
              </a:rPr>
              <a:t>[</a:t>
            </a:r>
            <a:r>
              <a:rPr kumimoji="1" lang="zh-CN" altLang="en-US" sz="2800" dirty="0">
                <a:solidFill>
                  <a:srgbClr val="EE0006"/>
                </a:solidFill>
                <a:ea typeface="黑体" pitchFamily="2" charset="-122"/>
              </a:rPr>
              <a:t>定理</a:t>
            </a:r>
            <a:r>
              <a:rPr kumimoji="1" lang="en-US" altLang="zh-CN" sz="2800" dirty="0">
                <a:solidFill>
                  <a:srgbClr val="EE0006"/>
                </a:solidFill>
                <a:ea typeface="黑体" pitchFamily="2" charset="-122"/>
              </a:rPr>
              <a:t>4] </a:t>
            </a:r>
            <a:r>
              <a:rPr kumimoji="1" lang="zh-CN" altLang="en-US" sz="2400" dirty="0">
                <a:solidFill>
                  <a:srgbClr val="3333FF"/>
                </a:solidFill>
                <a:ea typeface="黑体" pitchFamily="2" charset="-122"/>
              </a:rPr>
              <a:t>设</a:t>
            </a:r>
            <a:r>
              <a:rPr kumimoji="1" lang="en-US" altLang="zh-CN" sz="2400" dirty="0">
                <a:solidFill>
                  <a:srgbClr val="3333FF"/>
                </a:solidFill>
                <a:ea typeface="黑体" pitchFamily="2" charset="-122"/>
              </a:rPr>
              <a:t>|U|=n</a:t>
            </a:r>
            <a:r>
              <a:rPr kumimoji="1" lang="zh-CN" altLang="en-US" sz="2400" dirty="0">
                <a:solidFill>
                  <a:srgbClr val="3333FF"/>
                </a:solidFill>
                <a:ea typeface="黑体" pitchFamily="2" charset="-122"/>
              </a:rPr>
              <a:t>，</a:t>
            </a:r>
            <a:r>
              <a:rPr kumimoji="1" lang="en-US" altLang="zh-CN" sz="2400" i="1" dirty="0">
                <a:solidFill>
                  <a:srgbClr val="3333FF"/>
                </a:solidFill>
                <a:ea typeface="黑体" pitchFamily="2" charset="-122"/>
              </a:rPr>
              <a:t> R</a:t>
            </a:r>
            <a:r>
              <a:rPr kumimoji="1" lang="en-US" altLang="en-US" sz="2400" dirty="0">
                <a:solidFill>
                  <a:srgbClr val="3333FF"/>
                </a:solidFill>
                <a:ea typeface="黑体" pitchFamily="2" charset="-122"/>
                <a:sym typeface="Symbol" panose="05050102010706020507" pitchFamily="18" charset="2"/>
              </a:rPr>
              <a:t></a:t>
            </a:r>
            <a:r>
              <a:rPr kumimoji="1" lang="en-US" altLang="zh-CN" sz="2400" dirty="0">
                <a:solidFill>
                  <a:srgbClr val="3333FF"/>
                </a:solidFill>
                <a:latin typeface="Monotype Corsiva" pitchFamily="66" charset="0"/>
                <a:ea typeface="黑体" pitchFamily="2" charset="-122"/>
              </a:rPr>
              <a:t>F</a:t>
            </a:r>
            <a:r>
              <a:rPr kumimoji="1" lang="en-US" altLang="zh-CN" sz="2400" dirty="0">
                <a:solidFill>
                  <a:srgbClr val="3333FF"/>
                </a:solidFill>
                <a:ea typeface="黑体" pitchFamily="2" charset="-122"/>
              </a:rPr>
              <a:t>(U</a:t>
            </a:r>
            <a:r>
              <a:rPr kumimoji="1" lang="en-US" altLang="en-US" sz="2400" dirty="0">
                <a:solidFill>
                  <a:srgbClr val="3333FF"/>
                </a:solidFill>
                <a:ea typeface="黑体" pitchFamily="2" charset="-122"/>
              </a:rPr>
              <a:t>×</a:t>
            </a:r>
            <a:r>
              <a:rPr kumimoji="1" lang="en-US" altLang="zh-CN" sz="2400" dirty="0">
                <a:solidFill>
                  <a:srgbClr val="3333FF"/>
                </a:solidFill>
                <a:ea typeface="黑体" pitchFamily="2" charset="-122"/>
              </a:rPr>
              <a:t>U) </a:t>
            </a:r>
            <a:r>
              <a:rPr kumimoji="1" lang="zh-CN" altLang="en-US" sz="2400" dirty="0">
                <a:solidFill>
                  <a:srgbClr val="3333FF"/>
                </a:solidFill>
                <a:ea typeface="黑体" pitchFamily="2" charset="-122"/>
              </a:rPr>
              <a:t>，则</a:t>
            </a:r>
          </a:p>
        </p:txBody>
      </p:sp>
      <p:graphicFrame>
        <p:nvGraphicFramePr>
          <p:cNvPr id="140292" name="Object 4"/>
          <p:cNvGraphicFramePr>
            <a:graphicFrameLocks noGrp="1" noChangeAspect="1"/>
          </p:cNvGraphicFramePr>
          <p:nvPr>
            <p:ph sz="quarter" idx="2"/>
            <p:extLst>
              <p:ext uri="{D42A27DB-BD31-4B8C-83A1-F6EECF244321}">
                <p14:modId xmlns:p14="http://schemas.microsoft.com/office/powerpoint/2010/main" val="2385861550"/>
              </p:ext>
            </p:extLst>
          </p:nvPr>
        </p:nvGraphicFramePr>
        <p:xfrm>
          <a:off x="2063552" y="1773238"/>
          <a:ext cx="368300" cy="647700"/>
        </p:xfrm>
        <a:graphic>
          <a:graphicData uri="http://schemas.openxmlformats.org/presentationml/2006/ole">
            <mc:AlternateContent xmlns:mc="http://schemas.openxmlformats.org/markup-compatibility/2006">
              <mc:Choice xmlns:v="urn:schemas-microsoft-com:vml" Requires="v">
                <p:oleObj name="公式" r:id="rId3" imgW="152268" imgH="266469" progId="Equation.3">
                  <p:embed/>
                </p:oleObj>
              </mc:Choice>
              <mc:Fallback>
                <p:oleObj name="公式" r:id="rId3" imgW="152268" imgH="266469" progId="Equation.3">
                  <p:embed/>
                  <p:pic>
                    <p:nvPicPr>
                      <p:cNvPr id="14029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552" y="1773238"/>
                        <a:ext cx="3683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3" name="Object 5"/>
          <p:cNvGraphicFramePr>
            <a:graphicFrameLocks noGrp="1" noChangeAspect="1"/>
          </p:cNvGraphicFramePr>
          <p:nvPr>
            <p:ph sz="quarter" idx="3"/>
            <p:extLst>
              <p:ext uri="{D42A27DB-BD31-4B8C-83A1-F6EECF244321}">
                <p14:modId xmlns:p14="http://schemas.microsoft.com/office/powerpoint/2010/main" val="3981419629"/>
              </p:ext>
            </p:extLst>
          </p:nvPr>
        </p:nvGraphicFramePr>
        <p:xfrm>
          <a:off x="4871864" y="1773239"/>
          <a:ext cx="936625" cy="631825"/>
        </p:xfrm>
        <a:graphic>
          <a:graphicData uri="http://schemas.openxmlformats.org/presentationml/2006/ole">
            <mc:AlternateContent xmlns:mc="http://schemas.openxmlformats.org/markup-compatibility/2006">
              <mc:Choice xmlns:v="urn:schemas-microsoft-com:vml" Requires="v">
                <p:oleObj name="公式" r:id="rId5" imgW="431613" imgH="291973" progId="Equation.3">
                  <p:embed/>
                </p:oleObj>
              </mc:Choice>
              <mc:Fallback>
                <p:oleObj name="公式" r:id="rId5" imgW="431613" imgH="291973" progId="Equation.3">
                  <p:embed/>
                  <p:pic>
                    <p:nvPicPr>
                      <p:cNvPr id="14029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1864" y="1773239"/>
                        <a:ext cx="936625"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4" name="Object 6"/>
          <p:cNvGraphicFramePr>
            <a:graphicFrameLocks noChangeAspect="1"/>
          </p:cNvGraphicFramePr>
          <p:nvPr>
            <p:extLst>
              <p:ext uri="{D42A27DB-BD31-4B8C-83A1-F6EECF244321}">
                <p14:modId xmlns:p14="http://schemas.microsoft.com/office/powerpoint/2010/main" val="3341187593"/>
              </p:ext>
            </p:extLst>
          </p:nvPr>
        </p:nvGraphicFramePr>
        <p:xfrm>
          <a:off x="6600056" y="2276872"/>
          <a:ext cx="936625" cy="658813"/>
        </p:xfrm>
        <a:graphic>
          <a:graphicData uri="http://schemas.openxmlformats.org/presentationml/2006/ole">
            <mc:AlternateContent xmlns:mc="http://schemas.openxmlformats.org/markup-compatibility/2006">
              <mc:Choice xmlns:v="urn:schemas-microsoft-com:vml" Requires="v">
                <p:oleObj name="公式" r:id="rId7" imgW="431613" imgH="304668" progId="Equation.3">
                  <p:embed/>
                </p:oleObj>
              </mc:Choice>
              <mc:Fallback>
                <p:oleObj name="公式" r:id="rId7" imgW="431613" imgH="304668" progId="Equation.3">
                  <p:embed/>
                  <p:pic>
                    <p:nvPicPr>
                      <p:cNvPr id="140294"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0056" y="2276872"/>
                        <a:ext cx="936625"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5" name="Object 7"/>
          <p:cNvGraphicFramePr>
            <a:graphicFrameLocks noChangeAspect="1"/>
          </p:cNvGraphicFramePr>
          <p:nvPr>
            <p:extLst>
              <p:ext uri="{D42A27DB-BD31-4B8C-83A1-F6EECF244321}">
                <p14:modId xmlns:p14="http://schemas.microsoft.com/office/powerpoint/2010/main" val="405938963"/>
              </p:ext>
            </p:extLst>
          </p:nvPr>
        </p:nvGraphicFramePr>
        <p:xfrm>
          <a:off x="5699671" y="2834258"/>
          <a:ext cx="1223963" cy="666750"/>
        </p:xfrm>
        <a:graphic>
          <a:graphicData uri="http://schemas.openxmlformats.org/presentationml/2006/ole">
            <mc:AlternateContent xmlns:mc="http://schemas.openxmlformats.org/markup-compatibility/2006">
              <mc:Choice xmlns:v="urn:schemas-microsoft-com:vml" Requires="v">
                <p:oleObj name="公式" r:id="rId9" imgW="558558" imgH="304668" progId="Equation.3">
                  <p:embed/>
                </p:oleObj>
              </mc:Choice>
              <mc:Fallback>
                <p:oleObj name="公式" r:id="rId9" imgW="558558" imgH="304668" progId="Equation.3">
                  <p:embed/>
                  <p:pic>
                    <p:nvPicPr>
                      <p:cNvPr id="14029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99671" y="2834258"/>
                        <a:ext cx="1223963"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6" name="Object 8"/>
          <p:cNvGraphicFramePr>
            <a:graphicFrameLocks noChangeAspect="1"/>
          </p:cNvGraphicFramePr>
          <p:nvPr>
            <p:extLst>
              <p:ext uri="{D42A27DB-BD31-4B8C-83A1-F6EECF244321}">
                <p14:modId xmlns:p14="http://schemas.microsoft.com/office/powerpoint/2010/main" val="2013405326"/>
              </p:ext>
            </p:extLst>
          </p:nvPr>
        </p:nvGraphicFramePr>
        <p:xfrm>
          <a:off x="5591944" y="3933826"/>
          <a:ext cx="1728788" cy="931863"/>
        </p:xfrm>
        <a:graphic>
          <a:graphicData uri="http://schemas.openxmlformats.org/presentationml/2006/ole">
            <mc:AlternateContent xmlns:mc="http://schemas.openxmlformats.org/markup-compatibility/2006">
              <mc:Choice xmlns:v="urn:schemas-microsoft-com:vml" Requires="v">
                <p:oleObj name="公式" r:id="rId11" imgW="799753" imgH="431613" progId="Equation.3">
                  <p:embed/>
                </p:oleObj>
              </mc:Choice>
              <mc:Fallback>
                <p:oleObj name="公式" r:id="rId11" imgW="799753" imgH="431613" progId="Equation.3">
                  <p:embed/>
                  <p:pic>
                    <p:nvPicPr>
                      <p:cNvPr id="140296"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91944" y="3933826"/>
                        <a:ext cx="1728788"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7" name="Object 9"/>
          <p:cNvGraphicFramePr>
            <a:graphicFrameLocks noChangeAspect="1"/>
          </p:cNvGraphicFramePr>
          <p:nvPr>
            <p:extLst>
              <p:ext uri="{D42A27DB-BD31-4B8C-83A1-F6EECF244321}">
                <p14:modId xmlns:p14="http://schemas.microsoft.com/office/powerpoint/2010/main" val="899473915"/>
              </p:ext>
            </p:extLst>
          </p:nvPr>
        </p:nvGraphicFramePr>
        <p:xfrm>
          <a:off x="2351584" y="4868864"/>
          <a:ext cx="4679950" cy="858837"/>
        </p:xfrm>
        <a:graphic>
          <a:graphicData uri="http://schemas.openxmlformats.org/presentationml/2006/ole">
            <mc:AlternateContent xmlns:mc="http://schemas.openxmlformats.org/markup-compatibility/2006">
              <mc:Choice xmlns:v="urn:schemas-microsoft-com:vml" Requires="v">
                <p:oleObj name="Equation" r:id="rId13" imgW="2349360" imgH="431640" progId="Equation.DSMT4">
                  <p:embed/>
                </p:oleObj>
              </mc:Choice>
              <mc:Fallback>
                <p:oleObj name="Equation" r:id="rId13" imgW="2349360" imgH="431640" progId="Equation.DSMT4">
                  <p:embed/>
                  <p:pic>
                    <p:nvPicPr>
                      <p:cNvPr id="140297" name="Object 9"/>
                      <p:cNvPicPr>
                        <a:picLocks noChangeAspect="1" noChangeArrowheads="1"/>
                      </p:cNvPicPr>
                      <p:nvPr/>
                    </p:nvPicPr>
                    <p:blipFill>
                      <a:blip r:embed="rId14"/>
                      <a:srcRect/>
                      <a:stretch>
                        <a:fillRect/>
                      </a:stretch>
                    </p:blipFill>
                    <p:spPr bwMode="auto">
                      <a:xfrm>
                        <a:off x="2351584" y="4868864"/>
                        <a:ext cx="4679950"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8" name="Object 10"/>
          <p:cNvGraphicFramePr>
            <a:graphicFrameLocks noChangeAspect="1"/>
          </p:cNvGraphicFramePr>
          <p:nvPr>
            <p:extLst>
              <p:ext uri="{D42A27DB-BD31-4B8C-83A1-F6EECF244321}">
                <p14:modId xmlns:p14="http://schemas.microsoft.com/office/powerpoint/2010/main" val="2742169292"/>
              </p:ext>
            </p:extLst>
          </p:nvPr>
        </p:nvGraphicFramePr>
        <p:xfrm>
          <a:off x="2207568" y="2781300"/>
          <a:ext cx="368300" cy="647700"/>
        </p:xfrm>
        <a:graphic>
          <a:graphicData uri="http://schemas.openxmlformats.org/presentationml/2006/ole">
            <mc:AlternateContent xmlns:mc="http://schemas.openxmlformats.org/markup-compatibility/2006">
              <mc:Choice xmlns:v="urn:schemas-microsoft-com:vml" Requires="v">
                <p:oleObj name="公式" r:id="rId15" imgW="152268" imgH="266469" progId="Equation.3">
                  <p:embed/>
                </p:oleObj>
              </mc:Choice>
              <mc:Fallback>
                <p:oleObj name="公式" r:id="rId15" imgW="152268" imgH="266469" progId="Equation.3">
                  <p:embed/>
                  <p:pic>
                    <p:nvPicPr>
                      <p:cNvPr id="140298"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7568" y="2781300"/>
                        <a:ext cx="3683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9" name="Object 11"/>
          <p:cNvGraphicFramePr>
            <a:graphicFrameLocks noChangeAspect="1"/>
          </p:cNvGraphicFramePr>
          <p:nvPr>
            <p:extLst>
              <p:ext uri="{D42A27DB-BD31-4B8C-83A1-F6EECF244321}">
                <p14:modId xmlns:p14="http://schemas.microsoft.com/office/powerpoint/2010/main" val="2552010609"/>
              </p:ext>
            </p:extLst>
          </p:nvPr>
        </p:nvGraphicFramePr>
        <p:xfrm>
          <a:off x="6168008" y="5661248"/>
          <a:ext cx="1441450" cy="979488"/>
        </p:xfrm>
        <a:graphic>
          <a:graphicData uri="http://schemas.openxmlformats.org/presentationml/2006/ole">
            <mc:AlternateContent xmlns:mc="http://schemas.openxmlformats.org/markup-compatibility/2006">
              <mc:Choice xmlns:v="urn:schemas-microsoft-com:vml" Requires="v">
                <p:oleObj name="公式" r:id="rId17" imgW="634725" imgH="431613" progId="Equation.3">
                  <p:embed/>
                </p:oleObj>
              </mc:Choice>
              <mc:Fallback>
                <p:oleObj name="公式" r:id="rId17" imgW="634725" imgH="431613" progId="Equation.3">
                  <p:embed/>
                  <p:pic>
                    <p:nvPicPr>
                      <p:cNvPr id="140299"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68008" y="5661248"/>
                        <a:ext cx="1441450" cy="97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A5D70D99-7077-9037-BD1C-F15AEFB43843}"/>
              </a:ext>
            </a:extLst>
          </p:cNvPr>
          <p:cNvSpPr>
            <a:spLocks noGrp="1"/>
          </p:cNvSpPr>
          <p:nvPr>
            <p:ph type="sldNum" sz="quarter" idx="11"/>
          </p:nvPr>
        </p:nvSpPr>
        <p:spPr/>
        <p:txBody>
          <a:bodyPr/>
          <a:lstStyle/>
          <a:p>
            <a:pPr>
              <a:defRPr/>
            </a:pPr>
            <a:fld id="{FC9A31AC-AC4A-4C65-A279-8DC32B7DED70}" type="slidenum">
              <a:rPr lang="en-US" altLang="zh-CN" smtClean="0"/>
              <a:pPr>
                <a:defRPr/>
              </a:pPr>
              <a:t>12</a:t>
            </a:fld>
            <a:endParaRPr lang="en-US" altLang="zh-CN"/>
          </a:p>
        </p:txBody>
      </p:sp>
    </p:spTree>
    <p:extLst>
      <p:ext uri="{BB962C8B-B14F-4D97-AF65-F5344CB8AC3E}">
        <p14:creationId xmlns:p14="http://schemas.microsoft.com/office/powerpoint/2010/main" val="31952022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left)">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wipe(left)">
                                      <p:cBhvr>
                                        <p:cTn id="12" dur="500"/>
                                        <p:tgtEl>
                                          <p:spTgt spid="140291">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40292"/>
                                        </p:tgtEl>
                                        <p:attrNameLst>
                                          <p:attrName>style.visibility</p:attrName>
                                        </p:attrNameLst>
                                      </p:cBhvr>
                                      <p:to>
                                        <p:strVal val="visible"/>
                                      </p:to>
                                    </p:set>
                                    <p:animEffect transition="in" filter="wipe(left)">
                                      <p:cBhvr>
                                        <p:cTn id="15" dur="500"/>
                                        <p:tgtEl>
                                          <p:spTgt spid="140292"/>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140293"/>
                                        </p:tgtEl>
                                        <p:attrNameLst>
                                          <p:attrName>style.visibility</p:attrName>
                                        </p:attrNameLst>
                                      </p:cBhvr>
                                      <p:to>
                                        <p:strVal val="visible"/>
                                      </p:to>
                                    </p:set>
                                    <p:animEffect transition="in" filter="wipe(left)">
                                      <p:cBhvr>
                                        <p:cTn id="19" dur="500"/>
                                        <p:tgtEl>
                                          <p:spTgt spid="14029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0291">
                                            <p:txEl>
                                              <p:pRg st="2" end="2"/>
                                            </p:txEl>
                                          </p:spTgt>
                                        </p:tgtEl>
                                        <p:attrNameLst>
                                          <p:attrName>style.visibility</p:attrName>
                                        </p:attrNameLst>
                                      </p:cBhvr>
                                      <p:to>
                                        <p:strVal val="visible"/>
                                      </p:to>
                                    </p:set>
                                    <p:animEffect transition="in" filter="wipe(left)">
                                      <p:cBhvr>
                                        <p:cTn id="24" dur="500"/>
                                        <p:tgtEl>
                                          <p:spTgt spid="140291">
                                            <p:txEl>
                                              <p:pRg st="2" end="2"/>
                                            </p:txEl>
                                          </p:spTgt>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140294"/>
                                        </p:tgtEl>
                                        <p:attrNameLst>
                                          <p:attrName>style.visibility</p:attrName>
                                        </p:attrNameLst>
                                      </p:cBhvr>
                                      <p:to>
                                        <p:strVal val="visible"/>
                                      </p:to>
                                    </p:set>
                                    <p:animEffect transition="in" filter="wipe(left)">
                                      <p:cBhvr>
                                        <p:cTn id="28" dur="500"/>
                                        <p:tgtEl>
                                          <p:spTgt spid="14029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0291">
                                            <p:txEl>
                                              <p:pRg st="3" end="3"/>
                                            </p:txEl>
                                          </p:spTgt>
                                        </p:tgtEl>
                                        <p:attrNameLst>
                                          <p:attrName>style.visibility</p:attrName>
                                        </p:attrNameLst>
                                      </p:cBhvr>
                                      <p:to>
                                        <p:strVal val="visible"/>
                                      </p:to>
                                    </p:set>
                                    <p:animEffect transition="in" filter="wipe(left)">
                                      <p:cBhvr>
                                        <p:cTn id="33" dur="500"/>
                                        <p:tgtEl>
                                          <p:spTgt spid="140291">
                                            <p:txEl>
                                              <p:pRg st="3" end="3"/>
                                            </p:txEl>
                                          </p:spTgt>
                                        </p:tgtEl>
                                      </p:cBhvr>
                                    </p:animEffect>
                                  </p:childTnLst>
                                </p:cTn>
                              </p:par>
                              <p:par>
                                <p:cTn id="34" presetID="22" presetClass="entr" presetSubtype="8" fill="hold" nodeType="withEffect">
                                  <p:stCondLst>
                                    <p:cond delay="0"/>
                                  </p:stCondLst>
                                  <p:childTnLst>
                                    <p:set>
                                      <p:cBhvr>
                                        <p:cTn id="35" dur="1" fill="hold">
                                          <p:stCondLst>
                                            <p:cond delay="0"/>
                                          </p:stCondLst>
                                        </p:cTn>
                                        <p:tgtEl>
                                          <p:spTgt spid="140298"/>
                                        </p:tgtEl>
                                        <p:attrNameLst>
                                          <p:attrName>style.visibility</p:attrName>
                                        </p:attrNameLst>
                                      </p:cBhvr>
                                      <p:to>
                                        <p:strVal val="visible"/>
                                      </p:to>
                                    </p:set>
                                    <p:animEffect transition="in" filter="wipe(left)">
                                      <p:cBhvr>
                                        <p:cTn id="36" dur="500"/>
                                        <p:tgtEl>
                                          <p:spTgt spid="140298"/>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140295"/>
                                        </p:tgtEl>
                                        <p:attrNameLst>
                                          <p:attrName>style.visibility</p:attrName>
                                        </p:attrNameLst>
                                      </p:cBhvr>
                                      <p:to>
                                        <p:strVal val="visible"/>
                                      </p:to>
                                    </p:set>
                                    <p:animEffect transition="in" filter="wipe(left)">
                                      <p:cBhvr>
                                        <p:cTn id="40" dur="500"/>
                                        <p:tgtEl>
                                          <p:spTgt spid="14029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0291">
                                            <p:txEl>
                                              <p:pRg st="4" end="4"/>
                                            </p:txEl>
                                          </p:spTgt>
                                        </p:tgtEl>
                                        <p:attrNameLst>
                                          <p:attrName>style.visibility</p:attrName>
                                        </p:attrNameLst>
                                      </p:cBhvr>
                                      <p:to>
                                        <p:strVal val="visible"/>
                                      </p:to>
                                    </p:set>
                                    <p:animEffect transition="in" filter="wipe(left)">
                                      <p:cBhvr>
                                        <p:cTn id="45" dur="500"/>
                                        <p:tgtEl>
                                          <p:spTgt spid="140291">
                                            <p:txEl>
                                              <p:pRg st="4" end="4"/>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0291">
                                            <p:txEl>
                                              <p:pRg st="6" end="6"/>
                                            </p:txEl>
                                          </p:spTgt>
                                        </p:tgtEl>
                                        <p:attrNameLst>
                                          <p:attrName>style.visibility</p:attrName>
                                        </p:attrNameLst>
                                      </p:cBhvr>
                                      <p:to>
                                        <p:strVal val="visible"/>
                                      </p:to>
                                    </p:set>
                                    <p:animEffect transition="in" filter="wipe(left)">
                                      <p:cBhvr>
                                        <p:cTn id="50" dur="500"/>
                                        <p:tgtEl>
                                          <p:spTgt spid="140291">
                                            <p:txEl>
                                              <p:pRg st="6" end="6"/>
                                            </p:txEl>
                                          </p:spTgt>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140296"/>
                                        </p:tgtEl>
                                        <p:attrNameLst>
                                          <p:attrName>style.visibility</p:attrName>
                                        </p:attrNameLst>
                                      </p:cBhvr>
                                      <p:to>
                                        <p:strVal val="visible"/>
                                      </p:to>
                                    </p:set>
                                    <p:animEffect transition="in" filter="wipe(left)">
                                      <p:cBhvr>
                                        <p:cTn id="54" dur="500"/>
                                        <p:tgtEl>
                                          <p:spTgt spid="14029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0291">
                                            <p:txEl>
                                              <p:pRg st="8" end="8"/>
                                            </p:txEl>
                                          </p:spTgt>
                                        </p:tgtEl>
                                        <p:attrNameLst>
                                          <p:attrName>style.visibility</p:attrName>
                                        </p:attrNameLst>
                                      </p:cBhvr>
                                      <p:to>
                                        <p:strVal val="visible"/>
                                      </p:to>
                                    </p:set>
                                    <p:animEffect transition="in" filter="wipe(left)">
                                      <p:cBhvr>
                                        <p:cTn id="59" dur="500"/>
                                        <p:tgtEl>
                                          <p:spTgt spid="140291">
                                            <p:txEl>
                                              <p:pRg st="8" end="8"/>
                                            </p:txEl>
                                          </p:spTgt>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140297"/>
                                        </p:tgtEl>
                                        <p:attrNameLst>
                                          <p:attrName>style.visibility</p:attrName>
                                        </p:attrNameLst>
                                      </p:cBhvr>
                                      <p:to>
                                        <p:strVal val="visible"/>
                                      </p:to>
                                    </p:set>
                                    <p:animEffect transition="in" filter="wipe(left)">
                                      <p:cBhvr>
                                        <p:cTn id="63" dur="500"/>
                                        <p:tgtEl>
                                          <p:spTgt spid="14029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40291">
                                            <p:txEl>
                                              <p:pRg st="10" end="10"/>
                                            </p:txEl>
                                          </p:spTgt>
                                        </p:tgtEl>
                                        <p:attrNameLst>
                                          <p:attrName>style.visibility</p:attrName>
                                        </p:attrNameLst>
                                      </p:cBhvr>
                                      <p:to>
                                        <p:strVal val="visible"/>
                                      </p:to>
                                    </p:set>
                                    <p:animEffect transition="in" filter="wipe(left)">
                                      <p:cBhvr>
                                        <p:cTn id="68" dur="500"/>
                                        <p:tgtEl>
                                          <p:spTgt spid="140291">
                                            <p:txEl>
                                              <p:pRg st="10" end="10"/>
                                            </p:txEl>
                                          </p:spTgt>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140299"/>
                                        </p:tgtEl>
                                        <p:attrNameLst>
                                          <p:attrName>style.visibility</p:attrName>
                                        </p:attrNameLst>
                                      </p:cBhvr>
                                      <p:to>
                                        <p:strVal val="visible"/>
                                      </p:to>
                                    </p:set>
                                    <p:animEffect transition="in" filter="wipe(left)">
                                      <p:cBhvr>
                                        <p:cTn id="72" dur="500"/>
                                        <p:tgtEl>
                                          <p:spTgt spid="140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73A2-82EC-7448-BC72-E4213BA3094A}"/>
            </a:ext>
          </a:extLst>
        </p:cNvPr>
        <p:cNvGrpSpPr/>
        <p:nvPr/>
      </p:nvGrpSpPr>
      <p:grpSpPr>
        <a:xfrm>
          <a:off x="0" y="0"/>
          <a:ext cx="0" cy="0"/>
          <a:chOff x="0" y="0"/>
          <a:chExt cx="0" cy="0"/>
        </a:xfrm>
      </p:grpSpPr>
      <p:pic>
        <p:nvPicPr>
          <p:cNvPr id="76805" name="Picture 5">
            <a:extLst>
              <a:ext uri="{FF2B5EF4-FFF2-40B4-BE49-F238E27FC236}">
                <a16:creationId xmlns:a16="http://schemas.microsoft.com/office/drawing/2014/main" id="{50BEDD51-D1C9-883E-0981-00368235B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6551" y="1560513"/>
            <a:ext cx="9001125"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3CDF4486-D90E-76CE-B60A-5D9E9A3C8673}"/>
              </a:ext>
            </a:extLst>
          </p:cNvPr>
          <p:cNvSpPr/>
          <p:nvPr/>
        </p:nvSpPr>
        <p:spPr>
          <a:xfrm>
            <a:off x="1524000" y="5733257"/>
            <a:ext cx="9144000" cy="1114241"/>
          </a:xfrm>
          <a:prstGeom prst="rect">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62" name="Text Box 2">
            <a:extLst>
              <a:ext uri="{FF2B5EF4-FFF2-40B4-BE49-F238E27FC236}">
                <a16:creationId xmlns:a16="http://schemas.microsoft.com/office/drawing/2014/main" id="{FFAF2A2F-415D-CB0E-A93E-702F8F31E0C0}"/>
              </a:ext>
            </a:extLst>
          </p:cNvPr>
          <p:cNvSpPr txBox="1">
            <a:spLocks noChangeArrowheads="1"/>
          </p:cNvSpPr>
          <p:nvPr/>
        </p:nvSpPr>
        <p:spPr bwMode="auto">
          <a:xfrm>
            <a:off x="1127448" y="1434910"/>
            <a:ext cx="79930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algn="l" eaLnBrk="1" hangingPunct="1"/>
            <a:r>
              <a:rPr lang="en-US" altLang="zh-CN" sz="3200" b="1" dirty="0"/>
              <a:t>R</a:t>
            </a:r>
            <a:r>
              <a:rPr lang="en-US" altLang="zh-CN" sz="3200" b="1" i="0" baseline="30000" dirty="0"/>
              <a:t>0</a:t>
            </a:r>
            <a:r>
              <a:rPr lang="en-US" altLang="zh-CN" sz="3200" b="1" i="0" dirty="0"/>
              <a:t>, </a:t>
            </a:r>
            <a:r>
              <a:rPr lang="en-US" altLang="zh-CN" sz="3200" b="1" dirty="0"/>
              <a:t>R</a:t>
            </a:r>
            <a:r>
              <a:rPr lang="en-US" altLang="zh-CN" sz="3200" b="1" i="0" baseline="30000" dirty="0"/>
              <a:t>1</a:t>
            </a:r>
            <a:r>
              <a:rPr lang="en-US" altLang="zh-CN" sz="3200" b="1" i="0" dirty="0"/>
              <a:t>, </a:t>
            </a:r>
            <a:r>
              <a:rPr lang="en-US" altLang="zh-CN" sz="3200" b="1" dirty="0"/>
              <a:t>R</a:t>
            </a:r>
            <a:r>
              <a:rPr lang="en-US" altLang="zh-CN" sz="3200" b="1" i="0" baseline="30000" dirty="0"/>
              <a:t>2</a:t>
            </a:r>
            <a:r>
              <a:rPr lang="en-US" altLang="zh-CN" sz="3200" b="1" i="0" dirty="0"/>
              <a:t>, </a:t>
            </a:r>
            <a:r>
              <a:rPr lang="en-US" altLang="zh-CN" sz="3200" b="1" dirty="0"/>
              <a:t>R</a:t>
            </a:r>
            <a:r>
              <a:rPr lang="en-US" altLang="zh-CN" sz="3200" b="1" i="0" baseline="30000" dirty="0"/>
              <a:t>3</a:t>
            </a:r>
            <a:r>
              <a:rPr lang="en-US" altLang="zh-CN" sz="3200" b="1" i="0" dirty="0"/>
              <a:t>,…</a:t>
            </a:r>
            <a:r>
              <a:rPr lang="zh-CN" altLang="en-US" sz="3200" b="1" i="0" dirty="0"/>
              <a:t>的关系图如下图所示</a:t>
            </a:r>
          </a:p>
        </p:txBody>
      </p:sp>
      <p:sp>
        <p:nvSpPr>
          <p:cNvPr id="15363" name="Rectangle 3">
            <a:extLst>
              <a:ext uri="{FF2B5EF4-FFF2-40B4-BE49-F238E27FC236}">
                <a16:creationId xmlns:a16="http://schemas.microsoft.com/office/drawing/2014/main" id="{D0733EFD-B5A7-9ECE-7C4F-6AD4903FB1E3}"/>
              </a:ext>
            </a:extLst>
          </p:cNvPr>
          <p:cNvSpPr>
            <a:spLocks noGrp="1" noChangeArrowheads="1"/>
          </p:cNvSpPr>
          <p:nvPr>
            <p:ph type="title"/>
          </p:nvPr>
        </p:nvSpPr>
        <p:spPr>
          <a:xfrm>
            <a:off x="1992313" y="188913"/>
            <a:ext cx="8229600" cy="1371600"/>
          </a:xfrm>
          <a:noFill/>
        </p:spPr>
        <p:txBody>
          <a:bodyPr/>
          <a:lstStyle/>
          <a:p>
            <a:pPr algn="ctr" eaLnBrk="1" hangingPunct="1"/>
            <a:r>
              <a:rPr lang="zh-CN" altLang="en-US" dirty="0">
                <a:solidFill>
                  <a:srgbClr val="057939"/>
                </a:solidFill>
                <a:latin typeface="黑体" panose="02010609060101010101" pitchFamily="49" charset="-122"/>
                <a:ea typeface="黑体" panose="02010609060101010101" pitchFamily="49" charset="-122"/>
              </a:rPr>
              <a:t>普通二元关系幂的运算</a:t>
            </a:r>
            <a:endParaRPr lang="zh-CN" altLang="en-US" dirty="0"/>
          </a:p>
        </p:txBody>
      </p:sp>
      <p:sp>
        <p:nvSpPr>
          <p:cNvPr id="6" name="文本框 5">
            <a:extLst>
              <a:ext uri="{FF2B5EF4-FFF2-40B4-BE49-F238E27FC236}">
                <a16:creationId xmlns:a16="http://schemas.microsoft.com/office/drawing/2014/main" id="{FEDDDC28-5DB2-CCA2-D3FB-C5BD564590C0}"/>
              </a:ext>
            </a:extLst>
          </p:cNvPr>
          <p:cNvSpPr txBox="1"/>
          <p:nvPr/>
        </p:nvSpPr>
        <p:spPr>
          <a:xfrm>
            <a:off x="1487488" y="6074132"/>
            <a:ext cx="8858250" cy="523220"/>
          </a:xfrm>
          <a:prstGeom prst="rect">
            <a:avLst/>
          </a:prstGeom>
          <a:noFill/>
        </p:spPr>
        <p:txBody>
          <a:bodyPr wrap="square">
            <a:spAutoFit/>
          </a:bodyPr>
          <a:lstStyle/>
          <a:p>
            <a:pPr eaLnBrk="1" hangingPunct="1">
              <a:buFont typeface="Wingdings" pitchFamily="2" charset="2"/>
              <a:buNone/>
            </a:pPr>
            <a:r>
              <a:rPr kumimoji="1" lang="en-US" altLang="zh-CN" sz="2800" dirty="0">
                <a:solidFill>
                  <a:srgbClr val="EE0006"/>
                </a:solidFill>
                <a:ea typeface="黑体" pitchFamily="2" charset="-122"/>
              </a:rPr>
              <a:t>[</a:t>
            </a:r>
            <a:r>
              <a:rPr kumimoji="1" lang="zh-CN" altLang="en-US" sz="2800" dirty="0">
                <a:solidFill>
                  <a:srgbClr val="EE0006"/>
                </a:solidFill>
                <a:ea typeface="黑体" pitchFamily="2" charset="-122"/>
              </a:rPr>
              <a:t>定理</a:t>
            </a:r>
            <a:r>
              <a:rPr kumimoji="1" lang="en-US" altLang="zh-CN" sz="2800" dirty="0">
                <a:solidFill>
                  <a:srgbClr val="EE0006"/>
                </a:solidFill>
                <a:ea typeface="黑体" pitchFamily="2" charset="-122"/>
              </a:rPr>
              <a:t>4]  </a:t>
            </a:r>
            <a:r>
              <a:rPr kumimoji="1" lang="zh-CN" altLang="en-US" sz="2800" dirty="0">
                <a:solidFill>
                  <a:srgbClr val="3333FF"/>
                </a:solidFill>
                <a:ea typeface="黑体" pitchFamily="2" charset="-122"/>
              </a:rPr>
              <a:t>设</a:t>
            </a:r>
            <a:r>
              <a:rPr kumimoji="1" lang="en-US" altLang="zh-CN" sz="2800" dirty="0">
                <a:solidFill>
                  <a:srgbClr val="3333FF"/>
                </a:solidFill>
                <a:ea typeface="黑体" pitchFamily="2" charset="-122"/>
              </a:rPr>
              <a:t>|U|=n</a:t>
            </a:r>
            <a:r>
              <a:rPr kumimoji="1" lang="zh-CN" altLang="en-US" sz="2800" dirty="0">
                <a:solidFill>
                  <a:srgbClr val="3333FF"/>
                </a:solidFill>
                <a:ea typeface="黑体" pitchFamily="2" charset="-122"/>
              </a:rPr>
              <a:t>，</a:t>
            </a:r>
            <a:r>
              <a:rPr kumimoji="1" lang="en-US" altLang="zh-CN" sz="2800" i="1" dirty="0">
                <a:solidFill>
                  <a:srgbClr val="3333FF"/>
                </a:solidFill>
                <a:ea typeface="黑体" pitchFamily="2" charset="-122"/>
              </a:rPr>
              <a:t> R</a:t>
            </a:r>
            <a:r>
              <a:rPr kumimoji="1" lang="en-US" altLang="en-US" sz="2800" dirty="0">
                <a:solidFill>
                  <a:srgbClr val="3333FF"/>
                </a:solidFill>
                <a:ea typeface="黑体" pitchFamily="2" charset="-122"/>
                <a:sym typeface="Symbol" panose="05050102010706020507" pitchFamily="18" charset="2"/>
              </a:rPr>
              <a:t></a:t>
            </a:r>
            <a:r>
              <a:rPr kumimoji="1" lang="en-US" altLang="zh-CN" sz="2800" dirty="0">
                <a:solidFill>
                  <a:srgbClr val="3333FF"/>
                </a:solidFill>
                <a:latin typeface="Monotype Corsiva" pitchFamily="66" charset="0"/>
                <a:ea typeface="黑体" pitchFamily="2" charset="-122"/>
              </a:rPr>
              <a:t>F</a:t>
            </a:r>
            <a:r>
              <a:rPr kumimoji="1" lang="en-US" altLang="zh-CN" sz="2800" dirty="0">
                <a:solidFill>
                  <a:srgbClr val="3333FF"/>
                </a:solidFill>
                <a:ea typeface="黑体" pitchFamily="2" charset="-122"/>
              </a:rPr>
              <a:t>(U</a:t>
            </a:r>
            <a:r>
              <a:rPr kumimoji="1" lang="en-US" altLang="en-US" sz="2800" dirty="0">
                <a:solidFill>
                  <a:srgbClr val="3333FF"/>
                </a:solidFill>
                <a:ea typeface="黑体" pitchFamily="2" charset="-122"/>
              </a:rPr>
              <a:t>×</a:t>
            </a:r>
            <a:r>
              <a:rPr kumimoji="1" lang="en-US" altLang="zh-CN" sz="2800" dirty="0">
                <a:solidFill>
                  <a:srgbClr val="3333FF"/>
                </a:solidFill>
                <a:ea typeface="黑体" pitchFamily="2" charset="-122"/>
              </a:rPr>
              <a:t>U) </a:t>
            </a:r>
            <a:r>
              <a:rPr kumimoji="1" lang="zh-CN" altLang="en-US" sz="2800" dirty="0">
                <a:solidFill>
                  <a:srgbClr val="3333FF"/>
                </a:solidFill>
                <a:ea typeface="黑体" pitchFamily="2" charset="-122"/>
              </a:rPr>
              <a:t>，则</a:t>
            </a:r>
          </a:p>
        </p:txBody>
      </p:sp>
      <p:graphicFrame>
        <p:nvGraphicFramePr>
          <p:cNvPr id="7" name="Object 11">
            <a:extLst>
              <a:ext uri="{FF2B5EF4-FFF2-40B4-BE49-F238E27FC236}">
                <a16:creationId xmlns:a16="http://schemas.microsoft.com/office/drawing/2014/main" id="{3E7506AC-2205-27B6-C0AC-560A38CF8E3E}"/>
              </a:ext>
            </a:extLst>
          </p:cNvPr>
          <p:cNvGraphicFramePr>
            <a:graphicFrameLocks noChangeAspect="1"/>
          </p:cNvGraphicFramePr>
          <p:nvPr/>
        </p:nvGraphicFramePr>
        <p:xfrm>
          <a:off x="7320136" y="5733256"/>
          <a:ext cx="1728193" cy="1092230"/>
        </p:xfrm>
        <a:graphic>
          <a:graphicData uri="http://schemas.openxmlformats.org/presentationml/2006/ole">
            <mc:AlternateContent xmlns:mc="http://schemas.openxmlformats.org/markup-compatibility/2006">
              <mc:Choice xmlns:v="urn:schemas-microsoft-com:vml" Requires="v">
                <p:oleObj name="公式" r:id="rId3" imgW="634725" imgH="431613" progId="Equation.3">
                  <p:embed/>
                </p:oleObj>
              </mc:Choice>
              <mc:Fallback>
                <p:oleObj name="公式" r:id="rId3" imgW="634725" imgH="431613" progId="Equation.3">
                  <p:embed/>
                  <p:pic>
                    <p:nvPicPr>
                      <p:cNvPr id="7" name="Object 11">
                        <a:extLst>
                          <a:ext uri="{FF2B5EF4-FFF2-40B4-BE49-F238E27FC236}">
                            <a16:creationId xmlns:a16="http://schemas.microsoft.com/office/drawing/2014/main" id="{3E7506AC-2205-27B6-C0AC-560A38CF8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36" y="5733256"/>
                        <a:ext cx="1728193" cy="1092230"/>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32BF0D36-0038-C576-B572-0CAA6768A9EB}"/>
              </a:ext>
            </a:extLst>
          </p:cNvPr>
          <p:cNvSpPr>
            <a:spLocks noGrp="1"/>
          </p:cNvSpPr>
          <p:nvPr>
            <p:ph type="sldNum" sz="quarter" idx="11"/>
          </p:nvPr>
        </p:nvSpPr>
        <p:spPr/>
        <p:txBody>
          <a:bodyPr/>
          <a:lstStyle/>
          <a:p>
            <a:pPr>
              <a:defRPr/>
            </a:pPr>
            <a:fld id="{F13753BC-CAEF-4333-AC48-2805658F6E3F}" type="slidenum">
              <a:rPr lang="en-US" altLang="zh-CN" smtClean="0"/>
              <a:pPr>
                <a:defRPr/>
              </a:pPr>
              <a:t>13</a:t>
            </a:fld>
            <a:endParaRPr lang="en-US" altLang="zh-CN"/>
          </a:p>
        </p:txBody>
      </p:sp>
    </p:spTree>
    <p:extLst>
      <p:ext uri="{BB962C8B-B14F-4D97-AF65-F5344CB8AC3E}">
        <p14:creationId xmlns:p14="http://schemas.microsoft.com/office/powerpoint/2010/main" val="2048053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Effect transition="in" filter="dissolve">
                                      <p:cBhvr>
                                        <p:cTn id="7" dur="500"/>
                                        <p:tgtEl>
                                          <p:spTgt spid="7680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92313" y="404813"/>
            <a:ext cx="8229600" cy="863600"/>
          </a:xfrm>
        </p:spPr>
        <p:txBody>
          <a:bodyPr/>
          <a:lstStyle/>
          <a:p>
            <a:pPr algn="ctr" eaLnBrk="1" hangingPunct="1"/>
            <a:r>
              <a:rPr lang="zh-CN" altLang="en-US">
                <a:solidFill>
                  <a:srgbClr val="057939"/>
                </a:solidFill>
                <a:ea typeface="黑体" pitchFamily="2" charset="-122"/>
              </a:rPr>
              <a:t>求</a:t>
            </a:r>
            <a:r>
              <a:rPr lang="en-US" altLang="zh-CN">
                <a:solidFill>
                  <a:srgbClr val="057939"/>
                </a:solidFill>
                <a:ea typeface="黑体" pitchFamily="2" charset="-122"/>
              </a:rPr>
              <a:t>R</a:t>
            </a:r>
            <a:r>
              <a:rPr lang="zh-CN" altLang="en-US">
                <a:solidFill>
                  <a:srgbClr val="057939"/>
                </a:solidFill>
                <a:ea typeface="黑体" pitchFamily="2" charset="-122"/>
              </a:rPr>
              <a:t>的传递闭包举例</a:t>
            </a:r>
            <a:r>
              <a:rPr lang="en-US" altLang="zh-CN" sz="3200">
                <a:ea typeface="黑体" pitchFamily="2" charset="-122"/>
              </a:rPr>
              <a:t>[P74</a:t>
            </a:r>
            <a:r>
              <a:rPr lang="zh-CN" altLang="en-US" sz="3200">
                <a:ea typeface="黑体" pitchFamily="2" charset="-122"/>
              </a:rPr>
              <a:t>例</a:t>
            </a:r>
            <a:r>
              <a:rPr lang="en-US" altLang="zh-CN" sz="3200">
                <a:ea typeface="黑体" pitchFamily="2" charset="-122"/>
              </a:rPr>
              <a:t>2]</a:t>
            </a:r>
          </a:p>
        </p:txBody>
      </p:sp>
      <p:sp>
        <p:nvSpPr>
          <p:cNvPr id="142339" name="Rectangle 3"/>
          <p:cNvSpPr>
            <a:spLocks noGrp="1" noChangeArrowheads="1"/>
          </p:cNvSpPr>
          <p:nvPr>
            <p:ph type="body" sz="half" idx="1"/>
          </p:nvPr>
        </p:nvSpPr>
        <p:spPr>
          <a:xfrm>
            <a:off x="1343472" y="1268414"/>
            <a:ext cx="8280400" cy="1512887"/>
          </a:xfrm>
        </p:spPr>
        <p:txBody>
          <a:bodyPr/>
          <a:lstStyle/>
          <a:p>
            <a:pPr eaLnBrk="1" hangingPunct="1">
              <a:lnSpc>
                <a:spcPct val="90000"/>
              </a:lnSpc>
              <a:buFont typeface="Wingdings" pitchFamily="2" charset="2"/>
              <a:buNone/>
            </a:pPr>
            <a:r>
              <a:rPr lang="zh-CN" altLang="en-US" sz="2800" dirty="0">
                <a:ea typeface="黑体" pitchFamily="2" charset="-122"/>
              </a:rPr>
              <a:t>设</a:t>
            </a:r>
            <a:r>
              <a:rPr lang="en-US" altLang="zh-CN" sz="2800" dirty="0">
                <a:ea typeface="黑体" pitchFamily="2" charset="-122"/>
              </a:rPr>
              <a:t>R=                    </a:t>
            </a:r>
            <a:r>
              <a:rPr lang="zh-CN" altLang="en-US" sz="2800" dirty="0">
                <a:ea typeface="黑体" pitchFamily="2" charset="-122"/>
              </a:rPr>
              <a:t>，求</a:t>
            </a:r>
          </a:p>
          <a:p>
            <a:pPr eaLnBrk="1" hangingPunct="1">
              <a:lnSpc>
                <a:spcPct val="90000"/>
              </a:lnSpc>
            </a:pPr>
            <a:endParaRPr lang="zh-CN" altLang="en-US" sz="3600" dirty="0">
              <a:ea typeface="黑体" pitchFamily="2" charset="-122"/>
            </a:endParaRPr>
          </a:p>
          <a:p>
            <a:pPr eaLnBrk="1" hangingPunct="1">
              <a:lnSpc>
                <a:spcPct val="90000"/>
              </a:lnSpc>
              <a:buFont typeface="Wingdings" pitchFamily="2" charset="2"/>
              <a:buNone/>
            </a:pPr>
            <a:r>
              <a:rPr lang="zh-CN" altLang="en-US" sz="2800" dirty="0">
                <a:ea typeface="黑体" pitchFamily="2" charset="-122"/>
              </a:rPr>
              <a:t>解：因为</a:t>
            </a:r>
            <a:r>
              <a:rPr lang="en-US" altLang="zh-CN" sz="2800" i="1" dirty="0">
                <a:ea typeface="黑体" pitchFamily="2" charset="-122"/>
              </a:rPr>
              <a:t>R</a:t>
            </a:r>
            <a:r>
              <a:rPr lang="zh-CN" altLang="en-US" sz="2800" dirty="0">
                <a:ea typeface="黑体" pitchFamily="2" charset="-122"/>
              </a:rPr>
              <a:t>论域上只有</a:t>
            </a:r>
            <a:r>
              <a:rPr lang="en-US" altLang="zh-CN" sz="2800" dirty="0">
                <a:ea typeface="黑体" pitchFamily="2" charset="-122"/>
              </a:rPr>
              <a:t>3</a:t>
            </a:r>
            <a:r>
              <a:rPr lang="zh-CN" altLang="en-US" sz="2800" dirty="0">
                <a:ea typeface="黑体" pitchFamily="2" charset="-122"/>
              </a:rPr>
              <a:t>个元素，由</a:t>
            </a:r>
            <a:r>
              <a:rPr lang="en-US" altLang="zh-CN" sz="2800" dirty="0">
                <a:ea typeface="黑体" pitchFamily="2" charset="-122"/>
              </a:rPr>
              <a:t>[</a:t>
            </a:r>
            <a:r>
              <a:rPr lang="zh-CN" altLang="en-US" sz="2800" dirty="0">
                <a:ea typeface="黑体" pitchFamily="2" charset="-122"/>
              </a:rPr>
              <a:t>定理</a:t>
            </a:r>
            <a:r>
              <a:rPr lang="en-US" altLang="zh-CN" sz="2800" dirty="0">
                <a:ea typeface="黑体" pitchFamily="2" charset="-122"/>
              </a:rPr>
              <a:t>4]</a:t>
            </a:r>
            <a:r>
              <a:rPr lang="zh-CN" altLang="en-US" sz="2800" dirty="0">
                <a:ea typeface="黑体" pitchFamily="2" charset="-122"/>
              </a:rPr>
              <a:t>知，</a:t>
            </a:r>
          </a:p>
        </p:txBody>
      </p:sp>
      <p:graphicFrame>
        <p:nvGraphicFramePr>
          <p:cNvPr id="142340" name="Object 4"/>
          <p:cNvGraphicFramePr>
            <a:graphicFrameLocks noGrp="1" noChangeAspect="1"/>
          </p:cNvGraphicFramePr>
          <p:nvPr>
            <p:ph sz="quarter" idx="2"/>
            <p:extLst>
              <p:ext uri="{D42A27DB-BD31-4B8C-83A1-F6EECF244321}">
                <p14:modId xmlns:p14="http://schemas.microsoft.com/office/powerpoint/2010/main" val="48520929"/>
              </p:ext>
            </p:extLst>
          </p:nvPr>
        </p:nvGraphicFramePr>
        <p:xfrm>
          <a:off x="2280097" y="1196975"/>
          <a:ext cx="1655762" cy="1131888"/>
        </p:xfrm>
        <a:graphic>
          <a:graphicData uri="http://schemas.openxmlformats.org/presentationml/2006/ole">
            <mc:AlternateContent xmlns:mc="http://schemas.openxmlformats.org/markup-compatibility/2006">
              <mc:Choice xmlns:v="urn:schemas-microsoft-com:vml" Requires="v">
                <p:oleObj name="公式" r:id="rId2" imgW="1040948" imgH="710891" progId="Equation.3">
                  <p:embed/>
                </p:oleObj>
              </mc:Choice>
              <mc:Fallback>
                <p:oleObj name="公式" r:id="rId2" imgW="1040948" imgH="710891" progId="Equation.3">
                  <p:embed/>
                  <p:pic>
                    <p:nvPicPr>
                      <p:cNvPr id="1423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097" y="1196975"/>
                        <a:ext cx="1655762"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1" name="Object 5"/>
          <p:cNvGraphicFramePr>
            <a:graphicFrameLocks noGrp="1" noChangeAspect="1"/>
          </p:cNvGraphicFramePr>
          <p:nvPr>
            <p:ph sz="quarter" idx="3"/>
            <p:extLst>
              <p:ext uri="{D42A27DB-BD31-4B8C-83A1-F6EECF244321}">
                <p14:modId xmlns:p14="http://schemas.microsoft.com/office/powerpoint/2010/main" val="2952979975"/>
              </p:ext>
            </p:extLst>
          </p:nvPr>
        </p:nvGraphicFramePr>
        <p:xfrm>
          <a:off x="5015360" y="1125539"/>
          <a:ext cx="315913" cy="554037"/>
        </p:xfrm>
        <a:graphic>
          <a:graphicData uri="http://schemas.openxmlformats.org/presentationml/2006/ole">
            <mc:AlternateContent xmlns:mc="http://schemas.openxmlformats.org/markup-compatibility/2006">
              <mc:Choice xmlns:v="urn:schemas-microsoft-com:vml" Requires="v">
                <p:oleObj name="公式" r:id="rId4" imgW="152268" imgH="266469" progId="Equation.3">
                  <p:embed/>
                </p:oleObj>
              </mc:Choice>
              <mc:Fallback>
                <p:oleObj name="公式" r:id="rId4" imgW="152268" imgH="266469" progId="Equation.3">
                  <p:embed/>
                  <p:pic>
                    <p:nvPicPr>
                      <p:cNvPr id="1423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5360" y="1125539"/>
                        <a:ext cx="315913"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2" name="Object 6"/>
          <p:cNvGraphicFramePr>
            <a:graphicFrameLocks noChangeAspect="1"/>
          </p:cNvGraphicFramePr>
          <p:nvPr>
            <p:extLst>
              <p:ext uri="{D42A27DB-BD31-4B8C-83A1-F6EECF244321}">
                <p14:modId xmlns:p14="http://schemas.microsoft.com/office/powerpoint/2010/main" val="477686854"/>
              </p:ext>
            </p:extLst>
          </p:nvPr>
        </p:nvGraphicFramePr>
        <p:xfrm>
          <a:off x="1965772" y="2757042"/>
          <a:ext cx="2906712" cy="815975"/>
        </p:xfrm>
        <a:graphic>
          <a:graphicData uri="http://schemas.openxmlformats.org/presentationml/2006/ole">
            <mc:AlternateContent xmlns:mc="http://schemas.openxmlformats.org/markup-compatibility/2006">
              <mc:Choice xmlns:v="urn:schemas-microsoft-com:vml" Requires="v">
                <p:oleObj name="公式" r:id="rId6" imgW="1536700" imgH="431800" progId="Equation.3">
                  <p:embed/>
                </p:oleObj>
              </mc:Choice>
              <mc:Fallback>
                <p:oleObj name="公式" r:id="rId6" imgW="1536700" imgH="431800" progId="Equation.3">
                  <p:embed/>
                  <p:pic>
                    <p:nvPicPr>
                      <p:cNvPr id="14234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5772" y="2757042"/>
                        <a:ext cx="2906712"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3" name="Object 7"/>
          <p:cNvGraphicFramePr>
            <a:graphicFrameLocks noChangeAspect="1"/>
          </p:cNvGraphicFramePr>
          <p:nvPr>
            <p:extLst>
              <p:ext uri="{D42A27DB-BD31-4B8C-83A1-F6EECF244321}">
                <p14:modId xmlns:p14="http://schemas.microsoft.com/office/powerpoint/2010/main" val="3700470154"/>
              </p:ext>
            </p:extLst>
          </p:nvPr>
        </p:nvGraphicFramePr>
        <p:xfrm>
          <a:off x="2064197" y="3429000"/>
          <a:ext cx="6119812" cy="1066800"/>
        </p:xfrm>
        <a:graphic>
          <a:graphicData uri="http://schemas.openxmlformats.org/presentationml/2006/ole">
            <mc:AlternateContent xmlns:mc="http://schemas.openxmlformats.org/markup-compatibility/2006">
              <mc:Choice xmlns:v="urn:schemas-microsoft-com:vml" Requires="v">
                <p:oleObj name="公式" r:id="rId8" imgW="4076700" imgH="711200" progId="Equation.3">
                  <p:embed/>
                </p:oleObj>
              </mc:Choice>
              <mc:Fallback>
                <p:oleObj name="公式" r:id="rId8" imgW="4076700" imgH="711200" progId="Equation.3">
                  <p:embed/>
                  <p:pic>
                    <p:nvPicPr>
                      <p:cNvPr id="14234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4197" y="3429000"/>
                        <a:ext cx="6119812"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4" name="Object 8"/>
          <p:cNvGraphicFramePr>
            <a:graphicFrameLocks noChangeAspect="1"/>
          </p:cNvGraphicFramePr>
          <p:nvPr>
            <p:extLst>
              <p:ext uri="{D42A27DB-BD31-4B8C-83A1-F6EECF244321}">
                <p14:modId xmlns:p14="http://schemas.microsoft.com/office/powerpoint/2010/main" val="407562911"/>
              </p:ext>
            </p:extLst>
          </p:nvPr>
        </p:nvGraphicFramePr>
        <p:xfrm>
          <a:off x="1991173" y="4508501"/>
          <a:ext cx="6192837" cy="1063625"/>
        </p:xfrm>
        <a:graphic>
          <a:graphicData uri="http://schemas.openxmlformats.org/presentationml/2006/ole">
            <mc:AlternateContent xmlns:mc="http://schemas.openxmlformats.org/markup-compatibility/2006">
              <mc:Choice xmlns:v="urn:schemas-microsoft-com:vml" Requires="v">
                <p:oleObj name="公式" r:id="rId10" imgW="4140200" imgH="711200" progId="Equation.3">
                  <p:embed/>
                </p:oleObj>
              </mc:Choice>
              <mc:Fallback>
                <p:oleObj name="公式" r:id="rId10" imgW="4140200" imgH="711200" progId="Equation.3">
                  <p:embed/>
                  <p:pic>
                    <p:nvPicPr>
                      <p:cNvPr id="142344"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1173" y="4508501"/>
                        <a:ext cx="6192837"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5" name="Object 9"/>
          <p:cNvGraphicFramePr>
            <a:graphicFrameLocks noChangeAspect="1"/>
          </p:cNvGraphicFramePr>
          <p:nvPr>
            <p:extLst>
              <p:ext uri="{D42A27DB-BD31-4B8C-83A1-F6EECF244321}">
                <p14:modId xmlns:p14="http://schemas.microsoft.com/office/powerpoint/2010/main" val="3410267565"/>
              </p:ext>
            </p:extLst>
          </p:nvPr>
        </p:nvGraphicFramePr>
        <p:xfrm>
          <a:off x="1416497" y="5589589"/>
          <a:ext cx="6838950" cy="1074737"/>
        </p:xfrm>
        <a:graphic>
          <a:graphicData uri="http://schemas.openxmlformats.org/presentationml/2006/ole">
            <mc:AlternateContent xmlns:mc="http://schemas.openxmlformats.org/markup-compatibility/2006">
              <mc:Choice xmlns:v="urn:schemas-microsoft-com:vml" Requires="v">
                <p:oleObj name="公式" r:id="rId12" imgW="4521200" imgH="711200" progId="Equation.3">
                  <p:embed/>
                </p:oleObj>
              </mc:Choice>
              <mc:Fallback>
                <p:oleObj name="公式" r:id="rId12" imgW="4521200" imgH="711200" progId="Equation.3">
                  <p:embed/>
                  <p:pic>
                    <p:nvPicPr>
                      <p:cNvPr id="142345"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16497" y="5589589"/>
                        <a:ext cx="6838950" cy="1074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6" name="Object 10"/>
          <p:cNvGraphicFramePr>
            <a:graphicFrameLocks noChangeAspect="1"/>
          </p:cNvGraphicFramePr>
          <p:nvPr>
            <p:extLst>
              <p:ext uri="{D42A27DB-BD31-4B8C-83A1-F6EECF244321}">
                <p14:modId xmlns:p14="http://schemas.microsoft.com/office/powerpoint/2010/main" val="2984666232"/>
              </p:ext>
            </p:extLst>
          </p:nvPr>
        </p:nvGraphicFramePr>
        <p:xfrm>
          <a:off x="8220719" y="5589588"/>
          <a:ext cx="1763713" cy="1073150"/>
        </p:xfrm>
        <a:graphic>
          <a:graphicData uri="http://schemas.openxmlformats.org/presentationml/2006/ole">
            <mc:AlternateContent xmlns:mc="http://schemas.openxmlformats.org/markup-compatibility/2006">
              <mc:Choice xmlns:v="urn:schemas-microsoft-com:vml" Requires="v">
                <p:oleObj name="公式" r:id="rId14" imgW="1168400" imgH="711200" progId="Equation.3">
                  <p:embed/>
                </p:oleObj>
              </mc:Choice>
              <mc:Fallback>
                <p:oleObj name="公式" r:id="rId14" imgW="1168400" imgH="711200" progId="Equation.3">
                  <p:embed/>
                  <p:pic>
                    <p:nvPicPr>
                      <p:cNvPr id="142346"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20719" y="5589588"/>
                        <a:ext cx="1763713"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5">
            <a:extLst>
              <a:ext uri="{FF2B5EF4-FFF2-40B4-BE49-F238E27FC236}">
                <a16:creationId xmlns:a16="http://schemas.microsoft.com/office/drawing/2014/main" id="{30434E03-1E64-4291-AC59-85E43FB147A5}"/>
              </a:ext>
            </a:extLst>
          </p:cNvPr>
          <p:cNvGraphicFramePr>
            <a:graphicFrameLocks noChangeAspect="1"/>
          </p:cNvGraphicFramePr>
          <p:nvPr>
            <p:extLst>
              <p:ext uri="{D42A27DB-BD31-4B8C-83A1-F6EECF244321}">
                <p14:modId xmlns:p14="http://schemas.microsoft.com/office/powerpoint/2010/main" val="3911995938"/>
              </p:ext>
            </p:extLst>
          </p:nvPr>
        </p:nvGraphicFramePr>
        <p:xfrm>
          <a:off x="6600056" y="1468732"/>
          <a:ext cx="4680173" cy="588373"/>
        </p:xfrm>
        <a:graphic>
          <a:graphicData uri="http://schemas.openxmlformats.org/presentationml/2006/ole">
            <mc:AlternateContent xmlns:mc="http://schemas.openxmlformats.org/markup-compatibility/2006">
              <mc:Choice xmlns:v="urn:schemas-microsoft-com:vml" Requires="v">
                <p:oleObj name="Equation" r:id="rId16" imgW="2120900" imgH="266700" progId="Equation.DSMT4">
                  <p:embed/>
                </p:oleObj>
              </mc:Choice>
              <mc:Fallback>
                <p:oleObj name="Equation" r:id="rId16" imgW="2120900" imgH="266700" progId="Equation.DSMT4">
                  <p:embed/>
                  <p:pic>
                    <p:nvPicPr>
                      <p:cNvPr id="11" name="Object 5">
                        <a:extLst>
                          <a:ext uri="{FF2B5EF4-FFF2-40B4-BE49-F238E27FC236}">
                            <a16:creationId xmlns:a16="http://schemas.microsoft.com/office/drawing/2014/main" id="{30434E03-1E64-4291-AC59-85E43FB147A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00056" y="1468732"/>
                        <a:ext cx="4680173" cy="588373"/>
                      </a:xfrm>
                      <a:prstGeom prst="rect">
                        <a:avLst/>
                      </a:prstGeom>
                      <a:solidFill>
                        <a:srgbClr val="FF9966"/>
                      </a:solid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28DFFAD4-1EC7-A60F-505F-0677B9E6ACBA}"/>
              </a:ext>
            </a:extLst>
          </p:cNvPr>
          <p:cNvSpPr>
            <a:spLocks noGrp="1"/>
          </p:cNvSpPr>
          <p:nvPr>
            <p:ph type="sldNum" sz="quarter" idx="11"/>
          </p:nvPr>
        </p:nvSpPr>
        <p:spPr/>
        <p:txBody>
          <a:bodyPr/>
          <a:lstStyle/>
          <a:p>
            <a:pPr>
              <a:defRPr/>
            </a:pPr>
            <a:fld id="{FC9A31AC-AC4A-4C65-A279-8DC32B7DED70}" type="slidenum">
              <a:rPr lang="en-US" altLang="zh-CN" smtClean="0"/>
              <a:pPr>
                <a:defRPr/>
              </a:pPr>
              <a:t>14</a:t>
            </a:fld>
            <a:endParaRPr lang="en-US" altLang="zh-CN"/>
          </a:p>
        </p:txBody>
      </p:sp>
    </p:spTree>
    <p:extLst>
      <p:ext uri="{BB962C8B-B14F-4D97-AF65-F5344CB8AC3E}">
        <p14:creationId xmlns:p14="http://schemas.microsoft.com/office/powerpoint/2010/main" val="2880528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wipe(left)">
                                      <p:cBhvr>
                                        <p:cTn id="7" dur="500"/>
                                        <p:tgtEl>
                                          <p:spTgt spid="142339">
                                            <p:txEl>
                                              <p:pRg st="0" end="0"/>
                                            </p:txEl>
                                          </p:spTgt>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142340"/>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0"/>
                                          </p:stCondLst>
                                        </p:cTn>
                                        <p:tgtEl>
                                          <p:spTgt spid="142341"/>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2339">
                                            <p:txEl>
                                              <p:pRg st="2" end="2"/>
                                            </p:txEl>
                                          </p:spTgt>
                                        </p:tgtEl>
                                        <p:attrNameLst>
                                          <p:attrName>style.visibility</p:attrName>
                                        </p:attrNameLst>
                                      </p:cBhvr>
                                      <p:to>
                                        <p:strVal val="visible"/>
                                      </p:to>
                                    </p:set>
                                    <p:animEffect transition="in" filter="wipe(left)">
                                      <p:cBhvr>
                                        <p:cTn id="18" dur="500"/>
                                        <p:tgtEl>
                                          <p:spTgt spid="142339">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42342"/>
                                        </p:tgtEl>
                                        <p:attrNameLst>
                                          <p:attrName>style.visibility</p:attrName>
                                        </p:attrNameLst>
                                      </p:cBhvr>
                                      <p:to>
                                        <p:strVal val="visible"/>
                                      </p:to>
                                    </p:set>
                                    <p:animEffect transition="in" filter="wipe(left)">
                                      <p:cBhvr>
                                        <p:cTn id="23" dur="500"/>
                                        <p:tgtEl>
                                          <p:spTgt spid="14234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42343"/>
                                        </p:tgtEl>
                                        <p:attrNameLst>
                                          <p:attrName>style.visibility</p:attrName>
                                        </p:attrNameLst>
                                      </p:cBhvr>
                                      <p:to>
                                        <p:strVal val="visible"/>
                                      </p:to>
                                    </p:set>
                                    <p:animEffect transition="in" filter="wipe(left)">
                                      <p:cBhvr>
                                        <p:cTn id="33" dur="500"/>
                                        <p:tgtEl>
                                          <p:spTgt spid="14234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42344"/>
                                        </p:tgtEl>
                                        <p:attrNameLst>
                                          <p:attrName>style.visibility</p:attrName>
                                        </p:attrNameLst>
                                      </p:cBhvr>
                                      <p:to>
                                        <p:strVal val="visible"/>
                                      </p:to>
                                    </p:set>
                                    <p:animEffect transition="in" filter="wipe(left)">
                                      <p:cBhvr>
                                        <p:cTn id="38" dur="500"/>
                                        <p:tgtEl>
                                          <p:spTgt spid="14234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42345"/>
                                        </p:tgtEl>
                                        <p:attrNameLst>
                                          <p:attrName>style.visibility</p:attrName>
                                        </p:attrNameLst>
                                      </p:cBhvr>
                                      <p:to>
                                        <p:strVal val="visible"/>
                                      </p:to>
                                    </p:set>
                                    <p:animEffect transition="in" filter="wipe(left)">
                                      <p:cBhvr>
                                        <p:cTn id="43" dur="500"/>
                                        <p:tgtEl>
                                          <p:spTgt spid="14234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42346"/>
                                        </p:tgtEl>
                                        <p:attrNameLst>
                                          <p:attrName>style.visibility</p:attrName>
                                        </p:attrNameLst>
                                      </p:cBhvr>
                                      <p:to>
                                        <p:strVal val="visible"/>
                                      </p:to>
                                    </p:set>
                                    <p:animEffect transition="in" filter="wipe(left)">
                                      <p:cBhvr>
                                        <p:cTn id="48" dur="500"/>
                                        <p:tgtEl>
                                          <p:spTgt spid="142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type="title"/>
          </p:nvPr>
        </p:nvSpPr>
        <p:spPr>
          <a:xfrm>
            <a:off x="1981200" y="457201"/>
            <a:ext cx="8229600" cy="1027113"/>
          </a:xfrm>
        </p:spPr>
        <p:txBody>
          <a:bodyPr/>
          <a:lstStyle/>
          <a:p>
            <a:pPr algn="ctr" eaLnBrk="1" hangingPunct="1"/>
            <a:r>
              <a:rPr lang="zh-CN" altLang="en-US" dirty="0">
                <a:solidFill>
                  <a:srgbClr val="057939"/>
                </a:solidFill>
                <a:ea typeface="黑体" pitchFamily="2" charset="-122"/>
              </a:rPr>
              <a:t>具有自反关系的传递闭包</a:t>
            </a:r>
          </a:p>
        </p:txBody>
      </p:sp>
      <p:sp>
        <p:nvSpPr>
          <p:cNvPr id="148483" name="Rectangle 3"/>
          <p:cNvSpPr>
            <a:spLocks noGrp="1" noChangeArrowheads="1"/>
          </p:cNvSpPr>
          <p:nvPr>
            <p:ph type="body" sz="half" idx="1"/>
          </p:nvPr>
        </p:nvSpPr>
        <p:spPr>
          <a:xfrm>
            <a:off x="1055441" y="1628775"/>
            <a:ext cx="9001374" cy="5113338"/>
          </a:xfrm>
        </p:spPr>
        <p:txBody>
          <a:bodyPr/>
          <a:lstStyle/>
          <a:p>
            <a:pPr eaLnBrk="1" hangingPunct="1">
              <a:buFont typeface="Wingdings" pitchFamily="2" charset="2"/>
              <a:buNone/>
            </a:pPr>
            <a:r>
              <a:rPr kumimoji="1" lang="en-US" altLang="zh-CN" sz="3600" dirty="0">
                <a:solidFill>
                  <a:srgbClr val="057939"/>
                </a:solidFill>
                <a:ea typeface="黑体" pitchFamily="2" charset="-122"/>
              </a:rPr>
              <a:t>[</a:t>
            </a:r>
            <a:r>
              <a:rPr kumimoji="1" lang="zh-CN" altLang="en-US" sz="3600" dirty="0">
                <a:solidFill>
                  <a:srgbClr val="057939"/>
                </a:solidFill>
                <a:ea typeface="黑体" pitchFamily="2" charset="-122"/>
              </a:rPr>
              <a:t>定理</a:t>
            </a:r>
            <a:r>
              <a:rPr kumimoji="1" lang="en-US" altLang="zh-CN" sz="3600" dirty="0">
                <a:solidFill>
                  <a:srgbClr val="057939"/>
                </a:solidFill>
                <a:ea typeface="黑体" pitchFamily="2" charset="-122"/>
              </a:rPr>
              <a:t>5]</a:t>
            </a:r>
            <a:r>
              <a:rPr kumimoji="1" lang="zh-CN" altLang="en-US" dirty="0">
                <a:ea typeface="黑体" pitchFamily="2" charset="-122"/>
              </a:rPr>
              <a:t>设</a:t>
            </a:r>
            <a:r>
              <a:rPr kumimoji="1" lang="en-US" altLang="zh-CN" i="1" dirty="0">
                <a:ea typeface="黑体" pitchFamily="2" charset="-122"/>
              </a:rPr>
              <a:t>R</a:t>
            </a:r>
            <a:r>
              <a:rPr kumimoji="1" lang="en-US" altLang="en-US" dirty="0">
                <a:ea typeface="黑体" pitchFamily="2" charset="-122"/>
                <a:sym typeface="Symbol" panose="05050102010706020507" pitchFamily="18" charset="2"/>
              </a:rPr>
              <a:t></a:t>
            </a:r>
            <a:r>
              <a:rPr kumimoji="1" lang="en-US" altLang="zh-CN" dirty="0">
                <a:latin typeface="Monotype Corsiva" pitchFamily="66" charset="0"/>
                <a:ea typeface="黑体" pitchFamily="2" charset="-122"/>
              </a:rPr>
              <a:t>F</a:t>
            </a:r>
            <a:r>
              <a:rPr kumimoji="1" lang="en-US" altLang="zh-CN" dirty="0">
                <a:ea typeface="黑体" pitchFamily="2" charset="-122"/>
              </a:rPr>
              <a:t>(U</a:t>
            </a:r>
            <a:r>
              <a:rPr kumimoji="1" lang="en-US" altLang="en-US" dirty="0">
                <a:ea typeface="黑体" pitchFamily="2" charset="-122"/>
              </a:rPr>
              <a:t>×</a:t>
            </a:r>
            <a:r>
              <a:rPr kumimoji="1" lang="en-US" altLang="zh-CN" dirty="0">
                <a:ea typeface="黑体" pitchFamily="2" charset="-122"/>
              </a:rPr>
              <a:t>U)</a:t>
            </a:r>
            <a:r>
              <a:rPr kumimoji="1" lang="zh-CN" altLang="en-US" dirty="0">
                <a:ea typeface="黑体" pitchFamily="2" charset="-122"/>
              </a:rPr>
              <a:t>为自反矩阵，则</a:t>
            </a:r>
          </a:p>
          <a:p>
            <a:pPr eaLnBrk="1" hangingPunct="1">
              <a:buFont typeface="Wingdings" pitchFamily="2" charset="2"/>
              <a:buNone/>
            </a:pPr>
            <a:r>
              <a:rPr kumimoji="1" lang="zh-CN" altLang="en-US" dirty="0">
                <a:solidFill>
                  <a:srgbClr val="EE0006"/>
                </a:solidFill>
                <a:ea typeface="黑体" pitchFamily="2" charset="-122"/>
              </a:rPr>
              <a:t>证明：</a:t>
            </a:r>
            <a:r>
              <a:rPr kumimoji="1" lang="en-US" altLang="zh-CN" dirty="0">
                <a:solidFill>
                  <a:srgbClr val="EE0006"/>
                </a:solidFill>
                <a:ea typeface="黑体" pitchFamily="2" charset="-122"/>
              </a:rPr>
              <a:t>   </a:t>
            </a:r>
          </a:p>
          <a:p>
            <a:pPr eaLnBrk="1" hangingPunct="1">
              <a:buFont typeface="Wingdings" pitchFamily="2" charset="2"/>
              <a:buNone/>
            </a:pPr>
            <a:r>
              <a:rPr kumimoji="1" lang="en-US" altLang="zh-CN" dirty="0">
                <a:ea typeface="黑体" pitchFamily="2" charset="-122"/>
              </a:rPr>
              <a:t>   </a:t>
            </a:r>
            <a:r>
              <a:rPr kumimoji="1" lang="zh-CN" altLang="en-US" dirty="0">
                <a:ea typeface="黑体" pitchFamily="2" charset="-122"/>
              </a:rPr>
              <a:t>因为</a:t>
            </a:r>
            <a:r>
              <a:rPr kumimoji="1" lang="en-US" altLang="zh-CN" dirty="0">
                <a:ea typeface="黑体" pitchFamily="2" charset="-122"/>
              </a:rPr>
              <a:t>R</a:t>
            </a:r>
            <a:r>
              <a:rPr kumimoji="1" lang="zh-CN" altLang="en-US" dirty="0">
                <a:ea typeface="黑体" pitchFamily="2" charset="-122"/>
              </a:rPr>
              <a:t>自反，则</a:t>
            </a:r>
            <a:r>
              <a:rPr kumimoji="1" lang="en-US" altLang="zh-CN" b="1" i="1" dirty="0">
                <a:solidFill>
                  <a:srgbClr val="3333FF"/>
                </a:solidFill>
                <a:ea typeface="黑体" pitchFamily="2" charset="-122"/>
              </a:rPr>
              <a:t>R </a:t>
            </a:r>
            <a:r>
              <a:rPr kumimoji="1" lang="en-US" altLang="zh-CN" b="1" dirty="0">
                <a:ea typeface="黑体" pitchFamily="2" charset="-122"/>
                <a:sym typeface="Symbol" pitchFamily="18" charset="2"/>
              </a:rPr>
              <a:t> </a:t>
            </a:r>
            <a:r>
              <a:rPr kumimoji="1" lang="en-US" altLang="zh-CN" b="1" i="1" dirty="0">
                <a:solidFill>
                  <a:srgbClr val="FF00FF"/>
                </a:solidFill>
                <a:latin typeface="Times New Roman" pitchFamily="18" charset="0"/>
                <a:ea typeface="黑体" pitchFamily="2" charset="-122"/>
                <a:sym typeface="Symbol" pitchFamily="18" charset="2"/>
              </a:rPr>
              <a:t>I</a:t>
            </a:r>
          </a:p>
          <a:p>
            <a:pPr eaLnBrk="1" hangingPunct="1">
              <a:buFont typeface="Wingdings" pitchFamily="2" charset="2"/>
              <a:buNone/>
            </a:pPr>
            <a:r>
              <a:rPr kumimoji="1" lang="en-US" altLang="zh-CN" sz="2800" dirty="0"/>
              <a:t>   </a:t>
            </a:r>
            <a:r>
              <a:rPr kumimoji="1" lang="zh-CN" altLang="en-US" sz="2800" dirty="0">
                <a:ea typeface="黑体" pitchFamily="2" charset="-122"/>
              </a:rPr>
              <a:t>又由</a:t>
            </a:r>
            <a:r>
              <a:rPr kumimoji="1" lang="en-US" altLang="zh-CN" sz="2800" dirty="0">
                <a:ea typeface="黑体" pitchFamily="2" charset="-122"/>
              </a:rPr>
              <a:t>F</a:t>
            </a:r>
            <a:r>
              <a:rPr kumimoji="1" lang="zh-CN" altLang="en-US" sz="2800" dirty="0">
                <a:ea typeface="黑体" pitchFamily="2" charset="-122"/>
              </a:rPr>
              <a:t>合成运算</a:t>
            </a:r>
            <a:r>
              <a:rPr kumimoji="1" lang="en-US" altLang="zh-CN" sz="2800" dirty="0">
                <a:ea typeface="黑体" pitchFamily="2" charset="-122"/>
              </a:rPr>
              <a:t>[</a:t>
            </a:r>
            <a:r>
              <a:rPr kumimoji="1" lang="zh-CN" altLang="en-US" sz="2800" dirty="0">
                <a:ea typeface="黑体" pitchFamily="2" charset="-122"/>
              </a:rPr>
              <a:t>性质</a:t>
            </a:r>
            <a:r>
              <a:rPr kumimoji="1" lang="en-US" altLang="zh-CN" sz="2800" dirty="0">
                <a:ea typeface="黑体" pitchFamily="2" charset="-122"/>
              </a:rPr>
              <a:t>3]</a:t>
            </a:r>
            <a:r>
              <a:rPr kumimoji="1" lang="zh-CN" altLang="en-US" sz="2800" dirty="0">
                <a:ea typeface="黑体" pitchFamily="2" charset="-122"/>
              </a:rPr>
              <a:t>：</a:t>
            </a:r>
          </a:p>
          <a:p>
            <a:pPr eaLnBrk="1" hangingPunct="1">
              <a:buNone/>
            </a:pPr>
            <a:r>
              <a:rPr kumimoji="1" lang="zh-CN" altLang="en-US" sz="2800" b="1" dirty="0">
                <a:solidFill>
                  <a:srgbClr val="EE0006"/>
                </a:solidFill>
                <a:ea typeface="黑体" pitchFamily="2" charset="-122"/>
              </a:rPr>
              <a:t>                            </a:t>
            </a:r>
            <a:r>
              <a:rPr kumimoji="1" lang="en-US" altLang="zh-CN" sz="2800" b="1" i="1" dirty="0">
                <a:solidFill>
                  <a:srgbClr val="EE0006"/>
                </a:solidFill>
                <a:ea typeface="黑体" pitchFamily="2" charset="-122"/>
              </a:rPr>
              <a:t>Q </a:t>
            </a:r>
            <a:r>
              <a:rPr kumimoji="1" lang="en-US" altLang="zh-CN" sz="2800" b="1" dirty="0">
                <a:solidFill>
                  <a:srgbClr val="EE0006"/>
                </a:solidFill>
                <a:ea typeface="黑体" pitchFamily="2" charset="-122"/>
                <a:sym typeface="Symbol" pitchFamily="18" charset="2"/>
              </a:rPr>
              <a:t></a:t>
            </a:r>
            <a:r>
              <a:rPr kumimoji="1" lang="en-US" altLang="zh-CN" sz="2800" b="1" i="1" dirty="0">
                <a:solidFill>
                  <a:srgbClr val="EE0006"/>
                </a:solidFill>
                <a:ea typeface="黑体" pitchFamily="2" charset="-122"/>
              </a:rPr>
              <a:t> R</a:t>
            </a:r>
            <a:r>
              <a:rPr kumimoji="1" lang="en-US" altLang="zh-CN" sz="2800" b="1" dirty="0">
                <a:solidFill>
                  <a:srgbClr val="EE0006"/>
                </a:solidFill>
                <a:ea typeface="黑体" pitchFamily="2" charset="-122"/>
              </a:rPr>
              <a:t> </a:t>
            </a:r>
            <a:r>
              <a:rPr kumimoji="1" lang="en-US" altLang="zh-CN" sz="2800" b="1" dirty="0">
                <a:solidFill>
                  <a:srgbClr val="EE0006"/>
                </a:solidFill>
                <a:ea typeface="黑体" pitchFamily="2" charset="-122"/>
                <a:sym typeface="Symbol" pitchFamily="18" charset="2"/>
              </a:rPr>
              <a:t></a:t>
            </a:r>
            <a:r>
              <a:rPr kumimoji="1" lang="en-US" altLang="zh-CN" sz="2800" b="1" i="1" dirty="0">
                <a:solidFill>
                  <a:srgbClr val="EE0006"/>
                </a:solidFill>
                <a:ea typeface="黑体" pitchFamily="2" charset="-122"/>
                <a:sym typeface="Symbol" pitchFamily="18" charset="2"/>
              </a:rPr>
              <a:t> Q </a:t>
            </a:r>
            <a:r>
              <a:rPr lang="en-US" altLang="zh-CN" sz="2800" b="1" dirty="0">
                <a:solidFill>
                  <a:srgbClr val="EE0006"/>
                </a:solidFill>
                <a:ea typeface="黑体" pitchFamily="2" charset="-122"/>
              </a:rPr>
              <a:t>◦</a:t>
            </a:r>
            <a:r>
              <a:rPr kumimoji="1" lang="en-US" altLang="zh-CN" sz="2800" b="1" i="1" dirty="0">
                <a:solidFill>
                  <a:srgbClr val="EE0006"/>
                </a:solidFill>
                <a:ea typeface="黑体" pitchFamily="2" charset="-122"/>
              </a:rPr>
              <a:t> S</a:t>
            </a:r>
            <a:r>
              <a:rPr kumimoji="1" lang="en-US" altLang="zh-CN" sz="2800" b="1" dirty="0">
                <a:solidFill>
                  <a:srgbClr val="EE0006"/>
                </a:solidFill>
                <a:ea typeface="黑体" pitchFamily="2" charset="-122"/>
              </a:rPr>
              <a:t> </a:t>
            </a:r>
            <a:r>
              <a:rPr kumimoji="1" lang="en-US" altLang="zh-CN" sz="2800" b="1" dirty="0">
                <a:solidFill>
                  <a:srgbClr val="EE0006"/>
                </a:solidFill>
                <a:ea typeface="黑体" pitchFamily="2" charset="-122"/>
                <a:sym typeface="Symbol" pitchFamily="18" charset="2"/>
              </a:rPr>
              <a:t></a:t>
            </a:r>
            <a:r>
              <a:rPr kumimoji="1" lang="en-US" altLang="zh-CN" sz="2800" b="1" i="1" dirty="0">
                <a:solidFill>
                  <a:srgbClr val="EE0006"/>
                </a:solidFill>
                <a:ea typeface="黑体" pitchFamily="2" charset="-122"/>
              </a:rPr>
              <a:t>  R </a:t>
            </a:r>
            <a:r>
              <a:rPr lang="en-US" altLang="zh-CN" sz="2800" b="1" dirty="0">
                <a:solidFill>
                  <a:srgbClr val="EE0006"/>
                </a:solidFill>
                <a:ea typeface="黑体" pitchFamily="2" charset="-122"/>
              </a:rPr>
              <a:t>◦</a:t>
            </a:r>
            <a:r>
              <a:rPr kumimoji="1" lang="en-US" altLang="zh-CN" sz="2800" b="1" i="1" dirty="0">
                <a:solidFill>
                  <a:srgbClr val="EE0006"/>
                </a:solidFill>
                <a:ea typeface="黑体" pitchFamily="2" charset="-122"/>
              </a:rPr>
              <a:t> S</a:t>
            </a:r>
          </a:p>
          <a:p>
            <a:pPr eaLnBrk="1" hangingPunct="1">
              <a:buFont typeface="Wingdings" pitchFamily="2" charset="2"/>
              <a:buNone/>
            </a:pPr>
            <a:r>
              <a:rPr kumimoji="1" lang="en-US" altLang="zh-CN" sz="2800" dirty="0">
                <a:ea typeface="黑体" pitchFamily="2" charset="-122"/>
              </a:rPr>
              <a:t>    </a:t>
            </a:r>
            <a:r>
              <a:rPr kumimoji="1" lang="zh-CN" altLang="en-US" sz="2800" dirty="0">
                <a:ea typeface="黑体" pitchFamily="2" charset="-122"/>
              </a:rPr>
              <a:t>有：                </a:t>
            </a:r>
            <a:r>
              <a:rPr kumimoji="1" lang="zh-CN" altLang="en-US" sz="2800" dirty="0"/>
              <a:t> </a:t>
            </a:r>
            <a:r>
              <a:rPr kumimoji="1" lang="en-US" altLang="zh-CN" b="1" i="1" dirty="0">
                <a:solidFill>
                  <a:srgbClr val="3333FF"/>
                </a:solidFill>
                <a:ea typeface="黑体" pitchFamily="2" charset="-122"/>
              </a:rPr>
              <a:t>R </a:t>
            </a:r>
            <a:r>
              <a:rPr lang="en-US" altLang="zh-CN" sz="2800" b="1" dirty="0">
                <a:solidFill>
                  <a:srgbClr val="3333FF"/>
                </a:solidFill>
              </a:rPr>
              <a:t>◦</a:t>
            </a:r>
            <a:r>
              <a:rPr kumimoji="1" lang="en-US" altLang="zh-CN" b="1" i="1" dirty="0">
                <a:solidFill>
                  <a:srgbClr val="3333FF"/>
                </a:solidFill>
                <a:ea typeface="黑体" pitchFamily="2" charset="-122"/>
              </a:rPr>
              <a:t> R </a:t>
            </a:r>
            <a:r>
              <a:rPr kumimoji="1" lang="en-US" altLang="zh-CN" b="1" dirty="0">
                <a:ea typeface="黑体" pitchFamily="2" charset="-122"/>
                <a:sym typeface="Symbol" pitchFamily="18" charset="2"/>
              </a:rPr>
              <a:t></a:t>
            </a:r>
            <a:r>
              <a:rPr kumimoji="1" lang="en-US" altLang="zh-CN" b="1" i="1" dirty="0">
                <a:ea typeface="黑体" pitchFamily="2" charset="-122"/>
                <a:sym typeface="Symbol" pitchFamily="18" charset="2"/>
              </a:rPr>
              <a:t> </a:t>
            </a:r>
            <a:r>
              <a:rPr kumimoji="1" lang="en-US" altLang="zh-CN" b="1" i="1" dirty="0">
                <a:solidFill>
                  <a:srgbClr val="FF00FF"/>
                </a:solidFill>
                <a:latin typeface="Times New Roman" pitchFamily="18" charset="0"/>
                <a:ea typeface="黑体" pitchFamily="2" charset="-122"/>
                <a:sym typeface="Symbol" pitchFamily="18" charset="2"/>
              </a:rPr>
              <a:t>I</a:t>
            </a:r>
            <a:r>
              <a:rPr kumimoji="1" lang="en-US" altLang="zh-CN" b="1" dirty="0">
                <a:solidFill>
                  <a:srgbClr val="FF00FF"/>
                </a:solidFill>
                <a:ea typeface="黑体" pitchFamily="2" charset="-122"/>
                <a:sym typeface="Symbol" pitchFamily="18" charset="2"/>
              </a:rPr>
              <a:t> </a:t>
            </a:r>
            <a:r>
              <a:rPr lang="en-US" altLang="zh-CN" b="1" dirty="0">
                <a:solidFill>
                  <a:srgbClr val="3333FF"/>
                </a:solidFill>
              </a:rPr>
              <a:t>◦</a:t>
            </a:r>
            <a:r>
              <a:rPr lang="en-US" altLang="zh-CN" b="1" i="1" dirty="0">
                <a:solidFill>
                  <a:srgbClr val="3333FF"/>
                </a:solidFill>
              </a:rPr>
              <a:t>R </a:t>
            </a:r>
            <a:r>
              <a:rPr lang="en-US" altLang="zh-CN" b="1" dirty="0">
                <a:solidFill>
                  <a:srgbClr val="3333FF"/>
                </a:solidFill>
              </a:rPr>
              <a:t>=</a:t>
            </a:r>
            <a:r>
              <a:rPr lang="en-US" altLang="zh-CN" b="1" i="1" dirty="0">
                <a:solidFill>
                  <a:srgbClr val="3333FF"/>
                </a:solidFill>
              </a:rPr>
              <a:t>R</a:t>
            </a:r>
          </a:p>
          <a:p>
            <a:pPr eaLnBrk="1" hangingPunct="1">
              <a:buFont typeface="Wingdings" pitchFamily="2" charset="2"/>
              <a:buNone/>
            </a:pPr>
            <a:r>
              <a:rPr lang="en-US" altLang="zh-CN" dirty="0">
                <a:latin typeface="黑体" pitchFamily="2" charset="-122"/>
                <a:ea typeface="黑体" pitchFamily="2" charset="-122"/>
              </a:rPr>
              <a:t>  </a:t>
            </a:r>
            <a:r>
              <a:rPr lang="zh-CN" altLang="en-US" sz="2800" dirty="0">
                <a:latin typeface="黑体" pitchFamily="2" charset="-122"/>
                <a:ea typeface="黑体" pitchFamily="2" charset="-122"/>
              </a:rPr>
              <a:t>从而推得</a:t>
            </a:r>
            <a:r>
              <a:rPr lang="zh-CN" altLang="en-US" sz="2800" dirty="0"/>
              <a:t>：      </a:t>
            </a:r>
            <a:r>
              <a:rPr kumimoji="1" lang="en-US" altLang="zh-CN" b="1" i="1" dirty="0" err="1">
                <a:solidFill>
                  <a:srgbClr val="057939"/>
                </a:solidFill>
                <a:ea typeface="黑体" pitchFamily="2" charset="-122"/>
              </a:rPr>
              <a:t>R</a:t>
            </a:r>
            <a:r>
              <a:rPr kumimoji="1" lang="en-US" altLang="zh-CN" b="1" i="1" baseline="30000" dirty="0" err="1">
                <a:solidFill>
                  <a:srgbClr val="057939"/>
                </a:solidFill>
                <a:ea typeface="黑体" pitchFamily="2" charset="-122"/>
              </a:rPr>
              <a:t>n</a:t>
            </a:r>
            <a:r>
              <a:rPr kumimoji="1" lang="en-US" altLang="zh-CN" b="1" i="1" baseline="30000" dirty="0">
                <a:solidFill>
                  <a:srgbClr val="057939"/>
                </a:solidFill>
                <a:ea typeface="黑体" pitchFamily="2" charset="-122"/>
              </a:rPr>
              <a:t> </a:t>
            </a:r>
            <a:r>
              <a:rPr kumimoji="1" lang="en-US" altLang="zh-CN" b="1" dirty="0">
                <a:solidFill>
                  <a:srgbClr val="057939"/>
                </a:solidFill>
                <a:ea typeface="黑体" pitchFamily="2" charset="-122"/>
                <a:sym typeface="Symbol" pitchFamily="18" charset="2"/>
              </a:rPr>
              <a:t> …</a:t>
            </a:r>
            <a:r>
              <a:rPr kumimoji="1" lang="en-US" altLang="zh-CN" b="1" dirty="0">
                <a:solidFill>
                  <a:srgbClr val="057939"/>
                </a:solidFill>
                <a:ea typeface="黑体" pitchFamily="2" charset="-122"/>
              </a:rPr>
              <a:t> </a:t>
            </a:r>
            <a:r>
              <a:rPr kumimoji="1" lang="en-US" altLang="zh-CN" b="1" i="1" dirty="0">
                <a:solidFill>
                  <a:srgbClr val="057939"/>
                </a:solidFill>
                <a:ea typeface="黑体" pitchFamily="2" charset="-122"/>
              </a:rPr>
              <a:t>R</a:t>
            </a:r>
            <a:r>
              <a:rPr kumimoji="1" lang="en-US" altLang="zh-CN" b="1" baseline="30000" dirty="0">
                <a:solidFill>
                  <a:srgbClr val="057939"/>
                </a:solidFill>
                <a:ea typeface="黑体" pitchFamily="2" charset="-122"/>
              </a:rPr>
              <a:t>2 </a:t>
            </a:r>
            <a:r>
              <a:rPr kumimoji="1" lang="en-US" altLang="zh-CN" b="1" dirty="0">
                <a:solidFill>
                  <a:srgbClr val="057939"/>
                </a:solidFill>
                <a:ea typeface="黑体" pitchFamily="2" charset="-122"/>
                <a:sym typeface="Symbol" pitchFamily="18" charset="2"/>
              </a:rPr>
              <a:t> </a:t>
            </a:r>
            <a:r>
              <a:rPr lang="en-US" altLang="zh-CN" b="1" i="1" dirty="0">
                <a:solidFill>
                  <a:srgbClr val="057939"/>
                </a:solidFill>
              </a:rPr>
              <a:t>R</a:t>
            </a:r>
          </a:p>
          <a:p>
            <a:pPr eaLnBrk="1" hangingPunct="1">
              <a:buFont typeface="Wingdings" pitchFamily="2" charset="2"/>
              <a:buNone/>
            </a:pPr>
            <a:r>
              <a:rPr lang="en-US" altLang="zh-CN" sz="2800" dirty="0">
                <a:ea typeface="黑体" pitchFamily="2" charset="-122"/>
              </a:rPr>
              <a:t>    </a:t>
            </a:r>
            <a:r>
              <a:rPr lang="zh-CN" altLang="en-US" sz="2800" dirty="0">
                <a:ea typeface="黑体" pitchFamily="2" charset="-122"/>
              </a:rPr>
              <a:t>由</a:t>
            </a:r>
            <a:r>
              <a:rPr lang="en-US" altLang="zh-CN" sz="2800" dirty="0">
                <a:ea typeface="黑体" pitchFamily="2" charset="-122"/>
              </a:rPr>
              <a:t>[</a:t>
            </a:r>
            <a:r>
              <a:rPr lang="zh-CN" altLang="en-US" sz="2800" dirty="0">
                <a:ea typeface="黑体" pitchFamily="2" charset="-122"/>
              </a:rPr>
              <a:t>定理</a:t>
            </a:r>
            <a:r>
              <a:rPr lang="en-US" altLang="zh-CN" sz="2800" dirty="0">
                <a:ea typeface="黑体" pitchFamily="2" charset="-122"/>
              </a:rPr>
              <a:t>4]</a:t>
            </a:r>
            <a:r>
              <a:rPr lang="zh-CN" altLang="en-US" sz="2800" dirty="0">
                <a:ea typeface="黑体" pitchFamily="2" charset="-122"/>
              </a:rPr>
              <a:t>得：</a:t>
            </a:r>
          </a:p>
        </p:txBody>
      </p:sp>
      <p:graphicFrame>
        <p:nvGraphicFramePr>
          <p:cNvPr id="148484" name="Object 4"/>
          <p:cNvGraphicFramePr>
            <a:graphicFrameLocks noGrp="1" noChangeAspect="1"/>
          </p:cNvGraphicFramePr>
          <p:nvPr>
            <p:ph sz="quarter" idx="2"/>
            <p:extLst>
              <p:ext uri="{D42A27DB-BD31-4B8C-83A1-F6EECF244321}">
                <p14:modId xmlns:p14="http://schemas.microsoft.com/office/powerpoint/2010/main" val="2647513963"/>
              </p:ext>
            </p:extLst>
          </p:nvPr>
        </p:nvGraphicFramePr>
        <p:xfrm>
          <a:off x="8040216" y="1485900"/>
          <a:ext cx="1233488" cy="719138"/>
        </p:xfrm>
        <a:graphic>
          <a:graphicData uri="http://schemas.openxmlformats.org/presentationml/2006/ole">
            <mc:AlternateContent xmlns:mc="http://schemas.openxmlformats.org/markup-compatibility/2006">
              <mc:Choice xmlns:v="urn:schemas-microsoft-com:vml" Requires="v">
                <p:oleObj name="公式" r:id="rId2" imgW="457002" imgH="266584" progId="Equation.3">
                  <p:embed/>
                </p:oleObj>
              </mc:Choice>
              <mc:Fallback>
                <p:oleObj name="公式" r:id="rId2" imgW="457002" imgH="266584" progId="Equation.3">
                  <p:embed/>
                  <p:pic>
                    <p:nvPicPr>
                      <p:cNvPr id="14848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216" y="1485900"/>
                        <a:ext cx="1233488" cy="719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48487" name="Object 7"/>
          <p:cNvGraphicFramePr>
            <a:graphicFrameLocks noGrp="1" noChangeAspect="1"/>
          </p:cNvGraphicFramePr>
          <p:nvPr>
            <p:ph sz="quarter" idx="3"/>
            <p:extLst>
              <p:ext uri="{D42A27DB-BD31-4B8C-83A1-F6EECF244321}">
                <p14:modId xmlns:p14="http://schemas.microsoft.com/office/powerpoint/2010/main" val="3681296122"/>
              </p:ext>
            </p:extLst>
          </p:nvPr>
        </p:nvGraphicFramePr>
        <p:xfrm>
          <a:off x="4151784" y="5623198"/>
          <a:ext cx="2303463" cy="1046162"/>
        </p:xfrm>
        <a:graphic>
          <a:graphicData uri="http://schemas.openxmlformats.org/presentationml/2006/ole">
            <mc:AlternateContent xmlns:mc="http://schemas.openxmlformats.org/markup-compatibility/2006">
              <mc:Choice xmlns:v="urn:schemas-microsoft-com:vml" Requires="v">
                <p:oleObj name="公式" r:id="rId4" imgW="952087" imgH="431613" progId="Equation.3">
                  <p:embed/>
                </p:oleObj>
              </mc:Choice>
              <mc:Fallback>
                <p:oleObj name="公式" r:id="rId4" imgW="952087" imgH="431613" progId="Equation.3">
                  <p:embed/>
                  <p:pic>
                    <p:nvPicPr>
                      <p:cNvPr id="14848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1784" y="5623198"/>
                        <a:ext cx="2303463" cy="1046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1B07990B-4337-9810-1D66-1EDBA8023000}"/>
              </a:ext>
            </a:extLst>
          </p:cNvPr>
          <p:cNvSpPr>
            <a:spLocks noGrp="1"/>
          </p:cNvSpPr>
          <p:nvPr>
            <p:ph type="sldNum" sz="quarter" idx="11"/>
          </p:nvPr>
        </p:nvSpPr>
        <p:spPr/>
        <p:txBody>
          <a:bodyPr/>
          <a:lstStyle/>
          <a:p>
            <a:pPr>
              <a:defRPr/>
            </a:pPr>
            <a:fld id="{FC9A31AC-AC4A-4C65-A279-8DC32B7DED70}" type="slidenum">
              <a:rPr lang="en-US" altLang="zh-CN" smtClean="0"/>
              <a:pPr>
                <a:defRPr/>
              </a:pPr>
              <a:t>15</a:t>
            </a:fld>
            <a:endParaRPr lang="en-US" altLang="zh-CN"/>
          </a:p>
        </p:txBody>
      </p:sp>
    </p:spTree>
    <p:extLst>
      <p:ext uri="{BB962C8B-B14F-4D97-AF65-F5344CB8AC3E}">
        <p14:creationId xmlns:p14="http://schemas.microsoft.com/office/powerpoint/2010/main" val="3914677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wipe(left)">
                                      <p:cBhvr>
                                        <p:cTn id="7" dur="500"/>
                                        <p:tgtEl>
                                          <p:spTgt spid="148483">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8484"/>
                                        </p:tgtEl>
                                        <p:attrNameLst>
                                          <p:attrName>style.visibility</p:attrName>
                                        </p:attrNameLst>
                                      </p:cBhvr>
                                      <p:to>
                                        <p:strVal val="visible"/>
                                      </p:to>
                                    </p:set>
                                    <p:animEffect transition="in" filter="wipe(left)">
                                      <p:cBhvr>
                                        <p:cTn id="11" dur="500"/>
                                        <p:tgtEl>
                                          <p:spTgt spid="14848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8483">
                                            <p:txEl>
                                              <p:pRg st="1" end="1"/>
                                            </p:txEl>
                                          </p:spTgt>
                                        </p:tgtEl>
                                        <p:attrNameLst>
                                          <p:attrName>style.visibility</p:attrName>
                                        </p:attrNameLst>
                                      </p:cBhvr>
                                      <p:to>
                                        <p:strVal val="visible"/>
                                      </p:to>
                                    </p:set>
                                    <p:animEffect transition="in" filter="wipe(left)">
                                      <p:cBhvr>
                                        <p:cTn id="16" dur="500"/>
                                        <p:tgtEl>
                                          <p:spTgt spid="14848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8483">
                                            <p:txEl>
                                              <p:pRg st="2" end="2"/>
                                            </p:txEl>
                                          </p:spTgt>
                                        </p:tgtEl>
                                        <p:attrNameLst>
                                          <p:attrName>style.visibility</p:attrName>
                                        </p:attrNameLst>
                                      </p:cBhvr>
                                      <p:to>
                                        <p:strVal val="visible"/>
                                      </p:to>
                                    </p:set>
                                    <p:animEffect transition="in" filter="wipe(left)">
                                      <p:cBhvr>
                                        <p:cTn id="21" dur="500"/>
                                        <p:tgtEl>
                                          <p:spTgt spid="14848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8483">
                                            <p:txEl>
                                              <p:pRg st="3" end="3"/>
                                            </p:txEl>
                                          </p:spTgt>
                                        </p:tgtEl>
                                        <p:attrNameLst>
                                          <p:attrName>style.visibility</p:attrName>
                                        </p:attrNameLst>
                                      </p:cBhvr>
                                      <p:to>
                                        <p:strVal val="visible"/>
                                      </p:to>
                                    </p:set>
                                    <p:animEffect transition="in" filter="wipe(left)">
                                      <p:cBhvr>
                                        <p:cTn id="26" dur="500"/>
                                        <p:tgtEl>
                                          <p:spTgt spid="14848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8483">
                                            <p:txEl>
                                              <p:pRg st="4" end="4"/>
                                            </p:txEl>
                                          </p:spTgt>
                                        </p:tgtEl>
                                        <p:attrNameLst>
                                          <p:attrName>style.visibility</p:attrName>
                                        </p:attrNameLst>
                                      </p:cBhvr>
                                      <p:to>
                                        <p:strVal val="visible"/>
                                      </p:to>
                                    </p:set>
                                    <p:animEffect transition="in" filter="wipe(left)">
                                      <p:cBhvr>
                                        <p:cTn id="31" dur="500"/>
                                        <p:tgtEl>
                                          <p:spTgt spid="148483">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8483">
                                            <p:txEl>
                                              <p:pRg st="5" end="5"/>
                                            </p:txEl>
                                          </p:spTgt>
                                        </p:tgtEl>
                                        <p:attrNameLst>
                                          <p:attrName>style.visibility</p:attrName>
                                        </p:attrNameLst>
                                      </p:cBhvr>
                                      <p:to>
                                        <p:strVal val="visible"/>
                                      </p:to>
                                    </p:set>
                                    <p:animEffect transition="in" filter="wipe(left)">
                                      <p:cBhvr>
                                        <p:cTn id="36" dur="500"/>
                                        <p:tgtEl>
                                          <p:spTgt spid="148483">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8483">
                                            <p:txEl>
                                              <p:pRg st="6" end="6"/>
                                            </p:txEl>
                                          </p:spTgt>
                                        </p:tgtEl>
                                        <p:attrNameLst>
                                          <p:attrName>style.visibility</p:attrName>
                                        </p:attrNameLst>
                                      </p:cBhvr>
                                      <p:to>
                                        <p:strVal val="visible"/>
                                      </p:to>
                                    </p:set>
                                    <p:animEffect transition="in" filter="wipe(left)">
                                      <p:cBhvr>
                                        <p:cTn id="41" dur="500"/>
                                        <p:tgtEl>
                                          <p:spTgt spid="148483">
                                            <p:txEl>
                                              <p:pRg st="6" end="6"/>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8483">
                                            <p:txEl>
                                              <p:pRg st="7" end="7"/>
                                            </p:txEl>
                                          </p:spTgt>
                                        </p:tgtEl>
                                        <p:attrNameLst>
                                          <p:attrName>style.visibility</p:attrName>
                                        </p:attrNameLst>
                                      </p:cBhvr>
                                      <p:to>
                                        <p:strVal val="visible"/>
                                      </p:to>
                                    </p:set>
                                    <p:animEffect transition="in" filter="wipe(left)">
                                      <p:cBhvr>
                                        <p:cTn id="46" dur="500"/>
                                        <p:tgtEl>
                                          <p:spTgt spid="148483">
                                            <p:txEl>
                                              <p:pRg st="7" end="7"/>
                                            </p:txEl>
                                          </p:spTgt>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48487"/>
                                        </p:tgtEl>
                                        <p:attrNameLst>
                                          <p:attrName>style.visibility</p:attrName>
                                        </p:attrNameLst>
                                      </p:cBhvr>
                                      <p:to>
                                        <p:strVal val="visible"/>
                                      </p:to>
                                    </p:set>
                                    <p:animEffect transition="in" filter="wipe(left)">
                                      <p:cBhvr>
                                        <p:cTn id="50" dur="500"/>
                                        <p:tgtEl>
                                          <p:spTgt spid="148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92313" y="413792"/>
            <a:ext cx="8229600" cy="1143000"/>
          </a:xfrm>
        </p:spPr>
        <p:txBody>
          <a:bodyPr/>
          <a:lstStyle/>
          <a:p>
            <a:pPr algn="ctr" eaLnBrk="1" hangingPunct="1"/>
            <a:r>
              <a:rPr lang="zh-CN" altLang="en-US" dirty="0">
                <a:solidFill>
                  <a:srgbClr val="057939"/>
                </a:solidFill>
                <a:latin typeface="黑体" panose="02010609060101010101" pitchFamily="49" charset="-122"/>
                <a:ea typeface="黑体" panose="02010609060101010101" pitchFamily="49" charset="-122"/>
              </a:rPr>
              <a:t>普通集合的等价关系</a:t>
            </a:r>
          </a:p>
        </p:txBody>
      </p:sp>
      <p:sp>
        <p:nvSpPr>
          <p:cNvPr id="180227" name="Rectangle 3"/>
          <p:cNvSpPr>
            <a:spLocks noGrp="1" noChangeArrowheads="1"/>
          </p:cNvSpPr>
          <p:nvPr>
            <p:ph type="body" idx="1"/>
          </p:nvPr>
        </p:nvSpPr>
        <p:spPr>
          <a:xfrm>
            <a:off x="1055440" y="1628776"/>
            <a:ext cx="9937104" cy="4968875"/>
          </a:xfrm>
        </p:spPr>
        <p:txBody>
          <a:bodyPr/>
          <a:lstStyle/>
          <a:p>
            <a:pPr eaLnBrk="1" hangingPunct="1">
              <a:lnSpc>
                <a:spcPct val="120000"/>
              </a:lnSpc>
              <a:spcBef>
                <a:spcPct val="0"/>
              </a:spcBef>
              <a:defRPr/>
            </a:pPr>
            <a:r>
              <a:rPr lang="zh-CN" altLang="en-US" b="1" dirty="0">
                <a:solidFill>
                  <a:srgbClr val="FF3300"/>
                </a:solidFill>
              </a:rPr>
              <a:t>等价关系</a:t>
            </a:r>
          </a:p>
          <a:p>
            <a:pPr lvl="1" eaLnBrk="1" hangingPunct="1">
              <a:lnSpc>
                <a:spcPct val="120000"/>
              </a:lnSpc>
              <a:spcBef>
                <a:spcPct val="0"/>
              </a:spcBef>
              <a:defRPr/>
            </a:pPr>
            <a:r>
              <a:rPr lang="zh-CN" altLang="en-US" b="1" dirty="0"/>
              <a:t>是最重要、最常见的二元关系之一。它有良好的性质。在计算机科学和计算机技术、信息科学和信息工程中都有广泛的应用。</a:t>
            </a:r>
          </a:p>
          <a:p>
            <a:pPr eaLnBrk="1" hangingPunct="1">
              <a:lnSpc>
                <a:spcPct val="120000"/>
              </a:lnSpc>
              <a:spcBef>
                <a:spcPct val="0"/>
              </a:spcBef>
              <a:defRPr/>
            </a:pPr>
            <a:r>
              <a:rPr lang="zh-CN" altLang="en-US" b="1" dirty="0">
                <a:solidFill>
                  <a:srgbClr val="FF3300"/>
                </a:solidFill>
              </a:rPr>
              <a:t>定义  </a:t>
            </a:r>
          </a:p>
          <a:p>
            <a:pPr lvl="1" eaLnBrk="1" hangingPunct="1">
              <a:lnSpc>
                <a:spcPct val="120000"/>
              </a:lnSpc>
              <a:spcBef>
                <a:spcPct val="0"/>
              </a:spcBef>
              <a:defRPr/>
            </a:pPr>
            <a:r>
              <a:rPr lang="zh-CN" altLang="en-US" b="1" dirty="0"/>
              <a:t>设 </a:t>
            </a:r>
            <a:r>
              <a:rPr lang="en-US" altLang="zh-CN" b="1" i="1" dirty="0"/>
              <a:t>R </a:t>
            </a:r>
            <a:r>
              <a:rPr lang="zh-CN" altLang="en-US" b="1" dirty="0"/>
              <a:t>为非空集合上的关系</a:t>
            </a:r>
            <a:r>
              <a:rPr lang="en-US" altLang="zh-CN" b="1" dirty="0"/>
              <a:t>. </a:t>
            </a:r>
            <a:r>
              <a:rPr lang="zh-CN" altLang="en-US" b="1" dirty="0"/>
              <a:t>如果 </a:t>
            </a:r>
            <a:r>
              <a:rPr lang="en-US" altLang="zh-CN" b="1" i="1" dirty="0"/>
              <a:t>R </a:t>
            </a:r>
            <a:r>
              <a:rPr lang="zh-CN" altLang="en-US" b="1" dirty="0"/>
              <a:t>是</a:t>
            </a:r>
            <a:r>
              <a:rPr lang="zh-CN" altLang="en-US" b="1" u="sng" dirty="0">
                <a:solidFill>
                  <a:srgbClr val="3333FF"/>
                </a:solidFill>
              </a:rPr>
              <a:t>自反的</a:t>
            </a:r>
            <a:r>
              <a:rPr lang="zh-CN" altLang="en-US" b="1" dirty="0"/>
              <a:t>、</a:t>
            </a:r>
            <a:r>
              <a:rPr lang="zh-CN" altLang="en-US" b="1" u="sng" dirty="0">
                <a:solidFill>
                  <a:srgbClr val="3333FF"/>
                </a:solidFill>
              </a:rPr>
              <a:t>对称的</a:t>
            </a:r>
            <a:r>
              <a:rPr lang="zh-CN" altLang="en-US" b="1" dirty="0"/>
              <a:t>和</a:t>
            </a:r>
            <a:r>
              <a:rPr lang="zh-CN" altLang="en-US" b="1" u="sng" dirty="0">
                <a:solidFill>
                  <a:srgbClr val="3333FF"/>
                </a:solidFill>
              </a:rPr>
              <a:t>传递的</a:t>
            </a:r>
            <a:r>
              <a:rPr lang="en-US" altLang="zh-CN" b="1" dirty="0"/>
              <a:t>, </a:t>
            </a:r>
            <a:r>
              <a:rPr lang="zh-CN" altLang="en-US" b="1" dirty="0"/>
              <a:t>则称 </a:t>
            </a:r>
            <a:r>
              <a:rPr lang="en-US" altLang="zh-CN" b="1" i="1" dirty="0"/>
              <a:t>R </a:t>
            </a:r>
            <a:r>
              <a:rPr lang="zh-CN" altLang="en-US" b="1" dirty="0"/>
              <a:t>为 </a:t>
            </a:r>
            <a:r>
              <a:rPr lang="en-US" altLang="zh-CN" b="1" i="1" dirty="0"/>
              <a:t>A </a:t>
            </a:r>
            <a:r>
              <a:rPr lang="zh-CN" altLang="en-US" b="1" dirty="0"/>
              <a:t>上的</a:t>
            </a:r>
            <a:r>
              <a:rPr lang="zh-CN" altLang="en-US" b="1" dirty="0">
                <a:solidFill>
                  <a:srgbClr val="FF00FF"/>
                </a:solidFill>
                <a:latin typeface="+mj-ea"/>
                <a:ea typeface="+mj-ea"/>
              </a:rPr>
              <a:t>等价关系</a:t>
            </a:r>
            <a:r>
              <a:rPr lang="en-US" altLang="zh-CN" b="1" dirty="0"/>
              <a:t>. </a:t>
            </a:r>
          </a:p>
          <a:p>
            <a:pPr lvl="1" eaLnBrk="1" hangingPunct="1">
              <a:lnSpc>
                <a:spcPct val="120000"/>
              </a:lnSpc>
              <a:spcBef>
                <a:spcPct val="0"/>
              </a:spcBef>
              <a:defRPr/>
            </a:pPr>
            <a:r>
              <a:rPr lang="zh-CN" altLang="en-US" b="1" dirty="0"/>
              <a:t>设 </a:t>
            </a:r>
            <a:r>
              <a:rPr lang="en-US" altLang="zh-CN" b="1" i="1" dirty="0"/>
              <a:t>R </a:t>
            </a:r>
            <a:r>
              <a:rPr lang="zh-CN" altLang="en-US" b="1" dirty="0"/>
              <a:t>是一个等价关系</a:t>
            </a:r>
            <a:r>
              <a:rPr lang="en-US" altLang="zh-CN" b="1" dirty="0"/>
              <a:t>, </a:t>
            </a:r>
          </a:p>
          <a:p>
            <a:pPr lvl="2" eaLnBrk="1" hangingPunct="1">
              <a:lnSpc>
                <a:spcPct val="120000"/>
              </a:lnSpc>
              <a:spcBef>
                <a:spcPct val="0"/>
              </a:spcBef>
              <a:defRPr/>
            </a:pPr>
            <a:r>
              <a:rPr lang="zh-CN" altLang="en-US" sz="2800" b="1" dirty="0"/>
              <a:t>若</a:t>
            </a:r>
            <a:r>
              <a:rPr lang="en-US" altLang="zh-CN" sz="2800" b="1" dirty="0"/>
              <a:t>&lt;</a:t>
            </a:r>
            <a:r>
              <a:rPr lang="en-US" altLang="zh-CN" sz="2800" b="1" i="1" dirty="0" err="1"/>
              <a:t>x</a:t>
            </a:r>
            <a:r>
              <a:rPr lang="en-US" altLang="zh-CN" sz="2800" b="1" dirty="0" err="1"/>
              <a:t>,</a:t>
            </a:r>
            <a:r>
              <a:rPr lang="en-US" altLang="zh-CN" sz="2800" b="1" i="1" dirty="0" err="1"/>
              <a:t>y</a:t>
            </a:r>
            <a:r>
              <a:rPr lang="en-US" altLang="zh-CN" sz="2800" b="1" dirty="0"/>
              <a:t>&gt;</a:t>
            </a:r>
            <a:r>
              <a:rPr lang="en-US" altLang="zh-CN" sz="2800" b="1" dirty="0">
                <a:sym typeface="Symbol" panose="05050102010706020507" pitchFamily="18" charset="2"/>
              </a:rPr>
              <a:t></a:t>
            </a:r>
            <a:r>
              <a:rPr lang="en-US" altLang="zh-CN" sz="2800" b="1" i="1" dirty="0"/>
              <a:t>R</a:t>
            </a:r>
            <a:r>
              <a:rPr lang="en-US" altLang="zh-CN" sz="2800" b="1" dirty="0"/>
              <a:t>, </a:t>
            </a:r>
            <a:r>
              <a:rPr lang="zh-CN" altLang="en-US" sz="2800" b="1" dirty="0"/>
              <a:t>称 </a:t>
            </a:r>
            <a:r>
              <a:rPr lang="en-US" altLang="zh-CN" sz="2800" b="1" i="1" u="sng" dirty="0">
                <a:solidFill>
                  <a:srgbClr val="FF00FF"/>
                </a:solidFill>
              </a:rPr>
              <a:t>x </a:t>
            </a:r>
            <a:r>
              <a:rPr lang="zh-CN" altLang="en-US" sz="2800" b="1" u="sng" dirty="0">
                <a:solidFill>
                  <a:srgbClr val="FF00FF"/>
                </a:solidFill>
              </a:rPr>
              <a:t>等价于</a:t>
            </a:r>
            <a:r>
              <a:rPr lang="en-US" altLang="zh-CN" sz="2800" b="1" i="1" u="sng" dirty="0">
                <a:solidFill>
                  <a:srgbClr val="FF00FF"/>
                </a:solidFill>
              </a:rPr>
              <a:t>y</a:t>
            </a:r>
            <a:r>
              <a:rPr lang="en-US" altLang="zh-CN" sz="2800" b="1" dirty="0"/>
              <a:t>, </a:t>
            </a:r>
            <a:r>
              <a:rPr lang="zh-CN" altLang="en-US" sz="2800" b="1" dirty="0"/>
              <a:t>记做 </a:t>
            </a:r>
            <a:r>
              <a:rPr lang="en-US" altLang="zh-CN" sz="2800" b="1" i="1" dirty="0">
                <a:solidFill>
                  <a:srgbClr val="FF00FF"/>
                </a:solidFill>
              </a:rPr>
              <a:t>x</a:t>
            </a:r>
            <a:r>
              <a:rPr lang="zh-CN" altLang="en-US" sz="2800" b="1" dirty="0">
                <a:solidFill>
                  <a:srgbClr val="FF00FF"/>
                </a:solidFill>
              </a:rPr>
              <a:t>～</a:t>
            </a:r>
            <a:r>
              <a:rPr lang="en-US" altLang="zh-CN" sz="2800" b="1" i="1" dirty="0">
                <a:solidFill>
                  <a:srgbClr val="FF00FF"/>
                </a:solidFill>
              </a:rPr>
              <a:t>y</a:t>
            </a:r>
            <a:r>
              <a:rPr lang="en-US" altLang="zh-CN" sz="2800" b="1" dirty="0"/>
              <a:t>.</a:t>
            </a:r>
            <a:r>
              <a:rPr lang="en-US" altLang="zh-CN" sz="2800" dirty="0"/>
              <a:t> </a:t>
            </a:r>
            <a:endParaRPr lang="en-US" altLang="zh-CN" sz="3200" dirty="0"/>
          </a:p>
        </p:txBody>
      </p:sp>
      <p:sp>
        <p:nvSpPr>
          <p:cNvPr id="2" name="灯片编号占位符 1">
            <a:extLst>
              <a:ext uri="{FF2B5EF4-FFF2-40B4-BE49-F238E27FC236}">
                <a16:creationId xmlns:a16="http://schemas.microsoft.com/office/drawing/2014/main" id="{82A39821-267E-F3BA-4517-9E3991B502BC}"/>
              </a:ext>
            </a:extLst>
          </p:cNvPr>
          <p:cNvSpPr>
            <a:spLocks noGrp="1"/>
          </p:cNvSpPr>
          <p:nvPr>
            <p:ph type="sldNum" sz="quarter" idx="11"/>
          </p:nvPr>
        </p:nvSpPr>
        <p:spPr/>
        <p:txBody>
          <a:bodyPr/>
          <a:lstStyle/>
          <a:p>
            <a:pPr>
              <a:defRPr/>
            </a:pPr>
            <a:fld id="{F13753BC-CAEF-4333-AC48-2805658F6E3F}" type="slidenum">
              <a:rPr lang="en-US" altLang="zh-CN" smtClean="0"/>
              <a:pPr>
                <a:defRPr/>
              </a:pPr>
              <a:t>16</a:t>
            </a:fld>
            <a:endParaRPr lang="en-US" altLang="zh-CN"/>
          </a:p>
        </p:txBody>
      </p:sp>
    </p:spTree>
    <p:extLst>
      <p:ext uri="{BB962C8B-B14F-4D97-AF65-F5344CB8AC3E}">
        <p14:creationId xmlns:p14="http://schemas.microsoft.com/office/powerpoint/2010/main" val="3464153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wipe(left)">
                                      <p:cBhvr>
                                        <p:cTn id="7" dur="500"/>
                                        <p:tgtEl>
                                          <p:spTgt spid="180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0227">
                                            <p:txEl>
                                              <p:pRg st="1" end="1"/>
                                            </p:txEl>
                                          </p:spTgt>
                                        </p:tgtEl>
                                        <p:attrNameLst>
                                          <p:attrName>style.visibility</p:attrName>
                                        </p:attrNameLst>
                                      </p:cBhvr>
                                      <p:to>
                                        <p:strVal val="visible"/>
                                      </p:to>
                                    </p:set>
                                    <p:animEffect transition="in" filter="wipe(left)">
                                      <p:cBhvr>
                                        <p:cTn id="12" dur="500"/>
                                        <p:tgtEl>
                                          <p:spTgt spid="180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0227">
                                            <p:txEl>
                                              <p:pRg st="2" end="2"/>
                                            </p:txEl>
                                          </p:spTgt>
                                        </p:tgtEl>
                                        <p:attrNameLst>
                                          <p:attrName>style.visibility</p:attrName>
                                        </p:attrNameLst>
                                      </p:cBhvr>
                                      <p:to>
                                        <p:strVal val="visible"/>
                                      </p:to>
                                    </p:set>
                                    <p:animEffect transition="in" filter="wipe(left)">
                                      <p:cBhvr>
                                        <p:cTn id="17" dur="500"/>
                                        <p:tgtEl>
                                          <p:spTgt spid="180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0227">
                                            <p:txEl>
                                              <p:pRg st="3" end="3"/>
                                            </p:txEl>
                                          </p:spTgt>
                                        </p:tgtEl>
                                        <p:attrNameLst>
                                          <p:attrName>style.visibility</p:attrName>
                                        </p:attrNameLst>
                                      </p:cBhvr>
                                      <p:to>
                                        <p:strVal val="visible"/>
                                      </p:to>
                                    </p:set>
                                    <p:animEffect transition="in" filter="wipe(left)">
                                      <p:cBhvr>
                                        <p:cTn id="22" dur="500"/>
                                        <p:tgtEl>
                                          <p:spTgt spid="180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0227">
                                            <p:txEl>
                                              <p:pRg st="4" end="4"/>
                                            </p:txEl>
                                          </p:spTgt>
                                        </p:tgtEl>
                                        <p:attrNameLst>
                                          <p:attrName>style.visibility</p:attrName>
                                        </p:attrNameLst>
                                      </p:cBhvr>
                                      <p:to>
                                        <p:strVal val="visible"/>
                                      </p:to>
                                    </p:set>
                                    <p:animEffect transition="in" filter="wipe(left)">
                                      <p:cBhvr>
                                        <p:cTn id="27" dur="500"/>
                                        <p:tgtEl>
                                          <p:spTgt spid="1802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0227">
                                            <p:txEl>
                                              <p:pRg st="5" end="5"/>
                                            </p:txEl>
                                          </p:spTgt>
                                        </p:tgtEl>
                                        <p:attrNameLst>
                                          <p:attrName>style.visibility</p:attrName>
                                        </p:attrNameLst>
                                      </p:cBhvr>
                                      <p:to>
                                        <p:strVal val="visible"/>
                                      </p:to>
                                    </p:set>
                                    <p:animEffect transition="in" filter="wipe(left)">
                                      <p:cBhvr>
                                        <p:cTn id="32" dur="500"/>
                                        <p:tgtEl>
                                          <p:spTgt spid="1802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19288" y="260350"/>
            <a:ext cx="8229600" cy="1371600"/>
          </a:xfrm>
        </p:spPr>
        <p:txBody>
          <a:bodyPr/>
          <a:lstStyle/>
          <a:p>
            <a:pPr algn="ctr" eaLnBrk="1" hangingPunct="1"/>
            <a:r>
              <a:rPr lang="en-US" altLang="zh-CN" dirty="0">
                <a:solidFill>
                  <a:srgbClr val="057939"/>
                </a:solidFill>
                <a:ea typeface="黑体" panose="02010609060101010101" pitchFamily="49" charset="-122"/>
              </a:rPr>
              <a:t>A</a:t>
            </a:r>
            <a:r>
              <a:rPr lang="zh-CN" altLang="en-US" dirty="0">
                <a:solidFill>
                  <a:srgbClr val="057939"/>
                </a:solidFill>
                <a:ea typeface="黑体" panose="02010609060101010101" pitchFamily="49" charset="-122"/>
              </a:rPr>
              <a:t>上的模</a:t>
            </a:r>
            <a:r>
              <a:rPr lang="en-US" altLang="zh-CN" dirty="0">
                <a:solidFill>
                  <a:srgbClr val="057939"/>
                </a:solidFill>
                <a:ea typeface="黑体" panose="02010609060101010101" pitchFamily="49" charset="-122"/>
              </a:rPr>
              <a:t>3</a:t>
            </a:r>
            <a:r>
              <a:rPr lang="zh-CN" altLang="en-US" dirty="0">
                <a:solidFill>
                  <a:srgbClr val="057939"/>
                </a:solidFill>
                <a:ea typeface="黑体" panose="02010609060101010101" pitchFamily="49" charset="-122"/>
              </a:rPr>
              <a:t>等价关系</a:t>
            </a:r>
          </a:p>
        </p:txBody>
      </p:sp>
      <p:sp>
        <p:nvSpPr>
          <p:cNvPr id="5123" name="Text Box 3"/>
          <p:cNvSpPr txBox="1">
            <a:spLocks noChangeArrowheads="1"/>
          </p:cNvSpPr>
          <p:nvPr/>
        </p:nvSpPr>
        <p:spPr bwMode="auto">
          <a:xfrm>
            <a:off x="2979738" y="18510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algn="l" eaLnBrk="1" hangingPunct="1"/>
            <a:endParaRPr lang="zh-CN" altLang="zh-CN" b="1" i="0"/>
          </a:p>
        </p:txBody>
      </p:sp>
      <p:sp>
        <p:nvSpPr>
          <p:cNvPr id="5124" name="Text Box 4"/>
          <p:cNvSpPr txBox="1">
            <a:spLocks noChangeArrowheads="1"/>
          </p:cNvSpPr>
          <p:nvPr/>
        </p:nvSpPr>
        <p:spPr bwMode="auto">
          <a:xfrm>
            <a:off x="2690813" y="17780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algn="l" eaLnBrk="1" hangingPunct="1"/>
            <a:endParaRPr lang="zh-CN" altLang="zh-CN" b="1" i="0"/>
          </a:p>
        </p:txBody>
      </p:sp>
      <p:sp>
        <p:nvSpPr>
          <p:cNvPr id="185349" name="Text Box 5"/>
          <p:cNvSpPr txBox="1">
            <a:spLocks noChangeArrowheads="1"/>
          </p:cNvSpPr>
          <p:nvPr/>
        </p:nvSpPr>
        <p:spPr bwMode="auto">
          <a:xfrm>
            <a:off x="1775520" y="1700214"/>
            <a:ext cx="8496944" cy="2851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algn="ctr" eaLnBrk="0" fontAlgn="base" hangingPunct="0">
              <a:spcBef>
                <a:spcPct val="0"/>
              </a:spcBef>
              <a:spcAft>
                <a:spcPct val="0"/>
              </a:spcAft>
              <a:defRPr i="1">
                <a:solidFill>
                  <a:schemeClr val="tx1"/>
                </a:solidFill>
                <a:latin typeface="Arial" charset="0"/>
                <a:ea typeface="宋体" pitchFamily="2" charset="-122"/>
              </a:defRPr>
            </a:lvl6pPr>
            <a:lvl7pPr marL="2971800" indent="-228600" algn="ctr" eaLnBrk="0" fontAlgn="base" hangingPunct="0">
              <a:spcBef>
                <a:spcPct val="0"/>
              </a:spcBef>
              <a:spcAft>
                <a:spcPct val="0"/>
              </a:spcAft>
              <a:defRPr i="1">
                <a:solidFill>
                  <a:schemeClr val="tx1"/>
                </a:solidFill>
                <a:latin typeface="Arial" charset="0"/>
                <a:ea typeface="宋体" pitchFamily="2" charset="-122"/>
              </a:defRPr>
            </a:lvl7pPr>
            <a:lvl8pPr marL="3429000" indent="-228600" algn="ctr" eaLnBrk="0" fontAlgn="base" hangingPunct="0">
              <a:spcBef>
                <a:spcPct val="0"/>
              </a:spcBef>
              <a:spcAft>
                <a:spcPct val="0"/>
              </a:spcAft>
              <a:defRPr i="1">
                <a:solidFill>
                  <a:schemeClr val="tx1"/>
                </a:solidFill>
                <a:latin typeface="Arial" charset="0"/>
                <a:ea typeface="宋体" pitchFamily="2" charset="-122"/>
              </a:defRPr>
            </a:lvl8pPr>
            <a:lvl9pPr marL="3886200" indent="-228600" algn="ctr" eaLnBrk="0" fontAlgn="base" hangingPunct="0">
              <a:spcBef>
                <a:spcPct val="0"/>
              </a:spcBef>
              <a:spcAft>
                <a:spcPct val="0"/>
              </a:spcAft>
              <a:defRPr i="1">
                <a:solidFill>
                  <a:schemeClr val="tx1"/>
                </a:solidFill>
                <a:latin typeface="Arial" charset="0"/>
                <a:ea typeface="宋体" pitchFamily="2" charset="-122"/>
              </a:defRPr>
            </a:lvl9pPr>
          </a:lstStyle>
          <a:p>
            <a:pPr algn="l" eaLnBrk="1" hangingPunct="1">
              <a:lnSpc>
                <a:spcPct val="120000"/>
              </a:lnSpc>
            </a:pPr>
            <a:r>
              <a:rPr lang="zh-CN" altLang="en-US" sz="3200" b="1" i="0" dirty="0"/>
              <a:t>设  </a:t>
            </a:r>
            <a:r>
              <a:rPr lang="en-US" altLang="zh-CN" sz="3200" b="1" dirty="0"/>
              <a:t>A</a:t>
            </a:r>
            <a:r>
              <a:rPr lang="en-US" altLang="zh-CN" sz="3200" b="1" i="0" dirty="0"/>
              <a:t>={1,2,3,4,5,6,7,8}, </a:t>
            </a:r>
            <a:br>
              <a:rPr lang="en-US" altLang="zh-CN" sz="3200" b="1" i="0" dirty="0"/>
            </a:br>
            <a:r>
              <a:rPr lang="en-US" altLang="zh-CN" sz="3200" b="1" i="0" dirty="0"/>
              <a:t>      </a:t>
            </a:r>
            <a:r>
              <a:rPr lang="en-US" altLang="zh-CN" sz="3200" b="1" dirty="0">
                <a:solidFill>
                  <a:srgbClr val="EE0006"/>
                </a:solidFill>
              </a:rPr>
              <a:t>R</a:t>
            </a:r>
            <a:r>
              <a:rPr lang="en-US" altLang="zh-CN" sz="3200" b="1" i="0" dirty="0">
                <a:solidFill>
                  <a:srgbClr val="EE0006"/>
                </a:solidFill>
              </a:rPr>
              <a:t>={ &lt;</a:t>
            </a:r>
            <a:r>
              <a:rPr lang="en-US" altLang="zh-CN" sz="3200" b="1" dirty="0" err="1">
                <a:solidFill>
                  <a:srgbClr val="EE0006"/>
                </a:solidFill>
              </a:rPr>
              <a:t>x</a:t>
            </a:r>
            <a:r>
              <a:rPr lang="en-US" altLang="zh-CN" sz="3200" b="1" i="0" dirty="0" err="1">
                <a:solidFill>
                  <a:srgbClr val="EE0006"/>
                </a:solidFill>
              </a:rPr>
              <a:t>,</a:t>
            </a:r>
            <a:r>
              <a:rPr lang="en-US" altLang="zh-CN" sz="3200" b="1" dirty="0" err="1">
                <a:solidFill>
                  <a:srgbClr val="EE0006"/>
                </a:solidFill>
              </a:rPr>
              <a:t>y</a:t>
            </a:r>
            <a:r>
              <a:rPr lang="en-US" altLang="zh-CN" sz="3200" b="1" i="0" dirty="0">
                <a:solidFill>
                  <a:srgbClr val="EE0006"/>
                </a:solidFill>
              </a:rPr>
              <a:t>&gt;| </a:t>
            </a:r>
            <a:r>
              <a:rPr lang="en-US" altLang="zh-CN" sz="3200" b="1" dirty="0" err="1">
                <a:solidFill>
                  <a:srgbClr val="EE0006"/>
                </a:solidFill>
              </a:rPr>
              <a:t>x</a:t>
            </a:r>
            <a:r>
              <a:rPr lang="en-US" altLang="zh-CN" sz="3200" b="1" i="0" dirty="0" err="1">
                <a:solidFill>
                  <a:srgbClr val="EE0006"/>
                </a:solidFill>
              </a:rPr>
              <a:t>,</a:t>
            </a:r>
            <a:r>
              <a:rPr lang="en-US" altLang="zh-CN" sz="3200" b="1" dirty="0" err="1">
                <a:solidFill>
                  <a:srgbClr val="EE0006"/>
                </a:solidFill>
              </a:rPr>
              <a:t>y</a:t>
            </a:r>
            <a:r>
              <a:rPr lang="en-US" altLang="zh-CN" sz="3200" b="1" i="0" dirty="0" err="1">
                <a:solidFill>
                  <a:srgbClr val="EE0006"/>
                </a:solidFill>
                <a:sym typeface="Symbol" panose="05050102010706020507" pitchFamily="18" charset="2"/>
              </a:rPr>
              <a:t></a:t>
            </a:r>
            <a:r>
              <a:rPr lang="en-US" altLang="zh-CN" sz="3200" b="1" dirty="0" err="1">
                <a:solidFill>
                  <a:srgbClr val="EE0006"/>
                </a:solidFill>
              </a:rPr>
              <a:t>A</a:t>
            </a:r>
            <a:r>
              <a:rPr lang="en-US" altLang="zh-CN" sz="3200" b="1" i="0" dirty="0">
                <a:solidFill>
                  <a:srgbClr val="EE0006"/>
                </a:solidFill>
              </a:rPr>
              <a:t> </a:t>
            </a:r>
            <a:r>
              <a:rPr lang="en-US" altLang="zh-CN" sz="3200" b="1" i="0" dirty="0">
                <a:solidFill>
                  <a:srgbClr val="EE0006"/>
                </a:solidFill>
                <a:sym typeface="Symbol"/>
              </a:rPr>
              <a:t> </a:t>
            </a:r>
            <a:r>
              <a:rPr lang="en-US" altLang="zh-CN" sz="3200" b="1" dirty="0">
                <a:solidFill>
                  <a:srgbClr val="EE0006"/>
                </a:solidFill>
              </a:rPr>
              <a:t>x </a:t>
            </a:r>
            <a:r>
              <a:rPr lang="en-US" altLang="zh-CN" sz="3200" b="1" i="0" dirty="0">
                <a:solidFill>
                  <a:srgbClr val="EE0006"/>
                </a:solidFill>
              </a:rPr>
              <a:t>≡ </a:t>
            </a:r>
            <a:r>
              <a:rPr lang="en-US" altLang="zh-CN" sz="3200" b="1" dirty="0">
                <a:solidFill>
                  <a:srgbClr val="EE0006"/>
                </a:solidFill>
              </a:rPr>
              <a:t>y </a:t>
            </a:r>
            <a:r>
              <a:rPr lang="en-US" altLang="zh-CN" sz="3200" b="1" i="0" dirty="0">
                <a:solidFill>
                  <a:srgbClr val="EE0006"/>
                </a:solidFill>
              </a:rPr>
              <a:t>(</a:t>
            </a:r>
            <a:r>
              <a:rPr lang="en-US" altLang="zh-CN" sz="3200" b="1" dirty="0">
                <a:solidFill>
                  <a:srgbClr val="EE0006"/>
                </a:solidFill>
              </a:rPr>
              <a:t>mod</a:t>
            </a:r>
            <a:r>
              <a:rPr lang="en-US" altLang="zh-CN" sz="3200" b="1" i="0" dirty="0">
                <a:solidFill>
                  <a:srgbClr val="EE0006"/>
                </a:solidFill>
              </a:rPr>
              <a:t> 3) }</a:t>
            </a:r>
          </a:p>
          <a:p>
            <a:pPr algn="l" eaLnBrk="1" hangingPunct="1">
              <a:lnSpc>
                <a:spcPct val="120000"/>
              </a:lnSpc>
            </a:pPr>
            <a:r>
              <a:rPr lang="en-US" altLang="zh-CN" sz="3200" b="1" i="0" dirty="0">
                <a:solidFill>
                  <a:srgbClr val="3333FF"/>
                </a:solidFill>
                <a:latin typeface="Times New Roman" pitchFamily="18" charset="0"/>
              </a:rPr>
              <a:t>       </a:t>
            </a:r>
            <a:r>
              <a:rPr kumimoji="1" lang="en-US" altLang="zh-CN" sz="2800" b="1" i="0" dirty="0">
                <a:solidFill>
                  <a:srgbClr val="3333FF"/>
                </a:solidFill>
              </a:rPr>
              <a:t>1(mod 3)=4(mod 3)=7(mod 3)=1    1~4~7</a:t>
            </a:r>
          </a:p>
          <a:p>
            <a:pPr algn="l" eaLnBrk="1" hangingPunct="1">
              <a:lnSpc>
                <a:spcPct val="120000"/>
              </a:lnSpc>
            </a:pPr>
            <a:r>
              <a:rPr kumimoji="1" lang="en-US" altLang="zh-CN" sz="2800" b="1" i="0" dirty="0">
                <a:solidFill>
                  <a:srgbClr val="3333FF"/>
                </a:solidFill>
              </a:rPr>
              <a:t>       2(mod 3)=5(mod 3)=8(mod 3)=2</a:t>
            </a:r>
            <a:r>
              <a:rPr kumimoji="1" lang="en-US" altLang="zh-CN" sz="2000" b="1" i="0" dirty="0">
                <a:solidFill>
                  <a:srgbClr val="3333FF"/>
                </a:solidFill>
              </a:rPr>
              <a:t>      </a:t>
            </a:r>
            <a:r>
              <a:rPr kumimoji="1" lang="en-US" altLang="zh-CN" sz="2800" b="1" i="0" dirty="0">
                <a:solidFill>
                  <a:srgbClr val="3333FF"/>
                </a:solidFill>
              </a:rPr>
              <a:t>2~5~8</a:t>
            </a:r>
          </a:p>
          <a:p>
            <a:pPr algn="l" eaLnBrk="1" hangingPunct="1">
              <a:lnSpc>
                <a:spcPct val="120000"/>
              </a:lnSpc>
            </a:pPr>
            <a:r>
              <a:rPr kumimoji="1" lang="en-US" altLang="zh-CN" sz="2800" b="1" dirty="0">
                <a:solidFill>
                  <a:srgbClr val="3333FF"/>
                </a:solidFill>
              </a:rPr>
              <a:t>       3</a:t>
            </a:r>
            <a:r>
              <a:rPr kumimoji="1" lang="en-US" altLang="zh-CN" sz="2800" b="1" i="0" dirty="0">
                <a:solidFill>
                  <a:srgbClr val="3333FF"/>
                </a:solidFill>
              </a:rPr>
              <a:t>(mod 3)=6(mod 3)=0     3~6</a:t>
            </a:r>
            <a:endParaRPr kumimoji="1" lang="en-US" altLang="zh-CN" sz="2400" b="1" i="0" dirty="0">
              <a:solidFill>
                <a:srgbClr val="3333FF"/>
              </a:solidFill>
            </a:endParaRPr>
          </a:p>
        </p:txBody>
      </p:sp>
      <p:pic>
        <p:nvPicPr>
          <p:cNvPr id="18535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4508500"/>
            <a:ext cx="6337300"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A500E43-2EAF-1FAD-FF98-5195135F8E6A}"/>
              </a:ext>
            </a:extLst>
          </p:cNvPr>
          <p:cNvSpPr>
            <a:spLocks noGrp="1"/>
          </p:cNvSpPr>
          <p:nvPr>
            <p:ph type="sldNum" sz="quarter" idx="11"/>
          </p:nvPr>
        </p:nvSpPr>
        <p:spPr/>
        <p:txBody>
          <a:bodyPr/>
          <a:lstStyle/>
          <a:p>
            <a:pPr>
              <a:defRPr/>
            </a:pPr>
            <a:fld id="{F13753BC-CAEF-4333-AC48-2805658F6E3F}" type="slidenum">
              <a:rPr lang="en-US" altLang="zh-CN" smtClean="0"/>
              <a:pPr>
                <a:defRPr/>
              </a:pPr>
              <a:t>17</a:t>
            </a:fld>
            <a:endParaRPr lang="en-US" altLang="zh-CN"/>
          </a:p>
        </p:txBody>
      </p:sp>
    </p:spTree>
    <p:extLst>
      <p:ext uri="{BB962C8B-B14F-4D97-AF65-F5344CB8AC3E}">
        <p14:creationId xmlns:p14="http://schemas.microsoft.com/office/powerpoint/2010/main" val="2019043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5349">
                                            <p:txEl>
                                              <p:pRg st="0" end="0"/>
                                            </p:txEl>
                                          </p:spTgt>
                                        </p:tgtEl>
                                        <p:attrNameLst>
                                          <p:attrName>style.visibility</p:attrName>
                                        </p:attrNameLst>
                                      </p:cBhvr>
                                      <p:to>
                                        <p:strVal val="visible"/>
                                      </p:to>
                                    </p:set>
                                    <p:animEffect transition="in" filter="wipe(left)">
                                      <p:cBhvr>
                                        <p:cTn id="7" dur="500"/>
                                        <p:tgtEl>
                                          <p:spTgt spid="18534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5349">
                                            <p:txEl>
                                              <p:pRg st="1" end="1"/>
                                            </p:txEl>
                                          </p:spTgt>
                                        </p:tgtEl>
                                        <p:attrNameLst>
                                          <p:attrName>style.visibility</p:attrName>
                                        </p:attrNameLst>
                                      </p:cBhvr>
                                      <p:to>
                                        <p:strVal val="visible"/>
                                      </p:to>
                                    </p:set>
                                    <p:animEffect transition="in" filter="wipe(left)">
                                      <p:cBhvr>
                                        <p:cTn id="12" dur="500"/>
                                        <p:tgtEl>
                                          <p:spTgt spid="18534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5349">
                                            <p:txEl>
                                              <p:pRg st="2" end="2"/>
                                            </p:txEl>
                                          </p:spTgt>
                                        </p:tgtEl>
                                        <p:attrNameLst>
                                          <p:attrName>style.visibility</p:attrName>
                                        </p:attrNameLst>
                                      </p:cBhvr>
                                      <p:to>
                                        <p:strVal val="visible"/>
                                      </p:to>
                                    </p:set>
                                    <p:animEffect transition="in" filter="wipe(left)">
                                      <p:cBhvr>
                                        <p:cTn id="17" dur="500"/>
                                        <p:tgtEl>
                                          <p:spTgt spid="18534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5349">
                                            <p:txEl>
                                              <p:pRg st="3" end="3"/>
                                            </p:txEl>
                                          </p:spTgt>
                                        </p:tgtEl>
                                        <p:attrNameLst>
                                          <p:attrName>style.visibility</p:attrName>
                                        </p:attrNameLst>
                                      </p:cBhvr>
                                      <p:to>
                                        <p:strVal val="visible"/>
                                      </p:to>
                                    </p:set>
                                    <p:animEffect transition="in" filter="wipe(left)">
                                      <p:cBhvr>
                                        <p:cTn id="22" dur="500"/>
                                        <p:tgtEl>
                                          <p:spTgt spid="18534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5351"/>
                                        </p:tgtEl>
                                        <p:attrNameLst>
                                          <p:attrName>style.visibility</p:attrName>
                                        </p:attrNameLst>
                                      </p:cBhvr>
                                      <p:to>
                                        <p:strVal val="visible"/>
                                      </p:to>
                                    </p:set>
                                    <p:animEffect transition="in" filter="blinds(horizontal)">
                                      <p:cBhvr>
                                        <p:cTn id="27" dur="500"/>
                                        <p:tgtEl>
                                          <p:spTgt spid="185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1200" y="457201"/>
            <a:ext cx="8229600" cy="955675"/>
          </a:xfrm>
        </p:spPr>
        <p:txBody>
          <a:bodyPr/>
          <a:lstStyle/>
          <a:p>
            <a:pPr algn="ctr" eaLnBrk="1" hangingPunct="1"/>
            <a:r>
              <a:rPr lang="en-US" altLang="zh-CN" sz="4000" dirty="0">
                <a:solidFill>
                  <a:srgbClr val="057939"/>
                </a:solidFill>
                <a:ea typeface="黑体" pitchFamily="2" charset="-122"/>
              </a:rPr>
              <a:t>3.7  F</a:t>
            </a:r>
            <a:r>
              <a:rPr lang="zh-CN" altLang="en-US" sz="4000" dirty="0">
                <a:solidFill>
                  <a:srgbClr val="057939"/>
                </a:solidFill>
                <a:ea typeface="黑体" pitchFamily="2" charset="-122"/>
              </a:rPr>
              <a:t>等价关系及聚类图</a:t>
            </a:r>
          </a:p>
        </p:txBody>
      </p:sp>
      <p:sp>
        <p:nvSpPr>
          <p:cNvPr id="23557" name="Rectangle 5"/>
          <p:cNvSpPr>
            <a:spLocks noChangeArrowheads="1"/>
          </p:cNvSpPr>
          <p:nvPr/>
        </p:nvSpPr>
        <p:spPr bwMode="auto">
          <a:xfrm>
            <a:off x="1357315" y="1341438"/>
            <a:ext cx="8229599"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800" dirty="0">
                <a:solidFill>
                  <a:schemeClr val="bg2"/>
                </a:solidFill>
                <a:ea typeface="黑体" pitchFamily="2" charset="-122"/>
                <a:sym typeface="Symbol" pitchFamily="18" charset="2"/>
              </a:rPr>
              <a:t>[</a:t>
            </a:r>
            <a:r>
              <a:rPr kumimoji="1" lang="zh-CN" altLang="en-US" sz="2800" dirty="0">
                <a:solidFill>
                  <a:schemeClr val="bg2"/>
                </a:solidFill>
                <a:ea typeface="黑体" pitchFamily="2" charset="-122"/>
                <a:sym typeface="Symbol" pitchFamily="18" charset="2"/>
              </a:rPr>
              <a:t>定义</a:t>
            </a:r>
            <a:r>
              <a:rPr kumimoji="1" lang="en-US" altLang="zh-CN" sz="2800" dirty="0">
                <a:solidFill>
                  <a:schemeClr val="bg2"/>
                </a:solidFill>
                <a:ea typeface="黑体" pitchFamily="2" charset="-122"/>
                <a:sym typeface="Symbol" pitchFamily="18" charset="2"/>
              </a:rPr>
              <a:t>]</a:t>
            </a:r>
            <a:r>
              <a:rPr kumimoji="1" lang="zh-CN" altLang="en-US" sz="2800" dirty="0">
                <a:ea typeface="黑体" pitchFamily="2" charset="-122"/>
                <a:sym typeface="Symbol" pitchFamily="18" charset="2"/>
              </a:rPr>
              <a:t>设</a:t>
            </a:r>
            <a:r>
              <a:rPr kumimoji="1" lang="en-US" altLang="zh-CN" sz="2800" i="1" dirty="0">
                <a:ea typeface="黑体" pitchFamily="2" charset="-122"/>
                <a:sym typeface="Symbol" pitchFamily="18" charset="2"/>
              </a:rPr>
              <a:t>R</a:t>
            </a:r>
            <a:r>
              <a:rPr kumimoji="1" lang="en-US" altLang="en-US" sz="2800" dirty="0">
                <a:ea typeface="黑体" pitchFamily="2" charset="-122"/>
                <a:sym typeface="Symbol" panose="05050102010706020507" pitchFamily="18" charset="2"/>
              </a:rPr>
              <a:t></a:t>
            </a:r>
            <a:r>
              <a:rPr kumimoji="1" lang="en-US" altLang="zh-CN" sz="2800" dirty="0">
                <a:latin typeface="Monotype Corsiva" pitchFamily="66" charset="0"/>
                <a:ea typeface="黑体" pitchFamily="2" charset="-122"/>
              </a:rPr>
              <a:t>F </a:t>
            </a:r>
            <a:r>
              <a:rPr kumimoji="1" lang="en-US" altLang="zh-CN" sz="2800" dirty="0">
                <a:ea typeface="黑体" pitchFamily="2" charset="-122"/>
              </a:rPr>
              <a:t>(U</a:t>
            </a:r>
            <a:r>
              <a:rPr kumimoji="1" lang="en-US" altLang="en-US" sz="2800" dirty="0">
                <a:ea typeface="黑体" pitchFamily="2" charset="-122"/>
              </a:rPr>
              <a:t>×</a:t>
            </a:r>
            <a:r>
              <a:rPr kumimoji="1" lang="en-US" altLang="zh-CN" sz="2800" dirty="0">
                <a:ea typeface="黑体" pitchFamily="2" charset="-122"/>
              </a:rPr>
              <a:t>U)</a:t>
            </a:r>
            <a:r>
              <a:rPr kumimoji="1" lang="zh-CN" altLang="en-US" sz="2800" dirty="0">
                <a:ea typeface="黑体" pitchFamily="2" charset="-122"/>
              </a:rPr>
              <a:t>，如果满足：</a:t>
            </a:r>
          </a:p>
          <a:p>
            <a:pPr>
              <a:spcBef>
                <a:spcPct val="20000"/>
              </a:spcBef>
              <a:buClr>
                <a:schemeClr val="accent2"/>
              </a:buClr>
              <a:buSzPct val="80000"/>
              <a:buFont typeface="Wingdings" pitchFamily="2" charset="2"/>
              <a:buNone/>
            </a:pPr>
            <a:r>
              <a:rPr kumimoji="1" lang="zh-CN" altLang="en-US" sz="2800" dirty="0">
                <a:ea typeface="黑体" pitchFamily="2" charset="-122"/>
              </a:rPr>
              <a:t>    </a:t>
            </a:r>
            <a:r>
              <a:rPr kumimoji="1" lang="en-US" altLang="zh-CN" sz="2800" dirty="0">
                <a:ea typeface="黑体" pitchFamily="2" charset="-122"/>
              </a:rPr>
              <a:t>(1)</a:t>
            </a:r>
            <a:r>
              <a:rPr kumimoji="1" lang="zh-CN" altLang="en-US" sz="2800" dirty="0">
                <a:solidFill>
                  <a:srgbClr val="FF00FF"/>
                </a:solidFill>
                <a:ea typeface="黑体" pitchFamily="2" charset="-122"/>
              </a:rPr>
              <a:t>自反性</a:t>
            </a:r>
            <a:r>
              <a:rPr kumimoji="1" lang="zh-CN" altLang="en-US" sz="2800" dirty="0">
                <a:ea typeface="黑体" pitchFamily="2" charset="-122"/>
              </a:rPr>
              <a:t>： </a:t>
            </a:r>
            <a:r>
              <a:rPr kumimoji="1" lang="en-US" altLang="zh-CN" sz="2800" i="1" dirty="0">
                <a:ea typeface="黑体" pitchFamily="2" charset="-122"/>
              </a:rPr>
              <a:t>R</a:t>
            </a:r>
            <a:r>
              <a:rPr kumimoji="1" lang="en-US" altLang="zh-CN" sz="2800" dirty="0">
                <a:ea typeface="黑体" pitchFamily="2" charset="-122"/>
              </a:rPr>
              <a:t> </a:t>
            </a:r>
            <a:r>
              <a:rPr kumimoji="1" lang="en-US" altLang="zh-CN" sz="2800" dirty="0">
                <a:ea typeface="黑体" pitchFamily="2" charset="-122"/>
                <a:sym typeface="Symbol" pitchFamily="18" charset="2"/>
              </a:rPr>
              <a:t></a:t>
            </a:r>
            <a:r>
              <a:rPr kumimoji="1" lang="en-US" altLang="zh-CN" sz="2800" dirty="0">
                <a:ea typeface="黑体" pitchFamily="2" charset="-122"/>
              </a:rPr>
              <a:t> </a:t>
            </a:r>
            <a:r>
              <a:rPr kumimoji="1" lang="en-US" altLang="zh-CN" sz="2800" i="1" dirty="0">
                <a:latin typeface="Times New Roman" pitchFamily="18" charset="0"/>
                <a:ea typeface="黑体" pitchFamily="2" charset="-122"/>
                <a:cs typeface="Times New Roman" pitchFamily="18" charset="0"/>
              </a:rPr>
              <a:t>I</a:t>
            </a:r>
            <a:r>
              <a:rPr kumimoji="1" lang="en-US" altLang="zh-CN" sz="2800" i="1" dirty="0">
                <a:ea typeface="黑体" pitchFamily="2" charset="-122"/>
              </a:rPr>
              <a:t>  </a:t>
            </a:r>
            <a:r>
              <a:rPr kumimoji="1" lang="zh-CN" altLang="en-US" sz="2800" dirty="0">
                <a:ea typeface="黑体" pitchFamily="2" charset="-122"/>
              </a:rPr>
              <a:t>或 </a:t>
            </a:r>
            <a:r>
              <a:rPr kumimoji="1" lang="en-US" altLang="zh-CN" sz="2800" i="1" dirty="0">
                <a:ea typeface="黑体" pitchFamily="2" charset="-122"/>
              </a:rPr>
              <a:t>R</a:t>
            </a:r>
            <a:r>
              <a:rPr kumimoji="1" lang="en-US" altLang="zh-CN" sz="2800" dirty="0">
                <a:ea typeface="黑体" pitchFamily="2" charset="-122"/>
              </a:rPr>
              <a:t>(</a:t>
            </a:r>
            <a:r>
              <a:rPr kumimoji="1" lang="en-US" altLang="zh-CN" sz="2800" dirty="0" err="1">
                <a:ea typeface="黑体" pitchFamily="2" charset="-122"/>
              </a:rPr>
              <a:t>u</a:t>
            </a:r>
            <a:r>
              <a:rPr kumimoji="1" lang="en-US" altLang="zh-CN" sz="2800" dirty="0" err="1">
                <a:ea typeface="黑体" pitchFamily="2" charset="-122"/>
                <a:sym typeface="Symbol" pitchFamily="18" charset="2"/>
              </a:rPr>
              <a:t>,u</a:t>
            </a:r>
            <a:r>
              <a:rPr kumimoji="1" lang="en-US" altLang="zh-CN" sz="2800" dirty="0">
                <a:ea typeface="黑体" pitchFamily="2" charset="-122"/>
              </a:rPr>
              <a:t>) =1</a:t>
            </a:r>
            <a:r>
              <a:rPr kumimoji="1" lang="zh-CN" altLang="en-US" sz="2800" dirty="0">
                <a:ea typeface="黑体" pitchFamily="2" charset="-122"/>
              </a:rPr>
              <a:t>；</a:t>
            </a:r>
          </a:p>
          <a:p>
            <a:pPr>
              <a:spcBef>
                <a:spcPct val="20000"/>
              </a:spcBef>
              <a:buClr>
                <a:schemeClr val="accent2"/>
              </a:buClr>
              <a:buSzPct val="80000"/>
              <a:buFont typeface="Wingdings" pitchFamily="2" charset="2"/>
              <a:buNone/>
            </a:pPr>
            <a:r>
              <a:rPr kumimoji="1" lang="zh-CN" altLang="en-US" sz="2800" dirty="0">
                <a:ea typeface="黑体" pitchFamily="2" charset="-122"/>
              </a:rPr>
              <a:t>    </a:t>
            </a:r>
            <a:r>
              <a:rPr kumimoji="1" lang="en-US" altLang="zh-CN" sz="2800" dirty="0">
                <a:ea typeface="黑体" pitchFamily="2" charset="-122"/>
              </a:rPr>
              <a:t>(2)</a:t>
            </a:r>
            <a:r>
              <a:rPr kumimoji="1" lang="zh-CN" altLang="en-US" sz="2800" dirty="0">
                <a:solidFill>
                  <a:srgbClr val="057939"/>
                </a:solidFill>
                <a:ea typeface="黑体" pitchFamily="2" charset="-122"/>
              </a:rPr>
              <a:t>对称性</a:t>
            </a:r>
            <a:r>
              <a:rPr kumimoji="1" lang="zh-CN" altLang="en-US" sz="2800" dirty="0">
                <a:ea typeface="黑体" pitchFamily="2" charset="-122"/>
              </a:rPr>
              <a:t>： </a:t>
            </a:r>
            <a:r>
              <a:rPr kumimoji="1" lang="en-US" altLang="zh-CN" sz="2800" i="1" dirty="0">
                <a:ea typeface="黑体" pitchFamily="2" charset="-122"/>
              </a:rPr>
              <a:t>R</a:t>
            </a:r>
            <a:r>
              <a:rPr kumimoji="1" lang="en-US" altLang="zh-CN" sz="2800" dirty="0">
                <a:ea typeface="黑体" pitchFamily="2" charset="-122"/>
              </a:rPr>
              <a:t> =</a:t>
            </a:r>
            <a:r>
              <a:rPr kumimoji="1" lang="en-US" altLang="zh-CN" sz="2800" i="1" dirty="0">
                <a:ea typeface="黑体" pitchFamily="2" charset="-122"/>
              </a:rPr>
              <a:t>R</a:t>
            </a:r>
            <a:r>
              <a:rPr kumimoji="1" lang="en-US" altLang="zh-CN" sz="2800" baseline="30000" dirty="0">
                <a:ea typeface="黑体" pitchFamily="2" charset="-122"/>
              </a:rPr>
              <a:t>T</a:t>
            </a:r>
            <a:r>
              <a:rPr kumimoji="1" lang="en-US" altLang="zh-CN" sz="2800" dirty="0">
                <a:ea typeface="黑体" pitchFamily="2" charset="-122"/>
              </a:rPr>
              <a:t> </a:t>
            </a:r>
            <a:r>
              <a:rPr kumimoji="1" lang="zh-CN" altLang="en-US" sz="2800" dirty="0">
                <a:ea typeface="黑体" pitchFamily="2" charset="-122"/>
              </a:rPr>
              <a:t>或</a:t>
            </a:r>
            <a:r>
              <a:rPr kumimoji="1" lang="en-US" altLang="zh-CN" sz="2800" i="1" dirty="0">
                <a:ea typeface="黑体" pitchFamily="2" charset="-122"/>
              </a:rPr>
              <a:t>R</a:t>
            </a:r>
            <a:r>
              <a:rPr kumimoji="1" lang="en-US" altLang="zh-CN" sz="2800" dirty="0">
                <a:ea typeface="黑体" pitchFamily="2" charset="-122"/>
              </a:rPr>
              <a:t>(</a:t>
            </a:r>
            <a:r>
              <a:rPr kumimoji="1" lang="en-US" altLang="zh-CN" sz="2800" dirty="0" err="1">
                <a:ea typeface="黑体" pitchFamily="2" charset="-122"/>
              </a:rPr>
              <a:t>u,v</a:t>
            </a:r>
            <a:r>
              <a:rPr kumimoji="1" lang="en-US" altLang="zh-CN" sz="2800" dirty="0">
                <a:ea typeface="黑体" pitchFamily="2" charset="-122"/>
              </a:rPr>
              <a:t>) =</a:t>
            </a:r>
            <a:r>
              <a:rPr kumimoji="1" lang="en-US" altLang="zh-CN" sz="2800" i="1" dirty="0">
                <a:ea typeface="黑体" pitchFamily="2" charset="-122"/>
              </a:rPr>
              <a:t>R</a:t>
            </a:r>
            <a:r>
              <a:rPr kumimoji="1" lang="en-US" altLang="zh-CN" sz="2800" dirty="0">
                <a:ea typeface="黑体" pitchFamily="2" charset="-122"/>
              </a:rPr>
              <a:t>(</a:t>
            </a:r>
            <a:r>
              <a:rPr kumimoji="1" lang="en-US" altLang="zh-CN" sz="2800" dirty="0" err="1">
                <a:ea typeface="黑体" pitchFamily="2" charset="-122"/>
              </a:rPr>
              <a:t>v,u</a:t>
            </a:r>
            <a:r>
              <a:rPr kumimoji="1" lang="en-US" altLang="zh-CN" sz="2800" dirty="0">
                <a:ea typeface="黑体" pitchFamily="2" charset="-122"/>
              </a:rPr>
              <a:t>)</a:t>
            </a:r>
            <a:r>
              <a:rPr kumimoji="1" lang="zh-CN" altLang="en-US" sz="2800" dirty="0">
                <a:ea typeface="黑体" pitchFamily="2" charset="-122"/>
              </a:rPr>
              <a:t>； </a:t>
            </a:r>
          </a:p>
          <a:p>
            <a:pPr>
              <a:spcBef>
                <a:spcPct val="20000"/>
              </a:spcBef>
              <a:buClr>
                <a:schemeClr val="accent2"/>
              </a:buClr>
              <a:buSzPct val="80000"/>
              <a:buFont typeface="Wingdings" pitchFamily="2" charset="2"/>
              <a:buNone/>
            </a:pPr>
            <a:r>
              <a:rPr kumimoji="1" lang="zh-CN" altLang="en-US" sz="2800" dirty="0">
                <a:ea typeface="黑体" pitchFamily="2" charset="-122"/>
              </a:rPr>
              <a:t>    </a:t>
            </a:r>
            <a:r>
              <a:rPr kumimoji="1" lang="en-US" altLang="zh-CN" sz="2800" dirty="0">
                <a:ea typeface="黑体" pitchFamily="2" charset="-122"/>
              </a:rPr>
              <a:t>(3)</a:t>
            </a:r>
            <a:r>
              <a:rPr kumimoji="1" lang="zh-CN" altLang="en-US" sz="2800" dirty="0">
                <a:solidFill>
                  <a:srgbClr val="3333FF"/>
                </a:solidFill>
                <a:ea typeface="黑体" pitchFamily="2" charset="-122"/>
              </a:rPr>
              <a:t>传递性</a:t>
            </a:r>
            <a:r>
              <a:rPr kumimoji="1" lang="zh-CN" altLang="en-US" sz="2800" dirty="0">
                <a:ea typeface="黑体" pitchFamily="2" charset="-122"/>
              </a:rPr>
              <a:t>： </a:t>
            </a:r>
            <a:r>
              <a:rPr kumimoji="1" lang="en-US" altLang="zh-CN" sz="2800" i="1" dirty="0">
                <a:ea typeface="黑体" pitchFamily="2" charset="-122"/>
              </a:rPr>
              <a:t>R</a:t>
            </a:r>
            <a:r>
              <a:rPr kumimoji="1" lang="en-US" altLang="zh-CN" sz="2800" dirty="0">
                <a:ea typeface="黑体" pitchFamily="2" charset="-122"/>
              </a:rPr>
              <a:t> </a:t>
            </a:r>
            <a:r>
              <a:rPr kumimoji="1" lang="en-US" altLang="zh-CN" sz="2800" dirty="0">
                <a:ea typeface="黑体" pitchFamily="2" charset="-122"/>
                <a:sym typeface="Symbol" pitchFamily="18" charset="2"/>
              </a:rPr>
              <a:t></a:t>
            </a:r>
            <a:r>
              <a:rPr kumimoji="1" lang="en-US" altLang="zh-CN" sz="2800" i="1" dirty="0">
                <a:ea typeface="黑体" pitchFamily="2" charset="-122"/>
              </a:rPr>
              <a:t>R</a:t>
            </a:r>
            <a:r>
              <a:rPr kumimoji="1" lang="en-US" altLang="zh-CN" sz="2800" baseline="30000" dirty="0">
                <a:ea typeface="黑体" pitchFamily="2" charset="-122"/>
              </a:rPr>
              <a:t>2</a:t>
            </a:r>
            <a:r>
              <a:rPr kumimoji="1" lang="en-US" altLang="zh-CN" sz="2800" dirty="0">
                <a:ea typeface="黑体" pitchFamily="2" charset="-122"/>
              </a:rPr>
              <a:t> </a:t>
            </a:r>
            <a:r>
              <a:rPr kumimoji="1" lang="zh-CN" altLang="en-US" sz="2800" dirty="0">
                <a:ea typeface="黑体" pitchFamily="2" charset="-122"/>
              </a:rPr>
              <a:t>或按传递定义</a:t>
            </a:r>
          </a:p>
          <a:p>
            <a:pPr>
              <a:spcBef>
                <a:spcPct val="20000"/>
              </a:spcBef>
              <a:buClr>
                <a:schemeClr val="accent2"/>
              </a:buClr>
              <a:buSzPct val="80000"/>
              <a:buFont typeface="Wingdings" pitchFamily="2" charset="2"/>
              <a:buNone/>
            </a:pPr>
            <a:r>
              <a:rPr kumimoji="1" lang="zh-CN" altLang="en-US" sz="3200" dirty="0">
                <a:ea typeface="黑体" pitchFamily="2" charset="-122"/>
              </a:rPr>
              <a:t>     则称</a:t>
            </a:r>
            <a:r>
              <a:rPr kumimoji="1" lang="en-US" altLang="zh-CN" sz="3200" i="1" dirty="0">
                <a:ea typeface="黑体" pitchFamily="2" charset="-122"/>
                <a:sym typeface="Symbol" pitchFamily="18" charset="2"/>
              </a:rPr>
              <a:t>R</a:t>
            </a:r>
            <a:r>
              <a:rPr kumimoji="1" lang="zh-CN" altLang="en-US" sz="3200" dirty="0">
                <a:ea typeface="黑体" pitchFamily="2" charset="-122"/>
                <a:sym typeface="Symbol" pitchFamily="18" charset="2"/>
              </a:rPr>
              <a:t>是</a:t>
            </a:r>
            <a:r>
              <a:rPr kumimoji="1" lang="en-US" altLang="zh-CN" sz="3200" dirty="0">
                <a:ea typeface="黑体" pitchFamily="2" charset="-122"/>
                <a:sym typeface="Symbol" pitchFamily="18" charset="2"/>
              </a:rPr>
              <a:t>U</a:t>
            </a:r>
            <a:r>
              <a:rPr kumimoji="1" lang="zh-CN" altLang="en-US" sz="3200" dirty="0">
                <a:ea typeface="黑体" pitchFamily="2" charset="-122"/>
                <a:sym typeface="Symbol" pitchFamily="18" charset="2"/>
              </a:rPr>
              <a:t>上的</a:t>
            </a:r>
            <a:r>
              <a:rPr kumimoji="1" lang="en-US" altLang="zh-CN" sz="3200" dirty="0">
                <a:solidFill>
                  <a:srgbClr val="EE0006"/>
                </a:solidFill>
                <a:ea typeface="黑体" pitchFamily="2" charset="-122"/>
                <a:sym typeface="Symbol" pitchFamily="18" charset="2"/>
              </a:rPr>
              <a:t>F</a:t>
            </a:r>
            <a:r>
              <a:rPr kumimoji="1" lang="zh-CN" altLang="en-US" sz="3200" dirty="0">
                <a:solidFill>
                  <a:srgbClr val="EE0006"/>
                </a:solidFill>
                <a:ea typeface="黑体" pitchFamily="2" charset="-122"/>
              </a:rPr>
              <a:t>等价关系</a:t>
            </a:r>
            <a:r>
              <a:rPr kumimoji="1" lang="en-US" altLang="zh-CN" sz="3200" dirty="0">
                <a:ea typeface="黑体" pitchFamily="2" charset="-122"/>
              </a:rPr>
              <a:t>.</a:t>
            </a:r>
          </a:p>
        </p:txBody>
      </p:sp>
      <p:sp>
        <p:nvSpPr>
          <p:cNvPr id="23558" name="Rectangle 6"/>
          <p:cNvSpPr>
            <a:spLocks noChangeArrowheads="1"/>
          </p:cNvSpPr>
          <p:nvPr/>
        </p:nvSpPr>
        <p:spPr bwMode="auto">
          <a:xfrm>
            <a:off x="1271464" y="4062551"/>
            <a:ext cx="9145016" cy="2626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buFont typeface="Wingdings" pitchFamily="2" charset="2"/>
              <a:buChar char="n"/>
            </a:pPr>
            <a:r>
              <a:rPr kumimoji="1" lang="zh-CN" altLang="en-US" sz="2800" dirty="0">
                <a:ea typeface="黑体" pitchFamily="2" charset="-122"/>
              </a:rPr>
              <a:t>当</a:t>
            </a:r>
            <a:r>
              <a:rPr kumimoji="1" lang="en-US" altLang="zh-CN" sz="2800" dirty="0">
                <a:ea typeface="黑体" pitchFamily="2" charset="-122"/>
              </a:rPr>
              <a:t>U</a:t>
            </a:r>
            <a:r>
              <a:rPr kumimoji="1" lang="zh-CN" altLang="en-US" sz="2800" dirty="0">
                <a:ea typeface="黑体" pitchFamily="2" charset="-122"/>
              </a:rPr>
              <a:t>为有限论域时</a:t>
            </a:r>
            <a:r>
              <a:rPr kumimoji="1" lang="en-US" altLang="zh-CN" sz="2800" dirty="0">
                <a:ea typeface="黑体" pitchFamily="2" charset="-122"/>
              </a:rPr>
              <a:t>, </a:t>
            </a:r>
            <a:r>
              <a:rPr kumimoji="1" lang="zh-CN" altLang="en-US" sz="2800" dirty="0">
                <a:ea typeface="黑体" pitchFamily="2" charset="-122"/>
              </a:rPr>
              <a:t>则</a:t>
            </a:r>
            <a:r>
              <a:rPr kumimoji="1" lang="en-US" altLang="zh-CN" sz="2800" dirty="0">
                <a:ea typeface="黑体" pitchFamily="2" charset="-122"/>
              </a:rPr>
              <a:t>U</a:t>
            </a:r>
            <a:r>
              <a:rPr kumimoji="1" lang="en-US" altLang="zh-CN" sz="2800" i="1" dirty="0">
                <a:ea typeface="黑体" pitchFamily="2" charset="-122"/>
                <a:sym typeface="Symbol" pitchFamily="18" charset="2"/>
              </a:rPr>
              <a:t> </a:t>
            </a:r>
            <a:r>
              <a:rPr kumimoji="1" lang="zh-CN" altLang="en-US" sz="2800" dirty="0">
                <a:ea typeface="黑体" pitchFamily="2" charset="-122"/>
                <a:sym typeface="Symbol" pitchFamily="18" charset="2"/>
              </a:rPr>
              <a:t>上的</a:t>
            </a:r>
            <a:r>
              <a:rPr kumimoji="1" lang="en-US" altLang="zh-CN" sz="2800" dirty="0">
                <a:ea typeface="黑体" pitchFamily="2" charset="-122"/>
                <a:sym typeface="Symbol" pitchFamily="18" charset="2"/>
              </a:rPr>
              <a:t>F</a:t>
            </a:r>
            <a:r>
              <a:rPr kumimoji="1" lang="zh-CN" altLang="en-US" sz="2800" dirty="0">
                <a:ea typeface="黑体" pitchFamily="2" charset="-122"/>
              </a:rPr>
              <a:t>等价关系</a:t>
            </a:r>
            <a:r>
              <a:rPr kumimoji="1" lang="en-US" altLang="zh-CN" sz="2800" i="1" dirty="0">
                <a:ea typeface="黑体" pitchFamily="2" charset="-122"/>
              </a:rPr>
              <a:t>R</a:t>
            </a:r>
            <a:r>
              <a:rPr kumimoji="1" lang="zh-CN" altLang="en-US" sz="2800" dirty="0">
                <a:ea typeface="黑体" pitchFamily="2" charset="-122"/>
              </a:rPr>
              <a:t>可用</a:t>
            </a:r>
            <a:r>
              <a:rPr kumimoji="1" lang="en-US" altLang="zh-CN" sz="2800" dirty="0">
                <a:solidFill>
                  <a:srgbClr val="EE0006"/>
                </a:solidFill>
                <a:ea typeface="黑体" pitchFamily="2" charset="-122"/>
              </a:rPr>
              <a:t>F</a:t>
            </a:r>
            <a:r>
              <a:rPr kumimoji="1" lang="zh-CN" altLang="en-US" sz="2800" dirty="0">
                <a:solidFill>
                  <a:srgbClr val="EE0006"/>
                </a:solidFill>
                <a:ea typeface="黑体" pitchFamily="2" charset="-122"/>
              </a:rPr>
              <a:t>等价矩阵</a:t>
            </a:r>
            <a:r>
              <a:rPr kumimoji="1" lang="zh-CN" altLang="en-US" sz="2800" dirty="0">
                <a:ea typeface="黑体" pitchFamily="2" charset="-122"/>
              </a:rPr>
              <a:t>来表示</a:t>
            </a:r>
            <a:r>
              <a:rPr kumimoji="1" lang="en-US" altLang="zh-CN" sz="2800" dirty="0">
                <a:ea typeface="黑体" pitchFamily="2" charset="-122"/>
              </a:rPr>
              <a:t>,</a:t>
            </a:r>
            <a:r>
              <a:rPr kumimoji="1" lang="zh-CN" altLang="en-US" sz="2800" dirty="0">
                <a:ea typeface="黑体" pitchFamily="2" charset="-122"/>
              </a:rPr>
              <a:t>它除满足上述特性，还可表示如下：</a:t>
            </a:r>
          </a:p>
          <a:p>
            <a:pPr>
              <a:lnSpc>
                <a:spcPct val="120000"/>
              </a:lnSpc>
            </a:pPr>
            <a:r>
              <a:rPr kumimoji="1" lang="zh-CN" altLang="en-US" sz="2800" dirty="0">
                <a:ea typeface="黑体" pitchFamily="2" charset="-122"/>
              </a:rPr>
              <a:t>    </a:t>
            </a:r>
            <a:r>
              <a:rPr kumimoji="1" lang="en-US" altLang="zh-CN" sz="2800" dirty="0">
                <a:ea typeface="黑体" pitchFamily="2" charset="-122"/>
              </a:rPr>
              <a:t>(1) </a:t>
            </a:r>
            <a:r>
              <a:rPr kumimoji="1" lang="zh-CN" altLang="en-US" sz="2800" dirty="0">
                <a:solidFill>
                  <a:srgbClr val="FF00FF"/>
                </a:solidFill>
                <a:ea typeface="黑体" pitchFamily="2" charset="-122"/>
              </a:rPr>
              <a:t>自反性</a:t>
            </a:r>
            <a:r>
              <a:rPr kumimoji="1" lang="zh-CN" altLang="en-US" sz="2800" dirty="0">
                <a:ea typeface="黑体" pitchFamily="2" charset="-122"/>
              </a:rPr>
              <a:t>：</a:t>
            </a:r>
            <a:r>
              <a:rPr kumimoji="1" lang="en-US" altLang="zh-CN" sz="2800" i="1" dirty="0" err="1">
                <a:ea typeface="黑体" pitchFamily="2" charset="-122"/>
              </a:rPr>
              <a:t>r</a:t>
            </a:r>
            <a:r>
              <a:rPr kumimoji="1" lang="en-US" altLang="zh-CN" sz="2800" i="1" baseline="-25000" dirty="0" err="1">
                <a:ea typeface="黑体" pitchFamily="2" charset="-122"/>
              </a:rPr>
              <a:t>ii</a:t>
            </a:r>
            <a:r>
              <a:rPr kumimoji="1" lang="en-US" altLang="zh-CN" sz="2800" i="1" dirty="0">
                <a:ea typeface="黑体" pitchFamily="2" charset="-122"/>
              </a:rPr>
              <a:t> </a:t>
            </a:r>
            <a:r>
              <a:rPr kumimoji="1" lang="en-US" altLang="zh-CN" sz="2800" dirty="0">
                <a:ea typeface="黑体" pitchFamily="2" charset="-122"/>
                <a:sym typeface="Symbol" pitchFamily="18" charset="2"/>
              </a:rPr>
              <a:t>=1</a:t>
            </a:r>
            <a:endParaRPr kumimoji="1" lang="en-US" altLang="zh-CN" sz="2800" dirty="0">
              <a:ea typeface="黑体" pitchFamily="2" charset="-122"/>
            </a:endParaRPr>
          </a:p>
          <a:p>
            <a:pPr>
              <a:lnSpc>
                <a:spcPct val="120000"/>
              </a:lnSpc>
            </a:pPr>
            <a:r>
              <a:rPr kumimoji="1" lang="en-US" altLang="zh-CN" sz="2800" dirty="0">
                <a:ea typeface="黑体" pitchFamily="2" charset="-122"/>
              </a:rPr>
              <a:t>    (2) </a:t>
            </a:r>
            <a:r>
              <a:rPr kumimoji="1" lang="zh-CN" altLang="en-US" sz="2800" dirty="0">
                <a:solidFill>
                  <a:srgbClr val="057939"/>
                </a:solidFill>
                <a:ea typeface="黑体" pitchFamily="2" charset="-122"/>
              </a:rPr>
              <a:t>对称性</a:t>
            </a:r>
            <a:r>
              <a:rPr kumimoji="1" lang="zh-CN" altLang="en-US" sz="2800" dirty="0">
                <a:ea typeface="黑体" pitchFamily="2" charset="-122"/>
              </a:rPr>
              <a:t>：</a:t>
            </a:r>
            <a:r>
              <a:rPr kumimoji="1" lang="en-US" altLang="zh-CN" sz="2800" i="1" dirty="0" err="1">
                <a:ea typeface="黑体" pitchFamily="2" charset="-122"/>
              </a:rPr>
              <a:t>r</a:t>
            </a:r>
            <a:r>
              <a:rPr kumimoji="1" lang="en-US" altLang="zh-CN" sz="2800" i="1" baseline="-25000" dirty="0" err="1">
                <a:ea typeface="黑体" pitchFamily="2" charset="-122"/>
              </a:rPr>
              <a:t>ij</a:t>
            </a:r>
            <a:r>
              <a:rPr kumimoji="1" lang="en-US" altLang="zh-CN" sz="2800" i="1" baseline="-25000" dirty="0">
                <a:ea typeface="黑体" pitchFamily="2" charset="-122"/>
              </a:rPr>
              <a:t> </a:t>
            </a:r>
            <a:r>
              <a:rPr kumimoji="1" lang="en-US" altLang="zh-CN" sz="2800" dirty="0">
                <a:ea typeface="黑体" pitchFamily="2" charset="-122"/>
                <a:sym typeface="Symbol" pitchFamily="18" charset="2"/>
              </a:rPr>
              <a:t>= </a:t>
            </a:r>
            <a:r>
              <a:rPr kumimoji="1" lang="en-US" altLang="zh-CN" sz="2800" i="1" dirty="0" err="1">
                <a:ea typeface="黑体" pitchFamily="2" charset="-122"/>
              </a:rPr>
              <a:t>r</a:t>
            </a:r>
            <a:r>
              <a:rPr kumimoji="1" lang="en-US" altLang="zh-CN" sz="2800" i="1" baseline="-25000" dirty="0" err="1">
                <a:ea typeface="黑体" pitchFamily="2" charset="-122"/>
              </a:rPr>
              <a:t>ji</a:t>
            </a:r>
            <a:r>
              <a:rPr kumimoji="1" lang="en-US" altLang="zh-CN" sz="2800" i="1" baseline="-25000" dirty="0">
                <a:ea typeface="黑体" pitchFamily="2" charset="-122"/>
                <a:sym typeface="Symbol" pitchFamily="18" charset="2"/>
              </a:rPr>
              <a:t> </a:t>
            </a:r>
            <a:r>
              <a:rPr kumimoji="1" lang="en-US" altLang="zh-CN" sz="2800" dirty="0">
                <a:ea typeface="黑体" pitchFamily="2" charset="-122"/>
              </a:rPr>
              <a:t>    </a:t>
            </a:r>
            <a:endParaRPr kumimoji="1" lang="en-US" altLang="zh-CN" sz="1600" dirty="0">
              <a:ea typeface="黑体" pitchFamily="2" charset="-122"/>
            </a:endParaRPr>
          </a:p>
          <a:p>
            <a:pPr>
              <a:lnSpc>
                <a:spcPct val="120000"/>
              </a:lnSpc>
            </a:pPr>
            <a:r>
              <a:rPr kumimoji="1" lang="en-US" altLang="zh-CN" sz="2800" dirty="0">
                <a:ea typeface="黑体" pitchFamily="2" charset="-122"/>
              </a:rPr>
              <a:t>    (3) </a:t>
            </a:r>
            <a:r>
              <a:rPr kumimoji="1" lang="zh-CN" altLang="en-US" sz="2800" dirty="0">
                <a:solidFill>
                  <a:srgbClr val="3333FF"/>
                </a:solidFill>
                <a:ea typeface="黑体" pitchFamily="2" charset="-122"/>
              </a:rPr>
              <a:t>传递性</a:t>
            </a:r>
            <a:r>
              <a:rPr kumimoji="1" lang="zh-CN" altLang="en-US" sz="2800" b="1" dirty="0"/>
              <a:t>：</a:t>
            </a:r>
          </a:p>
        </p:txBody>
      </p:sp>
      <p:graphicFrame>
        <p:nvGraphicFramePr>
          <p:cNvPr id="23563" name="Object 11"/>
          <p:cNvGraphicFramePr>
            <a:graphicFrameLocks noGrp="1" noChangeAspect="1"/>
          </p:cNvGraphicFramePr>
          <p:nvPr>
            <p:ph idx="1"/>
            <p:extLst>
              <p:ext uri="{D42A27DB-BD31-4B8C-83A1-F6EECF244321}">
                <p14:modId xmlns:p14="http://schemas.microsoft.com/office/powerpoint/2010/main" val="3877403639"/>
              </p:ext>
            </p:extLst>
          </p:nvPr>
        </p:nvGraphicFramePr>
        <p:xfrm>
          <a:off x="3791744" y="5897934"/>
          <a:ext cx="2638165" cy="1005730"/>
        </p:xfrm>
        <a:graphic>
          <a:graphicData uri="http://schemas.openxmlformats.org/presentationml/2006/ole">
            <mc:AlternateContent xmlns:mc="http://schemas.openxmlformats.org/markup-compatibility/2006">
              <mc:Choice xmlns:v="urn:schemas-microsoft-com:vml" Requires="v">
                <p:oleObj name="公式" r:id="rId5" imgW="965160" imgH="368280" progId="Equation.3">
                  <p:embed/>
                </p:oleObj>
              </mc:Choice>
              <mc:Fallback>
                <p:oleObj name="公式" r:id="rId5" imgW="965160" imgH="368280" progId="Equation.3">
                  <p:embed/>
                  <p:pic>
                    <p:nvPicPr>
                      <p:cNvPr id="23563" name="Object 11"/>
                      <p:cNvPicPr>
                        <a:picLocks noChangeAspect="1" noChangeArrowheads="1"/>
                      </p:cNvPicPr>
                      <p:nvPr/>
                    </p:nvPicPr>
                    <p:blipFill>
                      <a:blip r:embed="rId6"/>
                      <a:srcRect/>
                      <a:stretch>
                        <a:fillRect/>
                      </a:stretch>
                    </p:blipFill>
                    <p:spPr bwMode="auto">
                      <a:xfrm>
                        <a:off x="3791744" y="5897934"/>
                        <a:ext cx="2638165" cy="1005730"/>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B1099FBD-AAA9-1ACD-E036-BD30BC5FC0BC}"/>
              </a:ext>
            </a:extLst>
          </p:cNvPr>
          <p:cNvSpPr>
            <a:spLocks noGrp="1"/>
          </p:cNvSpPr>
          <p:nvPr>
            <p:ph type="sldNum" sz="quarter" idx="11"/>
          </p:nvPr>
        </p:nvSpPr>
        <p:spPr/>
        <p:txBody>
          <a:bodyPr/>
          <a:lstStyle/>
          <a:p>
            <a:pPr>
              <a:defRPr/>
            </a:pPr>
            <a:fld id="{F13753BC-CAEF-4333-AC48-2805658F6E3F}" type="slidenum">
              <a:rPr lang="en-US" altLang="zh-CN" smtClean="0"/>
              <a:pPr>
                <a:defRPr/>
              </a:pPr>
              <a:t>18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7">
                                            <p:txEl>
                                              <p:pRg st="0" end="0"/>
                                            </p:txEl>
                                          </p:spTgt>
                                        </p:tgtEl>
                                        <p:attrNameLst>
                                          <p:attrName>style.visibility</p:attrName>
                                        </p:attrNameLst>
                                      </p:cBhvr>
                                      <p:to>
                                        <p:strVal val="visible"/>
                                      </p:to>
                                    </p:set>
                                    <p:animEffect transition="in" filter="wipe(left)">
                                      <p:cBhvr>
                                        <p:cTn id="7" dur="500"/>
                                        <p:tgtEl>
                                          <p:spTgt spid="2355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7">
                                            <p:txEl>
                                              <p:pRg st="1" end="1"/>
                                            </p:txEl>
                                          </p:spTgt>
                                        </p:tgtEl>
                                        <p:attrNameLst>
                                          <p:attrName>style.visibility</p:attrName>
                                        </p:attrNameLst>
                                      </p:cBhvr>
                                      <p:to>
                                        <p:strVal val="visible"/>
                                      </p:to>
                                    </p:set>
                                    <p:animEffect transition="in" filter="wipe(left)">
                                      <p:cBhvr>
                                        <p:cTn id="12" dur="500"/>
                                        <p:tgtEl>
                                          <p:spTgt spid="2355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7">
                                            <p:txEl>
                                              <p:pRg st="2" end="2"/>
                                            </p:txEl>
                                          </p:spTgt>
                                        </p:tgtEl>
                                        <p:attrNameLst>
                                          <p:attrName>style.visibility</p:attrName>
                                        </p:attrNameLst>
                                      </p:cBhvr>
                                      <p:to>
                                        <p:strVal val="visible"/>
                                      </p:to>
                                    </p:set>
                                    <p:animEffect transition="in" filter="wipe(left)">
                                      <p:cBhvr>
                                        <p:cTn id="17" dur="500"/>
                                        <p:tgtEl>
                                          <p:spTgt spid="2355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7">
                                            <p:txEl>
                                              <p:pRg st="3" end="3"/>
                                            </p:txEl>
                                          </p:spTgt>
                                        </p:tgtEl>
                                        <p:attrNameLst>
                                          <p:attrName>style.visibility</p:attrName>
                                        </p:attrNameLst>
                                      </p:cBhvr>
                                      <p:to>
                                        <p:strVal val="visible"/>
                                      </p:to>
                                    </p:set>
                                    <p:animEffect transition="in" filter="wipe(left)">
                                      <p:cBhvr>
                                        <p:cTn id="22" dur="500"/>
                                        <p:tgtEl>
                                          <p:spTgt spid="23557">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57">
                                            <p:txEl>
                                              <p:pRg st="4" end="4"/>
                                            </p:txEl>
                                          </p:spTgt>
                                        </p:tgtEl>
                                        <p:attrNameLst>
                                          <p:attrName>style.visibility</p:attrName>
                                        </p:attrNameLst>
                                      </p:cBhvr>
                                      <p:to>
                                        <p:strVal val="visible"/>
                                      </p:to>
                                    </p:set>
                                    <p:animEffect transition="in" filter="wipe(left)">
                                      <p:cBhvr>
                                        <p:cTn id="27" dur="500"/>
                                        <p:tgtEl>
                                          <p:spTgt spid="23557">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558">
                                            <p:txEl>
                                              <p:pRg st="0" end="0"/>
                                            </p:txEl>
                                          </p:spTgt>
                                        </p:tgtEl>
                                        <p:attrNameLst>
                                          <p:attrName>style.visibility</p:attrName>
                                        </p:attrNameLst>
                                      </p:cBhvr>
                                      <p:to>
                                        <p:strVal val="visible"/>
                                      </p:to>
                                    </p:set>
                                    <p:animEffect transition="in" filter="wipe(left)">
                                      <p:cBhvr>
                                        <p:cTn id="32" dur="500"/>
                                        <p:tgtEl>
                                          <p:spTgt spid="2355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58">
                                            <p:txEl>
                                              <p:pRg st="1" end="1"/>
                                            </p:txEl>
                                          </p:spTgt>
                                        </p:tgtEl>
                                        <p:attrNameLst>
                                          <p:attrName>style.visibility</p:attrName>
                                        </p:attrNameLst>
                                      </p:cBhvr>
                                      <p:to>
                                        <p:strVal val="visible"/>
                                      </p:to>
                                    </p:set>
                                    <p:animEffect transition="in" filter="wipe(left)">
                                      <p:cBhvr>
                                        <p:cTn id="37" dur="500"/>
                                        <p:tgtEl>
                                          <p:spTgt spid="23558">
                                            <p:txEl>
                                              <p:pRg st="1" end="1"/>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4"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558">
                                            <p:txEl>
                                              <p:pRg st="2" end="2"/>
                                            </p:txEl>
                                          </p:spTgt>
                                        </p:tgtEl>
                                        <p:attrNameLst>
                                          <p:attrName>style.visibility</p:attrName>
                                        </p:attrNameLst>
                                      </p:cBhvr>
                                      <p:to>
                                        <p:strVal val="visible"/>
                                      </p:to>
                                    </p:set>
                                    <p:animEffect transition="in" filter="wipe(left)">
                                      <p:cBhvr>
                                        <p:cTn id="42" dur="500"/>
                                        <p:tgtEl>
                                          <p:spTgt spid="23558">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558">
                                            <p:txEl>
                                              <p:pRg st="3" end="3"/>
                                            </p:txEl>
                                          </p:spTgt>
                                        </p:tgtEl>
                                        <p:attrNameLst>
                                          <p:attrName>style.visibility</p:attrName>
                                        </p:attrNameLst>
                                      </p:cBhvr>
                                      <p:to>
                                        <p:strVal val="visible"/>
                                      </p:to>
                                    </p:set>
                                    <p:animEffect transition="in" filter="wipe(left)">
                                      <p:cBhvr>
                                        <p:cTn id="47" dur="500"/>
                                        <p:tgtEl>
                                          <p:spTgt spid="23558">
                                            <p:txEl>
                                              <p:pRg st="3" end="3"/>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4" name="camera.wav"/>
                                        </p:tgtEl>
                                      </p:cMediaNode>
                                    </p:audio>
                                  </p:sub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23563"/>
                                        </p:tgtEl>
                                        <p:attrNameLst>
                                          <p:attrName>style.visibility</p:attrName>
                                        </p:attrNameLst>
                                      </p:cBhvr>
                                      <p:to>
                                        <p:strVal val="visible"/>
                                      </p:to>
                                    </p:set>
                                    <p:animEffect transition="in" filter="wipe(left)">
                                      <p:cBhvr>
                                        <p:cTn id="51" dur="500"/>
                                        <p:tgtEl>
                                          <p:spTgt spid="23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build="p" autoUpdateAnimBg="0"/>
      <p:bldP spid="23558"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8" name="Rectangle 2"/>
          <p:cNvSpPr>
            <a:spLocks noGrp="1" noChangeArrowheads="1"/>
          </p:cNvSpPr>
          <p:nvPr>
            <p:ph type="title"/>
          </p:nvPr>
        </p:nvSpPr>
        <p:spPr/>
        <p:txBody>
          <a:bodyPr/>
          <a:lstStyle/>
          <a:p>
            <a:pPr algn="ctr"/>
            <a:r>
              <a:rPr lang="en-US" altLang="zh-CN" dirty="0">
                <a:solidFill>
                  <a:srgbClr val="057939"/>
                </a:solidFill>
              </a:rPr>
              <a:t>R</a:t>
            </a:r>
            <a:r>
              <a:rPr lang="zh-CN" altLang="en-US" dirty="0">
                <a:solidFill>
                  <a:srgbClr val="057939"/>
                </a:solidFill>
                <a:latin typeface="黑体" panose="02010609060101010101" pitchFamily="49" charset="-122"/>
                <a:ea typeface="黑体" panose="02010609060101010101" pitchFamily="49" charset="-122"/>
              </a:rPr>
              <a:t>是否为</a:t>
            </a:r>
            <a:r>
              <a:rPr lang="en-US" altLang="zh-CN" dirty="0">
                <a:solidFill>
                  <a:srgbClr val="057939"/>
                </a:solidFill>
                <a:latin typeface="黑体" panose="02010609060101010101" pitchFamily="49" charset="-122"/>
                <a:ea typeface="黑体" panose="02010609060101010101" pitchFamily="49" charset="-122"/>
              </a:rPr>
              <a:t>F</a:t>
            </a:r>
            <a:r>
              <a:rPr lang="zh-CN" altLang="en-US" dirty="0">
                <a:solidFill>
                  <a:srgbClr val="057939"/>
                </a:solidFill>
                <a:latin typeface="黑体" panose="02010609060101010101" pitchFamily="49" charset="-122"/>
                <a:ea typeface="黑体" panose="02010609060101010101" pitchFamily="49" charset="-122"/>
              </a:rPr>
              <a:t>等价矩阵？</a:t>
            </a:r>
          </a:p>
        </p:txBody>
      </p:sp>
      <p:sp>
        <p:nvSpPr>
          <p:cNvPr id="1074179" name="Rectangle 3"/>
          <p:cNvSpPr>
            <a:spLocks noGrp="1" noChangeArrowheads="1"/>
          </p:cNvSpPr>
          <p:nvPr>
            <p:ph type="body" sz="half" idx="1"/>
          </p:nvPr>
        </p:nvSpPr>
        <p:spPr>
          <a:xfrm>
            <a:off x="2590801" y="1628800"/>
            <a:ext cx="7629525" cy="4464050"/>
          </a:xfrm>
        </p:spPr>
        <p:txBody>
          <a:bodyPr/>
          <a:lstStyle/>
          <a:p>
            <a:pPr>
              <a:buFont typeface="Wingdings" panose="05000000000000000000" pitchFamily="2" charset="2"/>
              <a:buNone/>
            </a:pPr>
            <a:endParaRPr lang="en-US" altLang="zh-CN" sz="4000" dirty="0"/>
          </a:p>
          <a:p>
            <a:pPr>
              <a:buFont typeface="Wingdings" panose="05000000000000000000" pitchFamily="2" charset="2"/>
              <a:buNone/>
            </a:pPr>
            <a:r>
              <a:rPr lang="zh-CN" altLang="en-US" sz="4000" dirty="0"/>
              <a:t>论域</a:t>
            </a:r>
            <a:r>
              <a:rPr lang="en-US" altLang="zh-CN" sz="4000" dirty="0"/>
              <a:t>U={x</a:t>
            </a:r>
            <a:r>
              <a:rPr lang="en-US" altLang="zh-CN" sz="4000" baseline="-25000" dirty="0"/>
              <a:t>1</a:t>
            </a:r>
            <a:r>
              <a:rPr lang="en-US" altLang="zh-CN" sz="4000" dirty="0"/>
              <a:t>, x</a:t>
            </a:r>
            <a:r>
              <a:rPr lang="en-US" altLang="zh-CN" sz="4000" baseline="-25000" dirty="0"/>
              <a:t>2</a:t>
            </a:r>
            <a:r>
              <a:rPr lang="en-US" altLang="zh-CN" sz="4000" dirty="0"/>
              <a:t>}</a:t>
            </a:r>
            <a:r>
              <a:rPr lang="zh-CN" altLang="en-US" sz="4000" dirty="0"/>
              <a:t>，</a:t>
            </a:r>
            <a:endParaRPr lang="en-US" altLang="zh-CN" sz="4000" dirty="0"/>
          </a:p>
          <a:p>
            <a:pPr>
              <a:buFont typeface="Wingdings" panose="05000000000000000000" pitchFamily="2" charset="2"/>
              <a:buNone/>
            </a:pPr>
            <a:endParaRPr lang="en-US" altLang="zh-CN" sz="2400" dirty="0"/>
          </a:p>
          <a:p>
            <a:pPr>
              <a:buClr>
                <a:schemeClr val="accent2"/>
              </a:buClr>
              <a:buSzPct val="80000"/>
              <a:buNone/>
            </a:pPr>
            <a:r>
              <a:rPr kumimoji="1" lang="zh-CN" altLang="en-US" dirty="0">
                <a:ea typeface="黑体" pitchFamily="2" charset="-122"/>
              </a:rPr>
              <a:t>    </a:t>
            </a:r>
            <a:r>
              <a:rPr kumimoji="1" lang="en-US" altLang="zh-CN" dirty="0">
                <a:ea typeface="黑体" pitchFamily="2" charset="-122"/>
              </a:rPr>
              <a:t>(1)</a:t>
            </a:r>
            <a:r>
              <a:rPr kumimoji="1" lang="zh-CN" altLang="en-US" dirty="0">
                <a:solidFill>
                  <a:srgbClr val="FF00FF"/>
                </a:solidFill>
                <a:ea typeface="黑体" pitchFamily="2" charset="-122"/>
              </a:rPr>
              <a:t>自反性</a:t>
            </a:r>
            <a:r>
              <a:rPr kumimoji="1" lang="zh-CN" altLang="en-US" dirty="0">
                <a:ea typeface="黑体" pitchFamily="2" charset="-122"/>
              </a:rPr>
              <a:t>： </a:t>
            </a:r>
            <a:r>
              <a:rPr kumimoji="1" lang="en-US" altLang="zh-CN" i="1" dirty="0">
                <a:ea typeface="黑体" pitchFamily="2" charset="-122"/>
              </a:rPr>
              <a:t>R</a:t>
            </a:r>
            <a:r>
              <a:rPr kumimoji="1" lang="en-US" altLang="zh-CN" dirty="0">
                <a:ea typeface="黑体" pitchFamily="2" charset="-122"/>
              </a:rPr>
              <a:t>(</a:t>
            </a:r>
            <a:r>
              <a:rPr kumimoji="1" lang="en-US" altLang="zh-CN" dirty="0" err="1">
                <a:ea typeface="黑体" pitchFamily="2" charset="-122"/>
              </a:rPr>
              <a:t>u</a:t>
            </a:r>
            <a:r>
              <a:rPr kumimoji="1" lang="en-US" altLang="zh-CN" dirty="0" err="1">
                <a:ea typeface="黑体" pitchFamily="2" charset="-122"/>
                <a:sym typeface="Symbol" pitchFamily="18" charset="2"/>
              </a:rPr>
              <a:t>,u</a:t>
            </a:r>
            <a:r>
              <a:rPr kumimoji="1" lang="en-US" altLang="zh-CN" dirty="0">
                <a:ea typeface="黑体" pitchFamily="2" charset="-122"/>
              </a:rPr>
              <a:t>) =1</a:t>
            </a:r>
            <a:r>
              <a:rPr kumimoji="1" lang="zh-CN" altLang="en-US" dirty="0">
                <a:ea typeface="黑体" pitchFamily="2" charset="-122"/>
              </a:rPr>
              <a:t>；</a:t>
            </a:r>
          </a:p>
          <a:p>
            <a:pPr>
              <a:buClr>
                <a:schemeClr val="accent2"/>
              </a:buClr>
              <a:buSzPct val="80000"/>
              <a:buNone/>
            </a:pPr>
            <a:r>
              <a:rPr kumimoji="1" lang="zh-CN" altLang="en-US" dirty="0">
                <a:ea typeface="黑体" pitchFamily="2" charset="-122"/>
              </a:rPr>
              <a:t>    </a:t>
            </a:r>
            <a:r>
              <a:rPr kumimoji="1" lang="en-US" altLang="zh-CN" dirty="0">
                <a:ea typeface="黑体" pitchFamily="2" charset="-122"/>
              </a:rPr>
              <a:t>(2)</a:t>
            </a:r>
            <a:r>
              <a:rPr kumimoji="1" lang="zh-CN" altLang="en-US" dirty="0">
                <a:solidFill>
                  <a:srgbClr val="057939"/>
                </a:solidFill>
                <a:ea typeface="黑体" pitchFamily="2" charset="-122"/>
              </a:rPr>
              <a:t>对称性</a:t>
            </a:r>
            <a:r>
              <a:rPr kumimoji="1" lang="zh-CN" altLang="en-US" dirty="0">
                <a:ea typeface="黑体" pitchFamily="2" charset="-122"/>
              </a:rPr>
              <a:t>： </a:t>
            </a:r>
            <a:r>
              <a:rPr kumimoji="1" lang="en-US" altLang="zh-CN" i="1" dirty="0">
                <a:ea typeface="黑体" pitchFamily="2" charset="-122"/>
              </a:rPr>
              <a:t>R</a:t>
            </a:r>
            <a:r>
              <a:rPr kumimoji="1" lang="en-US" altLang="zh-CN" dirty="0">
                <a:ea typeface="黑体" pitchFamily="2" charset="-122"/>
              </a:rPr>
              <a:t> =</a:t>
            </a:r>
            <a:r>
              <a:rPr kumimoji="1" lang="en-US" altLang="zh-CN" i="1" dirty="0">
                <a:ea typeface="黑体" pitchFamily="2" charset="-122"/>
              </a:rPr>
              <a:t>R</a:t>
            </a:r>
            <a:r>
              <a:rPr kumimoji="1" lang="en-US" altLang="zh-CN" baseline="30000" dirty="0">
                <a:ea typeface="黑体" pitchFamily="2" charset="-122"/>
              </a:rPr>
              <a:t>T</a:t>
            </a:r>
            <a:r>
              <a:rPr kumimoji="1" lang="en-US" altLang="zh-CN" dirty="0">
                <a:ea typeface="黑体" pitchFamily="2" charset="-122"/>
              </a:rPr>
              <a:t> </a:t>
            </a:r>
            <a:r>
              <a:rPr kumimoji="1" lang="zh-CN" altLang="en-US" dirty="0">
                <a:ea typeface="黑体" pitchFamily="2" charset="-122"/>
              </a:rPr>
              <a:t>； </a:t>
            </a:r>
          </a:p>
          <a:p>
            <a:pPr>
              <a:buClr>
                <a:schemeClr val="accent2"/>
              </a:buClr>
              <a:buSzPct val="80000"/>
              <a:buNone/>
            </a:pPr>
            <a:r>
              <a:rPr kumimoji="1" lang="zh-CN" altLang="en-US" dirty="0">
                <a:ea typeface="黑体" pitchFamily="2" charset="-122"/>
              </a:rPr>
              <a:t>    </a:t>
            </a:r>
            <a:r>
              <a:rPr kumimoji="1" lang="en-US" altLang="zh-CN" dirty="0">
                <a:ea typeface="黑体" pitchFamily="2" charset="-122"/>
              </a:rPr>
              <a:t>(3)</a:t>
            </a:r>
            <a:r>
              <a:rPr kumimoji="1" lang="zh-CN" altLang="en-US" dirty="0">
                <a:solidFill>
                  <a:srgbClr val="3333FF"/>
                </a:solidFill>
                <a:ea typeface="黑体" pitchFamily="2" charset="-122"/>
              </a:rPr>
              <a:t>传递性</a:t>
            </a:r>
            <a:r>
              <a:rPr kumimoji="1" lang="zh-CN" altLang="en-US" dirty="0">
                <a:ea typeface="黑体" pitchFamily="2" charset="-122"/>
              </a:rPr>
              <a:t>： </a:t>
            </a:r>
            <a:r>
              <a:rPr kumimoji="1" lang="en-US" altLang="zh-CN" i="1" dirty="0">
                <a:ea typeface="黑体" pitchFamily="2" charset="-122"/>
              </a:rPr>
              <a:t>R</a:t>
            </a:r>
            <a:r>
              <a:rPr kumimoji="1" lang="en-US" altLang="zh-CN" dirty="0">
                <a:ea typeface="黑体" pitchFamily="2" charset="-122"/>
              </a:rPr>
              <a:t> =</a:t>
            </a:r>
            <a:r>
              <a:rPr kumimoji="1" lang="en-US" altLang="zh-CN" i="1" dirty="0">
                <a:ea typeface="黑体" pitchFamily="2" charset="-122"/>
              </a:rPr>
              <a:t>R</a:t>
            </a:r>
            <a:r>
              <a:rPr kumimoji="1" lang="en-US" altLang="zh-CN" baseline="30000" dirty="0">
                <a:ea typeface="黑体" pitchFamily="2" charset="-122"/>
              </a:rPr>
              <a:t>2</a:t>
            </a:r>
            <a:r>
              <a:rPr kumimoji="1" lang="en-US" altLang="zh-CN" dirty="0">
                <a:ea typeface="黑体" pitchFamily="2" charset="-122"/>
              </a:rPr>
              <a:t> </a:t>
            </a:r>
            <a:endParaRPr lang="zh-CN" altLang="en-US" dirty="0"/>
          </a:p>
          <a:p>
            <a:pPr>
              <a:buFont typeface="Wingdings" panose="05000000000000000000" pitchFamily="2" charset="2"/>
              <a:buNone/>
            </a:pPr>
            <a:endParaRPr lang="en-US" altLang="zh-CN" sz="4000" dirty="0"/>
          </a:p>
        </p:txBody>
      </p:sp>
      <p:graphicFrame>
        <p:nvGraphicFramePr>
          <p:cNvPr id="1074180" name="Object 4"/>
          <p:cNvGraphicFramePr>
            <a:graphicFrameLocks noGrp="1" noChangeAspect="1"/>
          </p:cNvGraphicFramePr>
          <p:nvPr>
            <p:ph sz="half" idx="2"/>
          </p:nvPr>
        </p:nvGraphicFramePr>
        <p:xfrm>
          <a:off x="6240016" y="1988841"/>
          <a:ext cx="2819276" cy="1561513"/>
        </p:xfrm>
        <a:graphic>
          <a:graphicData uri="http://schemas.openxmlformats.org/presentationml/2006/ole">
            <mc:AlternateContent xmlns:mc="http://schemas.openxmlformats.org/markup-compatibility/2006">
              <mc:Choice xmlns:v="urn:schemas-microsoft-com:vml" Requires="v">
                <p:oleObj name="Microsoft 公式 3.0" r:id="rId2" imgW="850680" imgH="457200" progId="Equation.3">
                  <p:embed/>
                </p:oleObj>
              </mc:Choice>
              <mc:Fallback>
                <p:oleObj name="Microsoft 公式 3.0" r:id="rId2" imgW="850680" imgH="457200" progId="Equation.3">
                  <p:embed/>
                  <p:pic>
                    <p:nvPicPr>
                      <p:cNvPr id="10741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016" y="1988841"/>
                        <a:ext cx="2819276" cy="1561513"/>
                      </a:xfrm>
                      <a:prstGeom prst="rect">
                        <a:avLst/>
                      </a:prstGeom>
                      <a:noFill/>
                      <a:ln>
                        <a:noFill/>
                      </a:ln>
                      <a:effectLst/>
                    </p:spPr>
                  </p:pic>
                </p:oleObj>
              </mc:Fallback>
            </mc:AlternateContent>
          </a:graphicData>
        </a:graphic>
      </p:graphicFrame>
      <p:graphicFrame>
        <p:nvGraphicFramePr>
          <p:cNvPr id="2" name="Object 4">
            <a:extLst>
              <a:ext uri="{FF2B5EF4-FFF2-40B4-BE49-F238E27FC236}">
                <a16:creationId xmlns:a16="http://schemas.microsoft.com/office/drawing/2014/main" id="{C8946A5A-F10F-2399-8126-667B87C4AE27}"/>
              </a:ext>
            </a:extLst>
          </p:cNvPr>
          <p:cNvGraphicFramePr>
            <a:graphicFrameLocks noChangeAspect="1"/>
          </p:cNvGraphicFramePr>
          <p:nvPr/>
        </p:nvGraphicFramePr>
        <p:xfrm>
          <a:off x="3431704" y="5478906"/>
          <a:ext cx="4752528" cy="1379094"/>
        </p:xfrm>
        <a:graphic>
          <a:graphicData uri="http://schemas.openxmlformats.org/presentationml/2006/ole">
            <mc:AlternateContent xmlns:mc="http://schemas.openxmlformats.org/markup-compatibility/2006">
              <mc:Choice xmlns:v="urn:schemas-microsoft-com:vml" Requires="v">
                <p:oleObj name="Equation" r:id="rId4" imgW="2006280" imgH="457200" progId="Equation.DSMT4">
                  <p:embed/>
                </p:oleObj>
              </mc:Choice>
              <mc:Fallback>
                <p:oleObj name="Equation" r:id="rId4" imgW="2006280" imgH="457200" progId="Equation.DSMT4">
                  <p:embed/>
                  <p:pic>
                    <p:nvPicPr>
                      <p:cNvPr id="2" name="Object 4">
                        <a:extLst>
                          <a:ext uri="{FF2B5EF4-FFF2-40B4-BE49-F238E27FC236}">
                            <a16:creationId xmlns:a16="http://schemas.microsoft.com/office/drawing/2014/main" id="{C8946A5A-F10F-2399-8126-667B87C4AE27}"/>
                          </a:ext>
                        </a:extLst>
                      </p:cNvPr>
                      <p:cNvPicPr>
                        <a:picLocks noChangeAspect="1" noChangeArrowheads="1"/>
                      </p:cNvPicPr>
                      <p:nvPr/>
                    </p:nvPicPr>
                    <p:blipFill>
                      <a:blip r:embed="rId5"/>
                      <a:srcRect/>
                      <a:stretch>
                        <a:fillRect/>
                      </a:stretch>
                    </p:blipFill>
                    <p:spPr bwMode="auto">
                      <a:xfrm>
                        <a:off x="3431704" y="5478906"/>
                        <a:ext cx="4752528" cy="1379094"/>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D263FE3-FE86-4C7B-6138-29FB30A08F9E}"/>
              </a:ext>
            </a:extLst>
          </p:cNvPr>
          <p:cNvSpPr>
            <a:spLocks noGrp="1"/>
          </p:cNvSpPr>
          <p:nvPr>
            <p:ph type="sldNum" sz="quarter" idx="11"/>
          </p:nvPr>
        </p:nvSpPr>
        <p:spPr/>
        <p:txBody>
          <a:bodyPr/>
          <a:lstStyle/>
          <a:p>
            <a:pPr>
              <a:defRPr/>
            </a:pPr>
            <a:fld id="{611376B5-62E6-403F-97A0-5A1E42AE81DF}" type="slidenum">
              <a:rPr lang="en-US" altLang="zh-CN" smtClean="0"/>
              <a:pPr>
                <a:defRPr/>
              </a:pPr>
              <a:t>19</a:t>
            </a:fld>
            <a:endParaRPr lang="en-US" altLang="zh-CN"/>
          </a:p>
        </p:txBody>
      </p:sp>
    </p:spTree>
    <p:extLst>
      <p:ext uri="{BB962C8B-B14F-4D97-AF65-F5344CB8AC3E}">
        <p14:creationId xmlns:p14="http://schemas.microsoft.com/office/powerpoint/2010/main" val="151188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4179">
                                            <p:txEl>
                                              <p:pRg st="3" end="3"/>
                                            </p:txEl>
                                          </p:spTgt>
                                        </p:tgtEl>
                                        <p:attrNameLst>
                                          <p:attrName>style.visibility</p:attrName>
                                        </p:attrNameLst>
                                      </p:cBhvr>
                                      <p:to>
                                        <p:strVal val="visible"/>
                                      </p:to>
                                    </p:set>
                                    <p:animEffect transition="in" filter="wipe(left)">
                                      <p:cBhvr>
                                        <p:cTn id="7" dur="500"/>
                                        <p:tgtEl>
                                          <p:spTgt spid="107417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74179">
                                            <p:txEl>
                                              <p:pRg st="4" end="4"/>
                                            </p:txEl>
                                          </p:spTgt>
                                        </p:tgtEl>
                                        <p:attrNameLst>
                                          <p:attrName>style.visibility</p:attrName>
                                        </p:attrNameLst>
                                      </p:cBhvr>
                                      <p:to>
                                        <p:strVal val="visible"/>
                                      </p:to>
                                    </p:set>
                                    <p:animEffect transition="in" filter="wipe(left)">
                                      <p:cBhvr>
                                        <p:cTn id="12" dur="500"/>
                                        <p:tgtEl>
                                          <p:spTgt spid="107417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74179">
                                            <p:txEl>
                                              <p:pRg st="5" end="5"/>
                                            </p:txEl>
                                          </p:spTgt>
                                        </p:tgtEl>
                                        <p:attrNameLst>
                                          <p:attrName>style.visibility</p:attrName>
                                        </p:attrNameLst>
                                      </p:cBhvr>
                                      <p:to>
                                        <p:strVal val="visible"/>
                                      </p:to>
                                    </p:set>
                                    <p:animEffect transition="in" filter="wipe(left)">
                                      <p:cBhvr>
                                        <p:cTn id="23" dur="500"/>
                                        <p:tgtEl>
                                          <p:spTgt spid="10741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81200" y="332656"/>
            <a:ext cx="8229600" cy="884238"/>
          </a:xfrm>
        </p:spPr>
        <p:txBody>
          <a:bodyPr/>
          <a:lstStyle/>
          <a:p>
            <a:pPr algn="ctr" eaLnBrk="1" hangingPunct="1"/>
            <a:r>
              <a:rPr lang="en-US" altLang="zh-CN" dirty="0">
                <a:solidFill>
                  <a:srgbClr val="057939"/>
                </a:solidFill>
                <a:ea typeface="黑体" pitchFamily="2" charset="-122"/>
              </a:rPr>
              <a:t>F</a:t>
            </a:r>
            <a:r>
              <a:rPr lang="zh-CN" altLang="en-US" dirty="0">
                <a:solidFill>
                  <a:srgbClr val="057939"/>
                </a:solidFill>
                <a:latin typeface="Times New Roman" pitchFamily="18" charset="0"/>
                <a:ea typeface="黑体" pitchFamily="2" charset="-122"/>
              </a:rPr>
              <a:t>等价矩阵的基本定理</a:t>
            </a:r>
          </a:p>
        </p:txBody>
      </p:sp>
      <p:sp>
        <p:nvSpPr>
          <p:cNvPr id="24580" name="Rectangle 4"/>
          <p:cNvSpPr>
            <a:spLocks noChangeArrowheads="1"/>
          </p:cNvSpPr>
          <p:nvPr/>
        </p:nvSpPr>
        <p:spPr bwMode="auto">
          <a:xfrm>
            <a:off x="839416" y="1247560"/>
            <a:ext cx="1065718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3200" b="1" dirty="0">
                <a:solidFill>
                  <a:srgbClr val="057939"/>
                </a:solidFill>
                <a:ea typeface="黑体" pitchFamily="2" charset="-122"/>
              </a:rPr>
              <a:t>[</a:t>
            </a:r>
            <a:r>
              <a:rPr kumimoji="1" lang="zh-CN" altLang="en-US" sz="3200" b="1" dirty="0">
                <a:solidFill>
                  <a:srgbClr val="057939"/>
                </a:solidFill>
                <a:ea typeface="黑体" pitchFamily="2" charset="-122"/>
              </a:rPr>
              <a:t>定理</a:t>
            </a:r>
            <a:r>
              <a:rPr kumimoji="1" lang="en-US" altLang="zh-CN" sz="3200" b="1" dirty="0">
                <a:solidFill>
                  <a:srgbClr val="057939"/>
                </a:solidFill>
                <a:ea typeface="黑体" pitchFamily="2" charset="-122"/>
              </a:rPr>
              <a:t>1]</a:t>
            </a:r>
            <a:r>
              <a:rPr kumimoji="1" lang="en-US" altLang="zh-CN" sz="3200" b="1" dirty="0">
                <a:latin typeface="宋体" pitchFamily="2" charset="-122"/>
              </a:rPr>
              <a:t> </a:t>
            </a:r>
            <a:r>
              <a:rPr kumimoji="1" lang="en-US" altLang="zh-CN" sz="3200" b="1" i="1" dirty="0">
                <a:ea typeface="楷体_GB2312" pitchFamily="49" charset="-122"/>
              </a:rPr>
              <a:t>R</a:t>
            </a:r>
            <a:r>
              <a:rPr kumimoji="1" lang="en-US" altLang="en-US" sz="3200" dirty="0">
                <a:ea typeface="黑体" pitchFamily="2" charset="-122"/>
                <a:sym typeface="Symbol" panose="05050102010706020507" pitchFamily="18" charset="2"/>
              </a:rPr>
              <a:t></a:t>
            </a:r>
            <a:r>
              <a:rPr kumimoji="1" lang="en-US" altLang="zh-CN" sz="3200" dirty="0">
                <a:latin typeface="Monotype Corsiva" pitchFamily="66" charset="0"/>
                <a:ea typeface="黑体" pitchFamily="2" charset="-122"/>
              </a:rPr>
              <a:t>F</a:t>
            </a:r>
            <a:r>
              <a:rPr kumimoji="1" lang="en-US" altLang="zh-CN" sz="3200" dirty="0">
                <a:ea typeface="楷体_GB2312" pitchFamily="49" charset="-122"/>
              </a:rPr>
              <a:t>(U</a:t>
            </a:r>
            <a:r>
              <a:rPr kumimoji="1" lang="en-US" altLang="en-US" sz="3200" dirty="0">
                <a:ea typeface="楷体_GB2312" pitchFamily="49" charset="-122"/>
              </a:rPr>
              <a:t>×</a:t>
            </a:r>
            <a:r>
              <a:rPr kumimoji="1" lang="en-US" altLang="zh-CN" sz="3200" dirty="0">
                <a:ea typeface="楷体_GB2312" pitchFamily="49" charset="-122"/>
              </a:rPr>
              <a:t>U)</a:t>
            </a:r>
            <a:r>
              <a:rPr kumimoji="1" lang="zh-CN" altLang="en-US" sz="3200" b="1" dirty="0">
                <a:ea typeface="楷体_GB2312" pitchFamily="49" charset="-122"/>
              </a:rPr>
              <a:t>是</a:t>
            </a:r>
            <a:r>
              <a:rPr kumimoji="1" lang="en-US" altLang="zh-CN" sz="3200" b="1" dirty="0">
                <a:solidFill>
                  <a:srgbClr val="EE0006"/>
                </a:solidFill>
                <a:ea typeface="楷体_GB2312" pitchFamily="49" charset="-122"/>
              </a:rPr>
              <a:t>F</a:t>
            </a:r>
            <a:r>
              <a:rPr kumimoji="1" lang="zh-CN" altLang="en-US" sz="3200" b="1" dirty="0">
                <a:solidFill>
                  <a:srgbClr val="EE0006"/>
                </a:solidFill>
                <a:ea typeface="楷体_GB2312" pitchFamily="49" charset="-122"/>
              </a:rPr>
              <a:t>等价矩阵</a:t>
            </a:r>
            <a:r>
              <a:rPr kumimoji="1" lang="zh-CN" altLang="en-US" sz="3200" b="1" dirty="0">
                <a:ea typeface="楷体_GB2312" pitchFamily="49" charset="-122"/>
              </a:rPr>
              <a:t>的充要条件是对</a:t>
            </a:r>
            <a:r>
              <a:rPr kumimoji="1" lang="zh-CN" altLang="en-US" sz="2800" b="1" dirty="0">
                <a:ea typeface="楷体_GB2312" pitchFamily="49" charset="-122"/>
                <a:sym typeface="Symbol" pitchFamily="18" charset="2"/>
              </a:rPr>
              <a:t></a:t>
            </a:r>
            <a:r>
              <a:rPr kumimoji="1" lang="zh-CN" altLang="en-US" sz="3200" b="1" i="1" dirty="0">
                <a:ea typeface="楷体_GB2312" pitchFamily="49" charset="-122"/>
                <a:sym typeface="Symbol" pitchFamily="18" charset="2"/>
              </a:rPr>
              <a:t></a:t>
            </a:r>
            <a:r>
              <a:rPr kumimoji="1" lang="en-US" altLang="en-US" sz="3200" dirty="0">
                <a:ea typeface="黑体" pitchFamily="2" charset="-122"/>
                <a:sym typeface="Symbol" panose="05050102010706020507" pitchFamily="18" charset="2"/>
              </a:rPr>
              <a:t> </a:t>
            </a:r>
            <a:r>
              <a:rPr kumimoji="1" lang="en-US" altLang="zh-CN" sz="3200" b="1" dirty="0">
                <a:ea typeface="楷体_GB2312" pitchFamily="49" charset="-122"/>
              </a:rPr>
              <a:t>[0,1]</a:t>
            </a:r>
            <a:r>
              <a:rPr kumimoji="1" lang="zh-CN" altLang="en-US" sz="3200" b="1" dirty="0">
                <a:ea typeface="楷体_GB2312" pitchFamily="49" charset="-122"/>
              </a:rPr>
              <a:t>，</a:t>
            </a:r>
          </a:p>
          <a:p>
            <a:r>
              <a:rPr kumimoji="1" lang="en-US" altLang="zh-CN" sz="3200" b="1" i="1" dirty="0">
                <a:solidFill>
                  <a:srgbClr val="EE0006"/>
                </a:solidFill>
                <a:ea typeface="楷体_GB2312" pitchFamily="49" charset="-122"/>
              </a:rPr>
              <a:t>             R</a:t>
            </a:r>
            <a:r>
              <a:rPr kumimoji="1" lang="en-US" altLang="zh-CN" sz="3200" b="1" i="1" baseline="-30000" dirty="0">
                <a:solidFill>
                  <a:srgbClr val="EE0006"/>
                </a:solidFill>
                <a:ea typeface="楷体_GB2312" pitchFamily="49" charset="-122"/>
                <a:sym typeface="Symbol" pitchFamily="18" charset="2"/>
              </a:rPr>
              <a:t></a:t>
            </a:r>
            <a:r>
              <a:rPr kumimoji="1" lang="zh-CN" altLang="en-US" sz="3200" b="1" dirty="0">
                <a:solidFill>
                  <a:srgbClr val="EE0006"/>
                </a:solidFill>
                <a:ea typeface="楷体_GB2312" pitchFamily="49" charset="-122"/>
              </a:rPr>
              <a:t>都是等价的布尔矩阵</a:t>
            </a:r>
            <a:r>
              <a:rPr kumimoji="1" lang="en-US" altLang="zh-CN" sz="3200" b="1" dirty="0">
                <a:ea typeface="楷体_GB2312" pitchFamily="49" charset="-122"/>
              </a:rPr>
              <a:t>.</a:t>
            </a:r>
          </a:p>
        </p:txBody>
      </p:sp>
      <p:sp>
        <p:nvSpPr>
          <p:cNvPr id="24581" name="Rectangle 5"/>
          <p:cNvSpPr>
            <a:spLocks noChangeArrowheads="1"/>
          </p:cNvSpPr>
          <p:nvPr/>
        </p:nvSpPr>
        <p:spPr bwMode="auto">
          <a:xfrm>
            <a:off x="9120336" y="2128839"/>
            <a:ext cx="2681139" cy="2115003"/>
          </a:xfrm>
          <a:prstGeom prst="rect">
            <a:avLst/>
          </a:prstGeom>
          <a:solidFill>
            <a:srgbClr val="FFFF99"/>
          </a:solidFill>
          <a:ln>
            <a:noFill/>
          </a:ln>
          <a:effectLst>
            <a:glow rad="139700">
              <a:schemeClr val="accent2">
                <a:satMod val="175000"/>
                <a:alpha val="40000"/>
              </a:schemeClr>
            </a:glow>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20000"/>
              </a:lnSpc>
            </a:pPr>
            <a:r>
              <a:rPr kumimoji="1" lang="en-US" altLang="zh-CN" sz="2800" b="1" dirty="0">
                <a:solidFill>
                  <a:srgbClr val="FF00FF"/>
                </a:solidFill>
                <a:sym typeface="Symbol" pitchFamily="18" charset="2"/>
              </a:rPr>
              <a:t></a:t>
            </a:r>
            <a:r>
              <a:rPr kumimoji="1" lang="en-US" altLang="zh-CN" sz="2800" b="1" i="1" dirty="0">
                <a:solidFill>
                  <a:srgbClr val="FF00FF"/>
                </a:solidFill>
                <a:sym typeface="Symbol" pitchFamily="18" charset="2"/>
              </a:rPr>
              <a:t></a:t>
            </a:r>
            <a:r>
              <a:rPr kumimoji="1" lang="en-US" altLang="zh-CN" sz="2800" b="1" dirty="0">
                <a:solidFill>
                  <a:srgbClr val="FF00FF"/>
                </a:solidFill>
                <a:sym typeface="Symbol" panose="05050102010706020507" pitchFamily="18" charset="2"/>
              </a:rPr>
              <a:t></a:t>
            </a:r>
            <a:r>
              <a:rPr kumimoji="1" lang="en-US" altLang="zh-CN" sz="2800" b="1" dirty="0">
                <a:solidFill>
                  <a:srgbClr val="FF00FF"/>
                </a:solidFill>
              </a:rPr>
              <a:t>[0,1]</a:t>
            </a:r>
            <a:r>
              <a:rPr kumimoji="1" lang="zh-CN" altLang="en-US" sz="2800" b="1" dirty="0">
                <a:solidFill>
                  <a:srgbClr val="FF00FF"/>
                </a:solidFill>
              </a:rPr>
              <a:t>：</a:t>
            </a:r>
          </a:p>
          <a:p>
            <a:pPr>
              <a:lnSpc>
                <a:spcPct val="120000"/>
              </a:lnSpc>
            </a:pPr>
            <a:r>
              <a:rPr kumimoji="1" lang="en-US" altLang="zh-CN" sz="2800" b="1" dirty="0">
                <a:solidFill>
                  <a:srgbClr val="FF00FF"/>
                </a:solidFill>
              </a:rPr>
              <a:t>R</a:t>
            </a:r>
            <a:r>
              <a:rPr kumimoji="1" lang="en-US" altLang="zh-CN" sz="2800" b="1" i="1" dirty="0">
                <a:solidFill>
                  <a:srgbClr val="FF00FF"/>
                </a:solidFill>
              </a:rPr>
              <a:t> </a:t>
            </a:r>
            <a:r>
              <a:rPr kumimoji="1" lang="en-US" altLang="zh-CN" sz="2800" b="1" dirty="0">
                <a:solidFill>
                  <a:srgbClr val="FF00FF"/>
                </a:solidFill>
                <a:sym typeface="Symbol" pitchFamily="18" charset="2"/>
              </a:rPr>
              <a:t>SR</a:t>
            </a:r>
            <a:r>
              <a:rPr kumimoji="1" lang="en-US" altLang="zh-CN" sz="2800" b="1" i="1" baseline="-30000" dirty="0">
                <a:solidFill>
                  <a:srgbClr val="FF00FF"/>
                </a:solidFill>
                <a:ea typeface="黑体" pitchFamily="2" charset="-122"/>
                <a:sym typeface="Symbol" pitchFamily="18" charset="2"/>
              </a:rPr>
              <a:t> </a:t>
            </a:r>
            <a:r>
              <a:rPr kumimoji="1" lang="en-US" altLang="zh-CN" sz="2800" b="1" dirty="0">
                <a:solidFill>
                  <a:srgbClr val="FF00FF"/>
                </a:solidFill>
                <a:sym typeface="Symbol" pitchFamily="18" charset="2"/>
              </a:rPr>
              <a:t> S</a:t>
            </a:r>
            <a:r>
              <a:rPr kumimoji="1" lang="en-US" altLang="zh-CN" sz="2800" b="1" i="1" baseline="-30000" dirty="0">
                <a:solidFill>
                  <a:srgbClr val="FF00FF"/>
                </a:solidFill>
                <a:ea typeface="黑体" pitchFamily="2" charset="-122"/>
                <a:sym typeface="Symbol" pitchFamily="18" charset="2"/>
              </a:rPr>
              <a:t></a:t>
            </a:r>
            <a:endParaRPr kumimoji="1" lang="en-US" altLang="zh-CN" sz="2800" b="1" dirty="0">
              <a:solidFill>
                <a:srgbClr val="FF00FF"/>
              </a:solidFill>
            </a:endParaRPr>
          </a:p>
          <a:p>
            <a:pPr>
              <a:lnSpc>
                <a:spcPct val="120000"/>
              </a:lnSpc>
            </a:pPr>
            <a:r>
              <a:rPr kumimoji="1" lang="en-US" altLang="zh-CN" sz="2800" b="1" dirty="0">
                <a:solidFill>
                  <a:srgbClr val="FF00FF"/>
                </a:solidFill>
                <a:sym typeface="Symbol" pitchFamily="18" charset="2"/>
              </a:rPr>
              <a:t>(R</a:t>
            </a:r>
            <a:r>
              <a:rPr kumimoji="1" lang="en-US" altLang="zh-CN" sz="2800" b="1" baseline="30000" dirty="0">
                <a:solidFill>
                  <a:srgbClr val="FF00FF"/>
                </a:solidFill>
                <a:ea typeface="黑体" pitchFamily="2" charset="-122"/>
              </a:rPr>
              <a:t>T</a:t>
            </a:r>
            <a:r>
              <a:rPr kumimoji="1" lang="en-US" altLang="zh-CN" sz="2800" b="1" dirty="0">
                <a:solidFill>
                  <a:srgbClr val="FF00FF"/>
                </a:solidFill>
                <a:sym typeface="Symbol" pitchFamily="18" charset="2"/>
              </a:rPr>
              <a:t>)</a:t>
            </a:r>
            <a:r>
              <a:rPr kumimoji="1" lang="en-US" altLang="zh-CN" sz="2800" b="1" i="1" baseline="-30000" dirty="0">
                <a:solidFill>
                  <a:srgbClr val="FF00FF"/>
                </a:solidFill>
                <a:ea typeface="黑体" pitchFamily="2" charset="-122"/>
                <a:sym typeface="Symbol" pitchFamily="18" charset="2"/>
              </a:rPr>
              <a:t></a:t>
            </a:r>
            <a:r>
              <a:rPr kumimoji="1" lang="en-US" altLang="zh-CN" sz="2800" b="1" dirty="0">
                <a:solidFill>
                  <a:srgbClr val="FF00FF"/>
                </a:solidFill>
                <a:sym typeface="Symbol" pitchFamily="18" charset="2"/>
              </a:rPr>
              <a:t> = (R</a:t>
            </a:r>
            <a:r>
              <a:rPr kumimoji="1" lang="en-US" altLang="zh-CN" sz="2800" b="1" i="1" baseline="-30000" dirty="0">
                <a:solidFill>
                  <a:srgbClr val="FF00FF"/>
                </a:solidFill>
                <a:ea typeface="黑体" pitchFamily="2" charset="-122"/>
                <a:sym typeface="Symbol" pitchFamily="18" charset="2"/>
              </a:rPr>
              <a:t></a:t>
            </a:r>
            <a:r>
              <a:rPr kumimoji="1" lang="en-US" altLang="zh-CN" sz="2800" b="1" dirty="0">
                <a:solidFill>
                  <a:srgbClr val="FF00FF"/>
                </a:solidFill>
                <a:sym typeface="Symbol" pitchFamily="18" charset="2"/>
              </a:rPr>
              <a:t>)</a:t>
            </a:r>
            <a:r>
              <a:rPr kumimoji="1" lang="en-US" altLang="zh-CN" sz="2800" b="1" baseline="30000" dirty="0">
                <a:solidFill>
                  <a:srgbClr val="FF00FF"/>
                </a:solidFill>
                <a:ea typeface="黑体" pitchFamily="2" charset="-122"/>
              </a:rPr>
              <a:t>T</a:t>
            </a:r>
          </a:p>
          <a:p>
            <a:pPr>
              <a:lnSpc>
                <a:spcPct val="120000"/>
              </a:lnSpc>
            </a:pPr>
            <a:r>
              <a:rPr kumimoji="1" lang="en-US" altLang="zh-CN" sz="2800" b="1" dirty="0">
                <a:solidFill>
                  <a:srgbClr val="FF00FF"/>
                </a:solidFill>
                <a:sym typeface="Symbol" pitchFamily="18" charset="2"/>
              </a:rPr>
              <a:t>(R</a:t>
            </a:r>
            <a:r>
              <a:rPr lang="en-US" altLang="zh-CN" sz="2800" b="1" dirty="0">
                <a:solidFill>
                  <a:srgbClr val="FF00FF"/>
                </a:solidFill>
              </a:rPr>
              <a:t>◦</a:t>
            </a:r>
            <a:r>
              <a:rPr kumimoji="1" lang="en-US" altLang="zh-CN" sz="2800" b="1" dirty="0">
                <a:solidFill>
                  <a:srgbClr val="FF00FF"/>
                </a:solidFill>
                <a:cs typeface="Times New Roman" pitchFamily="18" charset="0"/>
              </a:rPr>
              <a:t>S</a:t>
            </a:r>
            <a:r>
              <a:rPr kumimoji="1" lang="en-US" altLang="zh-CN" sz="2800" b="1" dirty="0">
                <a:solidFill>
                  <a:srgbClr val="FF00FF"/>
                </a:solidFill>
                <a:sym typeface="Symbol" pitchFamily="18" charset="2"/>
              </a:rPr>
              <a:t>)</a:t>
            </a:r>
            <a:r>
              <a:rPr kumimoji="1" lang="en-US" altLang="zh-CN" sz="2800" b="1" i="1" baseline="-30000" dirty="0">
                <a:solidFill>
                  <a:srgbClr val="FF00FF"/>
                </a:solidFill>
                <a:ea typeface="黑体" pitchFamily="2" charset="-122"/>
                <a:sym typeface="Symbol" pitchFamily="18" charset="2"/>
              </a:rPr>
              <a:t></a:t>
            </a:r>
            <a:r>
              <a:rPr kumimoji="1" lang="en-US" altLang="zh-CN" sz="2800" b="1" dirty="0">
                <a:solidFill>
                  <a:srgbClr val="FF00FF"/>
                </a:solidFill>
                <a:sym typeface="Symbol" pitchFamily="18" charset="2"/>
              </a:rPr>
              <a:t>=R</a:t>
            </a:r>
            <a:r>
              <a:rPr kumimoji="1" lang="en-US" altLang="zh-CN" sz="2800" b="1" i="1" baseline="-30000" dirty="0">
                <a:solidFill>
                  <a:srgbClr val="FF00FF"/>
                </a:solidFill>
                <a:ea typeface="黑体" pitchFamily="2" charset="-122"/>
                <a:sym typeface="Symbol" pitchFamily="18" charset="2"/>
              </a:rPr>
              <a:t> </a:t>
            </a:r>
            <a:r>
              <a:rPr lang="en-US" altLang="zh-CN" sz="2800" b="1" dirty="0">
                <a:solidFill>
                  <a:srgbClr val="FF00FF"/>
                </a:solidFill>
              </a:rPr>
              <a:t>◦</a:t>
            </a:r>
            <a:r>
              <a:rPr kumimoji="1" lang="en-US" altLang="zh-CN" sz="2800" b="1" dirty="0">
                <a:solidFill>
                  <a:srgbClr val="FF00FF"/>
                </a:solidFill>
              </a:rPr>
              <a:t> </a:t>
            </a:r>
            <a:r>
              <a:rPr kumimoji="1" lang="en-US" altLang="zh-CN" sz="2800" b="1" dirty="0">
                <a:solidFill>
                  <a:srgbClr val="FF00FF"/>
                </a:solidFill>
                <a:cs typeface="Times New Roman" pitchFamily="18" charset="0"/>
              </a:rPr>
              <a:t>S</a:t>
            </a:r>
            <a:r>
              <a:rPr kumimoji="1" lang="en-US" altLang="zh-CN" sz="2800" b="1" i="1" baseline="-30000" dirty="0">
                <a:solidFill>
                  <a:srgbClr val="FF00FF"/>
                </a:solidFill>
                <a:ea typeface="黑体" pitchFamily="2" charset="-122"/>
                <a:sym typeface="Symbol" pitchFamily="18" charset="2"/>
              </a:rPr>
              <a:t></a:t>
            </a:r>
            <a:endParaRPr kumimoji="1" lang="en-US" altLang="zh-CN" sz="2800" b="1" dirty="0">
              <a:solidFill>
                <a:srgbClr val="FF00FF"/>
              </a:solidFill>
            </a:endParaRPr>
          </a:p>
        </p:txBody>
      </p:sp>
      <p:sp>
        <p:nvSpPr>
          <p:cNvPr id="24582" name="Rectangle 6"/>
          <p:cNvSpPr>
            <a:spLocks noChangeArrowheads="1"/>
          </p:cNvSpPr>
          <p:nvPr/>
        </p:nvSpPr>
        <p:spPr bwMode="auto">
          <a:xfrm>
            <a:off x="1127448" y="2526687"/>
            <a:ext cx="10081120"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SzPct val="80000"/>
              <a:buFont typeface="Wingdings" pitchFamily="2" charset="2"/>
              <a:buNone/>
            </a:pPr>
            <a:r>
              <a:rPr kumimoji="1" lang="zh-CN" altLang="en-US" sz="2800" b="1" dirty="0">
                <a:solidFill>
                  <a:srgbClr val="EE0006"/>
                </a:solidFill>
                <a:latin typeface="黑体" pitchFamily="2" charset="-122"/>
                <a:ea typeface="黑体" pitchFamily="2" charset="-122"/>
              </a:rPr>
              <a:t>证：</a:t>
            </a:r>
            <a:r>
              <a:rPr kumimoji="1" lang="en-US" altLang="zh-CN" sz="2800" b="1" dirty="0">
                <a:solidFill>
                  <a:srgbClr val="3333FF"/>
                </a:solidFill>
                <a:latin typeface="宋体" pitchFamily="2" charset="-122"/>
              </a:rPr>
              <a:t>(1)</a:t>
            </a:r>
            <a:r>
              <a:rPr kumimoji="1" lang="zh-CN" altLang="en-US" sz="2800" b="1" dirty="0">
                <a:solidFill>
                  <a:srgbClr val="3333FF"/>
                </a:solidFill>
                <a:latin typeface="宋体" pitchFamily="2" charset="-122"/>
              </a:rPr>
              <a:t>自反性：</a:t>
            </a:r>
          </a:p>
          <a:p>
            <a:pPr>
              <a:spcBef>
                <a:spcPct val="20000"/>
              </a:spcBef>
              <a:buClr>
                <a:schemeClr val="accent2"/>
              </a:buClr>
              <a:buSzPct val="80000"/>
              <a:buFont typeface="Wingdings" pitchFamily="2" charset="2"/>
              <a:buNone/>
            </a:pPr>
            <a:r>
              <a:rPr kumimoji="1" lang="zh-CN" altLang="en-US" sz="2800" b="1" dirty="0">
                <a:latin typeface="宋体" pitchFamily="2" charset="-122"/>
              </a:rPr>
              <a:t>        </a:t>
            </a:r>
            <a:r>
              <a:rPr kumimoji="1" lang="en-US" altLang="zh-CN" sz="2800" b="1" i="1" dirty="0">
                <a:latin typeface="Times New Roman" pitchFamily="18" charset="0"/>
              </a:rPr>
              <a:t>I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a:t>
            </a:r>
            <a:r>
              <a:rPr kumimoji="1" lang="en-US" altLang="zh-CN" sz="2800" b="1" dirty="0">
                <a:latin typeface="Times New Roman" pitchFamily="18" charset="0"/>
                <a:sym typeface="Symbol" panose="05050102010706020507" pitchFamily="18" charset="2"/>
              </a:rPr>
              <a:t></a:t>
            </a:r>
            <a:r>
              <a:rPr kumimoji="1" lang="en-US" altLang="zh-CN" sz="2800" b="1" i="1" dirty="0">
                <a:latin typeface="Times New Roman" pitchFamily="18" charset="0"/>
                <a:sym typeface="Symbol" pitchFamily="18" charset="2"/>
              </a:rPr>
              <a:t></a:t>
            </a:r>
            <a:r>
              <a:rPr kumimoji="1" lang="en-US" altLang="zh-CN" sz="2800" b="1" dirty="0">
                <a:latin typeface="Times New Roman" pitchFamily="18" charset="0"/>
              </a:rPr>
              <a:t>∈[0,1]</a:t>
            </a:r>
            <a:r>
              <a:rPr kumimoji="1" lang="zh-CN" altLang="en-US" sz="2800" b="1" dirty="0">
                <a:latin typeface="Times New Roman" pitchFamily="18" charset="0"/>
              </a:rPr>
              <a:t>，</a:t>
            </a:r>
            <a:r>
              <a:rPr kumimoji="1" lang="en-US" altLang="zh-CN" sz="2800" b="1" i="1" dirty="0">
                <a:latin typeface="Times New Roman" pitchFamily="18" charset="0"/>
              </a:rPr>
              <a:t>I</a:t>
            </a:r>
            <a:r>
              <a:rPr kumimoji="1" lang="en-US" altLang="zh-CN" sz="2800" b="1" i="1" baseline="-30000" dirty="0">
                <a:latin typeface="Times New Roman" pitchFamily="18" charset="0"/>
                <a:sym typeface="Symbol" pitchFamily="18" charset="2"/>
              </a:rPr>
              <a:t>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en-US" altLang="zh-CN" sz="2800" b="1" i="1" baseline="-30000" dirty="0">
                <a:latin typeface="Times New Roman" pitchFamily="18" charset="0"/>
              </a:rPr>
              <a:t> </a:t>
            </a:r>
          </a:p>
          <a:p>
            <a:pPr>
              <a:spcBef>
                <a:spcPct val="20000"/>
              </a:spcBef>
              <a:buClr>
                <a:schemeClr val="accent2"/>
              </a:buClr>
              <a:buSzPct val="80000"/>
              <a:buFont typeface="Wingdings" pitchFamily="2" charset="2"/>
              <a:buNone/>
            </a:pPr>
            <a:r>
              <a:rPr kumimoji="1" lang="en-US" altLang="zh-CN" sz="2800" b="1" dirty="0">
                <a:latin typeface="Times New Roman" pitchFamily="18" charset="0"/>
                <a:sym typeface="Symbol" pitchFamily="18" charset="2"/>
              </a:rPr>
              <a:t>                         </a:t>
            </a:r>
            <a:r>
              <a:rPr kumimoji="1" lang="en-US" altLang="zh-CN" sz="2800" b="1" i="1" dirty="0">
                <a:latin typeface="Times New Roman" pitchFamily="18" charset="0"/>
              </a:rPr>
              <a:t>I</a:t>
            </a:r>
            <a:r>
              <a:rPr kumimoji="1" lang="en-US" altLang="zh-CN" sz="2800" b="1" baseline="30000" dirty="0">
                <a:latin typeface="Times New Roman" pitchFamily="18" charset="0"/>
              </a:rPr>
              <a:t>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，即</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具有</a:t>
            </a:r>
            <a:r>
              <a:rPr kumimoji="1" lang="zh-CN" altLang="en-US" sz="2800" b="1" dirty="0">
                <a:latin typeface="宋体" pitchFamily="2" charset="-122"/>
              </a:rPr>
              <a:t>自反性；</a:t>
            </a:r>
          </a:p>
          <a:p>
            <a:pPr>
              <a:spcBef>
                <a:spcPct val="20000"/>
              </a:spcBef>
              <a:buClr>
                <a:schemeClr val="accent2"/>
              </a:buClr>
              <a:buSzPct val="80000"/>
              <a:buFont typeface="Wingdings" pitchFamily="2" charset="2"/>
              <a:buNone/>
            </a:pPr>
            <a:r>
              <a:rPr kumimoji="1" lang="zh-CN" altLang="en-US" sz="2800" b="1" dirty="0">
                <a:solidFill>
                  <a:srgbClr val="3333FF"/>
                </a:solidFill>
                <a:latin typeface="宋体" pitchFamily="2" charset="-122"/>
              </a:rPr>
              <a:t>    </a:t>
            </a:r>
            <a:r>
              <a:rPr kumimoji="1" lang="en-US" altLang="zh-CN" sz="2800" b="1" dirty="0">
                <a:solidFill>
                  <a:srgbClr val="3333FF"/>
                </a:solidFill>
                <a:latin typeface="宋体" pitchFamily="2" charset="-122"/>
              </a:rPr>
              <a:t>(2)</a:t>
            </a:r>
            <a:r>
              <a:rPr kumimoji="1" lang="zh-CN" altLang="en-US" sz="2800" b="1" dirty="0">
                <a:solidFill>
                  <a:srgbClr val="3333FF"/>
                </a:solidFill>
                <a:latin typeface="宋体" pitchFamily="2" charset="-122"/>
              </a:rPr>
              <a:t>对称性</a:t>
            </a:r>
            <a:r>
              <a:rPr kumimoji="1" lang="zh-CN" altLang="en-US" sz="2800" b="1" dirty="0">
                <a:solidFill>
                  <a:srgbClr val="3333FF"/>
                </a:solidFill>
                <a:latin typeface="Times New Roman" pitchFamily="18" charset="0"/>
              </a:rPr>
              <a:t>：</a:t>
            </a:r>
          </a:p>
          <a:p>
            <a:pPr>
              <a:spcBef>
                <a:spcPct val="20000"/>
              </a:spcBef>
              <a:buClr>
                <a:schemeClr val="accent2"/>
              </a:buClr>
              <a:buSzPct val="80000"/>
              <a:buFont typeface="Wingdings" pitchFamily="2" charset="2"/>
              <a:buNone/>
            </a:pPr>
            <a:r>
              <a:rPr kumimoji="1" lang="zh-CN" altLang="en-US" sz="2800" b="1" i="1" dirty="0">
                <a:latin typeface="Times New Roman" pitchFamily="18" charset="0"/>
              </a:rPr>
              <a:t>              </a:t>
            </a:r>
            <a:r>
              <a:rPr kumimoji="1" lang="en-US" altLang="zh-CN" sz="2800" b="1" i="1" dirty="0">
                <a:latin typeface="Times New Roman" pitchFamily="18" charset="0"/>
              </a:rPr>
              <a:t>R</a:t>
            </a:r>
            <a:r>
              <a:rPr kumimoji="1" lang="en-US" altLang="zh-CN" sz="2800" b="1" baseline="30000" dirty="0">
                <a:latin typeface="Times New Roman" pitchFamily="18" charset="0"/>
              </a:rPr>
              <a:t>T </a:t>
            </a:r>
            <a:r>
              <a:rPr kumimoji="1" lang="en-US" altLang="zh-CN" sz="2800" b="1" dirty="0">
                <a:latin typeface="Times New Roman" pitchFamily="18" charset="0"/>
              </a:rPr>
              <a:t>= </a:t>
            </a:r>
            <a:r>
              <a:rPr kumimoji="1" lang="en-US" altLang="zh-CN" sz="2800" b="1" i="1" dirty="0">
                <a:latin typeface="Times New Roman" pitchFamily="18" charset="0"/>
              </a:rPr>
              <a:t>R</a:t>
            </a:r>
            <a:r>
              <a:rPr kumimoji="1" lang="en-US" altLang="zh-CN" sz="2800" b="1" dirty="0">
                <a:latin typeface="Times New Roman" pitchFamily="18" charset="0"/>
              </a:rPr>
              <a:t> </a:t>
            </a:r>
            <a:r>
              <a:rPr kumimoji="1" lang="en-US" altLang="zh-CN" sz="2800" b="1" dirty="0">
                <a:latin typeface="Times New Roman" pitchFamily="18" charset="0"/>
                <a:sym typeface="Symbol" pitchFamily="18" charset="2"/>
              </a:rPr>
              <a:t> </a:t>
            </a:r>
            <a:r>
              <a:rPr kumimoji="1" lang="en-US" altLang="zh-CN" sz="2800" b="1" dirty="0">
                <a:latin typeface="Times New Roman" pitchFamily="18" charset="0"/>
              </a:rPr>
              <a:t>(</a:t>
            </a:r>
            <a:r>
              <a:rPr kumimoji="1" lang="en-US" altLang="zh-CN" sz="2800" b="1" i="1" dirty="0">
                <a:latin typeface="Times New Roman" pitchFamily="18" charset="0"/>
              </a:rPr>
              <a:t>R</a:t>
            </a:r>
            <a:r>
              <a:rPr kumimoji="1" lang="en-US" altLang="zh-CN" sz="2800" b="1" baseline="30000" dirty="0">
                <a:latin typeface="Times New Roman" pitchFamily="18" charset="0"/>
              </a:rPr>
              <a:t>T</a:t>
            </a:r>
            <a:r>
              <a:rPr kumimoji="1" lang="en-US" altLang="zh-CN" sz="2800" b="1" dirty="0">
                <a:latin typeface="Times New Roman" pitchFamily="18" charset="0"/>
              </a:rPr>
              <a:t>)</a:t>
            </a:r>
            <a:r>
              <a:rPr kumimoji="1" lang="en-US" altLang="zh-CN" sz="2800" b="1" i="1" baseline="-30000" dirty="0">
                <a:latin typeface="Times New Roman" pitchFamily="18" charset="0"/>
                <a:sym typeface="Symbol" pitchFamily="18" charset="2"/>
              </a:rPr>
              <a:t></a:t>
            </a:r>
            <a:r>
              <a:rPr kumimoji="1" lang="en-US" altLang="zh-CN" sz="2800" b="1" dirty="0">
                <a:latin typeface="Times New Roman" pitchFamily="18" charset="0"/>
              </a:rPr>
              <a:t> =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en-US" altLang="zh-CN" sz="2800" b="1" dirty="0">
                <a:latin typeface="Times New Roman" pitchFamily="18" charset="0"/>
              </a:rPr>
              <a:t> </a:t>
            </a:r>
          </a:p>
          <a:p>
            <a:pPr>
              <a:spcBef>
                <a:spcPct val="20000"/>
              </a:spcBef>
              <a:buClr>
                <a:schemeClr val="accent2"/>
              </a:buClr>
              <a:buSzPct val="80000"/>
              <a:buFont typeface="Wingdings" pitchFamily="2" charset="2"/>
              <a:buNone/>
            </a:pPr>
            <a:r>
              <a:rPr kumimoji="1" lang="en-US" altLang="zh-CN" sz="2800" b="1" dirty="0">
                <a:latin typeface="Times New Roman" pitchFamily="18" charset="0"/>
                <a:sym typeface="Symbol" pitchFamily="18" charset="2"/>
              </a:rPr>
              <a:t>                          </a:t>
            </a:r>
            <a:r>
              <a:rPr kumimoji="1" lang="en-US" altLang="zh-CN" sz="2800" b="1" dirty="0">
                <a:latin typeface="Times New Roman" pitchFamily="18" charset="0"/>
              </a:rPr>
              <a:t>(</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en-US" altLang="zh-CN" sz="2800" b="1" dirty="0">
                <a:latin typeface="Times New Roman" pitchFamily="18" charset="0"/>
              </a:rPr>
              <a:t>)</a:t>
            </a:r>
            <a:r>
              <a:rPr kumimoji="1" lang="en-US" altLang="zh-CN" sz="2800" b="1" baseline="30000" dirty="0">
                <a:latin typeface="Times New Roman" pitchFamily="18" charset="0"/>
              </a:rPr>
              <a:t>T </a:t>
            </a:r>
            <a:r>
              <a:rPr kumimoji="1" lang="en-US" altLang="zh-CN" sz="2800" b="1" dirty="0">
                <a:latin typeface="Times New Roman" pitchFamily="18" charset="0"/>
              </a:rPr>
              <a:t>=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，即</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具有</a:t>
            </a:r>
            <a:r>
              <a:rPr kumimoji="1" lang="zh-CN" altLang="en-US" sz="2800" b="1" dirty="0">
                <a:latin typeface="宋体" pitchFamily="2" charset="-122"/>
              </a:rPr>
              <a:t>对称性； </a:t>
            </a:r>
          </a:p>
          <a:p>
            <a:pPr>
              <a:spcBef>
                <a:spcPct val="20000"/>
              </a:spcBef>
              <a:buClr>
                <a:schemeClr val="accent2"/>
              </a:buClr>
              <a:buSzPct val="80000"/>
              <a:buFont typeface="Wingdings" pitchFamily="2" charset="2"/>
              <a:buNone/>
            </a:pPr>
            <a:r>
              <a:rPr kumimoji="1" lang="zh-CN" altLang="en-US" sz="2800" b="1" dirty="0">
                <a:solidFill>
                  <a:srgbClr val="3333FF"/>
                </a:solidFill>
                <a:latin typeface="宋体" pitchFamily="2" charset="-122"/>
              </a:rPr>
              <a:t>    </a:t>
            </a:r>
            <a:r>
              <a:rPr kumimoji="1" lang="en-US" altLang="zh-CN" sz="2800" b="1" dirty="0">
                <a:solidFill>
                  <a:srgbClr val="3333FF"/>
                </a:solidFill>
                <a:latin typeface="宋体" pitchFamily="2" charset="-122"/>
              </a:rPr>
              <a:t>(3)</a:t>
            </a:r>
            <a:r>
              <a:rPr kumimoji="1" lang="zh-CN" altLang="en-US" sz="2800" b="1" dirty="0">
                <a:solidFill>
                  <a:srgbClr val="3333FF"/>
                </a:solidFill>
                <a:latin typeface="宋体" pitchFamily="2" charset="-122"/>
              </a:rPr>
              <a:t>传递性</a:t>
            </a:r>
            <a:r>
              <a:rPr kumimoji="1" lang="zh-CN" altLang="en-US" sz="2800" b="1" dirty="0">
                <a:solidFill>
                  <a:srgbClr val="3333FF"/>
                </a:solidFill>
                <a:latin typeface="Times New Roman" pitchFamily="18" charset="0"/>
              </a:rPr>
              <a:t>：</a:t>
            </a:r>
          </a:p>
          <a:p>
            <a:pPr>
              <a:spcBef>
                <a:spcPct val="20000"/>
              </a:spcBef>
              <a:buClr>
                <a:schemeClr val="accent2"/>
              </a:buClr>
              <a:buSzPct val="80000"/>
              <a:buFont typeface="Wingdings" pitchFamily="2" charset="2"/>
              <a:buNone/>
            </a:pPr>
            <a:r>
              <a:rPr kumimoji="1" lang="zh-CN" altLang="en-US" sz="2800" b="1" dirty="0">
                <a:latin typeface="Times New Roman" pitchFamily="18" charset="0"/>
              </a:rPr>
              <a:t>              </a:t>
            </a:r>
            <a:r>
              <a:rPr kumimoji="1" lang="en-US" altLang="zh-CN" sz="2800" b="1" i="1" dirty="0">
                <a:latin typeface="Times New Roman" pitchFamily="18" charset="0"/>
              </a:rPr>
              <a:t>R</a:t>
            </a:r>
            <a:r>
              <a:rPr kumimoji="1" lang="en-US" altLang="zh-CN" sz="2800" b="1" baseline="30000" dirty="0">
                <a:latin typeface="Times New Roman" pitchFamily="18" charset="0"/>
              </a:rPr>
              <a:t>2</a:t>
            </a:r>
            <a:r>
              <a:rPr kumimoji="1" lang="en-US" altLang="zh-CN" sz="2800" b="1" i="1" dirty="0">
                <a:latin typeface="Times New Roman" pitchFamily="18" charset="0"/>
              </a:rPr>
              <a:t>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 </a:t>
            </a:r>
            <a:r>
              <a:rPr kumimoji="1" lang="en-US" altLang="zh-CN" sz="2800" b="1" dirty="0">
                <a:latin typeface="Times New Roman" pitchFamily="18" charset="0"/>
                <a:sym typeface="Symbol" pitchFamily="18" charset="2"/>
              </a:rPr>
              <a:t> </a:t>
            </a:r>
            <a:r>
              <a:rPr kumimoji="1" lang="en-US" altLang="zh-CN" sz="2800" b="1" dirty="0">
                <a:latin typeface="Times New Roman" pitchFamily="18" charset="0"/>
              </a:rPr>
              <a:t>(</a:t>
            </a:r>
            <a:r>
              <a:rPr kumimoji="1" lang="en-US" altLang="zh-CN" sz="2800" b="1" i="1" dirty="0">
                <a:latin typeface="Times New Roman" pitchFamily="18" charset="0"/>
              </a:rPr>
              <a:t>R</a:t>
            </a:r>
            <a:r>
              <a:rPr lang="en-US" altLang="zh-CN" sz="2800" b="1" dirty="0">
                <a:ea typeface="黑体" pitchFamily="2" charset="-122"/>
              </a:rPr>
              <a:t>◦</a:t>
            </a:r>
            <a:r>
              <a:rPr kumimoji="1" lang="en-US" altLang="zh-CN" sz="2800" b="1" i="1" dirty="0">
                <a:latin typeface="Times New Roman" pitchFamily="18" charset="0"/>
              </a:rPr>
              <a:t>R</a:t>
            </a:r>
            <a:r>
              <a:rPr kumimoji="1" lang="en-US" altLang="zh-CN" sz="2800" b="1" dirty="0">
                <a:latin typeface="Times New Roman" pitchFamily="18" charset="0"/>
              </a:rPr>
              <a:t>)</a:t>
            </a:r>
            <a:r>
              <a:rPr kumimoji="1" lang="en-US" altLang="zh-CN" sz="2800" b="1" i="1" baseline="-30000" dirty="0">
                <a:latin typeface="Times New Roman" pitchFamily="18" charset="0"/>
                <a:sym typeface="Symbol" pitchFamily="18" charset="2"/>
              </a:rPr>
              <a:t> </a:t>
            </a:r>
            <a:r>
              <a:rPr kumimoji="1" lang="en-US" altLang="zh-CN" sz="2800" b="1" i="1" dirty="0">
                <a:latin typeface="Times New Roman" pitchFamily="18" charset="0"/>
              </a:rPr>
              <a:t>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en-US" altLang="zh-CN" sz="2800" b="1" i="1" dirty="0">
                <a:latin typeface="Times New Roman" pitchFamily="18" charset="0"/>
              </a:rPr>
              <a:t> </a:t>
            </a:r>
            <a:r>
              <a:rPr kumimoji="1" lang="en-US" altLang="zh-CN" sz="2800" b="1" dirty="0">
                <a:latin typeface="Times New Roman" pitchFamily="18" charset="0"/>
                <a:sym typeface="Symbol" panose="05050102010706020507" pitchFamily="18" charset="2"/>
              </a:rPr>
              <a:t> </a:t>
            </a:r>
            <a:r>
              <a:rPr kumimoji="1" lang="en-US" altLang="zh-CN" sz="2800" b="1" dirty="0">
                <a:latin typeface="Times New Roman" pitchFamily="18" charset="0"/>
              </a:rPr>
              <a:t>(</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en-US" altLang="zh-CN" sz="2800" b="1" dirty="0">
                <a:latin typeface="Times New Roman" pitchFamily="18" charset="0"/>
              </a:rPr>
              <a:t>)</a:t>
            </a:r>
            <a:r>
              <a:rPr kumimoji="1" lang="en-US" altLang="zh-CN" sz="2800" b="1" baseline="30000" dirty="0">
                <a:latin typeface="Times New Roman" pitchFamily="18" charset="0"/>
              </a:rPr>
              <a:t>2 </a:t>
            </a:r>
            <a:r>
              <a:rPr kumimoji="1" lang="en-US" altLang="zh-CN" sz="2800" b="1" dirty="0">
                <a:solidFill>
                  <a:schemeClr val="bg2"/>
                </a:solidFill>
                <a:sym typeface="Symbol" pitchFamily="18" charset="2"/>
              </a:rPr>
              <a:t></a:t>
            </a:r>
            <a:r>
              <a:rPr kumimoji="1" lang="en-US" altLang="zh-CN" sz="2800" dirty="0"/>
              <a:t> </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，即</a:t>
            </a:r>
            <a:r>
              <a:rPr kumimoji="1" lang="en-US" altLang="zh-CN" sz="2800" b="1" i="1" dirty="0">
                <a:latin typeface="Times New Roman" pitchFamily="18" charset="0"/>
              </a:rPr>
              <a:t>R</a:t>
            </a:r>
            <a:r>
              <a:rPr kumimoji="1" lang="en-US" altLang="zh-CN" sz="2800" b="1" i="1" baseline="-30000" dirty="0">
                <a:latin typeface="Times New Roman" pitchFamily="18" charset="0"/>
                <a:sym typeface="Symbol" pitchFamily="18" charset="2"/>
              </a:rPr>
              <a:t></a:t>
            </a:r>
            <a:r>
              <a:rPr kumimoji="1" lang="zh-CN" altLang="en-US" sz="2800" b="1" dirty="0">
                <a:latin typeface="Times New Roman" pitchFamily="18" charset="0"/>
              </a:rPr>
              <a:t>具有</a:t>
            </a:r>
            <a:r>
              <a:rPr kumimoji="1" lang="zh-CN" altLang="en-US" sz="2800" b="1" dirty="0">
                <a:latin typeface="宋体" pitchFamily="2" charset="-122"/>
              </a:rPr>
              <a:t>传递性</a:t>
            </a:r>
            <a:r>
              <a:rPr kumimoji="1" lang="en-US" altLang="zh-CN" sz="2800" b="1" dirty="0">
                <a:latin typeface="宋体" pitchFamily="2" charset="-122"/>
              </a:rPr>
              <a:t>.</a:t>
            </a:r>
          </a:p>
        </p:txBody>
      </p:sp>
      <p:sp>
        <p:nvSpPr>
          <p:cNvPr id="24583" name="Rectangle 7"/>
          <p:cNvSpPr>
            <a:spLocks noChangeArrowheads="1"/>
          </p:cNvSpPr>
          <p:nvPr/>
        </p:nvSpPr>
        <p:spPr bwMode="auto">
          <a:xfrm>
            <a:off x="8256240" y="1916832"/>
            <a:ext cx="3914601" cy="4184351"/>
          </a:xfrm>
          <a:prstGeom prst="rect">
            <a:avLst/>
          </a:prstGeom>
          <a:solidFill>
            <a:schemeClr val="bg2">
              <a:lumMod val="20000"/>
              <a:lumOff val="80000"/>
            </a:schemeClr>
          </a:solidFill>
          <a:ln>
            <a:noFill/>
          </a:ln>
          <a:effectLst/>
        </p:spPr>
        <p:txBody>
          <a:bodyPr wrap="square">
            <a:spAutoFit/>
          </a:bodyPr>
          <a:lstStyle/>
          <a:p>
            <a:pPr>
              <a:lnSpc>
                <a:spcPct val="120000"/>
              </a:lnSpc>
            </a:pPr>
            <a:r>
              <a:rPr kumimoji="1" lang="en-US" altLang="zh-CN" sz="2800" b="1" dirty="0">
                <a:solidFill>
                  <a:srgbClr val="CC00FF"/>
                </a:solidFill>
                <a:ea typeface="楷体_GB2312" pitchFamily="49" charset="-122"/>
              </a:rPr>
              <a:t>[</a:t>
            </a:r>
            <a:r>
              <a:rPr kumimoji="1" lang="zh-CN" altLang="en-US" sz="2800" b="1" dirty="0">
                <a:solidFill>
                  <a:srgbClr val="CC00FF"/>
                </a:solidFill>
                <a:ea typeface="楷体_GB2312" pitchFamily="49" charset="-122"/>
              </a:rPr>
              <a:t>说明</a:t>
            </a:r>
            <a:r>
              <a:rPr kumimoji="1" lang="en-US" altLang="zh-CN" sz="2800" b="1" dirty="0">
                <a:solidFill>
                  <a:srgbClr val="CC00FF"/>
                </a:solidFill>
                <a:ea typeface="楷体_GB2312" pitchFamily="49" charset="-122"/>
              </a:rPr>
              <a:t>] </a:t>
            </a:r>
          </a:p>
          <a:p>
            <a:pPr marL="457200" indent="-457200">
              <a:lnSpc>
                <a:spcPct val="120000"/>
              </a:lnSpc>
              <a:buFont typeface="Arial" panose="020B0604020202020204" pitchFamily="34" charset="0"/>
              <a:buChar char="•"/>
            </a:pPr>
            <a:r>
              <a:rPr kumimoji="1" lang="zh-CN" altLang="en-US" sz="2800" b="1" dirty="0">
                <a:ea typeface="楷体_GB2312" pitchFamily="49" charset="-122"/>
              </a:rPr>
              <a:t>一个</a:t>
            </a:r>
            <a:r>
              <a:rPr kumimoji="1" lang="en-US" altLang="zh-CN" sz="2800" b="1" dirty="0">
                <a:ea typeface="楷体_GB2312" pitchFamily="49" charset="-122"/>
              </a:rPr>
              <a:t>F</a:t>
            </a:r>
            <a:r>
              <a:rPr kumimoji="1" lang="zh-CN" altLang="en-US" sz="2800" b="1" dirty="0">
                <a:ea typeface="楷体_GB2312" pitchFamily="49" charset="-122"/>
              </a:rPr>
              <a:t>矩阵可能化为</a:t>
            </a:r>
            <a:r>
              <a:rPr kumimoji="1" lang="en-US" altLang="zh-CN" sz="2800" b="1" i="1" dirty="0">
                <a:ea typeface="楷体_GB2312" pitchFamily="49" charset="-122"/>
              </a:rPr>
              <a:t>R</a:t>
            </a:r>
            <a:r>
              <a:rPr kumimoji="1" lang="en-US" altLang="zh-CN" sz="2800" b="1" i="1" baseline="-25000" dirty="0">
                <a:ea typeface="楷体_GB2312" pitchFamily="49" charset="-122"/>
                <a:sym typeface="Symbol" pitchFamily="18" charset="2"/>
              </a:rPr>
              <a:t></a:t>
            </a:r>
            <a:r>
              <a:rPr kumimoji="1" lang="zh-CN" altLang="en-US" sz="2800" b="1" dirty="0">
                <a:ea typeface="楷体_GB2312" pitchFamily="49" charset="-122"/>
                <a:sym typeface="Symbol" pitchFamily="18" charset="2"/>
              </a:rPr>
              <a:t>矩阵（普通等价矩阵），</a:t>
            </a:r>
            <a:endParaRPr kumimoji="1" lang="en-US" altLang="zh-CN" sz="2800" b="1" dirty="0">
              <a:ea typeface="楷体_GB2312" pitchFamily="49" charset="-122"/>
              <a:sym typeface="Symbol" pitchFamily="18" charset="2"/>
            </a:endParaRPr>
          </a:p>
          <a:p>
            <a:pPr marL="457200" indent="-457200">
              <a:lnSpc>
                <a:spcPct val="120000"/>
              </a:lnSpc>
              <a:buFont typeface="Arial" panose="020B0604020202020204" pitchFamily="34" charset="0"/>
              <a:buChar char="•"/>
            </a:pPr>
            <a:r>
              <a:rPr kumimoji="1" lang="zh-CN" altLang="en-US" sz="2800" b="1" dirty="0">
                <a:ea typeface="楷体_GB2312" pitchFamily="49" charset="-122"/>
                <a:sym typeface="Symbol" pitchFamily="18" charset="2"/>
              </a:rPr>
              <a:t>随着</a:t>
            </a:r>
            <a:r>
              <a:rPr kumimoji="1" lang="zh-CN" altLang="en-US" sz="2800" b="1" i="1" dirty="0">
                <a:ea typeface="楷体_GB2312" pitchFamily="49" charset="-122"/>
                <a:sym typeface="Symbol" pitchFamily="18" charset="2"/>
              </a:rPr>
              <a:t></a:t>
            </a:r>
            <a:r>
              <a:rPr kumimoji="1" lang="zh-CN" altLang="en-US" sz="2800" b="1" dirty="0">
                <a:ea typeface="楷体_GB2312" pitchFamily="49" charset="-122"/>
              </a:rPr>
              <a:t>取不同的值，得到不同的</a:t>
            </a:r>
            <a:r>
              <a:rPr kumimoji="1" lang="en-US" altLang="zh-CN" sz="2800" b="1" i="1" dirty="0">
                <a:ea typeface="楷体_GB2312" pitchFamily="49" charset="-122"/>
              </a:rPr>
              <a:t>R</a:t>
            </a:r>
            <a:r>
              <a:rPr kumimoji="1" lang="en-US" altLang="zh-CN" sz="2800" b="1" i="1" baseline="-25000" dirty="0">
                <a:ea typeface="楷体_GB2312" pitchFamily="49" charset="-122"/>
                <a:sym typeface="Symbol" pitchFamily="18" charset="2"/>
              </a:rPr>
              <a:t> </a:t>
            </a:r>
            <a:r>
              <a:rPr kumimoji="1" lang="zh-CN" altLang="en-US" sz="2800" b="1" dirty="0">
                <a:ea typeface="楷体_GB2312" pitchFamily="49" charset="-122"/>
              </a:rPr>
              <a:t>，从而可将</a:t>
            </a:r>
            <a:r>
              <a:rPr kumimoji="1" lang="en-US" altLang="zh-CN" sz="2800" b="1" dirty="0">
                <a:ea typeface="楷体_GB2312" pitchFamily="49" charset="-122"/>
              </a:rPr>
              <a:t>U</a:t>
            </a:r>
            <a:r>
              <a:rPr kumimoji="1" lang="zh-CN" altLang="en-US" sz="2800" b="1" dirty="0">
                <a:ea typeface="楷体_GB2312" pitchFamily="49" charset="-122"/>
              </a:rPr>
              <a:t>划分成不同的类。</a:t>
            </a:r>
          </a:p>
        </p:txBody>
      </p:sp>
      <p:sp>
        <p:nvSpPr>
          <p:cNvPr id="2" name="矩形 1"/>
          <p:cNvSpPr/>
          <p:nvPr/>
        </p:nvSpPr>
        <p:spPr>
          <a:xfrm>
            <a:off x="5519937" y="3101129"/>
            <a:ext cx="1339850" cy="4286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7"/>
          <p:cNvSpPr/>
          <p:nvPr/>
        </p:nvSpPr>
        <p:spPr>
          <a:xfrm>
            <a:off x="3935760" y="4656559"/>
            <a:ext cx="1800200" cy="4286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矩形 8"/>
          <p:cNvSpPr/>
          <p:nvPr/>
        </p:nvSpPr>
        <p:spPr>
          <a:xfrm>
            <a:off x="4007768" y="6168727"/>
            <a:ext cx="2016125" cy="4286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矩形 9"/>
          <p:cNvSpPr/>
          <p:nvPr/>
        </p:nvSpPr>
        <p:spPr>
          <a:xfrm>
            <a:off x="6023992" y="6168727"/>
            <a:ext cx="5040560" cy="4286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灯片编号占位符 2">
            <a:extLst>
              <a:ext uri="{FF2B5EF4-FFF2-40B4-BE49-F238E27FC236}">
                <a16:creationId xmlns:a16="http://schemas.microsoft.com/office/drawing/2014/main" id="{CDBAC6D5-A609-B603-08FB-51BF0932E163}"/>
              </a:ext>
            </a:extLst>
          </p:cNvPr>
          <p:cNvSpPr>
            <a:spLocks noGrp="1"/>
          </p:cNvSpPr>
          <p:nvPr>
            <p:ph type="sldNum" sz="quarter" idx="11"/>
          </p:nvPr>
        </p:nvSpPr>
        <p:spPr>
          <a:xfrm>
            <a:off x="10920536" y="6248400"/>
            <a:ext cx="661864" cy="457200"/>
          </a:xfrm>
        </p:spPr>
        <p:txBody>
          <a:bodyPr/>
          <a:lstStyle/>
          <a:p>
            <a:pPr>
              <a:defRPr/>
            </a:pPr>
            <a:fld id="{F13753BC-CAEF-4333-AC48-2805658F6E3F}" type="slidenum">
              <a:rPr lang="en-US" altLang="zh-CN" smtClean="0"/>
              <a:pPr>
                <a:defRPr/>
              </a:pPr>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Effect transition="in" filter="wipe(left)">
                                      <p:cBhvr>
                                        <p:cTn id="7" dur="500"/>
                                        <p:tgtEl>
                                          <p:spTgt spid="2458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580">
                                            <p:txEl>
                                              <p:pRg st="1" end="1"/>
                                            </p:txEl>
                                          </p:spTgt>
                                        </p:tgtEl>
                                        <p:attrNameLst>
                                          <p:attrName>style.visibility</p:attrName>
                                        </p:attrNameLst>
                                      </p:cBhvr>
                                      <p:to>
                                        <p:strVal val="visible"/>
                                      </p:to>
                                    </p:set>
                                    <p:animEffect transition="in" filter="wipe(left)">
                                      <p:cBhvr>
                                        <p:cTn id="11" dur="500"/>
                                        <p:tgtEl>
                                          <p:spTgt spid="24580">
                                            <p:txEl>
                                              <p:pRg st="1" end="1"/>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582">
                                            <p:txEl>
                                              <p:pRg st="0" end="0"/>
                                            </p:txEl>
                                          </p:spTgt>
                                        </p:tgtEl>
                                        <p:attrNameLst>
                                          <p:attrName>style.visibility</p:attrName>
                                        </p:attrNameLst>
                                      </p:cBhvr>
                                      <p:to>
                                        <p:strVal val="visible"/>
                                      </p:to>
                                    </p:set>
                                    <p:animEffect transition="in" filter="wipe(left)">
                                      <p:cBhvr>
                                        <p:cTn id="16" dur="500"/>
                                        <p:tgtEl>
                                          <p:spTgt spid="24582">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4" name="type.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4582">
                                            <p:txEl>
                                              <p:pRg st="1" end="1"/>
                                            </p:txEl>
                                          </p:spTgt>
                                        </p:tgtEl>
                                        <p:attrNameLst>
                                          <p:attrName>style.visibility</p:attrName>
                                        </p:attrNameLst>
                                      </p:cBhvr>
                                      <p:to>
                                        <p:strVal val="visible"/>
                                      </p:to>
                                    </p:set>
                                    <p:animEffect transition="in" filter="wipe(left)">
                                      <p:cBhvr>
                                        <p:cTn id="21" dur="500"/>
                                        <p:tgtEl>
                                          <p:spTgt spid="24582">
                                            <p:txEl>
                                              <p:pRg st="1" end="1"/>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4" name="type.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24581">
                                            <p:txEl>
                                              <p:pRg st="0" end="0"/>
                                            </p:txEl>
                                          </p:spTgt>
                                        </p:tgtEl>
                                        <p:attrNameLst>
                                          <p:attrName>style.visibility</p:attrName>
                                        </p:attrNameLst>
                                      </p:cBhvr>
                                      <p:to>
                                        <p:strVal val="visible"/>
                                      </p:to>
                                    </p:set>
                                    <p:anim calcmode="lin" valueType="num">
                                      <p:cBhvr additive="base">
                                        <p:cTn id="26" dur="500" fill="hold"/>
                                        <p:tgtEl>
                                          <p:spTgt spid="24581">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2458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5" name="projctor.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24581">
                                            <p:txEl>
                                              <p:pRg st="1" end="1"/>
                                            </p:txEl>
                                          </p:spTgt>
                                        </p:tgtEl>
                                        <p:attrNameLst>
                                          <p:attrName>style.visibility</p:attrName>
                                        </p:attrNameLst>
                                      </p:cBhvr>
                                      <p:to>
                                        <p:strVal val="visible"/>
                                      </p:to>
                                    </p:set>
                                    <p:anim calcmode="lin" valueType="num">
                                      <p:cBhvr additive="base">
                                        <p:cTn id="32" dur="500" fill="hold"/>
                                        <p:tgtEl>
                                          <p:spTgt spid="24581">
                                            <p:txEl>
                                              <p:pRg st="1" end="1"/>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2458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5" name="projctor.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xit" presetSubtype="8" fill="hold" grpId="0" nodeType="clickEffect">
                                  <p:stCondLst>
                                    <p:cond delay="0"/>
                                  </p:stCondLst>
                                  <p:childTnLst>
                                    <p:animEffect transition="out" filter="wipe(left)">
                                      <p:cBhvr>
                                        <p:cTn id="37" dur="500"/>
                                        <p:tgtEl>
                                          <p:spTgt spid="2"/>
                                        </p:tgtEl>
                                      </p:cBhvr>
                                    </p:animEffect>
                                    <p:set>
                                      <p:cBhvr>
                                        <p:cTn id="38" dur="1" fill="hold">
                                          <p:stCondLst>
                                            <p:cond delay="499"/>
                                          </p:stCondLst>
                                        </p:cTn>
                                        <p:tgtEl>
                                          <p:spTgt spid="2"/>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582">
                                            <p:txEl>
                                              <p:pRg st="2" end="2"/>
                                            </p:txEl>
                                          </p:spTgt>
                                        </p:tgtEl>
                                        <p:attrNameLst>
                                          <p:attrName>style.visibility</p:attrName>
                                        </p:attrNameLst>
                                      </p:cBhvr>
                                      <p:to>
                                        <p:strVal val="visible"/>
                                      </p:to>
                                    </p:set>
                                    <p:animEffect transition="in" filter="wipe(left)">
                                      <p:cBhvr>
                                        <p:cTn id="43" dur="500"/>
                                        <p:tgtEl>
                                          <p:spTgt spid="24582">
                                            <p:txEl>
                                              <p:pRg st="2" end="2"/>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4" name="type.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4582">
                                            <p:txEl>
                                              <p:pRg st="3" end="3"/>
                                            </p:txEl>
                                          </p:spTgt>
                                        </p:tgtEl>
                                        <p:attrNameLst>
                                          <p:attrName>style.visibility</p:attrName>
                                        </p:attrNameLst>
                                      </p:cBhvr>
                                      <p:to>
                                        <p:strVal val="visible"/>
                                      </p:to>
                                    </p:set>
                                    <p:animEffect transition="in" filter="wipe(left)">
                                      <p:cBhvr>
                                        <p:cTn id="48" dur="500"/>
                                        <p:tgtEl>
                                          <p:spTgt spid="24582">
                                            <p:txEl>
                                              <p:pRg st="3" end="3"/>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4" name="type.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4582">
                                            <p:txEl>
                                              <p:pRg st="4" end="4"/>
                                            </p:txEl>
                                          </p:spTgt>
                                        </p:tgtEl>
                                        <p:attrNameLst>
                                          <p:attrName>style.visibility</p:attrName>
                                        </p:attrNameLst>
                                      </p:cBhvr>
                                      <p:to>
                                        <p:strVal val="visible"/>
                                      </p:to>
                                    </p:set>
                                    <p:animEffect transition="in" filter="wipe(left)">
                                      <p:cBhvr>
                                        <p:cTn id="53" dur="500"/>
                                        <p:tgtEl>
                                          <p:spTgt spid="24582">
                                            <p:txEl>
                                              <p:pRg st="4" end="4"/>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4" name="type.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xit" presetSubtype="8" fill="hold" grpId="0" nodeType="clickEffect">
                                  <p:stCondLst>
                                    <p:cond delay="0"/>
                                  </p:stCondLst>
                                  <p:childTnLst>
                                    <p:animEffect transition="out" filter="wipe(left)">
                                      <p:cBhvr>
                                        <p:cTn id="57" dur="500"/>
                                        <p:tgtEl>
                                          <p:spTgt spid="8"/>
                                        </p:tgtEl>
                                      </p:cBhvr>
                                    </p:animEffect>
                                    <p:set>
                                      <p:cBhvr>
                                        <p:cTn id="58" dur="1" fill="hold">
                                          <p:stCondLst>
                                            <p:cond delay="499"/>
                                          </p:stCondLst>
                                        </p:cTn>
                                        <p:tgtEl>
                                          <p:spTgt spid="8"/>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24581">
                                            <p:txEl>
                                              <p:pRg st="2" end="2"/>
                                            </p:txEl>
                                          </p:spTgt>
                                        </p:tgtEl>
                                        <p:attrNameLst>
                                          <p:attrName>style.visibility</p:attrName>
                                        </p:attrNameLst>
                                      </p:cBhvr>
                                      <p:to>
                                        <p:strVal val="visible"/>
                                      </p:to>
                                    </p:set>
                                    <p:anim calcmode="lin" valueType="num">
                                      <p:cBhvr additive="base">
                                        <p:cTn id="63" dur="500" fill="hold"/>
                                        <p:tgtEl>
                                          <p:spTgt spid="24581">
                                            <p:txEl>
                                              <p:pRg st="2" end="2"/>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458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5" name="projctor.wav"/>
                                        </p:tgtEl>
                                      </p:cMediaNode>
                                    </p:audio>
                                  </p:sub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4582">
                                            <p:txEl>
                                              <p:pRg st="5" end="5"/>
                                            </p:txEl>
                                          </p:spTgt>
                                        </p:tgtEl>
                                        <p:attrNameLst>
                                          <p:attrName>style.visibility</p:attrName>
                                        </p:attrNameLst>
                                      </p:cBhvr>
                                      <p:to>
                                        <p:strVal val="visible"/>
                                      </p:to>
                                    </p:set>
                                    <p:animEffect transition="in" filter="wipe(left)">
                                      <p:cBhvr>
                                        <p:cTn id="69" dur="500"/>
                                        <p:tgtEl>
                                          <p:spTgt spid="24582">
                                            <p:txEl>
                                              <p:pRg st="5" end="5"/>
                                            </p:txEl>
                                          </p:spTgt>
                                        </p:tgtEl>
                                      </p:cBhvr>
                                    </p:animEffect>
                                  </p:childTnLst>
                                  <p:subTnLst>
                                    <p:audio>
                                      <p:cMediaNode>
                                        <p:cTn display="0" masterRel="sameClick">
                                          <p:stCondLst>
                                            <p:cond evt="begin" delay="0">
                                              <p:tn val="67"/>
                                            </p:cond>
                                          </p:stCondLst>
                                          <p:endCondLst>
                                            <p:cond evt="onStopAudio" delay="0">
                                              <p:tgtEl>
                                                <p:sldTgt/>
                                              </p:tgtEl>
                                            </p:cond>
                                          </p:endCondLst>
                                        </p:cTn>
                                        <p:tgtEl>
                                          <p:sndTgt r:embed="rId4" name="type.wav"/>
                                        </p:tgtEl>
                                      </p:cMediaNode>
                                    </p:audio>
                                  </p:sub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4582">
                                            <p:txEl>
                                              <p:pRg st="6" end="6"/>
                                            </p:txEl>
                                          </p:spTgt>
                                        </p:tgtEl>
                                        <p:attrNameLst>
                                          <p:attrName>style.visibility</p:attrName>
                                        </p:attrNameLst>
                                      </p:cBhvr>
                                      <p:to>
                                        <p:strVal val="visible"/>
                                      </p:to>
                                    </p:set>
                                    <p:animEffect transition="in" filter="wipe(left)">
                                      <p:cBhvr>
                                        <p:cTn id="74" dur="500"/>
                                        <p:tgtEl>
                                          <p:spTgt spid="24582">
                                            <p:txEl>
                                              <p:pRg st="6" end="6"/>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4" name="type.wav"/>
                                        </p:tgtEl>
                                      </p:cMediaNode>
                                    </p:audio>
                                  </p:sub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4582">
                                            <p:txEl>
                                              <p:pRg st="7" end="7"/>
                                            </p:txEl>
                                          </p:spTgt>
                                        </p:tgtEl>
                                        <p:attrNameLst>
                                          <p:attrName>style.visibility</p:attrName>
                                        </p:attrNameLst>
                                      </p:cBhvr>
                                      <p:to>
                                        <p:strVal val="visible"/>
                                      </p:to>
                                    </p:set>
                                    <p:animEffect transition="in" filter="wipe(left)">
                                      <p:cBhvr>
                                        <p:cTn id="79" dur="500"/>
                                        <p:tgtEl>
                                          <p:spTgt spid="24582">
                                            <p:txEl>
                                              <p:pRg st="7" end="7"/>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4" name="type.wav"/>
                                        </p:tgtEl>
                                      </p:cMediaNode>
                                    </p:audio>
                                  </p:sub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ntr" presetSubtype="2" fill="hold" grpId="0" nodeType="clickEffect">
                                  <p:stCondLst>
                                    <p:cond delay="0"/>
                                  </p:stCondLst>
                                  <p:childTnLst>
                                    <p:set>
                                      <p:cBhvr>
                                        <p:cTn id="83" dur="1" fill="hold">
                                          <p:stCondLst>
                                            <p:cond delay="0"/>
                                          </p:stCondLst>
                                        </p:cTn>
                                        <p:tgtEl>
                                          <p:spTgt spid="24581">
                                            <p:txEl>
                                              <p:pRg st="3" end="3"/>
                                            </p:txEl>
                                          </p:spTgt>
                                        </p:tgtEl>
                                        <p:attrNameLst>
                                          <p:attrName>style.visibility</p:attrName>
                                        </p:attrNameLst>
                                      </p:cBhvr>
                                      <p:to>
                                        <p:strVal val="visible"/>
                                      </p:to>
                                    </p:set>
                                    <p:anim calcmode="lin" valueType="num">
                                      <p:cBhvr additive="base">
                                        <p:cTn id="84" dur="500" fill="hold"/>
                                        <p:tgtEl>
                                          <p:spTgt spid="24581">
                                            <p:txEl>
                                              <p:pRg st="3" end="3"/>
                                            </p:txEl>
                                          </p:spTgt>
                                        </p:tgtEl>
                                        <p:attrNameLst>
                                          <p:attrName>ppt_x</p:attrName>
                                        </p:attrNameLst>
                                      </p:cBhvr>
                                      <p:tavLst>
                                        <p:tav tm="0">
                                          <p:val>
                                            <p:strVal val="1+#ppt_w/2"/>
                                          </p:val>
                                        </p:tav>
                                        <p:tav tm="100000">
                                          <p:val>
                                            <p:strVal val="#ppt_x"/>
                                          </p:val>
                                        </p:tav>
                                      </p:tavLst>
                                    </p:anim>
                                    <p:anim calcmode="lin" valueType="num">
                                      <p:cBhvr additive="base">
                                        <p:cTn id="85" dur="500" fill="hold"/>
                                        <p:tgtEl>
                                          <p:spTgt spid="2458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5" name="projctor.wav"/>
                                        </p:tgtEl>
                                      </p:cMediaNode>
                                    </p:audio>
                                  </p:sub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xit" presetSubtype="8" fill="hold" grpId="0" nodeType="clickEffect">
                                  <p:stCondLst>
                                    <p:cond delay="0"/>
                                  </p:stCondLst>
                                  <p:childTnLst>
                                    <p:animEffect transition="out" filter="wipe(left)">
                                      <p:cBhvr>
                                        <p:cTn id="89" dur="500"/>
                                        <p:tgtEl>
                                          <p:spTgt spid="9"/>
                                        </p:tgtEl>
                                      </p:cBhvr>
                                    </p:animEffect>
                                    <p:set>
                                      <p:cBhvr>
                                        <p:cTn id="90" dur="1" fill="hold">
                                          <p:stCondLst>
                                            <p:cond delay="499"/>
                                          </p:stCondLst>
                                        </p:cTn>
                                        <p:tgtEl>
                                          <p:spTgt spid="9"/>
                                        </p:tgtEl>
                                        <p:attrNameLst>
                                          <p:attrName>style.visibility</p:attrName>
                                        </p:attrNameLst>
                                      </p:cBhvr>
                                      <p:to>
                                        <p:strVal val="hidden"/>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xit" presetSubtype="8" fill="hold" grpId="0" nodeType="clickEffect">
                                  <p:stCondLst>
                                    <p:cond delay="0"/>
                                  </p:stCondLst>
                                  <p:childTnLst>
                                    <p:animEffect transition="out" filter="wipe(left)">
                                      <p:cBhvr>
                                        <p:cTn id="94" dur="500"/>
                                        <p:tgtEl>
                                          <p:spTgt spid="10"/>
                                        </p:tgtEl>
                                      </p:cBhvr>
                                    </p:animEffect>
                                    <p:set>
                                      <p:cBhvr>
                                        <p:cTn id="95" dur="1" fill="hold">
                                          <p:stCondLst>
                                            <p:cond delay="499"/>
                                          </p:stCondLst>
                                        </p:cTn>
                                        <p:tgtEl>
                                          <p:spTgt spid="10"/>
                                        </p:tgtEl>
                                        <p:attrNameLst>
                                          <p:attrName>style.visibility</p:attrName>
                                        </p:attrNameLst>
                                      </p:cBhvr>
                                      <p:to>
                                        <p:strVal val="hidden"/>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24583"/>
                                        </p:tgtEl>
                                        <p:attrNameLst>
                                          <p:attrName>style.visibility</p:attrName>
                                        </p:attrNameLst>
                                      </p:cBhvr>
                                      <p:to>
                                        <p:strVal val="visible"/>
                                      </p:to>
                                    </p:set>
                                    <p:anim calcmode="lin" valueType="num">
                                      <p:cBhvr additive="base">
                                        <p:cTn id="100" dur="500" fill="hold"/>
                                        <p:tgtEl>
                                          <p:spTgt spid="24583"/>
                                        </p:tgtEl>
                                        <p:attrNameLst>
                                          <p:attrName>ppt_x</p:attrName>
                                        </p:attrNameLst>
                                      </p:cBhvr>
                                      <p:tavLst>
                                        <p:tav tm="0">
                                          <p:val>
                                            <p:strVal val="#ppt_x"/>
                                          </p:val>
                                        </p:tav>
                                        <p:tav tm="100000">
                                          <p:val>
                                            <p:strVal val="#ppt_x"/>
                                          </p:val>
                                        </p:tav>
                                      </p:tavLst>
                                    </p:anim>
                                    <p:anim calcmode="lin" valueType="num">
                                      <p:cBhvr additive="base">
                                        <p:cTn id="101" dur="500" fill="hold"/>
                                        <p:tgtEl>
                                          <p:spTgt spid="24583"/>
                                        </p:tgtEl>
                                        <p:attrNameLst>
                                          <p:attrName>ppt_y</p:attrName>
                                        </p:attrNameLst>
                                      </p:cBhvr>
                                      <p:tavLst>
                                        <p:tav tm="0">
                                          <p:val>
                                            <p:strVal val="1+#ppt_h/2"/>
                                          </p:val>
                                        </p:tav>
                                        <p:tav tm="100000">
                                          <p:val>
                                            <p:strVal val="#ppt_y"/>
                                          </p:val>
                                        </p:tav>
                                      </p:tavLst>
                                    </p:anim>
                                  </p:childTnLst>
                                </p:cTn>
                              </p:par>
                              <p:par>
                                <p:cTn id="102" presetID="10" presetClass="entr" presetSubtype="0" fill="hold" nodeType="withEffect">
                                  <p:stCondLst>
                                    <p:cond delay="0"/>
                                  </p:stCondLst>
                                  <p:childTnLst>
                                    <p:set>
                                      <p:cBhvr>
                                        <p:cTn id="103" dur="1" fill="hold">
                                          <p:stCondLst>
                                            <p:cond delay="0"/>
                                          </p:stCondLst>
                                        </p:cTn>
                                        <p:tgtEl>
                                          <p:spTgt spid="24583">
                                            <p:txEl>
                                              <p:pRg st="0" end="0"/>
                                            </p:txEl>
                                          </p:spTgt>
                                        </p:tgtEl>
                                        <p:attrNameLst>
                                          <p:attrName>style.visibility</p:attrName>
                                        </p:attrNameLst>
                                      </p:cBhvr>
                                      <p:to>
                                        <p:strVal val="visible"/>
                                      </p:to>
                                    </p:set>
                                    <p:animEffect transition="in" filter="fade">
                                      <p:cBhvr>
                                        <p:cTn id="104" dur="500"/>
                                        <p:tgtEl>
                                          <p:spTgt spid="24583">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24583">
                                            <p:txEl>
                                              <p:pRg st="1" end="1"/>
                                            </p:txEl>
                                          </p:spTgt>
                                        </p:tgtEl>
                                        <p:attrNameLst>
                                          <p:attrName>style.visibility</p:attrName>
                                        </p:attrNameLst>
                                      </p:cBhvr>
                                      <p:to>
                                        <p:strVal val="visible"/>
                                      </p:to>
                                    </p:set>
                                    <p:animEffect transition="in" filter="wipe(left)">
                                      <p:cBhvr>
                                        <p:cTn id="109" dur="500"/>
                                        <p:tgtEl>
                                          <p:spTgt spid="24583">
                                            <p:txEl>
                                              <p:pRg st="1" end="1"/>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24583">
                                            <p:txEl>
                                              <p:pRg st="2" end="2"/>
                                            </p:txEl>
                                          </p:spTgt>
                                        </p:tgtEl>
                                        <p:attrNameLst>
                                          <p:attrName>style.visibility</p:attrName>
                                        </p:attrNameLst>
                                      </p:cBhvr>
                                      <p:to>
                                        <p:strVal val="visible"/>
                                      </p:to>
                                    </p:set>
                                    <p:animEffect transition="in" filter="wipe(left)">
                                      <p:cBhvr>
                                        <p:cTn id="114" dur="500"/>
                                        <p:tgtEl>
                                          <p:spTgt spid="245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uiExpand="1" build="p" autoUpdateAnimBg="0"/>
      <p:bldP spid="24581" grpId="0" uiExpand="1" build="p" autoUpdateAnimBg="0"/>
      <p:bldP spid="24582" grpId="0" uiExpand="1" build="p" autoUpdateAnimBg="0"/>
      <p:bldP spid="24583" grpId="0" animBg="1"/>
      <p:bldP spid="2" grpId="0" uiExpand="1" animBg="1"/>
      <p:bldP spid="8" grpId="0" uiExpand="1"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457200"/>
            <a:ext cx="8229600" cy="884238"/>
          </a:xfrm>
        </p:spPr>
        <p:txBody>
          <a:bodyPr/>
          <a:lstStyle/>
          <a:p>
            <a:pPr algn="ctr" eaLnBrk="1" hangingPunct="1"/>
            <a:r>
              <a:rPr lang="en-US" altLang="zh-CN" dirty="0">
                <a:solidFill>
                  <a:srgbClr val="057939"/>
                </a:solidFill>
                <a:ea typeface="黑体" pitchFamily="2" charset="-122"/>
              </a:rPr>
              <a:t>F</a:t>
            </a:r>
            <a:r>
              <a:rPr lang="zh-CN" altLang="en-US" dirty="0">
                <a:solidFill>
                  <a:srgbClr val="057939"/>
                </a:solidFill>
                <a:latin typeface="Times New Roman" pitchFamily="18" charset="0"/>
                <a:ea typeface="黑体" pitchFamily="2" charset="-122"/>
              </a:rPr>
              <a:t>等价矩阵的基本定理</a:t>
            </a:r>
          </a:p>
        </p:txBody>
      </p:sp>
      <p:sp>
        <p:nvSpPr>
          <p:cNvPr id="92163" name="Rectangle 3"/>
          <p:cNvSpPr>
            <a:spLocks noChangeArrowheads="1"/>
          </p:cNvSpPr>
          <p:nvPr/>
        </p:nvSpPr>
        <p:spPr bwMode="auto">
          <a:xfrm>
            <a:off x="983432" y="1484314"/>
            <a:ext cx="9793088" cy="499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20000"/>
              </a:lnSpc>
            </a:pPr>
            <a:r>
              <a:rPr kumimoji="1" lang="en-US" altLang="zh-CN" sz="3200" dirty="0">
                <a:solidFill>
                  <a:srgbClr val="057939"/>
                </a:solidFill>
                <a:ea typeface="黑体" pitchFamily="2" charset="-122"/>
              </a:rPr>
              <a:t>[</a:t>
            </a:r>
            <a:r>
              <a:rPr kumimoji="1" lang="zh-CN" altLang="en-US" sz="3200" dirty="0">
                <a:solidFill>
                  <a:srgbClr val="057939"/>
                </a:solidFill>
                <a:ea typeface="黑体" pitchFamily="2" charset="-122"/>
              </a:rPr>
              <a:t>定理</a:t>
            </a:r>
            <a:r>
              <a:rPr kumimoji="1" lang="en-US" altLang="zh-CN" sz="3200" dirty="0">
                <a:solidFill>
                  <a:srgbClr val="057939"/>
                </a:solidFill>
                <a:ea typeface="黑体" pitchFamily="2" charset="-122"/>
              </a:rPr>
              <a:t>2] </a:t>
            </a:r>
            <a:r>
              <a:rPr kumimoji="1" lang="zh-CN" altLang="en-US" sz="3200" dirty="0">
                <a:ea typeface="黑体" pitchFamily="2" charset="-122"/>
              </a:rPr>
              <a:t>设</a:t>
            </a:r>
            <a:r>
              <a:rPr kumimoji="1" lang="en-US" altLang="zh-CN" sz="3200" i="1" dirty="0">
                <a:ea typeface="黑体" pitchFamily="2" charset="-122"/>
              </a:rPr>
              <a:t>R </a:t>
            </a:r>
            <a:r>
              <a:rPr kumimoji="1" lang="en-US" altLang="en-US" sz="3200" dirty="0">
                <a:ea typeface="黑体" pitchFamily="2" charset="-122"/>
                <a:sym typeface="Symbol" panose="05050102010706020507" pitchFamily="18" charset="2"/>
              </a:rPr>
              <a:t></a:t>
            </a:r>
            <a:r>
              <a:rPr kumimoji="1" lang="en-US" altLang="zh-CN" sz="3200" dirty="0">
                <a:latin typeface="Monotype Corsiva" pitchFamily="66" charset="0"/>
                <a:ea typeface="黑体" pitchFamily="2" charset="-122"/>
              </a:rPr>
              <a:t>F </a:t>
            </a:r>
            <a:r>
              <a:rPr kumimoji="1" lang="en-US" altLang="zh-CN" sz="3200" dirty="0">
                <a:ea typeface="黑体" pitchFamily="2" charset="-122"/>
              </a:rPr>
              <a:t>(U</a:t>
            </a:r>
            <a:r>
              <a:rPr kumimoji="1" lang="en-US" altLang="en-US" sz="3200" dirty="0">
                <a:ea typeface="黑体" pitchFamily="2" charset="-122"/>
              </a:rPr>
              <a:t>×</a:t>
            </a:r>
            <a:r>
              <a:rPr kumimoji="1" lang="en-US" altLang="zh-CN" sz="3200" dirty="0">
                <a:ea typeface="黑体" pitchFamily="2" charset="-122"/>
              </a:rPr>
              <a:t>U)</a:t>
            </a:r>
            <a:r>
              <a:rPr kumimoji="1" lang="zh-CN" altLang="en-US" sz="3200" dirty="0">
                <a:ea typeface="黑体" pitchFamily="2" charset="-122"/>
              </a:rPr>
              <a:t>，</a:t>
            </a:r>
            <a:r>
              <a:rPr kumimoji="1" lang="en-US" altLang="zh-CN" sz="3200" i="1" dirty="0">
                <a:ea typeface="黑体" pitchFamily="2" charset="-122"/>
              </a:rPr>
              <a:t>R</a:t>
            </a:r>
            <a:r>
              <a:rPr kumimoji="1" lang="en-US" altLang="zh-CN" sz="3200" i="1" baseline="-25000" dirty="0">
                <a:ea typeface="黑体" pitchFamily="2" charset="-122"/>
                <a:sym typeface="Symbol" pitchFamily="18" charset="2"/>
              </a:rPr>
              <a:t></a:t>
            </a:r>
            <a:r>
              <a:rPr kumimoji="1" lang="zh-CN" altLang="en-US" sz="3200" dirty="0">
                <a:ea typeface="黑体" pitchFamily="2" charset="-122"/>
                <a:sym typeface="Symbol" pitchFamily="18" charset="2"/>
              </a:rPr>
              <a:t>表示按</a:t>
            </a:r>
            <a:r>
              <a:rPr kumimoji="1" lang="zh-CN" altLang="en-US" sz="3200" i="1" dirty="0">
                <a:ea typeface="黑体" pitchFamily="2" charset="-122"/>
                <a:sym typeface="Symbol" pitchFamily="18" charset="2"/>
              </a:rPr>
              <a:t></a:t>
            </a:r>
            <a:r>
              <a:rPr kumimoji="1" lang="zh-CN" altLang="en-US" sz="3200" dirty="0">
                <a:ea typeface="黑体" pitchFamily="2" charset="-122"/>
                <a:sym typeface="Symbol" pitchFamily="18" charset="2"/>
              </a:rPr>
              <a:t>分成的类，</a:t>
            </a:r>
            <a:endParaRPr kumimoji="1" lang="en-US" altLang="zh-CN" sz="3200" dirty="0">
              <a:ea typeface="黑体" pitchFamily="2" charset="-122"/>
              <a:sym typeface="Symbol" pitchFamily="18" charset="2"/>
            </a:endParaRPr>
          </a:p>
          <a:p>
            <a:pPr marL="342900" indent="-342900">
              <a:lnSpc>
                <a:spcPct val="120000"/>
              </a:lnSpc>
            </a:pPr>
            <a:r>
              <a:rPr kumimoji="1" lang="en-US" altLang="zh-CN" sz="3200" dirty="0">
                <a:ea typeface="黑体" pitchFamily="2" charset="-122"/>
                <a:sym typeface="Symbol" pitchFamily="18" charset="2"/>
              </a:rPr>
              <a:t>            </a:t>
            </a:r>
            <a:r>
              <a:rPr kumimoji="1" lang="zh-CN" altLang="en-US" sz="3200" dirty="0">
                <a:ea typeface="黑体" pitchFamily="2" charset="-122"/>
                <a:sym typeface="Symbol" pitchFamily="18" charset="2"/>
              </a:rPr>
              <a:t>则</a:t>
            </a:r>
            <a:r>
              <a:rPr kumimoji="1" lang="zh-CN" altLang="en-US" sz="3200" dirty="0">
                <a:solidFill>
                  <a:srgbClr val="EE0006"/>
                </a:solidFill>
                <a:ea typeface="黑体" pitchFamily="2" charset="-122"/>
                <a:sym typeface="Symbol" pitchFamily="18" charset="2"/>
              </a:rPr>
              <a:t>当 </a:t>
            </a:r>
            <a:r>
              <a:rPr kumimoji="1" lang="el-GR" altLang="zh-CN" sz="3200" i="1" dirty="0">
                <a:solidFill>
                  <a:srgbClr val="EE0006"/>
                </a:solidFill>
                <a:ea typeface="黑体" pitchFamily="2" charset="-122"/>
                <a:cs typeface="Arial" charset="0"/>
                <a:sym typeface="Symbol" pitchFamily="18" charset="2"/>
              </a:rPr>
              <a:t>λ</a:t>
            </a:r>
            <a:r>
              <a:rPr kumimoji="1" lang="en-US" altLang="zh-CN" sz="3200" i="1" dirty="0">
                <a:solidFill>
                  <a:srgbClr val="EE0006"/>
                </a:solidFill>
                <a:ea typeface="黑体" pitchFamily="2" charset="-122"/>
                <a:cs typeface="Arial" charset="0"/>
                <a:sym typeface="Symbol" pitchFamily="18" charset="2"/>
              </a:rPr>
              <a:t> </a:t>
            </a:r>
            <a:r>
              <a:rPr kumimoji="1" lang="en-US" altLang="zh-CN" sz="3200" dirty="0">
                <a:solidFill>
                  <a:srgbClr val="EE0006"/>
                </a:solidFill>
                <a:ea typeface="黑体" pitchFamily="2" charset="-122"/>
                <a:cs typeface="Arial" charset="0"/>
                <a:sym typeface="Symbol" pitchFamily="18" charset="2"/>
              </a:rPr>
              <a:t>&lt; </a:t>
            </a:r>
            <a:r>
              <a:rPr kumimoji="1" lang="el-GR" altLang="zh-CN" sz="3200" i="1" dirty="0">
                <a:solidFill>
                  <a:srgbClr val="EE0006"/>
                </a:solidFill>
                <a:ea typeface="黑体" pitchFamily="2" charset="-122"/>
                <a:cs typeface="Arial" charset="0"/>
                <a:sym typeface="Symbol" pitchFamily="18" charset="2"/>
              </a:rPr>
              <a:t>μ</a:t>
            </a:r>
            <a:r>
              <a:rPr kumimoji="1" lang="en-US" altLang="zh-CN" sz="3200" i="1" dirty="0">
                <a:solidFill>
                  <a:srgbClr val="EE0006"/>
                </a:solidFill>
                <a:ea typeface="黑体" pitchFamily="2" charset="-122"/>
                <a:cs typeface="Arial" charset="0"/>
                <a:sym typeface="Symbol" pitchFamily="18" charset="2"/>
              </a:rPr>
              <a:t> </a:t>
            </a:r>
            <a:r>
              <a:rPr kumimoji="1" lang="zh-CN" altLang="en-US" sz="3200" dirty="0">
                <a:solidFill>
                  <a:srgbClr val="EE0006"/>
                </a:solidFill>
                <a:ea typeface="黑体" pitchFamily="2" charset="-122"/>
                <a:cs typeface="Arial" charset="0"/>
                <a:sym typeface="Symbol" pitchFamily="18" charset="2"/>
              </a:rPr>
              <a:t>时，</a:t>
            </a:r>
            <a:r>
              <a:rPr kumimoji="1" lang="en-US" altLang="zh-CN" sz="3200" b="1" i="1" dirty="0">
                <a:solidFill>
                  <a:srgbClr val="EE0006"/>
                </a:solidFill>
                <a:ea typeface="黑体" pitchFamily="2" charset="-122"/>
                <a:cs typeface="Arial" charset="0"/>
                <a:sym typeface="Symbol" pitchFamily="18" charset="2"/>
              </a:rPr>
              <a:t>R</a:t>
            </a:r>
            <a:r>
              <a:rPr kumimoji="1" lang="el-GR" altLang="zh-CN" sz="3200" b="1" i="1" baseline="-25000" dirty="0">
                <a:solidFill>
                  <a:srgbClr val="EE0006"/>
                </a:solidFill>
                <a:ea typeface="黑体" pitchFamily="2" charset="-122"/>
                <a:cs typeface="Arial" charset="0"/>
                <a:sym typeface="Symbol" pitchFamily="18" charset="2"/>
              </a:rPr>
              <a:t>λ</a:t>
            </a:r>
            <a:r>
              <a:rPr kumimoji="1" lang="en-US" altLang="zh-CN" sz="3200" b="1" i="1" baseline="-25000" dirty="0">
                <a:solidFill>
                  <a:srgbClr val="EE0006"/>
                </a:solidFill>
                <a:ea typeface="黑体" pitchFamily="2" charset="-122"/>
                <a:cs typeface="Arial" charset="0"/>
                <a:sym typeface="Symbol" pitchFamily="18" charset="2"/>
              </a:rPr>
              <a:t> </a:t>
            </a:r>
            <a:r>
              <a:rPr kumimoji="1" lang="el-GR" altLang="zh-CN" sz="3200" b="1" dirty="0">
                <a:solidFill>
                  <a:srgbClr val="EE0006"/>
                </a:solidFill>
                <a:ea typeface="黑体" pitchFamily="2" charset="-122"/>
                <a:cs typeface="Arial" charset="0"/>
                <a:sym typeface="Symbol" pitchFamily="18" charset="2"/>
              </a:rPr>
              <a:t></a:t>
            </a:r>
            <a:r>
              <a:rPr kumimoji="1" lang="en-US" altLang="zh-CN" sz="3200" b="1" dirty="0">
                <a:solidFill>
                  <a:srgbClr val="EE0006"/>
                </a:solidFill>
                <a:ea typeface="黑体" pitchFamily="2" charset="-122"/>
                <a:cs typeface="Arial" charset="0"/>
                <a:sym typeface="Symbol" pitchFamily="18" charset="2"/>
              </a:rPr>
              <a:t> </a:t>
            </a:r>
            <a:r>
              <a:rPr kumimoji="1" lang="en-US" altLang="zh-CN" sz="3200" b="1" i="1" dirty="0">
                <a:solidFill>
                  <a:srgbClr val="EE0006"/>
                </a:solidFill>
                <a:ea typeface="黑体" pitchFamily="2" charset="-122"/>
                <a:cs typeface="Arial" charset="0"/>
                <a:sym typeface="Symbol" pitchFamily="18" charset="2"/>
              </a:rPr>
              <a:t>R</a:t>
            </a:r>
            <a:r>
              <a:rPr kumimoji="1" lang="el-GR" altLang="zh-CN" sz="3200" b="1" i="1" baseline="-25000" dirty="0">
                <a:solidFill>
                  <a:srgbClr val="EE0006"/>
                </a:solidFill>
                <a:ea typeface="黑体" pitchFamily="2" charset="-122"/>
                <a:cs typeface="Arial" charset="0"/>
                <a:sym typeface="Symbol" pitchFamily="18" charset="2"/>
              </a:rPr>
              <a:t>μ</a:t>
            </a:r>
            <a:r>
              <a:rPr kumimoji="1" lang="en-US" altLang="zh-CN" sz="3200" b="1" dirty="0">
                <a:ea typeface="黑体" pitchFamily="2" charset="-122"/>
                <a:cs typeface="Arial" charset="0"/>
                <a:sym typeface="Symbol" pitchFamily="18" charset="2"/>
              </a:rPr>
              <a:t> </a:t>
            </a:r>
          </a:p>
          <a:p>
            <a:pPr marL="342900" indent="-342900">
              <a:lnSpc>
                <a:spcPct val="120000"/>
              </a:lnSpc>
            </a:pPr>
            <a:r>
              <a:rPr kumimoji="1" lang="en-US" altLang="zh-CN" sz="3200" dirty="0">
                <a:ea typeface="黑体" pitchFamily="2" charset="-122"/>
                <a:cs typeface="Arial" charset="0"/>
                <a:sym typeface="Symbol" pitchFamily="18" charset="2"/>
              </a:rPr>
              <a:t>          (</a:t>
            </a:r>
            <a:r>
              <a:rPr kumimoji="1" lang="el-GR" altLang="zh-CN" sz="3200" i="1" dirty="0">
                <a:ea typeface="黑体" pitchFamily="2" charset="-122"/>
                <a:cs typeface="Arial" charset="0"/>
                <a:sym typeface="Symbol" pitchFamily="18" charset="2"/>
              </a:rPr>
              <a:t>λ</a:t>
            </a:r>
            <a:r>
              <a:rPr kumimoji="1" lang="zh-CN" altLang="en-US" sz="3200" dirty="0">
                <a:ea typeface="黑体" pitchFamily="2" charset="-122"/>
                <a:cs typeface="Arial" charset="0"/>
                <a:sym typeface="Symbol" pitchFamily="18" charset="2"/>
              </a:rPr>
              <a:t>、</a:t>
            </a:r>
            <a:r>
              <a:rPr kumimoji="1" lang="el-GR" altLang="zh-CN" sz="3200" i="1" dirty="0">
                <a:ea typeface="黑体" pitchFamily="2" charset="-122"/>
                <a:cs typeface="Arial" charset="0"/>
                <a:sym typeface="Symbol" pitchFamily="18" charset="2"/>
              </a:rPr>
              <a:t>μ</a:t>
            </a:r>
            <a:r>
              <a:rPr kumimoji="1" lang="en-US" altLang="en-US" sz="3200" dirty="0">
                <a:ea typeface="黑体" pitchFamily="2" charset="-122"/>
                <a:sym typeface="Symbol" panose="05050102010706020507" pitchFamily="18" charset="2"/>
              </a:rPr>
              <a:t> </a:t>
            </a:r>
            <a:r>
              <a:rPr kumimoji="1" lang="en-US" altLang="zh-CN" sz="3200" dirty="0">
                <a:ea typeface="黑体" pitchFamily="2" charset="-122"/>
                <a:sym typeface="Symbol" pitchFamily="18" charset="2"/>
              </a:rPr>
              <a:t>[0,1])</a:t>
            </a:r>
          </a:p>
          <a:p>
            <a:pPr marL="342900" indent="-342900">
              <a:lnSpc>
                <a:spcPct val="120000"/>
              </a:lnSpc>
            </a:pPr>
            <a:r>
              <a:rPr kumimoji="1" lang="en-US" altLang="zh-CN" sz="2800" b="1" dirty="0">
                <a:solidFill>
                  <a:srgbClr val="FF00FF"/>
                </a:solidFill>
                <a:latin typeface="黑体" pitchFamily="2" charset="-122"/>
                <a:ea typeface="黑体" pitchFamily="2" charset="-122"/>
              </a:rPr>
              <a:t>[</a:t>
            </a:r>
            <a:r>
              <a:rPr kumimoji="1" lang="zh-CN" altLang="en-US" sz="2800" b="1" dirty="0">
                <a:solidFill>
                  <a:srgbClr val="FF00FF"/>
                </a:solidFill>
                <a:latin typeface="黑体" pitchFamily="2" charset="-122"/>
                <a:ea typeface="黑体" pitchFamily="2" charset="-122"/>
              </a:rPr>
              <a:t>说明</a:t>
            </a:r>
            <a:r>
              <a:rPr kumimoji="1" lang="en-US" altLang="zh-CN" sz="2800" b="1" dirty="0">
                <a:solidFill>
                  <a:srgbClr val="FF00FF"/>
                </a:solidFill>
                <a:latin typeface="黑体" pitchFamily="2" charset="-122"/>
                <a:ea typeface="黑体" pitchFamily="2" charset="-122"/>
              </a:rPr>
              <a:t>]</a:t>
            </a:r>
          </a:p>
          <a:p>
            <a:pPr marL="800100" lvl="1" indent="-342900">
              <a:lnSpc>
                <a:spcPct val="120000"/>
              </a:lnSpc>
              <a:buFontTx/>
              <a:buAutoNum type="arabicPeriod"/>
            </a:pPr>
            <a:r>
              <a:rPr kumimoji="1" lang="zh-CN" altLang="en-US" sz="2800" b="1" dirty="0">
                <a:ea typeface="楷体_GB2312" pitchFamily="49" charset="-122"/>
              </a:rPr>
              <a:t>对</a:t>
            </a:r>
            <a:r>
              <a:rPr kumimoji="1" lang="zh-CN" altLang="en-US" sz="2800" b="1" dirty="0">
                <a:ea typeface="楷体_GB2312" pitchFamily="49" charset="-122"/>
                <a:sym typeface="Symbol" pitchFamily="18" charset="2"/>
              </a:rPr>
              <a:t></a:t>
            </a:r>
            <a:r>
              <a:rPr kumimoji="1" lang="en-US" altLang="zh-CN" sz="2800" b="1" dirty="0">
                <a:ea typeface="楷体_GB2312" pitchFamily="49" charset="-122"/>
              </a:rPr>
              <a:t>0 ≤ </a:t>
            </a:r>
            <a:r>
              <a:rPr kumimoji="1" lang="en-US" altLang="zh-CN" sz="2800" b="1" i="1" dirty="0">
                <a:ea typeface="楷体_GB2312" pitchFamily="49" charset="-122"/>
                <a:sym typeface="Symbol" pitchFamily="18" charset="2"/>
              </a:rPr>
              <a:t> &lt; </a:t>
            </a:r>
            <a:r>
              <a:rPr kumimoji="1" lang="zh-CN" altLang="en-US" sz="2800" b="1" i="1" dirty="0">
                <a:ea typeface="楷体_GB2312" pitchFamily="49" charset="-122"/>
                <a:sym typeface="Symbol" pitchFamily="18" charset="2"/>
              </a:rPr>
              <a:t> </a:t>
            </a:r>
            <a:r>
              <a:rPr kumimoji="1" lang="zh-CN" altLang="en-US" sz="2800" b="1" dirty="0">
                <a:ea typeface="楷体_GB2312" pitchFamily="49" charset="-122"/>
              </a:rPr>
              <a:t>≤ </a:t>
            </a:r>
            <a:r>
              <a:rPr kumimoji="1" lang="en-US" altLang="zh-CN" sz="2800" b="1" dirty="0">
                <a:ea typeface="楷体_GB2312" pitchFamily="49" charset="-122"/>
              </a:rPr>
              <a:t>1</a:t>
            </a:r>
            <a:r>
              <a:rPr kumimoji="1" lang="zh-CN" altLang="en-US" sz="2800" b="1" dirty="0">
                <a:ea typeface="楷体_GB2312" pitchFamily="49" charset="-122"/>
              </a:rPr>
              <a:t>，</a:t>
            </a:r>
            <a:r>
              <a:rPr kumimoji="1" lang="en-US" altLang="zh-CN" sz="2800" b="1" i="1" dirty="0">
                <a:ea typeface="楷体_GB2312" pitchFamily="49" charset="-122"/>
              </a:rPr>
              <a:t>R</a:t>
            </a:r>
            <a:r>
              <a:rPr kumimoji="1" lang="en-US" altLang="zh-CN" sz="2800" b="1" i="1" baseline="-25000" dirty="0">
                <a:ea typeface="楷体_GB2312" pitchFamily="49" charset="-122"/>
                <a:sym typeface="Symbol" pitchFamily="18" charset="2"/>
              </a:rPr>
              <a:t> </a:t>
            </a:r>
            <a:r>
              <a:rPr kumimoji="1" lang="zh-CN" altLang="en-US" sz="2800" b="1" dirty="0">
                <a:ea typeface="楷体_GB2312" pitchFamily="49" charset="-122"/>
              </a:rPr>
              <a:t>所决定的分类中的每一个类是</a:t>
            </a:r>
            <a:r>
              <a:rPr kumimoji="1" lang="en-US" altLang="zh-CN" sz="2800" b="1" i="1" dirty="0">
                <a:ea typeface="楷体_GB2312" pitchFamily="49" charset="-122"/>
              </a:rPr>
              <a:t>R</a:t>
            </a:r>
            <a:r>
              <a:rPr kumimoji="1" lang="en-US" altLang="zh-CN" sz="2800" b="1" i="1" baseline="-25000" dirty="0">
                <a:ea typeface="楷体_GB2312" pitchFamily="49" charset="-122"/>
                <a:sym typeface="Symbol" pitchFamily="18" charset="2"/>
              </a:rPr>
              <a:t></a:t>
            </a:r>
            <a:r>
              <a:rPr kumimoji="1" lang="zh-CN" altLang="en-US" sz="2800" b="1" dirty="0">
                <a:ea typeface="楷体_GB2312" pitchFamily="49" charset="-122"/>
              </a:rPr>
              <a:t>决定的分类中的某个类的子类</a:t>
            </a:r>
            <a:r>
              <a:rPr kumimoji="1" lang="en-US" altLang="zh-CN" sz="2800" b="1" dirty="0">
                <a:ea typeface="楷体_GB2312" pitchFamily="49" charset="-122"/>
              </a:rPr>
              <a:t>.</a:t>
            </a:r>
          </a:p>
          <a:p>
            <a:pPr marL="800100" lvl="1" indent="-342900">
              <a:lnSpc>
                <a:spcPct val="120000"/>
              </a:lnSpc>
            </a:pPr>
            <a:r>
              <a:rPr kumimoji="1" lang="en-US" altLang="zh-CN" sz="2800" b="1" dirty="0">
                <a:ea typeface="楷体_GB2312" pitchFamily="49" charset="-122"/>
              </a:rPr>
              <a:t>2</a:t>
            </a:r>
            <a:r>
              <a:rPr kumimoji="1" lang="en-US" altLang="zh-CN" sz="2800" b="1" dirty="0">
                <a:solidFill>
                  <a:srgbClr val="3333FF"/>
                </a:solidFill>
                <a:ea typeface="楷体_GB2312" pitchFamily="49" charset="-122"/>
              </a:rPr>
              <a:t>.</a:t>
            </a:r>
            <a:r>
              <a:rPr kumimoji="1" lang="zh-CN" altLang="en-US" sz="2800" b="1" dirty="0">
                <a:solidFill>
                  <a:srgbClr val="3333FF"/>
                </a:solidFill>
                <a:ea typeface="楷体_GB2312" pitchFamily="49" charset="-122"/>
              </a:rPr>
              <a:t>当</a:t>
            </a:r>
            <a:r>
              <a:rPr kumimoji="1" lang="el-GR" altLang="zh-CN" sz="2800" b="1" i="1" dirty="0">
                <a:solidFill>
                  <a:srgbClr val="3333FF"/>
                </a:solidFill>
                <a:ea typeface="楷体_GB2312" pitchFamily="49" charset="-122"/>
              </a:rPr>
              <a:t>λ</a:t>
            </a:r>
            <a:r>
              <a:rPr kumimoji="1" lang="zh-CN" altLang="en-US" sz="2800" b="1" dirty="0">
                <a:solidFill>
                  <a:srgbClr val="3333FF"/>
                </a:solidFill>
                <a:ea typeface="楷体_GB2312" pitchFamily="49" charset="-122"/>
              </a:rPr>
              <a:t>从</a:t>
            </a:r>
            <a:r>
              <a:rPr kumimoji="1" lang="en-US" altLang="zh-CN" sz="2800" b="1" dirty="0">
                <a:solidFill>
                  <a:srgbClr val="3333FF"/>
                </a:solidFill>
                <a:ea typeface="楷体_GB2312" pitchFamily="49" charset="-122"/>
              </a:rPr>
              <a:t>1→0</a:t>
            </a:r>
            <a:r>
              <a:rPr kumimoji="1" lang="zh-CN" altLang="en-US" sz="2800" b="1" dirty="0">
                <a:solidFill>
                  <a:srgbClr val="3333FF"/>
                </a:solidFill>
                <a:ea typeface="楷体_GB2312" pitchFamily="49" charset="-122"/>
              </a:rPr>
              <a:t>时，由</a:t>
            </a:r>
            <a:r>
              <a:rPr kumimoji="1" lang="en-US" altLang="zh-CN" sz="2800" b="1" dirty="0">
                <a:solidFill>
                  <a:srgbClr val="3333FF"/>
                </a:solidFill>
                <a:ea typeface="楷体_GB2312" pitchFamily="49" charset="-122"/>
              </a:rPr>
              <a:t>F</a:t>
            </a:r>
            <a:r>
              <a:rPr kumimoji="1" lang="zh-CN" altLang="en-US" sz="2800" b="1" dirty="0">
                <a:solidFill>
                  <a:srgbClr val="3333FF"/>
                </a:solidFill>
                <a:ea typeface="楷体_GB2312" pitchFamily="49" charset="-122"/>
              </a:rPr>
              <a:t>等价关系</a:t>
            </a:r>
            <a:r>
              <a:rPr kumimoji="1" lang="en-US" altLang="zh-CN" sz="2800" b="1" i="1" dirty="0">
                <a:solidFill>
                  <a:srgbClr val="3333FF"/>
                </a:solidFill>
                <a:ea typeface="楷体_GB2312" pitchFamily="49" charset="-122"/>
              </a:rPr>
              <a:t>R</a:t>
            </a:r>
            <a:r>
              <a:rPr kumimoji="1" lang="zh-CN" altLang="en-US" sz="2800" b="1" dirty="0">
                <a:solidFill>
                  <a:srgbClr val="3333FF"/>
                </a:solidFill>
                <a:ea typeface="楷体_GB2312" pitchFamily="49" charset="-122"/>
              </a:rPr>
              <a:t>确定的分类所包含元素由小</a:t>
            </a:r>
            <a:r>
              <a:rPr kumimoji="1" lang="zh-CN" altLang="en-US" sz="3200" b="1" dirty="0">
                <a:solidFill>
                  <a:srgbClr val="3333FF"/>
                </a:solidFill>
                <a:ea typeface="楷体_GB2312" pitchFamily="49" charset="-122"/>
              </a:rPr>
              <a:t>→</a:t>
            </a:r>
            <a:r>
              <a:rPr kumimoji="1" lang="zh-CN" altLang="en-US" sz="2800" b="1" dirty="0">
                <a:solidFill>
                  <a:srgbClr val="3333FF"/>
                </a:solidFill>
                <a:ea typeface="楷体_GB2312" pitchFamily="49" charset="-122"/>
              </a:rPr>
              <a:t>多，逐步归并，最后成一类，这个过程形成一个</a:t>
            </a:r>
            <a:r>
              <a:rPr kumimoji="1" lang="zh-CN" altLang="en-US" sz="2800" b="1" dirty="0">
                <a:solidFill>
                  <a:srgbClr val="EE0006"/>
                </a:solidFill>
                <a:ea typeface="楷体_GB2312" pitchFamily="49" charset="-122"/>
              </a:rPr>
              <a:t>动态聚类图。</a:t>
            </a:r>
          </a:p>
        </p:txBody>
      </p:sp>
      <p:sp>
        <p:nvSpPr>
          <p:cNvPr id="2" name="矩形标注 1"/>
          <p:cNvSpPr/>
          <p:nvPr/>
        </p:nvSpPr>
        <p:spPr>
          <a:xfrm>
            <a:off x="6528048" y="2852936"/>
            <a:ext cx="3682752" cy="792088"/>
          </a:xfrm>
          <a:prstGeom prst="wedgeRectCallout">
            <a:avLst>
              <a:gd name="adj1" fmla="val -69845"/>
              <a:gd name="adj2" fmla="val -13448"/>
            </a:avLst>
          </a:prstGeom>
          <a:solidFill>
            <a:srgbClr val="FF9966"/>
          </a:solidFill>
          <a:ln>
            <a:solidFill>
              <a:srgbClr val="FF9966"/>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b="1" i="1" dirty="0">
                <a:solidFill>
                  <a:schemeClr val="tx1"/>
                </a:solidFill>
                <a:latin typeface="黑体" panose="02010609060101010101" pitchFamily="49" charset="-122"/>
                <a:ea typeface="黑体" panose="02010609060101010101" pitchFamily="49" charset="-122"/>
              </a:rPr>
              <a:t>λ</a:t>
            </a:r>
            <a:r>
              <a:rPr lang="zh-CN" altLang="en-US" sz="3200" b="1" dirty="0">
                <a:solidFill>
                  <a:schemeClr val="tx1"/>
                </a:solidFill>
                <a:latin typeface="黑体" panose="02010609060101010101" pitchFamily="49" charset="-122"/>
                <a:ea typeface="黑体" panose="02010609060101010101" pitchFamily="49" charset="-122"/>
              </a:rPr>
              <a:t>越大，分类越细</a:t>
            </a:r>
          </a:p>
        </p:txBody>
      </p:sp>
      <p:sp>
        <p:nvSpPr>
          <p:cNvPr id="3" name="灯片编号占位符 2">
            <a:extLst>
              <a:ext uri="{FF2B5EF4-FFF2-40B4-BE49-F238E27FC236}">
                <a16:creationId xmlns:a16="http://schemas.microsoft.com/office/drawing/2014/main" id="{9EFA0866-B6D6-69B3-4D4E-7CFC82AF1263}"/>
              </a:ext>
            </a:extLst>
          </p:cNvPr>
          <p:cNvSpPr>
            <a:spLocks noGrp="1"/>
          </p:cNvSpPr>
          <p:nvPr>
            <p:ph type="sldNum" sz="quarter" idx="11"/>
          </p:nvPr>
        </p:nvSpPr>
        <p:spPr/>
        <p:txBody>
          <a:bodyPr/>
          <a:lstStyle/>
          <a:p>
            <a:pPr>
              <a:defRPr/>
            </a:pPr>
            <a:fld id="{F13753BC-CAEF-4333-AC48-2805658F6E3F}" type="slidenum">
              <a:rPr lang="en-US" altLang="zh-CN" smtClean="0"/>
              <a:pPr>
                <a:defRPr/>
              </a:pPr>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wipe(left)">
                                      <p:cBhvr>
                                        <p:cTn id="7" dur="500"/>
                                        <p:tgtEl>
                                          <p:spTgt spid="9216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animEffect transition="in" filter="wipe(left)">
                                      <p:cBhvr>
                                        <p:cTn id="11" dur="500"/>
                                        <p:tgtEl>
                                          <p:spTgt spid="92163">
                                            <p:txEl>
                                              <p:pRg st="1" end="1"/>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2163">
                                            <p:txEl>
                                              <p:pRg st="2" end="2"/>
                                            </p:txEl>
                                          </p:spTgt>
                                        </p:tgtEl>
                                        <p:attrNameLst>
                                          <p:attrName>style.visibility</p:attrName>
                                        </p:attrNameLst>
                                      </p:cBhvr>
                                      <p:to>
                                        <p:strVal val="visible"/>
                                      </p:to>
                                    </p:set>
                                    <p:animEffect transition="in" filter="wipe(left)">
                                      <p:cBhvr>
                                        <p:cTn id="16" dur="500"/>
                                        <p:tgtEl>
                                          <p:spTgt spid="92163">
                                            <p:txEl>
                                              <p:pRg st="2" end="2"/>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2163">
                                            <p:txEl>
                                              <p:pRg st="3" end="3"/>
                                            </p:txEl>
                                          </p:spTgt>
                                        </p:tgtEl>
                                        <p:attrNameLst>
                                          <p:attrName>style.visibility</p:attrName>
                                        </p:attrNameLst>
                                      </p:cBhvr>
                                      <p:to>
                                        <p:strVal val="visible"/>
                                      </p:to>
                                    </p:set>
                                    <p:animEffect transition="in" filter="wipe(left)">
                                      <p:cBhvr>
                                        <p:cTn id="21" dur="500"/>
                                        <p:tgtEl>
                                          <p:spTgt spid="92163">
                                            <p:txEl>
                                              <p:pRg st="3" end="3"/>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2163">
                                            <p:txEl>
                                              <p:pRg st="4" end="4"/>
                                            </p:txEl>
                                          </p:spTgt>
                                        </p:tgtEl>
                                        <p:attrNameLst>
                                          <p:attrName>style.visibility</p:attrName>
                                        </p:attrNameLst>
                                      </p:cBhvr>
                                      <p:to>
                                        <p:strVal val="visible"/>
                                      </p:to>
                                    </p:set>
                                    <p:animEffect transition="in" filter="wipe(left)">
                                      <p:cBhvr>
                                        <p:cTn id="26" dur="500"/>
                                        <p:tgtEl>
                                          <p:spTgt spid="92163">
                                            <p:txEl>
                                              <p:pRg st="4" end="4"/>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2163">
                                            <p:txEl>
                                              <p:pRg st="5" end="5"/>
                                            </p:txEl>
                                          </p:spTgt>
                                        </p:tgtEl>
                                        <p:attrNameLst>
                                          <p:attrName>style.visibility</p:attrName>
                                        </p:attrNameLst>
                                      </p:cBhvr>
                                      <p:to>
                                        <p:strVal val="visible"/>
                                      </p:to>
                                    </p:set>
                                    <p:animEffect transition="in" filter="wipe(left)">
                                      <p:cBhvr>
                                        <p:cTn id="31" dur="500"/>
                                        <p:tgtEl>
                                          <p:spTgt spid="92163">
                                            <p:txEl>
                                              <p:pRg st="5" end="5"/>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anim calcmode="lin" valueType="num">
                                      <p:cBhvr>
                                        <p:cTn id="37" dur="1000" fill="hold"/>
                                        <p:tgtEl>
                                          <p:spTgt spid="2"/>
                                        </p:tgtEl>
                                        <p:attrNameLst>
                                          <p:attrName>ppt_x</p:attrName>
                                        </p:attrNameLst>
                                      </p:cBhvr>
                                      <p:tavLst>
                                        <p:tav tm="0">
                                          <p:val>
                                            <p:strVal val="#ppt_x"/>
                                          </p:val>
                                        </p:tav>
                                        <p:tav tm="100000">
                                          <p:val>
                                            <p:strVal val="#ppt_x"/>
                                          </p:val>
                                        </p:tav>
                                      </p:tavLst>
                                    </p:anim>
                                    <p:anim calcmode="lin" valueType="num">
                                      <p:cBhvr>
                                        <p:cTn id="3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uiExpand="1" build="p" autoUpdateAnimBg="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0" y="457200"/>
            <a:ext cx="8229600" cy="884238"/>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93187" name="Rectangle 3"/>
          <p:cNvSpPr>
            <a:spLocks noGrp="1" noChangeArrowheads="1"/>
          </p:cNvSpPr>
          <p:nvPr>
            <p:ph type="body" sz="half" idx="1"/>
          </p:nvPr>
        </p:nvSpPr>
        <p:spPr>
          <a:xfrm>
            <a:off x="1343472" y="1268414"/>
            <a:ext cx="10153128" cy="5589587"/>
          </a:xfrm>
        </p:spPr>
        <p:txBody>
          <a:bodyPr/>
          <a:lstStyle/>
          <a:p>
            <a:pPr eaLnBrk="1" hangingPunct="1">
              <a:buFont typeface="Wingdings" pitchFamily="2" charset="2"/>
              <a:buNone/>
            </a:pPr>
            <a:r>
              <a:rPr lang="zh-CN" altLang="en-US" sz="2800" b="1" dirty="0">
                <a:latin typeface="Times New Roman" pitchFamily="18" charset="0"/>
              </a:rPr>
              <a:t>设</a:t>
            </a:r>
            <a:r>
              <a:rPr lang="en-US" altLang="zh-CN" sz="2800" b="1" i="1" dirty="0"/>
              <a:t>U= </a:t>
            </a:r>
            <a:r>
              <a:rPr kumimoji="1" lang="en-US" altLang="zh-CN" sz="2800" b="1" dirty="0"/>
              <a:t>{</a:t>
            </a:r>
            <a:r>
              <a:rPr kumimoji="1" lang="en-US" altLang="zh-CN" sz="2800" b="1" i="1" dirty="0"/>
              <a:t>u</a:t>
            </a:r>
            <a:r>
              <a:rPr kumimoji="1" lang="en-US" altLang="zh-CN" sz="2800" b="1" baseline="-25000" dirty="0"/>
              <a:t>1</a:t>
            </a:r>
            <a:r>
              <a:rPr kumimoji="1" lang="en-US" altLang="zh-CN" sz="2800" b="1" dirty="0"/>
              <a:t>,</a:t>
            </a:r>
            <a:r>
              <a:rPr kumimoji="1" lang="en-US" altLang="zh-CN" sz="2800" b="1" i="1" dirty="0"/>
              <a:t>u</a:t>
            </a:r>
            <a:r>
              <a:rPr kumimoji="1" lang="en-US" altLang="zh-CN" sz="2800" b="1" baseline="-25000" dirty="0"/>
              <a:t>2</a:t>
            </a:r>
            <a:r>
              <a:rPr kumimoji="1" lang="en-US" altLang="zh-CN" sz="2800" b="1" dirty="0"/>
              <a:t>,</a:t>
            </a:r>
            <a:r>
              <a:rPr kumimoji="1" lang="en-US" altLang="zh-CN" sz="2800" b="1" i="1" dirty="0"/>
              <a:t> u</a:t>
            </a:r>
            <a:r>
              <a:rPr kumimoji="1" lang="en-US" altLang="zh-CN" sz="2800" b="1" baseline="-25000" dirty="0"/>
              <a:t>3</a:t>
            </a:r>
            <a:r>
              <a:rPr kumimoji="1" lang="en-US" altLang="zh-CN" sz="2800" b="1" dirty="0"/>
              <a:t>,</a:t>
            </a:r>
            <a:r>
              <a:rPr kumimoji="1" lang="en-US" altLang="zh-CN" sz="2800" b="1" i="1" dirty="0"/>
              <a:t> u</a:t>
            </a:r>
            <a:r>
              <a:rPr kumimoji="1" lang="en-US" altLang="zh-CN" sz="2800" b="1" baseline="-25000" dirty="0"/>
              <a:t>4</a:t>
            </a:r>
            <a:r>
              <a:rPr kumimoji="1" lang="en-US" altLang="zh-CN" sz="2800" b="1" dirty="0"/>
              <a:t>,</a:t>
            </a:r>
            <a:r>
              <a:rPr kumimoji="1" lang="en-US" altLang="zh-CN" sz="2800" b="1" i="1" dirty="0"/>
              <a:t> u</a:t>
            </a:r>
            <a:r>
              <a:rPr kumimoji="1" lang="en-US" altLang="zh-CN" sz="2800" b="1" baseline="-25000" dirty="0"/>
              <a:t>5</a:t>
            </a:r>
            <a:r>
              <a:rPr kumimoji="1" lang="en-US" altLang="zh-CN" sz="2800" b="1" dirty="0"/>
              <a:t>}</a:t>
            </a:r>
          </a:p>
          <a:p>
            <a:pPr eaLnBrk="1" hangingPunct="1">
              <a:buFont typeface="Wingdings" pitchFamily="2" charset="2"/>
              <a:buNone/>
            </a:pPr>
            <a:endParaRPr kumimoji="1" lang="en-US" altLang="zh-CN" sz="2800" b="1" dirty="0">
              <a:latin typeface="Times New Roman" pitchFamily="18" charset="0"/>
            </a:endParaRPr>
          </a:p>
          <a:p>
            <a:pPr eaLnBrk="1" hangingPunct="1">
              <a:buFont typeface="Wingdings" pitchFamily="2" charset="2"/>
              <a:buNone/>
            </a:pPr>
            <a:endParaRPr kumimoji="1" lang="en-US" altLang="zh-CN" sz="2800" b="1" dirty="0">
              <a:latin typeface="Times New Roman" pitchFamily="18" charset="0"/>
            </a:endParaRPr>
          </a:p>
          <a:p>
            <a:pPr eaLnBrk="1" hangingPunct="1">
              <a:buFont typeface="Wingdings" pitchFamily="2" charset="2"/>
              <a:buNone/>
            </a:pPr>
            <a:endParaRPr kumimoji="1" lang="en-US" altLang="zh-CN" sz="2000" b="1" dirty="0">
              <a:latin typeface="Times New Roman" pitchFamily="18" charset="0"/>
            </a:endParaRPr>
          </a:p>
          <a:p>
            <a:pPr eaLnBrk="1" hangingPunct="1">
              <a:buFont typeface="Wingdings" pitchFamily="2" charset="2"/>
              <a:buNone/>
            </a:pPr>
            <a:r>
              <a:rPr kumimoji="1" lang="zh-CN" altLang="en-US" sz="2800" b="1" dirty="0">
                <a:ea typeface="楷体_GB2312" pitchFamily="49" charset="-122"/>
              </a:rPr>
              <a:t>先验证</a:t>
            </a:r>
            <a:r>
              <a:rPr kumimoji="1" lang="en-US" altLang="zh-CN" sz="2800" b="1" i="1" dirty="0"/>
              <a:t>R</a:t>
            </a:r>
            <a:r>
              <a:rPr kumimoji="1" lang="zh-CN" altLang="en-US" sz="2800" b="1" dirty="0">
                <a:ea typeface="楷体_GB2312" pitchFamily="49" charset="-122"/>
              </a:rPr>
              <a:t>是等价矩阵：易得到</a:t>
            </a:r>
            <a:r>
              <a:rPr kumimoji="1" lang="en-US" altLang="zh-CN" sz="2800" b="1" i="1" dirty="0"/>
              <a:t>R</a:t>
            </a:r>
            <a:r>
              <a:rPr kumimoji="1" lang="zh-CN" altLang="en-US" sz="2800" b="1" dirty="0">
                <a:ea typeface="楷体_GB2312" pitchFamily="49" charset="-122"/>
              </a:rPr>
              <a:t>具有</a:t>
            </a:r>
            <a:r>
              <a:rPr kumimoji="1" lang="zh-CN" altLang="en-US" sz="2800" b="1" dirty="0">
                <a:solidFill>
                  <a:srgbClr val="FF00FF"/>
                </a:solidFill>
                <a:ea typeface="楷体_GB2312" pitchFamily="49" charset="-122"/>
              </a:rPr>
              <a:t>自反性、对称性</a:t>
            </a:r>
          </a:p>
          <a:p>
            <a:pPr eaLnBrk="1" hangingPunct="1">
              <a:buFont typeface="Wingdings" pitchFamily="2" charset="2"/>
              <a:buNone/>
            </a:pPr>
            <a:r>
              <a:rPr kumimoji="1" lang="zh-CN" altLang="en-US" sz="2800" b="1" dirty="0">
                <a:solidFill>
                  <a:srgbClr val="EE0006"/>
                </a:solidFill>
                <a:ea typeface="楷体_GB2312" pitchFamily="49" charset="-122"/>
              </a:rPr>
              <a:t>传递性</a:t>
            </a:r>
            <a:r>
              <a:rPr kumimoji="1" lang="zh-CN" altLang="en-US" sz="2800" b="1" dirty="0">
                <a:ea typeface="楷体_GB2312" pitchFamily="49" charset="-122"/>
              </a:rPr>
              <a:t>验证如下：</a:t>
            </a: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r>
              <a:rPr kumimoji="1" lang="zh-CN" altLang="en-US" sz="2800" b="1" dirty="0"/>
              <a:t>所以</a:t>
            </a:r>
            <a:r>
              <a:rPr kumimoji="1" lang="en-US" altLang="zh-CN" sz="2800" b="1" i="1" dirty="0"/>
              <a:t>R</a:t>
            </a:r>
            <a:r>
              <a:rPr kumimoji="1" lang="zh-CN" altLang="en-US" sz="2800" b="1" dirty="0"/>
              <a:t>具有传递性，</a:t>
            </a:r>
            <a:r>
              <a:rPr kumimoji="1" lang="zh-CN" altLang="en-US" sz="2800" b="1" dirty="0">
                <a:solidFill>
                  <a:srgbClr val="EE0006"/>
                </a:solidFill>
              </a:rPr>
              <a:t>故</a:t>
            </a:r>
            <a:r>
              <a:rPr kumimoji="1" lang="en-US" altLang="zh-CN" sz="2800" b="1" i="1" dirty="0">
                <a:solidFill>
                  <a:srgbClr val="EE0006"/>
                </a:solidFill>
              </a:rPr>
              <a:t>R</a:t>
            </a:r>
            <a:r>
              <a:rPr kumimoji="1" lang="zh-CN" altLang="en-US" sz="2800" b="1" dirty="0">
                <a:solidFill>
                  <a:srgbClr val="EE0006"/>
                </a:solidFill>
              </a:rPr>
              <a:t>是等价矩阵</a:t>
            </a:r>
          </a:p>
        </p:txBody>
      </p:sp>
      <p:graphicFrame>
        <p:nvGraphicFramePr>
          <p:cNvPr id="93188" name="Object 4"/>
          <p:cNvGraphicFramePr>
            <a:graphicFrameLocks noGrp="1" noChangeAspect="1"/>
          </p:cNvGraphicFramePr>
          <p:nvPr>
            <p:ph sz="quarter" idx="2"/>
          </p:nvPr>
        </p:nvGraphicFramePr>
        <p:xfrm>
          <a:off x="6024564" y="1341439"/>
          <a:ext cx="3144837" cy="1838325"/>
        </p:xfrm>
        <a:graphic>
          <a:graphicData uri="http://schemas.openxmlformats.org/presentationml/2006/ole">
            <mc:AlternateContent xmlns:mc="http://schemas.openxmlformats.org/markup-compatibility/2006">
              <mc:Choice xmlns:v="urn:schemas-microsoft-com:vml" Requires="v">
                <p:oleObj name="公式" r:id="rId3" imgW="1955800" imgH="1143000" progId="Equation.3">
                  <p:embed/>
                </p:oleObj>
              </mc:Choice>
              <mc:Fallback>
                <p:oleObj name="公式" r:id="rId3" imgW="1955800" imgH="1143000" progId="Equation.3">
                  <p:embed/>
                  <p:pic>
                    <p:nvPicPr>
                      <p:cNvPr id="931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564" y="1341439"/>
                        <a:ext cx="3144837" cy="183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0" name="Object 6"/>
          <p:cNvGraphicFramePr>
            <a:graphicFrameLocks noGrp="1" noChangeAspect="1"/>
          </p:cNvGraphicFramePr>
          <p:nvPr>
            <p:ph sz="quarter" idx="3"/>
          </p:nvPr>
        </p:nvGraphicFramePr>
        <p:xfrm>
          <a:off x="1524000" y="4322764"/>
          <a:ext cx="9144000" cy="1914525"/>
        </p:xfrm>
        <a:graphic>
          <a:graphicData uri="http://schemas.openxmlformats.org/presentationml/2006/ole">
            <mc:AlternateContent xmlns:mc="http://schemas.openxmlformats.org/markup-compatibility/2006">
              <mc:Choice xmlns:v="urn:schemas-microsoft-com:vml" Requires="v">
                <p:oleObj name="公式" r:id="rId5" imgW="6311900" imgH="1143000" progId="Equation.3">
                  <p:embed/>
                </p:oleObj>
              </mc:Choice>
              <mc:Fallback>
                <p:oleObj name="公式" r:id="rId5" imgW="6311900" imgH="1143000" progId="Equation.3">
                  <p:embed/>
                  <p:pic>
                    <p:nvPicPr>
                      <p:cNvPr id="9319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322764"/>
                        <a:ext cx="9144000" cy="191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7F4DB563-45B0-F0BF-7F4C-10902FFD2879}"/>
              </a:ext>
            </a:extLst>
          </p:cNvPr>
          <p:cNvSpPr>
            <a:spLocks noGrp="1"/>
          </p:cNvSpPr>
          <p:nvPr>
            <p:ph type="sldNum" sz="quarter" idx="11"/>
          </p:nvPr>
        </p:nvSpPr>
        <p:spPr/>
        <p:txBody>
          <a:bodyPr/>
          <a:lstStyle/>
          <a:p>
            <a:pPr>
              <a:defRPr/>
            </a:pPr>
            <a:fld id="{FC9A31AC-AC4A-4C65-A279-8DC32B7DED70}" type="slidenum">
              <a:rPr lang="en-US" altLang="zh-CN" smtClean="0"/>
              <a:pPr>
                <a:defRPr/>
              </a:pPr>
              <a:t>22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wipe(left)">
                                      <p:cBhvr>
                                        <p:cTn id="7" dur="500"/>
                                        <p:tgtEl>
                                          <p:spTgt spid="93187">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3188"/>
                                        </p:tgtEl>
                                        <p:attrNameLst>
                                          <p:attrName>style.visibility</p:attrName>
                                        </p:attrNameLst>
                                      </p:cBhvr>
                                      <p:to>
                                        <p:strVal val="visible"/>
                                      </p:to>
                                    </p:set>
                                    <p:animEffect transition="in" filter="wipe(left)">
                                      <p:cBhvr>
                                        <p:cTn id="11" dur="500"/>
                                        <p:tgtEl>
                                          <p:spTgt spid="93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3187">
                                            <p:txEl>
                                              <p:pRg st="4" end="4"/>
                                            </p:txEl>
                                          </p:spTgt>
                                        </p:tgtEl>
                                        <p:attrNameLst>
                                          <p:attrName>style.visibility</p:attrName>
                                        </p:attrNameLst>
                                      </p:cBhvr>
                                      <p:to>
                                        <p:strVal val="visible"/>
                                      </p:to>
                                    </p:set>
                                    <p:animEffect transition="in" filter="wipe(left)">
                                      <p:cBhvr>
                                        <p:cTn id="16" dur="500"/>
                                        <p:tgtEl>
                                          <p:spTgt spid="93187">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3187">
                                            <p:txEl>
                                              <p:pRg st="5" end="5"/>
                                            </p:txEl>
                                          </p:spTgt>
                                        </p:tgtEl>
                                        <p:attrNameLst>
                                          <p:attrName>style.visibility</p:attrName>
                                        </p:attrNameLst>
                                      </p:cBhvr>
                                      <p:to>
                                        <p:strVal val="visible"/>
                                      </p:to>
                                    </p:set>
                                    <p:animEffect transition="in" filter="wipe(left)">
                                      <p:cBhvr>
                                        <p:cTn id="21" dur="500"/>
                                        <p:tgtEl>
                                          <p:spTgt spid="93187">
                                            <p:txEl>
                                              <p:pRg st="5" end="5"/>
                                            </p:txEl>
                                          </p:spTgt>
                                        </p:tgtEl>
                                      </p:cBhvr>
                                    </p:animEffect>
                                  </p:childTnLst>
                                </p:cTn>
                              </p:par>
                            </p:childTnLst>
                          </p:cTn>
                        </p:par>
                      </p:childTnLst>
                    </p:cTn>
                  </p:par>
                  <p:par>
                    <p:cTn id="22" fill="hold">
                      <p:stCondLst>
                        <p:cond delay="indefinite"/>
                      </p:stCondLst>
                      <p:childTnLst>
                        <p:par>
                          <p:cTn id="23" fill="hold" nodeType="after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3190"/>
                                        </p:tgtEl>
                                        <p:attrNameLst>
                                          <p:attrName>style.visibility</p:attrName>
                                        </p:attrNameLst>
                                      </p:cBhvr>
                                      <p:to>
                                        <p:strVal val="visible"/>
                                      </p:to>
                                    </p:set>
                                    <p:animEffect transition="in" filter="wipe(left)">
                                      <p:cBhvr>
                                        <p:cTn id="26" dur="500"/>
                                        <p:tgtEl>
                                          <p:spTgt spid="9319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3187">
                                            <p:txEl>
                                              <p:pRg st="10" end="10"/>
                                            </p:txEl>
                                          </p:spTgt>
                                        </p:tgtEl>
                                        <p:attrNameLst>
                                          <p:attrName>style.visibility</p:attrName>
                                        </p:attrNameLst>
                                      </p:cBhvr>
                                      <p:to>
                                        <p:strVal val="visible"/>
                                      </p:to>
                                    </p:set>
                                    <p:animEffect transition="in" filter="wipe(left)">
                                      <p:cBhvr>
                                        <p:cTn id="31" dur="500"/>
                                        <p:tgtEl>
                                          <p:spTgt spid="931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15363" name="Rectangle 3"/>
          <p:cNvSpPr>
            <a:spLocks noGrp="1" noChangeArrowheads="1"/>
          </p:cNvSpPr>
          <p:nvPr>
            <p:ph type="body" sz="half" idx="1"/>
          </p:nvPr>
        </p:nvSpPr>
        <p:spPr>
          <a:xfrm>
            <a:off x="983432" y="1700213"/>
            <a:ext cx="8712324" cy="5041900"/>
          </a:xfrm>
        </p:spPr>
        <p:txBody>
          <a:bodyPr/>
          <a:lstStyle/>
          <a:p>
            <a:pPr eaLnBrk="1" hangingPunct="1"/>
            <a:r>
              <a:rPr lang="zh-CN" altLang="en-US" b="1" dirty="0">
                <a:solidFill>
                  <a:srgbClr val="EE0006"/>
                </a:solidFill>
                <a:ea typeface="楷体_GB2312" pitchFamily="49" charset="-122"/>
                <a:cs typeface="Arial" charset="0"/>
              </a:rPr>
              <a:t>元素</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i</a:t>
            </a:r>
            <a:r>
              <a:rPr lang="zh-CN" altLang="en-US" b="1" dirty="0">
                <a:solidFill>
                  <a:srgbClr val="EE0006"/>
                </a:solidFill>
                <a:ea typeface="楷体_GB2312" pitchFamily="49" charset="-122"/>
                <a:cs typeface="Arial" charset="0"/>
              </a:rPr>
              <a:t>与</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j</a:t>
            </a:r>
            <a:r>
              <a:rPr lang="zh-CN" altLang="en-US" b="1" dirty="0">
                <a:solidFill>
                  <a:srgbClr val="EE0006"/>
                </a:solidFill>
                <a:ea typeface="楷体_GB2312" pitchFamily="49" charset="-122"/>
                <a:cs typeface="Arial" charset="0"/>
              </a:rPr>
              <a:t>归为同一类的充要条件是：</a:t>
            </a:r>
          </a:p>
          <a:p>
            <a:pPr lvl="1" eaLnBrk="1" hangingPunct="1">
              <a:buFont typeface="Wingdings" pitchFamily="2" charset="2"/>
              <a:buNone/>
            </a:pPr>
            <a:r>
              <a:rPr lang="zh-CN" altLang="en-US"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R</a:t>
            </a:r>
            <a:r>
              <a:rPr lang="el-GR" altLang="zh-CN" sz="3200" b="1" i="1" baseline="-25000" dirty="0">
                <a:solidFill>
                  <a:srgbClr val="EE0006"/>
                </a:solidFill>
                <a:ea typeface="楷体_GB2312" pitchFamily="49" charset="-122"/>
                <a:cs typeface="Arial" charset="0"/>
              </a:rPr>
              <a:t>λ</a:t>
            </a:r>
            <a:r>
              <a:rPr lang="en-US" altLang="zh-CN" sz="3200" b="1" dirty="0">
                <a:solidFill>
                  <a:srgbClr val="EE0006"/>
                </a:solidFill>
                <a:ea typeface="楷体_GB2312" pitchFamily="49" charset="-122"/>
                <a:cs typeface="Arial" charset="0"/>
              </a:rPr>
              <a:t>(</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j</a:t>
            </a:r>
            <a:r>
              <a:rPr lang="en-US" altLang="zh-CN" sz="3200" b="1" dirty="0">
                <a:solidFill>
                  <a:srgbClr val="EE0006"/>
                </a:solidFill>
                <a:ea typeface="楷体_GB2312" pitchFamily="49" charset="-122"/>
                <a:cs typeface="Arial" charset="0"/>
              </a:rPr>
              <a:t>)=1    (</a:t>
            </a:r>
            <a:r>
              <a:rPr lang="en-US" altLang="zh-CN" sz="3200" b="1" i="1"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j </a:t>
            </a:r>
            <a:r>
              <a:rPr lang="en-US" altLang="zh-CN" sz="3200" b="1" dirty="0">
                <a:solidFill>
                  <a:srgbClr val="EE0006"/>
                </a:solidFill>
                <a:ea typeface="楷体_GB2312" pitchFamily="49" charset="-122"/>
                <a:cs typeface="Arial" charset="0"/>
              </a:rPr>
              <a:t>=1, 2, 3, 4, 5)</a:t>
            </a:r>
          </a:p>
          <a:p>
            <a:pPr eaLnBrk="1" hangingPunct="1"/>
            <a:r>
              <a:rPr lang="zh-CN" altLang="en-US" sz="2800" b="1" dirty="0">
                <a:solidFill>
                  <a:schemeClr val="bg2"/>
                </a:solidFill>
                <a:ea typeface="楷体_GB2312" pitchFamily="49" charset="-122"/>
                <a:cs typeface="Arial" charset="0"/>
              </a:rPr>
              <a:t>写出</a:t>
            </a:r>
            <a:r>
              <a:rPr lang="el-GR" altLang="zh-CN" sz="2800" b="1" i="1" dirty="0">
                <a:solidFill>
                  <a:schemeClr val="bg2"/>
                </a:solidFill>
                <a:ea typeface="楷体_GB2312" pitchFamily="49" charset="-122"/>
                <a:cs typeface="Arial" charset="0"/>
              </a:rPr>
              <a:t>λ</a:t>
            </a:r>
            <a:r>
              <a:rPr lang="en-US" altLang="zh-CN" sz="2800" b="1" dirty="0">
                <a:solidFill>
                  <a:schemeClr val="bg2"/>
                </a:solidFill>
                <a:latin typeface="Times New Roman" pitchFamily="18" charset="0"/>
                <a:ea typeface="楷体_GB2312" pitchFamily="49" charset="-122"/>
                <a:cs typeface="Arial" charset="0"/>
              </a:rPr>
              <a:t>=1, 0.8, 0.6, 0.5, 0.4</a:t>
            </a:r>
            <a:r>
              <a:rPr lang="zh-CN" altLang="en-US" sz="2800" b="1" dirty="0">
                <a:solidFill>
                  <a:schemeClr val="bg2"/>
                </a:solidFill>
                <a:latin typeface="Times New Roman" pitchFamily="18" charset="0"/>
                <a:ea typeface="楷体_GB2312" pitchFamily="49" charset="-122"/>
                <a:cs typeface="Arial" charset="0"/>
              </a:rPr>
              <a:t>时，相应的</a:t>
            </a:r>
            <a:r>
              <a:rPr lang="en-US" altLang="zh-CN" sz="2800" b="1" i="1" dirty="0">
                <a:solidFill>
                  <a:schemeClr val="bg2"/>
                </a:solidFill>
                <a:ea typeface="楷体_GB2312" pitchFamily="49" charset="-122"/>
                <a:cs typeface="Arial" charset="0"/>
              </a:rPr>
              <a:t>R</a:t>
            </a:r>
            <a:r>
              <a:rPr lang="el-GR" altLang="zh-CN" sz="2800" b="1" i="1" baseline="-25000" dirty="0">
                <a:solidFill>
                  <a:schemeClr val="bg2"/>
                </a:solidFill>
                <a:ea typeface="楷体_GB2312" pitchFamily="49" charset="-122"/>
                <a:cs typeface="Arial" charset="0"/>
              </a:rPr>
              <a:t>λ</a:t>
            </a:r>
            <a:r>
              <a:rPr lang="zh-CN" altLang="en-US" sz="2800" b="1" dirty="0">
                <a:solidFill>
                  <a:schemeClr val="bg2"/>
                </a:solidFill>
                <a:latin typeface="Times New Roman" pitchFamily="18" charset="0"/>
                <a:ea typeface="楷体_GB2312" pitchFamily="49" charset="-122"/>
                <a:cs typeface="Arial" charset="0"/>
              </a:rPr>
              <a:t>和分类</a:t>
            </a:r>
          </a:p>
          <a:p>
            <a:pPr eaLnBrk="1" hangingPunct="1"/>
            <a:r>
              <a:rPr lang="zh-CN" altLang="en-US" sz="2800" b="1" dirty="0">
                <a:latin typeface="Times New Roman" pitchFamily="18" charset="0"/>
                <a:ea typeface="楷体_GB2312" pitchFamily="49" charset="-122"/>
                <a:cs typeface="Arial" charset="0"/>
              </a:rPr>
              <a:t>当</a:t>
            </a:r>
            <a:r>
              <a:rPr lang="en-US" altLang="zh-CN" sz="2800" b="1" dirty="0">
                <a:solidFill>
                  <a:srgbClr val="057939"/>
                </a:solidFill>
                <a:latin typeface="Times New Roman" pitchFamily="18" charset="0"/>
                <a:ea typeface="楷体_GB2312" pitchFamily="49" charset="-122"/>
                <a:cs typeface="Arial" charset="0"/>
              </a:rPr>
              <a:t>0.8</a:t>
            </a:r>
            <a:r>
              <a:rPr lang="en-US" altLang="zh-CN" sz="2800" b="1" dirty="0">
                <a:solidFill>
                  <a:srgbClr val="057939"/>
                </a:solidFill>
                <a:ea typeface="楷体_GB2312" pitchFamily="49" charset="-122"/>
                <a:cs typeface="Arial" charset="0"/>
              </a:rPr>
              <a:t>&lt;</a:t>
            </a:r>
            <a:r>
              <a:rPr lang="el-GR" altLang="zh-CN" sz="2800" b="1" dirty="0">
                <a:solidFill>
                  <a:srgbClr val="057939"/>
                </a:solidFill>
                <a:ea typeface="楷体_GB2312" pitchFamily="49" charset="-122"/>
                <a:cs typeface="Arial" charset="0"/>
              </a:rPr>
              <a:t>λ</a:t>
            </a:r>
            <a:r>
              <a:rPr lang="en-US" altLang="zh-CN" sz="2800" b="1" dirty="0">
                <a:solidFill>
                  <a:srgbClr val="057939"/>
                </a:solidFill>
                <a:ea typeface="楷体_GB2312" pitchFamily="49" charset="-122"/>
                <a:cs typeface="Arial" charset="0"/>
              </a:rPr>
              <a:t>≤1</a:t>
            </a:r>
            <a:r>
              <a:rPr lang="en-US" altLang="zh-CN" sz="2800" b="1" dirty="0">
                <a:ea typeface="楷体_GB2312" pitchFamily="49" charset="-122"/>
                <a:cs typeface="Arial" charset="0"/>
              </a:rPr>
              <a:t>  </a:t>
            </a:r>
            <a:r>
              <a:rPr lang="zh-CN" altLang="en-US" sz="2800" b="1" dirty="0">
                <a:ea typeface="楷体_GB2312" pitchFamily="49" charset="-122"/>
                <a:cs typeface="Arial" charset="0"/>
              </a:rPr>
              <a:t>时，</a:t>
            </a:r>
          </a:p>
          <a:p>
            <a:pPr eaLnBrk="1" hangingPunct="1"/>
            <a:endParaRPr lang="zh-CN" altLang="en-US" sz="2800" b="1" dirty="0">
              <a:ea typeface="楷体_GB2312" pitchFamily="49" charset="-122"/>
              <a:cs typeface="Arial" charset="0"/>
            </a:endParaRPr>
          </a:p>
          <a:p>
            <a:pPr eaLnBrk="1" hangingPunct="1"/>
            <a:endParaRPr lang="zh-CN" altLang="en-US"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r>
              <a:rPr lang="zh-CN" altLang="en-US" sz="2800" b="1" dirty="0">
                <a:ea typeface="楷体_GB2312" pitchFamily="49" charset="-122"/>
                <a:cs typeface="Arial" charset="0"/>
              </a:rPr>
              <a:t>将</a:t>
            </a:r>
            <a:r>
              <a:rPr lang="en-US" altLang="zh-CN" sz="2800" b="1" dirty="0">
                <a:ea typeface="楷体_GB2312" pitchFamily="49" charset="-122"/>
                <a:cs typeface="Arial" charset="0"/>
              </a:rPr>
              <a:t>U</a:t>
            </a:r>
            <a:r>
              <a:rPr lang="zh-CN" altLang="en-US" sz="2800" b="1" dirty="0">
                <a:ea typeface="楷体_GB2312" pitchFamily="49" charset="-122"/>
                <a:cs typeface="Arial" charset="0"/>
              </a:rPr>
              <a:t>分为五类： </a:t>
            </a:r>
            <a:r>
              <a:rPr kumimoji="1" lang="en-US" altLang="zh-CN" b="1" dirty="0">
                <a:solidFill>
                  <a:srgbClr val="3333FF"/>
                </a:solidFill>
                <a:ea typeface="楷体_GB2312" pitchFamily="49" charset="-122"/>
                <a:cs typeface="Arial" charset="0"/>
              </a:rPr>
              <a:t>{u</a:t>
            </a:r>
            <a:r>
              <a:rPr kumimoji="1" lang="en-US" altLang="zh-CN" b="1" baseline="-25000" dirty="0">
                <a:solidFill>
                  <a:srgbClr val="3333FF"/>
                </a:solidFill>
                <a:ea typeface="楷体_GB2312" pitchFamily="49" charset="-122"/>
                <a:cs typeface="Arial" charset="0"/>
              </a:rPr>
              <a:t>1</a:t>
            </a:r>
            <a:r>
              <a:rPr kumimoji="1" lang="en-US" altLang="zh-CN" b="1" dirty="0">
                <a:solidFill>
                  <a:srgbClr val="3333FF"/>
                </a:solidFill>
                <a:ea typeface="楷体_GB2312" pitchFamily="49" charset="-122"/>
                <a:cs typeface="Arial" charset="0"/>
              </a:rPr>
              <a:t>}, {u</a:t>
            </a:r>
            <a:r>
              <a:rPr kumimoji="1" lang="en-US" altLang="zh-CN" b="1" baseline="-25000" dirty="0">
                <a:solidFill>
                  <a:srgbClr val="3333FF"/>
                </a:solidFill>
              </a:rPr>
              <a:t>2</a:t>
            </a:r>
            <a:r>
              <a:rPr kumimoji="1" lang="en-US" altLang="zh-CN" b="1" dirty="0">
                <a:solidFill>
                  <a:srgbClr val="3333FF"/>
                </a:solidFill>
                <a:ea typeface="楷体_GB2312" pitchFamily="49" charset="-122"/>
              </a:rPr>
              <a:t>}, {u</a:t>
            </a:r>
            <a:r>
              <a:rPr kumimoji="1" lang="en-US" altLang="zh-CN" b="1" baseline="-25000" dirty="0">
                <a:solidFill>
                  <a:srgbClr val="3333FF"/>
                </a:solidFill>
              </a:rPr>
              <a:t>3</a:t>
            </a:r>
            <a:r>
              <a:rPr kumimoji="1" lang="en-US" altLang="zh-CN" b="1" dirty="0">
                <a:solidFill>
                  <a:srgbClr val="3333FF"/>
                </a:solidFill>
                <a:ea typeface="楷体_GB2312" pitchFamily="49" charset="-122"/>
              </a:rPr>
              <a:t>}, {u</a:t>
            </a:r>
            <a:r>
              <a:rPr kumimoji="1" lang="en-US" altLang="zh-CN" b="1" baseline="-25000" dirty="0">
                <a:solidFill>
                  <a:srgbClr val="3333FF"/>
                </a:solidFill>
              </a:rPr>
              <a:t>4</a:t>
            </a:r>
            <a:r>
              <a:rPr kumimoji="1" lang="en-US" altLang="zh-CN" b="1" dirty="0">
                <a:solidFill>
                  <a:srgbClr val="3333FF"/>
                </a:solidFill>
                <a:ea typeface="楷体_GB2312" pitchFamily="49" charset="-122"/>
              </a:rPr>
              <a:t>}, {u</a:t>
            </a:r>
            <a:r>
              <a:rPr kumimoji="1" lang="en-US" altLang="zh-CN" b="1" baseline="-25000" dirty="0">
                <a:solidFill>
                  <a:srgbClr val="3333FF"/>
                </a:solidFill>
              </a:rPr>
              <a:t>5</a:t>
            </a:r>
            <a:r>
              <a:rPr kumimoji="1" lang="en-US" altLang="zh-CN" b="1" dirty="0">
                <a:solidFill>
                  <a:srgbClr val="3333FF"/>
                </a:solidFill>
                <a:ea typeface="楷体_GB2312" pitchFamily="49" charset="-122"/>
              </a:rPr>
              <a:t>}</a:t>
            </a:r>
            <a:endParaRPr lang="zh-CN" altLang="el-GR" sz="2800" b="1" dirty="0">
              <a:solidFill>
                <a:srgbClr val="3333FF"/>
              </a:solidFill>
              <a:ea typeface="楷体_GB2312" pitchFamily="49" charset="-122"/>
            </a:endParaRPr>
          </a:p>
        </p:txBody>
      </p:sp>
      <p:graphicFrame>
        <p:nvGraphicFramePr>
          <p:cNvPr id="96260" name="Object 4"/>
          <p:cNvGraphicFramePr>
            <a:graphicFrameLocks noGrp="1" noChangeAspect="1"/>
          </p:cNvGraphicFramePr>
          <p:nvPr>
            <p:ph sz="half" idx="2"/>
          </p:nvPr>
        </p:nvGraphicFramePr>
        <p:xfrm>
          <a:off x="4079777" y="3378200"/>
          <a:ext cx="3313113" cy="2662238"/>
        </p:xfrm>
        <a:graphic>
          <a:graphicData uri="http://schemas.openxmlformats.org/presentationml/2006/ole">
            <mc:AlternateContent xmlns:mc="http://schemas.openxmlformats.org/markup-compatibility/2006">
              <mc:Choice xmlns:v="urn:schemas-microsoft-com:vml" Requires="v">
                <p:oleObj name="公式" r:id="rId2" imgW="1422400" imgH="1143000" progId="Equation.3">
                  <p:embed/>
                </p:oleObj>
              </mc:Choice>
              <mc:Fallback>
                <p:oleObj name="公式" r:id="rId2" imgW="1422400" imgH="1143000" progId="Equation.3">
                  <p:embed/>
                  <p:pic>
                    <p:nvPicPr>
                      <p:cNvPr id="962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777" y="3378200"/>
                        <a:ext cx="3313113" cy="266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BBB17AFB-F0D0-0EA5-DD20-C3A291A580C9}"/>
              </a:ext>
            </a:extLst>
          </p:cNvPr>
          <p:cNvGraphicFramePr>
            <a:graphicFrameLocks noChangeAspect="1"/>
          </p:cNvGraphicFramePr>
          <p:nvPr>
            <p:extLst>
              <p:ext uri="{D42A27DB-BD31-4B8C-83A1-F6EECF244321}">
                <p14:modId xmlns:p14="http://schemas.microsoft.com/office/powerpoint/2010/main" val="2052782514"/>
              </p:ext>
            </p:extLst>
          </p:nvPr>
        </p:nvGraphicFramePr>
        <p:xfrm>
          <a:off x="8737600" y="1412775"/>
          <a:ext cx="3479079" cy="2319387"/>
        </p:xfrm>
        <a:graphic>
          <a:graphicData uri="http://schemas.openxmlformats.org/presentationml/2006/ole">
            <mc:AlternateContent xmlns:mc="http://schemas.openxmlformats.org/markup-compatibility/2006">
              <mc:Choice xmlns:v="urn:schemas-microsoft-com:vml" Requires="v">
                <p:oleObj name="Equation" r:id="rId4" imgW="1714320" imgH="1143000" progId="Equation.DSMT4">
                  <p:embed/>
                </p:oleObj>
              </mc:Choice>
              <mc:Fallback>
                <p:oleObj name="Equation" r:id="rId4" imgW="1714320" imgH="1143000" progId="Equation.DSMT4">
                  <p:embed/>
                  <p:pic>
                    <p:nvPicPr>
                      <p:cNvPr id="2" name="Object 4">
                        <a:extLst>
                          <a:ext uri="{FF2B5EF4-FFF2-40B4-BE49-F238E27FC236}">
                            <a16:creationId xmlns:a16="http://schemas.microsoft.com/office/drawing/2014/main" id="{BBB17AFB-F0D0-0EA5-DD20-C3A291A580C9}"/>
                          </a:ext>
                        </a:extLst>
                      </p:cNvPr>
                      <p:cNvPicPr>
                        <a:picLocks noChangeAspect="1" noChangeArrowheads="1"/>
                      </p:cNvPicPr>
                      <p:nvPr/>
                    </p:nvPicPr>
                    <p:blipFill>
                      <a:blip r:embed="rId5"/>
                      <a:srcRect/>
                      <a:stretch>
                        <a:fillRect/>
                      </a:stretch>
                    </p:blipFill>
                    <p:spPr bwMode="auto">
                      <a:xfrm>
                        <a:off x="8737600" y="1412775"/>
                        <a:ext cx="3479079" cy="2319387"/>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755EBF7F-A277-CF38-D61C-62BE3C08BE3C}"/>
              </a:ext>
            </a:extLst>
          </p:cNvPr>
          <p:cNvSpPr>
            <a:spLocks noGrp="1"/>
          </p:cNvSpPr>
          <p:nvPr>
            <p:ph type="sldNum" sz="quarter" idx="11"/>
          </p:nvPr>
        </p:nvSpPr>
        <p:spPr/>
        <p:txBody>
          <a:bodyPr/>
          <a:lstStyle/>
          <a:p>
            <a:pPr>
              <a:defRPr/>
            </a:pPr>
            <a:fld id="{611376B5-62E6-403F-97A0-5A1E42AE81DF}" type="slidenum">
              <a:rPr lang="en-US" altLang="zh-CN"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left)">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wipe(left)">
                                      <p:cBhvr>
                                        <p:cTn id="17" dur="500"/>
                                        <p:tgtEl>
                                          <p:spTgt spid="1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wipe(left)">
                                      <p:cBhvr>
                                        <p:cTn id="22" dur="500"/>
                                        <p:tgtEl>
                                          <p:spTgt spid="15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6260"/>
                                        </p:tgtEl>
                                        <p:attrNameLst>
                                          <p:attrName>style.visibility</p:attrName>
                                        </p:attrNameLst>
                                      </p:cBhvr>
                                      <p:to>
                                        <p:strVal val="visible"/>
                                      </p:to>
                                    </p:set>
                                    <p:animEffect transition="in" filter="wipe(left)">
                                      <p:cBhvr>
                                        <p:cTn id="27" dur="500"/>
                                        <p:tgtEl>
                                          <p:spTgt spid="962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363">
                                            <p:txEl>
                                              <p:pRg st="8" end="8"/>
                                            </p:txEl>
                                          </p:spTgt>
                                        </p:tgtEl>
                                        <p:attrNameLst>
                                          <p:attrName>style.visibility</p:attrName>
                                        </p:attrNameLst>
                                      </p:cBhvr>
                                      <p:to>
                                        <p:strVal val="visible"/>
                                      </p:to>
                                    </p:set>
                                    <p:animEffect transition="in" filter="wipe(left)">
                                      <p:cBhvr>
                                        <p:cTn id="32" dur="500"/>
                                        <p:tgtEl>
                                          <p:spTgt spid="153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16387" name="Rectangle 3"/>
          <p:cNvSpPr>
            <a:spLocks noGrp="1" noChangeArrowheads="1"/>
          </p:cNvSpPr>
          <p:nvPr>
            <p:ph type="body" sz="half" idx="1"/>
          </p:nvPr>
        </p:nvSpPr>
        <p:spPr>
          <a:xfrm>
            <a:off x="1127448" y="1700213"/>
            <a:ext cx="8712324" cy="5041900"/>
          </a:xfrm>
        </p:spPr>
        <p:txBody>
          <a:bodyPr/>
          <a:lstStyle/>
          <a:p>
            <a:pPr eaLnBrk="1" hangingPunct="1"/>
            <a:r>
              <a:rPr lang="zh-CN" altLang="en-US" b="1" dirty="0">
                <a:solidFill>
                  <a:srgbClr val="EE0006"/>
                </a:solidFill>
                <a:ea typeface="楷体_GB2312" pitchFamily="49" charset="-122"/>
                <a:cs typeface="Arial" charset="0"/>
              </a:rPr>
              <a:t>元素</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i</a:t>
            </a:r>
            <a:r>
              <a:rPr lang="zh-CN" altLang="en-US" b="1" dirty="0">
                <a:solidFill>
                  <a:srgbClr val="EE0006"/>
                </a:solidFill>
                <a:ea typeface="楷体_GB2312" pitchFamily="49" charset="-122"/>
                <a:cs typeface="Arial" charset="0"/>
              </a:rPr>
              <a:t>与</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j</a:t>
            </a:r>
            <a:r>
              <a:rPr lang="zh-CN" altLang="en-US" b="1" dirty="0">
                <a:solidFill>
                  <a:srgbClr val="EE0006"/>
                </a:solidFill>
                <a:ea typeface="楷体_GB2312" pitchFamily="49" charset="-122"/>
                <a:cs typeface="Arial" charset="0"/>
              </a:rPr>
              <a:t>归为同一类的充要条件是：</a:t>
            </a:r>
          </a:p>
          <a:p>
            <a:pPr lvl="1" eaLnBrk="1" hangingPunct="1">
              <a:buFont typeface="Wingdings" pitchFamily="2" charset="2"/>
              <a:buNone/>
            </a:pPr>
            <a:r>
              <a:rPr lang="zh-CN" altLang="en-US"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R</a:t>
            </a:r>
            <a:r>
              <a:rPr lang="el-GR" altLang="zh-CN" sz="3200" b="1" i="1" baseline="-25000" dirty="0">
                <a:solidFill>
                  <a:srgbClr val="EE0006"/>
                </a:solidFill>
                <a:ea typeface="楷体_GB2312" pitchFamily="49" charset="-122"/>
                <a:cs typeface="Arial" charset="0"/>
              </a:rPr>
              <a:t>λ</a:t>
            </a:r>
            <a:r>
              <a:rPr lang="en-US" altLang="zh-CN" sz="3200" b="1" dirty="0">
                <a:solidFill>
                  <a:srgbClr val="EE0006"/>
                </a:solidFill>
                <a:ea typeface="楷体_GB2312" pitchFamily="49" charset="-122"/>
                <a:cs typeface="Arial" charset="0"/>
              </a:rPr>
              <a:t>(</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j</a:t>
            </a:r>
            <a:r>
              <a:rPr lang="en-US" altLang="zh-CN" sz="3200" b="1" dirty="0">
                <a:solidFill>
                  <a:srgbClr val="EE0006"/>
                </a:solidFill>
                <a:ea typeface="楷体_GB2312" pitchFamily="49" charset="-122"/>
                <a:cs typeface="Arial" charset="0"/>
              </a:rPr>
              <a:t>)=1    (</a:t>
            </a:r>
            <a:r>
              <a:rPr lang="en-US" altLang="zh-CN" sz="3200" b="1" i="1"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j </a:t>
            </a:r>
            <a:r>
              <a:rPr lang="en-US" altLang="zh-CN" sz="3200" b="1" dirty="0">
                <a:solidFill>
                  <a:srgbClr val="EE0006"/>
                </a:solidFill>
                <a:ea typeface="楷体_GB2312" pitchFamily="49" charset="-122"/>
                <a:cs typeface="Arial" charset="0"/>
              </a:rPr>
              <a:t>=1, 2, 3, 4, 5)</a:t>
            </a:r>
          </a:p>
          <a:p>
            <a:pPr eaLnBrk="1" hangingPunct="1"/>
            <a:r>
              <a:rPr lang="zh-CN" altLang="en-US" sz="2800" b="1" dirty="0">
                <a:solidFill>
                  <a:schemeClr val="bg2"/>
                </a:solidFill>
                <a:ea typeface="楷体_GB2312" pitchFamily="49" charset="-122"/>
                <a:cs typeface="Arial" charset="0"/>
              </a:rPr>
              <a:t>写出</a:t>
            </a:r>
            <a:r>
              <a:rPr lang="el-GR" altLang="zh-CN" sz="2800" b="1" i="1" dirty="0">
                <a:solidFill>
                  <a:schemeClr val="bg2"/>
                </a:solidFill>
                <a:ea typeface="楷体_GB2312" pitchFamily="49" charset="-122"/>
                <a:cs typeface="Arial" charset="0"/>
              </a:rPr>
              <a:t>λ</a:t>
            </a:r>
            <a:r>
              <a:rPr lang="en-US" altLang="zh-CN" sz="2800" b="1" dirty="0">
                <a:solidFill>
                  <a:schemeClr val="bg2"/>
                </a:solidFill>
                <a:latin typeface="Times New Roman" pitchFamily="18" charset="0"/>
                <a:ea typeface="楷体_GB2312" pitchFamily="49" charset="-122"/>
                <a:cs typeface="Arial" charset="0"/>
              </a:rPr>
              <a:t>=1, 0.8, 0.6, 0.5, 0.4</a:t>
            </a:r>
            <a:r>
              <a:rPr lang="zh-CN" altLang="en-US" sz="2800" b="1" dirty="0">
                <a:solidFill>
                  <a:schemeClr val="bg2"/>
                </a:solidFill>
                <a:latin typeface="Times New Roman" pitchFamily="18" charset="0"/>
                <a:ea typeface="楷体_GB2312" pitchFamily="49" charset="-122"/>
                <a:cs typeface="Arial" charset="0"/>
              </a:rPr>
              <a:t>时，相应的</a:t>
            </a:r>
            <a:r>
              <a:rPr lang="en-US" altLang="zh-CN" sz="2800" b="1" i="1" dirty="0">
                <a:solidFill>
                  <a:schemeClr val="bg2"/>
                </a:solidFill>
                <a:ea typeface="楷体_GB2312" pitchFamily="49" charset="-122"/>
                <a:cs typeface="Arial" charset="0"/>
              </a:rPr>
              <a:t>R</a:t>
            </a:r>
            <a:r>
              <a:rPr lang="el-GR" altLang="zh-CN" sz="2800" b="1" i="1" baseline="-25000" dirty="0">
                <a:solidFill>
                  <a:schemeClr val="bg2"/>
                </a:solidFill>
                <a:ea typeface="楷体_GB2312" pitchFamily="49" charset="-122"/>
                <a:cs typeface="Arial" charset="0"/>
              </a:rPr>
              <a:t>λ</a:t>
            </a:r>
            <a:r>
              <a:rPr lang="zh-CN" altLang="en-US" sz="2800" b="1" dirty="0">
                <a:solidFill>
                  <a:schemeClr val="bg2"/>
                </a:solidFill>
                <a:latin typeface="Times New Roman" pitchFamily="18" charset="0"/>
                <a:ea typeface="楷体_GB2312" pitchFamily="49" charset="-122"/>
                <a:cs typeface="Arial" charset="0"/>
              </a:rPr>
              <a:t>和分类</a:t>
            </a:r>
          </a:p>
          <a:p>
            <a:pPr eaLnBrk="1" hangingPunct="1"/>
            <a:r>
              <a:rPr lang="zh-CN" altLang="en-US" sz="2800" b="1" dirty="0">
                <a:latin typeface="Times New Roman" pitchFamily="18" charset="0"/>
                <a:ea typeface="楷体_GB2312" pitchFamily="49" charset="-122"/>
                <a:cs typeface="Arial" charset="0"/>
              </a:rPr>
              <a:t>当</a:t>
            </a:r>
            <a:r>
              <a:rPr lang="en-US" altLang="zh-CN" sz="2800" b="1" dirty="0">
                <a:solidFill>
                  <a:srgbClr val="057939"/>
                </a:solidFill>
                <a:latin typeface="Times New Roman" pitchFamily="18" charset="0"/>
                <a:ea typeface="楷体_GB2312" pitchFamily="49" charset="-122"/>
                <a:cs typeface="Arial" charset="0"/>
              </a:rPr>
              <a:t>0.6</a:t>
            </a:r>
            <a:r>
              <a:rPr lang="en-US" altLang="zh-CN" sz="2800" b="1" dirty="0">
                <a:solidFill>
                  <a:srgbClr val="057939"/>
                </a:solidFill>
                <a:ea typeface="楷体_GB2312" pitchFamily="49" charset="-122"/>
                <a:cs typeface="Arial" charset="0"/>
              </a:rPr>
              <a:t>&lt;</a:t>
            </a:r>
            <a:r>
              <a:rPr lang="el-GR" altLang="zh-CN" sz="2800" b="1" dirty="0">
                <a:solidFill>
                  <a:srgbClr val="057939"/>
                </a:solidFill>
                <a:ea typeface="楷体_GB2312" pitchFamily="49" charset="-122"/>
                <a:cs typeface="Arial" charset="0"/>
              </a:rPr>
              <a:t>λ</a:t>
            </a:r>
            <a:r>
              <a:rPr lang="en-US" altLang="zh-CN" sz="2800" b="1" dirty="0">
                <a:solidFill>
                  <a:srgbClr val="057939"/>
                </a:solidFill>
                <a:ea typeface="楷体_GB2312" pitchFamily="49" charset="-122"/>
                <a:cs typeface="Arial" charset="0"/>
              </a:rPr>
              <a:t>≤0.8</a:t>
            </a:r>
            <a:r>
              <a:rPr lang="zh-CN" altLang="en-US" sz="2800" b="1" dirty="0">
                <a:ea typeface="楷体_GB2312" pitchFamily="49" charset="-122"/>
                <a:cs typeface="Arial" charset="0"/>
              </a:rPr>
              <a:t>时，</a:t>
            </a:r>
          </a:p>
          <a:p>
            <a:pPr eaLnBrk="1" hangingPunct="1"/>
            <a:endParaRPr lang="zh-CN" altLang="en-US" sz="2800" b="1" dirty="0">
              <a:ea typeface="楷体_GB2312" pitchFamily="49" charset="-122"/>
              <a:cs typeface="Arial" charset="0"/>
            </a:endParaRPr>
          </a:p>
          <a:p>
            <a:pPr eaLnBrk="1" hangingPunct="1"/>
            <a:endParaRPr lang="zh-CN" altLang="en-US"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r>
              <a:rPr lang="zh-CN" altLang="en-US" sz="2800" b="1" dirty="0">
                <a:ea typeface="楷体_GB2312" pitchFamily="49" charset="-122"/>
                <a:cs typeface="Arial" charset="0"/>
              </a:rPr>
              <a:t>将</a:t>
            </a:r>
            <a:r>
              <a:rPr lang="en-US" altLang="zh-CN" sz="2800" b="1" dirty="0">
                <a:ea typeface="楷体_GB2312" pitchFamily="49" charset="-122"/>
                <a:cs typeface="Arial" charset="0"/>
              </a:rPr>
              <a:t>U</a:t>
            </a:r>
            <a:r>
              <a:rPr lang="zh-CN" altLang="en-US" sz="2800" b="1" dirty="0">
                <a:ea typeface="楷体_GB2312" pitchFamily="49" charset="-122"/>
                <a:cs typeface="Arial" charset="0"/>
              </a:rPr>
              <a:t>分为四类： </a:t>
            </a:r>
            <a:r>
              <a:rPr kumimoji="1" lang="en-US" altLang="zh-CN" b="1" dirty="0">
                <a:solidFill>
                  <a:srgbClr val="3333FF"/>
                </a:solidFill>
                <a:ea typeface="楷体_GB2312" pitchFamily="49" charset="-122"/>
                <a:cs typeface="Arial" charset="0"/>
              </a:rPr>
              <a:t>{u</a:t>
            </a:r>
            <a:r>
              <a:rPr kumimoji="1" lang="en-US" altLang="zh-CN" b="1" baseline="-25000" dirty="0">
                <a:solidFill>
                  <a:srgbClr val="3333FF"/>
                </a:solidFill>
                <a:ea typeface="楷体_GB2312" pitchFamily="49" charset="-122"/>
                <a:cs typeface="Arial" charset="0"/>
              </a:rPr>
              <a:t>1</a:t>
            </a:r>
            <a:r>
              <a:rPr kumimoji="1" lang="en-US" altLang="zh-CN" b="1" dirty="0">
                <a:solidFill>
                  <a:srgbClr val="3333FF"/>
                </a:solidFill>
                <a:ea typeface="楷体_GB2312" pitchFamily="49" charset="-122"/>
                <a:cs typeface="Arial" charset="0"/>
              </a:rPr>
              <a:t>, u</a:t>
            </a:r>
            <a:r>
              <a:rPr kumimoji="1" lang="en-US" altLang="zh-CN" b="1" baseline="-25000" dirty="0">
                <a:solidFill>
                  <a:srgbClr val="3333FF"/>
                </a:solidFill>
              </a:rPr>
              <a:t>3</a:t>
            </a:r>
            <a:r>
              <a:rPr kumimoji="1" lang="en-US" altLang="zh-CN" b="1" dirty="0">
                <a:solidFill>
                  <a:srgbClr val="3333FF"/>
                </a:solidFill>
                <a:ea typeface="楷体_GB2312" pitchFamily="49" charset="-122"/>
              </a:rPr>
              <a:t>}, {u</a:t>
            </a:r>
            <a:r>
              <a:rPr kumimoji="1" lang="en-US" altLang="zh-CN" b="1" baseline="-25000" dirty="0">
                <a:solidFill>
                  <a:srgbClr val="3333FF"/>
                </a:solidFill>
              </a:rPr>
              <a:t>2</a:t>
            </a:r>
            <a:r>
              <a:rPr kumimoji="1" lang="en-US" altLang="zh-CN" b="1" dirty="0">
                <a:solidFill>
                  <a:srgbClr val="3333FF"/>
                </a:solidFill>
                <a:ea typeface="楷体_GB2312" pitchFamily="49" charset="-122"/>
              </a:rPr>
              <a:t>}, {u</a:t>
            </a:r>
            <a:r>
              <a:rPr kumimoji="1" lang="en-US" altLang="zh-CN" b="1" baseline="-25000" dirty="0">
                <a:solidFill>
                  <a:srgbClr val="3333FF"/>
                </a:solidFill>
              </a:rPr>
              <a:t>4</a:t>
            </a:r>
            <a:r>
              <a:rPr kumimoji="1" lang="en-US" altLang="zh-CN" b="1" dirty="0">
                <a:solidFill>
                  <a:srgbClr val="3333FF"/>
                </a:solidFill>
                <a:ea typeface="楷体_GB2312" pitchFamily="49" charset="-122"/>
              </a:rPr>
              <a:t>}, {u</a:t>
            </a:r>
            <a:r>
              <a:rPr kumimoji="1" lang="en-US" altLang="zh-CN" b="1" baseline="-25000" dirty="0">
                <a:solidFill>
                  <a:srgbClr val="3333FF"/>
                </a:solidFill>
              </a:rPr>
              <a:t>5</a:t>
            </a:r>
            <a:r>
              <a:rPr kumimoji="1" lang="en-US" altLang="zh-CN" b="1" dirty="0">
                <a:solidFill>
                  <a:srgbClr val="3333FF"/>
                </a:solidFill>
                <a:ea typeface="楷体_GB2312" pitchFamily="49" charset="-122"/>
              </a:rPr>
              <a:t>}</a:t>
            </a:r>
            <a:endParaRPr lang="zh-CN" altLang="el-GR" sz="2800" b="1" dirty="0">
              <a:solidFill>
                <a:srgbClr val="3333FF"/>
              </a:solidFill>
              <a:ea typeface="楷体_GB2312" pitchFamily="49" charset="-122"/>
            </a:endParaRPr>
          </a:p>
        </p:txBody>
      </p:sp>
      <p:graphicFrame>
        <p:nvGraphicFramePr>
          <p:cNvPr id="203780" name="Object 4"/>
          <p:cNvGraphicFramePr>
            <a:graphicFrameLocks noGrp="1" noChangeAspect="1"/>
          </p:cNvGraphicFramePr>
          <p:nvPr>
            <p:ph sz="half" idx="2"/>
          </p:nvPr>
        </p:nvGraphicFramePr>
        <p:xfrm>
          <a:off x="4007768" y="3429001"/>
          <a:ext cx="3384550" cy="2581275"/>
        </p:xfrm>
        <a:graphic>
          <a:graphicData uri="http://schemas.openxmlformats.org/presentationml/2006/ole">
            <mc:AlternateContent xmlns:mc="http://schemas.openxmlformats.org/markup-compatibility/2006">
              <mc:Choice xmlns:v="urn:schemas-microsoft-com:vml" Requires="v">
                <p:oleObj name="公式" r:id="rId2" imgW="1498600" imgH="1143000" progId="Equation.3">
                  <p:embed/>
                </p:oleObj>
              </mc:Choice>
              <mc:Fallback>
                <p:oleObj name="公式" r:id="rId2" imgW="1498600" imgH="1143000" progId="Equation.3">
                  <p:embed/>
                  <p:pic>
                    <p:nvPicPr>
                      <p:cNvPr id="2037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7768" y="3429001"/>
                        <a:ext cx="3384550" cy="258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260CBD1F-8671-5B48-8E87-18D35908B729}"/>
              </a:ext>
            </a:extLst>
          </p:cNvPr>
          <p:cNvGraphicFramePr>
            <a:graphicFrameLocks noChangeAspect="1"/>
          </p:cNvGraphicFramePr>
          <p:nvPr>
            <p:extLst>
              <p:ext uri="{D42A27DB-BD31-4B8C-83A1-F6EECF244321}">
                <p14:modId xmlns:p14="http://schemas.microsoft.com/office/powerpoint/2010/main" val="2348615002"/>
              </p:ext>
            </p:extLst>
          </p:nvPr>
        </p:nvGraphicFramePr>
        <p:xfrm>
          <a:off x="8669283" y="1412776"/>
          <a:ext cx="3456383" cy="2304256"/>
        </p:xfrm>
        <a:graphic>
          <a:graphicData uri="http://schemas.openxmlformats.org/presentationml/2006/ole">
            <mc:AlternateContent xmlns:mc="http://schemas.openxmlformats.org/markup-compatibility/2006">
              <mc:Choice xmlns:v="urn:schemas-microsoft-com:vml" Requires="v">
                <p:oleObj name="Equation" r:id="rId4" imgW="1714320" imgH="1143000" progId="Equation.DSMT4">
                  <p:embed/>
                </p:oleObj>
              </mc:Choice>
              <mc:Fallback>
                <p:oleObj name="Equation" r:id="rId4" imgW="1714320" imgH="1143000" progId="Equation.DSMT4">
                  <p:embed/>
                  <p:pic>
                    <p:nvPicPr>
                      <p:cNvPr id="2" name="Object 4">
                        <a:extLst>
                          <a:ext uri="{FF2B5EF4-FFF2-40B4-BE49-F238E27FC236}">
                            <a16:creationId xmlns:a16="http://schemas.microsoft.com/office/drawing/2014/main" id="{260CBD1F-8671-5B48-8E87-18D35908B729}"/>
                          </a:ext>
                        </a:extLst>
                      </p:cNvPr>
                      <p:cNvPicPr>
                        <a:picLocks noChangeAspect="1" noChangeArrowheads="1"/>
                      </p:cNvPicPr>
                      <p:nvPr/>
                    </p:nvPicPr>
                    <p:blipFill>
                      <a:blip r:embed="rId5"/>
                      <a:srcRect/>
                      <a:stretch>
                        <a:fillRect/>
                      </a:stretch>
                    </p:blipFill>
                    <p:spPr bwMode="auto">
                      <a:xfrm>
                        <a:off x="8669283" y="1412776"/>
                        <a:ext cx="3456383" cy="2304256"/>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2D13B8AC-2660-6545-31FA-4E937C777ECD}"/>
              </a:ext>
            </a:extLst>
          </p:cNvPr>
          <p:cNvSpPr>
            <a:spLocks noGrp="1"/>
          </p:cNvSpPr>
          <p:nvPr>
            <p:ph type="sldNum" sz="quarter" idx="11"/>
          </p:nvPr>
        </p:nvSpPr>
        <p:spPr/>
        <p:txBody>
          <a:bodyPr/>
          <a:lstStyle/>
          <a:p>
            <a:pPr>
              <a:defRPr/>
            </a:pPr>
            <a:fld id="{611376B5-62E6-403F-97A0-5A1E42AE81DF}" type="slidenum">
              <a:rPr lang="en-US" altLang="zh-CN"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7">
                                            <p:txEl>
                                              <p:pRg st="3" end="3"/>
                                            </p:txEl>
                                          </p:spTgt>
                                        </p:tgtEl>
                                        <p:attrNameLst>
                                          <p:attrName>style.visibility</p:attrName>
                                        </p:attrNameLst>
                                      </p:cBhvr>
                                      <p:to>
                                        <p:strVal val="visible"/>
                                      </p:to>
                                    </p:set>
                                    <p:animEffect transition="in" filter="wipe(left)">
                                      <p:cBhvr>
                                        <p:cTn id="7" dur="500"/>
                                        <p:tgtEl>
                                          <p:spTgt spid="1638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3780"/>
                                        </p:tgtEl>
                                        <p:attrNameLst>
                                          <p:attrName>style.visibility</p:attrName>
                                        </p:attrNameLst>
                                      </p:cBhvr>
                                      <p:to>
                                        <p:strVal val="visible"/>
                                      </p:to>
                                    </p:set>
                                    <p:animEffect transition="in" filter="wipe(left)">
                                      <p:cBhvr>
                                        <p:cTn id="12" dur="500"/>
                                        <p:tgtEl>
                                          <p:spTgt spid="203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87">
                                            <p:txEl>
                                              <p:pRg st="8" end="8"/>
                                            </p:txEl>
                                          </p:spTgt>
                                        </p:tgtEl>
                                        <p:attrNameLst>
                                          <p:attrName>style.visibility</p:attrName>
                                        </p:attrNameLst>
                                      </p:cBhvr>
                                      <p:to>
                                        <p:strVal val="visible"/>
                                      </p:to>
                                    </p:set>
                                    <p:animEffect transition="in" filter="wipe(left)">
                                      <p:cBhvr>
                                        <p:cTn id="17" dur="500"/>
                                        <p:tgtEl>
                                          <p:spTgt spid="163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17411" name="Rectangle 3"/>
          <p:cNvSpPr>
            <a:spLocks noGrp="1" noChangeArrowheads="1"/>
          </p:cNvSpPr>
          <p:nvPr>
            <p:ph type="body" sz="half" idx="1"/>
          </p:nvPr>
        </p:nvSpPr>
        <p:spPr>
          <a:xfrm>
            <a:off x="1055440" y="1700213"/>
            <a:ext cx="8784332" cy="5041900"/>
          </a:xfrm>
        </p:spPr>
        <p:txBody>
          <a:bodyPr/>
          <a:lstStyle/>
          <a:p>
            <a:pPr eaLnBrk="1" hangingPunct="1"/>
            <a:r>
              <a:rPr lang="zh-CN" altLang="en-US" b="1" dirty="0">
                <a:solidFill>
                  <a:srgbClr val="EE0006"/>
                </a:solidFill>
                <a:ea typeface="楷体_GB2312" pitchFamily="49" charset="-122"/>
                <a:cs typeface="Arial" charset="0"/>
              </a:rPr>
              <a:t>元素</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i</a:t>
            </a:r>
            <a:r>
              <a:rPr lang="zh-CN" altLang="en-US" b="1" dirty="0">
                <a:solidFill>
                  <a:srgbClr val="EE0006"/>
                </a:solidFill>
                <a:ea typeface="楷体_GB2312" pitchFamily="49" charset="-122"/>
                <a:cs typeface="Arial" charset="0"/>
              </a:rPr>
              <a:t>与</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j</a:t>
            </a:r>
            <a:r>
              <a:rPr lang="zh-CN" altLang="en-US" b="1" dirty="0">
                <a:solidFill>
                  <a:srgbClr val="EE0006"/>
                </a:solidFill>
                <a:ea typeface="楷体_GB2312" pitchFamily="49" charset="-122"/>
                <a:cs typeface="Arial" charset="0"/>
              </a:rPr>
              <a:t>归为同一类的充要条件是：</a:t>
            </a:r>
          </a:p>
          <a:p>
            <a:pPr lvl="1" eaLnBrk="1" hangingPunct="1">
              <a:buFont typeface="Wingdings" pitchFamily="2" charset="2"/>
              <a:buNone/>
            </a:pPr>
            <a:r>
              <a:rPr lang="zh-CN" altLang="en-US"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R</a:t>
            </a:r>
            <a:r>
              <a:rPr lang="el-GR" altLang="zh-CN" sz="3200" b="1" i="1" baseline="-25000" dirty="0">
                <a:solidFill>
                  <a:srgbClr val="EE0006"/>
                </a:solidFill>
                <a:ea typeface="楷体_GB2312" pitchFamily="49" charset="-122"/>
                <a:cs typeface="Arial" charset="0"/>
              </a:rPr>
              <a:t>λ</a:t>
            </a:r>
            <a:r>
              <a:rPr lang="en-US" altLang="zh-CN" sz="3200" b="1" dirty="0">
                <a:solidFill>
                  <a:srgbClr val="EE0006"/>
                </a:solidFill>
                <a:ea typeface="楷体_GB2312" pitchFamily="49" charset="-122"/>
                <a:cs typeface="Arial" charset="0"/>
              </a:rPr>
              <a:t>(</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j</a:t>
            </a:r>
            <a:r>
              <a:rPr lang="en-US" altLang="zh-CN" sz="3200" b="1" dirty="0">
                <a:solidFill>
                  <a:srgbClr val="EE0006"/>
                </a:solidFill>
                <a:ea typeface="楷体_GB2312" pitchFamily="49" charset="-122"/>
                <a:cs typeface="Arial" charset="0"/>
              </a:rPr>
              <a:t>)=1    (</a:t>
            </a:r>
            <a:r>
              <a:rPr lang="en-US" altLang="zh-CN" sz="3200" b="1" i="1"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j </a:t>
            </a:r>
            <a:r>
              <a:rPr lang="en-US" altLang="zh-CN" sz="3200" b="1" dirty="0">
                <a:solidFill>
                  <a:srgbClr val="EE0006"/>
                </a:solidFill>
                <a:ea typeface="楷体_GB2312" pitchFamily="49" charset="-122"/>
                <a:cs typeface="Arial" charset="0"/>
              </a:rPr>
              <a:t>=1, 2, 3, 4, 5)</a:t>
            </a:r>
          </a:p>
          <a:p>
            <a:pPr eaLnBrk="1" hangingPunct="1"/>
            <a:r>
              <a:rPr lang="zh-CN" altLang="en-US" sz="2800" b="1" dirty="0">
                <a:solidFill>
                  <a:schemeClr val="bg2"/>
                </a:solidFill>
                <a:ea typeface="楷体_GB2312" pitchFamily="49" charset="-122"/>
                <a:cs typeface="Arial" charset="0"/>
              </a:rPr>
              <a:t>写出</a:t>
            </a:r>
            <a:r>
              <a:rPr lang="el-GR" altLang="zh-CN" sz="2800" b="1" i="1" dirty="0">
                <a:solidFill>
                  <a:schemeClr val="bg2"/>
                </a:solidFill>
                <a:ea typeface="楷体_GB2312" pitchFamily="49" charset="-122"/>
                <a:cs typeface="Arial" charset="0"/>
              </a:rPr>
              <a:t>λ</a:t>
            </a:r>
            <a:r>
              <a:rPr lang="en-US" altLang="zh-CN" sz="2800" b="1" dirty="0">
                <a:solidFill>
                  <a:schemeClr val="bg2"/>
                </a:solidFill>
                <a:latin typeface="Times New Roman" pitchFamily="18" charset="0"/>
                <a:ea typeface="楷体_GB2312" pitchFamily="49" charset="-122"/>
                <a:cs typeface="Arial" charset="0"/>
              </a:rPr>
              <a:t>=1, 0.8, 0.6, 0.5, 0.4</a:t>
            </a:r>
            <a:r>
              <a:rPr lang="zh-CN" altLang="en-US" sz="2800" b="1" dirty="0">
                <a:solidFill>
                  <a:schemeClr val="bg2"/>
                </a:solidFill>
                <a:latin typeface="Times New Roman" pitchFamily="18" charset="0"/>
                <a:ea typeface="楷体_GB2312" pitchFamily="49" charset="-122"/>
                <a:cs typeface="Arial" charset="0"/>
              </a:rPr>
              <a:t>时，相应的</a:t>
            </a:r>
            <a:r>
              <a:rPr lang="en-US" altLang="zh-CN" sz="2800" b="1" i="1" dirty="0">
                <a:solidFill>
                  <a:schemeClr val="bg2"/>
                </a:solidFill>
                <a:ea typeface="楷体_GB2312" pitchFamily="49" charset="-122"/>
                <a:cs typeface="Arial" charset="0"/>
              </a:rPr>
              <a:t>R</a:t>
            </a:r>
            <a:r>
              <a:rPr lang="el-GR" altLang="zh-CN" sz="2800" b="1" i="1" baseline="-25000" dirty="0">
                <a:solidFill>
                  <a:schemeClr val="bg2"/>
                </a:solidFill>
                <a:ea typeface="楷体_GB2312" pitchFamily="49" charset="-122"/>
                <a:cs typeface="Arial" charset="0"/>
              </a:rPr>
              <a:t>λ</a:t>
            </a:r>
            <a:r>
              <a:rPr lang="zh-CN" altLang="en-US" sz="2800" b="1" dirty="0">
                <a:solidFill>
                  <a:schemeClr val="bg2"/>
                </a:solidFill>
                <a:latin typeface="Times New Roman" pitchFamily="18" charset="0"/>
                <a:ea typeface="楷体_GB2312" pitchFamily="49" charset="-122"/>
                <a:cs typeface="Arial" charset="0"/>
              </a:rPr>
              <a:t>和分类</a:t>
            </a:r>
          </a:p>
          <a:p>
            <a:pPr eaLnBrk="1" hangingPunct="1"/>
            <a:r>
              <a:rPr lang="zh-CN" altLang="en-US" sz="2800" b="1" dirty="0">
                <a:latin typeface="Times New Roman" pitchFamily="18" charset="0"/>
                <a:ea typeface="楷体_GB2312" pitchFamily="49" charset="-122"/>
                <a:cs typeface="Arial" charset="0"/>
              </a:rPr>
              <a:t>当</a:t>
            </a:r>
            <a:r>
              <a:rPr lang="en-US" altLang="zh-CN" sz="2800" b="1" dirty="0">
                <a:solidFill>
                  <a:srgbClr val="057939"/>
                </a:solidFill>
                <a:latin typeface="Times New Roman" pitchFamily="18" charset="0"/>
                <a:ea typeface="楷体_GB2312" pitchFamily="49" charset="-122"/>
                <a:cs typeface="Arial" charset="0"/>
              </a:rPr>
              <a:t>0.5</a:t>
            </a:r>
            <a:r>
              <a:rPr lang="en-US" altLang="zh-CN" sz="2800" b="1" dirty="0">
                <a:solidFill>
                  <a:srgbClr val="057939"/>
                </a:solidFill>
                <a:ea typeface="楷体_GB2312" pitchFamily="49" charset="-122"/>
                <a:cs typeface="Arial" charset="0"/>
              </a:rPr>
              <a:t>&lt;</a:t>
            </a:r>
            <a:r>
              <a:rPr lang="el-GR" altLang="zh-CN" sz="2800" b="1" dirty="0">
                <a:solidFill>
                  <a:srgbClr val="057939"/>
                </a:solidFill>
                <a:ea typeface="楷体_GB2312" pitchFamily="49" charset="-122"/>
                <a:cs typeface="Arial" charset="0"/>
              </a:rPr>
              <a:t>λ</a:t>
            </a:r>
            <a:r>
              <a:rPr lang="en-US" altLang="zh-CN" sz="2800" b="1" dirty="0">
                <a:solidFill>
                  <a:srgbClr val="057939"/>
                </a:solidFill>
                <a:ea typeface="楷体_GB2312" pitchFamily="49" charset="-122"/>
                <a:cs typeface="Arial" charset="0"/>
              </a:rPr>
              <a:t>≤0.6</a:t>
            </a:r>
            <a:r>
              <a:rPr lang="zh-CN" altLang="en-US" sz="2800" b="1" dirty="0">
                <a:ea typeface="楷体_GB2312" pitchFamily="49" charset="-122"/>
                <a:cs typeface="Arial" charset="0"/>
              </a:rPr>
              <a:t>时，</a:t>
            </a:r>
          </a:p>
          <a:p>
            <a:pPr eaLnBrk="1" hangingPunct="1"/>
            <a:endParaRPr lang="zh-CN" altLang="en-US" sz="2800" b="1" dirty="0">
              <a:ea typeface="楷体_GB2312" pitchFamily="49" charset="-122"/>
              <a:cs typeface="Arial" charset="0"/>
            </a:endParaRPr>
          </a:p>
          <a:p>
            <a:pPr eaLnBrk="1" hangingPunct="1"/>
            <a:endParaRPr lang="zh-CN" altLang="en-US"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r>
              <a:rPr lang="zh-CN" altLang="en-US" sz="2800" b="1" dirty="0">
                <a:ea typeface="楷体_GB2312" pitchFamily="49" charset="-122"/>
                <a:cs typeface="Arial" charset="0"/>
              </a:rPr>
              <a:t>将</a:t>
            </a:r>
            <a:r>
              <a:rPr lang="en-US" altLang="zh-CN" sz="2800" b="1" dirty="0">
                <a:ea typeface="楷体_GB2312" pitchFamily="49" charset="-122"/>
                <a:cs typeface="Arial" charset="0"/>
              </a:rPr>
              <a:t>U</a:t>
            </a:r>
            <a:r>
              <a:rPr lang="zh-CN" altLang="en-US" sz="2800" b="1" dirty="0">
                <a:ea typeface="楷体_GB2312" pitchFamily="49" charset="-122"/>
                <a:cs typeface="Arial" charset="0"/>
              </a:rPr>
              <a:t>分为三类： </a:t>
            </a:r>
            <a:r>
              <a:rPr kumimoji="1" lang="en-US" altLang="zh-CN" b="1" dirty="0">
                <a:solidFill>
                  <a:srgbClr val="3333FF"/>
                </a:solidFill>
                <a:ea typeface="楷体_GB2312" pitchFamily="49" charset="-122"/>
                <a:cs typeface="Arial" charset="0"/>
              </a:rPr>
              <a:t>{u</a:t>
            </a:r>
            <a:r>
              <a:rPr kumimoji="1" lang="en-US" altLang="zh-CN" b="1" baseline="-25000" dirty="0">
                <a:solidFill>
                  <a:srgbClr val="3333FF"/>
                </a:solidFill>
                <a:ea typeface="楷体_GB2312" pitchFamily="49" charset="-122"/>
                <a:cs typeface="Arial" charset="0"/>
              </a:rPr>
              <a:t>1</a:t>
            </a:r>
            <a:r>
              <a:rPr kumimoji="1" lang="en-US" altLang="zh-CN" b="1" dirty="0">
                <a:solidFill>
                  <a:srgbClr val="3333FF"/>
                </a:solidFill>
                <a:ea typeface="楷体_GB2312" pitchFamily="49" charset="-122"/>
                <a:cs typeface="Arial" charset="0"/>
              </a:rPr>
              <a:t>, u</a:t>
            </a:r>
            <a:r>
              <a:rPr kumimoji="1" lang="en-US" altLang="zh-CN" b="1" baseline="-25000" dirty="0">
                <a:solidFill>
                  <a:srgbClr val="3333FF"/>
                </a:solidFill>
              </a:rPr>
              <a:t>3</a:t>
            </a:r>
            <a:r>
              <a:rPr kumimoji="1" lang="en-US" altLang="zh-CN" b="1" dirty="0">
                <a:solidFill>
                  <a:srgbClr val="3333FF"/>
                </a:solidFill>
                <a:ea typeface="楷体_GB2312" pitchFamily="49" charset="-122"/>
              </a:rPr>
              <a:t>}, {u</a:t>
            </a:r>
            <a:r>
              <a:rPr kumimoji="1" lang="en-US" altLang="zh-CN" b="1" baseline="-25000" dirty="0">
                <a:solidFill>
                  <a:srgbClr val="3333FF"/>
                </a:solidFill>
              </a:rPr>
              <a:t>2</a:t>
            </a:r>
            <a:r>
              <a:rPr kumimoji="1" lang="en-US" altLang="zh-CN" b="1" dirty="0">
                <a:solidFill>
                  <a:srgbClr val="3333FF"/>
                </a:solidFill>
                <a:ea typeface="楷体_GB2312" pitchFamily="49" charset="-122"/>
              </a:rPr>
              <a:t>}, {u</a:t>
            </a:r>
            <a:r>
              <a:rPr kumimoji="1" lang="en-US" altLang="zh-CN" b="1" baseline="-25000" dirty="0">
                <a:solidFill>
                  <a:srgbClr val="3333FF"/>
                </a:solidFill>
              </a:rPr>
              <a:t>4</a:t>
            </a:r>
            <a:r>
              <a:rPr kumimoji="1" lang="en-US" altLang="zh-CN" b="1" dirty="0">
                <a:solidFill>
                  <a:srgbClr val="3333FF"/>
                </a:solidFill>
                <a:ea typeface="楷体_GB2312" pitchFamily="49" charset="-122"/>
              </a:rPr>
              <a:t>, u</a:t>
            </a:r>
            <a:r>
              <a:rPr kumimoji="1" lang="en-US" altLang="zh-CN" b="1" baseline="-25000" dirty="0">
                <a:solidFill>
                  <a:srgbClr val="3333FF"/>
                </a:solidFill>
              </a:rPr>
              <a:t>5</a:t>
            </a:r>
            <a:r>
              <a:rPr kumimoji="1" lang="en-US" altLang="zh-CN" b="1" dirty="0">
                <a:solidFill>
                  <a:srgbClr val="3333FF"/>
                </a:solidFill>
                <a:ea typeface="楷体_GB2312" pitchFamily="49" charset="-122"/>
              </a:rPr>
              <a:t>}</a:t>
            </a:r>
            <a:endParaRPr lang="zh-CN" altLang="el-GR" sz="2800" b="1" dirty="0">
              <a:solidFill>
                <a:srgbClr val="3333FF"/>
              </a:solidFill>
              <a:ea typeface="楷体_GB2312" pitchFamily="49" charset="-122"/>
            </a:endParaRPr>
          </a:p>
        </p:txBody>
      </p:sp>
      <p:graphicFrame>
        <p:nvGraphicFramePr>
          <p:cNvPr id="204804" name="Object 4"/>
          <p:cNvGraphicFramePr>
            <a:graphicFrameLocks noGrp="1" noChangeAspect="1"/>
          </p:cNvGraphicFramePr>
          <p:nvPr>
            <p:ph sz="half" idx="2"/>
          </p:nvPr>
        </p:nvGraphicFramePr>
        <p:xfrm>
          <a:off x="4079777" y="3429000"/>
          <a:ext cx="3457575" cy="2616200"/>
        </p:xfrm>
        <a:graphic>
          <a:graphicData uri="http://schemas.openxmlformats.org/presentationml/2006/ole">
            <mc:AlternateContent xmlns:mc="http://schemas.openxmlformats.org/markup-compatibility/2006">
              <mc:Choice xmlns:v="urn:schemas-microsoft-com:vml" Requires="v">
                <p:oleObj name="公式" r:id="rId2" imgW="1511300" imgH="1143000" progId="Equation.3">
                  <p:embed/>
                </p:oleObj>
              </mc:Choice>
              <mc:Fallback>
                <p:oleObj name="公式" r:id="rId2" imgW="1511300" imgH="1143000" progId="Equation.3">
                  <p:embed/>
                  <p:pic>
                    <p:nvPicPr>
                      <p:cNvPr id="20480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777" y="3429000"/>
                        <a:ext cx="3457575" cy="261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E50463FF-195B-DC35-82CB-0AD3F1122F32}"/>
              </a:ext>
            </a:extLst>
          </p:cNvPr>
          <p:cNvGraphicFramePr>
            <a:graphicFrameLocks noChangeAspect="1"/>
          </p:cNvGraphicFramePr>
          <p:nvPr>
            <p:extLst>
              <p:ext uri="{D42A27DB-BD31-4B8C-83A1-F6EECF244321}">
                <p14:modId xmlns:p14="http://schemas.microsoft.com/office/powerpoint/2010/main" val="163510582"/>
              </p:ext>
            </p:extLst>
          </p:nvPr>
        </p:nvGraphicFramePr>
        <p:xfrm>
          <a:off x="8604523" y="1484784"/>
          <a:ext cx="3457575" cy="2305050"/>
        </p:xfrm>
        <a:graphic>
          <a:graphicData uri="http://schemas.openxmlformats.org/presentationml/2006/ole">
            <mc:AlternateContent xmlns:mc="http://schemas.openxmlformats.org/markup-compatibility/2006">
              <mc:Choice xmlns:v="urn:schemas-microsoft-com:vml" Requires="v">
                <p:oleObj name="Equation" r:id="rId4" imgW="1714320" imgH="1143000" progId="Equation.DSMT4">
                  <p:embed/>
                </p:oleObj>
              </mc:Choice>
              <mc:Fallback>
                <p:oleObj name="Equation" r:id="rId4" imgW="1714320" imgH="1143000" progId="Equation.DSMT4">
                  <p:embed/>
                  <p:pic>
                    <p:nvPicPr>
                      <p:cNvPr id="2" name="Object 4">
                        <a:extLst>
                          <a:ext uri="{FF2B5EF4-FFF2-40B4-BE49-F238E27FC236}">
                            <a16:creationId xmlns:a16="http://schemas.microsoft.com/office/drawing/2014/main" id="{E50463FF-195B-DC35-82CB-0AD3F1122F32}"/>
                          </a:ext>
                        </a:extLst>
                      </p:cNvPr>
                      <p:cNvPicPr>
                        <a:picLocks noChangeAspect="1" noChangeArrowheads="1"/>
                      </p:cNvPicPr>
                      <p:nvPr/>
                    </p:nvPicPr>
                    <p:blipFill>
                      <a:blip r:embed="rId5"/>
                      <a:srcRect/>
                      <a:stretch>
                        <a:fillRect/>
                      </a:stretch>
                    </p:blipFill>
                    <p:spPr bwMode="auto">
                      <a:xfrm>
                        <a:off x="8604523" y="1484784"/>
                        <a:ext cx="3457575" cy="2305050"/>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A482D401-B654-233F-215A-A91EB83CA856}"/>
              </a:ext>
            </a:extLst>
          </p:cNvPr>
          <p:cNvSpPr>
            <a:spLocks noGrp="1"/>
          </p:cNvSpPr>
          <p:nvPr>
            <p:ph type="sldNum" sz="quarter" idx="11"/>
          </p:nvPr>
        </p:nvSpPr>
        <p:spPr/>
        <p:txBody>
          <a:bodyPr/>
          <a:lstStyle/>
          <a:p>
            <a:pPr>
              <a:defRPr/>
            </a:pPr>
            <a:fld id="{611376B5-62E6-403F-97A0-5A1E42AE81DF}" type="slidenum">
              <a:rPr lang="en-US" altLang="zh-CN"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animEffect transition="in" filter="wipe(left)">
                                      <p:cBhvr>
                                        <p:cTn id="7" dur="500"/>
                                        <p:tgtEl>
                                          <p:spTgt spid="1741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4804"/>
                                        </p:tgtEl>
                                        <p:attrNameLst>
                                          <p:attrName>style.visibility</p:attrName>
                                        </p:attrNameLst>
                                      </p:cBhvr>
                                      <p:to>
                                        <p:strVal val="visible"/>
                                      </p:to>
                                    </p:set>
                                    <p:animEffect transition="in" filter="wipe(left)">
                                      <p:cBhvr>
                                        <p:cTn id="12" dur="500"/>
                                        <p:tgtEl>
                                          <p:spTgt spid="2048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411">
                                            <p:txEl>
                                              <p:pRg st="8" end="8"/>
                                            </p:txEl>
                                          </p:spTgt>
                                        </p:tgtEl>
                                        <p:attrNameLst>
                                          <p:attrName>style.visibility</p:attrName>
                                        </p:attrNameLst>
                                      </p:cBhvr>
                                      <p:to>
                                        <p:strVal val="visible"/>
                                      </p:to>
                                    </p:set>
                                    <p:animEffect transition="in" filter="wipe(left)">
                                      <p:cBhvr>
                                        <p:cTn id="17" dur="500"/>
                                        <p:tgtEl>
                                          <p:spTgt spid="174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18435" name="Rectangle 3"/>
          <p:cNvSpPr>
            <a:spLocks noGrp="1" noChangeArrowheads="1"/>
          </p:cNvSpPr>
          <p:nvPr>
            <p:ph type="body" sz="half" idx="1"/>
          </p:nvPr>
        </p:nvSpPr>
        <p:spPr>
          <a:xfrm>
            <a:off x="1199456" y="1700213"/>
            <a:ext cx="8640316" cy="5041900"/>
          </a:xfrm>
        </p:spPr>
        <p:txBody>
          <a:bodyPr/>
          <a:lstStyle/>
          <a:p>
            <a:pPr eaLnBrk="1" hangingPunct="1"/>
            <a:r>
              <a:rPr lang="zh-CN" altLang="en-US" b="1" dirty="0">
                <a:solidFill>
                  <a:srgbClr val="EE0006"/>
                </a:solidFill>
                <a:ea typeface="楷体_GB2312" pitchFamily="49" charset="-122"/>
                <a:cs typeface="Arial" charset="0"/>
              </a:rPr>
              <a:t>元素</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i</a:t>
            </a:r>
            <a:r>
              <a:rPr lang="zh-CN" altLang="en-US" b="1" dirty="0">
                <a:solidFill>
                  <a:srgbClr val="EE0006"/>
                </a:solidFill>
                <a:ea typeface="楷体_GB2312" pitchFamily="49" charset="-122"/>
                <a:cs typeface="Arial" charset="0"/>
              </a:rPr>
              <a:t>与</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j</a:t>
            </a:r>
            <a:r>
              <a:rPr lang="zh-CN" altLang="en-US" b="1" dirty="0">
                <a:solidFill>
                  <a:srgbClr val="EE0006"/>
                </a:solidFill>
                <a:ea typeface="楷体_GB2312" pitchFamily="49" charset="-122"/>
                <a:cs typeface="Arial" charset="0"/>
              </a:rPr>
              <a:t>归为同一类的充要条件是：</a:t>
            </a:r>
          </a:p>
          <a:p>
            <a:pPr lvl="1" eaLnBrk="1" hangingPunct="1">
              <a:buFont typeface="Wingdings" pitchFamily="2" charset="2"/>
              <a:buNone/>
            </a:pPr>
            <a:r>
              <a:rPr lang="zh-CN" altLang="en-US"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R</a:t>
            </a:r>
            <a:r>
              <a:rPr lang="el-GR" altLang="zh-CN" sz="3200" b="1" i="1" baseline="-25000" dirty="0">
                <a:solidFill>
                  <a:srgbClr val="EE0006"/>
                </a:solidFill>
                <a:ea typeface="楷体_GB2312" pitchFamily="49" charset="-122"/>
                <a:cs typeface="Arial" charset="0"/>
              </a:rPr>
              <a:t>λ</a:t>
            </a:r>
            <a:r>
              <a:rPr lang="en-US" altLang="zh-CN" sz="3200" b="1" dirty="0">
                <a:solidFill>
                  <a:srgbClr val="EE0006"/>
                </a:solidFill>
                <a:ea typeface="楷体_GB2312" pitchFamily="49" charset="-122"/>
                <a:cs typeface="Arial" charset="0"/>
              </a:rPr>
              <a:t>(</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j</a:t>
            </a:r>
            <a:r>
              <a:rPr lang="en-US" altLang="zh-CN" sz="3200" b="1" dirty="0">
                <a:solidFill>
                  <a:srgbClr val="EE0006"/>
                </a:solidFill>
                <a:ea typeface="楷体_GB2312" pitchFamily="49" charset="-122"/>
                <a:cs typeface="Arial" charset="0"/>
              </a:rPr>
              <a:t>)=1    (</a:t>
            </a:r>
            <a:r>
              <a:rPr lang="en-US" altLang="zh-CN" sz="3200" b="1" i="1"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j </a:t>
            </a:r>
            <a:r>
              <a:rPr lang="en-US" altLang="zh-CN" sz="3200" b="1" dirty="0">
                <a:solidFill>
                  <a:srgbClr val="EE0006"/>
                </a:solidFill>
                <a:ea typeface="楷体_GB2312" pitchFamily="49" charset="-122"/>
                <a:cs typeface="Arial" charset="0"/>
              </a:rPr>
              <a:t>=1, 2, 3, 4, 5)</a:t>
            </a:r>
          </a:p>
          <a:p>
            <a:pPr eaLnBrk="1" hangingPunct="1"/>
            <a:r>
              <a:rPr lang="zh-CN" altLang="en-US" sz="2800" b="1" dirty="0">
                <a:solidFill>
                  <a:schemeClr val="bg2"/>
                </a:solidFill>
                <a:ea typeface="楷体_GB2312" pitchFamily="49" charset="-122"/>
                <a:cs typeface="Arial" charset="0"/>
              </a:rPr>
              <a:t>写出</a:t>
            </a:r>
            <a:r>
              <a:rPr lang="el-GR" altLang="zh-CN" sz="2800" b="1" i="1" dirty="0">
                <a:solidFill>
                  <a:schemeClr val="bg2"/>
                </a:solidFill>
                <a:ea typeface="楷体_GB2312" pitchFamily="49" charset="-122"/>
                <a:cs typeface="Arial" charset="0"/>
              </a:rPr>
              <a:t>λ</a:t>
            </a:r>
            <a:r>
              <a:rPr lang="en-US" altLang="zh-CN" sz="2800" b="1" dirty="0">
                <a:solidFill>
                  <a:schemeClr val="bg2"/>
                </a:solidFill>
                <a:latin typeface="Times New Roman" pitchFamily="18" charset="0"/>
                <a:ea typeface="楷体_GB2312" pitchFamily="49" charset="-122"/>
                <a:cs typeface="Arial" charset="0"/>
              </a:rPr>
              <a:t>=1, 0.8, 0.6, 0.5, 0.4</a:t>
            </a:r>
            <a:r>
              <a:rPr lang="zh-CN" altLang="en-US" sz="2800" b="1" dirty="0">
                <a:solidFill>
                  <a:schemeClr val="bg2"/>
                </a:solidFill>
                <a:latin typeface="Times New Roman" pitchFamily="18" charset="0"/>
                <a:ea typeface="楷体_GB2312" pitchFamily="49" charset="-122"/>
                <a:cs typeface="Arial" charset="0"/>
              </a:rPr>
              <a:t>时，相应的</a:t>
            </a:r>
            <a:r>
              <a:rPr lang="en-US" altLang="zh-CN" sz="2800" b="1" i="1" dirty="0">
                <a:solidFill>
                  <a:schemeClr val="bg2"/>
                </a:solidFill>
                <a:ea typeface="楷体_GB2312" pitchFamily="49" charset="-122"/>
                <a:cs typeface="Arial" charset="0"/>
              </a:rPr>
              <a:t>R</a:t>
            </a:r>
            <a:r>
              <a:rPr lang="el-GR" altLang="zh-CN" sz="2800" b="1" i="1" baseline="-25000" dirty="0">
                <a:solidFill>
                  <a:schemeClr val="bg2"/>
                </a:solidFill>
                <a:ea typeface="楷体_GB2312" pitchFamily="49" charset="-122"/>
                <a:cs typeface="Arial" charset="0"/>
              </a:rPr>
              <a:t>λ</a:t>
            </a:r>
            <a:r>
              <a:rPr lang="zh-CN" altLang="en-US" sz="2800" b="1" dirty="0">
                <a:solidFill>
                  <a:schemeClr val="bg2"/>
                </a:solidFill>
                <a:latin typeface="Times New Roman" pitchFamily="18" charset="0"/>
                <a:ea typeface="楷体_GB2312" pitchFamily="49" charset="-122"/>
                <a:cs typeface="Arial" charset="0"/>
              </a:rPr>
              <a:t>和分类</a:t>
            </a:r>
          </a:p>
          <a:p>
            <a:pPr eaLnBrk="1" hangingPunct="1"/>
            <a:r>
              <a:rPr lang="zh-CN" altLang="en-US" sz="2800" b="1" dirty="0">
                <a:latin typeface="Times New Roman" pitchFamily="18" charset="0"/>
                <a:ea typeface="楷体_GB2312" pitchFamily="49" charset="-122"/>
                <a:cs typeface="Arial" charset="0"/>
              </a:rPr>
              <a:t>当</a:t>
            </a:r>
            <a:r>
              <a:rPr lang="en-US" altLang="zh-CN" sz="2800" b="1" dirty="0">
                <a:solidFill>
                  <a:srgbClr val="057939"/>
                </a:solidFill>
                <a:latin typeface="Times New Roman" pitchFamily="18" charset="0"/>
                <a:ea typeface="楷体_GB2312" pitchFamily="49" charset="-122"/>
                <a:cs typeface="Arial" charset="0"/>
              </a:rPr>
              <a:t>0.4</a:t>
            </a:r>
            <a:r>
              <a:rPr lang="en-US" altLang="zh-CN" sz="2800" b="1" dirty="0">
                <a:solidFill>
                  <a:srgbClr val="057939"/>
                </a:solidFill>
                <a:ea typeface="楷体_GB2312" pitchFamily="49" charset="-122"/>
                <a:cs typeface="Arial" charset="0"/>
              </a:rPr>
              <a:t>&lt;</a:t>
            </a:r>
            <a:r>
              <a:rPr lang="el-GR" altLang="zh-CN" sz="2800" b="1" dirty="0">
                <a:solidFill>
                  <a:srgbClr val="057939"/>
                </a:solidFill>
                <a:ea typeface="楷体_GB2312" pitchFamily="49" charset="-122"/>
                <a:cs typeface="Arial" charset="0"/>
              </a:rPr>
              <a:t>λ</a:t>
            </a:r>
            <a:r>
              <a:rPr lang="en-US" altLang="zh-CN" sz="2800" b="1" dirty="0">
                <a:solidFill>
                  <a:srgbClr val="057939"/>
                </a:solidFill>
                <a:ea typeface="楷体_GB2312" pitchFamily="49" charset="-122"/>
                <a:cs typeface="Arial" charset="0"/>
              </a:rPr>
              <a:t>≤0.5</a:t>
            </a:r>
            <a:r>
              <a:rPr lang="zh-CN" altLang="en-US" sz="2800" b="1" dirty="0">
                <a:ea typeface="楷体_GB2312" pitchFamily="49" charset="-122"/>
                <a:cs typeface="Arial" charset="0"/>
              </a:rPr>
              <a:t>时，</a:t>
            </a:r>
          </a:p>
          <a:p>
            <a:pPr eaLnBrk="1" hangingPunct="1"/>
            <a:endParaRPr lang="zh-CN" altLang="en-US" sz="2800" b="1" dirty="0">
              <a:ea typeface="楷体_GB2312" pitchFamily="49" charset="-122"/>
              <a:cs typeface="Arial" charset="0"/>
            </a:endParaRPr>
          </a:p>
          <a:p>
            <a:pPr eaLnBrk="1" hangingPunct="1"/>
            <a:endParaRPr lang="zh-CN" altLang="en-US"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r>
              <a:rPr lang="zh-CN" altLang="en-US" sz="2800" b="1" dirty="0">
                <a:ea typeface="楷体_GB2312" pitchFamily="49" charset="-122"/>
                <a:cs typeface="Arial" charset="0"/>
              </a:rPr>
              <a:t>将</a:t>
            </a:r>
            <a:r>
              <a:rPr lang="en-US" altLang="zh-CN" sz="2800" b="1" dirty="0">
                <a:ea typeface="楷体_GB2312" pitchFamily="49" charset="-122"/>
                <a:cs typeface="Arial" charset="0"/>
              </a:rPr>
              <a:t>U</a:t>
            </a:r>
            <a:r>
              <a:rPr lang="zh-CN" altLang="en-US" sz="2800" b="1" dirty="0">
                <a:ea typeface="楷体_GB2312" pitchFamily="49" charset="-122"/>
                <a:cs typeface="Arial" charset="0"/>
              </a:rPr>
              <a:t>分为二类： </a:t>
            </a:r>
            <a:r>
              <a:rPr kumimoji="1" lang="en-US" altLang="zh-CN" b="1" dirty="0">
                <a:solidFill>
                  <a:srgbClr val="3333FF"/>
                </a:solidFill>
                <a:ea typeface="楷体_GB2312" pitchFamily="49" charset="-122"/>
                <a:cs typeface="Arial" charset="0"/>
              </a:rPr>
              <a:t>{u</a:t>
            </a:r>
            <a:r>
              <a:rPr kumimoji="1" lang="en-US" altLang="zh-CN" b="1" baseline="-25000" dirty="0">
                <a:solidFill>
                  <a:srgbClr val="3333FF"/>
                </a:solidFill>
                <a:ea typeface="楷体_GB2312" pitchFamily="49" charset="-122"/>
                <a:cs typeface="Arial" charset="0"/>
              </a:rPr>
              <a:t>1</a:t>
            </a:r>
            <a:r>
              <a:rPr kumimoji="1" lang="en-US" altLang="zh-CN" b="1" dirty="0">
                <a:solidFill>
                  <a:srgbClr val="3333FF"/>
                </a:solidFill>
                <a:ea typeface="楷体_GB2312" pitchFamily="49" charset="-122"/>
                <a:cs typeface="Arial" charset="0"/>
              </a:rPr>
              <a:t>, u</a:t>
            </a:r>
            <a:r>
              <a:rPr kumimoji="1" lang="en-US" altLang="zh-CN" b="1" baseline="-25000" dirty="0">
                <a:solidFill>
                  <a:srgbClr val="3333FF"/>
                </a:solidFill>
              </a:rPr>
              <a:t>3</a:t>
            </a:r>
            <a:r>
              <a:rPr kumimoji="1" lang="en-US" altLang="zh-CN" b="1" dirty="0">
                <a:solidFill>
                  <a:srgbClr val="3333FF"/>
                </a:solidFill>
                <a:ea typeface="楷体_GB2312" pitchFamily="49" charset="-122"/>
              </a:rPr>
              <a:t>, u</a:t>
            </a:r>
            <a:r>
              <a:rPr kumimoji="1" lang="en-US" altLang="zh-CN" b="1" baseline="-25000" dirty="0">
                <a:solidFill>
                  <a:srgbClr val="3333FF"/>
                </a:solidFill>
              </a:rPr>
              <a:t>4</a:t>
            </a:r>
            <a:r>
              <a:rPr kumimoji="1" lang="en-US" altLang="zh-CN" b="1" dirty="0">
                <a:solidFill>
                  <a:srgbClr val="3333FF"/>
                </a:solidFill>
                <a:ea typeface="楷体_GB2312" pitchFamily="49" charset="-122"/>
              </a:rPr>
              <a:t>, u</a:t>
            </a:r>
            <a:r>
              <a:rPr kumimoji="1" lang="en-US" altLang="zh-CN" b="1" baseline="-25000" dirty="0">
                <a:solidFill>
                  <a:srgbClr val="3333FF"/>
                </a:solidFill>
              </a:rPr>
              <a:t>5</a:t>
            </a:r>
            <a:r>
              <a:rPr kumimoji="1" lang="en-US" altLang="zh-CN" b="1" dirty="0">
                <a:solidFill>
                  <a:srgbClr val="3333FF"/>
                </a:solidFill>
                <a:ea typeface="楷体_GB2312" pitchFamily="49" charset="-122"/>
              </a:rPr>
              <a:t>},  {u</a:t>
            </a:r>
            <a:r>
              <a:rPr kumimoji="1" lang="en-US" altLang="zh-CN" b="1" baseline="-25000" dirty="0">
                <a:solidFill>
                  <a:srgbClr val="3333FF"/>
                </a:solidFill>
              </a:rPr>
              <a:t>2</a:t>
            </a:r>
            <a:r>
              <a:rPr kumimoji="1" lang="en-US" altLang="zh-CN" b="1" dirty="0">
                <a:solidFill>
                  <a:srgbClr val="3333FF"/>
                </a:solidFill>
                <a:ea typeface="楷体_GB2312" pitchFamily="49" charset="-122"/>
              </a:rPr>
              <a:t>}</a:t>
            </a:r>
            <a:endParaRPr kumimoji="1" lang="zh-CN" altLang="el-GR" b="1" dirty="0">
              <a:solidFill>
                <a:srgbClr val="3333FF"/>
              </a:solidFill>
              <a:latin typeface="Times New Roman" pitchFamily="18" charset="0"/>
              <a:ea typeface="楷体_GB2312" pitchFamily="49" charset="-122"/>
            </a:endParaRPr>
          </a:p>
        </p:txBody>
      </p:sp>
      <p:graphicFrame>
        <p:nvGraphicFramePr>
          <p:cNvPr id="205828" name="Object 4"/>
          <p:cNvGraphicFramePr>
            <a:graphicFrameLocks noGrp="1" noChangeAspect="1"/>
          </p:cNvGraphicFramePr>
          <p:nvPr>
            <p:ph sz="half" idx="2"/>
          </p:nvPr>
        </p:nvGraphicFramePr>
        <p:xfrm>
          <a:off x="4079776" y="3429000"/>
          <a:ext cx="3430588" cy="2616200"/>
        </p:xfrm>
        <a:graphic>
          <a:graphicData uri="http://schemas.openxmlformats.org/presentationml/2006/ole">
            <mc:AlternateContent xmlns:mc="http://schemas.openxmlformats.org/markup-compatibility/2006">
              <mc:Choice xmlns:v="urn:schemas-microsoft-com:vml" Requires="v">
                <p:oleObj name="公式" r:id="rId2" imgW="1498600" imgH="1143000" progId="Equation.3">
                  <p:embed/>
                </p:oleObj>
              </mc:Choice>
              <mc:Fallback>
                <p:oleObj name="公式" r:id="rId2" imgW="1498600" imgH="1143000" progId="Equation.3">
                  <p:embed/>
                  <p:pic>
                    <p:nvPicPr>
                      <p:cNvPr id="20582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776" y="3429000"/>
                        <a:ext cx="3430588" cy="261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15D9C51B-C662-1149-552F-FECE911DE087}"/>
              </a:ext>
            </a:extLst>
          </p:cNvPr>
          <p:cNvGraphicFramePr>
            <a:graphicFrameLocks noChangeAspect="1"/>
          </p:cNvGraphicFramePr>
          <p:nvPr>
            <p:extLst>
              <p:ext uri="{D42A27DB-BD31-4B8C-83A1-F6EECF244321}">
                <p14:modId xmlns:p14="http://schemas.microsoft.com/office/powerpoint/2010/main" val="4224514817"/>
              </p:ext>
            </p:extLst>
          </p:nvPr>
        </p:nvGraphicFramePr>
        <p:xfrm>
          <a:off x="8781256" y="1590675"/>
          <a:ext cx="3405559" cy="2270373"/>
        </p:xfrm>
        <a:graphic>
          <a:graphicData uri="http://schemas.openxmlformats.org/presentationml/2006/ole">
            <mc:AlternateContent xmlns:mc="http://schemas.openxmlformats.org/markup-compatibility/2006">
              <mc:Choice xmlns:v="urn:schemas-microsoft-com:vml" Requires="v">
                <p:oleObj name="Equation" r:id="rId4" imgW="1714320" imgH="1143000" progId="Equation.DSMT4">
                  <p:embed/>
                </p:oleObj>
              </mc:Choice>
              <mc:Fallback>
                <p:oleObj name="Equation" r:id="rId4" imgW="1714320" imgH="1143000" progId="Equation.DSMT4">
                  <p:embed/>
                  <p:pic>
                    <p:nvPicPr>
                      <p:cNvPr id="2" name="Object 4">
                        <a:extLst>
                          <a:ext uri="{FF2B5EF4-FFF2-40B4-BE49-F238E27FC236}">
                            <a16:creationId xmlns:a16="http://schemas.microsoft.com/office/drawing/2014/main" id="{15D9C51B-C662-1149-552F-FECE911DE087}"/>
                          </a:ext>
                        </a:extLst>
                      </p:cNvPr>
                      <p:cNvPicPr>
                        <a:picLocks noChangeAspect="1" noChangeArrowheads="1"/>
                      </p:cNvPicPr>
                      <p:nvPr/>
                    </p:nvPicPr>
                    <p:blipFill>
                      <a:blip r:embed="rId5"/>
                      <a:srcRect/>
                      <a:stretch>
                        <a:fillRect/>
                      </a:stretch>
                    </p:blipFill>
                    <p:spPr bwMode="auto">
                      <a:xfrm>
                        <a:off x="8781256" y="1590675"/>
                        <a:ext cx="3405559" cy="2270373"/>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C550179-E0AB-6E46-900B-709789684DED}"/>
              </a:ext>
            </a:extLst>
          </p:cNvPr>
          <p:cNvSpPr>
            <a:spLocks noGrp="1"/>
          </p:cNvSpPr>
          <p:nvPr>
            <p:ph type="sldNum" sz="quarter" idx="11"/>
          </p:nvPr>
        </p:nvSpPr>
        <p:spPr/>
        <p:txBody>
          <a:bodyPr/>
          <a:lstStyle/>
          <a:p>
            <a:pPr>
              <a:defRPr/>
            </a:pPr>
            <a:fld id="{611376B5-62E6-403F-97A0-5A1E42AE81DF}" type="slidenum">
              <a:rPr lang="en-US" altLang="zh-CN" smtClean="0"/>
              <a:pPr>
                <a:defRPr/>
              </a:pPr>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xEl>
                                              <p:pRg st="3" end="3"/>
                                            </p:txEl>
                                          </p:spTgt>
                                        </p:tgtEl>
                                        <p:attrNameLst>
                                          <p:attrName>style.visibility</p:attrName>
                                        </p:attrNameLst>
                                      </p:cBhvr>
                                      <p:to>
                                        <p:strVal val="visible"/>
                                      </p:to>
                                    </p:set>
                                    <p:animEffect transition="in" filter="wipe(left)">
                                      <p:cBhvr>
                                        <p:cTn id="7" dur="500"/>
                                        <p:tgtEl>
                                          <p:spTgt spid="1843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828"/>
                                        </p:tgtEl>
                                        <p:attrNameLst>
                                          <p:attrName>style.visibility</p:attrName>
                                        </p:attrNameLst>
                                      </p:cBhvr>
                                      <p:to>
                                        <p:strVal val="visible"/>
                                      </p:to>
                                    </p:set>
                                    <p:animEffect transition="in" filter="wipe(left)">
                                      <p:cBhvr>
                                        <p:cTn id="12" dur="500"/>
                                        <p:tgtEl>
                                          <p:spTgt spid="2058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35">
                                            <p:txEl>
                                              <p:pRg st="8" end="8"/>
                                            </p:txEl>
                                          </p:spTgt>
                                        </p:tgtEl>
                                        <p:attrNameLst>
                                          <p:attrName>style.visibility</p:attrName>
                                        </p:attrNameLst>
                                      </p:cBhvr>
                                      <p:to>
                                        <p:strVal val="visible"/>
                                      </p:to>
                                    </p:set>
                                    <p:animEffect transition="in" filter="wipe(left)">
                                      <p:cBhvr>
                                        <p:cTn id="17" dur="500"/>
                                        <p:tgtEl>
                                          <p:spTgt spid="184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57939"/>
                </a:solidFill>
                <a:ea typeface="黑体" pitchFamily="2" charset="-122"/>
              </a:rPr>
              <a:t>[P75</a:t>
            </a:r>
            <a:r>
              <a:rPr lang="zh-CN" altLang="en-US">
                <a:solidFill>
                  <a:srgbClr val="057939"/>
                </a:solidFill>
                <a:ea typeface="黑体" pitchFamily="2" charset="-122"/>
              </a:rPr>
              <a:t>例</a:t>
            </a:r>
            <a:r>
              <a:rPr lang="en-US" altLang="zh-CN">
                <a:solidFill>
                  <a:srgbClr val="057939"/>
                </a:solidFill>
                <a:ea typeface="黑体" pitchFamily="2" charset="-122"/>
              </a:rPr>
              <a:t>1]</a:t>
            </a:r>
            <a:r>
              <a:rPr lang="zh-CN" altLang="en-US">
                <a:solidFill>
                  <a:srgbClr val="057939"/>
                </a:solidFill>
                <a:ea typeface="黑体" pitchFamily="2" charset="-122"/>
              </a:rPr>
              <a:t>求</a:t>
            </a:r>
            <a:r>
              <a:rPr lang="en-US" altLang="zh-CN" i="1">
                <a:solidFill>
                  <a:srgbClr val="057939"/>
                </a:solidFill>
                <a:ea typeface="黑体" pitchFamily="2" charset="-122"/>
              </a:rPr>
              <a:t>R</a:t>
            </a:r>
            <a:r>
              <a:rPr lang="zh-CN" altLang="en-US">
                <a:solidFill>
                  <a:srgbClr val="057939"/>
                </a:solidFill>
                <a:ea typeface="黑体" pitchFamily="2" charset="-122"/>
              </a:rPr>
              <a:t>的动态聚类图</a:t>
            </a:r>
          </a:p>
        </p:txBody>
      </p:sp>
      <p:sp>
        <p:nvSpPr>
          <p:cNvPr id="19459" name="Rectangle 3"/>
          <p:cNvSpPr>
            <a:spLocks noGrp="1" noChangeArrowheads="1"/>
          </p:cNvSpPr>
          <p:nvPr>
            <p:ph type="body" sz="half" idx="1"/>
          </p:nvPr>
        </p:nvSpPr>
        <p:spPr>
          <a:xfrm>
            <a:off x="1199456" y="1700213"/>
            <a:ext cx="8640316" cy="5041900"/>
          </a:xfrm>
        </p:spPr>
        <p:txBody>
          <a:bodyPr/>
          <a:lstStyle/>
          <a:p>
            <a:pPr eaLnBrk="1" hangingPunct="1"/>
            <a:r>
              <a:rPr lang="zh-CN" altLang="en-US" b="1" dirty="0">
                <a:solidFill>
                  <a:srgbClr val="EE0006"/>
                </a:solidFill>
                <a:ea typeface="楷体_GB2312" pitchFamily="49" charset="-122"/>
                <a:cs typeface="Arial" charset="0"/>
              </a:rPr>
              <a:t>元素</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i</a:t>
            </a:r>
            <a:r>
              <a:rPr lang="zh-CN" altLang="en-US" b="1" dirty="0">
                <a:solidFill>
                  <a:srgbClr val="EE0006"/>
                </a:solidFill>
                <a:ea typeface="楷体_GB2312" pitchFamily="49" charset="-122"/>
                <a:cs typeface="Arial" charset="0"/>
              </a:rPr>
              <a:t>与</a:t>
            </a:r>
            <a:r>
              <a:rPr lang="en-US" altLang="zh-CN" b="1" i="1" dirty="0" err="1">
                <a:solidFill>
                  <a:srgbClr val="EE0006"/>
                </a:solidFill>
                <a:ea typeface="楷体_GB2312" pitchFamily="49" charset="-122"/>
                <a:cs typeface="Arial" charset="0"/>
              </a:rPr>
              <a:t>u</a:t>
            </a:r>
            <a:r>
              <a:rPr lang="en-US" altLang="zh-CN" b="1" i="1" baseline="-25000" dirty="0" err="1">
                <a:solidFill>
                  <a:srgbClr val="EE0006"/>
                </a:solidFill>
                <a:ea typeface="楷体_GB2312" pitchFamily="49" charset="-122"/>
                <a:cs typeface="Arial" charset="0"/>
              </a:rPr>
              <a:t>j</a:t>
            </a:r>
            <a:r>
              <a:rPr lang="zh-CN" altLang="en-US" b="1" dirty="0">
                <a:solidFill>
                  <a:srgbClr val="EE0006"/>
                </a:solidFill>
                <a:ea typeface="楷体_GB2312" pitchFamily="49" charset="-122"/>
                <a:cs typeface="Arial" charset="0"/>
              </a:rPr>
              <a:t>归为同一类的充要条件是：</a:t>
            </a:r>
          </a:p>
          <a:p>
            <a:pPr lvl="1" eaLnBrk="1" hangingPunct="1">
              <a:buFont typeface="Wingdings" pitchFamily="2" charset="2"/>
              <a:buNone/>
            </a:pPr>
            <a:r>
              <a:rPr lang="zh-CN" altLang="en-US"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R</a:t>
            </a:r>
            <a:r>
              <a:rPr lang="el-GR" altLang="zh-CN" sz="3200" b="1" i="1" baseline="-25000" dirty="0">
                <a:solidFill>
                  <a:srgbClr val="EE0006"/>
                </a:solidFill>
                <a:ea typeface="楷体_GB2312" pitchFamily="49" charset="-122"/>
                <a:cs typeface="Arial" charset="0"/>
              </a:rPr>
              <a:t>λ</a:t>
            </a:r>
            <a:r>
              <a:rPr lang="en-US" altLang="zh-CN" sz="3200" b="1" dirty="0">
                <a:solidFill>
                  <a:srgbClr val="EE0006"/>
                </a:solidFill>
                <a:ea typeface="楷体_GB2312" pitchFamily="49" charset="-122"/>
                <a:cs typeface="Arial" charset="0"/>
              </a:rPr>
              <a:t>(</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err="1">
                <a:solidFill>
                  <a:srgbClr val="EE0006"/>
                </a:solidFill>
                <a:ea typeface="楷体_GB2312" pitchFamily="49" charset="-122"/>
                <a:cs typeface="Arial" charset="0"/>
              </a:rPr>
              <a:t>u</a:t>
            </a:r>
            <a:r>
              <a:rPr lang="en-US" altLang="zh-CN" sz="3200" b="1" i="1" baseline="-25000" dirty="0" err="1">
                <a:solidFill>
                  <a:srgbClr val="EE0006"/>
                </a:solidFill>
                <a:ea typeface="楷体_GB2312" pitchFamily="49" charset="-122"/>
                <a:cs typeface="Arial" charset="0"/>
              </a:rPr>
              <a:t>j</a:t>
            </a:r>
            <a:r>
              <a:rPr lang="en-US" altLang="zh-CN" sz="3200" b="1" dirty="0">
                <a:solidFill>
                  <a:srgbClr val="EE0006"/>
                </a:solidFill>
                <a:ea typeface="楷体_GB2312" pitchFamily="49" charset="-122"/>
                <a:cs typeface="Arial" charset="0"/>
              </a:rPr>
              <a:t>)=1    (</a:t>
            </a:r>
            <a:r>
              <a:rPr lang="en-US" altLang="zh-CN" sz="3200" b="1" i="1" dirty="0" err="1">
                <a:solidFill>
                  <a:srgbClr val="EE0006"/>
                </a:solidFill>
                <a:ea typeface="楷体_GB2312" pitchFamily="49" charset="-122"/>
                <a:cs typeface="Arial" charset="0"/>
              </a:rPr>
              <a:t>i</a:t>
            </a:r>
            <a:r>
              <a:rPr lang="en-US" altLang="zh-CN" sz="3200" b="1" dirty="0">
                <a:solidFill>
                  <a:srgbClr val="EE0006"/>
                </a:solidFill>
                <a:ea typeface="楷体_GB2312" pitchFamily="49" charset="-122"/>
                <a:cs typeface="Arial" charset="0"/>
              </a:rPr>
              <a:t>, </a:t>
            </a:r>
            <a:r>
              <a:rPr lang="en-US" altLang="zh-CN" sz="3200" b="1" i="1" dirty="0">
                <a:solidFill>
                  <a:srgbClr val="EE0006"/>
                </a:solidFill>
                <a:ea typeface="楷体_GB2312" pitchFamily="49" charset="-122"/>
                <a:cs typeface="Arial" charset="0"/>
              </a:rPr>
              <a:t>j </a:t>
            </a:r>
            <a:r>
              <a:rPr lang="en-US" altLang="zh-CN" sz="3200" b="1" dirty="0">
                <a:solidFill>
                  <a:srgbClr val="EE0006"/>
                </a:solidFill>
                <a:ea typeface="楷体_GB2312" pitchFamily="49" charset="-122"/>
                <a:cs typeface="Arial" charset="0"/>
              </a:rPr>
              <a:t>=1, 2, 3, 4, 5)</a:t>
            </a:r>
          </a:p>
          <a:p>
            <a:pPr eaLnBrk="1" hangingPunct="1"/>
            <a:r>
              <a:rPr lang="zh-CN" altLang="en-US" sz="2800" b="1" dirty="0">
                <a:solidFill>
                  <a:schemeClr val="bg2"/>
                </a:solidFill>
                <a:ea typeface="楷体_GB2312" pitchFamily="49" charset="-122"/>
                <a:cs typeface="Arial" charset="0"/>
              </a:rPr>
              <a:t>写出</a:t>
            </a:r>
            <a:r>
              <a:rPr lang="el-GR" altLang="zh-CN" sz="2800" b="1" i="1" dirty="0">
                <a:solidFill>
                  <a:schemeClr val="bg2"/>
                </a:solidFill>
                <a:ea typeface="楷体_GB2312" pitchFamily="49" charset="-122"/>
                <a:cs typeface="Arial" charset="0"/>
              </a:rPr>
              <a:t>λ</a:t>
            </a:r>
            <a:r>
              <a:rPr lang="en-US" altLang="zh-CN" sz="2800" b="1" dirty="0">
                <a:solidFill>
                  <a:schemeClr val="bg2"/>
                </a:solidFill>
                <a:latin typeface="Times New Roman" pitchFamily="18" charset="0"/>
                <a:ea typeface="楷体_GB2312" pitchFamily="49" charset="-122"/>
                <a:cs typeface="Arial" charset="0"/>
              </a:rPr>
              <a:t>=1, 0.8, 0.6, 0.5, 0.4</a:t>
            </a:r>
            <a:r>
              <a:rPr lang="zh-CN" altLang="en-US" sz="2800" b="1" dirty="0">
                <a:solidFill>
                  <a:schemeClr val="bg2"/>
                </a:solidFill>
                <a:latin typeface="Times New Roman" pitchFamily="18" charset="0"/>
                <a:ea typeface="楷体_GB2312" pitchFamily="49" charset="-122"/>
                <a:cs typeface="Arial" charset="0"/>
              </a:rPr>
              <a:t>时，相应的</a:t>
            </a:r>
            <a:r>
              <a:rPr lang="en-US" altLang="zh-CN" sz="2800" b="1" i="1" dirty="0">
                <a:solidFill>
                  <a:schemeClr val="bg2"/>
                </a:solidFill>
                <a:ea typeface="楷体_GB2312" pitchFamily="49" charset="-122"/>
                <a:cs typeface="Arial" charset="0"/>
              </a:rPr>
              <a:t>R</a:t>
            </a:r>
            <a:r>
              <a:rPr lang="el-GR" altLang="zh-CN" sz="2800" b="1" i="1" baseline="-25000" dirty="0">
                <a:solidFill>
                  <a:schemeClr val="bg2"/>
                </a:solidFill>
                <a:ea typeface="楷体_GB2312" pitchFamily="49" charset="-122"/>
                <a:cs typeface="Arial" charset="0"/>
              </a:rPr>
              <a:t>λ</a:t>
            </a:r>
            <a:r>
              <a:rPr lang="zh-CN" altLang="en-US" sz="2800" b="1" dirty="0">
                <a:solidFill>
                  <a:schemeClr val="bg2"/>
                </a:solidFill>
                <a:latin typeface="Times New Roman" pitchFamily="18" charset="0"/>
                <a:ea typeface="楷体_GB2312" pitchFamily="49" charset="-122"/>
                <a:cs typeface="Arial" charset="0"/>
              </a:rPr>
              <a:t>和分类</a:t>
            </a:r>
          </a:p>
          <a:p>
            <a:pPr eaLnBrk="1" hangingPunct="1"/>
            <a:r>
              <a:rPr lang="zh-CN" altLang="en-US" sz="2800" b="1" dirty="0">
                <a:latin typeface="Times New Roman" pitchFamily="18" charset="0"/>
                <a:ea typeface="楷体_GB2312" pitchFamily="49" charset="-122"/>
                <a:cs typeface="Arial" charset="0"/>
              </a:rPr>
              <a:t>当</a:t>
            </a:r>
            <a:r>
              <a:rPr lang="en-US" altLang="zh-CN" sz="2800" b="1" dirty="0">
                <a:solidFill>
                  <a:srgbClr val="057939"/>
                </a:solidFill>
                <a:latin typeface="Times New Roman" pitchFamily="18" charset="0"/>
                <a:ea typeface="楷体_GB2312" pitchFamily="49" charset="-122"/>
                <a:cs typeface="Arial" charset="0"/>
              </a:rPr>
              <a:t>0</a:t>
            </a:r>
            <a:r>
              <a:rPr lang="en-US" altLang="zh-CN" sz="2800" b="1" dirty="0">
                <a:solidFill>
                  <a:srgbClr val="057939"/>
                </a:solidFill>
                <a:ea typeface="楷体_GB2312" pitchFamily="49" charset="-122"/>
                <a:cs typeface="Arial" charset="0"/>
              </a:rPr>
              <a:t>≤</a:t>
            </a:r>
            <a:r>
              <a:rPr lang="el-GR" altLang="zh-CN" sz="2800" b="1" dirty="0">
                <a:solidFill>
                  <a:srgbClr val="057939"/>
                </a:solidFill>
                <a:ea typeface="楷体_GB2312" pitchFamily="49" charset="-122"/>
                <a:cs typeface="Arial" charset="0"/>
              </a:rPr>
              <a:t>λ</a:t>
            </a:r>
            <a:r>
              <a:rPr lang="en-US" altLang="zh-CN" sz="2800" b="1" dirty="0">
                <a:solidFill>
                  <a:srgbClr val="057939"/>
                </a:solidFill>
                <a:ea typeface="楷体_GB2312" pitchFamily="49" charset="-122"/>
                <a:cs typeface="Arial" charset="0"/>
              </a:rPr>
              <a:t>≤0.4</a:t>
            </a:r>
            <a:r>
              <a:rPr lang="zh-CN" altLang="en-US" sz="2800" b="1" dirty="0">
                <a:ea typeface="楷体_GB2312" pitchFamily="49" charset="-122"/>
                <a:cs typeface="Arial" charset="0"/>
              </a:rPr>
              <a:t>时，</a:t>
            </a:r>
          </a:p>
          <a:p>
            <a:pPr eaLnBrk="1" hangingPunct="1"/>
            <a:endParaRPr lang="zh-CN" altLang="en-US" sz="2800" b="1" dirty="0">
              <a:ea typeface="楷体_GB2312" pitchFamily="49" charset="-122"/>
              <a:cs typeface="Arial" charset="0"/>
            </a:endParaRPr>
          </a:p>
          <a:p>
            <a:pPr eaLnBrk="1" hangingPunct="1"/>
            <a:endParaRPr lang="zh-CN" altLang="en-US"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endParaRPr lang="zh-CN" altLang="en-US" sz="2800" b="1" dirty="0">
              <a:ea typeface="楷体_GB2312" pitchFamily="49" charset="-122"/>
              <a:cs typeface="Arial" charset="0"/>
            </a:endParaRPr>
          </a:p>
          <a:p>
            <a:pPr eaLnBrk="1" hangingPunct="1"/>
            <a:r>
              <a:rPr lang="zh-CN" altLang="en-US" sz="2800" b="1" dirty="0">
                <a:ea typeface="楷体_GB2312" pitchFamily="49" charset="-122"/>
                <a:cs typeface="Arial" charset="0"/>
              </a:rPr>
              <a:t>将</a:t>
            </a:r>
            <a:r>
              <a:rPr lang="en-US" altLang="zh-CN" sz="2800" b="1" dirty="0">
                <a:ea typeface="楷体_GB2312" pitchFamily="49" charset="-122"/>
                <a:cs typeface="Arial" charset="0"/>
              </a:rPr>
              <a:t>U</a:t>
            </a:r>
            <a:r>
              <a:rPr lang="zh-CN" altLang="en-US" sz="2800" b="1" dirty="0">
                <a:ea typeface="楷体_GB2312" pitchFamily="49" charset="-122"/>
                <a:cs typeface="Arial" charset="0"/>
              </a:rPr>
              <a:t>分为一类： </a:t>
            </a:r>
            <a:r>
              <a:rPr kumimoji="1" lang="en-US" altLang="zh-CN" b="1" dirty="0">
                <a:solidFill>
                  <a:srgbClr val="3333FF"/>
                </a:solidFill>
                <a:ea typeface="楷体_GB2312" pitchFamily="49" charset="-122"/>
                <a:cs typeface="Arial" charset="0"/>
              </a:rPr>
              <a:t>{u</a:t>
            </a:r>
            <a:r>
              <a:rPr kumimoji="1" lang="en-US" altLang="zh-CN" b="1" baseline="-25000" dirty="0">
                <a:solidFill>
                  <a:srgbClr val="3333FF"/>
                </a:solidFill>
                <a:ea typeface="楷体_GB2312" pitchFamily="49" charset="-122"/>
                <a:cs typeface="Arial" charset="0"/>
              </a:rPr>
              <a:t>1</a:t>
            </a:r>
            <a:r>
              <a:rPr kumimoji="1" lang="en-US" altLang="zh-CN" b="1" dirty="0">
                <a:solidFill>
                  <a:srgbClr val="3333FF"/>
                </a:solidFill>
                <a:ea typeface="楷体_GB2312" pitchFamily="49" charset="-122"/>
                <a:cs typeface="Arial" charset="0"/>
              </a:rPr>
              <a:t>, u</a:t>
            </a:r>
            <a:r>
              <a:rPr kumimoji="1" lang="en-US" altLang="zh-CN" b="1" baseline="-25000" dirty="0">
                <a:solidFill>
                  <a:srgbClr val="3333FF"/>
                </a:solidFill>
              </a:rPr>
              <a:t>2</a:t>
            </a:r>
            <a:r>
              <a:rPr kumimoji="1" lang="en-US" altLang="zh-CN" b="1" dirty="0">
                <a:solidFill>
                  <a:srgbClr val="3333FF"/>
                </a:solidFill>
                <a:ea typeface="楷体_GB2312" pitchFamily="49" charset="-122"/>
              </a:rPr>
              <a:t>, u</a:t>
            </a:r>
            <a:r>
              <a:rPr kumimoji="1" lang="en-US" altLang="zh-CN" b="1" baseline="-25000" dirty="0">
                <a:solidFill>
                  <a:srgbClr val="3333FF"/>
                </a:solidFill>
              </a:rPr>
              <a:t>3</a:t>
            </a:r>
            <a:r>
              <a:rPr kumimoji="1" lang="en-US" altLang="zh-CN" b="1" dirty="0">
                <a:solidFill>
                  <a:srgbClr val="3333FF"/>
                </a:solidFill>
                <a:ea typeface="楷体_GB2312" pitchFamily="49" charset="-122"/>
              </a:rPr>
              <a:t>, u</a:t>
            </a:r>
            <a:r>
              <a:rPr kumimoji="1" lang="en-US" altLang="zh-CN" b="1" baseline="-25000" dirty="0">
                <a:solidFill>
                  <a:srgbClr val="3333FF"/>
                </a:solidFill>
              </a:rPr>
              <a:t>4</a:t>
            </a:r>
            <a:r>
              <a:rPr kumimoji="1" lang="en-US" altLang="zh-CN" b="1" dirty="0">
                <a:solidFill>
                  <a:srgbClr val="3333FF"/>
                </a:solidFill>
                <a:ea typeface="楷体_GB2312" pitchFamily="49" charset="-122"/>
              </a:rPr>
              <a:t>, u</a:t>
            </a:r>
            <a:r>
              <a:rPr kumimoji="1" lang="en-US" altLang="zh-CN" b="1" baseline="-25000" dirty="0">
                <a:solidFill>
                  <a:srgbClr val="3333FF"/>
                </a:solidFill>
              </a:rPr>
              <a:t>5</a:t>
            </a:r>
            <a:r>
              <a:rPr kumimoji="1" lang="en-US" altLang="zh-CN" b="1" dirty="0">
                <a:solidFill>
                  <a:srgbClr val="3333FF"/>
                </a:solidFill>
                <a:ea typeface="楷体_GB2312" pitchFamily="49" charset="-122"/>
              </a:rPr>
              <a:t>}</a:t>
            </a:r>
            <a:endParaRPr lang="zh-CN" altLang="el-GR" sz="2800" b="1" dirty="0">
              <a:solidFill>
                <a:srgbClr val="3333FF"/>
              </a:solidFill>
              <a:ea typeface="楷体_GB2312" pitchFamily="49" charset="-122"/>
            </a:endParaRPr>
          </a:p>
        </p:txBody>
      </p:sp>
      <p:graphicFrame>
        <p:nvGraphicFramePr>
          <p:cNvPr id="206852" name="Object 4"/>
          <p:cNvGraphicFramePr>
            <a:graphicFrameLocks noGrp="1" noChangeAspect="1"/>
          </p:cNvGraphicFramePr>
          <p:nvPr>
            <p:ph sz="half" idx="2"/>
          </p:nvPr>
        </p:nvGraphicFramePr>
        <p:xfrm>
          <a:off x="3863753" y="3355976"/>
          <a:ext cx="3227387" cy="2689225"/>
        </p:xfrm>
        <a:graphic>
          <a:graphicData uri="http://schemas.openxmlformats.org/presentationml/2006/ole">
            <mc:AlternateContent xmlns:mc="http://schemas.openxmlformats.org/markup-compatibility/2006">
              <mc:Choice xmlns:v="urn:schemas-microsoft-com:vml" Requires="v">
                <p:oleObj name="公式" r:id="rId2" imgW="1371600" imgH="1143000" progId="Equation.3">
                  <p:embed/>
                </p:oleObj>
              </mc:Choice>
              <mc:Fallback>
                <p:oleObj name="公式" r:id="rId2" imgW="1371600" imgH="1143000" progId="Equation.3">
                  <p:embed/>
                  <p:pic>
                    <p:nvPicPr>
                      <p:cNvPr id="20685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753" y="3355976"/>
                        <a:ext cx="3227387" cy="268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F08F2052-F75D-BC16-5BEC-159ADA287D03}"/>
              </a:ext>
            </a:extLst>
          </p:cNvPr>
          <p:cNvGraphicFramePr>
            <a:graphicFrameLocks noChangeAspect="1"/>
          </p:cNvGraphicFramePr>
          <p:nvPr>
            <p:extLst>
              <p:ext uri="{D42A27DB-BD31-4B8C-83A1-F6EECF244321}">
                <p14:modId xmlns:p14="http://schemas.microsoft.com/office/powerpoint/2010/main" val="1534884658"/>
              </p:ext>
            </p:extLst>
          </p:nvPr>
        </p:nvGraphicFramePr>
        <p:xfrm>
          <a:off x="8737600" y="1517651"/>
          <a:ext cx="3407083" cy="2271389"/>
        </p:xfrm>
        <a:graphic>
          <a:graphicData uri="http://schemas.openxmlformats.org/presentationml/2006/ole">
            <mc:AlternateContent xmlns:mc="http://schemas.openxmlformats.org/markup-compatibility/2006">
              <mc:Choice xmlns:v="urn:schemas-microsoft-com:vml" Requires="v">
                <p:oleObj name="Equation" r:id="rId4" imgW="1714320" imgH="1143000" progId="Equation.DSMT4">
                  <p:embed/>
                </p:oleObj>
              </mc:Choice>
              <mc:Fallback>
                <p:oleObj name="Equation" r:id="rId4" imgW="1714320" imgH="1143000" progId="Equation.DSMT4">
                  <p:embed/>
                  <p:pic>
                    <p:nvPicPr>
                      <p:cNvPr id="2" name="Object 4">
                        <a:extLst>
                          <a:ext uri="{FF2B5EF4-FFF2-40B4-BE49-F238E27FC236}">
                            <a16:creationId xmlns:a16="http://schemas.microsoft.com/office/drawing/2014/main" id="{F08F2052-F75D-BC16-5BEC-159ADA287D03}"/>
                          </a:ext>
                        </a:extLst>
                      </p:cNvPr>
                      <p:cNvPicPr>
                        <a:picLocks noChangeAspect="1" noChangeArrowheads="1"/>
                      </p:cNvPicPr>
                      <p:nvPr/>
                    </p:nvPicPr>
                    <p:blipFill>
                      <a:blip r:embed="rId5"/>
                      <a:srcRect/>
                      <a:stretch>
                        <a:fillRect/>
                      </a:stretch>
                    </p:blipFill>
                    <p:spPr bwMode="auto">
                      <a:xfrm>
                        <a:off x="8737600" y="1517651"/>
                        <a:ext cx="3407083" cy="2271389"/>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01BF743-5BE1-FB24-8C94-974B3FF37AC3}"/>
              </a:ext>
            </a:extLst>
          </p:cNvPr>
          <p:cNvSpPr>
            <a:spLocks noGrp="1"/>
          </p:cNvSpPr>
          <p:nvPr>
            <p:ph type="sldNum" sz="quarter" idx="11"/>
          </p:nvPr>
        </p:nvSpPr>
        <p:spPr/>
        <p:txBody>
          <a:bodyPr/>
          <a:lstStyle/>
          <a:p>
            <a:pPr>
              <a:defRPr/>
            </a:pPr>
            <a:fld id="{611376B5-62E6-403F-97A0-5A1E42AE81DF}" type="slidenum">
              <a:rPr lang="en-US" altLang="zh-CN"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animEffect transition="in" filter="wipe(left)">
                                      <p:cBhvr>
                                        <p:cTn id="7" dur="500"/>
                                        <p:tgtEl>
                                          <p:spTgt spid="1945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6852"/>
                                        </p:tgtEl>
                                        <p:attrNameLst>
                                          <p:attrName>style.visibility</p:attrName>
                                        </p:attrNameLst>
                                      </p:cBhvr>
                                      <p:to>
                                        <p:strVal val="visible"/>
                                      </p:to>
                                    </p:set>
                                    <p:animEffect transition="in" filter="wipe(left)">
                                      <p:cBhvr>
                                        <p:cTn id="12" dur="500"/>
                                        <p:tgtEl>
                                          <p:spTgt spid="2068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459">
                                            <p:txEl>
                                              <p:pRg st="8" end="8"/>
                                            </p:txEl>
                                          </p:spTgt>
                                        </p:tgtEl>
                                        <p:attrNameLst>
                                          <p:attrName>style.visibility</p:attrName>
                                        </p:attrNameLst>
                                      </p:cBhvr>
                                      <p:to>
                                        <p:strVal val="visible"/>
                                      </p:to>
                                    </p:set>
                                    <p:animEffect transition="in" filter="wipe(left)">
                                      <p:cBhvr>
                                        <p:cTn id="17" dur="5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81200" y="332656"/>
            <a:ext cx="8229600" cy="955675"/>
          </a:xfrm>
        </p:spPr>
        <p:txBody>
          <a:bodyPr/>
          <a:lstStyle/>
          <a:p>
            <a:pPr algn="ctr" eaLnBrk="1" hangingPunct="1"/>
            <a:r>
              <a:rPr lang="en-US" altLang="zh-CN" dirty="0">
                <a:solidFill>
                  <a:srgbClr val="057939"/>
                </a:solidFill>
                <a:ea typeface="黑体" pitchFamily="2" charset="-122"/>
              </a:rPr>
              <a:t>[P75</a:t>
            </a:r>
            <a:r>
              <a:rPr lang="zh-CN" altLang="en-US" dirty="0">
                <a:solidFill>
                  <a:srgbClr val="057939"/>
                </a:solidFill>
                <a:ea typeface="黑体" pitchFamily="2" charset="-122"/>
              </a:rPr>
              <a:t>例</a:t>
            </a:r>
            <a:r>
              <a:rPr lang="en-US" altLang="zh-CN" dirty="0">
                <a:solidFill>
                  <a:srgbClr val="057939"/>
                </a:solidFill>
                <a:ea typeface="黑体" pitchFamily="2" charset="-122"/>
              </a:rPr>
              <a:t>1]</a:t>
            </a:r>
            <a:r>
              <a:rPr lang="zh-CN" altLang="en-US" dirty="0">
                <a:solidFill>
                  <a:srgbClr val="057939"/>
                </a:solidFill>
                <a:ea typeface="黑体" pitchFamily="2" charset="-122"/>
              </a:rPr>
              <a:t>求</a:t>
            </a:r>
            <a:r>
              <a:rPr lang="en-US" altLang="zh-CN" i="1" dirty="0">
                <a:solidFill>
                  <a:srgbClr val="057939"/>
                </a:solidFill>
                <a:ea typeface="黑体" pitchFamily="2" charset="-122"/>
              </a:rPr>
              <a:t>R</a:t>
            </a:r>
            <a:r>
              <a:rPr lang="zh-CN" altLang="en-US" dirty="0">
                <a:solidFill>
                  <a:srgbClr val="057939"/>
                </a:solidFill>
                <a:ea typeface="黑体" pitchFamily="2" charset="-122"/>
              </a:rPr>
              <a:t>的动态聚类图</a:t>
            </a:r>
          </a:p>
        </p:txBody>
      </p:sp>
      <p:sp>
        <p:nvSpPr>
          <p:cNvPr id="197635" name="Rectangle 3"/>
          <p:cNvSpPr>
            <a:spLocks noGrp="1" noChangeArrowheads="1"/>
          </p:cNvSpPr>
          <p:nvPr>
            <p:ph type="body" idx="1"/>
          </p:nvPr>
        </p:nvSpPr>
        <p:spPr>
          <a:xfrm>
            <a:off x="1127449" y="1341439"/>
            <a:ext cx="9361164" cy="3240087"/>
          </a:xfrm>
          <a:ln w="38100"/>
        </p:spPr>
        <p:txBody>
          <a:bodyPr/>
          <a:lstStyle/>
          <a:p>
            <a:pPr eaLnBrk="1" hangingPunct="1"/>
            <a:r>
              <a:rPr lang="zh-CN" altLang="en-US" sz="2400" b="1" dirty="0">
                <a:latin typeface="Times New Roman" pitchFamily="18" charset="0"/>
                <a:cs typeface="Arial" charset="0"/>
              </a:rPr>
              <a:t>当</a:t>
            </a:r>
            <a:r>
              <a:rPr lang="en-US" altLang="zh-CN" sz="2400" b="1" dirty="0">
                <a:latin typeface="Times New Roman" pitchFamily="18" charset="0"/>
                <a:cs typeface="Arial" charset="0"/>
              </a:rPr>
              <a:t>0.8</a:t>
            </a:r>
            <a:r>
              <a:rPr lang="en-US" altLang="zh-CN" sz="2400" b="1" dirty="0"/>
              <a:t>&lt;</a:t>
            </a:r>
            <a:r>
              <a:rPr lang="el-GR" altLang="zh-CN" sz="2400" b="1" dirty="0">
                <a:cs typeface="Arial" charset="0"/>
              </a:rPr>
              <a:t>λ</a:t>
            </a:r>
            <a:r>
              <a:rPr lang="en-US" altLang="zh-CN" sz="2400" b="1" dirty="0"/>
              <a:t>≤1   </a:t>
            </a:r>
            <a:r>
              <a:rPr lang="zh-CN" altLang="en-US" sz="2400" b="1" dirty="0"/>
              <a:t>时，将</a:t>
            </a:r>
            <a:r>
              <a:rPr lang="en-US" altLang="zh-CN" sz="2400" b="1" dirty="0"/>
              <a:t>U</a:t>
            </a:r>
            <a:r>
              <a:rPr lang="zh-CN" altLang="en-US" sz="2400" b="1" dirty="0"/>
              <a:t>分为五类： </a:t>
            </a:r>
            <a:r>
              <a:rPr kumimoji="1" lang="en-US" altLang="zh-CN" sz="2800" b="1" dirty="0">
                <a:solidFill>
                  <a:srgbClr val="3333FF"/>
                </a:solidFill>
                <a:ea typeface="楷体_GB2312" pitchFamily="49" charset="-122"/>
              </a:rPr>
              <a:t>{u</a:t>
            </a:r>
            <a:r>
              <a:rPr kumimoji="1" lang="en-US" altLang="zh-CN" sz="2800" b="1" baseline="-25000" dirty="0">
                <a:solidFill>
                  <a:srgbClr val="3333FF"/>
                </a:solidFill>
              </a:rPr>
              <a:t>1</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2</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3</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4</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5</a:t>
            </a:r>
            <a:r>
              <a:rPr kumimoji="1" lang="en-US" altLang="zh-CN" sz="2800" b="1" dirty="0">
                <a:solidFill>
                  <a:srgbClr val="3333FF"/>
                </a:solidFill>
                <a:ea typeface="楷体_GB2312" pitchFamily="49" charset="-122"/>
              </a:rPr>
              <a:t>}</a:t>
            </a:r>
            <a:endParaRPr kumimoji="1" lang="en-US" altLang="zh-CN" sz="2400" b="1" dirty="0">
              <a:latin typeface="Times New Roman" pitchFamily="18" charset="0"/>
            </a:endParaRPr>
          </a:p>
          <a:p>
            <a:pPr eaLnBrk="1" hangingPunct="1"/>
            <a:r>
              <a:rPr lang="zh-CN" altLang="en-US" sz="2400" b="1" dirty="0">
                <a:latin typeface="Times New Roman" pitchFamily="18" charset="0"/>
                <a:cs typeface="Arial" charset="0"/>
              </a:rPr>
              <a:t>当</a:t>
            </a:r>
            <a:r>
              <a:rPr lang="en-US" altLang="zh-CN" sz="2400" b="1" dirty="0">
                <a:latin typeface="Times New Roman" pitchFamily="18" charset="0"/>
                <a:cs typeface="Arial" charset="0"/>
              </a:rPr>
              <a:t>0.6</a:t>
            </a:r>
            <a:r>
              <a:rPr lang="en-US" altLang="zh-CN" sz="2400" b="1" dirty="0"/>
              <a:t>&lt;</a:t>
            </a:r>
            <a:r>
              <a:rPr lang="el-GR" altLang="zh-CN" sz="2400" b="1" dirty="0">
                <a:cs typeface="Arial" charset="0"/>
              </a:rPr>
              <a:t>λ</a:t>
            </a:r>
            <a:r>
              <a:rPr lang="en-US" altLang="zh-CN" sz="2400" b="1" dirty="0"/>
              <a:t>≤0.8</a:t>
            </a:r>
            <a:r>
              <a:rPr lang="zh-CN" altLang="en-US" sz="2400" b="1" dirty="0"/>
              <a:t>时，将</a:t>
            </a:r>
            <a:r>
              <a:rPr lang="en-US" altLang="zh-CN" sz="2400" b="1" dirty="0"/>
              <a:t>U</a:t>
            </a:r>
            <a:r>
              <a:rPr lang="zh-CN" altLang="en-US" sz="2400" b="1" dirty="0"/>
              <a:t>分为四类： </a:t>
            </a:r>
            <a:r>
              <a:rPr kumimoji="1" lang="en-US" altLang="zh-CN" sz="2800" b="1" dirty="0">
                <a:solidFill>
                  <a:srgbClr val="3333FF"/>
                </a:solidFill>
                <a:ea typeface="楷体_GB2312" pitchFamily="49" charset="-122"/>
              </a:rPr>
              <a:t>{u</a:t>
            </a:r>
            <a:r>
              <a:rPr kumimoji="1" lang="en-US" altLang="zh-CN" sz="2800" b="1" baseline="-25000" dirty="0">
                <a:solidFill>
                  <a:srgbClr val="3333FF"/>
                </a:solidFill>
              </a:rPr>
              <a:t>1</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3</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2</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4</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5</a:t>
            </a:r>
            <a:r>
              <a:rPr kumimoji="1" lang="en-US" altLang="zh-CN" sz="2800" b="1" dirty="0">
                <a:solidFill>
                  <a:srgbClr val="3333FF"/>
                </a:solidFill>
                <a:ea typeface="楷体_GB2312" pitchFamily="49" charset="-122"/>
              </a:rPr>
              <a:t>}</a:t>
            </a:r>
            <a:endParaRPr lang="zh-CN" altLang="el-GR" sz="2800" b="1" dirty="0">
              <a:solidFill>
                <a:srgbClr val="3333FF"/>
              </a:solidFill>
              <a:ea typeface="楷体_GB2312" pitchFamily="49" charset="-122"/>
            </a:endParaRPr>
          </a:p>
          <a:p>
            <a:pPr eaLnBrk="1" hangingPunct="1"/>
            <a:r>
              <a:rPr lang="zh-CN" altLang="en-US" sz="2400" b="1" dirty="0">
                <a:latin typeface="Times New Roman" pitchFamily="18" charset="0"/>
                <a:cs typeface="Arial" charset="0"/>
              </a:rPr>
              <a:t>当</a:t>
            </a:r>
            <a:r>
              <a:rPr lang="en-US" altLang="zh-CN" sz="2400" b="1" dirty="0">
                <a:latin typeface="Times New Roman" pitchFamily="18" charset="0"/>
                <a:cs typeface="Arial" charset="0"/>
              </a:rPr>
              <a:t>0.5</a:t>
            </a:r>
            <a:r>
              <a:rPr lang="en-US" altLang="zh-CN" sz="2400" b="1" dirty="0"/>
              <a:t>&lt;</a:t>
            </a:r>
            <a:r>
              <a:rPr lang="el-GR" altLang="zh-CN" sz="2400" b="1" dirty="0">
                <a:cs typeface="Arial" charset="0"/>
              </a:rPr>
              <a:t>λ</a:t>
            </a:r>
            <a:r>
              <a:rPr lang="en-US" altLang="zh-CN" sz="2400" b="1" dirty="0"/>
              <a:t>≤0.6</a:t>
            </a:r>
            <a:r>
              <a:rPr lang="zh-CN" altLang="en-US" sz="2400" b="1" dirty="0"/>
              <a:t>时，将</a:t>
            </a:r>
            <a:r>
              <a:rPr lang="en-US" altLang="zh-CN" sz="2400" b="1" dirty="0"/>
              <a:t>U</a:t>
            </a:r>
            <a:r>
              <a:rPr lang="zh-CN" altLang="en-US" sz="2400" b="1" dirty="0"/>
              <a:t>分为三类： </a:t>
            </a:r>
            <a:r>
              <a:rPr kumimoji="1" lang="en-US" altLang="zh-CN" sz="2800" b="1" dirty="0">
                <a:solidFill>
                  <a:srgbClr val="3333FF"/>
                </a:solidFill>
                <a:ea typeface="楷体_GB2312" pitchFamily="49" charset="-122"/>
              </a:rPr>
              <a:t>{u</a:t>
            </a:r>
            <a:r>
              <a:rPr kumimoji="1" lang="en-US" altLang="zh-CN" sz="2800" b="1" baseline="-25000" dirty="0">
                <a:solidFill>
                  <a:srgbClr val="3333FF"/>
                </a:solidFill>
              </a:rPr>
              <a:t>1</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3</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2</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4</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5</a:t>
            </a:r>
            <a:r>
              <a:rPr kumimoji="1" lang="en-US" altLang="zh-CN" sz="2800" b="1" dirty="0">
                <a:solidFill>
                  <a:srgbClr val="3333FF"/>
                </a:solidFill>
                <a:ea typeface="楷体_GB2312" pitchFamily="49" charset="-122"/>
              </a:rPr>
              <a:t>}</a:t>
            </a:r>
            <a:endParaRPr lang="zh-CN" altLang="el-GR" sz="2800" b="1" dirty="0">
              <a:solidFill>
                <a:srgbClr val="3333FF"/>
              </a:solidFill>
              <a:ea typeface="楷体_GB2312" pitchFamily="49" charset="-122"/>
            </a:endParaRPr>
          </a:p>
          <a:p>
            <a:pPr eaLnBrk="1" hangingPunct="1"/>
            <a:r>
              <a:rPr lang="zh-CN" altLang="en-US" sz="2400" b="1" dirty="0">
                <a:latin typeface="Times New Roman" pitchFamily="18" charset="0"/>
                <a:cs typeface="Arial" charset="0"/>
              </a:rPr>
              <a:t>当</a:t>
            </a:r>
            <a:r>
              <a:rPr lang="en-US" altLang="zh-CN" sz="2400" b="1" dirty="0">
                <a:latin typeface="Times New Roman" pitchFamily="18" charset="0"/>
                <a:cs typeface="Arial" charset="0"/>
              </a:rPr>
              <a:t>0.4</a:t>
            </a:r>
            <a:r>
              <a:rPr lang="en-US" altLang="zh-CN" sz="2400" b="1" dirty="0"/>
              <a:t>&lt;</a:t>
            </a:r>
            <a:r>
              <a:rPr lang="el-GR" altLang="zh-CN" sz="2400" b="1" dirty="0">
                <a:cs typeface="Arial" charset="0"/>
              </a:rPr>
              <a:t>λ</a:t>
            </a:r>
            <a:r>
              <a:rPr lang="en-US" altLang="zh-CN" sz="2400" b="1" dirty="0"/>
              <a:t>≤0.5</a:t>
            </a:r>
            <a:r>
              <a:rPr lang="zh-CN" altLang="en-US" sz="2400" b="1" dirty="0"/>
              <a:t>时，将</a:t>
            </a:r>
            <a:r>
              <a:rPr lang="en-US" altLang="zh-CN" sz="2400" b="1" dirty="0"/>
              <a:t>U</a:t>
            </a:r>
            <a:r>
              <a:rPr lang="zh-CN" altLang="en-US" sz="2400" b="1" dirty="0"/>
              <a:t>分为二类： </a:t>
            </a:r>
            <a:r>
              <a:rPr kumimoji="1" lang="en-US" altLang="zh-CN" sz="2800" b="1" dirty="0">
                <a:solidFill>
                  <a:srgbClr val="3333FF"/>
                </a:solidFill>
                <a:ea typeface="楷体_GB2312" pitchFamily="49" charset="-122"/>
              </a:rPr>
              <a:t>{u</a:t>
            </a:r>
            <a:r>
              <a:rPr kumimoji="1" lang="en-US" altLang="zh-CN" sz="2800" b="1" baseline="-25000" dirty="0">
                <a:solidFill>
                  <a:srgbClr val="3333FF"/>
                </a:solidFill>
              </a:rPr>
              <a:t>1</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3</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4</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5</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2</a:t>
            </a:r>
            <a:r>
              <a:rPr kumimoji="1" lang="en-US" altLang="zh-CN" sz="2800" b="1" dirty="0">
                <a:solidFill>
                  <a:srgbClr val="3333FF"/>
                </a:solidFill>
                <a:ea typeface="楷体_GB2312" pitchFamily="49" charset="-122"/>
              </a:rPr>
              <a:t>}</a:t>
            </a:r>
            <a:endParaRPr kumimoji="1" lang="zh-CN" altLang="el-GR" sz="2800" b="1" dirty="0">
              <a:solidFill>
                <a:srgbClr val="3333FF"/>
              </a:solidFill>
              <a:latin typeface="Times New Roman" pitchFamily="18" charset="0"/>
              <a:ea typeface="楷体_GB2312" pitchFamily="49" charset="-122"/>
            </a:endParaRPr>
          </a:p>
          <a:p>
            <a:pPr eaLnBrk="1" hangingPunct="1"/>
            <a:r>
              <a:rPr lang="zh-CN" altLang="en-US" sz="2400" b="1" dirty="0">
                <a:latin typeface="Times New Roman" pitchFamily="18" charset="0"/>
                <a:cs typeface="Arial" charset="0"/>
              </a:rPr>
              <a:t>当   </a:t>
            </a:r>
            <a:r>
              <a:rPr lang="en-US" altLang="zh-CN" sz="2400" b="1" dirty="0">
                <a:latin typeface="Times New Roman" pitchFamily="18" charset="0"/>
                <a:cs typeface="Arial" charset="0"/>
              </a:rPr>
              <a:t>0</a:t>
            </a:r>
            <a:r>
              <a:rPr lang="en-US" altLang="zh-CN" sz="2400" b="1" dirty="0"/>
              <a:t>≤</a:t>
            </a:r>
            <a:r>
              <a:rPr lang="el-GR" altLang="zh-CN" sz="2400" b="1" dirty="0">
                <a:cs typeface="Arial" charset="0"/>
              </a:rPr>
              <a:t>λ</a:t>
            </a:r>
            <a:r>
              <a:rPr lang="en-US" altLang="zh-CN" sz="2400" b="1" dirty="0"/>
              <a:t>≤0.4</a:t>
            </a:r>
            <a:r>
              <a:rPr lang="zh-CN" altLang="en-US" sz="2400" b="1" dirty="0"/>
              <a:t>时，将</a:t>
            </a:r>
            <a:r>
              <a:rPr lang="en-US" altLang="zh-CN" sz="2400" b="1" dirty="0"/>
              <a:t>U</a:t>
            </a:r>
            <a:r>
              <a:rPr lang="zh-CN" altLang="en-US" sz="2400" b="1" dirty="0"/>
              <a:t>分为一类： </a:t>
            </a:r>
            <a:r>
              <a:rPr kumimoji="1" lang="en-US" altLang="zh-CN" sz="2800" b="1" dirty="0">
                <a:solidFill>
                  <a:srgbClr val="3333FF"/>
                </a:solidFill>
                <a:ea typeface="楷体_GB2312" pitchFamily="49" charset="-122"/>
                <a:cs typeface="Arial" charset="0"/>
              </a:rPr>
              <a:t>{u</a:t>
            </a:r>
            <a:r>
              <a:rPr kumimoji="1" lang="en-US" altLang="zh-CN" sz="2800" b="1" baseline="-25000" dirty="0">
                <a:solidFill>
                  <a:srgbClr val="3333FF"/>
                </a:solidFill>
              </a:rPr>
              <a:t>1</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2</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3</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cs typeface="Arial" charset="0"/>
              </a:rPr>
              <a:t>4</a:t>
            </a:r>
            <a:r>
              <a:rPr kumimoji="1" lang="en-US" altLang="zh-CN" sz="2800" b="1" dirty="0">
                <a:solidFill>
                  <a:srgbClr val="3333FF"/>
                </a:solidFill>
                <a:ea typeface="楷体_GB2312" pitchFamily="49" charset="-122"/>
              </a:rPr>
              <a:t>, u</a:t>
            </a:r>
            <a:r>
              <a:rPr kumimoji="1" lang="en-US" altLang="zh-CN" sz="2800" b="1" baseline="-25000" dirty="0">
                <a:solidFill>
                  <a:srgbClr val="3333FF"/>
                </a:solidFill>
              </a:rPr>
              <a:t>5</a:t>
            </a:r>
            <a:r>
              <a:rPr kumimoji="1" lang="en-US" altLang="zh-CN" sz="2800" b="1" dirty="0">
                <a:solidFill>
                  <a:srgbClr val="3333FF"/>
                </a:solidFill>
                <a:ea typeface="楷体_GB2312" pitchFamily="49" charset="-122"/>
              </a:rPr>
              <a:t>}</a:t>
            </a:r>
            <a:endParaRPr lang="zh-CN" altLang="el-GR" sz="2400" b="1" dirty="0">
              <a:solidFill>
                <a:srgbClr val="3333FF"/>
              </a:solidFill>
              <a:ea typeface="楷体_GB2312" pitchFamily="49" charset="-122"/>
            </a:endParaRPr>
          </a:p>
          <a:p>
            <a:pPr eaLnBrk="1" hangingPunct="1"/>
            <a:r>
              <a:rPr lang="zh-CN" altLang="en-US" sz="2400" b="1" dirty="0">
                <a:latin typeface="Times New Roman" pitchFamily="18" charset="0"/>
                <a:cs typeface="Arial" charset="0"/>
              </a:rPr>
              <a:t>总结起来得</a:t>
            </a:r>
            <a:r>
              <a:rPr lang="zh-CN" altLang="en-US" sz="2400" b="1" dirty="0">
                <a:solidFill>
                  <a:srgbClr val="CC00FF"/>
                </a:solidFill>
                <a:effectLst>
                  <a:outerShdw blurRad="38100" dist="38100" dir="2700000" algn="tl">
                    <a:srgbClr val="000000">
                      <a:alpha val="43137"/>
                    </a:srgbClr>
                  </a:outerShdw>
                </a:effectLst>
                <a:latin typeface="Times New Roman" pitchFamily="18" charset="0"/>
                <a:cs typeface="Arial" charset="0"/>
              </a:rPr>
              <a:t>动态聚类图</a:t>
            </a:r>
            <a:endParaRPr lang="zh-CN" altLang="el-GR" sz="2400" b="1" dirty="0">
              <a:solidFill>
                <a:srgbClr val="CC00FF"/>
              </a:solidFill>
              <a:effectLst>
                <a:outerShdw blurRad="38100" dist="38100" dir="2700000" algn="tl">
                  <a:srgbClr val="000000">
                    <a:alpha val="43137"/>
                  </a:srgbClr>
                </a:outerShdw>
              </a:effectLst>
              <a:latin typeface="Times New Roman" pitchFamily="18" charset="0"/>
              <a:cs typeface="Arial" charset="0"/>
            </a:endParaRPr>
          </a:p>
        </p:txBody>
      </p:sp>
      <p:grpSp>
        <p:nvGrpSpPr>
          <p:cNvPr id="197655" name="Group 23"/>
          <p:cNvGrpSpPr>
            <a:grpSpLocks/>
          </p:cNvGrpSpPr>
          <p:nvPr/>
        </p:nvGrpSpPr>
        <p:grpSpPr bwMode="auto">
          <a:xfrm>
            <a:off x="6744072" y="4007883"/>
            <a:ext cx="3889375" cy="2850117"/>
            <a:chOff x="884" y="851"/>
            <a:chExt cx="2450" cy="1879"/>
          </a:xfrm>
        </p:grpSpPr>
        <p:sp>
          <p:nvSpPr>
            <p:cNvPr id="21509" name="Text Box 24"/>
            <p:cNvSpPr txBox="1">
              <a:spLocks noChangeArrowheads="1"/>
            </p:cNvSpPr>
            <p:nvPr/>
          </p:nvSpPr>
          <p:spPr bwMode="auto">
            <a:xfrm>
              <a:off x="930" y="851"/>
              <a:ext cx="2404"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dirty="0">
                  <a:solidFill>
                    <a:srgbClr val="FF0000"/>
                  </a:solidFill>
                  <a:sym typeface="Symbol" pitchFamily="18" charset="2"/>
                </a:rPr>
                <a:t></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1</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3</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2</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4</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5</a:t>
              </a:r>
              <a:endParaRPr kumimoji="1" lang="en-US" altLang="zh-CN" sz="2400" b="1" dirty="0">
                <a:solidFill>
                  <a:srgbClr val="3333FF"/>
                </a:solidFill>
                <a:sym typeface="Symbol" pitchFamily="18" charset="2"/>
              </a:endParaRPr>
            </a:p>
          </p:txBody>
        </p:sp>
        <p:grpSp>
          <p:nvGrpSpPr>
            <p:cNvPr id="21510" name="Group 25"/>
            <p:cNvGrpSpPr>
              <a:grpSpLocks/>
            </p:cNvGrpSpPr>
            <p:nvPr/>
          </p:nvGrpSpPr>
          <p:grpSpPr bwMode="auto">
            <a:xfrm>
              <a:off x="884" y="1117"/>
              <a:ext cx="2268" cy="1613"/>
              <a:chOff x="884" y="1117"/>
              <a:chExt cx="2268" cy="1613"/>
            </a:xfrm>
          </p:grpSpPr>
          <p:sp>
            <p:nvSpPr>
              <p:cNvPr id="21511" name="Text Box 26"/>
              <p:cNvSpPr txBox="1">
                <a:spLocks noChangeArrowheads="1"/>
              </p:cNvSpPr>
              <p:nvPr/>
            </p:nvSpPr>
            <p:spPr bwMode="auto">
              <a:xfrm>
                <a:off x="884" y="1117"/>
                <a:ext cx="544" cy="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1</a:t>
                </a:r>
              </a:p>
              <a:p>
                <a:pPr eaLnBrk="1" hangingPunct="1">
                  <a:spcBef>
                    <a:spcPct val="50000"/>
                  </a:spcBef>
                </a:pPr>
                <a:r>
                  <a:rPr lang="en-US" altLang="zh-CN"/>
                  <a:t>0.8</a:t>
                </a:r>
              </a:p>
              <a:p>
                <a:pPr eaLnBrk="1" hangingPunct="1">
                  <a:spcBef>
                    <a:spcPct val="50000"/>
                  </a:spcBef>
                </a:pPr>
                <a:r>
                  <a:rPr lang="en-US" altLang="zh-CN"/>
                  <a:t>0.6</a:t>
                </a:r>
              </a:p>
              <a:p>
                <a:pPr eaLnBrk="1" hangingPunct="1">
                  <a:spcBef>
                    <a:spcPct val="50000"/>
                  </a:spcBef>
                </a:pPr>
                <a:r>
                  <a:rPr lang="en-US" altLang="zh-CN"/>
                  <a:t>0.5</a:t>
                </a:r>
              </a:p>
              <a:p>
                <a:pPr eaLnBrk="1" hangingPunct="1">
                  <a:spcBef>
                    <a:spcPct val="50000"/>
                  </a:spcBef>
                </a:pPr>
                <a:r>
                  <a:rPr lang="en-US" altLang="zh-CN"/>
                  <a:t>0.4</a:t>
                </a:r>
              </a:p>
              <a:p>
                <a:pPr eaLnBrk="1" hangingPunct="1">
                  <a:spcBef>
                    <a:spcPct val="50000"/>
                  </a:spcBef>
                </a:pPr>
                <a:r>
                  <a:rPr lang="en-US" altLang="zh-CN"/>
                  <a:t>0</a:t>
                </a:r>
              </a:p>
            </p:txBody>
          </p:sp>
          <p:sp>
            <p:nvSpPr>
              <p:cNvPr id="21512" name="Line 27"/>
              <p:cNvSpPr>
                <a:spLocks noChangeShapeType="1"/>
              </p:cNvSpPr>
              <p:nvPr/>
            </p:nvSpPr>
            <p:spPr bwMode="auto">
              <a:xfrm>
                <a:off x="1701" y="1117"/>
                <a:ext cx="0" cy="3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3" name="Line 28"/>
              <p:cNvSpPr>
                <a:spLocks noChangeShapeType="1"/>
              </p:cNvSpPr>
              <p:nvPr/>
            </p:nvSpPr>
            <p:spPr bwMode="auto">
              <a:xfrm>
                <a:off x="2064" y="1117"/>
                <a:ext cx="0" cy="3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4" name="Line 29"/>
              <p:cNvSpPr>
                <a:spLocks noChangeShapeType="1"/>
              </p:cNvSpPr>
              <p:nvPr/>
            </p:nvSpPr>
            <p:spPr bwMode="auto">
              <a:xfrm>
                <a:off x="1701" y="1480"/>
                <a:ext cx="36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5" name="Line 30"/>
              <p:cNvSpPr>
                <a:spLocks noChangeShapeType="1"/>
              </p:cNvSpPr>
              <p:nvPr/>
            </p:nvSpPr>
            <p:spPr bwMode="auto">
              <a:xfrm>
                <a:off x="2789" y="1117"/>
                <a:ext cx="0" cy="58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6" name="Line 31"/>
              <p:cNvSpPr>
                <a:spLocks noChangeShapeType="1"/>
              </p:cNvSpPr>
              <p:nvPr/>
            </p:nvSpPr>
            <p:spPr bwMode="auto">
              <a:xfrm>
                <a:off x="3152" y="1117"/>
                <a:ext cx="0" cy="58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7" name="Line 32"/>
              <p:cNvSpPr>
                <a:spLocks noChangeShapeType="1"/>
              </p:cNvSpPr>
              <p:nvPr/>
            </p:nvSpPr>
            <p:spPr bwMode="auto">
              <a:xfrm>
                <a:off x="2789" y="1706"/>
                <a:ext cx="36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8" name="Line 33"/>
              <p:cNvSpPr>
                <a:spLocks noChangeShapeType="1"/>
              </p:cNvSpPr>
              <p:nvPr/>
            </p:nvSpPr>
            <p:spPr bwMode="auto">
              <a:xfrm flipH="1">
                <a:off x="1202" y="1480"/>
                <a:ext cx="499"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9" name="Line 34"/>
              <p:cNvSpPr>
                <a:spLocks noChangeShapeType="1"/>
              </p:cNvSpPr>
              <p:nvPr/>
            </p:nvSpPr>
            <p:spPr bwMode="auto">
              <a:xfrm flipH="1">
                <a:off x="1202" y="1706"/>
                <a:ext cx="1587"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0" name="Line 35"/>
              <p:cNvSpPr>
                <a:spLocks noChangeShapeType="1"/>
              </p:cNvSpPr>
              <p:nvPr/>
            </p:nvSpPr>
            <p:spPr bwMode="auto">
              <a:xfrm>
                <a:off x="1882" y="1480"/>
                <a:ext cx="0" cy="499"/>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1" name="Line 36"/>
              <p:cNvSpPr>
                <a:spLocks noChangeShapeType="1"/>
              </p:cNvSpPr>
              <p:nvPr/>
            </p:nvSpPr>
            <p:spPr bwMode="auto">
              <a:xfrm>
                <a:off x="2971" y="1706"/>
                <a:ext cx="0" cy="27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2" name="Line 37"/>
              <p:cNvSpPr>
                <a:spLocks noChangeShapeType="1"/>
              </p:cNvSpPr>
              <p:nvPr/>
            </p:nvSpPr>
            <p:spPr bwMode="auto">
              <a:xfrm>
                <a:off x="1882" y="1979"/>
                <a:ext cx="1089"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3" name="Line 38"/>
              <p:cNvSpPr>
                <a:spLocks noChangeShapeType="1"/>
              </p:cNvSpPr>
              <p:nvPr/>
            </p:nvSpPr>
            <p:spPr bwMode="auto">
              <a:xfrm flipH="1">
                <a:off x="1202" y="1979"/>
                <a:ext cx="635"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4" name="Line 39"/>
              <p:cNvSpPr>
                <a:spLocks noChangeShapeType="1"/>
              </p:cNvSpPr>
              <p:nvPr/>
            </p:nvSpPr>
            <p:spPr bwMode="auto">
              <a:xfrm>
                <a:off x="2426" y="1117"/>
                <a:ext cx="0" cy="1179"/>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5" name="Line 40"/>
              <p:cNvSpPr>
                <a:spLocks noChangeShapeType="1"/>
              </p:cNvSpPr>
              <p:nvPr/>
            </p:nvSpPr>
            <p:spPr bwMode="auto">
              <a:xfrm>
                <a:off x="2245" y="1979"/>
                <a:ext cx="0" cy="317"/>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6" name="Line 41"/>
              <p:cNvSpPr>
                <a:spLocks noChangeShapeType="1"/>
              </p:cNvSpPr>
              <p:nvPr/>
            </p:nvSpPr>
            <p:spPr bwMode="auto">
              <a:xfrm>
                <a:off x="2245" y="2296"/>
                <a:ext cx="181" cy="0"/>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7" name="Line 42"/>
              <p:cNvSpPr>
                <a:spLocks noChangeShapeType="1"/>
              </p:cNvSpPr>
              <p:nvPr/>
            </p:nvSpPr>
            <p:spPr bwMode="auto">
              <a:xfrm flipH="1">
                <a:off x="1202" y="2296"/>
                <a:ext cx="1043"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Line 43"/>
              <p:cNvSpPr>
                <a:spLocks noChangeShapeType="1"/>
              </p:cNvSpPr>
              <p:nvPr/>
            </p:nvSpPr>
            <p:spPr bwMode="auto">
              <a:xfrm>
                <a:off x="2336" y="2296"/>
                <a:ext cx="0" cy="272"/>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2" name="Object 4">
            <a:extLst>
              <a:ext uri="{FF2B5EF4-FFF2-40B4-BE49-F238E27FC236}">
                <a16:creationId xmlns:a16="http://schemas.microsoft.com/office/drawing/2014/main" id="{24B23113-2501-47D3-6336-836B3858B15A}"/>
              </a:ext>
            </a:extLst>
          </p:cNvPr>
          <p:cNvGraphicFramePr>
            <a:graphicFrameLocks noChangeAspect="1"/>
          </p:cNvGraphicFramePr>
          <p:nvPr>
            <p:extLst>
              <p:ext uri="{D42A27DB-BD31-4B8C-83A1-F6EECF244321}">
                <p14:modId xmlns:p14="http://schemas.microsoft.com/office/powerpoint/2010/main" val="2561855451"/>
              </p:ext>
            </p:extLst>
          </p:nvPr>
        </p:nvGraphicFramePr>
        <p:xfrm>
          <a:off x="1913883" y="4444149"/>
          <a:ext cx="3460368" cy="2306912"/>
        </p:xfrm>
        <a:graphic>
          <a:graphicData uri="http://schemas.openxmlformats.org/presentationml/2006/ole">
            <mc:AlternateContent xmlns:mc="http://schemas.openxmlformats.org/markup-compatibility/2006">
              <mc:Choice xmlns:v="urn:schemas-microsoft-com:vml" Requires="v">
                <p:oleObj name="Equation" r:id="rId2" imgW="1714320" imgH="1143000" progId="Equation.DSMT4">
                  <p:embed/>
                </p:oleObj>
              </mc:Choice>
              <mc:Fallback>
                <p:oleObj name="Equation" r:id="rId2" imgW="1714320" imgH="1143000" progId="Equation.DSMT4">
                  <p:embed/>
                  <p:pic>
                    <p:nvPicPr>
                      <p:cNvPr id="2" name="Object 4">
                        <a:extLst>
                          <a:ext uri="{FF2B5EF4-FFF2-40B4-BE49-F238E27FC236}">
                            <a16:creationId xmlns:a16="http://schemas.microsoft.com/office/drawing/2014/main" id="{24B23113-2501-47D3-6336-836B3858B15A}"/>
                          </a:ext>
                        </a:extLst>
                      </p:cNvPr>
                      <p:cNvPicPr>
                        <a:picLocks noChangeAspect="1" noChangeArrowheads="1"/>
                      </p:cNvPicPr>
                      <p:nvPr/>
                    </p:nvPicPr>
                    <p:blipFill>
                      <a:blip r:embed="rId3"/>
                      <a:srcRect/>
                      <a:stretch>
                        <a:fillRect/>
                      </a:stretch>
                    </p:blipFill>
                    <p:spPr bwMode="auto">
                      <a:xfrm>
                        <a:off x="1913883" y="4444149"/>
                        <a:ext cx="3460368" cy="2306912"/>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F1FBA28-5EA3-A29C-6652-6F308E7B7830}"/>
              </a:ext>
            </a:extLst>
          </p:cNvPr>
          <p:cNvSpPr>
            <a:spLocks noGrp="1"/>
          </p:cNvSpPr>
          <p:nvPr>
            <p:ph type="sldNum" sz="quarter" idx="11"/>
          </p:nvPr>
        </p:nvSpPr>
        <p:spPr/>
        <p:txBody>
          <a:bodyPr/>
          <a:lstStyle/>
          <a:p>
            <a:pPr>
              <a:defRPr/>
            </a:pPr>
            <a:fld id="{F13753BC-CAEF-4333-AC48-2805658F6E3F}" type="slidenum">
              <a:rPr lang="en-US" altLang="zh-CN"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Effect transition="in" filter="wipe(left)">
                                      <p:cBhvr>
                                        <p:cTn id="7" dur="500"/>
                                        <p:tgtEl>
                                          <p:spTgt spid="197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7635">
                                            <p:txEl>
                                              <p:pRg st="1" end="1"/>
                                            </p:txEl>
                                          </p:spTgt>
                                        </p:tgtEl>
                                        <p:attrNameLst>
                                          <p:attrName>style.visibility</p:attrName>
                                        </p:attrNameLst>
                                      </p:cBhvr>
                                      <p:to>
                                        <p:strVal val="visible"/>
                                      </p:to>
                                    </p:set>
                                    <p:animEffect transition="in" filter="wipe(left)">
                                      <p:cBhvr>
                                        <p:cTn id="12" dur="500"/>
                                        <p:tgtEl>
                                          <p:spTgt spid="1976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7635">
                                            <p:txEl>
                                              <p:pRg st="2" end="2"/>
                                            </p:txEl>
                                          </p:spTgt>
                                        </p:tgtEl>
                                        <p:attrNameLst>
                                          <p:attrName>style.visibility</p:attrName>
                                        </p:attrNameLst>
                                      </p:cBhvr>
                                      <p:to>
                                        <p:strVal val="visible"/>
                                      </p:to>
                                    </p:set>
                                    <p:animEffect transition="in" filter="wipe(left)">
                                      <p:cBhvr>
                                        <p:cTn id="17" dur="500"/>
                                        <p:tgtEl>
                                          <p:spTgt spid="1976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7635">
                                            <p:txEl>
                                              <p:pRg st="3" end="3"/>
                                            </p:txEl>
                                          </p:spTgt>
                                        </p:tgtEl>
                                        <p:attrNameLst>
                                          <p:attrName>style.visibility</p:attrName>
                                        </p:attrNameLst>
                                      </p:cBhvr>
                                      <p:to>
                                        <p:strVal val="visible"/>
                                      </p:to>
                                    </p:set>
                                    <p:animEffect transition="in" filter="wipe(left)">
                                      <p:cBhvr>
                                        <p:cTn id="22" dur="500"/>
                                        <p:tgtEl>
                                          <p:spTgt spid="1976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7635">
                                            <p:txEl>
                                              <p:pRg st="4" end="4"/>
                                            </p:txEl>
                                          </p:spTgt>
                                        </p:tgtEl>
                                        <p:attrNameLst>
                                          <p:attrName>style.visibility</p:attrName>
                                        </p:attrNameLst>
                                      </p:cBhvr>
                                      <p:to>
                                        <p:strVal val="visible"/>
                                      </p:to>
                                    </p:set>
                                    <p:animEffect transition="in" filter="wipe(left)">
                                      <p:cBhvr>
                                        <p:cTn id="27" dur="500"/>
                                        <p:tgtEl>
                                          <p:spTgt spid="1976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97635">
                                            <p:txEl>
                                              <p:pRg st="5" end="5"/>
                                            </p:txEl>
                                          </p:spTgt>
                                        </p:tgtEl>
                                        <p:attrNameLst>
                                          <p:attrName>style.visibility</p:attrName>
                                        </p:attrNameLst>
                                      </p:cBhvr>
                                      <p:to>
                                        <p:strVal val="visible"/>
                                      </p:to>
                                    </p:set>
                                    <p:animEffect transition="in" filter="wipe(left)">
                                      <p:cBhvr>
                                        <p:cTn id="32" dur="500"/>
                                        <p:tgtEl>
                                          <p:spTgt spid="1976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97655"/>
                                        </p:tgtEl>
                                        <p:attrNameLst>
                                          <p:attrName>style.visibility</p:attrName>
                                        </p:attrNameLst>
                                      </p:cBhvr>
                                      <p:to>
                                        <p:strVal val="visible"/>
                                      </p:to>
                                    </p:set>
                                    <p:animEffect transition="in" filter="wipe(up)">
                                      <p:cBhvr>
                                        <p:cTn id="37" dur="500"/>
                                        <p:tgtEl>
                                          <p:spTgt spid="19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457200"/>
            <a:ext cx="8229600" cy="884238"/>
          </a:xfrm>
        </p:spPr>
        <p:txBody>
          <a:bodyPr/>
          <a:lstStyle/>
          <a:p>
            <a:pPr algn="ctr" eaLnBrk="1" hangingPunct="1"/>
            <a:r>
              <a:rPr lang="en-US" altLang="zh-CN" dirty="0">
                <a:solidFill>
                  <a:srgbClr val="057939"/>
                </a:solidFill>
                <a:ea typeface="黑体" pitchFamily="2" charset="-122"/>
              </a:rPr>
              <a:t>F</a:t>
            </a:r>
            <a:r>
              <a:rPr lang="zh-CN" altLang="en-US" dirty="0">
                <a:solidFill>
                  <a:srgbClr val="057939"/>
                </a:solidFill>
                <a:latin typeface="Times New Roman" pitchFamily="18" charset="0"/>
                <a:ea typeface="黑体" pitchFamily="2" charset="-122"/>
              </a:rPr>
              <a:t>等价矩阵的基本定理</a:t>
            </a:r>
          </a:p>
        </p:txBody>
      </p:sp>
      <p:sp>
        <p:nvSpPr>
          <p:cNvPr id="92163" name="Rectangle 3"/>
          <p:cNvSpPr>
            <a:spLocks noChangeArrowheads="1"/>
          </p:cNvSpPr>
          <p:nvPr/>
        </p:nvSpPr>
        <p:spPr bwMode="auto">
          <a:xfrm>
            <a:off x="1271464" y="1484314"/>
            <a:ext cx="9793088" cy="2405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20000"/>
              </a:lnSpc>
            </a:pPr>
            <a:r>
              <a:rPr kumimoji="1" lang="en-US" altLang="zh-CN" sz="3200" dirty="0">
                <a:solidFill>
                  <a:srgbClr val="057939"/>
                </a:solidFill>
                <a:ea typeface="黑体" pitchFamily="2" charset="-122"/>
              </a:rPr>
              <a:t>[</a:t>
            </a:r>
            <a:r>
              <a:rPr kumimoji="1" lang="zh-CN" altLang="en-US" sz="3200" dirty="0">
                <a:solidFill>
                  <a:srgbClr val="057939"/>
                </a:solidFill>
                <a:ea typeface="黑体" pitchFamily="2" charset="-122"/>
              </a:rPr>
              <a:t>定理</a:t>
            </a:r>
            <a:r>
              <a:rPr kumimoji="1" lang="en-US" altLang="zh-CN" sz="3200" dirty="0">
                <a:solidFill>
                  <a:srgbClr val="057939"/>
                </a:solidFill>
                <a:ea typeface="黑体" pitchFamily="2" charset="-122"/>
              </a:rPr>
              <a:t>2] </a:t>
            </a:r>
            <a:r>
              <a:rPr kumimoji="1" lang="zh-CN" altLang="en-US" sz="3200" dirty="0">
                <a:ea typeface="黑体" pitchFamily="2" charset="-122"/>
              </a:rPr>
              <a:t>设</a:t>
            </a:r>
            <a:r>
              <a:rPr kumimoji="1" lang="en-US" altLang="zh-CN" sz="3200" i="1" dirty="0">
                <a:ea typeface="黑体" pitchFamily="2" charset="-122"/>
              </a:rPr>
              <a:t>R </a:t>
            </a:r>
            <a:r>
              <a:rPr kumimoji="1" lang="en-US" altLang="en-US" sz="3200" dirty="0">
                <a:ea typeface="黑体" pitchFamily="2" charset="-122"/>
                <a:sym typeface="Symbol" panose="05050102010706020507" pitchFamily="18" charset="2"/>
              </a:rPr>
              <a:t></a:t>
            </a:r>
            <a:r>
              <a:rPr kumimoji="1" lang="en-US" altLang="zh-CN" sz="3200" dirty="0">
                <a:latin typeface="Monotype Corsiva" pitchFamily="66" charset="0"/>
                <a:ea typeface="黑体" pitchFamily="2" charset="-122"/>
              </a:rPr>
              <a:t>F </a:t>
            </a:r>
            <a:r>
              <a:rPr kumimoji="1" lang="en-US" altLang="zh-CN" sz="3200" dirty="0">
                <a:ea typeface="黑体" pitchFamily="2" charset="-122"/>
              </a:rPr>
              <a:t>(U</a:t>
            </a:r>
            <a:r>
              <a:rPr kumimoji="1" lang="en-US" altLang="en-US" sz="3200" dirty="0">
                <a:ea typeface="黑体" pitchFamily="2" charset="-122"/>
              </a:rPr>
              <a:t>×</a:t>
            </a:r>
            <a:r>
              <a:rPr kumimoji="1" lang="en-US" altLang="zh-CN" sz="3200" dirty="0">
                <a:ea typeface="黑体" pitchFamily="2" charset="-122"/>
              </a:rPr>
              <a:t>U)</a:t>
            </a:r>
            <a:r>
              <a:rPr kumimoji="1" lang="zh-CN" altLang="en-US" sz="3200" dirty="0">
                <a:ea typeface="黑体" pitchFamily="2" charset="-122"/>
              </a:rPr>
              <a:t>，</a:t>
            </a:r>
            <a:r>
              <a:rPr kumimoji="1" lang="en-US" altLang="zh-CN" sz="3200" i="1" dirty="0">
                <a:ea typeface="黑体" pitchFamily="2" charset="-122"/>
              </a:rPr>
              <a:t>R</a:t>
            </a:r>
            <a:r>
              <a:rPr kumimoji="1" lang="en-US" altLang="zh-CN" sz="3200" i="1" baseline="-25000" dirty="0">
                <a:ea typeface="黑体" pitchFamily="2" charset="-122"/>
                <a:sym typeface="Symbol" pitchFamily="18" charset="2"/>
              </a:rPr>
              <a:t></a:t>
            </a:r>
            <a:r>
              <a:rPr kumimoji="1" lang="zh-CN" altLang="en-US" sz="3200" dirty="0">
                <a:ea typeface="黑体" pitchFamily="2" charset="-122"/>
                <a:sym typeface="Symbol" pitchFamily="18" charset="2"/>
              </a:rPr>
              <a:t>表示按</a:t>
            </a:r>
            <a:r>
              <a:rPr kumimoji="1" lang="zh-CN" altLang="en-US" sz="3200" i="1" dirty="0">
                <a:ea typeface="黑体" pitchFamily="2" charset="-122"/>
                <a:sym typeface="Symbol" pitchFamily="18" charset="2"/>
              </a:rPr>
              <a:t></a:t>
            </a:r>
            <a:r>
              <a:rPr kumimoji="1" lang="zh-CN" altLang="en-US" sz="3200" dirty="0">
                <a:ea typeface="黑体" pitchFamily="2" charset="-122"/>
                <a:sym typeface="Symbol" pitchFamily="18" charset="2"/>
              </a:rPr>
              <a:t>分成的类，</a:t>
            </a:r>
            <a:endParaRPr kumimoji="1" lang="en-US" altLang="zh-CN" sz="3200" dirty="0">
              <a:ea typeface="黑体" pitchFamily="2" charset="-122"/>
              <a:sym typeface="Symbol" pitchFamily="18" charset="2"/>
            </a:endParaRPr>
          </a:p>
          <a:p>
            <a:pPr marL="342900" indent="-342900">
              <a:lnSpc>
                <a:spcPct val="120000"/>
              </a:lnSpc>
            </a:pPr>
            <a:r>
              <a:rPr kumimoji="1" lang="en-US" altLang="zh-CN" sz="3200" dirty="0">
                <a:ea typeface="黑体" pitchFamily="2" charset="-122"/>
                <a:sym typeface="Symbol" pitchFamily="18" charset="2"/>
              </a:rPr>
              <a:t>            </a:t>
            </a:r>
            <a:r>
              <a:rPr kumimoji="1" lang="zh-CN" altLang="en-US" sz="3200" dirty="0">
                <a:ea typeface="黑体" pitchFamily="2" charset="-122"/>
                <a:sym typeface="Symbol" pitchFamily="18" charset="2"/>
              </a:rPr>
              <a:t>则</a:t>
            </a:r>
            <a:r>
              <a:rPr kumimoji="1" lang="zh-CN" altLang="en-US" sz="3200" dirty="0">
                <a:solidFill>
                  <a:srgbClr val="EE0006"/>
                </a:solidFill>
                <a:ea typeface="黑体" pitchFamily="2" charset="-122"/>
                <a:sym typeface="Symbol" pitchFamily="18" charset="2"/>
              </a:rPr>
              <a:t>当 </a:t>
            </a:r>
            <a:r>
              <a:rPr kumimoji="1" lang="el-GR" altLang="zh-CN" sz="3200" i="1" dirty="0">
                <a:solidFill>
                  <a:srgbClr val="EE0006"/>
                </a:solidFill>
                <a:ea typeface="黑体" pitchFamily="2" charset="-122"/>
                <a:cs typeface="Arial" charset="0"/>
                <a:sym typeface="Symbol" pitchFamily="18" charset="2"/>
              </a:rPr>
              <a:t>λ</a:t>
            </a:r>
            <a:r>
              <a:rPr kumimoji="1" lang="en-US" altLang="zh-CN" sz="3200" i="1" dirty="0">
                <a:solidFill>
                  <a:srgbClr val="EE0006"/>
                </a:solidFill>
                <a:ea typeface="黑体" pitchFamily="2" charset="-122"/>
                <a:cs typeface="Arial" charset="0"/>
                <a:sym typeface="Symbol" pitchFamily="18" charset="2"/>
              </a:rPr>
              <a:t> </a:t>
            </a:r>
            <a:r>
              <a:rPr kumimoji="1" lang="en-US" altLang="zh-CN" sz="3200" dirty="0">
                <a:solidFill>
                  <a:srgbClr val="EE0006"/>
                </a:solidFill>
                <a:ea typeface="黑体" pitchFamily="2" charset="-122"/>
                <a:cs typeface="Arial" charset="0"/>
                <a:sym typeface="Symbol" pitchFamily="18" charset="2"/>
              </a:rPr>
              <a:t>&lt; </a:t>
            </a:r>
            <a:r>
              <a:rPr kumimoji="1" lang="el-GR" altLang="zh-CN" sz="3200" i="1" dirty="0">
                <a:solidFill>
                  <a:srgbClr val="EE0006"/>
                </a:solidFill>
                <a:ea typeface="黑体" pitchFamily="2" charset="-122"/>
                <a:cs typeface="Arial" charset="0"/>
                <a:sym typeface="Symbol" pitchFamily="18" charset="2"/>
              </a:rPr>
              <a:t>μ</a:t>
            </a:r>
            <a:r>
              <a:rPr kumimoji="1" lang="en-US" altLang="zh-CN" sz="3200" i="1" dirty="0">
                <a:solidFill>
                  <a:srgbClr val="EE0006"/>
                </a:solidFill>
                <a:ea typeface="黑体" pitchFamily="2" charset="-122"/>
                <a:cs typeface="Arial" charset="0"/>
                <a:sym typeface="Symbol" pitchFamily="18" charset="2"/>
              </a:rPr>
              <a:t> </a:t>
            </a:r>
            <a:r>
              <a:rPr kumimoji="1" lang="zh-CN" altLang="en-US" sz="3200" dirty="0">
                <a:solidFill>
                  <a:srgbClr val="EE0006"/>
                </a:solidFill>
                <a:ea typeface="黑体" pitchFamily="2" charset="-122"/>
                <a:cs typeface="Arial" charset="0"/>
                <a:sym typeface="Symbol" pitchFamily="18" charset="2"/>
              </a:rPr>
              <a:t>时，</a:t>
            </a:r>
            <a:r>
              <a:rPr kumimoji="1" lang="en-US" altLang="zh-CN" sz="3200" b="1" i="1" dirty="0">
                <a:solidFill>
                  <a:srgbClr val="EE0006"/>
                </a:solidFill>
                <a:ea typeface="黑体" pitchFamily="2" charset="-122"/>
                <a:cs typeface="Arial" charset="0"/>
                <a:sym typeface="Symbol" pitchFamily="18" charset="2"/>
              </a:rPr>
              <a:t>R</a:t>
            </a:r>
            <a:r>
              <a:rPr kumimoji="1" lang="el-GR" altLang="zh-CN" sz="3200" b="1" i="1" baseline="-25000" dirty="0">
                <a:solidFill>
                  <a:srgbClr val="EE0006"/>
                </a:solidFill>
                <a:ea typeface="黑体" pitchFamily="2" charset="-122"/>
                <a:cs typeface="Arial" charset="0"/>
                <a:sym typeface="Symbol" pitchFamily="18" charset="2"/>
              </a:rPr>
              <a:t>λ</a:t>
            </a:r>
            <a:r>
              <a:rPr kumimoji="1" lang="en-US" altLang="zh-CN" sz="3200" b="1" i="1" baseline="-25000" dirty="0">
                <a:solidFill>
                  <a:srgbClr val="EE0006"/>
                </a:solidFill>
                <a:ea typeface="黑体" pitchFamily="2" charset="-122"/>
                <a:cs typeface="Arial" charset="0"/>
                <a:sym typeface="Symbol" pitchFamily="18" charset="2"/>
              </a:rPr>
              <a:t> </a:t>
            </a:r>
            <a:r>
              <a:rPr kumimoji="1" lang="el-GR" altLang="zh-CN" sz="3200" b="1" dirty="0">
                <a:solidFill>
                  <a:srgbClr val="EE0006"/>
                </a:solidFill>
                <a:ea typeface="黑体" pitchFamily="2" charset="-122"/>
                <a:cs typeface="Arial" charset="0"/>
                <a:sym typeface="Symbol" pitchFamily="18" charset="2"/>
              </a:rPr>
              <a:t></a:t>
            </a:r>
            <a:r>
              <a:rPr kumimoji="1" lang="en-US" altLang="zh-CN" sz="3200" b="1" dirty="0">
                <a:solidFill>
                  <a:srgbClr val="EE0006"/>
                </a:solidFill>
                <a:ea typeface="黑体" pitchFamily="2" charset="-122"/>
                <a:cs typeface="Arial" charset="0"/>
                <a:sym typeface="Symbol" pitchFamily="18" charset="2"/>
              </a:rPr>
              <a:t> </a:t>
            </a:r>
            <a:r>
              <a:rPr kumimoji="1" lang="en-US" altLang="zh-CN" sz="3200" b="1" i="1" dirty="0">
                <a:solidFill>
                  <a:srgbClr val="EE0006"/>
                </a:solidFill>
                <a:ea typeface="黑体" pitchFamily="2" charset="-122"/>
                <a:cs typeface="Arial" charset="0"/>
                <a:sym typeface="Symbol" pitchFamily="18" charset="2"/>
              </a:rPr>
              <a:t>R</a:t>
            </a:r>
            <a:r>
              <a:rPr kumimoji="1" lang="el-GR" altLang="zh-CN" sz="3200" b="1" i="1" baseline="-25000" dirty="0">
                <a:solidFill>
                  <a:srgbClr val="EE0006"/>
                </a:solidFill>
                <a:ea typeface="黑体" pitchFamily="2" charset="-122"/>
                <a:cs typeface="Arial" charset="0"/>
                <a:sym typeface="Symbol" pitchFamily="18" charset="2"/>
              </a:rPr>
              <a:t>μ</a:t>
            </a:r>
            <a:r>
              <a:rPr kumimoji="1" lang="en-US" altLang="zh-CN" sz="3200" b="1" dirty="0">
                <a:ea typeface="黑体" pitchFamily="2" charset="-122"/>
                <a:cs typeface="Arial" charset="0"/>
                <a:sym typeface="Symbol" pitchFamily="18" charset="2"/>
              </a:rPr>
              <a:t> </a:t>
            </a:r>
          </a:p>
          <a:p>
            <a:pPr marL="342900" indent="-342900">
              <a:lnSpc>
                <a:spcPct val="120000"/>
              </a:lnSpc>
            </a:pPr>
            <a:r>
              <a:rPr kumimoji="1" lang="en-US" altLang="zh-CN" sz="3200" b="1" dirty="0">
                <a:solidFill>
                  <a:srgbClr val="FF00FF"/>
                </a:solidFill>
                <a:latin typeface="黑体" pitchFamily="2" charset="-122"/>
                <a:ea typeface="黑体" pitchFamily="2" charset="-122"/>
              </a:rPr>
              <a:t>[</a:t>
            </a:r>
            <a:r>
              <a:rPr kumimoji="1" lang="zh-CN" altLang="en-US" sz="3200" b="1" dirty="0">
                <a:solidFill>
                  <a:srgbClr val="FF00FF"/>
                </a:solidFill>
                <a:latin typeface="黑体" pitchFamily="2" charset="-122"/>
                <a:ea typeface="黑体" pitchFamily="2" charset="-122"/>
              </a:rPr>
              <a:t>说明</a:t>
            </a:r>
            <a:r>
              <a:rPr kumimoji="1" lang="en-US" altLang="zh-CN" sz="3200" b="1" dirty="0">
                <a:solidFill>
                  <a:srgbClr val="FF00FF"/>
                </a:solidFill>
                <a:latin typeface="黑体" pitchFamily="2" charset="-122"/>
                <a:ea typeface="黑体" pitchFamily="2" charset="-122"/>
              </a:rPr>
              <a:t>]</a:t>
            </a:r>
            <a:r>
              <a:rPr kumimoji="1" lang="zh-CN" altLang="en-US" sz="3200" b="1" dirty="0">
                <a:ea typeface="楷体_GB2312" pitchFamily="49" charset="-122"/>
              </a:rPr>
              <a:t>对</a:t>
            </a:r>
            <a:r>
              <a:rPr kumimoji="1" lang="zh-CN" altLang="en-US" sz="3200" b="1" dirty="0">
                <a:ea typeface="楷体_GB2312" pitchFamily="49" charset="-122"/>
                <a:sym typeface="Symbol" pitchFamily="18" charset="2"/>
              </a:rPr>
              <a:t></a:t>
            </a:r>
            <a:r>
              <a:rPr kumimoji="1" lang="en-US" altLang="zh-CN" sz="3200" b="1" dirty="0">
                <a:ea typeface="楷体_GB2312" pitchFamily="49" charset="-122"/>
              </a:rPr>
              <a:t>0 ≤ </a:t>
            </a:r>
            <a:r>
              <a:rPr kumimoji="1" lang="en-US" altLang="zh-CN" sz="3200" b="1" i="1" dirty="0">
                <a:ea typeface="楷体_GB2312" pitchFamily="49" charset="-122"/>
                <a:sym typeface="Symbol" pitchFamily="18" charset="2"/>
              </a:rPr>
              <a:t> &lt; </a:t>
            </a:r>
            <a:r>
              <a:rPr kumimoji="1" lang="zh-CN" altLang="en-US" sz="3200" b="1" i="1" dirty="0">
                <a:ea typeface="楷体_GB2312" pitchFamily="49" charset="-122"/>
                <a:sym typeface="Symbol" pitchFamily="18" charset="2"/>
              </a:rPr>
              <a:t> </a:t>
            </a:r>
            <a:r>
              <a:rPr kumimoji="1" lang="zh-CN" altLang="en-US" sz="3200" b="1" dirty="0">
                <a:ea typeface="楷体_GB2312" pitchFamily="49" charset="-122"/>
              </a:rPr>
              <a:t>≤ </a:t>
            </a:r>
            <a:r>
              <a:rPr kumimoji="1" lang="en-US" altLang="zh-CN" sz="3200" b="1" dirty="0">
                <a:ea typeface="楷体_GB2312" pitchFamily="49" charset="-122"/>
              </a:rPr>
              <a:t>1</a:t>
            </a:r>
            <a:r>
              <a:rPr kumimoji="1" lang="zh-CN" altLang="en-US" sz="3200" b="1" dirty="0">
                <a:ea typeface="楷体_GB2312" pitchFamily="49" charset="-122"/>
              </a:rPr>
              <a:t>，</a:t>
            </a:r>
            <a:r>
              <a:rPr kumimoji="1" lang="en-US" altLang="zh-CN" sz="3200" b="1" i="1" dirty="0">
                <a:ea typeface="楷体_GB2312" pitchFamily="49" charset="-122"/>
              </a:rPr>
              <a:t>R</a:t>
            </a:r>
            <a:r>
              <a:rPr kumimoji="1" lang="en-US" altLang="zh-CN" sz="3200" b="1" i="1" baseline="-25000" dirty="0">
                <a:ea typeface="楷体_GB2312" pitchFamily="49" charset="-122"/>
                <a:sym typeface="Symbol" pitchFamily="18" charset="2"/>
              </a:rPr>
              <a:t> </a:t>
            </a:r>
            <a:r>
              <a:rPr kumimoji="1" lang="zh-CN" altLang="en-US" sz="3200" b="1" dirty="0">
                <a:ea typeface="楷体_GB2312" pitchFamily="49" charset="-122"/>
              </a:rPr>
              <a:t>所决定的分类中的每一个类是</a:t>
            </a:r>
            <a:r>
              <a:rPr kumimoji="1" lang="en-US" altLang="zh-CN" sz="3200" b="1" i="1" dirty="0">
                <a:ea typeface="楷体_GB2312" pitchFamily="49" charset="-122"/>
              </a:rPr>
              <a:t>R</a:t>
            </a:r>
            <a:r>
              <a:rPr kumimoji="1" lang="en-US" altLang="zh-CN" sz="3200" b="1" i="1" baseline="-25000" dirty="0">
                <a:ea typeface="楷体_GB2312" pitchFamily="49" charset="-122"/>
                <a:sym typeface="Symbol" pitchFamily="18" charset="2"/>
              </a:rPr>
              <a:t></a:t>
            </a:r>
            <a:r>
              <a:rPr kumimoji="1" lang="zh-CN" altLang="en-US" sz="3200" b="1" dirty="0">
                <a:ea typeface="楷体_GB2312" pitchFamily="49" charset="-122"/>
              </a:rPr>
              <a:t>决定的分类中的某个类的子类</a:t>
            </a:r>
            <a:r>
              <a:rPr kumimoji="1" lang="en-US" altLang="zh-CN" sz="3200" b="1" dirty="0">
                <a:ea typeface="楷体_GB2312" pitchFamily="49" charset="-122"/>
              </a:rPr>
              <a:t>.</a:t>
            </a:r>
          </a:p>
        </p:txBody>
      </p:sp>
      <p:sp>
        <p:nvSpPr>
          <p:cNvPr id="2" name="矩形标注 1"/>
          <p:cNvSpPr/>
          <p:nvPr/>
        </p:nvSpPr>
        <p:spPr>
          <a:xfrm>
            <a:off x="2710979" y="4826468"/>
            <a:ext cx="3240360" cy="792088"/>
          </a:xfrm>
          <a:prstGeom prst="wedgeRectCallout">
            <a:avLst>
              <a:gd name="adj1" fmla="val 73367"/>
              <a:gd name="adj2" fmla="val -118789"/>
            </a:avLst>
          </a:prstGeom>
          <a:solidFill>
            <a:srgbClr val="FF9966"/>
          </a:solidFill>
          <a:ln>
            <a:solidFill>
              <a:srgbClr val="FF9966"/>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i="1" dirty="0">
                <a:solidFill>
                  <a:schemeClr val="tx1"/>
                </a:solidFill>
                <a:latin typeface="黑体" panose="02010609060101010101" pitchFamily="49" charset="-122"/>
                <a:ea typeface="黑体" panose="02010609060101010101" pitchFamily="49" charset="-122"/>
              </a:rPr>
              <a:t>λ</a:t>
            </a:r>
            <a:r>
              <a:rPr lang="zh-CN" altLang="en-US" sz="2800" b="1" dirty="0">
                <a:solidFill>
                  <a:schemeClr val="tx1"/>
                </a:solidFill>
                <a:latin typeface="黑体" panose="02010609060101010101" pitchFamily="49" charset="-122"/>
                <a:ea typeface="黑体" panose="02010609060101010101" pitchFamily="49" charset="-122"/>
              </a:rPr>
              <a:t>越大，分类越细</a:t>
            </a:r>
          </a:p>
        </p:txBody>
      </p:sp>
      <p:grpSp>
        <p:nvGrpSpPr>
          <p:cNvPr id="3" name="Group 23">
            <a:extLst>
              <a:ext uri="{FF2B5EF4-FFF2-40B4-BE49-F238E27FC236}">
                <a16:creationId xmlns:a16="http://schemas.microsoft.com/office/drawing/2014/main" id="{1228EDB8-8A35-D690-475B-E16889585FAB}"/>
              </a:ext>
            </a:extLst>
          </p:cNvPr>
          <p:cNvGrpSpPr>
            <a:grpSpLocks/>
          </p:cNvGrpSpPr>
          <p:nvPr/>
        </p:nvGrpSpPr>
        <p:grpSpPr bwMode="auto">
          <a:xfrm>
            <a:off x="6672065" y="3943624"/>
            <a:ext cx="3889375" cy="2850117"/>
            <a:chOff x="884" y="851"/>
            <a:chExt cx="2450" cy="1879"/>
          </a:xfrm>
        </p:grpSpPr>
        <p:sp>
          <p:nvSpPr>
            <p:cNvPr id="4" name="Text Box 24">
              <a:extLst>
                <a:ext uri="{FF2B5EF4-FFF2-40B4-BE49-F238E27FC236}">
                  <a16:creationId xmlns:a16="http://schemas.microsoft.com/office/drawing/2014/main" id="{0FAF3954-55BA-AF95-9474-74596215CBC4}"/>
                </a:ext>
              </a:extLst>
            </p:cNvPr>
            <p:cNvSpPr txBox="1">
              <a:spLocks noChangeArrowheads="1"/>
            </p:cNvSpPr>
            <p:nvPr/>
          </p:nvSpPr>
          <p:spPr bwMode="auto">
            <a:xfrm>
              <a:off x="930" y="851"/>
              <a:ext cx="2404"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1</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3</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2</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4</a:t>
              </a:r>
              <a:r>
                <a:rPr kumimoji="1" lang="en-US" altLang="zh-CN" sz="2400" b="1" dirty="0">
                  <a:solidFill>
                    <a:srgbClr val="3333FF"/>
                  </a:solidFill>
                  <a:sym typeface="Symbol" pitchFamily="18" charset="2"/>
                </a:rPr>
                <a:t>   u</a:t>
              </a:r>
              <a:r>
                <a:rPr kumimoji="1" lang="en-US" altLang="zh-CN" sz="2400" b="1" baseline="-25000" dirty="0">
                  <a:solidFill>
                    <a:srgbClr val="3333FF"/>
                  </a:solidFill>
                  <a:sym typeface="Symbol" pitchFamily="18" charset="2"/>
                </a:rPr>
                <a:t>5</a:t>
              </a:r>
              <a:endParaRPr kumimoji="1" lang="en-US" altLang="zh-CN" sz="2400" b="1" dirty="0">
                <a:solidFill>
                  <a:srgbClr val="3333FF"/>
                </a:solidFill>
                <a:sym typeface="Symbol" pitchFamily="18" charset="2"/>
              </a:endParaRPr>
            </a:p>
          </p:txBody>
        </p:sp>
        <p:grpSp>
          <p:nvGrpSpPr>
            <p:cNvPr id="5" name="Group 25">
              <a:extLst>
                <a:ext uri="{FF2B5EF4-FFF2-40B4-BE49-F238E27FC236}">
                  <a16:creationId xmlns:a16="http://schemas.microsoft.com/office/drawing/2014/main" id="{D465A9E9-4162-468B-B2CA-F285F6E57207}"/>
                </a:ext>
              </a:extLst>
            </p:cNvPr>
            <p:cNvGrpSpPr>
              <a:grpSpLocks/>
            </p:cNvGrpSpPr>
            <p:nvPr/>
          </p:nvGrpSpPr>
          <p:grpSpPr bwMode="auto">
            <a:xfrm>
              <a:off x="884" y="1117"/>
              <a:ext cx="2268" cy="1613"/>
              <a:chOff x="884" y="1117"/>
              <a:chExt cx="2268" cy="1613"/>
            </a:xfrm>
          </p:grpSpPr>
          <p:sp>
            <p:nvSpPr>
              <p:cNvPr id="6" name="Text Box 26">
                <a:extLst>
                  <a:ext uri="{FF2B5EF4-FFF2-40B4-BE49-F238E27FC236}">
                    <a16:creationId xmlns:a16="http://schemas.microsoft.com/office/drawing/2014/main" id="{3A215B0C-4B60-D895-7F72-67D901663FBF}"/>
                  </a:ext>
                </a:extLst>
              </p:cNvPr>
              <p:cNvSpPr txBox="1">
                <a:spLocks noChangeArrowheads="1"/>
              </p:cNvSpPr>
              <p:nvPr/>
            </p:nvSpPr>
            <p:spPr bwMode="auto">
              <a:xfrm>
                <a:off x="884" y="1117"/>
                <a:ext cx="544" cy="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1</a:t>
                </a:r>
              </a:p>
              <a:p>
                <a:pPr eaLnBrk="1" hangingPunct="1">
                  <a:spcBef>
                    <a:spcPct val="50000"/>
                  </a:spcBef>
                </a:pPr>
                <a:r>
                  <a:rPr lang="en-US" altLang="zh-CN"/>
                  <a:t>0.8</a:t>
                </a:r>
              </a:p>
              <a:p>
                <a:pPr eaLnBrk="1" hangingPunct="1">
                  <a:spcBef>
                    <a:spcPct val="50000"/>
                  </a:spcBef>
                </a:pPr>
                <a:r>
                  <a:rPr lang="en-US" altLang="zh-CN"/>
                  <a:t>0.6</a:t>
                </a:r>
              </a:p>
              <a:p>
                <a:pPr eaLnBrk="1" hangingPunct="1">
                  <a:spcBef>
                    <a:spcPct val="50000"/>
                  </a:spcBef>
                </a:pPr>
                <a:r>
                  <a:rPr lang="en-US" altLang="zh-CN"/>
                  <a:t>0.5</a:t>
                </a:r>
              </a:p>
              <a:p>
                <a:pPr eaLnBrk="1" hangingPunct="1">
                  <a:spcBef>
                    <a:spcPct val="50000"/>
                  </a:spcBef>
                </a:pPr>
                <a:r>
                  <a:rPr lang="en-US" altLang="zh-CN"/>
                  <a:t>0.4</a:t>
                </a:r>
              </a:p>
              <a:p>
                <a:pPr eaLnBrk="1" hangingPunct="1">
                  <a:spcBef>
                    <a:spcPct val="50000"/>
                  </a:spcBef>
                </a:pPr>
                <a:r>
                  <a:rPr lang="en-US" altLang="zh-CN"/>
                  <a:t>0</a:t>
                </a:r>
              </a:p>
            </p:txBody>
          </p:sp>
          <p:sp>
            <p:nvSpPr>
              <p:cNvPr id="7" name="Line 27">
                <a:extLst>
                  <a:ext uri="{FF2B5EF4-FFF2-40B4-BE49-F238E27FC236}">
                    <a16:creationId xmlns:a16="http://schemas.microsoft.com/office/drawing/2014/main" id="{ECD926D6-206A-3DC8-261F-D81DDC0A6DDB}"/>
                  </a:ext>
                </a:extLst>
              </p:cNvPr>
              <p:cNvSpPr>
                <a:spLocks noChangeShapeType="1"/>
              </p:cNvSpPr>
              <p:nvPr/>
            </p:nvSpPr>
            <p:spPr bwMode="auto">
              <a:xfrm>
                <a:off x="1701" y="1117"/>
                <a:ext cx="0" cy="3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28">
                <a:extLst>
                  <a:ext uri="{FF2B5EF4-FFF2-40B4-BE49-F238E27FC236}">
                    <a16:creationId xmlns:a16="http://schemas.microsoft.com/office/drawing/2014/main" id="{45B21BBC-4088-EA1C-0BF9-633EA27A6448}"/>
                  </a:ext>
                </a:extLst>
              </p:cNvPr>
              <p:cNvSpPr>
                <a:spLocks noChangeShapeType="1"/>
              </p:cNvSpPr>
              <p:nvPr/>
            </p:nvSpPr>
            <p:spPr bwMode="auto">
              <a:xfrm>
                <a:off x="2064" y="1117"/>
                <a:ext cx="0" cy="3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29">
                <a:extLst>
                  <a:ext uri="{FF2B5EF4-FFF2-40B4-BE49-F238E27FC236}">
                    <a16:creationId xmlns:a16="http://schemas.microsoft.com/office/drawing/2014/main" id="{ECDB7CBE-9247-CD35-715F-7B8531396417}"/>
                  </a:ext>
                </a:extLst>
              </p:cNvPr>
              <p:cNvSpPr>
                <a:spLocks noChangeShapeType="1"/>
              </p:cNvSpPr>
              <p:nvPr/>
            </p:nvSpPr>
            <p:spPr bwMode="auto">
              <a:xfrm>
                <a:off x="1701" y="1480"/>
                <a:ext cx="36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30">
                <a:extLst>
                  <a:ext uri="{FF2B5EF4-FFF2-40B4-BE49-F238E27FC236}">
                    <a16:creationId xmlns:a16="http://schemas.microsoft.com/office/drawing/2014/main" id="{8847B325-C644-C276-5D2B-5C33E5447248}"/>
                  </a:ext>
                </a:extLst>
              </p:cNvPr>
              <p:cNvSpPr>
                <a:spLocks noChangeShapeType="1"/>
              </p:cNvSpPr>
              <p:nvPr/>
            </p:nvSpPr>
            <p:spPr bwMode="auto">
              <a:xfrm>
                <a:off x="2789" y="1117"/>
                <a:ext cx="0" cy="58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31">
                <a:extLst>
                  <a:ext uri="{FF2B5EF4-FFF2-40B4-BE49-F238E27FC236}">
                    <a16:creationId xmlns:a16="http://schemas.microsoft.com/office/drawing/2014/main" id="{2A844B27-6C78-5B34-5265-0CD99CACF445}"/>
                  </a:ext>
                </a:extLst>
              </p:cNvPr>
              <p:cNvSpPr>
                <a:spLocks noChangeShapeType="1"/>
              </p:cNvSpPr>
              <p:nvPr/>
            </p:nvSpPr>
            <p:spPr bwMode="auto">
              <a:xfrm>
                <a:off x="3152" y="1117"/>
                <a:ext cx="0" cy="58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32">
                <a:extLst>
                  <a:ext uri="{FF2B5EF4-FFF2-40B4-BE49-F238E27FC236}">
                    <a16:creationId xmlns:a16="http://schemas.microsoft.com/office/drawing/2014/main" id="{5AA8F28B-52EB-DFC6-4F6B-349A43920B69}"/>
                  </a:ext>
                </a:extLst>
              </p:cNvPr>
              <p:cNvSpPr>
                <a:spLocks noChangeShapeType="1"/>
              </p:cNvSpPr>
              <p:nvPr/>
            </p:nvSpPr>
            <p:spPr bwMode="auto">
              <a:xfrm>
                <a:off x="2789" y="1706"/>
                <a:ext cx="36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33">
                <a:extLst>
                  <a:ext uri="{FF2B5EF4-FFF2-40B4-BE49-F238E27FC236}">
                    <a16:creationId xmlns:a16="http://schemas.microsoft.com/office/drawing/2014/main" id="{955CF247-4F93-2C26-955C-CE1BF1061A92}"/>
                  </a:ext>
                </a:extLst>
              </p:cNvPr>
              <p:cNvSpPr>
                <a:spLocks noChangeShapeType="1"/>
              </p:cNvSpPr>
              <p:nvPr/>
            </p:nvSpPr>
            <p:spPr bwMode="auto">
              <a:xfrm flipH="1">
                <a:off x="1202" y="1480"/>
                <a:ext cx="499"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34">
                <a:extLst>
                  <a:ext uri="{FF2B5EF4-FFF2-40B4-BE49-F238E27FC236}">
                    <a16:creationId xmlns:a16="http://schemas.microsoft.com/office/drawing/2014/main" id="{9CB2D012-1B81-1405-9F21-D89839491236}"/>
                  </a:ext>
                </a:extLst>
              </p:cNvPr>
              <p:cNvSpPr>
                <a:spLocks noChangeShapeType="1"/>
              </p:cNvSpPr>
              <p:nvPr/>
            </p:nvSpPr>
            <p:spPr bwMode="auto">
              <a:xfrm flipH="1">
                <a:off x="1202" y="1706"/>
                <a:ext cx="1587"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35">
                <a:extLst>
                  <a:ext uri="{FF2B5EF4-FFF2-40B4-BE49-F238E27FC236}">
                    <a16:creationId xmlns:a16="http://schemas.microsoft.com/office/drawing/2014/main" id="{16F0D7ED-7F3A-DB49-3165-303BFE8BF199}"/>
                  </a:ext>
                </a:extLst>
              </p:cNvPr>
              <p:cNvSpPr>
                <a:spLocks noChangeShapeType="1"/>
              </p:cNvSpPr>
              <p:nvPr/>
            </p:nvSpPr>
            <p:spPr bwMode="auto">
              <a:xfrm>
                <a:off x="1882" y="1480"/>
                <a:ext cx="0" cy="499"/>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36">
                <a:extLst>
                  <a:ext uri="{FF2B5EF4-FFF2-40B4-BE49-F238E27FC236}">
                    <a16:creationId xmlns:a16="http://schemas.microsoft.com/office/drawing/2014/main" id="{585E848E-8CB7-BFCA-8B0F-EC5322F474B3}"/>
                  </a:ext>
                </a:extLst>
              </p:cNvPr>
              <p:cNvSpPr>
                <a:spLocks noChangeShapeType="1"/>
              </p:cNvSpPr>
              <p:nvPr/>
            </p:nvSpPr>
            <p:spPr bwMode="auto">
              <a:xfrm>
                <a:off x="2971" y="1706"/>
                <a:ext cx="0" cy="273"/>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37">
                <a:extLst>
                  <a:ext uri="{FF2B5EF4-FFF2-40B4-BE49-F238E27FC236}">
                    <a16:creationId xmlns:a16="http://schemas.microsoft.com/office/drawing/2014/main" id="{1CBE7190-0767-7F5B-CACF-2CD5F5F254BC}"/>
                  </a:ext>
                </a:extLst>
              </p:cNvPr>
              <p:cNvSpPr>
                <a:spLocks noChangeShapeType="1"/>
              </p:cNvSpPr>
              <p:nvPr/>
            </p:nvSpPr>
            <p:spPr bwMode="auto">
              <a:xfrm>
                <a:off x="1882" y="1979"/>
                <a:ext cx="1089" cy="0"/>
              </a:xfrm>
              <a:prstGeom prst="line">
                <a:avLst/>
              </a:prstGeom>
              <a:noFill/>
              <a:ln w="190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38">
                <a:extLst>
                  <a:ext uri="{FF2B5EF4-FFF2-40B4-BE49-F238E27FC236}">
                    <a16:creationId xmlns:a16="http://schemas.microsoft.com/office/drawing/2014/main" id="{A7B85449-638D-FF67-32E2-B4B805E84F74}"/>
                  </a:ext>
                </a:extLst>
              </p:cNvPr>
              <p:cNvSpPr>
                <a:spLocks noChangeShapeType="1"/>
              </p:cNvSpPr>
              <p:nvPr/>
            </p:nvSpPr>
            <p:spPr bwMode="auto">
              <a:xfrm flipH="1">
                <a:off x="1202" y="1979"/>
                <a:ext cx="635"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39">
                <a:extLst>
                  <a:ext uri="{FF2B5EF4-FFF2-40B4-BE49-F238E27FC236}">
                    <a16:creationId xmlns:a16="http://schemas.microsoft.com/office/drawing/2014/main" id="{7CBE42EA-F480-AC4E-F10C-5417121B1724}"/>
                  </a:ext>
                </a:extLst>
              </p:cNvPr>
              <p:cNvSpPr>
                <a:spLocks noChangeShapeType="1"/>
              </p:cNvSpPr>
              <p:nvPr/>
            </p:nvSpPr>
            <p:spPr bwMode="auto">
              <a:xfrm>
                <a:off x="2426" y="1117"/>
                <a:ext cx="0" cy="1179"/>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40">
                <a:extLst>
                  <a:ext uri="{FF2B5EF4-FFF2-40B4-BE49-F238E27FC236}">
                    <a16:creationId xmlns:a16="http://schemas.microsoft.com/office/drawing/2014/main" id="{751F51A4-C06B-FA31-63B5-B84EFB8C1332}"/>
                  </a:ext>
                </a:extLst>
              </p:cNvPr>
              <p:cNvSpPr>
                <a:spLocks noChangeShapeType="1"/>
              </p:cNvSpPr>
              <p:nvPr/>
            </p:nvSpPr>
            <p:spPr bwMode="auto">
              <a:xfrm>
                <a:off x="2245" y="1979"/>
                <a:ext cx="0" cy="317"/>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41">
                <a:extLst>
                  <a:ext uri="{FF2B5EF4-FFF2-40B4-BE49-F238E27FC236}">
                    <a16:creationId xmlns:a16="http://schemas.microsoft.com/office/drawing/2014/main" id="{CE38C0E4-3B85-D9F5-8B2D-59069741A908}"/>
                  </a:ext>
                </a:extLst>
              </p:cNvPr>
              <p:cNvSpPr>
                <a:spLocks noChangeShapeType="1"/>
              </p:cNvSpPr>
              <p:nvPr/>
            </p:nvSpPr>
            <p:spPr bwMode="auto">
              <a:xfrm>
                <a:off x="2245" y="2296"/>
                <a:ext cx="181" cy="0"/>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42">
                <a:extLst>
                  <a:ext uri="{FF2B5EF4-FFF2-40B4-BE49-F238E27FC236}">
                    <a16:creationId xmlns:a16="http://schemas.microsoft.com/office/drawing/2014/main" id="{9978F7A9-5073-80FC-7B06-CCAAF056E1C6}"/>
                  </a:ext>
                </a:extLst>
              </p:cNvPr>
              <p:cNvSpPr>
                <a:spLocks noChangeShapeType="1"/>
              </p:cNvSpPr>
              <p:nvPr/>
            </p:nvSpPr>
            <p:spPr bwMode="auto">
              <a:xfrm flipH="1">
                <a:off x="1202" y="2296"/>
                <a:ext cx="1043" cy="0"/>
              </a:xfrm>
              <a:prstGeom prst="line">
                <a:avLst/>
              </a:prstGeom>
              <a:noFill/>
              <a:ln w="19050">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43">
                <a:extLst>
                  <a:ext uri="{FF2B5EF4-FFF2-40B4-BE49-F238E27FC236}">
                    <a16:creationId xmlns:a16="http://schemas.microsoft.com/office/drawing/2014/main" id="{856B3A6F-16DB-81D7-C9F7-EEED905C5A74}"/>
                  </a:ext>
                </a:extLst>
              </p:cNvPr>
              <p:cNvSpPr>
                <a:spLocks noChangeShapeType="1"/>
              </p:cNvSpPr>
              <p:nvPr/>
            </p:nvSpPr>
            <p:spPr bwMode="auto">
              <a:xfrm>
                <a:off x="2336" y="2296"/>
                <a:ext cx="0" cy="272"/>
              </a:xfrm>
              <a:prstGeom prst="line">
                <a:avLst/>
              </a:prstGeom>
              <a:noFill/>
              <a:ln w="19050">
                <a:solidFill>
                  <a:srgbClr val="FF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4" name="灯片编号占位符 23">
            <a:extLst>
              <a:ext uri="{FF2B5EF4-FFF2-40B4-BE49-F238E27FC236}">
                <a16:creationId xmlns:a16="http://schemas.microsoft.com/office/drawing/2014/main" id="{918D37F8-3B80-E650-60D3-EBC5DA50C6E5}"/>
              </a:ext>
            </a:extLst>
          </p:cNvPr>
          <p:cNvSpPr>
            <a:spLocks noGrp="1"/>
          </p:cNvSpPr>
          <p:nvPr>
            <p:ph type="sldNum" sz="quarter" idx="11"/>
          </p:nvPr>
        </p:nvSpPr>
        <p:spPr/>
        <p:txBody>
          <a:bodyPr/>
          <a:lstStyle/>
          <a:p>
            <a:pPr>
              <a:defRPr/>
            </a:pPr>
            <a:fld id="{F13753BC-CAEF-4333-AC48-2805658F6E3F}" type="slidenum">
              <a:rPr lang="en-US" altLang="zh-CN" smtClean="0"/>
              <a:pPr>
                <a:defRPr/>
              </a:pPr>
              <a:t>29</a:t>
            </a:fld>
            <a:endParaRPr lang="en-US" altLang="zh-CN"/>
          </a:p>
        </p:txBody>
      </p:sp>
    </p:spTree>
    <p:extLst>
      <p:ext uri="{BB962C8B-B14F-4D97-AF65-F5344CB8AC3E}">
        <p14:creationId xmlns:p14="http://schemas.microsoft.com/office/powerpoint/2010/main" val="3819351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wipe(left)">
                                      <p:cBhvr>
                                        <p:cTn id="7" dur="500"/>
                                        <p:tgtEl>
                                          <p:spTgt spid="9216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3">
                                            <p:txEl>
                                              <p:pRg st="1" end="1"/>
                                            </p:txEl>
                                          </p:spTgt>
                                        </p:tgtEl>
                                        <p:attrNameLst>
                                          <p:attrName>style.visibility</p:attrName>
                                        </p:attrNameLst>
                                      </p:cBhvr>
                                      <p:to>
                                        <p:strVal val="visible"/>
                                      </p:to>
                                    </p:set>
                                    <p:animEffect transition="in" filter="wipe(left)">
                                      <p:cBhvr>
                                        <p:cTn id="12" dur="500"/>
                                        <p:tgtEl>
                                          <p:spTgt spid="9216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3">
                                            <p:txEl>
                                              <p:pRg st="2" end="2"/>
                                            </p:txEl>
                                          </p:spTgt>
                                        </p:tgtEl>
                                        <p:attrNameLst>
                                          <p:attrName>style.visibility</p:attrName>
                                        </p:attrNameLst>
                                      </p:cBhvr>
                                      <p:to>
                                        <p:strVal val="visible"/>
                                      </p:to>
                                    </p:set>
                                    <p:animEffect transition="in" filter="wipe(left)">
                                      <p:cBhvr>
                                        <p:cTn id="17" dur="500"/>
                                        <p:tgtEl>
                                          <p:spTgt spid="9216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1200" y="457201"/>
            <a:ext cx="8229600" cy="955675"/>
          </a:xfrm>
        </p:spPr>
        <p:txBody>
          <a:bodyPr/>
          <a:lstStyle/>
          <a:p>
            <a:pPr algn="ctr" eaLnBrk="1" hangingPunct="1"/>
            <a:r>
              <a:rPr lang="en-US" altLang="zh-CN" dirty="0">
                <a:solidFill>
                  <a:srgbClr val="057939"/>
                </a:solidFill>
                <a:ea typeface="黑体" pitchFamily="2" charset="-122"/>
              </a:rPr>
              <a:t>3.8     F</a:t>
            </a:r>
            <a:r>
              <a:rPr lang="zh-CN" altLang="en-US" dirty="0">
                <a:solidFill>
                  <a:srgbClr val="057939"/>
                </a:solidFill>
                <a:ea typeface="黑体" pitchFamily="2" charset="-122"/>
              </a:rPr>
              <a:t>相似关系</a:t>
            </a:r>
          </a:p>
        </p:txBody>
      </p:sp>
      <p:sp>
        <p:nvSpPr>
          <p:cNvPr id="26628" name="Rectangle 4"/>
          <p:cNvSpPr>
            <a:spLocks noChangeArrowheads="1"/>
          </p:cNvSpPr>
          <p:nvPr/>
        </p:nvSpPr>
        <p:spPr bwMode="auto">
          <a:xfrm>
            <a:off x="1559496" y="1412875"/>
            <a:ext cx="9505056" cy="5435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SzPct val="80000"/>
              <a:buFont typeface="Wingdings" pitchFamily="2" charset="2"/>
              <a:buChar char="n"/>
            </a:pPr>
            <a:r>
              <a:rPr kumimoji="1" lang="en-US" altLang="zh-CN" sz="2800" dirty="0">
                <a:solidFill>
                  <a:srgbClr val="057939"/>
                </a:solidFill>
                <a:ea typeface="黑体" pitchFamily="2" charset="-122"/>
                <a:sym typeface="Symbol" pitchFamily="18" charset="2"/>
              </a:rPr>
              <a:t>[</a:t>
            </a:r>
            <a:r>
              <a:rPr kumimoji="1" lang="zh-CN" altLang="en-US" sz="2800" dirty="0">
                <a:solidFill>
                  <a:srgbClr val="057939"/>
                </a:solidFill>
                <a:ea typeface="黑体" pitchFamily="2" charset="-122"/>
                <a:sym typeface="Symbol" pitchFamily="18" charset="2"/>
              </a:rPr>
              <a:t>定义</a:t>
            </a:r>
            <a:r>
              <a:rPr kumimoji="1" lang="en-US" altLang="zh-CN" sz="2800" dirty="0">
                <a:solidFill>
                  <a:srgbClr val="057939"/>
                </a:solidFill>
                <a:ea typeface="黑体" pitchFamily="2" charset="-122"/>
                <a:sym typeface="Symbol" pitchFamily="18" charset="2"/>
              </a:rPr>
              <a:t>1]</a:t>
            </a:r>
            <a:r>
              <a:rPr kumimoji="1" lang="zh-CN" altLang="en-US" sz="2800" dirty="0">
                <a:ea typeface="黑体" pitchFamily="2" charset="-122"/>
                <a:sym typeface="Symbol" pitchFamily="18" charset="2"/>
              </a:rPr>
              <a:t>若</a:t>
            </a:r>
            <a:r>
              <a:rPr kumimoji="1" lang="en-US" altLang="zh-CN" sz="2800" i="1" dirty="0">
                <a:ea typeface="黑体" pitchFamily="2" charset="-122"/>
              </a:rPr>
              <a:t>R</a:t>
            </a:r>
            <a:r>
              <a:rPr kumimoji="1" lang="en-US" altLang="zh-CN" sz="2800" b="1" dirty="0">
                <a:ea typeface="黑体" pitchFamily="2" charset="-122"/>
                <a:sym typeface="Symbol"/>
              </a:rPr>
              <a:t></a:t>
            </a:r>
            <a:r>
              <a:rPr kumimoji="1" lang="en-US" altLang="zh-CN" sz="2800" dirty="0">
                <a:latin typeface="Monotype Corsiva" pitchFamily="66" charset="0"/>
                <a:ea typeface="黑体" pitchFamily="2" charset="-122"/>
              </a:rPr>
              <a:t>F </a:t>
            </a:r>
            <a:r>
              <a:rPr kumimoji="1" lang="en-US" altLang="zh-CN" sz="2800" dirty="0">
                <a:ea typeface="黑体" pitchFamily="2" charset="-122"/>
              </a:rPr>
              <a:t>(U</a:t>
            </a:r>
            <a:r>
              <a:rPr kumimoji="1" lang="en-US" altLang="en-US" sz="2800" dirty="0">
                <a:ea typeface="黑体" pitchFamily="2" charset="-122"/>
              </a:rPr>
              <a:t>×</a:t>
            </a:r>
            <a:r>
              <a:rPr kumimoji="1" lang="en-US" altLang="zh-CN" sz="2800" dirty="0">
                <a:ea typeface="黑体" pitchFamily="2" charset="-122"/>
              </a:rPr>
              <a:t>U)</a:t>
            </a:r>
            <a:r>
              <a:rPr kumimoji="1" lang="en-US" altLang="zh-CN" dirty="0">
                <a:ea typeface="黑体" pitchFamily="2" charset="-122"/>
                <a:sym typeface="Symbol" pitchFamily="18" charset="2"/>
              </a:rPr>
              <a:t> </a:t>
            </a:r>
            <a:r>
              <a:rPr kumimoji="1" lang="zh-CN" altLang="en-US" sz="2800" dirty="0">
                <a:ea typeface="黑体" pitchFamily="2" charset="-122"/>
                <a:sym typeface="Symbol" pitchFamily="18" charset="2"/>
              </a:rPr>
              <a:t>，若 </a:t>
            </a:r>
            <a:r>
              <a:rPr kumimoji="1" lang="en-US" altLang="zh-CN" sz="2800" i="1" dirty="0">
                <a:ea typeface="黑体" pitchFamily="2" charset="-122"/>
                <a:sym typeface="Symbol" pitchFamily="18" charset="2"/>
              </a:rPr>
              <a:t>R</a:t>
            </a:r>
            <a:r>
              <a:rPr kumimoji="1" lang="zh-CN" altLang="en-US" sz="2800" dirty="0">
                <a:ea typeface="黑体" pitchFamily="2" charset="-122"/>
              </a:rPr>
              <a:t>满足：</a:t>
            </a:r>
          </a:p>
          <a:p>
            <a:pPr>
              <a:spcBef>
                <a:spcPct val="20000"/>
              </a:spcBef>
              <a:buClr>
                <a:schemeClr val="accent2"/>
              </a:buClr>
              <a:buSzPct val="80000"/>
              <a:buFont typeface="Wingdings" pitchFamily="2" charset="2"/>
              <a:buNone/>
            </a:pPr>
            <a:r>
              <a:rPr kumimoji="1" lang="zh-CN" altLang="en-US" sz="2800" dirty="0">
                <a:ea typeface="黑体" pitchFamily="2" charset="-122"/>
              </a:rPr>
              <a:t>    </a:t>
            </a:r>
            <a:r>
              <a:rPr kumimoji="1" lang="en-US" altLang="zh-CN" sz="2800" dirty="0">
                <a:ea typeface="黑体" pitchFamily="2" charset="-122"/>
              </a:rPr>
              <a:t>(1) </a:t>
            </a:r>
            <a:r>
              <a:rPr kumimoji="1" lang="zh-CN" altLang="en-US" sz="2800" dirty="0">
                <a:solidFill>
                  <a:srgbClr val="FF00FF"/>
                </a:solidFill>
                <a:latin typeface="+mj-lt"/>
                <a:ea typeface="黑体" pitchFamily="2" charset="-122"/>
              </a:rPr>
              <a:t>自反性</a:t>
            </a:r>
            <a:r>
              <a:rPr kumimoji="1" lang="zh-CN" altLang="en-US" sz="2800" dirty="0">
                <a:latin typeface="+mj-lt"/>
                <a:ea typeface="黑体" pitchFamily="2" charset="-122"/>
              </a:rPr>
              <a:t>：</a:t>
            </a:r>
            <a:r>
              <a:rPr kumimoji="1" lang="en-US" altLang="zh-CN" sz="2800" i="1" dirty="0">
                <a:latin typeface="+mj-lt"/>
                <a:ea typeface="黑体" pitchFamily="2" charset="-122"/>
              </a:rPr>
              <a:t>R</a:t>
            </a:r>
            <a:r>
              <a:rPr kumimoji="1" lang="en-US" altLang="zh-CN" sz="2800" dirty="0">
                <a:latin typeface="+mj-lt"/>
                <a:ea typeface="黑体" pitchFamily="2" charset="-122"/>
              </a:rPr>
              <a:t>( u, u</a:t>
            </a:r>
            <a:r>
              <a:rPr kumimoji="1" lang="en-US" altLang="zh-CN" sz="2800" i="1" dirty="0">
                <a:latin typeface="+mj-lt"/>
                <a:ea typeface="黑体" pitchFamily="2" charset="-122"/>
                <a:sym typeface="Symbol" pitchFamily="18" charset="2"/>
              </a:rPr>
              <a:t> </a:t>
            </a:r>
            <a:r>
              <a:rPr kumimoji="1" lang="en-US" altLang="zh-CN" sz="2800" dirty="0">
                <a:latin typeface="+mj-lt"/>
                <a:ea typeface="黑体" pitchFamily="2" charset="-122"/>
              </a:rPr>
              <a:t>)</a:t>
            </a:r>
            <a:r>
              <a:rPr kumimoji="1" lang="en-US" altLang="zh-CN" sz="2800" i="1" dirty="0">
                <a:latin typeface="+mj-lt"/>
                <a:ea typeface="黑体" pitchFamily="2" charset="-122"/>
              </a:rPr>
              <a:t> </a:t>
            </a:r>
            <a:r>
              <a:rPr kumimoji="1" lang="en-US" altLang="zh-CN" sz="2800" dirty="0">
                <a:latin typeface="+mj-lt"/>
                <a:ea typeface="黑体" pitchFamily="2" charset="-122"/>
              </a:rPr>
              <a:t>= 1</a:t>
            </a:r>
            <a:r>
              <a:rPr kumimoji="1" lang="zh-CN" altLang="en-US" sz="2800" dirty="0">
                <a:latin typeface="+mj-lt"/>
                <a:ea typeface="黑体" pitchFamily="2" charset="-122"/>
              </a:rPr>
              <a:t>；</a:t>
            </a:r>
          </a:p>
          <a:p>
            <a:pPr>
              <a:spcBef>
                <a:spcPct val="20000"/>
              </a:spcBef>
              <a:buClr>
                <a:schemeClr val="accent2"/>
              </a:buClr>
              <a:buSzPct val="80000"/>
              <a:buFont typeface="Wingdings" pitchFamily="2" charset="2"/>
              <a:buNone/>
            </a:pPr>
            <a:r>
              <a:rPr kumimoji="1" lang="zh-CN" altLang="en-US" sz="2800" dirty="0">
                <a:latin typeface="+mj-lt"/>
                <a:ea typeface="黑体" pitchFamily="2" charset="-122"/>
              </a:rPr>
              <a:t>    </a:t>
            </a:r>
            <a:r>
              <a:rPr kumimoji="1" lang="en-US" altLang="zh-CN" sz="2800" dirty="0">
                <a:latin typeface="+mj-lt"/>
                <a:ea typeface="黑体" pitchFamily="2" charset="-122"/>
              </a:rPr>
              <a:t>(2) </a:t>
            </a:r>
            <a:r>
              <a:rPr kumimoji="1" lang="zh-CN" altLang="en-US" sz="2800" dirty="0">
                <a:solidFill>
                  <a:srgbClr val="3333FF"/>
                </a:solidFill>
                <a:latin typeface="+mj-lt"/>
                <a:ea typeface="黑体" pitchFamily="2" charset="-122"/>
              </a:rPr>
              <a:t>对称性</a:t>
            </a:r>
            <a:r>
              <a:rPr kumimoji="1" lang="zh-CN" altLang="en-US" sz="2800" dirty="0">
                <a:latin typeface="+mj-lt"/>
                <a:ea typeface="黑体" pitchFamily="2" charset="-122"/>
              </a:rPr>
              <a:t>：</a:t>
            </a:r>
            <a:r>
              <a:rPr kumimoji="1" lang="en-US" altLang="zh-CN" sz="2800" i="1" dirty="0">
                <a:latin typeface="+mj-lt"/>
                <a:ea typeface="黑体" pitchFamily="2" charset="-122"/>
              </a:rPr>
              <a:t>R</a:t>
            </a:r>
            <a:r>
              <a:rPr kumimoji="1" lang="en-US" altLang="zh-CN" sz="2800" dirty="0">
                <a:latin typeface="+mj-lt"/>
                <a:ea typeface="黑体" pitchFamily="2" charset="-122"/>
              </a:rPr>
              <a:t>( u, v</a:t>
            </a:r>
            <a:r>
              <a:rPr kumimoji="1" lang="en-US" altLang="zh-CN" sz="2800" i="1" dirty="0">
                <a:latin typeface="+mj-lt"/>
                <a:ea typeface="黑体" pitchFamily="2" charset="-122"/>
                <a:sym typeface="Symbol" pitchFamily="18" charset="2"/>
              </a:rPr>
              <a:t> </a:t>
            </a:r>
            <a:r>
              <a:rPr kumimoji="1" lang="en-US" altLang="zh-CN" sz="2800" dirty="0">
                <a:latin typeface="+mj-lt"/>
                <a:ea typeface="黑体" pitchFamily="2" charset="-122"/>
              </a:rPr>
              <a:t>) = </a:t>
            </a:r>
            <a:r>
              <a:rPr kumimoji="1" lang="en-US" altLang="zh-CN" sz="2800" i="1" dirty="0">
                <a:latin typeface="+mj-lt"/>
                <a:ea typeface="黑体" pitchFamily="2" charset="-122"/>
              </a:rPr>
              <a:t>R</a:t>
            </a:r>
            <a:r>
              <a:rPr kumimoji="1" lang="en-US" altLang="zh-CN" sz="2800" dirty="0">
                <a:latin typeface="+mj-lt"/>
                <a:ea typeface="黑体" pitchFamily="2" charset="-122"/>
              </a:rPr>
              <a:t>(v, u</a:t>
            </a:r>
            <a:r>
              <a:rPr kumimoji="1" lang="en-US" altLang="zh-CN" sz="2800" i="1" dirty="0">
                <a:latin typeface="+mj-lt"/>
                <a:ea typeface="黑体" pitchFamily="2" charset="-122"/>
                <a:sym typeface="Symbol" pitchFamily="18" charset="2"/>
              </a:rPr>
              <a:t> </a:t>
            </a:r>
            <a:r>
              <a:rPr kumimoji="1" lang="en-US" altLang="zh-CN" sz="2800" dirty="0">
                <a:latin typeface="+mj-lt"/>
                <a:ea typeface="黑体" pitchFamily="2" charset="-122"/>
              </a:rPr>
              <a:t>) </a:t>
            </a:r>
            <a:r>
              <a:rPr kumimoji="1" lang="zh-CN" altLang="en-US" sz="2800" dirty="0">
                <a:ea typeface="黑体" pitchFamily="2" charset="-122"/>
              </a:rPr>
              <a:t>； </a:t>
            </a:r>
          </a:p>
          <a:p>
            <a:pPr>
              <a:spcBef>
                <a:spcPct val="20000"/>
              </a:spcBef>
              <a:buClr>
                <a:schemeClr val="accent2"/>
              </a:buClr>
              <a:buSzPct val="80000"/>
              <a:buFont typeface="Wingdings" pitchFamily="2" charset="2"/>
              <a:buNone/>
            </a:pPr>
            <a:r>
              <a:rPr kumimoji="1" lang="zh-CN" altLang="en-US" sz="2800" dirty="0">
                <a:ea typeface="黑体" pitchFamily="2" charset="-122"/>
              </a:rPr>
              <a:t>    则称</a:t>
            </a:r>
            <a:r>
              <a:rPr kumimoji="1" lang="en-US" altLang="zh-CN" sz="2800" dirty="0">
                <a:ea typeface="黑体" pitchFamily="2" charset="-122"/>
              </a:rPr>
              <a:t>F</a:t>
            </a:r>
            <a:r>
              <a:rPr kumimoji="1" lang="zh-CN" altLang="en-US" sz="2800" dirty="0">
                <a:ea typeface="黑体" pitchFamily="2" charset="-122"/>
                <a:sym typeface="Symbol" pitchFamily="18" charset="2"/>
              </a:rPr>
              <a:t>关系 </a:t>
            </a:r>
            <a:r>
              <a:rPr kumimoji="1" lang="en-US" altLang="zh-CN" sz="2800" i="1" dirty="0">
                <a:ea typeface="黑体" pitchFamily="2" charset="-122"/>
                <a:sym typeface="Symbol" pitchFamily="18" charset="2"/>
              </a:rPr>
              <a:t>R </a:t>
            </a:r>
            <a:r>
              <a:rPr kumimoji="1" lang="zh-CN" altLang="en-US" sz="2800" dirty="0">
                <a:ea typeface="黑体" pitchFamily="2" charset="-122"/>
                <a:sym typeface="Symbol" pitchFamily="18" charset="2"/>
              </a:rPr>
              <a:t>是 </a:t>
            </a:r>
            <a:r>
              <a:rPr kumimoji="1" lang="en-US" altLang="zh-CN" sz="2800" dirty="0">
                <a:ea typeface="黑体" pitchFamily="2" charset="-122"/>
                <a:sym typeface="Symbol" pitchFamily="18" charset="2"/>
              </a:rPr>
              <a:t>U</a:t>
            </a:r>
            <a:r>
              <a:rPr kumimoji="1" lang="en-US" altLang="zh-CN" sz="2800" i="1" dirty="0">
                <a:ea typeface="黑体" pitchFamily="2" charset="-122"/>
                <a:sym typeface="Symbol" pitchFamily="18" charset="2"/>
              </a:rPr>
              <a:t> </a:t>
            </a:r>
            <a:r>
              <a:rPr kumimoji="1" lang="zh-CN" altLang="en-US" sz="2800" dirty="0">
                <a:ea typeface="黑体" pitchFamily="2" charset="-122"/>
                <a:sym typeface="Symbol" pitchFamily="18" charset="2"/>
              </a:rPr>
              <a:t>上的一个</a:t>
            </a:r>
            <a:r>
              <a:rPr kumimoji="1" lang="en-US" altLang="zh-CN" sz="2800" dirty="0">
                <a:ea typeface="黑体" pitchFamily="2" charset="-122"/>
                <a:sym typeface="Symbol" pitchFamily="18" charset="2"/>
              </a:rPr>
              <a:t>F</a:t>
            </a:r>
            <a:r>
              <a:rPr kumimoji="1" lang="zh-CN" altLang="en-US" sz="2800" dirty="0">
                <a:solidFill>
                  <a:srgbClr val="EE0006"/>
                </a:solidFill>
                <a:ea typeface="黑体" pitchFamily="2" charset="-122"/>
              </a:rPr>
              <a:t>相似关系</a:t>
            </a:r>
            <a:r>
              <a:rPr kumimoji="1" lang="en-US" altLang="zh-CN" sz="2800" dirty="0">
                <a:ea typeface="黑体" pitchFamily="2" charset="-122"/>
              </a:rPr>
              <a:t>.</a:t>
            </a:r>
          </a:p>
          <a:p>
            <a:pPr>
              <a:spcBef>
                <a:spcPct val="20000"/>
              </a:spcBef>
              <a:buClr>
                <a:schemeClr val="accent2"/>
              </a:buClr>
              <a:buSzPct val="80000"/>
              <a:buFont typeface="Wingdings" pitchFamily="2" charset="2"/>
              <a:buChar char="n"/>
            </a:pPr>
            <a:r>
              <a:rPr kumimoji="1" lang="en-US" altLang="zh-CN" sz="2800" dirty="0">
                <a:solidFill>
                  <a:schemeClr val="bg2"/>
                </a:solidFill>
                <a:ea typeface="黑体" pitchFamily="2" charset="-122"/>
              </a:rPr>
              <a:t> </a:t>
            </a:r>
            <a:r>
              <a:rPr kumimoji="1" lang="zh-CN" altLang="en-US" sz="2800" dirty="0">
                <a:ea typeface="黑体" pitchFamily="2" charset="-122"/>
              </a:rPr>
              <a:t>当论域</a:t>
            </a:r>
            <a:r>
              <a:rPr kumimoji="1" lang="en-US" altLang="zh-CN" sz="2800" dirty="0">
                <a:ea typeface="黑体" pitchFamily="2" charset="-122"/>
              </a:rPr>
              <a:t>U</a:t>
            </a:r>
            <a:r>
              <a:rPr kumimoji="1" lang="zh-CN" altLang="en-US" sz="2800" dirty="0">
                <a:ea typeface="黑体" pitchFamily="2" charset="-122"/>
              </a:rPr>
              <a:t>为有限时，</a:t>
            </a:r>
            <a:r>
              <a:rPr kumimoji="1" lang="en-US" altLang="zh-CN" sz="2800" dirty="0">
                <a:ea typeface="黑体" pitchFamily="2" charset="-122"/>
              </a:rPr>
              <a:t>U</a:t>
            </a:r>
            <a:r>
              <a:rPr kumimoji="1" lang="en-US" altLang="zh-CN" sz="2800" i="1" dirty="0">
                <a:ea typeface="黑体" pitchFamily="2" charset="-122"/>
                <a:sym typeface="Symbol" pitchFamily="18" charset="2"/>
              </a:rPr>
              <a:t> </a:t>
            </a:r>
            <a:r>
              <a:rPr kumimoji="1" lang="zh-CN" altLang="en-US" sz="2800" dirty="0">
                <a:ea typeface="黑体" pitchFamily="2" charset="-122"/>
                <a:sym typeface="Symbol" pitchFamily="18" charset="2"/>
              </a:rPr>
              <a:t>上的一个</a:t>
            </a:r>
            <a:r>
              <a:rPr kumimoji="1" lang="en-US" altLang="zh-CN" sz="2800" dirty="0">
                <a:ea typeface="黑体" pitchFamily="2" charset="-122"/>
                <a:sym typeface="Symbol" pitchFamily="18" charset="2"/>
              </a:rPr>
              <a:t>F</a:t>
            </a:r>
            <a:r>
              <a:rPr kumimoji="1" lang="zh-CN" altLang="en-US" sz="2800" dirty="0">
                <a:ea typeface="黑体" pitchFamily="2" charset="-122"/>
              </a:rPr>
              <a:t>相似关系 </a:t>
            </a:r>
            <a:r>
              <a:rPr kumimoji="1" lang="en-US" altLang="zh-CN" sz="2800" i="1" dirty="0">
                <a:ea typeface="黑体" pitchFamily="2" charset="-122"/>
              </a:rPr>
              <a:t>R </a:t>
            </a:r>
            <a:r>
              <a:rPr kumimoji="1" lang="zh-CN" altLang="en-US" sz="2800" dirty="0">
                <a:ea typeface="黑体" pitchFamily="2" charset="-122"/>
              </a:rPr>
              <a:t>就是</a:t>
            </a:r>
            <a:r>
              <a:rPr kumimoji="1" lang="en-US" altLang="zh-CN" sz="2800" dirty="0">
                <a:ea typeface="黑体" pitchFamily="2" charset="-122"/>
              </a:rPr>
              <a:t>F</a:t>
            </a:r>
            <a:r>
              <a:rPr kumimoji="1" lang="zh-CN" altLang="en-US" sz="2800" dirty="0">
                <a:ea typeface="黑体" pitchFamily="2" charset="-122"/>
              </a:rPr>
              <a:t>相似矩阵，即</a:t>
            </a:r>
            <a:r>
              <a:rPr kumimoji="1" lang="en-US" altLang="zh-CN" sz="2800" i="1" dirty="0">
                <a:ea typeface="黑体" pitchFamily="2" charset="-122"/>
              </a:rPr>
              <a:t>R</a:t>
            </a:r>
            <a:r>
              <a:rPr kumimoji="1" lang="zh-CN" altLang="en-US" sz="2800" dirty="0">
                <a:ea typeface="黑体" pitchFamily="2" charset="-122"/>
              </a:rPr>
              <a:t>满足：</a:t>
            </a:r>
          </a:p>
          <a:p>
            <a:pPr>
              <a:spcBef>
                <a:spcPct val="20000"/>
              </a:spcBef>
              <a:buClr>
                <a:schemeClr val="accent2"/>
              </a:buClr>
              <a:buSzPct val="80000"/>
              <a:buFont typeface="Wingdings" pitchFamily="2" charset="2"/>
              <a:buNone/>
            </a:pPr>
            <a:r>
              <a:rPr kumimoji="1" lang="zh-CN" altLang="en-US" sz="2800" b="1" dirty="0">
                <a:solidFill>
                  <a:srgbClr val="FF00FF"/>
                </a:solidFill>
                <a:latin typeface="宋体" pitchFamily="2" charset="-122"/>
              </a:rPr>
              <a:t>    </a:t>
            </a:r>
            <a:r>
              <a:rPr kumimoji="1" lang="en-US" altLang="zh-CN" sz="2800" b="1" dirty="0">
                <a:solidFill>
                  <a:srgbClr val="FF00FF"/>
                </a:solidFill>
                <a:latin typeface="楷体_GB2312" pitchFamily="49" charset="-122"/>
                <a:ea typeface="楷体_GB2312" pitchFamily="49" charset="-122"/>
              </a:rPr>
              <a:t>(1) </a:t>
            </a:r>
            <a:r>
              <a:rPr kumimoji="1" lang="zh-CN" altLang="en-US" sz="2800" b="1" dirty="0">
                <a:solidFill>
                  <a:srgbClr val="FF00FF"/>
                </a:solidFill>
                <a:latin typeface="楷体_GB2312" pitchFamily="49" charset="-122"/>
                <a:ea typeface="楷体_GB2312" pitchFamily="49" charset="-122"/>
              </a:rPr>
              <a:t>自反性</a:t>
            </a:r>
            <a:r>
              <a:rPr kumimoji="1" lang="zh-CN" altLang="en-US" sz="2800" b="1" dirty="0">
                <a:solidFill>
                  <a:schemeClr val="bg2"/>
                </a:solidFill>
                <a:latin typeface="Times New Roman" pitchFamily="18" charset="0"/>
              </a:rPr>
              <a:t>：</a:t>
            </a:r>
            <a:r>
              <a:rPr kumimoji="1" lang="en-US" altLang="zh-CN" sz="2800" b="1" i="1" dirty="0">
                <a:solidFill>
                  <a:schemeClr val="bg2"/>
                </a:solidFill>
                <a:latin typeface="Times New Roman" pitchFamily="18" charset="0"/>
                <a:ea typeface="黑体" pitchFamily="2" charset="-122"/>
              </a:rPr>
              <a:t>I </a:t>
            </a:r>
            <a:r>
              <a:rPr kumimoji="1" lang="en-US" altLang="zh-CN" sz="2800" b="1" dirty="0">
                <a:solidFill>
                  <a:schemeClr val="bg2"/>
                </a:solidFill>
                <a:sym typeface="Symbol" pitchFamily="18" charset="2"/>
              </a:rPr>
              <a:t></a:t>
            </a:r>
            <a:r>
              <a:rPr kumimoji="1" lang="en-US" altLang="zh-CN" sz="2800" dirty="0">
                <a:solidFill>
                  <a:schemeClr val="bg2"/>
                </a:solidFill>
              </a:rPr>
              <a:t> </a:t>
            </a:r>
            <a:r>
              <a:rPr kumimoji="1" lang="en-US" altLang="zh-CN" sz="2800" b="1" i="1" dirty="0">
                <a:solidFill>
                  <a:schemeClr val="bg2"/>
                </a:solidFill>
                <a:latin typeface="Times New Roman" pitchFamily="18" charset="0"/>
                <a:ea typeface="黑体" pitchFamily="2" charset="-122"/>
              </a:rPr>
              <a:t>R</a:t>
            </a:r>
            <a:r>
              <a:rPr kumimoji="1" lang="en-US" altLang="zh-CN" sz="2800" b="1" dirty="0">
                <a:solidFill>
                  <a:schemeClr val="bg2"/>
                </a:solidFill>
                <a:latin typeface="Times New Roman" pitchFamily="18" charset="0"/>
              </a:rPr>
              <a:t> </a:t>
            </a:r>
            <a:r>
              <a:rPr kumimoji="1" lang="en-US" altLang="zh-CN" sz="2800" b="1" dirty="0">
                <a:solidFill>
                  <a:schemeClr val="bg2"/>
                </a:solidFill>
                <a:latin typeface="Times New Roman" pitchFamily="18" charset="0"/>
                <a:ea typeface="黑体" pitchFamily="2" charset="-122"/>
              </a:rPr>
              <a:t>(</a:t>
            </a:r>
            <a:r>
              <a:rPr kumimoji="1" lang="en-US" altLang="zh-CN" sz="2800" b="1" dirty="0">
                <a:solidFill>
                  <a:schemeClr val="bg2"/>
                </a:solidFill>
                <a:latin typeface="Times New Roman" pitchFamily="18" charset="0"/>
                <a:sym typeface="Symbol" pitchFamily="18" charset="2"/>
              </a:rPr>
              <a:t></a:t>
            </a:r>
            <a:r>
              <a:rPr kumimoji="1" lang="en-US" altLang="zh-CN" sz="2800" b="1" dirty="0">
                <a:solidFill>
                  <a:schemeClr val="bg2"/>
                </a:solidFill>
                <a:latin typeface="Times New Roman" pitchFamily="18" charset="0"/>
                <a:ea typeface="黑体" pitchFamily="2" charset="-122"/>
              </a:rPr>
              <a:t> </a:t>
            </a:r>
            <a:r>
              <a:rPr kumimoji="1" lang="en-US" altLang="zh-CN" sz="2800" b="1" i="1" dirty="0" err="1">
                <a:solidFill>
                  <a:schemeClr val="bg2"/>
                </a:solidFill>
                <a:latin typeface="Times New Roman" pitchFamily="18" charset="0"/>
                <a:ea typeface="黑体" pitchFamily="2" charset="-122"/>
              </a:rPr>
              <a:t>r</a:t>
            </a:r>
            <a:r>
              <a:rPr kumimoji="1" lang="en-US" altLang="zh-CN" sz="2800" b="1" i="1" baseline="-30000" dirty="0" err="1">
                <a:solidFill>
                  <a:schemeClr val="bg2"/>
                </a:solidFill>
                <a:latin typeface="Times New Roman" pitchFamily="18" charset="0"/>
              </a:rPr>
              <a:t>ii</a:t>
            </a:r>
            <a:r>
              <a:rPr kumimoji="1" lang="en-US" altLang="zh-CN" sz="2800" b="1" i="1" baseline="-30000" dirty="0">
                <a:solidFill>
                  <a:schemeClr val="bg2"/>
                </a:solidFill>
                <a:latin typeface="Times New Roman" pitchFamily="18" charset="0"/>
              </a:rPr>
              <a:t> </a:t>
            </a:r>
            <a:r>
              <a:rPr kumimoji="1" lang="en-US" altLang="zh-CN" sz="2800" b="1" dirty="0">
                <a:solidFill>
                  <a:schemeClr val="bg2"/>
                </a:solidFill>
                <a:latin typeface="Times New Roman" pitchFamily="18" charset="0"/>
                <a:sym typeface="Symbol" pitchFamily="18" charset="2"/>
              </a:rPr>
              <a:t>=1</a:t>
            </a:r>
            <a:r>
              <a:rPr kumimoji="1" lang="en-US" altLang="zh-CN" sz="2800" b="1" i="1" dirty="0">
                <a:solidFill>
                  <a:schemeClr val="bg2"/>
                </a:solidFill>
                <a:latin typeface="Times New Roman" pitchFamily="18" charset="0"/>
                <a:sym typeface="Symbol" pitchFamily="18" charset="2"/>
              </a:rPr>
              <a:t> </a:t>
            </a:r>
            <a:r>
              <a:rPr kumimoji="1" lang="en-US" altLang="zh-CN" sz="2800" b="1" dirty="0">
                <a:solidFill>
                  <a:schemeClr val="bg2"/>
                </a:solidFill>
                <a:latin typeface="Times New Roman" pitchFamily="18" charset="0"/>
                <a:ea typeface="黑体" pitchFamily="2" charset="-122"/>
              </a:rPr>
              <a:t>)</a:t>
            </a:r>
            <a:r>
              <a:rPr kumimoji="1" lang="zh-CN" altLang="en-US" sz="2800" b="1" dirty="0">
                <a:solidFill>
                  <a:schemeClr val="bg2"/>
                </a:solidFill>
                <a:latin typeface="Times New Roman" pitchFamily="18" charset="0"/>
              </a:rPr>
              <a:t>；</a:t>
            </a:r>
          </a:p>
          <a:p>
            <a:pPr>
              <a:spcBef>
                <a:spcPct val="20000"/>
              </a:spcBef>
              <a:buClr>
                <a:schemeClr val="accent2"/>
              </a:buClr>
              <a:buSzPct val="80000"/>
              <a:buFont typeface="Wingdings" pitchFamily="2" charset="2"/>
              <a:buNone/>
            </a:pPr>
            <a:r>
              <a:rPr kumimoji="1" lang="zh-CN" altLang="en-US" sz="2800" b="1" dirty="0">
                <a:solidFill>
                  <a:srgbClr val="3333FF"/>
                </a:solidFill>
                <a:latin typeface="宋体" pitchFamily="2" charset="-122"/>
              </a:rPr>
              <a:t>    </a:t>
            </a:r>
            <a:r>
              <a:rPr kumimoji="1" lang="en-US" altLang="zh-CN" sz="2800" b="1" dirty="0">
                <a:solidFill>
                  <a:srgbClr val="3333FF"/>
                </a:solidFill>
                <a:latin typeface="楷体_GB2312" pitchFamily="49" charset="-122"/>
                <a:ea typeface="楷体_GB2312" pitchFamily="49" charset="-122"/>
              </a:rPr>
              <a:t>(2) </a:t>
            </a:r>
            <a:r>
              <a:rPr kumimoji="1" lang="zh-CN" altLang="en-US" sz="2800" b="1" dirty="0">
                <a:solidFill>
                  <a:srgbClr val="3333FF"/>
                </a:solidFill>
                <a:latin typeface="楷体_GB2312" pitchFamily="49" charset="-122"/>
                <a:ea typeface="楷体_GB2312" pitchFamily="49" charset="-122"/>
              </a:rPr>
              <a:t>对称性</a:t>
            </a:r>
            <a:r>
              <a:rPr kumimoji="1" lang="zh-CN" altLang="en-US" sz="2800" b="1" dirty="0">
                <a:solidFill>
                  <a:schemeClr val="bg2"/>
                </a:solidFill>
                <a:latin typeface="Times New Roman" pitchFamily="18" charset="0"/>
              </a:rPr>
              <a:t>：</a:t>
            </a:r>
            <a:r>
              <a:rPr kumimoji="1" lang="en-US" altLang="zh-CN" sz="2800" b="1" i="1" dirty="0">
                <a:solidFill>
                  <a:schemeClr val="bg2"/>
                </a:solidFill>
                <a:latin typeface="Times New Roman" pitchFamily="18" charset="0"/>
                <a:ea typeface="黑体" pitchFamily="2" charset="-122"/>
              </a:rPr>
              <a:t>R</a:t>
            </a:r>
            <a:r>
              <a:rPr kumimoji="1" lang="en-US" altLang="zh-CN" sz="2800" b="1" baseline="30000" dirty="0">
                <a:solidFill>
                  <a:schemeClr val="bg2"/>
                </a:solidFill>
                <a:latin typeface="Times New Roman" pitchFamily="18" charset="0"/>
                <a:ea typeface="黑体" pitchFamily="2" charset="-122"/>
              </a:rPr>
              <a:t>T </a:t>
            </a:r>
            <a:r>
              <a:rPr kumimoji="1" lang="en-US" altLang="zh-CN" sz="2800" b="1" dirty="0">
                <a:solidFill>
                  <a:schemeClr val="bg2"/>
                </a:solidFill>
                <a:latin typeface="Times New Roman" pitchFamily="18" charset="0"/>
                <a:ea typeface="黑体" pitchFamily="2" charset="-122"/>
              </a:rPr>
              <a:t>= </a:t>
            </a:r>
            <a:r>
              <a:rPr kumimoji="1" lang="en-US" altLang="zh-CN" sz="2800" b="1" i="1" dirty="0">
                <a:solidFill>
                  <a:schemeClr val="bg2"/>
                </a:solidFill>
                <a:latin typeface="Times New Roman" pitchFamily="18" charset="0"/>
                <a:ea typeface="黑体" pitchFamily="2" charset="-122"/>
              </a:rPr>
              <a:t>R</a:t>
            </a:r>
            <a:r>
              <a:rPr kumimoji="1" lang="en-US" altLang="zh-CN" sz="2800" b="1" dirty="0">
                <a:solidFill>
                  <a:schemeClr val="bg2"/>
                </a:solidFill>
                <a:latin typeface="Times New Roman" pitchFamily="18" charset="0"/>
              </a:rPr>
              <a:t> </a:t>
            </a:r>
            <a:r>
              <a:rPr kumimoji="1" lang="en-US" altLang="zh-CN" sz="2800" b="1" dirty="0">
                <a:solidFill>
                  <a:schemeClr val="bg2"/>
                </a:solidFill>
                <a:latin typeface="Times New Roman" pitchFamily="18" charset="0"/>
                <a:ea typeface="黑体" pitchFamily="2" charset="-122"/>
              </a:rPr>
              <a:t>(</a:t>
            </a:r>
            <a:r>
              <a:rPr kumimoji="1" lang="en-US" altLang="zh-CN" sz="2800" b="1" dirty="0">
                <a:solidFill>
                  <a:schemeClr val="bg2"/>
                </a:solidFill>
                <a:latin typeface="Times New Roman" pitchFamily="18" charset="0"/>
                <a:sym typeface="Symbol" pitchFamily="18" charset="2"/>
              </a:rPr>
              <a:t></a:t>
            </a:r>
            <a:r>
              <a:rPr kumimoji="1" lang="en-US" altLang="zh-CN" sz="2800" b="1" dirty="0">
                <a:solidFill>
                  <a:schemeClr val="bg2"/>
                </a:solidFill>
                <a:latin typeface="Times New Roman" pitchFamily="18" charset="0"/>
                <a:ea typeface="黑体" pitchFamily="2" charset="-122"/>
              </a:rPr>
              <a:t> </a:t>
            </a:r>
            <a:r>
              <a:rPr kumimoji="1" lang="en-US" altLang="zh-CN" sz="2800" b="1" i="1" dirty="0" err="1">
                <a:solidFill>
                  <a:schemeClr val="bg2"/>
                </a:solidFill>
                <a:latin typeface="Times New Roman" pitchFamily="18" charset="0"/>
                <a:ea typeface="黑体" pitchFamily="2" charset="-122"/>
              </a:rPr>
              <a:t>r</a:t>
            </a:r>
            <a:r>
              <a:rPr kumimoji="1" lang="en-US" altLang="zh-CN" sz="2800" b="1" i="1" baseline="-30000" dirty="0" err="1">
                <a:solidFill>
                  <a:schemeClr val="bg2"/>
                </a:solidFill>
                <a:latin typeface="Times New Roman" pitchFamily="18" charset="0"/>
              </a:rPr>
              <a:t>ij</a:t>
            </a:r>
            <a:r>
              <a:rPr kumimoji="1" lang="en-US" altLang="zh-CN" sz="2800" b="1" i="1" baseline="-30000" dirty="0">
                <a:solidFill>
                  <a:schemeClr val="bg2"/>
                </a:solidFill>
                <a:latin typeface="Times New Roman" pitchFamily="18" charset="0"/>
              </a:rPr>
              <a:t> </a:t>
            </a:r>
            <a:r>
              <a:rPr kumimoji="1" lang="en-US" altLang="zh-CN" sz="2800" b="1" dirty="0">
                <a:solidFill>
                  <a:schemeClr val="bg2"/>
                </a:solidFill>
                <a:latin typeface="Times New Roman" pitchFamily="18" charset="0"/>
                <a:sym typeface="Symbol" pitchFamily="18" charset="2"/>
              </a:rPr>
              <a:t>= </a:t>
            </a:r>
            <a:r>
              <a:rPr kumimoji="1" lang="en-US" altLang="zh-CN" sz="2800" b="1" i="1" dirty="0" err="1">
                <a:solidFill>
                  <a:schemeClr val="bg2"/>
                </a:solidFill>
                <a:latin typeface="Times New Roman" pitchFamily="18" charset="0"/>
                <a:ea typeface="黑体" pitchFamily="2" charset="-122"/>
              </a:rPr>
              <a:t>r</a:t>
            </a:r>
            <a:r>
              <a:rPr kumimoji="1" lang="en-US" altLang="zh-CN" sz="2800" b="1" i="1" baseline="-30000" dirty="0" err="1">
                <a:solidFill>
                  <a:schemeClr val="bg2"/>
                </a:solidFill>
                <a:latin typeface="Times New Roman" pitchFamily="18" charset="0"/>
              </a:rPr>
              <a:t>ji</a:t>
            </a:r>
            <a:r>
              <a:rPr kumimoji="1" lang="en-US" altLang="zh-CN" sz="2800" b="1" i="1" dirty="0">
                <a:solidFill>
                  <a:schemeClr val="bg2"/>
                </a:solidFill>
                <a:latin typeface="Times New Roman" pitchFamily="18" charset="0"/>
                <a:sym typeface="Symbol" pitchFamily="18" charset="2"/>
              </a:rPr>
              <a:t> </a:t>
            </a:r>
            <a:r>
              <a:rPr kumimoji="1" lang="en-US" altLang="zh-CN" sz="2800" b="1" dirty="0">
                <a:solidFill>
                  <a:schemeClr val="bg2"/>
                </a:solidFill>
                <a:latin typeface="Times New Roman" pitchFamily="18" charset="0"/>
                <a:ea typeface="黑体" pitchFamily="2" charset="-122"/>
              </a:rPr>
              <a:t>)</a:t>
            </a:r>
            <a:r>
              <a:rPr kumimoji="1" lang="en-US" altLang="zh-CN" sz="2800" b="1" dirty="0">
                <a:solidFill>
                  <a:schemeClr val="bg2"/>
                </a:solidFill>
                <a:latin typeface="Times New Roman" pitchFamily="18" charset="0"/>
              </a:rPr>
              <a:t>.</a:t>
            </a:r>
          </a:p>
          <a:p>
            <a:pPr>
              <a:spcBef>
                <a:spcPct val="20000"/>
              </a:spcBef>
              <a:buClr>
                <a:schemeClr val="accent2"/>
              </a:buClr>
              <a:buSzPct val="80000"/>
              <a:buFont typeface="Wingdings" pitchFamily="2" charset="2"/>
              <a:buNone/>
            </a:pPr>
            <a:r>
              <a:rPr kumimoji="1" lang="zh-CN" altLang="en-US" sz="2800" b="1" dirty="0">
                <a:latin typeface="Times New Roman" pitchFamily="18" charset="0"/>
                <a:ea typeface="黑体" pitchFamily="2" charset="-122"/>
              </a:rPr>
              <a:t>在实际应用中，通常只能得到相似矩阵</a:t>
            </a:r>
          </a:p>
          <a:p>
            <a:pPr lvl="1"/>
            <a:r>
              <a:rPr kumimoji="1" lang="zh-CN" altLang="en-US" sz="2800" b="1" dirty="0">
                <a:solidFill>
                  <a:srgbClr val="EE0006"/>
                </a:solidFill>
                <a:latin typeface="楷体_GB2312" pitchFamily="49" charset="-122"/>
                <a:ea typeface="楷体_GB2312" pitchFamily="49" charset="-122"/>
              </a:rPr>
              <a:t>问题：</a:t>
            </a:r>
            <a:r>
              <a:rPr kumimoji="1" lang="en-US" altLang="zh-CN" sz="2800" b="1" dirty="0">
                <a:solidFill>
                  <a:srgbClr val="EE0006"/>
                </a:solidFill>
                <a:latin typeface="楷体_GB2312" pitchFamily="49" charset="-122"/>
                <a:ea typeface="楷体_GB2312" pitchFamily="49" charset="-122"/>
              </a:rPr>
              <a:t>(1)</a:t>
            </a:r>
            <a:r>
              <a:rPr lang="zh-CN" altLang="en-US" sz="2800" b="1" dirty="0">
                <a:solidFill>
                  <a:srgbClr val="EE0006"/>
                </a:solidFill>
              </a:rPr>
              <a:t>对具有相似关系的元素如何聚类？</a:t>
            </a:r>
            <a:endParaRPr lang="en-US" altLang="zh-CN" sz="2800" b="1" dirty="0">
              <a:solidFill>
                <a:srgbClr val="EE0006"/>
              </a:solidFill>
            </a:endParaRPr>
          </a:p>
          <a:p>
            <a:pPr lvl="1"/>
            <a:r>
              <a:rPr lang="en-US" altLang="zh-CN" sz="2800" b="1" dirty="0">
                <a:solidFill>
                  <a:srgbClr val="EE0006"/>
                </a:solidFill>
              </a:rPr>
              <a:t>            (2)</a:t>
            </a:r>
            <a:r>
              <a:rPr lang="zh-CN" altLang="en-US" sz="2800" b="1" dirty="0">
                <a:solidFill>
                  <a:srgbClr val="EE0006"/>
                </a:solidFill>
              </a:rPr>
              <a:t>相似矩阵可否改造为等价矩阵</a:t>
            </a:r>
            <a:r>
              <a:rPr lang="en-US" altLang="zh-CN" sz="2800" b="1" dirty="0">
                <a:solidFill>
                  <a:srgbClr val="EE0006"/>
                </a:solidFill>
              </a:rPr>
              <a:t>?</a:t>
            </a:r>
            <a:endParaRPr lang="zh-CN" altLang="en-US" dirty="0"/>
          </a:p>
        </p:txBody>
      </p:sp>
      <p:sp>
        <p:nvSpPr>
          <p:cNvPr id="2" name="灯片编号占位符 1">
            <a:extLst>
              <a:ext uri="{FF2B5EF4-FFF2-40B4-BE49-F238E27FC236}">
                <a16:creationId xmlns:a16="http://schemas.microsoft.com/office/drawing/2014/main" id="{2EF1834F-4754-681E-7880-336604A4F9B7}"/>
              </a:ext>
            </a:extLst>
          </p:cNvPr>
          <p:cNvSpPr>
            <a:spLocks noGrp="1"/>
          </p:cNvSpPr>
          <p:nvPr>
            <p:ph type="sldNum" sz="quarter" idx="11"/>
          </p:nvPr>
        </p:nvSpPr>
        <p:spPr/>
        <p:txBody>
          <a:bodyPr/>
          <a:lstStyle/>
          <a:p>
            <a:pPr>
              <a:defRPr/>
            </a:pPr>
            <a:fld id="{F13753BC-CAEF-4333-AC48-2805658F6E3F}" type="slidenum">
              <a:rPr lang="en-US" altLang="zh-CN" smtClean="0"/>
              <a:pPr>
                <a:defRPr/>
              </a:pPr>
              <a:t>30</a:t>
            </a:fld>
            <a:endParaRPr lang="en-US" altLang="zh-CN"/>
          </a:p>
        </p:txBody>
      </p:sp>
    </p:spTree>
    <p:extLst>
      <p:ext uri="{BB962C8B-B14F-4D97-AF65-F5344CB8AC3E}">
        <p14:creationId xmlns:p14="http://schemas.microsoft.com/office/powerpoint/2010/main" val="3415900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Effect transition="in" filter="wipe(left)">
                                      <p:cBhvr>
                                        <p:cTn id="7" dur="500"/>
                                        <p:tgtEl>
                                          <p:spTgt spid="26628">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xEl>
                                              <p:pRg st="1" end="1"/>
                                            </p:txEl>
                                          </p:spTgt>
                                        </p:tgtEl>
                                        <p:attrNameLst>
                                          <p:attrName>style.visibility</p:attrName>
                                        </p:attrNameLst>
                                      </p:cBhvr>
                                      <p:to>
                                        <p:strVal val="visible"/>
                                      </p:to>
                                    </p:set>
                                    <p:animEffect transition="in" filter="wipe(left)">
                                      <p:cBhvr>
                                        <p:cTn id="12" dur="500"/>
                                        <p:tgtEl>
                                          <p:spTgt spid="26628">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8">
                                            <p:txEl>
                                              <p:pRg st="2" end="2"/>
                                            </p:txEl>
                                          </p:spTgt>
                                        </p:tgtEl>
                                        <p:attrNameLst>
                                          <p:attrName>style.visibility</p:attrName>
                                        </p:attrNameLst>
                                      </p:cBhvr>
                                      <p:to>
                                        <p:strVal val="visible"/>
                                      </p:to>
                                    </p:set>
                                    <p:animEffect transition="in" filter="wipe(left)">
                                      <p:cBhvr>
                                        <p:cTn id="17" dur="500"/>
                                        <p:tgtEl>
                                          <p:spTgt spid="26628">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28">
                                            <p:txEl>
                                              <p:pRg st="3" end="3"/>
                                            </p:txEl>
                                          </p:spTgt>
                                        </p:tgtEl>
                                        <p:attrNameLst>
                                          <p:attrName>style.visibility</p:attrName>
                                        </p:attrNameLst>
                                      </p:cBhvr>
                                      <p:to>
                                        <p:strVal val="visible"/>
                                      </p:to>
                                    </p:set>
                                    <p:animEffect transition="in" filter="wipe(left)">
                                      <p:cBhvr>
                                        <p:cTn id="22" dur="500"/>
                                        <p:tgtEl>
                                          <p:spTgt spid="26628">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28">
                                            <p:txEl>
                                              <p:pRg st="4" end="4"/>
                                            </p:txEl>
                                          </p:spTgt>
                                        </p:tgtEl>
                                        <p:attrNameLst>
                                          <p:attrName>style.visibility</p:attrName>
                                        </p:attrNameLst>
                                      </p:cBhvr>
                                      <p:to>
                                        <p:strVal val="visible"/>
                                      </p:to>
                                    </p:set>
                                    <p:animEffect transition="in" filter="wipe(left)">
                                      <p:cBhvr>
                                        <p:cTn id="27" dur="500"/>
                                        <p:tgtEl>
                                          <p:spTgt spid="26628">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8">
                                            <p:txEl>
                                              <p:pRg st="5" end="5"/>
                                            </p:txEl>
                                          </p:spTgt>
                                        </p:tgtEl>
                                        <p:attrNameLst>
                                          <p:attrName>style.visibility</p:attrName>
                                        </p:attrNameLst>
                                      </p:cBhvr>
                                      <p:to>
                                        <p:strVal val="visible"/>
                                      </p:to>
                                    </p:set>
                                    <p:animEffect transition="in" filter="wipe(left)">
                                      <p:cBhvr>
                                        <p:cTn id="32" dur="500"/>
                                        <p:tgtEl>
                                          <p:spTgt spid="26628">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628">
                                            <p:txEl>
                                              <p:pRg st="6" end="6"/>
                                            </p:txEl>
                                          </p:spTgt>
                                        </p:tgtEl>
                                        <p:attrNameLst>
                                          <p:attrName>style.visibility</p:attrName>
                                        </p:attrNameLst>
                                      </p:cBhvr>
                                      <p:to>
                                        <p:strVal val="visible"/>
                                      </p:to>
                                    </p:set>
                                    <p:animEffect transition="in" filter="wipe(left)">
                                      <p:cBhvr>
                                        <p:cTn id="37" dur="500"/>
                                        <p:tgtEl>
                                          <p:spTgt spid="26628">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628">
                                            <p:txEl>
                                              <p:pRg st="7" end="7"/>
                                            </p:txEl>
                                          </p:spTgt>
                                        </p:tgtEl>
                                        <p:attrNameLst>
                                          <p:attrName>style.visibility</p:attrName>
                                        </p:attrNameLst>
                                      </p:cBhvr>
                                      <p:to>
                                        <p:strVal val="visible"/>
                                      </p:to>
                                    </p:set>
                                    <p:animEffect transition="in" filter="wipe(left)">
                                      <p:cBhvr>
                                        <p:cTn id="42" dur="500"/>
                                        <p:tgtEl>
                                          <p:spTgt spid="26628">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628">
                                            <p:txEl>
                                              <p:pRg st="8" end="8"/>
                                            </p:txEl>
                                          </p:spTgt>
                                        </p:tgtEl>
                                        <p:attrNameLst>
                                          <p:attrName>style.visibility</p:attrName>
                                        </p:attrNameLst>
                                      </p:cBhvr>
                                      <p:to>
                                        <p:strVal val="visible"/>
                                      </p:to>
                                    </p:set>
                                    <p:animEffect transition="in" filter="wipe(left)">
                                      <p:cBhvr>
                                        <p:cTn id="47" dur="500"/>
                                        <p:tgtEl>
                                          <p:spTgt spid="26628">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628">
                                            <p:txEl>
                                              <p:pRg st="9" end="9"/>
                                            </p:txEl>
                                          </p:spTgt>
                                        </p:tgtEl>
                                        <p:attrNameLst>
                                          <p:attrName>style.visibility</p:attrName>
                                        </p:attrNameLst>
                                      </p:cBhvr>
                                      <p:to>
                                        <p:strVal val="visible"/>
                                      </p:to>
                                    </p:set>
                                    <p:animEffect transition="in" filter="wipe(left)">
                                      <p:cBhvr>
                                        <p:cTn id="52" dur="500"/>
                                        <p:tgtEl>
                                          <p:spTgt spid="26628">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185192"/>
            <a:ext cx="8229600" cy="1371600"/>
          </a:xfrm>
        </p:spPr>
        <p:txBody>
          <a:bodyPr/>
          <a:lstStyle/>
          <a:p>
            <a:pPr algn="ctr" eaLnBrk="1" hangingPunct="1"/>
            <a:r>
              <a:rPr lang="en-US" altLang="zh-CN" dirty="0">
                <a:solidFill>
                  <a:srgbClr val="057939"/>
                </a:solidFill>
                <a:ea typeface="黑体" pitchFamily="2" charset="-122"/>
              </a:rPr>
              <a:t>F</a:t>
            </a:r>
            <a:r>
              <a:rPr lang="zh-CN" altLang="en-US" dirty="0">
                <a:solidFill>
                  <a:srgbClr val="057939"/>
                </a:solidFill>
                <a:latin typeface="Times New Roman" pitchFamily="18" charset="0"/>
                <a:ea typeface="黑体" pitchFamily="2" charset="-122"/>
              </a:rPr>
              <a:t>相似矩阵的性质</a:t>
            </a:r>
          </a:p>
        </p:txBody>
      </p:sp>
      <p:sp>
        <p:nvSpPr>
          <p:cNvPr id="2" name="内容占位符 1"/>
          <p:cNvSpPr>
            <a:spLocks noGrp="1"/>
          </p:cNvSpPr>
          <p:nvPr>
            <p:ph idx="1"/>
          </p:nvPr>
        </p:nvSpPr>
        <p:spPr>
          <a:xfrm>
            <a:off x="1271464" y="1340768"/>
            <a:ext cx="9721080" cy="5256584"/>
          </a:xfrm>
        </p:spPr>
        <p:txBody>
          <a:bodyPr/>
          <a:lstStyle/>
          <a:p>
            <a:pPr>
              <a:lnSpc>
                <a:spcPct val="105000"/>
              </a:lnSpc>
              <a:buClr>
                <a:schemeClr val="accent2"/>
              </a:buClr>
              <a:buSzPct val="80000"/>
              <a:buNone/>
              <a:defRPr/>
            </a:pPr>
            <a:r>
              <a:rPr kumimoji="1" lang="en-US" altLang="zh-CN" b="1" dirty="0">
                <a:solidFill>
                  <a:srgbClr val="EE0006"/>
                </a:solidFill>
              </a:rPr>
              <a:t>[</a:t>
            </a:r>
            <a:r>
              <a:rPr kumimoji="1" lang="zh-CN" altLang="en-US" b="1" dirty="0">
                <a:solidFill>
                  <a:srgbClr val="EE0006"/>
                </a:solidFill>
              </a:rPr>
              <a:t>定理</a:t>
            </a:r>
            <a:r>
              <a:rPr kumimoji="1" lang="en-US" altLang="zh-CN" b="1" dirty="0">
                <a:solidFill>
                  <a:srgbClr val="EE0006"/>
                </a:solidFill>
              </a:rPr>
              <a:t>1] </a:t>
            </a:r>
            <a:r>
              <a:rPr kumimoji="1" lang="en-US" altLang="zh-CN" b="1" dirty="0"/>
              <a:t>F</a:t>
            </a:r>
            <a:r>
              <a:rPr kumimoji="1" lang="zh-CN" altLang="en-US" b="1" dirty="0"/>
              <a:t>相似矩阵</a:t>
            </a:r>
            <a:r>
              <a:rPr kumimoji="1" lang="en-US" altLang="zh-CN" b="1" i="1" dirty="0"/>
              <a:t>R</a:t>
            </a:r>
            <a:r>
              <a:rPr kumimoji="1" lang="en-US" altLang="zh-CN" b="1" dirty="0">
                <a:ea typeface="黑体" pitchFamily="2" charset="-122"/>
                <a:sym typeface="Symbol"/>
              </a:rPr>
              <a:t></a:t>
            </a:r>
            <a:r>
              <a:rPr kumimoji="1" lang="el-GR" altLang="en-US" dirty="0">
                <a:cs typeface="Arial" charset="0"/>
              </a:rPr>
              <a:t>μ</a:t>
            </a:r>
            <a:r>
              <a:rPr kumimoji="1" lang="en-US" altLang="zh-CN" baseline="-25000" dirty="0"/>
              <a:t>(</a:t>
            </a:r>
            <a:r>
              <a:rPr kumimoji="1" lang="en-US" altLang="zh-CN" baseline="-25000" dirty="0" err="1"/>
              <a:t>n</a:t>
            </a:r>
            <a:r>
              <a:rPr kumimoji="1" lang="en-US" altLang="en-US" baseline="-25000" dirty="0" err="1"/>
              <a:t>×</a:t>
            </a:r>
            <a:r>
              <a:rPr kumimoji="1" lang="en-US" altLang="zh-CN" baseline="-25000" dirty="0" err="1"/>
              <a:t>n</a:t>
            </a:r>
            <a:r>
              <a:rPr kumimoji="1" lang="en-US" altLang="zh-CN" baseline="-25000" dirty="0"/>
              <a:t>)</a:t>
            </a:r>
            <a:r>
              <a:rPr kumimoji="1" lang="zh-CN" altLang="en-US" b="1" dirty="0"/>
              <a:t>的</a:t>
            </a:r>
            <a:r>
              <a:rPr kumimoji="1" lang="zh-CN" altLang="en-US" b="1" u="sng" dirty="0"/>
              <a:t>传递闭包</a:t>
            </a:r>
            <a:r>
              <a:rPr kumimoji="1" lang="zh-CN" altLang="en-US" b="1" dirty="0"/>
              <a:t>是等价矩阵，记作 </a:t>
            </a:r>
            <a:r>
              <a:rPr kumimoji="1" lang="en-US" altLang="zh-CN" b="1" i="1" dirty="0">
                <a:solidFill>
                  <a:srgbClr val="EE0006"/>
                </a:solidFill>
              </a:rPr>
              <a:t>t</a:t>
            </a:r>
            <a:r>
              <a:rPr kumimoji="1" lang="en-US" altLang="zh-CN" b="1" dirty="0">
                <a:solidFill>
                  <a:srgbClr val="EE0006"/>
                </a:solidFill>
              </a:rPr>
              <a:t>(</a:t>
            </a:r>
            <a:r>
              <a:rPr kumimoji="1" lang="en-US" altLang="zh-CN" b="1" i="1" dirty="0">
                <a:solidFill>
                  <a:srgbClr val="EE0006"/>
                </a:solidFill>
              </a:rPr>
              <a:t>R</a:t>
            </a:r>
            <a:r>
              <a:rPr kumimoji="1" lang="en-US" altLang="zh-CN" b="1" dirty="0">
                <a:solidFill>
                  <a:srgbClr val="EE0006"/>
                </a:solidFill>
              </a:rPr>
              <a:t>) = </a:t>
            </a:r>
            <a:r>
              <a:rPr kumimoji="1" lang="en-US" altLang="zh-CN" b="1" i="1" dirty="0">
                <a:solidFill>
                  <a:srgbClr val="EE0006"/>
                </a:solidFill>
                <a:ea typeface="黑体" pitchFamily="2" charset="-122"/>
              </a:rPr>
              <a:t>R</a:t>
            </a:r>
            <a:r>
              <a:rPr kumimoji="1" lang="en-US" altLang="zh-CN" b="1" i="1" baseline="30000" dirty="0">
                <a:solidFill>
                  <a:srgbClr val="EE0006"/>
                </a:solidFill>
                <a:ea typeface="黑体" pitchFamily="2" charset="-122"/>
              </a:rPr>
              <a:t>n</a:t>
            </a:r>
            <a:r>
              <a:rPr kumimoji="1" lang="en-US" altLang="zh-CN" b="1" i="1" baseline="30000" dirty="0">
                <a:ea typeface="黑体" pitchFamily="2" charset="-122"/>
              </a:rPr>
              <a:t> </a:t>
            </a:r>
          </a:p>
          <a:p>
            <a:pPr>
              <a:lnSpc>
                <a:spcPct val="105000"/>
              </a:lnSpc>
              <a:buNone/>
            </a:pPr>
            <a:r>
              <a:rPr lang="zh-CN" altLang="en-US" dirty="0">
                <a:solidFill>
                  <a:srgbClr val="3333FF"/>
                </a:solidFill>
                <a:latin typeface="黑体" panose="02010609060101010101" pitchFamily="49" charset="-122"/>
                <a:ea typeface="黑体" panose="02010609060101010101" pitchFamily="49" charset="-122"/>
              </a:rPr>
              <a:t>证明：</a:t>
            </a:r>
            <a:r>
              <a:rPr lang="zh-CN" altLang="en-US" b="1" dirty="0"/>
              <a:t>只需证明自反性和对称性。</a:t>
            </a:r>
          </a:p>
          <a:p>
            <a:pPr marL="0" indent="0">
              <a:lnSpc>
                <a:spcPct val="105000"/>
              </a:lnSpc>
              <a:buNone/>
            </a:pPr>
            <a:r>
              <a:rPr lang="en-US" altLang="zh-CN" b="1" dirty="0"/>
              <a:t>    (1) R</a:t>
            </a:r>
            <a:r>
              <a:rPr lang="zh-CN" altLang="en-US" b="1" dirty="0"/>
              <a:t>自反</a:t>
            </a:r>
            <a:endParaRPr lang="en-US" altLang="zh-CN" b="1" dirty="0"/>
          </a:p>
          <a:p>
            <a:pPr marL="400050" lvl="1" indent="0">
              <a:lnSpc>
                <a:spcPct val="105000"/>
              </a:lnSpc>
              <a:buNone/>
            </a:pPr>
            <a:r>
              <a:rPr lang="zh-CN" altLang="en-US" sz="3200" b="1" dirty="0">
                <a:latin typeface="Batang" panose="02030600000101010101" pitchFamily="18" charset="-127"/>
                <a:ea typeface="Batang" panose="02030600000101010101" pitchFamily="18" charset="-127"/>
              </a:rPr>
              <a:t>       </a:t>
            </a:r>
            <a:r>
              <a:rPr lang="zh-CN" altLang="en-US" sz="3200" b="1" dirty="0">
                <a:latin typeface="+mj-lt"/>
                <a:ea typeface="Batang" panose="02030600000101010101" pitchFamily="18" charset="-127"/>
              </a:rPr>
              <a:t>⇒</a:t>
            </a:r>
            <a:r>
              <a:rPr lang="zh-CN" altLang="en-US" sz="3200" b="1" dirty="0">
                <a:latin typeface="Batang" panose="02030600000101010101" pitchFamily="18" charset="-127"/>
                <a:ea typeface="Batang" panose="02030600000101010101" pitchFamily="18" charset="-127"/>
              </a:rPr>
              <a:t> </a:t>
            </a:r>
            <a:r>
              <a:rPr lang="en-US" altLang="zh-CN" sz="3200" b="1" i="1" dirty="0">
                <a:latin typeface="Batang" panose="02030600000101010101" pitchFamily="18" charset="-127"/>
                <a:ea typeface="Batang" panose="02030600000101010101" pitchFamily="18" charset="-127"/>
              </a:rPr>
              <a:t>I </a:t>
            </a:r>
            <a:r>
              <a:rPr lang="en-US" altLang="zh-CN" sz="3200" b="1" dirty="0">
                <a:latin typeface="Batang" panose="02030600000101010101" pitchFamily="18" charset="-127"/>
                <a:ea typeface="Batang" panose="02030600000101010101" pitchFamily="18" charset="-127"/>
              </a:rPr>
              <a:t>⊆</a:t>
            </a:r>
            <a:r>
              <a:rPr lang="en-US" altLang="zh-CN" sz="3200" b="1" dirty="0"/>
              <a:t> </a:t>
            </a:r>
            <a:r>
              <a:rPr lang="en-US" altLang="zh-CN" sz="3200" b="1" i="1" dirty="0"/>
              <a:t>R</a:t>
            </a:r>
            <a:r>
              <a:rPr lang="en-US" altLang="zh-CN" sz="3200" b="1" dirty="0">
                <a:latin typeface="Batang" panose="02030600000101010101" pitchFamily="18" charset="-127"/>
                <a:ea typeface="Batang" panose="02030600000101010101" pitchFamily="18" charset="-127"/>
              </a:rPr>
              <a:t>⊆</a:t>
            </a:r>
            <a:r>
              <a:rPr lang="en-US" altLang="zh-CN" sz="3200" b="1" i="1" dirty="0"/>
              <a:t>R</a:t>
            </a:r>
            <a:r>
              <a:rPr lang="en-US" altLang="zh-CN" sz="3200" b="1" baseline="30000" dirty="0"/>
              <a:t>2 </a:t>
            </a:r>
            <a:r>
              <a:rPr lang="en-US" altLang="zh-CN" sz="3200" b="1" dirty="0">
                <a:latin typeface="Batang" panose="02030600000101010101" pitchFamily="18" charset="-127"/>
                <a:ea typeface="Batang" panose="02030600000101010101" pitchFamily="18" charset="-127"/>
              </a:rPr>
              <a:t>⊆</a:t>
            </a:r>
            <a:r>
              <a:rPr lang="en-US" altLang="zh-CN" sz="3200" b="1" dirty="0"/>
              <a:t> … </a:t>
            </a:r>
            <a:r>
              <a:rPr lang="en-US" altLang="zh-CN" sz="3200" b="1" dirty="0">
                <a:latin typeface="Batang" panose="02030600000101010101" pitchFamily="18" charset="-127"/>
                <a:ea typeface="Batang" panose="02030600000101010101" pitchFamily="18" charset="-127"/>
              </a:rPr>
              <a:t>⊆</a:t>
            </a:r>
            <a:r>
              <a:rPr lang="en-US" altLang="zh-CN" sz="3200" b="1" i="1" dirty="0"/>
              <a:t>R</a:t>
            </a:r>
            <a:r>
              <a:rPr lang="en-US" altLang="zh-CN" sz="3200" b="1" i="1" baseline="30000" dirty="0"/>
              <a:t>n</a:t>
            </a:r>
            <a:endParaRPr lang="en-US" altLang="zh-CN" sz="3200" b="1" i="1" dirty="0"/>
          </a:p>
          <a:p>
            <a:pPr marL="400050" lvl="1" indent="0">
              <a:lnSpc>
                <a:spcPct val="105000"/>
              </a:lnSpc>
              <a:buNone/>
            </a:pPr>
            <a:r>
              <a:rPr lang="zh-CN" altLang="en-US" sz="3200" b="1" dirty="0"/>
              <a:t>                                      是自反的。</a:t>
            </a:r>
          </a:p>
          <a:p>
            <a:pPr marL="400050" lvl="1" indent="0">
              <a:lnSpc>
                <a:spcPct val="105000"/>
              </a:lnSpc>
              <a:buNone/>
            </a:pPr>
            <a:r>
              <a:rPr lang="en-US" altLang="zh-CN" sz="3200" b="1" dirty="0"/>
              <a:t>(2)</a:t>
            </a:r>
            <a:r>
              <a:rPr lang="zh-CN" altLang="en-US" sz="3200" b="1" dirty="0"/>
              <a:t>对称性</a:t>
            </a:r>
            <a:endParaRPr lang="en-US" altLang="zh-CN" sz="3200" b="1" dirty="0"/>
          </a:p>
          <a:p>
            <a:pPr marL="400050" lvl="1" indent="0">
              <a:lnSpc>
                <a:spcPct val="105000"/>
              </a:lnSpc>
              <a:buNone/>
            </a:pPr>
            <a:r>
              <a:rPr lang="en-US" altLang="zh-CN" sz="3200" b="1" dirty="0"/>
              <a:t>        </a:t>
            </a:r>
            <a:r>
              <a:rPr lang="en-US" altLang="zh-CN" sz="3200" b="1" i="1" dirty="0"/>
              <a:t>R </a:t>
            </a:r>
            <a:r>
              <a:rPr lang="en-US" altLang="zh-CN" sz="3200" b="1" dirty="0"/>
              <a:t>= </a:t>
            </a:r>
            <a:r>
              <a:rPr lang="en-US" altLang="zh-CN" sz="3200" b="1" i="1" dirty="0"/>
              <a:t>R</a:t>
            </a:r>
            <a:r>
              <a:rPr lang="en-US" altLang="zh-CN" sz="3200" b="1" baseline="30000" dirty="0"/>
              <a:t>T</a:t>
            </a:r>
          </a:p>
          <a:p>
            <a:pPr marL="400050" lvl="1" indent="0">
              <a:lnSpc>
                <a:spcPct val="105000"/>
              </a:lnSpc>
              <a:buNone/>
            </a:pPr>
            <a:r>
              <a:rPr lang="en-US" altLang="zh-CN" sz="3200" b="1" dirty="0">
                <a:latin typeface="Batang" panose="02030600000101010101" pitchFamily="18" charset="-127"/>
                <a:ea typeface="Batang" panose="02030600000101010101" pitchFamily="18" charset="-127"/>
              </a:rPr>
              <a:t>   ⇒</a:t>
            </a:r>
            <a:r>
              <a:rPr lang="en-US" altLang="zh-CN" sz="3200" b="1" dirty="0">
                <a:latin typeface="+mj-lt"/>
                <a:ea typeface="Batang" panose="02030600000101010101" pitchFamily="18" charset="-127"/>
              </a:rPr>
              <a:t>(</a:t>
            </a:r>
            <a:r>
              <a:rPr lang="en-US" altLang="zh-CN" sz="3200" b="1" i="1" dirty="0">
                <a:latin typeface="+mj-lt"/>
              </a:rPr>
              <a:t>R</a:t>
            </a:r>
            <a:r>
              <a:rPr lang="en-US" altLang="zh-CN" sz="3200" b="1" i="1" baseline="30000" dirty="0">
                <a:latin typeface="+mj-lt"/>
              </a:rPr>
              <a:t>n</a:t>
            </a:r>
            <a:r>
              <a:rPr lang="en-US" altLang="zh-CN" sz="3200" b="1" dirty="0">
                <a:latin typeface="+mj-lt"/>
                <a:ea typeface="Batang" panose="02030600000101010101" pitchFamily="18" charset="-127"/>
              </a:rPr>
              <a:t>)</a:t>
            </a:r>
            <a:r>
              <a:rPr lang="en-US" altLang="zh-CN" sz="3200" b="1" baseline="30000" dirty="0">
                <a:latin typeface="+mj-lt"/>
                <a:ea typeface="Batang" panose="02030600000101010101" pitchFamily="18" charset="-127"/>
              </a:rPr>
              <a:t>T </a:t>
            </a:r>
            <a:r>
              <a:rPr lang="en-US" altLang="zh-CN" sz="3200" b="1" dirty="0">
                <a:latin typeface="+mj-lt"/>
                <a:ea typeface="Batang" panose="02030600000101010101" pitchFamily="18" charset="-127"/>
              </a:rPr>
              <a:t>= (</a:t>
            </a:r>
            <a:r>
              <a:rPr lang="en-US" altLang="zh-CN" sz="3200" b="1" i="1" dirty="0">
                <a:latin typeface="+mj-lt"/>
              </a:rPr>
              <a:t>R</a:t>
            </a:r>
            <a:r>
              <a:rPr lang="en-US" altLang="zh-CN" sz="3200" b="1" baseline="30000" dirty="0">
                <a:latin typeface="+mj-lt"/>
              </a:rPr>
              <a:t>T</a:t>
            </a:r>
            <a:r>
              <a:rPr lang="en-US" altLang="zh-CN" sz="3200" b="1" dirty="0">
                <a:latin typeface="+mj-lt"/>
                <a:ea typeface="Batang" panose="02030600000101010101" pitchFamily="18" charset="-127"/>
              </a:rPr>
              <a:t>)</a:t>
            </a:r>
            <a:r>
              <a:rPr lang="en-US" altLang="zh-CN" sz="3200" b="1" i="1" baseline="30000" dirty="0">
                <a:latin typeface="+mj-lt"/>
                <a:ea typeface="Batang" panose="02030600000101010101" pitchFamily="18" charset="-127"/>
              </a:rPr>
              <a:t>n</a:t>
            </a:r>
            <a:r>
              <a:rPr lang="en-US" altLang="zh-CN" sz="3200" b="1" dirty="0">
                <a:latin typeface="+mj-lt"/>
                <a:ea typeface="Batang" panose="02030600000101010101" pitchFamily="18" charset="-127"/>
              </a:rPr>
              <a:t> = </a:t>
            </a:r>
            <a:r>
              <a:rPr lang="en-US" altLang="zh-CN" sz="3200" b="1" i="1" dirty="0">
                <a:latin typeface="+mj-lt"/>
              </a:rPr>
              <a:t>R</a:t>
            </a:r>
            <a:r>
              <a:rPr lang="en-US" altLang="zh-CN" sz="3200" b="1" i="1" baseline="30000" dirty="0">
                <a:latin typeface="+mj-lt"/>
              </a:rPr>
              <a:t>n</a:t>
            </a:r>
            <a:endParaRPr lang="en-US" altLang="zh-CN" sz="3200" b="1" i="1" baseline="30000" dirty="0">
              <a:latin typeface="+mj-lt"/>
              <a:ea typeface="Batang" panose="02030600000101010101" pitchFamily="18" charset="-127"/>
            </a:endParaRPr>
          </a:p>
        </p:txBody>
      </p:sp>
      <p:graphicFrame>
        <p:nvGraphicFramePr>
          <p:cNvPr id="6" name="Object 7"/>
          <p:cNvGraphicFramePr>
            <a:graphicFrameLocks noChangeAspect="1"/>
          </p:cNvGraphicFramePr>
          <p:nvPr>
            <p:extLst>
              <p:ext uri="{D42A27DB-BD31-4B8C-83A1-F6EECF244321}">
                <p14:modId xmlns:p14="http://schemas.microsoft.com/office/powerpoint/2010/main" val="3041954185"/>
              </p:ext>
            </p:extLst>
          </p:nvPr>
        </p:nvGraphicFramePr>
        <p:xfrm>
          <a:off x="2711625" y="4077073"/>
          <a:ext cx="3101975" cy="1046163"/>
        </p:xfrm>
        <a:graphic>
          <a:graphicData uri="http://schemas.openxmlformats.org/presentationml/2006/ole">
            <mc:AlternateContent xmlns:mc="http://schemas.openxmlformats.org/markup-compatibility/2006">
              <mc:Choice xmlns:v="urn:schemas-microsoft-com:vml" Requires="v">
                <p:oleObj name="Equation" r:id="rId2" imgW="1282680" imgH="431640" progId="Equation.DSMT4">
                  <p:embed/>
                </p:oleObj>
              </mc:Choice>
              <mc:Fallback>
                <p:oleObj name="Equation" r:id="rId2" imgW="1282680" imgH="431640" progId="Equation.DSMT4">
                  <p:embed/>
                  <p:pic>
                    <p:nvPicPr>
                      <p:cNvPr id="0" name=""/>
                      <p:cNvPicPr>
                        <a:picLocks noChangeAspect="1" noChangeArrowheads="1"/>
                      </p:cNvPicPr>
                      <p:nvPr/>
                    </p:nvPicPr>
                    <p:blipFill>
                      <a:blip r:embed="rId3"/>
                      <a:srcRect/>
                      <a:stretch>
                        <a:fillRect/>
                      </a:stretch>
                    </p:blipFill>
                    <p:spPr bwMode="auto">
                      <a:xfrm>
                        <a:off x="2711625" y="4077073"/>
                        <a:ext cx="3101975"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标注 2"/>
          <p:cNvSpPr/>
          <p:nvPr/>
        </p:nvSpPr>
        <p:spPr>
          <a:xfrm>
            <a:off x="7680176" y="4725144"/>
            <a:ext cx="4510305" cy="2100808"/>
          </a:xfrm>
          <a:prstGeom prst="wedgeRectCallout">
            <a:avLst>
              <a:gd name="adj1" fmla="val -14891"/>
              <a:gd name="adj2" fmla="val -51404"/>
            </a:avLst>
          </a:prstGeom>
          <a:solidFill>
            <a:srgbClr val="FFFF99"/>
          </a:solidFill>
          <a:ln>
            <a:solidFill>
              <a:srgbClr val="FFFF00"/>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spcBef>
                <a:spcPct val="20000"/>
              </a:spcBef>
              <a:buClr>
                <a:schemeClr val="accent2"/>
              </a:buClr>
              <a:buSzPct val="80000"/>
              <a:buFont typeface="Wingdings" pitchFamily="2" charset="2"/>
              <a:buNone/>
              <a:defRPr/>
            </a:pPr>
            <a:r>
              <a:rPr kumimoji="1" lang="en-US" altLang="zh-CN" sz="3200" b="1" dirty="0">
                <a:solidFill>
                  <a:srgbClr val="FF00FF"/>
                </a:solidFill>
                <a:ea typeface="楷体_GB2312" pitchFamily="49" charset="-122"/>
              </a:rPr>
              <a:t>[</a:t>
            </a:r>
            <a:r>
              <a:rPr kumimoji="1" lang="zh-CN" altLang="en-US" sz="3200" b="1" dirty="0">
                <a:solidFill>
                  <a:srgbClr val="FF00FF"/>
                </a:solidFill>
                <a:ea typeface="黑体" pitchFamily="2" charset="-122"/>
              </a:rPr>
              <a:t>说明</a:t>
            </a:r>
            <a:r>
              <a:rPr kumimoji="1" lang="en-US" altLang="zh-CN" sz="3200" b="1" dirty="0">
                <a:solidFill>
                  <a:srgbClr val="FF00FF"/>
                </a:solidFill>
                <a:ea typeface="楷体_GB2312" pitchFamily="49" charset="-122"/>
              </a:rPr>
              <a:t>]</a:t>
            </a:r>
            <a:r>
              <a:rPr kumimoji="1" lang="zh-CN" altLang="en-US" sz="3200" b="1" dirty="0">
                <a:solidFill>
                  <a:srgbClr val="FF00FF"/>
                </a:solidFill>
                <a:ea typeface="楷体_GB2312" pitchFamily="49" charset="-122"/>
              </a:rPr>
              <a:t>：</a:t>
            </a:r>
            <a:endParaRPr kumimoji="1" lang="en-US" altLang="zh-CN" sz="3200" b="1" dirty="0">
              <a:solidFill>
                <a:srgbClr val="FF00FF"/>
              </a:solidFill>
              <a:ea typeface="楷体_GB2312" pitchFamily="49" charset="-122"/>
            </a:endParaRPr>
          </a:p>
          <a:p>
            <a:pPr>
              <a:spcBef>
                <a:spcPct val="20000"/>
              </a:spcBef>
              <a:buClr>
                <a:schemeClr val="accent2"/>
              </a:buClr>
              <a:buSzPct val="80000"/>
              <a:buFont typeface="Wingdings" pitchFamily="2" charset="2"/>
              <a:buNone/>
              <a:defRPr/>
            </a:pPr>
            <a:r>
              <a:rPr kumimoji="1" lang="zh-CN" altLang="en-US" sz="3200" b="1" dirty="0">
                <a:solidFill>
                  <a:srgbClr val="FF00FF"/>
                </a:solidFill>
                <a:latin typeface="华文楷体" pitchFamily="2" charset="-122"/>
                <a:ea typeface="华文楷体" pitchFamily="2" charset="-122"/>
              </a:rPr>
              <a:t>要想将相似矩阵改造为等价矩阵，只需求相似矩阵的传递闭包</a:t>
            </a:r>
            <a:r>
              <a:rPr kumimoji="1" lang="zh-CN" altLang="en-US" sz="2800" b="1" dirty="0">
                <a:solidFill>
                  <a:srgbClr val="FF00FF"/>
                </a:solidFill>
                <a:latin typeface="华文楷体" pitchFamily="2" charset="-122"/>
                <a:ea typeface="华文楷体" pitchFamily="2" charset="-122"/>
              </a:rPr>
              <a:t>。</a:t>
            </a:r>
          </a:p>
        </p:txBody>
      </p:sp>
      <p:sp>
        <p:nvSpPr>
          <p:cNvPr id="4" name="灯片编号占位符 3">
            <a:extLst>
              <a:ext uri="{FF2B5EF4-FFF2-40B4-BE49-F238E27FC236}">
                <a16:creationId xmlns:a16="http://schemas.microsoft.com/office/drawing/2014/main" id="{FBE8841C-3379-60E5-CE12-3273A6CBCB88}"/>
              </a:ext>
            </a:extLst>
          </p:cNvPr>
          <p:cNvSpPr>
            <a:spLocks noGrp="1"/>
          </p:cNvSpPr>
          <p:nvPr>
            <p:ph type="sldNum" sz="quarter" idx="11"/>
          </p:nvPr>
        </p:nvSpPr>
        <p:spPr>
          <a:xfrm>
            <a:off x="13937" y="6368752"/>
            <a:ext cx="661864" cy="457200"/>
          </a:xfrm>
        </p:spPr>
        <p:txBody>
          <a:bodyPr/>
          <a:lstStyle/>
          <a:p>
            <a:pPr>
              <a:defRPr/>
            </a:pPr>
            <a:fld id="{F13753BC-CAEF-4333-AC48-2805658F6E3F}" type="slidenum">
              <a:rPr lang="en-US" altLang="zh-CN" smtClean="0"/>
              <a:pPr>
                <a:defRPr/>
              </a:pPr>
              <a:t>31</a:t>
            </a:fld>
            <a:endParaRPr lang="en-US" altLang="zh-CN"/>
          </a:p>
        </p:txBody>
      </p:sp>
    </p:spTree>
    <p:extLst>
      <p:ext uri="{BB962C8B-B14F-4D97-AF65-F5344CB8AC3E}">
        <p14:creationId xmlns:p14="http://schemas.microsoft.com/office/powerpoint/2010/main" val="117266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left)">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wipe(left)">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wipe(left)">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wipe(left)">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 calcmode="lin" valueType="num">
                                      <p:cBhvr additive="base">
                                        <p:cTn id="52" dur="500" fill="hold"/>
                                        <p:tgtEl>
                                          <p:spTgt spid="3"/>
                                        </p:tgtEl>
                                        <p:attrNameLst>
                                          <p:attrName>ppt_x</p:attrName>
                                        </p:attrNameLst>
                                      </p:cBhvr>
                                      <p:tavLst>
                                        <p:tav tm="0">
                                          <p:val>
                                            <p:strVal val="#ppt_x"/>
                                          </p:val>
                                        </p:tav>
                                        <p:tav tm="100000">
                                          <p:val>
                                            <p:strVal val="#ppt_x"/>
                                          </p:val>
                                        </p:tav>
                                      </p:tavLst>
                                    </p:anim>
                                    <p:anim calcmode="lin" valueType="num">
                                      <p:cBhvr additive="base">
                                        <p:cTn id="5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116632"/>
            <a:ext cx="8229600" cy="1371600"/>
          </a:xfrm>
        </p:spPr>
        <p:txBody>
          <a:bodyPr/>
          <a:lstStyle/>
          <a:p>
            <a:pPr algn="ctr" eaLnBrk="1" hangingPunct="1"/>
            <a:r>
              <a:rPr lang="en-US" altLang="zh-CN" dirty="0">
                <a:solidFill>
                  <a:srgbClr val="057939"/>
                </a:solidFill>
                <a:ea typeface="黑体" pitchFamily="2" charset="-122"/>
              </a:rPr>
              <a:t>F</a:t>
            </a:r>
            <a:r>
              <a:rPr lang="zh-CN" altLang="en-US" dirty="0">
                <a:solidFill>
                  <a:srgbClr val="057939"/>
                </a:solidFill>
                <a:latin typeface="Times New Roman" pitchFamily="18" charset="0"/>
                <a:ea typeface="黑体" pitchFamily="2" charset="-122"/>
              </a:rPr>
              <a:t>相似矩阵的性质</a:t>
            </a:r>
          </a:p>
        </p:txBody>
      </p:sp>
      <p:sp>
        <p:nvSpPr>
          <p:cNvPr id="2" name="内容占位符 1"/>
          <p:cNvSpPr>
            <a:spLocks noGrp="1"/>
          </p:cNvSpPr>
          <p:nvPr>
            <p:ph idx="1"/>
          </p:nvPr>
        </p:nvSpPr>
        <p:spPr>
          <a:xfrm>
            <a:off x="1127448" y="1340768"/>
            <a:ext cx="9937104" cy="5400601"/>
          </a:xfrm>
        </p:spPr>
        <p:txBody>
          <a:bodyPr/>
          <a:lstStyle/>
          <a:p>
            <a:pPr>
              <a:buClr>
                <a:schemeClr val="accent2"/>
              </a:buClr>
              <a:buSzPct val="80000"/>
              <a:buNone/>
              <a:defRPr/>
            </a:pPr>
            <a:r>
              <a:rPr kumimoji="1" lang="en-US" altLang="zh-CN" b="1" dirty="0">
                <a:solidFill>
                  <a:srgbClr val="EE0006"/>
                </a:solidFill>
              </a:rPr>
              <a:t>[</a:t>
            </a:r>
            <a:r>
              <a:rPr kumimoji="1" lang="zh-CN" altLang="en-US" b="1" dirty="0">
                <a:solidFill>
                  <a:srgbClr val="EE0006"/>
                </a:solidFill>
              </a:rPr>
              <a:t>定理</a:t>
            </a:r>
            <a:r>
              <a:rPr kumimoji="1" lang="en-US" altLang="zh-CN" b="1" dirty="0">
                <a:solidFill>
                  <a:srgbClr val="EE0006"/>
                </a:solidFill>
              </a:rPr>
              <a:t>2] </a:t>
            </a:r>
            <a:r>
              <a:rPr kumimoji="1" lang="zh-CN" altLang="en-US" b="1" dirty="0"/>
              <a:t>设</a:t>
            </a:r>
            <a:r>
              <a:rPr kumimoji="1" lang="zh-CN" altLang="en-US" sz="4400" b="1" i="1" dirty="0"/>
              <a:t> </a:t>
            </a:r>
            <a:r>
              <a:rPr kumimoji="1" lang="en-US" altLang="zh-CN" b="1" i="1" dirty="0"/>
              <a:t>R</a:t>
            </a:r>
            <a:r>
              <a:rPr kumimoji="1" lang="en-US" altLang="zh-CN" b="1" dirty="0">
                <a:ea typeface="黑体" pitchFamily="2" charset="-122"/>
                <a:sym typeface="Symbol"/>
              </a:rPr>
              <a:t></a:t>
            </a:r>
            <a:r>
              <a:rPr kumimoji="1" lang="el-GR" altLang="en-US" dirty="0"/>
              <a:t>μ</a:t>
            </a:r>
            <a:r>
              <a:rPr kumimoji="1" lang="en-US" altLang="zh-CN" baseline="-25000" dirty="0"/>
              <a:t>(</a:t>
            </a:r>
            <a:r>
              <a:rPr kumimoji="1" lang="en-US" altLang="zh-CN" baseline="-25000" dirty="0" err="1"/>
              <a:t>n</a:t>
            </a:r>
            <a:r>
              <a:rPr kumimoji="1" lang="en-US" altLang="en-US" baseline="-25000" dirty="0" err="1"/>
              <a:t>×</a:t>
            </a:r>
            <a:r>
              <a:rPr kumimoji="1" lang="en-US" altLang="zh-CN" baseline="-25000" dirty="0" err="1"/>
              <a:t>n</a:t>
            </a:r>
            <a:r>
              <a:rPr kumimoji="1" lang="en-US" altLang="zh-CN" baseline="-25000" dirty="0"/>
              <a:t>)</a:t>
            </a:r>
            <a:r>
              <a:rPr kumimoji="1" lang="en-US" altLang="zh-CN" b="1" i="1" dirty="0"/>
              <a:t> </a:t>
            </a:r>
            <a:r>
              <a:rPr kumimoji="1" lang="zh-CN" altLang="en-US" b="1" dirty="0"/>
              <a:t>是自反矩阵，则对任意的自然数</a:t>
            </a:r>
            <a:r>
              <a:rPr kumimoji="1" lang="en-US" altLang="zh-CN" b="1" i="1" dirty="0"/>
              <a:t>m</a:t>
            </a:r>
            <a:r>
              <a:rPr kumimoji="1" lang="en-US" altLang="zh-CN" b="1" dirty="0"/>
              <a:t>&gt;</a:t>
            </a:r>
            <a:r>
              <a:rPr kumimoji="1" lang="en-US" altLang="zh-CN" b="1" i="1" dirty="0"/>
              <a:t>n</a:t>
            </a:r>
            <a:r>
              <a:rPr kumimoji="1" lang="zh-CN" altLang="en-US" b="1" dirty="0"/>
              <a:t>，都有</a:t>
            </a:r>
            <a:r>
              <a:rPr kumimoji="1" lang="en-US" altLang="zh-CN" b="1" i="1" dirty="0">
                <a:solidFill>
                  <a:srgbClr val="EE0006"/>
                </a:solidFill>
              </a:rPr>
              <a:t>t</a:t>
            </a:r>
            <a:r>
              <a:rPr kumimoji="1" lang="en-US" altLang="zh-CN" b="1" dirty="0">
                <a:solidFill>
                  <a:srgbClr val="EE0006"/>
                </a:solidFill>
              </a:rPr>
              <a:t>(</a:t>
            </a:r>
            <a:r>
              <a:rPr kumimoji="1" lang="en-US" altLang="zh-CN" b="1" i="1" dirty="0">
                <a:solidFill>
                  <a:srgbClr val="EE0006"/>
                </a:solidFill>
              </a:rPr>
              <a:t>R</a:t>
            </a:r>
            <a:r>
              <a:rPr kumimoji="1" lang="en-US" altLang="zh-CN" b="1" dirty="0">
                <a:solidFill>
                  <a:srgbClr val="EE0006"/>
                </a:solidFill>
              </a:rPr>
              <a:t>)=</a:t>
            </a:r>
            <a:r>
              <a:rPr kumimoji="1" lang="en-US" altLang="zh-CN" b="1" i="1" dirty="0">
                <a:solidFill>
                  <a:srgbClr val="EE0006"/>
                </a:solidFill>
                <a:ea typeface="黑体" pitchFamily="2" charset="-122"/>
              </a:rPr>
              <a:t>R</a:t>
            </a:r>
            <a:r>
              <a:rPr kumimoji="1" lang="en-US" altLang="zh-CN" b="1" i="1" baseline="30000" dirty="0">
                <a:solidFill>
                  <a:srgbClr val="EE0006"/>
                </a:solidFill>
                <a:ea typeface="黑体" pitchFamily="2" charset="-122"/>
              </a:rPr>
              <a:t>m</a:t>
            </a:r>
            <a:r>
              <a:rPr kumimoji="1" lang="en-US" altLang="zh-CN" b="1" i="1" baseline="30000" dirty="0">
                <a:ea typeface="黑体" pitchFamily="2" charset="-122"/>
              </a:rPr>
              <a:t> </a:t>
            </a:r>
          </a:p>
          <a:p>
            <a:pPr>
              <a:buNone/>
            </a:pPr>
            <a:r>
              <a:rPr lang="zh-CN" altLang="en-US" dirty="0">
                <a:solidFill>
                  <a:srgbClr val="3333FF"/>
                </a:solidFill>
                <a:latin typeface="黑体" panose="02010609060101010101" pitchFamily="49" charset="-122"/>
                <a:ea typeface="黑体" panose="02010609060101010101" pitchFamily="49" charset="-122"/>
              </a:rPr>
              <a:t>证明：</a:t>
            </a:r>
            <a:r>
              <a:rPr lang="en-US" altLang="zh-CN" b="1" dirty="0"/>
              <a:t>R</a:t>
            </a:r>
            <a:r>
              <a:rPr lang="zh-CN" altLang="en-US" b="1" dirty="0"/>
              <a:t>自反</a:t>
            </a:r>
            <a:endParaRPr lang="en-US" altLang="zh-CN" b="1" dirty="0"/>
          </a:p>
          <a:p>
            <a:pPr>
              <a:buNone/>
            </a:pPr>
            <a:r>
              <a:rPr lang="zh-CN" altLang="en-US" b="1" dirty="0">
                <a:latin typeface="Batang" panose="02030600000101010101" pitchFamily="18" charset="-127"/>
                <a:ea typeface="Batang" panose="02030600000101010101" pitchFamily="18" charset="-127"/>
              </a:rPr>
              <a:t>         </a:t>
            </a:r>
            <a:r>
              <a:rPr lang="zh-CN" altLang="en-US" b="1" dirty="0">
                <a:ea typeface="Batang" panose="02030600000101010101" pitchFamily="18" charset="-127"/>
              </a:rPr>
              <a:t>⇒</a:t>
            </a:r>
            <a:r>
              <a:rPr lang="zh-CN" altLang="en-US" b="1" dirty="0">
                <a:latin typeface="Batang" panose="02030600000101010101" pitchFamily="18" charset="-127"/>
                <a:ea typeface="Batang" panose="02030600000101010101" pitchFamily="18" charset="-127"/>
              </a:rPr>
              <a:t> </a:t>
            </a:r>
            <a:r>
              <a:rPr lang="en-US" altLang="zh-CN" b="1" i="1" dirty="0">
                <a:latin typeface="Batang" panose="02030600000101010101" pitchFamily="18" charset="-127"/>
                <a:ea typeface="Batang" panose="02030600000101010101" pitchFamily="18" charset="-127"/>
              </a:rPr>
              <a:t>I </a:t>
            </a:r>
            <a:r>
              <a:rPr lang="en-US" altLang="zh-CN" b="1" dirty="0">
                <a:latin typeface="Batang" panose="02030600000101010101" pitchFamily="18" charset="-127"/>
                <a:ea typeface="Batang" panose="02030600000101010101" pitchFamily="18" charset="-127"/>
              </a:rPr>
              <a:t>⊆</a:t>
            </a:r>
            <a:r>
              <a:rPr lang="en-US" altLang="zh-CN" b="1" dirty="0"/>
              <a:t> </a:t>
            </a:r>
            <a:r>
              <a:rPr lang="en-US" altLang="zh-CN" b="1" i="1" dirty="0"/>
              <a:t>R</a:t>
            </a:r>
            <a:r>
              <a:rPr lang="en-US" altLang="zh-CN" b="1" dirty="0">
                <a:latin typeface="Batang" panose="02030600000101010101" pitchFamily="18" charset="-127"/>
                <a:ea typeface="Batang" panose="02030600000101010101" pitchFamily="18" charset="-127"/>
              </a:rPr>
              <a:t>⊆</a:t>
            </a:r>
            <a:r>
              <a:rPr lang="en-US" altLang="zh-CN" b="1" i="1" dirty="0"/>
              <a:t>R</a:t>
            </a:r>
            <a:r>
              <a:rPr lang="en-US" altLang="zh-CN" b="1" baseline="30000" dirty="0"/>
              <a:t>2 </a:t>
            </a:r>
            <a:r>
              <a:rPr lang="en-US" altLang="zh-CN" b="1" dirty="0">
                <a:latin typeface="Batang" panose="02030600000101010101" pitchFamily="18" charset="-127"/>
                <a:ea typeface="Batang" panose="02030600000101010101" pitchFamily="18" charset="-127"/>
              </a:rPr>
              <a:t>⊆</a:t>
            </a:r>
            <a:r>
              <a:rPr lang="en-US" altLang="zh-CN" b="1" dirty="0"/>
              <a:t> … </a:t>
            </a:r>
            <a:r>
              <a:rPr lang="en-US" altLang="zh-CN" b="1" dirty="0">
                <a:latin typeface="Batang" panose="02030600000101010101" pitchFamily="18" charset="-127"/>
                <a:ea typeface="Batang" panose="02030600000101010101" pitchFamily="18" charset="-127"/>
              </a:rPr>
              <a:t>⊆</a:t>
            </a:r>
            <a:r>
              <a:rPr lang="en-US" altLang="zh-CN" b="1" i="1" dirty="0"/>
              <a:t>R</a:t>
            </a:r>
            <a:r>
              <a:rPr lang="en-US" altLang="zh-CN" b="1" i="1" baseline="30000" dirty="0"/>
              <a:t>n</a:t>
            </a:r>
          </a:p>
          <a:p>
            <a:pPr>
              <a:buClr>
                <a:schemeClr val="accent2"/>
              </a:buClr>
              <a:buSzPct val="80000"/>
              <a:buNone/>
              <a:defRPr/>
            </a:pPr>
            <a:endParaRPr kumimoji="1" lang="en-US" altLang="zh-CN" sz="4000" b="1" dirty="0">
              <a:solidFill>
                <a:srgbClr val="3333FF"/>
              </a:solidFill>
            </a:endParaRPr>
          </a:p>
          <a:p>
            <a:pPr>
              <a:lnSpc>
                <a:spcPct val="110000"/>
              </a:lnSpc>
              <a:buClr>
                <a:schemeClr val="accent2"/>
              </a:buClr>
              <a:buSzPct val="80000"/>
              <a:buFont typeface="Wingdings" panose="05000000000000000000" pitchFamily="2" charset="2"/>
              <a:buChar char="Ø"/>
              <a:defRPr/>
            </a:pPr>
            <a:r>
              <a:rPr kumimoji="1" lang="zh-CN" altLang="en-US" b="1" dirty="0">
                <a:solidFill>
                  <a:srgbClr val="FF00FF"/>
                </a:solidFill>
              </a:rPr>
              <a:t>可否更简单求</a:t>
            </a:r>
            <a:r>
              <a:rPr kumimoji="1" lang="en-US" altLang="zh-CN" b="1" i="1" dirty="0">
                <a:solidFill>
                  <a:srgbClr val="FF00FF"/>
                </a:solidFill>
              </a:rPr>
              <a:t>t</a:t>
            </a:r>
            <a:r>
              <a:rPr kumimoji="1" lang="en-US" altLang="zh-CN" b="1" dirty="0">
                <a:solidFill>
                  <a:srgbClr val="FF00FF"/>
                </a:solidFill>
              </a:rPr>
              <a:t>(</a:t>
            </a:r>
            <a:r>
              <a:rPr kumimoji="1" lang="en-US" altLang="zh-CN" b="1" i="1" dirty="0">
                <a:solidFill>
                  <a:srgbClr val="FF00FF"/>
                </a:solidFill>
              </a:rPr>
              <a:t>R</a:t>
            </a:r>
            <a:r>
              <a:rPr kumimoji="1" lang="en-US" altLang="zh-CN" b="1" dirty="0">
                <a:solidFill>
                  <a:srgbClr val="FF00FF"/>
                </a:solidFill>
              </a:rPr>
              <a:t>)?</a:t>
            </a:r>
          </a:p>
          <a:p>
            <a:pPr lvl="1">
              <a:lnSpc>
                <a:spcPct val="110000"/>
              </a:lnSpc>
              <a:buFont typeface="Wingdings" panose="05000000000000000000" pitchFamily="2" charset="2"/>
              <a:buChar char="Ø"/>
              <a:defRPr/>
            </a:pPr>
            <a:r>
              <a:rPr lang="zh-CN" altLang="en-US" b="1" dirty="0"/>
              <a:t>对</a:t>
            </a:r>
            <a:r>
              <a:rPr lang="en-US" altLang="zh-CN" b="1" dirty="0"/>
              <a:t>F</a:t>
            </a:r>
            <a:r>
              <a:rPr lang="zh-CN" altLang="en-US" b="1" dirty="0"/>
              <a:t>相似矩阵</a:t>
            </a:r>
            <a:r>
              <a:rPr lang="en-US" altLang="zh-CN" b="1" i="1" dirty="0" err="1"/>
              <a:t>R</a:t>
            </a:r>
            <a:r>
              <a:rPr kumimoji="1" lang="en-US" altLang="zh-CN" b="1" dirty="0" err="1">
                <a:ea typeface="黑体" pitchFamily="2" charset="-122"/>
                <a:sym typeface="Symbol"/>
              </a:rPr>
              <a:t></a:t>
            </a:r>
            <a:r>
              <a:rPr lang="en-US" altLang="zh-CN" b="1" dirty="0" err="1"/>
              <a:t>μ</a:t>
            </a:r>
            <a:r>
              <a:rPr lang="en-US" altLang="zh-CN" b="1" baseline="-25000" dirty="0" err="1"/>
              <a:t>n×n</a:t>
            </a:r>
            <a:r>
              <a:rPr lang="en-US" altLang="zh-CN" b="1" dirty="0"/>
              <a:t> </a:t>
            </a:r>
            <a:r>
              <a:rPr lang="zh-CN" altLang="en-US" b="1" dirty="0"/>
              <a:t>，存在一个最小自然数</a:t>
            </a:r>
            <a:r>
              <a:rPr lang="en-US" altLang="zh-CN" b="1" dirty="0"/>
              <a:t>k (</a:t>
            </a:r>
            <a:r>
              <a:rPr lang="en-US" altLang="zh-CN" b="1" dirty="0" err="1"/>
              <a:t>k≤n</a:t>
            </a:r>
            <a:r>
              <a:rPr lang="en-US" altLang="zh-CN" b="1" dirty="0"/>
              <a:t>)</a:t>
            </a:r>
            <a:r>
              <a:rPr lang="zh-CN" altLang="en-US" b="1" dirty="0"/>
              <a:t>，使得传递闭包</a:t>
            </a:r>
            <a:r>
              <a:rPr lang="en-US" altLang="zh-CN" b="1" dirty="0"/>
              <a:t>t(R)=</a:t>
            </a:r>
            <a:r>
              <a:rPr lang="en-US" altLang="zh-CN" b="1" dirty="0" err="1"/>
              <a:t>R</a:t>
            </a:r>
            <a:r>
              <a:rPr lang="en-US" altLang="zh-CN" b="1" baseline="30000" dirty="0" err="1"/>
              <a:t>k</a:t>
            </a:r>
            <a:r>
              <a:rPr lang="zh-CN" altLang="en-US" b="1" dirty="0"/>
              <a:t>，对于任何自然数</a:t>
            </a:r>
            <a:r>
              <a:rPr lang="en-US" altLang="zh-CN" b="1" dirty="0" err="1"/>
              <a:t>b≥k</a:t>
            </a:r>
            <a:r>
              <a:rPr lang="zh-CN" altLang="en-US" b="1" dirty="0"/>
              <a:t>，都有</a:t>
            </a:r>
            <a:r>
              <a:rPr lang="en-US" altLang="zh-CN" b="1" dirty="0" err="1"/>
              <a:t>R</a:t>
            </a:r>
            <a:r>
              <a:rPr lang="en-US" altLang="zh-CN" b="1" baseline="30000" dirty="0" err="1"/>
              <a:t>b</a:t>
            </a:r>
            <a:r>
              <a:rPr lang="en-US" altLang="zh-CN" b="1" dirty="0"/>
              <a:t>=</a:t>
            </a:r>
            <a:r>
              <a:rPr lang="en-US" altLang="zh-CN" b="1" dirty="0" err="1"/>
              <a:t>R</a:t>
            </a:r>
            <a:r>
              <a:rPr lang="en-US" altLang="zh-CN" b="1" baseline="30000" dirty="0" err="1"/>
              <a:t>k</a:t>
            </a:r>
            <a:r>
              <a:rPr lang="zh-CN" altLang="en-US" b="1" dirty="0"/>
              <a:t>，此时，</a:t>
            </a:r>
            <a:r>
              <a:rPr lang="en-US" altLang="zh-CN" b="1" dirty="0"/>
              <a:t>t(R)</a:t>
            </a:r>
            <a:r>
              <a:rPr lang="zh-CN" altLang="en-US" b="1" dirty="0"/>
              <a:t>是模糊等价矩阵</a:t>
            </a:r>
          </a:p>
          <a:p>
            <a:pPr marL="457200" lvl="1" indent="0">
              <a:lnSpc>
                <a:spcPct val="110000"/>
              </a:lnSpc>
              <a:buNone/>
              <a:defRPr/>
            </a:pPr>
            <a:endParaRPr kumimoji="1" lang="zh-CN" altLang="en-US" b="1" dirty="0">
              <a:solidFill>
                <a:srgbClr val="FF00FF"/>
              </a:solidFill>
              <a:latin typeface="华文楷体" pitchFamily="2" charset="-122"/>
              <a:ea typeface="华文楷体" pitchFamily="2" charset="-122"/>
            </a:endParaRPr>
          </a:p>
          <a:p>
            <a:endParaRPr lang="zh-CN" altLang="en-US" dirty="0"/>
          </a:p>
        </p:txBody>
      </p:sp>
      <p:graphicFrame>
        <p:nvGraphicFramePr>
          <p:cNvPr id="6" name="Object 7"/>
          <p:cNvGraphicFramePr>
            <a:graphicFrameLocks noChangeAspect="1"/>
          </p:cNvGraphicFramePr>
          <p:nvPr>
            <p:extLst>
              <p:ext uri="{D42A27DB-BD31-4B8C-83A1-F6EECF244321}">
                <p14:modId xmlns:p14="http://schemas.microsoft.com/office/powerpoint/2010/main" val="1978403343"/>
              </p:ext>
            </p:extLst>
          </p:nvPr>
        </p:nvGraphicFramePr>
        <p:xfrm>
          <a:off x="2868390" y="3844967"/>
          <a:ext cx="1474788" cy="554038"/>
        </p:xfrm>
        <a:graphic>
          <a:graphicData uri="http://schemas.openxmlformats.org/presentationml/2006/ole">
            <mc:AlternateContent xmlns:mc="http://schemas.openxmlformats.org/markup-compatibility/2006">
              <mc:Choice xmlns:v="urn:schemas-microsoft-com:vml" Requires="v">
                <p:oleObj name="Equation" r:id="rId2" imgW="609480" imgH="228600" progId="Equation.DSMT4">
                  <p:embed/>
                </p:oleObj>
              </mc:Choice>
              <mc:Fallback>
                <p:oleObj name="Equation" r:id="rId2" imgW="609480" imgH="228600" progId="Equation.DSMT4">
                  <p:embed/>
                  <p:pic>
                    <p:nvPicPr>
                      <p:cNvPr id="0" name=""/>
                      <p:cNvPicPr>
                        <a:picLocks noChangeAspect="1" noChangeArrowheads="1"/>
                      </p:cNvPicPr>
                      <p:nvPr/>
                    </p:nvPicPr>
                    <p:blipFill>
                      <a:blip r:embed="rId3"/>
                      <a:srcRect/>
                      <a:stretch>
                        <a:fillRect/>
                      </a:stretch>
                    </p:blipFill>
                    <p:spPr bwMode="auto">
                      <a:xfrm>
                        <a:off x="2868390" y="3844967"/>
                        <a:ext cx="1474788"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7">
            <a:extLst>
              <a:ext uri="{FF2B5EF4-FFF2-40B4-BE49-F238E27FC236}">
                <a16:creationId xmlns:a16="http://schemas.microsoft.com/office/drawing/2014/main" id="{4879899D-2853-4834-9FB9-57B0046BED99}"/>
              </a:ext>
            </a:extLst>
          </p:cNvPr>
          <p:cNvGraphicFramePr>
            <a:graphicFrameLocks noChangeAspect="1"/>
          </p:cNvGraphicFramePr>
          <p:nvPr>
            <p:extLst>
              <p:ext uri="{D42A27DB-BD31-4B8C-83A1-F6EECF244321}">
                <p14:modId xmlns:p14="http://schemas.microsoft.com/office/powerpoint/2010/main" val="2571038504"/>
              </p:ext>
            </p:extLst>
          </p:nvPr>
        </p:nvGraphicFramePr>
        <p:xfrm>
          <a:off x="4378850" y="3844968"/>
          <a:ext cx="890587" cy="523875"/>
        </p:xfrm>
        <a:graphic>
          <a:graphicData uri="http://schemas.openxmlformats.org/presentationml/2006/ole">
            <mc:AlternateContent xmlns:mc="http://schemas.openxmlformats.org/markup-compatibility/2006">
              <mc:Choice xmlns:v="urn:schemas-microsoft-com:vml" Requires="v">
                <p:oleObj name="Equation" r:id="rId4" imgW="368280" imgH="215640" progId="Equation.DSMT4">
                  <p:embed/>
                </p:oleObj>
              </mc:Choice>
              <mc:Fallback>
                <p:oleObj name="Equation" r:id="rId4" imgW="368280" imgH="215640" progId="Equation.DSMT4">
                  <p:embed/>
                  <p:pic>
                    <p:nvPicPr>
                      <p:cNvPr id="6" name="Object 7"/>
                      <p:cNvPicPr>
                        <a:picLocks noChangeAspect="1" noChangeArrowheads="1"/>
                      </p:cNvPicPr>
                      <p:nvPr/>
                    </p:nvPicPr>
                    <p:blipFill>
                      <a:blip r:embed="rId5"/>
                      <a:srcRect/>
                      <a:stretch>
                        <a:fillRect/>
                      </a:stretch>
                    </p:blipFill>
                    <p:spPr bwMode="auto">
                      <a:xfrm>
                        <a:off x="4378850" y="3844968"/>
                        <a:ext cx="89058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7">
            <a:extLst>
              <a:ext uri="{FF2B5EF4-FFF2-40B4-BE49-F238E27FC236}">
                <a16:creationId xmlns:a16="http://schemas.microsoft.com/office/drawing/2014/main" id="{E5DA531B-34D9-4F2B-AD9C-B47CB86C3423}"/>
              </a:ext>
            </a:extLst>
          </p:cNvPr>
          <p:cNvGraphicFramePr>
            <a:graphicFrameLocks noChangeAspect="1"/>
          </p:cNvGraphicFramePr>
          <p:nvPr>
            <p:extLst>
              <p:ext uri="{D42A27DB-BD31-4B8C-83A1-F6EECF244321}">
                <p14:modId xmlns:p14="http://schemas.microsoft.com/office/powerpoint/2010/main" val="2262181903"/>
              </p:ext>
            </p:extLst>
          </p:nvPr>
        </p:nvGraphicFramePr>
        <p:xfrm>
          <a:off x="5305108" y="3598905"/>
          <a:ext cx="1260475" cy="1046163"/>
        </p:xfrm>
        <a:graphic>
          <a:graphicData uri="http://schemas.openxmlformats.org/presentationml/2006/ole">
            <mc:AlternateContent xmlns:mc="http://schemas.openxmlformats.org/markup-compatibility/2006">
              <mc:Choice xmlns:v="urn:schemas-microsoft-com:vml" Requires="v">
                <p:oleObj name="Equation" r:id="rId6" imgW="520560" imgH="431640" progId="Equation.DSMT4">
                  <p:embed/>
                </p:oleObj>
              </mc:Choice>
              <mc:Fallback>
                <p:oleObj name="Equation" r:id="rId6" imgW="520560" imgH="431640" progId="Equation.DSMT4">
                  <p:embed/>
                  <p:pic>
                    <p:nvPicPr>
                      <p:cNvPr id="5" name="Object 7">
                        <a:extLst>
                          <a:ext uri="{FF2B5EF4-FFF2-40B4-BE49-F238E27FC236}">
                            <a16:creationId xmlns:a16="http://schemas.microsoft.com/office/drawing/2014/main" id="{4879899D-2853-4834-9FB9-57B0046BED99}"/>
                          </a:ext>
                        </a:extLst>
                      </p:cNvPr>
                      <p:cNvPicPr>
                        <a:picLocks noChangeAspect="1" noChangeArrowheads="1"/>
                      </p:cNvPicPr>
                      <p:nvPr/>
                    </p:nvPicPr>
                    <p:blipFill>
                      <a:blip r:embed="rId7"/>
                      <a:srcRect/>
                      <a:stretch>
                        <a:fillRect/>
                      </a:stretch>
                    </p:blipFill>
                    <p:spPr bwMode="auto">
                      <a:xfrm>
                        <a:off x="5305108" y="3598905"/>
                        <a:ext cx="1260475"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a:extLst>
              <a:ext uri="{FF2B5EF4-FFF2-40B4-BE49-F238E27FC236}">
                <a16:creationId xmlns:a16="http://schemas.microsoft.com/office/drawing/2014/main" id="{2E682D1D-F3D9-459A-84C5-44F0CB577E1F}"/>
              </a:ext>
            </a:extLst>
          </p:cNvPr>
          <p:cNvGraphicFramePr>
            <a:graphicFrameLocks noChangeAspect="1"/>
          </p:cNvGraphicFramePr>
          <p:nvPr>
            <p:extLst>
              <p:ext uri="{D42A27DB-BD31-4B8C-83A1-F6EECF244321}">
                <p14:modId xmlns:p14="http://schemas.microsoft.com/office/powerpoint/2010/main" val="1879904588"/>
              </p:ext>
            </p:extLst>
          </p:nvPr>
        </p:nvGraphicFramePr>
        <p:xfrm>
          <a:off x="6565583" y="3908268"/>
          <a:ext cx="1012825" cy="492125"/>
        </p:xfrm>
        <a:graphic>
          <a:graphicData uri="http://schemas.openxmlformats.org/presentationml/2006/ole">
            <mc:AlternateContent xmlns:mc="http://schemas.openxmlformats.org/markup-compatibility/2006">
              <mc:Choice xmlns:v="urn:schemas-microsoft-com:vml" Requires="v">
                <p:oleObj name="Equation" r:id="rId8" imgW="419040" imgH="203040" progId="Equation.DSMT4">
                  <p:embed/>
                </p:oleObj>
              </mc:Choice>
              <mc:Fallback>
                <p:oleObj name="Equation" r:id="rId8" imgW="419040" imgH="203040" progId="Equation.DSMT4">
                  <p:embed/>
                  <p:pic>
                    <p:nvPicPr>
                      <p:cNvPr id="7" name="Object 7">
                        <a:extLst>
                          <a:ext uri="{FF2B5EF4-FFF2-40B4-BE49-F238E27FC236}">
                            <a16:creationId xmlns:a16="http://schemas.microsoft.com/office/drawing/2014/main" id="{E5DA531B-34D9-4F2B-AD9C-B47CB86C3423}"/>
                          </a:ext>
                        </a:extLst>
                      </p:cNvPr>
                      <p:cNvPicPr>
                        <a:picLocks noChangeAspect="1" noChangeArrowheads="1"/>
                      </p:cNvPicPr>
                      <p:nvPr/>
                    </p:nvPicPr>
                    <p:blipFill>
                      <a:blip r:embed="rId9"/>
                      <a:srcRect/>
                      <a:stretch>
                        <a:fillRect/>
                      </a:stretch>
                    </p:blipFill>
                    <p:spPr bwMode="auto">
                      <a:xfrm>
                        <a:off x="6565583" y="3908268"/>
                        <a:ext cx="101282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a:extLst>
              <a:ext uri="{FF2B5EF4-FFF2-40B4-BE49-F238E27FC236}">
                <a16:creationId xmlns:a16="http://schemas.microsoft.com/office/drawing/2014/main" id="{75AD8880-60B4-ACDC-98B9-261B46E57091}"/>
              </a:ext>
            </a:extLst>
          </p:cNvPr>
          <p:cNvSpPr>
            <a:spLocks noGrp="1"/>
          </p:cNvSpPr>
          <p:nvPr>
            <p:ph type="sldNum" sz="quarter" idx="11"/>
          </p:nvPr>
        </p:nvSpPr>
        <p:spPr/>
        <p:txBody>
          <a:bodyPr/>
          <a:lstStyle/>
          <a:p>
            <a:pPr>
              <a:defRPr/>
            </a:pPr>
            <a:fld id="{F13753BC-CAEF-4333-AC48-2805658F6E3F}" type="slidenum">
              <a:rPr lang="en-US" altLang="zh-CN" smtClean="0"/>
              <a:pPr>
                <a:defRPr/>
              </a:pPr>
              <a:t>32</a:t>
            </a:fld>
            <a:endParaRPr lang="en-US" altLang="zh-CN"/>
          </a:p>
        </p:txBody>
      </p:sp>
    </p:spTree>
    <p:extLst>
      <p:ext uri="{BB962C8B-B14F-4D97-AF65-F5344CB8AC3E}">
        <p14:creationId xmlns:p14="http://schemas.microsoft.com/office/powerpoint/2010/main" val="227707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wipe(left)">
                                      <p:cBhvr>
                                        <p:cTn id="42" dur="500"/>
                                        <p:tgtEl>
                                          <p:spTgt spid="2">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animEffect transition="in" filter="wipe(left)">
                                      <p:cBhvr>
                                        <p:cTn id="4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4" name="Rectangle 2"/>
          <p:cNvSpPr>
            <a:spLocks noGrp="1" noChangeArrowheads="1"/>
          </p:cNvSpPr>
          <p:nvPr>
            <p:ph type="title"/>
          </p:nvPr>
        </p:nvSpPr>
        <p:spPr>
          <a:xfrm>
            <a:off x="1981200" y="188640"/>
            <a:ext cx="8229600" cy="1371600"/>
          </a:xfrm>
        </p:spPr>
        <p:txBody>
          <a:bodyPr/>
          <a:lstStyle/>
          <a:p>
            <a:pPr algn="ctr"/>
            <a:r>
              <a:rPr lang="zh-CN" altLang="en-US" dirty="0">
                <a:solidFill>
                  <a:srgbClr val="057939"/>
                </a:solidFill>
                <a:latin typeface="黑体" panose="02010609060101010101" pitchFamily="49" charset="-122"/>
                <a:ea typeface="黑体" panose="02010609060101010101" pitchFamily="49" charset="-122"/>
              </a:rPr>
              <a:t>平方法求传递闭包</a:t>
            </a:r>
          </a:p>
        </p:txBody>
      </p:sp>
      <p:sp>
        <p:nvSpPr>
          <p:cNvPr id="1103875" name="Rectangle 3"/>
          <p:cNvSpPr>
            <a:spLocks noGrp="1" noChangeArrowheads="1"/>
          </p:cNvSpPr>
          <p:nvPr>
            <p:ph type="body" sz="half" idx="1"/>
          </p:nvPr>
        </p:nvSpPr>
        <p:spPr>
          <a:xfrm>
            <a:off x="983432" y="1556792"/>
            <a:ext cx="10441160" cy="5200550"/>
          </a:xfrm>
          <a:solidFill>
            <a:srgbClr val="FFFF99"/>
          </a:solidFill>
        </p:spPr>
        <p:txBody>
          <a:bodyPr/>
          <a:lstStyle/>
          <a:p>
            <a:pPr>
              <a:lnSpc>
                <a:spcPct val="120000"/>
              </a:lnSpc>
            </a:pPr>
            <a:r>
              <a:rPr lang="zh-CN" altLang="en-US" b="1" dirty="0"/>
              <a:t>从</a:t>
            </a:r>
            <a:r>
              <a:rPr lang="en-US" altLang="zh-CN" b="1" dirty="0"/>
              <a:t>F</a:t>
            </a:r>
            <a:r>
              <a:rPr lang="zh-CN" altLang="en-US" b="1" dirty="0"/>
              <a:t>相似矩阵</a:t>
            </a:r>
            <a:r>
              <a:rPr lang="en-US" altLang="zh-CN" b="1" dirty="0"/>
              <a:t>R</a:t>
            </a:r>
            <a:r>
              <a:rPr lang="zh-CN" altLang="en-US" b="1" dirty="0"/>
              <a:t>出发，依次求平方：</a:t>
            </a:r>
          </a:p>
          <a:p>
            <a:pPr>
              <a:lnSpc>
                <a:spcPct val="120000"/>
              </a:lnSpc>
              <a:buFont typeface="Wingdings" panose="05000000000000000000" pitchFamily="2" charset="2"/>
              <a:buNone/>
            </a:pPr>
            <a:endParaRPr lang="en-US" altLang="zh-CN" b="1" dirty="0"/>
          </a:p>
          <a:p>
            <a:pPr>
              <a:lnSpc>
                <a:spcPct val="120000"/>
              </a:lnSpc>
              <a:buFont typeface="Wingdings" panose="05000000000000000000" pitchFamily="2" charset="2"/>
              <a:buNone/>
            </a:pPr>
            <a:r>
              <a:rPr lang="zh-CN" altLang="en-US" b="1" dirty="0"/>
              <a:t>   当首次出现 </a:t>
            </a:r>
            <a:r>
              <a:rPr lang="en-US" altLang="zh-CN" b="1" i="1" dirty="0" err="1">
                <a:solidFill>
                  <a:srgbClr val="FF00FF"/>
                </a:solidFill>
              </a:rPr>
              <a:t>R</a:t>
            </a:r>
            <a:r>
              <a:rPr lang="en-US" altLang="zh-CN" b="1" i="1" baseline="30000" dirty="0" err="1">
                <a:solidFill>
                  <a:srgbClr val="FF00FF"/>
                </a:solidFill>
              </a:rPr>
              <a:t>k</a:t>
            </a:r>
            <a:r>
              <a:rPr lang="en-US" altLang="zh-CN" b="1" i="1" baseline="30000" dirty="0">
                <a:solidFill>
                  <a:srgbClr val="FF00FF"/>
                </a:solidFill>
              </a:rPr>
              <a:t> </a:t>
            </a:r>
            <a:r>
              <a:rPr lang="en-US" altLang="zh-CN" b="1" dirty="0">
                <a:solidFill>
                  <a:srgbClr val="FF00FF"/>
                </a:solidFill>
              </a:rPr>
              <a:t>◦</a:t>
            </a:r>
            <a:r>
              <a:rPr lang="en-US" altLang="zh-CN" b="1" i="1" dirty="0" err="1">
                <a:solidFill>
                  <a:srgbClr val="FF00FF"/>
                </a:solidFill>
              </a:rPr>
              <a:t>R</a:t>
            </a:r>
            <a:r>
              <a:rPr lang="en-US" altLang="zh-CN" b="1" i="1" baseline="30000" dirty="0" err="1">
                <a:solidFill>
                  <a:srgbClr val="FF00FF"/>
                </a:solidFill>
              </a:rPr>
              <a:t>k</a:t>
            </a:r>
            <a:r>
              <a:rPr lang="en-US" altLang="zh-CN" b="1" baseline="30000" dirty="0">
                <a:solidFill>
                  <a:srgbClr val="FF00FF"/>
                </a:solidFill>
              </a:rPr>
              <a:t> </a:t>
            </a:r>
            <a:r>
              <a:rPr lang="en-US" altLang="zh-CN" b="1" dirty="0">
                <a:solidFill>
                  <a:srgbClr val="FF00FF"/>
                </a:solidFill>
              </a:rPr>
              <a:t>=</a:t>
            </a:r>
            <a:r>
              <a:rPr lang="en-US" altLang="zh-CN" b="1" i="1" dirty="0" err="1">
                <a:solidFill>
                  <a:srgbClr val="FF00FF"/>
                </a:solidFill>
              </a:rPr>
              <a:t>R</a:t>
            </a:r>
            <a:r>
              <a:rPr lang="en-US" altLang="zh-CN" b="1" i="1" baseline="30000" dirty="0" err="1">
                <a:solidFill>
                  <a:srgbClr val="FF00FF"/>
                </a:solidFill>
              </a:rPr>
              <a:t>k</a:t>
            </a:r>
            <a:r>
              <a:rPr lang="en-US" altLang="zh-CN" b="1" i="1" baseline="30000" dirty="0">
                <a:solidFill>
                  <a:srgbClr val="FF00FF"/>
                </a:solidFill>
              </a:rPr>
              <a:t> </a:t>
            </a:r>
            <a:r>
              <a:rPr lang="zh-CN" altLang="en-US" b="1" dirty="0"/>
              <a:t>时</a:t>
            </a:r>
            <a:r>
              <a:rPr lang="en-US" altLang="zh-CN" b="1" dirty="0"/>
              <a:t>,</a:t>
            </a:r>
            <a:r>
              <a:rPr lang="zh-CN" altLang="en-US" b="1" dirty="0"/>
              <a:t> </a:t>
            </a:r>
            <a:r>
              <a:rPr lang="en-US" altLang="zh-CN" b="1" i="1" dirty="0" err="1">
                <a:solidFill>
                  <a:srgbClr val="CC00FF"/>
                </a:solidFill>
              </a:rPr>
              <a:t>R</a:t>
            </a:r>
            <a:r>
              <a:rPr lang="en-US" altLang="zh-CN" b="1" i="1" baseline="30000" dirty="0" err="1">
                <a:solidFill>
                  <a:srgbClr val="CC00FF"/>
                </a:solidFill>
              </a:rPr>
              <a:t>k</a:t>
            </a:r>
            <a:r>
              <a:rPr lang="en-US" altLang="zh-CN" b="1" i="1" baseline="30000" dirty="0">
                <a:solidFill>
                  <a:srgbClr val="CC00FF"/>
                </a:solidFill>
              </a:rPr>
              <a:t> </a:t>
            </a:r>
            <a:r>
              <a:rPr lang="zh-CN" altLang="en-US" b="1" dirty="0"/>
              <a:t>就是所求的传递闭包</a:t>
            </a:r>
            <a:r>
              <a:rPr lang="en-US" altLang="zh-CN" b="1" i="1" dirty="0"/>
              <a:t>t</a:t>
            </a:r>
            <a:r>
              <a:rPr lang="en-US" altLang="zh-CN" b="1" dirty="0"/>
              <a:t>(</a:t>
            </a:r>
            <a:r>
              <a:rPr lang="en-US" altLang="zh-CN" b="1" i="1" dirty="0"/>
              <a:t>R</a:t>
            </a:r>
            <a:r>
              <a:rPr lang="en-US" altLang="zh-CN" b="1" dirty="0"/>
              <a:t>)</a:t>
            </a:r>
          </a:p>
          <a:p>
            <a:pPr>
              <a:lnSpc>
                <a:spcPct val="120000"/>
              </a:lnSpc>
            </a:pPr>
            <a:r>
              <a:rPr lang="zh-CN" altLang="en-US" dirty="0">
                <a:solidFill>
                  <a:srgbClr val="3333FF"/>
                </a:solidFill>
                <a:latin typeface="黑体" panose="02010609060101010101" pitchFamily="49" charset="-122"/>
                <a:ea typeface="黑体" panose="02010609060101010101" pitchFamily="49" charset="-122"/>
              </a:rPr>
              <a:t>算法时间复杂度</a:t>
            </a:r>
            <a:endParaRPr lang="en-US" altLang="zh-CN" dirty="0">
              <a:solidFill>
                <a:srgbClr val="3333FF"/>
              </a:solidFill>
              <a:latin typeface="黑体" panose="02010609060101010101" pitchFamily="49" charset="-122"/>
              <a:ea typeface="黑体" panose="02010609060101010101" pitchFamily="49" charset="-122"/>
            </a:endParaRPr>
          </a:p>
        </p:txBody>
      </p:sp>
      <p:graphicFrame>
        <p:nvGraphicFramePr>
          <p:cNvPr id="1103876" name="Object 4"/>
          <p:cNvGraphicFramePr>
            <a:graphicFrameLocks noGrp="1" noChangeAspect="1"/>
          </p:cNvGraphicFramePr>
          <p:nvPr>
            <p:ph sz="half" idx="2"/>
            <p:extLst>
              <p:ext uri="{D42A27DB-BD31-4B8C-83A1-F6EECF244321}">
                <p14:modId xmlns:p14="http://schemas.microsoft.com/office/powerpoint/2010/main" val="2012864142"/>
              </p:ext>
            </p:extLst>
          </p:nvPr>
        </p:nvGraphicFramePr>
        <p:xfrm>
          <a:off x="1981200" y="2164128"/>
          <a:ext cx="6492965" cy="764264"/>
        </p:xfrm>
        <a:graphic>
          <a:graphicData uri="http://schemas.openxmlformats.org/presentationml/2006/ole">
            <mc:AlternateContent xmlns:mc="http://schemas.openxmlformats.org/markup-compatibility/2006">
              <mc:Choice xmlns:v="urn:schemas-microsoft-com:vml" Requires="v">
                <p:oleObj name="Equation" r:id="rId3" imgW="1942920" imgH="228600" progId="Equation.DSMT4">
                  <p:embed/>
                </p:oleObj>
              </mc:Choice>
              <mc:Fallback>
                <p:oleObj name="Equation" r:id="rId3" imgW="1942920" imgH="228600" progId="Equation.DSMT4">
                  <p:embed/>
                  <p:pic>
                    <p:nvPicPr>
                      <p:cNvPr id="0" name=""/>
                      <p:cNvPicPr>
                        <a:picLocks noChangeAspect="1" noChangeArrowheads="1"/>
                      </p:cNvPicPr>
                      <p:nvPr/>
                    </p:nvPicPr>
                    <p:blipFill>
                      <a:blip r:embed="rId4"/>
                      <a:srcRect/>
                      <a:stretch>
                        <a:fillRect/>
                      </a:stretch>
                    </p:blipFill>
                    <p:spPr bwMode="auto">
                      <a:xfrm>
                        <a:off x="1981200" y="2164128"/>
                        <a:ext cx="6492965" cy="764264"/>
                      </a:xfrm>
                      <a:prstGeom prst="rect">
                        <a:avLst/>
                      </a:prstGeom>
                      <a:noFill/>
                      <a:ln>
                        <a:noFill/>
                      </a:ln>
                      <a:effec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2303037675"/>
              </p:ext>
            </p:extLst>
          </p:nvPr>
        </p:nvGraphicFramePr>
        <p:xfrm>
          <a:off x="1703512" y="4312051"/>
          <a:ext cx="7560840" cy="647287"/>
        </p:xfrm>
        <a:graphic>
          <a:graphicData uri="http://schemas.openxmlformats.org/presentationml/2006/ole">
            <mc:AlternateContent xmlns:mc="http://schemas.openxmlformats.org/markup-compatibility/2006">
              <mc:Choice xmlns:v="urn:schemas-microsoft-com:vml" Requires="v">
                <p:oleObj name="Equation" r:id="rId5" imgW="2958840" imgH="253800" progId="Equation.DSMT4">
                  <p:embed/>
                </p:oleObj>
              </mc:Choice>
              <mc:Fallback>
                <p:oleObj name="Equation" r:id="rId5" imgW="2958840" imgH="253800" progId="Equation.DSMT4">
                  <p:embed/>
                  <p:pic>
                    <p:nvPicPr>
                      <p:cNvPr id="0" name=""/>
                      <p:cNvPicPr>
                        <a:picLocks noChangeAspect="1" noChangeArrowheads="1"/>
                      </p:cNvPicPr>
                      <p:nvPr/>
                    </p:nvPicPr>
                    <p:blipFill>
                      <a:blip r:embed="rId6"/>
                      <a:srcRect/>
                      <a:stretch>
                        <a:fillRect/>
                      </a:stretch>
                    </p:blipFill>
                    <p:spPr bwMode="auto">
                      <a:xfrm>
                        <a:off x="1703512" y="4312051"/>
                        <a:ext cx="7560840" cy="647287"/>
                      </a:xfrm>
                      <a:prstGeom prst="rect">
                        <a:avLst/>
                      </a:prstGeom>
                      <a:noFill/>
                      <a:ln>
                        <a:noFill/>
                      </a:ln>
                      <a:effectLst/>
                    </p:spPr>
                  </p:pic>
                </p:oleObj>
              </mc:Fallback>
            </mc:AlternateContent>
          </a:graphicData>
        </a:graphic>
      </p:graphicFrame>
      <p:graphicFrame>
        <p:nvGraphicFramePr>
          <p:cNvPr id="9" name="Object 3"/>
          <p:cNvGraphicFramePr>
            <a:graphicFrameLocks noChangeAspect="1"/>
          </p:cNvGraphicFramePr>
          <p:nvPr>
            <p:extLst>
              <p:ext uri="{D42A27DB-BD31-4B8C-83A1-F6EECF244321}">
                <p14:modId xmlns:p14="http://schemas.microsoft.com/office/powerpoint/2010/main" val="3525134202"/>
              </p:ext>
            </p:extLst>
          </p:nvPr>
        </p:nvGraphicFramePr>
        <p:xfrm>
          <a:off x="1792409" y="5152530"/>
          <a:ext cx="4328622" cy="647287"/>
        </p:xfrm>
        <a:graphic>
          <a:graphicData uri="http://schemas.openxmlformats.org/presentationml/2006/ole">
            <mc:AlternateContent xmlns:mc="http://schemas.openxmlformats.org/markup-compatibility/2006">
              <mc:Choice xmlns:v="urn:schemas-microsoft-com:vml" Requires="v">
                <p:oleObj name="Equation" r:id="rId7" imgW="1523880" imgH="228600" progId="Equation.DSMT4">
                  <p:embed/>
                </p:oleObj>
              </mc:Choice>
              <mc:Fallback>
                <p:oleObj name="Equation" r:id="rId7" imgW="1523880" imgH="228600" progId="Equation.DSMT4">
                  <p:embed/>
                  <p:pic>
                    <p:nvPicPr>
                      <p:cNvPr id="0" name=""/>
                      <p:cNvPicPr>
                        <a:picLocks noChangeAspect="1" noChangeArrowheads="1"/>
                      </p:cNvPicPr>
                      <p:nvPr/>
                    </p:nvPicPr>
                    <p:blipFill>
                      <a:blip r:embed="rId8"/>
                      <a:srcRect/>
                      <a:stretch>
                        <a:fillRect/>
                      </a:stretch>
                    </p:blipFill>
                    <p:spPr bwMode="auto">
                      <a:xfrm>
                        <a:off x="1792409" y="5152530"/>
                        <a:ext cx="4328622" cy="647287"/>
                      </a:xfrm>
                      <a:prstGeom prst="rect">
                        <a:avLst/>
                      </a:prstGeom>
                      <a:noFill/>
                      <a:ln>
                        <a:noFill/>
                      </a:ln>
                      <a:effec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3202968797"/>
              </p:ext>
            </p:extLst>
          </p:nvPr>
        </p:nvGraphicFramePr>
        <p:xfrm>
          <a:off x="1805694" y="6023484"/>
          <a:ext cx="3678238" cy="608012"/>
        </p:xfrm>
        <a:graphic>
          <a:graphicData uri="http://schemas.openxmlformats.org/presentationml/2006/ole">
            <mc:AlternateContent xmlns:mc="http://schemas.openxmlformats.org/markup-compatibility/2006">
              <mc:Choice xmlns:v="urn:schemas-microsoft-com:vml" Requires="v">
                <p:oleObj name="Equation" r:id="rId9" imgW="1384200" imgH="228600" progId="Equation.DSMT4">
                  <p:embed/>
                </p:oleObj>
              </mc:Choice>
              <mc:Fallback>
                <p:oleObj name="Equation" r:id="rId9" imgW="1384200" imgH="228600" progId="Equation.DSMT4">
                  <p:embed/>
                  <p:pic>
                    <p:nvPicPr>
                      <p:cNvPr id="0" name=""/>
                      <p:cNvPicPr>
                        <a:picLocks noChangeAspect="1" noChangeArrowheads="1"/>
                      </p:cNvPicPr>
                      <p:nvPr/>
                    </p:nvPicPr>
                    <p:blipFill>
                      <a:blip r:embed="rId10"/>
                      <a:srcRect/>
                      <a:stretch>
                        <a:fillRect/>
                      </a:stretch>
                    </p:blipFill>
                    <p:spPr bwMode="auto">
                      <a:xfrm>
                        <a:off x="1805694" y="6023484"/>
                        <a:ext cx="3678238"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026A82DE-E6A6-C25E-C31D-186A701DDE34}"/>
              </a:ext>
            </a:extLst>
          </p:cNvPr>
          <p:cNvSpPr>
            <a:spLocks noGrp="1"/>
          </p:cNvSpPr>
          <p:nvPr>
            <p:ph type="sldNum" sz="quarter" idx="11"/>
          </p:nvPr>
        </p:nvSpPr>
        <p:spPr/>
        <p:txBody>
          <a:bodyPr/>
          <a:lstStyle/>
          <a:p>
            <a:pPr>
              <a:defRPr/>
            </a:pPr>
            <a:fld id="{611376B5-62E6-403F-97A0-5A1E42AE81DF}" type="slidenum">
              <a:rPr lang="en-US" altLang="zh-CN" smtClean="0"/>
              <a:pPr>
                <a:defRPr/>
              </a:pPr>
              <a:t>33</a:t>
            </a:fld>
            <a:endParaRPr lang="en-US" altLang="zh-CN"/>
          </a:p>
        </p:txBody>
      </p:sp>
      <p:sp>
        <p:nvSpPr>
          <p:cNvPr id="4" name="文本框 3">
            <a:extLst>
              <a:ext uri="{FF2B5EF4-FFF2-40B4-BE49-F238E27FC236}">
                <a16:creationId xmlns:a16="http://schemas.microsoft.com/office/drawing/2014/main" id="{B09157FE-A3BF-FC92-371C-DBB7803FE48E}"/>
              </a:ext>
            </a:extLst>
          </p:cNvPr>
          <p:cNvSpPr txBox="1"/>
          <p:nvPr/>
        </p:nvSpPr>
        <p:spPr>
          <a:xfrm>
            <a:off x="5039395" y="3630680"/>
            <a:ext cx="2113210" cy="584775"/>
          </a:xfrm>
          <a:prstGeom prst="rect">
            <a:avLst/>
          </a:prstGeom>
          <a:noFill/>
        </p:spPr>
        <p:txBody>
          <a:bodyPr wrap="square">
            <a:spAutoFit/>
          </a:bodyPr>
          <a:lstStyle/>
          <a:p>
            <a:r>
              <a:rPr kumimoji="1" lang="en-US" altLang="zh-CN" sz="3200" b="1" i="1" dirty="0"/>
              <a:t>R</a:t>
            </a:r>
            <a:r>
              <a:rPr kumimoji="1" lang="en-US" altLang="zh-CN" sz="3200" b="1" dirty="0">
                <a:ea typeface="黑体" pitchFamily="2" charset="-122"/>
                <a:sym typeface="Symbol"/>
              </a:rPr>
              <a:t></a:t>
            </a:r>
            <a:r>
              <a:rPr kumimoji="1" lang="el-GR" altLang="en-US" sz="3200" dirty="0"/>
              <a:t>μ</a:t>
            </a:r>
            <a:r>
              <a:rPr kumimoji="1" lang="en-US" altLang="zh-CN" sz="3200" baseline="-25000" dirty="0"/>
              <a:t>(</a:t>
            </a:r>
            <a:r>
              <a:rPr kumimoji="1" lang="en-US" altLang="zh-CN" sz="3200" i="1" baseline="-25000" dirty="0" err="1"/>
              <a:t>n</a:t>
            </a:r>
            <a:r>
              <a:rPr kumimoji="1" lang="en-US" altLang="en-US" sz="3200" baseline="-25000" dirty="0" err="1"/>
              <a:t>×</a:t>
            </a:r>
            <a:r>
              <a:rPr kumimoji="1" lang="en-US" altLang="zh-CN" sz="3200" i="1" baseline="-25000" dirty="0" err="1"/>
              <a:t>n</a:t>
            </a:r>
            <a:r>
              <a:rPr kumimoji="1" lang="en-US" altLang="zh-CN" sz="3200" baseline="-25000" dirty="0"/>
              <a:t>)</a:t>
            </a:r>
            <a:endParaRPr lang="zh-CN" altLang="en-US" sz="3200" dirty="0"/>
          </a:p>
        </p:txBody>
      </p:sp>
    </p:spTree>
    <p:extLst>
      <p:ext uri="{BB962C8B-B14F-4D97-AF65-F5344CB8AC3E}">
        <p14:creationId xmlns:p14="http://schemas.microsoft.com/office/powerpoint/2010/main" val="227688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3875">
                                            <p:bg/>
                                          </p:spTgt>
                                        </p:tgtEl>
                                        <p:attrNameLst>
                                          <p:attrName>style.visibility</p:attrName>
                                        </p:attrNameLst>
                                      </p:cBhvr>
                                      <p:to>
                                        <p:strVal val="visible"/>
                                      </p:to>
                                    </p:set>
                                    <p:animEffect transition="in" filter="wipe(left)">
                                      <p:cBhvr>
                                        <p:cTn id="7" dur="500"/>
                                        <p:tgtEl>
                                          <p:spTgt spid="110387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3875">
                                            <p:txEl>
                                              <p:pRg st="0" end="0"/>
                                            </p:txEl>
                                          </p:spTgt>
                                        </p:tgtEl>
                                        <p:attrNameLst>
                                          <p:attrName>style.visibility</p:attrName>
                                        </p:attrNameLst>
                                      </p:cBhvr>
                                      <p:to>
                                        <p:strVal val="visible"/>
                                      </p:to>
                                    </p:set>
                                    <p:animEffect transition="in" filter="wipe(left)">
                                      <p:cBhvr>
                                        <p:cTn id="12" dur="500"/>
                                        <p:tgtEl>
                                          <p:spTgt spid="11038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03876"/>
                                        </p:tgtEl>
                                        <p:attrNameLst>
                                          <p:attrName>style.visibility</p:attrName>
                                        </p:attrNameLst>
                                      </p:cBhvr>
                                      <p:to>
                                        <p:strVal val="visible"/>
                                      </p:to>
                                    </p:set>
                                    <p:animEffect transition="in" filter="wipe(left)">
                                      <p:cBhvr>
                                        <p:cTn id="17" dur="500"/>
                                        <p:tgtEl>
                                          <p:spTgt spid="11038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03875">
                                            <p:txEl>
                                              <p:pRg st="2" end="2"/>
                                            </p:txEl>
                                          </p:spTgt>
                                        </p:tgtEl>
                                        <p:attrNameLst>
                                          <p:attrName>style.visibility</p:attrName>
                                        </p:attrNameLst>
                                      </p:cBhvr>
                                      <p:to>
                                        <p:strVal val="visible"/>
                                      </p:to>
                                    </p:set>
                                    <p:animEffect transition="in" filter="wipe(left)">
                                      <p:cBhvr>
                                        <p:cTn id="22" dur="500"/>
                                        <p:tgtEl>
                                          <p:spTgt spid="110387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03875">
                                            <p:txEl>
                                              <p:pRg st="3" end="3"/>
                                            </p:txEl>
                                          </p:spTgt>
                                        </p:tgtEl>
                                        <p:attrNameLst>
                                          <p:attrName>style.visibility</p:attrName>
                                        </p:attrNameLst>
                                      </p:cBhvr>
                                      <p:to>
                                        <p:strVal val="visible"/>
                                      </p:to>
                                    </p:set>
                                    <p:animEffect transition="in" filter="wipe(left)">
                                      <p:cBhvr>
                                        <p:cTn id="27" dur="500"/>
                                        <p:tgtEl>
                                          <p:spTgt spid="110387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3875" grpId="0" build="p" animBg="1"/>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457201"/>
            <a:ext cx="8229600" cy="1027113"/>
          </a:xfrm>
        </p:spPr>
        <p:txBody>
          <a:bodyPr/>
          <a:lstStyle/>
          <a:p>
            <a:pPr algn="ctr" eaLnBrk="1" hangingPunct="1"/>
            <a:r>
              <a:rPr lang="zh-CN" altLang="en-US" dirty="0">
                <a:solidFill>
                  <a:srgbClr val="057939"/>
                </a:solidFill>
                <a:ea typeface="黑体" pitchFamily="2" charset="-122"/>
              </a:rPr>
              <a:t>将相似矩阵改造为等价矩阵举例</a:t>
            </a:r>
          </a:p>
        </p:txBody>
      </p:sp>
      <p:sp>
        <p:nvSpPr>
          <p:cNvPr id="97283" name="Rectangle 3"/>
          <p:cNvSpPr>
            <a:spLocks noGrp="1" noChangeArrowheads="1"/>
          </p:cNvSpPr>
          <p:nvPr>
            <p:ph type="body" sz="half" idx="1"/>
          </p:nvPr>
        </p:nvSpPr>
        <p:spPr>
          <a:xfrm>
            <a:off x="1271464" y="1484314"/>
            <a:ext cx="8640886" cy="5113337"/>
          </a:xfrm>
        </p:spPr>
        <p:txBody>
          <a:bodyPr/>
          <a:lstStyle/>
          <a:p>
            <a:pPr eaLnBrk="1" hangingPunct="1">
              <a:buFont typeface="Wingdings" pitchFamily="2" charset="2"/>
              <a:buNone/>
            </a:pPr>
            <a:r>
              <a:rPr lang="en-US" altLang="zh-CN" sz="2800" dirty="0"/>
              <a:t>[P78</a:t>
            </a:r>
            <a:r>
              <a:rPr lang="zh-CN" altLang="en-US" sz="2800" dirty="0"/>
              <a:t>例</a:t>
            </a:r>
            <a:r>
              <a:rPr lang="en-US" altLang="zh-CN" sz="2800" dirty="0"/>
              <a:t>1]</a:t>
            </a:r>
            <a:r>
              <a:rPr lang="zh-CN" altLang="en-US" sz="2800" dirty="0"/>
              <a:t>设   </a:t>
            </a:r>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1600" dirty="0"/>
          </a:p>
          <a:p>
            <a:pPr eaLnBrk="1" hangingPunct="1">
              <a:buFont typeface="Wingdings" pitchFamily="2" charset="2"/>
              <a:buNone/>
            </a:pPr>
            <a:r>
              <a:rPr lang="zh-CN" altLang="en-US" dirty="0">
                <a:ea typeface="黑体" pitchFamily="2" charset="-122"/>
              </a:rPr>
              <a:t>求</a:t>
            </a:r>
            <a:r>
              <a:rPr lang="en-US" altLang="zh-CN" i="1" dirty="0">
                <a:ea typeface="黑体" pitchFamily="2" charset="-122"/>
              </a:rPr>
              <a:t>R</a:t>
            </a:r>
            <a:r>
              <a:rPr lang="zh-CN" altLang="en-US" dirty="0">
                <a:ea typeface="黑体" pitchFamily="2" charset="-122"/>
              </a:rPr>
              <a:t>的传递闭包</a:t>
            </a:r>
          </a:p>
          <a:p>
            <a:pPr eaLnBrk="1" hangingPunct="1">
              <a:buFont typeface="Wingdings" pitchFamily="2" charset="2"/>
              <a:buNone/>
            </a:pPr>
            <a:r>
              <a:rPr lang="zh-CN" altLang="en-US" dirty="0">
                <a:ea typeface="黑体" pitchFamily="2" charset="-122"/>
              </a:rPr>
              <a:t>这是相似矩阵，用平方法，依次求</a:t>
            </a:r>
            <a:r>
              <a:rPr lang="en-US" altLang="zh-CN" dirty="0">
                <a:ea typeface="黑体" pitchFamily="2" charset="-122"/>
              </a:rPr>
              <a:t>(n=7)</a:t>
            </a:r>
          </a:p>
          <a:p>
            <a:pPr eaLnBrk="1" hangingPunct="1">
              <a:buFont typeface="Wingdings" pitchFamily="2" charset="2"/>
              <a:buNone/>
            </a:pPr>
            <a:r>
              <a:rPr kumimoji="1" lang="en-US" altLang="zh-CN" b="1" i="1" dirty="0">
                <a:sym typeface="Symbol" pitchFamily="18" charset="2"/>
              </a:rPr>
              <a:t>            R</a:t>
            </a:r>
            <a:r>
              <a:rPr kumimoji="1" lang="en-US" altLang="zh-CN" b="1" baseline="30000" dirty="0">
                <a:sym typeface="Symbol" pitchFamily="18" charset="2"/>
              </a:rPr>
              <a:t>2</a:t>
            </a:r>
            <a:r>
              <a:rPr kumimoji="1" lang="en-US" altLang="zh-CN" b="1" dirty="0">
                <a:sym typeface="Symbol" pitchFamily="18" charset="2"/>
              </a:rPr>
              <a:t> </a:t>
            </a:r>
            <a:r>
              <a:rPr kumimoji="1" lang="en-US" altLang="zh-CN" b="1" i="1" dirty="0"/>
              <a:t>R</a:t>
            </a:r>
            <a:r>
              <a:rPr kumimoji="1" lang="en-US" altLang="zh-CN" b="1" baseline="30000" dirty="0"/>
              <a:t>4</a:t>
            </a:r>
            <a:r>
              <a:rPr kumimoji="1" lang="en-US" altLang="zh-CN" b="1" dirty="0">
                <a:sym typeface="Symbol" pitchFamily="18" charset="2"/>
              </a:rPr>
              <a:t> </a:t>
            </a:r>
            <a:r>
              <a:rPr kumimoji="1" lang="en-US" altLang="zh-CN" b="1" i="1" dirty="0"/>
              <a:t>R</a:t>
            </a:r>
            <a:r>
              <a:rPr kumimoji="1" lang="en-US" altLang="zh-CN" b="1" baseline="30000" dirty="0"/>
              <a:t>8</a:t>
            </a:r>
            <a:endParaRPr kumimoji="1" lang="en-US" altLang="zh-CN" sz="2800" b="1" dirty="0">
              <a:sym typeface="Symbol" pitchFamily="18" charset="2"/>
            </a:endParaRPr>
          </a:p>
        </p:txBody>
      </p:sp>
      <p:graphicFrame>
        <p:nvGraphicFramePr>
          <p:cNvPr id="97284" name="Object 4"/>
          <p:cNvGraphicFramePr>
            <a:graphicFrameLocks noGrp="1" noChangeAspect="1"/>
          </p:cNvGraphicFramePr>
          <p:nvPr>
            <p:ph sz="half" idx="2"/>
          </p:nvPr>
        </p:nvGraphicFramePr>
        <p:xfrm>
          <a:off x="3935414" y="1628775"/>
          <a:ext cx="5400675" cy="3289300"/>
        </p:xfrm>
        <a:graphic>
          <a:graphicData uri="http://schemas.openxmlformats.org/presentationml/2006/ole">
            <mc:AlternateContent xmlns:mc="http://schemas.openxmlformats.org/markup-compatibility/2006">
              <mc:Choice xmlns:v="urn:schemas-microsoft-com:vml" Requires="v">
                <p:oleObj name="公式" r:id="rId2" imgW="2628900" imgH="1600200" progId="Equation.3">
                  <p:embed/>
                </p:oleObj>
              </mc:Choice>
              <mc:Fallback>
                <p:oleObj name="公式" r:id="rId2" imgW="2628900" imgH="160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414" y="1628775"/>
                        <a:ext cx="5400675" cy="328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C1C1FA7D-0DBB-3B9A-0C02-2133C41CE714}"/>
              </a:ext>
            </a:extLst>
          </p:cNvPr>
          <p:cNvSpPr>
            <a:spLocks noGrp="1"/>
          </p:cNvSpPr>
          <p:nvPr>
            <p:ph type="sldNum" sz="quarter" idx="11"/>
          </p:nvPr>
        </p:nvSpPr>
        <p:spPr/>
        <p:txBody>
          <a:bodyPr/>
          <a:lstStyle/>
          <a:p>
            <a:pPr>
              <a:defRPr/>
            </a:pPr>
            <a:fld id="{611376B5-62E6-403F-97A0-5A1E42AE81DF}" type="slidenum">
              <a:rPr lang="en-US" altLang="zh-CN" smtClean="0"/>
              <a:pPr>
                <a:defRPr/>
              </a:pPr>
              <a:t>34</a:t>
            </a:fld>
            <a:endParaRPr lang="en-US" altLang="zh-CN"/>
          </a:p>
        </p:txBody>
      </p:sp>
    </p:spTree>
    <p:extLst>
      <p:ext uri="{BB962C8B-B14F-4D97-AF65-F5344CB8AC3E}">
        <p14:creationId xmlns:p14="http://schemas.microsoft.com/office/powerpoint/2010/main" val="489678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wipe(left)">
                                      <p:cBhvr>
                                        <p:cTn id="7" dur="500"/>
                                        <p:tgtEl>
                                          <p:spTgt spid="97283">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7284"/>
                                        </p:tgtEl>
                                        <p:attrNameLst>
                                          <p:attrName>style.visibility</p:attrName>
                                        </p:attrNameLst>
                                      </p:cBhvr>
                                      <p:to>
                                        <p:strVal val="visible"/>
                                      </p:to>
                                    </p:set>
                                    <p:animEffect transition="in" filter="wipe(left)">
                                      <p:cBhvr>
                                        <p:cTn id="11" dur="500"/>
                                        <p:tgtEl>
                                          <p:spTgt spid="97284"/>
                                        </p:tgtEl>
                                      </p:cBhvr>
                                    </p:animEffect>
                                  </p:childTnLst>
                                </p:cTn>
                              </p:par>
                            </p:childTnLst>
                          </p:cTn>
                        </p:par>
                        <p:par>
                          <p:cTn id="12" fill="hold" nodeType="with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7283">
                                            <p:txEl>
                                              <p:pRg st="7" end="7"/>
                                            </p:txEl>
                                          </p:spTgt>
                                        </p:tgtEl>
                                        <p:attrNameLst>
                                          <p:attrName>style.visibility</p:attrName>
                                        </p:attrNameLst>
                                      </p:cBhvr>
                                      <p:to>
                                        <p:strVal val="visible"/>
                                      </p:to>
                                    </p:set>
                                    <p:animEffect transition="in" filter="wipe(left)">
                                      <p:cBhvr>
                                        <p:cTn id="15" dur="500"/>
                                        <p:tgtEl>
                                          <p:spTgt spid="97283">
                                            <p:txEl>
                                              <p:pRg st="7" end="7"/>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7283">
                                            <p:txEl>
                                              <p:pRg st="8" end="8"/>
                                            </p:txEl>
                                          </p:spTgt>
                                        </p:tgtEl>
                                        <p:attrNameLst>
                                          <p:attrName>style.visibility</p:attrName>
                                        </p:attrNameLst>
                                      </p:cBhvr>
                                      <p:to>
                                        <p:strVal val="visible"/>
                                      </p:to>
                                    </p:set>
                                    <p:animEffect transition="in" filter="wipe(left)">
                                      <p:cBhvr>
                                        <p:cTn id="20" dur="500"/>
                                        <p:tgtEl>
                                          <p:spTgt spid="97283">
                                            <p:txEl>
                                              <p:pRg st="8" end="8"/>
                                            </p:txEl>
                                          </p:spTgt>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7283">
                                            <p:txEl>
                                              <p:pRg st="9" end="9"/>
                                            </p:txEl>
                                          </p:spTgt>
                                        </p:tgtEl>
                                        <p:attrNameLst>
                                          <p:attrName>style.visibility</p:attrName>
                                        </p:attrNameLst>
                                      </p:cBhvr>
                                      <p:to>
                                        <p:strVal val="visible"/>
                                      </p:to>
                                    </p:set>
                                    <p:animEffect transition="in" filter="wipe(left)">
                                      <p:cBhvr>
                                        <p:cTn id="25" dur="500"/>
                                        <p:tgtEl>
                                          <p:spTgt spid="972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81200" y="457201"/>
            <a:ext cx="8229600" cy="1027113"/>
          </a:xfrm>
        </p:spPr>
        <p:txBody>
          <a:bodyPr/>
          <a:lstStyle/>
          <a:p>
            <a:pPr algn="ctr" eaLnBrk="1" hangingPunct="1"/>
            <a:r>
              <a:rPr lang="en-US" altLang="zh-CN" dirty="0">
                <a:solidFill>
                  <a:srgbClr val="057939"/>
                </a:solidFill>
              </a:rPr>
              <a:t>3.9    </a:t>
            </a:r>
            <a:r>
              <a:rPr lang="zh-CN" altLang="en-US" dirty="0">
                <a:solidFill>
                  <a:srgbClr val="057939"/>
                </a:solidFill>
                <a:ea typeface="黑体" pitchFamily="2" charset="-122"/>
              </a:rPr>
              <a:t>聚类分析</a:t>
            </a:r>
          </a:p>
        </p:txBody>
      </p:sp>
      <p:sp>
        <p:nvSpPr>
          <p:cNvPr id="99331" name="Rectangle 3"/>
          <p:cNvSpPr>
            <a:spLocks noGrp="1" noChangeArrowheads="1"/>
          </p:cNvSpPr>
          <p:nvPr>
            <p:ph type="body" idx="1"/>
          </p:nvPr>
        </p:nvSpPr>
        <p:spPr>
          <a:xfrm>
            <a:off x="983432" y="1341439"/>
            <a:ext cx="10009112" cy="5516561"/>
          </a:xfrm>
        </p:spPr>
        <p:txBody>
          <a:bodyPr/>
          <a:lstStyle/>
          <a:p>
            <a:pPr eaLnBrk="1" hangingPunct="1">
              <a:defRPr/>
            </a:pPr>
            <a:r>
              <a:rPr lang="en-US" altLang="zh-CN" dirty="0">
                <a:solidFill>
                  <a:srgbClr val="FF00FF"/>
                </a:solidFill>
                <a:ea typeface="黑体" pitchFamily="2" charset="-122"/>
              </a:rPr>
              <a:t>“</a:t>
            </a:r>
            <a:r>
              <a:rPr lang="zh-CN" altLang="en-US" dirty="0">
                <a:solidFill>
                  <a:srgbClr val="FF00FF"/>
                </a:solidFill>
                <a:ea typeface="黑体" pitchFamily="2" charset="-122"/>
              </a:rPr>
              <a:t>人以群分，物以类聚”</a:t>
            </a:r>
          </a:p>
          <a:p>
            <a:pPr lvl="1" eaLnBrk="1" hangingPunct="1">
              <a:defRPr/>
            </a:pPr>
            <a:r>
              <a:rPr lang="zh-CN" altLang="en-US" b="1" dirty="0">
                <a:latin typeface="华文楷体" pitchFamily="2" charset="-122"/>
                <a:ea typeface="华文楷体" pitchFamily="2" charset="-122"/>
              </a:rPr>
              <a:t>聚类是一种重要的人类行为，通过适当聚类，事物才便于研究，事物的内部规律才可能为人类所掌握。</a:t>
            </a:r>
          </a:p>
          <a:p>
            <a:pPr eaLnBrk="1" hangingPunct="1">
              <a:defRPr/>
            </a:pPr>
            <a:r>
              <a:rPr lang="zh-CN" altLang="en-US" dirty="0">
                <a:solidFill>
                  <a:srgbClr val="EE0006"/>
                </a:solidFill>
                <a:ea typeface="黑体" pitchFamily="2" charset="-122"/>
              </a:rPr>
              <a:t>聚类是指按照事物的某些属性，把事物聚集成类，</a:t>
            </a:r>
            <a:r>
              <a:rPr lang="zh-CN" altLang="en-US" dirty="0">
                <a:solidFill>
                  <a:srgbClr val="3333FF"/>
                </a:solidFill>
                <a:effectLst>
                  <a:outerShdw blurRad="38100" dist="38100" dir="2700000" algn="tl">
                    <a:srgbClr val="000000">
                      <a:alpha val="43137"/>
                    </a:srgbClr>
                  </a:outerShdw>
                </a:effectLst>
                <a:ea typeface="黑体" pitchFamily="2" charset="-122"/>
              </a:rPr>
              <a:t>使类间的相似性尽量小，</a:t>
            </a:r>
            <a:r>
              <a:rPr lang="zh-CN" altLang="en-US" dirty="0">
                <a:solidFill>
                  <a:srgbClr val="057939"/>
                </a:solidFill>
                <a:effectLst>
                  <a:outerShdw blurRad="38100" dist="38100" dir="2700000" algn="tl">
                    <a:srgbClr val="000000">
                      <a:alpha val="43137"/>
                    </a:srgbClr>
                  </a:outerShdw>
                </a:effectLst>
                <a:ea typeface="黑体" pitchFamily="2" charset="-122"/>
              </a:rPr>
              <a:t>类内相似性尽量大</a:t>
            </a:r>
            <a:r>
              <a:rPr lang="zh-CN" altLang="en-US" dirty="0">
                <a:solidFill>
                  <a:srgbClr val="3333FF"/>
                </a:solidFill>
                <a:effectLst>
                  <a:outerShdw blurRad="38100" dist="38100" dir="2700000" algn="tl">
                    <a:srgbClr val="000000">
                      <a:alpha val="43137"/>
                    </a:srgbClr>
                  </a:outerShdw>
                </a:effectLst>
                <a:ea typeface="黑体" pitchFamily="2" charset="-122"/>
              </a:rPr>
              <a:t>，</a:t>
            </a:r>
            <a:r>
              <a:rPr lang="zh-CN" altLang="en-US" dirty="0">
                <a:solidFill>
                  <a:srgbClr val="EE0006"/>
                </a:solidFill>
                <a:ea typeface="黑体" pitchFamily="2" charset="-122"/>
              </a:rPr>
              <a:t>按照相似程度的大小，将事物逐一归类。</a:t>
            </a:r>
          </a:p>
          <a:p>
            <a:pPr eaLnBrk="1" hangingPunct="1">
              <a:defRPr/>
            </a:pPr>
            <a:r>
              <a:rPr lang="zh-CN" altLang="en-US" dirty="0">
                <a:solidFill>
                  <a:schemeClr val="bg2"/>
                </a:solidFill>
                <a:ea typeface="黑体" pitchFamily="2" charset="-122"/>
              </a:rPr>
              <a:t>聚类与模式分类的区别</a:t>
            </a:r>
          </a:p>
          <a:p>
            <a:pPr lvl="1" eaLnBrk="1" hangingPunct="1">
              <a:defRPr/>
            </a:pPr>
            <a:r>
              <a:rPr lang="zh-CN" altLang="en-US" b="1" dirty="0">
                <a:latin typeface="华文楷体" pitchFamily="2" charset="-122"/>
                <a:ea typeface="华文楷体" pitchFamily="2" charset="-122"/>
              </a:rPr>
              <a:t>模式分类是</a:t>
            </a:r>
            <a:r>
              <a:rPr lang="zh-CN" altLang="en-US" b="1" u="sng" dirty="0">
                <a:latin typeface="华文楷体" pitchFamily="2" charset="-122"/>
                <a:ea typeface="华文楷体" pitchFamily="2" charset="-122"/>
              </a:rPr>
              <a:t>已知若干模式</a:t>
            </a:r>
            <a:r>
              <a:rPr lang="zh-CN" altLang="en-US" b="1" dirty="0">
                <a:latin typeface="华文楷体" pitchFamily="2" charset="-122"/>
                <a:ea typeface="华文楷体" pitchFamily="2" charset="-122"/>
              </a:rPr>
              <a:t>，要求我们正确判断当前的新样本是属于哪个模式。</a:t>
            </a:r>
          </a:p>
          <a:p>
            <a:pPr lvl="1" eaLnBrk="1" hangingPunct="1">
              <a:defRPr/>
            </a:pPr>
            <a:r>
              <a:rPr lang="zh-CN" altLang="en-US" b="1" dirty="0">
                <a:latin typeface="华文楷体" pitchFamily="2" charset="-122"/>
                <a:ea typeface="华文楷体" pitchFamily="2" charset="-122"/>
              </a:rPr>
              <a:t>聚类分析所讨论的对象是一大堆样本，</a:t>
            </a:r>
            <a:r>
              <a:rPr lang="zh-CN" altLang="en-US" b="1" u="sng" dirty="0">
                <a:latin typeface="华文楷体" pitchFamily="2" charset="-122"/>
                <a:ea typeface="华文楷体" pitchFamily="2" charset="-122"/>
              </a:rPr>
              <a:t>事先没有给定任何模式供参考，</a:t>
            </a:r>
            <a:r>
              <a:rPr lang="zh-CN" altLang="en-US" b="1" dirty="0">
                <a:latin typeface="华文楷体" pitchFamily="2" charset="-122"/>
                <a:ea typeface="华文楷体" pitchFamily="2" charset="-122"/>
              </a:rPr>
              <a:t>要求我们按样本各自的属性值加以分类。</a:t>
            </a:r>
          </a:p>
        </p:txBody>
      </p:sp>
      <p:sp>
        <p:nvSpPr>
          <p:cNvPr id="2" name="灯片编号占位符 1">
            <a:extLst>
              <a:ext uri="{FF2B5EF4-FFF2-40B4-BE49-F238E27FC236}">
                <a16:creationId xmlns:a16="http://schemas.microsoft.com/office/drawing/2014/main" id="{3BE214F6-1690-5699-B466-581BA026E67B}"/>
              </a:ext>
            </a:extLst>
          </p:cNvPr>
          <p:cNvSpPr>
            <a:spLocks noGrp="1"/>
          </p:cNvSpPr>
          <p:nvPr>
            <p:ph type="sldNum" sz="quarter" idx="11"/>
          </p:nvPr>
        </p:nvSpPr>
        <p:spPr/>
        <p:txBody>
          <a:bodyPr/>
          <a:lstStyle/>
          <a:p>
            <a:pPr>
              <a:defRPr/>
            </a:pPr>
            <a:fld id="{F13753BC-CAEF-4333-AC48-2805658F6E3F}" type="slidenum">
              <a:rPr lang="en-US" altLang="zh-CN" smtClean="0"/>
              <a:pPr>
                <a:defRPr/>
              </a:pPr>
              <a:t>35</a:t>
            </a:fld>
            <a:endParaRPr lang="en-US" altLang="zh-CN"/>
          </a:p>
        </p:txBody>
      </p:sp>
    </p:spTree>
    <p:extLst>
      <p:ext uri="{BB962C8B-B14F-4D97-AF65-F5344CB8AC3E}">
        <p14:creationId xmlns:p14="http://schemas.microsoft.com/office/powerpoint/2010/main" val="1025421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up)">
                                      <p:cBhvr>
                                        <p:cTn id="7" dur="500"/>
                                        <p:tgtEl>
                                          <p:spTgt spid="99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up)">
                                      <p:cBhvr>
                                        <p:cTn id="12" dur="500"/>
                                        <p:tgtEl>
                                          <p:spTgt spid="993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up)">
                                      <p:cBhvr>
                                        <p:cTn id="17" dur="500"/>
                                        <p:tgtEl>
                                          <p:spTgt spid="993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up)">
                                      <p:cBhvr>
                                        <p:cTn id="22" dur="500"/>
                                        <p:tgtEl>
                                          <p:spTgt spid="993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up)">
                                      <p:cBhvr>
                                        <p:cTn id="27" dur="500"/>
                                        <p:tgtEl>
                                          <p:spTgt spid="993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up)">
                                      <p:cBhvr>
                                        <p:cTn id="32" dur="500"/>
                                        <p:tgtEl>
                                          <p:spTgt spid="993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57939"/>
                </a:solidFill>
                <a:ea typeface="黑体" pitchFamily="2" charset="-122"/>
              </a:rPr>
              <a:t>聚类与模式分类的区别</a:t>
            </a:r>
          </a:p>
        </p:txBody>
      </p:sp>
      <p:sp>
        <p:nvSpPr>
          <p:cNvPr id="104451" name="Rectangle 3"/>
          <p:cNvSpPr>
            <a:spLocks noGrp="1" noChangeArrowheads="1"/>
          </p:cNvSpPr>
          <p:nvPr>
            <p:ph type="body" idx="1"/>
          </p:nvPr>
        </p:nvSpPr>
        <p:spPr>
          <a:xfrm>
            <a:off x="1415480" y="1628477"/>
            <a:ext cx="9433047" cy="4968875"/>
          </a:xfrm>
        </p:spPr>
        <p:txBody>
          <a:bodyPr/>
          <a:lstStyle/>
          <a:p>
            <a:pPr eaLnBrk="1" hangingPunct="1">
              <a:lnSpc>
                <a:spcPct val="120000"/>
              </a:lnSpc>
            </a:pPr>
            <a:r>
              <a:rPr lang="zh-CN" altLang="en-US" sz="3600" dirty="0">
                <a:solidFill>
                  <a:srgbClr val="EE0006"/>
                </a:solidFill>
                <a:ea typeface="黑体" pitchFamily="2" charset="-122"/>
              </a:rPr>
              <a:t>两者根本区别：</a:t>
            </a:r>
          </a:p>
          <a:p>
            <a:pPr lvl="1" eaLnBrk="1" hangingPunct="1">
              <a:lnSpc>
                <a:spcPct val="120000"/>
              </a:lnSpc>
            </a:pPr>
            <a:r>
              <a:rPr lang="zh-CN" altLang="en-US" sz="3200" b="1" dirty="0">
                <a:latin typeface="华文楷体" pitchFamily="2" charset="-122"/>
                <a:ea typeface="华文楷体" pitchFamily="2" charset="-122"/>
              </a:rPr>
              <a:t>分类时需要预先知道分类所依据的属性值</a:t>
            </a:r>
          </a:p>
          <a:p>
            <a:pPr lvl="1" eaLnBrk="1" hangingPunct="1">
              <a:lnSpc>
                <a:spcPct val="120000"/>
              </a:lnSpc>
            </a:pPr>
            <a:r>
              <a:rPr lang="zh-CN" altLang="en-US" sz="3200" b="1" dirty="0">
                <a:latin typeface="华文楷体" pitchFamily="2" charset="-122"/>
                <a:ea typeface="华文楷体" pitchFamily="2" charset="-122"/>
              </a:rPr>
              <a:t>聚类是由聚类学习算法自动找到这个分类属性值</a:t>
            </a:r>
          </a:p>
          <a:p>
            <a:pPr eaLnBrk="1" hangingPunct="1">
              <a:lnSpc>
                <a:spcPct val="120000"/>
              </a:lnSpc>
            </a:pPr>
            <a:r>
              <a:rPr lang="zh-CN" altLang="en-US" sz="3600" dirty="0">
                <a:solidFill>
                  <a:srgbClr val="EE0006"/>
                </a:solidFill>
                <a:ea typeface="黑体" pitchFamily="2" charset="-122"/>
              </a:rPr>
              <a:t>从机器学习的角度看</a:t>
            </a:r>
          </a:p>
          <a:p>
            <a:pPr lvl="1" eaLnBrk="1" hangingPunct="1">
              <a:lnSpc>
                <a:spcPct val="120000"/>
              </a:lnSpc>
            </a:pPr>
            <a:r>
              <a:rPr lang="zh-CN" altLang="en-US" sz="3200" b="1" dirty="0">
                <a:latin typeface="华文楷体" pitchFamily="2" charset="-122"/>
                <a:ea typeface="华文楷体" pitchFamily="2" charset="-122"/>
              </a:rPr>
              <a:t>分类是有监督（有导师）的学习过程</a:t>
            </a:r>
          </a:p>
          <a:p>
            <a:pPr lvl="1" eaLnBrk="1" hangingPunct="1">
              <a:lnSpc>
                <a:spcPct val="120000"/>
              </a:lnSpc>
            </a:pPr>
            <a:r>
              <a:rPr lang="zh-CN" altLang="en-US" sz="3200" b="1" dirty="0">
                <a:latin typeface="华文楷体" pitchFamily="2" charset="-122"/>
                <a:ea typeface="华文楷体" pitchFamily="2" charset="-122"/>
              </a:rPr>
              <a:t>聚类是无监督（无导师）的学习过程</a:t>
            </a:r>
          </a:p>
        </p:txBody>
      </p:sp>
      <p:sp>
        <p:nvSpPr>
          <p:cNvPr id="2" name="灯片编号占位符 1">
            <a:extLst>
              <a:ext uri="{FF2B5EF4-FFF2-40B4-BE49-F238E27FC236}">
                <a16:creationId xmlns:a16="http://schemas.microsoft.com/office/drawing/2014/main" id="{B2CB9B04-EB1D-C068-B6FB-A108861DEA8A}"/>
              </a:ext>
            </a:extLst>
          </p:cNvPr>
          <p:cNvSpPr>
            <a:spLocks noGrp="1"/>
          </p:cNvSpPr>
          <p:nvPr>
            <p:ph type="sldNum" sz="quarter" idx="11"/>
          </p:nvPr>
        </p:nvSpPr>
        <p:spPr/>
        <p:txBody>
          <a:bodyPr/>
          <a:lstStyle/>
          <a:p>
            <a:pPr>
              <a:defRPr/>
            </a:pPr>
            <a:fld id="{F13753BC-CAEF-4333-AC48-2805658F6E3F}" type="slidenum">
              <a:rPr lang="en-US" altLang="zh-CN" smtClean="0"/>
              <a:pPr>
                <a:defRPr/>
              </a:pPr>
              <a:t>36</a:t>
            </a:fld>
            <a:endParaRPr lang="en-US" altLang="zh-CN"/>
          </a:p>
        </p:txBody>
      </p:sp>
    </p:spTree>
    <p:extLst>
      <p:ext uri="{BB962C8B-B14F-4D97-AF65-F5344CB8AC3E}">
        <p14:creationId xmlns:p14="http://schemas.microsoft.com/office/powerpoint/2010/main" val="2306237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Effect transition="in" filter="wipe(up)">
                                      <p:cBhvr>
                                        <p:cTn id="7" dur="500"/>
                                        <p:tgtEl>
                                          <p:spTgt spid="104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451">
                                            <p:txEl>
                                              <p:pRg st="1" end="1"/>
                                            </p:txEl>
                                          </p:spTgt>
                                        </p:tgtEl>
                                        <p:attrNameLst>
                                          <p:attrName>style.visibility</p:attrName>
                                        </p:attrNameLst>
                                      </p:cBhvr>
                                      <p:to>
                                        <p:strVal val="visible"/>
                                      </p:to>
                                    </p:set>
                                    <p:animEffect transition="in" filter="wipe(up)">
                                      <p:cBhvr>
                                        <p:cTn id="12" dur="500"/>
                                        <p:tgtEl>
                                          <p:spTgt spid="104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4451">
                                            <p:txEl>
                                              <p:pRg st="2" end="2"/>
                                            </p:txEl>
                                          </p:spTgt>
                                        </p:tgtEl>
                                        <p:attrNameLst>
                                          <p:attrName>style.visibility</p:attrName>
                                        </p:attrNameLst>
                                      </p:cBhvr>
                                      <p:to>
                                        <p:strVal val="visible"/>
                                      </p:to>
                                    </p:set>
                                    <p:animEffect transition="in" filter="wipe(up)">
                                      <p:cBhvr>
                                        <p:cTn id="17" dur="500"/>
                                        <p:tgtEl>
                                          <p:spTgt spid="1044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4451">
                                            <p:txEl>
                                              <p:pRg st="3" end="3"/>
                                            </p:txEl>
                                          </p:spTgt>
                                        </p:tgtEl>
                                        <p:attrNameLst>
                                          <p:attrName>style.visibility</p:attrName>
                                        </p:attrNameLst>
                                      </p:cBhvr>
                                      <p:to>
                                        <p:strVal val="visible"/>
                                      </p:to>
                                    </p:set>
                                    <p:animEffect transition="in" filter="wipe(up)">
                                      <p:cBhvr>
                                        <p:cTn id="22" dur="500"/>
                                        <p:tgtEl>
                                          <p:spTgt spid="1044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4451">
                                            <p:txEl>
                                              <p:pRg st="4" end="4"/>
                                            </p:txEl>
                                          </p:spTgt>
                                        </p:tgtEl>
                                        <p:attrNameLst>
                                          <p:attrName>style.visibility</p:attrName>
                                        </p:attrNameLst>
                                      </p:cBhvr>
                                      <p:to>
                                        <p:strVal val="visible"/>
                                      </p:to>
                                    </p:set>
                                    <p:animEffect transition="in" filter="wipe(up)">
                                      <p:cBhvr>
                                        <p:cTn id="27" dur="500"/>
                                        <p:tgtEl>
                                          <p:spTgt spid="1044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4451">
                                            <p:txEl>
                                              <p:pRg st="5" end="5"/>
                                            </p:txEl>
                                          </p:spTgt>
                                        </p:tgtEl>
                                        <p:attrNameLst>
                                          <p:attrName>style.visibility</p:attrName>
                                        </p:attrNameLst>
                                      </p:cBhvr>
                                      <p:to>
                                        <p:strVal val="visible"/>
                                      </p:to>
                                    </p:set>
                                    <p:animEffect transition="in" filter="wipe(up)">
                                      <p:cBhvr>
                                        <p:cTn id="32" dur="500"/>
                                        <p:tgtEl>
                                          <p:spTgt spid="104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457200"/>
            <a:ext cx="8229600" cy="884238"/>
          </a:xfrm>
        </p:spPr>
        <p:txBody>
          <a:bodyPr/>
          <a:lstStyle/>
          <a:p>
            <a:pPr algn="ctr" eaLnBrk="1" hangingPunct="1"/>
            <a:r>
              <a:rPr lang="zh-CN" altLang="en-US">
                <a:solidFill>
                  <a:srgbClr val="057939"/>
                </a:solidFill>
                <a:ea typeface="黑体" pitchFamily="2" charset="-122"/>
              </a:rPr>
              <a:t>聚类分析的方法</a:t>
            </a:r>
          </a:p>
        </p:txBody>
      </p:sp>
      <p:sp>
        <p:nvSpPr>
          <p:cNvPr id="106499" name="Rectangle 3"/>
          <p:cNvSpPr>
            <a:spLocks noGrp="1" noChangeArrowheads="1"/>
          </p:cNvSpPr>
          <p:nvPr>
            <p:ph type="body" idx="1"/>
          </p:nvPr>
        </p:nvSpPr>
        <p:spPr>
          <a:xfrm>
            <a:off x="1199456" y="1341438"/>
            <a:ext cx="9865096" cy="5327650"/>
          </a:xfrm>
        </p:spPr>
        <p:txBody>
          <a:bodyPr/>
          <a:lstStyle/>
          <a:p>
            <a:pPr eaLnBrk="1" hangingPunct="1"/>
            <a:r>
              <a:rPr lang="zh-CN" altLang="en-US" sz="2800" dirty="0">
                <a:solidFill>
                  <a:srgbClr val="EE0006"/>
                </a:solidFill>
                <a:ea typeface="黑体" pitchFamily="2" charset="-122"/>
              </a:rPr>
              <a:t>系统聚类法（基于</a:t>
            </a:r>
            <a:r>
              <a:rPr lang="en-US" altLang="zh-CN" sz="2800" dirty="0">
                <a:solidFill>
                  <a:srgbClr val="EE0006"/>
                </a:solidFill>
                <a:ea typeface="黑体" pitchFamily="2" charset="-122"/>
              </a:rPr>
              <a:t>F</a:t>
            </a:r>
            <a:r>
              <a:rPr lang="zh-CN" altLang="en-US" sz="2800" dirty="0">
                <a:solidFill>
                  <a:srgbClr val="EE0006"/>
                </a:solidFill>
                <a:ea typeface="黑体" pitchFamily="2" charset="-122"/>
              </a:rPr>
              <a:t>等价矩阵聚类方法）</a:t>
            </a:r>
          </a:p>
          <a:p>
            <a:pPr lvl="1" eaLnBrk="1" hangingPunct="1"/>
            <a:r>
              <a:rPr lang="zh-CN" altLang="en-US" sz="2400" b="1" dirty="0">
                <a:ea typeface="华文楷体" pitchFamily="2" charset="-122"/>
              </a:rPr>
              <a:t>算法性质：当两个样本在</a:t>
            </a:r>
            <a:r>
              <a:rPr lang="en-US" altLang="zh-CN" sz="2400" b="1" dirty="0" err="1">
                <a:ea typeface="华文楷体" pitchFamily="2" charset="-122"/>
              </a:rPr>
              <a:t>i</a:t>
            </a:r>
            <a:r>
              <a:rPr lang="zh-CN" altLang="en-US" sz="2400" b="1" dirty="0">
                <a:ea typeface="华文楷体" pitchFamily="2" charset="-122"/>
              </a:rPr>
              <a:t>层处于同一类，则在更高层</a:t>
            </a:r>
            <a:r>
              <a:rPr lang="en-US" altLang="zh-CN" sz="2400" b="1" dirty="0">
                <a:ea typeface="华文楷体" pitchFamily="2" charset="-122"/>
              </a:rPr>
              <a:t>j (j&gt;</a:t>
            </a:r>
            <a:r>
              <a:rPr lang="en-US" altLang="zh-CN" sz="2400" b="1" dirty="0" err="1">
                <a:ea typeface="华文楷体" pitchFamily="2" charset="-122"/>
              </a:rPr>
              <a:t>i</a:t>
            </a:r>
            <a:r>
              <a:rPr lang="en-US" altLang="zh-CN" sz="2400" b="1" dirty="0">
                <a:ea typeface="华文楷体" pitchFamily="2" charset="-122"/>
              </a:rPr>
              <a:t>), </a:t>
            </a:r>
            <a:r>
              <a:rPr lang="zh-CN" altLang="en-US" sz="2400" b="1" dirty="0">
                <a:ea typeface="华文楷体" pitchFamily="2" charset="-122"/>
              </a:rPr>
              <a:t>这两个样本也处于同一类中。</a:t>
            </a:r>
          </a:p>
          <a:p>
            <a:pPr lvl="1" eaLnBrk="1" hangingPunct="1"/>
            <a:r>
              <a:rPr lang="zh-CN" altLang="en-US" sz="2400" dirty="0">
                <a:solidFill>
                  <a:srgbClr val="3333FF"/>
                </a:solidFill>
                <a:ea typeface="黑体" pitchFamily="2" charset="-122"/>
              </a:rPr>
              <a:t>聚集法：</a:t>
            </a:r>
            <a:r>
              <a:rPr lang="zh-CN" altLang="en-US" sz="2400" dirty="0">
                <a:ea typeface="黑体" pitchFamily="2" charset="-122"/>
              </a:rPr>
              <a:t>从下往上</a:t>
            </a:r>
          </a:p>
          <a:p>
            <a:pPr lvl="1" eaLnBrk="1" hangingPunct="1"/>
            <a:r>
              <a:rPr lang="zh-CN" altLang="en-US" sz="2400" dirty="0">
                <a:solidFill>
                  <a:srgbClr val="3333FF"/>
                </a:solidFill>
                <a:ea typeface="黑体" pitchFamily="2" charset="-122"/>
              </a:rPr>
              <a:t>分裂法：</a:t>
            </a:r>
            <a:r>
              <a:rPr lang="zh-CN" altLang="en-US" sz="2400" dirty="0">
                <a:ea typeface="黑体" pitchFamily="2" charset="-122"/>
              </a:rPr>
              <a:t>从上往下</a:t>
            </a:r>
          </a:p>
          <a:p>
            <a:pPr eaLnBrk="1" hangingPunct="1"/>
            <a:r>
              <a:rPr lang="zh-CN" altLang="en-US" sz="2800" dirty="0">
                <a:solidFill>
                  <a:srgbClr val="EE0006"/>
                </a:solidFill>
                <a:ea typeface="黑体" pitchFamily="2" charset="-122"/>
              </a:rPr>
              <a:t>图论聚类法</a:t>
            </a:r>
          </a:p>
          <a:p>
            <a:pPr lvl="1" eaLnBrk="1" hangingPunct="1"/>
            <a:r>
              <a:rPr lang="zh-CN" altLang="en-US" sz="2400" b="1" dirty="0">
                <a:latin typeface="华文楷体" pitchFamily="2" charset="-122"/>
                <a:ea typeface="华文楷体" pitchFamily="2" charset="-122"/>
              </a:rPr>
              <a:t>数据集的各个样本构成图中的节点，节点的边的加权系数反映两个节点的相似性</a:t>
            </a:r>
          </a:p>
          <a:p>
            <a:pPr lvl="1" eaLnBrk="1" hangingPunct="1"/>
            <a:r>
              <a:rPr lang="zh-CN" altLang="en-US" sz="2400" b="1" dirty="0">
                <a:solidFill>
                  <a:srgbClr val="057939"/>
                </a:solidFill>
                <a:latin typeface="华文楷体" pitchFamily="2" charset="-122"/>
                <a:ea typeface="华文楷体" pitchFamily="2" charset="-122"/>
              </a:rPr>
              <a:t>直接聚类法、编网法、最大生成树法</a:t>
            </a:r>
          </a:p>
          <a:p>
            <a:pPr eaLnBrk="1" hangingPunct="1"/>
            <a:r>
              <a:rPr lang="zh-CN" altLang="en-US" sz="2800" dirty="0">
                <a:solidFill>
                  <a:srgbClr val="EE0006"/>
                </a:solidFill>
                <a:ea typeface="黑体" pitchFamily="2" charset="-122"/>
              </a:rPr>
              <a:t>目标函数聚类法</a:t>
            </a:r>
          </a:p>
          <a:p>
            <a:pPr lvl="1" eaLnBrk="1" hangingPunct="1"/>
            <a:r>
              <a:rPr lang="zh-CN" altLang="en-US" sz="2400" b="1" dirty="0">
                <a:latin typeface="华文楷体" pitchFamily="2" charset="-122"/>
                <a:ea typeface="华文楷体" pitchFamily="2" charset="-122"/>
              </a:rPr>
              <a:t>使用</a:t>
            </a:r>
            <a:r>
              <a:rPr lang="zh-CN" altLang="en-US" sz="2400" b="1" u="sng" dirty="0">
                <a:latin typeface="华文楷体" pitchFamily="2" charset="-122"/>
                <a:ea typeface="华文楷体" pitchFamily="2" charset="-122"/>
              </a:rPr>
              <a:t>目标函数</a:t>
            </a:r>
            <a:r>
              <a:rPr lang="zh-CN" altLang="en-US" sz="2400" b="1" dirty="0">
                <a:latin typeface="华文楷体" pitchFamily="2" charset="-122"/>
                <a:ea typeface="华文楷体" pitchFamily="2" charset="-122"/>
              </a:rPr>
              <a:t>来测度聚类的效果，最佳聚类对应于求取目标函数的极值</a:t>
            </a:r>
          </a:p>
        </p:txBody>
      </p:sp>
      <p:sp>
        <p:nvSpPr>
          <p:cNvPr id="2" name="灯片编号占位符 1">
            <a:extLst>
              <a:ext uri="{FF2B5EF4-FFF2-40B4-BE49-F238E27FC236}">
                <a16:creationId xmlns:a16="http://schemas.microsoft.com/office/drawing/2014/main" id="{3F463B0C-E992-981C-5C6B-1BF38F3080CF}"/>
              </a:ext>
            </a:extLst>
          </p:cNvPr>
          <p:cNvSpPr>
            <a:spLocks noGrp="1"/>
          </p:cNvSpPr>
          <p:nvPr>
            <p:ph type="sldNum" sz="quarter" idx="11"/>
          </p:nvPr>
        </p:nvSpPr>
        <p:spPr/>
        <p:txBody>
          <a:bodyPr/>
          <a:lstStyle/>
          <a:p>
            <a:pPr>
              <a:defRPr/>
            </a:pPr>
            <a:fld id="{F13753BC-CAEF-4333-AC48-2805658F6E3F}" type="slidenum">
              <a:rPr lang="en-US" altLang="zh-CN" smtClean="0"/>
              <a:pPr>
                <a:defRPr/>
              </a:pPr>
              <a:t>37</a:t>
            </a:fld>
            <a:endParaRPr lang="en-US" altLang="zh-CN"/>
          </a:p>
        </p:txBody>
      </p:sp>
    </p:spTree>
    <p:extLst>
      <p:ext uri="{BB962C8B-B14F-4D97-AF65-F5344CB8AC3E}">
        <p14:creationId xmlns:p14="http://schemas.microsoft.com/office/powerpoint/2010/main" val="3328550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up)">
                                      <p:cBhvr>
                                        <p:cTn id="7" dur="500"/>
                                        <p:tgtEl>
                                          <p:spTgt spid="1064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wipe(up)">
                                      <p:cBhvr>
                                        <p:cTn id="12" dur="500"/>
                                        <p:tgtEl>
                                          <p:spTgt spid="1064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wipe(up)">
                                      <p:cBhvr>
                                        <p:cTn id="17" dur="500"/>
                                        <p:tgtEl>
                                          <p:spTgt spid="1064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6499">
                                            <p:txEl>
                                              <p:pRg st="3" end="3"/>
                                            </p:txEl>
                                          </p:spTgt>
                                        </p:tgtEl>
                                        <p:attrNameLst>
                                          <p:attrName>style.visibility</p:attrName>
                                        </p:attrNameLst>
                                      </p:cBhvr>
                                      <p:to>
                                        <p:strVal val="visible"/>
                                      </p:to>
                                    </p:set>
                                    <p:animEffect transition="in" filter="wipe(up)">
                                      <p:cBhvr>
                                        <p:cTn id="22" dur="500"/>
                                        <p:tgtEl>
                                          <p:spTgt spid="1064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6499">
                                            <p:txEl>
                                              <p:pRg st="4" end="4"/>
                                            </p:txEl>
                                          </p:spTgt>
                                        </p:tgtEl>
                                        <p:attrNameLst>
                                          <p:attrName>style.visibility</p:attrName>
                                        </p:attrNameLst>
                                      </p:cBhvr>
                                      <p:to>
                                        <p:strVal val="visible"/>
                                      </p:to>
                                    </p:set>
                                    <p:animEffect transition="in" filter="wipe(up)">
                                      <p:cBhvr>
                                        <p:cTn id="27" dur="500"/>
                                        <p:tgtEl>
                                          <p:spTgt spid="1064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6499">
                                            <p:txEl>
                                              <p:pRg st="5" end="5"/>
                                            </p:txEl>
                                          </p:spTgt>
                                        </p:tgtEl>
                                        <p:attrNameLst>
                                          <p:attrName>style.visibility</p:attrName>
                                        </p:attrNameLst>
                                      </p:cBhvr>
                                      <p:to>
                                        <p:strVal val="visible"/>
                                      </p:to>
                                    </p:set>
                                    <p:animEffect transition="in" filter="wipe(up)">
                                      <p:cBhvr>
                                        <p:cTn id="32" dur="500"/>
                                        <p:tgtEl>
                                          <p:spTgt spid="1064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6499">
                                            <p:txEl>
                                              <p:pRg st="6" end="6"/>
                                            </p:txEl>
                                          </p:spTgt>
                                        </p:tgtEl>
                                        <p:attrNameLst>
                                          <p:attrName>style.visibility</p:attrName>
                                        </p:attrNameLst>
                                      </p:cBhvr>
                                      <p:to>
                                        <p:strVal val="visible"/>
                                      </p:to>
                                    </p:set>
                                    <p:animEffect transition="in" filter="wipe(up)">
                                      <p:cBhvr>
                                        <p:cTn id="37" dur="500"/>
                                        <p:tgtEl>
                                          <p:spTgt spid="1064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6499">
                                            <p:txEl>
                                              <p:pRg st="7" end="7"/>
                                            </p:txEl>
                                          </p:spTgt>
                                        </p:tgtEl>
                                        <p:attrNameLst>
                                          <p:attrName>style.visibility</p:attrName>
                                        </p:attrNameLst>
                                      </p:cBhvr>
                                      <p:to>
                                        <p:strVal val="visible"/>
                                      </p:to>
                                    </p:set>
                                    <p:animEffect transition="in" filter="wipe(up)">
                                      <p:cBhvr>
                                        <p:cTn id="42" dur="500"/>
                                        <p:tgtEl>
                                          <p:spTgt spid="10649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6499">
                                            <p:txEl>
                                              <p:pRg st="8" end="8"/>
                                            </p:txEl>
                                          </p:spTgt>
                                        </p:tgtEl>
                                        <p:attrNameLst>
                                          <p:attrName>style.visibility</p:attrName>
                                        </p:attrNameLst>
                                      </p:cBhvr>
                                      <p:to>
                                        <p:strVal val="visible"/>
                                      </p:to>
                                    </p:set>
                                    <p:animEffect transition="in" filter="wipe(up)">
                                      <p:cBhvr>
                                        <p:cTn id="47" dur="500"/>
                                        <p:tgtEl>
                                          <p:spTgt spid="1064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81200" y="333375"/>
            <a:ext cx="8362950" cy="1366838"/>
          </a:xfrm>
        </p:spPr>
        <p:txBody>
          <a:bodyPr/>
          <a:lstStyle/>
          <a:p>
            <a:pPr algn="ctr" eaLnBrk="1" hangingPunct="1"/>
            <a:r>
              <a:rPr kumimoji="1" lang="zh-CN" altLang="en-US" dirty="0">
                <a:solidFill>
                  <a:srgbClr val="057939"/>
                </a:solidFill>
                <a:ea typeface="黑体" pitchFamily="2" charset="-122"/>
              </a:rPr>
              <a:t>数据矩阵</a:t>
            </a:r>
            <a:endParaRPr kumimoji="1" lang="zh-CN" altLang="en-US" sz="3200" b="1" dirty="0">
              <a:solidFill>
                <a:srgbClr val="EE0006"/>
              </a:solidFill>
            </a:endParaRPr>
          </a:p>
        </p:txBody>
      </p:sp>
      <p:sp>
        <p:nvSpPr>
          <p:cNvPr id="226307" name="Rectangle 3"/>
          <p:cNvSpPr>
            <a:spLocks noChangeArrowheads="1"/>
          </p:cNvSpPr>
          <p:nvPr/>
        </p:nvSpPr>
        <p:spPr bwMode="auto">
          <a:xfrm>
            <a:off x="1271464" y="1484314"/>
            <a:ext cx="9505056" cy="198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SzPct val="80000"/>
              <a:buFont typeface="Wingdings" pitchFamily="2" charset="2"/>
              <a:buNone/>
            </a:pPr>
            <a:r>
              <a:rPr kumimoji="1" lang="zh-CN" altLang="en-US" sz="2800" b="1" dirty="0">
                <a:solidFill>
                  <a:schemeClr val="bg2"/>
                </a:solidFill>
                <a:latin typeface="宋体" pitchFamily="2" charset="-122"/>
              </a:rPr>
              <a:t>设论域</a:t>
            </a:r>
            <a:r>
              <a:rPr kumimoji="1" lang="en-US" altLang="zh-CN" sz="2800" b="1" i="1" dirty="0">
                <a:solidFill>
                  <a:schemeClr val="bg2"/>
                </a:solidFill>
                <a:latin typeface="Times New Roman" pitchFamily="18" charset="0"/>
              </a:rPr>
              <a:t>U </a:t>
            </a:r>
            <a:r>
              <a:rPr kumimoji="1" lang="en-US" altLang="zh-CN" sz="2800" b="1" dirty="0">
                <a:solidFill>
                  <a:schemeClr val="bg2"/>
                </a:solidFill>
                <a:latin typeface="Times New Roman" pitchFamily="18" charset="0"/>
              </a:rPr>
              <a:t>= {</a:t>
            </a:r>
            <a:r>
              <a:rPr kumimoji="1" lang="en-US" altLang="zh-CN" sz="2800" b="1" i="1" dirty="0">
                <a:solidFill>
                  <a:schemeClr val="bg2"/>
                </a:solidFill>
                <a:latin typeface="Times New Roman" pitchFamily="18" charset="0"/>
              </a:rPr>
              <a:t>X</a:t>
            </a:r>
            <a:r>
              <a:rPr kumimoji="1" lang="en-US" altLang="zh-CN" sz="2800" b="1" baseline="-30000" dirty="0">
                <a:solidFill>
                  <a:schemeClr val="bg2"/>
                </a:solidFill>
                <a:latin typeface="Times New Roman" pitchFamily="18" charset="0"/>
              </a:rPr>
              <a:t>1</a:t>
            </a:r>
            <a:r>
              <a:rPr kumimoji="1" lang="en-US" altLang="zh-CN" sz="2800" b="1" dirty="0">
                <a:solidFill>
                  <a:schemeClr val="bg2"/>
                </a:solidFill>
                <a:latin typeface="Times New Roman" pitchFamily="18" charset="0"/>
              </a:rPr>
              <a:t>, </a:t>
            </a:r>
            <a:r>
              <a:rPr kumimoji="1" lang="en-US" altLang="zh-CN" sz="2800" b="1" i="1" dirty="0">
                <a:solidFill>
                  <a:schemeClr val="bg2"/>
                </a:solidFill>
                <a:latin typeface="Times New Roman" pitchFamily="18" charset="0"/>
              </a:rPr>
              <a:t>X</a:t>
            </a:r>
            <a:r>
              <a:rPr kumimoji="1" lang="en-US" altLang="zh-CN" sz="2800" b="1" baseline="-30000" dirty="0">
                <a:solidFill>
                  <a:schemeClr val="bg2"/>
                </a:solidFill>
                <a:latin typeface="Times New Roman" pitchFamily="18" charset="0"/>
              </a:rPr>
              <a:t>2</a:t>
            </a:r>
            <a:r>
              <a:rPr kumimoji="1" lang="en-US" altLang="zh-CN" sz="2800" b="1" dirty="0">
                <a:solidFill>
                  <a:schemeClr val="bg2"/>
                </a:solidFill>
                <a:latin typeface="Times New Roman" pitchFamily="18" charset="0"/>
              </a:rPr>
              <a:t>, …, </a:t>
            </a:r>
            <a:r>
              <a:rPr kumimoji="1" lang="en-US" altLang="zh-CN" sz="2800" b="1" i="1" dirty="0" err="1">
                <a:solidFill>
                  <a:schemeClr val="bg2"/>
                </a:solidFill>
                <a:latin typeface="Times New Roman" pitchFamily="18" charset="0"/>
              </a:rPr>
              <a:t>X</a:t>
            </a:r>
            <a:r>
              <a:rPr kumimoji="1" lang="en-US" altLang="zh-CN" sz="2800" b="1" i="1" baseline="-30000" dirty="0" err="1">
                <a:solidFill>
                  <a:schemeClr val="bg2"/>
                </a:solidFill>
                <a:latin typeface="Times New Roman" pitchFamily="18" charset="0"/>
              </a:rPr>
              <a:t>n</a:t>
            </a:r>
            <a:r>
              <a:rPr kumimoji="1" lang="en-US" altLang="zh-CN" sz="2800" b="1" dirty="0">
                <a:solidFill>
                  <a:schemeClr val="bg2"/>
                </a:solidFill>
                <a:latin typeface="Times New Roman" pitchFamily="18" charset="0"/>
              </a:rPr>
              <a:t>}</a:t>
            </a:r>
            <a:r>
              <a:rPr kumimoji="1" lang="zh-CN" altLang="en-US" sz="2800" b="1" dirty="0">
                <a:solidFill>
                  <a:schemeClr val="bg2"/>
                </a:solidFill>
                <a:latin typeface="宋体" pitchFamily="2" charset="-122"/>
              </a:rPr>
              <a:t>为被聚类对象</a:t>
            </a:r>
            <a:r>
              <a:rPr kumimoji="1" lang="en-US" altLang="zh-CN" sz="2800" b="1" dirty="0">
                <a:solidFill>
                  <a:schemeClr val="bg2"/>
                </a:solidFill>
                <a:latin typeface="宋体" pitchFamily="2" charset="-122"/>
              </a:rPr>
              <a:t>,</a:t>
            </a:r>
            <a:r>
              <a:rPr kumimoji="1" lang="zh-CN" altLang="en-US" sz="2800" b="1" dirty="0">
                <a:solidFill>
                  <a:schemeClr val="bg2"/>
                </a:solidFill>
                <a:latin typeface="宋体" pitchFamily="2" charset="-122"/>
              </a:rPr>
              <a:t>每个对象又由</a:t>
            </a:r>
            <a:r>
              <a:rPr kumimoji="1" lang="en-US" altLang="zh-CN" sz="2800" b="1" i="1" dirty="0">
                <a:solidFill>
                  <a:srgbClr val="FF00FF"/>
                </a:solidFill>
                <a:latin typeface="Times New Roman" pitchFamily="18" charset="0"/>
              </a:rPr>
              <a:t>p</a:t>
            </a:r>
            <a:r>
              <a:rPr kumimoji="1" lang="zh-CN" altLang="en-US" sz="2800" b="1" dirty="0">
                <a:solidFill>
                  <a:schemeClr val="bg2"/>
                </a:solidFill>
                <a:latin typeface="宋体" pitchFamily="2" charset="-122"/>
              </a:rPr>
              <a:t>个指标表示其特征</a:t>
            </a:r>
            <a:r>
              <a:rPr kumimoji="1" lang="en-US" altLang="zh-CN" sz="2800" b="1" dirty="0">
                <a:solidFill>
                  <a:schemeClr val="bg2"/>
                </a:solidFill>
                <a:latin typeface="宋体" pitchFamily="2" charset="-122"/>
              </a:rPr>
              <a:t>:</a:t>
            </a:r>
          </a:p>
          <a:p>
            <a:pPr algn="ctr">
              <a:spcBef>
                <a:spcPct val="20000"/>
              </a:spcBef>
              <a:buClr>
                <a:schemeClr val="accent2"/>
              </a:buClr>
              <a:buSzPct val="80000"/>
              <a:buFont typeface="Wingdings" pitchFamily="2" charset="2"/>
              <a:buNone/>
            </a:pPr>
            <a:r>
              <a:rPr kumimoji="1" lang="en-US" altLang="zh-CN" sz="2800" b="1" i="1" dirty="0">
                <a:latin typeface="Times New Roman" panose="02020603050405020304" pitchFamily="18" charset="0"/>
                <a:ea typeface="黑体" panose="02010609060101010101" pitchFamily="49" charset="-122"/>
                <a:cs typeface="Times New Roman" panose="02020603050405020304" pitchFamily="18" charset="0"/>
              </a:rPr>
              <a:t>X</a:t>
            </a:r>
            <a:r>
              <a:rPr kumimoji="1" lang="en-US" altLang="zh-CN" sz="2800" b="1" i="1" baseline="-30000" dirty="0">
                <a:latin typeface="Times New Roman" pitchFamily="18" charset="0"/>
              </a:rPr>
              <a:t>i</a:t>
            </a:r>
            <a:r>
              <a:rPr kumimoji="1" lang="en-US" altLang="zh-CN" sz="2800" b="1" i="1" dirty="0">
                <a:latin typeface="Times New Roman" pitchFamily="18" charset="0"/>
              </a:rPr>
              <a:t> </a:t>
            </a:r>
            <a:r>
              <a:rPr kumimoji="1" lang="en-US" altLang="zh-CN" sz="2800" b="1" dirty="0">
                <a:latin typeface="Times New Roman" pitchFamily="18" charset="0"/>
              </a:rPr>
              <a:t>= { </a:t>
            </a:r>
            <a:r>
              <a:rPr kumimoji="1" lang="en-US" altLang="zh-CN" sz="2800" b="1" i="1" dirty="0">
                <a:latin typeface="Times New Roman" pitchFamily="18" charset="0"/>
              </a:rPr>
              <a:t>x</a:t>
            </a:r>
            <a:r>
              <a:rPr kumimoji="1" lang="en-US" altLang="zh-CN" sz="2800" b="1" i="1" baseline="-30000" dirty="0">
                <a:latin typeface="Times New Roman" pitchFamily="18" charset="0"/>
              </a:rPr>
              <a:t>i</a:t>
            </a:r>
            <a:r>
              <a:rPr kumimoji="1" lang="en-US" altLang="zh-CN" sz="2800" b="1" baseline="-30000" dirty="0">
                <a:latin typeface="Times New Roman" pitchFamily="18" charset="0"/>
              </a:rPr>
              <a:t>1</a:t>
            </a:r>
            <a:r>
              <a:rPr kumimoji="1" lang="en-US" altLang="zh-CN" sz="2800" b="1" dirty="0">
                <a:latin typeface="Times New Roman" pitchFamily="18" charset="0"/>
              </a:rPr>
              <a:t>, </a:t>
            </a:r>
            <a:r>
              <a:rPr kumimoji="1" lang="en-US" altLang="zh-CN" sz="2800" b="1" i="1" dirty="0">
                <a:latin typeface="Times New Roman" pitchFamily="18" charset="0"/>
              </a:rPr>
              <a:t>x</a:t>
            </a:r>
            <a:r>
              <a:rPr kumimoji="1" lang="en-US" altLang="zh-CN" sz="2800" b="1" i="1" baseline="-30000" dirty="0">
                <a:latin typeface="Times New Roman" pitchFamily="18" charset="0"/>
              </a:rPr>
              <a:t>i</a:t>
            </a:r>
            <a:r>
              <a:rPr kumimoji="1" lang="en-US" altLang="zh-CN" sz="2800" b="1" baseline="-30000" dirty="0">
                <a:latin typeface="Times New Roman" pitchFamily="18" charset="0"/>
              </a:rPr>
              <a:t>2</a:t>
            </a:r>
            <a:r>
              <a:rPr kumimoji="1" lang="en-US" altLang="zh-CN" sz="2800" b="1" dirty="0">
                <a:latin typeface="Times New Roman" pitchFamily="18" charset="0"/>
              </a:rPr>
              <a:t>, …, </a:t>
            </a:r>
            <a:r>
              <a:rPr kumimoji="1" lang="en-US" altLang="zh-CN" sz="2800" b="1" i="1" dirty="0" err="1">
                <a:latin typeface="Times New Roman" pitchFamily="18" charset="0"/>
              </a:rPr>
              <a:t>x</a:t>
            </a:r>
            <a:r>
              <a:rPr kumimoji="1" lang="en-US" altLang="zh-CN" sz="2800" b="1" i="1" baseline="-30000" dirty="0" err="1">
                <a:latin typeface="Times New Roman" pitchFamily="18" charset="0"/>
              </a:rPr>
              <a:t>ip</a:t>
            </a:r>
            <a:r>
              <a:rPr kumimoji="1" lang="en-US" altLang="zh-CN" sz="2800" b="1" dirty="0">
                <a:latin typeface="Times New Roman" pitchFamily="18" charset="0"/>
              </a:rPr>
              <a:t>},  </a:t>
            </a:r>
            <a:r>
              <a:rPr kumimoji="1" lang="en-US" altLang="zh-CN" sz="2800" b="1" i="1" dirty="0">
                <a:latin typeface="Times New Roman" pitchFamily="18" charset="0"/>
              </a:rPr>
              <a:t>i</a:t>
            </a:r>
            <a:r>
              <a:rPr kumimoji="1" lang="en-US" altLang="zh-CN" sz="2800" b="1" dirty="0">
                <a:latin typeface="Times New Roman" pitchFamily="18" charset="0"/>
              </a:rPr>
              <a:t> = 1, 2, …, </a:t>
            </a:r>
            <a:r>
              <a:rPr kumimoji="1" lang="en-US" altLang="zh-CN" sz="2800" b="1" i="1" dirty="0">
                <a:latin typeface="Times New Roman" pitchFamily="18" charset="0"/>
              </a:rPr>
              <a:t>n</a:t>
            </a:r>
            <a:endParaRPr kumimoji="1" lang="en-US" altLang="zh-CN" sz="2800" b="1" dirty="0">
              <a:latin typeface="Times New Roman" pitchFamily="18" charset="0"/>
            </a:endParaRPr>
          </a:p>
          <a:p>
            <a:pPr>
              <a:spcBef>
                <a:spcPct val="20000"/>
              </a:spcBef>
              <a:buClr>
                <a:schemeClr val="accent2"/>
              </a:buClr>
              <a:buSzPct val="80000"/>
              <a:buFont typeface="Wingdings" pitchFamily="2" charset="2"/>
              <a:buNone/>
            </a:pPr>
            <a:r>
              <a:rPr kumimoji="1" lang="zh-CN" altLang="en-US" sz="2800" b="1" dirty="0">
                <a:latin typeface="宋体" pitchFamily="2" charset="-122"/>
              </a:rPr>
              <a:t>于是</a:t>
            </a:r>
            <a:r>
              <a:rPr kumimoji="1" lang="en-US" altLang="zh-CN" sz="2800" b="1" dirty="0">
                <a:latin typeface="宋体" pitchFamily="2" charset="-122"/>
              </a:rPr>
              <a:t>,</a:t>
            </a:r>
            <a:r>
              <a:rPr kumimoji="1" lang="zh-CN" altLang="en-US" sz="2800" b="1" dirty="0">
                <a:latin typeface="宋体" pitchFamily="2" charset="-122"/>
              </a:rPr>
              <a:t>得到原始数据矩阵为</a:t>
            </a:r>
          </a:p>
        </p:txBody>
      </p:sp>
      <p:graphicFrame>
        <p:nvGraphicFramePr>
          <p:cNvPr id="226308" name="Object 4"/>
          <p:cNvGraphicFramePr>
            <a:graphicFrameLocks noChangeAspect="1"/>
          </p:cNvGraphicFramePr>
          <p:nvPr>
            <p:extLst>
              <p:ext uri="{D42A27DB-BD31-4B8C-83A1-F6EECF244321}">
                <p14:modId xmlns:p14="http://schemas.microsoft.com/office/powerpoint/2010/main" val="519512586"/>
              </p:ext>
            </p:extLst>
          </p:nvPr>
        </p:nvGraphicFramePr>
        <p:xfrm>
          <a:off x="3143673" y="3573017"/>
          <a:ext cx="5989637" cy="2790825"/>
        </p:xfrm>
        <a:graphic>
          <a:graphicData uri="http://schemas.openxmlformats.org/presentationml/2006/ole">
            <mc:AlternateContent xmlns:mc="http://schemas.openxmlformats.org/markup-compatibility/2006">
              <mc:Choice xmlns:v="urn:schemas-microsoft-com:vml" Requires="v">
                <p:oleObj name="Equation" r:id="rId4" imgW="2031840" imgH="939600" progId="Equation.DSMT4">
                  <p:embed/>
                </p:oleObj>
              </mc:Choice>
              <mc:Fallback>
                <p:oleObj name="Equation" r:id="rId4" imgW="2031840" imgH="939600" progId="Equation.DSMT4">
                  <p:embed/>
                  <p:pic>
                    <p:nvPicPr>
                      <p:cNvPr id="0" name=""/>
                      <p:cNvPicPr>
                        <a:picLocks noChangeAspect="1" noChangeArrowheads="1"/>
                      </p:cNvPicPr>
                      <p:nvPr/>
                    </p:nvPicPr>
                    <p:blipFill>
                      <a:blip r:embed="rId5"/>
                      <a:srcRect/>
                      <a:stretch>
                        <a:fillRect/>
                      </a:stretch>
                    </p:blipFill>
                    <p:spPr bwMode="auto">
                      <a:xfrm>
                        <a:off x="3143673" y="3573017"/>
                        <a:ext cx="5989637" cy="279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BF20A520-9881-CF22-1E35-76F0D55FEA45}"/>
              </a:ext>
            </a:extLst>
          </p:cNvPr>
          <p:cNvSpPr>
            <a:spLocks noGrp="1"/>
          </p:cNvSpPr>
          <p:nvPr>
            <p:ph type="sldNum" sz="quarter" idx="11"/>
          </p:nvPr>
        </p:nvSpPr>
        <p:spPr/>
        <p:txBody>
          <a:bodyPr/>
          <a:lstStyle/>
          <a:p>
            <a:pPr>
              <a:defRPr/>
            </a:pPr>
            <a:fld id="{F13753BC-CAEF-4333-AC48-2805658F6E3F}" type="slidenum">
              <a:rPr lang="en-US" altLang="zh-CN" smtClean="0"/>
              <a:pPr>
                <a:defRPr/>
              </a:pPr>
              <a:t>38</a:t>
            </a:fld>
            <a:endParaRPr lang="en-US" altLang="zh-CN"/>
          </a:p>
        </p:txBody>
      </p:sp>
    </p:spTree>
    <p:extLst>
      <p:ext uri="{BB962C8B-B14F-4D97-AF65-F5344CB8AC3E}">
        <p14:creationId xmlns:p14="http://schemas.microsoft.com/office/powerpoint/2010/main" val="555601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box(out)">
                                      <p:cBhvr>
                                        <p:cTn id="7" dur="500"/>
                                        <p:tgtEl>
                                          <p:spTgt spid="22630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26307">
                                            <p:txEl>
                                              <p:pRg st="1" end="1"/>
                                            </p:txEl>
                                          </p:spTgt>
                                        </p:tgtEl>
                                        <p:attrNameLst>
                                          <p:attrName>style.visibility</p:attrName>
                                        </p:attrNameLst>
                                      </p:cBhvr>
                                      <p:to>
                                        <p:strVal val="visible"/>
                                      </p:to>
                                    </p:set>
                                    <p:animEffect transition="in" filter="box(out)">
                                      <p:cBhvr>
                                        <p:cTn id="12" dur="500"/>
                                        <p:tgtEl>
                                          <p:spTgt spid="22630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26307">
                                            <p:txEl>
                                              <p:pRg st="2" end="2"/>
                                            </p:txEl>
                                          </p:spTgt>
                                        </p:tgtEl>
                                        <p:attrNameLst>
                                          <p:attrName>style.visibility</p:attrName>
                                        </p:attrNameLst>
                                      </p:cBhvr>
                                      <p:to>
                                        <p:strVal val="visible"/>
                                      </p:to>
                                    </p:set>
                                    <p:animEffect transition="in" filter="box(out)">
                                      <p:cBhvr>
                                        <p:cTn id="17" dur="500"/>
                                        <p:tgtEl>
                                          <p:spTgt spid="22630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26308"/>
                                        </p:tgtEl>
                                        <p:attrNameLst>
                                          <p:attrName>style.visibility</p:attrName>
                                        </p:attrNameLst>
                                      </p:cBhvr>
                                      <p:to>
                                        <p:strVal val="visible"/>
                                      </p:to>
                                    </p:set>
                                    <p:animEffect transition="in" filter="dissolve">
                                      <p:cBhvr>
                                        <p:cTn id="22" dur="500"/>
                                        <p:tgtEl>
                                          <p:spTgt spid="226308"/>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14290-95DE-4143-A33D-D08DDC4983A2}"/>
              </a:ext>
            </a:extLst>
          </p:cNvPr>
          <p:cNvSpPr>
            <a:spLocks noGrp="1"/>
          </p:cNvSpPr>
          <p:nvPr>
            <p:ph type="title"/>
          </p:nvPr>
        </p:nvSpPr>
        <p:spPr>
          <a:xfrm>
            <a:off x="1978982" y="18958"/>
            <a:ext cx="8229600" cy="11430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数据归一化处理的作用</a:t>
            </a:r>
          </a:p>
        </p:txBody>
      </p:sp>
      <p:sp>
        <p:nvSpPr>
          <p:cNvPr id="6" name="内容占位符 5">
            <a:extLst>
              <a:ext uri="{FF2B5EF4-FFF2-40B4-BE49-F238E27FC236}">
                <a16:creationId xmlns:a16="http://schemas.microsoft.com/office/drawing/2014/main" id="{7B971FF7-2F77-4117-A15F-5ADAE704439D}"/>
              </a:ext>
            </a:extLst>
          </p:cNvPr>
          <p:cNvSpPr>
            <a:spLocks noGrp="1"/>
          </p:cNvSpPr>
          <p:nvPr>
            <p:ph idx="1"/>
          </p:nvPr>
        </p:nvSpPr>
        <p:spPr>
          <a:xfrm>
            <a:off x="1055440" y="1113516"/>
            <a:ext cx="10009112" cy="2315485"/>
          </a:xfrm>
        </p:spPr>
        <p:txBody>
          <a:bodyPr/>
          <a:lstStyle/>
          <a:p>
            <a:r>
              <a:rPr lang="zh-CN" altLang="en-US" sz="2800" b="1" dirty="0"/>
              <a:t>对数据正式处理前</a:t>
            </a:r>
            <a:r>
              <a:rPr lang="en-US" altLang="zh-CN" sz="2800" b="1" dirty="0"/>
              <a:t>,</a:t>
            </a:r>
            <a:r>
              <a:rPr lang="zh-CN" altLang="en-US" sz="2800" b="1" dirty="0"/>
              <a:t>先将</a:t>
            </a:r>
            <a:r>
              <a:rPr lang="zh-CN" altLang="en-US" sz="2800" b="1" u="sng" dirty="0">
                <a:solidFill>
                  <a:srgbClr val="FF0000"/>
                </a:solidFill>
                <a:effectLst>
                  <a:outerShdw blurRad="38100" dist="38100" dir="2700000" algn="tl">
                    <a:srgbClr val="000000">
                      <a:alpha val="43137"/>
                    </a:srgbClr>
                  </a:outerShdw>
                </a:effectLst>
              </a:rPr>
              <a:t>数据归一化</a:t>
            </a:r>
            <a:r>
              <a:rPr lang="zh-CN" altLang="en-US" sz="2800" b="1" dirty="0"/>
              <a:t>处理</a:t>
            </a:r>
            <a:r>
              <a:rPr lang="en-US" altLang="zh-CN" sz="2800" b="1" dirty="0"/>
              <a:t>,</a:t>
            </a:r>
            <a:r>
              <a:rPr lang="zh-CN" altLang="en-US" sz="2800" b="1" dirty="0"/>
              <a:t>使其无量纲化</a:t>
            </a:r>
            <a:r>
              <a:rPr lang="en-US" altLang="zh-CN" sz="2800" b="1" dirty="0"/>
              <a:t>,</a:t>
            </a:r>
            <a:r>
              <a:rPr lang="zh-CN" altLang="en-US" sz="2800" b="1" dirty="0"/>
              <a:t>避免较大数值数据的变化掩盖掉小数值的变化</a:t>
            </a:r>
            <a:r>
              <a:rPr lang="zh-CN" altLang="en-US" sz="2400" b="1" dirty="0"/>
              <a:t>。</a:t>
            </a:r>
            <a:endParaRPr lang="en-US" altLang="zh-CN" sz="2400" b="1" dirty="0"/>
          </a:p>
          <a:p>
            <a:r>
              <a:rPr lang="zh-CN" altLang="en-US" sz="2400" b="1" dirty="0"/>
              <a:t>如</a:t>
            </a:r>
            <a:r>
              <a:rPr lang="zh-CN" altLang="en-US" sz="2400" b="1" u="sng" dirty="0">
                <a:solidFill>
                  <a:srgbClr val="3333FF"/>
                </a:solidFill>
              </a:rPr>
              <a:t>特征</a:t>
            </a:r>
            <a:r>
              <a:rPr lang="en-US" altLang="zh-CN" sz="2400" b="1" u="sng" dirty="0">
                <a:solidFill>
                  <a:srgbClr val="3333FF"/>
                </a:solidFill>
              </a:rPr>
              <a:t>5</a:t>
            </a:r>
            <a:r>
              <a:rPr lang="zh-CN" altLang="en-US" sz="2400" b="1" dirty="0"/>
              <a:t>的取值范围是</a:t>
            </a:r>
            <a:r>
              <a:rPr lang="en-US" altLang="zh-CN" sz="2400" b="1" dirty="0"/>
              <a:t>[90,200],</a:t>
            </a:r>
            <a:r>
              <a:rPr lang="zh-CN" altLang="en-US" sz="2400" b="1" u="sng" dirty="0">
                <a:solidFill>
                  <a:srgbClr val="008000"/>
                </a:solidFill>
              </a:rPr>
              <a:t>特征</a:t>
            </a:r>
            <a:r>
              <a:rPr lang="en-US" altLang="zh-CN" sz="2400" b="1" u="sng" dirty="0">
                <a:solidFill>
                  <a:srgbClr val="008000"/>
                </a:solidFill>
              </a:rPr>
              <a:t>8</a:t>
            </a:r>
            <a:r>
              <a:rPr lang="zh-CN" altLang="en-US" sz="2400" b="1" dirty="0"/>
              <a:t>的范围是</a:t>
            </a:r>
            <a:r>
              <a:rPr lang="en-US" altLang="zh-CN" sz="2400" b="1" dirty="0"/>
              <a:t>[0,0.5], </a:t>
            </a:r>
            <a:r>
              <a:rPr lang="zh-CN" altLang="en-US" sz="2400" b="1" dirty="0"/>
              <a:t>此时如果进行分类，</a:t>
            </a:r>
            <a:r>
              <a:rPr lang="zh-CN" altLang="en-US" sz="2400" b="1" u="sng" dirty="0">
                <a:solidFill>
                  <a:srgbClr val="008000"/>
                </a:solidFill>
              </a:rPr>
              <a:t>特征</a:t>
            </a:r>
            <a:r>
              <a:rPr lang="en-US" altLang="zh-CN" sz="2400" b="1" u="sng" dirty="0">
                <a:solidFill>
                  <a:srgbClr val="008000"/>
                </a:solidFill>
              </a:rPr>
              <a:t>8</a:t>
            </a:r>
            <a:r>
              <a:rPr lang="zh-CN" altLang="en-US" sz="2400" b="1" dirty="0"/>
              <a:t>的变化几乎可以被忽略。同时这种分布不平衡的数据还会引起训练时间长，大数值样本或是收敛受到影响等问题。 </a:t>
            </a:r>
            <a:endParaRPr lang="en-US" altLang="zh-CN" sz="2400" b="1" dirty="0"/>
          </a:p>
        </p:txBody>
      </p:sp>
      <p:pic>
        <p:nvPicPr>
          <p:cNvPr id="10" name="图片 9">
            <a:extLst>
              <a:ext uri="{FF2B5EF4-FFF2-40B4-BE49-F238E27FC236}">
                <a16:creationId xmlns:a16="http://schemas.microsoft.com/office/drawing/2014/main" id="{DC2141F8-D371-479D-99EF-F2D984B3E3A2}"/>
              </a:ext>
            </a:extLst>
          </p:cNvPr>
          <p:cNvPicPr>
            <a:picLocks noChangeAspect="1"/>
          </p:cNvPicPr>
          <p:nvPr/>
        </p:nvPicPr>
        <p:blipFill>
          <a:blip r:embed="rId3"/>
          <a:stretch>
            <a:fillRect/>
          </a:stretch>
        </p:blipFill>
        <p:spPr>
          <a:xfrm>
            <a:off x="5447928" y="3256778"/>
            <a:ext cx="4979477" cy="2101508"/>
          </a:xfrm>
          <a:prstGeom prst="rect">
            <a:avLst/>
          </a:prstGeom>
          <a:effectLst>
            <a:glow rad="127000">
              <a:srgbClr val="00B0F0"/>
            </a:glow>
          </a:effectLst>
        </p:spPr>
      </p:pic>
      <p:sp>
        <p:nvSpPr>
          <p:cNvPr id="11" name="矩形 10">
            <a:extLst>
              <a:ext uri="{FF2B5EF4-FFF2-40B4-BE49-F238E27FC236}">
                <a16:creationId xmlns:a16="http://schemas.microsoft.com/office/drawing/2014/main" id="{637E26F4-DF1D-40C9-BC85-F9080B74FB1C}"/>
              </a:ext>
            </a:extLst>
          </p:cNvPr>
          <p:cNvSpPr/>
          <p:nvPr/>
        </p:nvSpPr>
        <p:spPr>
          <a:xfrm>
            <a:off x="7312023" y="5445224"/>
            <a:ext cx="4832649" cy="1384995"/>
          </a:xfrm>
          <a:prstGeom prst="rect">
            <a:avLst/>
          </a:prstGeom>
          <a:solidFill>
            <a:srgbClr val="FFFF00"/>
          </a:solidFill>
        </p:spPr>
        <p:txBody>
          <a:bodyPr wrap="square">
            <a:spAutoFit/>
          </a:bodyPr>
          <a:lstStyle/>
          <a:p>
            <a:r>
              <a:rPr lang="zh-CN" altLang="en-US" sz="2800" b="1" dirty="0">
                <a:solidFill>
                  <a:srgbClr val="CC00C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数据归一化后，数据都被映射在</a:t>
            </a:r>
            <a:r>
              <a:rPr lang="en-US" altLang="zh-CN" sz="2800" b="1" dirty="0">
                <a:solidFill>
                  <a:srgbClr val="CC00C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[-1,1]</a:t>
            </a:r>
            <a:r>
              <a:rPr lang="zh-CN" altLang="en-US" sz="2800" b="1" dirty="0">
                <a:solidFill>
                  <a:srgbClr val="CC00C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范围，利于对数据作进一步的处理。</a:t>
            </a:r>
          </a:p>
        </p:txBody>
      </p:sp>
      <p:pic>
        <p:nvPicPr>
          <p:cNvPr id="9" name="图片 8">
            <a:extLst>
              <a:ext uri="{FF2B5EF4-FFF2-40B4-BE49-F238E27FC236}">
                <a16:creationId xmlns:a16="http://schemas.microsoft.com/office/drawing/2014/main" id="{DF362699-EF2E-4CCB-960C-B42A0B7F04FF}"/>
              </a:ext>
            </a:extLst>
          </p:cNvPr>
          <p:cNvPicPr>
            <a:picLocks noChangeAspect="1"/>
          </p:cNvPicPr>
          <p:nvPr/>
        </p:nvPicPr>
        <p:blipFill>
          <a:blip r:embed="rId4"/>
          <a:stretch>
            <a:fillRect/>
          </a:stretch>
        </p:blipFill>
        <p:spPr>
          <a:xfrm>
            <a:off x="1631505" y="4680776"/>
            <a:ext cx="4832649" cy="2125396"/>
          </a:xfrm>
          <a:prstGeom prst="rect">
            <a:avLst/>
          </a:prstGeom>
          <a:effectLst>
            <a:glow rad="177800">
              <a:srgbClr val="FF99FF"/>
            </a:glow>
          </a:effectLst>
        </p:spPr>
      </p:pic>
      <p:sp>
        <p:nvSpPr>
          <p:cNvPr id="12" name="矩形: 圆角 11">
            <a:extLst>
              <a:ext uri="{FF2B5EF4-FFF2-40B4-BE49-F238E27FC236}">
                <a16:creationId xmlns:a16="http://schemas.microsoft.com/office/drawing/2014/main" id="{712D3377-60D2-43D2-8BF0-49019BB93940}"/>
              </a:ext>
            </a:extLst>
          </p:cNvPr>
          <p:cNvSpPr/>
          <p:nvPr/>
        </p:nvSpPr>
        <p:spPr>
          <a:xfrm>
            <a:off x="9840415" y="3212976"/>
            <a:ext cx="648072" cy="2198375"/>
          </a:xfrm>
          <a:prstGeom prst="roundRect">
            <a:avLst/>
          </a:prstGeom>
          <a:noFill/>
          <a:ln w="3810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49A167E-6AA9-4099-A554-F4771F7C2037}"/>
              </a:ext>
            </a:extLst>
          </p:cNvPr>
          <p:cNvSpPr/>
          <p:nvPr/>
        </p:nvSpPr>
        <p:spPr>
          <a:xfrm>
            <a:off x="5879976" y="4615001"/>
            <a:ext cx="648072" cy="2198375"/>
          </a:xfrm>
          <a:prstGeom prst="roundRect">
            <a:avLst/>
          </a:prstGeom>
          <a:noFill/>
          <a:ln w="3810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04B60E54-4B0D-FE82-69B8-79676D7120D2}"/>
              </a:ext>
            </a:extLst>
          </p:cNvPr>
          <p:cNvSpPr>
            <a:spLocks noGrp="1"/>
          </p:cNvSpPr>
          <p:nvPr>
            <p:ph type="sldNum" sz="quarter" idx="11"/>
          </p:nvPr>
        </p:nvSpPr>
        <p:spPr>
          <a:xfrm>
            <a:off x="43063" y="6243005"/>
            <a:ext cx="517848" cy="457200"/>
          </a:xfrm>
        </p:spPr>
        <p:txBody>
          <a:bodyPr/>
          <a:lstStyle/>
          <a:p>
            <a:pPr>
              <a:defRPr/>
            </a:pPr>
            <a:fld id="{F13753BC-CAEF-4333-AC48-2805658F6E3F}" type="slidenum">
              <a:rPr lang="en-US" altLang="zh-CN" smtClean="0"/>
              <a:pPr>
                <a:defRPr/>
              </a:pPr>
              <a:t>39</a:t>
            </a:fld>
            <a:endParaRPr lang="en-US" altLang="zh-CN" dirty="0"/>
          </a:p>
        </p:txBody>
      </p:sp>
    </p:spTree>
    <p:extLst>
      <p:ext uri="{BB962C8B-B14F-4D97-AF65-F5344CB8AC3E}">
        <p14:creationId xmlns:p14="http://schemas.microsoft.com/office/powerpoint/2010/main" val="398890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left)">
                                      <p:cBhvr>
                                        <p:cTn id="23" dur="500"/>
                                        <p:tgtEl>
                                          <p:spTgt spid="6">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992313" y="333375"/>
            <a:ext cx="8229600" cy="1316038"/>
          </a:xfrm>
        </p:spPr>
        <p:txBody>
          <a:bodyPr/>
          <a:lstStyle/>
          <a:p>
            <a:pPr algn="ctr" eaLnBrk="1" hangingPunct="1"/>
            <a:r>
              <a:rPr kumimoji="1" lang="zh-CN" altLang="en-US" dirty="0">
                <a:solidFill>
                  <a:srgbClr val="057939"/>
                </a:solidFill>
                <a:ea typeface="黑体" pitchFamily="2" charset="-122"/>
              </a:rPr>
              <a:t>数据的变换处理</a:t>
            </a:r>
            <a:endParaRPr kumimoji="1" lang="zh-CN" altLang="en-US" sz="2800" b="1" dirty="0">
              <a:solidFill>
                <a:srgbClr val="EE0006"/>
              </a:solidFill>
            </a:endParaRPr>
          </a:p>
        </p:txBody>
      </p:sp>
      <p:sp>
        <p:nvSpPr>
          <p:cNvPr id="227331" name="Rectangle 3"/>
          <p:cNvSpPr>
            <a:spLocks noGrp="1" noChangeArrowheads="1"/>
          </p:cNvSpPr>
          <p:nvPr>
            <p:ph type="body" sz="half" idx="1"/>
          </p:nvPr>
        </p:nvSpPr>
        <p:spPr>
          <a:xfrm>
            <a:off x="1271464" y="1728168"/>
            <a:ext cx="9721080" cy="5229225"/>
          </a:xfrm>
        </p:spPr>
        <p:txBody>
          <a:bodyPr/>
          <a:lstStyle/>
          <a:p>
            <a:pPr eaLnBrk="1" hangingPunct="1">
              <a:buFont typeface="Wingdings" pitchFamily="2" charset="2"/>
              <a:buNone/>
            </a:pPr>
            <a:r>
              <a:rPr kumimoji="1" lang="zh-CN" altLang="en-US" sz="2800" b="1" dirty="0">
                <a:ea typeface="华文楷体" pitchFamily="2" charset="-122"/>
              </a:rPr>
              <a:t>根据矩阵的要求，一般将数据压缩到区间</a:t>
            </a:r>
            <a:r>
              <a:rPr kumimoji="1" lang="en-US" altLang="zh-CN" sz="2800" b="1" dirty="0">
                <a:ea typeface="华文楷体" pitchFamily="2" charset="-122"/>
              </a:rPr>
              <a:t>[0,1]</a:t>
            </a:r>
            <a:r>
              <a:rPr kumimoji="1" lang="zh-CN" altLang="en-US" sz="2800" b="1" dirty="0">
                <a:ea typeface="华文楷体" pitchFamily="2" charset="-122"/>
              </a:rPr>
              <a:t>上</a:t>
            </a:r>
          </a:p>
          <a:p>
            <a:pPr eaLnBrk="1" hangingPunct="1"/>
            <a:r>
              <a:rPr lang="zh-CN" altLang="en-US" dirty="0">
                <a:solidFill>
                  <a:srgbClr val="FF0000"/>
                </a:solidFill>
                <a:latin typeface="黑体" pitchFamily="2" charset="-122"/>
                <a:ea typeface="黑体" pitchFamily="2" charset="-122"/>
              </a:rPr>
              <a:t>平移 </a:t>
            </a:r>
            <a:r>
              <a:rPr lang="en-US" altLang="zh-CN" dirty="0">
                <a:solidFill>
                  <a:srgbClr val="FF000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标准差变换</a:t>
            </a:r>
          </a:p>
          <a:p>
            <a:pPr lvl="1" eaLnBrk="1" hangingPunct="1"/>
            <a:endParaRPr lang="zh-CN" altLang="en-US" sz="2400" b="1" dirty="0">
              <a:solidFill>
                <a:srgbClr val="057939"/>
              </a:solidFill>
              <a:ea typeface="黑体" pitchFamily="2" charset="-122"/>
            </a:endParaRPr>
          </a:p>
          <a:p>
            <a:pPr lvl="1" eaLnBrk="1" hangingPunct="1"/>
            <a:endParaRPr lang="zh-CN" altLang="en-US" sz="2000" b="1" dirty="0">
              <a:solidFill>
                <a:srgbClr val="057939"/>
              </a:solidFill>
              <a:ea typeface="黑体" pitchFamily="2" charset="-122"/>
            </a:endParaRPr>
          </a:p>
          <a:p>
            <a:pPr lvl="1" eaLnBrk="1" hangingPunct="1"/>
            <a:endParaRPr lang="zh-CN" altLang="en-US" sz="2000" b="1" dirty="0">
              <a:solidFill>
                <a:srgbClr val="057939"/>
              </a:solidFill>
              <a:ea typeface="黑体" pitchFamily="2" charset="-122"/>
            </a:endParaRPr>
          </a:p>
          <a:p>
            <a:pPr lvl="1" eaLnBrk="1" hangingPunct="1"/>
            <a:endParaRPr lang="zh-CN" altLang="en-US" sz="3200" b="1" dirty="0">
              <a:solidFill>
                <a:srgbClr val="057939"/>
              </a:solidFill>
              <a:ea typeface="黑体" pitchFamily="2" charset="-122"/>
            </a:endParaRPr>
          </a:p>
          <a:p>
            <a:pPr lvl="1" eaLnBrk="1" hangingPunct="1"/>
            <a:endParaRPr kumimoji="1" lang="zh-CN" altLang="en-US" sz="2000" b="1" dirty="0">
              <a:solidFill>
                <a:schemeClr val="bg2"/>
              </a:solidFill>
              <a:ea typeface="黑体" pitchFamily="2" charset="-122"/>
            </a:endParaRPr>
          </a:p>
          <a:p>
            <a:pPr lvl="1" eaLnBrk="1" hangingPunct="1"/>
            <a:endParaRPr lang="zh-CN" altLang="en-US" sz="2400" dirty="0">
              <a:ea typeface="黑体" pitchFamily="2" charset="-122"/>
            </a:endParaRPr>
          </a:p>
          <a:p>
            <a:pPr lvl="1" eaLnBrk="1" hangingPunct="1"/>
            <a:r>
              <a:rPr lang="zh-CN" altLang="en-US" b="1" dirty="0">
                <a:solidFill>
                  <a:srgbClr val="3333FF"/>
                </a:solidFill>
                <a:ea typeface="华文楷体" pitchFamily="2" charset="-122"/>
              </a:rPr>
              <a:t>经过变换后，每个变量的均值为</a:t>
            </a:r>
            <a:r>
              <a:rPr lang="en-US" altLang="zh-CN" b="1" dirty="0">
                <a:solidFill>
                  <a:srgbClr val="3333FF"/>
                </a:solidFill>
                <a:ea typeface="华文楷体" pitchFamily="2" charset="-122"/>
              </a:rPr>
              <a:t>0</a:t>
            </a:r>
            <a:r>
              <a:rPr lang="zh-CN" altLang="en-US" b="1" dirty="0">
                <a:solidFill>
                  <a:srgbClr val="3333FF"/>
                </a:solidFill>
                <a:ea typeface="华文楷体" pitchFamily="2" charset="-122"/>
              </a:rPr>
              <a:t>，标准差为</a:t>
            </a:r>
            <a:r>
              <a:rPr lang="en-US" altLang="zh-CN" b="1" dirty="0">
                <a:solidFill>
                  <a:srgbClr val="3333FF"/>
                </a:solidFill>
                <a:ea typeface="华文楷体" pitchFamily="2" charset="-122"/>
              </a:rPr>
              <a:t>1</a:t>
            </a:r>
            <a:r>
              <a:rPr lang="zh-CN" altLang="en-US" b="1" dirty="0">
                <a:solidFill>
                  <a:srgbClr val="3333FF"/>
                </a:solidFill>
                <a:ea typeface="华文楷体" pitchFamily="2" charset="-122"/>
              </a:rPr>
              <a:t>，消除了不同量纲的影响，但处理后的数据不一定在</a:t>
            </a:r>
            <a:r>
              <a:rPr lang="en-US" altLang="zh-CN" b="1" dirty="0">
                <a:solidFill>
                  <a:srgbClr val="3333FF"/>
                </a:solidFill>
                <a:ea typeface="华文楷体" pitchFamily="2" charset="-122"/>
              </a:rPr>
              <a:t>[0,1]</a:t>
            </a:r>
            <a:r>
              <a:rPr lang="zh-CN" altLang="en-US" b="1" dirty="0">
                <a:solidFill>
                  <a:srgbClr val="3333FF"/>
                </a:solidFill>
                <a:ea typeface="华文楷体" pitchFamily="2" charset="-122"/>
              </a:rPr>
              <a:t>上</a:t>
            </a:r>
          </a:p>
        </p:txBody>
      </p:sp>
      <p:graphicFrame>
        <p:nvGraphicFramePr>
          <p:cNvPr id="227332" name="Object 4"/>
          <p:cNvGraphicFramePr>
            <a:graphicFrameLocks noGrp="1" noChangeAspect="1"/>
          </p:cNvGraphicFramePr>
          <p:nvPr>
            <p:ph sz="half" idx="2"/>
            <p:extLst>
              <p:ext uri="{D42A27DB-BD31-4B8C-83A1-F6EECF244321}">
                <p14:modId xmlns:p14="http://schemas.microsoft.com/office/powerpoint/2010/main" val="752619944"/>
              </p:ext>
            </p:extLst>
          </p:nvPr>
        </p:nvGraphicFramePr>
        <p:xfrm>
          <a:off x="3432176" y="2780929"/>
          <a:ext cx="5400675" cy="1057275"/>
        </p:xfrm>
        <a:graphic>
          <a:graphicData uri="http://schemas.openxmlformats.org/presentationml/2006/ole">
            <mc:AlternateContent xmlns:mc="http://schemas.openxmlformats.org/markup-compatibility/2006">
              <mc:Choice xmlns:v="urn:schemas-microsoft-com:vml" Requires="v">
                <p:oleObj name="Equation" r:id="rId4" imgW="2400120" imgH="469800" progId="Equation.DSMT4">
                  <p:embed/>
                </p:oleObj>
              </mc:Choice>
              <mc:Fallback>
                <p:oleObj name="Equation" r:id="rId4" imgW="2400120" imgH="469800" progId="Equation.DSMT4">
                  <p:embed/>
                  <p:pic>
                    <p:nvPicPr>
                      <p:cNvPr id="0" name=""/>
                      <p:cNvPicPr>
                        <a:picLocks noChangeAspect="1" noChangeArrowheads="1"/>
                      </p:cNvPicPr>
                      <p:nvPr/>
                    </p:nvPicPr>
                    <p:blipFill>
                      <a:blip r:embed="rId5"/>
                      <a:srcRect/>
                      <a:stretch>
                        <a:fillRect/>
                      </a:stretch>
                    </p:blipFill>
                    <p:spPr bwMode="auto">
                      <a:xfrm>
                        <a:off x="3432176" y="2780929"/>
                        <a:ext cx="54006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7333" name="Group 5"/>
          <p:cNvGrpSpPr>
            <a:grpSpLocks/>
          </p:cNvGrpSpPr>
          <p:nvPr/>
        </p:nvGrpSpPr>
        <p:grpSpPr bwMode="auto">
          <a:xfrm>
            <a:off x="3287714" y="3861049"/>
            <a:ext cx="5545137" cy="1062037"/>
            <a:chOff x="96" y="1440"/>
            <a:chExt cx="5232" cy="824"/>
          </a:xfrm>
        </p:grpSpPr>
        <p:sp>
          <p:nvSpPr>
            <p:cNvPr id="32774" name="Rectangle 6"/>
            <p:cNvSpPr>
              <a:spLocks noChangeArrowheads="1"/>
            </p:cNvSpPr>
            <p:nvPr/>
          </p:nvSpPr>
          <p:spPr bwMode="auto">
            <a:xfrm>
              <a:off x="96" y="1753"/>
              <a:ext cx="758"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latin typeface="Times New Roman" pitchFamily="18" charset="0"/>
                </a:rPr>
                <a:t>其中</a:t>
              </a:r>
            </a:p>
          </p:txBody>
        </p:sp>
        <p:graphicFrame>
          <p:nvGraphicFramePr>
            <p:cNvPr id="32775" name="Object 7"/>
            <p:cNvGraphicFramePr>
              <a:graphicFrameLocks noChangeAspect="1"/>
            </p:cNvGraphicFramePr>
            <p:nvPr/>
          </p:nvGraphicFramePr>
          <p:xfrm>
            <a:off x="816" y="1440"/>
            <a:ext cx="4512" cy="824"/>
          </p:xfrm>
          <a:graphic>
            <a:graphicData uri="http://schemas.openxmlformats.org/presentationml/2006/ole">
              <mc:AlternateContent xmlns:mc="http://schemas.openxmlformats.org/markup-compatibility/2006">
                <mc:Choice xmlns:v="urn:schemas-microsoft-com:vml" Requires="v">
                  <p:oleObj name="公式" r:id="rId6" imgW="2152689" imgH="457110" progId="Equation.3">
                    <p:embed/>
                  </p:oleObj>
                </mc:Choice>
                <mc:Fallback>
                  <p:oleObj name="公式" r:id="rId6" imgW="2152689" imgH="45711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 y="1440"/>
                          <a:ext cx="4512" cy="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灯片编号占位符 1">
            <a:extLst>
              <a:ext uri="{FF2B5EF4-FFF2-40B4-BE49-F238E27FC236}">
                <a16:creationId xmlns:a16="http://schemas.microsoft.com/office/drawing/2014/main" id="{15D003FE-4530-16AF-5A28-7BEA41AEF152}"/>
              </a:ext>
            </a:extLst>
          </p:cNvPr>
          <p:cNvSpPr>
            <a:spLocks noGrp="1"/>
          </p:cNvSpPr>
          <p:nvPr>
            <p:ph type="sldNum" sz="quarter" idx="11"/>
          </p:nvPr>
        </p:nvSpPr>
        <p:spPr/>
        <p:txBody>
          <a:bodyPr/>
          <a:lstStyle/>
          <a:p>
            <a:pPr>
              <a:defRPr/>
            </a:pPr>
            <a:fld id="{611376B5-62E6-403F-97A0-5A1E42AE81DF}" type="slidenum">
              <a:rPr lang="en-US" altLang="zh-CN" smtClean="0"/>
              <a:pPr>
                <a:defRPr/>
              </a:pPr>
              <a:t>40</a:t>
            </a:fld>
            <a:endParaRPr lang="en-US" altLang="zh-CN"/>
          </a:p>
        </p:txBody>
      </p:sp>
    </p:spTree>
    <p:extLst>
      <p:ext uri="{BB962C8B-B14F-4D97-AF65-F5344CB8AC3E}">
        <p14:creationId xmlns:p14="http://schemas.microsoft.com/office/powerpoint/2010/main" val="42519401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Effect transition="in" filter="wipe(up)">
                                      <p:cBhvr>
                                        <p:cTn id="7" dur="500"/>
                                        <p:tgtEl>
                                          <p:spTgt spid="227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7331">
                                            <p:txEl>
                                              <p:pRg st="1" end="1"/>
                                            </p:txEl>
                                          </p:spTgt>
                                        </p:tgtEl>
                                        <p:attrNameLst>
                                          <p:attrName>style.visibility</p:attrName>
                                        </p:attrNameLst>
                                      </p:cBhvr>
                                      <p:to>
                                        <p:strVal val="visible"/>
                                      </p:to>
                                    </p:set>
                                    <p:animEffect transition="in" filter="wipe(up)">
                                      <p:cBhvr>
                                        <p:cTn id="12" dur="500"/>
                                        <p:tgtEl>
                                          <p:spTgt spid="2273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7332"/>
                                        </p:tgtEl>
                                        <p:attrNameLst>
                                          <p:attrName>style.visibility</p:attrName>
                                        </p:attrNameLst>
                                      </p:cBhvr>
                                      <p:to>
                                        <p:strVal val="visible"/>
                                      </p:to>
                                    </p:set>
                                    <p:animEffect transition="in" filter="wipe(left)">
                                      <p:cBhvr>
                                        <p:cTn id="17" dur="500"/>
                                        <p:tgtEl>
                                          <p:spTgt spid="227332"/>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7333"/>
                                        </p:tgtEl>
                                        <p:attrNameLst>
                                          <p:attrName>style.visibility</p:attrName>
                                        </p:attrNameLst>
                                      </p:cBhvr>
                                      <p:to>
                                        <p:strVal val="visible"/>
                                      </p:to>
                                    </p:set>
                                    <p:animEffect transition="in" filter="wipe(left)">
                                      <p:cBhvr>
                                        <p:cTn id="22" dur="500"/>
                                        <p:tgtEl>
                                          <p:spTgt spid="227333"/>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27331">
                                            <p:txEl>
                                              <p:pRg st="8" end="8"/>
                                            </p:txEl>
                                          </p:spTgt>
                                        </p:tgtEl>
                                        <p:attrNameLst>
                                          <p:attrName>style.visibility</p:attrName>
                                        </p:attrNameLst>
                                      </p:cBhvr>
                                      <p:to>
                                        <p:strVal val="visible"/>
                                      </p:to>
                                    </p:set>
                                    <p:animEffect transition="in" filter="wipe(up)">
                                      <p:cBhvr>
                                        <p:cTn id="27" dur="500"/>
                                        <p:tgtEl>
                                          <p:spTgt spid="2273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ctr" eaLnBrk="1" hangingPunct="1"/>
            <a:r>
              <a:rPr kumimoji="1" lang="zh-CN" altLang="en-US" dirty="0">
                <a:solidFill>
                  <a:srgbClr val="057939"/>
                </a:solidFill>
                <a:ea typeface="黑体" pitchFamily="2" charset="-122"/>
              </a:rPr>
              <a:t>数据的变换处理</a:t>
            </a:r>
            <a:endParaRPr kumimoji="1" lang="zh-CN" altLang="en-US" sz="2800" b="1" dirty="0">
              <a:solidFill>
                <a:srgbClr val="EE0006"/>
              </a:solidFill>
            </a:endParaRPr>
          </a:p>
        </p:txBody>
      </p:sp>
      <p:sp>
        <p:nvSpPr>
          <p:cNvPr id="32771" name="Rectangle 3"/>
          <p:cNvSpPr>
            <a:spLocks noGrp="1" noChangeArrowheads="1"/>
          </p:cNvSpPr>
          <p:nvPr>
            <p:ph type="body" sz="half" idx="1"/>
          </p:nvPr>
        </p:nvSpPr>
        <p:spPr>
          <a:xfrm>
            <a:off x="1981201" y="1844675"/>
            <a:ext cx="8075613" cy="3886200"/>
          </a:xfrm>
        </p:spPr>
        <p:txBody>
          <a:bodyPr/>
          <a:lstStyle/>
          <a:p>
            <a:pPr lvl="1" eaLnBrk="1" hangingPunct="1"/>
            <a:r>
              <a:rPr kumimoji="1" lang="zh-CN" altLang="en-US" sz="3200" dirty="0">
                <a:solidFill>
                  <a:srgbClr val="FF0000"/>
                </a:solidFill>
                <a:latin typeface="黑体" pitchFamily="2" charset="-122"/>
                <a:ea typeface="黑体" pitchFamily="2" charset="-122"/>
              </a:rPr>
              <a:t>平移 </a:t>
            </a:r>
            <a:r>
              <a:rPr kumimoji="1" lang="en-US" altLang="zh-CN" sz="3200" dirty="0">
                <a:solidFill>
                  <a:srgbClr val="FF0000"/>
                </a:solidFill>
                <a:latin typeface="黑体" pitchFamily="2" charset="-122"/>
                <a:ea typeface="黑体" pitchFamily="2" charset="-122"/>
              </a:rPr>
              <a:t>• </a:t>
            </a:r>
            <a:r>
              <a:rPr kumimoji="1" lang="zh-CN" altLang="en-US" sz="3200" dirty="0">
                <a:solidFill>
                  <a:srgbClr val="FF0000"/>
                </a:solidFill>
                <a:latin typeface="黑体" pitchFamily="2" charset="-122"/>
                <a:ea typeface="黑体" pitchFamily="2" charset="-122"/>
              </a:rPr>
              <a:t>极差变换</a:t>
            </a:r>
            <a:endParaRPr kumimoji="1" lang="en-US" altLang="zh-CN" sz="3200" dirty="0">
              <a:solidFill>
                <a:srgbClr val="FF0000"/>
              </a:solidFill>
              <a:latin typeface="黑体" pitchFamily="2" charset="-122"/>
              <a:ea typeface="黑体" pitchFamily="2" charset="-122"/>
            </a:endParaRPr>
          </a:p>
          <a:p>
            <a:pPr lvl="2" eaLnBrk="1" hangingPunct="1"/>
            <a:endParaRPr kumimoji="1" lang="zh-CN" altLang="en-US" sz="2800" dirty="0">
              <a:solidFill>
                <a:srgbClr val="057939"/>
              </a:solidFill>
              <a:latin typeface="黑体" pitchFamily="2" charset="-122"/>
              <a:ea typeface="黑体" pitchFamily="2" charset="-122"/>
            </a:endParaRPr>
          </a:p>
          <a:p>
            <a:pPr lvl="2" eaLnBrk="1" hangingPunct="1"/>
            <a:endParaRPr kumimoji="1" lang="zh-CN" altLang="en-US" sz="2800" b="1" dirty="0">
              <a:solidFill>
                <a:srgbClr val="057939"/>
              </a:solidFill>
            </a:endParaRPr>
          </a:p>
          <a:p>
            <a:pPr lvl="2" eaLnBrk="1" hangingPunct="1"/>
            <a:endParaRPr kumimoji="1" lang="zh-CN" altLang="en-US" sz="2800" b="1" dirty="0">
              <a:solidFill>
                <a:srgbClr val="057939"/>
              </a:solidFill>
            </a:endParaRPr>
          </a:p>
          <a:p>
            <a:pPr lvl="2" eaLnBrk="1" hangingPunct="1"/>
            <a:endParaRPr kumimoji="1" lang="zh-CN" altLang="en-US" sz="2800" b="1" dirty="0">
              <a:solidFill>
                <a:srgbClr val="057939"/>
              </a:solidFill>
            </a:endParaRPr>
          </a:p>
          <a:p>
            <a:pPr lvl="2" eaLnBrk="1" hangingPunct="1"/>
            <a:r>
              <a:rPr kumimoji="1" lang="zh-CN" altLang="en-US" sz="2800" b="1" dirty="0">
                <a:solidFill>
                  <a:srgbClr val="3333FF"/>
                </a:solidFill>
                <a:ea typeface="楷体_GB2312" pitchFamily="49" charset="-122"/>
              </a:rPr>
              <a:t>变换后，数据都落入</a:t>
            </a:r>
            <a:r>
              <a:rPr kumimoji="1" lang="en-US" altLang="zh-CN" sz="2800" b="1" dirty="0">
                <a:solidFill>
                  <a:srgbClr val="3333FF"/>
                </a:solidFill>
                <a:ea typeface="楷体_GB2312" pitchFamily="49" charset="-122"/>
              </a:rPr>
              <a:t>[0,1]</a:t>
            </a:r>
            <a:r>
              <a:rPr kumimoji="1" lang="zh-CN" altLang="en-US" sz="2800" b="1" dirty="0">
                <a:solidFill>
                  <a:srgbClr val="3333FF"/>
                </a:solidFill>
                <a:ea typeface="楷体_GB2312" pitchFamily="49" charset="-122"/>
              </a:rPr>
              <a:t>范围内。</a:t>
            </a:r>
          </a:p>
          <a:p>
            <a:pPr lvl="2" eaLnBrk="1" hangingPunct="1"/>
            <a:endParaRPr kumimoji="1" lang="zh-CN" altLang="en-US" b="1" dirty="0">
              <a:solidFill>
                <a:srgbClr val="3333FF"/>
              </a:solidFill>
              <a:ea typeface="楷体_GB2312" pitchFamily="49" charset="-122"/>
            </a:endParaRPr>
          </a:p>
          <a:p>
            <a:pPr lvl="2" eaLnBrk="1" hangingPunct="1">
              <a:buFont typeface="Wingdings" pitchFamily="2" charset="2"/>
              <a:buNone/>
            </a:pPr>
            <a:endParaRPr kumimoji="1" lang="en-US" altLang="zh-CN" sz="2000" b="1" dirty="0">
              <a:solidFill>
                <a:srgbClr val="057939"/>
              </a:solidFill>
            </a:endParaRPr>
          </a:p>
        </p:txBody>
      </p:sp>
      <p:graphicFrame>
        <p:nvGraphicFramePr>
          <p:cNvPr id="229380" name="Object 4"/>
          <p:cNvGraphicFramePr>
            <a:graphicFrameLocks noGrp="1" noChangeAspect="1"/>
          </p:cNvGraphicFramePr>
          <p:nvPr>
            <p:ph sz="half" idx="2"/>
            <p:extLst>
              <p:ext uri="{D42A27DB-BD31-4B8C-83A1-F6EECF244321}">
                <p14:modId xmlns:p14="http://schemas.microsoft.com/office/powerpoint/2010/main" val="2908391701"/>
              </p:ext>
            </p:extLst>
          </p:nvPr>
        </p:nvGraphicFramePr>
        <p:xfrm>
          <a:off x="2154238" y="2708276"/>
          <a:ext cx="7904162" cy="1412875"/>
        </p:xfrm>
        <a:graphic>
          <a:graphicData uri="http://schemas.openxmlformats.org/presentationml/2006/ole">
            <mc:AlternateContent xmlns:mc="http://schemas.openxmlformats.org/markup-compatibility/2006">
              <mc:Choice xmlns:v="urn:schemas-microsoft-com:vml" Requires="v">
                <p:oleObj name="Equation" r:id="rId3" imgW="2628720" imgH="469800" progId="Equation.DSMT4">
                  <p:embed/>
                </p:oleObj>
              </mc:Choice>
              <mc:Fallback>
                <p:oleObj name="Equation" r:id="rId3" imgW="2628720" imgH="469800" progId="Equation.DSMT4">
                  <p:embed/>
                  <p:pic>
                    <p:nvPicPr>
                      <p:cNvPr id="0" name=""/>
                      <p:cNvPicPr>
                        <a:picLocks noChangeAspect="1" noChangeArrowheads="1"/>
                      </p:cNvPicPr>
                      <p:nvPr/>
                    </p:nvPicPr>
                    <p:blipFill>
                      <a:blip r:embed="rId4"/>
                      <a:srcRect/>
                      <a:stretch>
                        <a:fillRect/>
                      </a:stretch>
                    </p:blipFill>
                    <p:spPr bwMode="auto">
                      <a:xfrm>
                        <a:off x="2154238" y="2708276"/>
                        <a:ext cx="7904162" cy="1412875"/>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192C6C5D-49BD-36C2-0738-41C25C7F7260}"/>
              </a:ext>
            </a:extLst>
          </p:cNvPr>
          <p:cNvSpPr>
            <a:spLocks noGrp="1"/>
          </p:cNvSpPr>
          <p:nvPr>
            <p:ph type="sldNum" sz="quarter" idx="11"/>
          </p:nvPr>
        </p:nvSpPr>
        <p:spPr/>
        <p:txBody>
          <a:bodyPr/>
          <a:lstStyle/>
          <a:p>
            <a:pPr>
              <a:defRPr/>
            </a:pPr>
            <a:fld id="{611376B5-62E6-403F-97A0-5A1E42AE81DF}" type="slidenum">
              <a:rPr lang="en-US" altLang="zh-CN" smtClean="0"/>
              <a:pPr>
                <a:defRPr/>
              </a:pPr>
              <a:t>41</a:t>
            </a:fld>
            <a:endParaRPr lang="en-US" altLang="zh-CN"/>
          </a:p>
        </p:txBody>
      </p:sp>
    </p:spTree>
    <p:extLst>
      <p:ext uri="{BB962C8B-B14F-4D97-AF65-F5344CB8AC3E}">
        <p14:creationId xmlns:p14="http://schemas.microsoft.com/office/powerpoint/2010/main" val="29632432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box(out)">
                                      <p:cBhvr>
                                        <p:cTn id="12" dur="500"/>
                                        <p:tgtEl>
                                          <p:spTgt spid="22938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1">
                                            <p:txEl>
                                              <p:pRg st="5" end="5"/>
                                            </p:txEl>
                                          </p:spTgt>
                                        </p:tgtEl>
                                        <p:attrNameLst>
                                          <p:attrName>style.visibility</p:attrName>
                                        </p:attrNameLst>
                                      </p:cBhvr>
                                      <p:to>
                                        <p:strVal val="visible"/>
                                      </p:to>
                                    </p:set>
                                    <p:animEffect transition="in" filter="wipe(left)">
                                      <p:cBhvr>
                                        <p:cTn id="17"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992313" y="188914"/>
            <a:ext cx="8229600" cy="1152525"/>
          </a:xfrm>
        </p:spPr>
        <p:txBody>
          <a:bodyPr/>
          <a:lstStyle/>
          <a:p>
            <a:pPr algn="ctr" eaLnBrk="1" hangingPunct="1"/>
            <a:r>
              <a:rPr kumimoji="1" lang="zh-CN" altLang="en-US">
                <a:solidFill>
                  <a:srgbClr val="057939"/>
                </a:solidFill>
                <a:ea typeface="黑体" pitchFamily="2" charset="-122"/>
              </a:rPr>
              <a:t>相似系数和距离</a:t>
            </a:r>
          </a:p>
        </p:txBody>
      </p:sp>
      <p:sp>
        <p:nvSpPr>
          <p:cNvPr id="230403" name="Rectangle 3"/>
          <p:cNvSpPr>
            <a:spLocks noGrp="1" noChangeArrowheads="1"/>
          </p:cNvSpPr>
          <p:nvPr>
            <p:ph type="body" idx="1"/>
          </p:nvPr>
        </p:nvSpPr>
        <p:spPr>
          <a:xfrm>
            <a:off x="1271464" y="1341438"/>
            <a:ext cx="9649072" cy="5327650"/>
          </a:xfrm>
        </p:spPr>
        <p:txBody>
          <a:bodyPr/>
          <a:lstStyle/>
          <a:p>
            <a:pPr eaLnBrk="1" hangingPunct="1">
              <a:lnSpc>
                <a:spcPct val="110000"/>
              </a:lnSpc>
            </a:pPr>
            <a:r>
              <a:rPr lang="zh-CN" altLang="en-US" sz="2900" dirty="0">
                <a:solidFill>
                  <a:srgbClr val="EE0006"/>
                </a:solidFill>
                <a:latin typeface="黑体" pitchFamily="2" charset="-122"/>
                <a:ea typeface="黑体" pitchFamily="2" charset="-122"/>
              </a:rPr>
              <a:t>样本间亲疏程度的测度指标</a:t>
            </a:r>
          </a:p>
          <a:p>
            <a:pPr lvl="1" eaLnBrk="1" hangingPunct="1">
              <a:lnSpc>
                <a:spcPct val="110000"/>
              </a:lnSpc>
            </a:pPr>
            <a:r>
              <a:rPr lang="zh-CN" altLang="en-US" dirty="0">
                <a:solidFill>
                  <a:srgbClr val="3333FF"/>
                </a:solidFill>
                <a:latin typeface="黑体" pitchFamily="2" charset="-122"/>
                <a:ea typeface="黑体" pitchFamily="2" charset="-122"/>
              </a:rPr>
              <a:t>相似系数</a:t>
            </a:r>
          </a:p>
          <a:p>
            <a:pPr lvl="2" eaLnBrk="1" hangingPunct="1">
              <a:lnSpc>
                <a:spcPct val="110000"/>
              </a:lnSpc>
            </a:pPr>
            <a:r>
              <a:rPr lang="zh-CN" altLang="en-US" b="1" dirty="0">
                <a:solidFill>
                  <a:srgbClr val="FF00FF"/>
                </a:solidFill>
                <a:ea typeface="华文楷体" pitchFamily="2" charset="-122"/>
              </a:rPr>
              <a:t>性质越接近的变量</a:t>
            </a:r>
            <a:r>
              <a:rPr lang="zh-CN" altLang="en-US" b="1" dirty="0">
                <a:ea typeface="华文楷体" pitchFamily="2" charset="-122"/>
              </a:rPr>
              <a:t>，它们的相似系数越接近于</a:t>
            </a:r>
            <a:r>
              <a:rPr lang="en-US" altLang="en-US" b="1" dirty="0">
                <a:solidFill>
                  <a:srgbClr val="FF00FF"/>
                </a:solidFill>
                <a:ea typeface="华文楷体" pitchFamily="2" charset="-122"/>
              </a:rPr>
              <a:t>±</a:t>
            </a:r>
            <a:r>
              <a:rPr lang="en-US" altLang="zh-CN" b="1" dirty="0">
                <a:solidFill>
                  <a:srgbClr val="FF00FF"/>
                </a:solidFill>
                <a:ea typeface="华文楷体" pitchFamily="2" charset="-122"/>
                <a:cs typeface="Times New Roman" pitchFamily="18" charset="0"/>
              </a:rPr>
              <a:t>1</a:t>
            </a:r>
            <a:r>
              <a:rPr lang="zh-CN" altLang="en-US" b="1" dirty="0">
                <a:ea typeface="华文楷体" pitchFamily="2" charset="-122"/>
              </a:rPr>
              <a:t>，而</a:t>
            </a:r>
            <a:r>
              <a:rPr lang="zh-CN" altLang="en-US" b="1" dirty="0">
                <a:solidFill>
                  <a:srgbClr val="057939"/>
                </a:solidFill>
                <a:ea typeface="华文楷体" pitchFamily="2" charset="-122"/>
              </a:rPr>
              <a:t>彼此无关的变量</a:t>
            </a:r>
            <a:r>
              <a:rPr lang="zh-CN" altLang="en-US" b="1" dirty="0">
                <a:ea typeface="华文楷体" pitchFamily="2" charset="-122"/>
              </a:rPr>
              <a:t>它们的相似系数则越接近于</a:t>
            </a:r>
            <a:r>
              <a:rPr lang="en-US" altLang="zh-CN" b="1" dirty="0">
                <a:solidFill>
                  <a:srgbClr val="057939"/>
                </a:solidFill>
                <a:ea typeface="华文楷体" pitchFamily="2" charset="-122"/>
              </a:rPr>
              <a:t>0</a:t>
            </a:r>
            <a:r>
              <a:rPr lang="zh-CN" altLang="en-US" b="1" dirty="0">
                <a:ea typeface="华文楷体" pitchFamily="2" charset="-122"/>
              </a:rPr>
              <a:t>。</a:t>
            </a:r>
          </a:p>
          <a:p>
            <a:pPr lvl="2" eaLnBrk="1" hangingPunct="1">
              <a:lnSpc>
                <a:spcPct val="110000"/>
              </a:lnSpc>
            </a:pPr>
            <a:r>
              <a:rPr lang="zh-CN" altLang="en-US" dirty="0">
                <a:latin typeface="黑体" pitchFamily="2" charset="-122"/>
                <a:ea typeface="黑体" pitchFamily="2" charset="-122"/>
              </a:rPr>
              <a:t>相似的为一类，不相似的为不同类；</a:t>
            </a:r>
          </a:p>
          <a:p>
            <a:pPr lvl="2" eaLnBrk="1" hangingPunct="1">
              <a:lnSpc>
                <a:spcPct val="110000"/>
              </a:lnSpc>
            </a:pPr>
            <a:r>
              <a:rPr lang="zh-CN" altLang="en-US" b="1" dirty="0">
                <a:solidFill>
                  <a:srgbClr val="057939"/>
                </a:solidFill>
                <a:latin typeface="楷体_GB2312" pitchFamily="49" charset="-122"/>
                <a:ea typeface="楷体_GB2312" pitchFamily="49" charset="-122"/>
              </a:rPr>
              <a:t>常用</a:t>
            </a:r>
            <a:r>
              <a:rPr lang="zh-CN" altLang="en-US" b="1" u="sng" dirty="0">
                <a:solidFill>
                  <a:srgbClr val="FF0000"/>
                </a:solidFill>
                <a:latin typeface="楷体_GB2312" pitchFamily="49" charset="-122"/>
                <a:ea typeface="楷体_GB2312" pitchFamily="49" charset="-122"/>
              </a:rPr>
              <a:t>相似系数</a:t>
            </a:r>
            <a:r>
              <a:rPr lang="zh-CN" altLang="en-US" b="1" dirty="0">
                <a:solidFill>
                  <a:srgbClr val="057939"/>
                </a:solidFill>
                <a:latin typeface="楷体_GB2312" pitchFamily="49" charset="-122"/>
                <a:ea typeface="楷体_GB2312" pitchFamily="49" charset="-122"/>
              </a:rPr>
              <a:t>来测度</a:t>
            </a:r>
            <a:r>
              <a:rPr lang="zh-CN" altLang="en-US" b="1" u="sng" dirty="0">
                <a:solidFill>
                  <a:srgbClr val="FF00FF"/>
                </a:solidFill>
                <a:latin typeface="楷体_GB2312" pitchFamily="49" charset="-122"/>
                <a:ea typeface="楷体_GB2312" pitchFamily="49" charset="-122"/>
              </a:rPr>
              <a:t>变量之间</a:t>
            </a:r>
            <a:r>
              <a:rPr lang="zh-CN" altLang="en-US" b="1" dirty="0">
                <a:solidFill>
                  <a:srgbClr val="057939"/>
                </a:solidFill>
                <a:latin typeface="楷体_GB2312" pitchFamily="49" charset="-122"/>
                <a:ea typeface="楷体_GB2312" pitchFamily="49" charset="-122"/>
              </a:rPr>
              <a:t>的亲疏程度。</a:t>
            </a:r>
          </a:p>
          <a:p>
            <a:pPr lvl="1" eaLnBrk="1" hangingPunct="1">
              <a:lnSpc>
                <a:spcPct val="110000"/>
              </a:lnSpc>
            </a:pPr>
            <a:r>
              <a:rPr lang="zh-CN" altLang="en-US" dirty="0">
                <a:solidFill>
                  <a:srgbClr val="3333FF"/>
                </a:solidFill>
                <a:latin typeface="黑体" pitchFamily="2" charset="-122"/>
                <a:ea typeface="黑体" pitchFamily="2" charset="-122"/>
              </a:rPr>
              <a:t>距离</a:t>
            </a:r>
          </a:p>
          <a:p>
            <a:pPr lvl="2" eaLnBrk="1" hangingPunct="1">
              <a:lnSpc>
                <a:spcPct val="110000"/>
              </a:lnSpc>
            </a:pPr>
            <a:r>
              <a:rPr lang="zh-CN" altLang="en-US" b="1" dirty="0">
                <a:ea typeface="华文楷体" pitchFamily="2" charset="-122"/>
              </a:rPr>
              <a:t>将每个样本看作 </a:t>
            </a:r>
            <a:r>
              <a:rPr lang="en-US" altLang="zh-CN" b="1" i="1" dirty="0">
                <a:ea typeface="华文楷体" pitchFamily="2" charset="-122"/>
              </a:rPr>
              <a:t>p</a:t>
            </a:r>
            <a:r>
              <a:rPr lang="en-US" altLang="zh-CN" b="1" dirty="0">
                <a:ea typeface="华文楷体" pitchFamily="2" charset="-122"/>
              </a:rPr>
              <a:t> </a:t>
            </a:r>
            <a:r>
              <a:rPr lang="zh-CN" altLang="en-US" b="1" dirty="0">
                <a:ea typeface="华文楷体" pitchFamily="2" charset="-122"/>
              </a:rPr>
              <a:t>维空间的一个点，并用某种度量测量点与点之间的距离，</a:t>
            </a:r>
            <a:r>
              <a:rPr lang="zh-CN" altLang="en-US" b="1" dirty="0">
                <a:solidFill>
                  <a:srgbClr val="FF00FF"/>
                </a:solidFill>
                <a:ea typeface="华文楷体" pitchFamily="2" charset="-122"/>
              </a:rPr>
              <a:t>距离较近的归为一类</a:t>
            </a:r>
            <a:r>
              <a:rPr lang="zh-CN" altLang="en-US" b="1" dirty="0">
                <a:ea typeface="华文楷体" pitchFamily="2" charset="-122"/>
              </a:rPr>
              <a:t>，距离较远的点应属于不同的类。</a:t>
            </a:r>
          </a:p>
          <a:p>
            <a:pPr lvl="2" eaLnBrk="1" hangingPunct="1">
              <a:lnSpc>
                <a:spcPct val="110000"/>
              </a:lnSpc>
            </a:pPr>
            <a:r>
              <a:rPr lang="zh-CN" altLang="en-US" b="1" dirty="0">
                <a:solidFill>
                  <a:srgbClr val="057939"/>
                </a:solidFill>
                <a:latin typeface="楷体_GB2312" pitchFamily="49" charset="-122"/>
                <a:ea typeface="楷体_GB2312" pitchFamily="49" charset="-122"/>
              </a:rPr>
              <a:t>常用</a:t>
            </a:r>
            <a:r>
              <a:rPr lang="zh-CN" altLang="en-US" b="1" u="sng" dirty="0">
                <a:solidFill>
                  <a:srgbClr val="FF0000"/>
                </a:solidFill>
                <a:latin typeface="楷体_GB2312" pitchFamily="49" charset="-122"/>
                <a:ea typeface="楷体_GB2312" pitchFamily="49" charset="-122"/>
              </a:rPr>
              <a:t>距离</a:t>
            </a:r>
            <a:r>
              <a:rPr lang="zh-CN" altLang="en-US" b="1" dirty="0">
                <a:solidFill>
                  <a:srgbClr val="057939"/>
                </a:solidFill>
                <a:latin typeface="楷体_GB2312" pitchFamily="49" charset="-122"/>
                <a:ea typeface="楷体_GB2312" pitchFamily="49" charset="-122"/>
              </a:rPr>
              <a:t>来测度</a:t>
            </a:r>
            <a:r>
              <a:rPr lang="zh-CN" altLang="en-US" b="1" u="sng" dirty="0">
                <a:solidFill>
                  <a:srgbClr val="FF00FF"/>
                </a:solidFill>
                <a:latin typeface="楷体_GB2312" pitchFamily="49" charset="-122"/>
                <a:ea typeface="楷体_GB2312" pitchFamily="49" charset="-122"/>
              </a:rPr>
              <a:t>样本之间</a:t>
            </a:r>
            <a:r>
              <a:rPr lang="zh-CN" altLang="en-US" b="1" dirty="0">
                <a:solidFill>
                  <a:srgbClr val="057939"/>
                </a:solidFill>
                <a:latin typeface="楷体_GB2312" pitchFamily="49" charset="-122"/>
                <a:ea typeface="楷体_GB2312" pitchFamily="49" charset="-122"/>
              </a:rPr>
              <a:t>的亲疏程度。</a:t>
            </a:r>
          </a:p>
        </p:txBody>
      </p:sp>
      <p:sp>
        <p:nvSpPr>
          <p:cNvPr id="2" name="灯片编号占位符 1">
            <a:extLst>
              <a:ext uri="{FF2B5EF4-FFF2-40B4-BE49-F238E27FC236}">
                <a16:creationId xmlns:a16="http://schemas.microsoft.com/office/drawing/2014/main" id="{1A2FEE0E-2D87-26F8-AEB1-0C713811394A}"/>
              </a:ext>
            </a:extLst>
          </p:cNvPr>
          <p:cNvSpPr>
            <a:spLocks noGrp="1"/>
          </p:cNvSpPr>
          <p:nvPr>
            <p:ph type="sldNum" sz="quarter" idx="11"/>
          </p:nvPr>
        </p:nvSpPr>
        <p:spPr/>
        <p:txBody>
          <a:bodyPr/>
          <a:lstStyle/>
          <a:p>
            <a:pPr>
              <a:defRPr/>
            </a:pPr>
            <a:fld id="{F13753BC-CAEF-4333-AC48-2805658F6E3F}" type="slidenum">
              <a:rPr lang="en-US" altLang="zh-CN" smtClean="0"/>
              <a:pPr>
                <a:defRPr/>
              </a:pPr>
              <a:t>42</a:t>
            </a:fld>
            <a:endParaRPr lang="en-US" altLang="zh-CN"/>
          </a:p>
        </p:txBody>
      </p:sp>
    </p:spTree>
    <p:extLst>
      <p:ext uri="{BB962C8B-B14F-4D97-AF65-F5344CB8AC3E}">
        <p14:creationId xmlns:p14="http://schemas.microsoft.com/office/powerpoint/2010/main" val="78639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wipe(left)">
                                      <p:cBhvr>
                                        <p:cTn id="7" dur="500"/>
                                        <p:tgtEl>
                                          <p:spTgt spid="2304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0403">
                                            <p:txEl>
                                              <p:pRg st="1" end="1"/>
                                            </p:txEl>
                                          </p:spTgt>
                                        </p:tgtEl>
                                        <p:attrNameLst>
                                          <p:attrName>style.visibility</p:attrName>
                                        </p:attrNameLst>
                                      </p:cBhvr>
                                      <p:to>
                                        <p:strVal val="visible"/>
                                      </p:to>
                                    </p:set>
                                    <p:animEffect transition="in" filter="wipe(left)">
                                      <p:cBhvr>
                                        <p:cTn id="12" dur="500"/>
                                        <p:tgtEl>
                                          <p:spTgt spid="2304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0403">
                                            <p:txEl>
                                              <p:pRg st="2" end="2"/>
                                            </p:txEl>
                                          </p:spTgt>
                                        </p:tgtEl>
                                        <p:attrNameLst>
                                          <p:attrName>style.visibility</p:attrName>
                                        </p:attrNameLst>
                                      </p:cBhvr>
                                      <p:to>
                                        <p:strVal val="visible"/>
                                      </p:to>
                                    </p:set>
                                    <p:animEffect transition="in" filter="wipe(left)">
                                      <p:cBhvr>
                                        <p:cTn id="17" dur="500"/>
                                        <p:tgtEl>
                                          <p:spTgt spid="2304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0403">
                                            <p:txEl>
                                              <p:pRg st="3" end="3"/>
                                            </p:txEl>
                                          </p:spTgt>
                                        </p:tgtEl>
                                        <p:attrNameLst>
                                          <p:attrName>style.visibility</p:attrName>
                                        </p:attrNameLst>
                                      </p:cBhvr>
                                      <p:to>
                                        <p:strVal val="visible"/>
                                      </p:to>
                                    </p:set>
                                    <p:animEffect transition="in" filter="wipe(left)">
                                      <p:cBhvr>
                                        <p:cTn id="22" dur="500"/>
                                        <p:tgtEl>
                                          <p:spTgt spid="2304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0403">
                                            <p:txEl>
                                              <p:pRg st="4" end="4"/>
                                            </p:txEl>
                                          </p:spTgt>
                                        </p:tgtEl>
                                        <p:attrNameLst>
                                          <p:attrName>style.visibility</p:attrName>
                                        </p:attrNameLst>
                                      </p:cBhvr>
                                      <p:to>
                                        <p:strVal val="visible"/>
                                      </p:to>
                                    </p:set>
                                    <p:animEffect transition="in" filter="wipe(left)">
                                      <p:cBhvr>
                                        <p:cTn id="27" dur="500"/>
                                        <p:tgtEl>
                                          <p:spTgt spid="2304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0403">
                                            <p:txEl>
                                              <p:pRg st="5" end="5"/>
                                            </p:txEl>
                                          </p:spTgt>
                                        </p:tgtEl>
                                        <p:attrNameLst>
                                          <p:attrName>style.visibility</p:attrName>
                                        </p:attrNameLst>
                                      </p:cBhvr>
                                      <p:to>
                                        <p:strVal val="visible"/>
                                      </p:to>
                                    </p:set>
                                    <p:animEffect transition="in" filter="wipe(left)">
                                      <p:cBhvr>
                                        <p:cTn id="32" dur="500"/>
                                        <p:tgtEl>
                                          <p:spTgt spid="2304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0403">
                                            <p:txEl>
                                              <p:pRg st="6" end="6"/>
                                            </p:txEl>
                                          </p:spTgt>
                                        </p:tgtEl>
                                        <p:attrNameLst>
                                          <p:attrName>style.visibility</p:attrName>
                                        </p:attrNameLst>
                                      </p:cBhvr>
                                      <p:to>
                                        <p:strVal val="visible"/>
                                      </p:to>
                                    </p:set>
                                    <p:animEffect transition="in" filter="wipe(left)">
                                      <p:cBhvr>
                                        <p:cTn id="37" dur="500"/>
                                        <p:tgtEl>
                                          <p:spTgt spid="2304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0403">
                                            <p:txEl>
                                              <p:pRg st="7" end="7"/>
                                            </p:txEl>
                                          </p:spTgt>
                                        </p:tgtEl>
                                        <p:attrNameLst>
                                          <p:attrName>style.visibility</p:attrName>
                                        </p:attrNameLst>
                                      </p:cBhvr>
                                      <p:to>
                                        <p:strVal val="visible"/>
                                      </p:to>
                                    </p:set>
                                    <p:animEffect transition="in" filter="wipe(left)">
                                      <p:cBhvr>
                                        <p:cTn id="42" dur="500"/>
                                        <p:tgtEl>
                                          <p:spTgt spid="2304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981200" y="457200"/>
            <a:ext cx="8229600" cy="1100138"/>
          </a:xfrm>
        </p:spPr>
        <p:txBody>
          <a:bodyPr/>
          <a:lstStyle/>
          <a:p>
            <a:pPr algn="ctr" eaLnBrk="1" hangingPunct="1"/>
            <a:r>
              <a:rPr kumimoji="1" lang="zh-CN" altLang="en-US" dirty="0">
                <a:solidFill>
                  <a:srgbClr val="057939"/>
                </a:solidFill>
                <a:ea typeface="黑体" pitchFamily="2" charset="-122"/>
              </a:rPr>
              <a:t>定义距离的准则</a:t>
            </a:r>
          </a:p>
        </p:txBody>
      </p:sp>
      <p:sp>
        <p:nvSpPr>
          <p:cNvPr id="35843" name="Rectangle 3"/>
          <p:cNvSpPr>
            <a:spLocks noGrp="1" noChangeArrowheads="1"/>
          </p:cNvSpPr>
          <p:nvPr>
            <p:ph type="body" idx="1"/>
          </p:nvPr>
        </p:nvSpPr>
        <p:spPr>
          <a:xfrm>
            <a:off x="1343472" y="1557339"/>
            <a:ext cx="9361040" cy="4167187"/>
          </a:xfrm>
        </p:spPr>
        <p:txBody>
          <a:bodyPr/>
          <a:lstStyle/>
          <a:p>
            <a:pPr eaLnBrk="1" hangingPunct="1"/>
            <a:r>
              <a:rPr kumimoji="1" lang="zh-CN" altLang="en-US" b="1" dirty="0">
                <a:ea typeface="华文楷体" pitchFamily="2" charset="-122"/>
              </a:rPr>
              <a:t>定义：第 </a:t>
            </a:r>
            <a:r>
              <a:rPr kumimoji="1" lang="en-US" altLang="zh-CN" b="1" i="1" dirty="0">
                <a:ea typeface="华文楷体" pitchFamily="2" charset="-122"/>
              </a:rPr>
              <a:t>i </a:t>
            </a:r>
            <a:r>
              <a:rPr kumimoji="1" lang="zh-CN" altLang="en-US" b="1" dirty="0">
                <a:ea typeface="华文楷体" pitchFamily="2" charset="-122"/>
              </a:rPr>
              <a:t>个和第 </a:t>
            </a:r>
            <a:r>
              <a:rPr kumimoji="1" lang="en-US" altLang="zh-CN" b="1" i="1" dirty="0">
                <a:ea typeface="华文楷体" pitchFamily="2" charset="-122"/>
              </a:rPr>
              <a:t>j</a:t>
            </a:r>
            <a:r>
              <a:rPr kumimoji="1" lang="en-US" altLang="zh-CN" b="1" dirty="0">
                <a:ea typeface="华文楷体" pitchFamily="2" charset="-122"/>
              </a:rPr>
              <a:t> </a:t>
            </a:r>
            <a:r>
              <a:rPr kumimoji="1" lang="zh-CN" altLang="en-US" b="1" dirty="0">
                <a:ea typeface="华文楷体" pitchFamily="2" charset="-122"/>
              </a:rPr>
              <a:t>个样本之间的距离要求满足如下四个条件</a:t>
            </a:r>
            <a:endParaRPr kumimoji="1" lang="zh-CN" altLang="en-US" b="1" dirty="0">
              <a:solidFill>
                <a:srgbClr val="FC3F04"/>
              </a:solidFill>
              <a:ea typeface="华文楷体" pitchFamily="2" charset="-122"/>
            </a:endParaRPr>
          </a:p>
        </p:txBody>
      </p:sp>
      <p:sp>
        <p:nvSpPr>
          <p:cNvPr id="35844" name="Rectangle 4"/>
          <p:cNvSpPr>
            <a:spLocks noChangeArrowheads="1"/>
          </p:cNvSpPr>
          <p:nvPr/>
        </p:nvSpPr>
        <p:spPr bwMode="auto">
          <a:xfrm>
            <a:off x="1581160" y="5793956"/>
            <a:ext cx="71609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buSzPct val="80000"/>
              <a:buFont typeface="Wingdings" pitchFamily="2" charset="2"/>
              <a:buNone/>
            </a:pPr>
            <a:r>
              <a:rPr kumimoji="1" lang="zh-CN" altLang="en-US" sz="3200" b="1" dirty="0">
                <a:solidFill>
                  <a:srgbClr val="3333FF"/>
                </a:solidFill>
                <a:ea typeface="楷体_GB2312" pitchFamily="49" charset="-122"/>
                <a:sym typeface="Wingdings" pitchFamily="2" charset="2"/>
              </a:rPr>
              <a:t>距离可以自定义，只要满足距离的条件</a:t>
            </a:r>
          </a:p>
        </p:txBody>
      </p:sp>
      <p:graphicFrame>
        <p:nvGraphicFramePr>
          <p:cNvPr id="231429" name="Object 5"/>
          <p:cNvGraphicFramePr>
            <a:graphicFrameLocks noChangeAspect="1"/>
          </p:cNvGraphicFramePr>
          <p:nvPr>
            <p:extLst>
              <p:ext uri="{D42A27DB-BD31-4B8C-83A1-F6EECF244321}">
                <p14:modId xmlns:p14="http://schemas.microsoft.com/office/powerpoint/2010/main" val="4262170240"/>
              </p:ext>
            </p:extLst>
          </p:nvPr>
        </p:nvGraphicFramePr>
        <p:xfrm>
          <a:off x="2423592" y="2780928"/>
          <a:ext cx="4176712" cy="563562"/>
        </p:xfrm>
        <a:graphic>
          <a:graphicData uri="http://schemas.openxmlformats.org/presentationml/2006/ole">
            <mc:AlternateContent xmlns:mc="http://schemas.openxmlformats.org/markup-compatibility/2006">
              <mc:Choice xmlns:v="urn:schemas-microsoft-com:vml" Requires="v">
                <p:oleObj name="公式" r:id="rId3" imgW="1752600" imgH="241300" progId="Equation.3">
                  <p:embed/>
                </p:oleObj>
              </mc:Choice>
              <mc:Fallback>
                <p:oleObj name="公式" r:id="rId3" imgW="17526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3592" y="2780928"/>
                        <a:ext cx="4176712"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1430" name="Object 6"/>
          <p:cNvGraphicFramePr>
            <a:graphicFrameLocks noChangeAspect="1"/>
          </p:cNvGraphicFramePr>
          <p:nvPr>
            <p:extLst>
              <p:ext uri="{D42A27DB-BD31-4B8C-83A1-F6EECF244321}">
                <p14:modId xmlns:p14="http://schemas.microsoft.com/office/powerpoint/2010/main" val="3660634850"/>
              </p:ext>
            </p:extLst>
          </p:nvPr>
        </p:nvGraphicFramePr>
        <p:xfrm>
          <a:off x="2423592" y="3430215"/>
          <a:ext cx="4349750" cy="577850"/>
        </p:xfrm>
        <a:graphic>
          <a:graphicData uri="http://schemas.openxmlformats.org/presentationml/2006/ole">
            <mc:AlternateContent xmlns:mc="http://schemas.openxmlformats.org/markup-compatibility/2006">
              <mc:Choice xmlns:v="urn:schemas-microsoft-com:vml" Requires="v">
                <p:oleObj name="公式" r:id="rId5" imgW="1778000" imgH="241300" progId="Equation.3">
                  <p:embed/>
                </p:oleObj>
              </mc:Choice>
              <mc:Fallback>
                <p:oleObj name="公式" r:id="rId5" imgW="17780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3592" y="3430215"/>
                        <a:ext cx="43497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1431" name="Object 7"/>
          <p:cNvGraphicFramePr>
            <a:graphicFrameLocks noChangeAspect="1"/>
          </p:cNvGraphicFramePr>
          <p:nvPr>
            <p:extLst>
              <p:ext uri="{D42A27DB-BD31-4B8C-83A1-F6EECF244321}">
                <p14:modId xmlns:p14="http://schemas.microsoft.com/office/powerpoint/2010/main" val="4289964509"/>
              </p:ext>
            </p:extLst>
          </p:nvPr>
        </p:nvGraphicFramePr>
        <p:xfrm>
          <a:off x="2423593" y="4149353"/>
          <a:ext cx="4295775" cy="544512"/>
        </p:xfrm>
        <a:graphic>
          <a:graphicData uri="http://schemas.openxmlformats.org/presentationml/2006/ole">
            <mc:AlternateContent xmlns:mc="http://schemas.openxmlformats.org/markup-compatibility/2006">
              <mc:Choice xmlns:v="urn:schemas-microsoft-com:vml" Requires="v">
                <p:oleObj name="公式" r:id="rId7" imgW="1866900" imgH="241300" progId="Equation.3">
                  <p:embed/>
                </p:oleObj>
              </mc:Choice>
              <mc:Fallback>
                <p:oleObj name="公式" r:id="rId7" imgW="18669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3593" y="4149353"/>
                        <a:ext cx="429577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1432" name="Object 8"/>
          <p:cNvGraphicFramePr>
            <a:graphicFrameLocks noChangeAspect="1"/>
          </p:cNvGraphicFramePr>
          <p:nvPr>
            <p:extLst>
              <p:ext uri="{D42A27DB-BD31-4B8C-83A1-F6EECF244321}">
                <p14:modId xmlns:p14="http://schemas.microsoft.com/office/powerpoint/2010/main" val="499259345"/>
              </p:ext>
            </p:extLst>
          </p:nvPr>
        </p:nvGraphicFramePr>
        <p:xfrm>
          <a:off x="2423592" y="4941515"/>
          <a:ext cx="4894262" cy="476250"/>
        </p:xfrm>
        <a:graphic>
          <a:graphicData uri="http://schemas.openxmlformats.org/presentationml/2006/ole">
            <mc:AlternateContent xmlns:mc="http://schemas.openxmlformats.org/markup-compatibility/2006">
              <mc:Choice xmlns:v="urn:schemas-microsoft-com:vml" Requires="v">
                <p:oleObj name="公式" r:id="rId9" imgW="4876800" imgH="482600" progId="Equation.3">
                  <p:embed/>
                </p:oleObj>
              </mc:Choice>
              <mc:Fallback>
                <p:oleObj name="公式" r:id="rId9" imgW="4876800" imgH="482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3592" y="4941515"/>
                        <a:ext cx="48942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588757069"/>
              </p:ext>
            </p:extLst>
          </p:nvPr>
        </p:nvGraphicFramePr>
        <p:xfrm>
          <a:off x="7464152" y="2600059"/>
          <a:ext cx="4349750" cy="2636849"/>
        </p:xfrm>
        <a:graphic>
          <a:graphicData uri="http://schemas.openxmlformats.org/presentationml/2006/ole">
            <mc:AlternateContent xmlns:mc="http://schemas.openxmlformats.org/markup-compatibility/2006">
              <mc:Choice xmlns:v="urn:schemas-microsoft-com:vml" Requires="v">
                <p:oleObj name="Equation" r:id="rId11" imgW="1562040" imgH="939600" progId="Equation.DSMT4">
                  <p:embed/>
                </p:oleObj>
              </mc:Choice>
              <mc:Fallback>
                <p:oleObj name="Equation" r:id="rId11" imgW="1562040" imgH="939600" progId="Equation.DSMT4">
                  <p:embed/>
                  <p:pic>
                    <p:nvPicPr>
                      <p:cNvPr id="0" name=""/>
                      <p:cNvPicPr>
                        <a:picLocks noChangeAspect="1" noChangeArrowheads="1"/>
                      </p:cNvPicPr>
                      <p:nvPr/>
                    </p:nvPicPr>
                    <p:blipFill>
                      <a:blip r:embed="rId12"/>
                      <a:srcRect/>
                      <a:stretch>
                        <a:fillRect/>
                      </a:stretch>
                    </p:blipFill>
                    <p:spPr bwMode="auto">
                      <a:xfrm>
                        <a:off x="7464152" y="2600059"/>
                        <a:ext cx="4349750" cy="2636849"/>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ECC3FC54-D000-9566-7FB9-978649DD95AE}"/>
              </a:ext>
            </a:extLst>
          </p:cNvPr>
          <p:cNvSpPr>
            <a:spLocks noGrp="1"/>
          </p:cNvSpPr>
          <p:nvPr>
            <p:ph type="sldNum" sz="quarter" idx="11"/>
          </p:nvPr>
        </p:nvSpPr>
        <p:spPr/>
        <p:txBody>
          <a:bodyPr/>
          <a:lstStyle/>
          <a:p>
            <a:pPr>
              <a:defRPr/>
            </a:pPr>
            <a:fld id="{F13753BC-CAEF-4333-AC48-2805658F6E3F}" type="slidenum">
              <a:rPr lang="en-US" altLang="zh-CN" smtClean="0"/>
              <a:pPr>
                <a:defRPr/>
              </a:pPr>
              <a:t>43</a:t>
            </a:fld>
            <a:endParaRPr lang="en-US" altLang="zh-CN"/>
          </a:p>
        </p:txBody>
      </p:sp>
    </p:spTree>
    <p:extLst>
      <p:ext uri="{BB962C8B-B14F-4D97-AF65-F5344CB8AC3E}">
        <p14:creationId xmlns:p14="http://schemas.microsoft.com/office/powerpoint/2010/main" val="606079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1429"/>
                                        </p:tgtEl>
                                        <p:attrNameLst>
                                          <p:attrName>style.visibility</p:attrName>
                                        </p:attrNameLst>
                                      </p:cBhvr>
                                      <p:to>
                                        <p:strVal val="visible"/>
                                      </p:to>
                                    </p:set>
                                    <p:animEffect transition="in" filter="wipe(left)">
                                      <p:cBhvr>
                                        <p:cTn id="7" dur="500"/>
                                        <p:tgtEl>
                                          <p:spTgt spid="2314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1430"/>
                                        </p:tgtEl>
                                        <p:attrNameLst>
                                          <p:attrName>style.visibility</p:attrName>
                                        </p:attrNameLst>
                                      </p:cBhvr>
                                      <p:to>
                                        <p:strVal val="visible"/>
                                      </p:to>
                                    </p:set>
                                    <p:animEffect transition="in" filter="wipe(left)">
                                      <p:cBhvr>
                                        <p:cTn id="12" dur="500"/>
                                        <p:tgtEl>
                                          <p:spTgt spid="2314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1431"/>
                                        </p:tgtEl>
                                        <p:attrNameLst>
                                          <p:attrName>style.visibility</p:attrName>
                                        </p:attrNameLst>
                                      </p:cBhvr>
                                      <p:to>
                                        <p:strVal val="visible"/>
                                      </p:to>
                                    </p:set>
                                    <p:animEffect transition="in" filter="wipe(left)">
                                      <p:cBhvr>
                                        <p:cTn id="17" dur="500"/>
                                        <p:tgtEl>
                                          <p:spTgt spid="2314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432"/>
                                        </p:tgtEl>
                                        <p:attrNameLst>
                                          <p:attrName>style.visibility</p:attrName>
                                        </p:attrNameLst>
                                      </p:cBhvr>
                                      <p:to>
                                        <p:strVal val="visible"/>
                                      </p:to>
                                    </p:set>
                                    <p:animEffect transition="in" filter="wipe(left)">
                                      <p:cBhvr>
                                        <p:cTn id="22" dur="500"/>
                                        <p:tgtEl>
                                          <p:spTgt spid="23143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5844"/>
                                        </p:tgtEl>
                                        <p:attrNameLst>
                                          <p:attrName>style.visibility</p:attrName>
                                        </p:attrNameLst>
                                      </p:cBhvr>
                                      <p:to>
                                        <p:strVal val="visible"/>
                                      </p:to>
                                    </p:set>
                                    <p:anim calcmode="lin" valueType="num">
                                      <p:cBhvr additive="base">
                                        <p:cTn id="27" dur="500" fill="hold"/>
                                        <p:tgtEl>
                                          <p:spTgt spid="35844"/>
                                        </p:tgtEl>
                                        <p:attrNameLst>
                                          <p:attrName>ppt_x</p:attrName>
                                        </p:attrNameLst>
                                      </p:cBhvr>
                                      <p:tavLst>
                                        <p:tav tm="0">
                                          <p:val>
                                            <p:strVal val="#ppt_x"/>
                                          </p:val>
                                        </p:tav>
                                        <p:tav tm="100000">
                                          <p:val>
                                            <p:strVal val="#ppt_x"/>
                                          </p:val>
                                        </p:tav>
                                      </p:tavLst>
                                    </p:anim>
                                    <p:anim calcmode="lin" valueType="num">
                                      <p:cBhvr additive="base">
                                        <p:cTn id="28"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dissolve">
                                      <p:cBhvr>
                                        <p:cTn id="33" dur="500"/>
                                        <p:tgtEl>
                                          <p:spTgt spid="10"/>
                                        </p:tgtEl>
                                      </p:cBhvr>
                                    </p:animEffect>
                                  </p:childTnLst>
                                  <p:subTnLst>
                                    <p:audio>
                                      <p:cMediaNode>
                                        <p:cTn display="0" masterRel="sameClick">
                                          <p:stCondLst>
                                            <p:cond evt="begin" delay="0">
                                              <p:tn val="31"/>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2424114" y="404813"/>
            <a:ext cx="7488237" cy="1079500"/>
          </a:xfrm>
        </p:spPr>
        <p:txBody>
          <a:bodyPr/>
          <a:lstStyle/>
          <a:p>
            <a:pPr algn="ctr" eaLnBrk="1" hangingPunct="1"/>
            <a:r>
              <a:rPr lang="zh-CN" altLang="en-US" dirty="0">
                <a:solidFill>
                  <a:srgbClr val="008000"/>
                </a:solidFill>
                <a:latin typeface="黑体" pitchFamily="2" charset="-122"/>
                <a:ea typeface="黑体" pitchFamily="2" charset="-122"/>
              </a:rPr>
              <a:t>常用距离的算法</a:t>
            </a:r>
          </a:p>
        </p:txBody>
      </p:sp>
      <p:sp>
        <p:nvSpPr>
          <p:cNvPr id="233475" name="Rectangle 3"/>
          <p:cNvSpPr>
            <a:spLocks noGrp="1" noChangeArrowheads="1"/>
          </p:cNvSpPr>
          <p:nvPr>
            <p:ph type="body" idx="1"/>
          </p:nvPr>
        </p:nvSpPr>
        <p:spPr>
          <a:xfrm>
            <a:off x="1774825" y="1787872"/>
            <a:ext cx="8915400" cy="2362200"/>
          </a:xfrm>
        </p:spPr>
        <p:txBody>
          <a:bodyPr/>
          <a:lstStyle/>
          <a:p>
            <a:pPr eaLnBrk="1" hangingPunct="1">
              <a:lnSpc>
                <a:spcPct val="125000"/>
              </a:lnSpc>
              <a:buFont typeface="Wingdings" pitchFamily="2" charset="2"/>
              <a:buNone/>
            </a:pPr>
            <a:r>
              <a:rPr lang="zh-CN" altLang="en-US" sz="2400" dirty="0">
                <a:solidFill>
                  <a:schemeClr val="tx2"/>
                </a:solidFill>
                <a:latin typeface="宋体" pitchFamily="2" charset="-122"/>
              </a:rPr>
              <a:t>设                        和</a:t>
            </a:r>
          </a:p>
          <a:p>
            <a:pPr eaLnBrk="1" hangingPunct="1">
              <a:lnSpc>
                <a:spcPct val="125000"/>
              </a:lnSpc>
              <a:buFont typeface="Wingdings" pitchFamily="2" charset="2"/>
              <a:buNone/>
            </a:pPr>
            <a:r>
              <a:rPr lang="zh-CN" altLang="en-US" sz="2400" dirty="0">
                <a:solidFill>
                  <a:schemeClr val="tx2"/>
                </a:solidFill>
                <a:latin typeface="宋体" pitchFamily="2" charset="-122"/>
              </a:rPr>
              <a:t>是第 </a:t>
            </a:r>
            <a:r>
              <a:rPr lang="en-US" altLang="zh-CN" sz="2400" dirty="0" err="1">
                <a:solidFill>
                  <a:schemeClr val="tx2"/>
                </a:solidFill>
                <a:latin typeface="+mj-lt"/>
              </a:rPr>
              <a:t>i</a:t>
            </a:r>
            <a:r>
              <a:rPr lang="en-US" altLang="zh-CN" sz="2400" dirty="0">
                <a:solidFill>
                  <a:schemeClr val="tx2"/>
                </a:solidFill>
                <a:latin typeface="+mj-lt"/>
              </a:rPr>
              <a:t> </a:t>
            </a:r>
            <a:r>
              <a:rPr lang="zh-CN" altLang="en-US" sz="2400" dirty="0">
                <a:solidFill>
                  <a:schemeClr val="tx2"/>
                </a:solidFill>
                <a:latin typeface="+mj-lt"/>
              </a:rPr>
              <a:t>和 </a:t>
            </a:r>
            <a:r>
              <a:rPr lang="en-US" altLang="zh-CN" sz="2400" dirty="0">
                <a:solidFill>
                  <a:schemeClr val="tx2"/>
                </a:solidFill>
                <a:latin typeface="+mj-lt"/>
              </a:rPr>
              <a:t>j </a:t>
            </a:r>
            <a:r>
              <a:rPr lang="zh-CN" altLang="en-US" sz="2400" dirty="0">
                <a:solidFill>
                  <a:schemeClr val="tx2"/>
                </a:solidFill>
                <a:latin typeface="宋体" pitchFamily="2" charset="-122"/>
              </a:rPr>
              <a:t>个样本的观测值，则二者之间的距离为</a:t>
            </a:r>
            <a:r>
              <a:rPr lang="zh-CN" altLang="en-US" sz="2800" dirty="0">
                <a:solidFill>
                  <a:schemeClr val="tx2"/>
                </a:solidFill>
                <a:latin typeface="宋体" pitchFamily="2" charset="-122"/>
              </a:rPr>
              <a:t>：</a:t>
            </a:r>
          </a:p>
          <a:p>
            <a:pPr eaLnBrk="1" hangingPunct="1">
              <a:lnSpc>
                <a:spcPct val="125000"/>
              </a:lnSpc>
              <a:buFont typeface="Wingdings" pitchFamily="2" charset="2"/>
              <a:buNone/>
            </a:pPr>
            <a:endParaRPr lang="en-US" altLang="zh-CN" dirty="0">
              <a:solidFill>
                <a:schemeClr val="tx2"/>
              </a:solidFill>
              <a:latin typeface="宋体" pitchFamily="2" charset="-122"/>
            </a:endParaRPr>
          </a:p>
        </p:txBody>
      </p:sp>
      <p:graphicFrame>
        <p:nvGraphicFramePr>
          <p:cNvPr id="233476" name="Object 4"/>
          <p:cNvGraphicFramePr>
            <a:graphicFrameLocks noChangeAspect="1"/>
          </p:cNvGraphicFramePr>
          <p:nvPr>
            <p:extLst>
              <p:ext uri="{D42A27DB-BD31-4B8C-83A1-F6EECF244321}">
                <p14:modId xmlns:p14="http://schemas.microsoft.com/office/powerpoint/2010/main" val="3870547067"/>
              </p:ext>
            </p:extLst>
          </p:nvPr>
        </p:nvGraphicFramePr>
        <p:xfrm>
          <a:off x="4789489" y="2781648"/>
          <a:ext cx="3216275" cy="873125"/>
        </p:xfrm>
        <a:graphic>
          <a:graphicData uri="http://schemas.openxmlformats.org/presentationml/2006/ole">
            <mc:AlternateContent xmlns:mc="http://schemas.openxmlformats.org/markup-compatibility/2006">
              <mc:Choice xmlns:v="urn:schemas-microsoft-com:vml" Requires="v">
                <p:oleObj name="公式" r:id="rId3" imgW="2724021" imgH="723870" progId="Equation.3">
                  <p:embed/>
                </p:oleObj>
              </mc:Choice>
              <mc:Fallback>
                <p:oleObj name="公式" r:id="rId3" imgW="2724021" imgH="72387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9489" y="2781648"/>
                        <a:ext cx="321627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3477" name="Object 5"/>
          <p:cNvGraphicFramePr>
            <a:graphicFrameLocks noChangeAspect="1"/>
          </p:cNvGraphicFramePr>
          <p:nvPr>
            <p:extLst>
              <p:ext uri="{D42A27DB-BD31-4B8C-83A1-F6EECF244321}">
                <p14:modId xmlns:p14="http://schemas.microsoft.com/office/powerpoint/2010/main" val="2494618050"/>
              </p:ext>
            </p:extLst>
          </p:nvPr>
        </p:nvGraphicFramePr>
        <p:xfrm>
          <a:off x="4656139" y="3716684"/>
          <a:ext cx="3571875" cy="865188"/>
        </p:xfrm>
        <a:graphic>
          <a:graphicData uri="http://schemas.openxmlformats.org/presentationml/2006/ole">
            <mc:AlternateContent xmlns:mc="http://schemas.openxmlformats.org/markup-compatibility/2006">
              <mc:Choice xmlns:v="urn:schemas-microsoft-com:vml" Requires="v">
                <p:oleObj name="公式" r:id="rId5" imgW="2600300" imgH="609660" progId="Equation.3">
                  <p:embed/>
                </p:oleObj>
              </mc:Choice>
              <mc:Fallback>
                <p:oleObj name="公式" r:id="rId5" imgW="2600300" imgH="6096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6139" y="3716684"/>
                        <a:ext cx="35718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3478" name="Group 6"/>
          <p:cNvGrpSpPr>
            <a:grpSpLocks/>
          </p:cNvGrpSpPr>
          <p:nvPr/>
        </p:nvGrpSpPr>
        <p:grpSpPr bwMode="auto">
          <a:xfrm>
            <a:off x="2855914" y="1759302"/>
            <a:ext cx="6192840" cy="565151"/>
            <a:chOff x="750" y="1621"/>
            <a:chExt cx="3901" cy="356"/>
          </a:xfrm>
        </p:grpSpPr>
        <p:graphicFrame>
          <p:nvGraphicFramePr>
            <p:cNvPr id="36875" name="Object 7"/>
            <p:cNvGraphicFramePr>
              <a:graphicFrameLocks noChangeAspect="1"/>
            </p:cNvGraphicFramePr>
            <p:nvPr>
              <p:extLst>
                <p:ext uri="{D42A27DB-BD31-4B8C-83A1-F6EECF244321}">
                  <p14:modId xmlns:p14="http://schemas.microsoft.com/office/powerpoint/2010/main" val="579818247"/>
                </p:ext>
              </p:extLst>
            </p:nvPr>
          </p:nvGraphicFramePr>
          <p:xfrm>
            <a:off x="750" y="1631"/>
            <a:ext cx="1812" cy="336"/>
          </p:xfrm>
          <a:graphic>
            <a:graphicData uri="http://schemas.openxmlformats.org/presentationml/2006/ole">
              <mc:AlternateContent xmlns:mc="http://schemas.openxmlformats.org/markup-compatibility/2006">
                <mc:Choice xmlns:v="urn:schemas-microsoft-com:vml" Requires="v">
                  <p:oleObj name="Equation" r:id="rId7" imgW="1625400" imgH="279360" progId="Equation.DSMT4">
                    <p:embed/>
                  </p:oleObj>
                </mc:Choice>
                <mc:Fallback>
                  <p:oleObj name="Equation" r:id="rId7" imgW="1625400" imgH="279360" progId="Equation.DSMT4">
                    <p:embed/>
                    <p:pic>
                      <p:nvPicPr>
                        <p:cNvPr id="0" name=""/>
                        <p:cNvPicPr>
                          <a:picLocks noChangeAspect="1" noChangeArrowheads="1"/>
                        </p:cNvPicPr>
                        <p:nvPr/>
                      </p:nvPicPr>
                      <p:blipFill>
                        <a:blip r:embed="rId8"/>
                        <a:srcRect/>
                        <a:stretch>
                          <a:fillRect/>
                        </a:stretch>
                      </p:blipFill>
                      <p:spPr bwMode="auto">
                        <a:xfrm>
                          <a:off x="750" y="1631"/>
                          <a:ext cx="1812" cy="336"/>
                        </a:xfrm>
                        <a:prstGeom prst="rect">
                          <a:avLst/>
                        </a:prstGeom>
                        <a:noFill/>
                        <a:ln>
                          <a:noFill/>
                        </a:ln>
                      </p:spPr>
                    </p:pic>
                  </p:oleObj>
                </mc:Fallback>
              </mc:AlternateContent>
            </a:graphicData>
          </a:graphic>
        </p:graphicFrame>
        <p:graphicFrame>
          <p:nvGraphicFramePr>
            <p:cNvPr id="36876" name="Object 8"/>
            <p:cNvGraphicFramePr>
              <a:graphicFrameLocks noChangeAspect="1"/>
            </p:cNvGraphicFramePr>
            <p:nvPr>
              <p:extLst>
                <p:ext uri="{D42A27DB-BD31-4B8C-83A1-F6EECF244321}">
                  <p14:modId xmlns:p14="http://schemas.microsoft.com/office/powerpoint/2010/main" val="607322049"/>
                </p:ext>
              </p:extLst>
            </p:nvPr>
          </p:nvGraphicFramePr>
          <p:xfrm>
            <a:off x="2882" y="1621"/>
            <a:ext cx="1769" cy="356"/>
          </p:xfrm>
          <a:graphic>
            <a:graphicData uri="http://schemas.openxmlformats.org/presentationml/2006/ole">
              <mc:AlternateContent xmlns:mc="http://schemas.openxmlformats.org/markup-compatibility/2006">
                <mc:Choice xmlns:v="urn:schemas-microsoft-com:vml" Requires="v">
                  <p:oleObj name="Equation" r:id="rId9" imgW="1282680" imgH="241200" progId="Equation.DSMT4">
                    <p:embed/>
                  </p:oleObj>
                </mc:Choice>
                <mc:Fallback>
                  <p:oleObj name="Equation" r:id="rId9" imgW="1282680" imgH="241200" progId="Equation.DSMT4">
                    <p:embed/>
                    <p:pic>
                      <p:nvPicPr>
                        <p:cNvPr id="0" name=""/>
                        <p:cNvPicPr>
                          <a:picLocks noChangeAspect="1" noChangeArrowheads="1"/>
                        </p:cNvPicPr>
                        <p:nvPr/>
                      </p:nvPicPr>
                      <p:blipFill>
                        <a:blip r:embed="rId10"/>
                        <a:srcRect/>
                        <a:stretch>
                          <a:fillRect/>
                        </a:stretch>
                      </p:blipFill>
                      <p:spPr bwMode="auto">
                        <a:xfrm>
                          <a:off x="2882" y="1621"/>
                          <a:ext cx="1769" cy="356"/>
                        </a:xfrm>
                        <a:prstGeom prst="rect">
                          <a:avLst/>
                        </a:prstGeom>
                        <a:noFill/>
                        <a:ln>
                          <a:noFill/>
                        </a:ln>
                      </p:spPr>
                    </p:pic>
                  </p:oleObj>
                </mc:Fallback>
              </mc:AlternateContent>
            </a:graphicData>
          </a:graphic>
        </p:graphicFrame>
      </p:grpSp>
      <p:sp>
        <p:nvSpPr>
          <p:cNvPr id="233481" name="Rectangle 9"/>
          <p:cNvSpPr>
            <a:spLocks noChangeArrowheads="1"/>
          </p:cNvSpPr>
          <p:nvPr/>
        </p:nvSpPr>
        <p:spPr bwMode="auto">
          <a:xfrm>
            <a:off x="2566988" y="2997547"/>
            <a:ext cx="1295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solidFill>
                  <a:schemeClr val="tx2"/>
                </a:solidFill>
                <a:latin typeface="Times New Roman" pitchFamily="18" charset="0"/>
              </a:rPr>
              <a:t>明氏距离</a:t>
            </a:r>
          </a:p>
        </p:txBody>
      </p:sp>
      <p:sp>
        <p:nvSpPr>
          <p:cNvPr id="233482" name="Rectangle 10"/>
          <p:cNvSpPr>
            <a:spLocks noChangeArrowheads="1"/>
          </p:cNvSpPr>
          <p:nvPr/>
        </p:nvSpPr>
        <p:spPr bwMode="auto">
          <a:xfrm>
            <a:off x="1992313" y="3789709"/>
            <a:ext cx="2667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a:solidFill>
                  <a:schemeClr val="tx2"/>
                </a:solidFill>
                <a:latin typeface="Times New Roman" pitchFamily="18" charset="0"/>
              </a:rPr>
              <a:t>特别，欧氏距离</a:t>
            </a:r>
          </a:p>
        </p:txBody>
      </p:sp>
      <p:sp>
        <p:nvSpPr>
          <p:cNvPr id="233483" name="Rectangle 11"/>
          <p:cNvSpPr>
            <a:spLocks noChangeArrowheads="1"/>
          </p:cNvSpPr>
          <p:nvPr/>
        </p:nvSpPr>
        <p:spPr bwMode="auto">
          <a:xfrm>
            <a:off x="1343472" y="1268760"/>
            <a:ext cx="3028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bg2"/>
              </a:buClr>
              <a:buSzPct val="75000"/>
              <a:buFont typeface="Wingdings" pitchFamily="2" charset="2"/>
              <a:buNone/>
            </a:pPr>
            <a:r>
              <a:rPr lang="en-US" altLang="zh-CN" sz="2800" dirty="0">
                <a:solidFill>
                  <a:srgbClr val="3333FF"/>
                </a:solidFill>
                <a:latin typeface="黑体" pitchFamily="2" charset="-122"/>
                <a:ea typeface="黑体" pitchFamily="2" charset="-122"/>
              </a:rPr>
              <a:t>(1) </a:t>
            </a:r>
            <a:r>
              <a:rPr lang="zh-CN" altLang="en-US" sz="2800" dirty="0">
                <a:solidFill>
                  <a:srgbClr val="3333FF"/>
                </a:solidFill>
                <a:latin typeface="黑体" pitchFamily="2" charset="-122"/>
                <a:ea typeface="黑体" pitchFamily="2" charset="-122"/>
              </a:rPr>
              <a:t>明氏距离测度</a:t>
            </a:r>
          </a:p>
        </p:txBody>
      </p:sp>
      <p:sp>
        <p:nvSpPr>
          <p:cNvPr id="36874" name="Rectangle 12"/>
          <p:cNvSpPr>
            <a:spLocks noChangeArrowheads="1"/>
          </p:cNvSpPr>
          <p:nvPr/>
        </p:nvSpPr>
        <p:spPr bwMode="auto">
          <a:xfrm>
            <a:off x="695400" y="4586634"/>
            <a:ext cx="10513168" cy="2246769"/>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dirty="0">
                <a:solidFill>
                  <a:srgbClr val="EE0006"/>
                </a:solidFill>
                <a:latin typeface="黑体" pitchFamily="2" charset="-122"/>
                <a:ea typeface="黑体" pitchFamily="2" charset="-122"/>
              </a:rPr>
              <a:t>明氏距离主要缺点：</a:t>
            </a:r>
          </a:p>
          <a:p>
            <a:r>
              <a:rPr lang="zh-CN" altLang="en-US" sz="2800" b="1" dirty="0">
                <a:latin typeface="华文楷体" pitchFamily="2" charset="-122"/>
                <a:ea typeface="华文楷体" pitchFamily="2" charset="-122"/>
              </a:rPr>
              <a:t>     ①它的值与各指标的量纲有关，则难以说清各不同计量单位变量间距离的实际意义。</a:t>
            </a:r>
          </a:p>
          <a:p>
            <a:r>
              <a:rPr lang="zh-CN" altLang="en-US" sz="2800" b="1" dirty="0">
                <a:latin typeface="华文楷体" pitchFamily="2" charset="-122"/>
                <a:ea typeface="华文楷体" pitchFamily="2" charset="-122"/>
              </a:rPr>
              <a:t>     ②它把各个变量都同等看待，未考虑各个变量之间的相关性和重要性</a:t>
            </a:r>
            <a:r>
              <a:rPr lang="zh-CN" altLang="en-US" sz="2400" b="1" dirty="0">
                <a:latin typeface="华文楷体" pitchFamily="2" charset="-122"/>
                <a:ea typeface="华文楷体" pitchFamily="2" charset="-122"/>
              </a:rPr>
              <a:t>。</a:t>
            </a:r>
          </a:p>
        </p:txBody>
      </p:sp>
      <p:sp>
        <p:nvSpPr>
          <p:cNvPr id="2" name="灯片编号占位符 1">
            <a:extLst>
              <a:ext uri="{FF2B5EF4-FFF2-40B4-BE49-F238E27FC236}">
                <a16:creationId xmlns:a16="http://schemas.microsoft.com/office/drawing/2014/main" id="{13DDC7F6-4654-B9BB-F115-191B063C103D}"/>
              </a:ext>
            </a:extLst>
          </p:cNvPr>
          <p:cNvSpPr>
            <a:spLocks noGrp="1"/>
          </p:cNvSpPr>
          <p:nvPr>
            <p:ph type="sldNum" sz="quarter" idx="11"/>
          </p:nvPr>
        </p:nvSpPr>
        <p:spPr/>
        <p:txBody>
          <a:bodyPr/>
          <a:lstStyle/>
          <a:p>
            <a:pPr>
              <a:defRPr/>
            </a:pPr>
            <a:fld id="{F13753BC-CAEF-4333-AC48-2805658F6E3F}" type="slidenum">
              <a:rPr lang="en-US" altLang="zh-CN" smtClean="0"/>
              <a:pPr>
                <a:defRPr/>
              </a:pPr>
              <a:t>44</a:t>
            </a:fld>
            <a:endParaRPr lang="en-US" altLang="zh-CN"/>
          </a:p>
        </p:txBody>
      </p:sp>
    </p:spTree>
    <p:extLst>
      <p:ext uri="{BB962C8B-B14F-4D97-AF65-F5344CB8AC3E}">
        <p14:creationId xmlns:p14="http://schemas.microsoft.com/office/powerpoint/2010/main" val="10184647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3483"/>
                                        </p:tgtEl>
                                        <p:attrNameLst>
                                          <p:attrName>style.visibility</p:attrName>
                                        </p:attrNameLst>
                                      </p:cBhvr>
                                      <p:to>
                                        <p:strVal val="visible"/>
                                      </p:to>
                                    </p:set>
                                    <p:animEffect transition="in" filter="blinds(horizontal)">
                                      <p:cBhvr>
                                        <p:cTn id="7" dur="500"/>
                                        <p:tgtEl>
                                          <p:spTgt spid="233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3478"/>
                                        </p:tgtEl>
                                        <p:attrNameLst>
                                          <p:attrName>style.visibility</p:attrName>
                                        </p:attrNameLst>
                                      </p:cBhvr>
                                      <p:to>
                                        <p:strVal val="visible"/>
                                      </p:to>
                                    </p:set>
                                    <p:animEffect transition="in" filter="blinds(horizontal)">
                                      <p:cBhvr>
                                        <p:cTn id="12" dur="500"/>
                                        <p:tgtEl>
                                          <p:spTgt spid="23347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33475">
                                            <p:txEl>
                                              <p:pRg st="0" end="0"/>
                                            </p:txEl>
                                          </p:spTgt>
                                        </p:tgtEl>
                                        <p:attrNameLst>
                                          <p:attrName>style.visibility</p:attrName>
                                        </p:attrNameLst>
                                      </p:cBhvr>
                                      <p:to>
                                        <p:strVal val="visible"/>
                                      </p:to>
                                    </p:set>
                                    <p:animEffect transition="in" filter="blinds(horizontal)">
                                      <p:cBhvr>
                                        <p:cTn id="15" dur="500"/>
                                        <p:tgtEl>
                                          <p:spTgt spid="233475">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33475">
                                            <p:txEl>
                                              <p:pRg st="1" end="1"/>
                                            </p:txEl>
                                          </p:spTgt>
                                        </p:tgtEl>
                                        <p:attrNameLst>
                                          <p:attrName>style.visibility</p:attrName>
                                        </p:attrNameLst>
                                      </p:cBhvr>
                                      <p:to>
                                        <p:strVal val="visible"/>
                                      </p:to>
                                    </p:set>
                                    <p:animEffect transition="in" filter="blinds(horizontal)">
                                      <p:cBhvr>
                                        <p:cTn id="20" dur="500"/>
                                        <p:tgtEl>
                                          <p:spTgt spid="233475">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33481"/>
                                        </p:tgtEl>
                                        <p:attrNameLst>
                                          <p:attrName>style.visibility</p:attrName>
                                        </p:attrNameLst>
                                      </p:cBhvr>
                                      <p:to>
                                        <p:strVal val="visible"/>
                                      </p:to>
                                    </p:set>
                                    <p:animEffect transition="in" filter="blinds(horizontal)">
                                      <p:cBhvr>
                                        <p:cTn id="25" dur="500"/>
                                        <p:tgtEl>
                                          <p:spTgt spid="233481"/>
                                        </p:tgtEl>
                                      </p:cBhvr>
                                    </p:animEffect>
                                  </p:childTnLst>
                                </p:cTn>
                              </p:par>
                              <p:par>
                                <p:cTn id="26" presetID="3" presetClass="entr" presetSubtype="10" fill="hold" nodeType="withEffect">
                                  <p:stCondLst>
                                    <p:cond delay="0"/>
                                  </p:stCondLst>
                                  <p:childTnLst>
                                    <p:set>
                                      <p:cBhvr>
                                        <p:cTn id="27" dur="1" fill="hold">
                                          <p:stCondLst>
                                            <p:cond delay="0"/>
                                          </p:stCondLst>
                                        </p:cTn>
                                        <p:tgtEl>
                                          <p:spTgt spid="233476"/>
                                        </p:tgtEl>
                                        <p:attrNameLst>
                                          <p:attrName>style.visibility</p:attrName>
                                        </p:attrNameLst>
                                      </p:cBhvr>
                                      <p:to>
                                        <p:strVal val="visible"/>
                                      </p:to>
                                    </p:set>
                                    <p:animEffect transition="in" filter="blinds(horizontal)">
                                      <p:cBhvr>
                                        <p:cTn id="28" dur="500"/>
                                        <p:tgtEl>
                                          <p:spTgt spid="23347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33482"/>
                                        </p:tgtEl>
                                        <p:attrNameLst>
                                          <p:attrName>style.visibility</p:attrName>
                                        </p:attrNameLst>
                                      </p:cBhvr>
                                      <p:to>
                                        <p:strVal val="visible"/>
                                      </p:to>
                                    </p:set>
                                    <p:animEffect transition="in" filter="blinds(horizontal)">
                                      <p:cBhvr>
                                        <p:cTn id="33" dur="500"/>
                                        <p:tgtEl>
                                          <p:spTgt spid="233482"/>
                                        </p:tgtEl>
                                      </p:cBhvr>
                                    </p:animEffect>
                                  </p:childTnLst>
                                </p:cTn>
                              </p:par>
                              <p:par>
                                <p:cTn id="34" presetID="3" presetClass="entr" presetSubtype="10" fill="hold" nodeType="withEffect">
                                  <p:stCondLst>
                                    <p:cond delay="0"/>
                                  </p:stCondLst>
                                  <p:childTnLst>
                                    <p:set>
                                      <p:cBhvr>
                                        <p:cTn id="35" dur="1" fill="hold">
                                          <p:stCondLst>
                                            <p:cond delay="0"/>
                                          </p:stCondLst>
                                        </p:cTn>
                                        <p:tgtEl>
                                          <p:spTgt spid="233477"/>
                                        </p:tgtEl>
                                        <p:attrNameLst>
                                          <p:attrName>style.visibility</p:attrName>
                                        </p:attrNameLst>
                                      </p:cBhvr>
                                      <p:to>
                                        <p:strVal val="visible"/>
                                      </p:to>
                                    </p:set>
                                    <p:animEffect transition="in" filter="blinds(horizontal)">
                                      <p:cBhvr>
                                        <p:cTn id="36" dur="500"/>
                                        <p:tgtEl>
                                          <p:spTgt spid="233477"/>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6874"/>
                                        </p:tgtEl>
                                        <p:attrNameLst>
                                          <p:attrName>style.visibility</p:attrName>
                                        </p:attrNameLst>
                                      </p:cBhvr>
                                      <p:to>
                                        <p:strVal val="visible"/>
                                      </p:to>
                                    </p:set>
                                    <p:animEffect transition="in" filter="fade">
                                      <p:cBhvr>
                                        <p:cTn id="41" dur="1000"/>
                                        <p:tgtEl>
                                          <p:spTgt spid="36874"/>
                                        </p:tgtEl>
                                      </p:cBhvr>
                                    </p:animEffect>
                                    <p:anim calcmode="lin" valueType="num">
                                      <p:cBhvr>
                                        <p:cTn id="42" dur="1000" fill="hold"/>
                                        <p:tgtEl>
                                          <p:spTgt spid="36874"/>
                                        </p:tgtEl>
                                        <p:attrNameLst>
                                          <p:attrName>ppt_x</p:attrName>
                                        </p:attrNameLst>
                                      </p:cBhvr>
                                      <p:tavLst>
                                        <p:tav tm="0">
                                          <p:val>
                                            <p:strVal val="#ppt_x"/>
                                          </p:val>
                                        </p:tav>
                                        <p:tav tm="100000">
                                          <p:val>
                                            <p:strVal val="#ppt_x"/>
                                          </p:val>
                                        </p:tav>
                                      </p:tavLst>
                                    </p:anim>
                                    <p:anim calcmode="lin" valueType="num">
                                      <p:cBhvr>
                                        <p:cTn id="43" dur="1000" fill="hold"/>
                                        <p:tgtEl>
                                          <p:spTgt spid="368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5" grpId="0" build="p"/>
      <p:bldP spid="233481" grpId="0"/>
      <p:bldP spid="233482" grpId="0"/>
      <p:bldP spid="233483" grpId="0"/>
      <p:bldP spid="36874"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a:xfrm>
            <a:off x="2208213" y="178718"/>
            <a:ext cx="7772400" cy="1162050"/>
          </a:xfrm>
        </p:spPr>
        <p:txBody>
          <a:bodyPr/>
          <a:lstStyle/>
          <a:p>
            <a:pPr algn="ctr"/>
            <a:r>
              <a:rPr lang="zh-CN" altLang="en-US" dirty="0">
                <a:solidFill>
                  <a:srgbClr val="057939"/>
                </a:solidFill>
                <a:ea typeface="黑体" panose="02010609060101010101" pitchFamily="49" charset="-122"/>
              </a:rPr>
              <a:t>绝对值距离</a:t>
            </a:r>
            <a:r>
              <a:rPr lang="en-US" altLang="zh-CN" dirty="0">
                <a:solidFill>
                  <a:srgbClr val="057939"/>
                </a:solidFill>
                <a:ea typeface="黑体" panose="02010609060101010101" pitchFamily="49" charset="-122"/>
              </a:rPr>
              <a:t>(</a:t>
            </a:r>
            <a:r>
              <a:rPr lang="zh-CN" altLang="en-US" dirty="0">
                <a:solidFill>
                  <a:srgbClr val="057939"/>
                </a:solidFill>
                <a:ea typeface="黑体" panose="02010609060101010101" pitchFamily="49" charset="-122"/>
              </a:rPr>
              <a:t>曼哈顿距离</a:t>
            </a:r>
            <a:r>
              <a:rPr lang="en-US" altLang="zh-CN" dirty="0">
                <a:solidFill>
                  <a:srgbClr val="057939"/>
                </a:solidFill>
                <a:ea typeface="黑体" panose="02010609060101010101" pitchFamily="49" charset="-122"/>
              </a:rPr>
              <a:t>)</a:t>
            </a:r>
            <a:r>
              <a:rPr lang="zh-CN" altLang="en-US" dirty="0">
                <a:solidFill>
                  <a:srgbClr val="057939"/>
                </a:solidFill>
                <a:ea typeface="黑体" panose="02010609060101010101" pitchFamily="49" charset="-122"/>
              </a:rPr>
              <a:t>实例</a:t>
            </a:r>
          </a:p>
        </p:txBody>
      </p:sp>
      <p:pic>
        <p:nvPicPr>
          <p:cNvPr id="264196" name="Picture 4"/>
          <p:cNvPicPr>
            <a:picLocks noGrp="1" noChangeAspect="1" noChangeArrowheads="1"/>
          </p:cNvPicPr>
          <p:nvPr>
            <p:ph type="body" idx="4294967295"/>
          </p:nvPr>
        </p:nvPicPr>
        <p:blipFill rotWithShape="1">
          <a:blip r:embed="rId3">
            <a:extLst>
              <a:ext uri="{28A0092B-C50C-407E-A947-70E740481C1C}">
                <a14:useLocalDpi xmlns:a14="http://schemas.microsoft.com/office/drawing/2010/main" val="0"/>
              </a:ext>
            </a:extLst>
          </a:blip>
          <a:srcRect l="3865" t="32985" r="64762" b="9032"/>
          <a:stretch/>
        </p:blipFill>
        <p:spPr>
          <a:xfrm>
            <a:off x="2369344" y="2132856"/>
            <a:ext cx="2954760" cy="40957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pic>
      <p:graphicFrame>
        <p:nvGraphicFramePr>
          <p:cNvPr id="6" name="Object 4"/>
          <p:cNvGraphicFramePr>
            <a:graphicFrameLocks noChangeAspect="1"/>
          </p:cNvGraphicFramePr>
          <p:nvPr>
            <p:extLst>
              <p:ext uri="{D42A27DB-BD31-4B8C-83A1-F6EECF244321}">
                <p14:modId xmlns:p14="http://schemas.microsoft.com/office/powerpoint/2010/main" val="3360599502"/>
              </p:ext>
            </p:extLst>
          </p:nvPr>
        </p:nvGraphicFramePr>
        <p:xfrm>
          <a:off x="6094413" y="1164038"/>
          <a:ext cx="3031530" cy="1211135"/>
        </p:xfrm>
        <a:graphic>
          <a:graphicData uri="http://schemas.openxmlformats.org/presentationml/2006/ole">
            <mc:AlternateContent xmlns:mc="http://schemas.openxmlformats.org/markup-compatibility/2006">
              <mc:Choice xmlns:v="urn:schemas-microsoft-com:vml" Requires="v">
                <p:oleObj name="Equation" r:id="rId4" imgW="1104840" imgH="431640" progId="Equation.DSMT4">
                  <p:embed/>
                </p:oleObj>
              </mc:Choice>
              <mc:Fallback>
                <p:oleObj name="Equation" r:id="rId4" imgW="1104840" imgH="431640" progId="Equation.DSMT4">
                  <p:embed/>
                  <p:pic>
                    <p:nvPicPr>
                      <p:cNvPr id="0" name=""/>
                      <p:cNvPicPr>
                        <a:picLocks noChangeAspect="1" noChangeArrowheads="1"/>
                      </p:cNvPicPr>
                      <p:nvPr/>
                    </p:nvPicPr>
                    <p:blipFill>
                      <a:blip r:embed="rId5"/>
                      <a:srcRect/>
                      <a:stretch>
                        <a:fillRect/>
                      </a:stretch>
                    </p:blipFill>
                    <p:spPr bwMode="auto">
                      <a:xfrm>
                        <a:off x="6094413" y="1164038"/>
                        <a:ext cx="3031530" cy="1211135"/>
                      </a:xfrm>
                      <a:prstGeom prst="rect">
                        <a:avLst/>
                      </a:prstGeom>
                      <a:noFill/>
                      <a:ln>
                        <a:noFill/>
                      </a:ln>
                    </p:spPr>
                  </p:pic>
                </p:oleObj>
              </mc:Fallback>
            </mc:AlternateContent>
          </a:graphicData>
        </a:graphic>
      </p:graphicFrame>
      <p:pic>
        <p:nvPicPr>
          <p:cNvPr id="7"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9542" t="43127" r="17030" b="9032"/>
          <a:stretch/>
        </p:blipFill>
        <p:spPr bwMode="auto">
          <a:xfrm>
            <a:off x="6023992" y="2656703"/>
            <a:ext cx="4090086" cy="3379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721590" y="6165304"/>
            <a:ext cx="3038706" cy="523220"/>
          </a:xfrm>
          <a:prstGeom prst="rect">
            <a:avLst/>
          </a:prstGeom>
          <a:noFill/>
        </p:spPr>
        <p:txBody>
          <a:bodyPr wrap="square" rtlCol="0">
            <a:spAutoFit/>
          </a:bodyPr>
          <a:lstStyle/>
          <a:p>
            <a:r>
              <a:rPr lang="en-US" altLang="zh-CN" sz="2800" dirty="0"/>
              <a:t>d</a:t>
            </a:r>
            <a:r>
              <a:rPr lang="en-US" altLang="zh-CN" sz="2800" baseline="-25000" dirty="0"/>
              <a:t>12</a:t>
            </a:r>
            <a:r>
              <a:rPr lang="en-US" altLang="zh-CN" sz="2800" dirty="0"/>
              <a:t>=|5-7|+|7-1|=8</a:t>
            </a:r>
            <a:endParaRPr lang="zh-CN" altLang="en-US" sz="2800" dirty="0"/>
          </a:p>
        </p:txBody>
      </p:sp>
      <p:sp>
        <p:nvSpPr>
          <p:cNvPr id="3" name="灯片编号占位符 2">
            <a:extLst>
              <a:ext uri="{FF2B5EF4-FFF2-40B4-BE49-F238E27FC236}">
                <a16:creationId xmlns:a16="http://schemas.microsoft.com/office/drawing/2014/main" id="{8AC5AA8E-BE0A-6D95-0A0B-4CDD4E0DBAB6}"/>
              </a:ext>
            </a:extLst>
          </p:cNvPr>
          <p:cNvSpPr>
            <a:spLocks noGrp="1"/>
          </p:cNvSpPr>
          <p:nvPr>
            <p:ph type="sldNum" sz="quarter" idx="11"/>
          </p:nvPr>
        </p:nvSpPr>
        <p:spPr/>
        <p:txBody>
          <a:bodyPr/>
          <a:lstStyle/>
          <a:p>
            <a:pPr>
              <a:defRPr/>
            </a:pPr>
            <a:fld id="{F13753BC-CAEF-4333-AC48-2805658F6E3F}" type="slidenum">
              <a:rPr lang="en-US" altLang="zh-CN" smtClean="0"/>
              <a:pPr>
                <a:defRPr/>
              </a:pPr>
              <a:t>45</a:t>
            </a:fld>
            <a:endParaRPr lang="en-US" altLang="zh-CN"/>
          </a:p>
        </p:txBody>
      </p:sp>
    </p:spTree>
    <p:extLst>
      <p:ext uri="{BB962C8B-B14F-4D97-AF65-F5344CB8AC3E}">
        <p14:creationId xmlns:p14="http://schemas.microsoft.com/office/powerpoint/2010/main" val="6981247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4196"/>
                                        </p:tgtEl>
                                        <p:attrNameLst>
                                          <p:attrName>style.visibility</p:attrName>
                                        </p:attrNameLst>
                                      </p:cBhvr>
                                      <p:to>
                                        <p:strVal val="visible"/>
                                      </p:to>
                                    </p:set>
                                    <p:animEffect transition="in" filter="checkerboard(across)">
                                      <p:cBhvr>
                                        <p:cTn id="7" dur="500"/>
                                        <p:tgtEl>
                                          <p:spTgt spid="26419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2036" name="Picture 4"/>
          <p:cNvPicPr>
            <a:picLocks noGrp="1" noChangeAspect="1" noChangeArrowheads="1"/>
          </p:cNvPicPr>
          <p:nvPr>
            <p:ph sz="half" idx="1"/>
          </p:nvPr>
        </p:nvPicPr>
        <p:blipFill rotWithShape="1">
          <a:blip r:embed="rId2">
            <a:extLst>
              <a:ext uri="{28A0092B-C50C-407E-A947-70E740481C1C}">
                <a14:useLocalDpi xmlns:a14="http://schemas.microsoft.com/office/drawing/2010/main" val="0"/>
              </a:ext>
            </a:extLst>
          </a:blip>
          <a:srcRect l="3676" t="25931" r="64191" b="10776"/>
          <a:stretch/>
        </p:blipFill>
        <p:spPr>
          <a:xfrm>
            <a:off x="1055440" y="2348186"/>
            <a:ext cx="2974255" cy="4321175"/>
          </a:xfrm>
        </p:spPr>
      </p:pic>
      <p:sp>
        <p:nvSpPr>
          <p:cNvPr id="172034" name="Rectangle 2"/>
          <p:cNvSpPr>
            <a:spLocks noGrp="1" noChangeArrowheads="1"/>
          </p:cNvSpPr>
          <p:nvPr>
            <p:ph type="title"/>
          </p:nvPr>
        </p:nvSpPr>
        <p:spPr>
          <a:xfrm>
            <a:off x="1981200" y="116632"/>
            <a:ext cx="8229600" cy="1371600"/>
          </a:xfrm>
          <a:noFill/>
          <a:ln/>
        </p:spPr>
        <p:txBody>
          <a:bodyPr/>
          <a:lstStyle/>
          <a:p>
            <a:pPr algn="ctr"/>
            <a:r>
              <a:rPr lang="zh-CN" altLang="en-US" dirty="0">
                <a:solidFill>
                  <a:srgbClr val="057939"/>
                </a:solidFill>
                <a:ea typeface="黑体" panose="02010609060101010101" pitchFamily="49" charset="-122"/>
              </a:rPr>
              <a:t>欧氏距离实例</a:t>
            </a:r>
          </a:p>
        </p:txBody>
      </p:sp>
      <p:pic>
        <p:nvPicPr>
          <p:cNvPr id="172037" name="Picture 5"/>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5542" t="30611" r="35834" b="26556"/>
          <a:stretch>
            <a:fillRect/>
          </a:stretch>
        </p:blipFill>
        <p:spPr>
          <a:xfrm>
            <a:off x="4966746" y="2708920"/>
            <a:ext cx="7225254" cy="38163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2641472919"/>
              </p:ext>
            </p:extLst>
          </p:nvPr>
        </p:nvGraphicFramePr>
        <p:xfrm>
          <a:off x="4310064" y="1428750"/>
          <a:ext cx="3571875" cy="865188"/>
        </p:xfrm>
        <a:graphic>
          <a:graphicData uri="http://schemas.openxmlformats.org/presentationml/2006/ole">
            <mc:AlternateContent xmlns:mc="http://schemas.openxmlformats.org/markup-compatibility/2006">
              <mc:Choice xmlns:v="urn:schemas-microsoft-com:vml" Requires="v">
                <p:oleObj name="公式" r:id="rId4" imgW="2590845" imgH="600210" progId="Equation.3">
                  <p:embed/>
                </p:oleObj>
              </mc:Choice>
              <mc:Fallback>
                <p:oleObj name="公式" r:id="rId4" imgW="2590845" imgH="60021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0064" y="1428750"/>
                        <a:ext cx="35718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4367808" y="4149081"/>
            <a:ext cx="936104" cy="584775"/>
          </a:xfrm>
          <a:prstGeom prst="rect">
            <a:avLst/>
          </a:prstGeom>
          <a:noFill/>
        </p:spPr>
        <p:txBody>
          <a:bodyPr wrap="square" rtlCol="0">
            <a:spAutoFit/>
          </a:bodyPr>
          <a:lstStyle/>
          <a:p>
            <a:r>
              <a:rPr lang="en-US" altLang="zh-CN" sz="3200" i="1" dirty="0"/>
              <a:t>D</a:t>
            </a:r>
            <a:r>
              <a:rPr lang="en-US" altLang="zh-CN" sz="3200" dirty="0"/>
              <a:t>=</a:t>
            </a:r>
            <a:endParaRPr lang="zh-CN" altLang="en-US" sz="3200" dirty="0"/>
          </a:p>
        </p:txBody>
      </p:sp>
      <p:sp>
        <p:nvSpPr>
          <p:cNvPr id="4" name="灯片编号占位符 3">
            <a:extLst>
              <a:ext uri="{FF2B5EF4-FFF2-40B4-BE49-F238E27FC236}">
                <a16:creationId xmlns:a16="http://schemas.microsoft.com/office/drawing/2014/main" id="{794A7213-0922-B534-8D7D-6D24DDAE40FB}"/>
              </a:ext>
            </a:extLst>
          </p:cNvPr>
          <p:cNvSpPr>
            <a:spLocks noGrp="1"/>
          </p:cNvSpPr>
          <p:nvPr>
            <p:ph type="sldNum" sz="quarter" idx="11"/>
          </p:nvPr>
        </p:nvSpPr>
        <p:spPr/>
        <p:txBody>
          <a:bodyPr/>
          <a:lstStyle/>
          <a:p>
            <a:pPr>
              <a:defRPr/>
            </a:pPr>
            <a:fld id="{C8CF5D13-9327-41E7-B85A-5EA9BAF71A8F}" type="slidenum">
              <a:rPr lang="en-US" altLang="zh-CN" smtClean="0"/>
              <a:pPr>
                <a:defRPr/>
              </a:pPr>
              <a:t>46</a:t>
            </a:fld>
            <a:endParaRPr lang="en-US" altLang="zh-CN"/>
          </a:p>
        </p:txBody>
      </p:sp>
    </p:spTree>
    <p:extLst>
      <p:ext uri="{BB962C8B-B14F-4D97-AF65-F5344CB8AC3E}">
        <p14:creationId xmlns:p14="http://schemas.microsoft.com/office/powerpoint/2010/main" val="310283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2037"/>
                                        </p:tgtEl>
                                        <p:attrNameLst>
                                          <p:attrName>style.visibility</p:attrName>
                                        </p:attrNameLst>
                                      </p:cBhvr>
                                      <p:to>
                                        <p:strVal val="visible"/>
                                      </p:to>
                                    </p:set>
                                    <p:anim calcmode="lin" valueType="num">
                                      <p:cBhvr additive="base">
                                        <p:cTn id="7" dur="500" fill="hold"/>
                                        <p:tgtEl>
                                          <p:spTgt spid="172037"/>
                                        </p:tgtEl>
                                        <p:attrNameLst>
                                          <p:attrName>ppt_x</p:attrName>
                                        </p:attrNameLst>
                                      </p:cBhvr>
                                      <p:tavLst>
                                        <p:tav tm="0">
                                          <p:val>
                                            <p:strVal val="#ppt_x"/>
                                          </p:val>
                                        </p:tav>
                                        <p:tav tm="100000">
                                          <p:val>
                                            <p:strVal val="#ppt_x"/>
                                          </p:val>
                                        </p:tav>
                                      </p:tavLst>
                                    </p:anim>
                                    <p:anim calcmode="lin" valueType="num">
                                      <p:cBhvr additive="base">
                                        <p:cTn id="8" dur="500" fill="hold"/>
                                        <p:tgtEl>
                                          <p:spTgt spid="1720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title"/>
          </p:nvPr>
        </p:nvSpPr>
        <p:spPr>
          <a:xfrm>
            <a:off x="1992313" y="188913"/>
            <a:ext cx="8229600" cy="1371600"/>
          </a:xfrm>
        </p:spPr>
        <p:txBody>
          <a:bodyPr/>
          <a:lstStyle/>
          <a:p>
            <a:pPr algn="ctr" eaLnBrk="1" hangingPunct="1"/>
            <a:r>
              <a:rPr lang="zh-CN" altLang="en-US" dirty="0">
                <a:solidFill>
                  <a:srgbClr val="008000"/>
                </a:solidFill>
                <a:latin typeface="黑体" pitchFamily="2" charset="-122"/>
                <a:ea typeface="黑体" pitchFamily="2" charset="-122"/>
              </a:rPr>
              <a:t>常用距离的算法</a:t>
            </a:r>
            <a:endParaRPr lang="zh-CN" altLang="en-US" sz="3300" dirty="0">
              <a:solidFill>
                <a:srgbClr val="EE0006"/>
              </a:solidFill>
              <a:latin typeface="黑体" pitchFamily="2" charset="-122"/>
              <a:ea typeface="黑体" pitchFamily="2" charset="-122"/>
            </a:endParaRPr>
          </a:p>
        </p:txBody>
      </p:sp>
      <p:sp>
        <p:nvSpPr>
          <p:cNvPr id="236546" name="Rectangle 2"/>
          <p:cNvSpPr>
            <a:spLocks noGrp="1" noChangeArrowheads="1"/>
          </p:cNvSpPr>
          <p:nvPr>
            <p:ph type="body" idx="1"/>
          </p:nvPr>
        </p:nvSpPr>
        <p:spPr>
          <a:xfrm>
            <a:off x="1343472" y="1341438"/>
            <a:ext cx="9586713" cy="1871662"/>
          </a:xfrm>
        </p:spPr>
        <p:txBody>
          <a:bodyPr/>
          <a:lstStyle/>
          <a:p>
            <a:pPr eaLnBrk="1" hangingPunct="1">
              <a:lnSpc>
                <a:spcPct val="135000"/>
              </a:lnSpc>
              <a:buFont typeface="Wingdings" pitchFamily="2" charset="2"/>
              <a:buNone/>
            </a:pPr>
            <a:r>
              <a:rPr kumimoji="1" lang="en-US" altLang="zh-CN" dirty="0">
                <a:solidFill>
                  <a:srgbClr val="3333FF"/>
                </a:solidFill>
                <a:latin typeface="黑体" pitchFamily="2" charset="-122"/>
                <a:ea typeface="黑体" pitchFamily="2" charset="-122"/>
              </a:rPr>
              <a:t>(2)</a:t>
            </a:r>
            <a:r>
              <a:rPr kumimoji="1" lang="zh-CN" altLang="en-US" dirty="0">
                <a:solidFill>
                  <a:srgbClr val="3333FF"/>
                </a:solidFill>
                <a:latin typeface="黑体" pitchFamily="2" charset="-122"/>
                <a:ea typeface="黑体" pitchFamily="2" charset="-122"/>
              </a:rPr>
              <a:t>兰氏距离</a:t>
            </a:r>
          </a:p>
          <a:p>
            <a:pPr eaLnBrk="1" hangingPunct="1">
              <a:lnSpc>
                <a:spcPct val="135000"/>
              </a:lnSpc>
              <a:buFont typeface="Wingdings" pitchFamily="2" charset="2"/>
              <a:buNone/>
            </a:pPr>
            <a:r>
              <a:rPr kumimoji="1" lang="zh-CN" altLang="en-US" sz="2800" b="1" dirty="0"/>
              <a:t>这是兰思和维廉姆斯</a:t>
            </a:r>
            <a:r>
              <a:rPr kumimoji="1" lang="en-US" altLang="zh-CN" sz="2800" b="1" dirty="0"/>
              <a:t>(Lance &amp; Williams)</a:t>
            </a:r>
            <a:r>
              <a:rPr kumimoji="1" lang="zh-CN" altLang="en-US" sz="2800" b="1" dirty="0"/>
              <a:t>所给定的一种距离，其计算公式为：</a:t>
            </a:r>
            <a:endParaRPr kumimoji="1" lang="zh-CN" altLang="en-US" sz="4000" b="1" dirty="0"/>
          </a:p>
        </p:txBody>
      </p:sp>
      <p:graphicFrame>
        <p:nvGraphicFramePr>
          <p:cNvPr id="236547" name="Object 3"/>
          <p:cNvGraphicFramePr>
            <a:graphicFrameLocks noGrp="1" noChangeAspect="1"/>
          </p:cNvGraphicFramePr>
          <p:nvPr>
            <p:ph sz="half" idx="4294967295"/>
            <p:extLst>
              <p:ext uri="{D42A27DB-BD31-4B8C-83A1-F6EECF244321}">
                <p14:modId xmlns:p14="http://schemas.microsoft.com/office/powerpoint/2010/main" val="1167532846"/>
              </p:ext>
            </p:extLst>
          </p:nvPr>
        </p:nvGraphicFramePr>
        <p:xfrm>
          <a:off x="4777134" y="2862262"/>
          <a:ext cx="2719388" cy="1133475"/>
        </p:xfrm>
        <a:graphic>
          <a:graphicData uri="http://schemas.openxmlformats.org/presentationml/2006/ole">
            <mc:AlternateContent xmlns:mc="http://schemas.openxmlformats.org/markup-compatibility/2006">
              <mc:Choice xmlns:v="urn:schemas-microsoft-com:vml" Requires="v">
                <p:oleObj name="Equation" r:id="rId2" imgW="1218960" imgH="507960" progId="Equation.DSMT4">
                  <p:embed/>
                </p:oleObj>
              </mc:Choice>
              <mc:Fallback>
                <p:oleObj name="Equation" r:id="rId2" imgW="1218960" imgH="507960" progId="Equation.DSMT4">
                  <p:embed/>
                  <p:pic>
                    <p:nvPicPr>
                      <p:cNvPr id="0" name=""/>
                      <p:cNvPicPr>
                        <a:picLocks noChangeAspect="1" noChangeArrowheads="1"/>
                      </p:cNvPicPr>
                      <p:nvPr/>
                    </p:nvPicPr>
                    <p:blipFill>
                      <a:blip r:embed="rId3"/>
                      <a:srcRect/>
                      <a:stretch>
                        <a:fillRect/>
                      </a:stretch>
                    </p:blipFill>
                    <p:spPr bwMode="auto">
                      <a:xfrm>
                        <a:off x="4777134" y="2862262"/>
                        <a:ext cx="2719388"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48" name="Rectangle 4"/>
          <p:cNvSpPr>
            <a:spLocks noChangeArrowheads="1"/>
          </p:cNvSpPr>
          <p:nvPr/>
        </p:nvSpPr>
        <p:spPr bwMode="auto">
          <a:xfrm>
            <a:off x="849065" y="4077072"/>
            <a:ext cx="10081120" cy="2739211"/>
          </a:xfrm>
          <a:prstGeom prst="rect">
            <a:avLst/>
          </a:prstGeom>
          <a:solidFill>
            <a:srgbClr val="CC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folHlink"/>
              </a:buClr>
              <a:buSzPct val="85000"/>
              <a:buFont typeface="Wingdings 2" pitchFamily="18" charset="2"/>
              <a:buNone/>
            </a:pPr>
            <a:r>
              <a:rPr kumimoji="1" lang="zh-CN" altLang="en-US" sz="3200" dirty="0">
                <a:solidFill>
                  <a:srgbClr val="EE0006"/>
                </a:solidFill>
                <a:ea typeface="黑体" pitchFamily="2" charset="-122"/>
              </a:rPr>
              <a:t>兰氏距离的特点</a:t>
            </a:r>
            <a:endParaRPr kumimoji="1" lang="zh-CN" altLang="en-US" sz="4400" dirty="0">
              <a:solidFill>
                <a:srgbClr val="EE0006"/>
              </a:solidFill>
              <a:ea typeface="黑体" pitchFamily="2" charset="-122"/>
            </a:endParaRPr>
          </a:p>
          <a:p>
            <a:pPr>
              <a:spcBef>
                <a:spcPct val="50000"/>
              </a:spcBef>
              <a:buClr>
                <a:schemeClr val="folHlink"/>
              </a:buClr>
              <a:buSzPct val="85000"/>
              <a:buFont typeface="Wingdings 2" pitchFamily="18" charset="2"/>
              <a:buNone/>
            </a:pPr>
            <a:r>
              <a:rPr kumimoji="1" lang="zh-CN" altLang="en-US" sz="2800" b="1" dirty="0">
                <a:latin typeface="华文楷体" pitchFamily="2" charset="-122"/>
                <a:ea typeface="华文楷体" pitchFamily="2" charset="-122"/>
              </a:rPr>
              <a:t>       被认为是曼哈顿距离的加权版本，通常对正向接近于</a:t>
            </a:r>
            <a:r>
              <a:rPr kumimoji="1" lang="en-US" altLang="zh-CN" sz="2800" b="1" dirty="0">
                <a:latin typeface="华文楷体" pitchFamily="2" charset="-122"/>
                <a:ea typeface="华文楷体" pitchFamily="2" charset="-122"/>
              </a:rPr>
              <a:t>0</a:t>
            </a:r>
            <a:r>
              <a:rPr kumimoji="1" lang="zh-CN" altLang="en-US" sz="2800" b="1" dirty="0">
                <a:latin typeface="华文楷体" pitchFamily="2" charset="-122"/>
                <a:ea typeface="华文楷体" pitchFamily="2" charset="-122"/>
              </a:rPr>
              <a:t>的值的变化非常敏感，而对数据 的量纲不敏感，使得它特别适合于高度偏倚的数据。</a:t>
            </a:r>
          </a:p>
          <a:p>
            <a:pPr>
              <a:spcBef>
                <a:spcPct val="50000"/>
              </a:spcBef>
              <a:buClr>
                <a:schemeClr val="folHlink"/>
              </a:buClr>
              <a:buSzPct val="85000"/>
              <a:buFont typeface="Wingdings 2" pitchFamily="18" charset="2"/>
              <a:buNone/>
            </a:pPr>
            <a:r>
              <a:rPr kumimoji="1" lang="zh-CN" altLang="en-US" sz="2800" b="1" dirty="0">
                <a:latin typeface="华文楷体" pitchFamily="2" charset="-122"/>
                <a:ea typeface="华文楷体" pitchFamily="2" charset="-122"/>
              </a:rPr>
              <a:t>        但它假设指标之间相互独立，没有考虑指标之间的相关性</a:t>
            </a:r>
            <a:r>
              <a:rPr kumimoji="1" lang="zh-CN" altLang="en-US" sz="2800" dirty="0">
                <a:latin typeface="华文楷体" pitchFamily="2" charset="-122"/>
                <a:ea typeface="华文楷体" pitchFamily="2" charset="-122"/>
              </a:rPr>
              <a:t>。</a:t>
            </a:r>
          </a:p>
        </p:txBody>
      </p:sp>
      <p:sp>
        <p:nvSpPr>
          <p:cNvPr id="2" name="灯片编号占位符 1">
            <a:extLst>
              <a:ext uri="{FF2B5EF4-FFF2-40B4-BE49-F238E27FC236}">
                <a16:creationId xmlns:a16="http://schemas.microsoft.com/office/drawing/2014/main" id="{8E731AB3-01E7-4C57-AD76-0286D08C05A2}"/>
              </a:ext>
            </a:extLst>
          </p:cNvPr>
          <p:cNvSpPr>
            <a:spLocks noGrp="1"/>
          </p:cNvSpPr>
          <p:nvPr>
            <p:ph type="sldNum" sz="quarter" idx="11"/>
          </p:nvPr>
        </p:nvSpPr>
        <p:spPr/>
        <p:txBody>
          <a:bodyPr/>
          <a:lstStyle/>
          <a:p>
            <a:pPr>
              <a:defRPr/>
            </a:pPr>
            <a:fld id="{F13753BC-CAEF-4333-AC48-2805658F6E3F}" type="slidenum">
              <a:rPr lang="en-US" altLang="zh-CN" smtClean="0"/>
              <a:pPr>
                <a:defRPr/>
              </a:pPr>
              <a:t>47</a:t>
            </a:fld>
            <a:endParaRPr lang="en-US" altLang="zh-CN"/>
          </a:p>
        </p:txBody>
      </p:sp>
    </p:spTree>
    <p:extLst>
      <p:ext uri="{BB962C8B-B14F-4D97-AF65-F5344CB8AC3E}">
        <p14:creationId xmlns:p14="http://schemas.microsoft.com/office/powerpoint/2010/main" val="31450283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6546">
                                            <p:txEl>
                                              <p:pRg st="0" end="0"/>
                                            </p:txEl>
                                          </p:spTgt>
                                        </p:tgtEl>
                                        <p:attrNameLst>
                                          <p:attrName>style.visibility</p:attrName>
                                        </p:attrNameLst>
                                      </p:cBhvr>
                                      <p:to>
                                        <p:strVal val="visible"/>
                                      </p:to>
                                    </p:set>
                                    <p:animEffect transition="in" filter="blinds(horizontal)">
                                      <p:cBhvr>
                                        <p:cTn id="7" dur="500"/>
                                        <p:tgtEl>
                                          <p:spTgt spid="2365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6546">
                                            <p:txEl>
                                              <p:pRg st="1" end="1"/>
                                            </p:txEl>
                                          </p:spTgt>
                                        </p:tgtEl>
                                        <p:attrNameLst>
                                          <p:attrName>style.visibility</p:attrName>
                                        </p:attrNameLst>
                                      </p:cBhvr>
                                      <p:to>
                                        <p:strVal val="visible"/>
                                      </p:to>
                                    </p:set>
                                    <p:animEffect transition="in" filter="blinds(horizontal)">
                                      <p:cBhvr>
                                        <p:cTn id="12" dur="500"/>
                                        <p:tgtEl>
                                          <p:spTgt spid="2365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6547"/>
                                        </p:tgtEl>
                                        <p:attrNameLst>
                                          <p:attrName>style.visibility</p:attrName>
                                        </p:attrNameLst>
                                      </p:cBhvr>
                                      <p:to>
                                        <p:strVal val="visible"/>
                                      </p:to>
                                    </p:set>
                                    <p:animEffect transition="in" filter="blinds(horizontal)">
                                      <p:cBhvr>
                                        <p:cTn id="17" dur="500"/>
                                        <p:tgtEl>
                                          <p:spTgt spid="2365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6548"/>
                                        </p:tgtEl>
                                        <p:attrNameLst>
                                          <p:attrName>style.visibility</p:attrName>
                                        </p:attrNameLst>
                                      </p:cBhvr>
                                      <p:to>
                                        <p:strVal val="visible"/>
                                      </p:to>
                                    </p:set>
                                    <p:animEffect transition="in" filter="blinds(horizontal)">
                                      <p:cBhvr>
                                        <p:cTn id="22" dur="500"/>
                                        <p:tgtEl>
                                          <p:spTgt spid="236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build="p"/>
      <p:bldP spid="23654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09600" y="171872"/>
            <a:ext cx="10972800" cy="1371600"/>
          </a:xfrm>
        </p:spPr>
        <p:txBody>
          <a:bodyPr/>
          <a:lstStyle/>
          <a:p>
            <a:pPr algn="ctr" eaLnBrk="1" hangingPunct="1"/>
            <a:r>
              <a:rPr lang="zh-CN" altLang="en-US" dirty="0">
                <a:solidFill>
                  <a:srgbClr val="008000"/>
                </a:solidFill>
                <a:latin typeface="黑体" pitchFamily="2" charset="-122"/>
                <a:ea typeface="黑体" pitchFamily="2" charset="-122"/>
              </a:rPr>
              <a:t>常用距离的算法</a:t>
            </a:r>
            <a:endParaRPr lang="zh-CN" altLang="en-US" sz="3300" b="1" dirty="0">
              <a:solidFill>
                <a:srgbClr val="EE0006"/>
              </a:solidFill>
              <a:latin typeface="宋体" pitchFamily="2" charset="-122"/>
            </a:endParaRPr>
          </a:p>
        </p:txBody>
      </p:sp>
      <p:sp>
        <p:nvSpPr>
          <p:cNvPr id="242691" name="Rectangle 3"/>
          <p:cNvSpPr>
            <a:spLocks noGrp="1" noChangeArrowheads="1"/>
          </p:cNvSpPr>
          <p:nvPr>
            <p:ph type="body" sz="half" idx="1"/>
          </p:nvPr>
        </p:nvSpPr>
        <p:spPr>
          <a:xfrm>
            <a:off x="1559496" y="1744664"/>
            <a:ext cx="4038600" cy="576150"/>
          </a:xfrm>
        </p:spPr>
        <p:txBody>
          <a:bodyPr/>
          <a:lstStyle/>
          <a:p>
            <a:pPr eaLnBrk="1" hangingPunct="1">
              <a:buFont typeface="Wingdings" pitchFamily="2" charset="2"/>
              <a:buNone/>
            </a:pPr>
            <a:r>
              <a:rPr lang="en-US" altLang="zh-CN" dirty="0">
                <a:solidFill>
                  <a:srgbClr val="3333FF"/>
                </a:solidFill>
                <a:latin typeface="黑体" pitchFamily="2" charset="-122"/>
                <a:ea typeface="黑体" pitchFamily="2" charset="-122"/>
              </a:rPr>
              <a:t>(3)</a:t>
            </a:r>
            <a:r>
              <a:rPr kumimoji="1" lang="zh-CN" altLang="en-US" dirty="0">
                <a:solidFill>
                  <a:srgbClr val="3333FF"/>
                </a:solidFill>
                <a:latin typeface="黑体" pitchFamily="2" charset="-122"/>
                <a:ea typeface="黑体" pitchFamily="2" charset="-122"/>
              </a:rPr>
              <a:t>切比雪夫距离</a:t>
            </a:r>
          </a:p>
        </p:txBody>
      </p:sp>
      <p:sp>
        <p:nvSpPr>
          <p:cNvPr id="242699" name="Rectangle 11"/>
          <p:cNvSpPr>
            <a:spLocks noChangeArrowheads="1"/>
          </p:cNvSpPr>
          <p:nvPr/>
        </p:nvSpPr>
        <p:spPr bwMode="auto">
          <a:xfrm>
            <a:off x="2208213" y="2492375"/>
            <a:ext cx="184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sz="3200" b="1">
              <a:latin typeface="Times New Roman" pitchFamily="18" charset="0"/>
            </a:endParaRPr>
          </a:p>
        </p:txBody>
      </p:sp>
      <p:sp>
        <p:nvSpPr>
          <p:cNvPr id="242700" name="Rectangle 12"/>
          <p:cNvSpPr>
            <a:spLocks noChangeArrowheads="1"/>
          </p:cNvSpPr>
          <p:nvPr/>
        </p:nvSpPr>
        <p:spPr bwMode="auto">
          <a:xfrm>
            <a:off x="3207556" y="2348880"/>
            <a:ext cx="50257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latin typeface="Times New Roman" pitchFamily="18" charset="0"/>
              </a:rPr>
              <a:t>d</a:t>
            </a:r>
            <a:r>
              <a:rPr kumimoji="1" lang="en-US" altLang="zh-CN" sz="3200" b="1" i="1" baseline="-30000" dirty="0" err="1">
                <a:latin typeface="Times New Roman" pitchFamily="18" charset="0"/>
              </a:rPr>
              <a:t>ij</a:t>
            </a:r>
            <a:r>
              <a:rPr kumimoji="1" lang="en-US" altLang="zh-CN" sz="3200" b="1" dirty="0">
                <a:latin typeface="Times New Roman" pitchFamily="18" charset="0"/>
              </a:rPr>
              <a:t> = </a:t>
            </a:r>
            <a:r>
              <a:rPr kumimoji="1" lang="en-US" altLang="zh-CN" sz="3200" b="1" dirty="0">
                <a:latin typeface="Times New Roman" pitchFamily="18" charset="0"/>
                <a:sym typeface="Symbol" pitchFamily="18" charset="2"/>
              </a:rPr>
              <a:t>∨</a:t>
            </a:r>
            <a:r>
              <a:rPr kumimoji="1" lang="en-US" altLang="zh-CN" sz="3200" b="1" dirty="0">
                <a:latin typeface="Times New Roman" pitchFamily="18" charset="0"/>
                <a:ea typeface="黑体" pitchFamily="2" charset="-122"/>
              </a:rPr>
              <a:t>{ </a:t>
            </a:r>
            <a:r>
              <a:rPr kumimoji="1" lang="en-US" altLang="zh-CN" sz="3200" b="1" dirty="0">
                <a:latin typeface="Times New Roman" pitchFamily="18" charset="0"/>
              </a:rPr>
              <a:t>| </a:t>
            </a:r>
            <a:r>
              <a:rPr kumimoji="1" lang="en-US" altLang="zh-CN" sz="3200" b="1" i="1" dirty="0" err="1">
                <a:latin typeface="Times New Roman" pitchFamily="18" charset="0"/>
                <a:ea typeface="黑体" pitchFamily="2" charset="-122"/>
              </a:rPr>
              <a:t>x</a:t>
            </a:r>
            <a:r>
              <a:rPr kumimoji="1" lang="en-US" altLang="zh-CN" sz="3200" b="1" i="1" baseline="-30000" dirty="0" err="1">
                <a:latin typeface="Times New Roman" pitchFamily="18" charset="0"/>
                <a:ea typeface="黑体" pitchFamily="2" charset="-122"/>
              </a:rPr>
              <a:t>ik</a:t>
            </a:r>
            <a:r>
              <a:rPr kumimoji="1" lang="en-US" altLang="zh-CN" sz="3200" b="1" dirty="0">
                <a:latin typeface="宋体" pitchFamily="2" charset="-122"/>
              </a:rPr>
              <a:t>-</a:t>
            </a:r>
            <a:r>
              <a:rPr kumimoji="1" lang="en-US" altLang="zh-CN" sz="3200" b="1" dirty="0">
                <a:latin typeface="Times New Roman" pitchFamily="18" charset="0"/>
              </a:rPr>
              <a:t> </a:t>
            </a:r>
            <a:r>
              <a:rPr kumimoji="1" lang="en-US" altLang="zh-CN" sz="3200" b="1" i="1" dirty="0" err="1">
                <a:latin typeface="Times New Roman" pitchFamily="18" charset="0"/>
                <a:ea typeface="黑体" pitchFamily="2" charset="-122"/>
              </a:rPr>
              <a:t>x</a:t>
            </a:r>
            <a:r>
              <a:rPr kumimoji="1" lang="en-US" altLang="zh-CN" sz="3200" b="1" i="1" baseline="-30000" dirty="0" err="1">
                <a:latin typeface="Times New Roman" pitchFamily="18" charset="0"/>
                <a:ea typeface="黑体" pitchFamily="2" charset="-122"/>
              </a:rPr>
              <a:t>jk</a:t>
            </a:r>
            <a:r>
              <a:rPr kumimoji="1" lang="en-US" altLang="zh-CN" sz="3200" b="1" i="1" baseline="-30000" dirty="0">
                <a:latin typeface="Times New Roman" pitchFamily="18" charset="0"/>
                <a:ea typeface="黑体" pitchFamily="2" charset="-122"/>
              </a:rPr>
              <a:t> </a:t>
            </a:r>
            <a:r>
              <a:rPr kumimoji="1" lang="en-US" altLang="zh-CN" sz="3200" b="1" dirty="0">
                <a:latin typeface="Times New Roman" pitchFamily="18" charset="0"/>
              </a:rPr>
              <a:t>| ,  1 </a:t>
            </a:r>
            <a:r>
              <a:rPr kumimoji="1" lang="en-US" altLang="zh-CN" sz="3200" b="1" dirty="0">
                <a:latin typeface="Times New Roman" pitchFamily="18" charset="0"/>
                <a:ea typeface="黑体" pitchFamily="2" charset="-122"/>
              </a:rPr>
              <a:t>≤ </a:t>
            </a:r>
            <a:r>
              <a:rPr kumimoji="1" lang="en-US" altLang="zh-CN" sz="3200" b="1" i="1" dirty="0">
                <a:latin typeface="Times New Roman" pitchFamily="18" charset="0"/>
              </a:rPr>
              <a:t>k </a:t>
            </a:r>
            <a:r>
              <a:rPr kumimoji="1" lang="en-US" altLang="zh-CN" sz="3200" b="1" dirty="0">
                <a:latin typeface="Times New Roman" pitchFamily="18" charset="0"/>
                <a:ea typeface="黑体" pitchFamily="2" charset="-122"/>
              </a:rPr>
              <a:t>≤ </a:t>
            </a:r>
            <a:r>
              <a:rPr kumimoji="1" lang="en-US" altLang="zh-CN" sz="3200" b="1" i="1" dirty="0">
                <a:latin typeface="Times New Roman" pitchFamily="18" charset="0"/>
              </a:rPr>
              <a:t>p</a:t>
            </a:r>
            <a:r>
              <a:rPr kumimoji="1" lang="en-US" altLang="zh-CN" sz="3200" b="1" dirty="0">
                <a:latin typeface="Times New Roman" pitchFamily="18" charset="0"/>
                <a:ea typeface="黑体" pitchFamily="2" charset="-122"/>
              </a:rPr>
              <a:t>}</a:t>
            </a:r>
          </a:p>
        </p:txBody>
      </p:sp>
      <p:sp>
        <p:nvSpPr>
          <p:cNvPr id="242701" name="Text Box 13"/>
          <p:cNvSpPr txBox="1">
            <a:spLocks noChangeArrowheads="1"/>
          </p:cNvSpPr>
          <p:nvPr/>
        </p:nvSpPr>
        <p:spPr bwMode="auto">
          <a:xfrm>
            <a:off x="10107613" y="501808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zh-CN"/>
          </a:p>
        </p:txBody>
      </p:sp>
      <p:sp>
        <p:nvSpPr>
          <p:cNvPr id="242702" name="Rectangle 14"/>
          <p:cNvSpPr>
            <a:spLocks noChangeArrowheads="1"/>
          </p:cNvSpPr>
          <p:nvPr/>
        </p:nvSpPr>
        <p:spPr bwMode="auto">
          <a:xfrm>
            <a:off x="1343472" y="3095737"/>
            <a:ext cx="34676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3333FF"/>
                </a:solidFill>
                <a:latin typeface="黑体" pitchFamily="2" charset="-122"/>
                <a:ea typeface="黑体" pitchFamily="2" charset="-122"/>
              </a:rPr>
              <a:t> (4)</a:t>
            </a:r>
            <a:r>
              <a:rPr lang="zh-CN" altLang="en-US" sz="3200" dirty="0">
                <a:solidFill>
                  <a:srgbClr val="3333FF"/>
                </a:solidFill>
                <a:latin typeface="黑体" pitchFamily="2" charset="-122"/>
                <a:ea typeface="黑体" pitchFamily="2" charset="-122"/>
              </a:rPr>
              <a:t>斜交空间距离</a:t>
            </a:r>
          </a:p>
        </p:txBody>
      </p:sp>
      <p:sp>
        <p:nvSpPr>
          <p:cNvPr id="242703" name="Rectangle 15"/>
          <p:cNvSpPr>
            <a:spLocks noChangeArrowheads="1"/>
          </p:cNvSpPr>
          <p:nvPr/>
        </p:nvSpPr>
        <p:spPr bwMode="auto">
          <a:xfrm>
            <a:off x="1559496" y="3587751"/>
            <a:ext cx="9433047" cy="128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10000"/>
              </a:lnSpc>
              <a:spcBef>
                <a:spcPct val="20000"/>
              </a:spcBef>
              <a:buClr>
                <a:schemeClr val="bg2"/>
              </a:buClr>
              <a:buSzPct val="75000"/>
            </a:pPr>
            <a:r>
              <a:rPr lang="en-US" altLang="zh-CN" sz="2800" b="1" dirty="0">
                <a:latin typeface="楷体_GB2312" pitchFamily="49" charset="-122"/>
                <a:ea typeface="楷体_GB2312" pitchFamily="49" charset="-122"/>
              </a:rPr>
              <a:t>      </a:t>
            </a:r>
            <a:r>
              <a:rPr lang="zh-CN" altLang="en-US" sz="2800" b="1" dirty="0">
                <a:latin typeface="华文楷体" pitchFamily="2" charset="-122"/>
                <a:ea typeface="华文楷体" pitchFamily="2" charset="-122"/>
              </a:rPr>
              <a:t>由于各变量之间往往存在着不同的相关关系，用正交空间的距离来计算样本间的距离易变形，所以可以采用斜交空间距离。</a:t>
            </a:r>
          </a:p>
        </p:txBody>
      </p:sp>
      <p:graphicFrame>
        <p:nvGraphicFramePr>
          <p:cNvPr id="242704" name="Object 16"/>
          <p:cNvGraphicFramePr>
            <a:graphicFrameLocks noGrp="1" noChangeAspect="1"/>
          </p:cNvGraphicFramePr>
          <p:nvPr>
            <p:ph sz="half" idx="2"/>
          </p:nvPr>
        </p:nvGraphicFramePr>
        <p:xfrm>
          <a:off x="2800351" y="4848226"/>
          <a:ext cx="6659563" cy="1281113"/>
        </p:xfrm>
        <a:graphic>
          <a:graphicData uri="http://schemas.openxmlformats.org/presentationml/2006/ole">
            <mc:AlternateContent xmlns:mc="http://schemas.openxmlformats.org/markup-compatibility/2006">
              <mc:Choice xmlns:v="urn:schemas-microsoft-com:vml" Requires="v">
                <p:oleObj name="公式" r:id="rId3" imgW="5346700" imgH="1028700" progId="Equation.3">
                  <p:embed/>
                </p:oleObj>
              </mc:Choice>
              <mc:Fallback>
                <p:oleObj name="公式" r:id="rId3" imgW="5346700" imgH="1028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351" y="4848226"/>
                        <a:ext cx="6659563" cy="1281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42706" name="Rectangle 18"/>
          <p:cNvSpPr>
            <a:spLocks noChangeArrowheads="1"/>
          </p:cNvSpPr>
          <p:nvPr/>
        </p:nvSpPr>
        <p:spPr bwMode="auto">
          <a:xfrm>
            <a:off x="1991545" y="6237288"/>
            <a:ext cx="81351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EE0006"/>
                </a:solidFill>
                <a:ea typeface="楷体_GB2312" pitchFamily="49" charset="-122"/>
              </a:rPr>
              <a:t>当各变量之间不相关时，斜交空间退化为欧氏距离。</a:t>
            </a:r>
          </a:p>
        </p:txBody>
      </p:sp>
      <p:sp>
        <p:nvSpPr>
          <p:cNvPr id="2" name="灯片编号占位符 1">
            <a:extLst>
              <a:ext uri="{FF2B5EF4-FFF2-40B4-BE49-F238E27FC236}">
                <a16:creationId xmlns:a16="http://schemas.microsoft.com/office/drawing/2014/main" id="{B869CC5B-CD2D-FF41-229B-A02A3B9654A0}"/>
              </a:ext>
            </a:extLst>
          </p:cNvPr>
          <p:cNvSpPr>
            <a:spLocks noGrp="1"/>
          </p:cNvSpPr>
          <p:nvPr>
            <p:ph type="sldNum" sz="quarter" idx="11"/>
          </p:nvPr>
        </p:nvSpPr>
        <p:spPr/>
        <p:txBody>
          <a:bodyPr/>
          <a:lstStyle/>
          <a:p>
            <a:pPr>
              <a:defRPr/>
            </a:pPr>
            <a:fld id="{611376B5-62E6-403F-97A0-5A1E42AE81DF}" type="slidenum">
              <a:rPr lang="en-US" altLang="zh-CN" smtClean="0"/>
              <a:pPr>
                <a:defRPr/>
              </a:pPr>
              <a:t>48</a:t>
            </a:fld>
            <a:endParaRPr lang="en-US" altLang="zh-CN"/>
          </a:p>
        </p:txBody>
      </p:sp>
    </p:spTree>
    <p:extLst>
      <p:ext uri="{BB962C8B-B14F-4D97-AF65-F5344CB8AC3E}">
        <p14:creationId xmlns:p14="http://schemas.microsoft.com/office/powerpoint/2010/main" val="24502852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wipe(left)">
                                      <p:cBhvr>
                                        <p:cTn id="7" dur="500"/>
                                        <p:tgtEl>
                                          <p:spTgt spid="242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nodePh="1">
                                  <p:stCondLst>
                                    <p:cond delay="0"/>
                                  </p:stCondLst>
                                  <p:endCondLst>
                                    <p:cond evt="begin" delay="0">
                                      <p:tn val="10"/>
                                    </p:cond>
                                  </p:endCondLst>
                                  <p:childTnLst>
                                    <p:set>
                                      <p:cBhvr>
                                        <p:cTn id="11" dur="1" fill="hold">
                                          <p:stCondLst>
                                            <p:cond delay="0"/>
                                          </p:stCondLst>
                                        </p:cTn>
                                        <p:tgtEl>
                                          <p:spTgt spid="242699"/>
                                        </p:tgtEl>
                                        <p:attrNameLst>
                                          <p:attrName>style.visibility</p:attrName>
                                        </p:attrNameLst>
                                      </p:cBhvr>
                                      <p:to>
                                        <p:strVal val="visible"/>
                                      </p:to>
                                    </p:set>
                                    <p:animEffect transition="in" filter="wipe(left)">
                                      <p:cBhvr>
                                        <p:cTn id="12" dur="500"/>
                                        <p:tgtEl>
                                          <p:spTgt spid="2426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700"/>
                                        </p:tgtEl>
                                        <p:attrNameLst>
                                          <p:attrName>style.visibility</p:attrName>
                                        </p:attrNameLst>
                                      </p:cBhvr>
                                      <p:to>
                                        <p:strVal val="visible"/>
                                      </p:to>
                                    </p:set>
                                    <p:animEffect transition="in" filter="wipe(left)">
                                      <p:cBhvr>
                                        <p:cTn id="17" dur="500"/>
                                        <p:tgtEl>
                                          <p:spTgt spid="2427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nodePh="1">
                                  <p:stCondLst>
                                    <p:cond delay="0"/>
                                  </p:stCondLst>
                                  <p:endCondLst>
                                    <p:cond evt="begin" delay="0">
                                      <p:tn val="20"/>
                                    </p:cond>
                                  </p:endCondLst>
                                  <p:childTnLst>
                                    <p:set>
                                      <p:cBhvr>
                                        <p:cTn id="21" dur="1" fill="hold">
                                          <p:stCondLst>
                                            <p:cond delay="0"/>
                                          </p:stCondLst>
                                        </p:cTn>
                                        <p:tgtEl>
                                          <p:spTgt spid="242701"/>
                                        </p:tgtEl>
                                        <p:attrNameLst>
                                          <p:attrName>style.visibility</p:attrName>
                                        </p:attrNameLst>
                                      </p:cBhvr>
                                      <p:to>
                                        <p:strVal val="visible"/>
                                      </p:to>
                                    </p:set>
                                    <p:animEffect transition="in" filter="wipe(left)">
                                      <p:cBhvr>
                                        <p:cTn id="22" dur="500"/>
                                        <p:tgtEl>
                                          <p:spTgt spid="2427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702"/>
                                        </p:tgtEl>
                                        <p:attrNameLst>
                                          <p:attrName>style.visibility</p:attrName>
                                        </p:attrNameLst>
                                      </p:cBhvr>
                                      <p:to>
                                        <p:strVal val="visible"/>
                                      </p:to>
                                    </p:set>
                                    <p:animEffect transition="in" filter="wipe(left)">
                                      <p:cBhvr>
                                        <p:cTn id="27" dur="500"/>
                                        <p:tgtEl>
                                          <p:spTgt spid="2427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2703"/>
                                        </p:tgtEl>
                                        <p:attrNameLst>
                                          <p:attrName>style.visibility</p:attrName>
                                        </p:attrNameLst>
                                      </p:cBhvr>
                                      <p:to>
                                        <p:strVal val="visible"/>
                                      </p:to>
                                    </p:set>
                                    <p:animEffect transition="in" filter="wipe(left)">
                                      <p:cBhvr>
                                        <p:cTn id="32" dur="500"/>
                                        <p:tgtEl>
                                          <p:spTgt spid="2427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42704"/>
                                        </p:tgtEl>
                                        <p:attrNameLst>
                                          <p:attrName>style.visibility</p:attrName>
                                        </p:attrNameLst>
                                      </p:cBhvr>
                                      <p:to>
                                        <p:strVal val="visible"/>
                                      </p:to>
                                    </p:set>
                                    <p:animEffect transition="in" filter="wipe(left)">
                                      <p:cBhvr>
                                        <p:cTn id="37" dur="500"/>
                                        <p:tgtEl>
                                          <p:spTgt spid="2427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2706"/>
                                        </p:tgtEl>
                                        <p:attrNameLst>
                                          <p:attrName>style.visibility</p:attrName>
                                        </p:attrNameLst>
                                      </p:cBhvr>
                                      <p:to>
                                        <p:strVal val="visible"/>
                                      </p:to>
                                    </p:set>
                                    <p:animEffect transition="in" filter="wipe(left)">
                                      <p:cBhvr>
                                        <p:cTn id="42" dur="500"/>
                                        <p:tgtEl>
                                          <p:spTgt spid="242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p:bldP spid="242699" grpId="0"/>
      <p:bldP spid="242700" grpId="0"/>
      <p:bldP spid="242701" grpId="0"/>
      <p:bldP spid="242702" grpId="0"/>
      <p:bldP spid="242703" grpId="0"/>
      <p:bldP spid="24270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body" idx="1"/>
          </p:nvPr>
        </p:nvSpPr>
        <p:spPr>
          <a:xfrm>
            <a:off x="1127448" y="1495575"/>
            <a:ext cx="7772400" cy="603250"/>
          </a:xfrm>
        </p:spPr>
        <p:txBody>
          <a:bodyPr/>
          <a:lstStyle/>
          <a:p>
            <a:pPr eaLnBrk="1" hangingPunct="1">
              <a:buFont typeface="Wingdings" pitchFamily="2" charset="2"/>
              <a:buNone/>
            </a:pPr>
            <a:r>
              <a:rPr lang="zh-CN" altLang="en-US" dirty="0">
                <a:solidFill>
                  <a:srgbClr val="FF0000"/>
                </a:solidFill>
                <a:latin typeface="黑体" pitchFamily="2" charset="-122"/>
                <a:ea typeface="黑体" pitchFamily="2" charset="-122"/>
              </a:rPr>
              <a:t>（</a:t>
            </a:r>
            <a:r>
              <a:rPr lang="en-US" altLang="zh-CN" dirty="0">
                <a:solidFill>
                  <a:srgbClr val="FF0000"/>
                </a:solidFill>
                <a:latin typeface="黑体" pitchFamily="2" charset="-122"/>
                <a:ea typeface="黑体" pitchFamily="2" charset="-122"/>
              </a:rPr>
              <a:t>1</a:t>
            </a:r>
            <a:r>
              <a:rPr lang="zh-CN" altLang="en-US" dirty="0">
                <a:solidFill>
                  <a:srgbClr val="FF0000"/>
                </a:solidFill>
                <a:latin typeface="黑体" pitchFamily="2" charset="-122"/>
                <a:ea typeface="黑体" pitchFamily="2" charset="-122"/>
              </a:rPr>
              <a:t>）相似系数</a:t>
            </a:r>
          </a:p>
        </p:txBody>
      </p:sp>
      <p:grpSp>
        <p:nvGrpSpPr>
          <p:cNvPr id="246787" name="Group 3"/>
          <p:cNvGrpSpPr>
            <a:grpSpLocks/>
          </p:cNvGrpSpPr>
          <p:nvPr/>
        </p:nvGrpSpPr>
        <p:grpSpPr bwMode="auto">
          <a:xfrm>
            <a:off x="1775520" y="2408180"/>
            <a:ext cx="7899400" cy="1727201"/>
            <a:chOff x="672" y="981"/>
            <a:chExt cx="4976" cy="1088"/>
          </a:xfrm>
        </p:grpSpPr>
        <p:sp>
          <p:nvSpPr>
            <p:cNvPr id="39945" name="Rectangle 4"/>
            <p:cNvSpPr>
              <a:spLocks noChangeArrowheads="1"/>
            </p:cNvSpPr>
            <p:nvPr/>
          </p:nvSpPr>
          <p:spPr bwMode="auto">
            <a:xfrm>
              <a:off x="672" y="1008"/>
              <a:ext cx="4896" cy="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spcBef>
                  <a:spcPct val="20000"/>
                </a:spcBef>
                <a:buClr>
                  <a:srgbClr val="A50021"/>
                </a:buClr>
                <a:buSzPct val="75000"/>
              </a:pPr>
              <a:r>
                <a:rPr kumimoji="1" lang="zh-CN" altLang="en-US" sz="2800" b="1" dirty="0">
                  <a:solidFill>
                    <a:schemeClr val="tx2"/>
                  </a:solidFill>
                  <a:latin typeface="宋体" pitchFamily="2" charset="-122"/>
                </a:rPr>
                <a:t>设                     和</a:t>
              </a:r>
            </a:p>
            <a:p>
              <a:pPr marL="457200" indent="-457200">
                <a:spcBef>
                  <a:spcPct val="20000"/>
                </a:spcBef>
                <a:buClr>
                  <a:srgbClr val="A50021"/>
                </a:buClr>
                <a:buSzPct val="75000"/>
              </a:pPr>
              <a:r>
                <a:rPr kumimoji="1" lang="zh-CN" altLang="en-US" sz="2800" b="1" dirty="0">
                  <a:solidFill>
                    <a:schemeClr val="tx2"/>
                  </a:solidFill>
                  <a:latin typeface="宋体" pitchFamily="2" charset="-122"/>
                </a:rPr>
                <a:t>是第  和  个样本的观测值，则二者之间的相似</a:t>
              </a:r>
            </a:p>
            <a:p>
              <a:pPr marL="457200" indent="-457200">
                <a:spcBef>
                  <a:spcPct val="20000"/>
                </a:spcBef>
                <a:buClr>
                  <a:srgbClr val="A50021"/>
                </a:buClr>
                <a:buSzPct val="75000"/>
              </a:pPr>
              <a:r>
                <a:rPr kumimoji="1" lang="zh-CN" altLang="en-US" sz="2800" b="1" dirty="0">
                  <a:solidFill>
                    <a:schemeClr val="tx2"/>
                  </a:solidFill>
                  <a:latin typeface="宋体" pitchFamily="2" charset="-122"/>
                </a:rPr>
                <a:t>测度为</a:t>
              </a:r>
              <a:r>
                <a:rPr kumimoji="1" lang="en-US" altLang="zh-CN" sz="2800" b="1" dirty="0">
                  <a:solidFill>
                    <a:schemeClr val="tx2"/>
                  </a:solidFill>
                  <a:latin typeface="宋体" pitchFamily="2" charset="-122"/>
                </a:rPr>
                <a:t>:</a:t>
              </a:r>
            </a:p>
          </p:txBody>
        </p:sp>
        <p:graphicFrame>
          <p:nvGraphicFramePr>
            <p:cNvPr id="39946" name="Object 5"/>
            <p:cNvGraphicFramePr>
              <a:graphicFrameLocks noChangeAspect="1"/>
            </p:cNvGraphicFramePr>
            <p:nvPr>
              <p:extLst>
                <p:ext uri="{D42A27DB-BD31-4B8C-83A1-F6EECF244321}">
                  <p14:modId xmlns:p14="http://schemas.microsoft.com/office/powerpoint/2010/main" val="3982277660"/>
                </p:ext>
              </p:extLst>
            </p:nvPr>
          </p:nvGraphicFramePr>
          <p:xfrm>
            <a:off x="989" y="989"/>
            <a:ext cx="2223" cy="400"/>
          </p:xfrm>
          <a:graphic>
            <a:graphicData uri="http://schemas.openxmlformats.org/presentationml/2006/ole">
              <mc:AlternateContent xmlns:mc="http://schemas.openxmlformats.org/markup-compatibility/2006">
                <mc:Choice xmlns:v="urn:schemas-microsoft-com:vml" Requires="v">
                  <p:oleObj name="Equation" r:id="rId4" imgW="1625400" imgH="279360" progId="Equation.DSMT4">
                    <p:embed/>
                  </p:oleObj>
                </mc:Choice>
                <mc:Fallback>
                  <p:oleObj name="Equation" r:id="rId4" imgW="1625400" imgH="279360" progId="Equation.DSMT4">
                    <p:embed/>
                    <p:pic>
                      <p:nvPicPr>
                        <p:cNvPr id="0" name=""/>
                        <p:cNvPicPr>
                          <a:picLocks noChangeAspect="1" noChangeArrowheads="1"/>
                        </p:cNvPicPr>
                        <p:nvPr/>
                      </p:nvPicPr>
                      <p:blipFill>
                        <a:blip r:embed="rId5"/>
                        <a:srcRect/>
                        <a:stretch>
                          <a:fillRect/>
                        </a:stretch>
                      </p:blipFill>
                      <p:spPr bwMode="auto">
                        <a:xfrm>
                          <a:off x="989" y="989"/>
                          <a:ext cx="2223" cy="400"/>
                        </a:xfrm>
                        <a:prstGeom prst="rect">
                          <a:avLst/>
                        </a:prstGeom>
                        <a:noFill/>
                        <a:ln>
                          <a:noFill/>
                        </a:ln>
                      </p:spPr>
                    </p:pic>
                  </p:oleObj>
                </mc:Fallback>
              </mc:AlternateContent>
            </a:graphicData>
          </a:graphic>
        </p:graphicFrame>
        <p:graphicFrame>
          <p:nvGraphicFramePr>
            <p:cNvPr id="39947" name="Object 6"/>
            <p:cNvGraphicFramePr>
              <a:graphicFrameLocks noChangeAspect="1"/>
            </p:cNvGraphicFramePr>
            <p:nvPr>
              <p:extLst>
                <p:ext uri="{D42A27DB-BD31-4B8C-83A1-F6EECF244321}">
                  <p14:modId xmlns:p14="http://schemas.microsoft.com/office/powerpoint/2010/main" val="2409960244"/>
                </p:ext>
              </p:extLst>
            </p:nvPr>
          </p:nvGraphicFramePr>
          <p:xfrm>
            <a:off x="3665" y="981"/>
            <a:ext cx="1983" cy="389"/>
          </p:xfrm>
          <a:graphic>
            <a:graphicData uri="http://schemas.openxmlformats.org/presentationml/2006/ole">
              <mc:AlternateContent xmlns:mc="http://schemas.openxmlformats.org/markup-compatibility/2006">
                <mc:Choice xmlns:v="urn:schemas-microsoft-com:vml" Requires="v">
                  <p:oleObj name="Equation" r:id="rId6" imgW="1282680" imgH="241200" progId="Equation.DSMT4">
                    <p:embed/>
                  </p:oleObj>
                </mc:Choice>
                <mc:Fallback>
                  <p:oleObj name="Equation" r:id="rId6" imgW="1282680" imgH="241200" progId="Equation.DSMT4">
                    <p:embed/>
                    <p:pic>
                      <p:nvPicPr>
                        <p:cNvPr id="0" name=""/>
                        <p:cNvPicPr>
                          <a:picLocks noChangeAspect="1" noChangeArrowheads="1"/>
                        </p:cNvPicPr>
                        <p:nvPr/>
                      </p:nvPicPr>
                      <p:blipFill>
                        <a:blip r:embed="rId7"/>
                        <a:srcRect/>
                        <a:stretch>
                          <a:fillRect/>
                        </a:stretch>
                      </p:blipFill>
                      <p:spPr bwMode="auto">
                        <a:xfrm>
                          <a:off x="3665" y="981"/>
                          <a:ext cx="1983" cy="389"/>
                        </a:xfrm>
                        <a:prstGeom prst="rect">
                          <a:avLst/>
                        </a:prstGeom>
                        <a:noFill/>
                        <a:ln>
                          <a:noFill/>
                        </a:ln>
                      </p:spPr>
                    </p:pic>
                  </p:oleObj>
                </mc:Fallback>
              </mc:AlternateContent>
            </a:graphicData>
          </a:graphic>
        </p:graphicFrame>
        <p:graphicFrame>
          <p:nvGraphicFramePr>
            <p:cNvPr id="39948" name="Object 7"/>
            <p:cNvGraphicFramePr>
              <a:graphicFrameLocks noChangeAspect="1"/>
            </p:cNvGraphicFramePr>
            <p:nvPr/>
          </p:nvGraphicFramePr>
          <p:xfrm>
            <a:off x="1248" y="1440"/>
            <a:ext cx="88" cy="184"/>
          </p:xfrm>
          <a:graphic>
            <a:graphicData uri="http://schemas.openxmlformats.org/presentationml/2006/ole">
              <mc:AlternateContent xmlns:mc="http://schemas.openxmlformats.org/markup-compatibility/2006">
                <mc:Choice xmlns:v="urn:schemas-microsoft-com:vml" Requires="v">
                  <p:oleObj name="公式" r:id="rId8" imgW="114266" imgH="266760" progId="Equation.3">
                    <p:embed/>
                  </p:oleObj>
                </mc:Choice>
                <mc:Fallback>
                  <p:oleObj name="公式" r:id="rId8" imgW="114266" imgH="26676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8" y="1440"/>
                          <a:ext cx="88"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9" name="Object 8"/>
            <p:cNvGraphicFramePr>
              <a:graphicFrameLocks noChangeAspect="1"/>
            </p:cNvGraphicFramePr>
            <p:nvPr/>
          </p:nvGraphicFramePr>
          <p:xfrm>
            <a:off x="1680" y="1392"/>
            <a:ext cx="136" cy="232"/>
          </p:xfrm>
          <a:graphic>
            <a:graphicData uri="http://schemas.openxmlformats.org/presentationml/2006/ole">
              <mc:AlternateContent xmlns:mc="http://schemas.openxmlformats.org/markup-compatibility/2006">
                <mc:Choice xmlns:v="urn:schemas-microsoft-com:vml" Requires="v">
                  <p:oleObj name="公式" r:id="rId10" imgW="190444" imgH="342900" progId="Equation.3">
                    <p:embed/>
                  </p:oleObj>
                </mc:Choice>
                <mc:Fallback>
                  <p:oleObj name="公式" r:id="rId10" imgW="190444" imgH="3429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80" y="1392"/>
                          <a:ext cx="13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46794" name="Object 10"/>
          <p:cNvGraphicFramePr>
            <a:graphicFrameLocks noChangeAspect="1"/>
          </p:cNvGraphicFramePr>
          <p:nvPr>
            <p:extLst>
              <p:ext uri="{D42A27DB-BD31-4B8C-83A1-F6EECF244321}">
                <p14:modId xmlns:p14="http://schemas.microsoft.com/office/powerpoint/2010/main" val="1015309702"/>
              </p:ext>
            </p:extLst>
          </p:nvPr>
        </p:nvGraphicFramePr>
        <p:xfrm>
          <a:off x="3567113" y="4278313"/>
          <a:ext cx="5776912" cy="2322512"/>
        </p:xfrm>
        <a:graphic>
          <a:graphicData uri="http://schemas.openxmlformats.org/presentationml/2006/ole">
            <mc:AlternateContent xmlns:mc="http://schemas.openxmlformats.org/markup-compatibility/2006">
              <mc:Choice xmlns:v="urn:schemas-microsoft-com:vml" Requires="v">
                <p:oleObj name="Equation" r:id="rId12" imgW="2234880" imgH="888840" progId="Equation.DSMT4">
                  <p:embed/>
                </p:oleObj>
              </mc:Choice>
              <mc:Fallback>
                <p:oleObj name="Equation" r:id="rId12" imgW="2234880" imgH="888840" progId="Equation.DSMT4">
                  <p:embed/>
                  <p:pic>
                    <p:nvPicPr>
                      <p:cNvPr id="0" name=""/>
                      <p:cNvPicPr>
                        <a:picLocks noChangeAspect="1" noChangeArrowheads="1"/>
                      </p:cNvPicPr>
                      <p:nvPr/>
                    </p:nvPicPr>
                    <p:blipFill>
                      <a:blip r:embed="rId13"/>
                      <a:srcRect/>
                      <a:stretch>
                        <a:fillRect/>
                      </a:stretch>
                    </p:blipFill>
                    <p:spPr bwMode="auto">
                      <a:xfrm>
                        <a:off x="3567113" y="4278313"/>
                        <a:ext cx="5776912" cy="232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796" name="Rectangle 12"/>
          <p:cNvSpPr>
            <a:spLocks noChangeArrowheads="1"/>
          </p:cNvSpPr>
          <p:nvPr/>
        </p:nvSpPr>
        <p:spPr bwMode="auto">
          <a:xfrm>
            <a:off x="2424113" y="4437063"/>
            <a:ext cx="1295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a:solidFill>
                  <a:schemeClr val="tx2"/>
                </a:solidFill>
                <a:latin typeface="Times New Roman" pitchFamily="18" charset="0"/>
              </a:rPr>
              <a:t>其中</a:t>
            </a:r>
          </a:p>
        </p:txBody>
      </p:sp>
      <p:sp>
        <p:nvSpPr>
          <p:cNvPr id="39944" name="Rectangle 14"/>
          <p:cNvSpPr>
            <a:spLocks noGrp="1" noChangeArrowheads="1"/>
          </p:cNvSpPr>
          <p:nvPr>
            <p:ph type="title"/>
          </p:nvPr>
        </p:nvSpPr>
        <p:spPr>
          <a:xfrm>
            <a:off x="1981200" y="260648"/>
            <a:ext cx="8229600" cy="1371600"/>
          </a:xfrm>
        </p:spPr>
        <p:txBody>
          <a:bodyPr/>
          <a:lstStyle/>
          <a:p>
            <a:pPr algn="ctr" eaLnBrk="1" hangingPunct="1"/>
            <a:r>
              <a:rPr kumimoji="1" lang="zh-CN" altLang="en-US" dirty="0">
                <a:solidFill>
                  <a:srgbClr val="057939"/>
                </a:solidFill>
                <a:ea typeface="黑体" pitchFamily="2" charset="-122"/>
              </a:rPr>
              <a:t>相似系数</a:t>
            </a:r>
            <a:endParaRPr kumimoji="1" lang="zh-CN" altLang="en-US" sz="3200" b="1" dirty="0">
              <a:solidFill>
                <a:srgbClr val="EE0006"/>
              </a:solidFill>
            </a:endParaRPr>
          </a:p>
        </p:txBody>
      </p:sp>
      <p:graphicFrame>
        <p:nvGraphicFramePr>
          <p:cNvPr id="15" name="Object 4"/>
          <p:cNvGraphicFramePr>
            <a:graphicFrameLocks noChangeAspect="1"/>
          </p:cNvGraphicFramePr>
          <p:nvPr>
            <p:extLst>
              <p:ext uri="{D42A27DB-BD31-4B8C-83A1-F6EECF244321}">
                <p14:modId xmlns:p14="http://schemas.microsoft.com/office/powerpoint/2010/main" val="4229992698"/>
              </p:ext>
            </p:extLst>
          </p:nvPr>
        </p:nvGraphicFramePr>
        <p:xfrm>
          <a:off x="8533607" y="152405"/>
          <a:ext cx="3597275" cy="2311400"/>
        </p:xfrm>
        <a:graphic>
          <a:graphicData uri="http://schemas.openxmlformats.org/presentationml/2006/ole">
            <mc:AlternateContent xmlns:mc="http://schemas.openxmlformats.org/markup-compatibility/2006">
              <mc:Choice xmlns:v="urn:schemas-microsoft-com:vml" Requires="v">
                <p:oleObj name="Equation" r:id="rId14" imgW="1473120" imgH="939600" progId="Equation.DSMT4">
                  <p:embed/>
                </p:oleObj>
              </mc:Choice>
              <mc:Fallback>
                <p:oleObj name="Equation" r:id="rId14" imgW="1473120" imgH="939600" progId="Equation.DSMT4">
                  <p:embed/>
                  <p:pic>
                    <p:nvPicPr>
                      <p:cNvPr id="0" name=""/>
                      <p:cNvPicPr>
                        <a:picLocks noChangeAspect="1" noChangeArrowheads="1"/>
                      </p:cNvPicPr>
                      <p:nvPr/>
                    </p:nvPicPr>
                    <p:blipFill>
                      <a:blip r:embed="rId15"/>
                      <a:srcRect/>
                      <a:stretch>
                        <a:fillRect/>
                      </a:stretch>
                    </p:blipFill>
                    <p:spPr bwMode="auto">
                      <a:xfrm>
                        <a:off x="8533607" y="152405"/>
                        <a:ext cx="3597275" cy="2311400"/>
                      </a:xfrm>
                      <a:prstGeom prst="rect">
                        <a:avLst/>
                      </a:prstGeom>
                      <a:solidFill>
                        <a:srgbClr val="FFFF99"/>
                      </a:solid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5D262D9D-7805-08FF-2C2A-B1F86F6C8471}"/>
              </a:ext>
            </a:extLst>
          </p:cNvPr>
          <p:cNvSpPr>
            <a:spLocks noGrp="1"/>
          </p:cNvSpPr>
          <p:nvPr>
            <p:ph type="sldNum" sz="quarter" idx="11"/>
          </p:nvPr>
        </p:nvSpPr>
        <p:spPr/>
        <p:txBody>
          <a:bodyPr/>
          <a:lstStyle/>
          <a:p>
            <a:pPr>
              <a:defRPr/>
            </a:pPr>
            <a:fld id="{F13753BC-CAEF-4333-AC48-2805658F6E3F}" type="slidenum">
              <a:rPr lang="en-US" altLang="zh-CN" smtClean="0"/>
              <a:pPr>
                <a:defRPr/>
              </a:pPr>
              <a:t>49</a:t>
            </a:fld>
            <a:endParaRPr lang="en-US" altLang="zh-CN"/>
          </a:p>
        </p:txBody>
      </p:sp>
    </p:spTree>
    <p:extLst>
      <p:ext uri="{BB962C8B-B14F-4D97-AF65-F5344CB8AC3E}">
        <p14:creationId xmlns:p14="http://schemas.microsoft.com/office/powerpoint/2010/main" val="157883634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6786">
                                            <p:txEl>
                                              <p:pRg st="0" end="0"/>
                                            </p:txEl>
                                          </p:spTgt>
                                        </p:tgtEl>
                                        <p:attrNameLst>
                                          <p:attrName>style.visibility</p:attrName>
                                        </p:attrNameLst>
                                      </p:cBhvr>
                                      <p:to>
                                        <p:strVal val="visible"/>
                                      </p:to>
                                    </p:set>
                                    <p:animEffect transition="in" filter="blinds(horizontal)">
                                      <p:cBhvr>
                                        <p:cTn id="7" dur="500"/>
                                        <p:tgtEl>
                                          <p:spTgt spid="2467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6787"/>
                                        </p:tgtEl>
                                        <p:attrNameLst>
                                          <p:attrName>style.visibility</p:attrName>
                                        </p:attrNameLst>
                                      </p:cBhvr>
                                      <p:to>
                                        <p:strVal val="visible"/>
                                      </p:to>
                                    </p:set>
                                    <p:animEffect transition="in" filter="blinds(horizontal)">
                                      <p:cBhvr>
                                        <p:cTn id="12" dur="500"/>
                                        <p:tgtEl>
                                          <p:spTgt spid="2467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6796"/>
                                        </p:tgtEl>
                                        <p:attrNameLst>
                                          <p:attrName>style.visibility</p:attrName>
                                        </p:attrNameLst>
                                      </p:cBhvr>
                                      <p:to>
                                        <p:strVal val="visible"/>
                                      </p:to>
                                    </p:set>
                                    <p:animEffect transition="in" filter="blinds(horizontal)">
                                      <p:cBhvr>
                                        <p:cTn id="17" dur="500"/>
                                        <p:tgtEl>
                                          <p:spTgt spid="246796"/>
                                        </p:tgtEl>
                                      </p:cBhvr>
                                    </p:animEffect>
                                  </p:childTnLst>
                                </p:cTn>
                              </p:par>
                              <p:par>
                                <p:cTn id="18" presetID="3" presetClass="entr" presetSubtype="10" fill="hold" nodeType="withEffect">
                                  <p:stCondLst>
                                    <p:cond delay="0"/>
                                  </p:stCondLst>
                                  <p:childTnLst>
                                    <p:set>
                                      <p:cBhvr>
                                        <p:cTn id="19" dur="1" fill="hold">
                                          <p:stCondLst>
                                            <p:cond delay="0"/>
                                          </p:stCondLst>
                                        </p:cTn>
                                        <p:tgtEl>
                                          <p:spTgt spid="246794"/>
                                        </p:tgtEl>
                                        <p:attrNameLst>
                                          <p:attrName>style.visibility</p:attrName>
                                        </p:attrNameLst>
                                      </p:cBhvr>
                                      <p:to>
                                        <p:strVal val="visible"/>
                                      </p:to>
                                    </p:set>
                                    <p:animEffect transition="in" filter="blinds(horizontal)">
                                      <p:cBhvr>
                                        <p:cTn id="20" dur="500"/>
                                        <p:tgtEl>
                                          <p:spTgt spid="2467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871538" y="304801"/>
            <a:ext cx="8229600" cy="1371600"/>
          </a:xfrm>
        </p:spPr>
        <p:txBody>
          <a:bodyPr/>
          <a:lstStyle/>
          <a:p>
            <a:pPr algn="ctr" eaLnBrk="1" hangingPunct="1"/>
            <a:r>
              <a:rPr kumimoji="1" lang="zh-CN" altLang="en-US" dirty="0">
                <a:solidFill>
                  <a:srgbClr val="057939"/>
                </a:solidFill>
                <a:ea typeface="黑体" pitchFamily="2" charset="-122"/>
              </a:rPr>
              <a:t>相似系数</a:t>
            </a:r>
            <a:endParaRPr kumimoji="1" lang="zh-CN" altLang="en-US" sz="3200" b="1" dirty="0">
              <a:solidFill>
                <a:srgbClr val="EE0006"/>
              </a:solidFill>
            </a:endParaRPr>
          </a:p>
        </p:txBody>
      </p:sp>
      <p:sp>
        <p:nvSpPr>
          <p:cNvPr id="247811" name="Rectangle 3"/>
          <p:cNvSpPr>
            <a:spLocks noGrp="1" noChangeArrowheads="1"/>
          </p:cNvSpPr>
          <p:nvPr>
            <p:ph type="body" idx="1"/>
          </p:nvPr>
        </p:nvSpPr>
        <p:spPr>
          <a:xfrm>
            <a:off x="839416" y="1773238"/>
            <a:ext cx="9577064" cy="2303462"/>
          </a:xfrm>
        </p:spPr>
        <p:txBody>
          <a:bodyPr/>
          <a:lstStyle/>
          <a:p>
            <a:pPr eaLnBrk="1" hangingPunct="1">
              <a:lnSpc>
                <a:spcPct val="110000"/>
              </a:lnSpc>
              <a:buFont typeface="Wingdings" pitchFamily="2" charset="2"/>
              <a:buNone/>
            </a:pPr>
            <a:r>
              <a:rPr lang="zh-CN" altLang="en-US" dirty="0">
                <a:solidFill>
                  <a:srgbClr val="FF0000"/>
                </a:solidFill>
                <a:latin typeface="黑体" pitchFamily="2" charset="-122"/>
                <a:ea typeface="黑体" pitchFamily="2" charset="-122"/>
              </a:rPr>
              <a:t>（</a:t>
            </a:r>
            <a:r>
              <a:rPr lang="en-US" altLang="zh-CN" dirty="0">
                <a:solidFill>
                  <a:srgbClr val="FF0000"/>
                </a:solidFill>
                <a:latin typeface="黑体" pitchFamily="2" charset="-122"/>
                <a:ea typeface="黑体" pitchFamily="2" charset="-122"/>
              </a:rPr>
              <a:t>2</a:t>
            </a:r>
            <a:r>
              <a:rPr lang="zh-CN" altLang="en-US" dirty="0">
                <a:solidFill>
                  <a:srgbClr val="FF0000"/>
                </a:solidFill>
                <a:latin typeface="黑体" pitchFamily="2" charset="-122"/>
                <a:ea typeface="黑体" pitchFamily="2" charset="-122"/>
              </a:rPr>
              <a:t>）夹角余弦</a:t>
            </a:r>
          </a:p>
          <a:p>
            <a:pPr eaLnBrk="1" hangingPunct="1">
              <a:lnSpc>
                <a:spcPct val="110000"/>
              </a:lnSpc>
              <a:buFont typeface="Wingdings" pitchFamily="2" charset="2"/>
              <a:buNone/>
            </a:pPr>
            <a:r>
              <a:rPr lang="zh-CN" altLang="en-US" sz="2800" b="1" dirty="0"/>
              <a:t>       夹角余弦是从向量集合的角度所定义的一种测度</a:t>
            </a:r>
            <a:r>
              <a:rPr lang="zh-CN" altLang="en-US" sz="2800" b="1" dirty="0">
                <a:solidFill>
                  <a:srgbClr val="FF00FF"/>
                </a:solidFill>
              </a:rPr>
              <a:t>变量</a:t>
            </a:r>
            <a:r>
              <a:rPr lang="zh-CN" altLang="en-US" sz="2800" b="1" dirty="0"/>
              <a:t>之间亲疏程度的相似系数。</a:t>
            </a:r>
          </a:p>
          <a:p>
            <a:pPr eaLnBrk="1" hangingPunct="1">
              <a:lnSpc>
                <a:spcPct val="110000"/>
              </a:lnSpc>
              <a:buFont typeface="Wingdings" pitchFamily="2" charset="2"/>
              <a:buNone/>
            </a:pPr>
            <a:r>
              <a:rPr lang="zh-CN" altLang="en-US" sz="2800" b="1" dirty="0"/>
              <a:t>    设在</a:t>
            </a:r>
            <a:r>
              <a:rPr lang="en-US" altLang="zh-CN" sz="2800" b="1" dirty="0"/>
              <a:t>n</a:t>
            </a:r>
            <a:r>
              <a:rPr lang="zh-CN" altLang="en-US" sz="2800" b="1" dirty="0"/>
              <a:t>维空间的向量</a:t>
            </a:r>
            <a:r>
              <a:rPr lang="en-US" altLang="zh-CN" sz="2800" b="1" dirty="0"/>
              <a:t>(</a:t>
            </a:r>
            <a:r>
              <a:rPr lang="zh-CN" altLang="en-US" sz="2800" b="1" dirty="0"/>
              <a:t>变量</a:t>
            </a:r>
            <a:r>
              <a:rPr lang="en-US" altLang="zh-CN" sz="2800" b="1" dirty="0"/>
              <a:t>)</a:t>
            </a:r>
            <a:r>
              <a:rPr lang="zh-CN" altLang="en-US" sz="2800" b="1" dirty="0"/>
              <a:t>   </a:t>
            </a:r>
          </a:p>
        </p:txBody>
      </p:sp>
      <p:graphicFrame>
        <p:nvGraphicFramePr>
          <p:cNvPr id="247812" name="Object 4"/>
          <p:cNvGraphicFramePr>
            <a:graphicFrameLocks noChangeAspect="1"/>
          </p:cNvGraphicFramePr>
          <p:nvPr>
            <p:extLst>
              <p:ext uri="{D42A27DB-BD31-4B8C-83A1-F6EECF244321}">
                <p14:modId xmlns:p14="http://schemas.microsoft.com/office/powerpoint/2010/main" val="883280915"/>
              </p:ext>
            </p:extLst>
          </p:nvPr>
        </p:nvGraphicFramePr>
        <p:xfrm>
          <a:off x="2599788" y="4036741"/>
          <a:ext cx="2776133" cy="757127"/>
        </p:xfrm>
        <a:graphic>
          <a:graphicData uri="http://schemas.openxmlformats.org/presentationml/2006/ole">
            <mc:AlternateContent xmlns:mc="http://schemas.openxmlformats.org/markup-compatibility/2006">
              <mc:Choice xmlns:v="urn:schemas-microsoft-com:vml" Requires="v">
                <p:oleObj name="Equation" r:id="rId4" imgW="1257120" imgH="342720" progId="Equation.DSMT4">
                  <p:embed/>
                </p:oleObj>
              </mc:Choice>
              <mc:Fallback>
                <p:oleObj name="Equation" r:id="rId4" imgW="1257120" imgH="342720" progId="Equation.DSMT4">
                  <p:embed/>
                  <p:pic>
                    <p:nvPicPr>
                      <p:cNvPr id="0" name=""/>
                      <p:cNvPicPr>
                        <a:picLocks noChangeAspect="1" noChangeArrowheads="1"/>
                      </p:cNvPicPr>
                      <p:nvPr/>
                    </p:nvPicPr>
                    <p:blipFill>
                      <a:blip r:embed="rId5"/>
                      <a:srcRect/>
                      <a:stretch>
                        <a:fillRect/>
                      </a:stretch>
                    </p:blipFill>
                    <p:spPr bwMode="auto">
                      <a:xfrm>
                        <a:off x="2599788" y="4036741"/>
                        <a:ext cx="2776133" cy="757127"/>
                      </a:xfrm>
                      <a:prstGeom prst="rect">
                        <a:avLst/>
                      </a:prstGeom>
                      <a:noFill/>
                      <a:ln>
                        <a:noFill/>
                      </a:ln>
                      <a:effectLst/>
                    </p:spPr>
                  </p:pic>
                </p:oleObj>
              </mc:Fallback>
            </mc:AlternateContent>
          </a:graphicData>
        </a:graphic>
      </p:graphicFrame>
      <p:graphicFrame>
        <p:nvGraphicFramePr>
          <p:cNvPr id="247813" name="Object 5"/>
          <p:cNvGraphicFramePr>
            <a:graphicFrameLocks noChangeAspect="1"/>
          </p:cNvGraphicFramePr>
          <p:nvPr>
            <p:extLst>
              <p:ext uri="{D42A27DB-BD31-4B8C-83A1-F6EECF244321}">
                <p14:modId xmlns:p14="http://schemas.microsoft.com/office/powerpoint/2010/main" val="4233819174"/>
              </p:ext>
            </p:extLst>
          </p:nvPr>
        </p:nvGraphicFramePr>
        <p:xfrm>
          <a:off x="6034088" y="4020968"/>
          <a:ext cx="3067050" cy="788670"/>
        </p:xfrm>
        <a:graphic>
          <a:graphicData uri="http://schemas.openxmlformats.org/presentationml/2006/ole">
            <mc:AlternateContent xmlns:mc="http://schemas.openxmlformats.org/markup-compatibility/2006">
              <mc:Choice xmlns:v="urn:schemas-microsoft-com:vml" Requires="v">
                <p:oleObj name="Equation" r:id="rId6" imgW="1333440" imgH="342720" progId="Equation.DSMT4">
                  <p:embed/>
                </p:oleObj>
              </mc:Choice>
              <mc:Fallback>
                <p:oleObj name="Equation" r:id="rId6" imgW="1333440" imgH="342720" progId="Equation.DSMT4">
                  <p:embed/>
                  <p:pic>
                    <p:nvPicPr>
                      <p:cNvPr id="0" name=""/>
                      <p:cNvPicPr>
                        <a:picLocks noChangeAspect="1" noChangeArrowheads="1"/>
                      </p:cNvPicPr>
                      <p:nvPr/>
                    </p:nvPicPr>
                    <p:blipFill>
                      <a:blip r:embed="rId7"/>
                      <a:srcRect/>
                      <a:stretch>
                        <a:fillRect/>
                      </a:stretch>
                    </p:blipFill>
                    <p:spPr bwMode="auto">
                      <a:xfrm>
                        <a:off x="6034088" y="4020968"/>
                        <a:ext cx="3067050" cy="788670"/>
                      </a:xfrm>
                      <a:prstGeom prst="rect">
                        <a:avLst/>
                      </a:prstGeom>
                      <a:noFill/>
                      <a:ln>
                        <a:noFill/>
                      </a:ln>
                      <a:effectLst/>
                    </p:spPr>
                  </p:pic>
                </p:oleObj>
              </mc:Fallback>
            </mc:AlternateContent>
          </a:graphicData>
        </a:graphic>
      </p:graphicFrame>
      <p:graphicFrame>
        <p:nvGraphicFramePr>
          <p:cNvPr id="247814" name="Object 6"/>
          <p:cNvGraphicFramePr>
            <a:graphicFrameLocks noChangeAspect="1"/>
          </p:cNvGraphicFramePr>
          <p:nvPr>
            <p:extLst>
              <p:ext uri="{D42A27DB-BD31-4B8C-83A1-F6EECF244321}">
                <p14:modId xmlns:p14="http://schemas.microsoft.com/office/powerpoint/2010/main" val="1213101601"/>
              </p:ext>
            </p:extLst>
          </p:nvPr>
        </p:nvGraphicFramePr>
        <p:xfrm>
          <a:off x="2600325" y="4652964"/>
          <a:ext cx="3930650" cy="2071687"/>
        </p:xfrm>
        <a:graphic>
          <a:graphicData uri="http://schemas.openxmlformats.org/presentationml/2006/ole">
            <mc:AlternateContent xmlns:mc="http://schemas.openxmlformats.org/markup-compatibility/2006">
              <mc:Choice xmlns:v="urn:schemas-microsoft-com:vml" Requires="v">
                <p:oleObj name="Equation" r:id="rId8" imgW="1688760" imgH="888840" progId="Equation.DSMT4">
                  <p:embed/>
                </p:oleObj>
              </mc:Choice>
              <mc:Fallback>
                <p:oleObj name="Equation" r:id="rId8" imgW="1688760" imgH="888840" progId="Equation.DSMT4">
                  <p:embed/>
                  <p:pic>
                    <p:nvPicPr>
                      <p:cNvPr id="0" name=""/>
                      <p:cNvPicPr>
                        <a:picLocks noChangeAspect="1" noChangeArrowheads="1"/>
                      </p:cNvPicPr>
                      <p:nvPr/>
                    </p:nvPicPr>
                    <p:blipFill>
                      <a:blip r:embed="rId9"/>
                      <a:srcRect/>
                      <a:stretch>
                        <a:fillRect/>
                      </a:stretch>
                    </p:blipFill>
                    <p:spPr bwMode="auto">
                      <a:xfrm>
                        <a:off x="2600325" y="4652964"/>
                        <a:ext cx="3930650" cy="2071687"/>
                      </a:xfrm>
                      <a:prstGeom prst="rect">
                        <a:avLst/>
                      </a:prstGeom>
                      <a:noFill/>
                      <a:ln>
                        <a:noFill/>
                      </a:ln>
                      <a:effectLst/>
                    </p:spPr>
                  </p:pic>
                </p:oleObj>
              </mc:Fallback>
            </mc:AlternateContent>
          </a:graphicData>
        </a:graphic>
      </p:graphicFrame>
      <p:graphicFrame>
        <p:nvGraphicFramePr>
          <p:cNvPr id="247815" name="Object 7"/>
          <p:cNvGraphicFramePr>
            <a:graphicFrameLocks noGrp="1" noChangeAspect="1"/>
          </p:cNvGraphicFramePr>
          <p:nvPr>
            <p:ph sz="half" idx="4294967295"/>
          </p:nvPr>
        </p:nvGraphicFramePr>
        <p:xfrm>
          <a:off x="7608888" y="5445125"/>
          <a:ext cx="2374900" cy="706438"/>
        </p:xfrm>
        <a:graphic>
          <a:graphicData uri="http://schemas.openxmlformats.org/presentationml/2006/ole">
            <mc:AlternateContent xmlns:mc="http://schemas.openxmlformats.org/markup-compatibility/2006">
              <mc:Choice xmlns:v="urn:schemas-microsoft-com:vml" Requires="v">
                <p:oleObj name="公式" r:id="rId10" imgW="1504911" imgH="476280" progId="Equation.3">
                  <p:embed/>
                </p:oleObj>
              </mc:Choice>
              <mc:Fallback>
                <p:oleObj name="公式" r:id="rId10" imgW="1504911" imgH="4762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08888" y="5445125"/>
                        <a:ext cx="2374900" cy="706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882900040"/>
              </p:ext>
            </p:extLst>
          </p:nvPr>
        </p:nvGraphicFramePr>
        <p:xfrm>
          <a:off x="7108825" y="4511"/>
          <a:ext cx="5083175" cy="2166937"/>
        </p:xfrm>
        <a:graphic>
          <a:graphicData uri="http://schemas.openxmlformats.org/presentationml/2006/ole">
            <mc:AlternateContent xmlns:mc="http://schemas.openxmlformats.org/markup-compatibility/2006">
              <mc:Choice xmlns:v="urn:schemas-microsoft-com:vml" Requires="v">
                <p:oleObj name="Equation" r:id="rId12" imgW="2222280" imgH="939600" progId="Equation.DSMT4">
                  <p:embed/>
                </p:oleObj>
              </mc:Choice>
              <mc:Fallback>
                <p:oleObj name="Equation" r:id="rId12" imgW="2222280" imgH="939600" progId="Equation.DSMT4">
                  <p:embed/>
                  <p:pic>
                    <p:nvPicPr>
                      <p:cNvPr id="0" name=""/>
                      <p:cNvPicPr>
                        <a:picLocks noChangeAspect="1" noChangeArrowheads="1"/>
                      </p:cNvPicPr>
                      <p:nvPr/>
                    </p:nvPicPr>
                    <p:blipFill>
                      <a:blip r:embed="rId13"/>
                      <a:srcRect/>
                      <a:stretch>
                        <a:fillRect/>
                      </a:stretch>
                    </p:blipFill>
                    <p:spPr bwMode="auto">
                      <a:xfrm>
                        <a:off x="7108825" y="4511"/>
                        <a:ext cx="5083175" cy="2166937"/>
                      </a:xfrm>
                      <a:prstGeom prst="rect">
                        <a:avLst/>
                      </a:prstGeom>
                      <a:solidFill>
                        <a:srgbClr val="66FFFF"/>
                      </a:solid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283C410A-212E-AF40-7BF9-11111804A744}"/>
              </a:ext>
            </a:extLst>
          </p:cNvPr>
          <p:cNvSpPr>
            <a:spLocks noGrp="1"/>
          </p:cNvSpPr>
          <p:nvPr>
            <p:ph type="sldNum" sz="quarter" idx="11"/>
          </p:nvPr>
        </p:nvSpPr>
        <p:spPr/>
        <p:txBody>
          <a:bodyPr/>
          <a:lstStyle/>
          <a:p>
            <a:pPr>
              <a:defRPr/>
            </a:pPr>
            <a:fld id="{F13753BC-CAEF-4333-AC48-2805658F6E3F}" type="slidenum">
              <a:rPr lang="en-US" altLang="zh-CN" smtClean="0"/>
              <a:pPr>
                <a:defRPr/>
              </a:pPr>
              <a:t>50</a:t>
            </a:fld>
            <a:endParaRPr lang="en-US" altLang="zh-CN"/>
          </a:p>
        </p:txBody>
      </p:sp>
    </p:spTree>
    <p:extLst>
      <p:ext uri="{BB962C8B-B14F-4D97-AF65-F5344CB8AC3E}">
        <p14:creationId xmlns:p14="http://schemas.microsoft.com/office/powerpoint/2010/main" val="7706883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7810"/>
                                        </p:tgtEl>
                                        <p:attrNameLst>
                                          <p:attrName>style.visibility</p:attrName>
                                        </p:attrNameLst>
                                      </p:cBhvr>
                                      <p:to>
                                        <p:strVal val="visible"/>
                                      </p:to>
                                    </p:set>
                                    <p:animEffect transition="in" filter="blinds(horizontal)">
                                      <p:cBhvr>
                                        <p:cTn id="7" dur="500"/>
                                        <p:tgtEl>
                                          <p:spTgt spid="2478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7811">
                                            <p:txEl>
                                              <p:pRg st="0" end="0"/>
                                            </p:txEl>
                                          </p:spTgt>
                                        </p:tgtEl>
                                        <p:attrNameLst>
                                          <p:attrName>style.visibility</p:attrName>
                                        </p:attrNameLst>
                                      </p:cBhvr>
                                      <p:to>
                                        <p:strVal val="visible"/>
                                      </p:to>
                                    </p:set>
                                    <p:animEffect transition="in" filter="blinds(horizontal)">
                                      <p:cBhvr>
                                        <p:cTn id="12" dur="500"/>
                                        <p:tgtEl>
                                          <p:spTgt spid="2478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7811">
                                            <p:txEl>
                                              <p:pRg st="1" end="1"/>
                                            </p:txEl>
                                          </p:spTgt>
                                        </p:tgtEl>
                                        <p:attrNameLst>
                                          <p:attrName>style.visibility</p:attrName>
                                        </p:attrNameLst>
                                      </p:cBhvr>
                                      <p:to>
                                        <p:strVal val="visible"/>
                                      </p:to>
                                    </p:set>
                                    <p:animEffect transition="in" filter="blinds(horizontal)">
                                      <p:cBhvr>
                                        <p:cTn id="17" dur="500"/>
                                        <p:tgtEl>
                                          <p:spTgt spid="2478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7811">
                                            <p:txEl>
                                              <p:pRg st="2" end="2"/>
                                            </p:txEl>
                                          </p:spTgt>
                                        </p:tgtEl>
                                        <p:attrNameLst>
                                          <p:attrName>style.visibility</p:attrName>
                                        </p:attrNameLst>
                                      </p:cBhvr>
                                      <p:to>
                                        <p:strVal val="visible"/>
                                      </p:to>
                                    </p:set>
                                    <p:animEffect transition="in" filter="blinds(horizontal)">
                                      <p:cBhvr>
                                        <p:cTn id="22" dur="500"/>
                                        <p:tgtEl>
                                          <p:spTgt spid="24781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47812"/>
                                        </p:tgtEl>
                                        <p:attrNameLst>
                                          <p:attrName>style.visibility</p:attrName>
                                        </p:attrNameLst>
                                      </p:cBhvr>
                                      <p:to>
                                        <p:strVal val="visible"/>
                                      </p:to>
                                    </p:set>
                                    <p:animEffect transition="in" filter="blinds(horizontal)">
                                      <p:cBhvr>
                                        <p:cTn id="27" dur="500"/>
                                        <p:tgtEl>
                                          <p:spTgt spid="247812"/>
                                        </p:tgtEl>
                                      </p:cBhvr>
                                    </p:animEffect>
                                  </p:childTnLst>
                                </p:cTn>
                              </p:par>
                              <p:par>
                                <p:cTn id="28" presetID="3" presetClass="entr" presetSubtype="10" fill="hold" nodeType="withEffect">
                                  <p:stCondLst>
                                    <p:cond delay="0"/>
                                  </p:stCondLst>
                                  <p:childTnLst>
                                    <p:set>
                                      <p:cBhvr>
                                        <p:cTn id="29" dur="1" fill="hold">
                                          <p:stCondLst>
                                            <p:cond delay="0"/>
                                          </p:stCondLst>
                                        </p:cTn>
                                        <p:tgtEl>
                                          <p:spTgt spid="247813"/>
                                        </p:tgtEl>
                                        <p:attrNameLst>
                                          <p:attrName>style.visibility</p:attrName>
                                        </p:attrNameLst>
                                      </p:cBhvr>
                                      <p:to>
                                        <p:strVal val="visible"/>
                                      </p:to>
                                    </p:set>
                                    <p:animEffect transition="in" filter="blinds(horizontal)">
                                      <p:cBhvr>
                                        <p:cTn id="30" dur="500"/>
                                        <p:tgtEl>
                                          <p:spTgt spid="2478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47814"/>
                                        </p:tgtEl>
                                        <p:attrNameLst>
                                          <p:attrName>style.visibility</p:attrName>
                                        </p:attrNameLst>
                                      </p:cBhvr>
                                      <p:to>
                                        <p:strVal val="visible"/>
                                      </p:to>
                                    </p:set>
                                    <p:animEffect transition="in" filter="blinds(horizontal)">
                                      <p:cBhvr>
                                        <p:cTn id="35" dur="500"/>
                                        <p:tgtEl>
                                          <p:spTgt spid="2478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247815"/>
                                        </p:tgtEl>
                                        <p:attrNameLst>
                                          <p:attrName>style.visibility</p:attrName>
                                        </p:attrNameLst>
                                      </p:cBhvr>
                                      <p:to>
                                        <p:strVal val="visible"/>
                                      </p:to>
                                    </p:set>
                                    <p:animEffect transition="in" filter="blinds(horizontal)">
                                      <p:cBhvr>
                                        <p:cTn id="40" dur="500"/>
                                        <p:tgtEl>
                                          <p:spTgt spid="24781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dissolve">
                                      <p:cBhvr>
                                        <p:cTn id="45" dur="500"/>
                                        <p:tgtEl>
                                          <p:spTgt spid="8"/>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0" grpId="0"/>
      <p:bldP spid="24781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524000" y="2060576"/>
            <a:ext cx="914400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6700" algn="just">
              <a:lnSpc>
                <a:spcPct val="125000"/>
              </a:lnSpc>
            </a:pPr>
            <a:r>
              <a:rPr kumimoji="1" lang="en-US" altLang="zh-CN" sz="2800">
                <a:latin typeface="宋体" pitchFamily="2" charset="-122"/>
              </a:rPr>
              <a:t> </a:t>
            </a:r>
          </a:p>
          <a:p>
            <a:pPr indent="266700" algn="just" eaLnBrk="0" hangingPunct="0">
              <a:lnSpc>
                <a:spcPct val="125000"/>
              </a:lnSpc>
            </a:pPr>
            <a:r>
              <a:rPr kumimoji="1" lang="en-US" altLang="zh-CN" sz="2800">
                <a:latin typeface="宋体" pitchFamily="2" charset="-122"/>
              </a:rPr>
              <a:t> </a:t>
            </a:r>
          </a:p>
          <a:p>
            <a:pPr indent="266700" algn="just" eaLnBrk="0" hangingPunct="0">
              <a:lnSpc>
                <a:spcPct val="125000"/>
              </a:lnSpc>
            </a:pPr>
            <a:r>
              <a:rPr kumimoji="1" lang="en-US" altLang="zh-CN" sz="2800">
                <a:latin typeface="宋体" pitchFamily="2" charset="-122"/>
              </a:rPr>
              <a:t>  </a:t>
            </a:r>
            <a:endParaRPr kumimoji="1" lang="en-US" altLang="zh-CN" sz="2800">
              <a:latin typeface="Times New Roman" pitchFamily="18" charset="0"/>
            </a:endParaRPr>
          </a:p>
        </p:txBody>
      </p:sp>
      <p:sp>
        <p:nvSpPr>
          <p:cNvPr id="41987" name="Rectangle 3"/>
          <p:cNvSpPr>
            <a:spLocks noGrp="1" noChangeArrowheads="1"/>
          </p:cNvSpPr>
          <p:nvPr>
            <p:ph type="title"/>
          </p:nvPr>
        </p:nvSpPr>
        <p:spPr>
          <a:xfrm>
            <a:off x="1992313" y="188913"/>
            <a:ext cx="8229600" cy="1371600"/>
          </a:xfrm>
        </p:spPr>
        <p:txBody>
          <a:bodyPr/>
          <a:lstStyle/>
          <a:p>
            <a:pPr algn="ctr" eaLnBrk="1" hangingPunct="1"/>
            <a:r>
              <a:rPr kumimoji="1" lang="zh-CN" altLang="en-US">
                <a:solidFill>
                  <a:srgbClr val="057939"/>
                </a:solidFill>
                <a:ea typeface="黑体" pitchFamily="2" charset="-122"/>
              </a:rPr>
              <a:t>距离和相似系数选择的原则</a:t>
            </a:r>
          </a:p>
        </p:txBody>
      </p:sp>
      <p:sp>
        <p:nvSpPr>
          <p:cNvPr id="248837" name="Rectangle 5"/>
          <p:cNvSpPr>
            <a:spLocks noGrp="1" noChangeArrowheads="1"/>
          </p:cNvSpPr>
          <p:nvPr>
            <p:ph type="body" sz="half" idx="2"/>
          </p:nvPr>
        </p:nvSpPr>
        <p:spPr>
          <a:xfrm>
            <a:off x="767408" y="1266482"/>
            <a:ext cx="10657183" cy="5445125"/>
          </a:xfrm>
        </p:spPr>
        <p:txBody>
          <a:bodyPr/>
          <a:lstStyle/>
          <a:p>
            <a:pPr eaLnBrk="1" hangingPunct="1"/>
            <a:r>
              <a:rPr kumimoji="1" lang="zh-CN" altLang="en-US" sz="3200" dirty="0">
                <a:solidFill>
                  <a:srgbClr val="EE0006"/>
                </a:solidFill>
                <a:latin typeface="黑体" panose="02010609060101010101" pitchFamily="49" charset="-122"/>
                <a:ea typeface="黑体" panose="02010609060101010101" pitchFamily="49" charset="-122"/>
              </a:rPr>
              <a:t>所选择的亲疏测度指标在实际应用中应有明确的意义</a:t>
            </a:r>
          </a:p>
          <a:p>
            <a:pPr lvl="1" eaLnBrk="1" hangingPunct="1"/>
            <a:r>
              <a:rPr kumimoji="1" lang="zh-CN" altLang="en-US" sz="2800" b="1" dirty="0">
                <a:latin typeface="黑体" panose="02010609060101010101" pitchFamily="49" charset="-122"/>
                <a:ea typeface="黑体" panose="02010609060101010101" pitchFamily="49" charset="-122"/>
              </a:rPr>
              <a:t>如在经济变量分析中，常用</a:t>
            </a:r>
            <a:r>
              <a:rPr kumimoji="1" lang="zh-CN" altLang="en-US" sz="2800" b="1" u="sng" dirty="0">
                <a:solidFill>
                  <a:srgbClr val="3333FF"/>
                </a:solidFill>
                <a:latin typeface="黑体" panose="02010609060101010101" pitchFamily="49" charset="-122"/>
                <a:ea typeface="黑体" panose="02010609060101010101" pitchFamily="49" charset="-122"/>
              </a:rPr>
              <a:t>相关系数</a:t>
            </a:r>
            <a:r>
              <a:rPr kumimoji="1" lang="zh-CN" altLang="en-US" sz="2800" b="1" dirty="0">
                <a:latin typeface="黑体" panose="02010609060101010101" pitchFamily="49" charset="-122"/>
                <a:ea typeface="黑体" panose="02010609060101010101" pitchFamily="49" charset="-122"/>
              </a:rPr>
              <a:t>表示经济变量之间的亲疏程度。</a:t>
            </a:r>
          </a:p>
          <a:p>
            <a:pPr eaLnBrk="1" hangingPunct="1"/>
            <a:r>
              <a:rPr kumimoji="1" lang="zh-CN" altLang="en-US" sz="3200" dirty="0">
                <a:latin typeface="黑体" panose="02010609060101010101" pitchFamily="49" charset="-122"/>
                <a:ea typeface="黑体" panose="02010609060101010101" pitchFamily="49" charset="-122"/>
              </a:rPr>
              <a:t>亲疏测度指标的选择要综合考虑已</a:t>
            </a:r>
            <a:r>
              <a:rPr kumimoji="1" lang="zh-CN" altLang="en-US" sz="3200" b="1" u="sng" dirty="0">
                <a:solidFill>
                  <a:srgbClr val="EE0006"/>
                </a:solidFill>
                <a:latin typeface="黑体" panose="02010609060101010101" pitchFamily="49" charset="-122"/>
                <a:ea typeface="黑体" panose="02010609060101010101" pitchFamily="49" charset="-122"/>
              </a:rPr>
              <a:t>对样本观测数据实施了的变换方法</a:t>
            </a:r>
            <a:r>
              <a:rPr kumimoji="1" lang="zh-CN" altLang="en-US" sz="3200" dirty="0">
                <a:latin typeface="黑体" panose="02010609060101010101" pitchFamily="49" charset="-122"/>
                <a:ea typeface="黑体" panose="02010609060101010101" pitchFamily="49" charset="-122"/>
              </a:rPr>
              <a:t>和将要采用的</a:t>
            </a:r>
            <a:r>
              <a:rPr kumimoji="1" lang="zh-CN" altLang="en-US" sz="3200" b="1" u="sng" dirty="0">
                <a:solidFill>
                  <a:srgbClr val="EE0006"/>
                </a:solidFill>
                <a:latin typeface="黑体" panose="02010609060101010101" pitchFamily="49" charset="-122"/>
                <a:ea typeface="黑体" panose="02010609060101010101" pitchFamily="49" charset="-122"/>
              </a:rPr>
              <a:t>聚类分析方法</a:t>
            </a:r>
            <a:r>
              <a:rPr kumimoji="1" lang="zh-CN" altLang="en-US" sz="3200" dirty="0">
                <a:solidFill>
                  <a:srgbClr val="EE0006"/>
                </a:solidFill>
                <a:latin typeface="黑体" panose="02010609060101010101" pitchFamily="49" charset="-122"/>
                <a:ea typeface="黑体" panose="02010609060101010101" pitchFamily="49" charset="-122"/>
              </a:rPr>
              <a:t>。</a:t>
            </a:r>
          </a:p>
          <a:p>
            <a:pPr lvl="1" eaLnBrk="1" hangingPunct="1"/>
            <a:r>
              <a:rPr kumimoji="1" lang="zh-CN" altLang="en-US" sz="2800" b="1" dirty="0">
                <a:latin typeface="黑体" panose="02010609060101010101" pitchFamily="49" charset="-122"/>
                <a:ea typeface="黑体" panose="02010609060101010101" pitchFamily="49" charset="-122"/>
              </a:rPr>
              <a:t>如在标准化变换之下，</a:t>
            </a:r>
            <a:r>
              <a:rPr kumimoji="1" lang="zh-CN" altLang="en-US" sz="2800" b="1" u="sng" dirty="0">
                <a:solidFill>
                  <a:srgbClr val="3333FF"/>
                </a:solidFill>
                <a:latin typeface="黑体" panose="02010609060101010101" pitchFamily="49" charset="-122"/>
                <a:ea typeface="黑体" panose="02010609060101010101" pitchFamily="49" charset="-122"/>
              </a:rPr>
              <a:t>夹角余弦</a:t>
            </a:r>
            <a:r>
              <a:rPr kumimoji="1" lang="zh-CN" altLang="en-US" sz="2800" b="1" dirty="0">
                <a:latin typeface="黑体" panose="02010609060101010101" pitchFamily="49" charset="-122"/>
                <a:ea typeface="黑体" panose="02010609060101010101" pitchFamily="49" charset="-122"/>
              </a:rPr>
              <a:t>实际上就是</a:t>
            </a:r>
            <a:r>
              <a:rPr kumimoji="1" lang="zh-CN" altLang="en-US" sz="2800" b="1" u="sng" dirty="0">
                <a:solidFill>
                  <a:srgbClr val="3333FF"/>
                </a:solidFill>
                <a:latin typeface="黑体" panose="02010609060101010101" pitchFamily="49" charset="-122"/>
                <a:ea typeface="黑体" panose="02010609060101010101" pitchFamily="49" charset="-122"/>
              </a:rPr>
              <a:t>相关系数</a:t>
            </a:r>
            <a:r>
              <a:rPr kumimoji="1" lang="zh-CN" altLang="en-US" sz="2800" b="1" dirty="0">
                <a:latin typeface="黑体" panose="02010609060101010101" pitchFamily="49" charset="-122"/>
                <a:ea typeface="黑体" panose="02010609060101010101" pitchFamily="49" charset="-122"/>
              </a:rPr>
              <a:t>；</a:t>
            </a:r>
          </a:p>
          <a:p>
            <a:pPr lvl="1" eaLnBrk="1" hangingPunct="1"/>
            <a:r>
              <a:rPr kumimoji="1" lang="zh-CN" altLang="en-US" sz="2800" b="1" dirty="0">
                <a:latin typeface="黑体" panose="02010609060101010101" pitchFamily="49" charset="-122"/>
                <a:ea typeface="黑体" panose="02010609060101010101" pitchFamily="49" charset="-122"/>
              </a:rPr>
              <a:t>如若在进行聚类分析之前已经对变量的相关性作了处理，则通常就可采用</a:t>
            </a:r>
            <a:r>
              <a:rPr kumimoji="1" lang="zh-CN" altLang="en-US" sz="2800" b="1" u="sng" dirty="0">
                <a:solidFill>
                  <a:srgbClr val="3333FF"/>
                </a:solidFill>
                <a:latin typeface="黑体" panose="02010609060101010101" pitchFamily="49" charset="-122"/>
                <a:ea typeface="黑体" panose="02010609060101010101" pitchFamily="49" charset="-122"/>
              </a:rPr>
              <a:t>欧氏距离</a:t>
            </a:r>
            <a:r>
              <a:rPr kumimoji="1" lang="zh-CN" altLang="en-US" sz="2800" b="1" dirty="0">
                <a:latin typeface="黑体" panose="02010609060101010101" pitchFamily="49" charset="-122"/>
                <a:ea typeface="黑体" panose="02010609060101010101" pitchFamily="49" charset="-122"/>
              </a:rPr>
              <a:t>，而不必选用</a:t>
            </a:r>
            <a:r>
              <a:rPr kumimoji="1" lang="zh-CN" altLang="en-US" sz="2800" b="1" u="sng" dirty="0">
                <a:solidFill>
                  <a:srgbClr val="3333FF"/>
                </a:solidFill>
                <a:latin typeface="黑体" panose="02010609060101010101" pitchFamily="49" charset="-122"/>
                <a:ea typeface="黑体" panose="02010609060101010101" pitchFamily="49" charset="-122"/>
              </a:rPr>
              <a:t>斜交空间距离</a:t>
            </a:r>
            <a:r>
              <a:rPr kumimoji="1" lang="zh-CN" altLang="en-US" sz="2800" b="1" dirty="0">
                <a:latin typeface="黑体" panose="02010609060101010101" pitchFamily="49" charset="-122"/>
                <a:ea typeface="黑体" panose="02010609060101010101" pitchFamily="49" charset="-122"/>
              </a:rPr>
              <a:t>。</a:t>
            </a:r>
          </a:p>
          <a:p>
            <a:pPr lvl="1" eaLnBrk="1" hangingPunct="1"/>
            <a:r>
              <a:rPr kumimoji="1" lang="zh-CN" altLang="en-US" sz="2800" b="1" dirty="0">
                <a:latin typeface="黑体" panose="02010609060101010101" pitchFamily="49" charset="-122"/>
                <a:ea typeface="黑体" panose="02010609060101010101" pitchFamily="49" charset="-122"/>
              </a:rPr>
              <a:t>此外，所选择的亲疏测度指标还须和所选用的聚类分析方法一致。</a:t>
            </a:r>
          </a:p>
          <a:p>
            <a:pPr lvl="2" eaLnBrk="1" hangingPunct="1"/>
            <a:r>
              <a:rPr kumimoji="1" lang="zh-CN" altLang="en-US" sz="2800" b="1" dirty="0">
                <a:latin typeface="黑体" panose="02010609060101010101" pitchFamily="49" charset="-122"/>
                <a:ea typeface="黑体" panose="02010609060101010101" pitchFamily="49" charset="-122"/>
              </a:rPr>
              <a:t>如聚类方法若选用</a:t>
            </a:r>
            <a:r>
              <a:rPr kumimoji="1" lang="zh-CN" altLang="en-US" sz="2800" b="1" u="sng" dirty="0">
                <a:solidFill>
                  <a:srgbClr val="3333FF"/>
                </a:solidFill>
                <a:latin typeface="黑体" panose="02010609060101010101" pitchFamily="49" charset="-122"/>
                <a:ea typeface="黑体" panose="02010609060101010101" pitchFamily="49" charset="-122"/>
              </a:rPr>
              <a:t>离差平方和法</a:t>
            </a:r>
            <a:r>
              <a:rPr kumimoji="1" lang="zh-CN" altLang="en-US" sz="2800" b="1" dirty="0">
                <a:latin typeface="黑体" panose="02010609060101010101" pitchFamily="49" charset="-122"/>
                <a:ea typeface="黑体" panose="02010609060101010101" pitchFamily="49" charset="-122"/>
              </a:rPr>
              <a:t>，则距离只能选用</a:t>
            </a:r>
            <a:r>
              <a:rPr kumimoji="1" lang="zh-CN" altLang="en-US" sz="2800" b="1" u="sng" dirty="0">
                <a:solidFill>
                  <a:srgbClr val="3333FF"/>
                </a:solidFill>
                <a:latin typeface="黑体" panose="02010609060101010101" pitchFamily="49" charset="-122"/>
                <a:ea typeface="黑体" panose="02010609060101010101" pitchFamily="49" charset="-122"/>
              </a:rPr>
              <a:t>欧氏距离</a:t>
            </a:r>
            <a:r>
              <a:rPr kumimoji="1" lang="zh-CN" altLang="en-US" sz="2800" b="1" dirty="0">
                <a:latin typeface="黑体" panose="02010609060101010101" pitchFamily="49" charset="-122"/>
                <a:ea typeface="黑体" panose="02010609060101010101" pitchFamily="49" charset="-122"/>
              </a:rPr>
              <a:t>。</a:t>
            </a:r>
          </a:p>
        </p:txBody>
      </p:sp>
      <p:sp>
        <p:nvSpPr>
          <p:cNvPr id="2" name="灯片编号占位符 1">
            <a:extLst>
              <a:ext uri="{FF2B5EF4-FFF2-40B4-BE49-F238E27FC236}">
                <a16:creationId xmlns:a16="http://schemas.microsoft.com/office/drawing/2014/main" id="{27026D6A-30BC-16AB-BFE5-DA973652AB9D}"/>
              </a:ext>
            </a:extLst>
          </p:cNvPr>
          <p:cNvSpPr>
            <a:spLocks noGrp="1"/>
          </p:cNvSpPr>
          <p:nvPr>
            <p:ph type="sldNum" sz="quarter" idx="11"/>
          </p:nvPr>
        </p:nvSpPr>
        <p:spPr>
          <a:xfrm>
            <a:off x="41888" y="6240873"/>
            <a:ext cx="517848" cy="457200"/>
          </a:xfrm>
        </p:spPr>
        <p:txBody>
          <a:bodyPr/>
          <a:lstStyle/>
          <a:p>
            <a:pPr>
              <a:defRPr/>
            </a:pPr>
            <a:fld id="{C8CF5D13-9327-41E7-B85A-5EA9BAF71A8F}" type="slidenum">
              <a:rPr lang="en-US" altLang="zh-CN" smtClean="0"/>
              <a:pPr>
                <a:defRPr/>
              </a:pPr>
              <a:t>51</a:t>
            </a:fld>
            <a:endParaRPr lang="en-US" altLang="zh-CN" dirty="0"/>
          </a:p>
        </p:txBody>
      </p:sp>
    </p:spTree>
    <p:extLst>
      <p:ext uri="{BB962C8B-B14F-4D97-AF65-F5344CB8AC3E}">
        <p14:creationId xmlns:p14="http://schemas.microsoft.com/office/powerpoint/2010/main" val="23983598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8837">
                                            <p:txEl>
                                              <p:pRg st="0" end="0"/>
                                            </p:txEl>
                                          </p:spTgt>
                                        </p:tgtEl>
                                        <p:attrNameLst>
                                          <p:attrName>style.visibility</p:attrName>
                                        </p:attrNameLst>
                                      </p:cBhvr>
                                      <p:to>
                                        <p:strVal val="visible"/>
                                      </p:to>
                                    </p:set>
                                    <p:animEffect transition="in" filter="wipe(left)">
                                      <p:cBhvr>
                                        <p:cTn id="7" dur="500"/>
                                        <p:tgtEl>
                                          <p:spTgt spid="24883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8837">
                                            <p:txEl>
                                              <p:pRg st="1" end="1"/>
                                            </p:txEl>
                                          </p:spTgt>
                                        </p:tgtEl>
                                        <p:attrNameLst>
                                          <p:attrName>style.visibility</p:attrName>
                                        </p:attrNameLst>
                                      </p:cBhvr>
                                      <p:to>
                                        <p:strVal val="visible"/>
                                      </p:to>
                                    </p:set>
                                    <p:animEffect transition="in" filter="wipe(left)">
                                      <p:cBhvr>
                                        <p:cTn id="12" dur="500"/>
                                        <p:tgtEl>
                                          <p:spTgt spid="24883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8837">
                                            <p:txEl>
                                              <p:pRg st="2" end="2"/>
                                            </p:txEl>
                                          </p:spTgt>
                                        </p:tgtEl>
                                        <p:attrNameLst>
                                          <p:attrName>style.visibility</p:attrName>
                                        </p:attrNameLst>
                                      </p:cBhvr>
                                      <p:to>
                                        <p:strVal val="visible"/>
                                      </p:to>
                                    </p:set>
                                    <p:animEffect transition="in" filter="wipe(left)">
                                      <p:cBhvr>
                                        <p:cTn id="17" dur="500"/>
                                        <p:tgtEl>
                                          <p:spTgt spid="24883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8837">
                                            <p:txEl>
                                              <p:pRg st="3" end="3"/>
                                            </p:txEl>
                                          </p:spTgt>
                                        </p:tgtEl>
                                        <p:attrNameLst>
                                          <p:attrName>style.visibility</p:attrName>
                                        </p:attrNameLst>
                                      </p:cBhvr>
                                      <p:to>
                                        <p:strVal val="visible"/>
                                      </p:to>
                                    </p:set>
                                    <p:animEffect transition="in" filter="wipe(left)">
                                      <p:cBhvr>
                                        <p:cTn id="22" dur="500"/>
                                        <p:tgtEl>
                                          <p:spTgt spid="24883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8837">
                                            <p:txEl>
                                              <p:pRg st="4" end="4"/>
                                            </p:txEl>
                                          </p:spTgt>
                                        </p:tgtEl>
                                        <p:attrNameLst>
                                          <p:attrName>style.visibility</p:attrName>
                                        </p:attrNameLst>
                                      </p:cBhvr>
                                      <p:to>
                                        <p:strVal val="visible"/>
                                      </p:to>
                                    </p:set>
                                    <p:animEffect transition="in" filter="wipe(left)">
                                      <p:cBhvr>
                                        <p:cTn id="27" dur="500"/>
                                        <p:tgtEl>
                                          <p:spTgt spid="24883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8837">
                                            <p:txEl>
                                              <p:pRg st="5" end="5"/>
                                            </p:txEl>
                                          </p:spTgt>
                                        </p:tgtEl>
                                        <p:attrNameLst>
                                          <p:attrName>style.visibility</p:attrName>
                                        </p:attrNameLst>
                                      </p:cBhvr>
                                      <p:to>
                                        <p:strVal val="visible"/>
                                      </p:to>
                                    </p:set>
                                    <p:animEffect transition="in" filter="wipe(left)">
                                      <p:cBhvr>
                                        <p:cTn id="32" dur="500"/>
                                        <p:tgtEl>
                                          <p:spTgt spid="24883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8837">
                                            <p:txEl>
                                              <p:pRg st="6" end="6"/>
                                            </p:txEl>
                                          </p:spTgt>
                                        </p:tgtEl>
                                        <p:attrNameLst>
                                          <p:attrName>style.visibility</p:attrName>
                                        </p:attrNameLst>
                                      </p:cBhvr>
                                      <p:to>
                                        <p:strVal val="visible"/>
                                      </p:to>
                                    </p:set>
                                    <p:animEffect transition="in" filter="wipe(left)">
                                      <p:cBhvr>
                                        <p:cTn id="37" dur="500"/>
                                        <p:tgtEl>
                                          <p:spTgt spid="2488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title"/>
          </p:nvPr>
        </p:nvSpPr>
        <p:spPr/>
        <p:txBody>
          <a:bodyPr/>
          <a:lstStyle/>
          <a:p>
            <a:pPr algn="ctr" eaLnBrk="1" hangingPunct="1"/>
            <a:r>
              <a:rPr kumimoji="1" lang="zh-CN" altLang="en-US">
                <a:solidFill>
                  <a:srgbClr val="057939"/>
                </a:solidFill>
                <a:ea typeface="黑体" pitchFamily="2" charset="-122"/>
              </a:rPr>
              <a:t>距离和相似系数选择的原则</a:t>
            </a:r>
          </a:p>
        </p:txBody>
      </p:sp>
      <p:sp>
        <p:nvSpPr>
          <p:cNvPr id="251908" name="Rectangle 4"/>
          <p:cNvSpPr>
            <a:spLocks noGrp="1" noChangeArrowheads="1"/>
          </p:cNvSpPr>
          <p:nvPr>
            <p:ph type="body" idx="1"/>
          </p:nvPr>
        </p:nvSpPr>
        <p:spPr>
          <a:xfrm>
            <a:off x="1055440" y="1628775"/>
            <a:ext cx="9793088" cy="4895850"/>
          </a:xfrm>
        </p:spPr>
        <p:txBody>
          <a:bodyPr/>
          <a:lstStyle/>
          <a:p>
            <a:pPr algn="just" eaLnBrk="1" hangingPunct="1">
              <a:lnSpc>
                <a:spcPct val="130000"/>
              </a:lnSpc>
              <a:spcBef>
                <a:spcPct val="0"/>
              </a:spcBef>
              <a:buClrTx/>
              <a:buSzTx/>
            </a:pPr>
            <a:r>
              <a:rPr kumimoji="1" lang="zh-CN" altLang="en-US" dirty="0">
                <a:solidFill>
                  <a:srgbClr val="EE0006"/>
                </a:solidFill>
                <a:ea typeface="黑体" pitchFamily="2" charset="-122"/>
              </a:rPr>
              <a:t>适当地考虑计算工作量的大小</a:t>
            </a:r>
          </a:p>
          <a:p>
            <a:pPr lvl="1" algn="just" eaLnBrk="1" hangingPunct="1">
              <a:lnSpc>
                <a:spcPct val="130000"/>
              </a:lnSpc>
              <a:spcBef>
                <a:spcPct val="0"/>
              </a:spcBef>
              <a:buClrTx/>
              <a:buSzTx/>
            </a:pPr>
            <a:r>
              <a:rPr kumimoji="1" lang="zh-CN" altLang="en-US" sz="2400" b="1" dirty="0">
                <a:ea typeface="楷体_GB2312" pitchFamily="49" charset="-122"/>
              </a:rPr>
              <a:t>如对</a:t>
            </a:r>
            <a:r>
              <a:rPr kumimoji="1" lang="zh-CN" altLang="en-US" sz="2400" b="1" u="sng" dirty="0">
                <a:solidFill>
                  <a:srgbClr val="3333FF"/>
                </a:solidFill>
                <a:ea typeface="楷体_GB2312" pitchFamily="49" charset="-122"/>
              </a:rPr>
              <a:t>大样本</a:t>
            </a:r>
            <a:r>
              <a:rPr kumimoji="1" lang="zh-CN" altLang="en-US" sz="2400" b="1" dirty="0">
                <a:ea typeface="楷体_GB2312" pitchFamily="49" charset="-122"/>
              </a:rPr>
              <a:t>的聚类问题，不适宜选择</a:t>
            </a:r>
            <a:r>
              <a:rPr kumimoji="1" lang="zh-CN" altLang="en-US" sz="2400" b="1" u="sng" dirty="0">
                <a:solidFill>
                  <a:srgbClr val="3333FF"/>
                </a:solidFill>
                <a:ea typeface="楷体_GB2312" pitchFamily="49" charset="-122"/>
              </a:rPr>
              <a:t>斜交空间距离</a:t>
            </a:r>
            <a:r>
              <a:rPr kumimoji="1" lang="zh-CN" altLang="en-US" sz="2400" b="1" dirty="0">
                <a:ea typeface="楷体_GB2312" pitchFamily="49" charset="-122"/>
              </a:rPr>
              <a:t>，因计算工作量太大。</a:t>
            </a:r>
          </a:p>
          <a:p>
            <a:pPr lvl="1" algn="just" eaLnBrk="1" hangingPunct="1">
              <a:lnSpc>
                <a:spcPct val="130000"/>
              </a:lnSpc>
              <a:spcBef>
                <a:spcPct val="0"/>
              </a:spcBef>
              <a:buClrTx/>
              <a:buSzTx/>
            </a:pPr>
            <a:r>
              <a:rPr kumimoji="1" lang="zh-CN" altLang="en-US" sz="2400" b="1" dirty="0">
                <a:ea typeface="楷体_GB2312" pitchFamily="49" charset="-122"/>
              </a:rPr>
              <a:t>样本间或变量间</a:t>
            </a:r>
            <a:r>
              <a:rPr kumimoji="1" lang="zh-CN" altLang="en-US" sz="2400" b="1" dirty="0">
                <a:solidFill>
                  <a:srgbClr val="FF00FF"/>
                </a:solidFill>
                <a:ea typeface="楷体_GB2312" pitchFamily="49" charset="-122"/>
              </a:rPr>
              <a:t>亲疏测度指标</a:t>
            </a:r>
            <a:r>
              <a:rPr kumimoji="1" lang="zh-CN" altLang="en-US" sz="2400" b="1" dirty="0">
                <a:ea typeface="楷体_GB2312" pitchFamily="49" charset="-122"/>
              </a:rPr>
              <a:t>的选择是一个比较复杂且带主观性的问题，应根据研究对象的特点作具体分析，以选择出合适的亲疏测度指标。</a:t>
            </a:r>
          </a:p>
          <a:p>
            <a:pPr lvl="1" algn="just" eaLnBrk="1" hangingPunct="1">
              <a:lnSpc>
                <a:spcPct val="130000"/>
              </a:lnSpc>
              <a:spcBef>
                <a:spcPct val="0"/>
              </a:spcBef>
              <a:buClrTx/>
              <a:buSzTx/>
            </a:pPr>
            <a:r>
              <a:rPr kumimoji="1" lang="zh-CN" altLang="en-US" sz="2400" b="1" dirty="0">
                <a:ea typeface="楷体_GB2312" pitchFamily="49" charset="-122"/>
              </a:rPr>
              <a:t>实践中，在开始进行聚类分析时，不妨试探性地</a:t>
            </a:r>
            <a:r>
              <a:rPr kumimoji="1" lang="zh-CN" altLang="en-US" sz="2400" b="1" dirty="0">
                <a:solidFill>
                  <a:srgbClr val="057939"/>
                </a:solidFill>
                <a:ea typeface="楷体_GB2312" pitchFamily="49" charset="-122"/>
              </a:rPr>
              <a:t>多选择几个亲疏测度指标，</a:t>
            </a:r>
            <a:r>
              <a:rPr kumimoji="1" lang="zh-CN" altLang="en-US" sz="2400" b="1" dirty="0">
                <a:ea typeface="楷体_GB2312" pitchFamily="49" charset="-122"/>
              </a:rPr>
              <a:t>分别进行聚类，然后对聚类分析的结果进行对比分析，以确定出合适的亲疏测度指标。</a:t>
            </a:r>
            <a:endParaRPr lang="zh-CN" altLang="en-US" sz="2400" b="1" dirty="0">
              <a:ea typeface="楷体_GB2312" pitchFamily="49" charset="-122"/>
            </a:endParaRPr>
          </a:p>
        </p:txBody>
      </p:sp>
      <p:sp>
        <p:nvSpPr>
          <p:cNvPr id="2" name="灯片编号占位符 1">
            <a:extLst>
              <a:ext uri="{FF2B5EF4-FFF2-40B4-BE49-F238E27FC236}">
                <a16:creationId xmlns:a16="http://schemas.microsoft.com/office/drawing/2014/main" id="{3F0C842F-2A0D-3F23-D216-FFF8B3ACAC31}"/>
              </a:ext>
            </a:extLst>
          </p:cNvPr>
          <p:cNvSpPr>
            <a:spLocks noGrp="1"/>
          </p:cNvSpPr>
          <p:nvPr>
            <p:ph type="sldNum" sz="quarter" idx="11"/>
          </p:nvPr>
        </p:nvSpPr>
        <p:spPr/>
        <p:txBody>
          <a:bodyPr/>
          <a:lstStyle/>
          <a:p>
            <a:pPr>
              <a:defRPr/>
            </a:pPr>
            <a:fld id="{F13753BC-CAEF-4333-AC48-2805658F6E3F}" type="slidenum">
              <a:rPr lang="en-US" altLang="zh-CN" smtClean="0"/>
              <a:pPr>
                <a:defRPr/>
              </a:pPr>
              <a:t>52</a:t>
            </a:fld>
            <a:endParaRPr lang="en-US" altLang="zh-CN"/>
          </a:p>
        </p:txBody>
      </p:sp>
    </p:spTree>
    <p:extLst>
      <p:ext uri="{BB962C8B-B14F-4D97-AF65-F5344CB8AC3E}">
        <p14:creationId xmlns:p14="http://schemas.microsoft.com/office/powerpoint/2010/main" val="6091212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08">
                                            <p:txEl>
                                              <p:pRg st="0" end="0"/>
                                            </p:txEl>
                                          </p:spTgt>
                                        </p:tgtEl>
                                        <p:attrNameLst>
                                          <p:attrName>style.visibility</p:attrName>
                                        </p:attrNameLst>
                                      </p:cBhvr>
                                      <p:to>
                                        <p:strVal val="visible"/>
                                      </p:to>
                                    </p:set>
                                    <p:animEffect transition="in" filter="wipe(left)">
                                      <p:cBhvr>
                                        <p:cTn id="7" dur="500"/>
                                        <p:tgtEl>
                                          <p:spTgt spid="2519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1908">
                                            <p:txEl>
                                              <p:pRg st="1" end="1"/>
                                            </p:txEl>
                                          </p:spTgt>
                                        </p:tgtEl>
                                        <p:attrNameLst>
                                          <p:attrName>style.visibility</p:attrName>
                                        </p:attrNameLst>
                                      </p:cBhvr>
                                      <p:to>
                                        <p:strVal val="visible"/>
                                      </p:to>
                                    </p:set>
                                    <p:animEffect transition="in" filter="wipe(left)">
                                      <p:cBhvr>
                                        <p:cTn id="12" dur="500"/>
                                        <p:tgtEl>
                                          <p:spTgt spid="25190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1908">
                                            <p:txEl>
                                              <p:pRg st="2" end="2"/>
                                            </p:txEl>
                                          </p:spTgt>
                                        </p:tgtEl>
                                        <p:attrNameLst>
                                          <p:attrName>style.visibility</p:attrName>
                                        </p:attrNameLst>
                                      </p:cBhvr>
                                      <p:to>
                                        <p:strVal val="visible"/>
                                      </p:to>
                                    </p:set>
                                    <p:animEffect transition="in" filter="wipe(left)">
                                      <p:cBhvr>
                                        <p:cTn id="17" dur="500"/>
                                        <p:tgtEl>
                                          <p:spTgt spid="25190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1908">
                                            <p:txEl>
                                              <p:pRg st="3" end="3"/>
                                            </p:txEl>
                                          </p:spTgt>
                                        </p:tgtEl>
                                        <p:attrNameLst>
                                          <p:attrName>style.visibility</p:attrName>
                                        </p:attrNameLst>
                                      </p:cBhvr>
                                      <p:to>
                                        <p:strVal val="visible"/>
                                      </p:to>
                                    </p:set>
                                    <p:animEffect transition="in" filter="wipe(left)">
                                      <p:cBhvr>
                                        <p:cTn id="22" dur="500"/>
                                        <p:tgtEl>
                                          <p:spTgt spid="2519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8050" name="Group 2"/>
          <p:cNvGraphicFramePr>
            <a:graphicFrameLocks noGrp="1"/>
          </p:cNvGraphicFramePr>
          <p:nvPr/>
        </p:nvGraphicFramePr>
        <p:xfrm>
          <a:off x="2495550" y="2420939"/>
          <a:ext cx="7315200" cy="4008439"/>
        </p:xfrm>
        <a:graphic>
          <a:graphicData uri="http://schemas.openxmlformats.org/drawingml/2006/table">
            <a:tbl>
              <a:tblPr/>
              <a:tblGrid>
                <a:gridCol w="1463675">
                  <a:extLst>
                    <a:ext uri="{9D8B030D-6E8A-4147-A177-3AD203B41FA5}">
                      <a16:colId xmlns:a16="http://schemas.microsoft.com/office/drawing/2014/main" val="20000"/>
                    </a:ext>
                  </a:extLst>
                </a:gridCol>
                <a:gridCol w="1462088">
                  <a:extLst>
                    <a:ext uri="{9D8B030D-6E8A-4147-A177-3AD203B41FA5}">
                      <a16:colId xmlns:a16="http://schemas.microsoft.com/office/drawing/2014/main" val="20001"/>
                    </a:ext>
                  </a:extLst>
                </a:gridCol>
                <a:gridCol w="1463675">
                  <a:extLst>
                    <a:ext uri="{9D8B030D-6E8A-4147-A177-3AD203B41FA5}">
                      <a16:colId xmlns:a16="http://schemas.microsoft.com/office/drawing/2014/main" val="20002"/>
                    </a:ext>
                  </a:extLst>
                </a:gridCol>
                <a:gridCol w="1462087">
                  <a:extLst>
                    <a:ext uri="{9D8B030D-6E8A-4147-A177-3AD203B41FA5}">
                      <a16:colId xmlns:a16="http://schemas.microsoft.com/office/drawing/2014/main" val="20003"/>
                    </a:ext>
                  </a:extLst>
                </a:gridCol>
                <a:gridCol w="1463675">
                  <a:extLst>
                    <a:ext uri="{9D8B030D-6E8A-4147-A177-3AD203B41FA5}">
                      <a16:colId xmlns:a16="http://schemas.microsoft.com/office/drawing/2014/main" val="20004"/>
                    </a:ext>
                  </a:extLst>
                </a:gridCol>
              </a:tblGrid>
              <a:tr h="808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dirty="0">
                        <a:ln>
                          <a:noFill/>
                        </a:ln>
                        <a:solidFill>
                          <a:schemeClr val="tx2"/>
                        </a:solidFill>
                        <a:effectLst/>
                        <a:latin typeface="Arial"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Book Antiqua" pitchFamily="18" charset="0"/>
                          <a:ea typeface="宋体"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8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Arial"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dirty="0">
                          <a:ln>
                            <a:noFill/>
                          </a:ln>
                          <a:solidFill>
                            <a:schemeClr val="tx2"/>
                          </a:solidFill>
                          <a:effectLst/>
                          <a:latin typeface="Book Antiqua" pitchFamily="18" charset="0"/>
                          <a:ea typeface="宋体" pitchFamily="2" charset="-122"/>
                        </a:rPr>
                        <a:t>…</a:t>
                      </a: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dirty="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64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Arial"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78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宋体" pitchFamily="2" charset="-122"/>
                          <a:ea typeface="宋体" pitchFamily="2" charset="-122"/>
                        </a:rPr>
                        <a: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宋体" pitchFamily="2" charset="-122"/>
                          <a:ea typeface="宋体"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宋体" pitchFamily="2" charset="-122"/>
                          <a:ea typeface="宋体"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宋体" pitchFamily="2" charset="-122"/>
                          <a:ea typeface="宋体" pitchFamily="2" charset="-122"/>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08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Book Antiqua" pitchFamily="18" charset="0"/>
                          <a:ea typeface="宋体" pitchFamily="2" charset="-122"/>
                        </a:rPr>
                        <a:t>…</a:t>
                      </a:r>
                      <a:endParaRPr kumimoji="0" lang="en-US" altLang="zh-CN" sz="2800" b="1" i="0" u="none" strike="noStrike" cap="none" normalizeH="0" baseline="0">
                        <a:ln>
                          <a:noFill/>
                        </a:ln>
                        <a:solidFill>
                          <a:schemeClr val="tx2"/>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chemeClr val="tx2"/>
                          </a:solidFill>
                          <a:effectLst/>
                          <a:latin typeface="Arial"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58089" name="Object 41"/>
          <p:cNvGraphicFramePr>
            <a:graphicFrameLocks noChangeAspect="1"/>
          </p:cNvGraphicFramePr>
          <p:nvPr/>
        </p:nvGraphicFramePr>
        <p:xfrm>
          <a:off x="3473451" y="2543175"/>
          <a:ext cx="398463" cy="450850"/>
        </p:xfrm>
        <a:graphic>
          <a:graphicData uri="http://schemas.openxmlformats.org/presentationml/2006/ole">
            <mc:AlternateContent xmlns:mc="http://schemas.openxmlformats.org/markup-compatibility/2006">
              <mc:Choice xmlns:v="urn:schemas-microsoft-com:vml" Requires="v">
                <p:oleObj name="公式" r:id="rId2" imgW="361978" imgH="428760" progId="Equation.3">
                  <p:embed/>
                </p:oleObj>
              </mc:Choice>
              <mc:Fallback>
                <p:oleObj name="公式" r:id="rId2" imgW="361978" imgH="4287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3451" y="2543175"/>
                        <a:ext cx="3984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0" name="Object 42"/>
          <p:cNvGraphicFramePr>
            <a:graphicFrameLocks noChangeAspect="1"/>
          </p:cNvGraphicFramePr>
          <p:nvPr/>
        </p:nvGraphicFramePr>
        <p:xfrm>
          <a:off x="2643188" y="2771775"/>
          <a:ext cx="361950" cy="450850"/>
        </p:xfrm>
        <a:graphic>
          <a:graphicData uri="http://schemas.openxmlformats.org/presentationml/2006/ole">
            <mc:AlternateContent xmlns:mc="http://schemas.openxmlformats.org/markup-compatibility/2006">
              <mc:Choice xmlns:v="urn:schemas-microsoft-com:vml" Requires="v">
                <p:oleObj name="公式" r:id="rId4" imgW="342799" imgH="428760" progId="Equation.3">
                  <p:embed/>
                </p:oleObj>
              </mc:Choice>
              <mc:Fallback>
                <p:oleObj name="公式" r:id="rId4" imgW="342799" imgH="4287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88" y="2771775"/>
                        <a:ext cx="3619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1" name="Object 43"/>
          <p:cNvGraphicFramePr>
            <a:graphicFrameLocks noChangeAspect="1"/>
          </p:cNvGraphicFramePr>
          <p:nvPr/>
        </p:nvGraphicFramePr>
        <p:xfrm>
          <a:off x="4483100" y="2622550"/>
          <a:ext cx="330200" cy="425450"/>
        </p:xfrm>
        <a:graphic>
          <a:graphicData uri="http://schemas.openxmlformats.org/presentationml/2006/ole">
            <mc:AlternateContent xmlns:mc="http://schemas.openxmlformats.org/markup-compatibility/2006">
              <mc:Choice xmlns:v="urn:schemas-microsoft-com:vml" Requires="v">
                <p:oleObj name="公式" r:id="rId6" imgW="304710" imgH="390420" progId="Equation.3">
                  <p:embed/>
                </p:oleObj>
              </mc:Choice>
              <mc:Fallback>
                <p:oleObj name="公式" r:id="rId6" imgW="304710" imgH="3904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3100" y="2622550"/>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2" name="Object 44"/>
          <p:cNvGraphicFramePr>
            <a:graphicFrameLocks noChangeAspect="1"/>
          </p:cNvGraphicFramePr>
          <p:nvPr/>
        </p:nvGraphicFramePr>
        <p:xfrm>
          <a:off x="5924550" y="2573338"/>
          <a:ext cx="368300" cy="425450"/>
        </p:xfrm>
        <a:graphic>
          <a:graphicData uri="http://schemas.openxmlformats.org/presentationml/2006/ole">
            <mc:AlternateContent xmlns:mc="http://schemas.openxmlformats.org/markup-compatibility/2006">
              <mc:Choice xmlns:v="urn:schemas-microsoft-com:vml" Requires="v">
                <p:oleObj name="公式" r:id="rId8" imgW="342799" imgH="390420" progId="Equation.3">
                  <p:embed/>
                </p:oleObj>
              </mc:Choice>
              <mc:Fallback>
                <p:oleObj name="公式" r:id="rId8" imgW="342799" imgH="3904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50" y="2573338"/>
                        <a:ext cx="3683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3" name="Object 45"/>
          <p:cNvGraphicFramePr>
            <a:graphicFrameLocks noChangeAspect="1"/>
          </p:cNvGraphicFramePr>
          <p:nvPr/>
        </p:nvGraphicFramePr>
        <p:xfrm>
          <a:off x="8801100" y="2643188"/>
          <a:ext cx="368300" cy="438150"/>
        </p:xfrm>
        <a:graphic>
          <a:graphicData uri="http://schemas.openxmlformats.org/presentationml/2006/ole">
            <mc:AlternateContent xmlns:mc="http://schemas.openxmlformats.org/markup-compatibility/2006">
              <mc:Choice xmlns:v="urn:schemas-microsoft-com:vml" Requires="v">
                <p:oleObj name="公式" r:id="rId10" imgW="342799" imgH="400140" progId="Equation.3">
                  <p:embed/>
                </p:oleObj>
              </mc:Choice>
              <mc:Fallback>
                <p:oleObj name="公式" r:id="rId10" imgW="342799" imgH="4001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01100" y="2643188"/>
                        <a:ext cx="368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4" name="Object 46"/>
          <p:cNvGraphicFramePr>
            <a:graphicFrameLocks noChangeAspect="1"/>
          </p:cNvGraphicFramePr>
          <p:nvPr/>
        </p:nvGraphicFramePr>
        <p:xfrm>
          <a:off x="3028950" y="3411538"/>
          <a:ext cx="330200" cy="425450"/>
        </p:xfrm>
        <a:graphic>
          <a:graphicData uri="http://schemas.openxmlformats.org/presentationml/2006/ole">
            <mc:AlternateContent xmlns:mc="http://schemas.openxmlformats.org/markup-compatibility/2006">
              <mc:Choice xmlns:v="urn:schemas-microsoft-com:vml" Requires="v">
                <p:oleObj name="公式" r:id="rId6" imgW="304710" imgH="390420" progId="Equation.3">
                  <p:embed/>
                </p:oleObj>
              </mc:Choice>
              <mc:Fallback>
                <p:oleObj name="公式" r:id="rId6" imgW="304710" imgH="39042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8950" y="3411538"/>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5" name="Object 47"/>
          <p:cNvGraphicFramePr>
            <a:graphicFrameLocks noChangeAspect="1"/>
          </p:cNvGraphicFramePr>
          <p:nvPr/>
        </p:nvGraphicFramePr>
        <p:xfrm>
          <a:off x="3028950" y="4249738"/>
          <a:ext cx="368300" cy="425450"/>
        </p:xfrm>
        <a:graphic>
          <a:graphicData uri="http://schemas.openxmlformats.org/presentationml/2006/ole">
            <mc:AlternateContent xmlns:mc="http://schemas.openxmlformats.org/markup-compatibility/2006">
              <mc:Choice xmlns:v="urn:schemas-microsoft-com:vml" Requires="v">
                <p:oleObj name="公式" r:id="rId8" imgW="342799" imgH="390420" progId="Equation.3">
                  <p:embed/>
                </p:oleObj>
              </mc:Choice>
              <mc:Fallback>
                <p:oleObj name="公式" r:id="rId8" imgW="342799" imgH="39042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8950" y="4249738"/>
                        <a:ext cx="3683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6" name="Object 48"/>
          <p:cNvGraphicFramePr>
            <a:graphicFrameLocks noChangeAspect="1"/>
          </p:cNvGraphicFramePr>
          <p:nvPr/>
        </p:nvGraphicFramePr>
        <p:xfrm>
          <a:off x="3028950" y="5849938"/>
          <a:ext cx="368300" cy="438150"/>
        </p:xfrm>
        <a:graphic>
          <a:graphicData uri="http://schemas.openxmlformats.org/presentationml/2006/ole">
            <mc:AlternateContent xmlns:mc="http://schemas.openxmlformats.org/markup-compatibility/2006">
              <mc:Choice xmlns:v="urn:schemas-microsoft-com:vml" Requires="v">
                <p:oleObj name="公式" r:id="rId10" imgW="342799" imgH="400140" progId="Equation.3">
                  <p:embed/>
                </p:oleObj>
              </mc:Choice>
              <mc:Fallback>
                <p:oleObj name="公式" r:id="rId10" imgW="342799" imgH="4001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28950" y="5849938"/>
                        <a:ext cx="368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7" name="Object 49"/>
          <p:cNvGraphicFramePr>
            <a:graphicFrameLocks noChangeAspect="1"/>
          </p:cNvGraphicFramePr>
          <p:nvPr/>
        </p:nvGraphicFramePr>
        <p:xfrm>
          <a:off x="5975350" y="3354388"/>
          <a:ext cx="381000" cy="412750"/>
        </p:xfrm>
        <a:graphic>
          <a:graphicData uri="http://schemas.openxmlformats.org/presentationml/2006/ole">
            <mc:AlternateContent xmlns:mc="http://schemas.openxmlformats.org/markup-compatibility/2006">
              <mc:Choice xmlns:v="urn:schemas-microsoft-com:vml" Requires="v">
                <p:oleObj name="公式" r:id="rId15" imgW="352523" imgH="390420" progId="Equation.3">
                  <p:embed/>
                </p:oleObj>
              </mc:Choice>
              <mc:Fallback>
                <p:oleObj name="公式" r:id="rId15" imgW="352523" imgH="39042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75350" y="3354388"/>
                        <a:ext cx="381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8" name="Object 50"/>
          <p:cNvGraphicFramePr>
            <a:graphicFrameLocks noChangeAspect="1"/>
          </p:cNvGraphicFramePr>
          <p:nvPr/>
        </p:nvGraphicFramePr>
        <p:xfrm>
          <a:off x="8788400" y="3346450"/>
          <a:ext cx="393700" cy="427038"/>
        </p:xfrm>
        <a:graphic>
          <a:graphicData uri="http://schemas.openxmlformats.org/presentationml/2006/ole">
            <mc:AlternateContent xmlns:mc="http://schemas.openxmlformats.org/markup-compatibility/2006">
              <mc:Choice xmlns:v="urn:schemas-microsoft-com:vml" Requires="v">
                <p:oleObj name="公式" r:id="rId17" imgW="361978" imgH="400140" progId="Equation.3">
                  <p:embed/>
                </p:oleObj>
              </mc:Choice>
              <mc:Fallback>
                <p:oleObj name="公式" r:id="rId17" imgW="361978" imgH="4001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88400" y="3346450"/>
                        <a:ext cx="3937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099" name="Object 51"/>
          <p:cNvGraphicFramePr>
            <a:graphicFrameLocks noChangeAspect="1"/>
          </p:cNvGraphicFramePr>
          <p:nvPr/>
        </p:nvGraphicFramePr>
        <p:xfrm>
          <a:off x="4629150" y="4249738"/>
          <a:ext cx="393700" cy="412750"/>
        </p:xfrm>
        <a:graphic>
          <a:graphicData uri="http://schemas.openxmlformats.org/presentationml/2006/ole">
            <mc:AlternateContent xmlns:mc="http://schemas.openxmlformats.org/markup-compatibility/2006">
              <mc:Choice xmlns:v="urn:schemas-microsoft-com:vml" Requires="v">
                <p:oleObj name="公式" r:id="rId19" imgW="361978" imgH="390420" progId="Equation.3">
                  <p:embed/>
                </p:oleObj>
              </mc:Choice>
              <mc:Fallback>
                <p:oleObj name="公式" r:id="rId19" imgW="361978" imgH="39042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29150" y="4249738"/>
                        <a:ext cx="393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100" name="Object 52"/>
          <p:cNvGraphicFramePr>
            <a:graphicFrameLocks noChangeAspect="1"/>
          </p:cNvGraphicFramePr>
          <p:nvPr/>
        </p:nvGraphicFramePr>
        <p:xfrm>
          <a:off x="4552950" y="5849939"/>
          <a:ext cx="393700" cy="427037"/>
        </p:xfrm>
        <a:graphic>
          <a:graphicData uri="http://schemas.openxmlformats.org/presentationml/2006/ole">
            <mc:AlternateContent xmlns:mc="http://schemas.openxmlformats.org/markup-compatibility/2006">
              <mc:Choice xmlns:v="urn:schemas-microsoft-com:vml" Requires="v">
                <p:oleObj name="公式" r:id="rId21" imgW="361978" imgH="400140" progId="Equation.3">
                  <p:embed/>
                </p:oleObj>
              </mc:Choice>
              <mc:Fallback>
                <p:oleObj name="公式" r:id="rId21" imgW="361978" imgH="4001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52950" y="5849939"/>
                        <a:ext cx="3937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101" name="Object 53"/>
          <p:cNvGraphicFramePr>
            <a:graphicFrameLocks noChangeAspect="1"/>
          </p:cNvGraphicFramePr>
          <p:nvPr/>
        </p:nvGraphicFramePr>
        <p:xfrm>
          <a:off x="5924550" y="5849939"/>
          <a:ext cx="419100" cy="427037"/>
        </p:xfrm>
        <a:graphic>
          <a:graphicData uri="http://schemas.openxmlformats.org/presentationml/2006/ole">
            <mc:AlternateContent xmlns:mc="http://schemas.openxmlformats.org/markup-compatibility/2006">
              <mc:Choice xmlns:v="urn:schemas-microsoft-com:vml" Requires="v">
                <p:oleObj name="公式" r:id="rId23" imgW="390612" imgH="400140" progId="Equation.3">
                  <p:embed/>
                </p:oleObj>
              </mc:Choice>
              <mc:Fallback>
                <p:oleObj name="公式" r:id="rId23" imgW="390612" imgH="40014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24550" y="5849939"/>
                        <a:ext cx="4191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8102" name="Object 54"/>
          <p:cNvGraphicFramePr>
            <a:graphicFrameLocks noChangeAspect="1"/>
          </p:cNvGraphicFramePr>
          <p:nvPr/>
        </p:nvGraphicFramePr>
        <p:xfrm>
          <a:off x="8731250" y="4243388"/>
          <a:ext cx="419100" cy="425450"/>
        </p:xfrm>
        <a:graphic>
          <a:graphicData uri="http://schemas.openxmlformats.org/presentationml/2006/ole">
            <mc:AlternateContent xmlns:mc="http://schemas.openxmlformats.org/markup-compatibility/2006">
              <mc:Choice xmlns:v="urn:schemas-microsoft-com:vml" Requires="v">
                <p:oleObj name="公式" r:id="rId25" imgW="390612" imgH="400140" progId="Equation.3">
                  <p:embed/>
                </p:oleObj>
              </mc:Choice>
              <mc:Fallback>
                <p:oleObj name="公式" r:id="rId25" imgW="390612" imgH="40014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731250" y="4243388"/>
                        <a:ext cx="4191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8103" name="Rectangle 55"/>
          <p:cNvSpPr>
            <a:spLocks noChangeArrowheads="1"/>
          </p:cNvSpPr>
          <p:nvPr/>
        </p:nvSpPr>
        <p:spPr bwMode="auto">
          <a:xfrm>
            <a:off x="2424114" y="2276475"/>
            <a:ext cx="712787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FC3F04"/>
              </a:solidFill>
            </a:endParaRPr>
          </a:p>
        </p:txBody>
      </p:sp>
      <p:sp>
        <p:nvSpPr>
          <p:cNvPr id="44088" name="Rectangle 58"/>
          <p:cNvSpPr>
            <a:spLocks noGrp="1" noChangeArrowheads="1"/>
          </p:cNvSpPr>
          <p:nvPr>
            <p:ph type="title"/>
          </p:nvPr>
        </p:nvSpPr>
        <p:spPr>
          <a:xfrm>
            <a:off x="1774825" y="549275"/>
            <a:ext cx="8642350" cy="1371600"/>
          </a:xfrm>
        </p:spPr>
        <p:txBody>
          <a:bodyPr/>
          <a:lstStyle/>
          <a:p>
            <a:pPr algn="ctr" eaLnBrk="1" hangingPunct="1"/>
            <a:r>
              <a:rPr lang="en-US" altLang="zh-CN" sz="4000" dirty="0">
                <a:solidFill>
                  <a:srgbClr val="057939"/>
                </a:solidFill>
                <a:latin typeface="黑体" pitchFamily="2" charset="-122"/>
                <a:ea typeface="黑体" pitchFamily="2" charset="-122"/>
              </a:rPr>
              <a:t> </a:t>
            </a:r>
            <a:r>
              <a:rPr lang="zh-CN" altLang="en-US" sz="4000" dirty="0">
                <a:solidFill>
                  <a:srgbClr val="057939"/>
                </a:solidFill>
                <a:latin typeface="黑体" pitchFamily="2" charset="-122"/>
                <a:ea typeface="黑体" pitchFamily="2" charset="-122"/>
              </a:rPr>
              <a:t>至此，我们已经可以根据所选择的距离构成样本点间的距离表</a:t>
            </a:r>
          </a:p>
        </p:txBody>
      </p:sp>
      <p:sp>
        <p:nvSpPr>
          <p:cNvPr id="2" name="灯片编号占位符 1">
            <a:extLst>
              <a:ext uri="{FF2B5EF4-FFF2-40B4-BE49-F238E27FC236}">
                <a16:creationId xmlns:a16="http://schemas.microsoft.com/office/drawing/2014/main" id="{88DE2184-1BB2-B5A4-0A8B-69965D56D756}"/>
              </a:ext>
            </a:extLst>
          </p:cNvPr>
          <p:cNvSpPr>
            <a:spLocks noGrp="1"/>
          </p:cNvSpPr>
          <p:nvPr>
            <p:ph type="sldNum" sz="quarter" idx="11"/>
          </p:nvPr>
        </p:nvSpPr>
        <p:spPr/>
        <p:txBody>
          <a:bodyPr/>
          <a:lstStyle/>
          <a:p>
            <a:pPr>
              <a:defRPr/>
            </a:pPr>
            <a:fld id="{2F44A83F-C644-4D2F-BA00-DBFF3DBED7EA}" type="slidenum">
              <a:rPr lang="en-US" altLang="zh-CN" smtClean="0"/>
              <a:pPr>
                <a:defRPr/>
              </a:pPr>
              <a:t>53</a:t>
            </a:fld>
            <a:endParaRPr lang="en-US" altLang="zh-CN"/>
          </a:p>
        </p:txBody>
      </p:sp>
    </p:spTree>
    <p:extLst>
      <p:ext uri="{BB962C8B-B14F-4D97-AF65-F5344CB8AC3E}">
        <p14:creationId xmlns:p14="http://schemas.microsoft.com/office/powerpoint/2010/main" val="257670399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258103"/>
                                        </p:tgtEl>
                                        <p:attrNameLst>
                                          <p:attrName>style.visibility</p:attrName>
                                        </p:attrNameLst>
                                      </p:cBhvr>
                                      <p:to>
                                        <p:strVal val="visible"/>
                                      </p:to>
                                    </p:set>
                                    <p:animEffect transition="in" filter="blinds(horizontal)">
                                      <p:cBhvr>
                                        <p:cTn id="7" dur="500"/>
                                        <p:tgtEl>
                                          <p:spTgt spid="2581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8050"/>
                                        </p:tgtEl>
                                        <p:attrNameLst>
                                          <p:attrName>style.visibility</p:attrName>
                                        </p:attrNameLst>
                                      </p:cBhvr>
                                      <p:to>
                                        <p:strVal val="visible"/>
                                      </p:to>
                                    </p:set>
                                    <p:animEffect transition="in" filter="blinds(horizontal)">
                                      <p:cBhvr>
                                        <p:cTn id="12" dur="500"/>
                                        <p:tgtEl>
                                          <p:spTgt spid="258050"/>
                                        </p:tgtEl>
                                      </p:cBhvr>
                                    </p:animEffect>
                                  </p:childTnLst>
                                </p:cTn>
                              </p:par>
                              <p:par>
                                <p:cTn id="13" presetID="3" presetClass="entr" presetSubtype="10" fill="hold" nodeType="withEffect">
                                  <p:stCondLst>
                                    <p:cond delay="0"/>
                                  </p:stCondLst>
                                  <p:childTnLst>
                                    <p:set>
                                      <p:cBhvr>
                                        <p:cTn id="14" dur="1" fill="hold">
                                          <p:stCondLst>
                                            <p:cond delay="0"/>
                                          </p:stCondLst>
                                        </p:cTn>
                                        <p:tgtEl>
                                          <p:spTgt spid="258101"/>
                                        </p:tgtEl>
                                        <p:attrNameLst>
                                          <p:attrName>style.visibility</p:attrName>
                                        </p:attrNameLst>
                                      </p:cBhvr>
                                      <p:to>
                                        <p:strVal val="visible"/>
                                      </p:to>
                                    </p:set>
                                    <p:animEffect transition="in" filter="blinds(horizontal)">
                                      <p:cBhvr>
                                        <p:cTn id="15" dur="500"/>
                                        <p:tgtEl>
                                          <p:spTgt spid="258101"/>
                                        </p:tgtEl>
                                      </p:cBhvr>
                                    </p:animEffect>
                                  </p:childTnLst>
                                </p:cTn>
                              </p:par>
                              <p:par>
                                <p:cTn id="16" presetID="3" presetClass="entr" presetSubtype="10" fill="hold" nodeType="withEffect">
                                  <p:stCondLst>
                                    <p:cond delay="0"/>
                                  </p:stCondLst>
                                  <p:childTnLst>
                                    <p:set>
                                      <p:cBhvr>
                                        <p:cTn id="17" dur="1" fill="hold">
                                          <p:stCondLst>
                                            <p:cond delay="0"/>
                                          </p:stCondLst>
                                        </p:cTn>
                                        <p:tgtEl>
                                          <p:spTgt spid="258100"/>
                                        </p:tgtEl>
                                        <p:attrNameLst>
                                          <p:attrName>style.visibility</p:attrName>
                                        </p:attrNameLst>
                                      </p:cBhvr>
                                      <p:to>
                                        <p:strVal val="visible"/>
                                      </p:to>
                                    </p:set>
                                    <p:animEffect transition="in" filter="blinds(horizontal)">
                                      <p:cBhvr>
                                        <p:cTn id="18" dur="500"/>
                                        <p:tgtEl>
                                          <p:spTgt spid="258100"/>
                                        </p:tgtEl>
                                      </p:cBhvr>
                                    </p:animEffect>
                                  </p:childTnLst>
                                </p:cTn>
                              </p:par>
                              <p:par>
                                <p:cTn id="19" presetID="3" presetClass="entr" presetSubtype="10" fill="hold" nodeType="withEffect">
                                  <p:stCondLst>
                                    <p:cond delay="0"/>
                                  </p:stCondLst>
                                  <p:childTnLst>
                                    <p:set>
                                      <p:cBhvr>
                                        <p:cTn id="20" dur="1" fill="hold">
                                          <p:stCondLst>
                                            <p:cond delay="0"/>
                                          </p:stCondLst>
                                        </p:cTn>
                                        <p:tgtEl>
                                          <p:spTgt spid="258096"/>
                                        </p:tgtEl>
                                        <p:attrNameLst>
                                          <p:attrName>style.visibility</p:attrName>
                                        </p:attrNameLst>
                                      </p:cBhvr>
                                      <p:to>
                                        <p:strVal val="visible"/>
                                      </p:to>
                                    </p:set>
                                    <p:animEffect transition="in" filter="blinds(horizontal)">
                                      <p:cBhvr>
                                        <p:cTn id="21" dur="500"/>
                                        <p:tgtEl>
                                          <p:spTgt spid="258096"/>
                                        </p:tgtEl>
                                      </p:cBhvr>
                                    </p:animEffect>
                                  </p:childTnLst>
                                </p:cTn>
                              </p:par>
                              <p:par>
                                <p:cTn id="22" presetID="3" presetClass="entr" presetSubtype="10" fill="hold" nodeType="withEffect">
                                  <p:stCondLst>
                                    <p:cond delay="0"/>
                                  </p:stCondLst>
                                  <p:childTnLst>
                                    <p:set>
                                      <p:cBhvr>
                                        <p:cTn id="23" dur="1" fill="hold">
                                          <p:stCondLst>
                                            <p:cond delay="0"/>
                                          </p:stCondLst>
                                        </p:cTn>
                                        <p:tgtEl>
                                          <p:spTgt spid="258095"/>
                                        </p:tgtEl>
                                        <p:attrNameLst>
                                          <p:attrName>style.visibility</p:attrName>
                                        </p:attrNameLst>
                                      </p:cBhvr>
                                      <p:to>
                                        <p:strVal val="visible"/>
                                      </p:to>
                                    </p:set>
                                    <p:animEffect transition="in" filter="blinds(horizontal)">
                                      <p:cBhvr>
                                        <p:cTn id="24" dur="500"/>
                                        <p:tgtEl>
                                          <p:spTgt spid="258095"/>
                                        </p:tgtEl>
                                      </p:cBhvr>
                                    </p:animEffect>
                                  </p:childTnLst>
                                </p:cTn>
                              </p:par>
                              <p:par>
                                <p:cTn id="25" presetID="3" presetClass="entr" presetSubtype="10" fill="hold" nodeType="withEffect">
                                  <p:stCondLst>
                                    <p:cond delay="0"/>
                                  </p:stCondLst>
                                  <p:childTnLst>
                                    <p:set>
                                      <p:cBhvr>
                                        <p:cTn id="26" dur="1" fill="hold">
                                          <p:stCondLst>
                                            <p:cond delay="0"/>
                                          </p:stCondLst>
                                        </p:cTn>
                                        <p:tgtEl>
                                          <p:spTgt spid="258094"/>
                                        </p:tgtEl>
                                        <p:attrNameLst>
                                          <p:attrName>style.visibility</p:attrName>
                                        </p:attrNameLst>
                                      </p:cBhvr>
                                      <p:to>
                                        <p:strVal val="visible"/>
                                      </p:to>
                                    </p:set>
                                    <p:animEffect transition="in" filter="blinds(horizontal)">
                                      <p:cBhvr>
                                        <p:cTn id="27" dur="500"/>
                                        <p:tgtEl>
                                          <p:spTgt spid="258094"/>
                                        </p:tgtEl>
                                      </p:cBhvr>
                                    </p:animEffect>
                                  </p:childTnLst>
                                </p:cTn>
                              </p:par>
                              <p:par>
                                <p:cTn id="28" presetID="3" presetClass="entr" presetSubtype="10" fill="hold" nodeType="withEffect">
                                  <p:stCondLst>
                                    <p:cond delay="0"/>
                                  </p:stCondLst>
                                  <p:childTnLst>
                                    <p:set>
                                      <p:cBhvr>
                                        <p:cTn id="29" dur="1" fill="hold">
                                          <p:stCondLst>
                                            <p:cond delay="0"/>
                                          </p:stCondLst>
                                        </p:cTn>
                                        <p:tgtEl>
                                          <p:spTgt spid="258090"/>
                                        </p:tgtEl>
                                        <p:attrNameLst>
                                          <p:attrName>style.visibility</p:attrName>
                                        </p:attrNameLst>
                                      </p:cBhvr>
                                      <p:to>
                                        <p:strVal val="visible"/>
                                      </p:to>
                                    </p:set>
                                    <p:animEffect transition="in" filter="blinds(horizontal)">
                                      <p:cBhvr>
                                        <p:cTn id="30" dur="500"/>
                                        <p:tgtEl>
                                          <p:spTgt spid="258090"/>
                                        </p:tgtEl>
                                      </p:cBhvr>
                                    </p:animEffect>
                                  </p:childTnLst>
                                </p:cTn>
                              </p:par>
                              <p:par>
                                <p:cTn id="31" presetID="3" presetClass="entr" presetSubtype="10" fill="hold" nodeType="withEffect">
                                  <p:stCondLst>
                                    <p:cond delay="0"/>
                                  </p:stCondLst>
                                  <p:childTnLst>
                                    <p:set>
                                      <p:cBhvr>
                                        <p:cTn id="32" dur="1" fill="hold">
                                          <p:stCondLst>
                                            <p:cond delay="0"/>
                                          </p:stCondLst>
                                        </p:cTn>
                                        <p:tgtEl>
                                          <p:spTgt spid="258089"/>
                                        </p:tgtEl>
                                        <p:attrNameLst>
                                          <p:attrName>style.visibility</p:attrName>
                                        </p:attrNameLst>
                                      </p:cBhvr>
                                      <p:to>
                                        <p:strVal val="visible"/>
                                      </p:to>
                                    </p:set>
                                    <p:animEffect transition="in" filter="blinds(horizontal)">
                                      <p:cBhvr>
                                        <p:cTn id="33" dur="500"/>
                                        <p:tgtEl>
                                          <p:spTgt spid="258089"/>
                                        </p:tgtEl>
                                      </p:cBhvr>
                                    </p:animEffect>
                                  </p:childTnLst>
                                </p:cTn>
                              </p:par>
                              <p:par>
                                <p:cTn id="34" presetID="3" presetClass="entr" presetSubtype="10" fill="hold" nodeType="withEffect">
                                  <p:stCondLst>
                                    <p:cond delay="0"/>
                                  </p:stCondLst>
                                  <p:childTnLst>
                                    <p:set>
                                      <p:cBhvr>
                                        <p:cTn id="35" dur="1" fill="hold">
                                          <p:stCondLst>
                                            <p:cond delay="0"/>
                                          </p:stCondLst>
                                        </p:cTn>
                                        <p:tgtEl>
                                          <p:spTgt spid="258091"/>
                                        </p:tgtEl>
                                        <p:attrNameLst>
                                          <p:attrName>style.visibility</p:attrName>
                                        </p:attrNameLst>
                                      </p:cBhvr>
                                      <p:to>
                                        <p:strVal val="visible"/>
                                      </p:to>
                                    </p:set>
                                    <p:animEffect transition="in" filter="blinds(horizontal)">
                                      <p:cBhvr>
                                        <p:cTn id="36" dur="500"/>
                                        <p:tgtEl>
                                          <p:spTgt spid="258091"/>
                                        </p:tgtEl>
                                      </p:cBhvr>
                                    </p:animEffect>
                                  </p:childTnLst>
                                </p:cTn>
                              </p:par>
                              <p:par>
                                <p:cTn id="37" presetID="3" presetClass="entr" presetSubtype="10" fill="hold" nodeType="withEffect">
                                  <p:stCondLst>
                                    <p:cond delay="0"/>
                                  </p:stCondLst>
                                  <p:childTnLst>
                                    <p:set>
                                      <p:cBhvr>
                                        <p:cTn id="38" dur="1" fill="hold">
                                          <p:stCondLst>
                                            <p:cond delay="0"/>
                                          </p:stCondLst>
                                        </p:cTn>
                                        <p:tgtEl>
                                          <p:spTgt spid="258092"/>
                                        </p:tgtEl>
                                        <p:attrNameLst>
                                          <p:attrName>style.visibility</p:attrName>
                                        </p:attrNameLst>
                                      </p:cBhvr>
                                      <p:to>
                                        <p:strVal val="visible"/>
                                      </p:to>
                                    </p:set>
                                    <p:animEffect transition="in" filter="blinds(horizontal)">
                                      <p:cBhvr>
                                        <p:cTn id="39" dur="500"/>
                                        <p:tgtEl>
                                          <p:spTgt spid="258092"/>
                                        </p:tgtEl>
                                      </p:cBhvr>
                                    </p:animEffect>
                                  </p:childTnLst>
                                </p:cTn>
                              </p:par>
                              <p:par>
                                <p:cTn id="40" presetID="3" presetClass="entr" presetSubtype="10" fill="hold" nodeType="withEffect">
                                  <p:stCondLst>
                                    <p:cond delay="0"/>
                                  </p:stCondLst>
                                  <p:childTnLst>
                                    <p:set>
                                      <p:cBhvr>
                                        <p:cTn id="41" dur="1" fill="hold">
                                          <p:stCondLst>
                                            <p:cond delay="0"/>
                                          </p:stCondLst>
                                        </p:cTn>
                                        <p:tgtEl>
                                          <p:spTgt spid="258093"/>
                                        </p:tgtEl>
                                        <p:attrNameLst>
                                          <p:attrName>style.visibility</p:attrName>
                                        </p:attrNameLst>
                                      </p:cBhvr>
                                      <p:to>
                                        <p:strVal val="visible"/>
                                      </p:to>
                                    </p:set>
                                    <p:animEffect transition="in" filter="blinds(horizontal)">
                                      <p:cBhvr>
                                        <p:cTn id="42" dur="500"/>
                                        <p:tgtEl>
                                          <p:spTgt spid="258093"/>
                                        </p:tgtEl>
                                      </p:cBhvr>
                                    </p:animEffect>
                                  </p:childTnLst>
                                </p:cTn>
                              </p:par>
                              <p:par>
                                <p:cTn id="43" presetID="3" presetClass="entr" presetSubtype="10" fill="hold" nodeType="withEffect">
                                  <p:stCondLst>
                                    <p:cond delay="0"/>
                                  </p:stCondLst>
                                  <p:childTnLst>
                                    <p:set>
                                      <p:cBhvr>
                                        <p:cTn id="44" dur="1" fill="hold">
                                          <p:stCondLst>
                                            <p:cond delay="0"/>
                                          </p:stCondLst>
                                        </p:cTn>
                                        <p:tgtEl>
                                          <p:spTgt spid="258098"/>
                                        </p:tgtEl>
                                        <p:attrNameLst>
                                          <p:attrName>style.visibility</p:attrName>
                                        </p:attrNameLst>
                                      </p:cBhvr>
                                      <p:to>
                                        <p:strVal val="visible"/>
                                      </p:to>
                                    </p:set>
                                    <p:animEffect transition="in" filter="blinds(horizontal)">
                                      <p:cBhvr>
                                        <p:cTn id="45" dur="500"/>
                                        <p:tgtEl>
                                          <p:spTgt spid="258098"/>
                                        </p:tgtEl>
                                      </p:cBhvr>
                                    </p:animEffect>
                                  </p:childTnLst>
                                </p:cTn>
                              </p:par>
                              <p:par>
                                <p:cTn id="46" presetID="3" presetClass="entr" presetSubtype="10" fill="hold" nodeType="withEffect">
                                  <p:stCondLst>
                                    <p:cond delay="0"/>
                                  </p:stCondLst>
                                  <p:childTnLst>
                                    <p:set>
                                      <p:cBhvr>
                                        <p:cTn id="47" dur="1" fill="hold">
                                          <p:stCondLst>
                                            <p:cond delay="0"/>
                                          </p:stCondLst>
                                        </p:cTn>
                                        <p:tgtEl>
                                          <p:spTgt spid="258102"/>
                                        </p:tgtEl>
                                        <p:attrNameLst>
                                          <p:attrName>style.visibility</p:attrName>
                                        </p:attrNameLst>
                                      </p:cBhvr>
                                      <p:to>
                                        <p:strVal val="visible"/>
                                      </p:to>
                                    </p:set>
                                    <p:animEffect transition="in" filter="blinds(horizontal)">
                                      <p:cBhvr>
                                        <p:cTn id="48" dur="500"/>
                                        <p:tgtEl>
                                          <p:spTgt spid="258102"/>
                                        </p:tgtEl>
                                      </p:cBhvr>
                                    </p:animEffect>
                                  </p:childTnLst>
                                </p:cTn>
                              </p:par>
                              <p:par>
                                <p:cTn id="49" presetID="3" presetClass="entr" presetSubtype="10" fill="hold" nodeType="withEffect">
                                  <p:stCondLst>
                                    <p:cond delay="0"/>
                                  </p:stCondLst>
                                  <p:childTnLst>
                                    <p:set>
                                      <p:cBhvr>
                                        <p:cTn id="50" dur="1" fill="hold">
                                          <p:stCondLst>
                                            <p:cond delay="0"/>
                                          </p:stCondLst>
                                        </p:cTn>
                                        <p:tgtEl>
                                          <p:spTgt spid="258099"/>
                                        </p:tgtEl>
                                        <p:attrNameLst>
                                          <p:attrName>style.visibility</p:attrName>
                                        </p:attrNameLst>
                                      </p:cBhvr>
                                      <p:to>
                                        <p:strVal val="visible"/>
                                      </p:to>
                                    </p:set>
                                    <p:animEffect transition="in" filter="blinds(horizontal)">
                                      <p:cBhvr>
                                        <p:cTn id="51" dur="500"/>
                                        <p:tgtEl>
                                          <p:spTgt spid="258099"/>
                                        </p:tgtEl>
                                      </p:cBhvr>
                                    </p:animEffect>
                                  </p:childTnLst>
                                </p:cTn>
                              </p:par>
                              <p:par>
                                <p:cTn id="52" presetID="3" presetClass="entr" presetSubtype="10" fill="hold" nodeType="withEffect">
                                  <p:stCondLst>
                                    <p:cond delay="0"/>
                                  </p:stCondLst>
                                  <p:childTnLst>
                                    <p:set>
                                      <p:cBhvr>
                                        <p:cTn id="53" dur="1" fill="hold">
                                          <p:stCondLst>
                                            <p:cond delay="0"/>
                                          </p:stCondLst>
                                        </p:cTn>
                                        <p:tgtEl>
                                          <p:spTgt spid="258097"/>
                                        </p:tgtEl>
                                        <p:attrNameLst>
                                          <p:attrName>style.visibility</p:attrName>
                                        </p:attrNameLst>
                                      </p:cBhvr>
                                      <p:to>
                                        <p:strVal val="visible"/>
                                      </p:to>
                                    </p:set>
                                    <p:animEffect transition="in" filter="blinds(horizontal)">
                                      <p:cBhvr>
                                        <p:cTn id="54" dur="500"/>
                                        <p:tgtEl>
                                          <p:spTgt spid="2580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103"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346" name="Rectangle 2"/>
          <p:cNvSpPr>
            <a:spLocks noGrp="1" noChangeArrowheads="1"/>
          </p:cNvSpPr>
          <p:nvPr>
            <p:ph type="title" idx="4294967295"/>
          </p:nvPr>
        </p:nvSpPr>
        <p:spPr>
          <a:xfrm>
            <a:off x="2062830" y="1724274"/>
            <a:ext cx="8229600" cy="939552"/>
          </a:xfrm>
          <a:noFill/>
          <a:ln/>
        </p:spPr>
        <p:txBody>
          <a:bodyPr/>
          <a:lstStyle/>
          <a:p>
            <a:pPr algn="l">
              <a:buClr>
                <a:srgbClr val="FF0066"/>
              </a:buClr>
              <a:buFont typeface="Wingdings" panose="05000000000000000000" pitchFamily="2" charset="2"/>
              <a:buChar char="Ø"/>
            </a:pPr>
            <a:r>
              <a:rPr lang="zh-CN" altLang="en-US" sz="3200" b="1" dirty="0">
                <a:latin typeface="仿宋_GB2312" pitchFamily="49" charset="-122"/>
                <a:ea typeface="仿宋_GB2312" pitchFamily="49" charset="-122"/>
              </a:rPr>
              <a:t>将</a:t>
            </a:r>
            <a:r>
              <a:rPr lang="en-US" altLang="zh-CN" sz="3200" b="1" i="1" dirty="0">
                <a:latin typeface="Times New Roman" panose="02020603050405020304" pitchFamily="18" charset="0"/>
                <a:ea typeface="仿宋_GB2312" pitchFamily="49" charset="-122"/>
                <a:cs typeface="Times New Roman" panose="02020603050405020304" pitchFamily="18" charset="0"/>
              </a:rPr>
              <a:t>n</a:t>
            </a:r>
            <a:r>
              <a:rPr lang="zh-CN" altLang="en-US" sz="3200" b="1" dirty="0">
                <a:latin typeface="仿宋_GB2312" pitchFamily="49" charset="-122"/>
                <a:ea typeface="仿宋_GB2312" pitchFamily="49" charset="-122"/>
              </a:rPr>
              <a:t>个样本各作为一类</a:t>
            </a:r>
          </a:p>
        </p:txBody>
      </p:sp>
      <p:sp>
        <p:nvSpPr>
          <p:cNvPr id="185348" name="Rectangle 4"/>
          <p:cNvSpPr>
            <a:spLocks noChangeArrowheads="1"/>
          </p:cNvSpPr>
          <p:nvPr/>
        </p:nvSpPr>
        <p:spPr bwMode="auto">
          <a:xfrm>
            <a:off x="1867398" y="476672"/>
            <a:ext cx="8569325"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ctr">
              <a:lnSpc>
                <a:spcPct val="140000"/>
              </a:lnSpc>
              <a:buClr>
                <a:srgbClr val="FF0066"/>
              </a:buClr>
              <a:buFont typeface="Wingdings" panose="05000000000000000000" pitchFamily="2" charset="2"/>
              <a:buNone/>
            </a:pPr>
            <a:r>
              <a:rPr lang="zh-CN" altLang="en-US" dirty="0">
                <a:solidFill>
                  <a:srgbClr val="008000"/>
                </a:solidFill>
                <a:latin typeface="黑体" panose="02010609060101010101" pitchFamily="49" charset="-122"/>
                <a:ea typeface="黑体" panose="02010609060101010101" pitchFamily="49" charset="-122"/>
              </a:rPr>
              <a:t>系统聚类法的步骤 </a:t>
            </a:r>
          </a:p>
        </p:txBody>
      </p:sp>
      <p:sp>
        <p:nvSpPr>
          <p:cNvPr id="185349" name="Rectangle 5"/>
          <p:cNvSpPr>
            <a:spLocks noChangeArrowheads="1"/>
          </p:cNvSpPr>
          <p:nvPr/>
        </p:nvSpPr>
        <p:spPr bwMode="auto">
          <a:xfrm>
            <a:off x="2040820" y="2492735"/>
            <a:ext cx="8532812" cy="864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buClr>
                <a:srgbClr val="FF0066"/>
              </a:buClr>
              <a:buFont typeface="Wingdings" panose="05000000000000000000" pitchFamily="2" charset="2"/>
              <a:buChar char="Ø"/>
            </a:pPr>
            <a:r>
              <a:rPr lang="zh-CN" altLang="en-US" sz="3200" b="1" dirty="0">
                <a:solidFill>
                  <a:schemeClr val="tx1"/>
                </a:solidFill>
                <a:latin typeface="楷体_GB2312" pitchFamily="49" charset="-122"/>
                <a:ea typeface="楷体_GB2312" pitchFamily="49" charset="-122"/>
              </a:rPr>
              <a:t>计算</a:t>
            </a:r>
            <a:r>
              <a:rPr lang="en-US" altLang="zh-CN" sz="3200" b="1" i="1" dirty="0">
                <a:solidFill>
                  <a:schemeClr val="tx1"/>
                </a:solidFill>
                <a:ea typeface="PMingLiU-ExtB" panose="02020500000000000000" pitchFamily="18" charset="-120"/>
                <a:cs typeface="Times New Roman" panose="02020603050405020304" pitchFamily="18" charset="0"/>
              </a:rPr>
              <a:t>n</a:t>
            </a:r>
            <a:r>
              <a:rPr lang="zh-CN" altLang="en-US" sz="3200" b="1" dirty="0">
                <a:solidFill>
                  <a:schemeClr val="tx1"/>
                </a:solidFill>
                <a:latin typeface="楷体_GB2312" pitchFamily="49" charset="-122"/>
                <a:ea typeface="楷体_GB2312" pitchFamily="49" charset="-122"/>
              </a:rPr>
              <a:t>个样本两两之间的距离，构成距离矩阵</a:t>
            </a:r>
            <a:endParaRPr lang="zh-CN" altLang="en-US" sz="3200" b="1" dirty="0">
              <a:solidFill>
                <a:schemeClr val="tx1"/>
              </a:solidFill>
              <a:ea typeface="黑体" panose="02010609060101010101" pitchFamily="49" charset="-122"/>
            </a:endParaRPr>
          </a:p>
        </p:txBody>
      </p:sp>
      <p:sp>
        <p:nvSpPr>
          <p:cNvPr id="185350" name="Rectangle 6"/>
          <p:cNvSpPr>
            <a:spLocks noChangeArrowheads="1"/>
          </p:cNvSpPr>
          <p:nvPr/>
        </p:nvSpPr>
        <p:spPr bwMode="auto">
          <a:xfrm>
            <a:off x="2040821" y="3212977"/>
            <a:ext cx="7056437"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buClr>
                <a:srgbClr val="FF0066"/>
              </a:buClr>
              <a:buFont typeface="Wingdings" panose="05000000000000000000" pitchFamily="2" charset="2"/>
              <a:buChar char="Ø"/>
            </a:pPr>
            <a:r>
              <a:rPr lang="zh-CN" altLang="en-US" sz="3200" b="1" dirty="0">
                <a:solidFill>
                  <a:schemeClr val="tx1"/>
                </a:solidFill>
                <a:ea typeface="仿宋_GB2312" pitchFamily="49" charset="-122"/>
              </a:rPr>
              <a:t>合并距离最近的两类为一新类</a:t>
            </a:r>
          </a:p>
        </p:txBody>
      </p:sp>
      <p:sp>
        <p:nvSpPr>
          <p:cNvPr id="185351" name="Rectangle 7"/>
          <p:cNvSpPr>
            <a:spLocks noChangeArrowheads="1"/>
          </p:cNvSpPr>
          <p:nvPr/>
        </p:nvSpPr>
        <p:spPr bwMode="auto">
          <a:xfrm>
            <a:off x="2011860" y="4798310"/>
            <a:ext cx="82804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lnSpc>
                <a:spcPct val="135000"/>
              </a:lnSpc>
              <a:buClr>
                <a:srgbClr val="FF0066"/>
              </a:buClr>
              <a:buFont typeface="Wingdings" panose="05000000000000000000" pitchFamily="2" charset="2"/>
              <a:buChar char="Ø"/>
            </a:pPr>
            <a:r>
              <a:rPr lang="zh-CN" altLang="en-US" sz="3200" b="1" dirty="0">
                <a:solidFill>
                  <a:schemeClr val="tx1"/>
                </a:solidFill>
                <a:ea typeface="仿宋_GB2312" pitchFamily="49" charset="-122"/>
              </a:rPr>
              <a:t>计算新类与当前各类的距离。再合并、计算，直至只有一类为止</a:t>
            </a:r>
            <a:br>
              <a:rPr lang="zh-CN" altLang="en-US" sz="3200" b="1" dirty="0">
                <a:solidFill>
                  <a:schemeClr val="tx1"/>
                </a:solidFill>
                <a:ea typeface="仿宋_GB2312" pitchFamily="49" charset="-122"/>
              </a:rPr>
            </a:br>
            <a:endParaRPr lang="zh-CN" altLang="en-US" sz="3200" b="1" dirty="0">
              <a:solidFill>
                <a:schemeClr val="tx1"/>
              </a:solidFill>
              <a:ea typeface="仿宋_GB2312" pitchFamily="49" charset="-122"/>
            </a:endParaRPr>
          </a:p>
        </p:txBody>
      </p:sp>
      <p:sp>
        <p:nvSpPr>
          <p:cNvPr id="185352" name="Rectangle 8"/>
          <p:cNvSpPr>
            <a:spLocks noChangeArrowheads="1"/>
          </p:cNvSpPr>
          <p:nvPr/>
        </p:nvSpPr>
        <p:spPr bwMode="auto">
          <a:xfrm>
            <a:off x="2443660" y="5734936"/>
            <a:ext cx="6913388" cy="86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buClr>
                <a:srgbClr val="FF0066"/>
              </a:buClr>
              <a:buFont typeface="Wingdings" panose="05000000000000000000" pitchFamily="2" charset="2"/>
              <a:buChar char="Ø"/>
            </a:pPr>
            <a:r>
              <a:rPr lang="zh-CN" altLang="en-US" sz="3200" b="1" dirty="0">
                <a:ea typeface="仿宋_GB2312" pitchFamily="49" charset="-122"/>
              </a:rPr>
              <a:t>画聚类图，解释</a:t>
            </a:r>
            <a:br>
              <a:rPr lang="zh-CN" altLang="en-US" dirty="0">
                <a:ea typeface="黑体" panose="02010609060101010101" pitchFamily="49" charset="-122"/>
              </a:rPr>
            </a:br>
            <a:endParaRPr lang="zh-CN" altLang="en-US" dirty="0">
              <a:ea typeface="黑体" panose="02010609060101010101" pitchFamily="49" charset="-122"/>
            </a:endParaRPr>
          </a:p>
        </p:txBody>
      </p:sp>
      <p:sp>
        <p:nvSpPr>
          <p:cNvPr id="2" name="灯片编号占位符 1">
            <a:extLst>
              <a:ext uri="{FF2B5EF4-FFF2-40B4-BE49-F238E27FC236}">
                <a16:creationId xmlns:a16="http://schemas.microsoft.com/office/drawing/2014/main" id="{A92FE7CF-D5DD-A0E8-2ECA-524B0B66225D}"/>
              </a:ext>
            </a:extLst>
          </p:cNvPr>
          <p:cNvSpPr>
            <a:spLocks noGrp="1"/>
          </p:cNvSpPr>
          <p:nvPr>
            <p:ph type="sldNum" sz="quarter" idx="11"/>
          </p:nvPr>
        </p:nvSpPr>
        <p:spPr/>
        <p:txBody>
          <a:bodyPr/>
          <a:lstStyle/>
          <a:p>
            <a:pPr>
              <a:defRPr/>
            </a:pPr>
            <a:fld id="{ED684311-88B0-4A0C-9DE6-0C14036BF0FF}" type="slidenum">
              <a:rPr lang="en-US" altLang="zh-CN" smtClean="0"/>
              <a:pPr>
                <a:defRPr/>
              </a:pPr>
              <a:t>54</a:t>
            </a:fld>
            <a:endParaRPr lang="en-US" altLang="zh-CN"/>
          </a:p>
        </p:txBody>
      </p:sp>
    </p:spTree>
    <p:extLst>
      <p:ext uri="{BB962C8B-B14F-4D97-AF65-F5344CB8AC3E}">
        <p14:creationId xmlns:p14="http://schemas.microsoft.com/office/powerpoint/2010/main" val="1982147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5348">
                                            <p:txEl>
                                              <p:pRg st="0" end="0"/>
                                            </p:txEl>
                                          </p:spTgt>
                                        </p:tgtEl>
                                        <p:attrNameLst>
                                          <p:attrName>style.visibility</p:attrName>
                                        </p:attrNameLst>
                                      </p:cBhvr>
                                      <p:to>
                                        <p:strVal val="visible"/>
                                      </p:to>
                                    </p:set>
                                    <p:animEffect transition="in" filter="blinds(horizontal)">
                                      <p:cBhvr>
                                        <p:cTn id="7" dur="500"/>
                                        <p:tgtEl>
                                          <p:spTgt spid="1853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5346"/>
                                        </p:tgtEl>
                                        <p:attrNameLst>
                                          <p:attrName>style.visibility</p:attrName>
                                        </p:attrNameLst>
                                      </p:cBhvr>
                                      <p:to>
                                        <p:strVal val="visible"/>
                                      </p:to>
                                    </p:set>
                                    <p:animEffect transition="in" filter="blinds(horizontal)">
                                      <p:cBhvr>
                                        <p:cTn id="12" dur="500"/>
                                        <p:tgtEl>
                                          <p:spTgt spid="1853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5349">
                                            <p:txEl>
                                              <p:pRg st="0" end="0"/>
                                            </p:txEl>
                                          </p:spTgt>
                                        </p:tgtEl>
                                        <p:attrNameLst>
                                          <p:attrName>style.visibility</p:attrName>
                                        </p:attrNameLst>
                                      </p:cBhvr>
                                      <p:to>
                                        <p:strVal val="visible"/>
                                      </p:to>
                                    </p:set>
                                    <p:animEffect transition="in" filter="blinds(horizontal)">
                                      <p:cBhvr>
                                        <p:cTn id="17" dur="500"/>
                                        <p:tgtEl>
                                          <p:spTgt spid="18534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5350">
                                            <p:txEl>
                                              <p:pRg st="0" end="0"/>
                                            </p:txEl>
                                          </p:spTgt>
                                        </p:tgtEl>
                                        <p:attrNameLst>
                                          <p:attrName>style.visibility</p:attrName>
                                        </p:attrNameLst>
                                      </p:cBhvr>
                                      <p:to>
                                        <p:strVal val="visible"/>
                                      </p:to>
                                    </p:set>
                                    <p:animEffect transition="in" filter="blinds(horizontal)">
                                      <p:cBhvr>
                                        <p:cTn id="22" dur="500"/>
                                        <p:tgtEl>
                                          <p:spTgt spid="18535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5351">
                                            <p:txEl>
                                              <p:pRg st="0" end="0"/>
                                            </p:txEl>
                                          </p:spTgt>
                                        </p:tgtEl>
                                        <p:attrNameLst>
                                          <p:attrName>style.visibility</p:attrName>
                                        </p:attrNameLst>
                                      </p:cBhvr>
                                      <p:to>
                                        <p:strVal val="visible"/>
                                      </p:to>
                                    </p:set>
                                    <p:animEffect transition="in" filter="blinds(horizontal)">
                                      <p:cBhvr>
                                        <p:cTn id="27" dur="500"/>
                                        <p:tgtEl>
                                          <p:spTgt spid="18535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85352">
                                            <p:txEl>
                                              <p:pRg st="0" end="0"/>
                                            </p:txEl>
                                          </p:spTgt>
                                        </p:tgtEl>
                                        <p:attrNameLst>
                                          <p:attrName>style.visibility</p:attrName>
                                        </p:attrNameLst>
                                      </p:cBhvr>
                                      <p:to>
                                        <p:strVal val="visible"/>
                                      </p:to>
                                    </p:set>
                                    <p:animEffect transition="in" filter="blinds(horizontal)">
                                      <p:cBhvr>
                                        <p:cTn id="32" dur="500"/>
                                        <p:tgtEl>
                                          <p:spTgt spid="1853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ChangeArrowheads="1"/>
          </p:cNvSpPr>
          <p:nvPr/>
        </p:nvSpPr>
        <p:spPr bwMode="auto">
          <a:xfrm>
            <a:off x="2208214" y="260351"/>
            <a:ext cx="7272337"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ctr">
              <a:buClr>
                <a:srgbClr val="FF0066"/>
              </a:buClr>
              <a:buFont typeface="Wingdings" panose="05000000000000000000" pitchFamily="2" charset="2"/>
              <a:buNone/>
            </a:pPr>
            <a:endParaRPr lang="zh-CN" altLang="en-US" sz="4000" b="1" dirty="0">
              <a:solidFill>
                <a:schemeClr val="tx1"/>
              </a:solidFill>
              <a:effectLst>
                <a:outerShdw blurRad="38100" dist="38100" dir="2700000" algn="tl">
                  <a:srgbClr val="000000"/>
                </a:outerShdw>
              </a:effectLst>
              <a:ea typeface="黑体" panose="02010609060101010101" pitchFamily="49" charset="-122"/>
            </a:endParaRPr>
          </a:p>
        </p:txBody>
      </p:sp>
      <p:sp>
        <p:nvSpPr>
          <p:cNvPr id="2" name="标题 1"/>
          <p:cNvSpPr>
            <a:spLocks noGrp="1"/>
          </p:cNvSpPr>
          <p:nvPr>
            <p:ph type="title"/>
          </p:nvPr>
        </p:nvSpPr>
        <p:spPr>
          <a:xfrm>
            <a:off x="1991544" y="404664"/>
            <a:ext cx="8229600" cy="1371600"/>
          </a:xfrm>
        </p:spPr>
        <p:txBody>
          <a:bodyPr/>
          <a:lstStyle/>
          <a:p>
            <a:pPr algn="ctr"/>
            <a:r>
              <a:rPr lang="en-US" altLang="zh-CN" dirty="0">
                <a:solidFill>
                  <a:srgbClr val="057939"/>
                </a:solidFill>
                <a:ea typeface="黑体" panose="02010609060101010101" pitchFamily="49" charset="-122"/>
              </a:rPr>
              <a:t> </a:t>
            </a:r>
            <a:r>
              <a:rPr lang="zh-CN" altLang="en-US" b="1" dirty="0">
                <a:solidFill>
                  <a:srgbClr val="057939"/>
                </a:solidFill>
                <a:ea typeface="黑体" panose="02010609060101010101" pitchFamily="49" charset="-122"/>
              </a:rPr>
              <a:t>类与类之间的距离</a:t>
            </a:r>
            <a:endParaRPr lang="zh-CN" altLang="en-US" dirty="0"/>
          </a:p>
        </p:txBody>
      </p:sp>
      <p:sp>
        <p:nvSpPr>
          <p:cNvPr id="3" name="内容占位符 2"/>
          <p:cNvSpPr>
            <a:spLocks noGrp="1"/>
          </p:cNvSpPr>
          <p:nvPr>
            <p:ph idx="1"/>
          </p:nvPr>
        </p:nvSpPr>
        <p:spPr>
          <a:xfrm>
            <a:off x="2711625" y="1988839"/>
            <a:ext cx="5976665" cy="4298427"/>
          </a:xfrm>
        </p:spPr>
        <p:txBody>
          <a:bodyPr/>
          <a:lstStyle/>
          <a:p>
            <a:pPr marL="0" indent="0">
              <a:lnSpc>
                <a:spcPct val="150000"/>
              </a:lnSpc>
              <a:buNone/>
            </a:pPr>
            <a:r>
              <a:rPr lang="en-US" altLang="zh-CN" b="1" dirty="0">
                <a:latin typeface="仿宋_GB2312" pitchFamily="49" charset="-122"/>
                <a:ea typeface="仿宋_GB2312" pitchFamily="49" charset="-122"/>
              </a:rPr>
              <a:t>1. </a:t>
            </a:r>
            <a:r>
              <a:rPr lang="zh-CN" altLang="en-US" b="1" dirty="0">
                <a:latin typeface="仿宋_GB2312" pitchFamily="49" charset="-122"/>
                <a:ea typeface="仿宋_GB2312" pitchFamily="49" charset="-122"/>
              </a:rPr>
              <a:t>最短距离法</a:t>
            </a:r>
            <a:endParaRPr lang="en-US" altLang="zh-CN" b="1" dirty="0">
              <a:latin typeface="仿宋_GB2312" pitchFamily="49" charset="-122"/>
              <a:ea typeface="仿宋_GB2312" pitchFamily="49" charset="-122"/>
            </a:endParaRPr>
          </a:p>
          <a:p>
            <a:pPr marL="0" indent="0">
              <a:lnSpc>
                <a:spcPct val="150000"/>
              </a:lnSpc>
              <a:buNone/>
            </a:pPr>
            <a:r>
              <a:rPr lang="en-US" altLang="zh-CN" b="1" dirty="0">
                <a:latin typeface="仿宋_GB2312" pitchFamily="49" charset="-122"/>
                <a:ea typeface="仿宋_GB2312" pitchFamily="49" charset="-122"/>
              </a:rPr>
              <a:t>2. </a:t>
            </a:r>
            <a:r>
              <a:rPr lang="zh-CN" altLang="en-US" b="1" dirty="0">
                <a:latin typeface="仿宋_GB2312" pitchFamily="49" charset="-122"/>
                <a:ea typeface="仿宋_GB2312" pitchFamily="49" charset="-122"/>
              </a:rPr>
              <a:t>最长距离法</a:t>
            </a:r>
            <a:r>
              <a:rPr lang="en-US" altLang="zh-CN" b="1" dirty="0">
                <a:latin typeface="仿宋_GB2312" pitchFamily="49" charset="-122"/>
                <a:ea typeface="仿宋_GB2312" pitchFamily="49" charset="-122"/>
              </a:rPr>
              <a:t> </a:t>
            </a:r>
          </a:p>
          <a:p>
            <a:pPr marL="0" indent="0">
              <a:lnSpc>
                <a:spcPct val="150000"/>
              </a:lnSpc>
              <a:buNone/>
            </a:pPr>
            <a:r>
              <a:rPr lang="en-US" altLang="zh-CN" b="1" dirty="0">
                <a:latin typeface="仿宋_GB2312" pitchFamily="49" charset="-122"/>
                <a:ea typeface="仿宋_GB2312" pitchFamily="49" charset="-122"/>
              </a:rPr>
              <a:t>3. </a:t>
            </a:r>
            <a:r>
              <a:rPr lang="zh-CN" altLang="en-US" b="1" dirty="0">
                <a:latin typeface="仿宋_GB2312" pitchFamily="49" charset="-122"/>
                <a:ea typeface="仿宋_GB2312" pitchFamily="49" charset="-122"/>
              </a:rPr>
              <a:t>中间距离法</a:t>
            </a:r>
            <a:endParaRPr lang="en-US" altLang="zh-CN" b="1" dirty="0">
              <a:latin typeface="仿宋_GB2312" pitchFamily="49" charset="-122"/>
              <a:ea typeface="仿宋_GB2312" pitchFamily="49" charset="-122"/>
            </a:endParaRPr>
          </a:p>
          <a:p>
            <a:pPr marL="0" indent="0">
              <a:lnSpc>
                <a:spcPct val="150000"/>
              </a:lnSpc>
              <a:buNone/>
            </a:pPr>
            <a:r>
              <a:rPr lang="en-US" altLang="zh-CN" b="1" dirty="0">
                <a:latin typeface="仿宋_GB2312" pitchFamily="49" charset="-122"/>
                <a:ea typeface="仿宋_GB2312" pitchFamily="49" charset="-122"/>
              </a:rPr>
              <a:t>4. </a:t>
            </a:r>
            <a:r>
              <a:rPr lang="zh-CN" altLang="en-US" b="1" dirty="0">
                <a:latin typeface="仿宋_GB2312" pitchFamily="49" charset="-122"/>
                <a:ea typeface="仿宋_GB2312" pitchFamily="49" charset="-122"/>
              </a:rPr>
              <a:t>可变法</a:t>
            </a:r>
          </a:p>
          <a:p>
            <a:pPr marL="0" indent="0">
              <a:lnSpc>
                <a:spcPct val="150000"/>
              </a:lnSpc>
              <a:buNone/>
            </a:pPr>
            <a:r>
              <a:rPr lang="en-US" altLang="zh-CN" b="1" dirty="0">
                <a:latin typeface="仿宋_GB2312" pitchFamily="49" charset="-122"/>
                <a:ea typeface="仿宋_GB2312" pitchFamily="49" charset="-122"/>
              </a:rPr>
              <a:t>5. </a:t>
            </a:r>
            <a:r>
              <a:rPr lang="zh-CN" altLang="en-US" b="1" dirty="0">
                <a:latin typeface="仿宋_GB2312" pitchFamily="49" charset="-122"/>
                <a:ea typeface="仿宋_GB2312" pitchFamily="49" charset="-122"/>
              </a:rPr>
              <a:t>重心法</a:t>
            </a:r>
            <a:endParaRPr lang="en-US" altLang="zh-CN" b="1" dirty="0">
              <a:latin typeface="仿宋_GB2312" pitchFamily="49" charset="-122"/>
              <a:ea typeface="仿宋_GB2312" pitchFamily="49" charset="-122"/>
            </a:endParaRPr>
          </a:p>
          <a:p>
            <a:pPr marL="0" indent="0">
              <a:lnSpc>
                <a:spcPct val="110000"/>
              </a:lnSpc>
              <a:buNone/>
            </a:pPr>
            <a:endParaRPr lang="zh-CN" altLang="en-US" dirty="0"/>
          </a:p>
        </p:txBody>
      </p:sp>
      <p:sp>
        <p:nvSpPr>
          <p:cNvPr id="4" name="灯片编号占位符 3">
            <a:extLst>
              <a:ext uri="{FF2B5EF4-FFF2-40B4-BE49-F238E27FC236}">
                <a16:creationId xmlns:a16="http://schemas.microsoft.com/office/drawing/2014/main" id="{DB2A0CBB-0A55-6A48-1CE1-A707655BC47E}"/>
              </a:ext>
            </a:extLst>
          </p:cNvPr>
          <p:cNvSpPr>
            <a:spLocks noGrp="1"/>
          </p:cNvSpPr>
          <p:nvPr>
            <p:ph type="sldNum" sz="quarter" idx="11"/>
          </p:nvPr>
        </p:nvSpPr>
        <p:spPr/>
        <p:txBody>
          <a:bodyPr/>
          <a:lstStyle/>
          <a:p>
            <a:pPr>
              <a:defRPr/>
            </a:pPr>
            <a:fld id="{F13753BC-CAEF-4333-AC48-2805658F6E3F}" type="slidenum">
              <a:rPr lang="en-US" altLang="zh-CN" smtClean="0"/>
              <a:pPr>
                <a:defRPr/>
              </a:pPr>
              <a:t>55</a:t>
            </a:fld>
            <a:endParaRPr lang="en-US" altLang="zh-CN"/>
          </a:p>
        </p:txBody>
      </p:sp>
    </p:spTree>
    <p:extLst>
      <p:ext uri="{BB962C8B-B14F-4D97-AF65-F5344CB8AC3E}">
        <p14:creationId xmlns:p14="http://schemas.microsoft.com/office/powerpoint/2010/main" val="1137305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186371">
                                            <p:txEl>
                                              <p:pRg st="0" end="0"/>
                                            </p:txEl>
                                          </p:spTgt>
                                        </p:tgtEl>
                                        <p:attrNameLst>
                                          <p:attrName>style.visibility</p:attrName>
                                        </p:attrNameLst>
                                      </p:cBhvr>
                                      <p:to>
                                        <p:strVal val="visible"/>
                                      </p:to>
                                    </p:set>
                                    <p:anim calcmode="lin" valueType="num">
                                      <p:cBhvr additive="base">
                                        <p:cTn id="7" dur="500" fill="hold"/>
                                        <p:tgtEl>
                                          <p:spTgt spid="186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637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68264" y="298053"/>
            <a:ext cx="11233248" cy="1243013"/>
          </a:xfrm>
        </p:spPr>
        <p:txBody>
          <a:bodyPr/>
          <a:lstStyle/>
          <a:p>
            <a:pPr eaLnBrk="1" hangingPunct="1"/>
            <a:r>
              <a:rPr lang="en-US" altLang="zh-CN" dirty="0">
                <a:solidFill>
                  <a:srgbClr val="057939"/>
                </a:solidFill>
                <a:latin typeface="黑体" pitchFamily="2" charset="-122"/>
                <a:ea typeface="黑体" pitchFamily="2" charset="-122"/>
              </a:rPr>
              <a:t>  </a:t>
            </a:r>
            <a:r>
              <a:rPr lang="zh-CN" altLang="en-US" dirty="0">
                <a:solidFill>
                  <a:srgbClr val="057939"/>
                </a:solidFill>
                <a:latin typeface="黑体" pitchFamily="2" charset="-122"/>
                <a:ea typeface="黑体" pitchFamily="2" charset="-122"/>
              </a:rPr>
              <a:t>样本数据与小类、小类与小类之间的度量</a:t>
            </a:r>
          </a:p>
        </p:txBody>
      </p:sp>
      <p:sp>
        <p:nvSpPr>
          <p:cNvPr id="259075" name="Rectangle 3"/>
          <p:cNvSpPr>
            <a:spLocks noGrp="1" noChangeArrowheads="1"/>
          </p:cNvSpPr>
          <p:nvPr>
            <p:ph type="body" idx="1"/>
          </p:nvPr>
        </p:nvSpPr>
        <p:spPr>
          <a:xfrm>
            <a:off x="1847850" y="1700808"/>
            <a:ext cx="8153400" cy="609600"/>
          </a:xfrm>
        </p:spPr>
        <p:txBody>
          <a:bodyPr/>
          <a:lstStyle/>
          <a:p>
            <a:pPr eaLnBrk="1" hangingPunct="1">
              <a:lnSpc>
                <a:spcPct val="90000"/>
              </a:lnSpc>
              <a:buFont typeface="Wingdings" pitchFamily="2" charset="2"/>
              <a:buNone/>
            </a:pPr>
            <a:r>
              <a:rPr lang="en-US" altLang="zh-CN" dirty="0">
                <a:solidFill>
                  <a:srgbClr val="EE0006"/>
                </a:solidFill>
                <a:ea typeface="黑体" pitchFamily="2" charset="-122"/>
              </a:rPr>
              <a:t>1 </a:t>
            </a:r>
            <a:r>
              <a:rPr lang="zh-CN" altLang="en-US" dirty="0">
                <a:solidFill>
                  <a:srgbClr val="EE0006"/>
                </a:solidFill>
                <a:ea typeface="黑体" pitchFamily="2" charset="-122"/>
              </a:rPr>
              <a:t>、最短距离（</a:t>
            </a:r>
            <a:r>
              <a:rPr lang="en-US" altLang="zh-CN" dirty="0">
                <a:solidFill>
                  <a:srgbClr val="EE0006"/>
                </a:solidFill>
                <a:ea typeface="黑体" pitchFamily="2" charset="-122"/>
              </a:rPr>
              <a:t>Nearest Neighbor)</a:t>
            </a:r>
          </a:p>
        </p:txBody>
      </p:sp>
      <p:sp>
        <p:nvSpPr>
          <p:cNvPr id="15" name="Text Box 7"/>
          <p:cNvSpPr txBox="1">
            <a:spLocks noChangeArrowheads="1"/>
          </p:cNvSpPr>
          <p:nvPr/>
        </p:nvSpPr>
        <p:spPr bwMode="auto">
          <a:xfrm>
            <a:off x="2782020" y="2276872"/>
            <a:ext cx="5904781"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spcBef>
                <a:spcPct val="50000"/>
              </a:spcBef>
            </a:pPr>
            <a:r>
              <a:rPr lang="zh-CN" altLang="en-US" sz="2800" b="1" dirty="0">
                <a:solidFill>
                  <a:schemeClr val="tx2"/>
                </a:solidFill>
                <a:latin typeface="黑体" panose="02010609060101010101" pitchFamily="49" charset="-122"/>
                <a:ea typeface="楷体_GB2312" pitchFamily="49" charset="-122"/>
              </a:rPr>
              <a:t>类类间</a:t>
            </a:r>
            <a:r>
              <a:rPr lang="zh-CN" altLang="en-US" sz="2800" dirty="0">
                <a:latin typeface="黑体" panose="02010609060101010101" pitchFamily="49" charset="-122"/>
                <a:ea typeface="楷体_GB2312" pitchFamily="49" charset="-122"/>
              </a:rPr>
              <a:t>：</a:t>
            </a:r>
            <a:r>
              <a:rPr lang="zh-CN" altLang="en-US" sz="2800" b="1" dirty="0">
                <a:latin typeface="黑体" panose="02010609060101010101" pitchFamily="49" charset="-122"/>
                <a:ea typeface="楷体_GB2312" pitchFamily="49" charset="-122"/>
              </a:rPr>
              <a:t>两类间两两样品距离最短</a:t>
            </a:r>
            <a:r>
              <a:rPr lang="zh-CN" altLang="en-US" sz="2800" dirty="0">
                <a:latin typeface="黑体" panose="02010609060101010101" pitchFamily="49" charset="-122"/>
                <a:ea typeface="楷体_GB2312" pitchFamily="49" charset="-122"/>
              </a:rPr>
              <a:t> </a:t>
            </a:r>
            <a:endParaRPr lang="zh-CN" altLang="en-US" sz="2800" b="1" dirty="0">
              <a:latin typeface="黑体" panose="02010609060101010101" pitchFamily="49" charset="-122"/>
              <a:ea typeface="楷体_GB2312"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3647729" y="5543974"/>
                <a:ext cx="3982025" cy="7527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𝐷</m:t>
                          </m:r>
                        </m:e>
                        <m:sub>
                          <m:r>
                            <a:rPr lang="zh-CN" altLang="en-US" sz="2800" i="1">
                              <a:latin typeface="Cambria Math" panose="02040503050406030204" pitchFamily="18" charset="0"/>
                            </a:rPr>
                            <m:t>𝑖𝑗</m:t>
                          </m:r>
                        </m:sub>
                      </m:sSub>
                      <m:r>
                        <a:rPr lang="zh-CN" altLang="en-US" sz="2800">
                          <a:latin typeface="Cambria Math" panose="02040503050406030204" pitchFamily="18" charset="0"/>
                        </a:rPr>
                        <m:t>=</m:t>
                      </m:r>
                      <m:limLow>
                        <m:limLowPr>
                          <m:ctrlPr>
                            <a:rPr lang="zh-CN" altLang="en-US" sz="2800" i="1">
                              <a:latin typeface="Cambria Math" panose="02040503050406030204" pitchFamily="18" charset="0"/>
                            </a:rPr>
                          </m:ctrlPr>
                        </m:limLowPr>
                        <m:e>
                          <m:r>
                            <m:rPr>
                              <m:sty m:val="p"/>
                            </m:rPr>
                            <a:rPr lang="zh-CN" altLang="en-US" sz="2800">
                              <a:latin typeface="Cambria Math" panose="02040503050406030204" pitchFamily="18" charset="0"/>
                            </a:rPr>
                            <m:t>min</m:t>
                          </m:r>
                        </m:e>
                        <m:lim>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𝐺</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𝑗</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𝐺</m:t>
                              </m:r>
                            </m:e>
                            <m:sub>
                              <m:r>
                                <a:rPr lang="zh-CN" altLang="en-US" sz="2800" i="1">
                                  <a:latin typeface="Cambria Math" panose="02040503050406030204" pitchFamily="18" charset="0"/>
                                </a:rPr>
                                <m:t>𝑗</m:t>
                              </m:r>
                            </m:sub>
                          </m:sSub>
                        </m:lim>
                      </m:limLow>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𝑑</m:t>
                          </m:r>
                        </m:e>
                        <m:sub>
                          <m:r>
                            <a:rPr lang="zh-CN" altLang="en-US" sz="2800" i="1">
                              <a:latin typeface="Cambria Math" panose="02040503050406030204" pitchFamily="18" charset="0"/>
                            </a:rPr>
                            <m:t>𝑖𝑗</m:t>
                          </m:r>
                        </m:sub>
                      </m:sSub>
                    </m:oMath>
                  </m:oMathPara>
                </a14:m>
                <a:endParaRPr lang="zh-CN"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3647729" y="5543974"/>
                <a:ext cx="3982025" cy="752770"/>
              </a:xfrm>
              <a:prstGeom prst="rect">
                <a:avLst/>
              </a:prstGeom>
              <a:blipFill>
                <a:blip r:embed="rId2"/>
                <a:stretch>
                  <a:fillRect/>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8678BB7E-2FB2-674D-385A-E22D6D6D4FE7}"/>
              </a:ext>
            </a:extLst>
          </p:cNvPr>
          <p:cNvGrpSpPr/>
          <p:nvPr/>
        </p:nvGrpSpPr>
        <p:grpSpPr>
          <a:xfrm>
            <a:off x="3460024" y="3218110"/>
            <a:ext cx="5564915" cy="1971874"/>
            <a:chOff x="1936023" y="3218110"/>
            <a:chExt cx="5564915" cy="1971874"/>
          </a:xfrm>
        </p:grpSpPr>
        <p:sp>
          <p:nvSpPr>
            <p:cNvPr id="45062" name="Oval 5"/>
            <p:cNvSpPr>
              <a:spLocks noChangeArrowheads="1"/>
            </p:cNvSpPr>
            <p:nvPr/>
          </p:nvSpPr>
          <p:spPr bwMode="auto">
            <a:xfrm>
              <a:off x="2286000" y="3437384"/>
              <a:ext cx="1752600" cy="1752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imes New Roman" pitchFamily="18" charset="0"/>
              </a:endParaRPr>
            </a:p>
          </p:txBody>
        </p:sp>
        <p:sp>
          <p:nvSpPr>
            <p:cNvPr id="45063" name="Oval 6"/>
            <p:cNvSpPr>
              <a:spLocks noChangeArrowheads="1"/>
            </p:cNvSpPr>
            <p:nvPr/>
          </p:nvSpPr>
          <p:spPr bwMode="auto">
            <a:xfrm>
              <a:off x="5105400" y="3284984"/>
              <a:ext cx="2057400" cy="1905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4" name="Rectangle 7"/>
            <p:cNvSpPr>
              <a:spLocks noChangeArrowheads="1"/>
            </p:cNvSpPr>
            <p:nvPr/>
          </p:nvSpPr>
          <p:spPr bwMode="auto">
            <a:xfrm>
              <a:off x="5715000" y="3513584"/>
              <a:ext cx="646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21</a:t>
              </a:r>
              <a:r>
                <a:rPr kumimoji="1" lang="en-US" altLang="zh-CN" sz="2400">
                  <a:latin typeface="Times New Roman" pitchFamily="18" charset="0"/>
                  <a:cs typeface="Times New Roman" pitchFamily="18" charset="0"/>
                </a:rPr>
                <a:t>•</a:t>
              </a:r>
            </a:p>
          </p:txBody>
        </p:sp>
        <p:sp>
          <p:nvSpPr>
            <p:cNvPr id="45065" name="Rectangle 8"/>
            <p:cNvSpPr>
              <a:spLocks noChangeArrowheads="1"/>
            </p:cNvSpPr>
            <p:nvPr/>
          </p:nvSpPr>
          <p:spPr bwMode="auto">
            <a:xfrm>
              <a:off x="2438400" y="4123184"/>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12</a:t>
              </a:r>
              <a:r>
                <a:rPr kumimoji="1" lang="en-US" altLang="zh-CN" sz="2400">
                  <a:latin typeface="Times New Roman" pitchFamily="18" charset="0"/>
                  <a:cs typeface="Times New Roman" pitchFamily="18" charset="0"/>
                </a:rPr>
                <a:t>•</a:t>
              </a:r>
            </a:p>
          </p:txBody>
        </p:sp>
        <p:sp>
          <p:nvSpPr>
            <p:cNvPr id="45066" name="Rectangle 9"/>
            <p:cNvSpPr>
              <a:spLocks noChangeArrowheads="1"/>
            </p:cNvSpPr>
            <p:nvPr/>
          </p:nvSpPr>
          <p:spPr bwMode="auto">
            <a:xfrm>
              <a:off x="5181600" y="4046984"/>
              <a:ext cx="646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22</a:t>
              </a:r>
              <a:r>
                <a:rPr kumimoji="1" lang="en-US" altLang="zh-CN" sz="2400">
                  <a:latin typeface="Times New Roman" pitchFamily="18" charset="0"/>
                  <a:cs typeface="Times New Roman" pitchFamily="18" charset="0"/>
                </a:rPr>
                <a:t>•</a:t>
              </a:r>
            </a:p>
          </p:txBody>
        </p:sp>
        <p:sp>
          <p:nvSpPr>
            <p:cNvPr id="45067" name="Rectangle 10"/>
            <p:cNvSpPr>
              <a:spLocks noChangeArrowheads="1"/>
            </p:cNvSpPr>
            <p:nvPr/>
          </p:nvSpPr>
          <p:spPr bwMode="auto">
            <a:xfrm>
              <a:off x="2895600" y="3665984"/>
              <a:ext cx="646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11</a:t>
              </a:r>
              <a:r>
                <a:rPr kumimoji="1" lang="en-US" altLang="zh-CN" sz="2400">
                  <a:latin typeface="Times New Roman" pitchFamily="18" charset="0"/>
                  <a:cs typeface="Times New Roman" pitchFamily="18" charset="0"/>
                </a:rPr>
                <a:t>•</a:t>
              </a:r>
            </a:p>
          </p:txBody>
        </p:sp>
        <p:graphicFrame>
          <p:nvGraphicFramePr>
            <p:cNvPr id="5" name="Object 11">
              <a:extLst>
                <a:ext uri="{FF2B5EF4-FFF2-40B4-BE49-F238E27FC236}">
                  <a16:creationId xmlns:a16="http://schemas.microsoft.com/office/drawing/2014/main" id="{4A30E31C-3DE6-16FD-C314-3ADB12D6081C}"/>
                </a:ext>
              </a:extLst>
            </p:cNvPr>
            <p:cNvGraphicFramePr>
              <a:graphicFrameLocks noChangeAspect="1"/>
            </p:cNvGraphicFramePr>
            <p:nvPr>
              <p:extLst>
                <p:ext uri="{D42A27DB-BD31-4B8C-83A1-F6EECF244321}">
                  <p14:modId xmlns:p14="http://schemas.microsoft.com/office/powerpoint/2010/main" val="92379577"/>
                </p:ext>
              </p:extLst>
            </p:nvPr>
          </p:nvGraphicFramePr>
          <p:xfrm>
            <a:off x="1936023" y="3284984"/>
            <a:ext cx="477838" cy="609921"/>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45068" name="Object 11"/>
                        <p:cNvPicPr>
                          <a:picLocks noChangeAspect="1" noChangeArrowheads="1"/>
                        </p:cNvPicPr>
                        <p:nvPr/>
                      </p:nvPicPr>
                      <p:blipFill>
                        <a:blip r:embed="rId4"/>
                        <a:srcRect/>
                        <a:stretch>
                          <a:fillRect/>
                        </a:stretch>
                      </p:blipFill>
                      <p:spPr bwMode="auto">
                        <a:xfrm>
                          <a:off x="1936023" y="3284984"/>
                          <a:ext cx="477838" cy="609921"/>
                        </a:xfrm>
                        <a:prstGeom prst="rect">
                          <a:avLst/>
                        </a:prstGeom>
                        <a:noFill/>
                        <a:ln>
                          <a:noFill/>
                        </a:ln>
                        <a:effectLst/>
                      </p:spPr>
                    </p:pic>
                  </p:oleObj>
                </mc:Fallback>
              </mc:AlternateContent>
            </a:graphicData>
          </a:graphic>
        </p:graphicFrame>
        <p:graphicFrame>
          <p:nvGraphicFramePr>
            <p:cNvPr id="7" name="Object 11">
              <a:extLst>
                <a:ext uri="{FF2B5EF4-FFF2-40B4-BE49-F238E27FC236}">
                  <a16:creationId xmlns:a16="http://schemas.microsoft.com/office/drawing/2014/main" id="{7600D9C6-8FDC-561F-F1E4-81A8C1036F81}"/>
                </a:ext>
              </a:extLst>
            </p:cNvPr>
            <p:cNvGraphicFramePr>
              <a:graphicFrameLocks noChangeAspect="1"/>
            </p:cNvGraphicFramePr>
            <p:nvPr>
              <p:extLst>
                <p:ext uri="{D42A27DB-BD31-4B8C-83A1-F6EECF244321}">
                  <p14:modId xmlns:p14="http://schemas.microsoft.com/office/powerpoint/2010/main" val="291326071"/>
                </p:ext>
              </p:extLst>
            </p:nvPr>
          </p:nvGraphicFramePr>
          <p:xfrm>
            <a:off x="6953250" y="3218110"/>
            <a:ext cx="547688" cy="642938"/>
          </p:xfrm>
          <a:graphic>
            <a:graphicData uri="http://schemas.openxmlformats.org/presentationml/2006/ole">
              <mc:AlternateContent xmlns:mc="http://schemas.openxmlformats.org/markup-compatibility/2006">
                <mc:Choice xmlns:v="urn:schemas-microsoft-com:vml" Requires="v">
                  <p:oleObj name="Equation" r:id="rId5" imgW="203040" imgH="241200" progId="Equation.DSMT4">
                    <p:embed/>
                  </p:oleObj>
                </mc:Choice>
                <mc:Fallback>
                  <p:oleObj name="Equation" r:id="rId5" imgW="203040" imgH="241200" progId="Equation.DSMT4">
                    <p:embed/>
                    <p:pic>
                      <p:nvPicPr>
                        <p:cNvPr id="5" name="Object 11">
                          <a:extLst>
                            <a:ext uri="{FF2B5EF4-FFF2-40B4-BE49-F238E27FC236}">
                              <a16:creationId xmlns:a16="http://schemas.microsoft.com/office/drawing/2014/main" id="{4A30E31C-3DE6-16FD-C314-3ADB12D6081C}"/>
                            </a:ext>
                          </a:extLst>
                        </p:cNvPr>
                        <p:cNvPicPr>
                          <a:picLocks noChangeAspect="1" noChangeArrowheads="1"/>
                        </p:cNvPicPr>
                        <p:nvPr/>
                      </p:nvPicPr>
                      <p:blipFill>
                        <a:blip r:embed="rId6"/>
                        <a:srcRect/>
                        <a:stretch>
                          <a:fillRect/>
                        </a:stretch>
                      </p:blipFill>
                      <p:spPr bwMode="auto">
                        <a:xfrm>
                          <a:off x="6953250" y="3218110"/>
                          <a:ext cx="547688" cy="642938"/>
                        </a:xfrm>
                        <a:prstGeom prst="rect">
                          <a:avLst/>
                        </a:prstGeom>
                        <a:noFill/>
                        <a:ln>
                          <a:noFill/>
                        </a:ln>
                        <a:effectLst/>
                      </p:spPr>
                    </p:pic>
                  </p:oleObj>
                </mc:Fallback>
              </mc:AlternateContent>
            </a:graphicData>
          </a:graphic>
        </p:graphicFrame>
      </p:grpSp>
      <p:graphicFrame>
        <p:nvGraphicFramePr>
          <p:cNvPr id="45068" name="Object 11"/>
          <p:cNvGraphicFramePr>
            <a:graphicFrameLocks noChangeAspect="1"/>
          </p:cNvGraphicFramePr>
          <p:nvPr>
            <p:extLst>
              <p:ext uri="{D42A27DB-BD31-4B8C-83A1-F6EECF244321}">
                <p14:modId xmlns:p14="http://schemas.microsoft.com/office/powerpoint/2010/main" val="2393960869"/>
              </p:ext>
            </p:extLst>
          </p:nvPr>
        </p:nvGraphicFramePr>
        <p:xfrm>
          <a:off x="5917528" y="3534563"/>
          <a:ext cx="355600" cy="393700"/>
        </p:xfrm>
        <a:graphic>
          <a:graphicData uri="http://schemas.openxmlformats.org/presentationml/2006/ole">
            <mc:AlternateContent xmlns:mc="http://schemas.openxmlformats.org/markup-compatibility/2006">
              <mc:Choice xmlns:v="urn:schemas-microsoft-com:vml" Requires="v">
                <p:oleObj name="公式" r:id="rId7" imgW="323889" imgH="362070" progId="Equation.3">
                  <p:embed/>
                </p:oleObj>
              </mc:Choice>
              <mc:Fallback>
                <p:oleObj name="公式" r:id="rId7" imgW="323889" imgH="36207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17528" y="3534563"/>
                        <a:ext cx="355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84" name="Line 12"/>
          <p:cNvSpPr>
            <a:spLocks noChangeShapeType="1"/>
          </p:cNvSpPr>
          <p:nvPr/>
        </p:nvSpPr>
        <p:spPr bwMode="auto">
          <a:xfrm>
            <a:off x="4968876" y="3959478"/>
            <a:ext cx="2232025" cy="360363"/>
          </a:xfrm>
          <a:prstGeom prst="line">
            <a:avLst/>
          </a:prstGeom>
          <a:noFill/>
          <a:ln w="57150" cap="sq">
            <a:solidFill>
              <a:srgbClr val="FF00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 name="灯片编号占位符 1">
            <a:extLst>
              <a:ext uri="{FF2B5EF4-FFF2-40B4-BE49-F238E27FC236}">
                <a16:creationId xmlns:a16="http://schemas.microsoft.com/office/drawing/2014/main" id="{F0EB82C1-5819-3865-ED17-8FB4537C3241}"/>
              </a:ext>
            </a:extLst>
          </p:cNvPr>
          <p:cNvSpPr>
            <a:spLocks noGrp="1"/>
          </p:cNvSpPr>
          <p:nvPr>
            <p:ph type="sldNum" sz="quarter" idx="11"/>
          </p:nvPr>
        </p:nvSpPr>
        <p:spPr/>
        <p:txBody>
          <a:bodyPr/>
          <a:lstStyle/>
          <a:p>
            <a:pPr>
              <a:defRPr/>
            </a:pPr>
            <a:fld id="{F13753BC-CAEF-4333-AC48-2805658F6E3F}" type="slidenum">
              <a:rPr lang="en-US" altLang="zh-CN" smtClean="0"/>
              <a:pPr>
                <a:defRPr/>
              </a:pPr>
              <a:t>56</a:t>
            </a:fld>
            <a:endParaRPr lang="en-US" altLang="zh-CN"/>
          </a:p>
        </p:txBody>
      </p:sp>
    </p:spTree>
    <p:extLst>
      <p:ext uri="{BB962C8B-B14F-4D97-AF65-F5344CB8AC3E}">
        <p14:creationId xmlns:p14="http://schemas.microsoft.com/office/powerpoint/2010/main" val="21141238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9084"/>
                                        </p:tgtEl>
                                        <p:attrNameLst>
                                          <p:attrName>style.visibility</p:attrName>
                                        </p:attrNameLst>
                                      </p:cBhvr>
                                      <p:to>
                                        <p:strVal val="visible"/>
                                      </p:to>
                                    </p:set>
                                    <p:animEffect transition="in" filter="blinds(horizontal)">
                                      <p:cBhvr>
                                        <p:cTn id="7" dur="500"/>
                                        <p:tgtEl>
                                          <p:spTgt spid="259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mph" presetSubtype="0" fill="hold" grpId="1" nodeType="clickEffect">
                                  <p:stCondLst>
                                    <p:cond delay="0"/>
                                  </p:stCondLst>
                                  <p:childTnLst>
                                    <p:animRot by="21600000">
                                      <p:cBhvr>
                                        <p:cTn id="11" dur="2000" fill="hold"/>
                                        <p:tgtEl>
                                          <p:spTgt spid="259084"/>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anim calcmode="lin" valueType="num">
                                      <p:cBhvr>
                                        <p:cTn id="17" dur="1000" fill="hold"/>
                                        <p:tgtEl>
                                          <p:spTgt spid="4"/>
                                        </p:tgtEl>
                                        <p:attrNameLst>
                                          <p:attrName>ppt_x</p:attrName>
                                        </p:attrNameLst>
                                      </p:cBhvr>
                                      <p:tavLst>
                                        <p:tav tm="0">
                                          <p:val>
                                            <p:strVal val="#ppt_x"/>
                                          </p:val>
                                        </p:tav>
                                        <p:tav tm="100000">
                                          <p:val>
                                            <p:strVal val="#ppt_x"/>
                                          </p:val>
                                        </p:tav>
                                      </p:tavLst>
                                    </p:anim>
                                    <p:anim calcmode="lin" valueType="num">
                                      <p:cBhvr>
                                        <p:cTn id="1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9084" grpId="0" animBg="1"/>
      <p:bldP spid="259084"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6"/>
          <p:cNvSpPr>
            <a:spLocks noGrp="1" noChangeArrowheads="1"/>
          </p:cNvSpPr>
          <p:nvPr>
            <p:ph type="title"/>
          </p:nvPr>
        </p:nvSpPr>
        <p:spPr>
          <a:xfrm>
            <a:off x="767408" y="349562"/>
            <a:ext cx="11017224" cy="1371600"/>
          </a:xfrm>
        </p:spPr>
        <p:txBody>
          <a:bodyPr/>
          <a:lstStyle/>
          <a:p>
            <a:pPr eaLnBrk="1" hangingPunct="1"/>
            <a:r>
              <a:rPr lang="en-US" altLang="zh-CN" dirty="0">
                <a:solidFill>
                  <a:srgbClr val="057939"/>
                </a:solidFill>
                <a:latin typeface="黑体" pitchFamily="2" charset="-122"/>
                <a:ea typeface="黑体" pitchFamily="2" charset="-122"/>
              </a:rPr>
              <a:t> </a:t>
            </a:r>
            <a:r>
              <a:rPr lang="zh-CN" altLang="en-US" dirty="0">
                <a:solidFill>
                  <a:srgbClr val="057939"/>
                </a:solidFill>
                <a:latin typeface="黑体" pitchFamily="2" charset="-122"/>
                <a:ea typeface="黑体" pitchFamily="2" charset="-122"/>
              </a:rPr>
              <a:t>样本数据与小类、小类与小类之间的度量</a:t>
            </a:r>
          </a:p>
        </p:txBody>
      </p:sp>
      <p:sp>
        <p:nvSpPr>
          <p:cNvPr id="260098" name="Rectangle 2"/>
          <p:cNvSpPr>
            <a:spLocks noGrp="1" noChangeArrowheads="1"/>
          </p:cNvSpPr>
          <p:nvPr>
            <p:ph type="body" idx="4294967295"/>
          </p:nvPr>
        </p:nvSpPr>
        <p:spPr>
          <a:xfrm>
            <a:off x="985839" y="1793499"/>
            <a:ext cx="7486650" cy="828675"/>
          </a:xfrm>
          <a:noFill/>
        </p:spPr>
        <p:txBody>
          <a:bodyPr/>
          <a:lstStyle/>
          <a:p>
            <a:pPr eaLnBrk="1" hangingPunct="1">
              <a:buFont typeface="Wingdings" pitchFamily="2" charset="2"/>
              <a:buNone/>
            </a:pPr>
            <a:r>
              <a:rPr lang="en-US" altLang="zh-CN" dirty="0">
                <a:solidFill>
                  <a:srgbClr val="EE0006"/>
                </a:solidFill>
                <a:ea typeface="黑体" pitchFamily="2" charset="-122"/>
              </a:rPr>
              <a:t>  2</a:t>
            </a:r>
            <a:r>
              <a:rPr lang="zh-CN" altLang="en-US" dirty="0">
                <a:solidFill>
                  <a:srgbClr val="EE0006"/>
                </a:solidFill>
                <a:ea typeface="黑体" pitchFamily="2" charset="-122"/>
              </a:rPr>
              <a:t>、最长距离（</a:t>
            </a:r>
            <a:r>
              <a:rPr lang="en-US" altLang="zh-CN" dirty="0">
                <a:solidFill>
                  <a:srgbClr val="EE0006"/>
                </a:solidFill>
                <a:ea typeface="黑体" pitchFamily="2" charset="-122"/>
              </a:rPr>
              <a:t>Furthest </a:t>
            </a:r>
            <a:r>
              <a:rPr lang="en-US" altLang="zh-CN" sz="4000" dirty="0">
                <a:solidFill>
                  <a:srgbClr val="EE0006"/>
                </a:solidFill>
                <a:ea typeface="黑体" pitchFamily="2" charset="-122"/>
              </a:rPr>
              <a:t>Neighbor</a:t>
            </a:r>
            <a:r>
              <a:rPr lang="en-US" altLang="zh-CN" dirty="0">
                <a:solidFill>
                  <a:srgbClr val="EE0006"/>
                </a:solidFill>
                <a:ea typeface="黑体" pitchFamily="2" charset="-122"/>
              </a:rPr>
              <a:t> </a:t>
            </a:r>
            <a:r>
              <a:rPr lang="zh-CN" altLang="en-US" dirty="0">
                <a:solidFill>
                  <a:srgbClr val="EE0006"/>
                </a:solidFill>
                <a:ea typeface="黑体" pitchFamily="2" charset="-122"/>
              </a:rPr>
              <a:t>）</a:t>
            </a:r>
            <a:endParaRPr lang="zh-CN" altLang="en-US" sz="4000" dirty="0">
              <a:solidFill>
                <a:srgbClr val="EE0006"/>
              </a:solidFill>
              <a:ea typeface="黑体" pitchFamily="2" charset="-122"/>
            </a:endParaRPr>
          </a:p>
        </p:txBody>
      </p:sp>
      <p:grpSp>
        <p:nvGrpSpPr>
          <p:cNvPr id="260099" name="Group 3"/>
          <p:cNvGrpSpPr>
            <a:grpSpLocks/>
          </p:cNvGrpSpPr>
          <p:nvPr/>
        </p:nvGrpSpPr>
        <p:grpSpPr bwMode="auto">
          <a:xfrm>
            <a:off x="2782889" y="3424239"/>
            <a:ext cx="6461125" cy="2338388"/>
            <a:chOff x="884" y="1776"/>
            <a:chExt cx="4070" cy="1473"/>
          </a:xfrm>
        </p:grpSpPr>
        <p:sp>
          <p:nvSpPr>
            <p:cNvPr id="46086" name="Oval 4"/>
            <p:cNvSpPr>
              <a:spLocks noChangeArrowheads="1"/>
            </p:cNvSpPr>
            <p:nvPr/>
          </p:nvSpPr>
          <p:spPr bwMode="auto">
            <a:xfrm>
              <a:off x="884" y="1824"/>
              <a:ext cx="1564" cy="14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imes New Roman" pitchFamily="18" charset="0"/>
              </a:endParaRPr>
            </a:p>
          </p:txBody>
        </p:sp>
        <p:sp>
          <p:nvSpPr>
            <p:cNvPr id="46087" name="Oval 5"/>
            <p:cNvSpPr>
              <a:spLocks noChangeArrowheads="1"/>
            </p:cNvSpPr>
            <p:nvPr/>
          </p:nvSpPr>
          <p:spPr bwMode="auto">
            <a:xfrm>
              <a:off x="3622" y="1776"/>
              <a:ext cx="1332" cy="147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 name="Rectangle 6"/>
            <p:cNvSpPr>
              <a:spLocks noChangeArrowheads="1"/>
            </p:cNvSpPr>
            <p:nvPr/>
          </p:nvSpPr>
          <p:spPr bwMode="auto">
            <a:xfrm>
              <a:off x="1610" y="2795"/>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6089" name="Rectangle 7"/>
            <p:cNvSpPr>
              <a:spLocks noChangeArrowheads="1"/>
            </p:cNvSpPr>
            <p:nvPr/>
          </p:nvSpPr>
          <p:spPr bwMode="auto">
            <a:xfrm>
              <a:off x="2018" y="256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6090" name="Rectangle 8"/>
            <p:cNvSpPr>
              <a:spLocks noChangeArrowheads="1"/>
            </p:cNvSpPr>
            <p:nvPr/>
          </p:nvSpPr>
          <p:spPr bwMode="auto">
            <a:xfrm>
              <a:off x="1610" y="2024"/>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6091" name="Rectangle 9"/>
            <p:cNvSpPr>
              <a:spLocks noChangeArrowheads="1"/>
            </p:cNvSpPr>
            <p:nvPr/>
          </p:nvSpPr>
          <p:spPr bwMode="auto">
            <a:xfrm>
              <a:off x="1020" y="2387"/>
              <a:ext cx="4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11</a:t>
              </a:r>
              <a:r>
                <a:rPr kumimoji="1" lang="en-US" altLang="zh-CN" sz="2400">
                  <a:latin typeface="Times New Roman" pitchFamily="18" charset="0"/>
                  <a:cs typeface="Times New Roman" pitchFamily="18" charset="0"/>
                </a:rPr>
                <a:t>•</a:t>
              </a:r>
            </a:p>
          </p:txBody>
        </p:sp>
        <p:sp>
          <p:nvSpPr>
            <p:cNvPr id="46092" name="Rectangle 10"/>
            <p:cNvSpPr>
              <a:spLocks noChangeArrowheads="1"/>
            </p:cNvSpPr>
            <p:nvPr/>
          </p:nvSpPr>
          <p:spPr bwMode="auto">
            <a:xfrm>
              <a:off x="3787" y="1979"/>
              <a:ext cx="4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x</a:t>
              </a:r>
              <a:r>
                <a:rPr kumimoji="1" lang="en-US" altLang="zh-CN" sz="2400" baseline="-25000">
                  <a:latin typeface="Times New Roman" pitchFamily="18" charset="0"/>
                  <a:cs typeface="Times New Roman" pitchFamily="18" charset="0"/>
                </a:rPr>
                <a:t>21</a:t>
              </a:r>
              <a:r>
                <a:rPr kumimoji="1" lang="en-US" altLang="zh-CN" sz="2400">
                  <a:latin typeface="Times New Roman" pitchFamily="18" charset="0"/>
                  <a:cs typeface="Times New Roman" pitchFamily="18" charset="0"/>
                </a:rPr>
                <a:t>•</a:t>
              </a:r>
            </a:p>
          </p:txBody>
        </p:sp>
        <p:sp>
          <p:nvSpPr>
            <p:cNvPr id="46093" name="Rectangle 11"/>
            <p:cNvSpPr>
              <a:spLocks noChangeArrowheads="1"/>
            </p:cNvSpPr>
            <p:nvPr/>
          </p:nvSpPr>
          <p:spPr bwMode="auto">
            <a:xfrm>
              <a:off x="4468" y="2432"/>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6094" name="Rectangle 12"/>
            <p:cNvSpPr>
              <a:spLocks noChangeArrowheads="1"/>
            </p:cNvSpPr>
            <p:nvPr/>
          </p:nvSpPr>
          <p:spPr bwMode="auto">
            <a:xfrm>
              <a:off x="4105" y="2795"/>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6095" name="Rectangle 13"/>
            <p:cNvSpPr>
              <a:spLocks noChangeArrowheads="1"/>
            </p:cNvSpPr>
            <p:nvPr/>
          </p:nvSpPr>
          <p:spPr bwMode="auto">
            <a:xfrm>
              <a:off x="3833" y="2659"/>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graphicFrame>
          <p:nvGraphicFramePr>
            <p:cNvPr id="46096" name="Object 14"/>
            <p:cNvGraphicFramePr>
              <a:graphicFrameLocks noChangeAspect="1"/>
            </p:cNvGraphicFramePr>
            <p:nvPr/>
          </p:nvGraphicFramePr>
          <p:xfrm>
            <a:off x="2736" y="2304"/>
            <a:ext cx="232" cy="248"/>
          </p:xfrm>
          <a:graphic>
            <a:graphicData uri="http://schemas.openxmlformats.org/presentationml/2006/ole">
              <mc:AlternateContent xmlns:mc="http://schemas.openxmlformats.org/markup-compatibility/2006">
                <mc:Choice xmlns:v="urn:schemas-microsoft-com:vml" Requires="v">
                  <p:oleObj name="公式" r:id="rId2" imgW="342799" imgH="362070" progId="Equation.3">
                    <p:embed/>
                  </p:oleObj>
                </mc:Choice>
                <mc:Fallback>
                  <p:oleObj name="公式" r:id="rId2" imgW="342799" imgH="36207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2304"/>
                          <a:ext cx="23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0111" name="Line 15"/>
          <p:cNvSpPr>
            <a:spLocks noChangeShapeType="1"/>
          </p:cNvSpPr>
          <p:nvPr/>
        </p:nvSpPr>
        <p:spPr bwMode="auto">
          <a:xfrm>
            <a:off x="3503613" y="4610100"/>
            <a:ext cx="5111750" cy="57150"/>
          </a:xfrm>
          <a:prstGeom prst="line">
            <a:avLst/>
          </a:prstGeom>
          <a:noFill/>
          <a:ln w="57150" cap="sq">
            <a:solidFill>
              <a:srgbClr val="FFCC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mc:AlternateContent xmlns:mc="http://schemas.openxmlformats.org/markup-compatibility/2006" xmlns:a14="http://schemas.microsoft.com/office/drawing/2010/main">
        <mc:Choice Requires="a14">
          <p:sp>
            <p:nvSpPr>
              <p:cNvPr id="2" name="矩形 1"/>
              <p:cNvSpPr/>
              <p:nvPr/>
            </p:nvSpPr>
            <p:spPr>
              <a:xfrm>
                <a:off x="4295800" y="5913832"/>
                <a:ext cx="3163174" cy="7555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𝐷</m:t>
                          </m:r>
                        </m:e>
                        <m:sub>
                          <m:r>
                            <a:rPr lang="zh-CN" altLang="en-US" sz="2800" i="1">
                              <a:latin typeface="Cambria Math" panose="02040503050406030204" pitchFamily="18" charset="0"/>
                            </a:rPr>
                            <m:t>𝑖𝑗</m:t>
                          </m:r>
                        </m:sub>
                      </m:sSub>
                      <m:r>
                        <a:rPr lang="zh-CN" altLang="en-US" sz="2800">
                          <a:latin typeface="Cambria Math" panose="02040503050406030204" pitchFamily="18" charset="0"/>
                        </a:rPr>
                        <m:t>=</m:t>
                      </m:r>
                      <m:limLow>
                        <m:limLowPr>
                          <m:ctrlPr>
                            <a:rPr lang="zh-CN" altLang="en-US" sz="2800" i="1">
                              <a:latin typeface="Cambria Math" panose="02040503050406030204" pitchFamily="18" charset="0"/>
                            </a:rPr>
                          </m:ctrlPr>
                        </m:limLowPr>
                        <m:e>
                          <m:r>
                            <m:rPr>
                              <m:sty m:val="p"/>
                            </m:rPr>
                            <a:rPr lang="zh-CN" altLang="en-US" sz="2800">
                              <a:latin typeface="Cambria Math" panose="02040503050406030204" pitchFamily="18" charset="0"/>
                            </a:rPr>
                            <m:t>max</m:t>
                          </m:r>
                        </m:e>
                        <m:lim>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𝐺</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𝑗</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𝐺</m:t>
                              </m:r>
                            </m:e>
                            <m:sub>
                              <m:r>
                                <a:rPr lang="zh-CN" altLang="en-US" sz="2800" i="1">
                                  <a:latin typeface="Cambria Math" panose="02040503050406030204" pitchFamily="18" charset="0"/>
                                </a:rPr>
                                <m:t>𝑗</m:t>
                              </m:r>
                            </m:sub>
                          </m:sSub>
                        </m:lim>
                      </m:limLow>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𝑑</m:t>
                          </m:r>
                        </m:e>
                        <m:sub>
                          <m:r>
                            <a:rPr lang="zh-CN" altLang="en-US" sz="2800" i="1">
                              <a:latin typeface="Cambria Math" panose="02040503050406030204" pitchFamily="18" charset="0"/>
                            </a:rPr>
                            <m:t>𝑖𝑗</m:t>
                          </m:r>
                        </m:sub>
                      </m:sSub>
                    </m:oMath>
                  </m:oMathPara>
                </a14:m>
                <a:endParaRPr lang="zh-CN" alt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4295800" y="5913832"/>
                <a:ext cx="3163174" cy="755528"/>
              </a:xfrm>
              <a:prstGeom prst="rect">
                <a:avLst/>
              </a:prstGeom>
              <a:blipFill>
                <a:blip r:embed="rId4"/>
                <a:stretch>
                  <a:fillRect/>
                </a:stretch>
              </a:blipFill>
            </p:spPr>
            <p:txBody>
              <a:bodyPr/>
              <a:lstStyle/>
              <a:p>
                <a:r>
                  <a:rPr lang="zh-CN" altLang="en-US">
                    <a:noFill/>
                  </a:rPr>
                  <a:t> </a:t>
                </a:r>
              </a:p>
            </p:txBody>
          </p:sp>
        </mc:Fallback>
      </mc:AlternateContent>
      <p:sp>
        <p:nvSpPr>
          <p:cNvPr id="18" name="Text Box 7"/>
          <p:cNvSpPr txBox="1">
            <a:spLocks noChangeArrowheads="1"/>
          </p:cNvSpPr>
          <p:nvPr/>
        </p:nvSpPr>
        <p:spPr bwMode="auto">
          <a:xfrm>
            <a:off x="2313348" y="2612605"/>
            <a:ext cx="5904781"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spcBef>
                <a:spcPct val="50000"/>
              </a:spcBef>
            </a:pPr>
            <a:r>
              <a:rPr lang="zh-CN" altLang="en-US" sz="2800" b="1" dirty="0">
                <a:solidFill>
                  <a:schemeClr val="tx2"/>
                </a:solidFill>
                <a:latin typeface="黑体" panose="02010609060101010101" pitchFamily="49" charset="-122"/>
                <a:ea typeface="楷体_GB2312" pitchFamily="49" charset="-122"/>
              </a:rPr>
              <a:t>类类间</a:t>
            </a:r>
            <a:r>
              <a:rPr lang="zh-CN" altLang="en-US" sz="2800" dirty="0">
                <a:latin typeface="黑体" panose="02010609060101010101" pitchFamily="49" charset="-122"/>
                <a:ea typeface="楷体_GB2312" pitchFamily="49" charset="-122"/>
              </a:rPr>
              <a:t>：</a:t>
            </a:r>
            <a:r>
              <a:rPr lang="zh-CN" altLang="en-US" sz="2800" b="1" dirty="0">
                <a:latin typeface="黑体" panose="02010609060101010101" pitchFamily="49" charset="-122"/>
                <a:ea typeface="楷体_GB2312" pitchFamily="49" charset="-122"/>
              </a:rPr>
              <a:t>两类间两两样品距离最长</a:t>
            </a:r>
            <a:r>
              <a:rPr lang="zh-CN" altLang="en-US" sz="2800" dirty="0">
                <a:latin typeface="黑体" panose="02010609060101010101" pitchFamily="49" charset="-122"/>
                <a:ea typeface="楷体_GB2312" pitchFamily="49" charset="-122"/>
              </a:rPr>
              <a:t> </a:t>
            </a:r>
            <a:endParaRPr lang="zh-CN" altLang="en-US" sz="2800" b="1" dirty="0">
              <a:latin typeface="黑体" panose="02010609060101010101" pitchFamily="49" charset="-122"/>
              <a:ea typeface="楷体_GB2312" pitchFamily="49" charset="-122"/>
            </a:endParaRPr>
          </a:p>
        </p:txBody>
      </p:sp>
      <p:graphicFrame>
        <p:nvGraphicFramePr>
          <p:cNvPr id="3" name="Object 11">
            <a:extLst>
              <a:ext uri="{FF2B5EF4-FFF2-40B4-BE49-F238E27FC236}">
                <a16:creationId xmlns:a16="http://schemas.microsoft.com/office/drawing/2014/main" id="{C93D8E35-8C39-40A9-ABD3-88D1FA836096}"/>
              </a:ext>
            </a:extLst>
          </p:cNvPr>
          <p:cNvGraphicFramePr>
            <a:graphicFrameLocks noChangeAspect="1"/>
          </p:cNvGraphicFramePr>
          <p:nvPr>
            <p:extLst>
              <p:ext uri="{D42A27DB-BD31-4B8C-83A1-F6EECF244321}">
                <p14:modId xmlns:p14="http://schemas.microsoft.com/office/powerpoint/2010/main" val="1461090977"/>
              </p:ext>
            </p:extLst>
          </p:nvPr>
        </p:nvGraphicFramePr>
        <p:xfrm>
          <a:off x="2489995" y="3500440"/>
          <a:ext cx="477838" cy="609921"/>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5" name="Object 11">
                        <a:extLst>
                          <a:ext uri="{FF2B5EF4-FFF2-40B4-BE49-F238E27FC236}">
                            <a16:creationId xmlns:a16="http://schemas.microsoft.com/office/drawing/2014/main" id="{4A30E31C-3DE6-16FD-C314-3ADB12D6081C}"/>
                          </a:ext>
                        </a:extLst>
                      </p:cNvPr>
                      <p:cNvPicPr>
                        <a:picLocks noChangeAspect="1" noChangeArrowheads="1"/>
                      </p:cNvPicPr>
                      <p:nvPr/>
                    </p:nvPicPr>
                    <p:blipFill>
                      <a:blip r:embed="rId6"/>
                      <a:srcRect/>
                      <a:stretch>
                        <a:fillRect/>
                      </a:stretch>
                    </p:blipFill>
                    <p:spPr bwMode="auto">
                      <a:xfrm>
                        <a:off x="2489995" y="3500440"/>
                        <a:ext cx="477838" cy="609921"/>
                      </a:xfrm>
                      <a:prstGeom prst="rect">
                        <a:avLst/>
                      </a:prstGeom>
                      <a:noFill/>
                      <a:ln>
                        <a:noFill/>
                      </a:ln>
                      <a:effectLst/>
                    </p:spPr>
                  </p:pic>
                </p:oleObj>
              </mc:Fallback>
            </mc:AlternateContent>
          </a:graphicData>
        </a:graphic>
      </p:graphicFrame>
      <p:graphicFrame>
        <p:nvGraphicFramePr>
          <p:cNvPr id="4" name="Object 11">
            <a:extLst>
              <a:ext uri="{FF2B5EF4-FFF2-40B4-BE49-F238E27FC236}">
                <a16:creationId xmlns:a16="http://schemas.microsoft.com/office/drawing/2014/main" id="{9AAF6B7E-7022-573E-AEE2-8173CAC851E5}"/>
              </a:ext>
            </a:extLst>
          </p:cNvPr>
          <p:cNvGraphicFramePr>
            <a:graphicFrameLocks noChangeAspect="1"/>
          </p:cNvGraphicFramePr>
          <p:nvPr>
            <p:extLst>
              <p:ext uri="{D42A27DB-BD31-4B8C-83A1-F6EECF244321}">
                <p14:modId xmlns:p14="http://schemas.microsoft.com/office/powerpoint/2010/main" val="142022304"/>
              </p:ext>
            </p:extLst>
          </p:nvPr>
        </p:nvGraphicFramePr>
        <p:xfrm>
          <a:off x="8779267" y="3174115"/>
          <a:ext cx="547688" cy="642938"/>
        </p:xfrm>
        <a:graphic>
          <a:graphicData uri="http://schemas.openxmlformats.org/presentationml/2006/ole">
            <mc:AlternateContent xmlns:mc="http://schemas.openxmlformats.org/markup-compatibility/2006">
              <mc:Choice xmlns:v="urn:schemas-microsoft-com:vml" Requires="v">
                <p:oleObj name="Equation" r:id="rId7" imgW="203040" imgH="241200" progId="Equation.DSMT4">
                  <p:embed/>
                </p:oleObj>
              </mc:Choice>
              <mc:Fallback>
                <p:oleObj name="Equation" r:id="rId7" imgW="203040" imgH="241200" progId="Equation.DSMT4">
                  <p:embed/>
                  <p:pic>
                    <p:nvPicPr>
                      <p:cNvPr id="7" name="Object 11">
                        <a:extLst>
                          <a:ext uri="{FF2B5EF4-FFF2-40B4-BE49-F238E27FC236}">
                            <a16:creationId xmlns:a16="http://schemas.microsoft.com/office/drawing/2014/main" id="{7600D9C6-8FDC-561F-F1E4-81A8C1036F81}"/>
                          </a:ext>
                        </a:extLst>
                      </p:cNvPr>
                      <p:cNvPicPr>
                        <a:picLocks noChangeAspect="1" noChangeArrowheads="1"/>
                      </p:cNvPicPr>
                      <p:nvPr/>
                    </p:nvPicPr>
                    <p:blipFill>
                      <a:blip r:embed="rId8"/>
                      <a:srcRect/>
                      <a:stretch>
                        <a:fillRect/>
                      </a:stretch>
                    </p:blipFill>
                    <p:spPr bwMode="auto">
                      <a:xfrm>
                        <a:off x="8779267" y="3174115"/>
                        <a:ext cx="547688" cy="642938"/>
                      </a:xfrm>
                      <a:prstGeom prst="rect">
                        <a:avLst/>
                      </a:prstGeom>
                      <a:noFill/>
                      <a:ln>
                        <a:noFill/>
                      </a:ln>
                      <a:effectLst/>
                    </p:spPr>
                  </p:pic>
                </p:oleObj>
              </mc:Fallback>
            </mc:AlternateContent>
          </a:graphicData>
        </a:graphic>
      </p:graphicFrame>
      <p:sp>
        <p:nvSpPr>
          <p:cNvPr id="5" name="灯片编号占位符 4">
            <a:extLst>
              <a:ext uri="{FF2B5EF4-FFF2-40B4-BE49-F238E27FC236}">
                <a16:creationId xmlns:a16="http://schemas.microsoft.com/office/drawing/2014/main" id="{F4E5C885-0B4F-0AD7-2B9B-ECAB51AB1724}"/>
              </a:ext>
            </a:extLst>
          </p:cNvPr>
          <p:cNvSpPr>
            <a:spLocks noGrp="1"/>
          </p:cNvSpPr>
          <p:nvPr>
            <p:ph type="sldNum" sz="quarter" idx="11"/>
          </p:nvPr>
        </p:nvSpPr>
        <p:spPr/>
        <p:txBody>
          <a:bodyPr/>
          <a:lstStyle/>
          <a:p>
            <a:pPr>
              <a:defRPr/>
            </a:pPr>
            <a:fld id="{2F44A83F-C644-4D2F-BA00-DBFF3DBED7EA}" type="slidenum">
              <a:rPr lang="en-US" altLang="zh-CN" smtClean="0"/>
              <a:pPr>
                <a:defRPr/>
              </a:pPr>
              <a:t>57</a:t>
            </a:fld>
            <a:endParaRPr lang="en-US" altLang="zh-CN"/>
          </a:p>
        </p:txBody>
      </p:sp>
    </p:spTree>
    <p:extLst>
      <p:ext uri="{BB962C8B-B14F-4D97-AF65-F5344CB8AC3E}">
        <p14:creationId xmlns:p14="http://schemas.microsoft.com/office/powerpoint/2010/main" val="16916084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0099"/>
                                        </p:tgtEl>
                                        <p:attrNameLst>
                                          <p:attrName>style.visibility</p:attrName>
                                        </p:attrNameLst>
                                      </p:cBhvr>
                                      <p:to>
                                        <p:strVal val="visible"/>
                                      </p:to>
                                    </p:set>
                                    <p:animEffect transition="in" filter="blinds(horizontal)">
                                      <p:cBhvr>
                                        <p:cTn id="7" dur="500"/>
                                        <p:tgtEl>
                                          <p:spTgt spid="2600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60111"/>
                                        </p:tgtEl>
                                        <p:attrNameLst>
                                          <p:attrName>style.visibility</p:attrName>
                                        </p:attrNameLst>
                                      </p:cBhvr>
                                      <p:to>
                                        <p:strVal val="visible"/>
                                      </p:to>
                                    </p:set>
                                    <p:animEffect transition="in" filter="blinds(horizontal)">
                                      <p:cBhvr>
                                        <p:cTn id="18" dur="500"/>
                                        <p:tgtEl>
                                          <p:spTgt spid="2601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mph" presetSubtype="0" fill="hold" grpId="1" nodeType="clickEffect">
                                  <p:stCondLst>
                                    <p:cond delay="0"/>
                                  </p:stCondLst>
                                  <p:childTnLst>
                                    <p:animRot by="21600000">
                                      <p:cBhvr>
                                        <p:cTn id="22" dur="2000" fill="hold"/>
                                        <p:tgtEl>
                                          <p:spTgt spid="260111"/>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11" grpId="0" animBg="1"/>
      <p:bldP spid="260111" grpId="1" animBg="1"/>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11"/>
          <p:cNvSpPr>
            <a:spLocks noGrp="1" noChangeArrowheads="1"/>
          </p:cNvSpPr>
          <p:nvPr>
            <p:ph type="title"/>
          </p:nvPr>
        </p:nvSpPr>
        <p:spPr>
          <a:xfrm>
            <a:off x="803412" y="278330"/>
            <a:ext cx="10585175" cy="1371600"/>
          </a:xfrm>
        </p:spPr>
        <p:txBody>
          <a:bodyPr/>
          <a:lstStyle/>
          <a:p>
            <a:pPr eaLnBrk="1" hangingPunct="1"/>
            <a:r>
              <a:rPr lang="en-US" altLang="zh-CN" dirty="0">
                <a:solidFill>
                  <a:srgbClr val="057939"/>
                </a:solidFill>
                <a:latin typeface="黑体" pitchFamily="2" charset="-122"/>
                <a:ea typeface="黑体" pitchFamily="2" charset="-122"/>
              </a:rPr>
              <a:t> </a:t>
            </a:r>
            <a:r>
              <a:rPr lang="zh-CN" altLang="en-US" dirty="0">
                <a:solidFill>
                  <a:srgbClr val="057939"/>
                </a:solidFill>
                <a:latin typeface="黑体" pitchFamily="2" charset="-122"/>
                <a:ea typeface="黑体" pitchFamily="2" charset="-122"/>
              </a:rPr>
              <a:t>样本数据与小类、小类与小类之间的度量</a:t>
            </a:r>
          </a:p>
        </p:txBody>
      </p:sp>
      <p:sp>
        <p:nvSpPr>
          <p:cNvPr id="263170" name="Rectangle 2"/>
          <p:cNvSpPr>
            <a:spLocks noGrp="1" noChangeArrowheads="1"/>
          </p:cNvSpPr>
          <p:nvPr>
            <p:ph type="body" idx="4294967295"/>
          </p:nvPr>
        </p:nvSpPr>
        <p:spPr>
          <a:xfrm>
            <a:off x="1331912" y="1660385"/>
            <a:ext cx="8893175" cy="790575"/>
          </a:xfrm>
        </p:spPr>
        <p:txBody>
          <a:bodyPr/>
          <a:lstStyle/>
          <a:p>
            <a:pPr eaLnBrk="1" hangingPunct="1">
              <a:buFont typeface="Wingdings" pitchFamily="2" charset="2"/>
              <a:buNone/>
            </a:pPr>
            <a:r>
              <a:rPr lang="en-US" altLang="zh-CN" dirty="0">
                <a:solidFill>
                  <a:srgbClr val="EE0006"/>
                </a:solidFill>
                <a:ea typeface="黑体" pitchFamily="2" charset="-122"/>
              </a:rPr>
              <a:t>3</a:t>
            </a:r>
            <a:r>
              <a:rPr lang="zh-CN" altLang="en-US" dirty="0">
                <a:solidFill>
                  <a:srgbClr val="EE0006"/>
                </a:solidFill>
                <a:ea typeface="黑体" pitchFamily="2" charset="-122"/>
              </a:rPr>
              <a:t>、重心法（</a:t>
            </a:r>
            <a:r>
              <a:rPr lang="en-US" altLang="zh-CN" dirty="0">
                <a:solidFill>
                  <a:srgbClr val="EE0006"/>
                </a:solidFill>
                <a:ea typeface="黑体" pitchFamily="2" charset="-122"/>
              </a:rPr>
              <a:t>Centroid clustering):</a:t>
            </a:r>
            <a:r>
              <a:rPr lang="zh-CN" altLang="en-US" dirty="0">
                <a:solidFill>
                  <a:srgbClr val="EE0006"/>
                </a:solidFill>
                <a:ea typeface="黑体" pitchFamily="2" charset="-122"/>
              </a:rPr>
              <a:t>均值点的距离</a:t>
            </a:r>
            <a:endParaRPr lang="zh-CN" altLang="en-US" sz="4000" dirty="0"/>
          </a:p>
        </p:txBody>
      </p:sp>
      <p:grpSp>
        <p:nvGrpSpPr>
          <p:cNvPr id="263193" name="Group 25"/>
          <p:cNvGrpSpPr>
            <a:grpSpLocks/>
          </p:cNvGrpSpPr>
          <p:nvPr/>
        </p:nvGrpSpPr>
        <p:grpSpPr bwMode="auto">
          <a:xfrm>
            <a:off x="4025900" y="3873500"/>
            <a:ext cx="4876800" cy="1905000"/>
            <a:chOff x="1576" y="2440"/>
            <a:chExt cx="3072" cy="1200"/>
          </a:xfrm>
        </p:grpSpPr>
        <p:sp>
          <p:nvSpPr>
            <p:cNvPr id="49157" name="Oval 13"/>
            <p:cNvSpPr>
              <a:spLocks noChangeArrowheads="1"/>
            </p:cNvSpPr>
            <p:nvPr/>
          </p:nvSpPr>
          <p:spPr bwMode="auto">
            <a:xfrm>
              <a:off x="1576" y="2536"/>
              <a:ext cx="1104" cy="1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imes New Roman" pitchFamily="18" charset="0"/>
              </a:endParaRPr>
            </a:p>
          </p:txBody>
        </p:sp>
        <p:sp>
          <p:nvSpPr>
            <p:cNvPr id="49158" name="Oval 14"/>
            <p:cNvSpPr>
              <a:spLocks noChangeArrowheads="1"/>
            </p:cNvSpPr>
            <p:nvPr/>
          </p:nvSpPr>
          <p:spPr bwMode="auto">
            <a:xfrm>
              <a:off x="3352" y="2440"/>
              <a:ext cx="1296" cy="1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9" name="Rectangle 16"/>
            <p:cNvSpPr>
              <a:spLocks noChangeArrowheads="1"/>
            </p:cNvSpPr>
            <p:nvPr/>
          </p:nvSpPr>
          <p:spPr bwMode="auto">
            <a:xfrm>
              <a:off x="2018" y="2976"/>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a:latin typeface="Times New Roman" pitchFamily="18" charset="0"/>
                  <a:cs typeface="Times New Roman" pitchFamily="18" charset="0"/>
                </a:rPr>
                <a:t>•</a:t>
              </a:r>
            </a:p>
          </p:txBody>
        </p:sp>
        <p:sp>
          <p:nvSpPr>
            <p:cNvPr id="49160" name="Rectangle 17"/>
            <p:cNvSpPr>
              <a:spLocks noChangeArrowheads="1"/>
            </p:cNvSpPr>
            <p:nvPr/>
          </p:nvSpPr>
          <p:spPr bwMode="auto">
            <a:xfrm>
              <a:off x="3969" y="288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Times New Roman" pitchFamily="18" charset="0"/>
                  <a:cs typeface="Times New Roman" pitchFamily="18" charset="0"/>
                </a:rPr>
                <a:t>•</a:t>
              </a:r>
            </a:p>
          </p:txBody>
        </p:sp>
        <p:sp>
          <p:nvSpPr>
            <p:cNvPr id="49161" name="Line 10"/>
            <p:cNvSpPr>
              <a:spLocks noChangeShapeType="1"/>
            </p:cNvSpPr>
            <p:nvPr/>
          </p:nvSpPr>
          <p:spPr bwMode="auto">
            <a:xfrm flipV="1">
              <a:off x="2154" y="3022"/>
              <a:ext cx="1859" cy="91"/>
            </a:xfrm>
            <a:prstGeom prst="line">
              <a:avLst/>
            </a:prstGeom>
            <a:noFill/>
            <a:ln w="57150" cap="sq">
              <a:solidFill>
                <a:srgbClr val="FF00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49162" name="Object 21"/>
            <p:cNvGraphicFramePr>
              <a:graphicFrameLocks noChangeAspect="1"/>
            </p:cNvGraphicFramePr>
            <p:nvPr/>
          </p:nvGraphicFramePr>
          <p:xfrm>
            <a:off x="1882" y="2750"/>
            <a:ext cx="511" cy="270"/>
          </p:xfrm>
          <a:graphic>
            <a:graphicData uri="http://schemas.openxmlformats.org/presentationml/2006/ole">
              <mc:AlternateContent xmlns:mc="http://schemas.openxmlformats.org/markup-compatibility/2006">
                <mc:Choice xmlns:v="urn:schemas-microsoft-com:vml" Requires="v">
                  <p:oleObj name="公式" r:id="rId2" imgW="457200" imgH="241300" progId="Equation.3">
                    <p:embed/>
                  </p:oleObj>
                </mc:Choice>
                <mc:Fallback>
                  <p:oleObj name="公式" r:id="rId2" imgW="4572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 y="2750"/>
                          <a:ext cx="511"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3" name="Object 23"/>
            <p:cNvGraphicFramePr>
              <a:graphicFrameLocks noChangeAspect="1"/>
            </p:cNvGraphicFramePr>
            <p:nvPr/>
          </p:nvGraphicFramePr>
          <p:xfrm>
            <a:off x="3787" y="2614"/>
            <a:ext cx="638" cy="311"/>
          </p:xfrm>
          <a:graphic>
            <a:graphicData uri="http://schemas.openxmlformats.org/presentationml/2006/ole">
              <mc:AlternateContent xmlns:mc="http://schemas.openxmlformats.org/markup-compatibility/2006">
                <mc:Choice xmlns:v="urn:schemas-microsoft-com:vml" Requires="v">
                  <p:oleObj name="公式" r:id="rId4" imgW="495085" imgH="241195" progId="Equation.3">
                    <p:embed/>
                  </p:oleObj>
                </mc:Choice>
                <mc:Fallback>
                  <p:oleObj name="公式" r:id="rId4" imgW="495085" imgH="24119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7" y="2614"/>
                          <a:ext cx="638"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 name="矩形 1"/>
              <p:cNvSpPr/>
              <p:nvPr/>
            </p:nvSpPr>
            <p:spPr>
              <a:xfrm>
                <a:off x="5231905" y="5990840"/>
                <a:ext cx="2176045" cy="6065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𝐷</m:t>
                          </m:r>
                        </m:e>
                        <m:sub>
                          <m:r>
                            <a:rPr lang="zh-CN" altLang="en-US" sz="2800" i="1">
                              <a:latin typeface="Cambria Math" panose="02040503050406030204" pitchFamily="18" charset="0"/>
                            </a:rPr>
                            <m:t>𝑝𝑞</m:t>
                          </m:r>
                        </m:sub>
                      </m:sSub>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𝑑</m:t>
                          </m:r>
                        </m:e>
                        <m:sub>
                          <m:sSub>
                            <m:sSubPr>
                              <m:ctrlPr>
                                <a:rPr lang="zh-CN" altLang="en-US" sz="2800" i="1">
                                  <a:latin typeface="Cambria Math" panose="02040503050406030204" pitchFamily="18" charset="0"/>
                                </a:rPr>
                              </m:ctrlPr>
                            </m:sSubPr>
                            <m:e>
                              <m:acc>
                                <m:accPr>
                                  <m:chr m:val="̅"/>
                                  <m:ctrlPr>
                                    <a:rPr lang="zh-CN" altLang="en-US" sz="2800" i="1">
                                      <a:latin typeface="Cambria Math" panose="02040503050406030204" pitchFamily="18" charset="0"/>
                                    </a:rPr>
                                  </m:ctrlPr>
                                </m:accPr>
                                <m:e>
                                  <m:r>
                                    <a:rPr lang="zh-CN" altLang="en-US" sz="2800" i="1">
                                      <a:latin typeface="Cambria Math" panose="02040503050406030204" pitchFamily="18" charset="0"/>
                                    </a:rPr>
                                    <m:t>𝑋</m:t>
                                  </m:r>
                                </m:e>
                              </m:acc>
                            </m:e>
                            <m:sub>
                              <m:r>
                                <a:rPr lang="zh-CN" altLang="en-US" sz="2800" i="1">
                                  <a:latin typeface="Cambria Math" panose="02040503050406030204" pitchFamily="18" charset="0"/>
                                </a:rPr>
                                <m:t>𝑝</m:t>
                              </m:r>
                            </m:sub>
                          </m:sSub>
                          <m:sSub>
                            <m:sSubPr>
                              <m:ctrlPr>
                                <a:rPr lang="zh-CN" altLang="en-US" sz="2800" i="1">
                                  <a:latin typeface="Cambria Math" panose="02040503050406030204" pitchFamily="18" charset="0"/>
                                </a:rPr>
                              </m:ctrlPr>
                            </m:sSubPr>
                            <m:e>
                              <m:acc>
                                <m:accPr>
                                  <m:chr m:val="̅"/>
                                  <m:ctrlPr>
                                    <a:rPr lang="zh-CN" altLang="en-US" sz="2800" i="1">
                                      <a:latin typeface="Cambria Math" panose="02040503050406030204" pitchFamily="18" charset="0"/>
                                    </a:rPr>
                                  </m:ctrlPr>
                                </m:accPr>
                                <m:e>
                                  <m:r>
                                    <a:rPr lang="zh-CN" altLang="en-US" sz="2800" i="1">
                                      <a:latin typeface="Cambria Math" panose="02040503050406030204" pitchFamily="18" charset="0"/>
                                    </a:rPr>
                                    <m:t>𝑋</m:t>
                                  </m:r>
                                </m:e>
                              </m:acc>
                            </m:e>
                            <m:sub>
                              <m:r>
                                <a:rPr lang="zh-CN" altLang="en-US" sz="2800" i="1">
                                  <a:latin typeface="Cambria Math" panose="02040503050406030204" pitchFamily="18" charset="0"/>
                                </a:rPr>
                                <m:t>𝑞</m:t>
                              </m:r>
                            </m:sub>
                          </m:sSub>
                        </m:sub>
                      </m:sSub>
                    </m:oMath>
                  </m:oMathPara>
                </a14:m>
                <a:endParaRPr lang="zh-CN" alt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5231905" y="5990840"/>
                <a:ext cx="2176045" cy="606513"/>
              </a:xfrm>
              <a:prstGeom prst="rect">
                <a:avLst/>
              </a:prstGeom>
              <a:blipFill>
                <a:blip r:embed="rId6"/>
                <a:stretch>
                  <a:fillRect/>
                </a:stretch>
              </a:blipFill>
            </p:spPr>
            <p:txBody>
              <a:bodyPr/>
              <a:lstStyle/>
              <a:p>
                <a:r>
                  <a:rPr lang="zh-CN" altLang="en-US">
                    <a:noFill/>
                  </a:rPr>
                  <a:t> </a:t>
                </a:r>
              </a:p>
            </p:txBody>
          </p:sp>
        </mc:Fallback>
      </mc:AlternateContent>
      <p:sp>
        <p:nvSpPr>
          <p:cNvPr id="13" name="Rectangle 12"/>
          <p:cNvSpPr>
            <a:spLocks noChangeArrowheads="1"/>
          </p:cNvSpPr>
          <p:nvPr/>
        </p:nvSpPr>
        <p:spPr bwMode="auto">
          <a:xfrm>
            <a:off x="1991545" y="2528754"/>
            <a:ext cx="823354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zh-CN" altLang="en-US" sz="2800" b="1" dirty="0">
                <a:solidFill>
                  <a:schemeClr val="hlink"/>
                </a:solidFill>
                <a:latin typeface="黑体" panose="02010609060101010101" pitchFamily="49" charset="-122"/>
                <a:ea typeface="黑体" panose="02010609060101010101" pitchFamily="49" charset="-122"/>
              </a:rPr>
              <a:t>类类间</a:t>
            </a:r>
            <a:r>
              <a:rPr lang="zh-CN" altLang="en-US" sz="2800"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两类重心之间的距离即</a:t>
            </a:r>
            <a:r>
              <a:rPr lang="zh-CN" altLang="en-US" sz="2800" b="1" dirty="0"/>
              <a:t>均值点间的距离</a:t>
            </a:r>
          </a:p>
        </p:txBody>
      </p:sp>
      <p:graphicFrame>
        <p:nvGraphicFramePr>
          <p:cNvPr id="4" name="Object 11">
            <a:extLst>
              <a:ext uri="{FF2B5EF4-FFF2-40B4-BE49-F238E27FC236}">
                <a16:creationId xmlns:a16="http://schemas.microsoft.com/office/drawing/2014/main" id="{B36288D6-24D9-FD12-D5B5-572702E2BE68}"/>
              </a:ext>
            </a:extLst>
          </p:cNvPr>
          <p:cNvGraphicFramePr>
            <a:graphicFrameLocks noChangeAspect="1"/>
          </p:cNvGraphicFramePr>
          <p:nvPr>
            <p:extLst>
              <p:ext uri="{D42A27DB-BD31-4B8C-83A1-F6EECF244321}">
                <p14:modId xmlns:p14="http://schemas.microsoft.com/office/powerpoint/2010/main" val="280712356"/>
              </p:ext>
            </p:extLst>
          </p:nvPr>
        </p:nvGraphicFramePr>
        <p:xfrm>
          <a:off x="3671888" y="3912556"/>
          <a:ext cx="477838" cy="609921"/>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2" name="Object 11">
                        <a:extLst>
                          <a:ext uri="{FF2B5EF4-FFF2-40B4-BE49-F238E27FC236}">
                            <a16:creationId xmlns:a16="http://schemas.microsoft.com/office/drawing/2014/main" id="{6B06A344-DC69-0E9E-E093-7EB197AD2D39}"/>
                          </a:ext>
                        </a:extLst>
                      </p:cNvPr>
                      <p:cNvPicPr>
                        <a:picLocks noChangeAspect="1" noChangeArrowheads="1"/>
                      </p:cNvPicPr>
                      <p:nvPr/>
                    </p:nvPicPr>
                    <p:blipFill>
                      <a:blip r:embed="rId8"/>
                      <a:srcRect/>
                      <a:stretch>
                        <a:fillRect/>
                      </a:stretch>
                    </p:blipFill>
                    <p:spPr bwMode="auto">
                      <a:xfrm>
                        <a:off x="3671888" y="3912556"/>
                        <a:ext cx="477838" cy="609921"/>
                      </a:xfrm>
                      <a:prstGeom prst="rect">
                        <a:avLst/>
                      </a:prstGeom>
                      <a:noFill/>
                      <a:ln>
                        <a:noFill/>
                      </a:ln>
                      <a:effectLst/>
                    </p:spPr>
                  </p:pic>
                </p:oleObj>
              </mc:Fallback>
            </mc:AlternateContent>
          </a:graphicData>
        </a:graphic>
      </p:graphicFrame>
      <p:graphicFrame>
        <p:nvGraphicFramePr>
          <p:cNvPr id="5" name="Object 11">
            <a:extLst>
              <a:ext uri="{FF2B5EF4-FFF2-40B4-BE49-F238E27FC236}">
                <a16:creationId xmlns:a16="http://schemas.microsoft.com/office/drawing/2014/main" id="{F17419F1-15B3-917A-C680-4BE9574581BB}"/>
              </a:ext>
            </a:extLst>
          </p:cNvPr>
          <p:cNvGraphicFramePr>
            <a:graphicFrameLocks noChangeAspect="1"/>
          </p:cNvGraphicFramePr>
          <p:nvPr>
            <p:extLst>
              <p:ext uri="{D42A27DB-BD31-4B8C-83A1-F6EECF244321}">
                <p14:modId xmlns:p14="http://schemas.microsoft.com/office/powerpoint/2010/main" val="319009332"/>
              </p:ext>
            </p:extLst>
          </p:nvPr>
        </p:nvGraphicFramePr>
        <p:xfrm>
          <a:off x="8628856" y="3682504"/>
          <a:ext cx="547688" cy="642938"/>
        </p:xfrm>
        <a:graphic>
          <a:graphicData uri="http://schemas.openxmlformats.org/presentationml/2006/ole">
            <mc:AlternateContent xmlns:mc="http://schemas.openxmlformats.org/markup-compatibility/2006">
              <mc:Choice xmlns:v="urn:schemas-microsoft-com:vml" Requires="v">
                <p:oleObj name="Equation" r:id="rId9" imgW="203040" imgH="241200" progId="Equation.DSMT4">
                  <p:embed/>
                </p:oleObj>
              </mc:Choice>
              <mc:Fallback>
                <p:oleObj name="Equation" r:id="rId9" imgW="203040" imgH="241200" progId="Equation.DSMT4">
                  <p:embed/>
                  <p:pic>
                    <p:nvPicPr>
                      <p:cNvPr id="3" name="Object 11">
                        <a:extLst>
                          <a:ext uri="{FF2B5EF4-FFF2-40B4-BE49-F238E27FC236}">
                            <a16:creationId xmlns:a16="http://schemas.microsoft.com/office/drawing/2014/main" id="{73552BEE-85E5-5D6F-D55F-BD253BECF964}"/>
                          </a:ext>
                        </a:extLst>
                      </p:cNvPr>
                      <p:cNvPicPr>
                        <a:picLocks noChangeAspect="1" noChangeArrowheads="1"/>
                      </p:cNvPicPr>
                      <p:nvPr/>
                    </p:nvPicPr>
                    <p:blipFill>
                      <a:blip r:embed="rId10"/>
                      <a:srcRect/>
                      <a:stretch>
                        <a:fillRect/>
                      </a:stretch>
                    </p:blipFill>
                    <p:spPr bwMode="auto">
                      <a:xfrm>
                        <a:off x="8628856" y="3682504"/>
                        <a:ext cx="547688" cy="642938"/>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2738AA9B-4A8D-422D-C9DF-EDD371F813EC}"/>
              </a:ext>
            </a:extLst>
          </p:cNvPr>
          <p:cNvSpPr>
            <a:spLocks noGrp="1"/>
          </p:cNvSpPr>
          <p:nvPr>
            <p:ph type="sldNum" sz="quarter" idx="11"/>
          </p:nvPr>
        </p:nvSpPr>
        <p:spPr/>
        <p:txBody>
          <a:bodyPr/>
          <a:lstStyle/>
          <a:p>
            <a:pPr>
              <a:defRPr/>
            </a:pPr>
            <a:fld id="{C8CF5D13-9327-41E7-B85A-5EA9BAF71A8F}" type="slidenum">
              <a:rPr lang="en-US" altLang="zh-CN" smtClean="0"/>
              <a:pPr>
                <a:defRPr/>
              </a:pPr>
              <a:t>58</a:t>
            </a:fld>
            <a:endParaRPr lang="en-US" altLang="zh-CN"/>
          </a:p>
        </p:txBody>
      </p:sp>
    </p:spTree>
    <p:extLst>
      <p:ext uri="{BB962C8B-B14F-4D97-AF65-F5344CB8AC3E}">
        <p14:creationId xmlns:p14="http://schemas.microsoft.com/office/powerpoint/2010/main" val="60860885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3193"/>
                                        </p:tgtEl>
                                        <p:attrNameLst>
                                          <p:attrName>style.visibility</p:attrName>
                                        </p:attrNameLst>
                                      </p:cBhvr>
                                      <p:to>
                                        <p:strVal val="visible"/>
                                      </p:to>
                                    </p:set>
                                    <p:animEffect transition="in" filter="blinds(horizontal)">
                                      <p:cBhvr>
                                        <p:cTn id="7" dur="500"/>
                                        <p:tgtEl>
                                          <p:spTgt spid="26319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19289" y="260351"/>
            <a:ext cx="8497887" cy="904875"/>
          </a:xfrm>
        </p:spPr>
        <p:txBody>
          <a:bodyPr/>
          <a:lstStyle/>
          <a:p>
            <a:pPr algn="ctr" eaLnBrk="1" hangingPunct="1"/>
            <a:r>
              <a:rPr lang="zh-CN" altLang="en-US">
                <a:solidFill>
                  <a:srgbClr val="057939"/>
                </a:solidFill>
                <a:latin typeface="黑体" pitchFamily="2" charset="-122"/>
                <a:ea typeface="黑体" pitchFamily="2" charset="-122"/>
              </a:rPr>
              <a:t>系统聚类方法</a:t>
            </a:r>
          </a:p>
        </p:txBody>
      </p:sp>
      <p:sp>
        <p:nvSpPr>
          <p:cNvPr id="274435" name="Rectangle 3"/>
          <p:cNvSpPr>
            <a:spLocks noGrp="1" noChangeArrowheads="1"/>
          </p:cNvSpPr>
          <p:nvPr>
            <p:ph type="body" idx="1"/>
          </p:nvPr>
        </p:nvSpPr>
        <p:spPr>
          <a:xfrm>
            <a:off x="1703389" y="1700214"/>
            <a:ext cx="8569325" cy="1152525"/>
          </a:xfrm>
        </p:spPr>
        <p:txBody>
          <a:bodyPr/>
          <a:lstStyle/>
          <a:p>
            <a:pPr algn="just" eaLnBrk="1" hangingPunct="1">
              <a:lnSpc>
                <a:spcPct val="125000"/>
              </a:lnSpc>
              <a:buFont typeface="Wingdings" pitchFamily="2" charset="2"/>
              <a:buNone/>
            </a:pPr>
            <a:r>
              <a:rPr lang="en-US" altLang="zh-CN" sz="2400" dirty="0">
                <a:latin typeface="宋体" pitchFamily="2" charset="-122"/>
                <a:cs typeface="Times New Roman" pitchFamily="18" charset="0"/>
              </a:rPr>
              <a:t>    1</a:t>
            </a:r>
            <a:r>
              <a:rPr lang="zh-CN" altLang="en-US" sz="2400" dirty="0">
                <a:latin typeface="宋体" pitchFamily="2" charset="-122"/>
                <a:cs typeface="Times New Roman" pitchFamily="18" charset="0"/>
              </a:rPr>
              <a:t>、按</a:t>
            </a:r>
            <a:r>
              <a:rPr lang="zh-CN" altLang="en-US" sz="2400" dirty="0">
                <a:latin typeface="宋体" pitchFamily="2" charset="-122"/>
              </a:rPr>
              <a:t>样本特征，规定样本之间的距离  ，共有   个。将所有列表记为</a:t>
            </a:r>
            <a:r>
              <a:rPr lang="en-US" altLang="zh-CN" sz="2400" b="1" dirty="0">
                <a:latin typeface="宋体" pitchFamily="2" charset="-122"/>
                <a:cs typeface="Times New Roman" pitchFamily="18" charset="0"/>
              </a:rPr>
              <a:t>D(0)</a:t>
            </a:r>
            <a:r>
              <a:rPr lang="zh-CN" altLang="en-US" sz="2400" dirty="0">
                <a:latin typeface="宋体" pitchFamily="2" charset="-122"/>
              </a:rPr>
              <a:t>表</a:t>
            </a:r>
            <a:r>
              <a:rPr lang="en-US" altLang="zh-CN" sz="2400" dirty="0">
                <a:latin typeface="宋体" pitchFamily="2" charset="-122"/>
              </a:rPr>
              <a:t>(</a:t>
            </a:r>
            <a:r>
              <a:rPr lang="zh-CN" altLang="en-US" sz="2400" dirty="0">
                <a:latin typeface="宋体" pitchFamily="2" charset="-122"/>
              </a:rPr>
              <a:t>对称表）。所有的样本点各自为一类。</a:t>
            </a:r>
            <a:endParaRPr lang="zh-CN" altLang="en-US" sz="2800" dirty="0">
              <a:latin typeface="宋体" pitchFamily="2" charset="-122"/>
            </a:endParaRPr>
          </a:p>
        </p:txBody>
      </p:sp>
      <p:sp>
        <p:nvSpPr>
          <p:cNvPr id="50180" name="Rectangle 4"/>
          <p:cNvSpPr>
            <a:spLocks noChangeArrowheads="1"/>
          </p:cNvSpPr>
          <p:nvPr/>
        </p:nvSpPr>
        <p:spPr bwMode="auto">
          <a:xfrm>
            <a:off x="600075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181" name="Rectangle 5"/>
          <p:cNvSpPr>
            <a:spLocks noChangeArrowheads="1"/>
          </p:cNvSpPr>
          <p:nvPr/>
        </p:nvSpPr>
        <p:spPr bwMode="auto">
          <a:xfrm>
            <a:off x="598646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182" name="Rectangle 6"/>
          <p:cNvSpPr>
            <a:spLocks noChangeArrowheads="1"/>
          </p:cNvSpPr>
          <p:nvPr/>
        </p:nvSpPr>
        <p:spPr bwMode="auto">
          <a:xfrm>
            <a:off x="598646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183" name="Rectangle 7"/>
          <p:cNvSpPr>
            <a:spLocks noChangeArrowheads="1"/>
          </p:cNvSpPr>
          <p:nvPr/>
        </p:nvSpPr>
        <p:spPr bwMode="auto">
          <a:xfrm>
            <a:off x="5995988"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184" name="Rectangle 8"/>
          <p:cNvSpPr>
            <a:spLocks noChangeArrowheads="1"/>
          </p:cNvSpPr>
          <p:nvPr/>
        </p:nvSpPr>
        <p:spPr bwMode="auto">
          <a:xfrm>
            <a:off x="6000750" y="33194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274453" name="Group 21"/>
          <p:cNvGrpSpPr>
            <a:grpSpLocks/>
          </p:cNvGrpSpPr>
          <p:nvPr/>
        </p:nvGrpSpPr>
        <p:grpSpPr bwMode="auto">
          <a:xfrm>
            <a:off x="1662113" y="2781300"/>
            <a:ext cx="8610600" cy="1219200"/>
            <a:chOff x="204" y="2478"/>
            <a:chExt cx="5424" cy="768"/>
          </a:xfrm>
        </p:grpSpPr>
        <p:sp>
          <p:nvSpPr>
            <p:cNvPr id="50191" name="Rectangle 9"/>
            <p:cNvSpPr>
              <a:spLocks noChangeArrowheads="1"/>
            </p:cNvSpPr>
            <p:nvPr/>
          </p:nvSpPr>
          <p:spPr bwMode="auto">
            <a:xfrm>
              <a:off x="204" y="2478"/>
              <a:ext cx="5424"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lnSpc>
                  <a:spcPct val="125000"/>
                </a:lnSpc>
                <a:spcBef>
                  <a:spcPct val="20000"/>
                </a:spcBef>
                <a:buClr>
                  <a:srgbClr val="A50021"/>
                </a:buClr>
                <a:buSzPct val="75000"/>
              </a:pPr>
              <a:r>
                <a:rPr kumimoji="1" lang="en-US" altLang="zh-CN" sz="2400">
                  <a:latin typeface="Times New Roman" pitchFamily="18" charset="0"/>
                </a:rPr>
                <a:t>        2</a:t>
              </a:r>
              <a:r>
                <a:rPr kumimoji="1" lang="zh-CN" altLang="en-US" sz="2400">
                  <a:latin typeface="Times New Roman" pitchFamily="18" charset="0"/>
                </a:rPr>
                <a:t>、</a:t>
              </a:r>
              <a:r>
                <a:rPr kumimoji="1" lang="zh-CN" altLang="en-US" sz="2400">
                  <a:latin typeface="宋体" pitchFamily="2" charset="-122"/>
                </a:rPr>
                <a:t>选择</a:t>
              </a:r>
              <a:r>
                <a:rPr kumimoji="1" lang="en-US" altLang="zh-CN" sz="2400" b="1">
                  <a:latin typeface="宋体" pitchFamily="2" charset="-122"/>
                  <a:cs typeface="Times New Roman" pitchFamily="18" charset="0"/>
                </a:rPr>
                <a:t>D(0)</a:t>
              </a:r>
              <a:r>
                <a:rPr kumimoji="1" lang="zh-CN" altLang="en-US" sz="2400">
                  <a:latin typeface="宋体" pitchFamily="2" charset="-122"/>
                </a:rPr>
                <a:t>表示最小的非零数，不妨假设   ，于是将   和   合并为一类，记为              。</a:t>
              </a:r>
              <a:endParaRPr kumimoji="1" lang="zh-CN" altLang="en-US" sz="2800">
                <a:latin typeface="Times New Roman" pitchFamily="18" charset="0"/>
              </a:endParaRPr>
            </a:p>
          </p:txBody>
        </p:sp>
        <p:grpSp>
          <p:nvGrpSpPr>
            <p:cNvPr id="50192" name="Group 20"/>
            <p:cNvGrpSpPr>
              <a:grpSpLocks/>
            </p:cNvGrpSpPr>
            <p:nvPr/>
          </p:nvGrpSpPr>
          <p:grpSpPr bwMode="auto">
            <a:xfrm>
              <a:off x="748" y="2568"/>
              <a:ext cx="4788" cy="603"/>
              <a:chOff x="748" y="2568"/>
              <a:chExt cx="4788" cy="603"/>
            </a:xfrm>
          </p:grpSpPr>
          <p:graphicFrame>
            <p:nvGraphicFramePr>
              <p:cNvPr id="50193" name="Object 11"/>
              <p:cNvGraphicFramePr>
                <a:graphicFrameLocks noChangeAspect="1"/>
              </p:cNvGraphicFramePr>
              <p:nvPr/>
            </p:nvGraphicFramePr>
            <p:xfrm>
              <a:off x="4195" y="2568"/>
              <a:ext cx="269" cy="284"/>
            </p:xfrm>
            <a:graphic>
              <a:graphicData uri="http://schemas.openxmlformats.org/presentationml/2006/ole">
                <mc:AlternateContent xmlns:mc="http://schemas.openxmlformats.org/markup-compatibility/2006">
                  <mc:Choice xmlns:v="urn:schemas-microsoft-com:vml" Requires="v">
                    <p:oleObj name="公式" r:id="rId2" imgW="400067" imgH="428760" progId="Equation.3">
                      <p:embed/>
                    </p:oleObj>
                  </mc:Choice>
                  <mc:Fallback>
                    <p:oleObj name="公式" r:id="rId2" imgW="400067" imgH="4287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5" y="2568"/>
                            <a:ext cx="26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94" name="Object 12"/>
              <p:cNvGraphicFramePr>
                <a:graphicFrameLocks noChangeAspect="1"/>
              </p:cNvGraphicFramePr>
              <p:nvPr/>
            </p:nvGraphicFramePr>
            <p:xfrm>
              <a:off x="5284" y="2568"/>
              <a:ext cx="252" cy="284"/>
            </p:xfrm>
            <a:graphic>
              <a:graphicData uri="http://schemas.openxmlformats.org/presentationml/2006/ole">
                <mc:AlternateContent xmlns:mc="http://schemas.openxmlformats.org/markup-compatibility/2006">
                  <mc:Choice xmlns:v="urn:schemas-microsoft-com:vml" Requires="v">
                    <p:oleObj name="公式" r:id="rId4" imgW="361978" imgH="428760" progId="Equation.3">
                      <p:embed/>
                    </p:oleObj>
                  </mc:Choice>
                  <mc:Fallback>
                    <p:oleObj name="公式" r:id="rId4" imgW="361978" imgH="4287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4" y="2568"/>
                            <a:ext cx="252"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95" name="Object 13"/>
              <p:cNvGraphicFramePr>
                <a:graphicFrameLocks noChangeAspect="1"/>
              </p:cNvGraphicFramePr>
              <p:nvPr/>
            </p:nvGraphicFramePr>
            <p:xfrm>
              <a:off x="748" y="2886"/>
              <a:ext cx="228" cy="285"/>
            </p:xfrm>
            <a:graphic>
              <a:graphicData uri="http://schemas.openxmlformats.org/presentationml/2006/ole">
                <mc:AlternateContent xmlns:mc="http://schemas.openxmlformats.org/markup-compatibility/2006">
                  <mc:Choice xmlns:v="urn:schemas-microsoft-com:vml" Requires="v">
                    <p:oleObj name="公式" r:id="rId6" imgW="342799" imgH="428760" progId="Equation.3">
                      <p:embed/>
                    </p:oleObj>
                  </mc:Choice>
                  <mc:Fallback>
                    <p:oleObj name="公式" r:id="rId6" imgW="342799" imgH="4287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 y="2886"/>
                            <a:ext cx="22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96" name="Object 14"/>
              <p:cNvGraphicFramePr>
                <a:graphicFrameLocks noChangeAspect="1"/>
              </p:cNvGraphicFramePr>
              <p:nvPr/>
            </p:nvGraphicFramePr>
            <p:xfrm>
              <a:off x="2562" y="2886"/>
              <a:ext cx="1260" cy="284"/>
            </p:xfrm>
            <a:graphic>
              <a:graphicData uri="http://schemas.openxmlformats.org/presentationml/2006/ole">
                <mc:AlternateContent xmlns:mc="http://schemas.openxmlformats.org/markup-compatibility/2006">
                  <mc:Choice xmlns:v="urn:schemas-microsoft-com:vml" Requires="v">
                    <p:oleObj name="公式" r:id="rId8" imgW="1981155" imgH="428760" progId="Equation.3">
                      <p:embed/>
                    </p:oleObj>
                  </mc:Choice>
                  <mc:Fallback>
                    <p:oleObj name="公式" r:id="rId8" imgW="1981155" imgH="42876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2" y="2886"/>
                            <a:ext cx="126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aphicFrame>
        <p:nvGraphicFramePr>
          <p:cNvPr id="274447" name="Object 15"/>
          <p:cNvGraphicFramePr>
            <a:graphicFrameLocks noChangeAspect="1"/>
          </p:cNvGraphicFramePr>
          <p:nvPr/>
        </p:nvGraphicFramePr>
        <p:xfrm>
          <a:off x="8832851" y="1773238"/>
          <a:ext cx="385763" cy="438150"/>
        </p:xfrm>
        <a:graphic>
          <a:graphicData uri="http://schemas.openxmlformats.org/presentationml/2006/ole">
            <mc:AlternateContent xmlns:mc="http://schemas.openxmlformats.org/markup-compatibility/2006">
              <mc:Choice xmlns:v="urn:schemas-microsoft-com:vml" Requires="v">
                <p:oleObj name="公式" r:id="rId10" imgW="352523" imgH="419040" progId="Equation.3">
                  <p:embed/>
                </p:oleObj>
              </mc:Choice>
              <mc:Fallback>
                <p:oleObj name="公式" r:id="rId10" imgW="352523"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32851" y="1773238"/>
                        <a:ext cx="38576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4448" name="Object 16"/>
          <p:cNvGraphicFramePr>
            <a:graphicFrameLocks noChangeAspect="1"/>
          </p:cNvGraphicFramePr>
          <p:nvPr/>
        </p:nvGraphicFramePr>
        <p:xfrm>
          <a:off x="7535863" y="1844675"/>
          <a:ext cx="330200" cy="450850"/>
        </p:xfrm>
        <a:graphic>
          <a:graphicData uri="http://schemas.openxmlformats.org/presentationml/2006/ole">
            <mc:AlternateContent xmlns:mc="http://schemas.openxmlformats.org/markup-compatibility/2006">
              <mc:Choice xmlns:v="urn:schemas-microsoft-com:vml" Requires="v">
                <p:oleObj name="公式" r:id="rId12" imgW="304710" imgH="428760" progId="Equation.3">
                  <p:embed/>
                </p:oleObj>
              </mc:Choice>
              <mc:Fallback>
                <p:oleObj name="公式" r:id="rId12" imgW="304710" imgH="4287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35863" y="1844675"/>
                        <a:ext cx="3302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4449" name="Rectangle 17"/>
          <p:cNvSpPr>
            <a:spLocks noChangeArrowheads="1"/>
          </p:cNvSpPr>
          <p:nvPr/>
        </p:nvSpPr>
        <p:spPr bwMode="auto">
          <a:xfrm>
            <a:off x="1919288" y="1125538"/>
            <a:ext cx="3657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zh-CN" altLang="en-US" sz="2800">
                <a:solidFill>
                  <a:srgbClr val="EE0006"/>
                </a:solidFill>
                <a:latin typeface="Times New Roman" pitchFamily="18" charset="0"/>
                <a:ea typeface="黑体" pitchFamily="2" charset="-122"/>
              </a:rPr>
              <a:t>方法：</a:t>
            </a:r>
          </a:p>
        </p:txBody>
      </p:sp>
      <p:sp>
        <p:nvSpPr>
          <p:cNvPr id="274451" name="Rectangle 19"/>
          <p:cNvSpPr>
            <a:spLocks noChangeArrowheads="1"/>
          </p:cNvSpPr>
          <p:nvPr/>
        </p:nvSpPr>
        <p:spPr bwMode="auto">
          <a:xfrm>
            <a:off x="2135188" y="3860801"/>
            <a:ext cx="8208962"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buClr>
                <a:schemeClr val="bg1"/>
              </a:buClr>
              <a:buSzPct val="75000"/>
            </a:pPr>
            <a:r>
              <a:rPr kumimoji="1" lang="en-US" altLang="zh-CN" sz="2400"/>
              <a:t> 3</a:t>
            </a:r>
            <a:r>
              <a:rPr kumimoji="1" lang="zh-CN" altLang="en-US" sz="2400"/>
              <a:t>、按递推公式计算新类与其它类之间的距离。分别删除</a:t>
            </a:r>
            <a:r>
              <a:rPr kumimoji="1" lang="en-US" altLang="zh-CN" sz="2400" b="1"/>
              <a:t>D(0)</a:t>
            </a:r>
            <a:r>
              <a:rPr kumimoji="1" lang="zh-CN" altLang="en-US" sz="2400"/>
              <a:t>表的第</a:t>
            </a:r>
            <a:r>
              <a:rPr kumimoji="1" lang="en-US" altLang="zh-CN" sz="2400"/>
              <a:t>p</a:t>
            </a:r>
            <a:r>
              <a:rPr kumimoji="1" lang="zh-CN" altLang="en-US" sz="2400"/>
              <a:t>，</a:t>
            </a:r>
            <a:r>
              <a:rPr kumimoji="1" lang="en-US" altLang="zh-CN" sz="2400"/>
              <a:t>q</a:t>
            </a:r>
            <a:r>
              <a:rPr kumimoji="1" lang="zh-CN" altLang="en-US" sz="2400"/>
              <a:t>行和第</a:t>
            </a:r>
            <a:r>
              <a:rPr kumimoji="1" lang="en-US" altLang="zh-CN" sz="2400"/>
              <a:t>p</a:t>
            </a:r>
            <a:r>
              <a:rPr kumimoji="1" lang="zh-CN" altLang="en-US" sz="2400"/>
              <a:t>，</a:t>
            </a:r>
            <a:r>
              <a:rPr kumimoji="1" lang="en-US" altLang="zh-CN" sz="2400"/>
              <a:t>q</a:t>
            </a:r>
            <a:r>
              <a:rPr kumimoji="1" lang="zh-CN" altLang="en-US" sz="2400"/>
              <a:t>列，并新增一行和一列添上的结果，产生</a:t>
            </a:r>
            <a:r>
              <a:rPr kumimoji="1" lang="en-US" altLang="zh-CN" sz="2400" b="1"/>
              <a:t>D(1)</a:t>
            </a:r>
            <a:r>
              <a:rPr kumimoji="1" lang="zh-CN" altLang="en-US" sz="2400"/>
              <a:t>表</a:t>
            </a:r>
            <a:r>
              <a:rPr kumimoji="1" lang="zh-CN" altLang="en-US"/>
              <a:t>。</a:t>
            </a:r>
          </a:p>
        </p:txBody>
      </p:sp>
      <p:sp>
        <p:nvSpPr>
          <p:cNvPr id="274454" name="Rectangle 22"/>
          <p:cNvSpPr>
            <a:spLocks noChangeArrowheads="1"/>
          </p:cNvSpPr>
          <p:nvPr/>
        </p:nvSpPr>
        <p:spPr bwMode="auto">
          <a:xfrm>
            <a:off x="2279651" y="5445126"/>
            <a:ext cx="79930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a:t> 4</a:t>
            </a:r>
            <a:r>
              <a:rPr kumimoji="1" lang="zh-CN" altLang="en-US" sz="2400"/>
              <a:t>、在</a:t>
            </a:r>
            <a:r>
              <a:rPr kumimoji="1" lang="en-US" altLang="zh-CN" sz="2400" b="1"/>
              <a:t>D(1)</a:t>
            </a:r>
            <a:r>
              <a:rPr kumimoji="1" lang="zh-CN" altLang="en-US" sz="2400"/>
              <a:t>表再选择最小的非零数，重复第</a:t>
            </a:r>
            <a:r>
              <a:rPr kumimoji="1" lang="en-US" altLang="zh-CN" sz="2400"/>
              <a:t>3</a:t>
            </a:r>
            <a:r>
              <a:rPr kumimoji="1" lang="zh-CN" altLang="en-US" sz="2400"/>
              <a:t>步产生</a:t>
            </a:r>
            <a:r>
              <a:rPr kumimoji="1" lang="en-US" altLang="zh-CN" sz="2400" b="1"/>
              <a:t>D(2)</a:t>
            </a:r>
            <a:r>
              <a:rPr kumimoji="1" lang="zh-CN" altLang="en-US" sz="2400"/>
              <a:t>表。类推直至所有的样本点归为一类为止。</a:t>
            </a:r>
          </a:p>
        </p:txBody>
      </p:sp>
      <p:sp>
        <p:nvSpPr>
          <p:cNvPr id="2" name="灯片编号占位符 1">
            <a:extLst>
              <a:ext uri="{FF2B5EF4-FFF2-40B4-BE49-F238E27FC236}">
                <a16:creationId xmlns:a16="http://schemas.microsoft.com/office/drawing/2014/main" id="{3C193A89-04F0-CC6F-9645-3E2BD76D1797}"/>
              </a:ext>
            </a:extLst>
          </p:cNvPr>
          <p:cNvSpPr>
            <a:spLocks noGrp="1"/>
          </p:cNvSpPr>
          <p:nvPr>
            <p:ph type="sldNum" sz="quarter" idx="11"/>
          </p:nvPr>
        </p:nvSpPr>
        <p:spPr/>
        <p:txBody>
          <a:bodyPr/>
          <a:lstStyle/>
          <a:p>
            <a:pPr>
              <a:defRPr/>
            </a:pPr>
            <a:fld id="{F13753BC-CAEF-4333-AC48-2805658F6E3F}" type="slidenum">
              <a:rPr lang="en-US" altLang="zh-CN" smtClean="0"/>
              <a:pPr>
                <a:defRPr/>
              </a:pPr>
              <a:t>59</a:t>
            </a:fld>
            <a:endParaRPr lang="en-US" altLang="zh-CN"/>
          </a:p>
        </p:txBody>
      </p:sp>
    </p:spTree>
    <p:extLst>
      <p:ext uri="{BB962C8B-B14F-4D97-AF65-F5344CB8AC3E}">
        <p14:creationId xmlns:p14="http://schemas.microsoft.com/office/powerpoint/2010/main" val="389302004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449"/>
                                        </p:tgtEl>
                                        <p:attrNameLst>
                                          <p:attrName>style.visibility</p:attrName>
                                        </p:attrNameLst>
                                      </p:cBhvr>
                                      <p:to>
                                        <p:strVal val="visible"/>
                                      </p:to>
                                    </p:set>
                                    <p:animEffect transition="in" filter="blinds(horizontal)">
                                      <p:cBhvr>
                                        <p:cTn id="7" dur="500"/>
                                        <p:tgtEl>
                                          <p:spTgt spid="2744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435">
                                            <p:txEl>
                                              <p:pRg st="0" end="0"/>
                                            </p:txEl>
                                          </p:spTgt>
                                        </p:tgtEl>
                                        <p:attrNameLst>
                                          <p:attrName>style.visibility</p:attrName>
                                        </p:attrNameLst>
                                      </p:cBhvr>
                                      <p:to>
                                        <p:strVal val="visible"/>
                                      </p:to>
                                    </p:set>
                                    <p:animEffect transition="in" filter="blinds(horizontal)">
                                      <p:cBhvr>
                                        <p:cTn id="12" dur="500"/>
                                        <p:tgtEl>
                                          <p:spTgt spid="27443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74447"/>
                                        </p:tgtEl>
                                        <p:attrNameLst>
                                          <p:attrName>style.visibility</p:attrName>
                                        </p:attrNameLst>
                                      </p:cBhvr>
                                      <p:to>
                                        <p:strVal val="visible"/>
                                      </p:to>
                                    </p:set>
                                    <p:animEffect transition="in" filter="blinds(horizontal)">
                                      <p:cBhvr>
                                        <p:cTn id="15" dur="500"/>
                                        <p:tgtEl>
                                          <p:spTgt spid="274447"/>
                                        </p:tgtEl>
                                      </p:cBhvr>
                                    </p:animEffect>
                                  </p:childTnLst>
                                </p:cTn>
                              </p:par>
                              <p:par>
                                <p:cTn id="16" presetID="3" presetClass="entr" presetSubtype="10" fill="hold" nodeType="withEffect">
                                  <p:stCondLst>
                                    <p:cond delay="0"/>
                                  </p:stCondLst>
                                  <p:childTnLst>
                                    <p:set>
                                      <p:cBhvr>
                                        <p:cTn id="17" dur="1" fill="hold">
                                          <p:stCondLst>
                                            <p:cond delay="0"/>
                                          </p:stCondLst>
                                        </p:cTn>
                                        <p:tgtEl>
                                          <p:spTgt spid="274448"/>
                                        </p:tgtEl>
                                        <p:attrNameLst>
                                          <p:attrName>style.visibility</p:attrName>
                                        </p:attrNameLst>
                                      </p:cBhvr>
                                      <p:to>
                                        <p:strVal val="visible"/>
                                      </p:to>
                                    </p:set>
                                    <p:animEffect transition="in" filter="blinds(horizontal)">
                                      <p:cBhvr>
                                        <p:cTn id="18" dur="500"/>
                                        <p:tgtEl>
                                          <p:spTgt spid="27444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74453"/>
                                        </p:tgtEl>
                                        <p:attrNameLst>
                                          <p:attrName>style.visibility</p:attrName>
                                        </p:attrNameLst>
                                      </p:cBhvr>
                                      <p:to>
                                        <p:strVal val="visible"/>
                                      </p:to>
                                    </p:set>
                                    <p:animEffect transition="in" filter="wipe(left)">
                                      <p:cBhvr>
                                        <p:cTn id="23" dur="500"/>
                                        <p:tgtEl>
                                          <p:spTgt spid="2744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4451"/>
                                        </p:tgtEl>
                                        <p:attrNameLst>
                                          <p:attrName>style.visibility</p:attrName>
                                        </p:attrNameLst>
                                      </p:cBhvr>
                                      <p:to>
                                        <p:strVal val="visible"/>
                                      </p:to>
                                    </p:set>
                                    <p:animEffect transition="in" filter="wipe(left)">
                                      <p:cBhvr>
                                        <p:cTn id="28" dur="500"/>
                                        <p:tgtEl>
                                          <p:spTgt spid="2744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4454"/>
                                        </p:tgtEl>
                                        <p:attrNameLst>
                                          <p:attrName>style.visibility</p:attrName>
                                        </p:attrNameLst>
                                      </p:cBhvr>
                                      <p:to>
                                        <p:strVal val="visible"/>
                                      </p:to>
                                    </p:set>
                                    <p:animEffect transition="in" filter="wipe(left)">
                                      <p:cBhvr>
                                        <p:cTn id="33" dur="500"/>
                                        <p:tgtEl>
                                          <p:spTgt spid="274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P spid="274449" grpId="0"/>
      <p:bldP spid="274451" grpId="0"/>
      <p:bldP spid="27445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7509" name="Object 5"/>
          <p:cNvGraphicFramePr>
            <a:graphicFrameLocks noChangeAspect="1"/>
          </p:cNvGraphicFramePr>
          <p:nvPr/>
        </p:nvGraphicFramePr>
        <p:xfrm>
          <a:off x="3281363" y="4033838"/>
          <a:ext cx="330200" cy="425450"/>
        </p:xfrm>
        <a:graphic>
          <a:graphicData uri="http://schemas.openxmlformats.org/presentationml/2006/ole">
            <mc:AlternateContent xmlns:mc="http://schemas.openxmlformats.org/markup-compatibility/2006">
              <mc:Choice xmlns:v="urn:schemas-microsoft-com:vml" Requires="v">
                <p:oleObj name="公式" r:id="rId3" imgW="304710" imgH="390420" progId="Equation.3">
                  <p:embed/>
                </p:oleObj>
              </mc:Choice>
              <mc:Fallback>
                <p:oleObj name="公式" r:id="rId3" imgW="304710" imgH="3904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363" y="4033838"/>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0" name="Object 6"/>
          <p:cNvGraphicFramePr>
            <a:graphicFrameLocks noChangeAspect="1"/>
          </p:cNvGraphicFramePr>
          <p:nvPr/>
        </p:nvGraphicFramePr>
        <p:xfrm>
          <a:off x="5110163" y="3500438"/>
          <a:ext cx="361950" cy="425450"/>
        </p:xfrm>
        <a:graphic>
          <a:graphicData uri="http://schemas.openxmlformats.org/presentationml/2006/ole">
            <mc:AlternateContent xmlns:mc="http://schemas.openxmlformats.org/markup-compatibility/2006">
              <mc:Choice xmlns:v="urn:schemas-microsoft-com:vml" Requires="v">
                <p:oleObj name="公式" r:id="rId5" imgW="342799" imgH="390420" progId="Equation.3">
                  <p:embed/>
                </p:oleObj>
              </mc:Choice>
              <mc:Fallback>
                <p:oleObj name="公式" r:id="rId5" imgW="342799" imgH="3904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0163" y="3500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1" name="Object 7"/>
          <p:cNvGraphicFramePr>
            <a:graphicFrameLocks noChangeAspect="1"/>
          </p:cNvGraphicFramePr>
          <p:nvPr/>
        </p:nvGraphicFramePr>
        <p:xfrm>
          <a:off x="6024563" y="3500438"/>
          <a:ext cx="355600" cy="431800"/>
        </p:xfrm>
        <a:graphic>
          <a:graphicData uri="http://schemas.openxmlformats.org/presentationml/2006/ole">
            <mc:AlternateContent xmlns:mc="http://schemas.openxmlformats.org/markup-compatibility/2006">
              <mc:Choice xmlns:v="urn:schemas-microsoft-com:vml" Requires="v">
                <p:oleObj name="公式" r:id="rId7" imgW="323889" imgH="400140" progId="Equation.3">
                  <p:embed/>
                </p:oleObj>
              </mc:Choice>
              <mc:Fallback>
                <p:oleObj name="公式" r:id="rId7" imgW="323889" imgH="4001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4563" y="3500438"/>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2" name="Object 8"/>
          <p:cNvGraphicFramePr>
            <a:graphicFrameLocks noChangeAspect="1"/>
          </p:cNvGraphicFramePr>
          <p:nvPr/>
        </p:nvGraphicFramePr>
        <p:xfrm>
          <a:off x="3281363" y="5710238"/>
          <a:ext cx="361950" cy="425450"/>
        </p:xfrm>
        <a:graphic>
          <a:graphicData uri="http://schemas.openxmlformats.org/presentationml/2006/ole">
            <mc:AlternateContent xmlns:mc="http://schemas.openxmlformats.org/markup-compatibility/2006">
              <mc:Choice xmlns:v="urn:schemas-microsoft-com:vml" Requires="v">
                <p:oleObj name="公式" r:id="rId9" imgW="342799" imgH="390420" progId="Equation.3">
                  <p:embed/>
                </p:oleObj>
              </mc:Choice>
              <mc:Fallback>
                <p:oleObj name="公式" r:id="rId9" imgW="342799" imgH="3904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1363" y="57102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3" name="Object 9"/>
          <p:cNvGraphicFramePr>
            <a:graphicFrameLocks noChangeAspect="1"/>
          </p:cNvGraphicFramePr>
          <p:nvPr/>
        </p:nvGraphicFramePr>
        <p:xfrm>
          <a:off x="7777164" y="3500438"/>
          <a:ext cx="350837" cy="431800"/>
        </p:xfrm>
        <a:graphic>
          <a:graphicData uri="http://schemas.openxmlformats.org/presentationml/2006/ole">
            <mc:AlternateContent xmlns:mc="http://schemas.openxmlformats.org/markup-compatibility/2006">
              <mc:Choice xmlns:v="urn:schemas-microsoft-com:vml" Requires="v">
                <p:oleObj name="公式" r:id="rId11" imgW="323889" imgH="400140" progId="Equation.3">
                  <p:embed/>
                </p:oleObj>
              </mc:Choice>
              <mc:Fallback>
                <p:oleObj name="公式" r:id="rId11" imgW="323889" imgH="4001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7164" y="3500438"/>
                        <a:ext cx="3508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4" name="Object 10"/>
          <p:cNvGraphicFramePr>
            <a:graphicFrameLocks noChangeAspect="1"/>
          </p:cNvGraphicFramePr>
          <p:nvPr/>
        </p:nvGraphicFramePr>
        <p:xfrm>
          <a:off x="4195763" y="3500438"/>
          <a:ext cx="330200" cy="425450"/>
        </p:xfrm>
        <a:graphic>
          <a:graphicData uri="http://schemas.openxmlformats.org/presentationml/2006/ole">
            <mc:AlternateContent xmlns:mc="http://schemas.openxmlformats.org/markup-compatibility/2006">
              <mc:Choice xmlns:v="urn:schemas-microsoft-com:vml" Requires="v">
                <p:oleObj name="公式" r:id="rId13" imgW="304710" imgH="390420" progId="Equation.3">
                  <p:embed/>
                </p:oleObj>
              </mc:Choice>
              <mc:Fallback>
                <p:oleObj name="公式" r:id="rId13" imgW="304710" imgH="39042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5763" y="3500438"/>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5" name="Object 11"/>
          <p:cNvGraphicFramePr>
            <a:graphicFrameLocks noChangeAspect="1"/>
          </p:cNvGraphicFramePr>
          <p:nvPr/>
        </p:nvGraphicFramePr>
        <p:xfrm>
          <a:off x="3281363" y="4643438"/>
          <a:ext cx="361950" cy="425450"/>
        </p:xfrm>
        <a:graphic>
          <a:graphicData uri="http://schemas.openxmlformats.org/presentationml/2006/ole">
            <mc:AlternateContent xmlns:mc="http://schemas.openxmlformats.org/markup-compatibility/2006">
              <mc:Choice xmlns:v="urn:schemas-microsoft-com:vml" Requires="v">
                <p:oleObj name="公式" r:id="rId15" imgW="342799" imgH="390420" progId="Equation.3">
                  <p:embed/>
                </p:oleObj>
              </mc:Choice>
              <mc:Fallback>
                <p:oleObj name="公式" r:id="rId15" imgW="342799" imgH="39042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1363" y="4643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6" name="Object 12"/>
          <p:cNvGraphicFramePr>
            <a:graphicFrameLocks noChangeAspect="1"/>
          </p:cNvGraphicFramePr>
          <p:nvPr/>
        </p:nvGraphicFramePr>
        <p:xfrm>
          <a:off x="3281363" y="5176838"/>
          <a:ext cx="355600" cy="431800"/>
        </p:xfrm>
        <a:graphic>
          <a:graphicData uri="http://schemas.openxmlformats.org/presentationml/2006/ole">
            <mc:AlternateContent xmlns:mc="http://schemas.openxmlformats.org/markup-compatibility/2006">
              <mc:Choice xmlns:v="urn:schemas-microsoft-com:vml" Requires="v">
                <p:oleObj name="公式" r:id="rId17" imgW="323889" imgH="400140" progId="Equation.3">
                  <p:embed/>
                </p:oleObj>
              </mc:Choice>
              <mc:Fallback>
                <p:oleObj name="公式" r:id="rId17" imgW="323889" imgH="4001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81363" y="5176838"/>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7" name="Object 13"/>
          <p:cNvGraphicFramePr>
            <a:graphicFrameLocks noChangeAspect="1"/>
          </p:cNvGraphicFramePr>
          <p:nvPr/>
        </p:nvGraphicFramePr>
        <p:xfrm>
          <a:off x="6938963" y="3500438"/>
          <a:ext cx="361950" cy="425450"/>
        </p:xfrm>
        <a:graphic>
          <a:graphicData uri="http://schemas.openxmlformats.org/presentationml/2006/ole">
            <mc:AlternateContent xmlns:mc="http://schemas.openxmlformats.org/markup-compatibility/2006">
              <mc:Choice xmlns:v="urn:schemas-microsoft-com:vml" Requires="v">
                <p:oleObj name="公式" r:id="rId19" imgW="342799" imgH="390420" progId="Equation.3">
                  <p:embed/>
                </p:oleObj>
              </mc:Choice>
              <mc:Fallback>
                <p:oleObj name="公式" r:id="rId19" imgW="342799" imgH="39042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38963" y="3500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518" name="Object 14"/>
          <p:cNvGraphicFramePr>
            <a:graphicFrameLocks noChangeAspect="1"/>
          </p:cNvGraphicFramePr>
          <p:nvPr/>
        </p:nvGraphicFramePr>
        <p:xfrm>
          <a:off x="3357564" y="6243638"/>
          <a:ext cx="350837" cy="431800"/>
        </p:xfrm>
        <a:graphic>
          <a:graphicData uri="http://schemas.openxmlformats.org/presentationml/2006/ole">
            <mc:AlternateContent xmlns:mc="http://schemas.openxmlformats.org/markup-compatibility/2006">
              <mc:Choice xmlns:v="urn:schemas-microsoft-com:vml" Requires="v">
                <p:oleObj name="公式" r:id="rId21" imgW="323889" imgH="400140" progId="Equation.3">
                  <p:embed/>
                </p:oleObj>
              </mc:Choice>
              <mc:Fallback>
                <p:oleObj name="公式" r:id="rId21" imgW="323889" imgH="4001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57564" y="6243638"/>
                        <a:ext cx="3508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77519" name="Group 15"/>
          <p:cNvGrpSpPr>
            <a:grpSpLocks/>
          </p:cNvGrpSpPr>
          <p:nvPr/>
        </p:nvGrpSpPr>
        <p:grpSpPr bwMode="auto">
          <a:xfrm>
            <a:off x="3052763" y="3424238"/>
            <a:ext cx="5467350" cy="3314700"/>
            <a:chOff x="-3" y="630"/>
            <a:chExt cx="3444" cy="2424"/>
          </a:xfrm>
        </p:grpSpPr>
        <p:grpSp>
          <p:nvGrpSpPr>
            <p:cNvPr id="51219" name="Group 16"/>
            <p:cNvGrpSpPr>
              <a:grpSpLocks/>
            </p:cNvGrpSpPr>
            <p:nvPr/>
          </p:nvGrpSpPr>
          <p:grpSpPr bwMode="auto">
            <a:xfrm>
              <a:off x="0" y="633"/>
              <a:ext cx="3438" cy="2418"/>
              <a:chOff x="0" y="633"/>
              <a:chExt cx="3438" cy="2418"/>
            </a:xfrm>
          </p:grpSpPr>
          <p:grpSp>
            <p:nvGrpSpPr>
              <p:cNvPr id="51221" name="Group 17"/>
              <p:cNvGrpSpPr>
                <a:grpSpLocks/>
              </p:cNvGrpSpPr>
              <p:nvPr/>
            </p:nvGrpSpPr>
            <p:grpSpPr bwMode="auto">
              <a:xfrm>
                <a:off x="0" y="633"/>
                <a:ext cx="573" cy="403"/>
                <a:chOff x="0" y="633"/>
                <a:chExt cx="573" cy="403"/>
              </a:xfrm>
            </p:grpSpPr>
            <p:sp>
              <p:nvSpPr>
                <p:cNvPr id="51327" name="Rectangle 18"/>
                <p:cNvSpPr>
                  <a:spLocks noChangeArrowheads="1"/>
                </p:cNvSpPr>
                <p:nvPr/>
              </p:nvSpPr>
              <p:spPr bwMode="auto">
                <a:xfrm>
                  <a:off x="43" y="63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just" eaLnBrk="0" hangingPunct="0"/>
                  <a:endParaRPr kumimoji="1" lang="en-US" altLang="zh-CN" sz="2400" b="1">
                    <a:solidFill>
                      <a:schemeClr val="tx2"/>
                    </a:solidFill>
                    <a:latin typeface="Times New Roman" pitchFamily="18" charset="0"/>
                  </a:endParaRPr>
                </a:p>
              </p:txBody>
            </p:sp>
            <p:sp>
              <p:nvSpPr>
                <p:cNvPr id="51328" name="Rectangle 19"/>
                <p:cNvSpPr>
                  <a:spLocks noChangeArrowheads="1"/>
                </p:cNvSpPr>
                <p:nvPr/>
              </p:nvSpPr>
              <p:spPr bwMode="auto">
                <a:xfrm>
                  <a:off x="0"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2" name="Group 20"/>
              <p:cNvGrpSpPr>
                <a:grpSpLocks/>
              </p:cNvGrpSpPr>
              <p:nvPr/>
            </p:nvGrpSpPr>
            <p:grpSpPr bwMode="auto">
              <a:xfrm>
                <a:off x="573" y="633"/>
                <a:ext cx="573" cy="403"/>
                <a:chOff x="573" y="633"/>
                <a:chExt cx="573" cy="403"/>
              </a:xfrm>
            </p:grpSpPr>
            <p:sp>
              <p:nvSpPr>
                <p:cNvPr id="51325" name="Rectangle 21"/>
                <p:cNvSpPr>
                  <a:spLocks noChangeArrowheads="1"/>
                </p:cNvSpPr>
                <p:nvPr/>
              </p:nvSpPr>
              <p:spPr bwMode="auto">
                <a:xfrm>
                  <a:off x="616"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26" name="Rectangle 22"/>
                <p:cNvSpPr>
                  <a:spLocks noChangeArrowheads="1"/>
                </p:cNvSpPr>
                <p:nvPr/>
              </p:nvSpPr>
              <p:spPr bwMode="auto">
                <a:xfrm>
                  <a:off x="573"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3" name="Group 23"/>
              <p:cNvGrpSpPr>
                <a:grpSpLocks/>
              </p:cNvGrpSpPr>
              <p:nvPr/>
            </p:nvGrpSpPr>
            <p:grpSpPr bwMode="auto">
              <a:xfrm>
                <a:off x="1146" y="633"/>
                <a:ext cx="573" cy="403"/>
                <a:chOff x="1146" y="633"/>
                <a:chExt cx="573" cy="403"/>
              </a:xfrm>
            </p:grpSpPr>
            <p:sp>
              <p:nvSpPr>
                <p:cNvPr id="51323" name="Rectangle 24"/>
                <p:cNvSpPr>
                  <a:spLocks noChangeArrowheads="1"/>
                </p:cNvSpPr>
                <p:nvPr/>
              </p:nvSpPr>
              <p:spPr bwMode="auto">
                <a:xfrm>
                  <a:off x="1189"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24" name="Rectangle 25"/>
                <p:cNvSpPr>
                  <a:spLocks noChangeArrowheads="1"/>
                </p:cNvSpPr>
                <p:nvPr/>
              </p:nvSpPr>
              <p:spPr bwMode="auto">
                <a:xfrm>
                  <a:off x="1146"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4" name="Group 26"/>
              <p:cNvGrpSpPr>
                <a:grpSpLocks/>
              </p:cNvGrpSpPr>
              <p:nvPr/>
            </p:nvGrpSpPr>
            <p:grpSpPr bwMode="auto">
              <a:xfrm>
                <a:off x="1719" y="633"/>
                <a:ext cx="573" cy="403"/>
                <a:chOff x="1719" y="633"/>
                <a:chExt cx="573" cy="403"/>
              </a:xfrm>
            </p:grpSpPr>
            <p:sp>
              <p:nvSpPr>
                <p:cNvPr id="51321" name="Rectangle 27"/>
                <p:cNvSpPr>
                  <a:spLocks noChangeArrowheads="1"/>
                </p:cNvSpPr>
                <p:nvPr/>
              </p:nvSpPr>
              <p:spPr bwMode="auto">
                <a:xfrm>
                  <a:off x="1762"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22" name="Rectangle 28"/>
                <p:cNvSpPr>
                  <a:spLocks noChangeArrowheads="1"/>
                </p:cNvSpPr>
                <p:nvPr/>
              </p:nvSpPr>
              <p:spPr bwMode="auto">
                <a:xfrm>
                  <a:off x="1719"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5" name="Group 29"/>
              <p:cNvGrpSpPr>
                <a:grpSpLocks/>
              </p:cNvGrpSpPr>
              <p:nvPr/>
            </p:nvGrpSpPr>
            <p:grpSpPr bwMode="auto">
              <a:xfrm>
                <a:off x="2292" y="633"/>
                <a:ext cx="573" cy="403"/>
                <a:chOff x="2292" y="633"/>
                <a:chExt cx="573" cy="403"/>
              </a:xfrm>
            </p:grpSpPr>
            <p:sp>
              <p:nvSpPr>
                <p:cNvPr id="51319" name="Rectangle 30"/>
                <p:cNvSpPr>
                  <a:spLocks noChangeArrowheads="1"/>
                </p:cNvSpPr>
                <p:nvPr/>
              </p:nvSpPr>
              <p:spPr bwMode="auto">
                <a:xfrm>
                  <a:off x="2335"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20" name="Rectangle 31"/>
                <p:cNvSpPr>
                  <a:spLocks noChangeArrowheads="1"/>
                </p:cNvSpPr>
                <p:nvPr/>
              </p:nvSpPr>
              <p:spPr bwMode="auto">
                <a:xfrm>
                  <a:off x="2292"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6" name="Group 32"/>
              <p:cNvGrpSpPr>
                <a:grpSpLocks/>
              </p:cNvGrpSpPr>
              <p:nvPr/>
            </p:nvGrpSpPr>
            <p:grpSpPr bwMode="auto">
              <a:xfrm>
                <a:off x="2865" y="633"/>
                <a:ext cx="573" cy="403"/>
                <a:chOff x="2865" y="633"/>
                <a:chExt cx="573" cy="403"/>
              </a:xfrm>
            </p:grpSpPr>
            <p:sp>
              <p:nvSpPr>
                <p:cNvPr id="51317" name="Rectangle 33"/>
                <p:cNvSpPr>
                  <a:spLocks noChangeArrowheads="1"/>
                </p:cNvSpPr>
                <p:nvPr/>
              </p:nvSpPr>
              <p:spPr bwMode="auto">
                <a:xfrm>
                  <a:off x="2908"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18" name="Rectangle 34"/>
                <p:cNvSpPr>
                  <a:spLocks noChangeArrowheads="1"/>
                </p:cNvSpPr>
                <p:nvPr/>
              </p:nvSpPr>
              <p:spPr bwMode="auto">
                <a:xfrm>
                  <a:off x="2865"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7" name="Group 35"/>
              <p:cNvGrpSpPr>
                <a:grpSpLocks/>
              </p:cNvGrpSpPr>
              <p:nvPr/>
            </p:nvGrpSpPr>
            <p:grpSpPr bwMode="auto">
              <a:xfrm>
                <a:off x="0" y="1036"/>
                <a:ext cx="573" cy="403"/>
                <a:chOff x="0" y="1036"/>
                <a:chExt cx="573" cy="403"/>
              </a:xfrm>
            </p:grpSpPr>
            <p:sp>
              <p:nvSpPr>
                <p:cNvPr id="51315" name="Rectangle 36"/>
                <p:cNvSpPr>
                  <a:spLocks noChangeArrowheads="1"/>
                </p:cNvSpPr>
                <p:nvPr/>
              </p:nvSpPr>
              <p:spPr bwMode="auto">
                <a:xfrm>
                  <a:off x="43" y="1036"/>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16" name="Rectangle 37"/>
                <p:cNvSpPr>
                  <a:spLocks noChangeArrowheads="1"/>
                </p:cNvSpPr>
                <p:nvPr/>
              </p:nvSpPr>
              <p:spPr bwMode="auto">
                <a:xfrm>
                  <a:off x="0"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8" name="Group 38"/>
              <p:cNvGrpSpPr>
                <a:grpSpLocks/>
              </p:cNvGrpSpPr>
              <p:nvPr/>
            </p:nvGrpSpPr>
            <p:grpSpPr bwMode="auto">
              <a:xfrm>
                <a:off x="573" y="1036"/>
                <a:ext cx="573" cy="403"/>
                <a:chOff x="573" y="1036"/>
                <a:chExt cx="573" cy="403"/>
              </a:xfrm>
            </p:grpSpPr>
            <p:sp>
              <p:nvSpPr>
                <p:cNvPr id="51313" name="Rectangle 39"/>
                <p:cNvSpPr>
                  <a:spLocks noChangeArrowheads="1"/>
                </p:cNvSpPr>
                <p:nvPr/>
              </p:nvSpPr>
              <p:spPr bwMode="auto">
                <a:xfrm>
                  <a:off x="616"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1314" name="Rectangle 40"/>
                <p:cNvSpPr>
                  <a:spLocks noChangeArrowheads="1"/>
                </p:cNvSpPr>
                <p:nvPr/>
              </p:nvSpPr>
              <p:spPr bwMode="auto">
                <a:xfrm>
                  <a:off x="573"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29" name="Group 41"/>
              <p:cNvGrpSpPr>
                <a:grpSpLocks/>
              </p:cNvGrpSpPr>
              <p:nvPr/>
            </p:nvGrpSpPr>
            <p:grpSpPr bwMode="auto">
              <a:xfrm>
                <a:off x="1146" y="1036"/>
                <a:ext cx="573" cy="403"/>
                <a:chOff x="1146" y="1036"/>
                <a:chExt cx="573" cy="403"/>
              </a:xfrm>
            </p:grpSpPr>
            <p:sp>
              <p:nvSpPr>
                <p:cNvPr id="51311" name="Rectangle 42"/>
                <p:cNvSpPr>
                  <a:spLocks noChangeArrowheads="1"/>
                </p:cNvSpPr>
                <p:nvPr/>
              </p:nvSpPr>
              <p:spPr bwMode="auto">
                <a:xfrm>
                  <a:off x="1189"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312" name="Rectangle 43"/>
                <p:cNvSpPr>
                  <a:spLocks noChangeArrowheads="1"/>
                </p:cNvSpPr>
                <p:nvPr/>
              </p:nvSpPr>
              <p:spPr bwMode="auto">
                <a:xfrm>
                  <a:off x="1146"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0" name="Group 44"/>
              <p:cNvGrpSpPr>
                <a:grpSpLocks/>
              </p:cNvGrpSpPr>
              <p:nvPr/>
            </p:nvGrpSpPr>
            <p:grpSpPr bwMode="auto">
              <a:xfrm>
                <a:off x="1719" y="1036"/>
                <a:ext cx="573" cy="403"/>
                <a:chOff x="1719" y="1036"/>
                <a:chExt cx="573" cy="403"/>
              </a:xfrm>
            </p:grpSpPr>
            <p:sp>
              <p:nvSpPr>
                <p:cNvPr id="51309" name="Rectangle 45"/>
                <p:cNvSpPr>
                  <a:spLocks noChangeArrowheads="1"/>
                </p:cNvSpPr>
                <p:nvPr/>
              </p:nvSpPr>
              <p:spPr bwMode="auto">
                <a:xfrm>
                  <a:off x="1762"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310" name="Rectangle 46"/>
                <p:cNvSpPr>
                  <a:spLocks noChangeArrowheads="1"/>
                </p:cNvSpPr>
                <p:nvPr/>
              </p:nvSpPr>
              <p:spPr bwMode="auto">
                <a:xfrm>
                  <a:off x="1719"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1" name="Group 47"/>
              <p:cNvGrpSpPr>
                <a:grpSpLocks/>
              </p:cNvGrpSpPr>
              <p:nvPr/>
            </p:nvGrpSpPr>
            <p:grpSpPr bwMode="auto">
              <a:xfrm>
                <a:off x="2292" y="1036"/>
                <a:ext cx="573" cy="403"/>
                <a:chOff x="2292" y="1036"/>
                <a:chExt cx="573" cy="403"/>
              </a:xfrm>
            </p:grpSpPr>
            <p:sp>
              <p:nvSpPr>
                <p:cNvPr id="51307" name="Rectangle 48"/>
                <p:cNvSpPr>
                  <a:spLocks noChangeArrowheads="1"/>
                </p:cNvSpPr>
                <p:nvPr/>
              </p:nvSpPr>
              <p:spPr bwMode="auto">
                <a:xfrm>
                  <a:off x="2335"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308" name="Rectangle 49"/>
                <p:cNvSpPr>
                  <a:spLocks noChangeArrowheads="1"/>
                </p:cNvSpPr>
                <p:nvPr/>
              </p:nvSpPr>
              <p:spPr bwMode="auto">
                <a:xfrm>
                  <a:off x="2292"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2" name="Group 50"/>
              <p:cNvGrpSpPr>
                <a:grpSpLocks/>
              </p:cNvGrpSpPr>
              <p:nvPr/>
            </p:nvGrpSpPr>
            <p:grpSpPr bwMode="auto">
              <a:xfrm>
                <a:off x="2865" y="1036"/>
                <a:ext cx="573" cy="403"/>
                <a:chOff x="2865" y="1036"/>
                <a:chExt cx="573" cy="403"/>
              </a:xfrm>
            </p:grpSpPr>
            <p:sp>
              <p:nvSpPr>
                <p:cNvPr id="51305" name="Rectangle 51"/>
                <p:cNvSpPr>
                  <a:spLocks noChangeArrowheads="1"/>
                </p:cNvSpPr>
                <p:nvPr/>
              </p:nvSpPr>
              <p:spPr bwMode="auto">
                <a:xfrm>
                  <a:off x="2908"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306" name="Rectangle 52"/>
                <p:cNvSpPr>
                  <a:spLocks noChangeArrowheads="1"/>
                </p:cNvSpPr>
                <p:nvPr/>
              </p:nvSpPr>
              <p:spPr bwMode="auto">
                <a:xfrm>
                  <a:off x="2865"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3" name="Group 53"/>
              <p:cNvGrpSpPr>
                <a:grpSpLocks/>
              </p:cNvGrpSpPr>
              <p:nvPr/>
            </p:nvGrpSpPr>
            <p:grpSpPr bwMode="auto">
              <a:xfrm>
                <a:off x="0" y="1439"/>
                <a:ext cx="573" cy="403"/>
                <a:chOff x="0" y="1439"/>
                <a:chExt cx="573" cy="403"/>
              </a:xfrm>
            </p:grpSpPr>
            <p:sp>
              <p:nvSpPr>
                <p:cNvPr id="51303" name="Rectangle 54"/>
                <p:cNvSpPr>
                  <a:spLocks noChangeArrowheads="1"/>
                </p:cNvSpPr>
                <p:nvPr/>
              </p:nvSpPr>
              <p:spPr bwMode="auto">
                <a:xfrm>
                  <a:off x="43" y="1439"/>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304" name="Rectangle 55"/>
                <p:cNvSpPr>
                  <a:spLocks noChangeArrowheads="1"/>
                </p:cNvSpPr>
                <p:nvPr/>
              </p:nvSpPr>
              <p:spPr bwMode="auto">
                <a:xfrm>
                  <a:off x="0"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4" name="Group 56"/>
              <p:cNvGrpSpPr>
                <a:grpSpLocks/>
              </p:cNvGrpSpPr>
              <p:nvPr/>
            </p:nvGrpSpPr>
            <p:grpSpPr bwMode="auto">
              <a:xfrm>
                <a:off x="573" y="1439"/>
                <a:ext cx="573" cy="403"/>
                <a:chOff x="573" y="1439"/>
                <a:chExt cx="573" cy="403"/>
              </a:xfrm>
            </p:grpSpPr>
            <p:sp>
              <p:nvSpPr>
                <p:cNvPr id="51301" name="Rectangle 57"/>
                <p:cNvSpPr>
                  <a:spLocks noChangeArrowheads="1"/>
                </p:cNvSpPr>
                <p:nvPr/>
              </p:nvSpPr>
              <p:spPr bwMode="auto">
                <a:xfrm>
                  <a:off x="616"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1</a:t>
                  </a:r>
                </a:p>
                <a:p>
                  <a:pPr algn="ctr" eaLnBrk="0" hangingPunct="0"/>
                  <a:endParaRPr kumimoji="1" lang="en-US" altLang="zh-CN" sz="2400" b="1">
                    <a:solidFill>
                      <a:schemeClr val="tx2"/>
                    </a:solidFill>
                    <a:latin typeface="Times New Roman" pitchFamily="18" charset="0"/>
                  </a:endParaRPr>
                </a:p>
              </p:txBody>
            </p:sp>
            <p:sp>
              <p:nvSpPr>
                <p:cNvPr id="51302" name="Rectangle 58"/>
                <p:cNvSpPr>
                  <a:spLocks noChangeArrowheads="1"/>
                </p:cNvSpPr>
                <p:nvPr/>
              </p:nvSpPr>
              <p:spPr bwMode="auto">
                <a:xfrm>
                  <a:off x="573"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5" name="Group 59"/>
              <p:cNvGrpSpPr>
                <a:grpSpLocks/>
              </p:cNvGrpSpPr>
              <p:nvPr/>
            </p:nvGrpSpPr>
            <p:grpSpPr bwMode="auto">
              <a:xfrm>
                <a:off x="1146" y="1439"/>
                <a:ext cx="573" cy="403"/>
                <a:chOff x="1146" y="1439"/>
                <a:chExt cx="573" cy="403"/>
              </a:xfrm>
            </p:grpSpPr>
            <p:sp>
              <p:nvSpPr>
                <p:cNvPr id="51299" name="Rectangle 60"/>
                <p:cNvSpPr>
                  <a:spLocks noChangeArrowheads="1"/>
                </p:cNvSpPr>
                <p:nvPr/>
              </p:nvSpPr>
              <p:spPr bwMode="auto">
                <a:xfrm>
                  <a:off x="1189"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1300" name="Rectangle 61"/>
                <p:cNvSpPr>
                  <a:spLocks noChangeArrowheads="1"/>
                </p:cNvSpPr>
                <p:nvPr/>
              </p:nvSpPr>
              <p:spPr bwMode="auto">
                <a:xfrm>
                  <a:off x="1146"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6" name="Group 62"/>
              <p:cNvGrpSpPr>
                <a:grpSpLocks/>
              </p:cNvGrpSpPr>
              <p:nvPr/>
            </p:nvGrpSpPr>
            <p:grpSpPr bwMode="auto">
              <a:xfrm>
                <a:off x="1719" y="1439"/>
                <a:ext cx="573" cy="403"/>
                <a:chOff x="1719" y="1439"/>
                <a:chExt cx="573" cy="403"/>
              </a:xfrm>
            </p:grpSpPr>
            <p:sp>
              <p:nvSpPr>
                <p:cNvPr id="51297" name="Rectangle 63"/>
                <p:cNvSpPr>
                  <a:spLocks noChangeArrowheads="1"/>
                </p:cNvSpPr>
                <p:nvPr/>
              </p:nvSpPr>
              <p:spPr bwMode="auto">
                <a:xfrm>
                  <a:off x="1762"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98" name="Rectangle 64"/>
                <p:cNvSpPr>
                  <a:spLocks noChangeArrowheads="1"/>
                </p:cNvSpPr>
                <p:nvPr/>
              </p:nvSpPr>
              <p:spPr bwMode="auto">
                <a:xfrm>
                  <a:off x="1719"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7" name="Group 65"/>
              <p:cNvGrpSpPr>
                <a:grpSpLocks/>
              </p:cNvGrpSpPr>
              <p:nvPr/>
            </p:nvGrpSpPr>
            <p:grpSpPr bwMode="auto">
              <a:xfrm>
                <a:off x="2292" y="1439"/>
                <a:ext cx="573" cy="403"/>
                <a:chOff x="2292" y="1439"/>
                <a:chExt cx="573" cy="403"/>
              </a:xfrm>
            </p:grpSpPr>
            <p:sp>
              <p:nvSpPr>
                <p:cNvPr id="51295" name="Rectangle 66"/>
                <p:cNvSpPr>
                  <a:spLocks noChangeArrowheads="1"/>
                </p:cNvSpPr>
                <p:nvPr/>
              </p:nvSpPr>
              <p:spPr bwMode="auto">
                <a:xfrm>
                  <a:off x="2335"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96" name="Rectangle 67"/>
                <p:cNvSpPr>
                  <a:spLocks noChangeArrowheads="1"/>
                </p:cNvSpPr>
                <p:nvPr/>
              </p:nvSpPr>
              <p:spPr bwMode="auto">
                <a:xfrm>
                  <a:off x="2292"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8" name="Group 68"/>
              <p:cNvGrpSpPr>
                <a:grpSpLocks/>
              </p:cNvGrpSpPr>
              <p:nvPr/>
            </p:nvGrpSpPr>
            <p:grpSpPr bwMode="auto">
              <a:xfrm>
                <a:off x="2865" y="1439"/>
                <a:ext cx="573" cy="403"/>
                <a:chOff x="2865" y="1439"/>
                <a:chExt cx="573" cy="403"/>
              </a:xfrm>
            </p:grpSpPr>
            <p:sp>
              <p:nvSpPr>
                <p:cNvPr id="51293" name="Rectangle 69"/>
                <p:cNvSpPr>
                  <a:spLocks noChangeArrowheads="1"/>
                </p:cNvSpPr>
                <p:nvPr/>
              </p:nvSpPr>
              <p:spPr bwMode="auto">
                <a:xfrm>
                  <a:off x="2908"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94" name="Rectangle 70"/>
                <p:cNvSpPr>
                  <a:spLocks noChangeArrowheads="1"/>
                </p:cNvSpPr>
                <p:nvPr/>
              </p:nvSpPr>
              <p:spPr bwMode="auto">
                <a:xfrm>
                  <a:off x="2865"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39" name="Group 71"/>
              <p:cNvGrpSpPr>
                <a:grpSpLocks/>
              </p:cNvGrpSpPr>
              <p:nvPr/>
            </p:nvGrpSpPr>
            <p:grpSpPr bwMode="auto">
              <a:xfrm>
                <a:off x="0" y="1842"/>
                <a:ext cx="573" cy="403"/>
                <a:chOff x="0" y="1842"/>
                <a:chExt cx="573" cy="403"/>
              </a:xfrm>
            </p:grpSpPr>
            <p:sp>
              <p:nvSpPr>
                <p:cNvPr id="51291" name="Rectangle 72"/>
                <p:cNvSpPr>
                  <a:spLocks noChangeArrowheads="1"/>
                </p:cNvSpPr>
                <p:nvPr/>
              </p:nvSpPr>
              <p:spPr bwMode="auto">
                <a:xfrm>
                  <a:off x="43" y="1842"/>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292" name="Rectangle 73"/>
                <p:cNvSpPr>
                  <a:spLocks noChangeArrowheads="1"/>
                </p:cNvSpPr>
                <p:nvPr/>
              </p:nvSpPr>
              <p:spPr bwMode="auto">
                <a:xfrm>
                  <a:off x="0"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0" name="Group 74"/>
              <p:cNvGrpSpPr>
                <a:grpSpLocks/>
              </p:cNvGrpSpPr>
              <p:nvPr/>
            </p:nvGrpSpPr>
            <p:grpSpPr bwMode="auto">
              <a:xfrm>
                <a:off x="573" y="1842"/>
                <a:ext cx="573" cy="403"/>
                <a:chOff x="573" y="1842"/>
                <a:chExt cx="573" cy="403"/>
              </a:xfrm>
            </p:grpSpPr>
            <p:sp>
              <p:nvSpPr>
                <p:cNvPr id="51289" name="Rectangle 75"/>
                <p:cNvSpPr>
                  <a:spLocks noChangeArrowheads="1"/>
                </p:cNvSpPr>
                <p:nvPr/>
              </p:nvSpPr>
              <p:spPr bwMode="auto">
                <a:xfrm>
                  <a:off x="616"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2.5</a:t>
                  </a:r>
                </a:p>
                <a:p>
                  <a:pPr algn="ctr" eaLnBrk="0" hangingPunct="0"/>
                  <a:endParaRPr kumimoji="1" lang="en-US" altLang="zh-CN" sz="2400" b="1">
                    <a:solidFill>
                      <a:schemeClr val="tx2"/>
                    </a:solidFill>
                    <a:latin typeface="Times New Roman" pitchFamily="18" charset="0"/>
                  </a:endParaRPr>
                </a:p>
              </p:txBody>
            </p:sp>
            <p:sp>
              <p:nvSpPr>
                <p:cNvPr id="51290" name="Rectangle 76"/>
                <p:cNvSpPr>
                  <a:spLocks noChangeArrowheads="1"/>
                </p:cNvSpPr>
                <p:nvPr/>
              </p:nvSpPr>
              <p:spPr bwMode="auto">
                <a:xfrm>
                  <a:off x="573"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1" name="Group 77"/>
              <p:cNvGrpSpPr>
                <a:grpSpLocks/>
              </p:cNvGrpSpPr>
              <p:nvPr/>
            </p:nvGrpSpPr>
            <p:grpSpPr bwMode="auto">
              <a:xfrm>
                <a:off x="1146" y="1842"/>
                <a:ext cx="573" cy="403"/>
                <a:chOff x="1146" y="1842"/>
                <a:chExt cx="573" cy="403"/>
              </a:xfrm>
            </p:grpSpPr>
            <p:sp>
              <p:nvSpPr>
                <p:cNvPr id="51287" name="Rectangle 78"/>
                <p:cNvSpPr>
                  <a:spLocks noChangeArrowheads="1"/>
                </p:cNvSpPr>
                <p:nvPr/>
              </p:nvSpPr>
              <p:spPr bwMode="auto">
                <a:xfrm>
                  <a:off x="1189"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1.5</a:t>
                  </a:r>
                </a:p>
                <a:p>
                  <a:pPr algn="ctr" eaLnBrk="0" hangingPunct="0"/>
                  <a:endParaRPr kumimoji="1" lang="en-US" altLang="zh-CN" sz="2400" b="1">
                    <a:solidFill>
                      <a:schemeClr val="tx2"/>
                    </a:solidFill>
                    <a:latin typeface="Times New Roman" pitchFamily="18" charset="0"/>
                  </a:endParaRPr>
                </a:p>
              </p:txBody>
            </p:sp>
            <p:sp>
              <p:nvSpPr>
                <p:cNvPr id="51288" name="Rectangle 79"/>
                <p:cNvSpPr>
                  <a:spLocks noChangeArrowheads="1"/>
                </p:cNvSpPr>
                <p:nvPr/>
              </p:nvSpPr>
              <p:spPr bwMode="auto">
                <a:xfrm>
                  <a:off x="1146"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2" name="Group 80"/>
              <p:cNvGrpSpPr>
                <a:grpSpLocks/>
              </p:cNvGrpSpPr>
              <p:nvPr/>
            </p:nvGrpSpPr>
            <p:grpSpPr bwMode="auto">
              <a:xfrm>
                <a:off x="1719" y="1842"/>
                <a:ext cx="573" cy="403"/>
                <a:chOff x="1719" y="1842"/>
                <a:chExt cx="573" cy="403"/>
              </a:xfrm>
            </p:grpSpPr>
            <p:sp>
              <p:nvSpPr>
                <p:cNvPr id="51285" name="Rectangle 81"/>
                <p:cNvSpPr>
                  <a:spLocks noChangeArrowheads="1"/>
                </p:cNvSpPr>
                <p:nvPr/>
              </p:nvSpPr>
              <p:spPr bwMode="auto">
                <a:xfrm>
                  <a:off x="1762"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1286" name="Rectangle 82"/>
                <p:cNvSpPr>
                  <a:spLocks noChangeArrowheads="1"/>
                </p:cNvSpPr>
                <p:nvPr/>
              </p:nvSpPr>
              <p:spPr bwMode="auto">
                <a:xfrm>
                  <a:off x="1719"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3" name="Group 83"/>
              <p:cNvGrpSpPr>
                <a:grpSpLocks/>
              </p:cNvGrpSpPr>
              <p:nvPr/>
            </p:nvGrpSpPr>
            <p:grpSpPr bwMode="auto">
              <a:xfrm>
                <a:off x="2292" y="1842"/>
                <a:ext cx="573" cy="403"/>
                <a:chOff x="2292" y="1842"/>
                <a:chExt cx="573" cy="403"/>
              </a:xfrm>
            </p:grpSpPr>
            <p:sp>
              <p:nvSpPr>
                <p:cNvPr id="51283" name="Rectangle 84"/>
                <p:cNvSpPr>
                  <a:spLocks noChangeArrowheads="1"/>
                </p:cNvSpPr>
                <p:nvPr/>
              </p:nvSpPr>
              <p:spPr bwMode="auto">
                <a:xfrm>
                  <a:off x="2335"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84" name="Rectangle 85"/>
                <p:cNvSpPr>
                  <a:spLocks noChangeArrowheads="1"/>
                </p:cNvSpPr>
                <p:nvPr/>
              </p:nvSpPr>
              <p:spPr bwMode="auto">
                <a:xfrm>
                  <a:off x="2292"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4" name="Group 86"/>
              <p:cNvGrpSpPr>
                <a:grpSpLocks/>
              </p:cNvGrpSpPr>
              <p:nvPr/>
            </p:nvGrpSpPr>
            <p:grpSpPr bwMode="auto">
              <a:xfrm>
                <a:off x="2865" y="1842"/>
                <a:ext cx="573" cy="403"/>
                <a:chOff x="2865" y="1842"/>
                <a:chExt cx="573" cy="403"/>
              </a:xfrm>
            </p:grpSpPr>
            <p:sp>
              <p:nvSpPr>
                <p:cNvPr id="51281" name="Rectangle 87"/>
                <p:cNvSpPr>
                  <a:spLocks noChangeArrowheads="1"/>
                </p:cNvSpPr>
                <p:nvPr/>
              </p:nvSpPr>
              <p:spPr bwMode="auto">
                <a:xfrm>
                  <a:off x="2908"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82" name="Rectangle 88"/>
                <p:cNvSpPr>
                  <a:spLocks noChangeArrowheads="1"/>
                </p:cNvSpPr>
                <p:nvPr/>
              </p:nvSpPr>
              <p:spPr bwMode="auto">
                <a:xfrm>
                  <a:off x="2865"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5" name="Group 89"/>
              <p:cNvGrpSpPr>
                <a:grpSpLocks/>
              </p:cNvGrpSpPr>
              <p:nvPr/>
            </p:nvGrpSpPr>
            <p:grpSpPr bwMode="auto">
              <a:xfrm>
                <a:off x="0" y="2245"/>
                <a:ext cx="573" cy="403"/>
                <a:chOff x="0" y="2245"/>
                <a:chExt cx="573" cy="403"/>
              </a:xfrm>
            </p:grpSpPr>
            <p:sp>
              <p:nvSpPr>
                <p:cNvPr id="51279" name="Rectangle 90"/>
                <p:cNvSpPr>
                  <a:spLocks noChangeArrowheads="1"/>
                </p:cNvSpPr>
                <p:nvPr/>
              </p:nvSpPr>
              <p:spPr bwMode="auto">
                <a:xfrm>
                  <a:off x="43" y="2245"/>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280" name="Rectangle 91"/>
                <p:cNvSpPr>
                  <a:spLocks noChangeArrowheads="1"/>
                </p:cNvSpPr>
                <p:nvPr/>
              </p:nvSpPr>
              <p:spPr bwMode="auto">
                <a:xfrm>
                  <a:off x="0"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6" name="Group 92"/>
              <p:cNvGrpSpPr>
                <a:grpSpLocks/>
              </p:cNvGrpSpPr>
              <p:nvPr/>
            </p:nvGrpSpPr>
            <p:grpSpPr bwMode="auto">
              <a:xfrm>
                <a:off x="573" y="2245"/>
                <a:ext cx="573" cy="403"/>
                <a:chOff x="573" y="2245"/>
                <a:chExt cx="573" cy="403"/>
              </a:xfrm>
            </p:grpSpPr>
            <p:sp>
              <p:nvSpPr>
                <p:cNvPr id="51277" name="Rectangle 93"/>
                <p:cNvSpPr>
                  <a:spLocks noChangeArrowheads="1"/>
                </p:cNvSpPr>
                <p:nvPr/>
              </p:nvSpPr>
              <p:spPr bwMode="auto">
                <a:xfrm>
                  <a:off x="616"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6</a:t>
                  </a:r>
                </a:p>
                <a:p>
                  <a:pPr algn="ctr" eaLnBrk="0" hangingPunct="0"/>
                  <a:endParaRPr kumimoji="1" lang="en-US" altLang="zh-CN" sz="2400" b="1">
                    <a:solidFill>
                      <a:schemeClr val="tx2"/>
                    </a:solidFill>
                    <a:latin typeface="Times New Roman" pitchFamily="18" charset="0"/>
                  </a:endParaRPr>
                </a:p>
              </p:txBody>
            </p:sp>
            <p:sp>
              <p:nvSpPr>
                <p:cNvPr id="51278" name="Rectangle 94"/>
                <p:cNvSpPr>
                  <a:spLocks noChangeArrowheads="1"/>
                </p:cNvSpPr>
                <p:nvPr/>
              </p:nvSpPr>
              <p:spPr bwMode="auto">
                <a:xfrm>
                  <a:off x="573"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7" name="Group 95"/>
              <p:cNvGrpSpPr>
                <a:grpSpLocks/>
              </p:cNvGrpSpPr>
              <p:nvPr/>
            </p:nvGrpSpPr>
            <p:grpSpPr bwMode="auto">
              <a:xfrm>
                <a:off x="1146" y="2245"/>
                <a:ext cx="573" cy="403"/>
                <a:chOff x="1146" y="2245"/>
                <a:chExt cx="573" cy="403"/>
              </a:xfrm>
            </p:grpSpPr>
            <p:sp>
              <p:nvSpPr>
                <p:cNvPr id="51275" name="Rectangle 96"/>
                <p:cNvSpPr>
                  <a:spLocks noChangeArrowheads="1"/>
                </p:cNvSpPr>
                <p:nvPr/>
              </p:nvSpPr>
              <p:spPr bwMode="auto">
                <a:xfrm>
                  <a:off x="1189"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5</a:t>
                  </a:r>
                </a:p>
                <a:p>
                  <a:pPr algn="ctr" eaLnBrk="0" hangingPunct="0"/>
                  <a:endParaRPr kumimoji="1" lang="en-US" altLang="zh-CN" sz="2400" b="1">
                    <a:solidFill>
                      <a:schemeClr val="tx2"/>
                    </a:solidFill>
                    <a:latin typeface="Times New Roman" pitchFamily="18" charset="0"/>
                  </a:endParaRPr>
                </a:p>
              </p:txBody>
            </p:sp>
            <p:sp>
              <p:nvSpPr>
                <p:cNvPr id="51276" name="Rectangle 97"/>
                <p:cNvSpPr>
                  <a:spLocks noChangeArrowheads="1"/>
                </p:cNvSpPr>
                <p:nvPr/>
              </p:nvSpPr>
              <p:spPr bwMode="auto">
                <a:xfrm>
                  <a:off x="1146"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8" name="Group 98"/>
              <p:cNvGrpSpPr>
                <a:grpSpLocks/>
              </p:cNvGrpSpPr>
              <p:nvPr/>
            </p:nvGrpSpPr>
            <p:grpSpPr bwMode="auto">
              <a:xfrm>
                <a:off x="1719" y="2245"/>
                <a:ext cx="573" cy="403"/>
                <a:chOff x="1719" y="2245"/>
                <a:chExt cx="573" cy="403"/>
              </a:xfrm>
            </p:grpSpPr>
            <p:sp>
              <p:nvSpPr>
                <p:cNvPr id="51273" name="Rectangle 99"/>
                <p:cNvSpPr>
                  <a:spLocks noChangeArrowheads="1"/>
                </p:cNvSpPr>
                <p:nvPr/>
              </p:nvSpPr>
              <p:spPr bwMode="auto">
                <a:xfrm>
                  <a:off x="1762"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3.5</a:t>
                  </a:r>
                </a:p>
                <a:p>
                  <a:pPr algn="ctr" eaLnBrk="0" hangingPunct="0"/>
                  <a:endParaRPr kumimoji="1" lang="en-US" altLang="zh-CN" sz="2400" b="1">
                    <a:solidFill>
                      <a:schemeClr val="tx2"/>
                    </a:solidFill>
                    <a:latin typeface="Times New Roman" pitchFamily="18" charset="0"/>
                  </a:endParaRPr>
                </a:p>
              </p:txBody>
            </p:sp>
            <p:sp>
              <p:nvSpPr>
                <p:cNvPr id="51274" name="Rectangle 100"/>
                <p:cNvSpPr>
                  <a:spLocks noChangeArrowheads="1"/>
                </p:cNvSpPr>
                <p:nvPr/>
              </p:nvSpPr>
              <p:spPr bwMode="auto">
                <a:xfrm>
                  <a:off x="1719"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49" name="Group 101"/>
              <p:cNvGrpSpPr>
                <a:grpSpLocks/>
              </p:cNvGrpSpPr>
              <p:nvPr/>
            </p:nvGrpSpPr>
            <p:grpSpPr bwMode="auto">
              <a:xfrm>
                <a:off x="2292" y="2245"/>
                <a:ext cx="573" cy="403"/>
                <a:chOff x="2292" y="2245"/>
                <a:chExt cx="573" cy="403"/>
              </a:xfrm>
            </p:grpSpPr>
            <p:sp>
              <p:nvSpPr>
                <p:cNvPr id="51271" name="Rectangle 102"/>
                <p:cNvSpPr>
                  <a:spLocks noChangeArrowheads="1"/>
                </p:cNvSpPr>
                <p:nvPr/>
              </p:nvSpPr>
              <p:spPr bwMode="auto">
                <a:xfrm>
                  <a:off x="2335"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1272" name="Rectangle 103"/>
                <p:cNvSpPr>
                  <a:spLocks noChangeArrowheads="1"/>
                </p:cNvSpPr>
                <p:nvPr/>
              </p:nvSpPr>
              <p:spPr bwMode="auto">
                <a:xfrm>
                  <a:off x="2292"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0" name="Group 104"/>
              <p:cNvGrpSpPr>
                <a:grpSpLocks/>
              </p:cNvGrpSpPr>
              <p:nvPr/>
            </p:nvGrpSpPr>
            <p:grpSpPr bwMode="auto">
              <a:xfrm>
                <a:off x="2865" y="2245"/>
                <a:ext cx="573" cy="403"/>
                <a:chOff x="2865" y="2245"/>
                <a:chExt cx="573" cy="403"/>
              </a:xfrm>
            </p:grpSpPr>
            <p:sp>
              <p:nvSpPr>
                <p:cNvPr id="51269" name="Rectangle 105"/>
                <p:cNvSpPr>
                  <a:spLocks noChangeArrowheads="1"/>
                </p:cNvSpPr>
                <p:nvPr/>
              </p:nvSpPr>
              <p:spPr bwMode="auto">
                <a:xfrm>
                  <a:off x="2908"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1270" name="Rectangle 106"/>
                <p:cNvSpPr>
                  <a:spLocks noChangeArrowheads="1"/>
                </p:cNvSpPr>
                <p:nvPr/>
              </p:nvSpPr>
              <p:spPr bwMode="auto">
                <a:xfrm>
                  <a:off x="2865"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1" name="Group 107"/>
              <p:cNvGrpSpPr>
                <a:grpSpLocks/>
              </p:cNvGrpSpPr>
              <p:nvPr/>
            </p:nvGrpSpPr>
            <p:grpSpPr bwMode="auto">
              <a:xfrm>
                <a:off x="0" y="2648"/>
                <a:ext cx="573" cy="403"/>
                <a:chOff x="0" y="2648"/>
                <a:chExt cx="573" cy="403"/>
              </a:xfrm>
            </p:grpSpPr>
            <p:sp>
              <p:nvSpPr>
                <p:cNvPr id="51267" name="Rectangle 108"/>
                <p:cNvSpPr>
                  <a:spLocks noChangeArrowheads="1"/>
                </p:cNvSpPr>
                <p:nvPr/>
              </p:nvSpPr>
              <p:spPr bwMode="auto">
                <a:xfrm>
                  <a:off x="43" y="2648"/>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268" name="Rectangle 109"/>
                <p:cNvSpPr>
                  <a:spLocks noChangeArrowheads="1"/>
                </p:cNvSpPr>
                <p:nvPr/>
              </p:nvSpPr>
              <p:spPr bwMode="auto">
                <a:xfrm>
                  <a:off x="0"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2" name="Group 110"/>
              <p:cNvGrpSpPr>
                <a:grpSpLocks/>
              </p:cNvGrpSpPr>
              <p:nvPr/>
            </p:nvGrpSpPr>
            <p:grpSpPr bwMode="auto">
              <a:xfrm>
                <a:off x="573" y="2648"/>
                <a:ext cx="573" cy="403"/>
                <a:chOff x="573" y="2648"/>
                <a:chExt cx="573" cy="403"/>
              </a:xfrm>
            </p:grpSpPr>
            <p:sp>
              <p:nvSpPr>
                <p:cNvPr id="51265" name="Rectangle 111"/>
                <p:cNvSpPr>
                  <a:spLocks noChangeArrowheads="1"/>
                </p:cNvSpPr>
                <p:nvPr/>
              </p:nvSpPr>
              <p:spPr bwMode="auto">
                <a:xfrm>
                  <a:off x="616"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8</a:t>
                  </a:r>
                </a:p>
                <a:p>
                  <a:pPr algn="ctr" eaLnBrk="0" hangingPunct="0"/>
                  <a:endParaRPr kumimoji="1" lang="en-US" altLang="zh-CN" sz="2400" b="1">
                    <a:solidFill>
                      <a:schemeClr val="tx2"/>
                    </a:solidFill>
                    <a:latin typeface="Times New Roman" pitchFamily="18" charset="0"/>
                  </a:endParaRPr>
                </a:p>
              </p:txBody>
            </p:sp>
            <p:sp>
              <p:nvSpPr>
                <p:cNvPr id="51266" name="Rectangle 112"/>
                <p:cNvSpPr>
                  <a:spLocks noChangeArrowheads="1"/>
                </p:cNvSpPr>
                <p:nvPr/>
              </p:nvSpPr>
              <p:spPr bwMode="auto">
                <a:xfrm>
                  <a:off x="573"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3" name="Group 113"/>
              <p:cNvGrpSpPr>
                <a:grpSpLocks/>
              </p:cNvGrpSpPr>
              <p:nvPr/>
            </p:nvGrpSpPr>
            <p:grpSpPr bwMode="auto">
              <a:xfrm>
                <a:off x="1146" y="2648"/>
                <a:ext cx="573" cy="403"/>
                <a:chOff x="1146" y="2648"/>
                <a:chExt cx="573" cy="403"/>
              </a:xfrm>
            </p:grpSpPr>
            <p:sp>
              <p:nvSpPr>
                <p:cNvPr id="51263" name="Rectangle 114"/>
                <p:cNvSpPr>
                  <a:spLocks noChangeArrowheads="1"/>
                </p:cNvSpPr>
                <p:nvPr/>
              </p:nvSpPr>
              <p:spPr bwMode="auto">
                <a:xfrm>
                  <a:off x="1189"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7</a:t>
                  </a:r>
                </a:p>
                <a:p>
                  <a:pPr algn="ctr" eaLnBrk="0" hangingPunct="0"/>
                  <a:endParaRPr kumimoji="1" lang="en-US" altLang="zh-CN" sz="2400" b="1">
                    <a:solidFill>
                      <a:schemeClr val="tx2"/>
                    </a:solidFill>
                    <a:latin typeface="Times New Roman" pitchFamily="18" charset="0"/>
                  </a:endParaRPr>
                </a:p>
              </p:txBody>
            </p:sp>
            <p:sp>
              <p:nvSpPr>
                <p:cNvPr id="51264" name="Rectangle 115"/>
                <p:cNvSpPr>
                  <a:spLocks noChangeArrowheads="1"/>
                </p:cNvSpPr>
                <p:nvPr/>
              </p:nvSpPr>
              <p:spPr bwMode="auto">
                <a:xfrm>
                  <a:off x="1146"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4" name="Group 116"/>
              <p:cNvGrpSpPr>
                <a:grpSpLocks/>
              </p:cNvGrpSpPr>
              <p:nvPr/>
            </p:nvGrpSpPr>
            <p:grpSpPr bwMode="auto">
              <a:xfrm>
                <a:off x="1719" y="2648"/>
                <a:ext cx="573" cy="403"/>
                <a:chOff x="1719" y="2648"/>
                <a:chExt cx="573" cy="403"/>
              </a:xfrm>
            </p:grpSpPr>
            <p:sp>
              <p:nvSpPr>
                <p:cNvPr id="51261" name="Rectangle 117"/>
                <p:cNvSpPr>
                  <a:spLocks noChangeArrowheads="1"/>
                </p:cNvSpPr>
                <p:nvPr/>
              </p:nvSpPr>
              <p:spPr bwMode="auto">
                <a:xfrm>
                  <a:off x="1762"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5.5</a:t>
                  </a:r>
                </a:p>
                <a:p>
                  <a:pPr algn="ctr" eaLnBrk="0" hangingPunct="0"/>
                  <a:endParaRPr kumimoji="1" lang="en-US" altLang="zh-CN" sz="2400" b="1">
                    <a:solidFill>
                      <a:schemeClr val="tx2"/>
                    </a:solidFill>
                    <a:latin typeface="Times New Roman" pitchFamily="18" charset="0"/>
                  </a:endParaRPr>
                </a:p>
              </p:txBody>
            </p:sp>
            <p:sp>
              <p:nvSpPr>
                <p:cNvPr id="51262" name="Rectangle 118"/>
                <p:cNvSpPr>
                  <a:spLocks noChangeArrowheads="1"/>
                </p:cNvSpPr>
                <p:nvPr/>
              </p:nvSpPr>
              <p:spPr bwMode="auto">
                <a:xfrm>
                  <a:off x="1719"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5" name="Group 119"/>
              <p:cNvGrpSpPr>
                <a:grpSpLocks/>
              </p:cNvGrpSpPr>
              <p:nvPr/>
            </p:nvGrpSpPr>
            <p:grpSpPr bwMode="auto">
              <a:xfrm>
                <a:off x="2292" y="2648"/>
                <a:ext cx="573" cy="403"/>
                <a:chOff x="2292" y="2648"/>
                <a:chExt cx="573" cy="403"/>
              </a:xfrm>
            </p:grpSpPr>
            <p:sp>
              <p:nvSpPr>
                <p:cNvPr id="51259" name="Rectangle 120"/>
                <p:cNvSpPr>
                  <a:spLocks noChangeArrowheads="1"/>
                </p:cNvSpPr>
                <p:nvPr/>
              </p:nvSpPr>
              <p:spPr bwMode="auto">
                <a:xfrm>
                  <a:off x="2335"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2</a:t>
                  </a:r>
                </a:p>
                <a:p>
                  <a:pPr algn="ctr" eaLnBrk="0" hangingPunct="0"/>
                  <a:endParaRPr kumimoji="1" lang="en-US" altLang="zh-CN" sz="2400" b="1">
                    <a:solidFill>
                      <a:schemeClr val="tx2"/>
                    </a:solidFill>
                    <a:latin typeface="Times New Roman" pitchFamily="18" charset="0"/>
                  </a:endParaRPr>
                </a:p>
              </p:txBody>
            </p:sp>
            <p:sp>
              <p:nvSpPr>
                <p:cNvPr id="51260" name="Rectangle 121"/>
                <p:cNvSpPr>
                  <a:spLocks noChangeArrowheads="1"/>
                </p:cNvSpPr>
                <p:nvPr/>
              </p:nvSpPr>
              <p:spPr bwMode="auto">
                <a:xfrm>
                  <a:off x="2292"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56" name="Group 122"/>
              <p:cNvGrpSpPr>
                <a:grpSpLocks/>
              </p:cNvGrpSpPr>
              <p:nvPr/>
            </p:nvGrpSpPr>
            <p:grpSpPr bwMode="auto">
              <a:xfrm>
                <a:off x="2865" y="2648"/>
                <a:ext cx="573" cy="403"/>
                <a:chOff x="2865" y="2648"/>
                <a:chExt cx="573" cy="403"/>
              </a:xfrm>
            </p:grpSpPr>
            <p:sp>
              <p:nvSpPr>
                <p:cNvPr id="51257" name="Rectangle 123"/>
                <p:cNvSpPr>
                  <a:spLocks noChangeArrowheads="1"/>
                </p:cNvSpPr>
                <p:nvPr/>
              </p:nvSpPr>
              <p:spPr bwMode="auto">
                <a:xfrm>
                  <a:off x="2908"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1258" name="Rectangle 124"/>
                <p:cNvSpPr>
                  <a:spLocks noChangeArrowheads="1"/>
                </p:cNvSpPr>
                <p:nvPr/>
              </p:nvSpPr>
              <p:spPr bwMode="auto">
                <a:xfrm>
                  <a:off x="2865"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51220" name="Rectangle 125"/>
            <p:cNvSpPr>
              <a:spLocks noChangeArrowheads="1"/>
            </p:cNvSpPr>
            <p:nvPr/>
          </p:nvSpPr>
          <p:spPr bwMode="auto">
            <a:xfrm>
              <a:off x="-3" y="630"/>
              <a:ext cx="3444" cy="242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77630" name="Line 126"/>
          <p:cNvSpPr>
            <a:spLocks noChangeShapeType="1"/>
          </p:cNvSpPr>
          <p:nvPr/>
        </p:nvSpPr>
        <p:spPr bwMode="auto">
          <a:xfrm>
            <a:off x="4445000" y="3436939"/>
            <a:ext cx="0" cy="3311525"/>
          </a:xfrm>
          <a:prstGeom prst="line">
            <a:avLst/>
          </a:prstGeom>
          <a:noFill/>
          <a:ln w="28575" cap="sq">
            <a:solidFill>
              <a:srgbClr val="FC3F04"/>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7633" name="Line 129"/>
          <p:cNvSpPr>
            <a:spLocks noChangeShapeType="1"/>
          </p:cNvSpPr>
          <p:nvPr/>
        </p:nvSpPr>
        <p:spPr bwMode="auto">
          <a:xfrm>
            <a:off x="3076576" y="4805363"/>
            <a:ext cx="5472113" cy="0"/>
          </a:xfrm>
          <a:prstGeom prst="line">
            <a:avLst/>
          </a:prstGeom>
          <a:noFill/>
          <a:ln w="28575" cap="sq">
            <a:solidFill>
              <a:srgbClr val="FC3F04"/>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7" name="Rectangle 130"/>
          <p:cNvSpPr>
            <a:spLocks noGrp="1" noChangeArrowheads="1"/>
          </p:cNvSpPr>
          <p:nvPr>
            <p:ph type="title"/>
          </p:nvPr>
        </p:nvSpPr>
        <p:spPr>
          <a:xfrm>
            <a:off x="2063750" y="260350"/>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277635" name="Rectangle 131"/>
          <p:cNvSpPr>
            <a:spLocks noGrp="1" noChangeArrowheads="1"/>
          </p:cNvSpPr>
          <p:nvPr>
            <p:ph type="body" idx="1"/>
          </p:nvPr>
        </p:nvSpPr>
        <p:spPr>
          <a:xfrm>
            <a:off x="1055440" y="1412776"/>
            <a:ext cx="10526960" cy="3886200"/>
          </a:xfrm>
        </p:spPr>
        <p:txBody>
          <a:bodyPr/>
          <a:lstStyle/>
          <a:p>
            <a:pPr eaLnBrk="1" hangingPunct="1">
              <a:buFont typeface="Wingdings" pitchFamily="2" charset="2"/>
              <a:buNone/>
            </a:pPr>
            <a:r>
              <a:rPr kumimoji="1" lang="en-US" altLang="zh-CN" dirty="0">
                <a:solidFill>
                  <a:srgbClr val="3333FF"/>
                </a:solidFill>
              </a:rPr>
              <a:t>1</a:t>
            </a:r>
            <a:r>
              <a:rPr kumimoji="1" lang="zh-CN" altLang="en-US" dirty="0">
                <a:solidFill>
                  <a:srgbClr val="3333FF"/>
                </a:solidFill>
              </a:rPr>
              <a:t>、 </a:t>
            </a:r>
            <a:r>
              <a:rPr kumimoji="1" lang="zh-CN" altLang="en-US" dirty="0">
                <a:solidFill>
                  <a:srgbClr val="3333FF"/>
                </a:solidFill>
                <a:ea typeface="黑体" pitchFamily="2" charset="-122"/>
              </a:rPr>
              <a:t>最短距离法</a:t>
            </a:r>
          </a:p>
          <a:p>
            <a:pPr lvl="1" eaLnBrk="1" hangingPunct="1">
              <a:buFont typeface="Wingdings" pitchFamily="2" charset="2"/>
              <a:buNone/>
            </a:pPr>
            <a:r>
              <a:rPr kumimoji="1" lang="zh-CN" altLang="en-US" b="1" dirty="0">
                <a:solidFill>
                  <a:schemeClr val="tx2"/>
                </a:solidFill>
              </a:rPr>
              <a:t>设抽取五个样本，每个样本只有一个变量，它们是</a:t>
            </a:r>
            <a:r>
              <a:rPr kumimoji="1" lang="en-US" altLang="zh-CN" b="1" dirty="0">
                <a:solidFill>
                  <a:schemeClr val="tx2"/>
                </a:solidFill>
              </a:rPr>
              <a:t>1</a:t>
            </a:r>
            <a:r>
              <a:rPr kumimoji="1" lang="zh-CN" altLang="en-US" b="1" dirty="0">
                <a:solidFill>
                  <a:schemeClr val="tx2"/>
                </a:solidFill>
              </a:rPr>
              <a:t>，</a:t>
            </a:r>
            <a:r>
              <a:rPr kumimoji="1" lang="en-US" altLang="zh-CN" b="1" dirty="0">
                <a:solidFill>
                  <a:schemeClr val="tx2"/>
                </a:solidFill>
              </a:rPr>
              <a:t>2</a:t>
            </a:r>
            <a:r>
              <a:rPr kumimoji="1" lang="zh-CN" altLang="en-US" b="1" dirty="0">
                <a:solidFill>
                  <a:schemeClr val="tx2"/>
                </a:solidFill>
              </a:rPr>
              <a:t>，</a:t>
            </a:r>
            <a:r>
              <a:rPr kumimoji="1" lang="en-US" altLang="zh-CN" b="1" dirty="0">
                <a:solidFill>
                  <a:schemeClr val="tx2"/>
                </a:solidFill>
              </a:rPr>
              <a:t>3.5</a:t>
            </a:r>
            <a:r>
              <a:rPr kumimoji="1" lang="zh-CN" altLang="en-US" b="1" dirty="0">
                <a:solidFill>
                  <a:schemeClr val="tx2"/>
                </a:solidFill>
              </a:rPr>
              <a:t>，</a:t>
            </a:r>
            <a:r>
              <a:rPr kumimoji="1" lang="en-US" altLang="zh-CN" b="1" dirty="0">
                <a:solidFill>
                  <a:schemeClr val="tx2"/>
                </a:solidFill>
              </a:rPr>
              <a:t>7</a:t>
            </a:r>
            <a:r>
              <a:rPr kumimoji="1" lang="zh-CN" altLang="en-US" b="1" dirty="0">
                <a:solidFill>
                  <a:schemeClr val="tx2"/>
                </a:solidFill>
              </a:rPr>
              <a:t>，</a:t>
            </a:r>
            <a:r>
              <a:rPr kumimoji="1" lang="en-US" altLang="zh-CN" b="1" dirty="0">
                <a:solidFill>
                  <a:schemeClr val="tx2"/>
                </a:solidFill>
              </a:rPr>
              <a:t>9</a:t>
            </a:r>
            <a:r>
              <a:rPr kumimoji="1" lang="zh-CN" altLang="en-US" b="1" dirty="0">
                <a:solidFill>
                  <a:schemeClr val="tx2"/>
                </a:solidFill>
              </a:rPr>
              <a:t>。用最短距离法对</a:t>
            </a:r>
            <a:r>
              <a:rPr kumimoji="1" lang="en-US" altLang="zh-CN" b="1" dirty="0">
                <a:solidFill>
                  <a:schemeClr val="tx2"/>
                </a:solidFill>
              </a:rPr>
              <a:t>5</a:t>
            </a:r>
            <a:r>
              <a:rPr kumimoji="1" lang="zh-CN" altLang="en-US" b="1" dirty="0">
                <a:solidFill>
                  <a:schemeClr val="tx2"/>
                </a:solidFill>
              </a:rPr>
              <a:t>个样本进行分类。</a:t>
            </a:r>
          </a:p>
          <a:p>
            <a:pPr eaLnBrk="1" hangingPunct="1"/>
            <a:r>
              <a:rPr kumimoji="1" lang="zh-CN" altLang="en-US" sz="2800" b="1" dirty="0">
                <a:solidFill>
                  <a:schemeClr val="tx2"/>
                </a:solidFill>
                <a:ea typeface="楷体_GB2312" pitchFamily="49" charset="-122"/>
              </a:rPr>
              <a:t>首先采用绝对距离计算距离矩阵</a:t>
            </a:r>
            <a:r>
              <a:rPr kumimoji="1" lang="zh-CN" altLang="en-US" dirty="0">
                <a:solidFill>
                  <a:schemeClr val="tx2"/>
                </a:solidFill>
              </a:rPr>
              <a:t>：      </a:t>
            </a:r>
            <a:r>
              <a:rPr kumimoji="1" lang="en-US" altLang="zh-CN" sz="2800" dirty="0">
                <a:solidFill>
                  <a:srgbClr val="057939"/>
                </a:solidFill>
              </a:rPr>
              <a:t>D(0)</a:t>
            </a:r>
          </a:p>
        </p:txBody>
      </p:sp>
      <p:sp>
        <p:nvSpPr>
          <p:cNvPr id="2" name="灯片编号占位符 1">
            <a:extLst>
              <a:ext uri="{FF2B5EF4-FFF2-40B4-BE49-F238E27FC236}">
                <a16:creationId xmlns:a16="http://schemas.microsoft.com/office/drawing/2014/main" id="{3AAFD3A3-6FA1-C17E-421F-53C420122DD7}"/>
              </a:ext>
            </a:extLst>
          </p:cNvPr>
          <p:cNvSpPr>
            <a:spLocks noGrp="1"/>
          </p:cNvSpPr>
          <p:nvPr>
            <p:ph type="sldNum" sz="quarter" idx="11"/>
          </p:nvPr>
        </p:nvSpPr>
        <p:spPr/>
        <p:txBody>
          <a:bodyPr/>
          <a:lstStyle/>
          <a:p>
            <a:pPr>
              <a:defRPr/>
            </a:pPr>
            <a:fld id="{F13753BC-CAEF-4333-AC48-2805658F6E3F}" type="slidenum">
              <a:rPr lang="en-US" altLang="zh-CN" smtClean="0"/>
              <a:pPr>
                <a:defRPr/>
              </a:pPr>
              <a:t>60</a:t>
            </a:fld>
            <a:endParaRPr lang="en-US" altLang="zh-CN"/>
          </a:p>
        </p:txBody>
      </p:sp>
    </p:spTree>
    <p:extLst>
      <p:ext uri="{BB962C8B-B14F-4D97-AF65-F5344CB8AC3E}">
        <p14:creationId xmlns:p14="http://schemas.microsoft.com/office/powerpoint/2010/main" val="413240175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7635">
                                            <p:txEl>
                                              <p:pRg st="0" end="0"/>
                                            </p:txEl>
                                          </p:spTgt>
                                        </p:tgtEl>
                                        <p:attrNameLst>
                                          <p:attrName>style.visibility</p:attrName>
                                        </p:attrNameLst>
                                      </p:cBhvr>
                                      <p:to>
                                        <p:strVal val="visible"/>
                                      </p:to>
                                    </p:set>
                                    <p:animEffect transition="in" filter="wipe(left)">
                                      <p:cBhvr>
                                        <p:cTn id="7" dur="500"/>
                                        <p:tgtEl>
                                          <p:spTgt spid="277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7635">
                                            <p:txEl>
                                              <p:pRg st="1" end="1"/>
                                            </p:txEl>
                                          </p:spTgt>
                                        </p:tgtEl>
                                        <p:attrNameLst>
                                          <p:attrName>style.visibility</p:attrName>
                                        </p:attrNameLst>
                                      </p:cBhvr>
                                      <p:to>
                                        <p:strVal val="visible"/>
                                      </p:to>
                                    </p:set>
                                    <p:animEffect transition="in" filter="wipe(left)">
                                      <p:cBhvr>
                                        <p:cTn id="12" dur="500"/>
                                        <p:tgtEl>
                                          <p:spTgt spid="2776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7635">
                                            <p:txEl>
                                              <p:pRg st="2" end="2"/>
                                            </p:txEl>
                                          </p:spTgt>
                                        </p:tgtEl>
                                        <p:attrNameLst>
                                          <p:attrName>style.visibility</p:attrName>
                                        </p:attrNameLst>
                                      </p:cBhvr>
                                      <p:to>
                                        <p:strVal val="visible"/>
                                      </p:to>
                                    </p:set>
                                    <p:animEffect transition="in" filter="wipe(left)">
                                      <p:cBhvr>
                                        <p:cTn id="17" dur="500"/>
                                        <p:tgtEl>
                                          <p:spTgt spid="2776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77519"/>
                                        </p:tgtEl>
                                        <p:attrNameLst>
                                          <p:attrName>style.visibility</p:attrName>
                                        </p:attrNameLst>
                                      </p:cBhvr>
                                      <p:to>
                                        <p:strVal val="visible"/>
                                      </p:to>
                                    </p:set>
                                    <p:animEffect transition="in" filter="blinds(horizontal)">
                                      <p:cBhvr>
                                        <p:cTn id="22" dur="500"/>
                                        <p:tgtEl>
                                          <p:spTgt spid="277519"/>
                                        </p:tgtEl>
                                      </p:cBhvr>
                                    </p:animEffect>
                                  </p:childTnLst>
                                </p:cTn>
                              </p:par>
                              <p:par>
                                <p:cTn id="23" presetID="3" presetClass="entr" presetSubtype="10" fill="hold" nodeType="withEffect">
                                  <p:stCondLst>
                                    <p:cond delay="0"/>
                                  </p:stCondLst>
                                  <p:childTnLst>
                                    <p:set>
                                      <p:cBhvr>
                                        <p:cTn id="24" dur="1" fill="hold">
                                          <p:stCondLst>
                                            <p:cond delay="0"/>
                                          </p:stCondLst>
                                        </p:cTn>
                                        <p:tgtEl>
                                          <p:spTgt spid="277513"/>
                                        </p:tgtEl>
                                        <p:attrNameLst>
                                          <p:attrName>style.visibility</p:attrName>
                                        </p:attrNameLst>
                                      </p:cBhvr>
                                      <p:to>
                                        <p:strVal val="visible"/>
                                      </p:to>
                                    </p:set>
                                    <p:animEffect transition="in" filter="blinds(horizontal)">
                                      <p:cBhvr>
                                        <p:cTn id="25" dur="500"/>
                                        <p:tgtEl>
                                          <p:spTgt spid="277513"/>
                                        </p:tgtEl>
                                      </p:cBhvr>
                                    </p:animEffect>
                                  </p:childTnLst>
                                </p:cTn>
                              </p:par>
                              <p:par>
                                <p:cTn id="26" presetID="3" presetClass="entr" presetSubtype="10" fill="hold" nodeType="withEffect">
                                  <p:stCondLst>
                                    <p:cond delay="0"/>
                                  </p:stCondLst>
                                  <p:childTnLst>
                                    <p:set>
                                      <p:cBhvr>
                                        <p:cTn id="27" dur="1" fill="hold">
                                          <p:stCondLst>
                                            <p:cond delay="0"/>
                                          </p:stCondLst>
                                        </p:cTn>
                                        <p:tgtEl>
                                          <p:spTgt spid="277517"/>
                                        </p:tgtEl>
                                        <p:attrNameLst>
                                          <p:attrName>style.visibility</p:attrName>
                                        </p:attrNameLst>
                                      </p:cBhvr>
                                      <p:to>
                                        <p:strVal val="visible"/>
                                      </p:to>
                                    </p:set>
                                    <p:animEffect transition="in" filter="blinds(horizontal)">
                                      <p:cBhvr>
                                        <p:cTn id="28" dur="500"/>
                                        <p:tgtEl>
                                          <p:spTgt spid="277517"/>
                                        </p:tgtEl>
                                      </p:cBhvr>
                                    </p:animEffect>
                                  </p:childTnLst>
                                </p:cTn>
                              </p:par>
                              <p:par>
                                <p:cTn id="29" presetID="3" presetClass="entr" presetSubtype="10" fill="hold" nodeType="withEffect">
                                  <p:stCondLst>
                                    <p:cond delay="0"/>
                                  </p:stCondLst>
                                  <p:childTnLst>
                                    <p:set>
                                      <p:cBhvr>
                                        <p:cTn id="30" dur="1" fill="hold">
                                          <p:stCondLst>
                                            <p:cond delay="0"/>
                                          </p:stCondLst>
                                        </p:cTn>
                                        <p:tgtEl>
                                          <p:spTgt spid="277511"/>
                                        </p:tgtEl>
                                        <p:attrNameLst>
                                          <p:attrName>style.visibility</p:attrName>
                                        </p:attrNameLst>
                                      </p:cBhvr>
                                      <p:to>
                                        <p:strVal val="visible"/>
                                      </p:to>
                                    </p:set>
                                    <p:animEffect transition="in" filter="blinds(horizontal)">
                                      <p:cBhvr>
                                        <p:cTn id="31" dur="500"/>
                                        <p:tgtEl>
                                          <p:spTgt spid="277511"/>
                                        </p:tgtEl>
                                      </p:cBhvr>
                                    </p:animEffect>
                                  </p:childTnLst>
                                </p:cTn>
                              </p:par>
                              <p:par>
                                <p:cTn id="32" presetID="3" presetClass="entr" presetSubtype="10" fill="hold" nodeType="withEffect">
                                  <p:stCondLst>
                                    <p:cond delay="0"/>
                                  </p:stCondLst>
                                  <p:childTnLst>
                                    <p:set>
                                      <p:cBhvr>
                                        <p:cTn id="33" dur="1" fill="hold">
                                          <p:stCondLst>
                                            <p:cond delay="0"/>
                                          </p:stCondLst>
                                        </p:cTn>
                                        <p:tgtEl>
                                          <p:spTgt spid="277510"/>
                                        </p:tgtEl>
                                        <p:attrNameLst>
                                          <p:attrName>style.visibility</p:attrName>
                                        </p:attrNameLst>
                                      </p:cBhvr>
                                      <p:to>
                                        <p:strVal val="visible"/>
                                      </p:to>
                                    </p:set>
                                    <p:animEffect transition="in" filter="blinds(horizontal)">
                                      <p:cBhvr>
                                        <p:cTn id="34" dur="500"/>
                                        <p:tgtEl>
                                          <p:spTgt spid="277510"/>
                                        </p:tgtEl>
                                      </p:cBhvr>
                                    </p:animEffect>
                                  </p:childTnLst>
                                </p:cTn>
                              </p:par>
                              <p:par>
                                <p:cTn id="35" presetID="3" presetClass="entr" presetSubtype="10" fill="hold" nodeType="withEffect">
                                  <p:stCondLst>
                                    <p:cond delay="0"/>
                                  </p:stCondLst>
                                  <p:childTnLst>
                                    <p:set>
                                      <p:cBhvr>
                                        <p:cTn id="36" dur="1" fill="hold">
                                          <p:stCondLst>
                                            <p:cond delay="0"/>
                                          </p:stCondLst>
                                        </p:cTn>
                                        <p:tgtEl>
                                          <p:spTgt spid="277514"/>
                                        </p:tgtEl>
                                        <p:attrNameLst>
                                          <p:attrName>style.visibility</p:attrName>
                                        </p:attrNameLst>
                                      </p:cBhvr>
                                      <p:to>
                                        <p:strVal val="visible"/>
                                      </p:to>
                                    </p:set>
                                    <p:animEffect transition="in" filter="blinds(horizontal)">
                                      <p:cBhvr>
                                        <p:cTn id="37" dur="500"/>
                                        <p:tgtEl>
                                          <p:spTgt spid="277514"/>
                                        </p:tgtEl>
                                      </p:cBhvr>
                                    </p:animEffect>
                                  </p:childTnLst>
                                </p:cTn>
                              </p:par>
                              <p:par>
                                <p:cTn id="38" presetID="3" presetClass="entr" presetSubtype="10" fill="hold" nodeType="withEffect">
                                  <p:stCondLst>
                                    <p:cond delay="0"/>
                                  </p:stCondLst>
                                  <p:childTnLst>
                                    <p:set>
                                      <p:cBhvr>
                                        <p:cTn id="39" dur="1" fill="hold">
                                          <p:stCondLst>
                                            <p:cond delay="0"/>
                                          </p:stCondLst>
                                        </p:cTn>
                                        <p:tgtEl>
                                          <p:spTgt spid="277509"/>
                                        </p:tgtEl>
                                        <p:attrNameLst>
                                          <p:attrName>style.visibility</p:attrName>
                                        </p:attrNameLst>
                                      </p:cBhvr>
                                      <p:to>
                                        <p:strVal val="visible"/>
                                      </p:to>
                                    </p:set>
                                    <p:animEffect transition="in" filter="blinds(horizontal)">
                                      <p:cBhvr>
                                        <p:cTn id="40" dur="500"/>
                                        <p:tgtEl>
                                          <p:spTgt spid="277509"/>
                                        </p:tgtEl>
                                      </p:cBhvr>
                                    </p:animEffect>
                                  </p:childTnLst>
                                </p:cTn>
                              </p:par>
                              <p:par>
                                <p:cTn id="41" presetID="3" presetClass="entr" presetSubtype="10" fill="hold" nodeType="withEffect">
                                  <p:stCondLst>
                                    <p:cond delay="0"/>
                                  </p:stCondLst>
                                  <p:childTnLst>
                                    <p:set>
                                      <p:cBhvr>
                                        <p:cTn id="42" dur="1" fill="hold">
                                          <p:stCondLst>
                                            <p:cond delay="0"/>
                                          </p:stCondLst>
                                        </p:cTn>
                                        <p:tgtEl>
                                          <p:spTgt spid="277515"/>
                                        </p:tgtEl>
                                        <p:attrNameLst>
                                          <p:attrName>style.visibility</p:attrName>
                                        </p:attrNameLst>
                                      </p:cBhvr>
                                      <p:to>
                                        <p:strVal val="visible"/>
                                      </p:to>
                                    </p:set>
                                    <p:animEffect transition="in" filter="blinds(horizontal)">
                                      <p:cBhvr>
                                        <p:cTn id="43" dur="500"/>
                                        <p:tgtEl>
                                          <p:spTgt spid="277515"/>
                                        </p:tgtEl>
                                      </p:cBhvr>
                                    </p:animEffect>
                                  </p:childTnLst>
                                </p:cTn>
                              </p:par>
                              <p:par>
                                <p:cTn id="44" presetID="3" presetClass="entr" presetSubtype="10" fill="hold" nodeType="withEffect">
                                  <p:stCondLst>
                                    <p:cond delay="0"/>
                                  </p:stCondLst>
                                  <p:childTnLst>
                                    <p:set>
                                      <p:cBhvr>
                                        <p:cTn id="45" dur="1" fill="hold">
                                          <p:stCondLst>
                                            <p:cond delay="0"/>
                                          </p:stCondLst>
                                        </p:cTn>
                                        <p:tgtEl>
                                          <p:spTgt spid="277516"/>
                                        </p:tgtEl>
                                        <p:attrNameLst>
                                          <p:attrName>style.visibility</p:attrName>
                                        </p:attrNameLst>
                                      </p:cBhvr>
                                      <p:to>
                                        <p:strVal val="visible"/>
                                      </p:to>
                                    </p:set>
                                    <p:animEffect transition="in" filter="blinds(horizontal)">
                                      <p:cBhvr>
                                        <p:cTn id="46" dur="500"/>
                                        <p:tgtEl>
                                          <p:spTgt spid="277516"/>
                                        </p:tgtEl>
                                      </p:cBhvr>
                                    </p:animEffect>
                                  </p:childTnLst>
                                </p:cTn>
                              </p:par>
                              <p:par>
                                <p:cTn id="47" presetID="3" presetClass="entr" presetSubtype="10" fill="hold" nodeType="withEffect">
                                  <p:stCondLst>
                                    <p:cond delay="0"/>
                                  </p:stCondLst>
                                  <p:childTnLst>
                                    <p:set>
                                      <p:cBhvr>
                                        <p:cTn id="48" dur="1" fill="hold">
                                          <p:stCondLst>
                                            <p:cond delay="0"/>
                                          </p:stCondLst>
                                        </p:cTn>
                                        <p:tgtEl>
                                          <p:spTgt spid="277512"/>
                                        </p:tgtEl>
                                        <p:attrNameLst>
                                          <p:attrName>style.visibility</p:attrName>
                                        </p:attrNameLst>
                                      </p:cBhvr>
                                      <p:to>
                                        <p:strVal val="visible"/>
                                      </p:to>
                                    </p:set>
                                    <p:animEffect transition="in" filter="blinds(horizontal)">
                                      <p:cBhvr>
                                        <p:cTn id="49" dur="500"/>
                                        <p:tgtEl>
                                          <p:spTgt spid="277512"/>
                                        </p:tgtEl>
                                      </p:cBhvr>
                                    </p:animEffect>
                                  </p:childTnLst>
                                </p:cTn>
                              </p:par>
                              <p:par>
                                <p:cTn id="50" presetID="3" presetClass="entr" presetSubtype="10" fill="hold" nodeType="withEffect">
                                  <p:stCondLst>
                                    <p:cond delay="0"/>
                                  </p:stCondLst>
                                  <p:childTnLst>
                                    <p:set>
                                      <p:cBhvr>
                                        <p:cTn id="51" dur="1" fill="hold">
                                          <p:stCondLst>
                                            <p:cond delay="0"/>
                                          </p:stCondLst>
                                        </p:cTn>
                                        <p:tgtEl>
                                          <p:spTgt spid="277518"/>
                                        </p:tgtEl>
                                        <p:attrNameLst>
                                          <p:attrName>style.visibility</p:attrName>
                                        </p:attrNameLst>
                                      </p:cBhvr>
                                      <p:to>
                                        <p:strVal val="visible"/>
                                      </p:to>
                                    </p:set>
                                    <p:animEffect transition="in" filter="blinds(horizontal)">
                                      <p:cBhvr>
                                        <p:cTn id="52" dur="500"/>
                                        <p:tgtEl>
                                          <p:spTgt spid="2775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77633"/>
                                        </p:tgtEl>
                                        <p:attrNameLst>
                                          <p:attrName>style.visibility</p:attrName>
                                        </p:attrNameLst>
                                      </p:cBhvr>
                                      <p:to>
                                        <p:strVal val="visible"/>
                                      </p:to>
                                    </p:set>
                                    <p:animEffect transition="in" filter="blinds(horizontal)">
                                      <p:cBhvr>
                                        <p:cTn id="57" dur="500"/>
                                        <p:tgtEl>
                                          <p:spTgt spid="27763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77630"/>
                                        </p:tgtEl>
                                        <p:attrNameLst>
                                          <p:attrName>style.visibility</p:attrName>
                                        </p:attrNameLst>
                                      </p:cBhvr>
                                      <p:to>
                                        <p:strVal val="visible"/>
                                      </p:to>
                                    </p:set>
                                    <p:animEffect transition="in" filter="blinds(horizontal)">
                                      <p:cBhvr>
                                        <p:cTn id="62" dur="500"/>
                                        <p:tgtEl>
                                          <p:spTgt spid="277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630" grpId="0" animBg="1"/>
      <p:bldP spid="27763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17" name="Rectangle 2"/>
          <p:cNvSpPr>
            <a:spLocks noChangeArrowheads="1"/>
          </p:cNvSpPr>
          <p:nvPr/>
        </p:nvSpPr>
        <p:spPr bwMode="auto">
          <a:xfrm>
            <a:off x="1900764" y="2321719"/>
            <a:ext cx="70564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a:t>
            </a:r>
            <a:r>
              <a:rPr kumimoji="1" lang="zh-CN" altLang="en-US" sz="2800" b="1" dirty="0">
                <a:solidFill>
                  <a:schemeClr val="tx2"/>
                </a:solidFill>
                <a:latin typeface="楷体_GB2312" pitchFamily="49" charset="-122"/>
                <a:ea typeface="楷体_GB2312" pitchFamily="49" charset="-122"/>
              </a:rPr>
              <a:t> 和</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2</a:t>
            </a:r>
            <a:r>
              <a:rPr kumimoji="1" lang="zh-CN" altLang="en-US" sz="2800" b="1" dirty="0">
                <a:solidFill>
                  <a:schemeClr val="tx2"/>
                </a:solidFill>
                <a:latin typeface="楷体_GB2312" pitchFamily="49" charset="-122"/>
                <a:ea typeface="楷体_GB2312" pitchFamily="49" charset="-122"/>
              </a:rPr>
              <a:t> 被聚为新类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12</a:t>
            </a:r>
            <a:r>
              <a:rPr kumimoji="1" lang="zh-CN" altLang="en-US" sz="2800" b="1" dirty="0">
                <a:solidFill>
                  <a:schemeClr val="tx2"/>
                </a:solidFill>
                <a:latin typeface="楷体_GB2312" pitchFamily="49" charset="-122"/>
                <a:ea typeface="楷体_GB2312" pitchFamily="49" charset="-122"/>
              </a:rPr>
              <a:t>，得</a:t>
            </a:r>
            <a:r>
              <a:rPr kumimoji="1" lang="en-US" altLang="zh-CN" sz="2800" b="1" dirty="0">
                <a:solidFill>
                  <a:srgbClr val="057939"/>
                </a:solidFill>
                <a:ea typeface="楷体_GB2312" pitchFamily="49" charset="-122"/>
              </a:rPr>
              <a:t>D(1)</a:t>
            </a:r>
            <a:r>
              <a:rPr kumimoji="1" lang="zh-CN" altLang="en-US" sz="2800" b="1" dirty="0">
                <a:solidFill>
                  <a:schemeClr val="tx2"/>
                </a:solidFill>
                <a:latin typeface="楷体_GB2312" pitchFamily="49" charset="-122"/>
                <a:ea typeface="楷体_GB2312" pitchFamily="49" charset="-122"/>
              </a:rPr>
              <a:t>： </a:t>
            </a:r>
          </a:p>
        </p:txBody>
      </p:sp>
      <p:graphicFrame>
        <p:nvGraphicFramePr>
          <p:cNvPr id="279559" name="Object 7"/>
          <p:cNvGraphicFramePr>
            <a:graphicFrameLocks noChangeAspect="1"/>
          </p:cNvGraphicFramePr>
          <p:nvPr>
            <p:extLst>
              <p:ext uri="{D42A27DB-BD31-4B8C-83A1-F6EECF244321}">
                <p14:modId xmlns:p14="http://schemas.microsoft.com/office/powerpoint/2010/main" val="4287878778"/>
              </p:ext>
            </p:extLst>
          </p:nvPr>
        </p:nvGraphicFramePr>
        <p:xfrm>
          <a:off x="4303967" y="3163147"/>
          <a:ext cx="434467" cy="443041"/>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
                      <p:cNvPicPr>
                        <a:picLocks noChangeAspect="1" noChangeArrowheads="1"/>
                      </p:cNvPicPr>
                      <p:nvPr/>
                    </p:nvPicPr>
                    <p:blipFill>
                      <a:blip r:embed="rId3"/>
                      <a:srcRect/>
                      <a:stretch>
                        <a:fillRect/>
                      </a:stretch>
                    </p:blipFill>
                    <p:spPr bwMode="auto">
                      <a:xfrm>
                        <a:off x="4303967" y="3163147"/>
                        <a:ext cx="434467" cy="443041"/>
                      </a:xfrm>
                      <a:prstGeom prst="rect">
                        <a:avLst/>
                      </a:prstGeom>
                      <a:noFill/>
                      <a:ln>
                        <a:noFill/>
                      </a:ln>
                    </p:spPr>
                  </p:pic>
                </p:oleObj>
              </mc:Fallback>
            </mc:AlternateContent>
          </a:graphicData>
        </a:graphic>
      </p:graphicFrame>
      <p:graphicFrame>
        <p:nvGraphicFramePr>
          <p:cNvPr id="279560" name="Object 8"/>
          <p:cNvGraphicFramePr>
            <a:graphicFrameLocks noChangeAspect="1"/>
          </p:cNvGraphicFramePr>
          <p:nvPr/>
        </p:nvGraphicFramePr>
        <p:xfrm>
          <a:off x="2517775" y="4606925"/>
          <a:ext cx="355600" cy="431800"/>
        </p:xfrm>
        <a:graphic>
          <a:graphicData uri="http://schemas.openxmlformats.org/presentationml/2006/ole">
            <mc:AlternateContent xmlns:mc="http://schemas.openxmlformats.org/markup-compatibility/2006">
              <mc:Choice xmlns:v="urn:schemas-microsoft-com:vml" Requires="v">
                <p:oleObj name="公式" r:id="rId4" imgW="323889" imgH="400140" progId="Equation.3">
                  <p:embed/>
                </p:oleObj>
              </mc:Choice>
              <mc:Fallback>
                <p:oleObj name="公式" r:id="rId4" imgW="323889" imgH="4001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7775" y="4606925"/>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9561" name="Object 9"/>
          <p:cNvGraphicFramePr>
            <a:graphicFrameLocks noChangeAspect="1"/>
          </p:cNvGraphicFramePr>
          <p:nvPr/>
        </p:nvGraphicFramePr>
        <p:xfrm>
          <a:off x="9375775" y="3200400"/>
          <a:ext cx="350838" cy="431800"/>
        </p:xfrm>
        <a:graphic>
          <a:graphicData uri="http://schemas.openxmlformats.org/presentationml/2006/ole">
            <mc:AlternateContent xmlns:mc="http://schemas.openxmlformats.org/markup-compatibility/2006">
              <mc:Choice xmlns:v="urn:schemas-microsoft-com:vml" Requires="v">
                <p:oleObj name="公式" r:id="rId6" imgW="323889" imgH="400140" progId="Equation.3">
                  <p:embed/>
                </p:oleObj>
              </mc:Choice>
              <mc:Fallback>
                <p:oleObj name="公式" r:id="rId6" imgW="323889" imgH="4001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75775" y="3200400"/>
                        <a:ext cx="3508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9562" name="Object 10"/>
          <p:cNvGraphicFramePr>
            <a:graphicFrameLocks noChangeAspect="1"/>
          </p:cNvGraphicFramePr>
          <p:nvPr/>
        </p:nvGraphicFramePr>
        <p:xfrm>
          <a:off x="5946775" y="3200400"/>
          <a:ext cx="355600" cy="431800"/>
        </p:xfrm>
        <a:graphic>
          <a:graphicData uri="http://schemas.openxmlformats.org/presentationml/2006/ole">
            <mc:AlternateContent xmlns:mc="http://schemas.openxmlformats.org/markup-compatibility/2006">
              <mc:Choice xmlns:v="urn:schemas-microsoft-com:vml" Requires="v">
                <p:oleObj name="公式" r:id="rId8" imgW="323889" imgH="400140" progId="Equation.3">
                  <p:embed/>
                </p:oleObj>
              </mc:Choice>
              <mc:Fallback>
                <p:oleObj name="公式" r:id="rId8" imgW="323889" imgH="4001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6775" y="3200400"/>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9563" name="Object 11"/>
          <p:cNvGraphicFramePr>
            <a:graphicFrameLocks noChangeAspect="1"/>
          </p:cNvGraphicFramePr>
          <p:nvPr/>
        </p:nvGraphicFramePr>
        <p:xfrm>
          <a:off x="7699375" y="3200400"/>
          <a:ext cx="361950" cy="425450"/>
        </p:xfrm>
        <a:graphic>
          <a:graphicData uri="http://schemas.openxmlformats.org/presentationml/2006/ole">
            <mc:AlternateContent xmlns:mc="http://schemas.openxmlformats.org/markup-compatibility/2006">
              <mc:Choice xmlns:v="urn:schemas-microsoft-com:vml" Requires="v">
                <p:oleObj name="公式" r:id="rId10" imgW="342799" imgH="390420" progId="Equation.3">
                  <p:embed/>
                </p:oleObj>
              </mc:Choice>
              <mc:Fallback>
                <p:oleObj name="公式" r:id="rId10" imgW="342799" imgH="3904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99375" y="3200400"/>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79564" name="Group 12"/>
          <p:cNvGrpSpPr>
            <a:grpSpLocks/>
          </p:cNvGrpSpPr>
          <p:nvPr/>
        </p:nvGrpSpPr>
        <p:grpSpPr bwMode="auto">
          <a:xfrm>
            <a:off x="1919288" y="3068639"/>
            <a:ext cx="8458200" cy="3208337"/>
            <a:chOff x="-3" y="-3"/>
            <a:chExt cx="2871" cy="2021"/>
          </a:xfrm>
        </p:grpSpPr>
        <p:grpSp>
          <p:nvGrpSpPr>
            <p:cNvPr id="52240" name="Group 13"/>
            <p:cNvGrpSpPr>
              <a:grpSpLocks/>
            </p:cNvGrpSpPr>
            <p:nvPr/>
          </p:nvGrpSpPr>
          <p:grpSpPr bwMode="auto">
            <a:xfrm>
              <a:off x="0" y="0"/>
              <a:ext cx="2865" cy="2015"/>
              <a:chOff x="0" y="0"/>
              <a:chExt cx="2865" cy="2015"/>
            </a:xfrm>
          </p:grpSpPr>
          <p:grpSp>
            <p:nvGrpSpPr>
              <p:cNvPr id="52242" name="Group 14"/>
              <p:cNvGrpSpPr>
                <a:grpSpLocks/>
              </p:cNvGrpSpPr>
              <p:nvPr/>
            </p:nvGrpSpPr>
            <p:grpSpPr bwMode="auto">
              <a:xfrm>
                <a:off x="0" y="0"/>
                <a:ext cx="573" cy="403"/>
                <a:chOff x="0" y="0"/>
                <a:chExt cx="573" cy="403"/>
              </a:xfrm>
            </p:grpSpPr>
            <p:sp>
              <p:nvSpPr>
                <p:cNvPr id="52315" name="Rectangle 15"/>
                <p:cNvSpPr>
                  <a:spLocks noChangeArrowheads="1"/>
                </p:cNvSpPr>
                <p:nvPr/>
              </p:nvSpPr>
              <p:spPr bwMode="auto">
                <a:xfrm>
                  <a:off x="43"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just" eaLnBrk="0" hangingPunct="0"/>
                  <a:endParaRPr kumimoji="1" lang="en-US" altLang="zh-CN" sz="2800">
                    <a:solidFill>
                      <a:schemeClr val="tx2"/>
                    </a:solidFill>
                    <a:latin typeface="Times New Roman" pitchFamily="18" charset="0"/>
                  </a:endParaRPr>
                </a:p>
              </p:txBody>
            </p:sp>
            <p:sp>
              <p:nvSpPr>
                <p:cNvPr id="52316" name="Rectangle 16"/>
                <p:cNvSpPr>
                  <a:spLocks noChangeArrowheads="1"/>
                </p:cNvSpPr>
                <p:nvPr/>
              </p:nvSpPr>
              <p:spPr bwMode="auto">
                <a:xfrm>
                  <a:off x="0"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3" name="Group 17"/>
              <p:cNvGrpSpPr>
                <a:grpSpLocks/>
              </p:cNvGrpSpPr>
              <p:nvPr/>
            </p:nvGrpSpPr>
            <p:grpSpPr bwMode="auto">
              <a:xfrm>
                <a:off x="573" y="0"/>
                <a:ext cx="573" cy="403"/>
                <a:chOff x="573" y="0"/>
                <a:chExt cx="573" cy="403"/>
              </a:xfrm>
            </p:grpSpPr>
            <p:sp>
              <p:nvSpPr>
                <p:cNvPr id="52313" name="Rectangle 18"/>
                <p:cNvSpPr>
                  <a:spLocks noChangeArrowheads="1"/>
                </p:cNvSpPr>
                <p:nvPr/>
              </p:nvSpPr>
              <p:spPr bwMode="auto">
                <a:xfrm>
                  <a:off x="616"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tabLst>
                      <a:tab pos="457200" algn="l"/>
                    </a:tabLst>
                  </a:pPr>
                  <a:r>
                    <a:rPr kumimoji="1" lang="en-US" altLang="zh-CN" sz="2800" dirty="0">
                      <a:solidFill>
                        <a:schemeClr val="tx2"/>
                      </a:solidFill>
                      <a:latin typeface="宋体" pitchFamily="2" charset="-122"/>
                      <a:cs typeface="Times New Roman" pitchFamily="18" charset="0"/>
                    </a:rPr>
                    <a:t>	</a:t>
                  </a:r>
                  <a:endParaRPr kumimoji="1" lang="en-US" altLang="zh-CN" sz="2800" dirty="0">
                    <a:solidFill>
                      <a:schemeClr val="tx2"/>
                    </a:solidFill>
                    <a:latin typeface="Times New Roman" pitchFamily="18" charset="0"/>
                  </a:endParaRPr>
                </a:p>
              </p:txBody>
            </p:sp>
            <p:sp>
              <p:nvSpPr>
                <p:cNvPr id="52314" name="Rectangle 19"/>
                <p:cNvSpPr>
                  <a:spLocks noChangeArrowheads="1"/>
                </p:cNvSpPr>
                <p:nvPr/>
              </p:nvSpPr>
              <p:spPr bwMode="auto">
                <a:xfrm>
                  <a:off x="573"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4" name="Group 20"/>
              <p:cNvGrpSpPr>
                <a:grpSpLocks/>
              </p:cNvGrpSpPr>
              <p:nvPr/>
            </p:nvGrpSpPr>
            <p:grpSpPr bwMode="auto">
              <a:xfrm>
                <a:off x="1146" y="0"/>
                <a:ext cx="573" cy="403"/>
                <a:chOff x="1146" y="0"/>
                <a:chExt cx="573" cy="403"/>
              </a:xfrm>
            </p:grpSpPr>
            <p:sp>
              <p:nvSpPr>
                <p:cNvPr id="52311" name="Rectangle 21"/>
                <p:cNvSpPr>
                  <a:spLocks noChangeArrowheads="1" noTextEdit="1"/>
                </p:cNvSpPr>
                <p:nvPr/>
              </p:nvSpPr>
              <p:spPr bwMode="auto">
                <a:xfrm>
                  <a:off x="1189"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312" name="Rectangle 22"/>
                <p:cNvSpPr>
                  <a:spLocks noChangeArrowheads="1"/>
                </p:cNvSpPr>
                <p:nvPr/>
              </p:nvSpPr>
              <p:spPr bwMode="auto">
                <a:xfrm>
                  <a:off x="1146"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5" name="Group 23"/>
              <p:cNvGrpSpPr>
                <a:grpSpLocks/>
              </p:cNvGrpSpPr>
              <p:nvPr/>
            </p:nvGrpSpPr>
            <p:grpSpPr bwMode="auto">
              <a:xfrm>
                <a:off x="1719" y="0"/>
                <a:ext cx="573" cy="403"/>
                <a:chOff x="1719" y="0"/>
                <a:chExt cx="573" cy="403"/>
              </a:xfrm>
            </p:grpSpPr>
            <p:sp>
              <p:nvSpPr>
                <p:cNvPr id="52309" name="Rectangle 24"/>
                <p:cNvSpPr>
                  <a:spLocks noChangeArrowheads="1" noTextEdit="1"/>
                </p:cNvSpPr>
                <p:nvPr/>
              </p:nvSpPr>
              <p:spPr bwMode="auto">
                <a:xfrm>
                  <a:off x="1762"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310" name="Rectangle 25"/>
                <p:cNvSpPr>
                  <a:spLocks noChangeArrowheads="1"/>
                </p:cNvSpPr>
                <p:nvPr/>
              </p:nvSpPr>
              <p:spPr bwMode="auto">
                <a:xfrm>
                  <a:off x="1719"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6" name="Group 26"/>
              <p:cNvGrpSpPr>
                <a:grpSpLocks/>
              </p:cNvGrpSpPr>
              <p:nvPr/>
            </p:nvGrpSpPr>
            <p:grpSpPr bwMode="auto">
              <a:xfrm>
                <a:off x="2292" y="0"/>
                <a:ext cx="573" cy="403"/>
                <a:chOff x="2292" y="0"/>
                <a:chExt cx="573" cy="403"/>
              </a:xfrm>
            </p:grpSpPr>
            <p:sp>
              <p:nvSpPr>
                <p:cNvPr id="52307" name="Rectangle 27"/>
                <p:cNvSpPr>
                  <a:spLocks noChangeArrowheads="1" noTextEdit="1"/>
                </p:cNvSpPr>
                <p:nvPr/>
              </p:nvSpPr>
              <p:spPr bwMode="auto">
                <a:xfrm>
                  <a:off x="2335"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308" name="Rectangle 28"/>
                <p:cNvSpPr>
                  <a:spLocks noChangeArrowheads="1"/>
                </p:cNvSpPr>
                <p:nvPr/>
              </p:nvSpPr>
              <p:spPr bwMode="auto">
                <a:xfrm>
                  <a:off x="2292"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7" name="Group 29"/>
              <p:cNvGrpSpPr>
                <a:grpSpLocks/>
              </p:cNvGrpSpPr>
              <p:nvPr/>
            </p:nvGrpSpPr>
            <p:grpSpPr bwMode="auto">
              <a:xfrm>
                <a:off x="0" y="403"/>
                <a:ext cx="573" cy="403"/>
                <a:chOff x="0" y="403"/>
                <a:chExt cx="573" cy="403"/>
              </a:xfrm>
            </p:grpSpPr>
            <p:sp>
              <p:nvSpPr>
                <p:cNvPr id="52305" name="Rectangle 30"/>
                <p:cNvSpPr>
                  <a:spLocks noChangeArrowheads="1" noTextEdit="1"/>
                </p:cNvSpPr>
                <p:nvPr/>
              </p:nvSpPr>
              <p:spPr bwMode="auto">
                <a:xfrm>
                  <a:off x="43"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306" name="Rectangle 31"/>
                <p:cNvSpPr>
                  <a:spLocks noChangeArrowheads="1"/>
                </p:cNvSpPr>
                <p:nvPr/>
              </p:nvSpPr>
              <p:spPr bwMode="auto">
                <a:xfrm>
                  <a:off x="0"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8" name="Group 32"/>
              <p:cNvGrpSpPr>
                <a:grpSpLocks/>
              </p:cNvGrpSpPr>
              <p:nvPr/>
            </p:nvGrpSpPr>
            <p:grpSpPr bwMode="auto">
              <a:xfrm>
                <a:off x="573" y="403"/>
                <a:ext cx="573" cy="403"/>
                <a:chOff x="573" y="403"/>
                <a:chExt cx="573" cy="403"/>
              </a:xfrm>
            </p:grpSpPr>
            <p:sp>
              <p:nvSpPr>
                <p:cNvPr id="52303" name="Rectangle 33"/>
                <p:cNvSpPr>
                  <a:spLocks noChangeArrowheads="1"/>
                </p:cNvSpPr>
                <p:nvPr/>
              </p:nvSpPr>
              <p:spPr bwMode="auto">
                <a:xfrm>
                  <a:off x="616"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2304" name="Rectangle 34"/>
                <p:cNvSpPr>
                  <a:spLocks noChangeArrowheads="1"/>
                </p:cNvSpPr>
                <p:nvPr/>
              </p:nvSpPr>
              <p:spPr bwMode="auto">
                <a:xfrm>
                  <a:off x="573"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49" name="Group 35"/>
              <p:cNvGrpSpPr>
                <a:grpSpLocks/>
              </p:cNvGrpSpPr>
              <p:nvPr/>
            </p:nvGrpSpPr>
            <p:grpSpPr bwMode="auto">
              <a:xfrm>
                <a:off x="1146" y="403"/>
                <a:ext cx="573" cy="403"/>
                <a:chOff x="1146" y="403"/>
                <a:chExt cx="573" cy="403"/>
              </a:xfrm>
            </p:grpSpPr>
            <p:sp>
              <p:nvSpPr>
                <p:cNvPr id="52301" name="Rectangle 36"/>
                <p:cNvSpPr>
                  <a:spLocks noChangeArrowheads="1"/>
                </p:cNvSpPr>
                <p:nvPr/>
              </p:nvSpPr>
              <p:spPr bwMode="auto">
                <a:xfrm>
                  <a:off x="1189"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302" name="Rectangle 37"/>
                <p:cNvSpPr>
                  <a:spLocks noChangeArrowheads="1"/>
                </p:cNvSpPr>
                <p:nvPr/>
              </p:nvSpPr>
              <p:spPr bwMode="auto">
                <a:xfrm>
                  <a:off x="1146"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0" name="Group 38"/>
              <p:cNvGrpSpPr>
                <a:grpSpLocks/>
              </p:cNvGrpSpPr>
              <p:nvPr/>
            </p:nvGrpSpPr>
            <p:grpSpPr bwMode="auto">
              <a:xfrm>
                <a:off x="1719" y="403"/>
                <a:ext cx="573" cy="403"/>
                <a:chOff x="1719" y="403"/>
                <a:chExt cx="573" cy="403"/>
              </a:xfrm>
            </p:grpSpPr>
            <p:sp>
              <p:nvSpPr>
                <p:cNvPr id="52299" name="Rectangle 39"/>
                <p:cNvSpPr>
                  <a:spLocks noChangeArrowheads="1"/>
                </p:cNvSpPr>
                <p:nvPr/>
              </p:nvSpPr>
              <p:spPr bwMode="auto">
                <a:xfrm>
                  <a:off x="1762"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300" name="Rectangle 40"/>
                <p:cNvSpPr>
                  <a:spLocks noChangeArrowheads="1"/>
                </p:cNvSpPr>
                <p:nvPr/>
              </p:nvSpPr>
              <p:spPr bwMode="auto">
                <a:xfrm>
                  <a:off x="1719"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1" name="Group 41"/>
              <p:cNvGrpSpPr>
                <a:grpSpLocks/>
              </p:cNvGrpSpPr>
              <p:nvPr/>
            </p:nvGrpSpPr>
            <p:grpSpPr bwMode="auto">
              <a:xfrm>
                <a:off x="2292" y="403"/>
                <a:ext cx="573" cy="403"/>
                <a:chOff x="2292" y="403"/>
                <a:chExt cx="573" cy="403"/>
              </a:xfrm>
            </p:grpSpPr>
            <p:sp>
              <p:nvSpPr>
                <p:cNvPr id="52297" name="Rectangle 42"/>
                <p:cNvSpPr>
                  <a:spLocks noChangeArrowheads="1"/>
                </p:cNvSpPr>
                <p:nvPr/>
              </p:nvSpPr>
              <p:spPr bwMode="auto">
                <a:xfrm>
                  <a:off x="2335"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298" name="Rectangle 43"/>
                <p:cNvSpPr>
                  <a:spLocks noChangeArrowheads="1"/>
                </p:cNvSpPr>
                <p:nvPr/>
              </p:nvSpPr>
              <p:spPr bwMode="auto">
                <a:xfrm>
                  <a:off x="2292"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2" name="Group 44"/>
              <p:cNvGrpSpPr>
                <a:grpSpLocks/>
              </p:cNvGrpSpPr>
              <p:nvPr/>
            </p:nvGrpSpPr>
            <p:grpSpPr bwMode="auto">
              <a:xfrm>
                <a:off x="0" y="806"/>
                <a:ext cx="573" cy="403"/>
                <a:chOff x="0" y="806"/>
                <a:chExt cx="573" cy="403"/>
              </a:xfrm>
            </p:grpSpPr>
            <p:sp>
              <p:nvSpPr>
                <p:cNvPr id="52295" name="Rectangle 45"/>
                <p:cNvSpPr>
                  <a:spLocks noChangeArrowheads="1" noTextEdit="1"/>
                </p:cNvSpPr>
                <p:nvPr/>
              </p:nvSpPr>
              <p:spPr bwMode="auto">
                <a:xfrm>
                  <a:off x="43" y="806"/>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296" name="Rectangle 46"/>
                <p:cNvSpPr>
                  <a:spLocks noChangeArrowheads="1"/>
                </p:cNvSpPr>
                <p:nvPr/>
              </p:nvSpPr>
              <p:spPr bwMode="auto">
                <a:xfrm>
                  <a:off x="0"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3" name="Group 47"/>
              <p:cNvGrpSpPr>
                <a:grpSpLocks/>
              </p:cNvGrpSpPr>
              <p:nvPr/>
            </p:nvGrpSpPr>
            <p:grpSpPr bwMode="auto">
              <a:xfrm>
                <a:off x="573" y="806"/>
                <a:ext cx="573" cy="403"/>
                <a:chOff x="573" y="806"/>
                <a:chExt cx="573" cy="403"/>
              </a:xfrm>
            </p:grpSpPr>
            <p:sp>
              <p:nvSpPr>
                <p:cNvPr id="52293" name="Rectangle 48"/>
                <p:cNvSpPr>
                  <a:spLocks noChangeArrowheads="1"/>
                </p:cNvSpPr>
                <p:nvPr/>
              </p:nvSpPr>
              <p:spPr bwMode="auto">
                <a:xfrm>
                  <a:off x="616"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1.5</a:t>
                  </a:r>
                </a:p>
                <a:p>
                  <a:pPr algn="ctr" eaLnBrk="0" hangingPunct="0"/>
                  <a:endParaRPr kumimoji="1" lang="en-US" altLang="zh-CN" sz="2800">
                    <a:solidFill>
                      <a:schemeClr val="tx2"/>
                    </a:solidFill>
                    <a:latin typeface="Times New Roman" pitchFamily="18" charset="0"/>
                  </a:endParaRPr>
                </a:p>
              </p:txBody>
            </p:sp>
            <p:sp>
              <p:nvSpPr>
                <p:cNvPr id="52294" name="Rectangle 49"/>
                <p:cNvSpPr>
                  <a:spLocks noChangeArrowheads="1"/>
                </p:cNvSpPr>
                <p:nvPr/>
              </p:nvSpPr>
              <p:spPr bwMode="auto">
                <a:xfrm>
                  <a:off x="573"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4" name="Group 50"/>
              <p:cNvGrpSpPr>
                <a:grpSpLocks/>
              </p:cNvGrpSpPr>
              <p:nvPr/>
            </p:nvGrpSpPr>
            <p:grpSpPr bwMode="auto">
              <a:xfrm>
                <a:off x="1146" y="806"/>
                <a:ext cx="573" cy="403"/>
                <a:chOff x="1146" y="806"/>
                <a:chExt cx="573" cy="403"/>
              </a:xfrm>
            </p:grpSpPr>
            <p:sp>
              <p:nvSpPr>
                <p:cNvPr id="52291" name="Rectangle 51"/>
                <p:cNvSpPr>
                  <a:spLocks noChangeArrowheads="1"/>
                </p:cNvSpPr>
                <p:nvPr/>
              </p:nvSpPr>
              <p:spPr bwMode="auto">
                <a:xfrm>
                  <a:off x="1189"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2292" name="Rectangle 52"/>
                <p:cNvSpPr>
                  <a:spLocks noChangeArrowheads="1"/>
                </p:cNvSpPr>
                <p:nvPr/>
              </p:nvSpPr>
              <p:spPr bwMode="auto">
                <a:xfrm>
                  <a:off x="1146"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5" name="Group 53"/>
              <p:cNvGrpSpPr>
                <a:grpSpLocks/>
              </p:cNvGrpSpPr>
              <p:nvPr/>
            </p:nvGrpSpPr>
            <p:grpSpPr bwMode="auto">
              <a:xfrm>
                <a:off x="1719" y="806"/>
                <a:ext cx="573" cy="403"/>
                <a:chOff x="1719" y="806"/>
                <a:chExt cx="573" cy="403"/>
              </a:xfrm>
            </p:grpSpPr>
            <p:sp>
              <p:nvSpPr>
                <p:cNvPr id="52289" name="Rectangle 54"/>
                <p:cNvSpPr>
                  <a:spLocks noChangeArrowheads="1"/>
                </p:cNvSpPr>
                <p:nvPr/>
              </p:nvSpPr>
              <p:spPr bwMode="auto">
                <a:xfrm>
                  <a:off x="1762"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290" name="Rectangle 55"/>
                <p:cNvSpPr>
                  <a:spLocks noChangeArrowheads="1"/>
                </p:cNvSpPr>
                <p:nvPr/>
              </p:nvSpPr>
              <p:spPr bwMode="auto">
                <a:xfrm>
                  <a:off x="1719"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6" name="Group 56"/>
              <p:cNvGrpSpPr>
                <a:grpSpLocks/>
              </p:cNvGrpSpPr>
              <p:nvPr/>
            </p:nvGrpSpPr>
            <p:grpSpPr bwMode="auto">
              <a:xfrm>
                <a:off x="2292" y="806"/>
                <a:ext cx="573" cy="403"/>
                <a:chOff x="2292" y="806"/>
                <a:chExt cx="573" cy="403"/>
              </a:xfrm>
            </p:grpSpPr>
            <p:sp>
              <p:nvSpPr>
                <p:cNvPr id="52287" name="Rectangle 57"/>
                <p:cNvSpPr>
                  <a:spLocks noChangeArrowheads="1"/>
                </p:cNvSpPr>
                <p:nvPr/>
              </p:nvSpPr>
              <p:spPr bwMode="auto">
                <a:xfrm>
                  <a:off x="2335"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288" name="Rectangle 58"/>
                <p:cNvSpPr>
                  <a:spLocks noChangeArrowheads="1"/>
                </p:cNvSpPr>
                <p:nvPr/>
              </p:nvSpPr>
              <p:spPr bwMode="auto">
                <a:xfrm>
                  <a:off x="2292"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7" name="Group 59"/>
              <p:cNvGrpSpPr>
                <a:grpSpLocks/>
              </p:cNvGrpSpPr>
              <p:nvPr/>
            </p:nvGrpSpPr>
            <p:grpSpPr bwMode="auto">
              <a:xfrm>
                <a:off x="0" y="1209"/>
                <a:ext cx="573" cy="403"/>
                <a:chOff x="0" y="1209"/>
                <a:chExt cx="573" cy="403"/>
              </a:xfrm>
            </p:grpSpPr>
            <p:sp>
              <p:nvSpPr>
                <p:cNvPr id="52285" name="Rectangle 60"/>
                <p:cNvSpPr>
                  <a:spLocks noChangeArrowheads="1" noTextEdit="1"/>
                </p:cNvSpPr>
                <p:nvPr/>
              </p:nvSpPr>
              <p:spPr bwMode="auto">
                <a:xfrm>
                  <a:off x="43" y="1209"/>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286" name="Rectangle 61"/>
                <p:cNvSpPr>
                  <a:spLocks noChangeArrowheads="1"/>
                </p:cNvSpPr>
                <p:nvPr/>
              </p:nvSpPr>
              <p:spPr bwMode="auto">
                <a:xfrm>
                  <a:off x="0"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8" name="Group 62"/>
              <p:cNvGrpSpPr>
                <a:grpSpLocks/>
              </p:cNvGrpSpPr>
              <p:nvPr/>
            </p:nvGrpSpPr>
            <p:grpSpPr bwMode="auto">
              <a:xfrm>
                <a:off x="573" y="1209"/>
                <a:ext cx="573" cy="403"/>
                <a:chOff x="573" y="1209"/>
                <a:chExt cx="573" cy="403"/>
              </a:xfrm>
            </p:grpSpPr>
            <p:sp>
              <p:nvSpPr>
                <p:cNvPr id="52283" name="Rectangle 63"/>
                <p:cNvSpPr>
                  <a:spLocks noChangeArrowheads="1"/>
                </p:cNvSpPr>
                <p:nvPr/>
              </p:nvSpPr>
              <p:spPr bwMode="auto">
                <a:xfrm>
                  <a:off x="616"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5</a:t>
                  </a:r>
                </a:p>
                <a:p>
                  <a:pPr algn="ctr" eaLnBrk="0" hangingPunct="0"/>
                  <a:endParaRPr kumimoji="1" lang="en-US" altLang="zh-CN" sz="2800">
                    <a:solidFill>
                      <a:schemeClr val="tx2"/>
                    </a:solidFill>
                    <a:latin typeface="Times New Roman" pitchFamily="18" charset="0"/>
                  </a:endParaRPr>
                </a:p>
              </p:txBody>
            </p:sp>
            <p:sp>
              <p:nvSpPr>
                <p:cNvPr id="52284" name="Rectangle 64"/>
                <p:cNvSpPr>
                  <a:spLocks noChangeArrowheads="1"/>
                </p:cNvSpPr>
                <p:nvPr/>
              </p:nvSpPr>
              <p:spPr bwMode="auto">
                <a:xfrm>
                  <a:off x="573"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59" name="Group 65"/>
              <p:cNvGrpSpPr>
                <a:grpSpLocks/>
              </p:cNvGrpSpPr>
              <p:nvPr/>
            </p:nvGrpSpPr>
            <p:grpSpPr bwMode="auto">
              <a:xfrm>
                <a:off x="1146" y="1209"/>
                <a:ext cx="573" cy="403"/>
                <a:chOff x="1146" y="1209"/>
                <a:chExt cx="573" cy="403"/>
              </a:xfrm>
            </p:grpSpPr>
            <p:sp>
              <p:nvSpPr>
                <p:cNvPr id="52281" name="Rectangle 66"/>
                <p:cNvSpPr>
                  <a:spLocks noChangeArrowheads="1"/>
                </p:cNvSpPr>
                <p:nvPr/>
              </p:nvSpPr>
              <p:spPr bwMode="auto">
                <a:xfrm>
                  <a:off x="1189"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3.5</a:t>
                  </a:r>
                </a:p>
                <a:p>
                  <a:pPr algn="ctr" eaLnBrk="0" hangingPunct="0"/>
                  <a:endParaRPr kumimoji="1" lang="en-US" altLang="zh-CN" sz="2800">
                    <a:solidFill>
                      <a:schemeClr val="tx2"/>
                    </a:solidFill>
                    <a:latin typeface="Times New Roman" pitchFamily="18" charset="0"/>
                  </a:endParaRPr>
                </a:p>
              </p:txBody>
            </p:sp>
            <p:sp>
              <p:nvSpPr>
                <p:cNvPr id="52282" name="Rectangle 67"/>
                <p:cNvSpPr>
                  <a:spLocks noChangeArrowheads="1"/>
                </p:cNvSpPr>
                <p:nvPr/>
              </p:nvSpPr>
              <p:spPr bwMode="auto">
                <a:xfrm>
                  <a:off x="1146"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0" name="Group 68"/>
              <p:cNvGrpSpPr>
                <a:grpSpLocks/>
              </p:cNvGrpSpPr>
              <p:nvPr/>
            </p:nvGrpSpPr>
            <p:grpSpPr bwMode="auto">
              <a:xfrm>
                <a:off x="1719" y="1209"/>
                <a:ext cx="573" cy="403"/>
                <a:chOff x="1719" y="1209"/>
                <a:chExt cx="573" cy="403"/>
              </a:xfrm>
            </p:grpSpPr>
            <p:sp>
              <p:nvSpPr>
                <p:cNvPr id="52279" name="Rectangle 69"/>
                <p:cNvSpPr>
                  <a:spLocks noChangeArrowheads="1"/>
                </p:cNvSpPr>
                <p:nvPr/>
              </p:nvSpPr>
              <p:spPr bwMode="auto">
                <a:xfrm>
                  <a:off x="1762"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2280" name="Rectangle 70"/>
                <p:cNvSpPr>
                  <a:spLocks noChangeArrowheads="1"/>
                </p:cNvSpPr>
                <p:nvPr/>
              </p:nvSpPr>
              <p:spPr bwMode="auto">
                <a:xfrm>
                  <a:off x="1719"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1" name="Group 71"/>
              <p:cNvGrpSpPr>
                <a:grpSpLocks/>
              </p:cNvGrpSpPr>
              <p:nvPr/>
            </p:nvGrpSpPr>
            <p:grpSpPr bwMode="auto">
              <a:xfrm>
                <a:off x="2292" y="1209"/>
                <a:ext cx="573" cy="403"/>
                <a:chOff x="2292" y="1209"/>
                <a:chExt cx="573" cy="403"/>
              </a:xfrm>
            </p:grpSpPr>
            <p:sp>
              <p:nvSpPr>
                <p:cNvPr id="52277" name="Rectangle 72"/>
                <p:cNvSpPr>
                  <a:spLocks noChangeArrowheads="1"/>
                </p:cNvSpPr>
                <p:nvPr/>
              </p:nvSpPr>
              <p:spPr bwMode="auto">
                <a:xfrm>
                  <a:off x="2335"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2278" name="Rectangle 73"/>
                <p:cNvSpPr>
                  <a:spLocks noChangeArrowheads="1"/>
                </p:cNvSpPr>
                <p:nvPr/>
              </p:nvSpPr>
              <p:spPr bwMode="auto">
                <a:xfrm>
                  <a:off x="2292"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2" name="Group 74"/>
              <p:cNvGrpSpPr>
                <a:grpSpLocks/>
              </p:cNvGrpSpPr>
              <p:nvPr/>
            </p:nvGrpSpPr>
            <p:grpSpPr bwMode="auto">
              <a:xfrm>
                <a:off x="0" y="1612"/>
                <a:ext cx="573" cy="403"/>
                <a:chOff x="0" y="1612"/>
                <a:chExt cx="573" cy="403"/>
              </a:xfrm>
            </p:grpSpPr>
            <p:sp>
              <p:nvSpPr>
                <p:cNvPr id="52275" name="Rectangle 75"/>
                <p:cNvSpPr>
                  <a:spLocks noChangeArrowheads="1" noTextEdit="1"/>
                </p:cNvSpPr>
                <p:nvPr/>
              </p:nvSpPr>
              <p:spPr bwMode="auto">
                <a:xfrm>
                  <a:off x="43" y="1612"/>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276" name="Rectangle 76"/>
                <p:cNvSpPr>
                  <a:spLocks noChangeArrowheads="1"/>
                </p:cNvSpPr>
                <p:nvPr/>
              </p:nvSpPr>
              <p:spPr bwMode="auto">
                <a:xfrm>
                  <a:off x="0"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3" name="Group 77"/>
              <p:cNvGrpSpPr>
                <a:grpSpLocks/>
              </p:cNvGrpSpPr>
              <p:nvPr/>
            </p:nvGrpSpPr>
            <p:grpSpPr bwMode="auto">
              <a:xfrm>
                <a:off x="573" y="1612"/>
                <a:ext cx="573" cy="403"/>
                <a:chOff x="573" y="1612"/>
                <a:chExt cx="573" cy="403"/>
              </a:xfrm>
            </p:grpSpPr>
            <p:sp>
              <p:nvSpPr>
                <p:cNvPr id="52273" name="Rectangle 78"/>
                <p:cNvSpPr>
                  <a:spLocks noChangeArrowheads="1"/>
                </p:cNvSpPr>
                <p:nvPr/>
              </p:nvSpPr>
              <p:spPr bwMode="auto">
                <a:xfrm>
                  <a:off x="616"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7</a:t>
                  </a:r>
                </a:p>
                <a:p>
                  <a:pPr algn="ctr" eaLnBrk="0" hangingPunct="0"/>
                  <a:endParaRPr kumimoji="1" lang="en-US" altLang="zh-CN" sz="2800">
                    <a:solidFill>
                      <a:schemeClr val="tx2"/>
                    </a:solidFill>
                    <a:latin typeface="Times New Roman" pitchFamily="18" charset="0"/>
                  </a:endParaRPr>
                </a:p>
              </p:txBody>
            </p:sp>
            <p:sp>
              <p:nvSpPr>
                <p:cNvPr id="52274" name="Rectangle 79"/>
                <p:cNvSpPr>
                  <a:spLocks noChangeArrowheads="1"/>
                </p:cNvSpPr>
                <p:nvPr/>
              </p:nvSpPr>
              <p:spPr bwMode="auto">
                <a:xfrm>
                  <a:off x="573"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4" name="Group 80"/>
              <p:cNvGrpSpPr>
                <a:grpSpLocks/>
              </p:cNvGrpSpPr>
              <p:nvPr/>
            </p:nvGrpSpPr>
            <p:grpSpPr bwMode="auto">
              <a:xfrm>
                <a:off x="1146" y="1612"/>
                <a:ext cx="573" cy="403"/>
                <a:chOff x="1146" y="1612"/>
                <a:chExt cx="573" cy="403"/>
              </a:xfrm>
            </p:grpSpPr>
            <p:sp>
              <p:nvSpPr>
                <p:cNvPr id="52271" name="Rectangle 81"/>
                <p:cNvSpPr>
                  <a:spLocks noChangeArrowheads="1"/>
                </p:cNvSpPr>
                <p:nvPr/>
              </p:nvSpPr>
              <p:spPr bwMode="auto">
                <a:xfrm>
                  <a:off x="1189"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5.5</a:t>
                  </a:r>
                </a:p>
                <a:p>
                  <a:pPr algn="ctr" eaLnBrk="0" hangingPunct="0"/>
                  <a:endParaRPr kumimoji="1" lang="en-US" altLang="zh-CN" sz="2800">
                    <a:solidFill>
                      <a:schemeClr val="tx2"/>
                    </a:solidFill>
                    <a:latin typeface="Times New Roman" pitchFamily="18" charset="0"/>
                  </a:endParaRPr>
                </a:p>
              </p:txBody>
            </p:sp>
            <p:sp>
              <p:nvSpPr>
                <p:cNvPr id="52272" name="Rectangle 82"/>
                <p:cNvSpPr>
                  <a:spLocks noChangeArrowheads="1"/>
                </p:cNvSpPr>
                <p:nvPr/>
              </p:nvSpPr>
              <p:spPr bwMode="auto">
                <a:xfrm>
                  <a:off x="1146"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5" name="Group 83"/>
              <p:cNvGrpSpPr>
                <a:grpSpLocks/>
              </p:cNvGrpSpPr>
              <p:nvPr/>
            </p:nvGrpSpPr>
            <p:grpSpPr bwMode="auto">
              <a:xfrm>
                <a:off x="1719" y="1612"/>
                <a:ext cx="573" cy="403"/>
                <a:chOff x="1719" y="1612"/>
                <a:chExt cx="573" cy="403"/>
              </a:xfrm>
            </p:grpSpPr>
            <p:sp>
              <p:nvSpPr>
                <p:cNvPr id="52269" name="Rectangle 84"/>
                <p:cNvSpPr>
                  <a:spLocks noChangeArrowheads="1"/>
                </p:cNvSpPr>
                <p:nvPr/>
              </p:nvSpPr>
              <p:spPr bwMode="auto">
                <a:xfrm>
                  <a:off x="1762"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2</a:t>
                  </a:r>
                </a:p>
                <a:p>
                  <a:pPr algn="ctr" eaLnBrk="0" hangingPunct="0"/>
                  <a:endParaRPr kumimoji="1" lang="en-US" altLang="zh-CN" sz="2800">
                    <a:solidFill>
                      <a:schemeClr val="tx2"/>
                    </a:solidFill>
                    <a:latin typeface="Times New Roman" pitchFamily="18" charset="0"/>
                  </a:endParaRPr>
                </a:p>
              </p:txBody>
            </p:sp>
            <p:sp>
              <p:nvSpPr>
                <p:cNvPr id="52270" name="Rectangle 85"/>
                <p:cNvSpPr>
                  <a:spLocks noChangeArrowheads="1"/>
                </p:cNvSpPr>
                <p:nvPr/>
              </p:nvSpPr>
              <p:spPr bwMode="auto">
                <a:xfrm>
                  <a:off x="1719"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66" name="Group 86"/>
              <p:cNvGrpSpPr>
                <a:grpSpLocks/>
              </p:cNvGrpSpPr>
              <p:nvPr/>
            </p:nvGrpSpPr>
            <p:grpSpPr bwMode="auto">
              <a:xfrm>
                <a:off x="2292" y="1612"/>
                <a:ext cx="573" cy="403"/>
                <a:chOff x="2292" y="1612"/>
                <a:chExt cx="573" cy="403"/>
              </a:xfrm>
            </p:grpSpPr>
            <p:sp>
              <p:nvSpPr>
                <p:cNvPr id="52267" name="Rectangle 87"/>
                <p:cNvSpPr>
                  <a:spLocks noChangeArrowheads="1"/>
                </p:cNvSpPr>
                <p:nvPr/>
              </p:nvSpPr>
              <p:spPr bwMode="auto">
                <a:xfrm>
                  <a:off x="2335"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2268" name="Rectangle 88"/>
                <p:cNvSpPr>
                  <a:spLocks noChangeArrowheads="1"/>
                </p:cNvSpPr>
                <p:nvPr/>
              </p:nvSpPr>
              <p:spPr bwMode="auto">
                <a:xfrm>
                  <a:off x="2292"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52241" name="Rectangle 89"/>
            <p:cNvSpPr>
              <a:spLocks noChangeArrowheads="1"/>
            </p:cNvSpPr>
            <p:nvPr/>
          </p:nvSpPr>
          <p:spPr bwMode="auto">
            <a:xfrm>
              <a:off x="-3" y="-3"/>
              <a:ext cx="2871" cy="202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279642" name="Object 90"/>
          <p:cNvGraphicFramePr>
            <a:graphicFrameLocks noChangeAspect="1"/>
          </p:cNvGraphicFramePr>
          <p:nvPr>
            <p:extLst>
              <p:ext uri="{D42A27DB-BD31-4B8C-83A1-F6EECF244321}">
                <p14:modId xmlns:p14="http://schemas.microsoft.com/office/powerpoint/2010/main" val="1393911615"/>
              </p:ext>
            </p:extLst>
          </p:nvPr>
        </p:nvGraphicFramePr>
        <p:xfrm>
          <a:off x="2465339" y="3833135"/>
          <a:ext cx="491064" cy="503987"/>
        </p:xfrm>
        <a:graphic>
          <a:graphicData uri="http://schemas.openxmlformats.org/presentationml/2006/ole">
            <mc:AlternateContent xmlns:mc="http://schemas.openxmlformats.org/markup-compatibility/2006">
              <mc:Choice xmlns:v="urn:schemas-microsoft-com:vml" Requires="v">
                <p:oleObj name="Equation" r:id="rId12" imgW="228600" imgH="228600" progId="Equation.DSMT4">
                  <p:embed/>
                </p:oleObj>
              </mc:Choice>
              <mc:Fallback>
                <p:oleObj name="Equation" r:id="rId12" imgW="228600" imgH="228600" progId="Equation.DSMT4">
                  <p:embed/>
                  <p:pic>
                    <p:nvPicPr>
                      <p:cNvPr id="0" name=""/>
                      <p:cNvPicPr>
                        <a:picLocks noChangeAspect="1" noChangeArrowheads="1"/>
                      </p:cNvPicPr>
                      <p:nvPr/>
                    </p:nvPicPr>
                    <p:blipFill>
                      <a:blip r:embed="rId13"/>
                      <a:srcRect/>
                      <a:stretch>
                        <a:fillRect/>
                      </a:stretch>
                    </p:blipFill>
                    <p:spPr bwMode="auto">
                      <a:xfrm>
                        <a:off x="2465339" y="3833135"/>
                        <a:ext cx="491064" cy="503987"/>
                      </a:xfrm>
                      <a:prstGeom prst="rect">
                        <a:avLst/>
                      </a:prstGeom>
                      <a:noFill/>
                      <a:ln>
                        <a:noFill/>
                      </a:ln>
                    </p:spPr>
                  </p:pic>
                </p:oleObj>
              </mc:Fallback>
            </mc:AlternateContent>
          </a:graphicData>
        </a:graphic>
      </p:graphicFrame>
      <p:graphicFrame>
        <p:nvGraphicFramePr>
          <p:cNvPr id="279643" name="Object 91"/>
          <p:cNvGraphicFramePr>
            <a:graphicFrameLocks noChangeAspect="1"/>
          </p:cNvGraphicFramePr>
          <p:nvPr/>
        </p:nvGraphicFramePr>
        <p:xfrm>
          <a:off x="2517775" y="5216525"/>
          <a:ext cx="361950" cy="425450"/>
        </p:xfrm>
        <a:graphic>
          <a:graphicData uri="http://schemas.openxmlformats.org/presentationml/2006/ole">
            <mc:AlternateContent xmlns:mc="http://schemas.openxmlformats.org/markup-compatibility/2006">
              <mc:Choice xmlns:v="urn:schemas-microsoft-com:vml" Requires="v">
                <p:oleObj name="公式" r:id="rId14" imgW="342799" imgH="390420" progId="Equation.3">
                  <p:embed/>
                </p:oleObj>
              </mc:Choice>
              <mc:Fallback>
                <p:oleObj name="公式" r:id="rId14" imgW="342799" imgH="39042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17775" y="5216525"/>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9644" name="Object 92"/>
          <p:cNvGraphicFramePr>
            <a:graphicFrameLocks noChangeAspect="1"/>
          </p:cNvGraphicFramePr>
          <p:nvPr/>
        </p:nvGraphicFramePr>
        <p:xfrm>
          <a:off x="2517775" y="5749925"/>
          <a:ext cx="350838" cy="431800"/>
        </p:xfrm>
        <a:graphic>
          <a:graphicData uri="http://schemas.openxmlformats.org/presentationml/2006/ole">
            <mc:AlternateContent xmlns:mc="http://schemas.openxmlformats.org/markup-compatibility/2006">
              <mc:Choice xmlns:v="urn:schemas-microsoft-com:vml" Requires="v">
                <p:oleObj name="公式" r:id="rId6" imgW="323889" imgH="400140" progId="Equation.3">
                  <p:embed/>
                </p:oleObj>
              </mc:Choice>
              <mc:Fallback>
                <p:oleObj name="公式" r:id="rId6" imgW="323889" imgH="4001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7775" y="5749925"/>
                        <a:ext cx="3508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6" name="Rectangle 93"/>
          <p:cNvSpPr>
            <a:spLocks noChangeArrowheads="1"/>
          </p:cNvSpPr>
          <p:nvPr/>
        </p:nvSpPr>
        <p:spPr bwMode="auto">
          <a:xfrm>
            <a:off x="501491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237" name="Rectangle 94"/>
          <p:cNvSpPr>
            <a:spLocks noChangeArrowheads="1"/>
          </p:cNvSpPr>
          <p:nvPr/>
        </p:nvSpPr>
        <p:spPr bwMode="auto">
          <a:xfrm>
            <a:off x="495300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2238" name="Rectangle 95"/>
          <p:cNvSpPr>
            <a:spLocks noGrp="1" noChangeArrowheads="1"/>
          </p:cNvSpPr>
          <p:nvPr>
            <p:ph type="title"/>
          </p:nvPr>
        </p:nvSpPr>
        <p:spPr>
          <a:xfrm>
            <a:off x="2063750" y="333375"/>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52239" name="Rectangle 97"/>
          <p:cNvSpPr>
            <a:spLocks noChangeArrowheads="1"/>
          </p:cNvSpPr>
          <p:nvPr/>
        </p:nvSpPr>
        <p:spPr bwMode="auto">
          <a:xfrm>
            <a:off x="1381929" y="1592769"/>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1</a:t>
            </a:r>
            <a:r>
              <a:rPr kumimoji="1" lang="zh-CN" altLang="en-US" sz="3200" dirty="0">
                <a:solidFill>
                  <a:srgbClr val="3333FF"/>
                </a:solidFill>
                <a:latin typeface="黑体" pitchFamily="2" charset="-122"/>
                <a:ea typeface="黑体" pitchFamily="2" charset="-122"/>
              </a:rPr>
              <a:t>、 最短距离法</a:t>
            </a:r>
          </a:p>
        </p:txBody>
      </p:sp>
      <p:sp>
        <p:nvSpPr>
          <p:cNvPr id="2" name="灯片编号占位符 1">
            <a:extLst>
              <a:ext uri="{FF2B5EF4-FFF2-40B4-BE49-F238E27FC236}">
                <a16:creationId xmlns:a16="http://schemas.microsoft.com/office/drawing/2014/main" id="{AD4C265C-D001-86A9-6748-6A99967EA237}"/>
              </a:ext>
            </a:extLst>
          </p:cNvPr>
          <p:cNvSpPr>
            <a:spLocks noGrp="1"/>
          </p:cNvSpPr>
          <p:nvPr>
            <p:ph type="sldNum" sz="quarter" idx="11"/>
          </p:nvPr>
        </p:nvSpPr>
        <p:spPr/>
        <p:txBody>
          <a:bodyPr/>
          <a:lstStyle/>
          <a:p>
            <a:pPr>
              <a:defRPr/>
            </a:pPr>
            <a:fld id="{2F44A83F-C644-4D2F-BA00-DBFF3DBED7EA}" type="slidenum">
              <a:rPr lang="en-US" altLang="zh-CN" smtClean="0"/>
              <a:pPr>
                <a:defRPr/>
              </a:pPr>
              <a:t>61</a:t>
            </a:fld>
            <a:endParaRPr lang="en-US" altLang="zh-CN"/>
          </a:p>
        </p:txBody>
      </p:sp>
    </p:spTree>
    <p:extLst>
      <p:ext uri="{BB962C8B-B14F-4D97-AF65-F5344CB8AC3E}">
        <p14:creationId xmlns:p14="http://schemas.microsoft.com/office/powerpoint/2010/main" val="105542866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9644"/>
                                        </p:tgtEl>
                                        <p:attrNameLst>
                                          <p:attrName>style.visibility</p:attrName>
                                        </p:attrNameLst>
                                      </p:cBhvr>
                                      <p:to>
                                        <p:strVal val="visible"/>
                                      </p:to>
                                    </p:set>
                                    <p:animEffect transition="in" filter="blinds(horizontal)">
                                      <p:cBhvr>
                                        <p:cTn id="7" dur="500"/>
                                        <p:tgtEl>
                                          <p:spTgt spid="279644"/>
                                        </p:tgtEl>
                                      </p:cBhvr>
                                    </p:animEffect>
                                  </p:childTnLst>
                                </p:cTn>
                              </p:par>
                              <p:par>
                                <p:cTn id="8" presetID="3" presetClass="entr" presetSubtype="10" fill="hold" nodeType="withEffect">
                                  <p:stCondLst>
                                    <p:cond delay="0"/>
                                  </p:stCondLst>
                                  <p:childTnLst>
                                    <p:set>
                                      <p:cBhvr>
                                        <p:cTn id="9" dur="1" fill="hold">
                                          <p:stCondLst>
                                            <p:cond delay="0"/>
                                          </p:stCondLst>
                                        </p:cTn>
                                        <p:tgtEl>
                                          <p:spTgt spid="279643"/>
                                        </p:tgtEl>
                                        <p:attrNameLst>
                                          <p:attrName>style.visibility</p:attrName>
                                        </p:attrNameLst>
                                      </p:cBhvr>
                                      <p:to>
                                        <p:strVal val="visible"/>
                                      </p:to>
                                    </p:set>
                                    <p:animEffect transition="in" filter="blinds(horizontal)">
                                      <p:cBhvr>
                                        <p:cTn id="10" dur="500"/>
                                        <p:tgtEl>
                                          <p:spTgt spid="279643"/>
                                        </p:tgtEl>
                                      </p:cBhvr>
                                    </p:animEffect>
                                  </p:childTnLst>
                                </p:cTn>
                              </p:par>
                              <p:par>
                                <p:cTn id="11" presetID="3" presetClass="entr" presetSubtype="10" fill="hold" nodeType="withEffect">
                                  <p:stCondLst>
                                    <p:cond delay="0"/>
                                  </p:stCondLst>
                                  <p:childTnLst>
                                    <p:set>
                                      <p:cBhvr>
                                        <p:cTn id="12" dur="1" fill="hold">
                                          <p:stCondLst>
                                            <p:cond delay="0"/>
                                          </p:stCondLst>
                                        </p:cTn>
                                        <p:tgtEl>
                                          <p:spTgt spid="279560"/>
                                        </p:tgtEl>
                                        <p:attrNameLst>
                                          <p:attrName>style.visibility</p:attrName>
                                        </p:attrNameLst>
                                      </p:cBhvr>
                                      <p:to>
                                        <p:strVal val="visible"/>
                                      </p:to>
                                    </p:set>
                                    <p:animEffect transition="in" filter="blinds(horizontal)">
                                      <p:cBhvr>
                                        <p:cTn id="13" dur="500"/>
                                        <p:tgtEl>
                                          <p:spTgt spid="279560"/>
                                        </p:tgtEl>
                                      </p:cBhvr>
                                    </p:animEffect>
                                  </p:childTnLst>
                                </p:cTn>
                              </p:par>
                              <p:par>
                                <p:cTn id="14" presetID="3" presetClass="entr" presetSubtype="10" fill="hold" nodeType="withEffect">
                                  <p:stCondLst>
                                    <p:cond delay="0"/>
                                  </p:stCondLst>
                                  <p:childTnLst>
                                    <p:set>
                                      <p:cBhvr>
                                        <p:cTn id="15" dur="1" fill="hold">
                                          <p:stCondLst>
                                            <p:cond delay="0"/>
                                          </p:stCondLst>
                                        </p:cTn>
                                        <p:tgtEl>
                                          <p:spTgt spid="279642"/>
                                        </p:tgtEl>
                                        <p:attrNameLst>
                                          <p:attrName>style.visibility</p:attrName>
                                        </p:attrNameLst>
                                      </p:cBhvr>
                                      <p:to>
                                        <p:strVal val="visible"/>
                                      </p:to>
                                    </p:set>
                                    <p:animEffect transition="in" filter="blinds(horizontal)">
                                      <p:cBhvr>
                                        <p:cTn id="16" dur="500"/>
                                        <p:tgtEl>
                                          <p:spTgt spid="279642"/>
                                        </p:tgtEl>
                                      </p:cBhvr>
                                    </p:animEffect>
                                  </p:childTnLst>
                                </p:cTn>
                              </p:par>
                              <p:par>
                                <p:cTn id="17" presetID="3" presetClass="entr" presetSubtype="10" fill="hold" nodeType="withEffect">
                                  <p:stCondLst>
                                    <p:cond delay="0"/>
                                  </p:stCondLst>
                                  <p:childTnLst>
                                    <p:set>
                                      <p:cBhvr>
                                        <p:cTn id="18" dur="1" fill="hold">
                                          <p:stCondLst>
                                            <p:cond delay="0"/>
                                          </p:stCondLst>
                                        </p:cTn>
                                        <p:tgtEl>
                                          <p:spTgt spid="279564"/>
                                        </p:tgtEl>
                                        <p:attrNameLst>
                                          <p:attrName>style.visibility</p:attrName>
                                        </p:attrNameLst>
                                      </p:cBhvr>
                                      <p:to>
                                        <p:strVal val="visible"/>
                                      </p:to>
                                    </p:set>
                                    <p:animEffect transition="in" filter="blinds(horizontal)">
                                      <p:cBhvr>
                                        <p:cTn id="19" dur="500"/>
                                        <p:tgtEl>
                                          <p:spTgt spid="279564"/>
                                        </p:tgtEl>
                                      </p:cBhvr>
                                    </p:animEffect>
                                  </p:childTnLst>
                                </p:cTn>
                              </p:par>
                              <p:par>
                                <p:cTn id="20" presetID="3" presetClass="entr" presetSubtype="10" fill="hold" nodeType="withEffect">
                                  <p:stCondLst>
                                    <p:cond delay="0"/>
                                  </p:stCondLst>
                                  <p:childTnLst>
                                    <p:set>
                                      <p:cBhvr>
                                        <p:cTn id="21" dur="1" fill="hold">
                                          <p:stCondLst>
                                            <p:cond delay="0"/>
                                          </p:stCondLst>
                                        </p:cTn>
                                        <p:tgtEl>
                                          <p:spTgt spid="279559"/>
                                        </p:tgtEl>
                                        <p:attrNameLst>
                                          <p:attrName>style.visibility</p:attrName>
                                        </p:attrNameLst>
                                      </p:cBhvr>
                                      <p:to>
                                        <p:strVal val="visible"/>
                                      </p:to>
                                    </p:set>
                                    <p:animEffect transition="in" filter="blinds(horizontal)">
                                      <p:cBhvr>
                                        <p:cTn id="22" dur="500"/>
                                        <p:tgtEl>
                                          <p:spTgt spid="279559"/>
                                        </p:tgtEl>
                                      </p:cBhvr>
                                    </p:animEffect>
                                  </p:childTnLst>
                                </p:cTn>
                              </p:par>
                              <p:par>
                                <p:cTn id="23" presetID="3" presetClass="entr" presetSubtype="10" fill="hold" nodeType="withEffect">
                                  <p:stCondLst>
                                    <p:cond delay="0"/>
                                  </p:stCondLst>
                                  <p:childTnLst>
                                    <p:set>
                                      <p:cBhvr>
                                        <p:cTn id="24" dur="1" fill="hold">
                                          <p:stCondLst>
                                            <p:cond delay="0"/>
                                          </p:stCondLst>
                                        </p:cTn>
                                        <p:tgtEl>
                                          <p:spTgt spid="279562"/>
                                        </p:tgtEl>
                                        <p:attrNameLst>
                                          <p:attrName>style.visibility</p:attrName>
                                        </p:attrNameLst>
                                      </p:cBhvr>
                                      <p:to>
                                        <p:strVal val="visible"/>
                                      </p:to>
                                    </p:set>
                                    <p:animEffect transition="in" filter="blinds(horizontal)">
                                      <p:cBhvr>
                                        <p:cTn id="25" dur="500"/>
                                        <p:tgtEl>
                                          <p:spTgt spid="279562"/>
                                        </p:tgtEl>
                                      </p:cBhvr>
                                    </p:animEffect>
                                  </p:childTnLst>
                                </p:cTn>
                              </p:par>
                              <p:par>
                                <p:cTn id="26" presetID="3" presetClass="entr" presetSubtype="10" fill="hold" nodeType="withEffect">
                                  <p:stCondLst>
                                    <p:cond delay="0"/>
                                  </p:stCondLst>
                                  <p:childTnLst>
                                    <p:set>
                                      <p:cBhvr>
                                        <p:cTn id="27" dur="1" fill="hold">
                                          <p:stCondLst>
                                            <p:cond delay="0"/>
                                          </p:stCondLst>
                                        </p:cTn>
                                        <p:tgtEl>
                                          <p:spTgt spid="279563"/>
                                        </p:tgtEl>
                                        <p:attrNameLst>
                                          <p:attrName>style.visibility</p:attrName>
                                        </p:attrNameLst>
                                      </p:cBhvr>
                                      <p:to>
                                        <p:strVal val="visible"/>
                                      </p:to>
                                    </p:set>
                                    <p:animEffect transition="in" filter="blinds(horizontal)">
                                      <p:cBhvr>
                                        <p:cTn id="28" dur="500"/>
                                        <p:tgtEl>
                                          <p:spTgt spid="279563"/>
                                        </p:tgtEl>
                                      </p:cBhvr>
                                    </p:animEffect>
                                  </p:childTnLst>
                                </p:cTn>
                              </p:par>
                              <p:par>
                                <p:cTn id="29" presetID="3" presetClass="entr" presetSubtype="10" fill="hold" nodeType="withEffect">
                                  <p:stCondLst>
                                    <p:cond delay="0"/>
                                  </p:stCondLst>
                                  <p:childTnLst>
                                    <p:set>
                                      <p:cBhvr>
                                        <p:cTn id="30" dur="1" fill="hold">
                                          <p:stCondLst>
                                            <p:cond delay="0"/>
                                          </p:stCondLst>
                                        </p:cTn>
                                        <p:tgtEl>
                                          <p:spTgt spid="279561"/>
                                        </p:tgtEl>
                                        <p:attrNameLst>
                                          <p:attrName>style.visibility</p:attrName>
                                        </p:attrNameLst>
                                      </p:cBhvr>
                                      <p:to>
                                        <p:strVal val="visible"/>
                                      </p:to>
                                    </p:set>
                                    <p:animEffect transition="in" filter="blinds(horizontal)">
                                      <p:cBhvr>
                                        <p:cTn id="31" dur="500"/>
                                        <p:tgtEl>
                                          <p:spTgt spid="279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992313" y="113184"/>
            <a:ext cx="8229600" cy="1371600"/>
          </a:xfrm>
        </p:spPr>
        <p:txBody>
          <a:bodyPr/>
          <a:lstStyle/>
          <a:p>
            <a:pPr algn="ctr" eaLnBrk="1" hangingPunct="1"/>
            <a:r>
              <a:rPr lang="zh-CN" altLang="en-US" dirty="0">
                <a:solidFill>
                  <a:srgbClr val="057939"/>
                </a:solidFill>
                <a:latin typeface="黑体" pitchFamily="2" charset="-122"/>
                <a:ea typeface="黑体" pitchFamily="2" charset="-122"/>
              </a:rPr>
              <a:t>最短距离法的递推公式</a:t>
            </a:r>
          </a:p>
        </p:txBody>
      </p:sp>
      <p:sp>
        <p:nvSpPr>
          <p:cNvPr id="281605" name="Rectangle 5"/>
          <p:cNvSpPr>
            <a:spLocks noRot="1" noChangeArrowheads="1"/>
          </p:cNvSpPr>
          <p:nvPr/>
        </p:nvSpPr>
        <p:spPr bwMode="auto">
          <a:xfrm>
            <a:off x="1271464" y="1628850"/>
            <a:ext cx="9649072"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30000"/>
              </a:lnSpc>
            </a:pPr>
            <a:r>
              <a:rPr lang="en-US" altLang="zh-CN" sz="3200" b="1" dirty="0">
                <a:solidFill>
                  <a:srgbClr val="FC3F04"/>
                </a:solidFill>
              </a:rPr>
              <a:t>    </a:t>
            </a:r>
            <a:r>
              <a:rPr lang="zh-CN" altLang="en-US" sz="3200" b="1" dirty="0"/>
              <a:t>假设第</a:t>
            </a:r>
            <a:r>
              <a:rPr lang="en-US" altLang="zh-CN" sz="3200" b="1" dirty="0"/>
              <a:t>p</a:t>
            </a:r>
            <a:r>
              <a:rPr lang="zh-CN" altLang="en-US" sz="3200" b="1" dirty="0"/>
              <a:t>类和第</a:t>
            </a:r>
            <a:r>
              <a:rPr lang="en-US" altLang="zh-CN" sz="3200" b="1" dirty="0"/>
              <a:t>q</a:t>
            </a:r>
            <a:r>
              <a:rPr lang="zh-CN" altLang="en-US" sz="3200" b="1" dirty="0"/>
              <a:t>类合并成第</a:t>
            </a:r>
            <a:r>
              <a:rPr lang="en-US" altLang="zh-CN" sz="3200" b="1" i="1" dirty="0" err="1"/>
              <a:t>rl</a:t>
            </a:r>
            <a:r>
              <a:rPr lang="zh-CN" altLang="en-US" sz="3200" b="1" dirty="0"/>
              <a:t>类，第</a:t>
            </a:r>
            <a:r>
              <a:rPr lang="en-US" altLang="zh-CN" sz="3200" b="1" i="1" dirty="0" err="1"/>
              <a:t>rl</a:t>
            </a:r>
            <a:r>
              <a:rPr lang="zh-CN" altLang="en-US" sz="3200" b="1" dirty="0"/>
              <a:t>类与其它各旧类的距离按最短距离法为：</a:t>
            </a:r>
          </a:p>
        </p:txBody>
      </p:sp>
      <p:graphicFrame>
        <p:nvGraphicFramePr>
          <p:cNvPr id="281606" name="Object 6"/>
          <p:cNvGraphicFramePr>
            <a:graphicFrameLocks noChangeAspect="1"/>
          </p:cNvGraphicFramePr>
          <p:nvPr>
            <p:extLst>
              <p:ext uri="{D42A27DB-BD31-4B8C-83A1-F6EECF244321}">
                <p14:modId xmlns:p14="http://schemas.microsoft.com/office/powerpoint/2010/main" val="4040341793"/>
              </p:ext>
            </p:extLst>
          </p:nvPr>
        </p:nvGraphicFramePr>
        <p:xfrm>
          <a:off x="2386496" y="2997323"/>
          <a:ext cx="6378962" cy="791917"/>
        </p:xfrm>
        <a:graphic>
          <a:graphicData uri="http://schemas.openxmlformats.org/presentationml/2006/ole">
            <mc:AlternateContent xmlns:mc="http://schemas.openxmlformats.org/markup-compatibility/2006">
              <mc:Choice xmlns:v="urn:schemas-microsoft-com:vml" Requires="v">
                <p:oleObj name="Equation" r:id="rId2" imgW="4610089" imgH="552420" progId="Equation.DSMT4">
                  <p:embed/>
                </p:oleObj>
              </mc:Choice>
              <mc:Fallback>
                <p:oleObj name="Equation" r:id="rId2" imgW="4610089" imgH="55242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496" y="2997323"/>
                        <a:ext cx="6378962" cy="791917"/>
                      </a:xfrm>
                      <a:prstGeom prst="rect">
                        <a:avLst/>
                      </a:prstGeom>
                      <a:noFill/>
                      <a:ln>
                        <a:noFill/>
                      </a:ln>
                    </p:spPr>
                  </p:pic>
                </p:oleObj>
              </mc:Fallback>
            </mc:AlternateContent>
          </a:graphicData>
        </a:graphic>
      </p:graphicFrame>
      <p:graphicFrame>
        <p:nvGraphicFramePr>
          <p:cNvPr id="281607" name="Object 7"/>
          <p:cNvGraphicFramePr>
            <a:graphicFrameLocks noChangeAspect="1"/>
          </p:cNvGraphicFramePr>
          <p:nvPr>
            <p:extLst>
              <p:ext uri="{D42A27DB-BD31-4B8C-83A1-F6EECF244321}">
                <p14:modId xmlns:p14="http://schemas.microsoft.com/office/powerpoint/2010/main" val="2745833664"/>
              </p:ext>
            </p:extLst>
          </p:nvPr>
        </p:nvGraphicFramePr>
        <p:xfrm>
          <a:off x="3099272" y="4003696"/>
          <a:ext cx="6237088" cy="746254"/>
        </p:xfrm>
        <a:graphic>
          <a:graphicData uri="http://schemas.openxmlformats.org/presentationml/2006/ole">
            <mc:AlternateContent xmlns:mc="http://schemas.openxmlformats.org/markup-compatibility/2006">
              <mc:Choice xmlns:v="urn:schemas-microsoft-com:vml" Requires="v">
                <p:oleObj name="Equation" r:id="rId4" imgW="5191145" imgH="609660" progId="Equation.DSMT4">
                  <p:embed/>
                </p:oleObj>
              </mc:Choice>
              <mc:Fallback>
                <p:oleObj name="Equation" r:id="rId4" imgW="5191145" imgH="6096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9272" y="4003696"/>
                        <a:ext cx="6237088" cy="746254"/>
                      </a:xfrm>
                      <a:prstGeom prst="rect">
                        <a:avLst/>
                      </a:prstGeom>
                      <a:noFill/>
                      <a:ln>
                        <a:noFill/>
                      </a:ln>
                    </p:spPr>
                  </p:pic>
                </p:oleObj>
              </mc:Fallback>
            </mc:AlternateContent>
          </a:graphicData>
        </a:graphic>
      </p:graphicFrame>
      <p:graphicFrame>
        <p:nvGraphicFramePr>
          <p:cNvPr id="281609" name="Object 9"/>
          <p:cNvGraphicFramePr>
            <a:graphicFrameLocks noChangeAspect="1"/>
          </p:cNvGraphicFramePr>
          <p:nvPr>
            <p:extLst>
              <p:ext uri="{D42A27DB-BD31-4B8C-83A1-F6EECF244321}">
                <p14:modId xmlns:p14="http://schemas.microsoft.com/office/powerpoint/2010/main" val="404059923"/>
              </p:ext>
            </p:extLst>
          </p:nvPr>
        </p:nvGraphicFramePr>
        <p:xfrm>
          <a:off x="3031297" y="5063133"/>
          <a:ext cx="2964461" cy="746254"/>
        </p:xfrm>
        <a:graphic>
          <a:graphicData uri="http://schemas.openxmlformats.org/presentationml/2006/ole">
            <mc:AlternateContent xmlns:mc="http://schemas.openxmlformats.org/markup-compatibility/2006">
              <mc:Choice xmlns:v="urn:schemas-microsoft-com:vml" Requires="v">
                <p:oleObj name="Equation" r:id="rId6" imgW="2257501" imgH="552420" progId="Equation.DSMT4">
                  <p:embed/>
                </p:oleObj>
              </mc:Choice>
              <mc:Fallback>
                <p:oleObj name="Equation" r:id="rId6" imgW="2257501" imgH="55242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1297" y="5063133"/>
                        <a:ext cx="2964461" cy="746254"/>
                      </a:xfrm>
                      <a:prstGeom prst="rect">
                        <a:avLst/>
                      </a:prstGeom>
                      <a:noFill/>
                      <a:ln>
                        <a:noFill/>
                      </a:ln>
                    </p:spPr>
                  </p:pic>
                </p:oleObj>
              </mc:Fallback>
            </mc:AlternateContent>
          </a:graphicData>
        </a:graphic>
      </p:graphicFrame>
      <p:pic>
        <p:nvPicPr>
          <p:cNvPr id="5325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0767" y="5085184"/>
            <a:ext cx="3741737"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159896" y="3068960"/>
            <a:ext cx="144016" cy="461665"/>
          </a:xfrm>
          <a:prstGeom prst="rect">
            <a:avLst/>
          </a:prstGeom>
          <a:solidFill>
            <a:schemeClr val="bg1"/>
          </a:solidFill>
        </p:spPr>
        <p:txBody>
          <a:bodyPr wrap="square" rtlCol="0">
            <a:spAutoFit/>
          </a:bodyPr>
          <a:lstStyle/>
          <a:p>
            <a:r>
              <a:rPr lang="en-US" altLang="zh-CN" sz="2400" dirty="0"/>
              <a:t>|</a:t>
            </a:r>
            <a:endParaRPr lang="zh-CN" altLang="en-US" sz="2400" dirty="0"/>
          </a:p>
        </p:txBody>
      </p:sp>
      <p:sp>
        <p:nvSpPr>
          <p:cNvPr id="11" name="TextBox 10"/>
          <p:cNvSpPr txBox="1"/>
          <p:nvPr/>
        </p:nvSpPr>
        <p:spPr>
          <a:xfrm>
            <a:off x="4799856" y="4119463"/>
            <a:ext cx="232940" cy="461665"/>
          </a:xfrm>
          <a:prstGeom prst="rect">
            <a:avLst/>
          </a:prstGeom>
          <a:solidFill>
            <a:schemeClr val="bg1"/>
          </a:solidFill>
        </p:spPr>
        <p:txBody>
          <a:bodyPr wrap="square" rtlCol="0">
            <a:spAutoFit/>
          </a:bodyPr>
          <a:lstStyle/>
          <a:p>
            <a:r>
              <a:rPr lang="en-US" altLang="zh-CN" sz="2400" dirty="0"/>
              <a:t>|</a:t>
            </a:r>
            <a:endParaRPr lang="zh-CN" altLang="en-US" sz="2400" dirty="0"/>
          </a:p>
        </p:txBody>
      </p:sp>
      <p:sp>
        <p:nvSpPr>
          <p:cNvPr id="3" name="灯片编号占位符 2">
            <a:extLst>
              <a:ext uri="{FF2B5EF4-FFF2-40B4-BE49-F238E27FC236}">
                <a16:creationId xmlns:a16="http://schemas.microsoft.com/office/drawing/2014/main" id="{99AB99ED-5AC2-AB5F-B014-764587460BE1}"/>
              </a:ext>
            </a:extLst>
          </p:cNvPr>
          <p:cNvSpPr>
            <a:spLocks noGrp="1"/>
          </p:cNvSpPr>
          <p:nvPr>
            <p:ph type="sldNum" sz="quarter" idx="11"/>
          </p:nvPr>
        </p:nvSpPr>
        <p:spPr/>
        <p:txBody>
          <a:bodyPr/>
          <a:lstStyle/>
          <a:p>
            <a:pPr>
              <a:defRPr/>
            </a:pPr>
            <a:fld id="{2F44A83F-C644-4D2F-BA00-DBFF3DBED7EA}" type="slidenum">
              <a:rPr lang="en-US" altLang="zh-CN" smtClean="0"/>
              <a:pPr>
                <a:defRPr/>
              </a:pPr>
              <a:t>62</a:t>
            </a:fld>
            <a:endParaRPr lang="en-US" altLang="zh-CN"/>
          </a:p>
        </p:txBody>
      </p:sp>
    </p:spTree>
    <p:extLst>
      <p:ext uri="{BB962C8B-B14F-4D97-AF65-F5344CB8AC3E}">
        <p14:creationId xmlns:p14="http://schemas.microsoft.com/office/powerpoint/2010/main" val="37637989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1605"/>
                                        </p:tgtEl>
                                        <p:attrNameLst>
                                          <p:attrName>style.visibility</p:attrName>
                                        </p:attrNameLst>
                                      </p:cBhvr>
                                      <p:to>
                                        <p:strVal val="visible"/>
                                      </p:to>
                                    </p:set>
                                    <p:animEffect transition="in" filter="wipe(left)">
                                      <p:cBhvr>
                                        <p:cTn id="7" dur="500"/>
                                        <p:tgtEl>
                                          <p:spTgt spid="2816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1606"/>
                                        </p:tgtEl>
                                        <p:attrNameLst>
                                          <p:attrName>style.visibility</p:attrName>
                                        </p:attrNameLst>
                                      </p:cBhvr>
                                      <p:to>
                                        <p:strVal val="visible"/>
                                      </p:to>
                                    </p:set>
                                    <p:animEffect transition="in" filter="blinds(horizontal)">
                                      <p:cBhvr>
                                        <p:cTn id="12" dur="500"/>
                                        <p:tgtEl>
                                          <p:spTgt spid="281606"/>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81607"/>
                                        </p:tgtEl>
                                        <p:attrNameLst>
                                          <p:attrName>style.visibility</p:attrName>
                                        </p:attrNameLst>
                                      </p:cBhvr>
                                      <p:to>
                                        <p:strVal val="visible"/>
                                      </p:to>
                                    </p:set>
                                    <p:animEffect transition="in" filter="blinds(horizontal)">
                                      <p:cBhvr>
                                        <p:cTn id="19" dur="500"/>
                                        <p:tgtEl>
                                          <p:spTgt spid="281607"/>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81609"/>
                                        </p:tgtEl>
                                        <p:attrNameLst>
                                          <p:attrName>style.visibility</p:attrName>
                                        </p:attrNameLst>
                                      </p:cBhvr>
                                      <p:to>
                                        <p:strVal val="visible"/>
                                      </p:to>
                                    </p:set>
                                    <p:animEffect transition="in" filter="blinds(horizontal)">
                                      <p:cBhvr>
                                        <p:cTn id="26" dur="500"/>
                                        <p:tgtEl>
                                          <p:spTgt spid="281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5" grpId="0"/>
      <p:bldP spid="2" grpId="0" animBg="1"/>
      <p:bldP spid="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501491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4275" name="Rectangle 3"/>
          <p:cNvSpPr>
            <a:spLocks noChangeArrowheads="1"/>
          </p:cNvSpPr>
          <p:nvPr/>
        </p:nvSpPr>
        <p:spPr bwMode="auto">
          <a:xfrm>
            <a:off x="495300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4276" name="Rectangle 39"/>
          <p:cNvSpPr>
            <a:spLocks noGrp="1" noChangeArrowheads="1"/>
          </p:cNvSpPr>
          <p:nvPr>
            <p:ph type="title"/>
          </p:nvPr>
        </p:nvSpPr>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graphicFrame>
        <p:nvGraphicFramePr>
          <p:cNvPr id="282628" name="Group 4"/>
          <p:cNvGraphicFramePr>
            <a:graphicFrameLocks noGrp="1"/>
          </p:cNvGraphicFramePr>
          <p:nvPr>
            <p:ph idx="4294967295"/>
          </p:nvPr>
        </p:nvGraphicFramePr>
        <p:xfrm>
          <a:off x="2208213" y="3213100"/>
          <a:ext cx="7931150" cy="3041652"/>
        </p:xfrm>
        <a:graphic>
          <a:graphicData uri="http://schemas.openxmlformats.org/drawingml/2006/table">
            <a:tbl>
              <a:tblPr/>
              <a:tblGrid>
                <a:gridCol w="1982787">
                  <a:extLst>
                    <a:ext uri="{9D8B030D-6E8A-4147-A177-3AD203B41FA5}">
                      <a16:colId xmlns:a16="http://schemas.microsoft.com/office/drawing/2014/main" val="20000"/>
                    </a:ext>
                  </a:extLst>
                </a:gridCol>
                <a:gridCol w="1982788">
                  <a:extLst>
                    <a:ext uri="{9D8B030D-6E8A-4147-A177-3AD203B41FA5}">
                      <a16:colId xmlns:a16="http://schemas.microsoft.com/office/drawing/2014/main" val="20001"/>
                    </a:ext>
                  </a:extLst>
                </a:gridCol>
                <a:gridCol w="1982787">
                  <a:extLst>
                    <a:ext uri="{9D8B030D-6E8A-4147-A177-3AD203B41FA5}">
                      <a16:colId xmlns:a16="http://schemas.microsoft.com/office/drawing/2014/main" val="20002"/>
                    </a:ext>
                  </a:extLst>
                </a:gridCol>
                <a:gridCol w="1982788">
                  <a:extLst>
                    <a:ext uri="{9D8B030D-6E8A-4147-A177-3AD203B41FA5}">
                      <a16:colId xmlns:a16="http://schemas.microsoft.com/office/drawing/2014/main" val="20003"/>
                    </a:ext>
                  </a:extLst>
                </a:gridCol>
              </a:tblGrid>
              <a:tr h="760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760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760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3.5</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760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5.5</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04" name="Object 31"/>
          <p:cNvGraphicFramePr>
            <a:graphicFrameLocks noChangeAspect="1"/>
          </p:cNvGraphicFramePr>
          <p:nvPr>
            <p:extLst>
              <p:ext uri="{D42A27DB-BD31-4B8C-83A1-F6EECF244321}">
                <p14:modId xmlns:p14="http://schemas.microsoft.com/office/powerpoint/2010/main" val="4199716385"/>
              </p:ext>
            </p:extLst>
          </p:nvPr>
        </p:nvGraphicFramePr>
        <p:xfrm>
          <a:off x="3306763" y="4071938"/>
          <a:ext cx="558800" cy="431800"/>
        </p:xfrm>
        <a:graphic>
          <a:graphicData uri="http://schemas.openxmlformats.org/presentationml/2006/ole">
            <mc:AlternateContent xmlns:mc="http://schemas.openxmlformats.org/markup-compatibility/2006">
              <mc:Choice xmlns:v="urn:schemas-microsoft-com:vml" Requires="v">
                <p:oleObj name="Equation" r:id="rId2" imgW="558720" imgH="431640" progId="Equation.DSMT4">
                  <p:embed/>
                </p:oleObj>
              </mc:Choice>
              <mc:Fallback>
                <p:oleObj name="Equation" r:id="rId2" imgW="558720" imgH="431640" progId="Equation.DSMT4">
                  <p:embed/>
                  <p:pic>
                    <p:nvPicPr>
                      <p:cNvPr id="0" name=""/>
                      <p:cNvPicPr>
                        <a:picLocks noChangeAspect="1" noChangeArrowheads="1"/>
                      </p:cNvPicPr>
                      <p:nvPr/>
                    </p:nvPicPr>
                    <p:blipFill>
                      <a:blip r:embed="rId3"/>
                      <a:srcRect/>
                      <a:stretch>
                        <a:fillRect/>
                      </a:stretch>
                    </p:blipFill>
                    <p:spPr bwMode="auto">
                      <a:xfrm>
                        <a:off x="3306763" y="4071938"/>
                        <a:ext cx="558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5" name="Object 32"/>
          <p:cNvGraphicFramePr>
            <a:graphicFrameLocks noChangeAspect="1"/>
          </p:cNvGraphicFramePr>
          <p:nvPr/>
        </p:nvGraphicFramePr>
        <p:xfrm>
          <a:off x="3395663" y="4864100"/>
          <a:ext cx="381000" cy="431800"/>
        </p:xfrm>
        <a:graphic>
          <a:graphicData uri="http://schemas.openxmlformats.org/presentationml/2006/ole">
            <mc:AlternateContent xmlns:mc="http://schemas.openxmlformats.org/markup-compatibility/2006">
              <mc:Choice xmlns:v="urn:schemas-microsoft-com:vml" Requires="v">
                <p:oleObj name="Equation" r:id="rId4" imgW="380835" imgH="431613" progId="Equation.DSMT4">
                  <p:embed/>
                </p:oleObj>
              </mc:Choice>
              <mc:Fallback>
                <p:oleObj name="Equation" r:id="rId4" imgW="380835"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5663" y="4864100"/>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6" name="Object 33"/>
          <p:cNvGraphicFramePr>
            <a:graphicFrameLocks noChangeAspect="1"/>
          </p:cNvGraphicFramePr>
          <p:nvPr/>
        </p:nvGraphicFramePr>
        <p:xfrm>
          <a:off x="3402013" y="5583238"/>
          <a:ext cx="368300" cy="431800"/>
        </p:xfrm>
        <a:graphic>
          <a:graphicData uri="http://schemas.openxmlformats.org/presentationml/2006/ole">
            <mc:AlternateContent xmlns:mc="http://schemas.openxmlformats.org/markup-compatibility/2006">
              <mc:Choice xmlns:v="urn:schemas-microsoft-com:vml" Requires="v">
                <p:oleObj name="Equation" r:id="rId6" imgW="368140" imgH="431613" progId="Equation.DSMT4">
                  <p:embed/>
                </p:oleObj>
              </mc:Choice>
              <mc:Fallback>
                <p:oleObj name="Equation" r:id="rId6" imgW="368140" imgH="4316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2013" y="5583238"/>
                        <a:ext cx="36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7" name="Object 34"/>
          <p:cNvGraphicFramePr>
            <a:graphicFrameLocks noChangeAspect="1"/>
          </p:cNvGraphicFramePr>
          <p:nvPr>
            <p:extLst>
              <p:ext uri="{D42A27DB-BD31-4B8C-83A1-F6EECF244321}">
                <p14:modId xmlns:p14="http://schemas.microsoft.com/office/powerpoint/2010/main" val="3744774778"/>
              </p:ext>
            </p:extLst>
          </p:nvPr>
        </p:nvGraphicFramePr>
        <p:xfrm>
          <a:off x="4854575" y="3357563"/>
          <a:ext cx="558800" cy="431800"/>
        </p:xfrm>
        <a:graphic>
          <a:graphicData uri="http://schemas.openxmlformats.org/presentationml/2006/ole">
            <mc:AlternateContent xmlns:mc="http://schemas.openxmlformats.org/markup-compatibility/2006">
              <mc:Choice xmlns:v="urn:schemas-microsoft-com:vml" Requires="v">
                <p:oleObj name="Equation" r:id="rId8" imgW="558720" imgH="431640" progId="Equation.DSMT4">
                  <p:embed/>
                </p:oleObj>
              </mc:Choice>
              <mc:Fallback>
                <p:oleObj name="Equation" r:id="rId8" imgW="558720" imgH="431640" progId="Equation.DSMT4">
                  <p:embed/>
                  <p:pic>
                    <p:nvPicPr>
                      <p:cNvPr id="0" name=""/>
                      <p:cNvPicPr>
                        <a:picLocks noChangeAspect="1" noChangeArrowheads="1"/>
                      </p:cNvPicPr>
                      <p:nvPr/>
                    </p:nvPicPr>
                    <p:blipFill>
                      <a:blip r:embed="rId9"/>
                      <a:srcRect/>
                      <a:stretch>
                        <a:fillRect/>
                      </a:stretch>
                    </p:blipFill>
                    <p:spPr bwMode="auto">
                      <a:xfrm>
                        <a:off x="4854575" y="3357563"/>
                        <a:ext cx="558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8" name="Object 35"/>
          <p:cNvGraphicFramePr>
            <a:graphicFrameLocks noChangeAspect="1"/>
          </p:cNvGraphicFramePr>
          <p:nvPr/>
        </p:nvGraphicFramePr>
        <p:xfrm>
          <a:off x="6743700" y="3357563"/>
          <a:ext cx="381000" cy="431800"/>
        </p:xfrm>
        <a:graphic>
          <a:graphicData uri="http://schemas.openxmlformats.org/presentationml/2006/ole">
            <mc:AlternateContent xmlns:mc="http://schemas.openxmlformats.org/markup-compatibility/2006">
              <mc:Choice xmlns:v="urn:schemas-microsoft-com:vml" Requires="v">
                <p:oleObj name="Equation" r:id="rId4" imgW="380835" imgH="431613" progId="Equation.DSMT4">
                  <p:embed/>
                </p:oleObj>
              </mc:Choice>
              <mc:Fallback>
                <p:oleObj name="Equation" r:id="rId4" imgW="380835"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0" y="3357563"/>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9" name="Object 36"/>
          <p:cNvGraphicFramePr>
            <a:graphicFrameLocks noChangeAspect="1"/>
          </p:cNvGraphicFramePr>
          <p:nvPr/>
        </p:nvGraphicFramePr>
        <p:xfrm>
          <a:off x="8975725" y="3357563"/>
          <a:ext cx="368300" cy="431800"/>
        </p:xfrm>
        <a:graphic>
          <a:graphicData uri="http://schemas.openxmlformats.org/presentationml/2006/ole">
            <mc:AlternateContent xmlns:mc="http://schemas.openxmlformats.org/markup-compatibility/2006">
              <mc:Choice xmlns:v="urn:schemas-microsoft-com:vml" Requires="v">
                <p:oleObj name="Equation" r:id="rId10" imgW="368140" imgH="431613" progId="Equation.DSMT4">
                  <p:embed/>
                </p:oleObj>
              </mc:Choice>
              <mc:Fallback>
                <p:oleObj name="Equation" r:id="rId10" imgW="368140"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75725" y="3357563"/>
                        <a:ext cx="36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12" name="Rectangle 40"/>
          <p:cNvSpPr>
            <a:spLocks noChangeArrowheads="1"/>
          </p:cNvSpPr>
          <p:nvPr/>
        </p:nvSpPr>
        <p:spPr bwMode="auto">
          <a:xfrm>
            <a:off x="1919288" y="2278068"/>
            <a:ext cx="71294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a:t>
            </a:r>
            <a:r>
              <a:rPr kumimoji="1" lang="en-US" altLang="zh-CN" sz="2800" b="1" i="1" dirty="0">
                <a:solidFill>
                  <a:schemeClr val="tx2"/>
                </a:solidFill>
                <a:ea typeface="楷体_GB2312" pitchFamily="49" charset="-122"/>
              </a:rPr>
              <a:t>G</a:t>
            </a:r>
            <a:r>
              <a:rPr kumimoji="1" lang="en-US" altLang="zh-CN" sz="2800" b="1" i="1" baseline="-25000" dirty="0">
                <a:solidFill>
                  <a:schemeClr val="tx2"/>
                </a:solidFill>
                <a:ea typeface="楷体_GB2312" pitchFamily="49" charset="-122"/>
              </a:rPr>
              <a:t>3</a:t>
            </a:r>
            <a:r>
              <a:rPr kumimoji="1" lang="zh-CN" altLang="en-US" sz="2800" b="1" dirty="0">
                <a:solidFill>
                  <a:schemeClr val="tx2"/>
                </a:solidFill>
                <a:latin typeface="楷体_GB2312" pitchFamily="49" charset="-122"/>
                <a:ea typeface="楷体_GB2312" pitchFamily="49" charset="-122"/>
              </a:rPr>
              <a:t> 和</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12</a:t>
            </a:r>
            <a:r>
              <a:rPr kumimoji="1" lang="zh-CN" altLang="en-US" sz="2800" b="1" dirty="0">
                <a:solidFill>
                  <a:schemeClr val="tx2"/>
                </a:solidFill>
                <a:latin typeface="楷体_GB2312" pitchFamily="49" charset="-122"/>
                <a:ea typeface="楷体_GB2312" pitchFamily="49" charset="-122"/>
              </a:rPr>
              <a:t> 被聚为新类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123</a:t>
            </a:r>
            <a:r>
              <a:rPr kumimoji="1" lang="zh-CN" altLang="en-US" sz="2800" b="1" dirty="0">
                <a:solidFill>
                  <a:schemeClr val="tx2"/>
                </a:solidFill>
                <a:latin typeface="楷体_GB2312" pitchFamily="49" charset="-122"/>
                <a:ea typeface="楷体_GB2312" pitchFamily="49" charset="-122"/>
              </a:rPr>
              <a:t> ，得</a:t>
            </a:r>
            <a:r>
              <a:rPr kumimoji="1" lang="en-US" altLang="zh-CN" sz="2800" b="1" dirty="0">
                <a:solidFill>
                  <a:srgbClr val="057939"/>
                </a:solidFill>
                <a:ea typeface="楷体_GB2312" pitchFamily="49" charset="-122"/>
              </a:rPr>
              <a:t>D(2)</a:t>
            </a:r>
            <a:r>
              <a:rPr kumimoji="1" lang="zh-CN" altLang="en-US" sz="2800" b="1" dirty="0">
                <a:solidFill>
                  <a:schemeClr val="tx2"/>
                </a:solidFill>
                <a:latin typeface="楷体_GB2312" pitchFamily="49" charset="-122"/>
                <a:ea typeface="楷体_GB2312" pitchFamily="49" charset="-122"/>
              </a:rPr>
              <a:t>： </a:t>
            </a:r>
          </a:p>
        </p:txBody>
      </p:sp>
      <p:sp>
        <p:nvSpPr>
          <p:cNvPr id="54311" name="Rectangle 45"/>
          <p:cNvSpPr>
            <a:spLocks noChangeArrowheads="1"/>
          </p:cNvSpPr>
          <p:nvPr/>
        </p:nvSpPr>
        <p:spPr bwMode="auto">
          <a:xfrm>
            <a:off x="1343472" y="1595659"/>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1</a:t>
            </a:r>
            <a:r>
              <a:rPr kumimoji="1" lang="zh-CN" altLang="en-US" sz="3200" dirty="0">
                <a:solidFill>
                  <a:srgbClr val="3333FF"/>
                </a:solidFill>
                <a:latin typeface="黑体" pitchFamily="2" charset="-122"/>
                <a:ea typeface="黑体" pitchFamily="2" charset="-122"/>
              </a:rPr>
              <a:t>、 最短距离法</a:t>
            </a:r>
          </a:p>
        </p:txBody>
      </p:sp>
      <p:sp>
        <p:nvSpPr>
          <p:cNvPr id="2" name="灯片编号占位符 1">
            <a:extLst>
              <a:ext uri="{FF2B5EF4-FFF2-40B4-BE49-F238E27FC236}">
                <a16:creationId xmlns:a16="http://schemas.microsoft.com/office/drawing/2014/main" id="{16387C72-C01C-D254-3845-13FA1363A549}"/>
              </a:ext>
            </a:extLst>
          </p:cNvPr>
          <p:cNvSpPr>
            <a:spLocks noGrp="1"/>
          </p:cNvSpPr>
          <p:nvPr>
            <p:ph type="sldNum" sz="quarter" idx="11"/>
          </p:nvPr>
        </p:nvSpPr>
        <p:spPr/>
        <p:txBody>
          <a:bodyPr/>
          <a:lstStyle/>
          <a:p>
            <a:pPr>
              <a:defRPr/>
            </a:pPr>
            <a:fld id="{2F44A83F-C644-4D2F-BA00-DBFF3DBED7EA}" type="slidenum">
              <a:rPr lang="en-US" altLang="zh-CN" smtClean="0"/>
              <a:pPr>
                <a:defRPr/>
              </a:pPr>
              <a:t>63</a:t>
            </a:fld>
            <a:endParaRPr lang="en-US" altLang="zh-CN"/>
          </a:p>
        </p:txBody>
      </p:sp>
    </p:spTree>
    <p:extLst>
      <p:ext uri="{BB962C8B-B14F-4D97-AF65-F5344CB8AC3E}">
        <p14:creationId xmlns:p14="http://schemas.microsoft.com/office/powerpoint/2010/main" val="2008174680"/>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501491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5299" name="Rectangle 3"/>
          <p:cNvSpPr>
            <a:spLocks noChangeArrowheads="1"/>
          </p:cNvSpPr>
          <p:nvPr/>
        </p:nvSpPr>
        <p:spPr bwMode="auto">
          <a:xfrm>
            <a:off x="495300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5300" name="Rectangle 4"/>
          <p:cNvSpPr>
            <a:spLocks noGrp="1" noChangeArrowheads="1"/>
          </p:cNvSpPr>
          <p:nvPr>
            <p:ph type="title"/>
          </p:nvPr>
        </p:nvSpPr>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55301" name="Rectangle 42"/>
          <p:cNvSpPr>
            <a:spLocks noChangeArrowheads="1"/>
          </p:cNvSpPr>
          <p:nvPr/>
        </p:nvSpPr>
        <p:spPr bwMode="auto">
          <a:xfrm>
            <a:off x="1343472" y="1557338"/>
            <a:ext cx="28520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1</a:t>
            </a:r>
            <a:r>
              <a:rPr kumimoji="1" lang="zh-CN" altLang="en-US" sz="3200" dirty="0">
                <a:solidFill>
                  <a:srgbClr val="3333FF"/>
                </a:solidFill>
                <a:latin typeface="黑体" pitchFamily="2" charset="-122"/>
                <a:ea typeface="黑体" pitchFamily="2" charset="-122"/>
              </a:rPr>
              <a:t>、最短距离法</a:t>
            </a:r>
          </a:p>
        </p:txBody>
      </p:sp>
      <p:graphicFrame>
        <p:nvGraphicFramePr>
          <p:cNvPr id="350275" name="Group 67"/>
          <p:cNvGraphicFramePr>
            <a:graphicFrameLocks noGrp="1"/>
          </p:cNvGraphicFramePr>
          <p:nvPr/>
        </p:nvGraphicFramePr>
        <p:xfrm>
          <a:off x="2855914" y="2852738"/>
          <a:ext cx="5976937" cy="1554342"/>
        </p:xfrm>
        <a:graphic>
          <a:graphicData uri="http://schemas.openxmlformats.org/drawingml/2006/table">
            <a:tbl>
              <a:tblPr/>
              <a:tblGrid>
                <a:gridCol w="1992312">
                  <a:extLst>
                    <a:ext uri="{9D8B030D-6E8A-4147-A177-3AD203B41FA5}">
                      <a16:colId xmlns:a16="http://schemas.microsoft.com/office/drawing/2014/main" val="20000"/>
                    </a:ext>
                  </a:extLst>
                </a:gridCol>
                <a:gridCol w="1992313">
                  <a:extLst>
                    <a:ext uri="{9D8B030D-6E8A-4147-A177-3AD203B41FA5}">
                      <a16:colId xmlns:a16="http://schemas.microsoft.com/office/drawing/2014/main" val="20001"/>
                    </a:ext>
                  </a:extLst>
                </a:gridCol>
                <a:gridCol w="1992312">
                  <a:extLst>
                    <a:ext uri="{9D8B030D-6E8A-4147-A177-3AD203B41FA5}">
                      <a16:colId xmlns:a16="http://schemas.microsoft.com/office/drawing/2014/main" val="20002"/>
                    </a:ext>
                  </a:extLst>
                </a:gridCol>
              </a:tblGrid>
              <a:tr h="51805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marT="45697" marB="45697"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marT="45697" marB="45697"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marT="45697" marB="45697"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marT="45697" marB="45697"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T="45697" marB="45697"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marT="45697" marB="45697"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marT="45697" marB="45697"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3.5</a:t>
                      </a:r>
                    </a:p>
                  </a:txBody>
                  <a:tcPr marT="45697" marB="45697"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marT="45697" marB="45697"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55320" name="Group 65"/>
          <p:cNvGrpSpPr>
            <a:grpSpLocks/>
          </p:cNvGrpSpPr>
          <p:nvPr/>
        </p:nvGrpSpPr>
        <p:grpSpPr bwMode="auto">
          <a:xfrm>
            <a:off x="1919288" y="2205038"/>
            <a:ext cx="7129462" cy="1079500"/>
            <a:chOff x="249" y="1389"/>
            <a:chExt cx="4491" cy="680"/>
          </a:xfrm>
        </p:grpSpPr>
        <p:sp>
          <p:nvSpPr>
            <p:cNvPr id="55325" name="Rectangle 38"/>
            <p:cNvSpPr>
              <a:spLocks noChangeArrowheads="1"/>
            </p:cNvSpPr>
            <p:nvPr/>
          </p:nvSpPr>
          <p:spPr bwMode="auto">
            <a:xfrm>
              <a:off x="249" y="1389"/>
              <a:ext cx="449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4</a:t>
              </a:r>
              <a:r>
                <a:rPr kumimoji="1" lang="zh-CN" altLang="en-US" sz="2800" b="1" dirty="0">
                  <a:solidFill>
                    <a:schemeClr val="tx2"/>
                  </a:solidFill>
                  <a:latin typeface="楷体_GB2312" pitchFamily="49" charset="-122"/>
                  <a:ea typeface="楷体_GB2312" pitchFamily="49" charset="-122"/>
                </a:rPr>
                <a:t> 和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5</a:t>
              </a:r>
              <a:r>
                <a:rPr kumimoji="1" lang="zh-CN" altLang="en-US" sz="2800" b="1" dirty="0">
                  <a:solidFill>
                    <a:schemeClr val="tx2"/>
                  </a:solidFill>
                  <a:latin typeface="楷体_GB2312" pitchFamily="49" charset="-122"/>
                  <a:ea typeface="楷体_GB2312" pitchFamily="49" charset="-122"/>
                </a:rPr>
                <a:t> 被聚为新类</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45</a:t>
              </a:r>
              <a:r>
                <a:rPr kumimoji="1" lang="zh-CN" altLang="en-US" sz="2800" b="1" dirty="0">
                  <a:solidFill>
                    <a:schemeClr val="tx2"/>
                  </a:solidFill>
                  <a:latin typeface="楷体_GB2312" pitchFamily="49" charset="-122"/>
                  <a:ea typeface="楷体_GB2312" pitchFamily="49" charset="-122"/>
                </a:rPr>
                <a:t> ，得</a:t>
              </a:r>
              <a:r>
                <a:rPr kumimoji="1" lang="en-US" altLang="zh-CN" sz="2800" b="1" dirty="0">
                  <a:solidFill>
                    <a:srgbClr val="057939"/>
                  </a:solidFill>
                  <a:ea typeface="楷体_GB2312" pitchFamily="49" charset="-122"/>
                </a:rPr>
                <a:t>D(3)</a:t>
              </a:r>
              <a:r>
                <a:rPr kumimoji="1" lang="zh-CN" altLang="en-US" sz="2800" b="1" dirty="0">
                  <a:solidFill>
                    <a:schemeClr val="tx2"/>
                  </a:solidFill>
                  <a:latin typeface="楷体_GB2312" pitchFamily="49" charset="-122"/>
                  <a:ea typeface="楷体_GB2312" pitchFamily="49" charset="-122"/>
                </a:rPr>
                <a:t>： </a:t>
              </a:r>
            </a:p>
          </p:txBody>
        </p:sp>
        <p:graphicFrame>
          <p:nvGraphicFramePr>
            <p:cNvPr id="55329" name="Object 61"/>
            <p:cNvGraphicFramePr>
              <a:graphicFrameLocks noChangeAspect="1"/>
            </p:cNvGraphicFramePr>
            <p:nvPr>
              <p:extLst>
                <p:ext uri="{D42A27DB-BD31-4B8C-83A1-F6EECF244321}">
                  <p14:modId xmlns:p14="http://schemas.microsoft.com/office/powerpoint/2010/main" val="211150020"/>
                </p:ext>
              </p:extLst>
            </p:nvPr>
          </p:nvGraphicFramePr>
          <p:xfrm>
            <a:off x="2527" y="1797"/>
            <a:ext cx="304" cy="272"/>
          </p:xfrm>
          <a:graphic>
            <a:graphicData uri="http://schemas.openxmlformats.org/presentationml/2006/ole">
              <mc:AlternateContent xmlns:mc="http://schemas.openxmlformats.org/markup-compatibility/2006">
                <mc:Choice xmlns:v="urn:schemas-microsoft-com:vml" Requires="v">
                  <p:oleObj name="Equation" r:id="rId2" imgW="482400" imgH="431640" progId="Equation.DSMT4">
                    <p:embed/>
                  </p:oleObj>
                </mc:Choice>
                <mc:Fallback>
                  <p:oleObj name="Equation" r:id="rId2" imgW="482400" imgH="431640" progId="Equation.DSMT4">
                    <p:embed/>
                    <p:pic>
                      <p:nvPicPr>
                        <p:cNvPr id="0" name=""/>
                        <p:cNvPicPr>
                          <a:picLocks noChangeAspect="1" noChangeArrowheads="1"/>
                        </p:cNvPicPr>
                        <p:nvPr/>
                      </p:nvPicPr>
                      <p:blipFill>
                        <a:blip r:embed="rId3"/>
                        <a:srcRect/>
                        <a:stretch>
                          <a:fillRect/>
                        </a:stretch>
                      </p:blipFill>
                      <p:spPr bwMode="auto">
                        <a:xfrm>
                          <a:off x="2527" y="1797"/>
                          <a:ext cx="30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30" name="Object 62"/>
            <p:cNvGraphicFramePr>
              <a:graphicFrameLocks noChangeAspect="1"/>
            </p:cNvGraphicFramePr>
            <p:nvPr>
              <p:extLst>
                <p:ext uri="{D42A27DB-BD31-4B8C-83A1-F6EECF244321}">
                  <p14:modId xmlns:p14="http://schemas.microsoft.com/office/powerpoint/2010/main" val="1159468868"/>
                </p:ext>
              </p:extLst>
            </p:nvPr>
          </p:nvGraphicFramePr>
          <p:xfrm>
            <a:off x="3777" y="1797"/>
            <a:ext cx="352" cy="272"/>
          </p:xfrm>
          <a:graphic>
            <a:graphicData uri="http://schemas.openxmlformats.org/presentationml/2006/ole">
              <mc:AlternateContent xmlns:mc="http://schemas.openxmlformats.org/markup-compatibility/2006">
                <mc:Choice xmlns:v="urn:schemas-microsoft-com:vml" Requires="v">
                  <p:oleObj name="Equation" r:id="rId4" imgW="558720" imgH="431640" progId="Equation.DSMT4">
                    <p:embed/>
                  </p:oleObj>
                </mc:Choice>
                <mc:Fallback>
                  <p:oleObj name="Equation" r:id="rId4" imgW="558720" imgH="431640" progId="Equation.DSMT4">
                    <p:embed/>
                    <p:pic>
                      <p:nvPicPr>
                        <p:cNvPr id="0" name=""/>
                        <p:cNvPicPr>
                          <a:picLocks noChangeAspect="1" noChangeArrowheads="1"/>
                        </p:cNvPicPr>
                        <p:nvPr/>
                      </p:nvPicPr>
                      <p:blipFill>
                        <a:blip r:embed="rId5"/>
                        <a:srcRect/>
                        <a:stretch>
                          <a:fillRect/>
                        </a:stretch>
                      </p:blipFill>
                      <p:spPr bwMode="auto">
                        <a:xfrm>
                          <a:off x="3777" y="1797"/>
                          <a:ext cx="35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5321" name="Object 63"/>
          <p:cNvGraphicFramePr>
            <a:graphicFrameLocks noChangeAspect="1"/>
          </p:cNvGraphicFramePr>
          <p:nvPr>
            <p:extLst>
              <p:ext uri="{D42A27DB-BD31-4B8C-83A1-F6EECF244321}">
                <p14:modId xmlns:p14="http://schemas.microsoft.com/office/powerpoint/2010/main" val="3237345642"/>
              </p:ext>
            </p:extLst>
          </p:nvPr>
        </p:nvGraphicFramePr>
        <p:xfrm>
          <a:off x="3517900" y="3429000"/>
          <a:ext cx="482600" cy="431800"/>
        </p:xfrm>
        <a:graphic>
          <a:graphicData uri="http://schemas.openxmlformats.org/presentationml/2006/ole">
            <mc:AlternateContent xmlns:mc="http://schemas.openxmlformats.org/markup-compatibility/2006">
              <mc:Choice xmlns:v="urn:schemas-microsoft-com:vml" Requires="v">
                <p:oleObj name="Equation" r:id="rId6" imgW="482400" imgH="431640" progId="Equation.DSMT4">
                  <p:embed/>
                </p:oleObj>
              </mc:Choice>
              <mc:Fallback>
                <p:oleObj name="Equation" r:id="rId6" imgW="482400" imgH="431640" progId="Equation.DSMT4">
                  <p:embed/>
                  <p:pic>
                    <p:nvPicPr>
                      <p:cNvPr id="0" name=""/>
                      <p:cNvPicPr>
                        <a:picLocks noChangeAspect="1" noChangeArrowheads="1"/>
                      </p:cNvPicPr>
                      <p:nvPr/>
                    </p:nvPicPr>
                    <p:blipFill>
                      <a:blip r:embed="rId7"/>
                      <a:srcRect/>
                      <a:stretch>
                        <a:fillRect/>
                      </a:stretch>
                    </p:blipFill>
                    <p:spPr bwMode="auto">
                      <a:xfrm>
                        <a:off x="3517900" y="3429000"/>
                        <a:ext cx="482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22" name="Object 64"/>
          <p:cNvGraphicFramePr>
            <a:graphicFrameLocks noChangeAspect="1"/>
          </p:cNvGraphicFramePr>
          <p:nvPr>
            <p:extLst>
              <p:ext uri="{D42A27DB-BD31-4B8C-83A1-F6EECF244321}">
                <p14:modId xmlns:p14="http://schemas.microsoft.com/office/powerpoint/2010/main" val="1446434166"/>
              </p:ext>
            </p:extLst>
          </p:nvPr>
        </p:nvGraphicFramePr>
        <p:xfrm>
          <a:off x="3486150" y="3933825"/>
          <a:ext cx="558800" cy="431800"/>
        </p:xfrm>
        <a:graphic>
          <a:graphicData uri="http://schemas.openxmlformats.org/presentationml/2006/ole">
            <mc:AlternateContent xmlns:mc="http://schemas.openxmlformats.org/markup-compatibility/2006">
              <mc:Choice xmlns:v="urn:schemas-microsoft-com:vml" Requires="v">
                <p:oleObj name="Equation" r:id="rId8" imgW="558720" imgH="431640" progId="Equation.DSMT4">
                  <p:embed/>
                </p:oleObj>
              </mc:Choice>
              <mc:Fallback>
                <p:oleObj name="Equation" r:id="rId8" imgW="558720" imgH="431640" progId="Equation.DSMT4">
                  <p:embed/>
                  <p:pic>
                    <p:nvPicPr>
                      <p:cNvPr id="0" name=""/>
                      <p:cNvPicPr>
                        <a:picLocks noChangeAspect="1" noChangeArrowheads="1"/>
                      </p:cNvPicPr>
                      <p:nvPr/>
                    </p:nvPicPr>
                    <p:blipFill>
                      <a:blip r:embed="rId9"/>
                      <a:srcRect/>
                      <a:stretch>
                        <a:fillRect/>
                      </a:stretch>
                    </p:blipFill>
                    <p:spPr bwMode="auto">
                      <a:xfrm>
                        <a:off x="3486150" y="3933825"/>
                        <a:ext cx="558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0274" name="Rectangle 66"/>
          <p:cNvSpPr>
            <a:spLocks noChangeArrowheads="1"/>
          </p:cNvSpPr>
          <p:nvPr/>
        </p:nvSpPr>
        <p:spPr bwMode="auto">
          <a:xfrm>
            <a:off x="4872038" y="4581526"/>
            <a:ext cx="3536950" cy="2087563"/>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bg2"/>
              </a:buClr>
              <a:buSzPct val="75000"/>
            </a:pPr>
            <a:r>
              <a:rPr lang="en-US" altLang="zh-CN" sz="2800"/>
              <a:t>(1,2)  (3)  (4)  (5)</a:t>
            </a:r>
          </a:p>
          <a:p>
            <a:pPr marL="342900" indent="-342900">
              <a:spcBef>
                <a:spcPct val="20000"/>
              </a:spcBef>
              <a:buClr>
                <a:schemeClr val="bg2"/>
              </a:buClr>
              <a:buSzPct val="75000"/>
            </a:pPr>
            <a:r>
              <a:rPr lang="en-US" altLang="zh-CN" sz="2800"/>
              <a:t>(1,2,3)  (4)  (5)</a:t>
            </a:r>
          </a:p>
          <a:p>
            <a:pPr marL="342900" indent="-342900">
              <a:spcBef>
                <a:spcPct val="20000"/>
              </a:spcBef>
              <a:buClr>
                <a:schemeClr val="bg2"/>
              </a:buClr>
              <a:buSzPct val="75000"/>
            </a:pPr>
            <a:r>
              <a:rPr lang="en-US" altLang="zh-CN" sz="2800"/>
              <a:t>(1,2,3)  (4,5)</a:t>
            </a:r>
          </a:p>
          <a:p>
            <a:pPr marL="342900" indent="-342900">
              <a:spcBef>
                <a:spcPct val="20000"/>
              </a:spcBef>
              <a:buClr>
                <a:schemeClr val="bg2"/>
              </a:buClr>
              <a:buSzPct val="75000"/>
            </a:pPr>
            <a:r>
              <a:rPr lang="en-US" altLang="zh-CN" sz="2800"/>
              <a:t>(1,2,3,4,5)</a:t>
            </a:r>
          </a:p>
        </p:txBody>
      </p:sp>
      <p:sp>
        <p:nvSpPr>
          <p:cNvPr id="350276" name="Rectangle 68"/>
          <p:cNvSpPr>
            <a:spLocks noChangeArrowheads="1"/>
          </p:cNvSpPr>
          <p:nvPr/>
        </p:nvSpPr>
        <p:spPr bwMode="auto">
          <a:xfrm>
            <a:off x="1747838" y="4573588"/>
            <a:ext cx="304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EE0006"/>
                </a:solidFill>
                <a:ea typeface="楷体_GB2312" pitchFamily="49" charset="-122"/>
              </a:rPr>
              <a:t>各步聚类的结果：</a:t>
            </a:r>
          </a:p>
        </p:txBody>
      </p:sp>
      <p:sp>
        <p:nvSpPr>
          <p:cNvPr id="2" name="灯片编号占位符 1">
            <a:extLst>
              <a:ext uri="{FF2B5EF4-FFF2-40B4-BE49-F238E27FC236}">
                <a16:creationId xmlns:a16="http://schemas.microsoft.com/office/drawing/2014/main" id="{44FD2C3F-0D04-D096-A6B1-01C91F6ED13D}"/>
              </a:ext>
            </a:extLst>
          </p:cNvPr>
          <p:cNvSpPr>
            <a:spLocks noGrp="1"/>
          </p:cNvSpPr>
          <p:nvPr>
            <p:ph type="sldNum" sz="quarter" idx="11"/>
          </p:nvPr>
        </p:nvSpPr>
        <p:spPr/>
        <p:txBody>
          <a:bodyPr/>
          <a:lstStyle/>
          <a:p>
            <a:pPr>
              <a:defRPr/>
            </a:pPr>
            <a:fld id="{2F44A83F-C644-4D2F-BA00-DBFF3DBED7EA}" type="slidenum">
              <a:rPr lang="en-US" altLang="zh-CN" smtClean="0"/>
              <a:pPr>
                <a:defRPr/>
              </a:pPr>
              <a:t>64</a:t>
            </a:fld>
            <a:endParaRPr lang="en-US" altLang="zh-CN"/>
          </a:p>
        </p:txBody>
      </p:sp>
    </p:spTree>
    <p:extLst>
      <p:ext uri="{BB962C8B-B14F-4D97-AF65-F5344CB8AC3E}">
        <p14:creationId xmlns:p14="http://schemas.microsoft.com/office/powerpoint/2010/main" val="227990943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0274"/>
                                        </p:tgtEl>
                                        <p:attrNameLst>
                                          <p:attrName>style.visibility</p:attrName>
                                        </p:attrNameLst>
                                      </p:cBhvr>
                                      <p:to>
                                        <p:strVal val="visible"/>
                                      </p:to>
                                    </p:set>
                                    <p:animEffect transition="in" filter="wipe(left)">
                                      <p:cBhvr>
                                        <p:cTn id="7" dur="500"/>
                                        <p:tgtEl>
                                          <p:spTgt spid="35027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0276"/>
                                        </p:tgtEl>
                                        <p:attrNameLst>
                                          <p:attrName>style.visibility</p:attrName>
                                        </p:attrNameLst>
                                      </p:cBhvr>
                                      <p:to>
                                        <p:strVal val="visible"/>
                                      </p:to>
                                    </p:set>
                                    <p:animEffect transition="in" filter="wipe(left)">
                                      <p:cBhvr>
                                        <p:cTn id="10" dur="500"/>
                                        <p:tgtEl>
                                          <p:spTgt spid="350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74" grpId="0" animBg="1"/>
      <p:bldP spid="35027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2258" name="Object 2"/>
          <p:cNvGraphicFramePr>
            <a:graphicFrameLocks noChangeAspect="1"/>
          </p:cNvGraphicFramePr>
          <p:nvPr/>
        </p:nvGraphicFramePr>
        <p:xfrm>
          <a:off x="3281363" y="4033838"/>
          <a:ext cx="330200" cy="425450"/>
        </p:xfrm>
        <a:graphic>
          <a:graphicData uri="http://schemas.openxmlformats.org/presentationml/2006/ole">
            <mc:AlternateContent xmlns:mc="http://schemas.openxmlformats.org/markup-compatibility/2006">
              <mc:Choice xmlns:v="urn:schemas-microsoft-com:vml" Requires="v">
                <p:oleObj name="公式" r:id="rId3" imgW="304710" imgH="390420" progId="Equation.3">
                  <p:embed/>
                </p:oleObj>
              </mc:Choice>
              <mc:Fallback>
                <p:oleObj name="公式" r:id="rId3" imgW="304710" imgH="3904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363" y="4033838"/>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59" name="Object 3"/>
          <p:cNvGraphicFramePr>
            <a:graphicFrameLocks noChangeAspect="1"/>
          </p:cNvGraphicFramePr>
          <p:nvPr/>
        </p:nvGraphicFramePr>
        <p:xfrm>
          <a:off x="5110163" y="3500438"/>
          <a:ext cx="361950" cy="425450"/>
        </p:xfrm>
        <a:graphic>
          <a:graphicData uri="http://schemas.openxmlformats.org/presentationml/2006/ole">
            <mc:AlternateContent xmlns:mc="http://schemas.openxmlformats.org/markup-compatibility/2006">
              <mc:Choice xmlns:v="urn:schemas-microsoft-com:vml" Requires="v">
                <p:oleObj name="公式" r:id="rId5" imgW="342799" imgH="390420" progId="Equation.3">
                  <p:embed/>
                </p:oleObj>
              </mc:Choice>
              <mc:Fallback>
                <p:oleObj name="公式" r:id="rId5" imgW="342799" imgH="3904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0163" y="3500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0" name="Object 4"/>
          <p:cNvGraphicFramePr>
            <a:graphicFrameLocks noChangeAspect="1"/>
          </p:cNvGraphicFramePr>
          <p:nvPr/>
        </p:nvGraphicFramePr>
        <p:xfrm>
          <a:off x="6024563" y="3500438"/>
          <a:ext cx="355600" cy="431800"/>
        </p:xfrm>
        <a:graphic>
          <a:graphicData uri="http://schemas.openxmlformats.org/presentationml/2006/ole">
            <mc:AlternateContent xmlns:mc="http://schemas.openxmlformats.org/markup-compatibility/2006">
              <mc:Choice xmlns:v="urn:schemas-microsoft-com:vml" Requires="v">
                <p:oleObj name="公式" r:id="rId7" imgW="323889" imgH="400140" progId="Equation.3">
                  <p:embed/>
                </p:oleObj>
              </mc:Choice>
              <mc:Fallback>
                <p:oleObj name="公式" r:id="rId7" imgW="323889" imgH="4001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4563" y="3500438"/>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1" name="Object 5"/>
          <p:cNvGraphicFramePr>
            <a:graphicFrameLocks noChangeAspect="1"/>
          </p:cNvGraphicFramePr>
          <p:nvPr/>
        </p:nvGraphicFramePr>
        <p:xfrm>
          <a:off x="3281363" y="5710238"/>
          <a:ext cx="361950" cy="425450"/>
        </p:xfrm>
        <a:graphic>
          <a:graphicData uri="http://schemas.openxmlformats.org/presentationml/2006/ole">
            <mc:AlternateContent xmlns:mc="http://schemas.openxmlformats.org/markup-compatibility/2006">
              <mc:Choice xmlns:v="urn:schemas-microsoft-com:vml" Requires="v">
                <p:oleObj name="公式" r:id="rId9" imgW="342799" imgH="390420" progId="Equation.3">
                  <p:embed/>
                </p:oleObj>
              </mc:Choice>
              <mc:Fallback>
                <p:oleObj name="公式" r:id="rId9" imgW="342799" imgH="3904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1363" y="57102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2" name="Object 6"/>
          <p:cNvGraphicFramePr>
            <a:graphicFrameLocks noChangeAspect="1"/>
          </p:cNvGraphicFramePr>
          <p:nvPr/>
        </p:nvGraphicFramePr>
        <p:xfrm>
          <a:off x="7777164" y="3500438"/>
          <a:ext cx="350837" cy="431800"/>
        </p:xfrm>
        <a:graphic>
          <a:graphicData uri="http://schemas.openxmlformats.org/presentationml/2006/ole">
            <mc:AlternateContent xmlns:mc="http://schemas.openxmlformats.org/markup-compatibility/2006">
              <mc:Choice xmlns:v="urn:schemas-microsoft-com:vml" Requires="v">
                <p:oleObj name="公式" r:id="rId11" imgW="323889" imgH="400140" progId="Equation.3">
                  <p:embed/>
                </p:oleObj>
              </mc:Choice>
              <mc:Fallback>
                <p:oleObj name="公式" r:id="rId11" imgW="323889" imgH="4001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7164" y="3500438"/>
                        <a:ext cx="3508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3" name="Object 7"/>
          <p:cNvGraphicFramePr>
            <a:graphicFrameLocks noChangeAspect="1"/>
          </p:cNvGraphicFramePr>
          <p:nvPr/>
        </p:nvGraphicFramePr>
        <p:xfrm>
          <a:off x="4195763" y="3500438"/>
          <a:ext cx="330200" cy="425450"/>
        </p:xfrm>
        <a:graphic>
          <a:graphicData uri="http://schemas.openxmlformats.org/presentationml/2006/ole">
            <mc:AlternateContent xmlns:mc="http://schemas.openxmlformats.org/markup-compatibility/2006">
              <mc:Choice xmlns:v="urn:schemas-microsoft-com:vml" Requires="v">
                <p:oleObj name="公式" r:id="rId13" imgW="304710" imgH="390420" progId="Equation.3">
                  <p:embed/>
                </p:oleObj>
              </mc:Choice>
              <mc:Fallback>
                <p:oleObj name="公式" r:id="rId13" imgW="304710" imgH="39042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5763" y="3500438"/>
                        <a:ext cx="330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4" name="Object 8"/>
          <p:cNvGraphicFramePr>
            <a:graphicFrameLocks noChangeAspect="1"/>
          </p:cNvGraphicFramePr>
          <p:nvPr/>
        </p:nvGraphicFramePr>
        <p:xfrm>
          <a:off x="3281363" y="4643438"/>
          <a:ext cx="361950" cy="425450"/>
        </p:xfrm>
        <a:graphic>
          <a:graphicData uri="http://schemas.openxmlformats.org/presentationml/2006/ole">
            <mc:AlternateContent xmlns:mc="http://schemas.openxmlformats.org/markup-compatibility/2006">
              <mc:Choice xmlns:v="urn:schemas-microsoft-com:vml" Requires="v">
                <p:oleObj name="公式" r:id="rId15" imgW="342799" imgH="390420" progId="Equation.3">
                  <p:embed/>
                </p:oleObj>
              </mc:Choice>
              <mc:Fallback>
                <p:oleObj name="公式" r:id="rId15" imgW="342799" imgH="39042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1363" y="4643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5" name="Object 9"/>
          <p:cNvGraphicFramePr>
            <a:graphicFrameLocks noChangeAspect="1"/>
          </p:cNvGraphicFramePr>
          <p:nvPr/>
        </p:nvGraphicFramePr>
        <p:xfrm>
          <a:off x="3281363" y="5176838"/>
          <a:ext cx="355600" cy="431800"/>
        </p:xfrm>
        <a:graphic>
          <a:graphicData uri="http://schemas.openxmlformats.org/presentationml/2006/ole">
            <mc:AlternateContent xmlns:mc="http://schemas.openxmlformats.org/markup-compatibility/2006">
              <mc:Choice xmlns:v="urn:schemas-microsoft-com:vml" Requires="v">
                <p:oleObj name="公式" r:id="rId17" imgW="323889" imgH="400140" progId="Equation.3">
                  <p:embed/>
                </p:oleObj>
              </mc:Choice>
              <mc:Fallback>
                <p:oleObj name="公式" r:id="rId17" imgW="323889" imgH="4001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81363" y="5176838"/>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6" name="Object 10"/>
          <p:cNvGraphicFramePr>
            <a:graphicFrameLocks noChangeAspect="1"/>
          </p:cNvGraphicFramePr>
          <p:nvPr/>
        </p:nvGraphicFramePr>
        <p:xfrm>
          <a:off x="6938963" y="3500438"/>
          <a:ext cx="361950" cy="425450"/>
        </p:xfrm>
        <a:graphic>
          <a:graphicData uri="http://schemas.openxmlformats.org/presentationml/2006/ole">
            <mc:AlternateContent xmlns:mc="http://schemas.openxmlformats.org/markup-compatibility/2006">
              <mc:Choice xmlns:v="urn:schemas-microsoft-com:vml" Requires="v">
                <p:oleObj name="公式" r:id="rId19" imgW="342799" imgH="390420" progId="Equation.3">
                  <p:embed/>
                </p:oleObj>
              </mc:Choice>
              <mc:Fallback>
                <p:oleObj name="公式" r:id="rId19" imgW="342799" imgH="39042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38963" y="3500438"/>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2267" name="Object 11"/>
          <p:cNvGraphicFramePr>
            <a:graphicFrameLocks noChangeAspect="1"/>
          </p:cNvGraphicFramePr>
          <p:nvPr/>
        </p:nvGraphicFramePr>
        <p:xfrm>
          <a:off x="3357564" y="6243638"/>
          <a:ext cx="350837" cy="431800"/>
        </p:xfrm>
        <a:graphic>
          <a:graphicData uri="http://schemas.openxmlformats.org/presentationml/2006/ole">
            <mc:AlternateContent xmlns:mc="http://schemas.openxmlformats.org/markup-compatibility/2006">
              <mc:Choice xmlns:v="urn:schemas-microsoft-com:vml" Requires="v">
                <p:oleObj name="公式" r:id="rId21" imgW="323889" imgH="400140" progId="Equation.3">
                  <p:embed/>
                </p:oleObj>
              </mc:Choice>
              <mc:Fallback>
                <p:oleObj name="公式" r:id="rId21" imgW="323889" imgH="4001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57564" y="6243638"/>
                        <a:ext cx="3508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52268" name="Group 12"/>
          <p:cNvGrpSpPr>
            <a:grpSpLocks/>
          </p:cNvGrpSpPr>
          <p:nvPr/>
        </p:nvGrpSpPr>
        <p:grpSpPr bwMode="auto">
          <a:xfrm>
            <a:off x="3052763" y="3424238"/>
            <a:ext cx="5467350" cy="3314700"/>
            <a:chOff x="-3" y="630"/>
            <a:chExt cx="3444" cy="2424"/>
          </a:xfrm>
        </p:grpSpPr>
        <p:grpSp>
          <p:nvGrpSpPr>
            <p:cNvPr id="56339" name="Group 13"/>
            <p:cNvGrpSpPr>
              <a:grpSpLocks/>
            </p:cNvGrpSpPr>
            <p:nvPr/>
          </p:nvGrpSpPr>
          <p:grpSpPr bwMode="auto">
            <a:xfrm>
              <a:off x="0" y="633"/>
              <a:ext cx="3438" cy="2418"/>
              <a:chOff x="0" y="633"/>
              <a:chExt cx="3438" cy="2418"/>
            </a:xfrm>
          </p:grpSpPr>
          <p:grpSp>
            <p:nvGrpSpPr>
              <p:cNvPr id="56341" name="Group 14"/>
              <p:cNvGrpSpPr>
                <a:grpSpLocks/>
              </p:cNvGrpSpPr>
              <p:nvPr/>
            </p:nvGrpSpPr>
            <p:grpSpPr bwMode="auto">
              <a:xfrm>
                <a:off x="0" y="633"/>
                <a:ext cx="573" cy="403"/>
                <a:chOff x="0" y="633"/>
                <a:chExt cx="573" cy="403"/>
              </a:xfrm>
            </p:grpSpPr>
            <p:sp>
              <p:nvSpPr>
                <p:cNvPr id="56447" name="Rectangle 15"/>
                <p:cNvSpPr>
                  <a:spLocks noChangeArrowheads="1"/>
                </p:cNvSpPr>
                <p:nvPr/>
              </p:nvSpPr>
              <p:spPr bwMode="auto">
                <a:xfrm>
                  <a:off x="43" y="63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just" eaLnBrk="0" hangingPunct="0"/>
                  <a:endParaRPr kumimoji="1" lang="en-US" altLang="zh-CN" sz="2400" b="1">
                    <a:solidFill>
                      <a:schemeClr val="tx2"/>
                    </a:solidFill>
                    <a:latin typeface="Times New Roman" pitchFamily="18" charset="0"/>
                  </a:endParaRPr>
                </a:p>
              </p:txBody>
            </p:sp>
            <p:sp>
              <p:nvSpPr>
                <p:cNvPr id="56448" name="Rectangle 16"/>
                <p:cNvSpPr>
                  <a:spLocks noChangeArrowheads="1"/>
                </p:cNvSpPr>
                <p:nvPr/>
              </p:nvSpPr>
              <p:spPr bwMode="auto">
                <a:xfrm>
                  <a:off x="0"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2" name="Group 17"/>
              <p:cNvGrpSpPr>
                <a:grpSpLocks/>
              </p:cNvGrpSpPr>
              <p:nvPr/>
            </p:nvGrpSpPr>
            <p:grpSpPr bwMode="auto">
              <a:xfrm>
                <a:off x="573" y="633"/>
                <a:ext cx="573" cy="403"/>
                <a:chOff x="573" y="633"/>
                <a:chExt cx="573" cy="403"/>
              </a:xfrm>
            </p:grpSpPr>
            <p:sp>
              <p:nvSpPr>
                <p:cNvPr id="56445" name="Rectangle 18"/>
                <p:cNvSpPr>
                  <a:spLocks noChangeArrowheads="1"/>
                </p:cNvSpPr>
                <p:nvPr/>
              </p:nvSpPr>
              <p:spPr bwMode="auto">
                <a:xfrm>
                  <a:off x="616"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46" name="Rectangle 19"/>
                <p:cNvSpPr>
                  <a:spLocks noChangeArrowheads="1"/>
                </p:cNvSpPr>
                <p:nvPr/>
              </p:nvSpPr>
              <p:spPr bwMode="auto">
                <a:xfrm>
                  <a:off x="573"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3" name="Group 20"/>
              <p:cNvGrpSpPr>
                <a:grpSpLocks/>
              </p:cNvGrpSpPr>
              <p:nvPr/>
            </p:nvGrpSpPr>
            <p:grpSpPr bwMode="auto">
              <a:xfrm>
                <a:off x="1146" y="633"/>
                <a:ext cx="573" cy="403"/>
                <a:chOff x="1146" y="633"/>
                <a:chExt cx="573" cy="403"/>
              </a:xfrm>
            </p:grpSpPr>
            <p:sp>
              <p:nvSpPr>
                <p:cNvPr id="56443" name="Rectangle 21"/>
                <p:cNvSpPr>
                  <a:spLocks noChangeArrowheads="1"/>
                </p:cNvSpPr>
                <p:nvPr/>
              </p:nvSpPr>
              <p:spPr bwMode="auto">
                <a:xfrm>
                  <a:off x="1189"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44" name="Rectangle 22"/>
                <p:cNvSpPr>
                  <a:spLocks noChangeArrowheads="1"/>
                </p:cNvSpPr>
                <p:nvPr/>
              </p:nvSpPr>
              <p:spPr bwMode="auto">
                <a:xfrm>
                  <a:off x="1146"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4" name="Group 23"/>
              <p:cNvGrpSpPr>
                <a:grpSpLocks/>
              </p:cNvGrpSpPr>
              <p:nvPr/>
            </p:nvGrpSpPr>
            <p:grpSpPr bwMode="auto">
              <a:xfrm>
                <a:off x="1719" y="633"/>
                <a:ext cx="573" cy="403"/>
                <a:chOff x="1719" y="633"/>
                <a:chExt cx="573" cy="403"/>
              </a:xfrm>
            </p:grpSpPr>
            <p:sp>
              <p:nvSpPr>
                <p:cNvPr id="56441" name="Rectangle 24"/>
                <p:cNvSpPr>
                  <a:spLocks noChangeArrowheads="1"/>
                </p:cNvSpPr>
                <p:nvPr/>
              </p:nvSpPr>
              <p:spPr bwMode="auto">
                <a:xfrm>
                  <a:off x="1762"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42" name="Rectangle 25"/>
                <p:cNvSpPr>
                  <a:spLocks noChangeArrowheads="1"/>
                </p:cNvSpPr>
                <p:nvPr/>
              </p:nvSpPr>
              <p:spPr bwMode="auto">
                <a:xfrm>
                  <a:off x="1719"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5" name="Group 26"/>
              <p:cNvGrpSpPr>
                <a:grpSpLocks/>
              </p:cNvGrpSpPr>
              <p:nvPr/>
            </p:nvGrpSpPr>
            <p:grpSpPr bwMode="auto">
              <a:xfrm>
                <a:off x="2292" y="633"/>
                <a:ext cx="573" cy="403"/>
                <a:chOff x="2292" y="633"/>
                <a:chExt cx="573" cy="403"/>
              </a:xfrm>
            </p:grpSpPr>
            <p:sp>
              <p:nvSpPr>
                <p:cNvPr id="56439" name="Rectangle 27"/>
                <p:cNvSpPr>
                  <a:spLocks noChangeArrowheads="1"/>
                </p:cNvSpPr>
                <p:nvPr/>
              </p:nvSpPr>
              <p:spPr bwMode="auto">
                <a:xfrm>
                  <a:off x="2335"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40" name="Rectangle 28"/>
                <p:cNvSpPr>
                  <a:spLocks noChangeArrowheads="1"/>
                </p:cNvSpPr>
                <p:nvPr/>
              </p:nvSpPr>
              <p:spPr bwMode="auto">
                <a:xfrm>
                  <a:off x="2292"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6" name="Group 29"/>
              <p:cNvGrpSpPr>
                <a:grpSpLocks/>
              </p:cNvGrpSpPr>
              <p:nvPr/>
            </p:nvGrpSpPr>
            <p:grpSpPr bwMode="auto">
              <a:xfrm>
                <a:off x="2865" y="633"/>
                <a:ext cx="573" cy="403"/>
                <a:chOff x="2865" y="633"/>
                <a:chExt cx="573" cy="403"/>
              </a:xfrm>
            </p:grpSpPr>
            <p:sp>
              <p:nvSpPr>
                <p:cNvPr id="56437" name="Rectangle 30"/>
                <p:cNvSpPr>
                  <a:spLocks noChangeArrowheads="1"/>
                </p:cNvSpPr>
                <p:nvPr/>
              </p:nvSpPr>
              <p:spPr bwMode="auto">
                <a:xfrm>
                  <a:off x="2908" y="633"/>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38" name="Rectangle 31"/>
                <p:cNvSpPr>
                  <a:spLocks noChangeArrowheads="1"/>
                </p:cNvSpPr>
                <p:nvPr/>
              </p:nvSpPr>
              <p:spPr bwMode="auto">
                <a:xfrm>
                  <a:off x="2865" y="63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7" name="Group 32"/>
              <p:cNvGrpSpPr>
                <a:grpSpLocks/>
              </p:cNvGrpSpPr>
              <p:nvPr/>
            </p:nvGrpSpPr>
            <p:grpSpPr bwMode="auto">
              <a:xfrm>
                <a:off x="0" y="1036"/>
                <a:ext cx="573" cy="403"/>
                <a:chOff x="0" y="1036"/>
                <a:chExt cx="573" cy="403"/>
              </a:xfrm>
            </p:grpSpPr>
            <p:sp>
              <p:nvSpPr>
                <p:cNvPr id="56435" name="Rectangle 33"/>
                <p:cNvSpPr>
                  <a:spLocks noChangeArrowheads="1"/>
                </p:cNvSpPr>
                <p:nvPr/>
              </p:nvSpPr>
              <p:spPr bwMode="auto">
                <a:xfrm>
                  <a:off x="43" y="1036"/>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36" name="Rectangle 34"/>
                <p:cNvSpPr>
                  <a:spLocks noChangeArrowheads="1"/>
                </p:cNvSpPr>
                <p:nvPr/>
              </p:nvSpPr>
              <p:spPr bwMode="auto">
                <a:xfrm>
                  <a:off x="0"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8" name="Group 35"/>
              <p:cNvGrpSpPr>
                <a:grpSpLocks/>
              </p:cNvGrpSpPr>
              <p:nvPr/>
            </p:nvGrpSpPr>
            <p:grpSpPr bwMode="auto">
              <a:xfrm>
                <a:off x="573" y="1036"/>
                <a:ext cx="573" cy="403"/>
                <a:chOff x="573" y="1036"/>
                <a:chExt cx="573" cy="403"/>
              </a:xfrm>
            </p:grpSpPr>
            <p:sp>
              <p:nvSpPr>
                <p:cNvPr id="56433" name="Rectangle 36"/>
                <p:cNvSpPr>
                  <a:spLocks noChangeArrowheads="1"/>
                </p:cNvSpPr>
                <p:nvPr/>
              </p:nvSpPr>
              <p:spPr bwMode="auto">
                <a:xfrm>
                  <a:off x="616"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6434" name="Rectangle 37"/>
                <p:cNvSpPr>
                  <a:spLocks noChangeArrowheads="1"/>
                </p:cNvSpPr>
                <p:nvPr/>
              </p:nvSpPr>
              <p:spPr bwMode="auto">
                <a:xfrm>
                  <a:off x="573"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49" name="Group 38"/>
              <p:cNvGrpSpPr>
                <a:grpSpLocks/>
              </p:cNvGrpSpPr>
              <p:nvPr/>
            </p:nvGrpSpPr>
            <p:grpSpPr bwMode="auto">
              <a:xfrm>
                <a:off x="1146" y="1036"/>
                <a:ext cx="573" cy="403"/>
                <a:chOff x="1146" y="1036"/>
                <a:chExt cx="573" cy="403"/>
              </a:xfrm>
            </p:grpSpPr>
            <p:sp>
              <p:nvSpPr>
                <p:cNvPr id="56431" name="Rectangle 39"/>
                <p:cNvSpPr>
                  <a:spLocks noChangeArrowheads="1"/>
                </p:cNvSpPr>
                <p:nvPr/>
              </p:nvSpPr>
              <p:spPr bwMode="auto">
                <a:xfrm>
                  <a:off x="1189"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32" name="Rectangle 40"/>
                <p:cNvSpPr>
                  <a:spLocks noChangeArrowheads="1"/>
                </p:cNvSpPr>
                <p:nvPr/>
              </p:nvSpPr>
              <p:spPr bwMode="auto">
                <a:xfrm>
                  <a:off x="1146"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0" name="Group 41"/>
              <p:cNvGrpSpPr>
                <a:grpSpLocks/>
              </p:cNvGrpSpPr>
              <p:nvPr/>
            </p:nvGrpSpPr>
            <p:grpSpPr bwMode="auto">
              <a:xfrm>
                <a:off x="1719" y="1036"/>
                <a:ext cx="573" cy="403"/>
                <a:chOff x="1719" y="1036"/>
                <a:chExt cx="573" cy="403"/>
              </a:xfrm>
            </p:grpSpPr>
            <p:sp>
              <p:nvSpPr>
                <p:cNvPr id="56429" name="Rectangle 42"/>
                <p:cNvSpPr>
                  <a:spLocks noChangeArrowheads="1"/>
                </p:cNvSpPr>
                <p:nvPr/>
              </p:nvSpPr>
              <p:spPr bwMode="auto">
                <a:xfrm>
                  <a:off x="1762"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30" name="Rectangle 43"/>
                <p:cNvSpPr>
                  <a:spLocks noChangeArrowheads="1"/>
                </p:cNvSpPr>
                <p:nvPr/>
              </p:nvSpPr>
              <p:spPr bwMode="auto">
                <a:xfrm>
                  <a:off x="1719"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1" name="Group 44"/>
              <p:cNvGrpSpPr>
                <a:grpSpLocks/>
              </p:cNvGrpSpPr>
              <p:nvPr/>
            </p:nvGrpSpPr>
            <p:grpSpPr bwMode="auto">
              <a:xfrm>
                <a:off x="2292" y="1036"/>
                <a:ext cx="573" cy="403"/>
                <a:chOff x="2292" y="1036"/>
                <a:chExt cx="573" cy="403"/>
              </a:xfrm>
            </p:grpSpPr>
            <p:sp>
              <p:nvSpPr>
                <p:cNvPr id="56427" name="Rectangle 45"/>
                <p:cNvSpPr>
                  <a:spLocks noChangeArrowheads="1"/>
                </p:cNvSpPr>
                <p:nvPr/>
              </p:nvSpPr>
              <p:spPr bwMode="auto">
                <a:xfrm>
                  <a:off x="2335"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28" name="Rectangle 46"/>
                <p:cNvSpPr>
                  <a:spLocks noChangeArrowheads="1"/>
                </p:cNvSpPr>
                <p:nvPr/>
              </p:nvSpPr>
              <p:spPr bwMode="auto">
                <a:xfrm>
                  <a:off x="2292"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2" name="Group 47"/>
              <p:cNvGrpSpPr>
                <a:grpSpLocks/>
              </p:cNvGrpSpPr>
              <p:nvPr/>
            </p:nvGrpSpPr>
            <p:grpSpPr bwMode="auto">
              <a:xfrm>
                <a:off x="2865" y="1036"/>
                <a:ext cx="573" cy="403"/>
                <a:chOff x="2865" y="1036"/>
                <a:chExt cx="573" cy="403"/>
              </a:xfrm>
            </p:grpSpPr>
            <p:sp>
              <p:nvSpPr>
                <p:cNvPr id="56425" name="Rectangle 48"/>
                <p:cNvSpPr>
                  <a:spLocks noChangeArrowheads="1"/>
                </p:cNvSpPr>
                <p:nvPr/>
              </p:nvSpPr>
              <p:spPr bwMode="auto">
                <a:xfrm>
                  <a:off x="2908" y="103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26" name="Rectangle 49"/>
                <p:cNvSpPr>
                  <a:spLocks noChangeArrowheads="1"/>
                </p:cNvSpPr>
                <p:nvPr/>
              </p:nvSpPr>
              <p:spPr bwMode="auto">
                <a:xfrm>
                  <a:off x="2865" y="103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3" name="Group 50"/>
              <p:cNvGrpSpPr>
                <a:grpSpLocks/>
              </p:cNvGrpSpPr>
              <p:nvPr/>
            </p:nvGrpSpPr>
            <p:grpSpPr bwMode="auto">
              <a:xfrm>
                <a:off x="0" y="1439"/>
                <a:ext cx="573" cy="403"/>
                <a:chOff x="0" y="1439"/>
                <a:chExt cx="573" cy="403"/>
              </a:xfrm>
            </p:grpSpPr>
            <p:sp>
              <p:nvSpPr>
                <p:cNvPr id="56423" name="Rectangle 51"/>
                <p:cNvSpPr>
                  <a:spLocks noChangeArrowheads="1"/>
                </p:cNvSpPr>
                <p:nvPr/>
              </p:nvSpPr>
              <p:spPr bwMode="auto">
                <a:xfrm>
                  <a:off x="43" y="1439"/>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24" name="Rectangle 52"/>
                <p:cNvSpPr>
                  <a:spLocks noChangeArrowheads="1"/>
                </p:cNvSpPr>
                <p:nvPr/>
              </p:nvSpPr>
              <p:spPr bwMode="auto">
                <a:xfrm>
                  <a:off x="0"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4" name="Group 53"/>
              <p:cNvGrpSpPr>
                <a:grpSpLocks/>
              </p:cNvGrpSpPr>
              <p:nvPr/>
            </p:nvGrpSpPr>
            <p:grpSpPr bwMode="auto">
              <a:xfrm>
                <a:off x="573" y="1439"/>
                <a:ext cx="573" cy="403"/>
                <a:chOff x="573" y="1439"/>
                <a:chExt cx="573" cy="403"/>
              </a:xfrm>
            </p:grpSpPr>
            <p:sp>
              <p:nvSpPr>
                <p:cNvPr id="56421" name="Rectangle 54"/>
                <p:cNvSpPr>
                  <a:spLocks noChangeArrowheads="1"/>
                </p:cNvSpPr>
                <p:nvPr/>
              </p:nvSpPr>
              <p:spPr bwMode="auto">
                <a:xfrm>
                  <a:off x="616"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1</a:t>
                  </a:r>
                </a:p>
                <a:p>
                  <a:pPr algn="ctr" eaLnBrk="0" hangingPunct="0"/>
                  <a:endParaRPr kumimoji="1" lang="en-US" altLang="zh-CN" sz="2400" b="1">
                    <a:solidFill>
                      <a:schemeClr val="tx2"/>
                    </a:solidFill>
                    <a:latin typeface="Times New Roman" pitchFamily="18" charset="0"/>
                  </a:endParaRPr>
                </a:p>
              </p:txBody>
            </p:sp>
            <p:sp>
              <p:nvSpPr>
                <p:cNvPr id="56422" name="Rectangle 55"/>
                <p:cNvSpPr>
                  <a:spLocks noChangeArrowheads="1"/>
                </p:cNvSpPr>
                <p:nvPr/>
              </p:nvSpPr>
              <p:spPr bwMode="auto">
                <a:xfrm>
                  <a:off x="573"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5" name="Group 56"/>
              <p:cNvGrpSpPr>
                <a:grpSpLocks/>
              </p:cNvGrpSpPr>
              <p:nvPr/>
            </p:nvGrpSpPr>
            <p:grpSpPr bwMode="auto">
              <a:xfrm>
                <a:off x="1146" y="1439"/>
                <a:ext cx="573" cy="403"/>
                <a:chOff x="1146" y="1439"/>
                <a:chExt cx="573" cy="403"/>
              </a:xfrm>
            </p:grpSpPr>
            <p:sp>
              <p:nvSpPr>
                <p:cNvPr id="56419" name="Rectangle 57"/>
                <p:cNvSpPr>
                  <a:spLocks noChangeArrowheads="1"/>
                </p:cNvSpPr>
                <p:nvPr/>
              </p:nvSpPr>
              <p:spPr bwMode="auto">
                <a:xfrm>
                  <a:off x="1189"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6420" name="Rectangle 58"/>
                <p:cNvSpPr>
                  <a:spLocks noChangeArrowheads="1"/>
                </p:cNvSpPr>
                <p:nvPr/>
              </p:nvSpPr>
              <p:spPr bwMode="auto">
                <a:xfrm>
                  <a:off x="1146"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6" name="Group 59"/>
              <p:cNvGrpSpPr>
                <a:grpSpLocks/>
              </p:cNvGrpSpPr>
              <p:nvPr/>
            </p:nvGrpSpPr>
            <p:grpSpPr bwMode="auto">
              <a:xfrm>
                <a:off x="1719" y="1439"/>
                <a:ext cx="573" cy="403"/>
                <a:chOff x="1719" y="1439"/>
                <a:chExt cx="573" cy="403"/>
              </a:xfrm>
            </p:grpSpPr>
            <p:sp>
              <p:nvSpPr>
                <p:cNvPr id="56417" name="Rectangle 60"/>
                <p:cNvSpPr>
                  <a:spLocks noChangeArrowheads="1"/>
                </p:cNvSpPr>
                <p:nvPr/>
              </p:nvSpPr>
              <p:spPr bwMode="auto">
                <a:xfrm>
                  <a:off x="1762"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18" name="Rectangle 61"/>
                <p:cNvSpPr>
                  <a:spLocks noChangeArrowheads="1"/>
                </p:cNvSpPr>
                <p:nvPr/>
              </p:nvSpPr>
              <p:spPr bwMode="auto">
                <a:xfrm>
                  <a:off x="1719"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7" name="Group 62"/>
              <p:cNvGrpSpPr>
                <a:grpSpLocks/>
              </p:cNvGrpSpPr>
              <p:nvPr/>
            </p:nvGrpSpPr>
            <p:grpSpPr bwMode="auto">
              <a:xfrm>
                <a:off x="2292" y="1439"/>
                <a:ext cx="573" cy="403"/>
                <a:chOff x="2292" y="1439"/>
                <a:chExt cx="573" cy="403"/>
              </a:xfrm>
            </p:grpSpPr>
            <p:sp>
              <p:nvSpPr>
                <p:cNvPr id="56415" name="Rectangle 63"/>
                <p:cNvSpPr>
                  <a:spLocks noChangeArrowheads="1"/>
                </p:cNvSpPr>
                <p:nvPr/>
              </p:nvSpPr>
              <p:spPr bwMode="auto">
                <a:xfrm>
                  <a:off x="2335"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16" name="Rectangle 64"/>
                <p:cNvSpPr>
                  <a:spLocks noChangeArrowheads="1"/>
                </p:cNvSpPr>
                <p:nvPr/>
              </p:nvSpPr>
              <p:spPr bwMode="auto">
                <a:xfrm>
                  <a:off x="2292"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8" name="Group 65"/>
              <p:cNvGrpSpPr>
                <a:grpSpLocks/>
              </p:cNvGrpSpPr>
              <p:nvPr/>
            </p:nvGrpSpPr>
            <p:grpSpPr bwMode="auto">
              <a:xfrm>
                <a:off x="2865" y="1439"/>
                <a:ext cx="573" cy="403"/>
                <a:chOff x="2865" y="1439"/>
                <a:chExt cx="573" cy="403"/>
              </a:xfrm>
            </p:grpSpPr>
            <p:sp>
              <p:nvSpPr>
                <p:cNvPr id="56413" name="Rectangle 66"/>
                <p:cNvSpPr>
                  <a:spLocks noChangeArrowheads="1"/>
                </p:cNvSpPr>
                <p:nvPr/>
              </p:nvSpPr>
              <p:spPr bwMode="auto">
                <a:xfrm>
                  <a:off x="2908" y="143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14" name="Rectangle 67"/>
                <p:cNvSpPr>
                  <a:spLocks noChangeArrowheads="1"/>
                </p:cNvSpPr>
                <p:nvPr/>
              </p:nvSpPr>
              <p:spPr bwMode="auto">
                <a:xfrm>
                  <a:off x="2865" y="143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59" name="Group 68"/>
              <p:cNvGrpSpPr>
                <a:grpSpLocks/>
              </p:cNvGrpSpPr>
              <p:nvPr/>
            </p:nvGrpSpPr>
            <p:grpSpPr bwMode="auto">
              <a:xfrm>
                <a:off x="0" y="1842"/>
                <a:ext cx="573" cy="403"/>
                <a:chOff x="0" y="1842"/>
                <a:chExt cx="573" cy="403"/>
              </a:xfrm>
            </p:grpSpPr>
            <p:sp>
              <p:nvSpPr>
                <p:cNvPr id="56411" name="Rectangle 69"/>
                <p:cNvSpPr>
                  <a:spLocks noChangeArrowheads="1"/>
                </p:cNvSpPr>
                <p:nvPr/>
              </p:nvSpPr>
              <p:spPr bwMode="auto">
                <a:xfrm>
                  <a:off x="43" y="1842"/>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12" name="Rectangle 70"/>
                <p:cNvSpPr>
                  <a:spLocks noChangeArrowheads="1"/>
                </p:cNvSpPr>
                <p:nvPr/>
              </p:nvSpPr>
              <p:spPr bwMode="auto">
                <a:xfrm>
                  <a:off x="0"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0" name="Group 71"/>
              <p:cNvGrpSpPr>
                <a:grpSpLocks/>
              </p:cNvGrpSpPr>
              <p:nvPr/>
            </p:nvGrpSpPr>
            <p:grpSpPr bwMode="auto">
              <a:xfrm>
                <a:off x="573" y="1842"/>
                <a:ext cx="573" cy="403"/>
                <a:chOff x="573" y="1842"/>
                <a:chExt cx="573" cy="403"/>
              </a:xfrm>
            </p:grpSpPr>
            <p:sp>
              <p:nvSpPr>
                <p:cNvPr id="56409" name="Rectangle 72"/>
                <p:cNvSpPr>
                  <a:spLocks noChangeArrowheads="1"/>
                </p:cNvSpPr>
                <p:nvPr/>
              </p:nvSpPr>
              <p:spPr bwMode="auto">
                <a:xfrm>
                  <a:off x="616"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2.5</a:t>
                  </a:r>
                </a:p>
                <a:p>
                  <a:pPr algn="ctr" eaLnBrk="0" hangingPunct="0"/>
                  <a:endParaRPr kumimoji="1" lang="en-US" altLang="zh-CN" sz="2400" b="1">
                    <a:solidFill>
                      <a:schemeClr val="tx2"/>
                    </a:solidFill>
                    <a:latin typeface="Times New Roman" pitchFamily="18" charset="0"/>
                  </a:endParaRPr>
                </a:p>
              </p:txBody>
            </p:sp>
            <p:sp>
              <p:nvSpPr>
                <p:cNvPr id="56410" name="Rectangle 73"/>
                <p:cNvSpPr>
                  <a:spLocks noChangeArrowheads="1"/>
                </p:cNvSpPr>
                <p:nvPr/>
              </p:nvSpPr>
              <p:spPr bwMode="auto">
                <a:xfrm>
                  <a:off x="573"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1" name="Group 74"/>
              <p:cNvGrpSpPr>
                <a:grpSpLocks/>
              </p:cNvGrpSpPr>
              <p:nvPr/>
            </p:nvGrpSpPr>
            <p:grpSpPr bwMode="auto">
              <a:xfrm>
                <a:off x="1146" y="1842"/>
                <a:ext cx="573" cy="403"/>
                <a:chOff x="1146" y="1842"/>
                <a:chExt cx="573" cy="403"/>
              </a:xfrm>
            </p:grpSpPr>
            <p:sp>
              <p:nvSpPr>
                <p:cNvPr id="56407" name="Rectangle 75"/>
                <p:cNvSpPr>
                  <a:spLocks noChangeArrowheads="1"/>
                </p:cNvSpPr>
                <p:nvPr/>
              </p:nvSpPr>
              <p:spPr bwMode="auto">
                <a:xfrm>
                  <a:off x="1189"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1.5</a:t>
                  </a:r>
                </a:p>
                <a:p>
                  <a:pPr algn="ctr" eaLnBrk="0" hangingPunct="0"/>
                  <a:endParaRPr kumimoji="1" lang="en-US" altLang="zh-CN" sz="2400" b="1">
                    <a:solidFill>
                      <a:schemeClr val="tx2"/>
                    </a:solidFill>
                    <a:latin typeface="Times New Roman" pitchFamily="18" charset="0"/>
                  </a:endParaRPr>
                </a:p>
              </p:txBody>
            </p:sp>
            <p:sp>
              <p:nvSpPr>
                <p:cNvPr id="56408" name="Rectangle 76"/>
                <p:cNvSpPr>
                  <a:spLocks noChangeArrowheads="1"/>
                </p:cNvSpPr>
                <p:nvPr/>
              </p:nvSpPr>
              <p:spPr bwMode="auto">
                <a:xfrm>
                  <a:off x="1146"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2" name="Group 77"/>
              <p:cNvGrpSpPr>
                <a:grpSpLocks/>
              </p:cNvGrpSpPr>
              <p:nvPr/>
            </p:nvGrpSpPr>
            <p:grpSpPr bwMode="auto">
              <a:xfrm>
                <a:off x="1719" y="1842"/>
                <a:ext cx="573" cy="403"/>
                <a:chOff x="1719" y="1842"/>
                <a:chExt cx="573" cy="403"/>
              </a:xfrm>
            </p:grpSpPr>
            <p:sp>
              <p:nvSpPr>
                <p:cNvPr id="56405" name="Rectangle 78"/>
                <p:cNvSpPr>
                  <a:spLocks noChangeArrowheads="1"/>
                </p:cNvSpPr>
                <p:nvPr/>
              </p:nvSpPr>
              <p:spPr bwMode="auto">
                <a:xfrm>
                  <a:off x="1762"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6406" name="Rectangle 79"/>
                <p:cNvSpPr>
                  <a:spLocks noChangeArrowheads="1"/>
                </p:cNvSpPr>
                <p:nvPr/>
              </p:nvSpPr>
              <p:spPr bwMode="auto">
                <a:xfrm>
                  <a:off x="1719"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3" name="Group 80"/>
              <p:cNvGrpSpPr>
                <a:grpSpLocks/>
              </p:cNvGrpSpPr>
              <p:nvPr/>
            </p:nvGrpSpPr>
            <p:grpSpPr bwMode="auto">
              <a:xfrm>
                <a:off x="2292" y="1842"/>
                <a:ext cx="573" cy="403"/>
                <a:chOff x="2292" y="1842"/>
                <a:chExt cx="573" cy="403"/>
              </a:xfrm>
            </p:grpSpPr>
            <p:sp>
              <p:nvSpPr>
                <p:cNvPr id="56403" name="Rectangle 81"/>
                <p:cNvSpPr>
                  <a:spLocks noChangeArrowheads="1"/>
                </p:cNvSpPr>
                <p:nvPr/>
              </p:nvSpPr>
              <p:spPr bwMode="auto">
                <a:xfrm>
                  <a:off x="2335"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04" name="Rectangle 82"/>
                <p:cNvSpPr>
                  <a:spLocks noChangeArrowheads="1"/>
                </p:cNvSpPr>
                <p:nvPr/>
              </p:nvSpPr>
              <p:spPr bwMode="auto">
                <a:xfrm>
                  <a:off x="2292"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4" name="Group 83"/>
              <p:cNvGrpSpPr>
                <a:grpSpLocks/>
              </p:cNvGrpSpPr>
              <p:nvPr/>
            </p:nvGrpSpPr>
            <p:grpSpPr bwMode="auto">
              <a:xfrm>
                <a:off x="2865" y="1842"/>
                <a:ext cx="573" cy="403"/>
                <a:chOff x="2865" y="1842"/>
                <a:chExt cx="573" cy="403"/>
              </a:xfrm>
            </p:grpSpPr>
            <p:sp>
              <p:nvSpPr>
                <p:cNvPr id="56401" name="Rectangle 84"/>
                <p:cNvSpPr>
                  <a:spLocks noChangeArrowheads="1"/>
                </p:cNvSpPr>
                <p:nvPr/>
              </p:nvSpPr>
              <p:spPr bwMode="auto">
                <a:xfrm>
                  <a:off x="2908" y="184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402" name="Rectangle 85"/>
                <p:cNvSpPr>
                  <a:spLocks noChangeArrowheads="1"/>
                </p:cNvSpPr>
                <p:nvPr/>
              </p:nvSpPr>
              <p:spPr bwMode="auto">
                <a:xfrm>
                  <a:off x="2865" y="184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5" name="Group 86"/>
              <p:cNvGrpSpPr>
                <a:grpSpLocks/>
              </p:cNvGrpSpPr>
              <p:nvPr/>
            </p:nvGrpSpPr>
            <p:grpSpPr bwMode="auto">
              <a:xfrm>
                <a:off x="0" y="2245"/>
                <a:ext cx="573" cy="403"/>
                <a:chOff x="0" y="2245"/>
                <a:chExt cx="573" cy="403"/>
              </a:xfrm>
            </p:grpSpPr>
            <p:sp>
              <p:nvSpPr>
                <p:cNvPr id="56399" name="Rectangle 87"/>
                <p:cNvSpPr>
                  <a:spLocks noChangeArrowheads="1"/>
                </p:cNvSpPr>
                <p:nvPr/>
              </p:nvSpPr>
              <p:spPr bwMode="auto">
                <a:xfrm>
                  <a:off x="43" y="2245"/>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400" name="Rectangle 88"/>
                <p:cNvSpPr>
                  <a:spLocks noChangeArrowheads="1"/>
                </p:cNvSpPr>
                <p:nvPr/>
              </p:nvSpPr>
              <p:spPr bwMode="auto">
                <a:xfrm>
                  <a:off x="0"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6" name="Group 89"/>
              <p:cNvGrpSpPr>
                <a:grpSpLocks/>
              </p:cNvGrpSpPr>
              <p:nvPr/>
            </p:nvGrpSpPr>
            <p:grpSpPr bwMode="auto">
              <a:xfrm>
                <a:off x="573" y="2245"/>
                <a:ext cx="573" cy="403"/>
                <a:chOff x="573" y="2245"/>
                <a:chExt cx="573" cy="403"/>
              </a:xfrm>
            </p:grpSpPr>
            <p:sp>
              <p:nvSpPr>
                <p:cNvPr id="56397" name="Rectangle 90"/>
                <p:cNvSpPr>
                  <a:spLocks noChangeArrowheads="1"/>
                </p:cNvSpPr>
                <p:nvPr/>
              </p:nvSpPr>
              <p:spPr bwMode="auto">
                <a:xfrm>
                  <a:off x="616"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6</a:t>
                  </a:r>
                </a:p>
                <a:p>
                  <a:pPr algn="ctr" eaLnBrk="0" hangingPunct="0"/>
                  <a:endParaRPr kumimoji="1" lang="en-US" altLang="zh-CN" sz="2400" b="1">
                    <a:solidFill>
                      <a:schemeClr val="tx2"/>
                    </a:solidFill>
                    <a:latin typeface="Times New Roman" pitchFamily="18" charset="0"/>
                  </a:endParaRPr>
                </a:p>
              </p:txBody>
            </p:sp>
            <p:sp>
              <p:nvSpPr>
                <p:cNvPr id="56398" name="Rectangle 91"/>
                <p:cNvSpPr>
                  <a:spLocks noChangeArrowheads="1"/>
                </p:cNvSpPr>
                <p:nvPr/>
              </p:nvSpPr>
              <p:spPr bwMode="auto">
                <a:xfrm>
                  <a:off x="573"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7" name="Group 92"/>
              <p:cNvGrpSpPr>
                <a:grpSpLocks/>
              </p:cNvGrpSpPr>
              <p:nvPr/>
            </p:nvGrpSpPr>
            <p:grpSpPr bwMode="auto">
              <a:xfrm>
                <a:off x="1146" y="2245"/>
                <a:ext cx="573" cy="403"/>
                <a:chOff x="1146" y="2245"/>
                <a:chExt cx="573" cy="403"/>
              </a:xfrm>
            </p:grpSpPr>
            <p:sp>
              <p:nvSpPr>
                <p:cNvPr id="56395" name="Rectangle 93"/>
                <p:cNvSpPr>
                  <a:spLocks noChangeArrowheads="1"/>
                </p:cNvSpPr>
                <p:nvPr/>
              </p:nvSpPr>
              <p:spPr bwMode="auto">
                <a:xfrm>
                  <a:off x="1189"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latin typeface="宋体" pitchFamily="2" charset="-122"/>
                      <a:cs typeface="Times New Roman" pitchFamily="18" charset="0"/>
                    </a:rPr>
                    <a:t>5</a:t>
                  </a:r>
                </a:p>
                <a:p>
                  <a:pPr algn="ctr" eaLnBrk="0" hangingPunct="0"/>
                  <a:endParaRPr kumimoji="1" lang="en-US" altLang="zh-CN" sz="2400" b="1">
                    <a:solidFill>
                      <a:schemeClr val="tx2"/>
                    </a:solidFill>
                    <a:latin typeface="Times New Roman" pitchFamily="18" charset="0"/>
                  </a:endParaRPr>
                </a:p>
              </p:txBody>
            </p:sp>
            <p:sp>
              <p:nvSpPr>
                <p:cNvPr id="56396" name="Rectangle 94"/>
                <p:cNvSpPr>
                  <a:spLocks noChangeArrowheads="1"/>
                </p:cNvSpPr>
                <p:nvPr/>
              </p:nvSpPr>
              <p:spPr bwMode="auto">
                <a:xfrm>
                  <a:off x="1146"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8" name="Group 95"/>
              <p:cNvGrpSpPr>
                <a:grpSpLocks/>
              </p:cNvGrpSpPr>
              <p:nvPr/>
            </p:nvGrpSpPr>
            <p:grpSpPr bwMode="auto">
              <a:xfrm>
                <a:off x="1719" y="2245"/>
                <a:ext cx="573" cy="403"/>
                <a:chOff x="1719" y="2245"/>
                <a:chExt cx="573" cy="403"/>
              </a:xfrm>
            </p:grpSpPr>
            <p:sp>
              <p:nvSpPr>
                <p:cNvPr id="56393" name="Rectangle 96"/>
                <p:cNvSpPr>
                  <a:spLocks noChangeArrowheads="1"/>
                </p:cNvSpPr>
                <p:nvPr/>
              </p:nvSpPr>
              <p:spPr bwMode="auto">
                <a:xfrm>
                  <a:off x="1762"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3.5</a:t>
                  </a:r>
                </a:p>
                <a:p>
                  <a:pPr algn="ctr" eaLnBrk="0" hangingPunct="0"/>
                  <a:endParaRPr kumimoji="1" lang="en-US" altLang="zh-CN" sz="2400" b="1">
                    <a:solidFill>
                      <a:schemeClr val="tx2"/>
                    </a:solidFill>
                    <a:latin typeface="Times New Roman" pitchFamily="18" charset="0"/>
                  </a:endParaRPr>
                </a:p>
              </p:txBody>
            </p:sp>
            <p:sp>
              <p:nvSpPr>
                <p:cNvPr id="56394" name="Rectangle 97"/>
                <p:cNvSpPr>
                  <a:spLocks noChangeArrowheads="1"/>
                </p:cNvSpPr>
                <p:nvPr/>
              </p:nvSpPr>
              <p:spPr bwMode="auto">
                <a:xfrm>
                  <a:off x="1719"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69" name="Group 98"/>
              <p:cNvGrpSpPr>
                <a:grpSpLocks/>
              </p:cNvGrpSpPr>
              <p:nvPr/>
            </p:nvGrpSpPr>
            <p:grpSpPr bwMode="auto">
              <a:xfrm>
                <a:off x="2292" y="2245"/>
                <a:ext cx="573" cy="403"/>
                <a:chOff x="2292" y="2245"/>
                <a:chExt cx="573" cy="403"/>
              </a:xfrm>
            </p:grpSpPr>
            <p:sp>
              <p:nvSpPr>
                <p:cNvPr id="56391" name="Rectangle 99"/>
                <p:cNvSpPr>
                  <a:spLocks noChangeArrowheads="1"/>
                </p:cNvSpPr>
                <p:nvPr/>
              </p:nvSpPr>
              <p:spPr bwMode="auto">
                <a:xfrm>
                  <a:off x="2335"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6392" name="Rectangle 100"/>
                <p:cNvSpPr>
                  <a:spLocks noChangeArrowheads="1"/>
                </p:cNvSpPr>
                <p:nvPr/>
              </p:nvSpPr>
              <p:spPr bwMode="auto">
                <a:xfrm>
                  <a:off x="2292"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0" name="Group 101"/>
              <p:cNvGrpSpPr>
                <a:grpSpLocks/>
              </p:cNvGrpSpPr>
              <p:nvPr/>
            </p:nvGrpSpPr>
            <p:grpSpPr bwMode="auto">
              <a:xfrm>
                <a:off x="2865" y="2245"/>
                <a:ext cx="573" cy="403"/>
                <a:chOff x="2865" y="2245"/>
                <a:chExt cx="573" cy="403"/>
              </a:xfrm>
            </p:grpSpPr>
            <p:sp>
              <p:nvSpPr>
                <p:cNvPr id="56389" name="Rectangle 102"/>
                <p:cNvSpPr>
                  <a:spLocks noChangeArrowheads="1"/>
                </p:cNvSpPr>
                <p:nvPr/>
              </p:nvSpPr>
              <p:spPr bwMode="auto">
                <a:xfrm>
                  <a:off x="2908" y="224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Times New Roman" pitchFamily="18" charset="0"/>
                      <a:cs typeface="Times New Roman" pitchFamily="18" charset="0"/>
                    </a:rPr>
                    <a:t> </a:t>
                  </a:r>
                  <a:endParaRPr kumimoji="1" lang="en-US" altLang="zh-CN" sz="2400" b="1">
                    <a:solidFill>
                      <a:schemeClr val="tx2"/>
                    </a:solidFill>
                    <a:latin typeface="宋体" pitchFamily="2" charset="-122"/>
                    <a:cs typeface="Times New Roman" pitchFamily="18" charset="0"/>
                  </a:endParaRPr>
                </a:p>
                <a:p>
                  <a:pPr algn="ctr" eaLnBrk="0" hangingPunct="0"/>
                  <a:endParaRPr kumimoji="1" lang="en-US" altLang="zh-CN" sz="2400" b="1">
                    <a:solidFill>
                      <a:schemeClr val="tx2"/>
                    </a:solidFill>
                    <a:latin typeface="Times New Roman" pitchFamily="18" charset="0"/>
                  </a:endParaRPr>
                </a:p>
              </p:txBody>
            </p:sp>
            <p:sp>
              <p:nvSpPr>
                <p:cNvPr id="56390" name="Rectangle 103"/>
                <p:cNvSpPr>
                  <a:spLocks noChangeArrowheads="1"/>
                </p:cNvSpPr>
                <p:nvPr/>
              </p:nvSpPr>
              <p:spPr bwMode="auto">
                <a:xfrm>
                  <a:off x="2865" y="224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1" name="Group 104"/>
              <p:cNvGrpSpPr>
                <a:grpSpLocks/>
              </p:cNvGrpSpPr>
              <p:nvPr/>
            </p:nvGrpSpPr>
            <p:grpSpPr bwMode="auto">
              <a:xfrm>
                <a:off x="0" y="2648"/>
                <a:ext cx="573" cy="403"/>
                <a:chOff x="0" y="2648"/>
                <a:chExt cx="573" cy="403"/>
              </a:xfrm>
            </p:grpSpPr>
            <p:sp>
              <p:nvSpPr>
                <p:cNvPr id="56387" name="Rectangle 105"/>
                <p:cNvSpPr>
                  <a:spLocks noChangeArrowheads="1"/>
                </p:cNvSpPr>
                <p:nvPr/>
              </p:nvSpPr>
              <p:spPr bwMode="auto">
                <a:xfrm>
                  <a:off x="43" y="2648"/>
                  <a:ext cx="48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6388" name="Rectangle 106"/>
                <p:cNvSpPr>
                  <a:spLocks noChangeArrowheads="1"/>
                </p:cNvSpPr>
                <p:nvPr/>
              </p:nvSpPr>
              <p:spPr bwMode="auto">
                <a:xfrm>
                  <a:off x="0"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2" name="Group 107"/>
              <p:cNvGrpSpPr>
                <a:grpSpLocks/>
              </p:cNvGrpSpPr>
              <p:nvPr/>
            </p:nvGrpSpPr>
            <p:grpSpPr bwMode="auto">
              <a:xfrm>
                <a:off x="573" y="2648"/>
                <a:ext cx="573" cy="403"/>
                <a:chOff x="573" y="2648"/>
                <a:chExt cx="573" cy="403"/>
              </a:xfrm>
            </p:grpSpPr>
            <p:sp>
              <p:nvSpPr>
                <p:cNvPr id="56385" name="Rectangle 108"/>
                <p:cNvSpPr>
                  <a:spLocks noChangeArrowheads="1"/>
                </p:cNvSpPr>
                <p:nvPr/>
              </p:nvSpPr>
              <p:spPr bwMode="auto">
                <a:xfrm>
                  <a:off x="616"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rgbClr val="3333FF"/>
                      </a:solidFill>
                      <a:latin typeface="宋体" pitchFamily="2" charset="-122"/>
                      <a:cs typeface="Times New Roman" pitchFamily="18" charset="0"/>
                    </a:rPr>
                    <a:t>8</a:t>
                  </a:r>
                </a:p>
                <a:p>
                  <a:pPr algn="ctr" eaLnBrk="0" hangingPunct="0"/>
                  <a:endParaRPr kumimoji="1" lang="en-US" altLang="zh-CN" sz="2400" b="1">
                    <a:solidFill>
                      <a:schemeClr val="tx2"/>
                    </a:solidFill>
                    <a:latin typeface="Times New Roman" pitchFamily="18" charset="0"/>
                  </a:endParaRPr>
                </a:p>
              </p:txBody>
            </p:sp>
            <p:sp>
              <p:nvSpPr>
                <p:cNvPr id="56386" name="Rectangle 109"/>
                <p:cNvSpPr>
                  <a:spLocks noChangeArrowheads="1"/>
                </p:cNvSpPr>
                <p:nvPr/>
              </p:nvSpPr>
              <p:spPr bwMode="auto">
                <a:xfrm>
                  <a:off x="573"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3" name="Group 110"/>
              <p:cNvGrpSpPr>
                <a:grpSpLocks/>
              </p:cNvGrpSpPr>
              <p:nvPr/>
            </p:nvGrpSpPr>
            <p:grpSpPr bwMode="auto">
              <a:xfrm>
                <a:off x="1146" y="2648"/>
                <a:ext cx="573" cy="403"/>
                <a:chOff x="1146" y="2648"/>
                <a:chExt cx="573" cy="403"/>
              </a:xfrm>
            </p:grpSpPr>
            <p:sp>
              <p:nvSpPr>
                <p:cNvPr id="56383" name="Rectangle 111"/>
                <p:cNvSpPr>
                  <a:spLocks noChangeArrowheads="1"/>
                </p:cNvSpPr>
                <p:nvPr/>
              </p:nvSpPr>
              <p:spPr bwMode="auto">
                <a:xfrm>
                  <a:off x="1189"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latin typeface="宋体" pitchFamily="2" charset="-122"/>
                      <a:cs typeface="Times New Roman" pitchFamily="18" charset="0"/>
                    </a:rPr>
                    <a:t>7</a:t>
                  </a:r>
                </a:p>
                <a:p>
                  <a:pPr algn="ctr" eaLnBrk="0" hangingPunct="0"/>
                  <a:endParaRPr kumimoji="1" lang="en-US" altLang="zh-CN" sz="2400" b="1">
                    <a:solidFill>
                      <a:schemeClr val="tx2"/>
                    </a:solidFill>
                    <a:latin typeface="Times New Roman" pitchFamily="18" charset="0"/>
                  </a:endParaRPr>
                </a:p>
              </p:txBody>
            </p:sp>
            <p:sp>
              <p:nvSpPr>
                <p:cNvPr id="56384" name="Rectangle 112"/>
                <p:cNvSpPr>
                  <a:spLocks noChangeArrowheads="1"/>
                </p:cNvSpPr>
                <p:nvPr/>
              </p:nvSpPr>
              <p:spPr bwMode="auto">
                <a:xfrm>
                  <a:off x="1146"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4" name="Group 113"/>
              <p:cNvGrpSpPr>
                <a:grpSpLocks/>
              </p:cNvGrpSpPr>
              <p:nvPr/>
            </p:nvGrpSpPr>
            <p:grpSpPr bwMode="auto">
              <a:xfrm>
                <a:off x="1719" y="2648"/>
                <a:ext cx="573" cy="403"/>
                <a:chOff x="1719" y="2648"/>
                <a:chExt cx="573" cy="403"/>
              </a:xfrm>
            </p:grpSpPr>
            <p:sp>
              <p:nvSpPr>
                <p:cNvPr id="56381" name="Rectangle 114"/>
                <p:cNvSpPr>
                  <a:spLocks noChangeArrowheads="1"/>
                </p:cNvSpPr>
                <p:nvPr/>
              </p:nvSpPr>
              <p:spPr bwMode="auto">
                <a:xfrm>
                  <a:off x="1762"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5.5</a:t>
                  </a:r>
                </a:p>
                <a:p>
                  <a:pPr algn="ctr" eaLnBrk="0" hangingPunct="0"/>
                  <a:endParaRPr kumimoji="1" lang="en-US" altLang="zh-CN" sz="2400" b="1">
                    <a:solidFill>
                      <a:schemeClr val="tx2"/>
                    </a:solidFill>
                    <a:latin typeface="Times New Roman" pitchFamily="18" charset="0"/>
                  </a:endParaRPr>
                </a:p>
              </p:txBody>
            </p:sp>
            <p:sp>
              <p:nvSpPr>
                <p:cNvPr id="56382" name="Rectangle 115"/>
                <p:cNvSpPr>
                  <a:spLocks noChangeArrowheads="1"/>
                </p:cNvSpPr>
                <p:nvPr/>
              </p:nvSpPr>
              <p:spPr bwMode="auto">
                <a:xfrm>
                  <a:off x="1719"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5" name="Group 116"/>
              <p:cNvGrpSpPr>
                <a:grpSpLocks/>
              </p:cNvGrpSpPr>
              <p:nvPr/>
            </p:nvGrpSpPr>
            <p:grpSpPr bwMode="auto">
              <a:xfrm>
                <a:off x="2292" y="2648"/>
                <a:ext cx="573" cy="403"/>
                <a:chOff x="2292" y="2648"/>
                <a:chExt cx="573" cy="403"/>
              </a:xfrm>
            </p:grpSpPr>
            <p:sp>
              <p:nvSpPr>
                <p:cNvPr id="56379" name="Rectangle 117"/>
                <p:cNvSpPr>
                  <a:spLocks noChangeArrowheads="1"/>
                </p:cNvSpPr>
                <p:nvPr/>
              </p:nvSpPr>
              <p:spPr bwMode="auto">
                <a:xfrm>
                  <a:off x="2335"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2</a:t>
                  </a:r>
                </a:p>
                <a:p>
                  <a:pPr algn="ctr" eaLnBrk="0" hangingPunct="0"/>
                  <a:endParaRPr kumimoji="1" lang="en-US" altLang="zh-CN" sz="2400" b="1">
                    <a:solidFill>
                      <a:schemeClr val="tx2"/>
                    </a:solidFill>
                    <a:latin typeface="Times New Roman" pitchFamily="18" charset="0"/>
                  </a:endParaRPr>
                </a:p>
              </p:txBody>
            </p:sp>
            <p:sp>
              <p:nvSpPr>
                <p:cNvPr id="56380" name="Rectangle 118"/>
                <p:cNvSpPr>
                  <a:spLocks noChangeArrowheads="1"/>
                </p:cNvSpPr>
                <p:nvPr/>
              </p:nvSpPr>
              <p:spPr bwMode="auto">
                <a:xfrm>
                  <a:off x="2292"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6376" name="Group 119"/>
              <p:cNvGrpSpPr>
                <a:grpSpLocks/>
              </p:cNvGrpSpPr>
              <p:nvPr/>
            </p:nvGrpSpPr>
            <p:grpSpPr bwMode="auto">
              <a:xfrm>
                <a:off x="2865" y="2648"/>
                <a:ext cx="573" cy="403"/>
                <a:chOff x="2865" y="2648"/>
                <a:chExt cx="573" cy="403"/>
              </a:xfrm>
            </p:grpSpPr>
            <p:sp>
              <p:nvSpPr>
                <p:cNvPr id="56377" name="Rectangle 120"/>
                <p:cNvSpPr>
                  <a:spLocks noChangeArrowheads="1"/>
                </p:cNvSpPr>
                <p:nvPr/>
              </p:nvSpPr>
              <p:spPr bwMode="auto">
                <a:xfrm>
                  <a:off x="2908" y="264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400" b="1">
                      <a:solidFill>
                        <a:schemeClr val="tx2"/>
                      </a:solidFill>
                      <a:latin typeface="宋体" pitchFamily="2" charset="-122"/>
                      <a:cs typeface="Times New Roman" pitchFamily="18" charset="0"/>
                    </a:rPr>
                    <a:t>0</a:t>
                  </a:r>
                </a:p>
                <a:p>
                  <a:pPr algn="ctr" eaLnBrk="0" hangingPunct="0"/>
                  <a:endParaRPr kumimoji="1" lang="en-US" altLang="zh-CN" sz="2400" b="1">
                    <a:solidFill>
                      <a:schemeClr val="tx2"/>
                    </a:solidFill>
                    <a:latin typeface="Times New Roman" pitchFamily="18" charset="0"/>
                  </a:endParaRPr>
                </a:p>
              </p:txBody>
            </p:sp>
            <p:sp>
              <p:nvSpPr>
                <p:cNvPr id="56378" name="Rectangle 121"/>
                <p:cNvSpPr>
                  <a:spLocks noChangeArrowheads="1"/>
                </p:cNvSpPr>
                <p:nvPr/>
              </p:nvSpPr>
              <p:spPr bwMode="auto">
                <a:xfrm>
                  <a:off x="2865" y="264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56340" name="Rectangle 122"/>
            <p:cNvSpPr>
              <a:spLocks noChangeArrowheads="1"/>
            </p:cNvSpPr>
            <p:nvPr/>
          </p:nvSpPr>
          <p:spPr bwMode="auto">
            <a:xfrm>
              <a:off x="-3" y="630"/>
              <a:ext cx="3444" cy="242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2379" name="Line 123"/>
          <p:cNvSpPr>
            <a:spLocks noChangeShapeType="1"/>
          </p:cNvSpPr>
          <p:nvPr/>
        </p:nvSpPr>
        <p:spPr bwMode="auto">
          <a:xfrm>
            <a:off x="4445000" y="3436939"/>
            <a:ext cx="0" cy="3311525"/>
          </a:xfrm>
          <a:prstGeom prst="line">
            <a:avLst/>
          </a:prstGeom>
          <a:noFill/>
          <a:ln w="28575" cap="sq">
            <a:solidFill>
              <a:srgbClr val="FC3F04"/>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2382" name="Line 126"/>
          <p:cNvSpPr>
            <a:spLocks noChangeShapeType="1"/>
          </p:cNvSpPr>
          <p:nvPr/>
        </p:nvSpPr>
        <p:spPr bwMode="auto">
          <a:xfrm>
            <a:off x="3076576" y="4805363"/>
            <a:ext cx="5472113" cy="0"/>
          </a:xfrm>
          <a:prstGeom prst="line">
            <a:avLst/>
          </a:prstGeom>
          <a:noFill/>
          <a:ln w="28575" cap="sq">
            <a:solidFill>
              <a:srgbClr val="FC3F04"/>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337" name="Rectangle 127"/>
          <p:cNvSpPr>
            <a:spLocks noGrp="1" noChangeArrowheads="1"/>
          </p:cNvSpPr>
          <p:nvPr>
            <p:ph type="title"/>
          </p:nvPr>
        </p:nvSpPr>
        <p:spPr>
          <a:xfrm>
            <a:off x="2063750" y="260350"/>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352384" name="Rectangle 128"/>
          <p:cNvSpPr>
            <a:spLocks noGrp="1" noChangeArrowheads="1"/>
          </p:cNvSpPr>
          <p:nvPr>
            <p:ph type="body" idx="1"/>
          </p:nvPr>
        </p:nvSpPr>
        <p:spPr>
          <a:xfrm>
            <a:off x="1161803" y="1315899"/>
            <a:ext cx="10081120" cy="3886200"/>
          </a:xfrm>
        </p:spPr>
        <p:txBody>
          <a:bodyPr/>
          <a:lstStyle/>
          <a:p>
            <a:pPr eaLnBrk="1" hangingPunct="1">
              <a:buFont typeface="Wingdings" pitchFamily="2" charset="2"/>
              <a:buNone/>
            </a:pPr>
            <a:r>
              <a:rPr kumimoji="1" lang="en-US" altLang="zh-CN" dirty="0">
                <a:solidFill>
                  <a:srgbClr val="3333FF"/>
                </a:solidFill>
              </a:rPr>
              <a:t>2</a:t>
            </a:r>
            <a:r>
              <a:rPr kumimoji="1" lang="zh-CN" altLang="en-US" dirty="0">
                <a:solidFill>
                  <a:srgbClr val="3333FF"/>
                </a:solidFill>
              </a:rPr>
              <a:t>、</a:t>
            </a:r>
            <a:r>
              <a:rPr kumimoji="1" lang="zh-CN" altLang="en-US" dirty="0">
                <a:solidFill>
                  <a:srgbClr val="3333FF"/>
                </a:solidFill>
                <a:ea typeface="黑体" pitchFamily="2" charset="-122"/>
              </a:rPr>
              <a:t>最长距离法</a:t>
            </a:r>
          </a:p>
          <a:p>
            <a:pPr lvl="1" eaLnBrk="1" hangingPunct="1">
              <a:buFont typeface="Wingdings" pitchFamily="2" charset="2"/>
              <a:buNone/>
            </a:pPr>
            <a:r>
              <a:rPr kumimoji="1" lang="zh-CN" altLang="en-US" b="1" dirty="0">
                <a:solidFill>
                  <a:schemeClr val="tx2"/>
                </a:solidFill>
              </a:rPr>
              <a:t>设抽取五个样本，每个样本只有一个变量，它们是</a:t>
            </a:r>
            <a:r>
              <a:rPr kumimoji="1" lang="en-US" altLang="zh-CN" b="1" dirty="0">
                <a:solidFill>
                  <a:schemeClr val="tx2"/>
                </a:solidFill>
              </a:rPr>
              <a:t>1</a:t>
            </a:r>
            <a:r>
              <a:rPr kumimoji="1" lang="zh-CN" altLang="en-US" b="1" dirty="0">
                <a:solidFill>
                  <a:schemeClr val="tx2"/>
                </a:solidFill>
              </a:rPr>
              <a:t>，</a:t>
            </a:r>
            <a:r>
              <a:rPr kumimoji="1" lang="en-US" altLang="zh-CN" b="1" dirty="0">
                <a:solidFill>
                  <a:schemeClr val="tx2"/>
                </a:solidFill>
              </a:rPr>
              <a:t>2</a:t>
            </a:r>
            <a:r>
              <a:rPr kumimoji="1" lang="zh-CN" altLang="en-US" b="1" dirty="0">
                <a:solidFill>
                  <a:schemeClr val="tx2"/>
                </a:solidFill>
              </a:rPr>
              <a:t>，</a:t>
            </a:r>
            <a:r>
              <a:rPr kumimoji="1" lang="en-US" altLang="zh-CN" b="1" dirty="0">
                <a:solidFill>
                  <a:schemeClr val="tx2"/>
                </a:solidFill>
              </a:rPr>
              <a:t>3.5</a:t>
            </a:r>
            <a:r>
              <a:rPr kumimoji="1" lang="zh-CN" altLang="en-US" b="1" dirty="0">
                <a:solidFill>
                  <a:schemeClr val="tx2"/>
                </a:solidFill>
              </a:rPr>
              <a:t>，</a:t>
            </a:r>
            <a:r>
              <a:rPr kumimoji="1" lang="en-US" altLang="zh-CN" b="1" dirty="0">
                <a:solidFill>
                  <a:schemeClr val="tx2"/>
                </a:solidFill>
              </a:rPr>
              <a:t>7</a:t>
            </a:r>
            <a:r>
              <a:rPr kumimoji="1" lang="zh-CN" altLang="en-US" b="1" dirty="0">
                <a:solidFill>
                  <a:schemeClr val="tx2"/>
                </a:solidFill>
              </a:rPr>
              <a:t>，</a:t>
            </a:r>
            <a:r>
              <a:rPr kumimoji="1" lang="en-US" altLang="zh-CN" b="1" dirty="0">
                <a:solidFill>
                  <a:schemeClr val="tx2"/>
                </a:solidFill>
              </a:rPr>
              <a:t>9</a:t>
            </a:r>
            <a:r>
              <a:rPr kumimoji="1" lang="zh-CN" altLang="en-US" b="1" dirty="0">
                <a:solidFill>
                  <a:schemeClr val="tx2"/>
                </a:solidFill>
              </a:rPr>
              <a:t>。用最长距离法对</a:t>
            </a:r>
            <a:r>
              <a:rPr kumimoji="1" lang="en-US" altLang="zh-CN" b="1" dirty="0">
                <a:solidFill>
                  <a:schemeClr val="tx2"/>
                </a:solidFill>
              </a:rPr>
              <a:t>5</a:t>
            </a:r>
            <a:r>
              <a:rPr kumimoji="1" lang="zh-CN" altLang="en-US" b="1" dirty="0">
                <a:solidFill>
                  <a:schemeClr val="tx2"/>
                </a:solidFill>
              </a:rPr>
              <a:t>个样本进行分类</a:t>
            </a:r>
            <a:r>
              <a:rPr kumimoji="1" lang="zh-CN" altLang="en-US" dirty="0">
                <a:solidFill>
                  <a:schemeClr val="tx2"/>
                </a:solidFill>
              </a:rPr>
              <a:t>。</a:t>
            </a:r>
          </a:p>
          <a:p>
            <a:pPr eaLnBrk="1" hangingPunct="1"/>
            <a:r>
              <a:rPr kumimoji="1" lang="zh-CN" altLang="en-US" sz="2800" b="1" dirty="0">
                <a:solidFill>
                  <a:schemeClr val="tx2"/>
                </a:solidFill>
                <a:ea typeface="楷体_GB2312" pitchFamily="49" charset="-122"/>
              </a:rPr>
              <a:t>首先采用绝对距离计算距离矩阵</a:t>
            </a:r>
            <a:r>
              <a:rPr kumimoji="1" lang="zh-CN" altLang="en-US" dirty="0">
                <a:solidFill>
                  <a:schemeClr val="tx2"/>
                </a:solidFill>
              </a:rPr>
              <a:t>：      </a:t>
            </a:r>
            <a:r>
              <a:rPr kumimoji="1" lang="en-US" altLang="zh-CN" dirty="0">
                <a:solidFill>
                  <a:srgbClr val="057939"/>
                </a:solidFill>
              </a:rPr>
              <a:t>D(0)</a:t>
            </a:r>
          </a:p>
        </p:txBody>
      </p:sp>
      <p:sp>
        <p:nvSpPr>
          <p:cNvPr id="2" name="灯片编号占位符 1">
            <a:extLst>
              <a:ext uri="{FF2B5EF4-FFF2-40B4-BE49-F238E27FC236}">
                <a16:creationId xmlns:a16="http://schemas.microsoft.com/office/drawing/2014/main" id="{7F8C599D-ACC1-9A5A-8BE7-4B10A5589B93}"/>
              </a:ext>
            </a:extLst>
          </p:cNvPr>
          <p:cNvSpPr>
            <a:spLocks noGrp="1"/>
          </p:cNvSpPr>
          <p:nvPr>
            <p:ph type="sldNum" sz="quarter" idx="11"/>
          </p:nvPr>
        </p:nvSpPr>
        <p:spPr/>
        <p:txBody>
          <a:bodyPr/>
          <a:lstStyle/>
          <a:p>
            <a:pPr>
              <a:defRPr/>
            </a:pPr>
            <a:fld id="{F13753BC-CAEF-4333-AC48-2805658F6E3F}" type="slidenum">
              <a:rPr lang="en-US" altLang="zh-CN" smtClean="0"/>
              <a:pPr>
                <a:defRPr/>
              </a:pPr>
              <a:t>65</a:t>
            </a:fld>
            <a:endParaRPr lang="en-US" altLang="zh-CN"/>
          </a:p>
        </p:txBody>
      </p:sp>
    </p:spTree>
    <p:extLst>
      <p:ext uri="{BB962C8B-B14F-4D97-AF65-F5344CB8AC3E}">
        <p14:creationId xmlns:p14="http://schemas.microsoft.com/office/powerpoint/2010/main" val="42592181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52384">
                                            <p:txEl>
                                              <p:pRg st="0" end="0"/>
                                            </p:txEl>
                                          </p:spTgt>
                                        </p:tgtEl>
                                        <p:attrNameLst>
                                          <p:attrName>style.visibility</p:attrName>
                                        </p:attrNameLst>
                                      </p:cBhvr>
                                      <p:to>
                                        <p:strVal val="visible"/>
                                      </p:to>
                                    </p:set>
                                    <p:animEffect transition="in" filter="wipe(left)">
                                      <p:cBhvr>
                                        <p:cTn id="7" dur="500"/>
                                        <p:tgtEl>
                                          <p:spTgt spid="3523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2384">
                                            <p:txEl>
                                              <p:pRg st="1" end="1"/>
                                            </p:txEl>
                                          </p:spTgt>
                                        </p:tgtEl>
                                        <p:attrNameLst>
                                          <p:attrName>style.visibility</p:attrName>
                                        </p:attrNameLst>
                                      </p:cBhvr>
                                      <p:to>
                                        <p:strVal val="visible"/>
                                      </p:to>
                                    </p:set>
                                    <p:animEffect transition="in" filter="wipe(left)">
                                      <p:cBhvr>
                                        <p:cTn id="12" dur="500"/>
                                        <p:tgtEl>
                                          <p:spTgt spid="35238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2384">
                                            <p:txEl>
                                              <p:pRg st="2" end="2"/>
                                            </p:txEl>
                                          </p:spTgt>
                                        </p:tgtEl>
                                        <p:attrNameLst>
                                          <p:attrName>style.visibility</p:attrName>
                                        </p:attrNameLst>
                                      </p:cBhvr>
                                      <p:to>
                                        <p:strVal val="visible"/>
                                      </p:to>
                                    </p:set>
                                    <p:animEffect transition="in" filter="wipe(left)">
                                      <p:cBhvr>
                                        <p:cTn id="17" dur="500"/>
                                        <p:tgtEl>
                                          <p:spTgt spid="35238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2268"/>
                                        </p:tgtEl>
                                        <p:attrNameLst>
                                          <p:attrName>style.visibility</p:attrName>
                                        </p:attrNameLst>
                                      </p:cBhvr>
                                      <p:to>
                                        <p:strVal val="visible"/>
                                      </p:to>
                                    </p:set>
                                    <p:animEffect transition="in" filter="blinds(horizontal)">
                                      <p:cBhvr>
                                        <p:cTn id="22" dur="500"/>
                                        <p:tgtEl>
                                          <p:spTgt spid="352268"/>
                                        </p:tgtEl>
                                      </p:cBhvr>
                                    </p:animEffect>
                                  </p:childTnLst>
                                </p:cTn>
                              </p:par>
                              <p:par>
                                <p:cTn id="23" presetID="3" presetClass="entr" presetSubtype="10" fill="hold" nodeType="withEffect">
                                  <p:stCondLst>
                                    <p:cond delay="0"/>
                                  </p:stCondLst>
                                  <p:childTnLst>
                                    <p:set>
                                      <p:cBhvr>
                                        <p:cTn id="24" dur="1" fill="hold">
                                          <p:stCondLst>
                                            <p:cond delay="0"/>
                                          </p:stCondLst>
                                        </p:cTn>
                                        <p:tgtEl>
                                          <p:spTgt spid="352262"/>
                                        </p:tgtEl>
                                        <p:attrNameLst>
                                          <p:attrName>style.visibility</p:attrName>
                                        </p:attrNameLst>
                                      </p:cBhvr>
                                      <p:to>
                                        <p:strVal val="visible"/>
                                      </p:to>
                                    </p:set>
                                    <p:animEffect transition="in" filter="blinds(horizontal)">
                                      <p:cBhvr>
                                        <p:cTn id="25" dur="500"/>
                                        <p:tgtEl>
                                          <p:spTgt spid="352262"/>
                                        </p:tgtEl>
                                      </p:cBhvr>
                                    </p:animEffect>
                                  </p:childTnLst>
                                </p:cTn>
                              </p:par>
                              <p:par>
                                <p:cTn id="26" presetID="3" presetClass="entr" presetSubtype="10" fill="hold" nodeType="withEffect">
                                  <p:stCondLst>
                                    <p:cond delay="0"/>
                                  </p:stCondLst>
                                  <p:childTnLst>
                                    <p:set>
                                      <p:cBhvr>
                                        <p:cTn id="27" dur="1" fill="hold">
                                          <p:stCondLst>
                                            <p:cond delay="0"/>
                                          </p:stCondLst>
                                        </p:cTn>
                                        <p:tgtEl>
                                          <p:spTgt spid="352266"/>
                                        </p:tgtEl>
                                        <p:attrNameLst>
                                          <p:attrName>style.visibility</p:attrName>
                                        </p:attrNameLst>
                                      </p:cBhvr>
                                      <p:to>
                                        <p:strVal val="visible"/>
                                      </p:to>
                                    </p:set>
                                    <p:animEffect transition="in" filter="blinds(horizontal)">
                                      <p:cBhvr>
                                        <p:cTn id="28" dur="500"/>
                                        <p:tgtEl>
                                          <p:spTgt spid="352266"/>
                                        </p:tgtEl>
                                      </p:cBhvr>
                                    </p:animEffect>
                                  </p:childTnLst>
                                </p:cTn>
                              </p:par>
                              <p:par>
                                <p:cTn id="29" presetID="3" presetClass="entr" presetSubtype="10" fill="hold" nodeType="withEffect">
                                  <p:stCondLst>
                                    <p:cond delay="0"/>
                                  </p:stCondLst>
                                  <p:childTnLst>
                                    <p:set>
                                      <p:cBhvr>
                                        <p:cTn id="30" dur="1" fill="hold">
                                          <p:stCondLst>
                                            <p:cond delay="0"/>
                                          </p:stCondLst>
                                        </p:cTn>
                                        <p:tgtEl>
                                          <p:spTgt spid="352260"/>
                                        </p:tgtEl>
                                        <p:attrNameLst>
                                          <p:attrName>style.visibility</p:attrName>
                                        </p:attrNameLst>
                                      </p:cBhvr>
                                      <p:to>
                                        <p:strVal val="visible"/>
                                      </p:to>
                                    </p:set>
                                    <p:animEffect transition="in" filter="blinds(horizontal)">
                                      <p:cBhvr>
                                        <p:cTn id="31" dur="500"/>
                                        <p:tgtEl>
                                          <p:spTgt spid="352260"/>
                                        </p:tgtEl>
                                      </p:cBhvr>
                                    </p:animEffect>
                                  </p:childTnLst>
                                </p:cTn>
                              </p:par>
                              <p:par>
                                <p:cTn id="32" presetID="3" presetClass="entr" presetSubtype="10" fill="hold" nodeType="withEffect">
                                  <p:stCondLst>
                                    <p:cond delay="0"/>
                                  </p:stCondLst>
                                  <p:childTnLst>
                                    <p:set>
                                      <p:cBhvr>
                                        <p:cTn id="33" dur="1" fill="hold">
                                          <p:stCondLst>
                                            <p:cond delay="0"/>
                                          </p:stCondLst>
                                        </p:cTn>
                                        <p:tgtEl>
                                          <p:spTgt spid="352259"/>
                                        </p:tgtEl>
                                        <p:attrNameLst>
                                          <p:attrName>style.visibility</p:attrName>
                                        </p:attrNameLst>
                                      </p:cBhvr>
                                      <p:to>
                                        <p:strVal val="visible"/>
                                      </p:to>
                                    </p:set>
                                    <p:animEffect transition="in" filter="blinds(horizontal)">
                                      <p:cBhvr>
                                        <p:cTn id="34" dur="500"/>
                                        <p:tgtEl>
                                          <p:spTgt spid="352259"/>
                                        </p:tgtEl>
                                      </p:cBhvr>
                                    </p:animEffect>
                                  </p:childTnLst>
                                </p:cTn>
                              </p:par>
                              <p:par>
                                <p:cTn id="35" presetID="3" presetClass="entr" presetSubtype="10" fill="hold" nodeType="withEffect">
                                  <p:stCondLst>
                                    <p:cond delay="0"/>
                                  </p:stCondLst>
                                  <p:childTnLst>
                                    <p:set>
                                      <p:cBhvr>
                                        <p:cTn id="36" dur="1" fill="hold">
                                          <p:stCondLst>
                                            <p:cond delay="0"/>
                                          </p:stCondLst>
                                        </p:cTn>
                                        <p:tgtEl>
                                          <p:spTgt spid="352263"/>
                                        </p:tgtEl>
                                        <p:attrNameLst>
                                          <p:attrName>style.visibility</p:attrName>
                                        </p:attrNameLst>
                                      </p:cBhvr>
                                      <p:to>
                                        <p:strVal val="visible"/>
                                      </p:to>
                                    </p:set>
                                    <p:animEffect transition="in" filter="blinds(horizontal)">
                                      <p:cBhvr>
                                        <p:cTn id="37" dur="500"/>
                                        <p:tgtEl>
                                          <p:spTgt spid="352263"/>
                                        </p:tgtEl>
                                      </p:cBhvr>
                                    </p:animEffect>
                                  </p:childTnLst>
                                </p:cTn>
                              </p:par>
                              <p:par>
                                <p:cTn id="38" presetID="3" presetClass="entr" presetSubtype="10" fill="hold" nodeType="withEffect">
                                  <p:stCondLst>
                                    <p:cond delay="0"/>
                                  </p:stCondLst>
                                  <p:childTnLst>
                                    <p:set>
                                      <p:cBhvr>
                                        <p:cTn id="39" dur="1" fill="hold">
                                          <p:stCondLst>
                                            <p:cond delay="0"/>
                                          </p:stCondLst>
                                        </p:cTn>
                                        <p:tgtEl>
                                          <p:spTgt spid="352258"/>
                                        </p:tgtEl>
                                        <p:attrNameLst>
                                          <p:attrName>style.visibility</p:attrName>
                                        </p:attrNameLst>
                                      </p:cBhvr>
                                      <p:to>
                                        <p:strVal val="visible"/>
                                      </p:to>
                                    </p:set>
                                    <p:animEffect transition="in" filter="blinds(horizontal)">
                                      <p:cBhvr>
                                        <p:cTn id="40" dur="500"/>
                                        <p:tgtEl>
                                          <p:spTgt spid="352258"/>
                                        </p:tgtEl>
                                      </p:cBhvr>
                                    </p:animEffect>
                                  </p:childTnLst>
                                </p:cTn>
                              </p:par>
                              <p:par>
                                <p:cTn id="41" presetID="3" presetClass="entr" presetSubtype="10" fill="hold" nodeType="withEffect">
                                  <p:stCondLst>
                                    <p:cond delay="0"/>
                                  </p:stCondLst>
                                  <p:childTnLst>
                                    <p:set>
                                      <p:cBhvr>
                                        <p:cTn id="42" dur="1" fill="hold">
                                          <p:stCondLst>
                                            <p:cond delay="0"/>
                                          </p:stCondLst>
                                        </p:cTn>
                                        <p:tgtEl>
                                          <p:spTgt spid="352264"/>
                                        </p:tgtEl>
                                        <p:attrNameLst>
                                          <p:attrName>style.visibility</p:attrName>
                                        </p:attrNameLst>
                                      </p:cBhvr>
                                      <p:to>
                                        <p:strVal val="visible"/>
                                      </p:to>
                                    </p:set>
                                    <p:animEffect transition="in" filter="blinds(horizontal)">
                                      <p:cBhvr>
                                        <p:cTn id="43" dur="500"/>
                                        <p:tgtEl>
                                          <p:spTgt spid="352264"/>
                                        </p:tgtEl>
                                      </p:cBhvr>
                                    </p:animEffect>
                                  </p:childTnLst>
                                </p:cTn>
                              </p:par>
                              <p:par>
                                <p:cTn id="44" presetID="3" presetClass="entr" presetSubtype="10" fill="hold" nodeType="withEffect">
                                  <p:stCondLst>
                                    <p:cond delay="0"/>
                                  </p:stCondLst>
                                  <p:childTnLst>
                                    <p:set>
                                      <p:cBhvr>
                                        <p:cTn id="45" dur="1" fill="hold">
                                          <p:stCondLst>
                                            <p:cond delay="0"/>
                                          </p:stCondLst>
                                        </p:cTn>
                                        <p:tgtEl>
                                          <p:spTgt spid="352265"/>
                                        </p:tgtEl>
                                        <p:attrNameLst>
                                          <p:attrName>style.visibility</p:attrName>
                                        </p:attrNameLst>
                                      </p:cBhvr>
                                      <p:to>
                                        <p:strVal val="visible"/>
                                      </p:to>
                                    </p:set>
                                    <p:animEffect transition="in" filter="blinds(horizontal)">
                                      <p:cBhvr>
                                        <p:cTn id="46" dur="500"/>
                                        <p:tgtEl>
                                          <p:spTgt spid="352265"/>
                                        </p:tgtEl>
                                      </p:cBhvr>
                                    </p:animEffect>
                                  </p:childTnLst>
                                </p:cTn>
                              </p:par>
                              <p:par>
                                <p:cTn id="47" presetID="3" presetClass="entr" presetSubtype="10" fill="hold" nodeType="withEffect">
                                  <p:stCondLst>
                                    <p:cond delay="0"/>
                                  </p:stCondLst>
                                  <p:childTnLst>
                                    <p:set>
                                      <p:cBhvr>
                                        <p:cTn id="48" dur="1" fill="hold">
                                          <p:stCondLst>
                                            <p:cond delay="0"/>
                                          </p:stCondLst>
                                        </p:cTn>
                                        <p:tgtEl>
                                          <p:spTgt spid="352261"/>
                                        </p:tgtEl>
                                        <p:attrNameLst>
                                          <p:attrName>style.visibility</p:attrName>
                                        </p:attrNameLst>
                                      </p:cBhvr>
                                      <p:to>
                                        <p:strVal val="visible"/>
                                      </p:to>
                                    </p:set>
                                    <p:animEffect transition="in" filter="blinds(horizontal)">
                                      <p:cBhvr>
                                        <p:cTn id="49" dur="500"/>
                                        <p:tgtEl>
                                          <p:spTgt spid="352261"/>
                                        </p:tgtEl>
                                      </p:cBhvr>
                                    </p:animEffect>
                                  </p:childTnLst>
                                </p:cTn>
                              </p:par>
                              <p:par>
                                <p:cTn id="50" presetID="3" presetClass="entr" presetSubtype="10" fill="hold" nodeType="withEffect">
                                  <p:stCondLst>
                                    <p:cond delay="0"/>
                                  </p:stCondLst>
                                  <p:childTnLst>
                                    <p:set>
                                      <p:cBhvr>
                                        <p:cTn id="51" dur="1" fill="hold">
                                          <p:stCondLst>
                                            <p:cond delay="0"/>
                                          </p:stCondLst>
                                        </p:cTn>
                                        <p:tgtEl>
                                          <p:spTgt spid="352267"/>
                                        </p:tgtEl>
                                        <p:attrNameLst>
                                          <p:attrName>style.visibility</p:attrName>
                                        </p:attrNameLst>
                                      </p:cBhvr>
                                      <p:to>
                                        <p:strVal val="visible"/>
                                      </p:to>
                                    </p:set>
                                    <p:animEffect transition="in" filter="blinds(horizontal)">
                                      <p:cBhvr>
                                        <p:cTn id="52" dur="500"/>
                                        <p:tgtEl>
                                          <p:spTgt spid="35226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52382"/>
                                        </p:tgtEl>
                                        <p:attrNameLst>
                                          <p:attrName>style.visibility</p:attrName>
                                        </p:attrNameLst>
                                      </p:cBhvr>
                                      <p:to>
                                        <p:strVal val="visible"/>
                                      </p:to>
                                    </p:set>
                                    <p:animEffect transition="in" filter="blinds(horizontal)">
                                      <p:cBhvr>
                                        <p:cTn id="57" dur="500"/>
                                        <p:tgtEl>
                                          <p:spTgt spid="3523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2379"/>
                                        </p:tgtEl>
                                        <p:attrNameLst>
                                          <p:attrName>style.visibility</p:attrName>
                                        </p:attrNameLst>
                                      </p:cBhvr>
                                      <p:to>
                                        <p:strVal val="visible"/>
                                      </p:to>
                                    </p:set>
                                    <p:animEffect transition="in" filter="blinds(horizontal)">
                                      <p:cBhvr>
                                        <p:cTn id="62" dur="500"/>
                                        <p:tgtEl>
                                          <p:spTgt spid="352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9" grpId="0" animBg="1"/>
      <p:bldP spid="35238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37" name="Rectangle 3"/>
          <p:cNvSpPr>
            <a:spLocks noChangeArrowheads="1"/>
          </p:cNvSpPr>
          <p:nvPr/>
        </p:nvSpPr>
        <p:spPr bwMode="auto">
          <a:xfrm>
            <a:off x="1919289" y="2349501"/>
            <a:ext cx="70564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a:t>
            </a:r>
            <a:r>
              <a:rPr kumimoji="1" lang="zh-CN" altLang="en-US" sz="2800" b="1" dirty="0">
                <a:solidFill>
                  <a:schemeClr val="tx2"/>
                </a:solidFill>
                <a:latin typeface="楷体_GB2312" pitchFamily="49" charset="-122"/>
                <a:ea typeface="楷体_GB2312" pitchFamily="49" charset="-122"/>
              </a:rPr>
              <a:t> 和 </a:t>
            </a:r>
            <a:r>
              <a:rPr kumimoji="1" lang="en-US" altLang="zh-CN" sz="2800" b="1" i="1" dirty="0">
                <a:solidFill>
                  <a:schemeClr val="tx2"/>
                </a:solidFill>
                <a:ea typeface="楷体_GB2312" pitchFamily="49" charset="-122"/>
              </a:rPr>
              <a:t>G</a:t>
            </a:r>
            <a:r>
              <a:rPr kumimoji="1" lang="en-US" altLang="zh-CN" sz="2800" b="1" i="1" baseline="-25000" dirty="0">
                <a:solidFill>
                  <a:schemeClr val="tx2"/>
                </a:solidFill>
                <a:ea typeface="楷体_GB2312" pitchFamily="49" charset="-122"/>
              </a:rPr>
              <a:t>2</a:t>
            </a:r>
            <a:r>
              <a:rPr kumimoji="1" lang="zh-CN" altLang="en-US" sz="2800" b="1" dirty="0">
                <a:solidFill>
                  <a:schemeClr val="tx2"/>
                </a:solidFill>
                <a:latin typeface="楷体_GB2312" pitchFamily="49" charset="-122"/>
                <a:ea typeface="楷体_GB2312" pitchFamily="49" charset="-122"/>
              </a:rPr>
              <a:t>  被聚为新类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12</a:t>
            </a:r>
            <a:r>
              <a:rPr kumimoji="1" lang="zh-CN" altLang="en-US" sz="2800" b="1" dirty="0">
                <a:solidFill>
                  <a:schemeClr val="tx2"/>
                </a:solidFill>
                <a:latin typeface="楷体_GB2312" pitchFamily="49" charset="-122"/>
                <a:ea typeface="楷体_GB2312" pitchFamily="49" charset="-122"/>
              </a:rPr>
              <a:t> ，得</a:t>
            </a:r>
            <a:r>
              <a:rPr kumimoji="1" lang="en-US" altLang="zh-CN" sz="2800" b="1" dirty="0">
                <a:solidFill>
                  <a:srgbClr val="057939"/>
                </a:solidFill>
                <a:ea typeface="楷体_GB2312" pitchFamily="49" charset="-122"/>
              </a:rPr>
              <a:t>D(1)</a:t>
            </a:r>
            <a:r>
              <a:rPr kumimoji="1" lang="zh-CN" altLang="en-US" sz="2800" b="1" dirty="0">
                <a:solidFill>
                  <a:schemeClr val="tx2"/>
                </a:solidFill>
                <a:latin typeface="楷体_GB2312" pitchFamily="49" charset="-122"/>
                <a:ea typeface="楷体_GB2312" pitchFamily="49" charset="-122"/>
              </a:rPr>
              <a:t>： </a:t>
            </a:r>
          </a:p>
        </p:txBody>
      </p:sp>
      <p:graphicFrame>
        <p:nvGraphicFramePr>
          <p:cNvPr id="354311" name="Object 7"/>
          <p:cNvGraphicFramePr>
            <a:graphicFrameLocks noChangeAspect="1"/>
          </p:cNvGraphicFramePr>
          <p:nvPr>
            <p:extLst>
              <p:ext uri="{D42A27DB-BD31-4B8C-83A1-F6EECF244321}">
                <p14:modId xmlns:p14="http://schemas.microsoft.com/office/powerpoint/2010/main" val="136798344"/>
              </p:ext>
            </p:extLst>
          </p:nvPr>
        </p:nvGraphicFramePr>
        <p:xfrm>
          <a:off x="4196485" y="3142440"/>
          <a:ext cx="503153" cy="513083"/>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
                      <p:cNvPicPr>
                        <a:picLocks noChangeAspect="1" noChangeArrowheads="1"/>
                      </p:cNvPicPr>
                      <p:nvPr/>
                    </p:nvPicPr>
                    <p:blipFill>
                      <a:blip r:embed="rId3"/>
                      <a:srcRect/>
                      <a:stretch>
                        <a:fillRect/>
                      </a:stretch>
                    </p:blipFill>
                    <p:spPr bwMode="auto">
                      <a:xfrm>
                        <a:off x="4196485" y="3142440"/>
                        <a:ext cx="503153" cy="513083"/>
                      </a:xfrm>
                      <a:prstGeom prst="rect">
                        <a:avLst/>
                      </a:prstGeom>
                      <a:noFill/>
                      <a:ln>
                        <a:noFill/>
                      </a:ln>
                    </p:spPr>
                  </p:pic>
                </p:oleObj>
              </mc:Fallback>
            </mc:AlternateContent>
          </a:graphicData>
        </a:graphic>
      </p:graphicFrame>
      <p:graphicFrame>
        <p:nvGraphicFramePr>
          <p:cNvPr id="354312" name="Object 8"/>
          <p:cNvGraphicFramePr>
            <a:graphicFrameLocks noChangeAspect="1"/>
          </p:cNvGraphicFramePr>
          <p:nvPr/>
        </p:nvGraphicFramePr>
        <p:xfrm>
          <a:off x="2517775" y="4606925"/>
          <a:ext cx="355600" cy="431800"/>
        </p:xfrm>
        <a:graphic>
          <a:graphicData uri="http://schemas.openxmlformats.org/presentationml/2006/ole">
            <mc:AlternateContent xmlns:mc="http://schemas.openxmlformats.org/markup-compatibility/2006">
              <mc:Choice xmlns:v="urn:schemas-microsoft-com:vml" Requires="v">
                <p:oleObj name="公式" r:id="rId4" imgW="323889" imgH="400140" progId="Equation.3">
                  <p:embed/>
                </p:oleObj>
              </mc:Choice>
              <mc:Fallback>
                <p:oleObj name="公式" r:id="rId4" imgW="323889" imgH="4001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7775" y="4606925"/>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13" name="Object 9"/>
          <p:cNvGraphicFramePr>
            <a:graphicFrameLocks noChangeAspect="1"/>
          </p:cNvGraphicFramePr>
          <p:nvPr/>
        </p:nvGraphicFramePr>
        <p:xfrm>
          <a:off x="9375775" y="3200400"/>
          <a:ext cx="350838" cy="431800"/>
        </p:xfrm>
        <a:graphic>
          <a:graphicData uri="http://schemas.openxmlformats.org/presentationml/2006/ole">
            <mc:AlternateContent xmlns:mc="http://schemas.openxmlformats.org/markup-compatibility/2006">
              <mc:Choice xmlns:v="urn:schemas-microsoft-com:vml" Requires="v">
                <p:oleObj name="公式" r:id="rId6" imgW="323889" imgH="400140" progId="Equation.3">
                  <p:embed/>
                </p:oleObj>
              </mc:Choice>
              <mc:Fallback>
                <p:oleObj name="公式" r:id="rId6" imgW="323889" imgH="4001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75775" y="3200400"/>
                        <a:ext cx="3508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14" name="Object 10"/>
          <p:cNvGraphicFramePr>
            <a:graphicFrameLocks noChangeAspect="1"/>
          </p:cNvGraphicFramePr>
          <p:nvPr/>
        </p:nvGraphicFramePr>
        <p:xfrm>
          <a:off x="5946775" y="3200400"/>
          <a:ext cx="355600" cy="431800"/>
        </p:xfrm>
        <a:graphic>
          <a:graphicData uri="http://schemas.openxmlformats.org/presentationml/2006/ole">
            <mc:AlternateContent xmlns:mc="http://schemas.openxmlformats.org/markup-compatibility/2006">
              <mc:Choice xmlns:v="urn:schemas-microsoft-com:vml" Requires="v">
                <p:oleObj name="公式" r:id="rId8" imgW="323889" imgH="400140" progId="Equation.3">
                  <p:embed/>
                </p:oleObj>
              </mc:Choice>
              <mc:Fallback>
                <p:oleObj name="公式" r:id="rId8" imgW="323889" imgH="4001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6775" y="3200400"/>
                        <a:ext cx="35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15" name="Object 11"/>
          <p:cNvGraphicFramePr>
            <a:graphicFrameLocks noChangeAspect="1"/>
          </p:cNvGraphicFramePr>
          <p:nvPr/>
        </p:nvGraphicFramePr>
        <p:xfrm>
          <a:off x="7699375" y="3200400"/>
          <a:ext cx="361950" cy="425450"/>
        </p:xfrm>
        <a:graphic>
          <a:graphicData uri="http://schemas.openxmlformats.org/presentationml/2006/ole">
            <mc:AlternateContent xmlns:mc="http://schemas.openxmlformats.org/markup-compatibility/2006">
              <mc:Choice xmlns:v="urn:schemas-microsoft-com:vml" Requires="v">
                <p:oleObj name="公式" r:id="rId10" imgW="342799" imgH="390420" progId="Equation.3">
                  <p:embed/>
                </p:oleObj>
              </mc:Choice>
              <mc:Fallback>
                <p:oleObj name="公式" r:id="rId10" imgW="342799" imgH="3904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99375" y="3200400"/>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54316" name="Group 12"/>
          <p:cNvGrpSpPr>
            <a:grpSpLocks/>
          </p:cNvGrpSpPr>
          <p:nvPr/>
        </p:nvGrpSpPr>
        <p:grpSpPr bwMode="auto">
          <a:xfrm>
            <a:off x="1919288" y="3068639"/>
            <a:ext cx="8458200" cy="3208337"/>
            <a:chOff x="-3" y="-3"/>
            <a:chExt cx="2871" cy="2021"/>
          </a:xfrm>
        </p:grpSpPr>
        <p:grpSp>
          <p:nvGrpSpPr>
            <p:cNvPr id="57360" name="Group 13"/>
            <p:cNvGrpSpPr>
              <a:grpSpLocks/>
            </p:cNvGrpSpPr>
            <p:nvPr/>
          </p:nvGrpSpPr>
          <p:grpSpPr bwMode="auto">
            <a:xfrm>
              <a:off x="0" y="0"/>
              <a:ext cx="2865" cy="2015"/>
              <a:chOff x="0" y="0"/>
              <a:chExt cx="2865" cy="2015"/>
            </a:xfrm>
          </p:grpSpPr>
          <p:grpSp>
            <p:nvGrpSpPr>
              <p:cNvPr id="57362" name="Group 14"/>
              <p:cNvGrpSpPr>
                <a:grpSpLocks/>
              </p:cNvGrpSpPr>
              <p:nvPr/>
            </p:nvGrpSpPr>
            <p:grpSpPr bwMode="auto">
              <a:xfrm>
                <a:off x="0" y="0"/>
                <a:ext cx="573" cy="403"/>
                <a:chOff x="0" y="0"/>
                <a:chExt cx="573" cy="403"/>
              </a:xfrm>
            </p:grpSpPr>
            <p:sp>
              <p:nvSpPr>
                <p:cNvPr id="57435" name="Rectangle 15"/>
                <p:cNvSpPr>
                  <a:spLocks noChangeArrowheads="1"/>
                </p:cNvSpPr>
                <p:nvPr/>
              </p:nvSpPr>
              <p:spPr bwMode="auto">
                <a:xfrm>
                  <a:off x="43"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just" eaLnBrk="0" hangingPunct="0"/>
                  <a:endParaRPr kumimoji="1" lang="en-US" altLang="zh-CN" sz="2800">
                    <a:solidFill>
                      <a:schemeClr val="tx2"/>
                    </a:solidFill>
                    <a:latin typeface="Times New Roman" pitchFamily="18" charset="0"/>
                  </a:endParaRPr>
                </a:p>
              </p:txBody>
            </p:sp>
            <p:sp>
              <p:nvSpPr>
                <p:cNvPr id="57436" name="Rectangle 16"/>
                <p:cNvSpPr>
                  <a:spLocks noChangeArrowheads="1"/>
                </p:cNvSpPr>
                <p:nvPr/>
              </p:nvSpPr>
              <p:spPr bwMode="auto">
                <a:xfrm>
                  <a:off x="0"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3" name="Group 17"/>
              <p:cNvGrpSpPr>
                <a:grpSpLocks/>
              </p:cNvGrpSpPr>
              <p:nvPr/>
            </p:nvGrpSpPr>
            <p:grpSpPr bwMode="auto">
              <a:xfrm>
                <a:off x="573" y="0"/>
                <a:ext cx="573" cy="403"/>
                <a:chOff x="573" y="0"/>
                <a:chExt cx="573" cy="403"/>
              </a:xfrm>
            </p:grpSpPr>
            <p:sp>
              <p:nvSpPr>
                <p:cNvPr id="57433" name="Rectangle 18"/>
                <p:cNvSpPr>
                  <a:spLocks noChangeArrowheads="1"/>
                </p:cNvSpPr>
                <p:nvPr/>
              </p:nvSpPr>
              <p:spPr bwMode="auto">
                <a:xfrm>
                  <a:off x="616"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tabLst>
                      <a:tab pos="457200" algn="l"/>
                    </a:tabLst>
                  </a:pPr>
                  <a:r>
                    <a:rPr kumimoji="1" lang="en-US" altLang="zh-CN" sz="2800" dirty="0">
                      <a:solidFill>
                        <a:schemeClr val="tx2"/>
                      </a:solidFill>
                      <a:latin typeface="宋体" pitchFamily="2" charset="-122"/>
                      <a:cs typeface="Times New Roman" pitchFamily="18" charset="0"/>
                    </a:rPr>
                    <a:t>	</a:t>
                  </a:r>
                  <a:endParaRPr kumimoji="1" lang="en-US" altLang="zh-CN" sz="2800" dirty="0">
                    <a:solidFill>
                      <a:schemeClr val="tx2"/>
                    </a:solidFill>
                    <a:latin typeface="Times New Roman" pitchFamily="18" charset="0"/>
                  </a:endParaRPr>
                </a:p>
              </p:txBody>
            </p:sp>
            <p:sp>
              <p:nvSpPr>
                <p:cNvPr id="57434" name="Rectangle 19"/>
                <p:cNvSpPr>
                  <a:spLocks noChangeArrowheads="1"/>
                </p:cNvSpPr>
                <p:nvPr/>
              </p:nvSpPr>
              <p:spPr bwMode="auto">
                <a:xfrm>
                  <a:off x="573"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4" name="Group 20"/>
              <p:cNvGrpSpPr>
                <a:grpSpLocks/>
              </p:cNvGrpSpPr>
              <p:nvPr/>
            </p:nvGrpSpPr>
            <p:grpSpPr bwMode="auto">
              <a:xfrm>
                <a:off x="1146" y="0"/>
                <a:ext cx="573" cy="403"/>
                <a:chOff x="1146" y="0"/>
                <a:chExt cx="573" cy="403"/>
              </a:xfrm>
            </p:grpSpPr>
            <p:sp>
              <p:nvSpPr>
                <p:cNvPr id="57431" name="Rectangle 21"/>
                <p:cNvSpPr>
                  <a:spLocks noChangeArrowheads="1" noTextEdit="1"/>
                </p:cNvSpPr>
                <p:nvPr/>
              </p:nvSpPr>
              <p:spPr bwMode="auto">
                <a:xfrm>
                  <a:off x="1189"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32" name="Rectangle 22"/>
                <p:cNvSpPr>
                  <a:spLocks noChangeArrowheads="1"/>
                </p:cNvSpPr>
                <p:nvPr/>
              </p:nvSpPr>
              <p:spPr bwMode="auto">
                <a:xfrm>
                  <a:off x="1146"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5" name="Group 23"/>
              <p:cNvGrpSpPr>
                <a:grpSpLocks/>
              </p:cNvGrpSpPr>
              <p:nvPr/>
            </p:nvGrpSpPr>
            <p:grpSpPr bwMode="auto">
              <a:xfrm>
                <a:off x="1719" y="0"/>
                <a:ext cx="573" cy="403"/>
                <a:chOff x="1719" y="0"/>
                <a:chExt cx="573" cy="403"/>
              </a:xfrm>
            </p:grpSpPr>
            <p:sp>
              <p:nvSpPr>
                <p:cNvPr id="57429" name="Rectangle 24"/>
                <p:cNvSpPr>
                  <a:spLocks noChangeArrowheads="1" noTextEdit="1"/>
                </p:cNvSpPr>
                <p:nvPr/>
              </p:nvSpPr>
              <p:spPr bwMode="auto">
                <a:xfrm>
                  <a:off x="1762"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30" name="Rectangle 25"/>
                <p:cNvSpPr>
                  <a:spLocks noChangeArrowheads="1"/>
                </p:cNvSpPr>
                <p:nvPr/>
              </p:nvSpPr>
              <p:spPr bwMode="auto">
                <a:xfrm>
                  <a:off x="1719"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6" name="Group 26"/>
              <p:cNvGrpSpPr>
                <a:grpSpLocks/>
              </p:cNvGrpSpPr>
              <p:nvPr/>
            </p:nvGrpSpPr>
            <p:grpSpPr bwMode="auto">
              <a:xfrm>
                <a:off x="2292" y="0"/>
                <a:ext cx="573" cy="403"/>
                <a:chOff x="2292" y="0"/>
                <a:chExt cx="573" cy="403"/>
              </a:xfrm>
            </p:grpSpPr>
            <p:sp>
              <p:nvSpPr>
                <p:cNvPr id="57427" name="Rectangle 27"/>
                <p:cNvSpPr>
                  <a:spLocks noChangeArrowheads="1" noTextEdit="1"/>
                </p:cNvSpPr>
                <p:nvPr/>
              </p:nvSpPr>
              <p:spPr bwMode="auto">
                <a:xfrm>
                  <a:off x="2335"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28" name="Rectangle 28"/>
                <p:cNvSpPr>
                  <a:spLocks noChangeArrowheads="1"/>
                </p:cNvSpPr>
                <p:nvPr/>
              </p:nvSpPr>
              <p:spPr bwMode="auto">
                <a:xfrm>
                  <a:off x="2292"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7" name="Group 29"/>
              <p:cNvGrpSpPr>
                <a:grpSpLocks/>
              </p:cNvGrpSpPr>
              <p:nvPr/>
            </p:nvGrpSpPr>
            <p:grpSpPr bwMode="auto">
              <a:xfrm>
                <a:off x="0" y="403"/>
                <a:ext cx="573" cy="403"/>
                <a:chOff x="0" y="403"/>
                <a:chExt cx="573" cy="403"/>
              </a:xfrm>
            </p:grpSpPr>
            <p:sp>
              <p:nvSpPr>
                <p:cNvPr id="57425" name="Rectangle 30"/>
                <p:cNvSpPr>
                  <a:spLocks noChangeArrowheads="1" noTextEdit="1"/>
                </p:cNvSpPr>
                <p:nvPr/>
              </p:nvSpPr>
              <p:spPr bwMode="auto">
                <a:xfrm>
                  <a:off x="43"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26" name="Rectangle 31"/>
                <p:cNvSpPr>
                  <a:spLocks noChangeArrowheads="1"/>
                </p:cNvSpPr>
                <p:nvPr/>
              </p:nvSpPr>
              <p:spPr bwMode="auto">
                <a:xfrm>
                  <a:off x="0"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8" name="Group 32"/>
              <p:cNvGrpSpPr>
                <a:grpSpLocks/>
              </p:cNvGrpSpPr>
              <p:nvPr/>
            </p:nvGrpSpPr>
            <p:grpSpPr bwMode="auto">
              <a:xfrm>
                <a:off x="573" y="403"/>
                <a:ext cx="573" cy="403"/>
                <a:chOff x="573" y="403"/>
                <a:chExt cx="573" cy="403"/>
              </a:xfrm>
            </p:grpSpPr>
            <p:sp>
              <p:nvSpPr>
                <p:cNvPr id="57423" name="Rectangle 33"/>
                <p:cNvSpPr>
                  <a:spLocks noChangeArrowheads="1"/>
                </p:cNvSpPr>
                <p:nvPr/>
              </p:nvSpPr>
              <p:spPr bwMode="auto">
                <a:xfrm>
                  <a:off x="616"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7424" name="Rectangle 34"/>
                <p:cNvSpPr>
                  <a:spLocks noChangeArrowheads="1"/>
                </p:cNvSpPr>
                <p:nvPr/>
              </p:nvSpPr>
              <p:spPr bwMode="auto">
                <a:xfrm>
                  <a:off x="573"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69" name="Group 35"/>
              <p:cNvGrpSpPr>
                <a:grpSpLocks/>
              </p:cNvGrpSpPr>
              <p:nvPr/>
            </p:nvGrpSpPr>
            <p:grpSpPr bwMode="auto">
              <a:xfrm>
                <a:off x="1146" y="403"/>
                <a:ext cx="573" cy="403"/>
                <a:chOff x="1146" y="403"/>
                <a:chExt cx="573" cy="403"/>
              </a:xfrm>
            </p:grpSpPr>
            <p:sp>
              <p:nvSpPr>
                <p:cNvPr id="57421" name="Rectangle 36"/>
                <p:cNvSpPr>
                  <a:spLocks noChangeArrowheads="1"/>
                </p:cNvSpPr>
                <p:nvPr/>
              </p:nvSpPr>
              <p:spPr bwMode="auto">
                <a:xfrm>
                  <a:off x="1189"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422" name="Rectangle 37"/>
                <p:cNvSpPr>
                  <a:spLocks noChangeArrowheads="1"/>
                </p:cNvSpPr>
                <p:nvPr/>
              </p:nvSpPr>
              <p:spPr bwMode="auto">
                <a:xfrm>
                  <a:off x="1146"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0" name="Group 38"/>
              <p:cNvGrpSpPr>
                <a:grpSpLocks/>
              </p:cNvGrpSpPr>
              <p:nvPr/>
            </p:nvGrpSpPr>
            <p:grpSpPr bwMode="auto">
              <a:xfrm>
                <a:off x="1719" y="403"/>
                <a:ext cx="573" cy="403"/>
                <a:chOff x="1719" y="403"/>
                <a:chExt cx="573" cy="403"/>
              </a:xfrm>
            </p:grpSpPr>
            <p:sp>
              <p:nvSpPr>
                <p:cNvPr id="57419" name="Rectangle 39"/>
                <p:cNvSpPr>
                  <a:spLocks noChangeArrowheads="1"/>
                </p:cNvSpPr>
                <p:nvPr/>
              </p:nvSpPr>
              <p:spPr bwMode="auto">
                <a:xfrm>
                  <a:off x="1762"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420" name="Rectangle 40"/>
                <p:cNvSpPr>
                  <a:spLocks noChangeArrowheads="1"/>
                </p:cNvSpPr>
                <p:nvPr/>
              </p:nvSpPr>
              <p:spPr bwMode="auto">
                <a:xfrm>
                  <a:off x="1719"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1" name="Group 41"/>
              <p:cNvGrpSpPr>
                <a:grpSpLocks/>
              </p:cNvGrpSpPr>
              <p:nvPr/>
            </p:nvGrpSpPr>
            <p:grpSpPr bwMode="auto">
              <a:xfrm>
                <a:off x="2292" y="403"/>
                <a:ext cx="573" cy="403"/>
                <a:chOff x="2292" y="403"/>
                <a:chExt cx="573" cy="403"/>
              </a:xfrm>
            </p:grpSpPr>
            <p:sp>
              <p:nvSpPr>
                <p:cNvPr id="57417" name="Rectangle 42"/>
                <p:cNvSpPr>
                  <a:spLocks noChangeArrowheads="1"/>
                </p:cNvSpPr>
                <p:nvPr/>
              </p:nvSpPr>
              <p:spPr bwMode="auto">
                <a:xfrm>
                  <a:off x="2335"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418" name="Rectangle 43"/>
                <p:cNvSpPr>
                  <a:spLocks noChangeArrowheads="1"/>
                </p:cNvSpPr>
                <p:nvPr/>
              </p:nvSpPr>
              <p:spPr bwMode="auto">
                <a:xfrm>
                  <a:off x="2292"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2" name="Group 44"/>
              <p:cNvGrpSpPr>
                <a:grpSpLocks/>
              </p:cNvGrpSpPr>
              <p:nvPr/>
            </p:nvGrpSpPr>
            <p:grpSpPr bwMode="auto">
              <a:xfrm>
                <a:off x="0" y="806"/>
                <a:ext cx="573" cy="403"/>
                <a:chOff x="0" y="806"/>
                <a:chExt cx="573" cy="403"/>
              </a:xfrm>
            </p:grpSpPr>
            <p:sp>
              <p:nvSpPr>
                <p:cNvPr id="57415" name="Rectangle 45"/>
                <p:cNvSpPr>
                  <a:spLocks noChangeArrowheads="1" noTextEdit="1"/>
                </p:cNvSpPr>
                <p:nvPr/>
              </p:nvSpPr>
              <p:spPr bwMode="auto">
                <a:xfrm>
                  <a:off x="43" y="806"/>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16" name="Rectangle 46"/>
                <p:cNvSpPr>
                  <a:spLocks noChangeArrowheads="1"/>
                </p:cNvSpPr>
                <p:nvPr/>
              </p:nvSpPr>
              <p:spPr bwMode="auto">
                <a:xfrm>
                  <a:off x="0"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3" name="Group 47"/>
              <p:cNvGrpSpPr>
                <a:grpSpLocks/>
              </p:cNvGrpSpPr>
              <p:nvPr/>
            </p:nvGrpSpPr>
            <p:grpSpPr bwMode="auto">
              <a:xfrm>
                <a:off x="573" y="806"/>
                <a:ext cx="573" cy="403"/>
                <a:chOff x="573" y="806"/>
                <a:chExt cx="573" cy="403"/>
              </a:xfrm>
            </p:grpSpPr>
            <p:sp>
              <p:nvSpPr>
                <p:cNvPr id="57413" name="Rectangle 48"/>
                <p:cNvSpPr>
                  <a:spLocks noChangeArrowheads="1"/>
                </p:cNvSpPr>
                <p:nvPr/>
              </p:nvSpPr>
              <p:spPr bwMode="auto">
                <a:xfrm>
                  <a:off x="616"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2.5</a:t>
                  </a:r>
                  <a:endParaRPr kumimoji="1" lang="en-US" altLang="zh-CN" sz="2800" b="1">
                    <a:solidFill>
                      <a:srgbClr val="3333FF"/>
                    </a:solidFill>
                    <a:latin typeface="Times New Roman" pitchFamily="18" charset="0"/>
                  </a:endParaRPr>
                </a:p>
              </p:txBody>
            </p:sp>
            <p:sp>
              <p:nvSpPr>
                <p:cNvPr id="57414" name="Rectangle 49"/>
                <p:cNvSpPr>
                  <a:spLocks noChangeArrowheads="1"/>
                </p:cNvSpPr>
                <p:nvPr/>
              </p:nvSpPr>
              <p:spPr bwMode="auto">
                <a:xfrm>
                  <a:off x="573"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4" name="Group 50"/>
              <p:cNvGrpSpPr>
                <a:grpSpLocks/>
              </p:cNvGrpSpPr>
              <p:nvPr/>
            </p:nvGrpSpPr>
            <p:grpSpPr bwMode="auto">
              <a:xfrm>
                <a:off x="1146" y="806"/>
                <a:ext cx="573" cy="403"/>
                <a:chOff x="1146" y="806"/>
                <a:chExt cx="573" cy="403"/>
              </a:xfrm>
            </p:grpSpPr>
            <p:sp>
              <p:nvSpPr>
                <p:cNvPr id="57411" name="Rectangle 51"/>
                <p:cNvSpPr>
                  <a:spLocks noChangeArrowheads="1"/>
                </p:cNvSpPr>
                <p:nvPr/>
              </p:nvSpPr>
              <p:spPr bwMode="auto">
                <a:xfrm>
                  <a:off x="1189"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7412" name="Rectangle 52"/>
                <p:cNvSpPr>
                  <a:spLocks noChangeArrowheads="1"/>
                </p:cNvSpPr>
                <p:nvPr/>
              </p:nvSpPr>
              <p:spPr bwMode="auto">
                <a:xfrm>
                  <a:off x="1146"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5" name="Group 53"/>
              <p:cNvGrpSpPr>
                <a:grpSpLocks/>
              </p:cNvGrpSpPr>
              <p:nvPr/>
            </p:nvGrpSpPr>
            <p:grpSpPr bwMode="auto">
              <a:xfrm>
                <a:off x="1719" y="806"/>
                <a:ext cx="573" cy="403"/>
                <a:chOff x="1719" y="806"/>
                <a:chExt cx="573" cy="403"/>
              </a:xfrm>
            </p:grpSpPr>
            <p:sp>
              <p:nvSpPr>
                <p:cNvPr id="57409" name="Rectangle 54"/>
                <p:cNvSpPr>
                  <a:spLocks noChangeArrowheads="1"/>
                </p:cNvSpPr>
                <p:nvPr/>
              </p:nvSpPr>
              <p:spPr bwMode="auto">
                <a:xfrm>
                  <a:off x="1762"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410" name="Rectangle 55"/>
                <p:cNvSpPr>
                  <a:spLocks noChangeArrowheads="1"/>
                </p:cNvSpPr>
                <p:nvPr/>
              </p:nvSpPr>
              <p:spPr bwMode="auto">
                <a:xfrm>
                  <a:off x="1719"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6" name="Group 56"/>
              <p:cNvGrpSpPr>
                <a:grpSpLocks/>
              </p:cNvGrpSpPr>
              <p:nvPr/>
            </p:nvGrpSpPr>
            <p:grpSpPr bwMode="auto">
              <a:xfrm>
                <a:off x="2292" y="806"/>
                <a:ext cx="573" cy="403"/>
                <a:chOff x="2292" y="806"/>
                <a:chExt cx="573" cy="403"/>
              </a:xfrm>
            </p:grpSpPr>
            <p:sp>
              <p:nvSpPr>
                <p:cNvPr id="57407" name="Rectangle 57"/>
                <p:cNvSpPr>
                  <a:spLocks noChangeArrowheads="1"/>
                </p:cNvSpPr>
                <p:nvPr/>
              </p:nvSpPr>
              <p:spPr bwMode="auto">
                <a:xfrm>
                  <a:off x="2335"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408" name="Rectangle 58"/>
                <p:cNvSpPr>
                  <a:spLocks noChangeArrowheads="1"/>
                </p:cNvSpPr>
                <p:nvPr/>
              </p:nvSpPr>
              <p:spPr bwMode="auto">
                <a:xfrm>
                  <a:off x="2292"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7" name="Group 59"/>
              <p:cNvGrpSpPr>
                <a:grpSpLocks/>
              </p:cNvGrpSpPr>
              <p:nvPr/>
            </p:nvGrpSpPr>
            <p:grpSpPr bwMode="auto">
              <a:xfrm>
                <a:off x="0" y="1209"/>
                <a:ext cx="573" cy="403"/>
                <a:chOff x="0" y="1209"/>
                <a:chExt cx="573" cy="403"/>
              </a:xfrm>
            </p:grpSpPr>
            <p:sp>
              <p:nvSpPr>
                <p:cNvPr id="57405" name="Rectangle 60"/>
                <p:cNvSpPr>
                  <a:spLocks noChangeArrowheads="1" noTextEdit="1"/>
                </p:cNvSpPr>
                <p:nvPr/>
              </p:nvSpPr>
              <p:spPr bwMode="auto">
                <a:xfrm>
                  <a:off x="43" y="1209"/>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406" name="Rectangle 61"/>
                <p:cNvSpPr>
                  <a:spLocks noChangeArrowheads="1"/>
                </p:cNvSpPr>
                <p:nvPr/>
              </p:nvSpPr>
              <p:spPr bwMode="auto">
                <a:xfrm>
                  <a:off x="0"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8" name="Group 62"/>
              <p:cNvGrpSpPr>
                <a:grpSpLocks/>
              </p:cNvGrpSpPr>
              <p:nvPr/>
            </p:nvGrpSpPr>
            <p:grpSpPr bwMode="auto">
              <a:xfrm>
                <a:off x="573" y="1209"/>
                <a:ext cx="573" cy="403"/>
                <a:chOff x="573" y="1209"/>
                <a:chExt cx="573" cy="403"/>
              </a:xfrm>
            </p:grpSpPr>
            <p:sp>
              <p:nvSpPr>
                <p:cNvPr id="57403" name="Rectangle 63"/>
                <p:cNvSpPr>
                  <a:spLocks noChangeArrowheads="1"/>
                </p:cNvSpPr>
                <p:nvPr/>
              </p:nvSpPr>
              <p:spPr bwMode="auto">
                <a:xfrm>
                  <a:off x="616"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6</a:t>
                  </a:r>
                </a:p>
                <a:p>
                  <a:pPr algn="ctr" eaLnBrk="0" hangingPunct="0"/>
                  <a:endParaRPr kumimoji="1" lang="en-US" altLang="zh-CN" sz="2800">
                    <a:solidFill>
                      <a:schemeClr val="tx2"/>
                    </a:solidFill>
                    <a:latin typeface="Times New Roman" pitchFamily="18" charset="0"/>
                  </a:endParaRPr>
                </a:p>
              </p:txBody>
            </p:sp>
            <p:sp>
              <p:nvSpPr>
                <p:cNvPr id="57404" name="Rectangle 64"/>
                <p:cNvSpPr>
                  <a:spLocks noChangeArrowheads="1"/>
                </p:cNvSpPr>
                <p:nvPr/>
              </p:nvSpPr>
              <p:spPr bwMode="auto">
                <a:xfrm>
                  <a:off x="573"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79" name="Group 65"/>
              <p:cNvGrpSpPr>
                <a:grpSpLocks/>
              </p:cNvGrpSpPr>
              <p:nvPr/>
            </p:nvGrpSpPr>
            <p:grpSpPr bwMode="auto">
              <a:xfrm>
                <a:off x="1146" y="1209"/>
                <a:ext cx="573" cy="403"/>
                <a:chOff x="1146" y="1209"/>
                <a:chExt cx="573" cy="403"/>
              </a:xfrm>
            </p:grpSpPr>
            <p:sp>
              <p:nvSpPr>
                <p:cNvPr id="57401" name="Rectangle 66"/>
                <p:cNvSpPr>
                  <a:spLocks noChangeArrowheads="1"/>
                </p:cNvSpPr>
                <p:nvPr/>
              </p:nvSpPr>
              <p:spPr bwMode="auto">
                <a:xfrm>
                  <a:off x="1189"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3.5</a:t>
                  </a:r>
                </a:p>
                <a:p>
                  <a:pPr algn="ctr" eaLnBrk="0" hangingPunct="0"/>
                  <a:endParaRPr kumimoji="1" lang="en-US" altLang="zh-CN" sz="2800">
                    <a:solidFill>
                      <a:schemeClr val="tx2"/>
                    </a:solidFill>
                    <a:latin typeface="Times New Roman" pitchFamily="18" charset="0"/>
                  </a:endParaRPr>
                </a:p>
              </p:txBody>
            </p:sp>
            <p:sp>
              <p:nvSpPr>
                <p:cNvPr id="57402" name="Rectangle 67"/>
                <p:cNvSpPr>
                  <a:spLocks noChangeArrowheads="1"/>
                </p:cNvSpPr>
                <p:nvPr/>
              </p:nvSpPr>
              <p:spPr bwMode="auto">
                <a:xfrm>
                  <a:off x="1146"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0" name="Group 68"/>
              <p:cNvGrpSpPr>
                <a:grpSpLocks/>
              </p:cNvGrpSpPr>
              <p:nvPr/>
            </p:nvGrpSpPr>
            <p:grpSpPr bwMode="auto">
              <a:xfrm>
                <a:off x="1719" y="1209"/>
                <a:ext cx="573" cy="403"/>
                <a:chOff x="1719" y="1209"/>
                <a:chExt cx="573" cy="403"/>
              </a:xfrm>
            </p:grpSpPr>
            <p:sp>
              <p:nvSpPr>
                <p:cNvPr id="57399" name="Rectangle 69"/>
                <p:cNvSpPr>
                  <a:spLocks noChangeArrowheads="1"/>
                </p:cNvSpPr>
                <p:nvPr/>
              </p:nvSpPr>
              <p:spPr bwMode="auto">
                <a:xfrm>
                  <a:off x="1762"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7400" name="Rectangle 70"/>
                <p:cNvSpPr>
                  <a:spLocks noChangeArrowheads="1"/>
                </p:cNvSpPr>
                <p:nvPr/>
              </p:nvSpPr>
              <p:spPr bwMode="auto">
                <a:xfrm>
                  <a:off x="1719"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1" name="Group 71"/>
              <p:cNvGrpSpPr>
                <a:grpSpLocks/>
              </p:cNvGrpSpPr>
              <p:nvPr/>
            </p:nvGrpSpPr>
            <p:grpSpPr bwMode="auto">
              <a:xfrm>
                <a:off x="2292" y="1209"/>
                <a:ext cx="573" cy="403"/>
                <a:chOff x="2292" y="1209"/>
                <a:chExt cx="573" cy="403"/>
              </a:xfrm>
            </p:grpSpPr>
            <p:sp>
              <p:nvSpPr>
                <p:cNvPr id="57397" name="Rectangle 72"/>
                <p:cNvSpPr>
                  <a:spLocks noChangeArrowheads="1"/>
                </p:cNvSpPr>
                <p:nvPr/>
              </p:nvSpPr>
              <p:spPr bwMode="auto">
                <a:xfrm>
                  <a:off x="2335"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57398" name="Rectangle 73"/>
                <p:cNvSpPr>
                  <a:spLocks noChangeArrowheads="1"/>
                </p:cNvSpPr>
                <p:nvPr/>
              </p:nvSpPr>
              <p:spPr bwMode="auto">
                <a:xfrm>
                  <a:off x="2292"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2" name="Group 74"/>
              <p:cNvGrpSpPr>
                <a:grpSpLocks/>
              </p:cNvGrpSpPr>
              <p:nvPr/>
            </p:nvGrpSpPr>
            <p:grpSpPr bwMode="auto">
              <a:xfrm>
                <a:off x="0" y="1612"/>
                <a:ext cx="573" cy="403"/>
                <a:chOff x="0" y="1612"/>
                <a:chExt cx="573" cy="403"/>
              </a:xfrm>
            </p:grpSpPr>
            <p:sp>
              <p:nvSpPr>
                <p:cNvPr id="57395" name="Rectangle 75"/>
                <p:cNvSpPr>
                  <a:spLocks noChangeArrowheads="1" noTextEdit="1"/>
                </p:cNvSpPr>
                <p:nvPr/>
              </p:nvSpPr>
              <p:spPr bwMode="auto">
                <a:xfrm>
                  <a:off x="43" y="1612"/>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396" name="Rectangle 76"/>
                <p:cNvSpPr>
                  <a:spLocks noChangeArrowheads="1"/>
                </p:cNvSpPr>
                <p:nvPr/>
              </p:nvSpPr>
              <p:spPr bwMode="auto">
                <a:xfrm>
                  <a:off x="0"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3" name="Group 77"/>
              <p:cNvGrpSpPr>
                <a:grpSpLocks/>
              </p:cNvGrpSpPr>
              <p:nvPr/>
            </p:nvGrpSpPr>
            <p:grpSpPr bwMode="auto">
              <a:xfrm>
                <a:off x="573" y="1612"/>
                <a:ext cx="573" cy="403"/>
                <a:chOff x="573" y="1612"/>
                <a:chExt cx="573" cy="403"/>
              </a:xfrm>
            </p:grpSpPr>
            <p:sp>
              <p:nvSpPr>
                <p:cNvPr id="57393" name="Rectangle 78"/>
                <p:cNvSpPr>
                  <a:spLocks noChangeArrowheads="1"/>
                </p:cNvSpPr>
                <p:nvPr/>
              </p:nvSpPr>
              <p:spPr bwMode="auto">
                <a:xfrm>
                  <a:off x="616"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rgbClr val="3333FF"/>
                      </a:solidFill>
                      <a:latin typeface="宋体" pitchFamily="2" charset="-122"/>
                      <a:cs typeface="Times New Roman" pitchFamily="18" charset="0"/>
                    </a:rPr>
                    <a:t>8</a:t>
                  </a:r>
                </a:p>
                <a:p>
                  <a:pPr algn="ctr" eaLnBrk="0" hangingPunct="0"/>
                  <a:endParaRPr kumimoji="1" lang="en-US" altLang="zh-CN" sz="2800">
                    <a:solidFill>
                      <a:schemeClr val="tx2"/>
                    </a:solidFill>
                    <a:latin typeface="Times New Roman" pitchFamily="18" charset="0"/>
                  </a:endParaRPr>
                </a:p>
              </p:txBody>
            </p:sp>
            <p:sp>
              <p:nvSpPr>
                <p:cNvPr id="57394" name="Rectangle 79"/>
                <p:cNvSpPr>
                  <a:spLocks noChangeArrowheads="1"/>
                </p:cNvSpPr>
                <p:nvPr/>
              </p:nvSpPr>
              <p:spPr bwMode="auto">
                <a:xfrm>
                  <a:off x="573"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4" name="Group 80"/>
              <p:cNvGrpSpPr>
                <a:grpSpLocks/>
              </p:cNvGrpSpPr>
              <p:nvPr/>
            </p:nvGrpSpPr>
            <p:grpSpPr bwMode="auto">
              <a:xfrm>
                <a:off x="1146" y="1612"/>
                <a:ext cx="573" cy="403"/>
                <a:chOff x="1146" y="1612"/>
                <a:chExt cx="573" cy="403"/>
              </a:xfrm>
            </p:grpSpPr>
            <p:sp>
              <p:nvSpPr>
                <p:cNvPr id="57391" name="Rectangle 81"/>
                <p:cNvSpPr>
                  <a:spLocks noChangeArrowheads="1"/>
                </p:cNvSpPr>
                <p:nvPr/>
              </p:nvSpPr>
              <p:spPr bwMode="auto">
                <a:xfrm>
                  <a:off x="1189"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5.5</a:t>
                  </a:r>
                </a:p>
                <a:p>
                  <a:pPr algn="ctr" eaLnBrk="0" hangingPunct="0"/>
                  <a:endParaRPr kumimoji="1" lang="en-US" altLang="zh-CN" sz="2800">
                    <a:solidFill>
                      <a:schemeClr val="tx2"/>
                    </a:solidFill>
                    <a:latin typeface="Times New Roman" pitchFamily="18" charset="0"/>
                  </a:endParaRPr>
                </a:p>
              </p:txBody>
            </p:sp>
            <p:sp>
              <p:nvSpPr>
                <p:cNvPr id="57392" name="Rectangle 82"/>
                <p:cNvSpPr>
                  <a:spLocks noChangeArrowheads="1"/>
                </p:cNvSpPr>
                <p:nvPr/>
              </p:nvSpPr>
              <p:spPr bwMode="auto">
                <a:xfrm>
                  <a:off x="1146"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5" name="Group 83"/>
              <p:cNvGrpSpPr>
                <a:grpSpLocks/>
              </p:cNvGrpSpPr>
              <p:nvPr/>
            </p:nvGrpSpPr>
            <p:grpSpPr bwMode="auto">
              <a:xfrm>
                <a:off x="1719" y="1612"/>
                <a:ext cx="573" cy="403"/>
                <a:chOff x="1719" y="1612"/>
                <a:chExt cx="573" cy="403"/>
              </a:xfrm>
            </p:grpSpPr>
            <p:sp>
              <p:nvSpPr>
                <p:cNvPr id="57389" name="Rectangle 84"/>
                <p:cNvSpPr>
                  <a:spLocks noChangeArrowheads="1"/>
                </p:cNvSpPr>
                <p:nvPr/>
              </p:nvSpPr>
              <p:spPr bwMode="auto">
                <a:xfrm>
                  <a:off x="1762"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2</a:t>
                  </a:r>
                </a:p>
                <a:p>
                  <a:pPr algn="ctr" eaLnBrk="0" hangingPunct="0"/>
                  <a:endParaRPr kumimoji="1" lang="en-US" altLang="zh-CN" sz="2800">
                    <a:solidFill>
                      <a:schemeClr val="tx2"/>
                    </a:solidFill>
                    <a:latin typeface="Times New Roman" pitchFamily="18" charset="0"/>
                  </a:endParaRPr>
                </a:p>
              </p:txBody>
            </p:sp>
            <p:sp>
              <p:nvSpPr>
                <p:cNvPr id="57390" name="Rectangle 85"/>
                <p:cNvSpPr>
                  <a:spLocks noChangeArrowheads="1"/>
                </p:cNvSpPr>
                <p:nvPr/>
              </p:nvSpPr>
              <p:spPr bwMode="auto">
                <a:xfrm>
                  <a:off x="1719"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386" name="Group 86"/>
              <p:cNvGrpSpPr>
                <a:grpSpLocks/>
              </p:cNvGrpSpPr>
              <p:nvPr/>
            </p:nvGrpSpPr>
            <p:grpSpPr bwMode="auto">
              <a:xfrm>
                <a:off x="2292" y="1612"/>
                <a:ext cx="573" cy="403"/>
                <a:chOff x="2292" y="1612"/>
                <a:chExt cx="573" cy="403"/>
              </a:xfrm>
            </p:grpSpPr>
            <p:sp>
              <p:nvSpPr>
                <p:cNvPr id="57387" name="Rectangle 87"/>
                <p:cNvSpPr>
                  <a:spLocks noChangeArrowheads="1"/>
                </p:cNvSpPr>
                <p:nvPr/>
              </p:nvSpPr>
              <p:spPr bwMode="auto">
                <a:xfrm>
                  <a:off x="2335"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57388" name="Rectangle 88"/>
                <p:cNvSpPr>
                  <a:spLocks noChangeArrowheads="1"/>
                </p:cNvSpPr>
                <p:nvPr/>
              </p:nvSpPr>
              <p:spPr bwMode="auto">
                <a:xfrm>
                  <a:off x="2292"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57361" name="Rectangle 89"/>
            <p:cNvSpPr>
              <a:spLocks noChangeArrowheads="1"/>
            </p:cNvSpPr>
            <p:nvPr/>
          </p:nvSpPr>
          <p:spPr bwMode="auto">
            <a:xfrm>
              <a:off x="-3" y="-3"/>
              <a:ext cx="2871" cy="202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54394" name="Object 90"/>
          <p:cNvGraphicFramePr>
            <a:graphicFrameLocks noChangeAspect="1"/>
          </p:cNvGraphicFramePr>
          <p:nvPr>
            <p:extLst>
              <p:ext uri="{D42A27DB-BD31-4B8C-83A1-F6EECF244321}">
                <p14:modId xmlns:p14="http://schemas.microsoft.com/office/powerpoint/2010/main" val="388027986"/>
              </p:ext>
            </p:extLst>
          </p:nvPr>
        </p:nvGraphicFramePr>
        <p:xfrm>
          <a:off x="2578100" y="3828200"/>
          <a:ext cx="421556" cy="432650"/>
        </p:xfrm>
        <a:graphic>
          <a:graphicData uri="http://schemas.openxmlformats.org/presentationml/2006/ole">
            <mc:AlternateContent xmlns:mc="http://schemas.openxmlformats.org/markup-compatibility/2006">
              <mc:Choice xmlns:v="urn:schemas-microsoft-com:vml" Requires="v">
                <p:oleObj name="Equation" r:id="rId12" imgW="228600" imgH="228600" progId="Equation.DSMT4">
                  <p:embed/>
                </p:oleObj>
              </mc:Choice>
              <mc:Fallback>
                <p:oleObj name="Equation" r:id="rId12" imgW="228600" imgH="228600" progId="Equation.DSMT4">
                  <p:embed/>
                  <p:pic>
                    <p:nvPicPr>
                      <p:cNvPr id="0" name=""/>
                      <p:cNvPicPr>
                        <a:picLocks noChangeAspect="1" noChangeArrowheads="1"/>
                      </p:cNvPicPr>
                      <p:nvPr/>
                    </p:nvPicPr>
                    <p:blipFill>
                      <a:blip r:embed="rId13"/>
                      <a:srcRect/>
                      <a:stretch>
                        <a:fillRect/>
                      </a:stretch>
                    </p:blipFill>
                    <p:spPr bwMode="auto">
                      <a:xfrm>
                        <a:off x="2578100" y="3828200"/>
                        <a:ext cx="421556" cy="432650"/>
                      </a:xfrm>
                      <a:prstGeom prst="rect">
                        <a:avLst/>
                      </a:prstGeom>
                      <a:noFill/>
                      <a:ln>
                        <a:noFill/>
                      </a:ln>
                    </p:spPr>
                  </p:pic>
                </p:oleObj>
              </mc:Fallback>
            </mc:AlternateContent>
          </a:graphicData>
        </a:graphic>
      </p:graphicFrame>
      <p:graphicFrame>
        <p:nvGraphicFramePr>
          <p:cNvPr id="354395" name="Object 91"/>
          <p:cNvGraphicFramePr>
            <a:graphicFrameLocks noChangeAspect="1"/>
          </p:cNvGraphicFramePr>
          <p:nvPr/>
        </p:nvGraphicFramePr>
        <p:xfrm>
          <a:off x="2517775" y="5216525"/>
          <a:ext cx="361950" cy="425450"/>
        </p:xfrm>
        <a:graphic>
          <a:graphicData uri="http://schemas.openxmlformats.org/presentationml/2006/ole">
            <mc:AlternateContent xmlns:mc="http://schemas.openxmlformats.org/markup-compatibility/2006">
              <mc:Choice xmlns:v="urn:schemas-microsoft-com:vml" Requires="v">
                <p:oleObj name="公式" r:id="rId14" imgW="342799" imgH="390420" progId="Equation.3">
                  <p:embed/>
                </p:oleObj>
              </mc:Choice>
              <mc:Fallback>
                <p:oleObj name="公式" r:id="rId14" imgW="342799" imgH="39042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17775" y="5216525"/>
                        <a:ext cx="361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96" name="Object 92"/>
          <p:cNvGraphicFramePr>
            <a:graphicFrameLocks noChangeAspect="1"/>
          </p:cNvGraphicFramePr>
          <p:nvPr/>
        </p:nvGraphicFramePr>
        <p:xfrm>
          <a:off x="2517775" y="5749925"/>
          <a:ext cx="350838" cy="431800"/>
        </p:xfrm>
        <a:graphic>
          <a:graphicData uri="http://schemas.openxmlformats.org/presentationml/2006/ole">
            <mc:AlternateContent xmlns:mc="http://schemas.openxmlformats.org/markup-compatibility/2006">
              <mc:Choice xmlns:v="urn:schemas-microsoft-com:vml" Requires="v">
                <p:oleObj name="公式" r:id="rId6" imgW="323889" imgH="400140" progId="Equation.3">
                  <p:embed/>
                </p:oleObj>
              </mc:Choice>
              <mc:Fallback>
                <p:oleObj name="公式" r:id="rId6" imgW="323889" imgH="4001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7775" y="5749925"/>
                        <a:ext cx="3508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6" name="Rectangle 93"/>
          <p:cNvSpPr>
            <a:spLocks noChangeArrowheads="1"/>
          </p:cNvSpPr>
          <p:nvPr/>
        </p:nvSpPr>
        <p:spPr bwMode="auto">
          <a:xfrm>
            <a:off x="501491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357" name="Rectangle 94"/>
          <p:cNvSpPr>
            <a:spLocks noChangeArrowheads="1"/>
          </p:cNvSpPr>
          <p:nvPr/>
        </p:nvSpPr>
        <p:spPr bwMode="auto">
          <a:xfrm>
            <a:off x="495300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358" name="Rectangle 95"/>
          <p:cNvSpPr>
            <a:spLocks noGrp="1" noChangeArrowheads="1"/>
          </p:cNvSpPr>
          <p:nvPr>
            <p:ph type="title"/>
          </p:nvPr>
        </p:nvSpPr>
        <p:spPr>
          <a:xfrm>
            <a:off x="2063750" y="333375"/>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57359" name="Rectangle 96"/>
          <p:cNvSpPr>
            <a:spLocks noChangeArrowheads="1"/>
          </p:cNvSpPr>
          <p:nvPr/>
        </p:nvSpPr>
        <p:spPr bwMode="auto">
          <a:xfrm>
            <a:off x="1847850" y="1557338"/>
            <a:ext cx="28520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2</a:t>
            </a:r>
            <a:r>
              <a:rPr kumimoji="1" lang="zh-CN" altLang="en-US" sz="3200" dirty="0">
                <a:solidFill>
                  <a:srgbClr val="3333FF"/>
                </a:solidFill>
                <a:latin typeface="黑体" pitchFamily="2" charset="-122"/>
                <a:ea typeface="黑体" pitchFamily="2" charset="-122"/>
              </a:rPr>
              <a:t>、最长距离法</a:t>
            </a:r>
          </a:p>
        </p:txBody>
      </p:sp>
      <p:sp>
        <p:nvSpPr>
          <p:cNvPr id="3" name="灯片编号占位符 2">
            <a:extLst>
              <a:ext uri="{FF2B5EF4-FFF2-40B4-BE49-F238E27FC236}">
                <a16:creationId xmlns:a16="http://schemas.microsoft.com/office/drawing/2014/main" id="{C56380FA-A8D5-F48D-163B-06E1C72DFCE6}"/>
              </a:ext>
            </a:extLst>
          </p:cNvPr>
          <p:cNvSpPr>
            <a:spLocks noGrp="1"/>
          </p:cNvSpPr>
          <p:nvPr>
            <p:ph type="sldNum" sz="quarter" idx="11"/>
          </p:nvPr>
        </p:nvSpPr>
        <p:spPr/>
        <p:txBody>
          <a:bodyPr/>
          <a:lstStyle/>
          <a:p>
            <a:pPr>
              <a:defRPr/>
            </a:pPr>
            <a:fld id="{2F44A83F-C644-4D2F-BA00-DBFF3DBED7EA}" type="slidenum">
              <a:rPr lang="en-US" altLang="zh-CN" smtClean="0"/>
              <a:pPr>
                <a:defRPr/>
              </a:pPr>
              <a:t>66</a:t>
            </a:fld>
            <a:endParaRPr lang="en-US" altLang="zh-CN"/>
          </a:p>
        </p:txBody>
      </p:sp>
    </p:spTree>
    <p:extLst>
      <p:ext uri="{BB962C8B-B14F-4D97-AF65-F5344CB8AC3E}">
        <p14:creationId xmlns:p14="http://schemas.microsoft.com/office/powerpoint/2010/main" val="120104864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4396"/>
                                        </p:tgtEl>
                                        <p:attrNameLst>
                                          <p:attrName>style.visibility</p:attrName>
                                        </p:attrNameLst>
                                      </p:cBhvr>
                                      <p:to>
                                        <p:strVal val="visible"/>
                                      </p:to>
                                    </p:set>
                                    <p:animEffect transition="in" filter="blinds(horizontal)">
                                      <p:cBhvr>
                                        <p:cTn id="7" dur="500"/>
                                        <p:tgtEl>
                                          <p:spTgt spid="354396"/>
                                        </p:tgtEl>
                                      </p:cBhvr>
                                    </p:animEffect>
                                  </p:childTnLst>
                                </p:cTn>
                              </p:par>
                              <p:par>
                                <p:cTn id="8" presetID="3" presetClass="entr" presetSubtype="10" fill="hold" nodeType="withEffect">
                                  <p:stCondLst>
                                    <p:cond delay="0"/>
                                  </p:stCondLst>
                                  <p:childTnLst>
                                    <p:set>
                                      <p:cBhvr>
                                        <p:cTn id="9" dur="1" fill="hold">
                                          <p:stCondLst>
                                            <p:cond delay="0"/>
                                          </p:stCondLst>
                                        </p:cTn>
                                        <p:tgtEl>
                                          <p:spTgt spid="354395"/>
                                        </p:tgtEl>
                                        <p:attrNameLst>
                                          <p:attrName>style.visibility</p:attrName>
                                        </p:attrNameLst>
                                      </p:cBhvr>
                                      <p:to>
                                        <p:strVal val="visible"/>
                                      </p:to>
                                    </p:set>
                                    <p:animEffect transition="in" filter="blinds(horizontal)">
                                      <p:cBhvr>
                                        <p:cTn id="10" dur="500"/>
                                        <p:tgtEl>
                                          <p:spTgt spid="354395"/>
                                        </p:tgtEl>
                                      </p:cBhvr>
                                    </p:animEffect>
                                  </p:childTnLst>
                                </p:cTn>
                              </p:par>
                              <p:par>
                                <p:cTn id="11" presetID="3" presetClass="entr" presetSubtype="10" fill="hold" nodeType="withEffect">
                                  <p:stCondLst>
                                    <p:cond delay="0"/>
                                  </p:stCondLst>
                                  <p:childTnLst>
                                    <p:set>
                                      <p:cBhvr>
                                        <p:cTn id="12" dur="1" fill="hold">
                                          <p:stCondLst>
                                            <p:cond delay="0"/>
                                          </p:stCondLst>
                                        </p:cTn>
                                        <p:tgtEl>
                                          <p:spTgt spid="354312"/>
                                        </p:tgtEl>
                                        <p:attrNameLst>
                                          <p:attrName>style.visibility</p:attrName>
                                        </p:attrNameLst>
                                      </p:cBhvr>
                                      <p:to>
                                        <p:strVal val="visible"/>
                                      </p:to>
                                    </p:set>
                                    <p:animEffect transition="in" filter="blinds(horizontal)">
                                      <p:cBhvr>
                                        <p:cTn id="13" dur="500"/>
                                        <p:tgtEl>
                                          <p:spTgt spid="354312"/>
                                        </p:tgtEl>
                                      </p:cBhvr>
                                    </p:animEffect>
                                  </p:childTnLst>
                                </p:cTn>
                              </p:par>
                              <p:par>
                                <p:cTn id="14" presetID="3" presetClass="entr" presetSubtype="10" fill="hold" nodeType="withEffect">
                                  <p:stCondLst>
                                    <p:cond delay="0"/>
                                  </p:stCondLst>
                                  <p:childTnLst>
                                    <p:set>
                                      <p:cBhvr>
                                        <p:cTn id="15" dur="1" fill="hold">
                                          <p:stCondLst>
                                            <p:cond delay="0"/>
                                          </p:stCondLst>
                                        </p:cTn>
                                        <p:tgtEl>
                                          <p:spTgt spid="354394"/>
                                        </p:tgtEl>
                                        <p:attrNameLst>
                                          <p:attrName>style.visibility</p:attrName>
                                        </p:attrNameLst>
                                      </p:cBhvr>
                                      <p:to>
                                        <p:strVal val="visible"/>
                                      </p:to>
                                    </p:set>
                                    <p:animEffect transition="in" filter="blinds(horizontal)">
                                      <p:cBhvr>
                                        <p:cTn id="16" dur="500"/>
                                        <p:tgtEl>
                                          <p:spTgt spid="354394"/>
                                        </p:tgtEl>
                                      </p:cBhvr>
                                    </p:animEffect>
                                  </p:childTnLst>
                                </p:cTn>
                              </p:par>
                              <p:par>
                                <p:cTn id="17" presetID="3" presetClass="entr" presetSubtype="10" fill="hold" nodeType="withEffect">
                                  <p:stCondLst>
                                    <p:cond delay="0"/>
                                  </p:stCondLst>
                                  <p:childTnLst>
                                    <p:set>
                                      <p:cBhvr>
                                        <p:cTn id="18" dur="1" fill="hold">
                                          <p:stCondLst>
                                            <p:cond delay="0"/>
                                          </p:stCondLst>
                                        </p:cTn>
                                        <p:tgtEl>
                                          <p:spTgt spid="354316"/>
                                        </p:tgtEl>
                                        <p:attrNameLst>
                                          <p:attrName>style.visibility</p:attrName>
                                        </p:attrNameLst>
                                      </p:cBhvr>
                                      <p:to>
                                        <p:strVal val="visible"/>
                                      </p:to>
                                    </p:set>
                                    <p:animEffect transition="in" filter="blinds(horizontal)">
                                      <p:cBhvr>
                                        <p:cTn id="19" dur="500"/>
                                        <p:tgtEl>
                                          <p:spTgt spid="354316"/>
                                        </p:tgtEl>
                                      </p:cBhvr>
                                    </p:animEffect>
                                  </p:childTnLst>
                                </p:cTn>
                              </p:par>
                              <p:par>
                                <p:cTn id="20" presetID="3" presetClass="entr" presetSubtype="10" fill="hold" nodeType="withEffect">
                                  <p:stCondLst>
                                    <p:cond delay="0"/>
                                  </p:stCondLst>
                                  <p:childTnLst>
                                    <p:set>
                                      <p:cBhvr>
                                        <p:cTn id="21" dur="1" fill="hold">
                                          <p:stCondLst>
                                            <p:cond delay="0"/>
                                          </p:stCondLst>
                                        </p:cTn>
                                        <p:tgtEl>
                                          <p:spTgt spid="354311"/>
                                        </p:tgtEl>
                                        <p:attrNameLst>
                                          <p:attrName>style.visibility</p:attrName>
                                        </p:attrNameLst>
                                      </p:cBhvr>
                                      <p:to>
                                        <p:strVal val="visible"/>
                                      </p:to>
                                    </p:set>
                                    <p:animEffect transition="in" filter="blinds(horizontal)">
                                      <p:cBhvr>
                                        <p:cTn id="22" dur="500"/>
                                        <p:tgtEl>
                                          <p:spTgt spid="354311"/>
                                        </p:tgtEl>
                                      </p:cBhvr>
                                    </p:animEffect>
                                  </p:childTnLst>
                                </p:cTn>
                              </p:par>
                              <p:par>
                                <p:cTn id="23" presetID="3" presetClass="entr" presetSubtype="10" fill="hold" nodeType="withEffect">
                                  <p:stCondLst>
                                    <p:cond delay="0"/>
                                  </p:stCondLst>
                                  <p:childTnLst>
                                    <p:set>
                                      <p:cBhvr>
                                        <p:cTn id="24" dur="1" fill="hold">
                                          <p:stCondLst>
                                            <p:cond delay="0"/>
                                          </p:stCondLst>
                                        </p:cTn>
                                        <p:tgtEl>
                                          <p:spTgt spid="354314"/>
                                        </p:tgtEl>
                                        <p:attrNameLst>
                                          <p:attrName>style.visibility</p:attrName>
                                        </p:attrNameLst>
                                      </p:cBhvr>
                                      <p:to>
                                        <p:strVal val="visible"/>
                                      </p:to>
                                    </p:set>
                                    <p:animEffect transition="in" filter="blinds(horizontal)">
                                      <p:cBhvr>
                                        <p:cTn id="25" dur="500"/>
                                        <p:tgtEl>
                                          <p:spTgt spid="354314"/>
                                        </p:tgtEl>
                                      </p:cBhvr>
                                    </p:animEffect>
                                  </p:childTnLst>
                                </p:cTn>
                              </p:par>
                              <p:par>
                                <p:cTn id="26" presetID="3" presetClass="entr" presetSubtype="10" fill="hold" nodeType="withEffect">
                                  <p:stCondLst>
                                    <p:cond delay="0"/>
                                  </p:stCondLst>
                                  <p:childTnLst>
                                    <p:set>
                                      <p:cBhvr>
                                        <p:cTn id="27" dur="1" fill="hold">
                                          <p:stCondLst>
                                            <p:cond delay="0"/>
                                          </p:stCondLst>
                                        </p:cTn>
                                        <p:tgtEl>
                                          <p:spTgt spid="354315"/>
                                        </p:tgtEl>
                                        <p:attrNameLst>
                                          <p:attrName>style.visibility</p:attrName>
                                        </p:attrNameLst>
                                      </p:cBhvr>
                                      <p:to>
                                        <p:strVal val="visible"/>
                                      </p:to>
                                    </p:set>
                                    <p:animEffect transition="in" filter="blinds(horizontal)">
                                      <p:cBhvr>
                                        <p:cTn id="28" dur="500"/>
                                        <p:tgtEl>
                                          <p:spTgt spid="354315"/>
                                        </p:tgtEl>
                                      </p:cBhvr>
                                    </p:animEffect>
                                  </p:childTnLst>
                                </p:cTn>
                              </p:par>
                              <p:par>
                                <p:cTn id="29" presetID="3" presetClass="entr" presetSubtype="10" fill="hold" nodeType="withEffect">
                                  <p:stCondLst>
                                    <p:cond delay="0"/>
                                  </p:stCondLst>
                                  <p:childTnLst>
                                    <p:set>
                                      <p:cBhvr>
                                        <p:cTn id="30" dur="1" fill="hold">
                                          <p:stCondLst>
                                            <p:cond delay="0"/>
                                          </p:stCondLst>
                                        </p:cTn>
                                        <p:tgtEl>
                                          <p:spTgt spid="354313"/>
                                        </p:tgtEl>
                                        <p:attrNameLst>
                                          <p:attrName>style.visibility</p:attrName>
                                        </p:attrNameLst>
                                      </p:cBhvr>
                                      <p:to>
                                        <p:strVal val="visible"/>
                                      </p:to>
                                    </p:set>
                                    <p:animEffect transition="in" filter="blinds(horizontal)">
                                      <p:cBhvr>
                                        <p:cTn id="31" dur="500"/>
                                        <p:tgtEl>
                                          <p:spTgt spid="354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981200" y="457200"/>
            <a:ext cx="8229600" cy="901700"/>
          </a:xfrm>
        </p:spPr>
        <p:txBody>
          <a:bodyPr/>
          <a:lstStyle/>
          <a:p>
            <a:pPr algn="ctr" eaLnBrk="1" hangingPunct="1"/>
            <a:r>
              <a:rPr lang="zh-CN" altLang="en-US">
                <a:solidFill>
                  <a:srgbClr val="057939"/>
                </a:solidFill>
                <a:latin typeface="黑体" pitchFamily="2" charset="-122"/>
                <a:ea typeface="黑体" pitchFamily="2" charset="-122"/>
              </a:rPr>
              <a:t>最长距离法的递推公式</a:t>
            </a:r>
          </a:p>
        </p:txBody>
      </p:sp>
      <p:sp>
        <p:nvSpPr>
          <p:cNvPr id="287749" name="Rectangle 5"/>
          <p:cNvSpPr>
            <a:spLocks noRot="1" noChangeArrowheads="1"/>
          </p:cNvSpPr>
          <p:nvPr/>
        </p:nvSpPr>
        <p:spPr bwMode="auto">
          <a:xfrm>
            <a:off x="1271464" y="1628800"/>
            <a:ext cx="9505056"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30000"/>
              </a:lnSpc>
            </a:pPr>
            <a:r>
              <a:rPr lang="en-US" altLang="zh-CN" sz="3200" b="1" dirty="0">
                <a:solidFill>
                  <a:srgbClr val="FC3F04"/>
                </a:solidFill>
              </a:rPr>
              <a:t>    </a:t>
            </a:r>
            <a:r>
              <a:rPr lang="zh-CN" altLang="en-US" sz="3200" b="1" dirty="0"/>
              <a:t>假设第</a:t>
            </a:r>
            <a:r>
              <a:rPr lang="en-US" altLang="zh-CN" sz="3200" b="1" dirty="0"/>
              <a:t>p</a:t>
            </a:r>
            <a:r>
              <a:rPr lang="zh-CN" altLang="en-US" sz="3200" b="1" dirty="0"/>
              <a:t>类和第</a:t>
            </a:r>
            <a:r>
              <a:rPr lang="en-US" altLang="zh-CN" sz="3200" b="1" dirty="0"/>
              <a:t>q</a:t>
            </a:r>
            <a:r>
              <a:rPr lang="zh-CN" altLang="en-US" sz="3200" b="1" dirty="0"/>
              <a:t>类合并成第 </a:t>
            </a:r>
            <a:r>
              <a:rPr lang="en-US" altLang="zh-CN" sz="3200" b="1" i="1" dirty="0" err="1"/>
              <a:t>rl</a:t>
            </a:r>
            <a:r>
              <a:rPr lang="en-US" altLang="zh-CN" sz="3200" b="1" i="1" dirty="0"/>
              <a:t> </a:t>
            </a:r>
            <a:r>
              <a:rPr lang="zh-CN" altLang="en-US" sz="3200" b="1" dirty="0"/>
              <a:t>类，第 </a:t>
            </a:r>
            <a:r>
              <a:rPr lang="en-US" altLang="zh-CN" sz="3200" b="1" i="1" dirty="0" err="1"/>
              <a:t>rl</a:t>
            </a:r>
            <a:r>
              <a:rPr lang="en-US" altLang="zh-CN" sz="3200" b="1" i="1" dirty="0"/>
              <a:t> </a:t>
            </a:r>
            <a:r>
              <a:rPr lang="zh-CN" altLang="en-US" sz="3200" b="1" dirty="0"/>
              <a:t>类与其它各旧类的距离按最长距离法为：</a:t>
            </a:r>
          </a:p>
        </p:txBody>
      </p:sp>
      <p:graphicFrame>
        <p:nvGraphicFramePr>
          <p:cNvPr id="287750" name="Object 6"/>
          <p:cNvGraphicFramePr>
            <a:graphicFrameLocks noChangeAspect="1"/>
          </p:cNvGraphicFramePr>
          <p:nvPr>
            <p:extLst>
              <p:ext uri="{D42A27DB-BD31-4B8C-83A1-F6EECF244321}">
                <p14:modId xmlns:p14="http://schemas.microsoft.com/office/powerpoint/2010/main" val="2245278319"/>
              </p:ext>
            </p:extLst>
          </p:nvPr>
        </p:nvGraphicFramePr>
        <p:xfrm>
          <a:off x="2161939" y="2854793"/>
          <a:ext cx="6029745" cy="738460"/>
        </p:xfrm>
        <a:graphic>
          <a:graphicData uri="http://schemas.openxmlformats.org/presentationml/2006/ole">
            <mc:AlternateContent xmlns:mc="http://schemas.openxmlformats.org/markup-compatibility/2006">
              <mc:Choice xmlns:v="urn:schemas-microsoft-com:vml" Requires="v">
                <p:oleObj name="Equation" r:id="rId2" imgW="4667357" imgH="552420" progId="Equation.DSMT4">
                  <p:embed/>
                </p:oleObj>
              </mc:Choice>
              <mc:Fallback>
                <p:oleObj name="Equation" r:id="rId2" imgW="4667357" imgH="55242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1939" y="2854793"/>
                        <a:ext cx="6029745" cy="738460"/>
                      </a:xfrm>
                      <a:prstGeom prst="rect">
                        <a:avLst/>
                      </a:prstGeom>
                      <a:noFill/>
                      <a:ln>
                        <a:noFill/>
                      </a:ln>
                    </p:spPr>
                  </p:pic>
                </p:oleObj>
              </mc:Fallback>
            </mc:AlternateContent>
          </a:graphicData>
        </a:graphic>
      </p:graphicFrame>
      <p:graphicFrame>
        <p:nvGraphicFramePr>
          <p:cNvPr id="287751" name="Object 7"/>
          <p:cNvGraphicFramePr>
            <a:graphicFrameLocks noChangeAspect="1"/>
          </p:cNvGraphicFramePr>
          <p:nvPr>
            <p:extLst>
              <p:ext uri="{D42A27DB-BD31-4B8C-83A1-F6EECF244321}">
                <p14:modId xmlns:p14="http://schemas.microsoft.com/office/powerpoint/2010/main" val="3686748656"/>
              </p:ext>
            </p:extLst>
          </p:nvPr>
        </p:nvGraphicFramePr>
        <p:xfrm>
          <a:off x="2778316" y="3869580"/>
          <a:ext cx="6246922" cy="738460"/>
        </p:xfrm>
        <a:graphic>
          <a:graphicData uri="http://schemas.openxmlformats.org/presentationml/2006/ole">
            <mc:AlternateContent xmlns:mc="http://schemas.openxmlformats.org/markup-compatibility/2006">
              <mc:Choice xmlns:v="urn:schemas-microsoft-com:vml" Requires="v">
                <p:oleObj name="Equation" r:id="rId4" imgW="5257868" imgH="609660" progId="Equation.DSMT4">
                  <p:embed/>
                </p:oleObj>
              </mc:Choice>
              <mc:Fallback>
                <p:oleObj name="Equation" r:id="rId4" imgW="5257868" imgH="6096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8316" y="3869580"/>
                        <a:ext cx="6246922" cy="738460"/>
                      </a:xfrm>
                      <a:prstGeom prst="rect">
                        <a:avLst/>
                      </a:prstGeom>
                      <a:noFill/>
                      <a:ln>
                        <a:noFill/>
                      </a:ln>
                    </p:spPr>
                  </p:pic>
                </p:oleObj>
              </mc:Fallback>
            </mc:AlternateContent>
          </a:graphicData>
        </a:graphic>
      </p:graphicFrame>
      <p:graphicFrame>
        <p:nvGraphicFramePr>
          <p:cNvPr id="287753" name="Object 9"/>
          <p:cNvGraphicFramePr>
            <a:graphicFrameLocks noChangeAspect="1"/>
          </p:cNvGraphicFramePr>
          <p:nvPr>
            <p:extLst>
              <p:ext uri="{D42A27DB-BD31-4B8C-83A1-F6EECF244321}">
                <p14:modId xmlns:p14="http://schemas.microsoft.com/office/powerpoint/2010/main" val="2935525298"/>
              </p:ext>
            </p:extLst>
          </p:nvPr>
        </p:nvGraphicFramePr>
        <p:xfrm>
          <a:off x="2778316" y="5038874"/>
          <a:ext cx="3014867" cy="738460"/>
        </p:xfrm>
        <a:graphic>
          <a:graphicData uri="http://schemas.openxmlformats.org/presentationml/2006/ole">
            <mc:AlternateContent xmlns:mc="http://schemas.openxmlformats.org/markup-compatibility/2006">
              <mc:Choice xmlns:v="urn:schemas-microsoft-com:vml" Requires="v">
                <p:oleObj name="Equation" r:id="rId6" imgW="2324224" imgH="552420" progId="Equation.DSMT4">
                  <p:embed/>
                </p:oleObj>
              </mc:Choice>
              <mc:Fallback>
                <p:oleObj name="Equation" r:id="rId6" imgW="2324224" imgH="55242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8316" y="5038874"/>
                        <a:ext cx="3014867" cy="738460"/>
                      </a:xfrm>
                      <a:prstGeom prst="rect">
                        <a:avLst/>
                      </a:prstGeom>
                      <a:noFill/>
                      <a:ln>
                        <a:noFill/>
                      </a:ln>
                    </p:spPr>
                  </p:pic>
                </p:oleObj>
              </mc:Fallback>
            </mc:AlternateContent>
          </a:graphicData>
        </a:graphic>
      </p:graphicFrame>
      <p:pic>
        <p:nvPicPr>
          <p:cNvPr id="58377"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27713" y="5038874"/>
            <a:ext cx="3660775" cy="141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4799856" y="2924944"/>
            <a:ext cx="232940" cy="461665"/>
          </a:xfrm>
          <a:prstGeom prst="rect">
            <a:avLst/>
          </a:prstGeom>
          <a:solidFill>
            <a:schemeClr val="bg1"/>
          </a:solidFill>
        </p:spPr>
        <p:txBody>
          <a:bodyPr wrap="square" rtlCol="0">
            <a:spAutoFit/>
          </a:bodyPr>
          <a:lstStyle/>
          <a:p>
            <a:r>
              <a:rPr lang="en-US" altLang="zh-CN" sz="2400" dirty="0"/>
              <a:t>|</a:t>
            </a:r>
            <a:endParaRPr lang="zh-CN" altLang="en-US" sz="2400" dirty="0"/>
          </a:p>
        </p:txBody>
      </p:sp>
      <p:sp>
        <p:nvSpPr>
          <p:cNvPr id="11" name="TextBox 10"/>
          <p:cNvSpPr txBox="1"/>
          <p:nvPr/>
        </p:nvSpPr>
        <p:spPr>
          <a:xfrm>
            <a:off x="4655840" y="3975447"/>
            <a:ext cx="232940" cy="461665"/>
          </a:xfrm>
          <a:prstGeom prst="rect">
            <a:avLst/>
          </a:prstGeom>
          <a:solidFill>
            <a:schemeClr val="bg1"/>
          </a:solidFill>
        </p:spPr>
        <p:txBody>
          <a:bodyPr wrap="square" rtlCol="0">
            <a:spAutoFit/>
          </a:bodyPr>
          <a:lstStyle/>
          <a:p>
            <a:r>
              <a:rPr lang="en-US" altLang="zh-CN" sz="2400" dirty="0"/>
              <a:t>|</a:t>
            </a:r>
            <a:endParaRPr lang="zh-CN" altLang="en-US" sz="2400" dirty="0"/>
          </a:p>
        </p:txBody>
      </p:sp>
      <p:sp>
        <p:nvSpPr>
          <p:cNvPr id="2" name="灯片编号占位符 1">
            <a:extLst>
              <a:ext uri="{FF2B5EF4-FFF2-40B4-BE49-F238E27FC236}">
                <a16:creationId xmlns:a16="http://schemas.microsoft.com/office/drawing/2014/main" id="{0B941C50-D885-DC70-6921-AFF383C609B2}"/>
              </a:ext>
            </a:extLst>
          </p:cNvPr>
          <p:cNvSpPr>
            <a:spLocks noGrp="1"/>
          </p:cNvSpPr>
          <p:nvPr>
            <p:ph type="sldNum" sz="quarter" idx="11"/>
          </p:nvPr>
        </p:nvSpPr>
        <p:spPr/>
        <p:txBody>
          <a:bodyPr/>
          <a:lstStyle/>
          <a:p>
            <a:pPr>
              <a:defRPr/>
            </a:pPr>
            <a:fld id="{F13753BC-CAEF-4333-AC48-2805658F6E3F}" type="slidenum">
              <a:rPr lang="en-US" altLang="zh-CN" smtClean="0"/>
              <a:pPr>
                <a:defRPr/>
              </a:pPr>
              <a:t>67</a:t>
            </a:fld>
            <a:endParaRPr lang="en-US" altLang="zh-CN"/>
          </a:p>
        </p:txBody>
      </p:sp>
    </p:spTree>
    <p:extLst>
      <p:ext uri="{BB962C8B-B14F-4D97-AF65-F5344CB8AC3E}">
        <p14:creationId xmlns:p14="http://schemas.microsoft.com/office/powerpoint/2010/main" val="30747549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7749"/>
                                        </p:tgtEl>
                                        <p:attrNameLst>
                                          <p:attrName>style.visibility</p:attrName>
                                        </p:attrNameLst>
                                      </p:cBhvr>
                                      <p:to>
                                        <p:strVal val="visible"/>
                                      </p:to>
                                    </p:set>
                                    <p:animEffect transition="in" filter="wipe(up)">
                                      <p:cBhvr>
                                        <p:cTn id="7" dur="500"/>
                                        <p:tgtEl>
                                          <p:spTgt spid="2877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7750"/>
                                        </p:tgtEl>
                                        <p:attrNameLst>
                                          <p:attrName>style.visibility</p:attrName>
                                        </p:attrNameLst>
                                      </p:cBhvr>
                                      <p:to>
                                        <p:strVal val="visible"/>
                                      </p:to>
                                    </p:set>
                                    <p:animEffect transition="in" filter="blinds(horizontal)">
                                      <p:cBhvr>
                                        <p:cTn id="12" dur="500"/>
                                        <p:tgtEl>
                                          <p:spTgt spid="287750"/>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87751"/>
                                        </p:tgtEl>
                                        <p:attrNameLst>
                                          <p:attrName>style.visibility</p:attrName>
                                        </p:attrNameLst>
                                      </p:cBhvr>
                                      <p:to>
                                        <p:strVal val="visible"/>
                                      </p:to>
                                    </p:set>
                                    <p:animEffect transition="in" filter="blinds(horizontal)">
                                      <p:cBhvr>
                                        <p:cTn id="19" dur="500"/>
                                        <p:tgtEl>
                                          <p:spTgt spid="287751"/>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87753"/>
                                        </p:tgtEl>
                                        <p:attrNameLst>
                                          <p:attrName>style.visibility</p:attrName>
                                        </p:attrNameLst>
                                      </p:cBhvr>
                                      <p:to>
                                        <p:strVal val="visible"/>
                                      </p:to>
                                    </p:set>
                                    <p:animEffect transition="in" filter="blinds(horizontal)">
                                      <p:cBhvr>
                                        <p:cTn id="26" dur="500"/>
                                        <p:tgtEl>
                                          <p:spTgt spid="287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9" grpId="0"/>
      <p:bldP spid="10"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5014913"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4275" name="Rectangle 3"/>
          <p:cNvSpPr>
            <a:spLocks noChangeArrowheads="1"/>
          </p:cNvSpPr>
          <p:nvPr/>
        </p:nvSpPr>
        <p:spPr bwMode="auto">
          <a:xfrm>
            <a:off x="4953000" y="33099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4276" name="Rectangle 39"/>
          <p:cNvSpPr>
            <a:spLocks noGrp="1" noChangeArrowheads="1"/>
          </p:cNvSpPr>
          <p:nvPr>
            <p:ph type="title"/>
          </p:nvPr>
        </p:nvSpPr>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graphicFrame>
        <p:nvGraphicFramePr>
          <p:cNvPr id="282628" name="Group 4"/>
          <p:cNvGraphicFramePr>
            <a:graphicFrameLocks noGrp="1"/>
          </p:cNvGraphicFramePr>
          <p:nvPr>
            <p:ph idx="4294967295"/>
            <p:extLst>
              <p:ext uri="{D42A27DB-BD31-4B8C-83A1-F6EECF244321}">
                <p14:modId xmlns:p14="http://schemas.microsoft.com/office/powerpoint/2010/main" val="3728634231"/>
              </p:ext>
            </p:extLst>
          </p:nvPr>
        </p:nvGraphicFramePr>
        <p:xfrm>
          <a:off x="2928294" y="2708920"/>
          <a:ext cx="4895898" cy="2072640"/>
        </p:xfrm>
        <a:graphic>
          <a:graphicData uri="http://schemas.openxmlformats.org/drawingml/2006/table">
            <a:tbl>
              <a:tblPr/>
              <a:tblGrid>
                <a:gridCol w="1223974">
                  <a:extLst>
                    <a:ext uri="{9D8B030D-6E8A-4147-A177-3AD203B41FA5}">
                      <a16:colId xmlns:a16="http://schemas.microsoft.com/office/drawing/2014/main" val="20000"/>
                    </a:ext>
                  </a:extLst>
                </a:gridCol>
                <a:gridCol w="1223975">
                  <a:extLst>
                    <a:ext uri="{9D8B030D-6E8A-4147-A177-3AD203B41FA5}">
                      <a16:colId xmlns:a16="http://schemas.microsoft.com/office/drawing/2014/main" val="20001"/>
                    </a:ext>
                  </a:extLst>
                </a:gridCol>
                <a:gridCol w="1223974">
                  <a:extLst>
                    <a:ext uri="{9D8B030D-6E8A-4147-A177-3AD203B41FA5}">
                      <a16:colId xmlns:a16="http://schemas.microsoft.com/office/drawing/2014/main" val="20002"/>
                    </a:ext>
                  </a:extLst>
                </a:gridCol>
                <a:gridCol w="1223975">
                  <a:extLst>
                    <a:ext uri="{9D8B030D-6E8A-4147-A177-3AD203B41FA5}">
                      <a16:colId xmlns:a16="http://schemas.microsoft.com/office/drawing/2014/main" val="20003"/>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12</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3</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45</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12</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3</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2.5</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1" lang="en-US" altLang="zh-CN" sz="2800" b="1" i="1" kern="1200" dirty="0">
                          <a:solidFill>
                            <a:schemeClr val="tx2"/>
                          </a:solidFill>
                          <a:latin typeface="+mn-lt"/>
                          <a:ea typeface="楷体_GB2312" pitchFamily="49" charset="-122"/>
                          <a:cs typeface="+mn-cs"/>
                        </a:rPr>
                        <a:t>G</a:t>
                      </a:r>
                      <a:r>
                        <a:rPr kumimoji="1" lang="en-US" altLang="zh-CN" sz="2800" b="1" kern="1200" baseline="-25000" dirty="0">
                          <a:solidFill>
                            <a:schemeClr val="tx2"/>
                          </a:solidFill>
                          <a:latin typeface="+mn-lt"/>
                          <a:ea typeface="楷体_GB2312" pitchFamily="49" charset="-122"/>
                          <a:cs typeface="+mn-cs"/>
                        </a:rPr>
                        <a:t>45</a:t>
                      </a: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8.0</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5.5</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4312" name="Rectangle 40"/>
          <p:cNvSpPr>
            <a:spLocks noChangeArrowheads="1"/>
          </p:cNvSpPr>
          <p:nvPr/>
        </p:nvSpPr>
        <p:spPr bwMode="auto">
          <a:xfrm>
            <a:off x="1919288" y="2132856"/>
            <a:ext cx="71294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 </a:t>
            </a:r>
            <a:r>
              <a:rPr kumimoji="1" lang="en-US" altLang="zh-CN" sz="2800" b="1" i="1" dirty="0">
                <a:solidFill>
                  <a:schemeClr val="tx2"/>
                </a:solidFill>
                <a:latin typeface="+mj-lt"/>
                <a:ea typeface="楷体_GB2312" pitchFamily="49" charset="-122"/>
              </a:rPr>
              <a:t>G</a:t>
            </a:r>
            <a:r>
              <a:rPr kumimoji="1" lang="en-US" altLang="zh-CN" sz="2800" b="1" baseline="-25000" dirty="0">
                <a:solidFill>
                  <a:schemeClr val="tx2"/>
                </a:solidFill>
                <a:latin typeface="+mj-lt"/>
                <a:ea typeface="楷体_GB2312" pitchFamily="49" charset="-122"/>
              </a:rPr>
              <a:t>4 </a:t>
            </a:r>
            <a:r>
              <a:rPr kumimoji="1" lang="zh-CN" altLang="en-US" sz="2800" b="1" dirty="0">
                <a:solidFill>
                  <a:schemeClr val="tx2"/>
                </a:solidFill>
                <a:latin typeface="楷体_GB2312" pitchFamily="49" charset="-122"/>
                <a:ea typeface="楷体_GB2312" pitchFamily="49" charset="-122"/>
              </a:rPr>
              <a:t>和</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5 </a:t>
            </a:r>
            <a:r>
              <a:rPr kumimoji="1" lang="zh-CN" altLang="en-US" sz="2800" b="1" dirty="0">
                <a:solidFill>
                  <a:schemeClr val="tx2"/>
                </a:solidFill>
                <a:latin typeface="楷体_GB2312" pitchFamily="49" charset="-122"/>
                <a:ea typeface="楷体_GB2312" pitchFamily="49" charset="-122"/>
              </a:rPr>
              <a:t>被聚为新类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45</a:t>
            </a:r>
            <a:r>
              <a:rPr kumimoji="1" lang="zh-CN" altLang="en-US" sz="2800" b="1" dirty="0">
                <a:solidFill>
                  <a:schemeClr val="tx2"/>
                </a:solidFill>
                <a:latin typeface="楷体_GB2312" pitchFamily="49" charset="-122"/>
                <a:ea typeface="楷体_GB2312" pitchFamily="49" charset="-122"/>
              </a:rPr>
              <a:t>，得</a:t>
            </a:r>
            <a:r>
              <a:rPr kumimoji="1" lang="en-US" altLang="zh-CN" sz="2800" b="1" dirty="0">
                <a:solidFill>
                  <a:srgbClr val="057939"/>
                </a:solidFill>
                <a:ea typeface="楷体_GB2312" pitchFamily="49" charset="-122"/>
              </a:rPr>
              <a:t>D(2)</a:t>
            </a:r>
            <a:r>
              <a:rPr kumimoji="1" lang="zh-CN" altLang="en-US" sz="2800" b="1" dirty="0">
                <a:solidFill>
                  <a:schemeClr val="tx2"/>
                </a:solidFill>
                <a:latin typeface="楷体_GB2312" pitchFamily="49" charset="-122"/>
                <a:ea typeface="楷体_GB2312" pitchFamily="49" charset="-122"/>
              </a:rPr>
              <a:t>： </a:t>
            </a:r>
          </a:p>
        </p:txBody>
      </p:sp>
      <p:sp>
        <p:nvSpPr>
          <p:cNvPr id="54311" name="Rectangle 45"/>
          <p:cNvSpPr>
            <a:spLocks noChangeArrowheads="1"/>
          </p:cNvSpPr>
          <p:nvPr/>
        </p:nvSpPr>
        <p:spPr bwMode="auto">
          <a:xfrm>
            <a:off x="1055440" y="1488649"/>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2</a:t>
            </a:r>
            <a:r>
              <a:rPr kumimoji="1" lang="zh-CN" altLang="en-US" sz="3200" dirty="0">
                <a:solidFill>
                  <a:srgbClr val="3333FF"/>
                </a:solidFill>
                <a:latin typeface="黑体" pitchFamily="2" charset="-122"/>
                <a:ea typeface="黑体" pitchFamily="2" charset="-122"/>
              </a:rPr>
              <a:t>、 最长距离法</a:t>
            </a:r>
          </a:p>
        </p:txBody>
      </p:sp>
      <p:sp>
        <p:nvSpPr>
          <p:cNvPr id="19" name="Rectangle 66"/>
          <p:cNvSpPr>
            <a:spLocks noChangeArrowheads="1"/>
          </p:cNvSpPr>
          <p:nvPr/>
        </p:nvSpPr>
        <p:spPr bwMode="auto">
          <a:xfrm>
            <a:off x="5079330" y="4797822"/>
            <a:ext cx="3536950" cy="2087563"/>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bg2"/>
              </a:buClr>
              <a:buSzPct val="75000"/>
            </a:pPr>
            <a:r>
              <a:rPr lang="en-US" altLang="zh-CN" sz="2800" dirty="0"/>
              <a:t>(1,2)  (3)  (4)  (5)</a:t>
            </a:r>
          </a:p>
          <a:p>
            <a:pPr marL="342900" indent="-342900">
              <a:spcBef>
                <a:spcPct val="20000"/>
              </a:spcBef>
              <a:buClr>
                <a:schemeClr val="bg2"/>
              </a:buClr>
              <a:buSzPct val="75000"/>
            </a:pPr>
            <a:r>
              <a:rPr lang="en-US" altLang="zh-CN" sz="2800" dirty="0"/>
              <a:t>(1,2)  (3)  (4,5)</a:t>
            </a:r>
          </a:p>
          <a:p>
            <a:pPr marL="342900" indent="-342900">
              <a:spcBef>
                <a:spcPct val="20000"/>
              </a:spcBef>
              <a:buClr>
                <a:schemeClr val="bg2"/>
              </a:buClr>
              <a:buSzPct val="75000"/>
            </a:pPr>
            <a:r>
              <a:rPr lang="en-US" altLang="zh-CN" sz="2800" dirty="0"/>
              <a:t>(1,2,3)  (4,5)</a:t>
            </a:r>
          </a:p>
          <a:p>
            <a:pPr marL="342900" indent="-342900">
              <a:spcBef>
                <a:spcPct val="20000"/>
              </a:spcBef>
              <a:buClr>
                <a:schemeClr val="bg2"/>
              </a:buClr>
              <a:buSzPct val="75000"/>
            </a:pPr>
            <a:r>
              <a:rPr lang="en-US" altLang="zh-CN" sz="2800" dirty="0"/>
              <a:t>(1,2,3,4,5)</a:t>
            </a:r>
          </a:p>
        </p:txBody>
      </p:sp>
      <p:sp>
        <p:nvSpPr>
          <p:cNvPr id="20" name="Rectangle 68"/>
          <p:cNvSpPr>
            <a:spLocks noChangeArrowheads="1"/>
          </p:cNvSpPr>
          <p:nvPr/>
        </p:nvSpPr>
        <p:spPr bwMode="auto">
          <a:xfrm>
            <a:off x="1955130" y="4789884"/>
            <a:ext cx="304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EE0006"/>
                </a:solidFill>
                <a:ea typeface="楷体_GB2312" pitchFamily="49" charset="-122"/>
              </a:rPr>
              <a:t>各步聚类的结果：</a:t>
            </a:r>
          </a:p>
        </p:txBody>
      </p:sp>
      <p:sp>
        <p:nvSpPr>
          <p:cNvPr id="2" name="灯片编号占位符 1">
            <a:extLst>
              <a:ext uri="{FF2B5EF4-FFF2-40B4-BE49-F238E27FC236}">
                <a16:creationId xmlns:a16="http://schemas.microsoft.com/office/drawing/2014/main" id="{E3FDEBAB-C11F-BE53-7EC3-7D130BC610D3}"/>
              </a:ext>
            </a:extLst>
          </p:cNvPr>
          <p:cNvSpPr>
            <a:spLocks noGrp="1"/>
          </p:cNvSpPr>
          <p:nvPr>
            <p:ph type="sldNum" sz="quarter" idx="11"/>
          </p:nvPr>
        </p:nvSpPr>
        <p:spPr/>
        <p:txBody>
          <a:bodyPr/>
          <a:lstStyle/>
          <a:p>
            <a:pPr>
              <a:defRPr/>
            </a:pPr>
            <a:fld id="{2F44A83F-C644-4D2F-BA00-DBFF3DBED7EA}" type="slidenum">
              <a:rPr lang="en-US" altLang="zh-CN" smtClean="0"/>
              <a:pPr>
                <a:defRPr/>
              </a:pPr>
              <a:t>68</a:t>
            </a:fld>
            <a:endParaRPr lang="en-US" altLang="zh-CN"/>
          </a:p>
        </p:txBody>
      </p:sp>
    </p:spTree>
    <p:extLst>
      <p:ext uri="{BB962C8B-B14F-4D97-AF65-F5344CB8AC3E}">
        <p14:creationId xmlns:p14="http://schemas.microsoft.com/office/powerpoint/2010/main" val="6661228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2628"/>
                                        </p:tgtEl>
                                        <p:attrNameLst>
                                          <p:attrName>style.visibility</p:attrName>
                                        </p:attrNameLst>
                                      </p:cBhvr>
                                      <p:to>
                                        <p:strVal val="visible"/>
                                      </p:to>
                                    </p:set>
                                    <p:animEffect transition="in" filter="fade">
                                      <p:cBhvr>
                                        <p:cTn id="7" dur="1000"/>
                                        <p:tgtEl>
                                          <p:spTgt spid="282628"/>
                                        </p:tgtEl>
                                      </p:cBhvr>
                                    </p:animEffect>
                                    <p:anim calcmode="lin" valueType="num">
                                      <p:cBhvr>
                                        <p:cTn id="8" dur="1000" fill="hold"/>
                                        <p:tgtEl>
                                          <p:spTgt spid="282628"/>
                                        </p:tgtEl>
                                        <p:attrNameLst>
                                          <p:attrName>ppt_x</p:attrName>
                                        </p:attrNameLst>
                                      </p:cBhvr>
                                      <p:tavLst>
                                        <p:tav tm="0">
                                          <p:val>
                                            <p:strVal val="#ppt_x"/>
                                          </p:val>
                                        </p:tav>
                                        <p:tav tm="100000">
                                          <p:val>
                                            <p:strVal val="#ppt_x"/>
                                          </p:val>
                                        </p:tav>
                                      </p:tavLst>
                                    </p:anim>
                                    <p:anim calcmode="lin" valueType="num">
                                      <p:cBhvr>
                                        <p:cTn id="9" dur="1000" fill="hold"/>
                                        <p:tgtEl>
                                          <p:spTgt spid="2826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9" name="云形标注 59398"/>
          <p:cNvSpPr/>
          <p:nvPr/>
        </p:nvSpPr>
        <p:spPr>
          <a:xfrm rot="329335">
            <a:off x="6531412" y="1700808"/>
            <a:ext cx="4608512" cy="1656184"/>
          </a:xfrm>
          <a:prstGeom prst="cloudCallout">
            <a:avLst>
              <a:gd name="adj1" fmla="val 22689"/>
              <a:gd name="adj2" fmla="val -34564"/>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833191" y="2600958"/>
            <a:ext cx="138933" cy="14739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394"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endParaRPr kumimoji="1" lang="zh-CN" altLang="en-US" sz="3600" dirty="0"/>
          </a:p>
        </p:txBody>
      </p:sp>
      <p:graphicFrame>
        <p:nvGraphicFramePr>
          <p:cNvPr id="288773" name="Object 5"/>
          <p:cNvGraphicFramePr>
            <a:graphicFrameLocks noChangeAspect="1"/>
          </p:cNvGraphicFramePr>
          <p:nvPr>
            <p:extLst>
              <p:ext uri="{D42A27DB-BD31-4B8C-83A1-F6EECF244321}">
                <p14:modId xmlns:p14="http://schemas.microsoft.com/office/powerpoint/2010/main" val="575488785"/>
              </p:ext>
            </p:extLst>
          </p:nvPr>
        </p:nvGraphicFramePr>
        <p:xfrm>
          <a:off x="6906798" y="2118853"/>
          <a:ext cx="419100" cy="431800"/>
        </p:xfrm>
        <a:graphic>
          <a:graphicData uri="http://schemas.openxmlformats.org/presentationml/2006/ole">
            <mc:AlternateContent xmlns:mc="http://schemas.openxmlformats.org/markup-compatibility/2006">
              <mc:Choice xmlns:v="urn:schemas-microsoft-com:vml" Requires="v">
                <p:oleObj name="Equation" r:id="rId2" imgW="418918" imgH="431613" progId="Equation.DSMT4">
                  <p:embed/>
                </p:oleObj>
              </mc:Choice>
              <mc:Fallback>
                <p:oleObj name="Equation" r:id="rId2" imgW="418918" imgH="431613"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6798" y="2118853"/>
                        <a:ext cx="419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8774" name="Object 6"/>
          <p:cNvGraphicFramePr>
            <a:graphicFrameLocks noChangeAspect="1"/>
          </p:cNvGraphicFramePr>
          <p:nvPr>
            <p:extLst>
              <p:ext uri="{D42A27DB-BD31-4B8C-83A1-F6EECF244321}">
                <p14:modId xmlns:p14="http://schemas.microsoft.com/office/powerpoint/2010/main" val="238438946"/>
              </p:ext>
            </p:extLst>
          </p:nvPr>
        </p:nvGraphicFramePr>
        <p:xfrm>
          <a:off x="10467832" y="2131057"/>
          <a:ext cx="393700" cy="469900"/>
        </p:xfrm>
        <a:graphic>
          <a:graphicData uri="http://schemas.openxmlformats.org/presentationml/2006/ole">
            <mc:AlternateContent xmlns:mc="http://schemas.openxmlformats.org/markup-compatibility/2006">
              <mc:Choice xmlns:v="urn:schemas-microsoft-com:vml" Requires="v">
                <p:oleObj name="Equation" r:id="rId4" imgW="393529" imgH="469696" progId="Equation.DSMT4">
                  <p:embed/>
                </p:oleObj>
              </mc:Choice>
              <mc:Fallback>
                <p:oleObj name="Equation" r:id="rId4" imgW="393529" imgH="46969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67832" y="2131057"/>
                        <a:ext cx="3937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8775" name="Object 7"/>
          <p:cNvGraphicFramePr>
            <a:graphicFrameLocks noChangeAspect="1"/>
          </p:cNvGraphicFramePr>
          <p:nvPr>
            <p:extLst>
              <p:ext uri="{D42A27DB-BD31-4B8C-83A1-F6EECF244321}">
                <p14:modId xmlns:p14="http://schemas.microsoft.com/office/powerpoint/2010/main" val="1144512945"/>
              </p:ext>
            </p:extLst>
          </p:nvPr>
        </p:nvGraphicFramePr>
        <p:xfrm>
          <a:off x="7828107" y="4653384"/>
          <a:ext cx="406400" cy="431800"/>
        </p:xfrm>
        <a:graphic>
          <a:graphicData uri="http://schemas.openxmlformats.org/presentationml/2006/ole">
            <mc:AlternateContent xmlns:mc="http://schemas.openxmlformats.org/markup-compatibility/2006">
              <mc:Choice xmlns:v="urn:schemas-microsoft-com:vml" Requires="v">
                <p:oleObj name="Equation" r:id="rId6" imgW="406224" imgH="431613" progId="Equation.DSMT4">
                  <p:embed/>
                </p:oleObj>
              </mc:Choice>
              <mc:Fallback>
                <p:oleObj name="Equation" r:id="rId6" imgW="406224" imgH="4316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8107" y="4653384"/>
                        <a:ext cx="406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8777" name="Object 9"/>
          <p:cNvGraphicFramePr>
            <a:graphicFrameLocks noChangeAspect="1"/>
          </p:cNvGraphicFramePr>
          <p:nvPr>
            <p:extLst>
              <p:ext uri="{D42A27DB-BD31-4B8C-83A1-F6EECF244321}">
                <p14:modId xmlns:p14="http://schemas.microsoft.com/office/powerpoint/2010/main" val="552124809"/>
              </p:ext>
            </p:extLst>
          </p:nvPr>
        </p:nvGraphicFramePr>
        <p:xfrm>
          <a:off x="8557276" y="3213224"/>
          <a:ext cx="508000" cy="431800"/>
        </p:xfrm>
        <a:graphic>
          <a:graphicData uri="http://schemas.openxmlformats.org/presentationml/2006/ole">
            <mc:AlternateContent xmlns:mc="http://schemas.openxmlformats.org/markup-compatibility/2006">
              <mc:Choice xmlns:v="urn:schemas-microsoft-com:vml" Requires="v">
                <p:oleObj name="Equation" r:id="rId8" imgW="507960" imgH="431640" progId="Equation.DSMT4">
                  <p:embed/>
                </p:oleObj>
              </mc:Choice>
              <mc:Fallback>
                <p:oleObj name="Equation" r:id="rId8" imgW="507960" imgH="431640" progId="Equation.DSMT4">
                  <p:embed/>
                  <p:pic>
                    <p:nvPicPr>
                      <p:cNvPr id="0" name=""/>
                      <p:cNvPicPr>
                        <a:picLocks noChangeAspect="1" noChangeArrowheads="1"/>
                      </p:cNvPicPr>
                      <p:nvPr/>
                    </p:nvPicPr>
                    <p:blipFill>
                      <a:blip r:embed="rId9"/>
                      <a:srcRect/>
                      <a:stretch>
                        <a:fillRect/>
                      </a:stretch>
                    </p:blipFill>
                    <p:spPr bwMode="auto">
                      <a:xfrm>
                        <a:off x="8557276" y="3213224"/>
                        <a:ext cx="508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80" name="Rectangle 12"/>
          <p:cNvSpPr>
            <a:spLocks noChangeArrowheads="1"/>
          </p:cNvSpPr>
          <p:nvPr/>
        </p:nvSpPr>
        <p:spPr bwMode="auto">
          <a:xfrm rot="19362494">
            <a:off x="8362304" y="3527096"/>
            <a:ext cx="235726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dirty="0"/>
              <a:t>最长距离</a:t>
            </a:r>
            <a:r>
              <a:rPr lang="en-US" altLang="zh-CN" sz="2800" b="1" i="1" dirty="0" err="1">
                <a:latin typeface="Times New Roman" panose="02020603050405020304" pitchFamily="18" charset="0"/>
                <a:cs typeface="Times New Roman" panose="02020603050405020304" pitchFamily="18" charset="0"/>
              </a:rPr>
              <a:t>D</a:t>
            </a:r>
            <a:r>
              <a:rPr lang="en-US" altLang="zh-CN" sz="2800" b="1" i="1" baseline="-25000" dirty="0" err="1">
                <a:latin typeface="Times New Roman" panose="02020603050405020304" pitchFamily="18" charset="0"/>
                <a:cs typeface="Times New Roman" panose="02020603050405020304" pitchFamily="18" charset="0"/>
              </a:rPr>
              <a:t>Lq</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288781" name="Rectangle 13"/>
          <p:cNvSpPr>
            <a:spLocks noChangeArrowheads="1"/>
          </p:cNvSpPr>
          <p:nvPr/>
        </p:nvSpPr>
        <p:spPr bwMode="auto">
          <a:xfrm rot="4102093">
            <a:off x="6289944" y="3383889"/>
            <a:ext cx="2142557"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dirty="0"/>
              <a:t>最短距离</a:t>
            </a:r>
            <a:r>
              <a:rPr lang="en-US" altLang="zh-CN" sz="2800" b="1" i="1" dirty="0" err="1">
                <a:latin typeface="Times New Roman" panose="02020603050405020304" pitchFamily="18" charset="0"/>
                <a:cs typeface="Times New Roman" panose="02020603050405020304" pitchFamily="18" charset="0"/>
              </a:rPr>
              <a:t>D</a:t>
            </a:r>
            <a:r>
              <a:rPr lang="en-US" altLang="zh-CN" sz="2800" b="1" i="1" baseline="-25000" dirty="0" err="1">
                <a:latin typeface="Times New Roman" panose="02020603050405020304" pitchFamily="18" charset="0"/>
                <a:cs typeface="Times New Roman" panose="02020603050405020304" pitchFamily="18" charset="0"/>
              </a:rPr>
              <a:t>Lp</a:t>
            </a:r>
            <a:endParaRPr lang="zh-CN" altLang="en-US" sz="2800" b="1" dirty="0"/>
          </a:p>
        </p:txBody>
      </p:sp>
      <p:sp>
        <p:nvSpPr>
          <p:cNvPr id="59407" name="Rectangle 16"/>
          <p:cNvSpPr>
            <a:spLocks noChangeArrowheads="1"/>
          </p:cNvSpPr>
          <p:nvPr/>
        </p:nvSpPr>
        <p:spPr bwMode="auto">
          <a:xfrm>
            <a:off x="1703388" y="1625426"/>
            <a:ext cx="282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0000FF"/>
                </a:solidFill>
                <a:latin typeface="黑体" pitchFamily="2" charset="-122"/>
                <a:ea typeface="黑体" pitchFamily="2" charset="-122"/>
              </a:rPr>
              <a:t>3</a:t>
            </a:r>
            <a:r>
              <a:rPr kumimoji="1" lang="zh-CN" altLang="en-US" sz="3200" dirty="0">
                <a:solidFill>
                  <a:srgbClr val="0000FF"/>
                </a:solidFill>
                <a:latin typeface="黑体" pitchFamily="2" charset="-122"/>
                <a:ea typeface="黑体" pitchFamily="2" charset="-122"/>
              </a:rPr>
              <a:t>、中间距离法</a:t>
            </a:r>
          </a:p>
        </p:txBody>
      </p:sp>
      <p:cxnSp>
        <p:nvCxnSpPr>
          <p:cNvPr id="3" name="直接连接符 2"/>
          <p:cNvCxnSpPr/>
          <p:nvPr/>
        </p:nvCxnSpPr>
        <p:spPr>
          <a:xfrm>
            <a:off x="7240744" y="2582295"/>
            <a:ext cx="342393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7972124" y="2582296"/>
            <a:ext cx="2692558" cy="19716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240743" y="2582296"/>
            <a:ext cx="731380" cy="19716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7972124" y="2600958"/>
            <a:ext cx="1" cy="1953035"/>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972125" y="2600958"/>
            <a:ext cx="864095" cy="1953035"/>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468067" y="2041932"/>
            <a:ext cx="730246" cy="523220"/>
          </a:xfrm>
          <a:prstGeom prst="rect">
            <a:avLst/>
          </a:prstGeom>
          <a:noFill/>
        </p:spPr>
        <p:txBody>
          <a:bodyPr wrap="square" rtlCol="0">
            <a:spAutoFit/>
          </a:bodyPr>
          <a:lstStyle/>
          <a:p>
            <a:r>
              <a:rPr lang="en-US" altLang="zh-CN" sz="2800" b="1" i="1" dirty="0"/>
              <a:t>b</a:t>
            </a:r>
            <a:endParaRPr lang="zh-CN" altLang="en-US" sz="2800" b="1" i="1" dirty="0"/>
          </a:p>
        </p:txBody>
      </p:sp>
      <p:sp>
        <p:nvSpPr>
          <p:cNvPr id="30" name="TextBox 29"/>
          <p:cNvSpPr txBox="1"/>
          <p:nvPr/>
        </p:nvSpPr>
        <p:spPr>
          <a:xfrm>
            <a:off x="9318403" y="2004644"/>
            <a:ext cx="730246" cy="523220"/>
          </a:xfrm>
          <a:prstGeom prst="rect">
            <a:avLst/>
          </a:prstGeom>
          <a:noFill/>
        </p:spPr>
        <p:txBody>
          <a:bodyPr wrap="square" rtlCol="0">
            <a:spAutoFit/>
          </a:bodyPr>
          <a:lstStyle/>
          <a:p>
            <a:r>
              <a:rPr lang="en-US" altLang="zh-CN" sz="2800" b="1" i="1" dirty="0">
                <a:solidFill>
                  <a:srgbClr val="00B0F0"/>
                </a:solidFill>
              </a:rPr>
              <a:t>a</a:t>
            </a:r>
            <a:endParaRPr lang="zh-CN" altLang="en-US" sz="2800" b="1" i="1" dirty="0">
              <a:solidFill>
                <a:srgbClr val="00B0F0"/>
              </a:solidFill>
            </a:endParaRPr>
          </a:p>
        </p:txBody>
      </p:sp>
      <p:cxnSp>
        <p:nvCxnSpPr>
          <p:cNvPr id="19" name="直接连接符 18"/>
          <p:cNvCxnSpPr/>
          <p:nvPr/>
        </p:nvCxnSpPr>
        <p:spPr>
          <a:xfrm>
            <a:off x="7972124" y="2565153"/>
            <a:ext cx="2692559" cy="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972125" y="2637160"/>
            <a:ext cx="864095"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26" name="对象 25"/>
          <p:cNvGraphicFramePr>
            <a:graphicFrameLocks noChangeAspect="1"/>
          </p:cNvGraphicFramePr>
          <p:nvPr>
            <p:extLst>
              <p:ext uri="{D42A27DB-BD31-4B8C-83A1-F6EECF244321}">
                <p14:modId xmlns:p14="http://schemas.microsoft.com/office/powerpoint/2010/main" val="1705916104"/>
              </p:ext>
            </p:extLst>
          </p:nvPr>
        </p:nvGraphicFramePr>
        <p:xfrm>
          <a:off x="2135560" y="2392363"/>
          <a:ext cx="1878012" cy="527050"/>
        </p:xfrm>
        <a:graphic>
          <a:graphicData uri="http://schemas.openxmlformats.org/presentationml/2006/ole">
            <mc:AlternateContent xmlns:mc="http://schemas.openxmlformats.org/markup-compatibility/2006">
              <mc:Choice xmlns:v="urn:schemas-microsoft-com:vml" Requires="v">
                <p:oleObj name="Equation" r:id="rId10" imgW="1866600" imgH="507960" progId="Equation.DSMT4">
                  <p:embed/>
                </p:oleObj>
              </mc:Choice>
              <mc:Fallback>
                <p:oleObj name="Equation" r:id="rId10" imgW="1866600" imgH="507960" progId="Equation.DSMT4">
                  <p:embed/>
                  <p:pic>
                    <p:nvPicPr>
                      <p:cNvPr id="0" name=""/>
                      <p:cNvPicPr>
                        <a:picLocks noChangeAspect="1" noChangeArrowheads="1"/>
                      </p:cNvPicPr>
                      <p:nvPr/>
                    </p:nvPicPr>
                    <p:blipFill>
                      <a:blip r:embed="rId11"/>
                      <a:srcRect/>
                      <a:stretch>
                        <a:fillRect/>
                      </a:stretch>
                    </p:blipFill>
                    <p:spPr bwMode="auto">
                      <a:xfrm>
                        <a:off x="2135560" y="2392363"/>
                        <a:ext cx="187801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TextBox 42"/>
          <p:cNvSpPr txBox="1"/>
          <p:nvPr/>
        </p:nvSpPr>
        <p:spPr>
          <a:xfrm>
            <a:off x="7620467" y="3121804"/>
            <a:ext cx="730246" cy="523220"/>
          </a:xfrm>
          <a:prstGeom prst="rect">
            <a:avLst/>
          </a:prstGeom>
          <a:noFill/>
        </p:spPr>
        <p:txBody>
          <a:bodyPr wrap="square" rtlCol="0">
            <a:spAutoFit/>
          </a:bodyPr>
          <a:lstStyle/>
          <a:p>
            <a:r>
              <a:rPr lang="en-US" altLang="zh-CN" sz="2800" b="1" i="1" dirty="0">
                <a:solidFill>
                  <a:srgbClr val="057939"/>
                </a:solidFill>
              </a:rPr>
              <a:t>h</a:t>
            </a:r>
            <a:endParaRPr lang="zh-CN" altLang="en-US" sz="2800" b="1" i="1" dirty="0">
              <a:solidFill>
                <a:srgbClr val="057939"/>
              </a:solidFill>
            </a:endParaRPr>
          </a:p>
        </p:txBody>
      </p:sp>
      <p:graphicFrame>
        <p:nvGraphicFramePr>
          <p:cNvPr id="27" name="对象 26"/>
          <p:cNvGraphicFramePr>
            <a:graphicFrameLocks noChangeAspect="1"/>
          </p:cNvGraphicFramePr>
          <p:nvPr>
            <p:extLst>
              <p:ext uri="{D42A27DB-BD31-4B8C-83A1-F6EECF244321}">
                <p14:modId xmlns:p14="http://schemas.microsoft.com/office/powerpoint/2010/main" val="3729966354"/>
              </p:ext>
            </p:extLst>
          </p:nvPr>
        </p:nvGraphicFramePr>
        <p:xfrm>
          <a:off x="2141910" y="2996952"/>
          <a:ext cx="1865312" cy="527050"/>
        </p:xfrm>
        <a:graphic>
          <a:graphicData uri="http://schemas.openxmlformats.org/presentationml/2006/ole">
            <mc:AlternateContent xmlns:mc="http://schemas.openxmlformats.org/markup-compatibility/2006">
              <mc:Choice xmlns:v="urn:schemas-microsoft-com:vml" Requires="v">
                <p:oleObj name="Equation" r:id="rId12" imgW="1854000" imgH="507960" progId="Equation.DSMT4">
                  <p:embed/>
                </p:oleObj>
              </mc:Choice>
              <mc:Fallback>
                <p:oleObj name="Equation" r:id="rId12" imgW="1854000" imgH="507960" progId="Equation.DSMT4">
                  <p:embed/>
                  <p:pic>
                    <p:nvPicPr>
                      <p:cNvPr id="0" name=""/>
                      <p:cNvPicPr>
                        <a:picLocks noChangeAspect="1" noChangeArrowheads="1"/>
                      </p:cNvPicPr>
                      <p:nvPr/>
                    </p:nvPicPr>
                    <p:blipFill>
                      <a:blip r:embed="rId13"/>
                      <a:srcRect/>
                      <a:stretch>
                        <a:fillRect/>
                      </a:stretch>
                    </p:blipFill>
                    <p:spPr bwMode="auto">
                      <a:xfrm>
                        <a:off x="2141910" y="2996952"/>
                        <a:ext cx="186531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2230102761"/>
              </p:ext>
            </p:extLst>
          </p:nvPr>
        </p:nvGraphicFramePr>
        <p:xfrm>
          <a:off x="2166790" y="3429001"/>
          <a:ext cx="2633067" cy="987777"/>
        </p:xfrm>
        <a:graphic>
          <a:graphicData uri="http://schemas.openxmlformats.org/presentationml/2006/ole">
            <mc:AlternateContent xmlns:mc="http://schemas.openxmlformats.org/markup-compatibility/2006">
              <mc:Choice xmlns:v="urn:schemas-microsoft-com:vml" Requires="v">
                <p:oleObj name="Equation" r:id="rId14" imgW="2755800" imgH="1002960" progId="Equation.DSMT4">
                  <p:embed/>
                </p:oleObj>
              </mc:Choice>
              <mc:Fallback>
                <p:oleObj name="Equation" r:id="rId14" imgW="2755800" imgH="1002960" progId="Equation.DSMT4">
                  <p:embed/>
                  <p:pic>
                    <p:nvPicPr>
                      <p:cNvPr id="0" name=""/>
                      <p:cNvPicPr>
                        <a:picLocks noChangeAspect="1" noChangeArrowheads="1"/>
                      </p:cNvPicPr>
                      <p:nvPr/>
                    </p:nvPicPr>
                    <p:blipFill>
                      <a:blip r:embed="rId15"/>
                      <a:srcRect/>
                      <a:stretch>
                        <a:fillRect/>
                      </a:stretch>
                    </p:blipFill>
                    <p:spPr bwMode="auto">
                      <a:xfrm>
                        <a:off x="2166790" y="3429001"/>
                        <a:ext cx="2633067" cy="987777"/>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59392" name="TextBox 59391"/>
              <p:cNvSpPr txBox="1"/>
              <p:nvPr/>
            </p:nvSpPr>
            <p:spPr>
              <a:xfrm>
                <a:off x="7765189" y="1876446"/>
                <a:ext cx="1305233" cy="6164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b="1" i="1" smtClean="0">
                              <a:solidFill>
                                <a:srgbClr val="EE0006"/>
                              </a:solidFill>
                              <a:latin typeface="Cambria Math" panose="02040503050406030204" pitchFamily="18" charset="0"/>
                            </a:rPr>
                          </m:ctrlPr>
                        </m:fPr>
                        <m:num>
                          <m:r>
                            <a:rPr lang="en-US" altLang="zh-CN" b="1" i="1" smtClean="0">
                              <a:solidFill>
                                <a:srgbClr val="EE0006"/>
                              </a:solidFill>
                              <a:latin typeface="Cambria Math"/>
                            </a:rPr>
                            <m:t>𝒂</m:t>
                          </m:r>
                          <m:r>
                            <a:rPr lang="en-US" altLang="zh-CN" b="1" i="1" smtClean="0">
                              <a:solidFill>
                                <a:srgbClr val="EE0006"/>
                              </a:solidFill>
                              <a:latin typeface="Cambria Math"/>
                            </a:rPr>
                            <m:t>−</m:t>
                          </m:r>
                          <m:r>
                            <a:rPr lang="en-US" altLang="zh-CN" b="1" i="1" smtClean="0">
                              <a:solidFill>
                                <a:srgbClr val="EE0006"/>
                              </a:solidFill>
                              <a:latin typeface="Cambria Math"/>
                            </a:rPr>
                            <m:t>𝒃</m:t>
                          </m:r>
                        </m:num>
                        <m:den>
                          <m:r>
                            <a:rPr lang="en-US" altLang="zh-CN" b="1" i="1" smtClean="0">
                              <a:solidFill>
                                <a:srgbClr val="EE0006"/>
                              </a:solidFill>
                              <a:latin typeface="Cambria Math"/>
                            </a:rPr>
                            <m:t>𝟐</m:t>
                          </m:r>
                        </m:den>
                      </m:f>
                    </m:oMath>
                  </m:oMathPara>
                </a14:m>
                <a:endParaRPr lang="zh-CN" altLang="en-US" b="1" dirty="0"/>
              </a:p>
            </p:txBody>
          </p:sp>
        </mc:Choice>
        <mc:Fallback xmlns="">
          <p:sp>
            <p:nvSpPr>
              <p:cNvPr id="59392" name="TextBox 59391"/>
              <p:cNvSpPr txBox="1">
                <a:spLocks noRot="1" noChangeAspect="1" noMove="1" noResize="1" noEditPoints="1" noAdjustHandles="1" noChangeArrowheads="1" noChangeShapeType="1" noTextEdit="1"/>
              </p:cNvSpPr>
              <p:nvPr/>
            </p:nvSpPr>
            <p:spPr>
              <a:xfrm>
                <a:off x="7765189" y="1876446"/>
                <a:ext cx="1305233" cy="616451"/>
              </a:xfrm>
              <a:prstGeom prst="rect">
                <a:avLst/>
              </a:prstGeom>
              <a:blipFill>
                <a:blip r:embed="rId16"/>
                <a:stretch>
                  <a:fillRect/>
                </a:stretch>
              </a:blipFill>
            </p:spPr>
            <p:txBody>
              <a:bodyPr/>
              <a:lstStyle/>
              <a:p>
                <a:r>
                  <a:rPr lang="zh-CN" altLang="en-US">
                    <a:noFill/>
                  </a:rPr>
                  <a:t> </a:t>
                </a:r>
              </a:p>
            </p:txBody>
          </p:sp>
        </mc:Fallback>
      </mc:AlternateContent>
      <p:graphicFrame>
        <p:nvGraphicFramePr>
          <p:cNvPr id="59393" name="对象 59392"/>
          <p:cNvGraphicFramePr>
            <a:graphicFrameLocks noChangeAspect="1"/>
          </p:cNvGraphicFramePr>
          <p:nvPr>
            <p:extLst>
              <p:ext uri="{D42A27DB-BD31-4B8C-83A1-F6EECF244321}">
                <p14:modId xmlns:p14="http://schemas.microsoft.com/office/powerpoint/2010/main" val="480129286"/>
              </p:ext>
            </p:extLst>
          </p:nvPr>
        </p:nvGraphicFramePr>
        <p:xfrm>
          <a:off x="2742854" y="4365104"/>
          <a:ext cx="2633067" cy="832390"/>
        </p:xfrm>
        <a:graphic>
          <a:graphicData uri="http://schemas.openxmlformats.org/presentationml/2006/ole">
            <mc:AlternateContent xmlns:mc="http://schemas.openxmlformats.org/markup-compatibility/2006">
              <mc:Choice xmlns:v="urn:schemas-microsoft-com:vml" Requires="v">
                <p:oleObj name="Equation" r:id="rId17" imgW="2692080" imgH="825480" progId="Equation.DSMT4">
                  <p:embed/>
                </p:oleObj>
              </mc:Choice>
              <mc:Fallback>
                <p:oleObj name="Equation" r:id="rId17" imgW="2692080" imgH="825480" progId="Equation.DSMT4">
                  <p:embed/>
                  <p:pic>
                    <p:nvPicPr>
                      <p:cNvPr id="0" name=""/>
                      <p:cNvPicPr>
                        <a:picLocks noChangeAspect="1" noChangeArrowheads="1"/>
                      </p:cNvPicPr>
                      <p:nvPr/>
                    </p:nvPicPr>
                    <p:blipFill>
                      <a:blip r:embed="rId18"/>
                      <a:srcRect/>
                      <a:stretch>
                        <a:fillRect/>
                      </a:stretch>
                    </p:blipFill>
                    <p:spPr bwMode="auto">
                      <a:xfrm>
                        <a:off x="2742854" y="4365104"/>
                        <a:ext cx="2633067" cy="832390"/>
                      </a:xfrm>
                      <a:prstGeom prst="rect">
                        <a:avLst/>
                      </a:prstGeom>
                      <a:noFill/>
                      <a:ln>
                        <a:noFill/>
                      </a:ln>
                    </p:spPr>
                  </p:pic>
                </p:oleObj>
              </mc:Fallback>
            </mc:AlternateContent>
          </a:graphicData>
        </a:graphic>
      </p:graphicFrame>
      <p:graphicFrame>
        <p:nvGraphicFramePr>
          <p:cNvPr id="59395" name="对象 59394"/>
          <p:cNvGraphicFramePr>
            <a:graphicFrameLocks noChangeAspect="1"/>
          </p:cNvGraphicFramePr>
          <p:nvPr>
            <p:extLst>
              <p:ext uri="{D42A27DB-BD31-4B8C-83A1-F6EECF244321}">
                <p14:modId xmlns:p14="http://schemas.microsoft.com/office/powerpoint/2010/main" val="1015172715"/>
              </p:ext>
            </p:extLst>
          </p:nvPr>
        </p:nvGraphicFramePr>
        <p:xfrm>
          <a:off x="2774544" y="5229200"/>
          <a:ext cx="5553705" cy="828980"/>
        </p:xfrm>
        <a:graphic>
          <a:graphicData uri="http://schemas.openxmlformats.org/presentationml/2006/ole">
            <mc:AlternateContent xmlns:mc="http://schemas.openxmlformats.org/markup-compatibility/2006">
              <mc:Choice xmlns:v="urn:schemas-microsoft-com:vml" Requires="v">
                <p:oleObj name="Equation" r:id="rId19" imgW="5702040" imgH="825480" progId="Equation.DSMT4">
                  <p:embed/>
                </p:oleObj>
              </mc:Choice>
              <mc:Fallback>
                <p:oleObj name="Equation" r:id="rId19" imgW="5702040" imgH="825480" progId="Equation.DSMT4">
                  <p:embed/>
                  <p:pic>
                    <p:nvPicPr>
                      <p:cNvPr id="0" name=""/>
                      <p:cNvPicPr>
                        <a:picLocks noChangeAspect="1" noChangeArrowheads="1"/>
                      </p:cNvPicPr>
                      <p:nvPr/>
                    </p:nvPicPr>
                    <p:blipFill>
                      <a:blip r:embed="rId20"/>
                      <a:srcRect/>
                      <a:stretch>
                        <a:fillRect/>
                      </a:stretch>
                    </p:blipFill>
                    <p:spPr bwMode="auto">
                      <a:xfrm>
                        <a:off x="2774544" y="5229200"/>
                        <a:ext cx="5553705" cy="828980"/>
                      </a:xfrm>
                      <a:prstGeom prst="rect">
                        <a:avLst/>
                      </a:prstGeom>
                      <a:noFill/>
                      <a:ln>
                        <a:noFill/>
                      </a:ln>
                    </p:spPr>
                  </p:pic>
                </p:oleObj>
              </mc:Fallback>
            </mc:AlternateContent>
          </a:graphicData>
        </a:graphic>
      </p:graphicFrame>
      <p:graphicFrame>
        <p:nvGraphicFramePr>
          <p:cNvPr id="59396" name="对象 59395"/>
          <p:cNvGraphicFramePr>
            <a:graphicFrameLocks noChangeAspect="1"/>
          </p:cNvGraphicFramePr>
          <p:nvPr>
            <p:extLst>
              <p:ext uri="{D42A27DB-BD31-4B8C-83A1-F6EECF244321}">
                <p14:modId xmlns:p14="http://schemas.microsoft.com/office/powerpoint/2010/main" val="2367352822"/>
              </p:ext>
            </p:extLst>
          </p:nvPr>
        </p:nvGraphicFramePr>
        <p:xfrm>
          <a:off x="2783633" y="6021288"/>
          <a:ext cx="3724027" cy="810356"/>
        </p:xfrm>
        <a:graphic>
          <a:graphicData uri="http://schemas.openxmlformats.org/presentationml/2006/ole">
            <mc:AlternateContent xmlns:mc="http://schemas.openxmlformats.org/markup-compatibility/2006">
              <mc:Choice xmlns:v="urn:schemas-microsoft-com:vml" Requires="v">
                <p:oleObj name="Equation" r:id="rId21" imgW="3911400" imgH="825480" progId="Equation.DSMT4">
                  <p:embed/>
                </p:oleObj>
              </mc:Choice>
              <mc:Fallback>
                <p:oleObj name="Equation" r:id="rId21" imgW="3911400" imgH="825480" progId="Equation.DSMT4">
                  <p:embed/>
                  <p:pic>
                    <p:nvPicPr>
                      <p:cNvPr id="0" name=""/>
                      <p:cNvPicPr>
                        <a:picLocks noChangeAspect="1" noChangeArrowheads="1"/>
                      </p:cNvPicPr>
                      <p:nvPr/>
                    </p:nvPicPr>
                    <p:blipFill>
                      <a:blip r:embed="rId22"/>
                      <a:srcRect/>
                      <a:stretch>
                        <a:fillRect/>
                      </a:stretch>
                    </p:blipFill>
                    <p:spPr bwMode="auto">
                      <a:xfrm>
                        <a:off x="2783633" y="6021288"/>
                        <a:ext cx="3724027" cy="810356"/>
                      </a:xfrm>
                      <a:prstGeom prst="rect">
                        <a:avLst/>
                      </a:prstGeom>
                      <a:noFill/>
                      <a:ln>
                        <a:noFill/>
                      </a:ln>
                    </p:spPr>
                  </p:pic>
                </p:oleObj>
              </mc:Fallback>
            </mc:AlternateContent>
          </a:graphicData>
        </a:graphic>
      </p:graphicFrame>
      <p:graphicFrame>
        <p:nvGraphicFramePr>
          <p:cNvPr id="59397" name="对象 59396"/>
          <p:cNvGraphicFramePr>
            <a:graphicFrameLocks noChangeAspect="1"/>
          </p:cNvGraphicFramePr>
          <p:nvPr>
            <p:extLst>
              <p:ext uri="{D42A27DB-BD31-4B8C-83A1-F6EECF244321}">
                <p14:modId xmlns:p14="http://schemas.microsoft.com/office/powerpoint/2010/main" val="1998561789"/>
              </p:ext>
            </p:extLst>
          </p:nvPr>
        </p:nvGraphicFramePr>
        <p:xfrm>
          <a:off x="6672064" y="6003752"/>
          <a:ext cx="3143250" cy="809625"/>
        </p:xfrm>
        <a:graphic>
          <a:graphicData uri="http://schemas.openxmlformats.org/presentationml/2006/ole">
            <mc:AlternateContent xmlns:mc="http://schemas.openxmlformats.org/markup-compatibility/2006">
              <mc:Choice xmlns:v="urn:schemas-microsoft-com:vml" Requires="v">
                <p:oleObj name="Equation" r:id="rId23" imgW="3301920" imgH="825480" progId="Equation.DSMT4">
                  <p:embed/>
                </p:oleObj>
              </mc:Choice>
              <mc:Fallback>
                <p:oleObj name="Equation" r:id="rId23" imgW="3301920" imgH="825480" progId="Equation.DSMT4">
                  <p:embed/>
                  <p:pic>
                    <p:nvPicPr>
                      <p:cNvPr id="0" name=""/>
                      <p:cNvPicPr>
                        <a:picLocks noChangeAspect="1" noChangeArrowheads="1"/>
                      </p:cNvPicPr>
                      <p:nvPr/>
                    </p:nvPicPr>
                    <p:blipFill>
                      <a:blip r:embed="rId24"/>
                      <a:srcRect/>
                      <a:stretch>
                        <a:fillRect/>
                      </a:stretch>
                    </p:blipFill>
                    <p:spPr bwMode="auto">
                      <a:xfrm>
                        <a:off x="6672064" y="6003752"/>
                        <a:ext cx="31432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82F7A0C7-DB45-761A-C398-6462ACD951C1}"/>
              </a:ext>
            </a:extLst>
          </p:cNvPr>
          <p:cNvSpPr>
            <a:spLocks noGrp="1"/>
          </p:cNvSpPr>
          <p:nvPr>
            <p:ph type="sldNum" sz="quarter" idx="11"/>
          </p:nvPr>
        </p:nvSpPr>
        <p:spPr/>
        <p:txBody>
          <a:bodyPr/>
          <a:lstStyle/>
          <a:p>
            <a:pPr>
              <a:defRPr/>
            </a:pPr>
            <a:fld id="{2F44A83F-C644-4D2F-BA00-DBFF3DBED7EA}" type="slidenum">
              <a:rPr lang="en-US" altLang="zh-CN" smtClean="0"/>
              <a:pPr>
                <a:defRPr/>
              </a:pPr>
              <a:t>69</a:t>
            </a:fld>
            <a:endParaRPr lang="en-US" altLang="zh-CN"/>
          </a:p>
        </p:txBody>
      </p:sp>
    </p:spTree>
    <p:extLst>
      <p:ext uri="{BB962C8B-B14F-4D97-AF65-F5344CB8AC3E}">
        <p14:creationId xmlns:p14="http://schemas.microsoft.com/office/powerpoint/2010/main" val="23297427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8773"/>
                                        </p:tgtEl>
                                        <p:attrNameLst>
                                          <p:attrName>style.visibility</p:attrName>
                                        </p:attrNameLst>
                                      </p:cBhvr>
                                      <p:to>
                                        <p:strVal val="visible"/>
                                      </p:to>
                                    </p:set>
                                    <p:animEffect transition="in" filter="blinds(horizontal)">
                                      <p:cBhvr>
                                        <p:cTn id="7" dur="500"/>
                                        <p:tgtEl>
                                          <p:spTgt spid="288773"/>
                                        </p:tgtEl>
                                      </p:cBhvr>
                                    </p:animEffect>
                                  </p:childTnLst>
                                </p:cTn>
                              </p:par>
                            </p:childTnLst>
                          </p:cTn>
                        </p:par>
                        <p:par>
                          <p:cTn id="8" fill="hold" nodeType="with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88781"/>
                                        </p:tgtEl>
                                        <p:attrNameLst>
                                          <p:attrName>style.visibility</p:attrName>
                                        </p:attrNameLst>
                                      </p:cBhvr>
                                      <p:to>
                                        <p:strVal val="visible"/>
                                      </p:to>
                                    </p:set>
                                    <p:animEffect transition="in" filter="blinds(horizontal)">
                                      <p:cBhvr>
                                        <p:cTn id="11" dur="500"/>
                                        <p:tgtEl>
                                          <p:spTgt spid="28878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88774"/>
                                        </p:tgtEl>
                                        <p:attrNameLst>
                                          <p:attrName>style.visibility</p:attrName>
                                        </p:attrNameLst>
                                      </p:cBhvr>
                                      <p:to>
                                        <p:strVal val="visible"/>
                                      </p:to>
                                    </p:set>
                                    <p:animEffect transition="in" filter="blinds(horizontal)">
                                      <p:cBhvr>
                                        <p:cTn id="16" dur="500"/>
                                        <p:tgtEl>
                                          <p:spTgt spid="288774"/>
                                        </p:tgtEl>
                                      </p:cBhvr>
                                    </p:animEffect>
                                  </p:childTnLst>
                                </p:cTn>
                              </p:par>
                            </p:childTnLst>
                          </p:cTn>
                        </p:par>
                        <p:par>
                          <p:cTn id="17" fill="hold" nodeType="withGroup">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288780"/>
                                        </p:tgtEl>
                                        <p:attrNameLst>
                                          <p:attrName>style.visibility</p:attrName>
                                        </p:attrNameLst>
                                      </p:cBhvr>
                                      <p:to>
                                        <p:strVal val="visible"/>
                                      </p:to>
                                    </p:set>
                                    <p:animEffect transition="in" filter="blinds(horizontal)">
                                      <p:cBhvr>
                                        <p:cTn id="20" dur="500"/>
                                        <p:tgtEl>
                                          <p:spTgt spid="28878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88777"/>
                                        </p:tgtEl>
                                        <p:attrNameLst>
                                          <p:attrName>style.visibility</p:attrName>
                                        </p:attrNameLst>
                                      </p:cBhvr>
                                      <p:to>
                                        <p:strVal val="visible"/>
                                      </p:to>
                                    </p:set>
                                    <p:animEffect transition="in" filter="blinds(horizontal)">
                                      <p:cBhvr>
                                        <p:cTn id="25" dur="500"/>
                                        <p:tgtEl>
                                          <p:spTgt spid="28877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500"/>
                            </p:stCondLst>
                            <p:childTnLst>
                              <p:par>
                                <p:cTn id="42" presetID="42" presetClass="entr" presetSubtype="0" fill="hold" grpId="0" nodeType="afterEffect">
                                  <p:stCondLst>
                                    <p:cond delay="0"/>
                                  </p:stCondLst>
                                  <p:childTnLst>
                                    <p:set>
                                      <p:cBhvr>
                                        <p:cTn id="43" dur="1" fill="hold">
                                          <p:stCondLst>
                                            <p:cond delay="0"/>
                                          </p:stCondLst>
                                        </p:cTn>
                                        <p:tgtEl>
                                          <p:spTgt spid="59392"/>
                                        </p:tgtEl>
                                        <p:attrNameLst>
                                          <p:attrName>style.visibility</p:attrName>
                                        </p:attrNameLst>
                                      </p:cBhvr>
                                      <p:to>
                                        <p:strVal val="visible"/>
                                      </p:to>
                                    </p:set>
                                    <p:animEffect transition="in" filter="fade">
                                      <p:cBhvr>
                                        <p:cTn id="44" dur="1000"/>
                                        <p:tgtEl>
                                          <p:spTgt spid="59392"/>
                                        </p:tgtEl>
                                      </p:cBhvr>
                                    </p:animEffect>
                                    <p:anim calcmode="lin" valueType="num">
                                      <p:cBhvr>
                                        <p:cTn id="45" dur="1000" fill="hold"/>
                                        <p:tgtEl>
                                          <p:spTgt spid="59392"/>
                                        </p:tgtEl>
                                        <p:attrNameLst>
                                          <p:attrName>ppt_x</p:attrName>
                                        </p:attrNameLst>
                                      </p:cBhvr>
                                      <p:tavLst>
                                        <p:tav tm="0">
                                          <p:val>
                                            <p:strVal val="#ppt_x"/>
                                          </p:val>
                                        </p:tav>
                                        <p:tav tm="100000">
                                          <p:val>
                                            <p:strVal val="#ppt_x"/>
                                          </p:val>
                                        </p:tav>
                                      </p:tavLst>
                                    </p:anim>
                                    <p:anim calcmode="lin" valueType="num">
                                      <p:cBhvr>
                                        <p:cTn id="46" dur="1000" fill="hold"/>
                                        <p:tgtEl>
                                          <p:spTgt spid="5939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9393"/>
                                        </p:tgtEl>
                                        <p:attrNameLst>
                                          <p:attrName>style.visibility</p:attrName>
                                        </p:attrNameLst>
                                      </p:cBhvr>
                                      <p:to>
                                        <p:strVal val="visible"/>
                                      </p:to>
                                    </p:set>
                                    <p:animEffect transition="in" filter="wipe(left)">
                                      <p:cBhvr>
                                        <p:cTn id="56" dur="500"/>
                                        <p:tgtEl>
                                          <p:spTgt spid="5939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9395"/>
                                        </p:tgtEl>
                                        <p:attrNameLst>
                                          <p:attrName>style.visibility</p:attrName>
                                        </p:attrNameLst>
                                      </p:cBhvr>
                                      <p:to>
                                        <p:strVal val="visible"/>
                                      </p:to>
                                    </p:set>
                                    <p:animEffect transition="in" filter="wipe(left)">
                                      <p:cBhvr>
                                        <p:cTn id="61" dur="500"/>
                                        <p:tgtEl>
                                          <p:spTgt spid="5939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9396"/>
                                        </p:tgtEl>
                                        <p:attrNameLst>
                                          <p:attrName>style.visibility</p:attrName>
                                        </p:attrNameLst>
                                      </p:cBhvr>
                                      <p:to>
                                        <p:strVal val="visible"/>
                                      </p:to>
                                    </p:set>
                                    <p:animEffect transition="in" filter="wipe(left)">
                                      <p:cBhvr>
                                        <p:cTn id="66" dur="500"/>
                                        <p:tgtEl>
                                          <p:spTgt spid="5939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9397"/>
                                        </p:tgtEl>
                                        <p:attrNameLst>
                                          <p:attrName>style.visibility</p:attrName>
                                        </p:attrNameLst>
                                      </p:cBhvr>
                                      <p:to>
                                        <p:strVal val="visible"/>
                                      </p:to>
                                    </p:set>
                                    <p:animEffect transition="in" filter="wipe(left)">
                                      <p:cBhvr>
                                        <p:cTn id="71" dur="5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80" grpId="0"/>
      <p:bldP spid="288781" grpId="0"/>
      <p:bldP spid="5939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27"/>
          <p:cNvSpPr>
            <a:spLocks noGrp="1" noChangeArrowheads="1"/>
          </p:cNvSpPr>
          <p:nvPr>
            <p:ph type="title"/>
          </p:nvPr>
        </p:nvSpPr>
        <p:spPr>
          <a:xfrm>
            <a:off x="2063750" y="260350"/>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358528" name="Rectangle 128"/>
          <p:cNvSpPr>
            <a:spLocks noGrp="1" noChangeArrowheads="1"/>
          </p:cNvSpPr>
          <p:nvPr>
            <p:ph type="body" idx="1"/>
          </p:nvPr>
        </p:nvSpPr>
        <p:spPr>
          <a:xfrm>
            <a:off x="1559496" y="1484313"/>
            <a:ext cx="9361040" cy="1439862"/>
          </a:xfrm>
        </p:spPr>
        <p:txBody>
          <a:bodyPr/>
          <a:lstStyle/>
          <a:p>
            <a:pPr eaLnBrk="1" hangingPunct="1">
              <a:lnSpc>
                <a:spcPct val="90000"/>
              </a:lnSpc>
              <a:buFont typeface="Wingdings" pitchFamily="2" charset="2"/>
              <a:buNone/>
            </a:pPr>
            <a:r>
              <a:rPr kumimoji="1" lang="en-US" altLang="zh-CN" dirty="0">
                <a:solidFill>
                  <a:srgbClr val="3333FF"/>
                </a:solidFill>
              </a:rPr>
              <a:t>3</a:t>
            </a:r>
            <a:r>
              <a:rPr kumimoji="1" lang="zh-CN" altLang="en-US" dirty="0">
                <a:solidFill>
                  <a:srgbClr val="3333FF"/>
                </a:solidFill>
              </a:rPr>
              <a:t>、 </a:t>
            </a:r>
            <a:r>
              <a:rPr kumimoji="1" lang="zh-CN" altLang="en-US" dirty="0">
                <a:solidFill>
                  <a:srgbClr val="3333FF"/>
                </a:solidFill>
                <a:ea typeface="黑体" pitchFamily="2" charset="-122"/>
              </a:rPr>
              <a:t>中间距离法</a:t>
            </a:r>
          </a:p>
          <a:p>
            <a:pPr lvl="1" eaLnBrk="1" hangingPunct="1">
              <a:lnSpc>
                <a:spcPct val="90000"/>
              </a:lnSpc>
              <a:buFont typeface="Wingdings" pitchFamily="2" charset="2"/>
              <a:buNone/>
            </a:pPr>
            <a:r>
              <a:rPr kumimoji="1" lang="zh-CN" altLang="en-US" b="1" dirty="0">
                <a:solidFill>
                  <a:schemeClr val="tx2"/>
                </a:solidFill>
              </a:rPr>
              <a:t>用中间距离法对</a:t>
            </a:r>
            <a:r>
              <a:rPr kumimoji="1" lang="en-US" altLang="zh-CN" b="1" dirty="0">
                <a:solidFill>
                  <a:schemeClr val="tx2"/>
                </a:solidFill>
              </a:rPr>
              <a:t>5</a:t>
            </a:r>
            <a:r>
              <a:rPr kumimoji="1" lang="zh-CN" altLang="en-US" b="1" dirty="0">
                <a:solidFill>
                  <a:schemeClr val="tx2"/>
                </a:solidFill>
              </a:rPr>
              <a:t>个样本进行分类。</a:t>
            </a:r>
          </a:p>
          <a:p>
            <a:pPr eaLnBrk="1" hangingPunct="1">
              <a:lnSpc>
                <a:spcPct val="90000"/>
              </a:lnSpc>
            </a:pPr>
            <a:r>
              <a:rPr kumimoji="1" lang="zh-CN" altLang="en-US" sz="2800" b="1" dirty="0">
                <a:solidFill>
                  <a:schemeClr val="tx2"/>
                </a:solidFill>
                <a:ea typeface="楷体_GB2312" pitchFamily="49" charset="-122"/>
              </a:rPr>
              <a:t>首先采用欧氏距离计算距离矩阵</a:t>
            </a:r>
            <a:r>
              <a:rPr kumimoji="1" lang="zh-CN" altLang="en-US" dirty="0">
                <a:solidFill>
                  <a:schemeClr val="tx2"/>
                </a:solidFill>
              </a:rPr>
              <a:t>：        </a:t>
            </a:r>
            <a:r>
              <a:rPr kumimoji="1" lang="en-US" altLang="zh-CN" dirty="0">
                <a:solidFill>
                  <a:srgbClr val="057939"/>
                </a:solidFill>
              </a:rPr>
              <a:t>D(0)</a:t>
            </a:r>
          </a:p>
        </p:txBody>
      </p:sp>
      <p:graphicFrame>
        <p:nvGraphicFramePr>
          <p:cNvPr id="358529" name="Object 129"/>
          <p:cNvGraphicFramePr>
            <a:graphicFrameLocks noChangeAspect="1"/>
          </p:cNvGraphicFramePr>
          <p:nvPr/>
        </p:nvGraphicFramePr>
        <p:xfrm>
          <a:off x="2741613" y="4381500"/>
          <a:ext cx="374650" cy="425450"/>
        </p:xfrm>
        <a:graphic>
          <a:graphicData uri="http://schemas.openxmlformats.org/presentationml/2006/ole">
            <mc:AlternateContent xmlns:mc="http://schemas.openxmlformats.org/markup-compatibility/2006">
              <mc:Choice xmlns:v="urn:schemas-microsoft-com:vml" Requires="v">
                <p:oleObj name="公式" r:id="rId3" imgW="352523" imgH="390420" progId="Equation.3">
                  <p:embed/>
                </p:oleObj>
              </mc:Choice>
              <mc:Fallback>
                <p:oleObj name="公式" r:id="rId3" imgW="352523" imgH="3904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613" y="4381500"/>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30" name="Object 130"/>
          <p:cNvGraphicFramePr>
            <a:graphicFrameLocks noChangeAspect="1"/>
          </p:cNvGraphicFramePr>
          <p:nvPr/>
        </p:nvGraphicFramePr>
        <p:xfrm>
          <a:off x="6551613" y="3162300"/>
          <a:ext cx="368300" cy="431800"/>
        </p:xfrm>
        <a:graphic>
          <a:graphicData uri="http://schemas.openxmlformats.org/presentationml/2006/ole">
            <mc:AlternateContent xmlns:mc="http://schemas.openxmlformats.org/markup-compatibility/2006">
              <mc:Choice xmlns:v="urn:schemas-microsoft-com:vml" Requires="v">
                <p:oleObj name="公式" r:id="rId5" imgW="342799" imgH="400140" progId="Equation.3">
                  <p:embed/>
                </p:oleObj>
              </mc:Choice>
              <mc:Fallback>
                <p:oleObj name="公式" r:id="rId5" imgW="342799" imgH="4001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1613" y="3162300"/>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31" name="Object 131"/>
          <p:cNvGraphicFramePr>
            <a:graphicFrameLocks noChangeAspect="1"/>
          </p:cNvGraphicFramePr>
          <p:nvPr/>
        </p:nvGraphicFramePr>
        <p:xfrm>
          <a:off x="7923213" y="3162300"/>
          <a:ext cx="374650" cy="425450"/>
        </p:xfrm>
        <a:graphic>
          <a:graphicData uri="http://schemas.openxmlformats.org/presentationml/2006/ole">
            <mc:AlternateContent xmlns:mc="http://schemas.openxmlformats.org/markup-compatibility/2006">
              <mc:Choice xmlns:v="urn:schemas-microsoft-com:vml" Requires="v">
                <p:oleObj name="公式" r:id="rId7" imgW="352523" imgH="390420" progId="Equation.3">
                  <p:embed/>
                </p:oleObj>
              </mc:Choice>
              <mc:Fallback>
                <p:oleObj name="公式" r:id="rId7" imgW="352523" imgH="3904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3213" y="3162300"/>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58532" name="Group 132"/>
          <p:cNvGrpSpPr>
            <a:grpSpLocks/>
          </p:cNvGrpSpPr>
          <p:nvPr/>
        </p:nvGrpSpPr>
        <p:grpSpPr bwMode="auto">
          <a:xfrm>
            <a:off x="2208213" y="3009900"/>
            <a:ext cx="7848600" cy="3848100"/>
            <a:chOff x="-3" y="400"/>
            <a:chExt cx="3444" cy="2424"/>
          </a:xfrm>
        </p:grpSpPr>
        <p:grpSp>
          <p:nvGrpSpPr>
            <p:cNvPr id="60431" name="Group 133"/>
            <p:cNvGrpSpPr>
              <a:grpSpLocks/>
            </p:cNvGrpSpPr>
            <p:nvPr/>
          </p:nvGrpSpPr>
          <p:grpSpPr bwMode="auto">
            <a:xfrm>
              <a:off x="0" y="403"/>
              <a:ext cx="3438" cy="2418"/>
              <a:chOff x="0" y="403"/>
              <a:chExt cx="3438" cy="2418"/>
            </a:xfrm>
          </p:grpSpPr>
          <p:grpSp>
            <p:nvGrpSpPr>
              <p:cNvPr id="60433" name="Group 134"/>
              <p:cNvGrpSpPr>
                <a:grpSpLocks/>
              </p:cNvGrpSpPr>
              <p:nvPr/>
            </p:nvGrpSpPr>
            <p:grpSpPr bwMode="auto">
              <a:xfrm>
                <a:off x="0" y="403"/>
                <a:ext cx="573" cy="403"/>
                <a:chOff x="0" y="403"/>
                <a:chExt cx="573" cy="403"/>
              </a:xfrm>
            </p:grpSpPr>
            <p:sp>
              <p:nvSpPr>
                <p:cNvPr id="60539" name="Rectangle 135"/>
                <p:cNvSpPr>
                  <a:spLocks noChangeArrowheads="1"/>
                </p:cNvSpPr>
                <p:nvPr/>
              </p:nvSpPr>
              <p:spPr bwMode="auto">
                <a:xfrm>
                  <a:off x="43"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just" eaLnBrk="0" hangingPunct="0"/>
                  <a:endParaRPr kumimoji="1" lang="en-US" altLang="zh-CN" sz="2800">
                    <a:solidFill>
                      <a:schemeClr val="tx2"/>
                    </a:solidFill>
                    <a:latin typeface="Times New Roman" pitchFamily="18" charset="0"/>
                  </a:endParaRPr>
                </a:p>
              </p:txBody>
            </p:sp>
            <p:sp>
              <p:nvSpPr>
                <p:cNvPr id="60540" name="Rectangle 136"/>
                <p:cNvSpPr>
                  <a:spLocks noChangeArrowheads="1"/>
                </p:cNvSpPr>
                <p:nvPr/>
              </p:nvSpPr>
              <p:spPr bwMode="auto">
                <a:xfrm>
                  <a:off x="0"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4" name="Group 137"/>
              <p:cNvGrpSpPr>
                <a:grpSpLocks/>
              </p:cNvGrpSpPr>
              <p:nvPr/>
            </p:nvGrpSpPr>
            <p:grpSpPr bwMode="auto">
              <a:xfrm>
                <a:off x="573" y="403"/>
                <a:ext cx="573" cy="403"/>
                <a:chOff x="573" y="403"/>
                <a:chExt cx="573" cy="403"/>
              </a:xfrm>
            </p:grpSpPr>
            <p:sp>
              <p:nvSpPr>
                <p:cNvPr id="60537" name="Rectangle 138"/>
                <p:cNvSpPr>
                  <a:spLocks noChangeArrowheads="1"/>
                </p:cNvSpPr>
                <p:nvPr/>
              </p:nvSpPr>
              <p:spPr bwMode="auto">
                <a:xfrm>
                  <a:off x="616"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38" name="Rectangle 139"/>
                <p:cNvSpPr>
                  <a:spLocks noChangeArrowheads="1"/>
                </p:cNvSpPr>
                <p:nvPr/>
              </p:nvSpPr>
              <p:spPr bwMode="auto">
                <a:xfrm>
                  <a:off x="573"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5" name="Group 140"/>
              <p:cNvGrpSpPr>
                <a:grpSpLocks/>
              </p:cNvGrpSpPr>
              <p:nvPr/>
            </p:nvGrpSpPr>
            <p:grpSpPr bwMode="auto">
              <a:xfrm>
                <a:off x="1146" y="403"/>
                <a:ext cx="573" cy="403"/>
                <a:chOff x="1146" y="403"/>
                <a:chExt cx="573" cy="403"/>
              </a:xfrm>
            </p:grpSpPr>
            <p:sp>
              <p:nvSpPr>
                <p:cNvPr id="60535" name="Rectangle 141"/>
                <p:cNvSpPr>
                  <a:spLocks noChangeArrowheads="1"/>
                </p:cNvSpPr>
                <p:nvPr/>
              </p:nvSpPr>
              <p:spPr bwMode="auto">
                <a:xfrm>
                  <a:off x="1189"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36" name="Rectangle 142"/>
                <p:cNvSpPr>
                  <a:spLocks noChangeArrowheads="1"/>
                </p:cNvSpPr>
                <p:nvPr/>
              </p:nvSpPr>
              <p:spPr bwMode="auto">
                <a:xfrm>
                  <a:off x="1146"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6" name="Group 143"/>
              <p:cNvGrpSpPr>
                <a:grpSpLocks/>
              </p:cNvGrpSpPr>
              <p:nvPr/>
            </p:nvGrpSpPr>
            <p:grpSpPr bwMode="auto">
              <a:xfrm>
                <a:off x="1719" y="403"/>
                <a:ext cx="573" cy="403"/>
                <a:chOff x="1719" y="403"/>
                <a:chExt cx="573" cy="403"/>
              </a:xfrm>
            </p:grpSpPr>
            <p:sp>
              <p:nvSpPr>
                <p:cNvPr id="60533" name="Rectangle 144"/>
                <p:cNvSpPr>
                  <a:spLocks noChangeArrowheads="1"/>
                </p:cNvSpPr>
                <p:nvPr/>
              </p:nvSpPr>
              <p:spPr bwMode="auto">
                <a:xfrm>
                  <a:off x="1762"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34" name="Rectangle 145"/>
                <p:cNvSpPr>
                  <a:spLocks noChangeArrowheads="1"/>
                </p:cNvSpPr>
                <p:nvPr/>
              </p:nvSpPr>
              <p:spPr bwMode="auto">
                <a:xfrm>
                  <a:off x="1719"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7" name="Group 146"/>
              <p:cNvGrpSpPr>
                <a:grpSpLocks/>
              </p:cNvGrpSpPr>
              <p:nvPr/>
            </p:nvGrpSpPr>
            <p:grpSpPr bwMode="auto">
              <a:xfrm>
                <a:off x="2292" y="403"/>
                <a:ext cx="573" cy="403"/>
                <a:chOff x="2292" y="403"/>
                <a:chExt cx="573" cy="403"/>
              </a:xfrm>
            </p:grpSpPr>
            <p:sp>
              <p:nvSpPr>
                <p:cNvPr id="60531" name="Rectangle 147"/>
                <p:cNvSpPr>
                  <a:spLocks noChangeArrowheads="1"/>
                </p:cNvSpPr>
                <p:nvPr/>
              </p:nvSpPr>
              <p:spPr bwMode="auto">
                <a:xfrm>
                  <a:off x="2335"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32" name="Rectangle 148"/>
                <p:cNvSpPr>
                  <a:spLocks noChangeArrowheads="1"/>
                </p:cNvSpPr>
                <p:nvPr/>
              </p:nvSpPr>
              <p:spPr bwMode="auto">
                <a:xfrm>
                  <a:off x="2292"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8" name="Group 149"/>
              <p:cNvGrpSpPr>
                <a:grpSpLocks/>
              </p:cNvGrpSpPr>
              <p:nvPr/>
            </p:nvGrpSpPr>
            <p:grpSpPr bwMode="auto">
              <a:xfrm>
                <a:off x="2865" y="403"/>
                <a:ext cx="573" cy="403"/>
                <a:chOff x="2865" y="403"/>
                <a:chExt cx="573" cy="403"/>
              </a:xfrm>
            </p:grpSpPr>
            <p:sp>
              <p:nvSpPr>
                <p:cNvPr id="60529" name="Rectangle 150"/>
                <p:cNvSpPr>
                  <a:spLocks noChangeArrowheads="1"/>
                </p:cNvSpPr>
                <p:nvPr/>
              </p:nvSpPr>
              <p:spPr bwMode="auto">
                <a:xfrm>
                  <a:off x="2908"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30" name="Rectangle 151"/>
                <p:cNvSpPr>
                  <a:spLocks noChangeArrowheads="1"/>
                </p:cNvSpPr>
                <p:nvPr/>
              </p:nvSpPr>
              <p:spPr bwMode="auto">
                <a:xfrm>
                  <a:off x="2865"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39" name="Group 152"/>
              <p:cNvGrpSpPr>
                <a:grpSpLocks/>
              </p:cNvGrpSpPr>
              <p:nvPr/>
            </p:nvGrpSpPr>
            <p:grpSpPr bwMode="auto">
              <a:xfrm>
                <a:off x="0" y="806"/>
                <a:ext cx="573" cy="403"/>
                <a:chOff x="0" y="806"/>
                <a:chExt cx="573" cy="403"/>
              </a:xfrm>
            </p:grpSpPr>
            <p:sp>
              <p:nvSpPr>
                <p:cNvPr id="60527" name="Rectangle 153"/>
                <p:cNvSpPr>
                  <a:spLocks noChangeArrowheads="1"/>
                </p:cNvSpPr>
                <p:nvPr/>
              </p:nvSpPr>
              <p:spPr bwMode="auto">
                <a:xfrm>
                  <a:off x="43" y="806"/>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28" name="Rectangle 154"/>
                <p:cNvSpPr>
                  <a:spLocks noChangeArrowheads="1"/>
                </p:cNvSpPr>
                <p:nvPr/>
              </p:nvSpPr>
              <p:spPr bwMode="auto">
                <a:xfrm>
                  <a:off x="0"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0" name="Group 155"/>
              <p:cNvGrpSpPr>
                <a:grpSpLocks/>
              </p:cNvGrpSpPr>
              <p:nvPr/>
            </p:nvGrpSpPr>
            <p:grpSpPr bwMode="auto">
              <a:xfrm>
                <a:off x="573" y="806"/>
                <a:ext cx="573" cy="403"/>
                <a:chOff x="573" y="806"/>
                <a:chExt cx="573" cy="403"/>
              </a:xfrm>
            </p:grpSpPr>
            <p:sp>
              <p:nvSpPr>
                <p:cNvPr id="60525" name="Rectangle 156"/>
                <p:cNvSpPr>
                  <a:spLocks noChangeArrowheads="1"/>
                </p:cNvSpPr>
                <p:nvPr/>
              </p:nvSpPr>
              <p:spPr bwMode="auto">
                <a:xfrm>
                  <a:off x="616"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60526" name="Rectangle 157"/>
                <p:cNvSpPr>
                  <a:spLocks noChangeArrowheads="1"/>
                </p:cNvSpPr>
                <p:nvPr/>
              </p:nvSpPr>
              <p:spPr bwMode="auto">
                <a:xfrm>
                  <a:off x="573"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1" name="Group 158"/>
              <p:cNvGrpSpPr>
                <a:grpSpLocks/>
              </p:cNvGrpSpPr>
              <p:nvPr/>
            </p:nvGrpSpPr>
            <p:grpSpPr bwMode="auto">
              <a:xfrm>
                <a:off x="1146" y="806"/>
                <a:ext cx="573" cy="403"/>
                <a:chOff x="1146" y="806"/>
                <a:chExt cx="573" cy="403"/>
              </a:xfrm>
            </p:grpSpPr>
            <p:sp>
              <p:nvSpPr>
                <p:cNvPr id="60523" name="Rectangle 159"/>
                <p:cNvSpPr>
                  <a:spLocks noChangeArrowheads="1"/>
                </p:cNvSpPr>
                <p:nvPr/>
              </p:nvSpPr>
              <p:spPr bwMode="auto">
                <a:xfrm>
                  <a:off x="1189"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24" name="Rectangle 160"/>
                <p:cNvSpPr>
                  <a:spLocks noChangeArrowheads="1"/>
                </p:cNvSpPr>
                <p:nvPr/>
              </p:nvSpPr>
              <p:spPr bwMode="auto">
                <a:xfrm>
                  <a:off x="1146"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2" name="Group 161"/>
              <p:cNvGrpSpPr>
                <a:grpSpLocks/>
              </p:cNvGrpSpPr>
              <p:nvPr/>
            </p:nvGrpSpPr>
            <p:grpSpPr bwMode="auto">
              <a:xfrm>
                <a:off x="1719" y="806"/>
                <a:ext cx="573" cy="403"/>
                <a:chOff x="1719" y="806"/>
                <a:chExt cx="573" cy="403"/>
              </a:xfrm>
            </p:grpSpPr>
            <p:sp>
              <p:nvSpPr>
                <p:cNvPr id="60521" name="Rectangle 162"/>
                <p:cNvSpPr>
                  <a:spLocks noChangeArrowheads="1"/>
                </p:cNvSpPr>
                <p:nvPr/>
              </p:nvSpPr>
              <p:spPr bwMode="auto">
                <a:xfrm>
                  <a:off x="1762"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22" name="Rectangle 163"/>
                <p:cNvSpPr>
                  <a:spLocks noChangeArrowheads="1"/>
                </p:cNvSpPr>
                <p:nvPr/>
              </p:nvSpPr>
              <p:spPr bwMode="auto">
                <a:xfrm>
                  <a:off x="1719"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3" name="Group 164"/>
              <p:cNvGrpSpPr>
                <a:grpSpLocks/>
              </p:cNvGrpSpPr>
              <p:nvPr/>
            </p:nvGrpSpPr>
            <p:grpSpPr bwMode="auto">
              <a:xfrm>
                <a:off x="2292" y="806"/>
                <a:ext cx="573" cy="403"/>
                <a:chOff x="2292" y="806"/>
                <a:chExt cx="573" cy="403"/>
              </a:xfrm>
            </p:grpSpPr>
            <p:sp>
              <p:nvSpPr>
                <p:cNvPr id="60519" name="Rectangle 165"/>
                <p:cNvSpPr>
                  <a:spLocks noChangeArrowheads="1"/>
                </p:cNvSpPr>
                <p:nvPr/>
              </p:nvSpPr>
              <p:spPr bwMode="auto">
                <a:xfrm>
                  <a:off x="2335"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20" name="Rectangle 166"/>
                <p:cNvSpPr>
                  <a:spLocks noChangeArrowheads="1"/>
                </p:cNvSpPr>
                <p:nvPr/>
              </p:nvSpPr>
              <p:spPr bwMode="auto">
                <a:xfrm>
                  <a:off x="2292"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4" name="Group 167"/>
              <p:cNvGrpSpPr>
                <a:grpSpLocks/>
              </p:cNvGrpSpPr>
              <p:nvPr/>
            </p:nvGrpSpPr>
            <p:grpSpPr bwMode="auto">
              <a:xfrm>
                <a:off x="2865" y="806"/>
                <a:ext cx="573" cy="403"/>
                <a:chOff x="2865" y="806"/>
                <a:chExt cx="573" cy="403"/>
              </a:xfrm>
            </p:grpSpPr>
            <p:sp>
              <p:nvSpPr>
                <p:cNvPr id="60517" name="Rectangle 168"/>
                <p:cNvSpPr>
                  <a:spLocks noChangeArrowheads="1"/>
                </p:cNvSpPr>
                <p:nvPr/>
              </p:nvSpPr>
              <p:spPr bwMode="auto">
                <a:xfrm>
                  <a:off x="2908"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18" name="Rectangle 169"/>
                <p:cNvSpPr>
                  <a:spLocks noChangeArrowheads="1"/>
                </p:cNvSpPr>
                <p:nvPr/>
              </p:nvSpPr>
              <p:spPr bwMode="auto">
                <a:xfrm>
                  <a:off x="2865"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5" name="Group 170"/>
              <p:cNvGrpSpPr>
                <a:grpSpLocks/>
              </p:cNvGrpSpPr>
              <p:nvPr/>
            </p:nvGrpSpPr>
            <p:grpSpPr bwMode="auto">
              <a:xfrm>
                <a:off x="0" y="1209"/>
                <a:ext cx="573" cy="403"/>
                <a:chOff x="0" y="1209"/>
                <a:chExt cx="573" cy="403"/>
              </a:xfrm>
            </p:grpSpPr>
            <p:sp>
              <p:nvSpPr>
                <p:cNvPr id="60515" name="Rectangle 171"/>
                <p:cNvSpPr>
                  <a:spLocks noChangeArrowheads="1"/>
                </p:cNvSpPr>
                <p:nvPr/>
              </p:nvSpPr>
              <p:spPr bwMode="auto">
                <a:xfrm>
                  <a:off x="43" y="1209"/>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16" name="Rectangle 172"/>
                <p:cNvSpPr>
                  <a:spLocks noChangeArrowheads="1"/>
                </p:cNvSpPr>
                <p:nvPr/>
              </p:nvSpPr>
              <p:spPr bwMode="auto">
                <a:xfrm>
                  <a:off x="0"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6" name="Group 173"/>
              <p:cNvGrpSpPr>
                <a:grpSpLocks/>
              </p:cNvGrpSpPr>
              <p:nvPr/>
            </p:nvGrpSpPr>
            <p:grpSpPr bwMode="auto">
              <a:xfrm>
                <a:off x="573" y="1209"/>
                <a:ext cx="573" cy="403"/>
                <a:chOff x="573" y="1209"/>
                <a:chExt cx="573" cy="403"/>
              </a:xfrm>
            </p:grpSpPr>
            <p:sp>
              <p:nvSpPr>
                <p:cNvPr id="60513" name="Rectangle 174"/>
                <p:cNvSpPr>
                  <a:spLocks noChangeArrowheads="1"/>
                </p:cNvSpPr>
                <p:nvPr/>
              </p:nvSpPr>
              <p:spPr bwMode="auto">
                <a:xfrm>
                  <a:off x="616"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1</a:t>
                  </a:r>
                </a:p>
                <a:p>
                  <a:pPr algn="ctr" eaLnBrk="0" hangingPunct="0"/>
                  <a:endParaRPr kumimoji="1" lang="en-US" altLang="zh-CN" sz="2800">
                    <a:solidFill>
                      <a:schemeClr val="tx2"/>
                    </a:solidFill>
                    <a:latin typeface="Times New Roman" pitchFamily="18" charset="0"/>
                  </a:endParaRPr>
                </a:p>
              </p:txBody>
            </p:sp>
            <p:sp>
              <p:nvSpPr>
                <p:cNvPr id="60514" name="Rectangle 175"/>
                <p:cNvSpPr>
                  <a:spLocks noChangeArrowheads="1"/>
                </p:cNvSpPr>
                <p:nvPr/>
              </p:nvSpPr>
              <p:spPr bwMode="auto">
                <a:xfrm>
                  <a:off x="573"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7" name="Group 176"/>
              <p:cNvGrpSpPr>
                <a:grpSpLocks/>
              </p:cNvGrpSpPr>
              <p:nvPr/>
            </p:nvGrpSpPr>
            <p:grpSpPr bwMode="auto">
              <a:xfrm>
                <a:off x="1146" y="1209"/>
                <a:ext cx="573" cy="403"/>
                <a:chOff x="1146" y="1209"/>
                <a:chExt cx="573" cy="403"/>
              </a:xfrm>
            </p:grpSpPr>
            <p:sp>
              <p:nvSpPr>
                <p:cNvPr id="60511" name="Rectangle 177"/>
                <p:cNvSpPr>
                  <a:spLocks noChangeArrowheads="1"/>
                </p:cNvSpPr>
                <p:nvPr/>
              </p:nvSpPr>
              <p:spPr bwMode="auto">
                <a:xfrm>
                  <a:off x="1189"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60512" name="Rectangle 178"/>
                <p:cNvSpPr>
                  <a:spLocks noChangeArrowheads="1"/>
                </p:cNvSpPr>
                <p:nvPr/>
              </p:nvSpPr>
              <p:spPr bwMode="auto">
                <a:xfrm>
                  <a:off x="1146"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8" name="Group 179"/>
              <p:cNvGrpSpPr>
                <a:grpSpLocks/>
              </p:cNvGrpSpPr>
              <p:nvPr/>
            </p:nvGrpSpPr>
            <p:grpSpPr bwMode="auto">
              <a:xfrm>
                <a:off x="1719" y="1209"/>
                <a:ext cx="573" cy="403"/>
                <a:chOff x="1719" y="1209"/>
                <a:chExt cx="573" cy="403"/>
              </a:xfrm>
            </p:grpSpPr>
            <p:sp>
              <p:nvSpPr>
                <p:cNvPr id="60509" name="Rectangle 180"/>
                <p:cNvSpPr>
                  <a:spLocks noChangeArrowheads="1"/>
                </p:cNvSpPr>
                <p:nvPr/>
              </p:nvSpPr>
              <p:spPr bwMode="auto">
                <a:xfrm>
                  <a:off x="1762"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10" name="Rectangle 181"/>
                <p:cNvSpPr>
                  <a:spLocks noChangeArrowheads="1"/>
                </p:cNvSpPr>
                <p:nvPr/>
              </p:nvSpPr>
              <p:spPr bwMode="auto">
                <a:xfrm>
                  <a:off x="1719"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49" name="Group 182"/>
              <p:cNvGrpSpPr>
                <a:grpSpLocks/>
              </p:cNvGrpSpPr>
              <p:nvPr/>
            </p:nvGrpSpPr>
            <p:grpSpPr bwMode="auto">
              <a:xfrm>
                <a:off x="2292" y="1209"/>
                <a:ext cx="573" cy="403"/>
                <a:chOff x="2292" y="1209"/>
                <a:chExt cx="573" cy="403"/>
              </a:xfrm>
            </p:grpSpPr>
            <p:sp>
              <p:nvSpPr>
                <p:cNvPr id="60507" name="Rectangle 183"/>
                <p:cNvSpPr>
                  <a:spLocks noChangeArrowheads="1"/>
                </p:cNvSpPr>
                <p:nvPr/>
              </p:nvSpPr>
              <p:spPr bwMode="auto">
                <a:xfrm>
                  <a:off x="2335"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508" name="Rectangle 184"/>
                <p:cNvSpPr>
                  <a:spLocks noChangeArrowheads="1"/>
                </p:cNvSpPr>
                <p:nvPr/>
              </p:nvSpPr>
              <p:spPr bwMode="auto">
                <a:xfrm>
                  <a:off x="2292"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0" name="Group 185"/>
              <p:cNvGrpSpPr>
                <a:grpSpLocks/>
              </p:cNvGrpSpPr>
              <p:nvPr/>
            </p:nvGrpSpPr>
            <p:grpSpPr bwMode="auto">
              <a:xfrm>
                <a:off x="2865" y="1209"/>
                <a:ext cx="573" cy="403"/>
                <a:chOff x="2865" y="1209"/>
                <a:chExt cx="573" cy="403"/>
              </a:xfrm>
            </p:grpSpPr>
            <p:sp>
              <p:nvSpPr>
                <p:cNvPr id="60505" name="Rectangle 186"/>
                <p:cNvSpPr>
                  <a:spLocks noChangeArrowheads="1"/>
                </p:cNvSpPr>
                <p:nvPr/>
              </p:nvSpPr>
              <p:spPr bwMode="auto">
                <a:xfrm>
                  <a:off x="2908"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dirty="0">
                      <a:solidFill>
                        <a:schemeClr val="tx2"/>
                      </a:solidFill>
                      <a:latin typeface="Times New Roman" pitchFamily="18" charset="0"/>
                      <a:cs typeface="Times New Roman" pitchFamily="18" charset="0"/>
                    </a:rPr>
                    <a:t> </a:t>
                  </a:r>
                  <a:endParaRPr kumimoji="1" lang="en-US" altLang="zh-CN" sz="2800" dirty="0">
                    <a:solidFill>
                      <a:schemeClr val="tx2"/>
                    </a:solidFill>
                    <a:latin typeface="宋体" pitchFamily="2" charset="-122"/>
                    <a:cs typeface="Times New Roman" pitchFamily="18" charset="0"/>
                  </a:endParaRPr>
                </a:p>
                <a:p>
                  <a:pPr algn="ctr" eaLnBrk="0" hangingPunct="0"/>
                  <a:endParaRPr kumimoji="1" lang="en-US" altLang="zh-CN" sz="2800" dirty="0">
                    <a:solidFill>
                      <a:schemeClr val="tx2"/>
                    </a:solidFill>
                    <a:latin typeface="Times New Roman" pitchFamily="18" charset="0"/>
                  </a:endParaRPr>
                </a:p>
              </p:txBody>
            </p:sp>
            <p:sp>
              <p:nvSpPr>
                <p:cNvPr id="60506" name="Rectangle 187"/>
                <p:cNvSpPr>
                  <a:spLocks noChangeArrowheads="1"/>
                </p:cNvSpPr>
                <p:nvPr/>
              </p:nvSpPr>
              <p:spPr bwMode="auto">
                <a:xfrm>
                  <a:off x="2865"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1" name="Group 188"/>
              <p:cNvGrpSpPr>
                <a:grpSpLocks/>
              </p:cNvGrpSpPr>
              <p:nvPr/>
            </p:nvGrpSpPr>
            <p:grpSpPr bwMode="auto">
              <a:xfrm>
                <a:off x="0" y="1612"/>
                <a:ext cx="573" cy="403"/>
                <a:chOff x="0" y="1612"/>
                <a:chExt cx="573" cy="403"/>
              </a:xfrm>
            </p:grpSpPr>
            <p:sp>
              <p:nvSpPr>
                <p:cNvPr id="60503" name="Rectangle 189"/>
                <p:cNvSpPr>
                  <a:spLocks noChangeArrowheads="1"/>
                </p:cNvSpPr>
                <p:nvPr/>
              </p:nvSpPr>
              <p:spPr bwMode="auto">
                <a:xfrm>
                  <a:off x="43" y="1612"/>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504" name="Rectangle 190"/>
                <p:cNvSpPr>
                  <a:spLocks noChangeArrowheads="1"/>
                </p:cNvSpPr>
                <p:nvPr/>
              </p:nvSpPr>
              <p:spPr bwMode="auto">
                <a:xfrm>
                  <a:off x="0"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2" name="Group 191"/>
              <p:cNvGrpSpPr>
                <a:grpSpLocks/>
              </p:cNvGrpSpPr>
              <p:nvPr/>
            </p:nvGrpSpPr>
            <p:grpSpPr bwMode="auto">
              <a:xfrm>
                <a:off x="573" y="1612"/>
                <a:ext cx="573" cy="403"/>
                <a:chOff x="573" y="1612"/>
                <a:chExt cx="573" cy="403"/>
              </a:xfrm>
            </p:grpSpPr>
            <p:sp>
              <p:nvSpPr>
                <p:cNvPr id="60501" name="Rectangle 192"/>
                <p:cNvSpPr>
                  <a:spLocks noChangeArrowheads="1"/>
                </p:cNvSpPr>
                <p:nvPr/>
              </p:nvSpPr>
              <p:spPr bwMode="auto">
                <a:xfrm>
                  <a:off x="616"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6.25</a:t>
                  </a:r>
                </a:p>
                <a:p>
                  <a:pPr algn="ctr" eaLnBrk="0" hangingPunct="0"/>
                  <a:endParaRPr kumimoji="1" lang="en-US" altLang="zh-CN" sz="2800">
                    <a:solidFill>
                      <a:schemeClr val="tx2"/>
                    </a:solidFill>
                    <a:latin typeface="Times New Roman" pitchFamily="18" charset="0"/>
                  </a:endParaRPr>
                </a:p>
              </p:txBody>
            </p:sp>
            <p:sp>
              <p:nvSpPr>
                <p:cNvPr id="60502" name="Rectangle 193"/>
                <p:cNvSpPr>
                  <a:spLocks noChangeArrowheads="1"/>
                </p:cNvSpPr>
                <p:nvPr/>
              </p:nvSpPr>
              <p:spPr bwMode="auto">
                <a:xfrm>
                  <a:off x="573"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3" name="Group 194"/>
              <p:cNvGrpSpPr>
                <a:grpSpLocks/>
              </p:cNvGrpSpPr>
              <p:nvPr/>
            </p:nvGrpSpPr>
            <p:grpSpPr bwMode="auto">
              <a:xfrm>
                <a:off x="1146" y="1612"/>
                <a:ext cx="573" cy="403"/>
                <a:chOff x="1146" y="1612"/>
                <a:chExt cx="573" cy="403"/>
              </a:xfrm>
            </p:grpSpPr>
            <p:sp>
              <p:nvSpPr>
                <p:cNvPr id="60499" name="Rectangle 195"/>
                <p:cNvSpPr>
                  <a:spLocks noChangeArrowheads="1"/>
                </p:cNvSpPr>
                <p:nvPr/>
              </p:nvSpPr>
              <p:spPr bwMode="auto">
                <a:xfrm>
                  <a:off x="1189"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2.25</a:t>
                  </a:r>
                </a:p>
                <a:p>
                  <a:pPr algn="ctr" eaLnBrk="0" hangingPunct="0"/>
                  <a:endParaRPr kumimoji="1" lang="en-US" altLang="zh-CN" sz="2800">
                    <a:solidFill>
                      <a:schemeClr val="tx2"/>
                    </a:solidFill>
                    <a:latin typeface="Times New Roman" pitchFamily="18" charset="0"/>
                  </a:endParaRPr>
                </a:p>
              </p:txBody>
            </p:sp>
            <p:sp>
              <p:nvSpPr>
                <p:cNvPr id="60500" name="Rectangle 196"/>
                <p:cNvSpPr>
                  <a:spLocks noChangeArrowheads="1"/>
                </p:cNvSpPr>
                <p:nvPr/>
              </p:nvSpPr>
              <p:spPr bwMode="auto">
                <a:xfrm>
                  <a:off x="1146"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4" name="Group 197"/>
              <p:cNvGrpSpPr>
                <a:grpSpLocks/>
              </p:cNvGrpSpPr>
              <p:nvPr/>
            </p:nvGrpSpPr>
            <p:grpSpPr bwMode="auto">
              <a:xfrm>
                <a:off x="1719" y="1612"/>
                <a:ext cx="573" cy="403"/>
                <a:chOff x="1719" y="1612"/>
                <a:chExt cx="573" cy="403"/>
              </a:xfrm>
            </p:grpSpPr>
            <p:sp>
              <p:nvSpPr>
                <p:cNvPr id="60497" name="Rectangle 198"/>
                <p:cNvSpPr>
                  <a:spLocks noChangeArrowheads="1"/>
                </p:cNvSpPr>
                <p:nvPr/>
              </p:nvSpPr>
              <p:spPr bwMode="auto">
                <a:xfrm>
                  <a:off x="1762"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60498" name="Rectangle 199"/>
                <p:cNvSpPr>
                  <a:spLocks noChangeArrowheads="1"/>
                </p:cNvSpPr>
                <p:nvPr/>
              </p:nvSpPr>
              <p:spPr bwMode="auto">
                <a:xfrm>
                  <a:off x="1719"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5" name="Group 200"/>
              <p:cNvGrpSpPr>
                <a:grpSpLocks/>
              </p:cNvGrpSpPr>
              <p:nvPr/>
            </p:nvGrpSpPr>
            <p:grpSpPr bwMode="auto">
              <a:xfrm>
                <a:off x="2292" y="1612"/>
                <a:ext cx="573" cy="403"/>
                <a:chOff x="2292" y="1612"/>
                <a:chExt cx="573" cy="403"/>
              </a:xfrm>
            </p:grpSpPr>
            <p:sp>
              <p:nvSpPr>
                <p:cNvPr id="60495" name="Rectangle 201"/>
                <p:cNvSpPr>
                  <a:spLocks noChangeArrowheads="1"/>
                </p:cNvSpPr>
                <p:nvPr/>
              </p:nvSpPr>
              <p:spPr bwMode="auto">
                <a:xfrm>
                  <a:off x="2335"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496" name="Rectangle 202"/>
                <p:cNvSpPr>
                  <a:spLocks noChangeArrowheads="1"/>
                </p:cNvSpPr>
                <p:nvPr/>
              </p:nvSpPr>
              <p:spPr bwMode="auto">
                <a:xfrm>
                  <a:off x="2292"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6" name="Group 203"/>
              <p:cNvGrpSpPr>
                <a:grpSpLocks/>
              </p:cNvGrpSpPr>
              <p:nvPr/>
            </p:nvGrpSpPr>
            <p:grpSpPr bwMode="auto">
              <a:xfrm>
                <a:off x="2865" y="1612"/>
                <a:ext cx="573" cy="403"/>
                <a:chOff x="2865" y="1612"/>
                <a:chExt cx="573" cy="403"/>
              </a:xfrm>
            </p:grpSpPr>
            <p:sp>
              <p:nvSpPr>
                <p:cNvPr id="60493" name="Rectangle 204"/>
                <p:cNvSpPr>
                  <a:spLocks noChangeArrowheads="1"/>
                </p:cNvSpPr>
                <p:nvPr/>
              </p:nvSpPr>
              <p:spPr bwMode="auto">
                <a:xfrm>
                  <a:off x="2908"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494" name="Rectangle 205"/>
                <p:cNvSpPr>
                  <a:spLocks noChangeArrowheads="1"/>
                </p:cNvSpPr>
                <p:nvPr/>
              </p:nvSpPr>
              <p:spPr bwMode="auto">
                <a:xfrm>
                  <a:off x="2865"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7" name="Group 206"/>
              <p:cNvGrpSpPr>
                <a:grpSpLocks/>
              </p:cNvGrpSpPr>
              <p:nvPr/>
            </p:nvGrpSpPr>
            <p:grpSpPr bwMode="auto">
              <a:xfrm>
                <a:off x="0" y="2015"/>
                <a:ext cx="573" cy="403"/>
                <a:chOff x="0" y="2015"/>
                <a:chExt cx="573" cy="403"/>
              </a:xfrm>
            </p:grpSpPr>
            <p:sp>
              <p:nvSpPr>
                <p:cNvPr id="60491" name="Rectangle 207"/>
                <p:cNvSpPr>
                  <a:spLocks noChangeArrowheads="1"/>
                </p:cNvSpPr>
                <p:nvPr/>
              </p:nvSpPr>
              <p:spPr bwMode="auto">
                <a:xfrm>
                  <a:off x="43" y="2015"/>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492" name="Rectangle 208"/>
                <p:cNvSpPr>
                  <a:spLocks noChangeArrowheads="1"/>
                </p:cNvSpPr>
                <p:nvPr/>
              </p:nvSpPr>
              <p:spPr bwMode="auto">
                <a:xfrm>
                  <a:off x="0"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8" name="Group 209"/>
              <p:cNvGrpSpPr>
                <a:grpSpLocks/>
              </p:cNvGrpSpPr>
              <p:nvPr/>
            </p:nvGrpSpPr>
            <p:grpSpPr bwMode="auto">
              <a:xfrm>
                <a:off x="573" y="2015"/>
                <a:ext cx="573" cy="403"/>
                <a:chOff x="573" y="2015"/>
                <a:chExt cx="573" cy="403"/>
              </a:xfrm>
            </p:grpSpPr>
            <p:sp>
              <p:nvSpPr>
                <p:cNvPr id="60489" name="Rectangle 210"/>
                <p:cNvSpPr>
                  <a:spLocks noChangeArrowheads="1"/>
                </p:cNvSpPr>
                <p:nvPr/>
              </p:nvSpPr>
              <p:spPr bwMode="auto">
                <a:xfrm>
                  <a:off x="616" y="201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36</a:t>
                  </a:r>
                </a:p>
                <a:p>
                  <a:pPr algn="ctr" eaLnBrk="0" hangingPunct="0"/>
                  <a:endParaRPr kumimoji="1" lang="en-US" altLang="zh-CN" sz="2800">
                    <a:solidFill>
                      <a:schemeClr val="tx2"/>
                    </a:solidFill>
                    <a:latin typeface="Times New Roman" pitchFamily="18" charset="0"/>
                  </a:endParaRPr>
                </a:p>
              </p:txBody>
            </p:sp>
            <p:sp>
              <p:nvSpPr>
                <p:cNvPr id="60490" name="Rectangle 211"/>
                <p:cNvSpPr>
                  <a:spLocks noChangeArrowheads="1"/>
                </p:cNvSpPr>
                <p:nvPr/>
              </p:nvSpPr>
              <p:spPr bwMode="auto">
                <a:xfrm>
                  <a:off x="573"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59" name="Group 212"/>
              <p:cNvGrpSpPr>
                <a:grpSpLocks/>
              </p:cNvGrpSpPr>
              <p:nvPr/>
            </p:nvGrpSpPr>
            <p:grpSpPr bwMode="auto">
              <a:xfrm>
                <a:off x="1146" y="2015"/>
                <a:ext cx="573" cy="403"/>
                <a:chOff x="1146" y="2015"/>
                <a:chExt cx="573" cy="403"/>
              </a:xfrm>
            </p:grpSpPr>
            <p:sp>
              <p:nvSpPr>
                <p:cNvPr id="60487" name="Rectangle 213"/>
                <p:cNvSpPr>
                  <a:spLocks noChangeArrowheads="1"/>
                </p:cNvSpPr>
                <p:nvPr/>
              </p:nvSpPr>
              <p:spPr bwMode="auto">
                <a:xfrm>
                  <a:off x="1189" y="201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25</a:t>
                  </a:r>
                </a:p>
                <a:p>
                  <a:pPr algn="ctr" eaLnBrk="0" hangingPunct="0"/>
                  <a:endParaRPr kumimoji="1" lang="en-US" altLang="zh-CN" sz="2800">
                    <a:solidFill>
                      <a:schemeClr val="tx2"/>
                    </a:solidFill>
                    <a:latin typeface="Times New Roman" pitchFamily="18" charset="0"/>
                  </a:endParaRPr>
                </a:p>
              </p:txBody>
            </p:sp>
            <p:sp>
              <p:nvSpPr>
                <p:cNvPr id="60488" name="Rectangle 214"/>
                <p:cNvSpPr>
                  <a:spLocks noChangeArrowheads="1"/>
                </p:cNvSpPr>
                <p:nvPr/>
              </p:nvSpPr>
              <p:spPr bwMode="auto">
                <a:xfrm>
                  <a:off x="1146"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0" name="Group 215"/>
              <p:cNvGrpSpPr>
                <a:grpSpLocks/>
              </p:cNvGrpSpPr>
              <p:nvPr/>
            </p:nvGrpSpPr>
            <p:grpSpPr bwMode="auto">
              <a:xfrm>
                <a:off x="1719" y="2015"/>
                <a:ext cx="573" cy="403"/>
                <a:chOff x="1719" y="2015"/>
                <a:chExt cx="573" cy="403"/>
              </a:xfrm>
            </p:grpSpPr>
            <p:sp>
              <p:nvSpPr>
                <p:cNvPr id="60485" name="Rectangle 216"/>
                <p:cNvSpPr>
                  <a:spLocks noChangeArrowheads="1"/>
                </p:cNvSpPr>
                <p:nvPr/>
              </p:nvSpPr>
              <p:spPr bwMode="auto">
                <a:xfrm>
                  <a:off x="1762" y="201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12.25</a:t>
                  </a:r>
                </a:p>
                <a:p>
                  <a:pPr algn="ctr" eaLnBrk="0" hangingPunct="0"/>
                  <a:endParaRPr kumimoji="1" lang="en-US" altLang="zh-CN" sz="2800">
                    <a:solidFill>
                      <a:schemeClr val="tx2"/>
                    </a:solidFill>
                    <a:latin typeface="Times New Roman" pitchFamily="18" charset="0"/>
                  </a:endParaRPr>
                </a:p>
              </p:txBody>
            </p:sp>
            <p:sp>
              <p:nvSpPr>
                <p:cNvPr id="60486" name="Rectangle 217"/>
                <p:cNvSpPr>
                  <a:spLocks noChangeArrowheads="1"/>
                </p:cNvSpPr>
                <p:nvPr/>
              </p:nvSpPr>
              <p:spPr bwMode="auto">
                <a:xfrm>
                  <a:off x="1719"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1" name="Group 218"/>
              <p:cNvGrpSpPr>
                <a:grpSpLocks/>
              </p:cNvGrpSpPr>
              <p:nvPr/>
            </p:nvGrpSpPr>
            <p:grpSpPr bwMode="auto">
              <a:xfrm>
                <a:off x="2292" y="2015"/>
                <a:ext cx="573" cy="403"/>
                <a:chOff x="2292" y="2015"/>
                <a:chExt cx="573" cy="403"/>
              </a:xfrm>
            </p:grpSpPr>
            <p:sp>
              <p:nvSpPr>
                <p:cNvPr id="60483" name="Rectangle 219"/>
                <p:cNvSpPr>
                  <a:spLocks noChangeArrowheads="1"/>
                </p:cNvSpPr>
                <p:nvPr/>
              </p:nvSpPr>
              <p:spPr bwMode="auto">
                <a:xfrm>
                  <a:off x="2335" y="201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60484" name="Rectangle 220"/>
                <p:cNvSpPr>
                  <a:spLocks noChangeArrowheads="1"/>
                </p:cNvSpPr>
                <p:nvPr/>
              </p:nvSpPr>
              <p:spPr bwMode="auto">
                <a:xfrm>
                  <a:off x="2292"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2" name="Group 221"/>
              <p:cNvGrpSpPr>
                <a:grpSpLocks/>
              </p:cNvGrpSpPr>
              <p:nvPr/>
            </p:nvGrpSpPr>
            <p:grpSpPr bwMode="auto">
              <a:xfrm>
                <a:off x="2865" y="2015"/>
                <a:ext cx="573" cy="403"/>
                <a:chOff x="2865" y="2015"/>
                <a:chExt cx="573" cy="403"/>
              </a:xfrm>
            </p:grpSpPr>
            <p:sp>
              <p:nvSpPr>
                <p:cNvPr id="60481" name="Rectangle 222"/>
                <p:cNvSpPr>
                  <a:spLocks noChangeArrowheads="1"/>
                </p:cNvSpPr>
                <p:nvPr/>
              </p:nvSpPr>
              <p:spPr bwMode="auto">
                <a:xfrm>
                  <a:off x="2908" y="2015"/>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Times New Roman" pitchFamily="18" charset="0"/>
                      <a:cs typeface="Times New Roman" pitchFamily="18" charset="0"/>
                    </a:rPr>
                    <a:t> </a:t>
                  </a:r>
                  <a:endParaRPr kumimoji="1" lang="en-US" altLang="zh-CN" sz="2800">
                    <a:solidFill>
                      <a:schemeClr val="tx2"/>
                    </a:solidFill>
                    <a:latin typeface="宋体" pitchFamily="2" charset="-122"/>
                    <a:cs typeface="Times New Roman" pitchFamily="18" charset="0"/>
                  </a:endParaRPr>
                </a:p>
                <a:p>
                  <a:pPr algn="ctr" eaLnBrk="0" hangingPunct="0"/>
                  <a:endParaRPr kumimoji="1" lang="en-US" altLang="zh-CN" sz="2800">
                    <a:solidFill>
                      <a:schemeClr val="tx2"/>
                    </a:solidFill>
                    <a:latin typeface="Times New Roman" pitchFamily="18" charset="0"/>
                  </a:endParaRPr>
                </a:p>
              </p:txBody>
            </p:sp>
            <p:sp>
              <p:nvSpPr>
                <p:cNvPr id="60482" name="Rectangle 223"/>
                <p:cNvSpPr>
                  <a:spLocks noChangeArrowheads="1"/>
                </p:cNvSpPr>
                <p:nvPr/>
              </p:nvSpPr>
              <p:spPr bwMode="auto">
                <a:xfrm>
                  <a:off x="2865" y="2015"/>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3" name="Group 224"/>
              <p:cNvGrpSpPr>
                <a:grpSpLocks/>
              </p:cNvGrpSpPr>
              <p:nvPr/>
            </p:nvGrpSpPr>
            <p:grpSpPr bwMode="auto">
              <a:xfrm>
                <a:off x="0" y="2418"/>
                <a:ext cx="573" cy="403"/>
                <a:chOff x="0" y="2418"/>
                <a:chExt cx="573" cy="403"/>
              </a:xfrm>
            </p:grpSpPr>
            <p:sp>
              <p:nvSpPr>
                <p:cNvPr id="60479" name="Rectangle 225"/>
                <p:cNvSpPr>
                  <a:spLocks noChangeArrowheads="1"/>
                </p:cNvSpPr>
                <p:nvPr/>
              </p:nvSpPr>
              <p:spPr bwMode="auto">
                <a:xfrm>
                  <a:off x="43" y="2418"/>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0480" name="Rectangle 226"/>
                <p:cNvSpPr>
                  <a:spLocks noChangeArrowheads="1"/>
                </p:cNvSpPr>
                <p:nvPr/>
              </p:nvSpPr>
              <p:spPr bwMode="auto">
                <a:xfrm>
                  <a:off x="0"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4" name="Group 227"/>
              <p:cNvGrpSpPr>
                <a:grpSpLocks/>
              </p:cNvGrpSpPr>
              <p:nvPr/>
            </p:nvGrpSpPr>
            <p:grpSpPr bwMode="auto">
              <a:xfrm>
                <a:off x="573" y="2418"/>
                <a:ext cx="573" cy="403"/>
                <a:chOff x="573" y="2418"/>
                <a:chExt cx="573" cy="403"/>
              </a:xfrm>
            </p:grpSpPr>
            <p:sp>
              <p:nvSpPr>
                <p:cNvPr id="60477" name="Rectangle 228"/>
                <p:cNvSpPr>
                  <a:spLocks noChangeArrowheads="1"/>
                </p:cNvSpPr>
                <p:nvPr/>
              </p:nvSpPr>
              <p:spPr bwMode="auto">
                <a:xfrm>
                  <a:off x="616" y="241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64</a:t>
                  </a:r>
                </a:p>
                <a:p>
                  <a:pPr algn="ctr" eaLnBrk="0" hangingPunct="0"/>
                  <a:endParaRPr kumimoji="1" lang="en-US" altLang="zh-CN" sz="2800">
                    <a:solidFill>
                      <a:schemeClr val="tx2"/>
                    </a:solidFill>
                    <a:latin typeface="Times New Roman" pitchFamily="18" charset="0"/>
                  </a:endParaRPr>
                </a:p>
              </p:txBody>
            </p:sp>
            <p:sp>
              <p:nvSpPr>
                <p:cNvPr id="60478" name="Rectangle 229"/>
                <p:cNvSpPr>
                  <a:spLocks noChangeArrowheads="1"/>
                </p:cNvSpPr>
                <p:nvPr/>
              </p:nvSpPr>
              <p:spPr bwMode="auto">
                <a:xfrm>
                  <a:off x="573"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5" name="Group 230"/>
              <p:cNvGrpSpPr>
                <a:grpSpLocks/>
              </p:cNvGrpSpPr>
              <p:nvPr/>
            </p:nvGrpSpPr>
            <p:grpSpPr bwMode="auto">
              <a:xfrm>
                <a:off x="1146" y="2418"/>
                <a:ext cx="573" cy="403"/>
                <a:chOff x="1146" y="2418"/>
                <a:chExt cx="573" cy="403"/>
              </a:xfrm>
            </p:grpSpPr>
            <p:sp>
              <p:nvSpPr>
                <p:cNvPr id="60475" name="Rectangle 231"/>
                <p:cNvSpPr>
                  <a:spLocks noChangeArrowheads="1"/>
                </p:cNvSpPr>
                <p:nvPr/>
              </p:nvSpPr>
              <p:spPr bwMode="auto">
                <a:xfrm>
                  <a:off x="1189" y="241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49</a:t>
                  </a:r>
                </a:p>
                <a:p>
                  <a:pPr algn="ctr" eaLnBrk="0" hangingPunct="0"/>
                  <a:endParaRPr kumimoji="1" lang="en-US" altLang="zh-CN" sz="2800">
                    <a:solidFill>
                      <a:schemeClr val="tx2"/>
                    </a:solidFill>
                    <a:latin typeface="Times New Roman" pitchFamily="18" charset="0"/>
                  </a:endParaRPr>
                </a:p>
              </p:txBody>
            </p:sp>
            <p:sp>
              <p:nvSpPr>
                <p:cNvPr id="60476" name="Rectangle 232"/>
                <p:cNvSpPr>
                  <a:spLocks noChangeArrowheads="1"/>
                </p:cNvSpPr>
                <p:nvPr/>
              </p:nvSpPr>
              <p:spPr bwMode="auto">
                <a:xfrm>
                  <a:off x="1146"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6" name="Group 233"/>
              <p:cNvGrpSpPr>
                <a:grpSpLocks/>
              </p:cNvGrpSpPr>
              <p:nvPr/>
            </p:nvGrpSpPr>
            <p:grpSpPr bwMode="auto">
              <a:xfrm>
                <a:off x="1719" y="2418"/>
                <a:ext cx="573" cy="403"/>
                <a:chOff x="1719" y="2418"/>
                <a:chExt cx="573" cy="403"/>
              </a:xfrm>
            </p:grpSpPr>
            <p:sp>
              <p:nvSpPr>
                <p:cNvPr id="60473" name="Rectangle 234"/>
                <p:cNvSpPr>
                  <a:spLocks noChangeArrowheads="1"/>
                </p:cNvSpPr>
                <p:nvPr/>
              </p:nvSpPr>
              <p:spPr bwMode="auto">
                <a:xfrm>
                  <a:off x="1762" y="241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30.25</a:t>
                  </a:r>
                </a:p>
                <a:p>
                  <a:pPr algn="ctr" eaLnBrk="0" hangingPunct="0"/>
                  <a:endParaRPr kumimoji="1" lang="en-US" altLang="zh-CN" sz="2800">
                    <a:solidFill>
                      <a:schemeClr val="tx2"/>
                    </a:solidFill>
                    <a:latin typeface="Times New Roman" pitchFamily="18" charset="0"/>
                  </a:endParaRPr>
                </a:p>
              </p:txBody>
            </p:sp>
            <p:sp>
              <p:nvSpPr>
                <p:cNvPr id="60474" name="Rectangle 235"/>
                <p:cNvSpPr>
                  <a:spLocks noChangeArrowheads="1"/>
                </p:cNvSpPr>
                <p:nvPr/>
              </p:nvSpPr>
              <p:spPr bwMode="auto">
                <a:xfrm>
                  <a:off x="1719"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7" name="Group 236"/>
              <p:cNvGrpSpPr>
                <a:grpSpLocks/>
              </p:cNvGrpSpPr>
              <p:nvPr/>
            </p:nvGrpSpPr>
            <p:grpSpPr bwMode="auto">
              <a:xfrm>
                <a:off x="2292" y="2418"/>
                <a:ext cx="573" cy="403"/>
                <a:chOff x="2292" y="2418"/>
                <a:chExt cx="573" cy="403"/>
              </a:xfrm>
            </p:grpSpPr>
            <p:sp>
              <p:nvSpPr>
                <p:cNvPr id="60471" name="Rectangle 237"/>
                <p:cNvSpPr>
                  <a:spLocks noChangeArrowheads="1"/>
                </p:cNvSpPr>
                <p:nvPr/>
              </p:nvSpPr>
              <p:spPr bwMode="auto">
                <a:xfrm>
                  <a:off x="2335" y="241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4</a:t>
                  </a:r>
                </a:p>
                <a:p>
                  <a:pPr algn="ctr" eaLnBrk="0" hangingPunct="0"/>
                  <a:endParaRPr kumimoji="1" lang="en-US" altLang="zh-CN" sz="2800">
                    <a:solidFill>
                      <a:schemeClr val="tx2"/>
                    </a:solidFill>
                    <a:latin typeface="Times New Roman" pitchFamily="18" charset="0"/>
                  </a:endParaRPr>
                </a:p>
              </p:txBody>
            </p:sp>
            <p:sp>
              <p:nvSpPr>
                <p:cNvPr id="60472" name="Rectangle 238"/>
                <p:cNvSpPr>
                  <a:spLocks noChangeArrowheads="1"/>
                </p:cNvSpPr>
                <p:nvPr/>
              </p:nvSpPr>
              <p:spPr bwMode="auto">
                <a:xfrm>
                  <a:off x="2292"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468" name="Group 239"/>
              <p:cNvGrpSpPr>
                <a:grpSpLocks/>
              </p:cNvGrpSpPr>
              <p:nvPr/>
            </p:nvGrpSpPr>
            <p:grpSpPr bwMode="auto">
              <a:xfrm>
                <a:off x="2865" y="2418"/>
                <a:ext cx="573" cy="403"/>
                <a:chOff x="2865" y="2418"/>
                <a:chExt cx="573" cy="403"/>
              </a:xfrm>
            </p:grpSpPr>
            <p:sp>
              <p:nvSpPr>
                <p:cNvPr id="60469" name="Rectangle 240"/>
                <p:cNvSpPr>
                  <a:spLocks noChangeArrowheads="1"/>
                </p:cNvSpPr>
                <p:nvPr/>
              </p:nvSpPr>
              <p:spPr bwMode="auto">
                <a:xfrm>
                  <a:off x="2908" y="2418"/>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a:solidFill>
                        <a:schemeClr val="tx2"/>
                      </a:solidFill>
                      <a:latin typeface="宋体" pitchFamily="2" charset="-122"/>
                      <a:cs typeface="Times New Roman" pitchFamily="18" charset="0"/>
                    </a:rPr>
                    <a:t>0</a:t>
                  </a:r>
                </a:p>
                <a:p>
                  <a:pPr algn="ctr" eaLnBrk="0" hangingPunct="0"/>
                  <a:endParaRPr kumimoji="1" lang="en-US" altLang="zh-CN" sz="2800">
                    <a:solidFill>
                      <a:schemeClr val="tx2"/>
                    </a:solidFill>
                    <a:latin typeface="Times New Roman" pitchFamily="18" charset="0"/>
                  </a:endParaRPr>
                </a:p>
              </p:txBody>
            </p:sp>
            <p:sp>
              <p:nvSpPr>
                <p:cNvPr id="60470" name="Rectangle 241"/>
                <p:cNvSpPr>
                  <a:spLocks noChangeArrowheads="1"/>
                </p:cNvSpPr>
                <p:nvPr/>
              </p:nvSpPr>
              <p:spPr bwMode="auto">
                <a:xfrm>
                  <a:off x="2865" y="2418"/>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60432" name="Rectangle 242"/>
            <p:cNvSpPr>
              <a:spLocks noChangeArrowheads="1"/>
            </p:cNvSpPr>
            <p:nvPr/>
          </p:nvSpPr>
          <p:spPr bwMode="auto">
            <a:xfrm>
              <a:off x="-3" y="400"/>
              <a:ext cx="3444" cy="242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58644" name="Object 244"/>
          <p:cNvGraphicFramePr>
            <a:graphicFrameLocks noChangeAspect="1"/>
          </p:cNvGraphicFramePr>
          <p:nvPr/>
        </p:nvGraphicFramePr>
        <p:xfrm>
          <a:off x="3960813" y="3162301"/>
          <a:ext cx="342900" cy="423863"/>
        </p:xfrm>
        <a:graphic>
          <a:graphicData uri="http://schemas.openxmlformats.org/presentationml/2006/ole">
            <mc:AlternateContent xmlns:mc="http://schemas.openxmlformats.org/markup-compatibility/2006">
              <mc:Choice xmlns:v="urn:schemas-microsoft-com:vml" Requires="v">
                <p:oleObj name="公式" r:id="rId9" imgW="314435" imgH="390420" progId="Equation.3">
                  <p:embed/>
                </p:oleObj>
              </mc:Choice>
              <mc:Fallback>
                <p:oleObj name="公式" r:id="rId9" imgW="314435" imgH="3904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0813" y="3162301"/>
                        <a:ext cx="3429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5" name="Object 245"/>
          <p:cNvGraphicFramePr>
            <a:graphicFrameLocks noChangeAspect="1"/>
          </p:cNvGraphicFramePr>
          <p:nvPr/>
        </p:nvGraphicFramePr>
        <p:xfrm>
          <a:off x="5332413" y="3162300"/>
          <a:ext cx="374650" cy="425450"/>
        </p:xfrm>
        <a:graphic>
          <a:graphicData uri="http://schemas.openxmlformats.org/presentationml/2006/ole">
            <mc:AlternateContent xmlns:mc="http://schemas.openxmlformats.org/markup-compatibility/2006">
              <mc:Choice xmlns:v="urn:schemas-microsoft-com:vml" Requires="v">
                <p:oleObj name="公式" r:id="rId11" imgW="352523" imgH="390420" progId="Equation.3">
                  <p:embed/>
                </p:oleObj>
              </mc:Choice>
              <mc:Fallback>
                <p:oleObj name="公式" r:id="rId11" imgW="352523" imgH="39042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2413" y="3162300"/>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6" name="Object 246"/>
          <p:cNvGraphicFramePr>
            <a:graphicFrameLocks noChangeAspect="1"/>
          </p:cNvGraphicFramePr>
          <p:nvPr/>
        </p:nvGraphicFramePr>
        <p:xfrm>
          <a:off x="2741613" y="4991100"/>
          <a:ext cx="368300" cy="431800"/>
        </p:xfrm>
        <a:graphic>
          <a:graphicData uri="http://schemas.openxmlformats.org/presentationml/2006/ole">
            <mc:AlternateContent xmlns:mc="http://schemas.openxmlformats.org/markup-compatibility/2006">
              <mc:Choice xmlns:v="urn:schemas-microsoft-com:vml" Requires="v">
                <p:oleObj name="公式" r:id="rId13" imgW="342799" imgH="400140" progId="Equation.3">
                  <p:embed/>
                </p:oleObj>
              </mc:Choice>
              <mc:Fallback>
                <p:oleObj name="公式" r:id="rId13" imgW="342799" imgH="4001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1613" y="4991100"/>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7" name="Object 247"/>
          <p:cNvGraphicFramePr>
            <a:graphicFrameLocks noChangeAspect="1"/>
          </p:cNvGraphicFramePr>
          <p:nvPr/>
        </p:nvGraphicFramePr>
        <p:xfrm>
          <a:off x="2741613" y="6286500"/>
          <a:ext cx="361950" cy="431800"/>
        </p:xfrm>
        <a:graphic>
          <a:graphicData uri="http://schemas.openxmlformats.org/presentationml/2006/ole">
            <mc:AlternateContent xmlns:mc="http://schemas.openxmlformats.org/markup-compatibility/2006">
              <mc:Choice xmlns:v="urn:schemas-microsoft-com:vml" Requires="v">
                <p:oleObj name="公式" r:id="rId15" imgW="342799" imgH="400140" progId="Equation.3">
                  <p:embed/>
                </p:oleObj>
              </mc:Choice>
              <mc:Fallback>
                <p:oleObj name="公式" r:id="rId15" imgW="342799" imgH="4001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1613" y="6286500"/>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8" name="Object 248"/>
          <p:cNvGraphicFramePr>
            <a:graphicFrameLocks noChangeAspect="1"/>
          </p:cNvGraphicFramePr>
          <p:nvPr/>
        </p:nvGraphicFramePr>
        <p:xfrm>
          <a:off x="2817813" y="3771900"/>
          <a:ext cx="342900" cy="425450"/>
        </p:xfrm>
        <a:graphic>
          <a:graphicData uri="http://schemas.openxmlformats.org/presentationml/2006/ole">
            <mc:AlternateContent xmlns:mc="http://schemas.openxmlformats.org/markup-compatibility/2006">
              <mc:Choice xmlns:v="urn:schemas-microsoft-com:vml" Requires="v">
                <p:oleObj name="公式" r:id="rId17" imgW="314435" imgH="390420" progId="Equation.3">
                  <p:embed/>
                </p:oleObj>
              </mc:Choice>
              <mc:Fallback>
                <p:oleObj name="公式" r:id="rId17" imgW="314435" imgH="39042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17813" y="3771900"/>
                        <a:ext cx="3429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9" name="Object 249"/>
          <p:cNvGraphicFramePr>
            <a:graphicFrameLocks noChangeAspect="1"/>
          </p:cNvGraphicFramePr>
          <p:nvPr/>
        </p:nvGraphicFramePr>
        <p:xfrm>
          <a:off x="2741613" y="5753100"/>
          <a:ext cx="374650" cy="425450"/>
        </p:xfrm>
        <a:graphic>
          <a:graphicData uri="http://schemas.openxmlformats.org/presentationml/2006/ole">
            <mc:AlternateContent xmlns:mc="http://schemas.openxmlformats.org/markup-compatibility/2006">
              <mc:Choice xmlns:v="urn:schemas-microsoft-com:vml" Requires="v">
                <p:oleObj name="公式" r:id="rId7" imgW="352523" imgH="390420" progId="Equation.3">
                  <p:embed/>
                </p:oleObj>
              </mc:Choice>
              <mc:Fallback>
                <p:oleObj name="公式" r:id="rId7" imgW="352523" imgH="39042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41613" y="5753100"/>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50" name="Object 250"/>
          <p:cNvGraphicFramePr>
            <a:graphicFrameLocks noChangeAspect="1"/>
          </p:cNvGraphicFramePr>
          <p:nvPr/>
        </p:nvGraphicFramePr>
        <p:xfrm>
          <a:off x="9066213" y="3162300"/>
          <a:ext cx="361950" cy="431800"/>
        </p:xfrm>
        <a:graphic>
          <a:graphicData uri="http://schemas.openxmlformats.org/presentationml/2006/ole">
            <mc:AlternateContent xmlns:mc="http://schemas.openxmlformats.org/markup-compatibility/2006">
              <mc:Choice xmlns:v="urn:schemas-microsoft-com:vml" Requires="v">
                <p:oleObj name="公式" r:id="rId15" imgW="342799" imgH="400140" progId="Equation.3">
                  <p:embed/>
                </p:oleObj>
              </mc:Choice>
              <mc:Fallback>
                <p:oleObj name="公式" r:id="rId15" imgW="342799" imgH="40014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66213" y="3162300"/>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4782BAAF-F6A1-0F3E-F967-703E77F205AC}"/>
              </a:ext>
            </a:extLst>
          </p:cNvPr>
          <p:cNvSpPr>
            <a:spLocks noGrp="1"/>
          </p:cNvSpPr>
          <p:nvPr>
            <p:ph type="sldNum" sz="quarter" idx="11"/>
          </p:nvPr>
        </p:nvSpPr>
        <p:spPr/>
        <p:txBody>
          <a:bodyPr/>
          <a:lstStyle/>
          <a:p>
            <a:pPr>
              <a:defRPr/>
            </a:pPr>
            <a:fld id="{F13753BC-CAEF-4333-AC48-2805658F6E3F}" type="slidenum">
              <a:rPr lang="en-US" altLang="zh-CN" smtClean="0"/>
              <a:pPr>
                <a:defRPr/>
              </a:pPr>
              <a:t>70</a:t>
            </a:fld>
            <a:endParaRPr lang="en-US" altLang="zh-CN"/>
          </a:p>
        </p:txBody>
      </p:sp>
    </p:spTree>
    <p:extLst>
      <p:ext uri="{BB962C8B-B14F-4D97-AF65-F5344CB8AC3E}">
        <p14:creationId xmlns:p14="http://schemas.microsoft.com/office/powerpoint/2010/main" val="352467749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58528">
                                            <p:txEl>
                                              <p:pRg st="0" end="0"/>
                                            </p:txEl>
                                          </p:spTgt>
                                        </p:tgtEl>
                                        <p:attrNameLst>
                                          <p:attrName>style.visibility</p:attrName>
                                        </p:attrNameLst>
                                      </p:cBhvr>
                                      <p:to>
                                        <p:strVal val="visible"/>
                                      </p:to>
                                    </p:set>
                                    <p:animEffect transition="in" filter="wipe(left)">
                                      <p:cBhvr>
                                        <p:cTn id="7" dur="500"/>
                                        <p:tgtEl>
                                          <p:spTgt spid="3585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8528">
                                            <p:txEl>
                                              <p:pRg st="1" end="1"/>
                                            </p:txEl>
                                          </p:spTgt>
                                        </p:tgtEl>
                                        <p:attrNameLst>
                                          <p:attrName>style.visibility</p:attrName>
                                        </p:attrNameLst>
                                      </p:cBhvr>
                                      <p:to>
                                        <p:strVal val="visible"/>
                                      </p:to>
                                    </p:set>
                                    <p:animEffect transition="in" filter="wipe(left)">
                                      <p:cBhvr>
                                        <p:cTn id="12" dur="500"/>
                                        <p:tgtEl>
                                          <p:spTgt spid="35852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528">
                                            <p:txEl>
                                              <p:pRg st="2" end="2"/>
                                            </p:txEl>
                                          </p:spTgt>
                                        </p:tgtEl>
                                        <p:attrNameLst>
                                          <p:attrName>style.visibility</p:attrName>
                                        </p:attrNameLst>
                                      </p:cBhvr>
                                      <p:to>
                                        <p:strVal val="visible"/>
                                      </p:to>
                                    </p:set>
                                    <p:animEffect transition="in" filter="wipe(left)">
                                      <p:cBhvr>
                                        <p:cTn id="17" dur="500"/>
                                        <p:tgtEl>
                                          <p:spTgt spid="35852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8529"/>
                                        </p:tgtEl>
                                        <p:attrNameLst>
                                          <p:attrName>style.visibility</p:attrName>
                                        </p:attrNameLst>
                                      </p:cBhvr>
                                      <p:to>
                                        <p:strVal val="visible"/>
                                      </p:to>
                                    </p:set>
                                    <p:animEffect transition="in" filter="blinds(horizontal)">
                                      <p:cBhvr>
                                        <p:cTn id="22" dur="500"/>
                                        <p:tgtEl>
                                          <p:spTgt spid="358529"/>
                                        </p:tgtEl>
                                      </p:cBhvr>
                                    </p:animEffect>
                                  </p:childTnLst>
                                </p:cTn>
                              </p:par>
                              <p:par>
                                <p:cTn id="23" presetID="3" presetClass="entr" presetSubtype="10" fill="hold" nodeType="withEffect">
                                  <p:stCondLst>
                                    <p:cond delay="0"/>
                                  </p:stCondLst>
                                  <p:childTnLst>
                                    <p:set>
                                      <p:cBhvr>
                                        <p:cTn id="24" dur="1" fill="hold">
                                          <p:stCondLst>
                                            <p:cond delay="0"/>
                                          </p:stCondLst>
                                        </p:cTn>
                                        <p:tgtEl>
                                          <p:spTgt spid="358530"/>
                                        </p:tgtEl>
                                        <p:attrNameLst>
                                          <p:attrName>style.visibility</p:attrName>
                                        </p:attrNameLst>
                                      </p:cBhvr>
                                      <p:to>
                                        <p:strVal val="visible"/>
                                      </p:to>
                                    </p:set>
                                    <p:animEffect transition="in" filter="blinds(horizontal)">
                                      <p:cBhvr>
                                        <p:cTn id="25" dur="500"/>
                                        <p:tgtEl>
                                          <p:spTgt spid="358530"/>
                                        </p:tgtEl>
                                      </p:cBhvr>
                                    </p:animEffect>
                                  </p:childTnLst>
                                </p:cTn>
                              </p:par>
                              <p:par>
                                <p:cTn id="26" presetID="3" presetClass="entr" presetSubtype="10" fill="hold" nodeType="withEffect">
                                  <p:stCondLst>
                                    <p:cond delay="0"/>
                                  </p:stCondLst>
                                  <p:childTnLst>
                                    <p:set>
                                      <p:cBhvr>
                                        <p:cTn id="27" dur="1" fill="hold">
                                          <p:stCondLst>
                                            <p:cond delay="0"/>
                                          </p:stCondLst>
                                        </p:cTn>
                                        <p:tgtEl>
                                          <p:spTgt spid="358531"/>
                                        </p:tgtEl>
                                        <p:attrNameLst>
                                          <p:attrName>style.visibility</p:attrName>
                                        </p:attrNameLst>
                                      </p:cBhvr>
                                      <p:to>
                                        <p:strVal val="visible"/>
                                      </p:to>
                                    </p:set>
                                    <p:animEffect transition="in" filter="blinds(horizontal)">
                                      <p:cBhvr>
                                        <p:cTn id="28" dur="500"/>
                                        <p:tgtEl>
                                          <p:spTgt spid="358531"/>
                                        </p:tgtEl>
                                      </p:cBhvr>
                                    </p:animEffect>
                                  </p:childTnLst>
                                </p:cTn>
                              </p:par>
                              <p:par>
                                <p:cTn id="29" presetID="3" presetClass="entr" presetSubtype="10" fill="hold" nodeType="withEffect">
                                  <p:stCondLst>
                                    <p:cond delay="0"/>
                                  </p:stCondLst>
                                  <p:childTnLst>
                                    <p:set>
                                      <p:cBhvr>
                                        <p:cTn id="30" dur="1" fill="hold">
                                          <p:stCondLst>
                                            <p:cond delay="0"/>
                                          </p:stCondLst>
                                        </p:cTn>
                                        <p:tgtEl>
                                          <p:spTgt spid="358532"/>
                                        </p:tgtEl>
                                        <p:attrNameLst>
                                          <p:attrName>style.visibility</p:attrName>
                                        </p:attrNameLst>
                                      </p:cBhvr>
                                      <p:to>
                                        <p:strVal val="visible"/>
                                      </p:to>
                                    </p:set>
                                    <p:animEffect transition="in" filter="blinds(horizontal)">
                                      <p:cBhvr>
                                        <p:cTn id="31" dur="500"/>
                                        <p:tgtEl>
                                          <p:spTgt spid="358532"/>
                                        </p:tgtEl>
                                      </p:cBhvr>
                                    </p:animEffect>
                                  </p:childTnLst>
                                </p:cTn>
                              </p:par>
                              <p:par>
                                <p:cTn id="32" presetID="3" presetClass="entr" presetSubtype="10" fill="hold" nodeType="withEffect">
                                  <p:stCondLst>
                                    <p:cond delay="0"/>
                                  </p:stCondLst>
                                  <p:childTnLst>
                                    <p:set>
                                      <p:cBhvr>
                                        <p:cTn id="33" dur="1" fill="hold">
                                          <p:stCondLst>
                                            <p:cond delay="0"/>
                                          </p:stCondLst>
                                        </p:cTn>
                                        <p:tgtEl>
                                          <p:spTgt spid="358644"/>
                                        </p:tgtEl>
                                        <p:attrNameLst>
                                          <p:attrName>style.visibility</p:attrName>
                                        </p:attrNameLst>
                                      </p:cBhvr>
                                      <p:to>
                                        <p:strVal val="visible"/>
                                      </p:to>
                                    </p:set>
                                    <p:animEffect transition="in" filter="blinds(horizontal)">
                                      <p:cBhvr>
                                        <p:cTn id="34" dur="500"/>
                                        <p:tgtEl>
                                          <p:spTgt spid="358644"/>
                                        </p:tgtEl>
                                      </p:cBhvr>
                                    </p:animEffect>
                                  </p:childTnLst>
                                </p:cTn>
                              </p:par>
                              <p:par>
                                <p:cTn id="35" presetID="3" presetClass="entr" presetSubtype="10" fill="hold" nodeType="withEffect">
                                  <p:stCondLst>
                                    <p:cond delay="0"/>
                                  </p:stCondLst>
                                  <p:childTnLst>
                                    <p:set>
                                      <p:cBhvr>
                                        <p:cTn id="36" dur="1" fill="hold">
                                          <p:stCondLst>
                                            <p:cond delay="0"/>
                                          </p:stCondLst>
                                        </p:cTn>
                                        <p:tgtEl>
                                          <p:spTgt spid="358645"/>
                                        </p:tgtEl>
                                        <p:attrNameLst>
                                          <p:attrName>style.visibility</p:attrName>
                                        </p:attrNameLst>
                                      </p:cBhvr>
                                      <p:to>
                                        <p:strVal val="visible"/>
                                      </p:to>
                                    </p:set>
                                    <p:animEffect transition="in" filter="blinds(horizontal)">
                                      <p:cBhvr>
                                        <p:cTn id="37" dur="500"/>
                                        <p:tgtEl>
                                          <p:spTgt spid="358645"/>
                                        </p:tgtEl>
                                      </p:cBhvr>
                                    </p:animEffect>
                                  </p:childTnLst>
                                </p:cTn>
                              </p:par>
                              <p:par>
                                <p:cTn id="38" presetID="3" presetClass="entr" presetSubtype="10" fill="hold" nodeType="withEffect">
                                  <p:stCondLst>
                                    <p:cond delay="0"/>
                                  </p:stCondLst>
                                  <p:childTnLst>
                                    <p:set>
                                      <p:cBhvr>
                                        <p:cTn id="39" dur="1" fill="hold">
                                          <p:stCondLst>
                                            <p:cond delay="0"/>
                                          </p:stCondLst>
                                        </p:cTn>
                                        <p:tgtEl>
                                          <p:spTgt spid="358646"/>
                                        </p:tgtEl>
                                        <p:attrNameLst>
                                          <p:attrName>style.visibility</p:attrName>
                                        </p:attrNameLst>
                                      </p:cBhvr>
                                      <p:to>
                                        <p:strVal val="visible"/>
                                      </p:to>
                                    </p:set>
                                    <p:animEffect transition="in" filter="blinds(horizontal)">
                                      <p:cBhvr>
                                        <p:cTn id="40" dur="500"/>
                                        <p:tgtEl>
                                          <p:spTgt spid="358646"/>
                                        </p:tgtEl>
                                      </p:cBhvr>
                                    </p:animEffect>
                                  </p:childTnLst>
                                </p:cTn>
                              </p:par>
                              <p:par>
                                <p:cTn id="41" presetID="3" presetClass="entr" presetSubtype="10" fill="hold" nodeType="withEffect">
                                  <p:stCondLst>
                                    <p:cond delay="0"/>
                                  </p:stCondLst>
                                  <p:childTnLst>
                                    <p:set>
                                      <p:cBhvr>
                                        <p:cTn id="42" dur="1" fill="hold">
                                          <p:stCondLst>
                                            <p:cond delay="0"/>
                                          </p:stCondLst>
                                        </p:cTn>
                                        <p:tgtEl>
                                          <p:spTgt spid="358647"/>
                                        </p:tgtEl>
                                        <p:attrNameLst>
                                          <p:attrName>style.visibility</p:attrName>
                                        </p:attrNameLst>
                                      </p:cBhvr>
                                      <p:to>
                                        <p:strVal val="visible"/>
                                      </p:to>
                                    </p:set>
                                    <p:animEffect transition="in" filter="blinds(horizontal)">
                                      <p:cBhvr>
                                        <p:cTn id="43" dur="500"/>
                                        <p:tgtEl>
                                          <p:spTgt spid="358647"/>
                                        </p:tgtEl>
                                      </p:cBhvr>
                                    </p:animEffect>
                                  </p:childTnLst>
                                </p:cTn>
                              </p:par>
                              <p:par>
                                <p:cTn id="44" presetID="3" presetClass="entr" presetSubtype="10" fill="hold" nodeType="withEffect">
                                  <p:stCondLst>
                                    <p:cond delay="0"/>
                                  </p:stCondLst>
                                  <p:childTnLst>
                                    <p:set>
                                      <p:cBhvr>
                                        <p:cTn id="45" dur="1" fill="hold">
                                          <p:stCondLst>
                                            <p:cond delay="0"/>
                                          </p:stCondLst>
                                        </p:cTn>
                                        <p:tgtEl>
                                          <p:spTgt spid="358648"/>
                                        </p:tgtEl>
                                        <p:attrNameLst>
                                          <p:attrName>style.visibility</p:attrName>
                                        </p:attrNameLst>
                                      </p:cBhvr>
                                      <p:to>
                                        <p:strVal val="visible"/>
                                      </p:to>
                                    </p:set>
                                    <p:animEffect transition="in" filter="blinds(horizontal)">
                                      <p:cBhvr>
                                        <p:cTn id="46" dur="500"/>
                                        <p:tgtEl>
                                          <p:spTgt spid="358648"/>
                                        </p:tgtEl>
                                      </p:cBhvr>
                                    </p:animEffect>
                                  </p:childTnLst>
                                </p:cTn>
                              </p:par>
                              <p:par>
                                <p:cTn id="47" presetID="3" presetClass="entr" presetSubtype="10" fill="hold" nodeType="withEffect">
                                  <p:stCondLst>
                                    <p:cond delay="0"/>
                                  </p:stCondLst>
                                  <p:childTnLst>
                                    <p:set>
                                      <p:cBhvr>
                                        <p:cTn id="48" dur="1" fill="hold">
                                          <p:stCondLst>
                                            <p:cond delay="0"/>
                                          </p:stCondLst>
                                        </p:cTn>
                                        <p:tgtEl>
                                          <p:spTgt spid="358649"/>
                                        </p:tgtEl>
                                        <p:attrNameLst>
                                          <p:attrName>style.visibility</p:attrName>
                                        </p:attrNameLst>
                                      </p:cBhvr>
                                      <p:to>
                                        <p:strVal val="visible"/>
                                      </p:to>
                                    </p:set>
                                    <p:animEffect transition="in" filter="blinds(horizontal)">
                                      <p:cBhvr>
                                        <p:cTn id="49" dur="500"/>
                                        <p:tgtEl>
                                          <p:spTgt spid="358649"/>
                                        </p:tgtEl>
                                      </p:cBhvr>
                                    </p:animEffect>
                                  </p:childTnLst>
                                </p:cTn>
                              </p:par>
                              <p:par>
                                <p:cTn id="50" presetID="3" presetClass="entr" presetSubtype="10" fill="hold" nodeType="withEffect">
                                  <p:stCondLst>
                                    <p:cond delay="0"/>
                                  </p:stCondLst>
                                  <p:childTnLst>
                                    <p:set>
                                      <p:cBhvr>
                                        <p:cTn id="51" dur="1" fill="hold">
                                          <p:stCondLst>
                                            <p:cond delay="0"/>
                                          </p:stCondLst>
                                        </p:cTn>
                                        <p:tgtEl>
                                          <p:spTgt spid="358650"/>
                                        </p:tgtEl>
                                        <p:attrNameLst>
                                          <p:attrName>style.visibility</p:attrName>
                                        </p:attrNameLst>
                                      </p:cBhvr>
                                      <p:to>
                                        <p:strVal val="visible"/>
                                      </p:to>
                                    </p:set>
                                    <p:animEffect transition="in" filter="blinds(horizontal)">
                                      <p:cBhvr>
                                        <p:cTn id="52" dur="500"/>
                                        <p:tgtEl>
                                          <p:spTgt spid="358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8"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06568" y="4095177"/>
            <a:ext cx="4125912"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90818" name="Object 2"/>
          <p:cNvGraphicFramePr>
            <a:graphicFrameLocks noChangeAspect="1"/>
          </p:cNvGraphicFramePr>
          <p:nvPr>
            <p:extLst>
              <p:ext uri="{D42A27DB-BD31-4B8C-83A1-F6EECF244321}">
                <p14:modId xmlns:p14="http://schemas.microsoft.com/office/powerpoint/2010/main" val="3073050377"/>
              </p:ext>
            </p:extLst>
          </p:nvPr>
        </p:nvGraphicFramePr>
        <p:xfrm>
          <a:off x="1657996" y="3232150"/>
          <a:ext cx="3717925" cy="1023938"/>
        </p:xfrm>
        <a:graphic>
          <a:graphicData uri="http://schemas.openxmlformats.org/presentationml/2006/ole">
            <mc:AlternateContent xmlns:mc="http://schemas.openxmlformats.org/markup-compatibility/2006">
              <mc:Choice xmlns:v="urn:schemas-microsoft-com:vml" Requires="v">
                <p:oleObj name="Equation" r:id="rId3" imgW="1523880" imgH="419040" progId="Equation.DSMT4">
                  <p:embed/>
                </p:oleObj>
              </mc:Choice>
              <mc:Fallback>
                <p:oleObj name="Equation" r:id="rId3" imgW="1523880" imgH="419040" progId="Equation.DSMT4">
                  <p:embed/>
                  <p:pic>
                    <p:nvPicPr>
                      <p:cNvPr id="0" name=""/>
                      <p:cNvPicPr>
                        <a:picLocks noChangeAspect="1" noChangeArrowheads="1"/>
                      </p:cNvPicPr>
                      <p:nvPr/>
                    </p:nvPicPr>
                    <p:blipFill>
                      <a:blip r:embed="rId4"/>
                      <a:srcRect/>
                      <a:stretch>
                        <a:fillRect/>
                      </a:stretch>
                    </p:blipFill>
                    <p:spPr bwMode="auto">
                      <a:xfrm>
                        <a:off x="1657996" y="3232150"/>
                        <a:ext cx="3717925" cy="1023938"/>
                      </a:xfrm>
                      <a:prstGeom prst="rect">
                        <a:avLst/>
                      </a:prstGeom>
                      <a:noFill/>
                      <a:ln>
                        <a:noFill/>
                      </a:ln>
                      <a:effectLst/>
                    </p:spPr>
                  </p:pic>
                </p:oleObj>
              </mc:Fallback>
            </mc:AlternateContent>
          </a:graphicData>
        </a:graphic>
      </p:graphicFrame>
      <p:graphicFrame>
        <p:nvGraphicFramePr>
          <p:cNvPr id="290819" name="Object 3"/>
          <p:cNvGraphicFramePr>
            <a:graphicFrameLocks noChangeAspect="1"/>
          </p:cNvGraphicFramePr>
          <p:nvPr>
            <p:extLst>
              <p:ext uri="{D42A27DB-BD31-4B8C-83A1-F6EECF244321}">
                <p14:modId xmlns:p14="http://schemas.microsoft.com/office/powerpoint/2010/main" val="1930155929"/>
              </p:ext>
            </p:extLst>
          </p:nvPr>
        </p:nvGraphicFramePr>
        <p:xfrm>
          <a:off x="2468496" y="4293096"/>
          <a:ext cx="3195457" cy="967432"/>
        </p:xfrm>
        <a:graphic>
          <a:graphicData uri="http://schemas.openxmlformats.org/presentationml/2006/ole">
            <mc:AlternateContent xmlns:mc="http://schemas.openxmlformats.org/markup-compatibility/2006">
              <mc:Choice xmlns:v="urn:schemas-microsoft-com:vml" Requires="v">
                <p:oleObj name="Equation" r:id="rId5" imgW="1384200" imgH="419040" progId="Equation.DSMT4">
                  <p:embed/>
                </p:oleObj>
              </mc:Choice>
              <mc:Fallback>
                <p:oleObj name="Equation" r:id="rId5" imgW="1384200" imgH="419040" progId="Equation.DSMT4">
                  <p:embed/>
                  <p:pic>
                    <p:nvPicPr>
                      <p:cNvPr id="0" name=""/>
                      <p:cNvPicPr>
                        <a:picLocks noChangeAspect="1" noChangeArrowheads="1"/>
                      </p:cNvPicPr>
                      <p:nvPr/>
                    </p:nvPicPr>
                    <p:blipFill>
                      <a:blip r:embed="rId6"/>
                      <a:srcRect/>
                      <a:stretch>
                        <a:fillRect/>
                      </a:stretch>
                    </p:blipFill>
                    <p:spPr bwMode="auto">
                      <a:xfrm>
                        <a:off x="2468496" y="4293096"/>
                        <a:ext cx="3195457" cy="967432"/>
                      </a:xfrm>
                      <a:prstGeom prst="rect">
                        <a:avLst/>
                      </a:prstGeom>
                      <a:noFill/>
                      <a:ln>
                        <a:noFill/>
                      </a:ln>
                      <a:effectLst/>
                    </p:spPr>
                  </p:pic>
                </p:oleObj>
              </mc:Fallback>
            </mc:AlternateContent>
          </a:graphicData>
        </a:graphic>
      </p:graphicFrame>
      <p:graphicFrame>
        <p:nvGraphicFramePr>
          <p:cNvPr id="290820" name="Object 4"/>
          <p:cNvGraphicFramePr>
            <a:graphicFrameLocks noChangeAspect="1"/>
          </p:cNvGraphicFramePr>
          <p:nvPr>
            <p:extLst>
              <p:ext uri="{D42A27DB-BD31-4B8C-83A1-F6EECF244321}">
                <p14:modId xmlns:p14="http://schemas.microsoft.com/office/powerpoint/2010/main" val="4195168152"/>
              </p:ext>
            </p:extLst>
          </p:nvPr>
        </p:nvGraphicFramePr>
        <p:xfrm>
          <a:off x="1898651" y="1693019"/>
          <a:ext cx="3700463" cy="1417638"/>
        </p:xfrm>
        <a:graphic>
          <a:graphicData uri="http://schemas.openxmlformats.org/presentationml/2006/ole">
            <mc:AlternateContent xmlns:mc="http://schemas.openxmlformats.org/markup-compatibility/2006">
              <mc:Choice xmlns:v="urn:schemas-microsoft-com:vml" Requires="v">
                <p:oleObj name="Equation" r:id="rId7" imgW="3682800" imgH="1384200" progId="Equation.DSMT4">
                  <p:embed/>
                </p:oleObj>
              </mc:Choice>
              <mc:Fallback>
                <p:oleObj name="Equation" r:id="rId7" imgW="3682800" imgH="1384200" progId="Equation.DSMT4">
                  <p:embed/>
                  <p:pic>
                    <p:nvPicPr>
                      <p:cNvPr id="0" name=""/>
                      <p:cNvPicPr>
                        <a:picLocks noChangeAspect="1" noChangeArrowheads="1"/>
                      </p:cNvPicPr>
                      <p:nvPr/>
                    </p:nvPicPr>
                    <p:blipFill>
                      <a:blip r:embed="rId8"/>
                      <a:srcRect/>
                      <a:stretch>
                        <a:fillRect/>
                      </a:stretch>
                    </p:blipFill>
                    <p:spPr bwMode="auto">
                      <a:xfrm>
                        <a:off x="1898651" y="1693019"/>
                        <a:ext cx="3700463"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6" name="Rectangle 6"/>
          <p:cNvSpPr>
            <a:spLocks noChangeArrowheads="1"/>
          </p:cNvSpPr>
          <p:nvPr/>
        </p:nvSpPr>
        <p:spPr bwMode="auto">
          <a:xfrm>
            <a:off x="1992313" y="260351"/>
            <a:ext cx="82804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3200" b="1">
              <a:solidFill>
                <a:srgbClr val="FC3F04"/>
              </a:solidFill>
            </a:endParaRPr>
          </a:p>
        </p:txBody>
      </p:sp>
      <p:sp>
        <p:nvSpPr>
          <p:cNvPr id="61447" name="Rectangle 9"/>
          <p:cNvSpPr>
            <a:spLocks noGrp="1" noChangeArrowheads="1"/>
          </p:cNvSpPr>
          <p:nvPr>
            <p:ph type="title"/>
          </p:nvPr>
        </p:nvSpPr>
        <p:spPr>
          <a:xfrm>
            <a:off x="1919287" y="230033"/>
            <a:ext cx="8229600" cy="1371600"/>
          </a:xfrm>
        </p:spPr>
        <p:txBody>
          <a:bodyPr/>
          <a:lstStyle/>
          <a:p>
            <a:pPr algn="ctr" eaLnBrk="1" hangingPunct="1"/>
            <a:r>
              <a:rPr lang="zh-CN" altLang="en-US" dirty="0">
                <a:solidFill>
                  <a:srgbClr val="057939"/>
                </a:solidFill>
                <a:ea typeface="黑体" pitchFamily="2" charset="-122"/>
              </a:rPr>
              <a:t>中间距离法的递推公式</a:t>
            </a:r>
          </a:p>
        </p:txBody>
      </p:sp>
      <p:graphicFrame>
        <p:nvGraphicFramePr>
          <p:cNvPr id="10" name="Object 2">
            <a:extLst>
              <a:ext uri="{FF2B5EF4-FFF2-40B4-BE49-F238E27FC236}">
                <a16:creationId xmlns:a16="http://schemas.microsoft.com/office/drawing/2014/main" id="{4E8964CC-7AD7-448F-BF29-D0866AB61716}"/>
              </a:ext>
            </a:extLst>
          </p:cNvPr>
          <p:cNvGraphicFramePr>
            <a:graphicFrameLocks noChangeAspect="1"/>
          </p:cNvGraphicFramePr>
          <p:nvPr>
            <p:extLst>
              <p:ext uri="{D42A27DB-BD31-4B8C-83A1-F6EECF244321}">
                <p14:modId xmlns:p14="http://schemas.microsoft.com/office/powerpoint/2010/main" val="2921397153"/>
              </p:ext>
            </p:extLst>
          </p:nvPr>
        </p:nvGraphicFramePr>
        <p:xfrm>
          <a:off x="1613000" y="5478463"/>
          <a:ext cx="1890712" cy="558800"/>
        </p:xfrm>
        <a:graphic>
          <a:graphicData uri="http://schemas.openxmlformats.org/presentationml/2006/ole">
            <mc:AlternateContent xmlns:mc="http://schemas.openxmlformats.org/markup-compatibility/2006">
              <mc:Choice xmlns:v="urn:schemas-microsoft-com:vml" Requires="v">
                <p:oleObj name="Equation" r:id="rId9" imgW="774360" imgH="228600" progId="Equation.DSMT4">
                  <p:embed/>
                </p:oleObj>
              </mc:Choice>
              <mc:Fallback>
                <p:oleObj name="Equation" r:id="rId9" imgW="774360" imgH="228600" progId="Equation.DSMT4">
                  <p:embed/>
                  <p:pic>
                    <p:nvPicPr>
                      <p:cNvPr id="290818" name="Object 2"/>
                      <p:cNvPicPr>
                        <a:picLocks noChangeAspect="1" noChangeArrowheads="1"/>
                      </p:cNvPicPr>
                      <p:nvPr/>
                    </p:nvPicPr>
                    <p:blipFill>
                      <a:blip r:embed="rId10"/>
                      <a:srcRect/>
                      <a:stretch>
                        <a:fillRect/>
                      </a:stretch>
                    </p:blipFill>
                    <p:spPr bwMode="auto">
                      <a:xfrm>
                        <a:off x="1613000" y="5478463"/>
                        <a:ext cx="1890712" cy="558800"/>
                      </a:xfrm>
                      <a:prstGeom prst="rect">
                        <a:avLst/>
                      </a:prstGeom>
                      <a:noFill/>
                      <a:ln>
                        <a:noFill/>
                      </a:ln>
                      <a:effectLst/>
                    </p:spPr>
                  </p:pic>
                </p:oleObj>
              </mc:Fallback>
            </mc:AlternateContent>
          </a:graphicData>
        </a:graphic>
      </p:graphicFrame>
      <p:pic>
        <p:nvPicPr>
          <p:cNvPr id="5" name="图片 4" descr="日历&#10;&#10;描述已自动生成">
            <a:extLst>
              <a:ext uri="{FF2B5EF4-FFF2-40B4-BE49-F238E27FC236}">
                <a16:creationId xmlns:a16="http://schemas.microsoft.com/office/drawing/2014/main" id="{C6556188-64D4-4E0D-9DE6-C9AB275FC12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16081" y="1333338"/>
            <a:ext cx="5050648" cy="2503473"/>
          </a:xfrm>
          <a:prstGeom prst="rect">
            <a:avLst/>
          </a:prstGeom>
          <a:effectLst>
            <a:glow rad="190500">
              <a:schemeClr val="accent5">
                <a:lumMod val="90000"/>
              </a:schemeClr>
            </a:glow>
          </a:effectLst>
        </p:spPr>
      </p:pic>
      <p:sp>
        <p:nvSpPr>
          <p:cNvPr id="2" name="灯片编号占位符 1">
            <a:extLst>
              <a:ext uri="{FF2B5EF4-FFF2-40B4-BE49-F238E27FC236}">
                <a16:creationId xmlns:a16="http://schemas.microsoft.com/office/drawing/2014/main" id="{6DA4ACC1-C6B5-9C75-4749-098FA62C7FAF}"/>
              </a:ext>
            </a:extLst>
          </p:cNvPr>
          <p:cNvSpPr>
            <a:spLocks noGrp="1"/>
          </p:cNvSpPr>
          <p:nvPr>
            <p:ph type="sldNum" sz="quarter" idx="11"/>
          </p:nvPr>
        </p:nvSpPr>
        <p:spPr/>
        <p:txBody>
          <a:bodyPr/>
          <a:lstStyle/>
          <a:p>
            <a:pPr>
              <a:defRPr/>
            </a:pPr>
            <a:fld id="{2F44A83F-C644-4D2F-BA00-DBFF3DBED7EA}" type="slidenum">
              <a:rPr lang="en-US" altLang="zh-CN" smtClean="0"/>
              <a:pPr>
                <a:defRPr/>
              </a:pPr>
              <a:t>71</a:t>
            </a:fld>
            <a:endParaRPr lang="en-US" altLang="zh-CN"/>
          </a:p>
        </p:txBody>
      </p:sp>
    </p:spTree>
    <p:extLst>
      <p:ext uri="{BB962C8B-B14F-4D97-AF65-F5344CB8AC3E}">
        <p14:creationId xmlns:p14="http://schemas.microsoft.com/office/powerpoint/2010/main" val="8334173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0820"/>
                                        </p:tgtEl>
                                        <p:attrNameLst>
                                          <p:attrName>style.visibility</p:attrName>
                                        </p:attrNameLst>
                                      </p:cBhvr>
                                      <p:to>
                                        <p:strVal val="visible"/>
                                      </p:to>
                                    </p:set>
                                    <p:animEffect transition="in" filter="wipe(left)">
                                      <p:cBhvr>
                                        <p:cTn id="7" dur="500"/>
                                        <p:tgtEl>
                                          <p:spTgt spid="2908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90818"/>
                                        </p:tgtEl>
                                        <p:attrNameLst>
                                          <p:attrName>style.visibility</p:attrName>
                                        </p:attrNameLst>
                                      </p:cBhvr>
                                      <p:to>
                                        <p:strVal val="visible"/>
                                      </p:to>
                                    </p:set>
                                    <p:animEffect transition="in" filter="wipe(left)">
                                      <p:cBhvr>
                                        <p:cTn id="18" dur="500"/>
                                        <p:tgtEl>
                                          <p:spTgt spid="29081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90819"/>
                                        </p:tgtEl>
                                        <p:attrNameLst>
                                          <p:attrName>style.visibility</p:attrName>
                                        </p:attrNameLst>
                                      </p:cBhvr>
                                      <p:to>
                                        <p:strVal val="visible"/>
                                      </p:to>
                                    </p:set>
                                    <p:animEffect transition="in" filter="wipe(left)">
                                      <p:cBhvr>
                                        <p:cTn id="23" dur="500"/>
                                        <p:tgtEl>
                                          <p:spTgt spid="2908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1842" name="Object 2"/>
          <p:cNvGraphicFramePr>
            <a:graphicFrameLocks noChangeAspect="1"/>
          </p:cNvGraphicFramePr>
          <p:nvPr>
            <p:extLst>
              <p:ext uri="{D42A27DB-BD31-4B8C-83A1-F6EECF244321}">
                <p14:modId xmlns:p14="http://schemas.microsoft.com/office/powerpoint/2010/main" val="337477116"/>
              </p:ext>
            </p:extLst>
          </p:nvPr>
        </p:nvGraphicFramePr>
        <p:xfrm>
          <a:off x="4472179" y="3267185"/>
          <a:ext cx="478492" cy="487936"/>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
                      <p:cNvPicPr>
                        <a:picLocks noChangeAspect="1" noChangeArrowheads="1"/>
                      </p:cNvPicPr>
                      <p:nvPr/>
                    </p:nvPicPr>
                    <p:blipFill>
                      <a:blip r:embed="rId3"/>
                      <a:srcRect/>
                      <a:stretch>
                        <a:fillRect/>
                      </a:stretch>
                    </p:blipFill>
                    <p:spPr bwMode="auto">
                      <a:xfrm>
                        <a:off x="4472179" y="3267185"/>
                        <a:ext cx="478492" cy="487936"/>
                      </a:xfrm>
                      <a:prstGeom prst="rect">
                        <a:avLst/>
                      </a:prstGeom>
                      <a:noFill/>
                      <a:ln>
                        <a:noFill/>
                      </a:ln>
                    </p:spPr>
                  </p:pic>
                </p:oleObj>
              </mc:Fallback>
            </mc:AlternateContent>
          </a:graphicData>
        </a:graphic>
      </p:graphicFrame>
      <p:graphicFrame>
        <p:nvGraphicFramePr>
          <p:cNvPr id="291843" name="Object 3"/>
          <p:cNvGraphicFramePr>
            <a:graphicFrameLocks noChangeAspect="1"/>
          </p:cNvGraphicFramePr>
          <p:nvPr/>
        </p:nvGraphicFramePr>
        <p:xfrm>
          <a:off x="2782888" y="4581525"/>
          <a:ext cx="368300" cy="431800"/>
        </p:xfrm>
        <a:graphic>
          <a:graphicData uri="http://schemas.openxmlformats.org/presentationml/2006/ole">
            <mc:AlternateContent xmlns:mc="http://schemas.openxmlformats.org/markup-compatibility/2006">
              <mc:Choice xmlns:v="urn:schemas-microsoft-com:vml" Requires="v">
                <p:oleObj name="公式" r:id="rId4" imgW="342799" imgH="400140" progId="Equation.3">
                  <p:embed/>
                </p:oleObj>
              </mc:Choice>
              <mc:Fallback>
                <p:oleObj name="公式" r:id="rId4" imgW="342799" imgH="4001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2888" y="4581525"/>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1844" name="Object 4"/>
          <p:cNvGraphicFramePr>
            <a:graphicFrameLocks noChangeAspect="1"/>
          </p:cNvGraphicFramePr>
          <p:nvPr/>
        </p:nvGraphicFramePr>
        <p:xfrm>
          <a:off x="7391400" y="3357563"/>
          <a:ext cx="374650" cy="425450"/>
        </p:xfrm>
        <a:graphic>
          <a:graphicData uri="http://schemas.openxmlformats.org/presentationml/2006/ole">
            <mc:AlternateContent xmlns:mc="http://schemas.openxmlformats.org/markup-compatibility/2006">
              <mc:Choice xmlns:v="urn:schemas-microsoft-com:vml" Requires="v">
                <p:oleObj name="公式" r:id="rId6" imgW="352523" imgH="390420" progId="Equation.3">
                  <p:embed/>
                </p:oleObj>
              </mc:Choice>
              <mc:Fallback>
                <p:oleObj name="公式" r:id="rId6" imgW="352523" imgH="3904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1400" y="3357563"/>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1845" name="Object 5"/>
          <p:cNvGraphicFramePr>
            <a:graphicFrameLocks noChangeAspect="1"/>
          </p:cNvGraphicFramePr>
          <p:nvPr/>
        </p:nvGraphicFramePr>
        <p:xfrm>
          <a:off x="2854325" y="5876925"/>
          <a:ext cx="361950" cy="431800"/>
        </p:xfrm>
        <a:graphic>
          <a:graphicData uri="http://schemas.openxmlformats.org/presentationml/2006/ole">
            <mc:AlternateContent xmlns:mc="http://schemas.openxmlformats.org/markup-compatibility/2006">
              <mc:Choice xmlns:v="urn:schemas-microsoft-com:vml" Requires="v">
                <p:oleObj name="公式" r:id="rId8" imgW="342799" imgH="400140" progId="Equation.3">
                  <p:embed/>
                </p:oleObj>
              </mc:Choice>
              <mc:Fallback>
                <p:oleObj name="公式" r:id="rId8" imgW="342799" imgH="4001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4325" y="5876925"/>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1846" name="Object 6"/>
          <p:cNvGraphicFramePr>
            <a:graphicFrameLocks noChangeAspect="1"/>
          </p:cNvGraphicFramePr>
          <p:nvPr/>
        </p:nvGraphicFramePr>
        <p:xfrm>
          <a:off x="5878513" y="3357563"/>
          <a:ext cx="368300" cy="431800"/>
        </p:xfrm>
        <a:graphic>
          <a:graphicData uri="http://schemas.openxmlformats.org/presentationml/2006/ole">
            <mc:AlternateContent xmlns:mc="http://schemas.openxmlformats.org/markup-compatibility/2006">
              <mc:Choice xmlns:v="urn:schemas-microsoft-com:vml" Requires="v">
                <p:oleObj name="公式" r:id="rId10" imgW="342799" imgH="400140" progId="Equation.3">
                  <p:embed/>
                </p:oleObj>
              </mc:Choice>
              <mc:Fallback>
                <p:oleObj name="公式" r:id="rId10" imgW="342799" imgH="4001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8513" y="3357563"/>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1847" name="Object 7"/>
          <p:cNvGraphicFramePr>
            <a:graphicFrameLocks noChangeAspect="1"/>
          </p:cNvGraphicFramePr>
          <p:nvPr/>
        </p:nvGraphicFramePr>
        <p:xfrm>
          <a:off x="2782888" y="5229225"/>
          <a:ext cx="374650" cy="425450"/>
        </p:xfrm>
        <a:graphic>
          <a:graphicData uri="http://schemas.openxmlformats.org/presentationml/2006/ole">
            <mc:AlternateContent xmlns:mc="http://schemas.openxmlformats.org/markup-compatibility/2006">
              <mc:Choice xmlns:v="urn:schemas-microsoft-com:vml" Requires="v">
                <p:oleObj name="公式" r:id="rId12" imgW="352523" imgH="390420" progId="Equation.3">
                  <p:embed/>
                </p:oleObj>
              </mc:Choice>
              <mc:Fallback>
                <p:oleObj name="公式" r:id="rId12" imgW="352523" imgH="39042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2888" y="5229225"/>
                        <a:ext cx="3746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91848" name="Group 8"/>
          <p:cNvGrpSpPr>
            <a:grpSpLocks/>
          </p:cNvGrpSpPr>
          <p:nvPr/>
        </p:nvGrpSpPr>
        <p:grpSpPr bwMode="auto">
          <a:xfrm>
            <a:off x="2279650" y="3213100"/>
            <a:ext cx="7704138" cy="3208338"/>
            <a:chOff x="-3" y="-3"/>
            <a:chExt cx="2871" cy="2021"/>
          </a:xfrm>
        </p:grpSpPr>
        <p:grpSp>
          <p:nvGrpSpPr>
            <p:cNvPr id="62483" name="Group 9"/>
            <p:cNvGrpSpPr>
              <a:grpSpLocks/>
            </p:cNvGrpSpPr>
            <p:nvPr/>
          </p:nvGrpSpPr>
          <p:grpSpPr bwMode="auto">
            <a:xfrm>
              <a:off x="0" y="0"/>
              <a:ext cx="2865" cy="2015"/>
              <a:chOff x="0" y="0"/>
              <a:chExt cx="2865" cy="2015"/>
            </a:xfrm>
          </p:grpSpPr>
          <p:grpSp>
            <p:nvGrpSpPr>
              <p:cNvPr id="62485" name="Group 10"/>
              <p:cNvGrpSpPr>
                <a:grpSpLocks/>
              </p:cNvGrpSpPr>
              <p:nvPr/>
            </p:nvGrpSpPr>
            <p:grpSpPr bwMode="auto">
              <a:xfrm>
                <a:off x="0" y="0"/>
                <a:ext cx="573" cy="403"/>
                <a:chOff x="0" y="0"/>
                <a:chExt cx="573" cy="403"/>
              </a:xfrm>
            </p:grpSpPr>
            <p:sp>
              <p:nvSpPr>
                <p:cNvPr id="62558" name="Rectangle 11"/>
                <p:cNvSpPr>
                  <a:spLocks noChangeArrowheads="1"/>
                </p:cNvSpPr>
                <p:nvPr/>
              </p:nvSpPr>
              <p:spPr bwMode="auto">
                <a:xfrm>
                  <a:off x="43"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just" eaLnBrk="0" hangingPunct="0"/>
                  <a:endParaRPr kumimoji="1" lang="en-US" altLang="zh-CN" sz="2800" b="1">
                    <a:solidFill>
                      <a:schemeClr val="tx2"/>
                    </a:solidFill>
                    <a:latin typeface="Times New Roman" pitchFamily="18" charset="0"/>
                  </a:endParaRPr>
                </a:p>
              </p:txBody>
            </p:sp>
            <p:sp>
              <p:nvSpPr>
                <p:cNvPr id="62559" name="Rectangle 12"/>
                <p:cNvSpPr>
                  <a:spLocks noChangeArrowheads="1"/>
                </p:cNvSpPr>
                <p:nvPr/>
              </p:nvSpPr>
              <p:spPr bwMode="auto">
                <a:xfrm>
                  <a:off x="0"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86" name="Group 13"/>
              <p:cNvGrpSpPr>
                <a:grpSpLocks/>
              </p:cNvGrpSpPr>
              <p:nvPr/>
            </p:nvGrpSpPr>
            <p:grpSpPr bwMode="auto">
              <a:xfrm>
                <a:off x="573" y="0"/>
                <a:ext cx="573" cy="403"/>
                <a:chOff x="573" y="0"/>
                <a:chExt cx="573" cy="403"/>
              </a:xfrm>
            </p:grpSpPr>
            <p:sp>
              <p:nvSpPr>
                <p:cNvPr id="62556" name="Rectangle 14"/>
                <p:cNvSpPr>
                  <a:spLocks noChangeArrowheads="1"/>
                </p:cNvSpPr>
                <p:nvPr/>
              </p:nvSpPr>
              <p:spPr bwMode="auto">
                <a:xfrm>
                  <a:off x="616" y="0"/>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tabLst>
                      <a:tab pos="457200" algn="l"/>
                    </a:tabLst>
                  </a:pPr>
                  <a:r>
                    <a:rPr kumimoji="1" lang="en-US" altLang="zh-CN" sz="2800" b="1" dirty="0">
                      <a:solidFill>
                        <a:schemeClr val="tx2"/>
                      </a:solidFill>
                      <a:latin typeface="宋体" pitchFamily="2" charset="-122"/>
                      <a:cs typeface="Times New Roman" pitchFamily="18" charset="0"/>
                    </a:rPr>
                    <a:t>	</a:t>
                  </a:r>
                </a:p>
                <a:p>
                  <a:pPr algn="ctr" eaLnBrk="0" hangingPunct="0">
                    <a:tabLst>
                      <a:tab pos="457200" algn="l"/>
                    </a:tabLst>
                  </a:pPr>
                  <a:endParaRPr kumimoji="1" lang="en-US" altLang="zh-CN" sz="2800" b="1" dirty="0">
                    <a:solidFill>
                      <a:schemeClr val="tx2"/>
                    </a:solidFill>
                    <a:latin typeface="Times New Roman" pitchFamily="18" charset="0"/>
                  </a:endParaRPr>
                </a:p>
              </p:txBody>
            </p:sp>
            <p:sp>
              <p:nvSpPr>
                <p:cNvPr id="62557" name="Rectangle 15"/>
                <p:cNvSpPr>
                  <a:spLocks noChangeArrowheads="1"/>
                </p:cNvSpPr>
                <p:nvPr/>
              </p:nvSpPr>
              <p:spPr bwMode="auto">
                <a:xfrm>
                  <a:off x="573"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87" name="Group 16"/>
              <p:cNvGrpSpPr>
                <a:grpSpLocks/>
              </p:cNvGrpSpPr>
              <p:nvPr/>
            </p:nvGrpSpPr>
            <p:grpSpPr bwMode="auto">
              <a:xfrm>
                <a:off x="1146" y="0"/>
                <a:ext cx="573" cy="403"/>
                <a:chOff x="1146" y="0"/>
                <a:chExt cx="573" cy="403"/>
              </a:xfrm>
            </p:grpSpPr>
            <p:sp>
              <p:nvSpPr>
                <p:cNvPr id="62554" name="Rectangle 17"/>
                <p:cNvSpPr>
                  <a:spLocks noChangeArrowheads="1" noTextEdit="1"/>
                </p:cNvSpPr>
                <p:nvPr/>
              </p:nvSpPr>
              <p:spPr bwMode="auto">
                <a:xfrm>
                  <a:off x="1189"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55" name="Rectangle 18"/>
                <p:cNvSpPr>
                  <a:spLocks noChangeArrowheads="1"/>
                </p:cNvSpPr>
                <p:nvPr/>
              </p:nvSpPr>
              <p:spPr bwMode="auto">
                <a:xfrm>
                  <a:off x="1146"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88" name="Group 19"/>
              <p:cNvGrpSpPr>
                <a:grpSpLocks/>
              </p:cNvGrpSpPr>
              <p:nvPr/>
            </p:nvGrpSpPr>
            <p:grpSpPr bwMode="auto">
              <a:xfrm>
                <a:off x="1719" y="0"/>
                <a:ext cx="573" cy="403"/>
                <a:chOff x="1719" y="0"/>
                <a:chExt cx="573" cy="403"/>
              </a:xfrm>
            </p:grpSpPr>
            <p:sp>
              <p:nvSpPr>
                <p:cNvPr id="62552" name="Rectangle 20"/>
                <p:cNvSpPr>
                  <a:spLocks noChangeArrowheads="1" noTextEdit="1"/>
                </p:cNvSpPr>
                <p:nvPr/>
              </p:nvSpPr>
              <p:spPr bwMode="auto">
                <a:xfrm>
                  <a:off x="1762"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53" name="Rectangle 21"/>
                <p:cNvSpPr>
                  <a:spLocks noChangeArrowheads="1"/>
                </p:cNvSpPr>
                <p:nvPr/>
              </p:nvSpPr>
              <p:spPr bwMode="auto">
                <a:xfrm>
                  <a:off x="1719"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89" name="Group 22"/>
              <p:cNvGrpSpPr>
                <a:grpSpLocks/>
              </p:cNvGrpSpPr>
              <p:nvPr/>
            </p:nvGrpSpPr>
            <p:grpSpPr bwMode="auto">
              <a:xfrm>
                <a:off x="2292" y="0"/>
                <a:ext cx="573" cy="403"/>
                <a:chOff x="2292" y="0"/>
                <a:chExt cx="573" cy="403"/>
              </a:xfrm>
            </p:grpSpPr>
            <p:sp>
              <p:nvSpPr>
                <p:cNvPr id="62550" name="Rectangle 23"/>
                <p:cNvSpPr>
                  <a:spLocks noChangeArrowheads="1" noTextEdit="1"/>
                </p:cNvSpPr>
                <p:nvPr/>
              </p:nvSpPr>
              <p:spPr bwMode="auto">
                <a:xfrm>
                  <a:off x="2335" y="0"/>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51" name="Rectangle 24"/>
                <p:cNvSpPr>
                  <a:spLocks noChangeArrowheads="1"/>
                </p:cNvSpPr>
                <p:nvPr/>
              </p:nvSpPr>
              <p:spPr bwMode="auto">
                <a:xfrm>
                  <a:off x="2292" y="0"/>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0" name="Group 25"/>
              <p:cNvGrpSpPr>
                <a:grpSpLocks/>
              </p:cNvGrpSpPr>
              <p:nvPr/>
            </p:nvGrpSpPr>
            <p:grpSpPr bwMode="auto">
              <a:xfrm>
                <a:off x="0" y="403"/>
                <a:ext cx="573" cy="403"/>
                <a:chOff x="0" y="403"/>
                <a:chExt cx="573" cy="403"/>
              </a:xfrm>
            </p:grpSpPr>
            <p:sp>
              <p:nvSpPr>
                <p:cNvPr id="62548" name="Rectangle 26"/>
                <p:cNvSpPr>
                  <a:spLocks noChangeArrowheads="1" noTextEdit="1"/>
                </p:cNvSpPr>
                <p:nvPr/>
              </p:nvSpPr>
              <p:spPr bwMode="auto">
                <a:xfrm>
                  <a:off x="43" y="403"/>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49" name="Rectangle 27"/>
                <p:cNvSpPr>
                  <a:spLocks noChangeArrowheads="1"/>
                </p:cNvSpPr>
                <p:nvPr/>
              </p:nvSpPr>
              <p:spPr bwMode="auto">
                <a:xfrm>
                  <a:off x="0"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1" name="Group 28"/>
              <p:cNvGrpSpPr>
                <a:grpSpLocks/>
              </p:cNvGrpSpPr>
              <p:nvPr/>
            </p:nvGrpSpPr>
            <p:grpSpPr bwMode="auto">
              <a:xfrm>
                <a:off x="573" y="403"/>
                <a:ext cx="573" cy="403"/>
                <a:chOff x="573" y="403"/>
                <a:chExt cx="573" cy="403"/>
              </a:xfrm>
            </p:grpSpPr>
            <p:sp>
              <p:nvSpPr>
                <p:cNvPr id="62546" name="Rectangle 29"/>
                <p:cNvSpPr>
                  <a:spLocks noChangeArrowheads="1"/>
                </p:cNvSpPr>
                <p:nvPr/>
              </p:nvSpPr>
              <p:spPr bwMode="auto">
                <a:xfrm>
                  <a:off x="616"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0</a:t>
                  </a:r>
                </a:p>
                <a:p>
                  <a:pPr algn="ctr" eaLnBrk="0" hangingPunct="0"/>
                  <a:endParaRPr kumimoji="1" lang="en-US" altLang="zh-CN" sz="2800" b="1">
                    <a:solidFill>
                      <a:schemeClr val="tx2"/>
                    </a:solidFill>
                    <a:latin typeface="Times New Roman" pitchFamily="18" charset="0"/>
                  </a:endParaRPr>
                </a:p>
              </p:txBody>
            </p:sp>
            <p:sp>
              <p:nvSpPr>
                <p:cNvPr id="62547" name="Rectangle 30"/>
                <p:cNvSpPr>
                  <a:spLocks noChangeArrowheads="1"/>
                </p:cNvSpPr>
                <p:nvPr/>
              </p:nvSpPr>
              <p:spPr bwMode="auto">
                <a:xfrm>
                  <a:off x="573"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2" name="Group 31"/>
              <p:cNvGrpSpPr>
                <a:grpSpLocks/>
              </p:cNvGrpSpPr>
              <p:nvPr/>
            </p:nvGrpSpPr>
            <p:grpSpPr bwMode="auto">
              <a:xfrm>
                <a:off x="1146" y="403"/>
                <a:ext cx="573" cy="403"/>
                <a:chOff x="1146" y="403"/>
                <a:chExt cx="573" cy="403"/>
              </a:xfrm>
            </p:grpSpPr>
            <p:sp>
              <p:nvSpPr>
                <p:cNvPr id="62544" name="Rectangle 32"/>
                <p:cNvSpPr>
                  <a:spLocks noChangeArrowheads="1"/>
                </p:cNvSpPr>
                <p:nvPr/>
              </p:nvSpPr>
              <p:spPr bwMode="auto">
                <a:xfrm>
                  <a:off x="1189"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45" name="Rectangle 33"/>
                <p:cNvSpPr>
                  <a:spLocks noChangeArrowheads="1"/>
                </p:cNvSpPr>
                <p:nvPr/>
              </p:nvSpPr>
              <p:spPr bwMode="auto">
                <a:xfrm>
                  <a:off x="1146"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3" name="Group 34"/>
              <p:cNvGrpSpPr>
                <a:grpSpLocks/>
              </p:cNvGrpSpPr>
              <p:nvPr/>
            </p:nvGrpSpPr>
            <p:grpSpPr bwMode="auto">
              <a:xfrm>
                <a:off x="1719" y="403"/>
                <a:ext cx="573" cy="403"/>
                <a:chOff x="1719" y="403"/>
                <a:chExt cx="573" cy="403"/>
              </a:xfrm>
            </p:grpSpPr>
            <p:sp>
              <p:nvSpPr>
                <p:cNvPr id="62542" name="Rectangle 35"/>
                <p:cNvSpPr>
                  <a:spLocks noChangeArrowheads="1"/>
                </p:cNvSpPr>
                <p:nvPr/>
              </p:nvSpPr>
              <p:spPr bwMode="auto">
                <a:xfrm>
                  <a:off x="1762"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43" name="Rectangle 36"/>
                <p:cNvSpPr>
                  <a:spLocks noChangeArrowheads="1"/>
                </p:cNvSpPr>
                <p:nvPr/>
              </p:nvSpPr>
              <p:spPr bwMode="auto">
                <a:xfrm>
                  <a:off x="1719"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4" name="Group 37"/>
              <p:cNvGrpSpPr>
                <a:grpSpLocks/>
              </p:cNvGrpSpPr>
              <p:nvPr/>
            </p:nvGrpSpPr>
            <p:grpSpPr bwMode="auto">
              <a:xfrm>
                <a:off x="2292" y="403"/>
                <a:ext cx="573" cy="403"/>
                <a:chOff x="2292" y="403"/>
                <a:chExt cx="573" cy="403"/>
              </a:xfrm>
            </p:grpSpPr>
            <p:sp>
              <p:nvSpPr>
                <p:cNvPr id="62540" name="Rectangle 38"/>
                <p:cNvSpPr>
                  <a:spLocks noChangeArrowheads="1"/>
                </p:cNvSpPr>
                <p:nvPr/>
              </p:nvSpPr>
              <p:spPr bwMode="auto">
                <a:xfrm>
                  <a:off x="2335" y="403"/>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41" name="Rectangle 39"/>
                <p:cNvSpPr>
                  <a:spLocks noChangeArrowheads="1"/>
                </p:cNvSpPr>
                <p:nvPr/>
              </p:nvSpPr>
              <p:spPr bwMode="auto">
                <a:xfrm>
                  <a:off x="2292" y="403"/>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5" name="Group 40"/>
              <p:cNvGrpSpPr>
                <a:grpSpLocks/>
              </p:cNvGrpSpPr>
              <p:nvPr/>
            </p:nvGrpSpPr>
            <p:grpSpPr bwMode="auto">
              <a:xfrm>
                <a:off x="0" y="806"/>
                <a:ext cx="573" cy="403"/>
                <a:chOff x="0" y="806"/>
                <a:chExt cx="573" cy="403"/>
              </a:xfrm>
            </p:grpSpPr>
            <p:sp>
              <p:nvSpPr>
                <p:cNvPr id="62538" name="Rectangle 41"/>
                <p:cNvSpPr>
                  <a:spLocks noChangeArrowheads="1"/>
                </p:cNvSpPr>
                <p:nvPr/>
              </p:nvSpPr>
              <p:spPr bwMode="auto">
                <a:xfrm>
                  <a:off x="43"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tabLst>
                      <a:tab pos="457200" algn="l"/>
                    </a:tabLst>
                  </a:pPr>
                  <a:r>
                    <a:rPr kumimoji="1" lang="en-US" altLang="zh-CN" sz="2800" b="1">
                      <a:solidFill>
                        <a:schemeClr val="tx2"/>
                      </a:solidFill>
                      <a:latin typeface="宋体" pitchFamily="2" charset="-122"/>
                      <a:cs typeface="Times New Roman" pitchFamily="18" charset="0"/>
                    </a:rPr>
                    <a:t>	</a:t>
                  </a:r>
                </a:p>
                <a:p>
                  <a:pPr algn="just" eaLnBrk="0" hangingPunct="0">
                    <a:tabLst>
                      <a:tab pos="457200" algn="l"/>
                    </a:tabLst>
                  </a:pPr>
                  <a:endParaRPr kumimoji="1" lang="en-US" altLang="zh-CN" sz="2800" b="1">
                    <a:solidFill>
                      <a:schemeClr val="tx2"/>
                    </a:solidFill>
                    <a:latin typeface="Times New Roman" pitchFamily="18" charset="0"/>
                  </a:endParaRPr>
                </a:p>
              </p:txBody>
            </p:sp>
            <p:sp>
              <p:nvSpPr>
                <p:cNvPr id="62539" name="Rectangle 42"/>
                <p:cNvSpPr>
                  <a:spLocks noChangeArrowheads="1"/>
                </p:cNvSpPr>
                <p:nvPr/>
              </p:nvSpPr>
              <p:spPr bwMode="auto">
                <a:xfrm>
                  <a:off x="0"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6" name="Group 43"/>
              <p:cNvGrpSpPr>
                <a:grpSpLocks/>
              </p:cNvGrpSpPr>
              <p:nvPr/>
            </p:nvGrpSpPr>
            <p:grpSpPr bwMode="auto">
              <a:xfrm>
                <a:off x="573" y="806"/>
                <a:ext cx="573" cy="403"/>
                <a:chOff x="573" y="806"/>
                <a:chExt cx="573" cy="403"/>
              </a:xfrm>
            </p:grpSpPr>
            <p:sp>
              <p:nvSpPr>
                <p:cNvPr id="62536" name="Rectangle 44"/>
                <p:cNvSpPr>
                  <a:spLocks noChangeArrowheads="1"/>
                </p:cNvSpPr>
                <p:nvPr/>
              </p:nvSpPr>
              <p:spPr bwMode="auto">
                <a:xfrm>
                  <a:off x="616"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dirty="0">
                      <a:solidFill>
                        <a:schemeClr val="tx2"/>
                      </a:solidFill>
                      <a:latin typeface="宋体" pitchFamily="2" charset="-122"/>
                      <a:cs typeface="Times New Roman" pitchFamily="18" charset="0"/>
                    </a:rPr>
                    <a:t>4.67</a:t>
                  </a:r>
                </a:p>
                <a:p>
                  <a:pPr algn="ctr" eaLnBrk="0" hangingPunct="0"/>
                  <a:endParaRPr kumimoji="1" lang="en-US" altLang="zh-CN" sz="2800" b="1" dirty="0">
                    <a:solidFill>
                      <a:schemeClr val="tx2"/>
                    </a:solidFill>
                    <a:latin typeface="Times New Roman" pitchFamily="18" charset="0"/>
                  </a:endParaRPr>
                </a:p>
              </p:txBody>
            </p:sp>
            <p:sp>
              <p:nvSpPr>
                <p:cNvPr id="62537" name="Rectangle 45"/>
                <p:cNvSpPr>
                  <a:spLocks noChangeArrowheads="1"/>
                </p:cNvSpPr>
                <p:nvPr/>
              </p:nvSpPr>
              <p:spPr bwMode="auto">
                <a:xfrm>
                  <a:off x="573"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7" name="Group 46"/>
              <p:cNvGrpSpPr>
                <a:grpSpLocks/>
              </p:cNvGrpSpPr>
              <p:nvPr/>
            </p:nvGrpSpPr>
            <p:grpSpPr bwMode="auto">
              <a:xfrm>
                <a:off x="1146" y="806"/>
                <a:ext cx="573" cy="403"/>
                <a:chOff x="1146" y="806"/>
                <a:chExt cx="573" cy="403"/>
              </a:xfrm>
            </p:grpSpPr>
            <p:sp>
              <p:nvSpPr>
                <p:cNvPr id="62534" name="Rectangle 47"/>
                <p:cNvSpPr>
                  <a:spLocks noChangeArrowheads="1"/>
                </p:cNvSpPr>
                <p:nvPr/>
              </p:nvSpPr>
              <p:spPr bwMode="auto">
                <a:xfrm>
                  <a:off x="1189"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0</a:t>
                  </a:r>
                </a:p>
                <a:p>
                  <a:pPr algn="ctr" eaLnBrk="0" hangingPunct="0"/>
                  <a:endParaRPr kumimoji="1" lang="en-US" altLang="zh-CN" sz="2800" b="1">
                    <a:solidFill>
                      <a:schemeClr val="tx2"/>
                    </a:solidFill>
                    <a:latin typeface="Times New Roman" pitchFamily="18" charset="0"/>
                  </a:endParaRPr>
                </a:p>
              </p:txBody>
            </p:sp>
            <p:sp>
              <p:nvSpPr>
                <p:cNvPr id="62535" name="Rectangle 48"/>
                <p:cNvSpPr>
                  <a:spLocks noChangeArrowheads="1"/>
                </p:cNvSpPr>
                <p:nvPr/>
              </p:nvSpPr>
              <p:spPr bwMode="auto">
                <a:xfrm>
                  <a:off x="1146"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8" name="Group 49"/>
              <p:cNvGrpSpPr>
                <a:grpSpLocks/>
              </p:cNvGrpSpPr>
              <p:nvPr/>
            </p:nvGrpSpPr>
            <p:grpSpPr bwMode="auto">
              <a:xfrm>
                <a:off x="1719" y="806"/>
                <a:ext cx="573" cy="403"/>
                <a:chOff x="1719" y="806"/>
                <a:chExt cx="573" cy="403"/>
              </a:xfrm>
            </p:grpSpPr>
            <p:sp>
              <p:nvSpPr>
                <p:cNvPr id="62532" name="Rectangle 50"/>
                <p:cNvSpPr>
                  <a:spLocks noChangeArrowheads="1"/>
                </p:cNvSpPr>
                <p:nvPr/>
              </p:nvSpPr>
              <p:spPr bwMode="auto">
                <a:xfrm>
                  <a:off x="1762"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33" name="Rectangle 51"/>
                <p:cNvSpPr>
                  <a:spLocks noChangeArrowheads="1"/>
                </p:cNvSpPr>
                <p:nvPr/>
              </p:nvSpPr>
              <p:spPr bwMode="auto">
                <a:xfrm>
                  <a:off x="1719"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499" name="Group 52"/>
              <p:cNvGrpSpPr>
                <a:grpSpLocks/>
              </p:cNvGrpSpPr>
              <p:nvPr/>
            </p:nvGrpSpPr>
            <p:grpSpPr bwMode="auto">
              <a:xfrm>
                <a:off x="2292" y="806"/>
                <a:ext cx="573" cy="403"/>
                <a:chOff x="2292" y="806"/>
                <a:chExt cx="573" cy="403"/>
              </a:xfrm>
            </p:grpSpPr>
            <p:sp>
              <p:nvSpPr>
                <p:cNvPr id="62530" name="Rectangle 53"/>
                <p:cNvSpPr>
                  <a:spLocks noChangeArrowheads="1"/>
                </p:cNvSpPr>
                <p:nvPr/>
              </p:nvSpPr>
              <p:spPr bwMode="auto">
                <a:xfrm>
                  <a:off x="2335" y="806"/>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31" name="Rectangle 54"/>
                <p:cNvSpPr>
                  <a:spLocks noChangeArrowheads="1"/>
                </p:cNvSpPr>
                <p:nvPr/>
              </p:nvSpPr>
              <p:spPr bwMode="auto">
                <a:xfrm>
                  <a:off x="2292" y="806"/>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0" name="Group 55"/>
              <p:cNvGrpSpPr>
                <a:grpSpLocks/>
              </p:cNvGrpSpPr>
              <p:nvPr/>
            </p:nvGrpSpPr>
            <p:grpSpPr bwMode="auto">
              <a:xfrm>
                <a:off x="0" y="1209"/>
                <a:ext cx="573" cy="403"/>
                <a:chOff x="0" y="1209"/>
                <a:chExt cx="573" cy="403"/>
              </a:xfrm>
            </p:grpSpPr>
            <p:sp>
              <p:nvSpPr>
                <p:cNvPr id="62528" name="Rectangle 56"/>
                <p:cNvSpPr>
                  <a:spLocks noChangeArrowheads="1" noTextEdit="1"/>
                </p:cNvSpPr>
                <p:nvPr/>
              </p:nvSpPr>
              <p:spPr bwMode="auto">
                <a:xfrm>
                  <a:off x="43" y="1209"/>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29" name="Rectangle 57"/>
                <p:cNvSpPr>
                  <a:spLocks noChangeArrowheads="1"/>
                </p:cNvSpPr>
                <p:nvPr/>
              </p:nvSpPr>
              <p:spPr bwMode="auto">
                <a:xfrm>
                  <a:off x="0"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1" name="Group 58"/>
              <p:cNvGrpSpPr>
                <a:grpSpLocks/>
              </p:cNvGrpSpPr>
              <p:nvPr/>
            </p:nvGrpSpPr>
            <p:grpSpPr bwMode="auto">
              <a:xfrm>
                <a:off x="573" y="1209"/>
                <a:ext cx="573" cy="403"/>
                <a:chOff x="573" y="1209"/>
                <a:chExt cx="573" cy="403"/>
              </a:xfrm>
            </p:grpSpPr>
            <p:sp>
              <p:nvSpPr>
                <p:cNvPr id="62526" name="Rectangle 59"/>
                <p:cNvSpPr>
                  <a:spLocks noChangeArrowheads="1"/>
                </p:cNvSpPr>
                <p:nvPr/>
              </p:nvSpPr>
              <p:spPr bwMode="auto">
                <a:xfrm>
                  <a:off x="616"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30.25</a:t>
                  </a:r>
                </a:p>
                <a:p>
                  <a:pPr algn="ctr" eaLnBrk="0" hangingPunct="0"/>
                  <a:endParaRPr kumimoji="1" lang="en-US" altLang="zh-CN" sz="2800" b="1">
                    <a:solidFill>
                      <a:schemeClr val="tx2"/>
                    </a:solidFill>
                    <a:latin typeface="Times New Roman" pitchFamily="18" charset="0"/>
                  </a:endParaRPr>
                </a:p>
              </p:txBody>
            </p:sp>
            <p:sp>
              <p:nvSpPr>
                <p:cNvPr id="62527" name="Rectangle 60"/>
                <p:cNvSpPr>
                  <a:spLocks noChangeArrowheads="1"/>
                </p:cNvSpPr>
                <p:nvPr/>
              </p:nvSpPr>
              <p:spPr bwMode="auto">
                <a:xfrm>
                  <a:off x="573"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2" name="Group 61"/>
              <p:cNvGrpSpPr>
                <a:grpSpLocks/>
              </p:cNvGrpSpPr>
              <p:nvPr/>
            </p:nvGrpSpPr>
            <p:grpSpPr bwMode="auto">
              <a:xfrm>
                <a:off x="1146" y="1209"/>
                <a:ext cx="573" cy="403"/>
                <a:chOff x="1146" y="1209"/>
                <a:chExt cx="573" cy="403"/>
              </a:xfrm>
            </p:grpSpPr>
            <p:sp>
              <p:nvSpPr>
                <p:cNvPr id="62524" name="Rectangle 62"/>
                <p:cNvSpPr>
                  <a:spLocks noChangeArrowheads="1"/>
                </p:cNvSpPr>
                <p:nvPr/>
              </p:nvSpPr>
              <p:spPr bwMode="auto">
                <a:xfrm>
                  <a:off x="1189"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12.25</a:t>
                  </a:r>
                </a:p>
                <a:p>
                  <a:pPr algn="ctr" eaLnBrk="0" hangingPunct="0"/>
                  <a:endParaRPr kumimoji="1" lang="en-US" altLang="zh-CN" sz="2800" b="1">
                    <a:solidFill>
                      <a:schemeClr val="tx2"/>
                    </a:solidFill>
                    <a:latin typeface="Times New Roman" pitchFamily="18" charset="0"/>
                  </a:endParaRPr>
                </a:p>
              </p:txBody>
            </p:sp>
            <p:sp>
              <p:nvSpPr>
                <p:cNvPr id="62525" name="Rectangle 63"/>
                <p:cNvSpPr>
                  <a:spLocks noChangeArrowheads="1"/>
                </p:cNvSpPr>
                <p:nvPr/>
              </p:nvSpPr>
              <p:spPr bwMode="auto">
                <a:xfrm>
                  <a:off x="1146"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3" name="Group 64"/>
              <p:cNvGrpSpPr>
                <a:grpSpLocks/>
              </p:cNvGrpSpPr>
              <p:nvPr/>
            </p:nvGrpSpPr>
            <p:grpSpPr bwMode="auto">
              <a:xfrm>
                <a:off x="1719" y="1209"/>
                <a:ext cx="573" cy="403"/>
                <a:chOff x="1719" y="1209"/>
                <a:chExt cx="573" cy="403"/>
              </a:xfrm>
            </p:grpSpPr>
            <p:sp>
              <p:nvSpPr>
                <p:cNvPr id="62522" name="Rectangle 65"/>
                <p:cNvSpPr>
                  <a:spLocks noChangeArrowheads="1"/>
                </p:cNvSpPr>
                <p:nvPr/>
              </p:nvSpPr>
              <p:spPr bwMode="auto">
                <a:xfrm>
                  <a:off x="1762"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0</a:t>
                  </a:r>
                </a:p>
                <a:p>
                  <a:pPr algn="ctr" eaLnBrk="0" hangingPunct="0"/>
                  <a:endParaRPr kumimoji="1" lang="en-US" altLang="zh-CN" sz="2800" b="1">
                    <a:solidFill>
                      <a:schemeClr val="tx2"/>
                    </a:solidFill>
                    <a:latin typeface="Times New Roman" pitchFamily="18" charset="0"/>
                  </a:endParaRPr>
                </a:p>
              </p:txBody>
            </p:sp>
            <p:sp>
              <p:nvSpPr>
                <p:cNvPr id="62523" name="Rectangle 66"/>
                <p:cNvSpPr>
                  <a:spLocks noChangeArrowheads="1"/>
                </p:cNvSpPr>
                <p:nvPr/>
              </p:nvSpPr>
              <p:spPr bwMode="auto">
                <a:xfrm>
                  <a:off x="1719"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4" name="Group 67"/>
              <p:cNvGrpSpPr>
                <a:grpSpLocks/>
              </p:cNvGrpSpPr>
              <p:nvPr/>
            </p:nvGrpSpPr>
            <p:grpSpPr bwMode="auto">
              <a:xfrm>
                <a:off x="2292" y="1209"/>
                <a:ext cx="573" cy="403"/>
                <a:chOff x="2292" y="1209"/>
                <a:chExt cx="573" cy="403"/>
              </a:xfrm>
            </p:grpSpPr>
            <p:sp>
              <p:nvSpPr>
                <p:cNvPr id="62520" name="Rectangle 68"/>
                <p:cNvSpPr>
                  <a:spLocks noChangeArrowheads="1"/>
                </p:cNvSpPr>
                <p:nvPr/>
              </p:nvSpPr>
              <p:spPr bwMode="auto">
                <a:xfrm>
                  <a:off x="2335" y="1209"/>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Times New Roman" pitchFamily="18" charset="0"/>
                      <a:cs typeface="Times New Roman" pitchFamily="18" charset="0"/>
                    </a:rPr>
                    <a:t> </a:t>
                  </a:r>
                  <a:endParaRPr kumimoji="1" lang="en-US" altLang="zh-CN" sz="2800" b="1">
                    <a:solidFill>
                      <a:schemeClr val="tx2"/>
                    </a:solidFill>
                    <a:latin typeface="宋体" pitchFamily="2" charset="-122"/>
                    <a:cs typeface="Times New Roman" pitchFamily="18" charset="0"/>
                  </a:endParaRPr>
                </a:p>
                <a:p>
                  <a:pPr algn="ctr" eaLnBrk="0" hangingPunct="0"/>
                  <a:endParaRPr kumimoji="1" lang="en-US" altLang="zh-CN" sz="2800" b="1">
                    <a:solidFill>
                      <a:schemeClr val="tx2"/>
                    </a:solidFill>
                    <a:latin typeface="Times New Roman" pitchFamily="18" charset="0"/>
                  </a:endParaRPr>
                </a:p>
              </p:txBody>
            </p:sp>
            <p:sp>
              <p:nvSpPr>
                <p:cNvPr id="62521" name="Rectangle 69"/>
                <p:cNvSpPr>
                  <a:spLocks noChangeArrowheads="1"/>
                </p:cNvSpPr>
                <p:nvPr/>
              </p:nvSpPr>
              <p:spPr bwMode="auto">
                <a:xfrm>
                  <a:off x="2292" y="1209"/>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5" name="Group 70"/>
              <p:cNvGrpSpPr>
                <a:grpSpLocks/>
              </p:cNvGrpSpPr>
              <p:nvPr/>
            </p:nvGrpSpPr>
            <p:grpSpPr bwMode="auto">
              <a:xfrm>
                <a:off x="0" y="1612"/>
                <a:ext cx="573" cy="403"/>
                <a:chOff x="0" y="1612"/>
                <a:chExt cx="573" cy="403"/>
              </a:xfrm>
            </p:grpSpPr>
            <p:sp>
              <p:nvSpPr>
                <p:cNvPr id="62518" name="Rectangle 71"/>
                <p:cNvSpPr>
                  <a:spLocks noChangeArrowheads="1" noTextEdit="1"/>
                </p:cNvSpPr>
                <p:nvPr/>
              </p:nvSpPr>
              <p:spPr bwMode="auto">
                <a:xfrm>
                  <a:off x="43" y="1612"/>
                  <a:ext cx="4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519" name="Rectangle 72"/>
                <p:cNvSpPr>
                  <a:spLocks noChangeArrowheads="1"/>
                </p:cNvSpPr>
                <p:nvPr/>
              </p:nvSpPr>
              <p:spPr bwMode="auto">
                <a:xfrm>
                  <a:off x="0"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6" name="Group 73"/>
              <p:cNvGrpSpPr>
                <a:grpSpLocks/>
              </p:cNvGrpSpPr>
              <p:nvPr/>
            </p:nvGrpSpPr>
            <p:grpSpPr bwMode="auto">
              <a:xfrm>
                <a:off x="573" y="1612"/>
                <a:ext cx="573" cy="403"/>
                <a:chOff x="573" y="1612"/>
                <a:chExt cx="573" cy="403"/>
              </a:xfrm>
            </p:grpSpPr>
            <p:sp>
              <p:nvSpPr>
                <p:cNvPr id="62516" name="Rectangle 74"/>
                <p:cNvSpPr>
                  <a:spLocks noChangeArrowheads="1"/>
                </p:cNvSpPr>
                <p:nvPr/>
              </p:nvSpPr>
              <p:spPr bwMode="auto">
                <a:xfrm>
                  <a:off x="616"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56.25</a:t>
                  </a:r>
                </a:p>
                <a:p>
                  <a:pPr algn="ctr" eaLnBrk="0" hangingPunct="0"/>
                  <a:endParaRPr kumimoji="1" lang="en-US" altLang="zh-CN" sz="2800" b="1">
                    <a:solidFill>
                      <a:schemeClr val="tx2"/>
                    </a:solidFill>
                    <a:latin typeface="Times New Roman" pitchFamily="18" charset="0"/>
                  </a:endParaRPr>
                </a:p>
              </p:txBody>
            </p:sp>
            <p:sp>
              <p:nvSpPr>
                <p:cNvPr id="62517" name="Rectangle 75"/>
                <p:cNvSpPr>
                  <a:spLocks noChangeArrowheads="1"/>
                </p:cNvSpPr>
                <p:nvPr/>
              </p:nvSpPr>
              <p:spPr bwMode="auto">
                <a:xfrm>
                  <a:off x="573"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7" name="Group 76"/>
              <p:cNvGrpSpPr>
                <a:grpSpLocks/>
              </p:cNvGrpSpPr>
              <p:nvPr/>
            </p:nvGrpSpPr>
            <p:grpSpPr bwMode="auto">
              <a:xfrm>
                <a:off x="1146" y="1612"/>
                <a:ext cx="573" cy="403"/>
                <a:chOff x="1146" y="1612"/>
                <a:chExt cx="573" cy="403"/>
              </a:xfrm>
            </p:grpSpPr>
            <p:sp>
              <p:nvSpPr>
                <p:cNvPr id="62514" name="Rectangle 77"/>
                <p:cNvSpPr>
                  <a:spLocks noChangeArrowheads="1"/>
                </p:cNvSpPr>
                <p:nvPr/>
              </p:nvSpPr>
              <p:spPr bwMode="auto">
                <a:xfrm>
                  <a:off x="1189"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30.25</a:t>
                  </a:r>
                </a:p>
                <a:p>
                  <a:pPr algn="ctr" eaLnBrk="0" hangingPunct="0"/>
                  <a:endParaRPr kumimoji="1" lang="en-US" altLang="zh-CN" sz="2800" b="1">
                    <a:solidFill>
                      <a:schemeClr val="tx2"/>
                    </a:solidFill>
                    <a:latin typeface="Times New Roman" pitchFamily="18" charset="0"/>
                  </a:endParaRPr>
                </a:p>
              </p:txBody>
            </p:sp>
            <p:sp>
              <p:nvSpPr>
                <p:cNvPr id="62515" name="Rectangle 78"/>
                <p:cNvSpPr>
                  <a:spLocks noChangeArrowheads="1"/>
                </p:cNvSpPr>
                <p:nvPr/>
              </p:nvSpPr>
              <p:spPr bwMode="auto">
                <a:xfrm>
                  <a:off x="1146"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8" name="Group 79"/>
              <p:cNvGrpSpPr>
                <a:grpSpLocks/>
              </p:cNvGrpSpPr>
              <p:nvPr/>
            </p:nvGrpSpPr>
            <p:grpSpPr bwMode="auto">
              <a:xfrm>
                <a:off x="1719" y="1612"/>
                <a:ext cx="573" cy="403"/>
                <a:chOff x="1719" y="1612"/>
                <a:chExt cx="573" cy="403"/>
              </a:xfrm>
            </p:grpSpPr>
            <p:sp>
              <p:nvSpPr>
                <p:cNvPr id="62512" name="Rectangle 80"/>
                <p:cNvSpPr>
                  <a:spLocks noChangeArrowheads="1"/>
                </p:cNvSpPr>
                <p:nvPr/>
              </p:nvSpPr>
              <p:spPr bwMode="auto">
                <a:xfrm>
                  <a:off x="1762"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4</a:t>
                  </a:r>
                </a:p>
                <a:p>
                  <a:pPr algn="ctr" eaLnBrk="0" hangingPunct="0"/>
                  <a:endParaRPr kumimoji="1" lang="en-US" altLang="zh-CN" sz="2800" b="1">
                    <a:solidFill>
                      <a:schemeClr val="tx2"/>
                    </a:solidFill>
                    <a:latin typeface="Times New Roman" pitchFamily="18" charset="0"/>
                  </a:endParaRPr>
                </a:p>
              </p:txBody>
            </p:sp>
            <p:sp>
              <p:nvSpPr>
                <p:cNvPr id="62513" name="Rectangle 81"/>
                <p:cNvSpPr>
                  <a:spLocks noChangeArrowheads="1"/>
                </p:cNvSpPr>
                <p:nvPr/>
              </p:nvSpPr>
              <p:spPr bwMode="auto">
                <a:xfrm>
                  <a:off x="1719"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509" name="Group 82"/>
              <p:cNvGrpSpPr>
                <a:grpSpLocks/>
              </p:cNvGrpSpPr>
              <p:nvPr/>
            </p:nvGrpSpPr>
            <p:grpSpPr bwMode="auto">
              <a:xfrm>
                <a:off x="2292" y="1612"/>
                <a:ext cx="573" cy="403"/>
                <a:chOff x="2292" y="1612"/>
                <a:chExt cx="573" cy="403"/>
              </a:xfrm>
            </p:grpSpPr>
            <p:sp>
              <p:nvSpPr>
                <p:cNvPr id="62510" name="Rectangle 83"/>
                <p:cNvSpPr>
                  <a:spLocks noChangeArrowheads="1"/>
                </p:cNvSpPr>
                <p:nvPr/>
              </p:nvSpPr>
              <p:spPr bwMode="auto">
                <a:xfrm>
                  <a:off x="2335" y="1612"/>
                  <a:ext cx="48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en-US" altLang="zh-CN" sz="2800" b="1">
                      <a:solidFill>
                        <a:schemeClr val="tx2"/>
                      </a:solidFill>
                      <a:latin typeface="宋体" pitchFamily="2" charset="-122"/>
                      <a:cs typeface="Times New Roman" pitchFamily="18" charset="0"/>
                    </a:rPr>
                    <a:t>0</a:t>
                  </a:r>
                </a:p>
                <a:p>
                  <a:pPr algn="ctr" eaLnBrk="0" hangingPunct="0"/>
                  <a:endParaRPr kumimoji="1" lang="en-US" altLang="zh-CN" sz="2800" b="1">
                    <a:solidFill>
                      <a:schemeClr val="tx2"/>
                    </a:solidFill>
                    <a:latin typeface="Times New Roman" pitchFamily="18" charset="0"/>
                  </a:endParaRPr>
                </a:p>
              </p:txBody>
            </p:sp>
            <p:sp>
              <p:nvSpPr>
                <p:cNvPr id="62511" name="Rectangle 84"/>
                <p:cNvSpPr>
                  <a:spLocks noChangeArrowheads="1"/>
                </p:cNvSpPr>
                <p:nvPr/>
              </p:nvSpPr>
              <p:spPr bwMode="auto">
                <a:xfrm>
                  <a:off x="2292" y="1612"/>
                  <a:ext cx="57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62484" name="Rectangle 85"/>
            <p:cNvSpPr>
              <a:spLocks noChangeArrowheads="1"/>
            </p:cNvSpPr>
            <p:nvPr/>
          </p:nvSpPr>
          <p:spPr bwMode="auto">
            <a:xfrm>
              <a:off x="-3" y="-3"/>
              <a:ext cx="2871" cy="202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291926" name="Object 86"/>
          <p:cNvGraphicFramePr>
            <a:graphicFrameLocks noChangeAspect="1"/>
          </p:cNvGraphicFramePr>
          <p:nvPr/>
        </p:nvGraphicFramePr>
        <p:xfrm>
          <a:off x="8975725" y="3357563"/>
          <a:ext cx="361950" cy="431800"/>
        </p:xfrm>
        <a:graphic>
          <a:graphicData uri="http://schemas.openxmlformats.org/presentationml/2006/ole">
            <mc:AlternateContent xmlns:mc="http://schemas.openxmlformats.org/markup-compatibility/2006">
              <mc:Choice xmlns:v="urn:schemas-microsoft-com:vml" Requires="v">
                <p:oleObj name="公式" r:id="rId8" imgW="342799" imgH="400140" progId="Equation.3">
                  <p:embed/>
                </p:oleObj>
              </mc:Choice>
              <mc:Fallback>
                <p:oleObj name="公式" r:id="rId8" imgW="342799" imgH="4001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75725" y="3357563"/>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1927" name="Object 87"/>
          <p:cNvGraphicFramePr>
            <a:graphicFrameLocks noChangeAspect="1"/>
          </p:cNvGraphicFramePr>
          <p:nvPr>
            <p:extLst>
              <p:ext uri="{D42A27DB-BD31-4B8C-83A1-F6EECF244321}">
                <p14:modId xmlns:p14="http://schemas.microsoft.com/office/powerpoint/2010/main" val="553668351"/>
              </p:ext>
            </p:extLst>
          </p:nvPr>
        </p:nvGraphicFramePr>
        <p:xfrm>
          <a:off x="2782889" y="3964384"/>
          <a:ext cx="433387" cy="441942"/>
        </p:xfrm>
        <a:graphic>
          <a:graphicData uri="http://schemas.openxmlformats.org/presentationml/2006/ole">
            <mc:AlternateContent xmlns:mc="http://schemas.openxmlformats.org/markup-compatibility/2006">
              <mc:Choice xmlns:v="urn:schemas-microsoft-com:vml" Requires="v">
                <p:oleObj name="Equation" r:id="rId15" imgW="228600" imgH="228600" progId="Equation.DSMT4">
                  <p:embed/>
                </p:oleObj>
              </mc:Choice>
              <mc:Fallback>
                <p:oleObj name="Equation" r:id="rId15" imgW="228600" imgH="228600" progId="Equation.DSMT4">
                  <p:embed/>
                  <p:pic>
                    <p:nvPicPr>
                      <p:cNvPr id="0" name=""/>
                      <p:cNvPicPr>
                        <a:picLocks noChangeAspect="1" noChangeArrowheads="1"/>
                      </p:cNvPicPr>
                      <p:nvPr/>
                    </p:nvPicPr>
                    <p:blipFill>
                      <a:blip r:embed="rId16"/>
                      <a:srcRect/>
                      <a:stretch>
                        <a:fillRect/>
                      </a:stretch>
                    </p:blipFill>
                    <p:spPr bwMode="auto">
                      <a:xfrm>
                        <a:off x="2782889" y="3964384"/>
                        <a:ext cx="433387" cy="441942"/>
                      </a:xfrm>
                      <a:prstGeom prst="rect">
                        <a:avLst/>
                      </a:prstGeom>
                      <a:noFill/>
                      <a:ln>
                        <a:noFill/>
                      </a:ln>
                    </p:spPr>
                  </p:pic>
                </p:oleObj>
              </mc:Fallback>
            </mc:AlternateContent>
          </a:graphicData>
        </a:graphic>
      </p:graphicFrame>
      <p:sp>
        <p:nvSpPr>
          <p:cNvPr id="62475" name="Rectangle 88"/>
          <p:cNvSpPr>
            <a:spLocks noChangeArrowheads="1"/>
          </p:cNvSpPr>
          <p:nvPr/>
        </p:nvSpPr>
        <p:spPr bwMode="auto">
          <a:xfrm>
            <a:off x="4786313" y="32337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479" name="Rectangle 93"/>
          <p:cNvSpPr>
            <a:spLocks noChangeArrowheads="1"/>
          </p:cNvSpPr>
          <p:nvPr/>
        </p:nvSpPr>
        <p:spPr bwMode="auto">
          <a:xfrm>
            <a:off x="2208214" y="2349502"/>
            <a:ext cx="70564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solidFill>
                  <a:schemeClr val="tx2"/>
                </a:solidFill>
                <a:latin typeface="楷体_GB2312" pitchFamily="49" charset="-122"/>
                <a:ea typeface="楷体_GB2312" pitchFamily="49" charset="-122"/>
              </a:rPr>
              <a:t>     </a:t>
            </a:r>
            <a:r>
              <a:rPr kumimoji="1" lang="zh-CN" altLang="en-US" sz="2800" b="1" dirty="0">
                <a:solidFill>
                  <a:schemeClr val="tx2"/>
                </a:solidFill>
                <a:latin typeface="楷体_GB2312" pitchFamily="49" charset="-122"/>
                <a:ea typeface="楷体_GB2312" pitchFamily="49" charset="-122"/>
              </a:rPr>
              <a:t>然后</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a:t>
            </a:r>
            <a:r>
              <a:rPr kumimoji="1" lang="zh-CN" altLang="en-US" sz="2800" b="1" dirty="0">
                <a:solidFill>
                  <a:schemeClr val="tx2"/>
                </a:solidFill>
                <a:latin typeface="楷体_GB2312" pitchFamily="49" charset="-122"/>
                <a:ea typeface="楷体_GB2312" pitchFamily="49" charset="-122"/>
              </a:rPr>
              <a:t> 和 </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2</a:t>
            </a:r>
            <a:r>
              <a:rPr kumimoji="1" lang="zh-CN" altLang="en-US" sz="2800" b="1" dirty="0">
                <a:solidFill>
                  <a:schemeClr val="tx2"/>
                </a:solidFill>
                <a:latin typeface="楷体_GB2312" pitchFamily="49" charset="-122"/>
                <a:ea typeface="楷体_GB2312" pitchFamily="49" charset="-122"/>
              </a:rPr>
              <a:t> 被聚为新类</a:t>
            </a:r>
            <a:r>
              <a:rPr kumimoji="1" lang="en-US" altLang="zh-CN" sz="2800" b="1" i="1" dirty="0">
                <a:solidFill>
                  <a:schemeClr val="tx2"/>
                </a:solidFill>
                <a:ea typeface="楷体_GB2312" pitchFamily="49" charset="-122"/>
              </a:rPr>
              <a:t>G</a:t>
            </a:r>
            <a:r>
              <a:rPr kumimoji="1" lang="en-US" altLang="zh-CN" sz="2800" b="1" baseline="-25000" dirty="0">
                <a:solidFill>
                  <a:schemeClr val="tx2"/>
                </a:solidFill>
                <a:ea typeface="楷体_GB2312" pitchFamily="49" charset="-122"/>
              </a:rPr>
              <a:t>12</a:t>
            </a:r>
            <a:r>
              <a:rPr kumimoji="1" lang="zh-CN" altLang="en-US" sz="2800" b="1" dirty="0">
                <a:solidFill>
                  <a:schemeClr val="tx2"/>
                </a:solidFill>
                <a:latin typeface="楷体_GB2312" pitchFamily="49" charset="-122"/>
                <a:ea typeface="楷体_GB2312" pitchFamily="49" charset="-122"/>
              </a:rPr>
              <a:t> ，得</a:t>
            </a:r>
            <a:r>
              <a:rPr kumimoji="1" lang="en-US" altLang="zh-CN" sz="2800" b="1" dirty="0">
                <a:solidFill>
                  <a:srgbClr val="057939"/>
                </a:solidFill>
                <a:ea typeface="楷体_GB2312" pitchFamily="49" charset="-122"/>
              </a:rPr>
              <a:t>D(1)</a:t>
            </a:r>
            <a:r>
              <a:rPr kumimoji="1" lang="zh-CN" altLang="en-US" sz="2800" b="1" dirty="0">
                <a:solidFill>
                  <a:schemeClr val="tx2"/>
                </a:solidFill>
                <a:latin typeface="楷体_GB2312" pitchFamily="49" charset="-122"/>
                <a:ea typeface="楷体_GB2312" pitchFamily="49" charset="-122"/>
              </a:rPr>
              <a:t>： </a:t>
            </a:r>
          </a:p>
        </p:txBody>
      </p:sp>
      <p:sp>
        <p:nvSpPr>
          <p:cNvPr id="62477" name="Rectangle 97"/>
          <p:cNvSpPr>
            <a:spLocks noChangeArrowheads="1"/>
          </p:cNvSpPr>
          <p:nvPr/>
        </p:nvSpPr>
        <p:spPr bwMode="auto">
          <a:xfrm>
            <a:off x="2135188" y="404813"/>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400" dirty="0">
                <a:solidFill>
                  <a:srgbClr val="057939"/>
                </a:solidFill>
                <a:latin typeface="黑体" pitchFamily="2" charset="-122"/>
                <a:ea typeface="黑体" pitchFamily="2" charset="-122"/>
              </a:rPr>
              <a:t>系统聚类方法</a:t>
            </a:r>
            <a:br>
              <a:rPr lang="zh-CN" altLang="en-US" sz="4400"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62478" name="Rectangle 98"/>
          <p:cNvSpPr>
            <a:spLocks noChangeArrowheads="1"/>
          </p:cNvSpPr>
          <p:nvPr/>
        </p:nvSpPr>
        <p:spPr bwMode="auto">
          <a:xfrm>
            <a:off x="1774825" y="1576389"/>
            <a:ext cx="2825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0000FF"/>
                </a:solidFill>
                <a:latin typeface="黑体" pitchFamily="2" charset="-122"/>
                <a:ea typeface="黑体" pitchFamily="2" charset="-122"/>
              </a:rPr>
              <a:t>3</a:t>
            </a:r>
            <a:r>
              <a:rPr kumimoji="1" lang="zh-CN" altLang="en-US" sz="3200" dirty="0">
                <a:solidFill>
                  <a:srgbClr val="0000FF"/>
                </a:solidFill>
                <a:latin typeface="黑体" pitchFamily="2" charset="-122"/>
                <a:ea typeface="黑体" pitchFamily="2" charset="-122"/>
              </a:rPr>
              <a:t>、中间距离法</a:t>
            </a:r>
          </a:p>
        </p:txBody>
      </p:sp>
      <p:sp>
        <p:nvSpPr>
          <p:cNvPr id="2" name="灯片编号占位符 1">
            <a:extLst>
              <a:ext uri="{FF2B5EF4-FFF2-40B4-BE49-F238E27FC236}">
                <a16:creationId xmlns:a16="http://schemas.microsoft.com/office/drawing/2014/main" id="{2FFDE5C1-3FF9-3C0E-B6D6-46C265148BB0}"/>
              </a:ext>
            </a:extLst>
          </p:cNvPr>
          <p:cNvSpPr>
            <a:spLocks noGrp="1"/>
          </p:cNvSpPr>
          <p:nvPr>
            <p:ph type="sldNum" sz="quarter" idx="11"/>
          </p:nvPr>
        </p:nvSpPr>
        <p:spPr/>
        <p:txBody>
          <a:bodyPr/>
          <a:lstStyle/>
          <a:p>
            <a:pPr>
              <a:defRPr/>
            </a:pPr>
            <a:fld id="{2F44A83F-C644-4D2F-BA00-DBFF3DBED7EA}" type="slidenum">
              <a:rPr lang="en-US" altLang="zh-CN" smtClean="0"/>
              <a:pPr>
                <a:defRPr/>
              </a:pPr>
              <a:t>72</a:t>
            </a:fld>
            <a:endParaRPr lang="en-US" altLang="zh-CN"/>
          </a:p>
        </p:txBody>
      </p:sp>
    </p:spTree>
    <p:extLst>
      <p:ext uri="{BB962C8B-B14F-4D97-AF65-F5344CB8AC3E}">
        <p14:creationId xmlns:p14="http://schemas.microsoft.com/office/powerpoint/2010/main" val="96204406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blinds(horizontal)">
                                      <p:cBhvr>
                                        <p:cTn id="7" dur="500"/>
                                        <p:tgtEl>
                                          <p:spTgt spid="291842"/>
                                        </p:tgtEl>
                                      </p:cBhvr>
                                    </p:animEffect>
                                  </p:childTnLst>
                                </p:cTn>
                              </p:par>
                              <p:par>
                                <p:cTn id="8" presetID="3" presetClass="entr" presetSubtype="10" fill="hold" nodeType="withEffect">
                                  <p:stCondLst>
                                    <p:cond delay="0"/>
                                  </p:stCondLst>
                                  <p:childTnLst>
                                    <p:set>
                                      <p:cBhvr>
                                        <p:cTn id="9" dur="1" fill="hold">
                                          <p:stCondLst>
                                            <p:cond delay="0"/>
                                          </p:stCondLst>
                                        </p:cTn>
                                        <p:tgtEl>
                                          <p:spTgt spid="291843"/>
                                        </p:tgtEl>
                                        <p:attrNameLst>
                                          <p:attrName>style.visibility</p:attrName>
                                        </p:attrNameLst>
                                      </p:cBhvr>
                                      <p:to>
                                        <p:strVal val="visible"/>
                                      </p:to>
                                    </p:set>
                                    <p:animEffect transition="in" filter="blinds(horizontal)">
                                      <p:cBhvr>
                                        <p:cTn id="10" dur="500"/>
                                        <p:tgtEl>
                                          <p:spTgt spid="291843"/>
                                        </p:tgtEl>
                                      </p:cBhvr>
                                    </p:animEffect>
                                  </p:childTnLst>
                                </p:cTn>
                              </p:par>
                              <p:par>
                                <p:cTn id="11" presetID="3" presetClass="entr" presetSubtype="10" fill="hold" nodeType="withEffect">
                                  <p:stCondLst>
                                    <p:cond delay="0"/>
                                  </p:stCondLst>
                                  <p:childTnLst>
                                    <p:set>
                                      <p:cBhvr>
                                        <p:cTn id="12" dur="1" fill="hold">
                                          <p:stCondLst>
                                            <p:cond delay="0"/>
                                          </p:stCondLst>
                                        </p:cTn>
                                        <p:tgtEl>
                                          <p:spTgt spid="291844"/>
                                        </p:tgtEl>
                                        <p:attrNameLst>
                                          <p:attrName>style.visibility</p:attrName>
                                        </p:attrNameLst>
                                      </p:cBhvr>
                                      <p:to>
                                        <p:strVal val="visible"/>
                                      </p:to>
                                    </p:set>
                                    <p:animEffect transition="in" filter="blinds(horizontal)">
                                      <p:cBhvr>
                                        <p:cTn id="13" dur="500"/>
                                        <p:tgtEl>
                                          <p:spTgt spid="291844"/>
                                        </p:tgtEl>
                                      </p:cBhvr>
                                    </p:animEffect>
                                  </p:childTnLst>
                                </p:cTn>
                              </p:par>
                              <p:par>
                                <p:cTn id="14" presetID="3" presetClass="entr" presetSubtype="10" fill="hold" nodeType="withEffect">
                                  <p:stCondLst>
                                    <p:cond delay="0"/>
                                  </p:stCondLst>
                                  <p:childTnLst>
                                    <p:set>
                                      <p:cBhvr>
                                        <p:cTn id="15" dur="1" fill="hold">
                                          <p:stCondLst>
                                            <p:cond delay="0"/>
                                          </p:stCondLst>
                                        </p:cTn>
                                        <p:tgtEl>
                                          <p:spTgt spid="291845"/>
                                        </p:tgtEl>
                                        <p:attrNameLst>
                                          <p:attrName>style.visibility</p:attrName>
                                        </p:attrNameLst>
                                      </p:cBhvr>
                                      <p:to>
                                        <p:strVal val="visible"/>
                                      </p:to>
                                    </p:set>
                                    <p:animEffect transition="in" filter="blinds(horizontal)">
                                      <p:cBhvr>
                                        <p:cTn id="16" dur="500"/>
                                        <p:tgtEl>
                                          <p:spTgt spid="291845"/>
                                        </p:tgtEl>
                                      </p:cBhvr>
                                    </p:animEffect>
                                  </p:childTnLst>
                                </p:cTn>
                              </p:par>
                              <p:par>
                                <p:cTn id="17" presetID="3" presetClass="entr" presetSubtype="10" fill="hold" nodeType="withEffect">
                                  <p:stCondLst>
                                    <p:cond delay="0"/>
                                  </p:stCondLst>
                                  <p:childTnLst>
                                    <p:set>
                                      <p:cBhvr>
                                        <p:cTn id="18" dur="1" fill="hold">
                                          <p:stCondLst>
                                            <p:cond delay="0"/>
                                          </p:stCondLst>
                                        </p:cTn>
                                        <p:tgtEl>
                                          <p:spTgt spid="291846"/>
                                        </p:tgtEl>
                                        <p:attrNameLst>
                                          <p:attrName>style.visibility</p:attrName>
                                        </p:attrNameLst>
                                      </p:cBhvr>
                                      <p:to>
                                        <p:strVal val="visible"/>
                                      </p:to>
                                    </p:set>
                                    <p:animEffect transition="in" filter="blinds(horizontal)">
                                      <p:cBhvr>
                                        <p:cTn id="19" dur="500"/>
                                        <p:tgtEl>
                                          <p:spTgt spid="291846"/>
                                        </p:tgtEl>
                                      </p:cBhvr>
                                    </p:animEffect>
                                  </p:childTnLst>
                                </p:cTn>
                              </p:par>
                              <p:par>
                                <p:cTn id="20" presetID="3" presetClass="entr" presetSubtype="10" fill="hold" nodeType="withEffect">
                                  <p:stCondLst>
                                    <p:cond delay="0"/>
                                  </p:stCondLst>
                                  <p:childTnLst>
                                    <p:set>
                                      <p:cBhvr>
                                        <p:cTn id="21" dur="1" fill="hold">
                                          <p:stCondLst>
                                            <p:cond delay="0"/>
                                          </p:stCondLst>
                                        </p:cTn>
                                        <p:tgtEl>
                                          <p:spTgt spid="291847"/>
                                        </p:tgtEl>
                                        <p:attrNameLst>
                                          <p:attrName>style.visibility</p:attrName>
                                        </p:attrNameLst>
                                      </p:cBhvr>
                                      <p:to>
                                        <p:strVal val="visible"/>
                                      </p:to>
                                    </p:set>
                                    <p:animEffect transition="in" filter="blinds(horizontal)">
                                      <p:cBhvr>
                                        <p:cTn id="22" dur="500"/>
                                        <p:tgtEl>
                                          <p:spTgt spid="291847"/>
                                        </p:tgtEl>
                                      </p:cBhvr>
                                    </p:animEffect>
                                  </p:childTnLst>
                                </p:cTn>
                              </p:par>
                              <p:par>
                                <p:cTn id="23" presetID="3" presetClass="entr" presetSubtype="10" fill="hold" nodeType="withEffect">
                                  <p:stCondLst>
                                    <p:cond delay="0"/>
                                  </p:stCondLst>
                                  <p:childTnLst>
                                    <p:set>
                                      <p:cBhvr>
                                        <p:cTn id="24" dur="1" fill="hold">
                                          <p:stCondLst>
                                            <p:cond delay="0"/>
                                          </p:stCondLst>
                                        </p:cTn>
                                        <p:tgtEl>
                                          <p:spTgt spid="291848"/>
                                        </p:tgtEl>
                                        <p:attrNameLst>
                                          <p:attrName>style.visibility</p:attrName>
                                        </p:attrNameLst>
                                      </p:cBhvr>
                                      <p:to>
                                        <p:strVal val="visible"/>
                                      </p:to>
                                    </p:set>
                                    <p:animEffect transition="in" filter="blinds(horizontal)">
                                      <p:cBhvr>
                                        <p:cTn id="25" dur="500"/>
                                        <p:tgtEl>
                                          <p:spTgt spid="291848"/>
                                        </p:tgtEl>
                                      </p:cBhvr>
                                    </p:animEffect>
                                  </p:childTnLst>
                                </p:cTn>
                              </p:par>
                              <p:par>
                                <p:cTn id="26" presetID="3" presetClass="entr" presetSubtype="10" fill="hold" nodeType="withEffect">
                                  <p:stCondLst>
                                    <p:cond delay="0"/>
                                  </p:stCondLst>
                                  <p:childTnLst>
                                    <p:set>
                                      <p:cBhvr>
                                        <p:cTn id="27" dur="1" fill="hold">
                                          <p:stCondLst>
                                            <p:cond delay="0"/>
                                          </p:stCondLst>
                                        </p:cTn>
                                        <p:tgtEl>
                                          <p:spTgt spid="291926"/>
                                        </p:tgtEl>
                                        <p:attrNameLst>
                                          <p:attrName>style.visibility</p:attrName>
                                        </p:attrNameLst>
                                      </p:cBhvr>
                                      <p:to>
                                        <p:strVal val="visible"/>
                                      </p:to>
                                    </p:set>
                                    <p:animEffect transition="in" filter="blinds(horizontal)">
                                      <p:cBhvr>
                                        <p:cTn id="28" dur="500"/>
                                        <p:tgtEl>
                                          <p:spTgt spid="291926"/>
                                        </p:tgtEl>
                                      </p:cBhvr>
                                    </p:animEffect>
                                  </p:childTnLst>
                                </p:cTn>
                              </p:par>
                              <p:par>
                                <p:cTn id="29" presetID="3" presetClass="entr" presetSubtype="10" fill="hold" nodeType="withEffect">
                                  <p:stCondLst>
                                    <p:cond delay="0"/>
                                  </p:stCondLst>
                                  <p:childTnLst>
                                    <p:set>
                                      <p:cBhvr>
                                        <p:cTn id="30" dur="1" fill="hold">
                                          <p:stCondLst>
                                            <p:cond delay="0"/>
                                          </p:stCondLst>
                                        </p:cTn>
                                        <p:tgtEl>
                                          <p:spTgt spid="291927"/>
                                        </p:tgtEl>
                                        <p:attrNameLst>
                                          <p:attrName>style.visibility</p:attrName>
                                        </p:attrNameLst>
                                      </p:cBhvr>
                                      <p:to>
                                        <p:strVal val="visible"/>
                                      </p:to>
                                    </p:set>
                                    <p:animEffect transition="in" filter="blinds(horizontal)">
                                      <p:cBhvr>
                                        <p:cTn id="31" dur="500"/>
                                        <p:tgtEl>
                                          <p:spTgt spid="291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302083" name="Rectangle 3"/>
          <p:cNvSpPr>
            <a:spLocks noChangeArrowheads="1"/>
          </p:cNvSpPr>
          <p:nvPr/>
        </p:nvSpPr>
        <p:spPr bwMode="auto">
          <a:xfrm>
            <a:off x="1516819" y="2523455"/>
            <a:ext cx="8856662" cy="2849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defRPr/>
            </a:pPr>
            <a:r>
              <a:rPr kumimoji="1" lang="en-US" altLang="zh-CN" sz="2800" b="1" dirty="0">
                <a:latin typeface="+mn-lt"/>
                <a:ea typeface="华文楷体" pitchFamily="2" charset="-122"/>
                <a:cs typeface="Times New Roman" pitchFamily="18" charset="0"/>
              </a:rPr>
              <a:t>   </a:t>
            </a:r>
            <a:r>
              <a:rPr kumimoji="1" lang="zh-CN" altLang="en-US" sz="2800" b="1" dirty="0">
                <a:latin typeface="+mn-lt"/>
                <a:ea typeface="华文楷体" pitchFamily="2" charset="-122"/>
              </a:rPr>
              <a:t>如果让</a:t>
            </a:r>
            <a:r>
              <a:rPr kumimoji="1" lang="zh-CN" altLang="en-US" sz="2800" b="1" u="sng" dirty="0">
                <a:solidFill>
                  <a:srgbClr val="FF00FF"/>
                </a:solidFill>
                <a:latin typeface="+mn-lt"/>
                <a:ea typeface="华文楷体" pitchFamily="2" charset="-122"/>
              </a:rPr>
              <a:t>中间距离法</a:t>
            </a:r>
            <a:r>
              <a:rPr kumimoji="1" lang="zh-CN" altLang="en-US" sz="2800" b="1" dirty="0">
                <a:latin typeface="+mn-lt"/>
                <a:ea typeface="华文楷体" pitchFamily="2" charset="-122"/>
              </a:rPr>
              <a:t>的递推公式前两项的系数依赖于</a:t>
            </a:r>
            <a:r>
              <a:rPr kumimoji="1" lang="zh-CN" altLang="en-US" sz="2800" b="1" i="1" dirty="0">
                <a:latin typeface="+mn-lt"/>
                <a:ea typeface="华文楷体" pitchFamily="2" charset="-122"/>
                <a:cs typeface="Times New Roman" pitchFamily="18" charset="0"/>
                <a:sym typeface="Symbol" pitchFamily="18" charset="2"/>
              </a:rPr>
              <a:t></a:t>
            </a:r>
            <a:r>
              <a:rPr kumimoji="1" lang="zh-CN" altLang="en-US" sz="2800" b="1" dirty="0">
                <a:latin typeface="+mn-lt"/>
                <a:ea typeface="华文楷体" pitchFamily="2" charset="-122"/>
              </a:rPr>
              <a:t>，则递推公式为：</a:t>
            </a:r>
            <a:endParaRPr kumimoji="1" lang="zh-CN" altLang="en-US" sz="2800" b="1" dirty="0">
              <a:latin typeface="+mn-lt"/>
              <a:ea typeface="华文楷体" pitchFamily="2" charset="-122"/>
              <a:cs typeface="Times New Roman" pitchFamily="18" charset="0"/>
              <a:sym typeface="Symbol" pitchFamily="18" charset="2"/>
            </a:endParaRPr>
          </a:p>
          <a:p>
            <a:pPr algn="just" eaLnBrk="0" hangingPunct="0">
              <a:lnSpc>
                <a:spcPct val="130000"/>
              </a:lnSpc>
              <a:defRPr/>
            </a:pPr>
            <a:r>
              <a:rPr kumimoji="1" lang="zh-CN" altLang="en-US" sz="2800" b="1" dirty="0">
                <a:latin typeface="+mn-lt"/>
                <a:ea typeface="华文楷体" pitchFamily="2" charset="-122"/>
                <a:cs typeface="Times New Roman" pitchFamily="18" charset="0"/>
                <a:sym typeface="Symbol" pitchFamily="18" charset="2"/>
              </a:rPr>
              <a:t>                  </a:t>
            </a:r>
          </a:p>
          <a:p>
            <a:pPr algn="just" eaLnBrk="0" hangingPunct="0">
              <a:lnSpc>
                <a:spcPct val="130000"/>
              </a:lnSpc>
              <a:defRPr/>
            </a:pPr>
            <a:endParaRPr kumimoji="1" lang="zh-CN" altLang="en-US" sz="2800" b="1" dirty="0">
              <a:latin typeface="+mn-lt"/>
              <a:ea typeface="华文楷体" pitchFamily="2" charset="-122"/>
              <a:sym typeface="Symbol" pitchFamily="18" charset="2"/>
            </a:endParaRPr>
          </a:p>
          <a:p>
            <a:pPr algn="just" eaLnBrk="0" hangingPunct="0">
              <a:lnSpc>
                <a:spcPct val="130000"/>
              </a:lnSpc>
              <a:defRPr/>
            </a:pPr>
            <a:r>
              <a:rPr kumimoji="1" lang="zh-CN" altLang="en-US" sz="2800" b="1" dirty="0">
                <a:latin typeface="+mn-lt"/>
                <a:ea typeface="华文楷体" pitchFamily="2" charset="-122"/>
                <a:sym typeface="Symbol" pitchFamily="18" charset="2"/>
              </a:rPr>
              <a:t>用上式作为递推公式的系统聚类法称为</a:t>
            </a:r>
            <a:r>
              <a:rPr kumimoji="1" lang="zh-CN" altLang="en-US" sz="2800" b="1" dirty="0">
                <a:solidFill>
                  <a:srgbClr val="3333FF"/>
                </a:solidFill>
                <a:latin typeface="+mn-lt"/>
                <a:ea typeface="华文楷体" pitchFamily="2" charset="-122"/>
                <a:sym typeface="Symbol" pitchFamily="18" charset="2"/>
              </a:rPr>
              <a:t>可变法</a:t>
            </a:r>
            <a:r>
              <a:rPr kumimoji="1" lang="zh-CN" altLang="en-US" sz="2800" b="1" dirty="0">
                <a:latin typeface="+mn-lt"/>
                <a:ea typeface="华文楷体" pitchFamily="2" charset="-122"/>
                <a:sym typeface="Symbol" pitchFamily="18" charset="2"/>
              </a:rPr>
              <a:t>。</a:t>
            </a:r>
            <a:endParaRPr kumimoji="1" lang="en-US" altLang="zh-CN" sz="2800" dirty="0">
              <a:latin typeface="Times New Roman" pitchFamily="18" charset="0"/>
              <a:cs typeface="Times New Roman" pitchFamily="18" charset="0"/>
              <a:sym typeface="Symbol" pitchFamily="18" charset="2"/>
            </a:endParaRPr>
          </a:p>
        </p:txBody>
      </p:sp>
      <p:graphicFrame>
        <p:nvGraphicFramePr>
          <p:cNvPr id="302084" name="Object 4"/>
          <p:cNvGraphicFramePr>
            <a:graphicFrameLocks noChangeAspect="1"/>
          </p:cNvGraphicFramePr>
          <p:nvPr>
            <p:extLst>
              <p:ext uri="{D42A27DB-BD31-4B8C-83A1-F6EECF244321}">
                <p14:modId xmlns:p14="http://schemas.microsoft.com/office/powerpoint/2010/main" val="3574949087"/>
              </p:ext>
            </p:extLst>
          </p:nvPr>
        </p:nvGraphicFramePr>
        <p:xfrm>
          <a:off x="2567608" y="3669456"/>
          <a:ext cx="6926067" cy="1055688"/>
        </p:xfrm>
        <a:graphic>
          <a:graphicData uri="http://schemas.openxmlformats.org/presentationml/2006/ole">
            <mc:AlternateContent xmlns:mc="http://schemas.openxmlformats.org/markup-compatibility/2006">
              <mc:Choice xmlns:v="urn:schemas-microsoft-com:vml" Requires="v">
                <p:oleObj name="Equation" r:id="rId2" imgW="2565360" imgH="393480" progId="Equation.DSMT4">
                  <p:embed/>
                </p:oleObj>
              </mc:Choice>
              <mc:Fallback>
                <p:oleObj name="Equation" r:id="rId2" imgW="2565360" imgH="393480" progId="Equation.DSMT4">
                  <p:embed/>
                  <p:pic>
                    <p:nvPicPr>
                      <p:cNvPr id="0" name=""/>
                      <p:cNvPicPr>
                        <a:picLocks noChangeAspect="1" noChangeArrowheads="1"/>
                      </p:cNvPicPr>
                      <p:nvPr/>
                    </p:nvPicPr>
                    <p:blipFill>
                      <a:blip r:embed="rId3"/>
                      <a:srcRect/>
                      <a:stretch>
                        <a:fillRect/>
                      </a:stretch>
                    </p:blipFill>
                    <p:spPr bwMode="auto">
                      <a:xfrm>
                        <a:off x="2567608" y="3669456"/>
                        <a:ext cx="6926067" cy="1055688"/>
                      </a:xfrm>
                      <a:prstGeom prst="rect">
                        <a:avLst/>
                      </a:prstGeom>
                      <a:noFill/>
                      <a:ln>
                        <a:noFill/>
                      </a:ln>
                    </p:spPr>
                  </p:pic>
                </p:oleObj>
              </mc:Fallback>
            </mc:AlternateContent>
          </a:graphicData>
        </a:graphic>
      </p:graphicFrame>
      <p:sp>
        <p:nvSpPr>
          <p:cNvPr id="70661" name="Rectangle 6"/>
          <p:cNvSpPr>
            <a:spLocks noChangeArrowheads="1"/>
          </p:cNvSpPr>
          <p:nvPr/>
        </p:nvSpPr>
        <p:spPr bwMode="auto">
          <a:xfrm>
            <a:off x="1199456" y="1603165"/>
            <a:ext cx="20313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3333FF"/>
                </a:solidFill>
                <a:latin typeface="黑体" pitchFamily="2" charset="-122"/>
                <a:ea typeface="黑体" pitchFamily="2" charset="-122"/>
              </a:rPr>
              <a:t>4</a:t>
            </a:r>
            <a:r>
              <a:rPr lang="zh-CN" altLang="en-US" sz="3200" dirty="0">
                <a:solidFill>
                  <a:srgbClr val="3333FF"/>
                </a:solidFill>
                <a:latin typeface="黑体" pitchFamily="2" charset="-122"/>
                <a:ea typeface="黑体" pitchFamily="2" charset="-122"/>
              </a:rPr>
              <a:t>、可变法</a:t>
            </a:r>
          </a:p>
        </p:txBody>
      </p:sp>
      <p:grpSp>
        <p:nvGrpSpPr>
          <p:cNvPr id="6" name="组合 5"/>
          <p:cNvGrpSpPr>
            <a:grpSpLocks/>
          </p:cNvGrpSpPr>
          <p:nvPr/>
        </p:nvGrpSpPr>
        <p:grpSpPr bwMode="auto">
          <a:xfrm>
            <a:off x="1631951" y="5490406"/>
            <a:ext cx="8856663" cy="1367597"/>
            <a:chOff x="107504" y="5490532"/>
            <a:chExt cx="8752955" cy="1367468"/>
          </a:xfrm>
        </p:grpSpPr>
        <p:sp>
          <p:nvSpPr>
            <p:cNvPr id="4" name="矩形 3"/>
            <p:cNvSpPr/>
            <p:nvPr/>
          </p:nvSpPr>
          <p:spPr>
            <a:xfrm>
              <a:off x="107504" y="5490532"/>
              <a:ext cx="8752955" cy="1367468"/>
            </a:xfrm>
            <a:prstGeom prst="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70664" name="组合 4"/>
            <p:cNvGrpSpPr>
              <a:grpSpLocks/>
            </p:cNvGrpSpPr>
            <p:nvPr/>
          </p:nvGrpSpPr>
          <p:grpSpPr bwMode="auto">
            <a:xfrm>
              <a:off x="264884" y="5693383"/>
              <a:ext cx="7930139" cy="891697"/>
              <a:chOff x="264884" y="5693383"/>
              <a:chExt cx="7930139" cy="891697"/>
            </a:xfrm>
          </p:grpSpPr>
          <p:graphicFrame>
            <p:nvGraphicFramePr>
              <p:cNvPr id="70665" name="对象 1"/>
              <p:cNvGraphicFramePr>
                <a:graphicFrameLocks noChangeAspect="1"/>
              </p:cNvGraphicFramePr>
              <p:nvPr>
                <p:extLst>
                  <p:ext uri="{D42A27DB-BD31-4B8C-83A1-F6EECF244321}">
                    <p14:modId xmlns:p14="http://schemas.microsoft.com/office/powerpoint/2010/main" val="1109839228"/>
                  </p:ext>
                </p:extLst>
              </p:nvPr>
            </p:nvGraphicFramePr>
            <p:xfrm>
              <a:off x="2278025" y="5693383"/>
              <a:ext cx="5916998" cy="891697"/>
            </p:xfrm>
            <a:graphic>
              <a:graphicData uri="http://schemas.openxmlformats.org/presentationml/2006/ole">
                <mc:AlternateContent xmlns:mc="http://schemas.openxmlformats.org/markup-compatibility/2006">
                  <mc:Choice xmlns:v="urn:schemas-microsoft-com:vml" Requires="v">
                    <p:oleObj name="Equation" r:id="rId4" imgW="5400768" imgH="790560" progId="Equation.DSMT4">
                      <p:embed/>
                    </p:oleObj>
                  </mc:Choice>
                  <mc:Fallback>
                    <p:oleObj name="Equation" r:id="rId4" imgW="5400768" imgH="7905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8025" y="5693383"/>
                            <a:ext cx="5916998" cy="891697"/>
                          </a:xfrm>
                          <a:prstGeom prst="rect">
                            <a:avLst/>
                          </a:prstGeom>
                          <a:noFill/>
                          <a:ln>
                            <a:noFill/>
                          </a:ln>
                        </p:spPr>
                      </p:pic>
                    </p:oleObj>
                  </mc:Fallback>
                </mc:AlternateContent>
              </a:graphicData>
            </a:graphic>
          </p:graphicFrame>
          <p:sp>
            <p:nvSpPr>
              <p:cNvPr id="70666" name="矩形 2"/>
              <p:cNvSpPr>
                <a:spLocks noChangeArrowheads="1"/>
              </p:cNvSpPr>
              <p:nvPr/>
            </p:nvSpPr>
            <p:spPr bwMode="auto">
              <a:xfrm>
                <a:off x="264884" y="5877622"/>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800" b="1" dirty="0">
                    <a:solidFill>
                      <a:srgbClr val="FF00FF"/>
                    </a:solidFill>
                    <a:latin typeface="华文楷体" pitchFamily="2" charset="-122"/>
                    <a:ea typeface="华文楷体" pitchFamily="2" charset="-122"/>
                  </a:rPr>
                  <a:t>中间距离法</a:t>
                </a:r>
                <a:endParaRPr lang="zh-CN" altLang="en-US" sz="2800" b="1" dirty="0">
                  <a:latin typeface="华文楷体" pitchFamily="2" charset="-122"/>
                  <a:ea typeface="华文楷体" pitchFamily="2" charset="-122"/>
                </a:endParaRPr>
              </a:p>
            </p:txBody>
          </p:sp>
        </p:grpSp>
      </p:grpSp>
      <p:sp>
        <p:nvSpPr>
          <p:cNvPr id="2" name="灯片编号占位符 1">
            <a:extLst>
              <a:ext uri="{FF2B5EF4-FFF2-40B4-BE49-F238E27FC236}">
                <a16:creationId xmlns:a16="http://schemas.microsoft.com/office/drawing/2014/main" id="{747B4B54-2717-5022-9ECD-F66FB3B7D6FB}"/>
              </a:ext>
            </a:extLst>
          </p:cNvPr>
          <p:cNvSpPr>
            <a:spLocks noGrp="1"/>
          </p:cNvSpPr>
          <p:nvPr>
            <p:ph type="sldNum" sz="quarter" idx="11"/>
          </p:nvPr>
        </p:nvSpPr>
        <p:spPr/>
        <p:txBody>
          <a:bodyPr/>
          <a:lstStyle/>
          <a:p>
            <a:pPr>
              <a:defRPr/>
            </a:pPr>
            <a:fld id="{2F44A83F-C644-4D2F-BA00-DBFF3DBED7EA}" type="slidenum">
              <a:rPr lang="en-US" altLang="zh-CN" smtClean="0"/>
              <a:pPr>
                <a:defRPr/>
              </a:pPr>
              <a:t>73</a:t>
            </a:fld>
            <a:endParaRPr lang="en-US" altLang="zh-CN"/>
          </a:p>
        </p:txBody>
      </p:sp>
      <p:pic>
        <p:nvPicPr>
          <p:cNvPr id="3" name="Picture 12">
            <a:extLst>
              <a:ext uri="{FF2B5EF4-FFF2-40B4-BE49-F238E27FC236}">
                <a16:creationId xmlns:a16="http://schemas.microsoft.com/office/drawing/2014/main" id="{52568B61-7128-A818-9138-F2184CDF890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40216" y="0"/>
            <a:ext cx="4125912"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6810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2083">
                                            <p:txEl>
                                              <p:pRg st="0" end="0"/>
                                            </p:txEl>
                                          </p:spTgt>
                                        </p:tgtEl>
                                        <p:attrNameLst>
                                          <p:attrName>style.visibility</p:attrName>
                                        </p:attrNameLst>
                                      </p:cBhvr>
                                      <p:to>
                                        <p:strVal val="visible"/>
                                      </p:to>
                                    </p:set>
                                    <p:animEffect transition="in" filter="wipe(left)">
                                      <p:cBhvr>
                                        <p:cTn id="7" dur="500"/>
                                        <p:tgtEl>
                                          <p:spTgt spid="302083">
                                            <p:txEl>
                                              <p:pRg st="0" end="0"/>
                                            </p:txEl>
                                          </p:spTgt>
                                        </p:tgtEl>
                                      </p:cBhvr>
                                    </p:animEffect>
                                  </p:childTnLst>
                                </p:cTn>
                              </p:par>
                            </p:childTnLst>
                          </p:cTn>
                        </p:par>
                        <p:par>
                          <p:cTn id="8" fill="hold" nodeType="with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2084"/>
                                        </p:tgtEl>
                                        <p:attrNameLst>
                                          <p:attrName>style.visibility</p:attrName>
                                        </p:attrNameLst>
                                      </p:cBhvr>
                                      <p:to>
                                        <p:strVal val="visible"/>
                                      </p:to>
                                    </p:set>
                                    <p:animEffect transition="in" filter="wipe(left)">
                                      <p:cBhvr>
                                        <p:cTn id="22" dur="500"/>
                                        <p:tgtEl>
                                          <p:spTgt spid="3020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2083">
                                            <p:txEl>
                                              <p:pRg st="3" end="3"/>
                                            </p:txEl>
                                          </p:spTgt>
                                        </p:tgtEl>
                                        <p:attrNameLst>
                                          <p:attrName>style.visibility</p:attrName>
                                        </p:attrNameLst>
                                      </p:cBhvr>
                                      <p:to>
                                        <p:strVal val="visible"/>
                                      </p:to>
                                    </p:set>
                                    <p:animEffect transition="in" filter="wipe(left)">
                                      <p:cBhvr>
                                        <p:cTn id="27" dur="500"/>
                                        <p:tgtEl>
                                          <p:spTgt spid="302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2"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1606" y="216455"/>
            <a:ext cx="3325812" cy="134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4130" name="Rectangle 2"/>
          <p:cNvSpPr>
            <a:spLocks noChangeArrowheads="1"/>
          </p:cNvSpPr>
          <p:nvPr/>
        </p:nvSpPr>
        <p:spPr bwMode="auto">
          <a:xfrm>
            <a:off x="1320800" y="3501008"/>
            <a:ext cx="9599736" cy="100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10000"/>
              </a:lnSpc>
            </a:pPr>
            <a:r>
              <a:rPr kumimoji="1" lang="en-US" altLang="zh-CN" sz="2800" b="1" dirty="0">
                <a:ea typeface="楷体_GB2312" pitchFamily="49" charset="-122"/>
              </a:rPr>
              <a:t>    </a:t>
            </a:r>
            <a:r>
              <a:rPr kumimoji="1" lang="zh-CN" altLang="en-US" sz="2800" b="1" dirty="0">
                <a:ea typeface="楷体_GB2312" pitchFamily="49" charset="-122"/>
              </a:rPr>
              <a:t>分别为</a:t>
            </a:r>
            <a:r>
              <a:rPr kumimoji="1" lang="en-US" altLang="zh-CN" sz="2800" b="1" i="1" dirty="0" err="1">
                <a:ea typeface="楷体_GB2312" pitchFamily="49" charset="-122"/>
                <a:cs typeface="Times New Roman" pitchFamily="18" charset="0"/>
              </a:rPr>
              <a:t>G</a:t>
            </a:r>
            <a:r>
              <a:rPr kumimoji="1" lang="en-US" altLang="zh-CN" sz="2800" b="1" i="1" baseline="-30000" dirty="0" err="1">
                <a:ea typeface="楷体_GB2312" pitchFamily="49" charset="-122"/>
                <a:cs typeface="Times New Roman" pitchFamily="18" charset="0"/>
              </a:rPr>
              <a:t>p</a:t>
            </a:r>
            <a:r>
              <a:rPr kumimoji="1" lang="zh-CN" altLang="en-US" sz="2800" b="1" dirty="0">
                <a:ea typeface="楷体_GB2312" pitchFamily="49" charset="-122"/>
              </a:rPr>
              <a:t>和</a:t>
            </a:r>
            <a:r>
              <a:rPr kumimoji="1" lang="en-US" altLang="zh-CN" sz="2800" b="1" i="1" dirty="0" err="1">
                <a:ea typeface="楷体_GB2312" pitchFamily="49" charset="-122"/>
              </a:rPr>
              <a:t>G</a:t>
            </a:r>
            <a:r>
              <a:rPr kumimoji="1" lang="en-US" altLang="zh-CN" sz="2800" b="1" i="1" baseline="-30000" dirty="0" err="1">
                <a:ea typeface="楷体_GB2312" pitchFamily="49" charset="-122"/>
              </a:rPr>
              <a:t>q</a:t>
            </a:r>
            <a:r>
              <a:rPr kumimoji="1" lang="zh-CN" altLang="en-US" sz="2800" b="1" dirty="0">
                <a:ea typeface="楷体_GB2312" pitchFamily="49" charset="-122"/>
              </a:rPr>
              <a:t>的重心，类与类之间的距离定义为两个类重心（类内样本平均值）间的平方距离。</a:t>
            </a:r>
          </a:p>
        </p:txBody>
      </p:sp>
      <p:graphicFrame>
        <p:nvGraphicFramePr>
          <p:cNvPr id="304131" name="Object 3"/>
          <p:cNvGraphicFramePr>
            <a:graphicFrameLocks noChangeAspect="1"/>
          </p:cNvGraphicFramePr>
          <p:nvPr>
            <p:extLst>
              <p:ext uri="{D42A27DB-BD31-4B8C-83A1-F6EECF244321}">
                <p14:modId xmlns:p14="http://schemas.microsoft.com/office/powerpoint/2010/main" val="3282851684"/>
              </p:ext>
            </p:extLst>
          </p:nvPr>
        </p:nvGraphicFramePr>
        <p:xfrm>
          <a:off x="2135187" y="2247106"/>
          <a:ext cx="2738845" cy="1168574"/>
        </p:xfrm>
        <a:graphic>
          <a:graphicData uri="http://schemas.openxmlformats.org/presentationml/2006/ole">
            <mc:AlternateContent xmlns:mc="http://schemas.openxmlformats.org/markup-compatibility/2006">
              <mc:Choice xmlns:v="urn:schemas-microsoft-com:vml" Requires="v">
                <p:oleObj name="Equation" r:id="rId3" imgW="2120900" imgH="1066800" progId="Equation.DSMT4">
                  <p:embed/>
                </p:oleObj>
              </mc:Choice>
              <mc:Fallback>
                <p:oleObj name="Equation" r:id="rId3" imgW="2120900" imgH="1066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7" y="2247106"/>
                        <a:ext cx="2738845" cy="1168574"/>
                      </a:xfrm>
                      <a:prstGeom prst="rect">
                        <a:avLst/>
                      </a:prstGeom>
                      <a:noFill/>
                      <a:ln>
                        <a:noFill/>
                      </a:ln>
                    </p:spPr>
                  </p:pic>
                </p:oleObj>
              </mc:Fallback>
            </mc:AlternateContent>
          </a:graphicData>
        </a:graphic>
      </p:graphicFrame>
      <p:graphicFrame>
        <p:nvGraphicFramePr>
          <p:cNvPr id="304132" name="Object 4"/>
          <p:cNvGraphicFramePr>
            <a:graphicFrameLocks noChangeAspect="1"/>
          </p:cNvGraphicFramePr>
          <p:nvPr>
            <p:extLst>
              <p:ext uri="{D42A27DB-BD31-4B8C-83A1-F6EECF244321}">
                <p14:modId xmlns:p14="http://schemas.microsoft.com/office/powerpoint/2010/main" val="2729946138"/>
              </p:ext>
            </p:extLst>
          </p:nvPr>
        </p:nvGraphicFramePr>
        <p:xfrm>
          <a:off x="5016499" y="2247106"/>
          <a:ext cx="3199667" cy="1168574"/>
        </p:xfrm>
        <a:graphic>
          <a:graphicData uri="http://schemas.openxmlformats.org/presentationml/2006/ole">
            <mc:AlternateContent xmlns:mc="http://schemas.openxmlformats.org/markup-compatibility/2006">
              <mc:Choice xmlns:v="urn:schemas-microsoft-com:vml" Requires="v">
                <p:oleObj name="Equation" r:id="rId5" imgW="2057400" imgH="1066800" progId="Equation.DSMT4">
                  <p:embed/>
                </p:oleObj>
              </mc:Choice>
              <mc:Fallback>
                <p:oleObj name="Equation" r:id="rId5" imgW="2057400" imgH="1066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6499" y="2247106"/>
                        <a:ext cx="3199667" cy="1168574"/>
                      </a:xfrm>
                      <a:prstGeom prst="rect">
                        <a:avLst/>
                      </a:prstGeom>
                      <a:noFill/>
                      <a:ln>
                        <a:noFill/>
                      </a:ln>
                    </p:spPr>
                  </p:pic>
                </p:oleObj>
              </mc:Fallback>
            </mc:AlternateContent>
          </a:graphicData>
        </a:graphic>
      </p:graphicFrame>
      <p:sp>
        <p:nvSpPr>
          <p:cNvPr id="304133" name="Rectangle 5"/>
          <p:cNvSpPr>
            <a:spLocks noChangeArrowheads="1"/>
          </p:cNvSpPr>
          <p:nvPr/>
        </p:nvSpPr>
        <p:spPr bwMode="auto">
          <a:xfrm>
            <a:off x="6983440" y="1755507"/>
            <a:ext cx="3297698" cy="590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kumimoji="1" lang="zh-CN" altLang="en-US" sz="2800" b="1" dirty="0"/>
              <a:t>设</a:t>
            </a:r>
            <a:r>
              <a:rPr kumimoji="1" lang="en-US" altLang="zh-CN" sz="2800" b="1" i="1" dirty="0" err="1"/>
              <a:t>G</a:t>
            </a:r>
            <a:r>
              <a:rPr kumimoji="1" lang="en-US" altLang="zh-CN" sz="2800" b="1" i="1" baseline="-25000" dirty="0" err="1"/>
              <a:t>p</a:t>
            </a:r>
            <a:r>
              <a:rPr kumimoji="1" lang="zh-CN" altLang="en-US" sz="2800" b="1" dirty="0"/>
              <a:t>和</a:t>
            </a:r>
            <a:r>
              <a:rPr kumimoji="1" lang="en-US" altLang="zh-CN" sz="2800" b="1" i="1" dirty="0" err="1"/>
              <a:t>G</a:t>
            </a:r>
            <a:r>
              <a:rPr kumimoji="1" lang="en-US" altLang="zh-CN" sz="2800" b="1" i="1" baseline="-25000" dirty="0" err="1"/>
              <a:t>q</a:t>
            </a:r>
            <a:r>
              <a:rPr kumimoji="1" lang="en-US" altLang="zh-CN" sz="2800" b="1" dirty="0"/>
              <a:t> </a:t>
            </a:r>
            <a:r>
              <a:rPr kumimoji="1" lang="zh-CN" altLang="en-US" sz="2800" b="1" dirty="0"/>
              <a:t>为两个类</a:t>
            </a:r>
          </a:p>
        </p:txBody>
      </p:sp>
      <p:sp>
        <p:nvSpPr>
          <p:cNvPr id="71686" name="Rectangle 8"/>
          <p:cNvSpPr>
            <a:spLocks noGrp="1" noChangeArrowheads="1"/>
          </p:cNvSpPr>
          <p:nvPr>
            <p:ph type="title"/>
          </p:nvPr>
        </p:nvSpPr>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dirty="0">
                <a:solidFill>
                  <a:srgbClr val="EE0006"/>
                </a:solidFill>
                <a:ea typeface="华文琥珀" pitchFamily="2" charset="-122"/>
              </a:rPr>
              <a:t>常用的种类</a:t>
            </a:r>
          </a:p>
        </p:txBody>
      </p:sp>
      <p:sp>
        <p:nvSpPr>
          <p:cNvPr id="71687" name="Rectangle 9"/>
          <p:cNvSpPr>
            <a:spLocks noChangeArrowheads="1"/>
          </p:cNvSpPr>
          <p:nvPr/>
        </p:nvSpPr>
        <p:spPr bwMode="auto">
          <a:xfrm>
            <a:off x="767408" y="1662331"/>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solidFill>
                  <a:srgbClr val="3333FF"/>
                </a:solidFill>
                <a:latin typeface="黑体" pitchFamily="2" charset="-122"/>
                <a:ea typeface="黑体" pitchFamily="2" charset="-122"/>
              </a:rPr>
              <a:t>5</a:t>
            </a:r>
            <a:r>
              <a:rPr lang="zh-CN" altLang="en-US" sz="3200" b="1" dirty="0">
                <a:solidFill>
                  <a:srgbClr val="3333FF"/>
                </a:solidFill>
                <a:latin typeface="黑体" pitchFamily="2" charset="-122"/>
                <a:ea typeface="黑体" pitchFamily="2" charset="-122"/>
              </a:rPr>
              <a:t>、重心法</a:t>
            </a:r>
            <a:r>
              <a:rPr lang="en-US" altLang="zh-CN" sz="3200" b="1" dirty="0">
                <a:solidFill>
                  <a:srgbClr val="3333FF"/>
                </a:solidFill>
                <a:latin typeface="黑体" pitchFamily="2" charset="-122"/>
                <a:ea typeface="黑体" pitchFamily="2" charset="-122"/>
              </a:rPr>
              <a:t>(</a:t>
            </a:r>
            <a:r>
              <a:rPr kumimoji="1" lang="zh-CN" altLang="en-US" sz="3200" b="1" dirty="0">
                <a:solidFill>
                  <a:srgbClr val="3333FF"/>
                </a:solidFill>
              </a:rPr>
              <a:t>均值法</a:t>
            </a:r>
            <a:r>
              <a:rPr lang="en-US" altLang="zh-CN" sz="3200" b="1" dirty="0">
                <a:solidFill>
                  <a:srgbClr val="3333FF"/>
                </a:solidFill>
                <a:latin typeface="黑体" pitchFamily="2" charset="-122"/>
                <a:ea typeface="黑体" pitchFamily="2" charset="-122"/>
              </a:rPr>
              <a:t>)</a:t>
            </a:r>
            <a:endParaRPr kumimoji="1" lang="en-US" altLang="zh-CN" sz="3200" b="1" dirty="0">
              <a:solidFill>
                <a:srgbClr val="3333FF"/>
              </a:solidFill>
            </a:endParaRPr>
          </a:p>
        </p:txBody>
      </p:sp>
      <p:sp>
        <p:nvSpPr>
          <p:cNvPr id="304139" name="Rectangle 11"/>
          <p:cNvSpPr>
            <a:spLocks noChangeArrowheads="1"/>
          </p:cNvSpPr>
          <p:nvPr/>
        </p:nvSpPr>
        <p:spPr bwMode="auto">
          <a:xfrm>
            <a:off x="1320800" y="4509120"/>
            <a:ext cx="9599736" cy="1157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kumimoji="1" lang="en-US" altLang="zh-CN" sz="2400" b="1" dirty="0">
                <a:ea typeface="楷体_GB2312" pitchFamily="49" charset="-122"/>
              </a:rPr>
              <a:t>        </a:t>
            </a:r>
            <a:r>
              <a:rPr kumimoji="1" lang="zh-CN" altLang="en-US" sz="2800" b="1" dirty="0">
                <a:ea typeface="楷体_GB2312" pitchFamily="49" charset="-122"/>
              </a:rPr>
              <a:t>如果要把</a:t>
            </a:r>
            <a:r>
              <a:rPr kumimoji="1" lang="en-US" altLang="zh-CN" sz="2800" b="1" i="1" dirty="0" err="1">
                <a:ea typeface="楷体_GB2312" pitchFamily="49" charset="-122"/>
                <a:cs typeface="Times New Roman" pitchFamily="18" charset="0"/>
              </a:rPr>
              <a:t>G</a:t>
            </a:r>
            <a:r>
              <a:rPr kumimoji="1" lang="en-US" altLang="zh-CN" sz="2800" b="1" i="1" baseline="-30000" dirty="0" err="1">
                <a:ea typeface="楷体_GB2312" pitchFamily="49" charset="-122"/>
                <a:cs typeface="Times New Roman" pitchFamily="18" charset="0"/>
              </a:rPr>
              <a:t>p</a:t>
            </a:r>
            <a:r>
              <a:rPr kumimoji="1" lang="zh-CN" altLang="en-US" sz="2800" b="1" dirty="0">
                <a:ea typeface="楷体_GB2312" pitchFamily="49" charset="-122"/>
              </a:rPr>
              <a:t>和</a:t>
            </a:r>
            <a:r>
              <a:rPr kumimoji="1" lang="en-US" altLang="zh-CN" sz="2800" b="1" i="1" dirty="0" err="1">
                <a:ea typeface="楷体_GB2312" pitchFamily="49" charset="-122"/>
              </a:rPr>
              <a:t>G</a:t>
            </a:r>
            <a:r>
              <a:rPr kumimoji="1" lang="en-US" altLang="zh-CN" sz="2800" b="1" i="1" baseline="-30000" dirty="0" err="1">
                <a:ea typeface="楷体_GB2312" pitchFamily="49" charset="-122"/>
              </a:rPr>
              <a:t>q</a:t>
            </a:r>
            <a:r>
              <a:rPr kumimoji="1" lang="zh-CN" altLang="en-US" sz="2800" b="1" dirty="0">
                <a:ea typeface="楷体_GB2312" pitchFamily="49" charset="-122"/>
              </a:rPr>
              <a:t>合并为</a:t>
            </a:r>
            <a:r>
              <a:rPr kumimoji="1" lang="en-US" altLang="zh-CN" sz="2800" b="1" i="1" dirty="0">
                <a:ea typeface="楷体_GB2312" pitchFamily="49" charset="-122"/>
              </a:rPr>
              <a:t>G</a:t>
            </a:r>
            <a:r>
              <a:rPr kumimoji="1" lang="en-US" altLang="zh-CN" sz="2800" b="1" i="1" baseline="-30000" dirty="0">
                <a:ea typeface="楷体_GB2312" pitchFamily="49" charset="-122"/>
              </a:rPr>
              <a:t>r</a:t>
            </a:r>
            <a:r>
              <a:rPr kumimoji="1" lang="zh-CN" altLang="en-US" sz="2800" b="1" dirty="0">
                <a:ea typeface="楷体_GB2312" pitchFamily="49" charset="-122"/>
              </a:rPr>
              <a:t>类，则</a:t>
            </a:r>
            <a:r>
              <a:rPr kumimoji="1" lang="en-US" altLang="zh-CN" sz="2800" b="1" i="1" dirty="0">
                <a:ea typeface="楷体_GB2312" pitchFamily="49" charset="-122"/>
              </a:rPr>
              <a:t>G</a:t>
            </a:r>
            <a:r>
              <a:rPr kumimoji="1" lang="en-US" altLang="zh-CN" sz="2800" b="1" i="1" baseline="-30000" dirty="0">
                <a:ea typeface="楷体_GB2312" pitchFamily="49" charset="-122"/>
              </a:rPr>
              <a:t>r</a:t>
            </a:r>
            <a:r>
              <a:rPr kumimoji="1" lang="zh-CN" altLang="en-US" sz="2800" b="1" dirty="0">
                <a:ea typeface="楷体_GB2312" pitchFamily="49" charset="-122"/>
              </a:rPr>
              <a:t>类的样本数为</a:t>
            </a:r>
            <a:r>
              <a:rPr kumimoji="1" lang="en-US" altLang="zh-CN" sz="2800" b="1" i="1" dirty="0">
                <a:ea typeface="楷体_GB2312" pitchFamily="49" charset="-122"/>
              </a:rPr>
              <a:t>n</a:t>
            </a:r>
            <a:r>
              <a:rPr kumimoji="1" lang="en-US" altLang="zh-CN" sz="2800" b="1" i="1" baseline="-30000" dirty="0">
                <a:ea typeface="楷体_GB2312" pitchFamily="49" charset="-122"/>
              </a:rPr>
              <a:t>r</a:t>
            </a:r>
            <a:r>
              <a:rPr kumimoji="1" lang="en-US" altLang="zh-CN" sz="2800" b="1" dirty="0">
                <a:ea typeface="楷体_GB2312" pitchFamily="49" charset="-122"/>
              </a:rPr>
              <a:t>=</a:t>
            </a:r>
            <a:r>
              <a:rPr kumimoji="1" lang="en-US" altLang="zh-CN" sz="2800" b="1" i="1" dirty="0" err="1">
                <a:ea typeface="楷体_GB2312" pitchFamily="49" charset="-122"/>
              </a:rPr>
              <a:t>n</a:t>
            </a:r>
            <a:r>
              <a:rPr kumimoji="1" lang="en-US" altLang="zh-CN" sz="2800" b="1" i="1" baseline="-30000" dirty="0" err="1">
                <a:ea typeface="楷体_GB2312" pitchFamily="49" charset="-122"/>
              </a:rPr>
              <a:t>p</a:t>
            </a:r>
            <a:r>
              <a:rPr kumimoji="1" lang="en-US" altLang="zh-CN" sz="2800" b="1" dirty="0" err="1">
                <a:ea typeface="楷体_GB2312" pitchFamily="49" charset="-122"/>
              </a:rPr>
              <a:t>+</a:t>
            </a:r>
            <a:r>
              <a:rPr kumimoji="1" lang="en-US" altLang="zh-CN" sz="2800" b="1" i="1" dirty="0" err="1">
                <a:ea typeface="楷体_GB2312" pitchFamily="49" charset="-122"/>
              </a:rPr>
              <a:t>n</a:t>
            </a:r>
            <a:r>
              <a:rPr kumimoji="1" lang="en-US" altLang="zh-CN" sz="2800" b="1" i="1" baseline="-30000" dirty="0" err="1">
                <a:ea typeface="楷体_GB2312" pitchFamily="49" charset="-122"/>
              </a:rPr>
              <a:t>q</a:t>
            </a:r>
            <a:r>
              <a:rPr kumimoji="1" lang="zh-CN" altLang="en-US" sz="2800" b="1" dirty="0">
                <a:ea typeface="楷体_GB2312" pitchFamily="49" charset="-122"/>
              </a:rPr>
              <a:t>，</a:t>
            </a:r>
            <a:r>
              <a:rPr kumimoji="1" lang="en-US" altLang="zh-CN" sz="2800" b="1" i="1" dirty="0">
                <a:ea typeface="楷体_GB2312" pitchFamily="49" charset="-122"/>
              </a:rPr>
              <a:t>G</a:t>
            </a:r>
            <a:r>
              <a:rPr kumimoji="1" lang="en-US" altLang="zh-CN" sz="2800" b="1" i="1" baseline="-30000" dirty="0">
                <a:ea typeface="楷体_GB2312" pitchFamily="49" charset="-122"/>
              </a:rPr>
              <a:t>r </a:t>
            </a:r>
            <a:r>
              <a:rPr kumimoji="1" lang="zh-CN" altLang="en-US" sz="2800" b="1" dirty="0">
                <a:ea typeface="楷体_GB2312" pitchFamily="49" charset="-122"/>
              </a:rPr>
              <a:t>类的重心为    和     的</a:t>
            </a:r>
            <a:r>
              <a:rPr kumimoji="1" lang="zh-CN" altLang="en-US" sz="2800" b="1" dirty="0">
                <a:solidFill>
                  <a:srgbClr val="FF00FF"/>
                </a:solidFill>
                <a:ea typeface="楷体_GB2312" pitchFamily="49" charset="-122"/>
              </a:rPr>
              <a:t>加权算术平均数</a:t>
            </a:r>
            <a:r>
              <a:rPr kumimoji="1" lang="zh-CN" altLang="en-US" sz="2800" b="1" dirty="0">
                <a:ea typeface="楷体_GB2312" pitchFamily="49" charset="-122"/>
              </a:rPr>
              <a:t>：</a:t>
            </a:r>
            <a:endParaRPr kumimoji="1" lang="zh-CN" altLang="en-US" sz="2400" b="1" dirty="0">
              <a:ea typeface="楷体_GB2312" pitchFamily="49" charset="-122"/>
            </a:endParaRPr>
          </a:p>
        </p:txBody>
      </p:sp>
      <p:graphicFrame>
        <p:nvGraphicFramePr>
          <p:cNvPr id="304140" name="Object 12"/>
          <p:cNvGraphicFramePr>
            <a:graphicFrameLocks noChangeAspect="1"/>
          </p:cNvGraphicFramePr>
          <p:nvPr/>
        </p:nvGraphicFramePr>
        <p:xfrm>
          <a:off x="5448300" y="5229225"/>
          <a:ext cx="427038" cy="438150"/>
        </p:xfrm>
        <a:graphic>
          <a:graphicData uri="http://schemas.openxmlformats.org/presentationml/2006/ole">
            <mc:AlternateContent xmlns:mc="http://schemas.openxmlformats.org/markup-compatibility/2006">
              <mc:Choice xmlns:v="urn:schemas-microsoft-com:vml" Requires="v">
                <p:oleObj name="公式" r:id="rId7" imgW="431613" imgH="431613" progId="Equation.3">
                  <p:embed/>
                </p:oleObj>
              </mc:Choice>
              <mc:Fallback>
                <p:oleObj name="公式" r:id="rId7" imgW="431613" imgH="43161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8300" y="5229225"/>
                        <a:ext cx="4270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4141" name="Object 13"/>
          <p:cNvGraphicFramePr>
            <a:graphicFrameLocks noChangeAspect="1"/>
          </p:cNvGraphicFramePr>
          <p:nvPr/>
        </p:nvGraphicFramePr>
        <p:xfrm>
          <a:off x="6096000" y="5229226"/>
          <a:ext cx="406400" cy="436563"/>
        </p:xfrm>
        <a:graphic>
          <a:graphicData uri="http://schemas.openxmlformats.org/presentationml/2006/ole">
            <mc:AlternateContent xmlns:mc="http://schemas.openxmlformats.org/markup-compatibility/2006">
              <mc:Choice xmlns:v="urn:schemas-microsoft-com:vml" Requires="v">
                <p:oleObj name="公式" r:id="rId9" imgW="406224" imgH="431613" progId="Equation.3">
                  <p:embed/>
                </p:oleObj>
              </mc:Choice>
              <mc:Fallback>
                <p:oleObj name="公式" r:id="rId9" imgW="406224" imgH="4316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5229226"/>
                        <a:ext cx="4064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4142" name="Object 14"/>
          <p:cNvGraphicFramePr>
            <a:graphicFrameLocks noGrp="1" noChangeAspect="1"/>
          </p:cNvGraphicFramePr>
          <p:nvPr>
            <p:ph idx="1"/>
            <p:extLst>
              <p:ext uri="{D42A27DB-BD31-4B8C-83A1-F6EECF244321}">
                <p14:modId xmlns:p14="http://schemas.microsoft.com/office/powerpoint/2010/main" val="1722829133"/>
              </p:ext>
            </p:extLst>
          </p:nvPr>
        </p:nvGraphicFramePr>
        <p:xfrm>
          <a:off x="3071664" y="5675314"/>
          <a:ext cx="3097213" cy="1158875"/>
        </p:xfrm>
        <a:graphic>
          <a:graphicData uri="http://schemas.openxmlformats.org/presentationml/2006/ole">
            <mc:AlternateContent xmlns:mc="http://schemas.openxmlformats.org/markup-compatibility/2006">
              <mc:Choice xmlns:v="urn:schemas-microsoft-com:vml" Requires="v">
                <p:oleObj name="公式" r:id="rId11" imgW="2476500" imgH="927100" progId="Equation.3">
                  <p:embed/>
                </p:oleObj>
              </mc:Choice>
              <mc:Fallback>
                <p:oleObj name="公式" r:id="rId11" imgW="2476500" imgH="927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71664" y="5675314"/>
                        <a:ext cx="3097213"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3C0B358A-8F92-EE2F-2306-6C2978632B1D}"/>
              </a:ext>
            </a:extLst>
          </p:cNvPr>
          <p:cNvSpPr>
            <a:spLocks noGrp="1"/>
          </p:cNvSpPr>
          <p:nvPr>
            <p:ph type="sldNum" sz="quarter" idx="11"/>
          </p:nvPr>
        </p:nvSpPr>
        <p:spPr/>
        <p:txBody>
          <a:bodyPr/>
          <a:lstStyle/>
          <a:p>
            <a:pPr>
              <a:defRPr/>
            </a:pPr>
            <a:fld id="{F13753BC-CAEF-4333-AC48-2805658F6E3F}" type="slidenum">
              <a:rPr lang="en-US" altLang="zh-CN" smtClean="0"/>
              <a:pPr>
                <a:defRPr/>
              </a:pPr>
              <a:t>74</a:t>
            </a:fld>
            <a:endParaRPr lang="en-US" altLang="zh-CN"/>
          </a:p>
        </p:txBody>
      </p:sp>
    </p:spTree>
    <p:extLst>
      <p:ext uri="{BB962C8B-B14F-4D97-AF65-F5344CB8AC3E}">
        <p14:creationId xmlns:p14="http://schemas.microsoft.com/office/powerpoint/2010/main" val="29537999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4133"/>
                                        </p:tgtEl>
                                        <p:attrNameLst>
                                          <p:attrName>style.visibility</p:attrName>
                                        </p:attrNameLst>
                                      </p:cBhvr>
                                      <p:to>
                                        <p:strVal val="visible"/>
                                      </p:to>
                                    </p:set>
                                    <p:animEffect transition="in" filter="wipe(left)">
                                      <p:cBhvr>
                                        <p:cTn id="7" dur="500"/>
                                        <p:tgtEl>
                                          <p:spTgt spid="3041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4131"/>
                                        </p:tgtEl>
                                        <p:attrNameLst>
                                          <p:attrName>style.visibility</p:attrName>
                                        </p:attrNameLst>
                                      </p:cBhvr>
                                      <p:to>
                                        <p:strVal val="visible"/>
                                      </p:to>
                                    </p:set>
                                    <p:animEffect transition="in" filter="wipe(left)">
                                      <p:cBhvr>
                                        <p:cTn id="12" dur="500"/>
                                        <p:tgtEl>
                                          <p:spTgt spid="304131"/>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04132"/>
                                        </p:tgtEl>
                                        <p:attrNameLst>
                                          <p:attrName>style.visibility</p:attrName>
                                        </p:attrNameLst>
                                      </p:cBhvr>
                                      <p:to>
                                        <p:strVal val="visible"/>
                                      </p:to>
                                    </p:set>
                                    <p:animEffect transition="in" filter="wipe(left)">
                                      <p:cBhvr>
                                        <p:cTn id="16" dur="500"/>
                                        <p:tgtEl>
                                          <p:spTgt spid="3041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4130"/>
                                        </p:tgtEl>
                                        <p:attrNameLst>
                                          <p:attrName>style.visibility</p:attrName>
                                        </p:attrNameLst>
                                      </p:cBhvr>
                                      <p:to>
                                        <p:strVal val="visible"/>
                                      </p:to>
                                    </p:set>
                                    <p:animEffect transition="in" filter="wipe(left)">
                                      <p:cBhvr>
                                        <p:cTn id="21" dur="500"/>
                                        <p:tgtEl>
                                          <p:spTgt spid="30413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4139"/>
                                        </p:tgtEl>
                                        <p:attrNameLst>
                                          <p:attrName>style.visibility</p:attrName>
                                        </p:attrNameLst>
                                      </p:cBhvr>
                                      <p:to>
                                        <p:strVal val="visible"/>
                                      </p:to>
                                    </p:set>
                                    <p:animEffect transition="in" filter="wipe(left)">
                                      <p:cBhvr>
                                        <p:cTn id="26" dur="500"/>
                                        <p:tgtEl>
                                          <p:spTgt spid="304139"/>
                                        </p:tgtEl>
                                      </p:cBhvr>
                                    </p:animEffect>
                                  </p:childTnLst>
                                </p:cTn>
                              </p:par>
                              <p:par>
                                <p:cTn id="27" presetID="22" presetClass="entr" presetSubtype="8" fill="hold" nodeType="withEffect">
                                  <p:stCondLst>
                                    <p:cond delay="0"/>
                                  </p:stCondLst>
                                  <p:childTnLst>
                                    <p:set>
                                      <p:cBhvr>
                                        <p:cTn id="28" dur="1" fill="hold">
                                          <p:stCondLst>
                                            <p:cond delay="0"/>
                                          </p:stCondLst>
                                        </p:cTn>
                                        <p:tgtEl>
                                          <p:spTgt spid="304140"/>
                                        </p:tgtEl>
                                        <p:attrNameLst>
                                          <p:attrName>style.visibility</p:attrName>
                                        </p:attrNameLst>
                                      </p:cBhvr>
                                      <p:to>
                                        <p:strVal val="visible"/>
                                      </p:to>
                                    </p:set>
                                    <p:animEffect transition="in" filter="wipe(left)">
                                      <p:cBhvr>
                                        <p:cTn id="29" dur="500"/>
                                        <p:tgtEl>
                                          <p:spTgt spid="304140"/>
                                        </p:tgtEl>
                                      </p:cBhvr>
                                    </p:animEffect>
                                  </p:childTnLst>
                                </p:cTn>
                              </p:par>
                              <p:par>
                                <p:cTn id="30" presetID="22" presetClass="entr" presetSubtype="8" fill="hold" nodeType="withEffect">
                                  <p:stCondLst>
                                    <p:cond delay="0"/>
                                  </p:stCondLst>
                                  <p:childTnLst>
                                    <p:set>
                                      <p:cBhvr>
                                        <p:cTn id="31" dur="1" fill="hold">
                                          <p:stCondLst>
                                            <p:cond delay="0"/>
                                          </p:stCondLst>
                                        </p:cTn>
                                        <p:tgtEl>
                                          <p:spTgt spid="304141"/>
                                        </p:tgtEl>
                                        <p:attrNameLst>
                                          <p:attrName>style.visibility</p:attrName>
                                        </p:attrNameLst>
                                      </p:cBhvr>
                                      <p:to>
                                        <p:strVal val="visible"/>
                                      </p:to>
                                    </p:set>
                                    <p:animEffect transition="in" filter="wipe(left)">
                                      <p:cBhvr>
                                        <p:cTn id="32" dur="500"/>
                                        <p:tgtEl>
                                          <p:spTgt spid="304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04142"/>
                                        </p:tgtEl>
                                        <p:attrNameLst>
                                          <p:attrName>style.visibility</p:attrName>
                                        </p:attrNameLst>
                                      </p:cBhvr>
                                      <p:to>
                                        <p:strVal val="visible"/>
                                      </p:to>
                                    </p:set>
                                    <p:animEffect transition="in" filter="wipe(left)">
                                      <p:cBhvr>
                                        <p:cTn id="37" dur="500"/>
                                        <p:tgtEl>
                                          <p:spTgt spid="304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p:bldP spid="304133" grpId="0"/>
      <p:bldP spid="30413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041955" y="231518"/>
            <a:ext cx="8229600" cy="1371600"/>
          </a:xfrm>
        </p:spPr>
        <p:txBody>
          <a:bodyPr/>
          <a:lstStyle/>
          <a:p>
            <a:pPr algn="ctr" eaLnBrk="1" hangingPunct="1"/>
            <a:r>
              <a:rPr lang="zh-CN" altLang="en-US" dirty="0">
                <a:solidFill>
                  <a:srgbClr val="057939"/>
                </a:solidFill>
                <a:latin typeface="黑体" pitchFamily="2" charset="-122"/>
                <a:ea typeface="黑体" pitchFamily="2" charset="-122"/>
              </a:rPr>
              <a:t>系统聚类方法</a:t>
            </a:r>
            <a:br>
              <a:rPr lang="zh-CN" altLang="en-US" dirty="0">
                <a:solidFill>
                  <a:srgbClr val="057939"/>
                </a:solidFill>
                <a:latin typeface="黑体" pitchFamily="2" charset="-122"/>
                <a:ea typeface="黑体" pitchFamily="2" charset="-122"/>
              </a:rPr>
            </a:br>
            <a:r>
              <a:rPr lang="zh-CN" altLang="en-US" sz="3200" b="1" dirty="0">
                <a:solidFill>
                  <a:srgbClr val="EE0006"/>
                </a:solidFill>
                <a:latin typeface="新宋体-18030" pitchFamily="49" charset="-122"/>
                <a:ea typeface="新宋体-18030" pitchFamily="49" charset="-122"/>
              </a:rPr>
              <a:t>确定类的个数</a:t>
            </a:r>
            <a:r>
              <a:rPr lang="zh-CN" altLang="en-US" sz="3600" dirty="0">
                <a:latin typeface="新宋体-18030" pitchFamily="49" charset="-122"/>
                <a:ea typeface="新宋体-18030" pitchFamily="49" charset="-122"/>
              </a:rPr>
              <a:t> </a:t>
            </a:r>
          </a:p>
        </p:txBody>
      </p:sp>
      <p:sp>
        <p:nvSpPr>
          <p:cNvPr id="373763" name="Rectangle 3"/>
          <p:cNvSpPr>
            <a:spLocks noGrp="1" noChangeArrowheads="1"/>
          </p:cNvSpPr>
          <p:nvPr>
            <p:ph type="body" idx="1"/>
          </p:nvPr>
        </p:nvSpPr>
        <p:spPr>
          <a:xfrm>
            <a:off x="839416" y="1534992"/>
            <a:ext cx="10297144" cy="5206376"/>
          </a:xfrm>
        </p:spPr>
        <p:txBody>
          <a:bodyPr/>
          <a:lstStyle/>
          <a:p>
            <a:pPr algn="just" eaLnBrk="1" hangingPunct="1">
              <a:spcBef>
                <a:spcPct val="0"/>
              </a:spcBef>
              <a:buClrTx/>
              <a:buSzTx/>
              <a:buFont typeface="Wingdings" pitchFamily="2" charset="2"/>
              <a:buNone/>
            </a:pPr>
            <a:r>
              <a:rPr kumimoji="1" lang="en-US" altLang="zh-CN" dirty="0">
                <a:solidFill>
                  <a:srgbClr val="3333FF"/>
                </a:solidFill>
                <a:ea typeface="黑体" pitchFamily="2" charset="-122"/>
              </a:rPr>
              <a:t>1</a:t>
            </a:r>
            <a:r>
              <a:rPr kumimoji="1" lang="zh-CN" altLang="en-US" dirty="0">
                <a:solidFill>
                  <a:srgbClr val="3333FF"/>
                </a:solidFill>
                <a:ea typeface="黑体" pitchFamily="2" charset="-122"/>
              </a:rPr>
              <a:t>、给定阈值</a:t>
            </a:r>
          </a:p>
          <a:p>
            <a:pPr lvl="1" algn="just" eaLnBrk="1" hangingPunct="1">
              <a:spcBef>
                <a:spcPct val="0"/>
              </a:spcBef>
              <a:buClrTx/>
              <a:buSzTx/>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b="1" dirty="0">
              <a:solidFill>
                <a:schemeClr val="tx2"/>
              </a:solidFill>
              <a:ea typeface="楷体_GB2312" pitchFamily="49" charset="-122"/>
            </a:endParaRPr>
          </a:p>
          <a:p>
            <a:pPr marL="457200" lvl="1" indent="0" algn="just" eaLnBrk="1" hangingPunct="1">
              <a:spcBef>
                <a:spcPct val="0"/>
              </a:spcBef>
              <a:buClrTx/>
              <a:buSzTx/>
              <a:buNone/>
            </a:pPr>
            <a:endParaRPr kumimoji="1" lang="en-US" altLang="zh-CN" sz="2400" b="1" dirty="0">
              <a:solidFill>
                <a:schemeClr val="tx2"/>
              </a:solidFill>
              <a:latin typeface="+mj-ea"/>
              <a:ea typeface="+mj-ea"/>
            </a:endParaRPr>
          </a:p>
          <a:p>
            <a:pPr marL="457200" lvl="1" indent="0" algn="just" eaLnBrk="1" hangingPunct="1">
              <a:spcBef>
                <a:spcPct val="0"/>
              </a:spcBef>
              <a:buClrTx/>
              <a:buSzTx/>
              <a:buNone/>
            </a:pPr>
            <a:endParaRPr kumimoji="1" lang="en-US" altLang="zh-CN" sz="2400" b="1" dirty="0">
              <a:solidFill>
                <a:schemeClr val="tx2"/>
              </a:solidFill>
              <a:latin typeface="+mj-ea"/>
              <a:ea typeface="+mj-ea"/>
            </a:endParaRPr>
          </a:p>
          <a:p>
            <a:pPr marL="457200" lvl="1" indent="0" algn="just" eaLnBrk="1" hangingPunct="1">
              <a:spcBef>
                <a:spcPct val="0"/>
              </a:spcBef>
              <a:buClrTx/>
              <a:buSzTx/>
              <a:buNone/>
            </a:pPr>
            <a:r>
              <a:rPr kumimoji="1" lang="zh-CN" altLang="en-US" sz="2400" b="1" dirty="0">
                <a:solidFill>
                  <a:schemeClr val="tx2"/>
                </a:solidFill>
                <a:latin typeface="+mj-ea"/>
                <a:ea typeface="+mj-ea"/>
              </a:rPr>
              <a:t>给出一个合适的</a:t>
            </a:r>
            <a:r>
              <a:rPr kumimoji="1" lang="zh-CN" altLang="en-US" sz="2400" b="1" dirty="0">
                <a:solidFill>
                  <a:srgbClr val="057939"/>
                </a:solidFill>
                <a:latin typeface="+mj-ea"/>
                <a:ea typeface="+mj-ea"/>
              </a:rPr>
              <a:t>阈值</a:t>
            </a:r>
            <a:r>
              <a:rPr kumimoji="1" lang="en-US" altLang="zh-CN" sz="2400" b="1" dirty="0">
                <a:solidFill>
                  <a:srgbClr val="057939"/>
                </a:solidFill>
                <a:latin typeface="+mj-ea"/>
                <a:ea typeface="+mj-ea"/>
              </a:rPr>
              <a:t>T</a:t>
            </a:r>
            <a:r>
              <a:rPr kumimoji="1" lang="en-US" altLang="zh-CN" sz="2400" b="1" dirty="0">
                <a:solidFill>
                  <a:schemeClr val="tx2"/>
                </a:solidFill>
                <a:latin typeface="+mj-ea"/>
                <a:ea typeface="+mj-ea"/>
              </a:rPr>
              <a:t>:</a:t>
            </a:r>
            <a:r>
              <a:rPr kumimoji="1" lang="zh-CN" altLang="en-US" sz="2400" b="1" dirty="0">
                <a:solidFill>
                  <a:schemeClr val="tx2"/>
                </a:solidFill>
                <a:latin typeface="+mj-ea"/>
                <a:ea typeface="+mj-ea"/>
              </a:rPr>
              <a:t>要求类与类之间的距离不要超过</a:t>
            </a:r>
            <a:r>
              <a:rPr kumimoji="1" lang="en-US" altLang="zh-CN" sz="2400" b="1" dirty="0">
                <a:solidFill>
                  <a:schemeClr val="tx2"/>
                </a:solidFill>
                <a:latin typeface="+mj-ea"/>
                <a:ea typeface="+mj-ea"/>
              </a:rPr>
              <a:t>T</a:t>
            </a:r>
            <a:r>
              <a:rPr kumimoji="1" lang="zh-CN" altLang="en-US" sz="2400" b="1" dirty="0">
                <a:solidFill>
                  <a:schemeClr val="tx2"/>
                </a:solidFill>
                <a:latin typeface="+mj-ea"/>
                <a:ea typeface="+mj-ea"/>
              </a:rPr>
              <a:t>值。如给定</a:t>
            </a:r>
            <a:r>
              <a:rPr kumimoji="1" lang="en-US" altLang="zh-CN" sz="2400" b="1" dirty="0">
                <a:solidFill>
                  <a:schemeClr val="tx2"/>
                </a:solidFill>
                <a:latin typeface="+mj-ea"/>
                <a:ea typeface="+mj-ea"/>
              </a:rPr>
              <a:t>T=0.35</a:t>
            </a:r>
            <a:r>
              <a:rPr kumimoji="1" lang="zh-CN" altLang="en-US" sz="2400" b="1" dirty="0">
                <a:solidFill>
                  <a:schemeClr val="tx2"/>
                </a:solidFill>
                <a:latin typeface="+mj-ea"/>
                <a:ea typeface="+mj-ea"/>
              </a:rPr>
              <a:t>，当聚类时类间的距离已经超过了</a:t>
            </a:r>
            <a:r>
              <a:rPr kumimoji="1" lang="en-US" altLang="zh-CN" sz="2400" b="1" dirty="0">
                <a:solidFill>
                  <a:schemeClr val="tx2"/>
                </a:solidFill>
                <a:latin typeface="+mj-ea"/>
                <a:ea typeface="+mj-ea"/>
              </a:rPr>
              <a:t>0.35</a:t>
            </a:r>
            <a:r>
              <a:rPr kumimoji="1" lang="zh-CN" altLang="en-US" sz="2400" b="1" dirty="0">
                <a:solidFill>
                  <a:schemeClr val="tx2"/>
                </a:solidFill>
                <a:latin typeface="+mj-ea"/>
                <a:ea typeface="+mj-ea"/>
              </a:rPr>
              <a:t>，则聚类结束</a:t>
            </a:r>
            <a:r>
              <a:rPr kumimoji="1" lang="zh-CN" altLang="en-US" sz="2400" dirty="0">
                <a:solidFill>
                  <a:schemeClr val="tx2"/>
                </a:solidFill>
                <a:latin typeface="+mj-ea"/>
                <a:ea typeface="+mj-ea"/>
              </a:rPr>
              <a:t>。</a:t>
            </a:r>
          </a:p>
          <a:p>
            <a:pPr eaLnBrk="1" hangingPunct="1"/>
            <a:endParaRPr lang="en-US" altLang="zh-CN" dirty="0"/>
          </a:p>
        </p:txBody>
      </p:sp>
      <p:grpSp>
        <p:nvGrpSpPr>
          <p:cNvPr id="3" name="组合 2"/>
          <p:cNvGrpSpPr/>
          <p:nvPr/>
        </p:nvGrpSpPr>
        <p:grpSpPr>
          <a:xfrm>
            <a:off x="8895521" y="548680"/>
            <a:ext cx="3098906" cy="3271326"/>
            <a:chOff x="5878660" y="1538659"/>
            <a:chExt cx="2837272" cy="2945523"/>
          </a:xfrm>
        </p:grpSpPr>
        <p:grpSp>
          <p:nvGrpSpPr>
            <p:cNvPr id="4" name="Group 3"/>
            <p:cNvGrpSpPr>
              <a:grpSpLocks/>
            </p:cNvGrpSpPr>
            <p:nvPr/>
          </p:nvGrpSpPr>
          <p:grpSpPr bwMode="auto">
            <a:xfrm>
              <a:off x="5878660" y="1538659"/>
              <a:ext cx="2837272" cy="2595210"/>
              <a:chOff x="1624" y="1104"/>
              <a:chExt cx="2888" cy="2712"/>
            </a:xfrm>
          </p:grpSpPr>
          <p:sp>
            <p:nvSpPr>
              <p:cNvPr id="5" name="Line 4"/>
              <p:cNvSpPr>
                <a:spLocks noChangeShapeType="1"/>
              </p:cNvSpPr>
              <p:nvPr/>
            </p:nvSpPr>
            <p:spPr bwMode="auto">
              <a:xfrm flipV="1">
                <a:off x="1776" y="1296"/>
                <a:ext cx="0" cy="21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5"/>
              <p:cNvSpPr>
                <a:spLocks noChangeShapeType="1"/>
              </p:cNvSpPr>
              <p:nvPr/>
            </p:nvSpPr>
            <p:spPr bwMode="auto">
              <a:xfrm>
                <a:off x="1776" y="3456"/>
                <a:ext cx="27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Freeform 6"/>
              <p:cNvSpPr>
                <a:spLocks/>
              </p:cNvSpPr>
              <p:nvPr/>
            </p:nvSpPr>
            <p:spPr bwMode="auto">
              <a:xfrm>
                <a:off x="2112" y="1644"/>
                <a:ext cx="1974" cy="1572"/>
              </a:xfrm>
              <a:custGeom>
                <a:avLst/>
                <a:gdLst>
                  <a:gd name="T0" fmla="*/ 0 w 1974"/>
                  <a:gd name="T1" fmla="*/ 0 h 1572"/>
                  <a:gd name="T2" fmla="*/ 291 w 1974"/>
                  <a:gd name="T3" fmla="*/ 1050 h 1572"/>
                  <a:gd name="T4" fmla="*/ 831 w 1974"/>
                  <a:gd name="T5" fmla="*/ 1338 h 1572"/>
                  <a:gd name="T6" fmla="*/ 1974 w 1974"/>
                  <a:gd name="T7" fmla="*/ 1572 h 1572"/>
                </a:gdLst>
                <a:ahLst/>
                <a:cxnLst>
                  <a:cxn ang="0">
                    <a:pos x="T0" y="T1"/>
                  </a:cxn>
                  <a:cxn ang="0">
                    <a:pos x="T2" y="T3"/>
                  </a:cxn>
                  <a:cxn ang="0">
                    <a:pos x="T4" y="T5"/>
                  </a:cxn>
                  <a:cxn ang="0">
                    <a:pos x="T6" y="T7"/>
                  </a:cxn>
                </a:cxnLst>
                <a:rect l="0" t="0" r="r" b="b"/>
                <a:pathLst>
                  <a:path w="1974" h="1572">
                    <a:moveTo>
                      <a:pt x="0" y="0"/>
                    </a:moveTo>
                    <a:cubicBezTo>
                      <a:pt x="48" y="175"/>
                      <a:pt x="152" y="827"/>
                      <a:pt x="291" y="1050"/>
                    </a:cubicBezTo>
                    <a:cubicBezTo>
                      <a:pt x="444" y="1253"/>
                      <a:pt x="551" y="1251"/>
                      <a:pt x="831" y="1338"/>
                    </a:cubicBezTo>
                    <a:cubicBezTo>
                      <a:pt x="1111" y="1425"/>
                      <a:pt x="1736" y="1523"/>
                      <a:pt x="1974" y="1572"/>
                    </a:cubicBez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 name="Object 7"/>
              <p:cNvGraphicFramePr>
                <a:graphicFrameLocks noChangeAspect="1"/>
              </p:cNvGraphicFramePr>
              <p:nvPr/>
            </p:nvGraphicFramePr>
            <p:xfrm>
              <a:off x="1824" y="1104"/>
              <a:ext cx="802" cy="252"/>
            </p:xfrm>
            <a:graphic>
              <a:graphicData uri="http://schemas.openxmlformats.org/presentationml/2006/ole">
                <mc:AlternateContent xmlns:mc="http://schemas.openxmlformats.org/markup-compatibility/2006">
                  <mc:Choice xmlns:v="urn:schemas-microsoft-com:vml" Requires="v">
                    <p:oleObj name="Equation" r:id="rId3" imgW="647640" imgH="203040" progId="Equation.3">
                      <p:embed/>
                    </p:oleObj>
                  </mc:Choice>
                  <mc:Fallback>
                    <p:oleObj name="Equation" r:id="rId3" imgW="64764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 y="1104"/>
                            <a:ext cx="80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519340088"/>
                  </p:ext>
                </p:extLst>
              </p:nvPr>
            </p:nvGraphicFramePr>
            <p:xfrm>
              <a:off x="1624" y="1104"/>
              <a:ext cx="225" cy="288"/>
            </p:xfrm>
            <a:graphic>
              <a:graphicData uri="http://schemas.openxmlformats.org/presentationml/2006/ole">
                <mc:AlternateContent xmlns:mc="http://schemas.openxmlformats.org/markup-compatibility/2006">
                  <mc:Choice xmlns:v="urn:schemas-microsoft-com:vml" Requires="v">
                    <p:oleObj name="Equation" r:id="rId5" imgW="139680" imgH="177480" progId="Equation.3">
                      <p:embed/>
                    </p:oleObj>
                  </mc:Choice>
                  <mc:Fallback>
                    <p:oleObj name="Equation" r:id="rId5" imgW="139680" imgH="177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4" y="1104"/>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002786089"/>
                  </p:ext>
                </p:extLst>
              </p:nvPr>
            </p:nvGraphicFramePr>
            <p:xfrm>
              <a:off x="4236" y="3572"/>
              <a:ext cx="142" cy="244"/>
            </p:xfrm>
            <a:graphic>
              <a:graphicData uri="http://schemas.openxmlformats.org/presentationml/2006/ole">
                <mc:AlternateContent xmlns:mc="http://schemas.openxmlformats.org/markup-compatibility/2006">
                  <mc:Choice xmlns:v="urn:schemas-microsoft-com:vml" Requires="v">
                    <p:oleObj name="Equation" r:id="rId7" imgW="114120" imgH="139680" progId="Equation.DSMT4">
                      <p:embed/>
                    </p:oleObj>
                  </mc:Choice>
                  <mc:Fallback>
                    <p:oleObj name="Equation" r:id="rId7" imgW="114120" imgH="139680" progId="Equation.DSMT4">
                      <p:embed/>
                      <p:pic>
                        <p:nvPicPr>
                          <p:cNvPr id="0" name=""/>
                          <p:cNvPicPr>
                            <a:picLocks noChangeAspect="1" noChangeArrowheads="1"/>
                          </p:cNvPicPr>
                          <p:nvPr/>
                        </p:nvPicPr>
                        <p:blipFill>
                          <a:blip r:embed="rId8"/>
                          <a:srcRect/>
                          <a:stretch>
                            <a:fillRect/>
                          </a:stretch>
                        </p:blipFill>
                        <p:spPr bwMode="auto">
                          <a:xfrm>
                            <a:off x="4236" y="3572"/>
                            <a:ext cx="142"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11"/>
              <p:cNvSpPr>
                <a:spLocks noChangeShapeType="1"/>
              </p:cNvSpPr>
              <p:nvPr/>
            </p:nvSpPr>
            <p:spPr bwMode="auto">
              <a:xfrm>
                <a:off x="2496" y="2784"/>
                <a:ext cx="0" cy="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2"/>
              <p:cNvSpPr>
                <a:spLocks noChangeShapeType="1"/>
              </p:cNvSpPr>
              <p:nvPr/>
            </p:nvSpPr>
            <p:spPr bwMode="auto">
              <a:xfrm>
                <a:off x="273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3"/>
              <p:cNvSpPr>
                <a:spLocks noChangeShapeType="1"/>
              </p:cNvSpPr>
              <p:nvPr/>
            </p:nvSpPr>
            <p:spPr bwMode="auto">
              <a:xfrm>
                <a:off x="201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4"/>
              <p:cNvSpPr>
                <a:spLocks noChangeShapeType="1"/>
              </p:cNvSpPr>
              <p:nvPr/>
            </p:nvSpPr>
            <p:spPr bwMode="auto">
              <a:xfrm>
                <a:off x="225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5"/>
              <p:cNvSpPr>
                <a:spLocks noChangeShapeType="1"/>
              </p:cNvSpPr>
              <p:nvPr/>
            </p:nvSpPr>
            <p:spPr bwMode="auto">
              <a:xfrm>
                <a:off x="297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6"/>
              <p:cNvSpPr>
                <a:spLocks noChangeShapeType="1"/>
              </p:cNvSpPr>
              <p:nvPr/>
            </p:nvSpPr>
            <p:spPr bwMode="auto">
              <a:xfrm>
                <a:off x="321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7"/>
              <p:cNvSpPr>
                <a:spLocks noChangeShapeType="1"/>
              </p:cNvSpPr>
              <p:nvPr/>
            </p:nvSpPr>
            <p:spPr bwMode="auto">
              <a:xfrm>
                <a:off x="345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 name="Object 18"/>
              <p:cNvGraphicFramePr>
                <a:graphicFrameLocks noChangeAspect="1"/>
              </p:cNvGraphicFramePr>
              <p:nvPr/>
            </p:nvGraphicFramePr>
            <p:xfrm>
              <a:off x="2496" y="2544"/>
              <a:ext cx="189" cy="205"/>
            </p:xfrm>
            <a:graphic>
              <a:graphicData uri="http://schemas.openxmlformats.org/presentationml/2006/ole">
                <mc:AlternateContent xmlns:mc="http://schemas.openxmlformats.org/markup-compatibility/2006">
                  <mc:Choice xmlns:v="urn:schemas-microsoft-com:vml" Requires="v">
                    <p:oleObj name="Equation" r:id="rId9" imgW="152280" imgH="164880" progId="Equation.3">
                      <p:embed/>
                    </p:oleObj>
                  </mc:Choice>
                  <mc:Fallback>
                    <p:oleObj name="Equation" r:id="rId9" imgW="152280" imgH="1648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6" y="2544"/>
                            <a:ext cx="189"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9"/>
              <p:cNvGraphicFramePr>
                <a:graphicFrameLocks noChangeAspect="1"/>
              </p:cNvGraphicFramePr>
              <p:nvPr/>
            </p:nvGraphicFramePr>
            <p:xfrm>
              <a:off x="3024" y="2208"/>
              <a:ext cx="424" cy="252"/>
            </p:xfrm>
            <a:graphic>
              <a:graphicData uri="http://schemas.openxmlformats.org/presentationml/2006/ole">
                <mc:AlternateContent xmlns:mc="http://schemas.openxmlformats.org/markup-compatibility/2006">
                  <mc:Choice xmlns:v="urn:schemas-microsoft-com:vml" Requires="v">
                    <p:oleObj name="Equation" r:id="rId11" imgW="342720" imgH="203040" progId="Equation.3">
                      <p:embed/>
                    </p:oleObj>
                  </mc:Choice>
                  <mc:Fallback>
                    <p:oleObj name="Equation" r:id="rId11" imgW="342720" imgH="2030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4" y="2208"/>
                            <a:ext cx="424"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20"/>
              <p:cNvSpPr>
                <a:spLocks noChangeShapeType="1"/>
              </p:cNvSpPr>
              <p:nvPr/>
            </p:nvSpPr>
            <p:spPr bwMode="auto">
              <a:xfrm flipH="1">
                <a:off x="2496" y="2448"/>
                <a:ext cx="5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 name="Object 21"/>
              <p:cNvGraphicFramePr>
                <a:graphicFrameLocks noChangeAspect="1"/>
              </p:cNvGraphicFramePr>
              <p:nvPr/>
            </p:nvGraphicFramePr>
            <p:xfrm>
              <a:off x="1632" y="3456"/>
              <a:ext cx="157" cy="221"/>
            </p:xfrm>
            <a:graphic>
              <a:graphicData uri="http://schemas.openxmlformats.org/presentationml/2006/ole">
                <mc:AlternateContent xmlns:mc="http://schemas.openxmlformats.org/markup-compatibility/2006">
                  <mc:Choice xmlns:v="urn:schemas-microsoft-com:vml" Requires="v">
                    <p:oleObj name="Equation" r:id="rId13" imgW="126720" imgH="177480" progId="Equation.3">
                      <p:embed/>
                    </p:oleObj>
                  </mc:Choice>
                  <mc:Fallback>
                    <p:oleObj name="Equation" r:id="rId13" imgW="126720" imgH="1774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32" y="3456"/>
                            <a:ext cx="157"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2"/>
              <p:cNvGraphicFramePr>
                <a:graphicFrameLocks noChangeAspect="1"/>
              </p:cNvGraphicFramePr>
              <p:nvPr/>
            </p:nvGraphicFramePr>
            <p:xfrm>
              <a:off x="2400" y="3504"/>
              <a:ext cx="142" cy="221"/>
            </p:xfrm>
            <a:graphic>
              <a:graphicData uri="http://schemas.openxmlformats.org/presentationml/2006/ole">
                <mc:AlternateContent xmlns:mc="http://schemas.openxmlformats.org/markup-compatibility/2006">
                  <mc:Choice xmlns:v="urn:schemas-microsoft-com:vml" Requires="v">
                    <p:oleObj name="Equation" r:id="rId15" imgW="114120" imgH="177480" progId="Equation.3">
                      <p:embed/>
                    </p:oleObj>
                  </mc:Choice>
                  <mc:Fallback>
                    <p:oleObj name="Equation" r:id="rId15" imgW="114120" imgH="1774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0" y="3504"/>
                            <a:ext cx="14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3"/>
              <p:cNvGraphicFramePr>
                <a:graphicFrameLocks noChangeAspect="1"/>
              </p:cNvGraphicFramePr>
              <p:nvPr/>
            </p:nvGraphicFramePr>
            <p:xfrm>
              <a:off x="2160" y="3504"/>
              <a:ext cx="157" cy="205"/>
            </p:xfrm>
            <a:graphic>
              <a:graphicData uri="http://schemas.openxmlformats.org/presentationml/2006/ole">
                <mc:AlternateContent xmlns:mc="http://schemas.openxmlformats.org/markup-compatibility/2006">
                  <mc:Choice xmlns:v="urn:schemas-microsoft-com:vml" Requires="v">
                    <p:oleObj name="Equation" r:id="rId17" imgW="126720" imgH="164880" progId="Equation.3">
                      <p:embed/>
                    </p:oleObj>
                  </mc:Choice>
                  <mc:Fallback>
                    <p:oleObj name="Equation" r:id="rId17" imgW="126720" imgH="1648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60" y="3504"/>
                            <a:ext cx="157"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4"/>
              <p:cNvGraphicFramePr>
                <a:graphicFrameLocks noChangeAspect="1"/>
              </p:cNvGraphicFramePr>
              <p:nvPr/>
            </p:nvGraphicFramePr>
            <p:xfrm>
              <a:off x="1920" y="3504"/>
              <a:ext cx="110" cy="205"/>
            </p:xfrm>
            <a:graphic>
              <a:graphicData uri="http://schemas.openxmlformats.org/presentationml/2006/ole">
                <mc:AlternateContent xmlns:mc="http://schemas.openxmlformats.org/markup-compatibility/2006">
                  <mc:Choice xmlns:v="urn:schemas-microsoft-com:vml" Requires="v">
                    <p:oleObj name="Equation" r:id="rId19" imgW="88560" imgH="164880" progId="Equation.3">
                      <p:embed/>
                    </p:oleObj>
                  </mc:Choice>
                  <mc:Fallback>
                    <p:oleObj name="Equation" r:id="rId19" imgW="88560" imgH="1648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20" y="3504"/>
                            <a:ext cx="110"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p:cNvGraphicFramePr>
                <a:graphicFrameLocks noChangeAspect="1"/>
              </p:cNvGraphicFramePr>
              <p:nvPr/>
            </p:nvGraphicFramePr>
            <p:xfrm>
              <a:off x="3312" y="3504"/>
              <a:ext cx="157" cy="221"/>
            </p:xfrm>
            <a:graphic>
              <a:graphicData uri="http://schemas.openxmlformats.org/presentationml/2006/ole">
                <mc:AlternateContent xmlns:mc="http://schemas.openxmlformats.org/markup-compatibility/2006">
                  <mc:Choice xmlns:v="urn:schemas-microsoft-com:vml" Requires="v">
                    <p:oleObj name="Equation" r:id="rId21" imgW="126720" imgH="177480" progId="Equation.3">
                      <p:embed/>
                    </p:oleObj>
                  </mc:Choice>
                  <mc:Fallback>
                    <p:oleObj name="Equation" r:id="rId21" imgW="126720" imgH="17748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12" y="3504"/>
                            <a:ext cx="157"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6"/>
              <p:cNvGraphicFramePr>
                <a:graphicFrameLocks noChangeAspect="1"/>
              </p:cNvGraphicFramePr>
              <p:nvPr/>
            </p:nvGraphicFramePr>
            <p:xfrm>
              <a:off x="3107" y="3504"/>
              <a:ext cx="157" cy="221"/>
            </p:xfrm>
            <a:graphic>
              <a:graphicData uri="http://schemas.openxmlformats.org/presentationml/2006/ole">
                <mc:AlternateContent xmlns:mc="http://schemas.openxmlformats.org/markup-compatibility/2006">
                  <mc:Choice xmlns:v="urn:schemas-microsoft-com:vml" Requires="v">
                    <p:oleObj name="Equation" r:id="rId23" imgW="126720" imgH="177480" progId="Equation.3">
                      <p:embed/>
                    </p:oleObj>
                  </mc:Choice>
                  <mc:Fallback>
                    <p:oleObj name="Equation" r:id="rId23" imgW="126720" imgH="17748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07" y="3504"/>
                            <a:ext cx="157"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7"/>
              <p:cNvGraphicFramePr>
                <a:graphicFrameLocks noChangeAspect="1"/>
              </p:cNvGraphicFramePr>
              <p:nvPr/>
            </p:nvGraphicFramePr>
            <p:xfrm>
              <a:off x="2880" y="3504"/>
              <a:ext cx="141" cy="221"/>
            </p:xfrm>
            <a:graphic>
              <a:graphicData uri="http://schemas.openxmlformats.org/presentationml/2006/ole">
                <mc:AlternateContent xmlns:mc="http://schemas.openxmlformats.org/markup-compatibility/2006">
                  <mc:Choice xmlns:v="urn:schemas-microsoft-com:vml" Requires="v">
                    <p:oleObj name="Equation" r:id="rId25" imgW="114120" imgH="177480" progId="Equation.3">
                      <p:embed/>
                    </p:oleObj>
                  </mc:Choice>
                  <mc:Fallback>
                    <p:oleObj name="Equation" r:id="rId25" imgW="114120" imgH="17748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80" y="3504"/>
                            <a:ext cx="141"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p:cNvGraphicFramePr>
                <a:graphicFrameLocks noChangeAspect="1"/>
              </p:cNvGraphicFramePr>
              <p:nvPr/>
            </p:nvGraphicFramePr>
            <p:xfrm>
              <a:off x="2633" y="3504"/>
              <a:ext cx="151" cy="205"/>
            </p:xfrm>
            <a:graphic>
              <a:graphicData uri="http://schemas.openxmlformats.org/presentationml/2006/ole">
                <mc:AlternateContent xmlns:mc="http://schemas.openxmlformats.org/markup-compatibility/2006">
                  <mc:Choice xmlns:v="urn:schemas-microsoft-com:vml" Requires="v">
                    <p:oleObj name="Equation" r:id="rId27" imgW="126720" imgH="164880" progId="Equation.3">
                      <p:embed/>
                    </p:oleObj>
                  </mc:Choice>
                  <mc:Fallback>
                    <p:oleObj name="Equation" r:id="rId27" imgW="126720" imgH="16488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33" y="3504"/>
                            <a:ext cx="151"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9"/>
              <p:cNvGraphicFramePr>
                <a:graphicFrameLocks noChangeAspect="1"/>
              </p:cNvGraphicFramePr>
              <p:nvPr/>
            </p:nvGraphicFramePr>
            <p:xfrm>
              <a:off x="2208" y="1728"/>
              <a:ext cx="613" cy="252"/>
            </p:xfrm>
            <a:graphic>
              <a:graphicData uri="http://schemas.openxmlformats.org/presentationml/2006/ole">
                <mc:AlternateContent xmlns:mc="http://schemas.openxmlformats.org/markup-compatibility/2006">
                  <mc:Choice xmlns:v="urn:schemas-microsoft-com:vml" Requires="v">
                    <p:oleObj name="Equation" r:id="rId29" imgW="495000" imgH="203040" progId="Equation.3">
                      <p:embed/>
                    </p:oleObj>
                  </mc:Choice>
                  <mc:Fallback>
                    <p:oleObj name="Equation" r:id="rId29" imgW="495000" imgH="20304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8" y="1728"/>
                            <a:ext cx="613"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p:cNvGraphicFramePr>
                <a:graphicFrameLocks noChangeAspect="1"/>
              </p:cNvGraphicFramePr>
              <p:nvPr/>
            </p:nvGraphicFramePr>
            <p:xfrm>
              <a:off x="3264" y="2736"/>
              <a:ext cx="613" cy="252"/>
            </p:xfrm>
            <a:graphic>
              <a:graphicData uri="http://schemas.openxmlformats.org/presentationml/2006/ole">
                <mc:AlternateContent xmlns:mc="http://schemas.openxmlformats.org/markup-compatibility/2006">
                  <mc:Choice xmlns:v="urn:schemas-microsoft-com:vml" Requires="v">
                    <p:oleObj name="Equation" r:id="rId31" imgW="495000" imgH="203040" progId="Equation.3">
                      <p:embed/>
                    </p:oleObj>
                  </mc:Choice>
                  <mc:Fallback>
                    <p:oleObj name="Equation" r:id="rId31" imgW="495000" imgH="20304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264" y="2736"/>
                            <a:ext cx="613"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31"/>
              <p:cNvSpPr>
                <a:spLocks noChangeShapeType="1"/>
              </p:cNvSpPr>
              <p:nvPr/>
            </p:nvSpPr>
            <p:spPr bwMode="auto">
              <a:xfrm flipV="1">
                <a:off x="2496" y="345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TextBox 1"/>
            <p:cNvSpPr txBox="1"/>
            <p:nvPr/>
          </p:nvSpPr>
          <p:spPr>
            <a:xfrm>
              <a:off x="6109606" y="4114850"/>
              <a:ext cx="1456818" cy="369332"/>
            </a:xfrm>
            <a:prstGeom prst="rect">
              <a:avLst/>
            </a:prstGeom>
            <a:noFill/>
          </p:spPr>
          <p:txBody>
            <a:bodyPr wrap="square" rtlCol="0">
              <a:spAutoFit/>
            </a:bodyPr>
            <a:lstStyle/>
            <a:p>
              <a:r>
                <a:rPr lang="zh-CN" altLang="en-US" b="1" dirty="0">
                  <a:solidFill>
                    <a:srgbClr val="CC00FF"/>
                  </a:solidFill>
                </a:rPr>
                <a:t>最佳聚类数</a:t>
              </a:r>
            </a:p>
          </p:txBody>
        </p:sp>
      </p:grpSp>
      <p:grpSp>
        <p:nvGrpSpPr>
          <p:cNvPr id="11" name="Group 2">
            <a:extLst>
              <a:ext uri="{FF2B5EF4-FFF2-40B4-BE49-F238E27FC236}">
                <a16:creationId xmlns:a16="http://schemas.microsoft.com/office/drawing/2014/main" id="{A8EB1E89-5894-6FC3-2323-37B0B848FAE6}"/>
              </a:ext>
            </a:extLst>
          </p:cNvPr>
          <p:cNvGrpSpPr>
            <a:grpSpLocks/>
          </p:cNvGrpSpPr>
          <p:nvPr/>
        </p:nvGrpSpPr>
        <p:grpSpPr bwMode="auto">
          <a:xfrm>
            <a:off x="2321416" y="1967836"/>
            <a:ext cx="4900613" cy="925512"/>
            <a:chOff x="0" y="29"/>
            <a:chExt cx="3087" cy="583"/>
          </a:xfrm>
        </p:grpSpPr>
        <p:sp>
          <p:nvSpPr>
            <p:cNvPr id="33" name="Rectangle 3">
              <a:extLst>
                <a:ext uri="{FF2B5EF4-FFF2-40B4-BE49-F238E27FC236}">
                  <a16:creationId xmlns:a16="http://schemas.microsoft.com/office/drawing/2014/main" id="{5132D9D4-F736-CCDF-8F8A-235FCD86CC15}"/>
                </a:ext>
              </a:extLst>
            </p:cNvPr>
            <p:cNvSpPr>
              <a:spLocks noChangeArrowheads="1"/>
            </p:cNvSpPr>
            <p:nvPr/>
          </p:nvSpPr>
          <p:spPr bwMode="auto">
            <a:xfrm>
              <a:off x="0" y="140"/>
              <a:ext cx="15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dirty="0">
                  <a:cs typeface="Times New Roman" panose="02020603050405020304" pitchFamily="18" charset="0"/>
                </a:rPr>
                <a:t>聚类准则函数： </a:t>
              </a:r>
              <a:endParaRPr lang="zh-CN" altLang="zh-CN" sz="2400" dirty="0">
                <a:latin typeface="Arial" panose="020B0604020202020204" pitchFamily="34" charset="0"/>
              </a:endParaRPr>
            </a:p>
          </p:txBody>
        </p:sp>
        <p:graphicFrame>
          <p:nvGraphicFramePr>
            <p:cNvPr id="34" name="Object 4">
              <a:extLst>
                <a:ext uri="{FF2B5EF4-FFF2-40B4-BE49-F238E27FC236}">
                  <a16:creationId xmlns:a16="http://schemas.microsoft.com/office/drawing/2014/main" id="{173B0CE7-98E4-CB8A-75C0-AD288983F2EE}"/>
                </a:ext>
              </a:extLst>
            </p:cNvPr>
            <p:cNvGraphicFramePr>
              <a:graphicFrameLocks noChangeAspect="1"/>
            </p:cNvGraphicFramePr>
            <p:nvPr>
              <p:extLst>
                <p:ext uri="{D42A27DB-BD31-4B8C-83A1-F6EECF244321}">
                  <p14:modId xmlns:p14="http://schemas.microsoft.com/office/powerpoint/2010/main" val="750241048"/>
                </p:ext>
              </p:extLst>
            </p:nvPr>
          </p:nvGraphicFramePr>
          <p:xfrm>
            <a:off x="1312" y="29"/>
            <a:ext cx="1775" cy="583"/>
          </p:xfrm>
          <a:graphic>
            <a:graphicData uri="http://schemas.openxmlformats.org/presentationml/2006/ole">
              <mc:AlternateContent xmlns:mc="http://schemas.openxmlformats.org/markup-compatibility/2006">
                <mc:Choice xmlns:v="urn:schemas-microsoft-com:vml" Requires="v">
                  <p:oleObj r:id="rId33" imgW="1334079" imgH="482810" progId="Equation.3">
                    <p:embed/>
                  </p:oleObj>
                </mc:Choice>
                <mc:Fallback>
                  <p:oleObj r:id="rId33" imgW="1334079" imgH="482810" progId="Equation.3">
                    <p:embed/>
                    <p:pic>
                      <p:nvPicPr>
                        <p:cNvPr id="20496" name="Object 4">
                          <a:extLst>
                            <a:ext uri="{FF2B5EF4-FFF2-40B4-BE49-F238E27FC236}">
                              <a16:creationId xmlns:a16="http://schemas.microsoft.com/office/drawing/2014/main" id="{5ED0AD6E-CBA6-365C-DEB1-6B287900D56A}"/>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312" y="29"/>
                          <a:ext cx="177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5" name="Rectangle 5">
            <a:extLst>
              <a:ext uri="{FF2B5EF4-FFF2-40B4-BE49-F238E27FC236}">
                <a16:creationId xmlns:a16="http://schemas.microsoft.com/office/drawing/2014/main" id="{A5DB2629-796E-029D-DFDE-4D5FA8000609}"/>
              </a:ext>
            </a:extLst>
          </p:cNvPr>
          <p:cNvSpPr>
            <a:spLocks noChangeArrowheads="1"/>
          </p:cNvSpPr>
          <p:nvPr/>
        </p:nvSpPr>
        <p:spPr bwMode="auto">
          <a:xfrm>
            <a:off x="2981707" y="3939074"/>
            <a:ext cx="30444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i="1" dirty="0">
                <a:cs typeface="Times New Roman" panose="02020603050405020304" pitchFamily="18" charset="0"/>
              </a:rPr>
              <a:t>c</a:t>
            </a:r>
            <a:r>
              <a:rPr lang="zh-CN" altLang="zh-CN" sz="2400" dirty="0">
                <a:cs typeface="Times New Roman" panose="02020603050405020304" pitchFamily="18" charset="0"/>
              </a:rPr>
              <a:t>为聚类类别的数目，</a:t>
            </a:r>
            <a:endParaRPr lang="zh-CN" altLang="zh-CN" sz="2400" dirty="0">
              <a:latin typeface="Arial" panose="020B0604020202020204" pitchFamily="34" charset="0"/>
            </a:endParaRPr>
          </a:p>
        </p:txBody>
      </p:sp>
      <p:grpSp>
        <p:nvGrpSpPr>
          <p:cNvPr id="36" name="Group 6">
            <a:extLst>
              <a:ext uri="{FF2B5EF4-FFF2-40B4-BE49-F238E27FC236}">
                <a16:creationId xmlns:a16="http://schemas.microsoft.com/office/drawing/2014/main" id="{848166D1-04AF-400A-2F0C-C6174B71A9C5}"/>
              </a:ext>
            </a:extLst>
          </p:cNvPr>
          <p:cNvGrpSpPr>
            <a:grpSpLocks/>
          </p:cNvGrpSpPr>
          <p:nvPr/>
        </p:nvGrpSpPr>
        <p:grpSpPr bwMode="auto">
          <a:xfrm>
            <a:off x="2299386" y="2913759"/>
            <a:ext cx="6183313" cy="981075"/>
            <a:chOff x="0" y="0"/>
            <a:chExt cx="3895" cy="618"/>
          </a:xfrm>
        </p:grpSpPr>
        <p:graphicFrame>
          <p:nvGraphicFramePr>
            <p:cNvPr id="37" name="Object 7">
              <a:extLst>
                <a:ext uri="{FF2B5EF4-FFF2-40B4-BE49-F238E27FC236}">
                  <a16:creationId xmlns:a16="http://schemas.microsoft.com/office/drawing/2014/main" id="{33CC24B0-42F5-9763-A80A-0FF35779F4D7}"/>
                </a:ext>
              </a:extLst>
            </p:cNvPr>
            <p:cNvGraphicFramePr>
              <a:graphicFrameLocks noChangeAspect="1"/>
            </p:cNvGraphicFramePr>
            <p:nvPr>
              <p:extLst>
                <p:ext uri="{D42A27DB-BD31-4B8C-83A1-F6EECF244321}">
                  <p14:modId xmlns:p14="http://schemas.microsoft.com/office/powerpoint/2010/main" val="3466522298"/>
                </p:ext>
              </p:extLst>
            </p:nvPr>
          </p:nvGraphicFramePr>
          <p:xfrm>
            <a:off x="0" y="0"/>
            <a:ext cx="1221" cy="618"/>
          </p:xfrm>
          <a:graphic>
            <a:graphicData uri="http://schemas.openxmlformats.org/presentationml/2006/ole">
              <mc:AlternateContent xmlns:mc="http://schemas.openxmlformats.org/markup-compatibility/2006">
                <mc:Choice xmlns:v="urn:schemas-microsoft-com:vml" Requires="v">
                  <p:oleObj name="Equation" r:id="rId35" imgW="1003736" imgH="482810" progId="Equation.DSMT4">
                    <p:embed/>
                  </p:oleObj>
                </mc:Choice>
                <mc:Fallback>
                  <p:oleObj name="Equation" r:id="rId35" imgW="1003736" imgH="482810" progId="Equation.DSMT4">
                    <p:embed/>
                    <p:pic>
                      <p:nvPicPr>
                        <p:cNvPr id="20491" name="Object 7">
                          <a:extLst>
                            <a:ext uri="{FF2B5EF4-FFF2-40B4-BE49-F238E27FC236}">
                              <a16:creationId xmlns:a16="http://schemas.microsoft.com/office/drawing/2014/main" id="{7945A20E-D562-5BE5-C687-7056CAC21C39}"/>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0" y="0"/>
                          <a:ext cx="1221" cy="618"/>
                        </a:xfrm>
                        <a:prstGeom prst="rect">
                          <a:avLst/>
                        </a:prstGeom>
                        <a:noFill/>
                        <a:ln>
                          <a:noFill/>
                        </a:ln>
                      </p:spPr>
                    </p:pic>
                  </p:oleObj>
                </mc:Fallback>
              </mc:AlternateContent>
            </a:graphicData>
          </a:graphic>
        </p:graphicFrame>
        <p:graphicFrame>
          <p:nvGraphicFramePr>
            <p:cNvPr id="38" name="Object 8">
              <a:extLst>
                <a:ext uri="{FF2B5EF4-FFF2-40B4-BE49-F238E27FC236}">
                  <a16:creationId xmlns:a16="http://schemas.microsoft.com/office/drawing/2014/main" id="{813EFF79-3955-01DA-8E0D-400C07503E59}"/>
                </a:ext>
              </a:extLst>
            </p:cNvPr>
            <p:cNvGraphicFramePr>
              <a:graphicFrameLocks noChangeAspect="1"/>
            </p:cNvGraphicFramePr>
            <p:nvPr>
              <p:extLst>
                <p:ext uri="{D42A27DB-BD31-4B8C-83A1-F6EECF244321}">
                  <p14:modId xmlns:p14="http://schemas.microsoft.com/office/powerpoint/2010/main" val="3399124291"/>
                </p:ext>
              </p:extLst>
            </p:nvPr>
          </p:nvGraphicFramePr>
          <p:xfrm>
            <a:off x="1852" y="171"/>
            <a:ext cx="215" cy="283"/>
          </p:xfrm>
          <a:graphic>
            <a:graphicData uri="http://schemas.openxmlformats.org/presentationml/2006/ole">
              <mc:AlternateContent xmlns:mc="http://schemas.openxmlformats.org/markup-compatibility/2006">
                <mc:Choice xmlns:v="urn:schemas-microsoft-com:vml" Requires="v">
                  <p:oleObj r:id="rId37" imgW="178109" imgH="241720" progId="Equation.3">
                    <p:embed/>
                  </p:oleObj>
                </mc:Choice>
                <mc:Fallback>
                  <p:oleObj r:id="rId37" imgW="178109" imgH="241720" progId="Equation.3">
                    <p:embed/>
                    <p:pic>
                      <p:nvPicPr>
                        <p:cNvPr id="20492" name="Object 8">
                          <a:extLst>
                            <a:ext uri="{FF2B5EF4-FFF2-40B4-BE49-F238E27FC236}">
                              <a16:creationId xmlns:a16="http://schemas.microsoft.com/office/drawing/2014/main" id="{1B395A34-A878-C25E-11D7-937E4FBF71B7}"/>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852" y="171"/>
                          <a:ext cx="21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Rectangle 9">
              <a:extLst>
                <a:ext uri="{FF2B5EF4-FFF2-40B4-BE49-F238E27FC236}">
                  <a16:creationId xmlns:a16="http://schemas.microsoft.com/office/drawing/2014/main" id="{D11C87C1-89C2-9FDE-D533-D92BDB3F8A55}"/>
                </a:ext>
              </a:extLst>
            </p:cNvPr>
            <p:cNvSpPr>
              <a:spLocks noChangeArrowheads="1"/>
            </p:cNvSpPr>
            <p:nvPr/>
          </p:nvSpPr>
          <p:spPr bwMode="auto">
            <a:xfrm>
              <a:off x="1217" y="133"/>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dirty="0">
                  <a:cs typeface="Times New Roman" panose="02020603050405020304" pitchFamily="18" charset="0"/>
                </a:rPr>
                <a:t>为属于</a:t>
              </a:r>
              <a:endParaRPr lang="zh-CN" altLang="zh-CN" sz="2400" dirty="0">
                <a:latin typeface="Arial" panose="020B0604020202020204" pitchFamily="34" charset="0"/>
              </a:endParaRPr>
            </a:p>
          </p:txBody>
        </p:sp>
        <p:sp>
          <p:nvSpPr>
            <p:cNvPr id="40" name="Rectangle 10">
              <a:extLst>
                <a:ext uri="{FF2B5EF4-FFF2-40B4-BE49-F238E27FC236}">
                  <a16:creationId xmlns:a16="http://schemas.microsoft.com/office/drawing/2014/main" id="{879580CD-98ED-E102-595F-9C93F06F1989}"/>
                </a:ext>
              </a:extLst>
            </p:cNvPr>
            <p:cNvSpPr>
              <a:spLocks noChangeArrowheads="1"/>
            </p:cNvSpPr>
            <p:nvPr/>
          </p:nvSpPr>
          <p:spPr bwMode="auto">
            <a:xfrm>
              <a:off x="2034" y="132"/>
              <a:ext cx="186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dirty="0">
                  <a:cs typeface="Times New Roman" panose="02020603050405020304" pitchFamily="18" charset="0"/>
                </a:rPr>
                <a:t>集的样本的均值向量</a:t>
              </a:r>
              <a:endParaRPr lang="zh-CN" altLang="zh-CN" sz="2400" dirty="0">
                <a:latin typeface="Arial" panose="020B0604020202020204" pitchFamily="34" charset="0"/>
              </a:endParaRPr>
            </a:p>
          </p:txBody>
        </p:sp>
      </p:grpSp>
      <p:grpSp>
        <p:nvGrpSpPr>
          <p:cNvPr id="41" name="Group 11">
            <a:extLst>
              <a:ext uri="{FF2B5EF4-FFF2-40B4-BE49-F238E27FC236}">
                <a16:creationId xmlns:a16="http://schemas.microsoft.com/office/drawing/2014/main" id="{6439D2D6-2EDF-6DCF-7BD5-618BF2D4E615}"/>
              </a:ext>
            </a:extLst>
          </p:cNvPr>
          <p:cNvGrpSpPr>
            <a:grpSpLocks/>
          </p:cNvGrpSpPr>
          <p:nvPr/>
        </p:nvGrpSpPr>
        <p:grpSpPr bwMode="auto">
          <a:xfrm>
            <a:off x="5869050" y="3915809"/>
            <a:ext cx="3187700" cy="539750"/>
            <a:chOff x="0" y="0"/>
            <a:chExt cx="2008" cy="340"/>
          </a:xfrm>
        </p:grpSpPr>
        <p:graphicFrame>
          <p:nvGraphicFramePr>
            <p:cNvPr id="42" name="Object 12">
              <a:extLst>
                <a:ext uri="{FF2B5EF4-FFF2-40B4-BE49-F238E27FC236}">
                  <a16:creationId xmlns:a16="http://schemas.microsoft.com/office/drawing/2014/main" id="{1999FFAC-0F38-A2F4-E840-4D0C279DE850}"/>
                </a:ext>
              </a:extLst>
            </p:cNvPr>
            <p:cNvGraphicFramePr>
              <a:graphicFrameLocks noChangeAspect="1"/>
            </p:cNvGraphicFramePr>
            <p:nvPr/>
          </p:nvGraphicFramePr>
          <p:xfrm>
            <a:off x="0" y="0"/>
            <a:ext cx="312" cy="340"/>
          </p:xfrm>
          <a:graphic>
            <a:graphicData uri="http://schemas.openxmlformats.org/presentationml/2006/ole">
              <mc:AlternateContent xmlns:mc="http://schemas.openxmlformats.org/markup-compatibility/2006">
                <mc:Choice xmlns:v="urn:schemas-microsoft-com:vml" Requires="v">
                  <p:oleObj r:id="rId39" imgW="216275" imgH="241720" progId="Equation.3">
                    <p:embed/>
                  </p:oleObj>
                </mc:Choice>
                <mc:Fallback>
                  <p:oleObj r:id="rId39" imgW="216275" imgH="241720" progId="Equation.3">
                    <p:embed/>
                    <p:pic>
                      <p:nvPicPr>
                        <p:cNvPr id="20488" name="Object 12">
                          <a:extLst>
                            <a:ext uri="{FF2B5EF4-FFF2-40B4-BE49-F238E27FC236}">
                              <a16:creationId xmlns:a16="http://schemas.microsoft.com/office/drawing/2014/main" id="{EDDCCA6A-9381-4AC5-4127-7BAAD10CAD6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0" y="0"/>
                          <a:ext cx="31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ct 13">
              <a:extLst>
                <a:ext uri="{FF2B5EF4-FFF2-40B4-BE49-F238E27FC236}">
                  <a16:creationId xmlns:a16="http://schemas.microsoft.com/office/drawing/2014/main" id="{AA96A05D-ABE5-9E13-C32A-A178803C5259}"/>
                </a:ext>
              </a:extLst>
            </p:cNvPr>
            <p:cNvGraphicFramePr>
              <a:graphicFrameLocks noChangeAspect="1"/>
            </p:cNvGraphicFramePr>
            <p:nvPr/>
          </p:nvGraphicFramePr>
          <p:xfrm>
            <a:off x="539" y="29"/>
            <a:ext cx="236" cy="311"/>
          </p:xfrm>
          <a:graphic>
            <a:graphicData uri="http://schemas.openxmlformats.org/presentationml/2006/ole">
              <mc:AlternateContent xmlns:mc="http://schemas.openxmlformats.org/markup-compatibility/2006">
                <mc:Choice xmlns:v="urn:schemas-microsoft-com:vml" Requires="v">
                  <p:oleObj r:id="rId41" imgW="178109" imgH="241720" progId="Equation.3">
                    <p:embed/>
                  </p:oleObj>
                </mc:Choice>
                <mc:Fallback>
                  <p:oleObj r:id="rId41" imgW="178109" imgH="241720" progId="Equation.3">
                    <p:embed/>
                    <p:pic>
                      <p:nvPicPr>
                        <p:cNvPr id="20489" name="Object 13">
                          <a:extLst>
                            <a:ext uri="{FF2B5EF4-FFF2-40B4-BE49-F238E27FC236}">
                              <a16:creationId xmlns:a16="http://schemas.microsoft.com/office/drawing/2014/main" id="{0EEFB33B-8A39-730A-9BD5-3F1F1376BDE4}"/>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39" y="29"/>
                          <a:ext cx="23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Rectangle 14">
              <a:extLst>
                <a:ext uri="{FF2B5EF4-FFF2-40B4-BE49-F238E27FC236}">
                  <a16:creationId xmlns:a16="http://schemas.microsoft.com/office/drawing/2014/main" id="{00859F30-6D89-9356-7083-6E11B57B86A1}"/>
                </a:ext>
              </a:extLst>
            </p:cNvPr>
            <p:cNvSpPr>
              <a:spLocks noChangeArrowheads="1"/>
            </p:cNvSpPr>
            <p:nvPr/>
          </p:nvSpPr>
          <p:spPr bwMode="auto">
            <a:xfrm>
              <a:off x="255" y="32"/>
              <a:ext cx="17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dirty="0">
                  <a:cs typeface="Times New Roman" panose="02020603050405020304" pitchFamily="18" charset="0"/>
                </a:rPr>
                <a:t>为     </a:t>
              </a:r>
              <a:r>
                <a:rPr lang="zh-CN" altLang="zh-CN" sz="2400" dirty="0">
                  <a:latin typeface="Arial" panose="020B0604020202020204" pitchFamily="34" charset="0"/>
                </a:rPr>
                <a:t>中样本数目。 </a:t>
              </a:r>
            </a:p>
          </p:txBody>
        </p:sp>
      </p:grpSp>
      <p:sp>
        <p:nvSpPr>
          <p:cNvPr id="45" name="Rectangle 15">
            <a:extLst>
              <a:ext uri="{FF2B5EF4-FFF2-40B4-BE49-F238E27FC236}">
                <a16:creationId xmlns:a16="http://schemas.microsoft.com/office/drawing/2014/main" id="{9E68B3C7-CC58-3546-5955-A128343DF397}"/>
              </a:ext>
            </a:extLst>
          </p:cNvPr>
          <p:cNvSpPr>
            <a:spLocks noChangeArrowheads="1"/>
          </p:cNvSpPr>
          <p:nvPr/>
        </p:nvSpPr>
        <p:spPr bwMode="auto">
          <a:xfrm>
            <a:off x="1086356" y="4419109"/>
            <a:ext cx="9906187" cy="954107"/>
          </a:xfrm>
          <a:prstGeom prst="rect">
            <a:avLst/>
          </a:prstGeom>
          <a:solidFill>
            <a:srgbClr val="FFFF99"/>
          </a:solidFill>
          <a:ln>
            <a:noFill/>
          </a:ln>
          <a:effectLst/>
        </p:spPr>
        <p:txBody>
          <a:bodyPr wrap="squar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i="1" dirty="0"/>
              <a:t> </a:t>
            </a:r>
            <a:r>
              <a:rPr lang="zh-CN" altLang="zh-CN" sz="2800" b="1" i="1" dirty="0">
                <a:solidFill>
                  <a:srgbClr val="CC00FF"/>
                </a:solidFill>
              </a:rPr>
              <a:t>J</a:t>
            </a:r>
            <a:r>
              <a:rPr lang="en-US" altLang="zh-CN" sz="2800" b="1" i="1" dirty="0">
                <a:solidFill>
                  <a:srgbClr val="CC00FF"/>
                </a:solidFill>
              </a:rPr>
              <a:t> </a:t>
            </a:r>
            <a:r>
              <a:rPr lang="zh-CN" altLang="zh-CN" sz="2800" b="1" dirty="0">
                <a:solidFill>
                  <a:srgbClr val="CC00FF"/>
                </a:solidFill>
              </a:rPr>
              <a:t>代表了分属于</a:t>
            </a:r>
            <a:r>
              <a:rPr lang="en-US" altLang="zh-CN" sz="2800" b="1" dirty="0">
                <a:solidFill>
                  <a:srgbClr val="CC00FF"/>
                </a:solidFill>
              </a:rPr>
              <a:t> </a:t>
            </a:r>
            <a:r>
              <a:rPr lang="zh-CN" altLang="zh-CN" sz="2800" b="1" i="1" dirty="0">
                <a:solidFill>
                  <a:srgbClr val="CC00FF"/>
                </a:solidFill>
              </a:rPr>
              <a:t>c</a:t>
            </a:r>
            <a:r>
              <a:rPr lang="en-US" altLang="zh-CN" sz="2800" b="1" i="1" dirty="0">
                <a:solidFill>
                  <a:srgbClr val="CC00FF"/>
                </a:solidFill>
              </a:rPr>
              <a:t> </a:t>
            </a:r>
            <a:r>
              <a:rPr lang="zh-CN" altLang="zh-CN" sz="2800" b="1" dirty="0">
                <a:solidFill>
                  <a:srgbClr val="CC00FF"/>
                </a:solidFill>
              </a:rPr>
              <a:t>个聚类类别的全部模式样本与其相应类别模式均值之间的误差平方和。</a:t>
            </a:r>
            <a:r>
              <a:rPr lang="zh-CN" altLang="zh-CN" sz="2800" b="1" dirty="0">
                <a:solidFill>
                  <a:srgbClr val="CC00FF"/>
                </a:solidFill>
                <a:latin typeface="Arial" panose="020B0604020202020204" pitchFamily="34" charset="0"/>
              </a:rPr>
              <a:t> </a:t>
            </a:r>
          </a:p>
        </p:txBody>
      </p:sp>
      <p:sp>
        <p:nvSpPr>
          <p:cNvPr id="46" name="Rectangle 16">
            <a:extLst>
              <a:ext uri="{FF2B5EF4-FFF2-40B4-BE49-F238E27FC236}">
                <a16:creationId xmlns:a16="http://schemas.microsoft.com/office/drawing/2014/main" id="{505C0F84-9AD0-605E-2823-7BE7740D65E4}"/>
              </a:ext>
            </a:extLst>
          </p:cNvPr>
          <p:cNvSpPr>
            <a:spLocks noChangeArrowheads="1"/>
          </p:cNvSpPr>
          <p:nvPr/>
        </p:nvSpPr>
        <p:spPr bwMode="auto">
          <a:xfrm>
            <a:off x="678846" y="6351711"/>
            <a:ext cx="10673738" cy="461665"/>
          </a:xfrm>
          <a:prstGeom prst="rect">
            <a:avLst/>
          </a:prstGeom>
          <a:solidFill>
            <a:srgbClr val="99FF66"/>
          </a:solidFill>
          <a:ln>
            <a:noFill/>
          </a:ln>
          <a:effectLst/>
        </p:spPr>
        <p:txBody>
          <a:bodyPr wrap="square" anchor="ctr">
            <a:spAutoFit/>
          </a:bodyPr>
          <a:lstStyle>
            <a:lvl1pPr eaLnBrk="0" hangingPunct="0">
              <a:defRPr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400" b="1" dirty="0">
                <a:latin typeface="Arial" panose="020B0604020202020204" pitchFamily="34" charset="0"/>
              </a:rPr>
              <a:t>适用于各类样本密集且数目相差不多，而不同类间的样本又明显分开的情况。</a:t>
            </a:r>
          </a:p>
        </p:txBody>
      </p:sp>
      <p:sp>
        <p:nvSpPr>
          <p:cNvPr id="47" name="灯片编号占位符 46">
            <a:extLst>
              <a:ext uri="{FF2B5EF4-FFF2-40B4-BE49-F238E27FC236}">
                <a16:creationId xmlns:a16="http://schemas.microsoft.com/office/drawing/2014/main" id="{4BF952A1-ABF4-DBC5-8263-1ECBBFCE0D9E}"/>
              </a:ext>
            </a:extLst>
          </p:cNvPr>
          <p:cNvSpPr>
            <a:spLocks noGrp="1"/>
          </p:cNvSpPr>
          <p:nvPr>
            <p:ph type="sldNum" sz="quarter" idx="11"/>
          </p:nvPr>
        </p:nvSpPr>
        <p:spPr/>
        <p:txBody>
          <a:bodyPr/>
          <a:lstStyle/>
          <a:p>
            <a:pPr>
              <a:defRPr/>
            </a:pPr>
            <a:fld id="{F13753BC-CAEF-4333-AC48-2805658F6E3F}" type="slidenum">
              <a:rPr lang="en-US" altLang="zh-CN" smtClean="0"/>
              <a:pPr>
                <a:defRPr/>
              </a:pPr>
              <a:t>75</a:t>
            </a:fld>
            <a:endParaRPr lang="en-US" altLang="zh-CN"/>
          </a:p>
        </p:txBody>
      </p:sp>
    </p:spTree>
    <p:extLst>
      <p:ext uri="{BB962C8B-B14F-4D97-AF65-F5344CB8AC3E}">
        <p14:creationId xmlns:p14="http://schemas.microsoft.com/office/powerpoint/2010/main" val="15059880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wipe(left)">
                                      <p:cBhvr>
                                        <p:cTn id="7" dur="500"/>
                                        <p:tgtEl>
                                          <p:spTgt spid="373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left)">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1000"/>
                                        <p:tgtEl>
                                          <p:spTgt spid="45"/>
                                        </p:tgtEl>
                                      </p:cBhvr>
                                    </p:animEffect>
                                    <p:anim calcmode="lin" valueType="num">
                                      <p:cBhvr>
                                        <p:cTn id="32" dur="1000" fill="hold"/>
                                        <p:tgtEl>
                                          <p:spTgt spid="45"/>
                                        </p:tgtEl>
                                        <p:attrNameLst>
                                          <p:attrName>ppt_x</p:attrName>
                                        </p:attrNameLst>
                                      </p:cBhvr>
                                      <p:tavLst>
                                        <p:tav tm="0">
                                          <p:val>
                                            <p:strVal val="#ppt_x"/>
                                          </p:val>
                                        </p:tav>
                                        <p:tav tm="100000">
                                          <p:val>
                                            <p:strVal val="#ppt_x"/>
                                          </p:val>
                                        </p:tav>
                                      </p:tavLst>
                                    </p:anim>
                                    <p:anim calcmode="lin" valueType="num">
                                      <p:cBhvr>
                                        <p:cTn id="33"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73763">
                                            <p:txEl>
                                              <p:pRg st="9" end="9"/>
                                            </p:txEl>
                                          </p:spTgt>
                                        </p:tgtEl>
                                        <p:attrNameLst>
                                          <p:attrName>style.visibility</p:attrName>
                                        </p:attrNameLst>
                                      </p:cBhvr>
                                      <p:to>
                                        <p:strVal val="visible"/>
                                      </p:to>
                                    </p:set>
                                    <p:animEffect transition="in" filter="wipe(left)">
                                      <p:cBhvr>
                                        <p:cTn id="43" dur="500"/>
                                        <p:tgtEl>
                                          <p:spTgt spid="37376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 calcmode="lin" valueType="num">
                                      <p:cBhvr additive="base">
                                        <p:cTn id="48" dur="500" fill="hold"/>
                                        <p:tgtEl>
                                          <p:spTgt spid="46"/>
                                        </p:tgtEl>
                                        <p:attrNameLst>
                                          <p:attrName>ppt_x</p:attrName>
                                        </p:attrNameLst>
                                      </p:cBhvr>
                                      <p:tavLst>
                                        <p:tav tm="0">
                                          <p:val>
                                            <p:strVal val="#ppt_x"/>
                                          </p:val>
                                        </p:tav>
                                        <p:tav tm="100000">
                                          <p:val>
                                            <p:strVal val="#ppt_x"/>
                                          </p:val>
                                        </p:tav>
                                      </p:tavLst>
                                    </p:anim>
                                    <p:anim calcmode="lin" valueType="num">
                                      <p:cBhvr additive="base">
                                        <p:cTn id="49"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5" grpId="0" animBg="1"/>
      <p:bldP spid="4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1703388" y="2636838"/>
            <a:ext cx="9289156"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en-US" altLang="zh-CN" sz="2800" b="1" dirty="0">
                <a:latin typeface="宋体" pitchFamily="2" charset="-122"/>
              </a:rPr>
              <a:t>    </a:t>
            </a:r>
            <a:r>
              <a:rPr kumimoji="1" lang="zh-CN" altLang="en-US" sz="2800" b="1" dirty="0">
                <a:latin typeface="Times New Roman" pitchFamily="18" charset="0"/>
              </a:rPr>
              <a:t>设</a:t>
            </a:r>
            <a:r>
              <a:rPr kumimoji="1" lang="en-US" altLang="zh-CN" sz="2800" b="1" i="1" dirty="0">
                <a:latin typeface="Times New Roman" pitchFamily="18" charset="0"/>
                <a:ea typeface="黑体" pitchFamily="2" charset="-122"/>
              </a:rPr>
              <a:t>X</a:t>
            </a:r>
            <a:r>
              <a:rPr kumimoji="1" lang="en-US" altLang="zh-CN" sz="2800" b="1" baseline="-30000" dirty="0">
                <a:latin typeface="Times New Roman" pitchFamily="18" charset="0"/>
                <a:ea typeface="黑体" pitchFamily="2" charset="-122"/>
              </a:rPr>
              <a:t> </a:t>
            </a:r>
            <a:r>
              <a:rPr kumimoji="1" lang="en-US" altLang="zh-CN" sz="2800" b="1" dirty="0">
                <a:latin typeface="Times New Roman" pitchFamily="18" charset="0"/>
                <a:ea typeface="黑体" pitchFamily="2" charset="-122"/>
              </a:rPr>
              <a:t>= (</a:t>
            </a:r>
            <a:r>
              <a:rPr kumimoji="1" lang="en-US" altLang="zh-CN" sz="2800" b="1" i="1" dirty="0" err="1">
                <a:latin typeface="Times New Roman" pitchFamily="18" charset="0"/>
                <a:ea typeface="黑体" pitchFamily="2" charset="-122"/>
              </a:rPr>
              <a:t>x</a:t>
            </a:r>
            <a:r>
              <a:rPr kumimoji="1" lang="en-US" altLang="zh-CN" sz="2800" b="1" i="1" baseline="-30000" dirty="0" err="1">
                <a:latin typeface="Times New Roman" pitchFamily="18" charset="0"/>
                <a:ea typeface="黑体" pitchFamily="2" charset="-122"/>
              </a:rPr>
              <a:t>ij</a:t>
            </a:r>
            <a:r>
              <a:rPr kumimoji="1" lang="en-US" altLang="zh-CN" sz="2800" b="1" dirty="0">
                <a:latin typeface="Times New Roman" pitchFamily="18" charset="0"/>
                <a:ea typeface="黑体" pitchFamily="2" charset="-122"/>
              </a:rPr>
              <a:t>)</a:t>
            </a:r>
            <a:r>
              <a:rPr kumimoji="1" lang="en-US" altLang="zh-CN" sz="2800" b="1" i="1" baseline="-30000" dirty="0" err="1">
                <a:latin typeface="Times New Roman" pitchFamily="18" charset="0"/>
                <a:ea typeface="黑体" pitchFamily="2" charset="-122"/>
              </a:rPr>
              <a:t>n</a:t>
            </a:r>
            <a:r>
              <a:rPr kumimoji="1" lang="en-US" altLang="zh-CN" sz="2800" b="1" baseline="-30000" dirty="0" err="1">
                <a:latin typeface="Times New Roman" pitchFamily="18" charset="0"/>
                <a:ea typeface="黑体" pitchFamily="2" charset="-122"/>
              </a:rPr>
              <a:t>×</a:t>
            </a:r>
            <a:r>
              <a:rPr kumimoji="1" lang="en-US" altLang="zh-CN" sz="2800" b="1" i="1" baseline="-30000" dirty="0" err="1">
                <a:latin typeface="Times New Roman" pitchFamily="18" charset="0"/>
                <a:ea typeface="黑体" pitchFamily="2" charset="-122"/>
              </a:rPr>
              <a:t>p</a:t>
            </a:r>
            <a:r>
              <a:rPr kumimoji="1" lang="zh-CN" altLang="en-US" sz="2800" b="1" dirty="0">
                <a:latin typeface="Times New Roman" pitchFamily="18" charset="0"/>
              </a:rPr>
              <a:t>为</a:t>
            </a:r>
            <a:r>
              <a:rPr kumimoji="1" lang="en-US" altLang="zh-CN" sz="2800" b="1" i="1" dirty="0">
                <a:latin typeface="Times New Roman" pitchFamily="18" charset="0"/>
              </a:rPr>
              <a:t>n</a:t>
            </a:r>
            <a:r>
              <a:rPr kumimoji="1" lang="zh-CN" altLang="en-US" sz="2800" b="1" dirty="0">
                <a:latin typeface="Times New Roman" pitchFamily="18" charset="0"/>
              </a:rPr>
              <a:t>个元素</a:t>
            </a:r>
            <a:r>
              <a:rPr kumimoji="1" lang="en-US" altLang="zh-CN" sz="2800" b="1" i="1" dirty="0">
                <a:latin typeface="Times New Roman" pitchFamily="18" charset="0"/>
              </a:rPr>
              <a:t>p</a:t>
            </a:r>
            <a:r>
              <a:rPr kumimoji="1" lang="zh-CN" altLang="en-US" sz="2800" b="1" dirty="0">
                <a:latin typeface="Times New Roman" pitchFamily="18" charset="0"/>
              </a:rPr>
              <a:t>个指标的原始数据矩阵</a:t>
            </a:r>
            <a:r>
              <a:rPr kumimoji="1" lang="en-US" altLang="zh-CN" sz="2800" b="1" dirty="0">
                <a:latin typeface="Times New Roman" pitchFamily="18" charset="0"/>
              </a:rPr>
              <a:t>.</a:t>
            </a:r>
          </a:p>
          <a:p>
            <a:pPr>
              <a:lnSpc>
                <a:spcPct val="120000"/>
              </a:lnSpc>
            </a:pPr>
            <a:r>
              <a:rPr kumimoji="1" lang="en-US" altLang="zh-CN" sz="2800" b="1" dirty="0">
                <a:latin typeface="宋体" pitchFamily="2" charset="-122"/>
              </a:rPr>
              <a:t>    </a:t>
            </a:r>
            <a:r>
              <a:rPr kumimoji="1" lang="zh-CN" altLang="en-US" sz="2800" b="1" dirty="0">
                <a:latin typeface="Times New Roman" pitchFamily="18" charset="0"/>
              </a:rPr>
              <a:t>为总体样本的中心向量</a:t>
            </a:r>
            <a:r>
              <a:rPr kumimoji="1" lang="en-US" altLang="zh-CN" sz="2800" b="1" dirty="0">
                <a:latin typeface="Times New Roman" pitchFamily="18" charset="0"/>
              </a:rPr>
              <a:t>.</a:t>
            </a:r>
          </a:p>
        </p:txBody>
      </p:sp>
      <p:sp>
        <p:nvSpPr>
          <p:cNvPr id="394244" name="Rectangle 4"/>
          <p:cNvSpPr>
            <a:spLocks noChangeArrowheads="1"/>
          </p:cNvSpPr>
          <p:nvPr/>
        </p:nvSpPr>
        <p:spPr bwMode="auto">
          <a:xfrm>
            <a:off x="2136775" y="3787775"/>
            <a:ext cx="82994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dirty="0">
                <a:latin typeface="宋体" pitchFamily="2" charset="-122"/>
              </a:rPr>
              <a:t>    </a:t>
            </a:r>
            <a:r>
              <a:rPr kumimoji="1" lang="zh-CN" altLang="en-US" sz="2800" b="1" dirty="0">
                <a:latin typeface="Times New Roman" pitchFamily="18" charset="0"/>
              </a:rPr>
              <a:t>对应于</a:t>
            </a:r>
            <a:r>
              <a:rPr kumimoji="1" lang="zh-CN" altLang="en-US" sz="2800" b="1" i="1" dirty="0">
                <a:latin typeface="Times New Roman" pitchFamily="18" charset="0"/>
                <a:sym typeface="Symbol" pitchFamily="18" charset="2"/>
              </a:rPr>
              <a:t></a:t>
            </a:r>
            <a:r>
              <a:rPr kumimoji="1" lang="zh-CN" altLang="en-US" sz="2800" b="1" dirty="0">
                <a:latin typeface="Times New Roman" pitchFamily="18" charset="0"/>
              </a:rPr>
              <a:t> 值的分类数为</a:t>
            </a:r>
            <a:r>
              <a:rPr kumimoji="1" lang="en-US" altLang="zh-CN" sz="2800" b="1" i="1" dirty="0">
                <a:latin typeface="Times New Roman" pitchFamily="18" charset="0"/>
              </a:rPr>
              <a:t>r</a:t>
            </a:r>
            <a:r>
              <a:rPr kumimoji="1" lang="zh-CN" altLang="en-US" sz="2800" b="1" dirty="0">
                <a:latin typeface="Times New Roman" pitchFamily="18" charset="0"/>
              </a:rPr>
              <a:t>，第 </a:t>
            </a:r>
            <a:r>
              <a:rPr kumimoji="1" lang="en-US" altLang="zh-CN" sz="2800" b="1" i="1" dirty="0">
                <a:latin typeface="Times New Roman" pitchFamily="18" charset="0"/>
              </a:rPr>
              <a:t>j </a:t>
            </a:r>
            <a:r>
              <a:rPr kumimoji="1" lang="zh-CN" altLang="en-US" sz="2800" b="1" dirty="0">
                <a:latin typeface="Times New Roman" pitchFamily="18" charset="0"/>
              </a:rPr>
              <a:t>类的样本数为</a:t>
            </a:r>
            <a:r>
              <a:rPr kumimoji="1" lang="en-US" altLang="zh-CN" sz="2800" b="1" i="1" dirty="0" err="1">
                <a:latin typeface="Times New Roman" pitchFamily="18" charset="0"/>
                <a:ea typeface="黑体" pitchFamily="2" charset="-122"/>
              </a:rPr>
              <a:t>n</a:t>
            </a:r>
            <a:r>
              <a:rPr kumimoji="1" lang="en-US" altLang="zh-CN" sz="2800" b="1" i="1" baseline="-30000" dirty="0" err="1">
                <a:latin typeface="Times New Roman" pitchFamily="18" charset="0"/>
                <a:ea typeface="黑体" pitchFamily="2" charset="-122"/>
              </a:rPr>
              <a:t>j</a:t>
            </a:r>
            <a:r>
              <a:rPr kumimoji="1" lang="zh-CN" altLang="en-US" sz="2800" b="1" dirty="0">
                <a:latin typeface="Times New Roman" pitchFamily="18" charset="0"/>
              </a:rPr>
              <a:t>，第 </a:t>
            </a:r>
            <a:r>
              <a:rPr kumimoji="1" lang="en-US" altLang="zh-CN" sz="2800" b="1" i="1" dirty="0">
                <a:latin typeface="Times New Roman" pitchFamily="18" charset="0"/>
              </a:rPr>
              <a:t>j </a:t>
            </a:r>
            <a:r>
              <a:rPr kumimoji="1" lang="zh-CN" altLang="en-US" sz="2800" b="1" dirty="0">
                <a:latin typeface="Times New Roman" pitchFamily="18" charset="0"/>
              </a:rPr>
              <a:t>类的样本标记为</a:t>
            </a:r>
          </a:p>
        </p:txBody>
      </p:sp>
      <p:graphicFrame>
        <p:nvGraphicFramePr>
          <p:cNvPr id="394245" name="Object 5"/>
          <p:cNvGraphicFramePr>
            <a:graphicFrameLocks noChangeAspect="1"/>
          </p:cNvGraphicFramePr>
          <p:nvPr/>
        </p:nvGraphicFramePr>
        <p:xfrm>
          <a:off x="4295776" y="4795839"/>
          <a:ext cx="2936875" cy="790575"/>
        </p:xfrm>
        <a:graphic>
          <a:graphicData uri="http://schemas.openxmlformats.org/presentationml/2006/ole">
            <mc:AlternateContent xmlns:mc="http://schemas.openxmlformats.org/markup-compatibility/2006">
              <mc:Choice xmlns:v="urn:schemas-microsoft-com:vml" Requires="v">
                <p:oleObj name="公式" r:id="rId2" imgW="961943" imgH="238140" progId="Equation.3">
                  <p:embed/>
                </p:oleObj>
              </mc:Choice>
              <mc:Fallback>
                <p:oleObj name="公式" r:id="rId2" imgW="961943" imgH="2381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776" y="4795839"/>
                        <a:ext cx="2936875"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4246" name="Rectangle 6"/>
          <p:cNvSpPr>
            <a:spLocks noChangeArrowheads="1"/>
          </p:cNvSpPr>
          <p:nvPr/>
        </p:nvSpPr>
        <p:spPr bwMode="auto">
          <a:xfrm>
            <a:off x="2279650" y="5661026"/>
            <a:ext cx="403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Times New Roman" pitchFamily="18" charset="0"/>
              </a:rPr>
              <a:t>第 </a:t>
            </a:r>
            <a:r>
              <a:rPr kumimoji="1" lang="en-US" altLang="zh-CN" sz="2800" b="1" i="1">
                <a:latin typeface="Times New Roman" pitchFamily="18" charset="0"/>
              </a:rPr>
              <a:t>j </a:t>
            </a:r>
            <a:r>
              <a:rPr kumimoji="1" lang="zh-CN" altLang="en-US" sz="2800" b="1">
                <a:latin typeface="Times New Roman" pitchFamily="18" charset="0"/>
              </a:rPr>
              <a:t>类样本的中心向量为</a:t>
            </a:r>
          </a:p>
        </p:txBody>
      </p:sp>
      <p:graphicFrame>
        <p:nvGraphicFramePr>
          <p:cNvPr id="394247" name="Object 7"/>
          <p:cNvGraphicFramePr>
            <a:graphicFrameLocks noChangeAspect="1"/>
          </p:cNvGraphicFramePr>
          <p:nvPr/>
        </p:nvGraphicFramePr>
        <p:xfrm>
          <a:off x="6311901" y="5661025"/>
          <a:ext cx="777875" cy="539750"/>
        </p:xfrm>
        <a:graphic>
          <a:graphicData uri="http://schemas.openxmlformats.org/presentationml/2006/ole">
            <mc:AlternateContent xmlns:mc="http://schemas.openxmlformats.org/markup-compatibility/2006">
              <mc:Choice xmlns:v="urn:schemas-microsoft-com:vml" Requires="v">
                <p:oleObj name="公式" r:id="rId4" imgW="266621" imgH="171450" progId="Equation.3">
                  <p:embed/>
                </p:oleObj>
              </mc:Choice>
              <mc:Fallback>
                <p:oleObj name="公式" r:id="rId4" imgW="266621" imgH="17145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1901" y="5661025"/>
                        <a:ext cx="77787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0" name="Rectangle 8"/>
          <p:cNvSpPr>
            <a:spLocks noChangeArrowheads="1"/>
          </p:cNvSpPr>
          <p:nvPr/>
        </p:nvSpPr>
        <p:spPr bwMode="auto">
          <a:xfrm>
            <a:off x="1847850" y="404813"/>
            <a:ext cx="8280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400">
                <a:solidFill>
                  <a:srgbClr val="057939"/>
                </a:solidFill>
                <a:latin typeface="黑体" pitchFamily="2" charset="-122"/>
                <a:ea typeface="黑体" pitchFamily="2" charset="-122"/>
              </a:rPr>
              <a:t>系统聚类方法</a:t>
            </a:r>
            <a:br>
              <a:rPr lang="zh-CN" altLang="en-US" sz="4400">
                <a:solidFill>
                  <a:srgbClr val="057939"/>
                </a:solidFill>
                <a:latin typeface="黑体" pitchFamily="2" charset="-122"/>
                <a:ea typeface="黑体" pitchFamily="2" charset="-122"/>
              </a:rPr>
            </a:br>
            <a:r>
              <a:rPr lang="zh-CN" altLang="en-US" sz="3200" b="1">
                <a:solidFill>
                  <a:srgbClr val="EE0006"/>
                </a:solidFill>
                <a:latin typeface="新宋体-18030" pitchFamily="49" charset="-122"/>
                <a:ea typeface="新宋体-18030" pitchFamily="49" charset="-122"/>
              </a:rPr>
              <a:t>确定类的个数</a:t>
            </a:r>
          </a:p>
        </p:txBody>
      </p:sp>
      <p:sp>
        <p:nvSpPr>
          <p:cNvPr id="74761" name="Rectangle 9"/>
          <p:cNvSpPr>
            <a:spLocks noChangeArrowheads="1"/>
          </p:cNvSpPr>
          <p:nvPr/>
        </p:nvSpPr>
        <p:spPr bwMode="auto">
          <a:xfrm>
            <a:off x="1793667" y="1717923"/>
            <a:ext cx="24828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latin typeface="黑体" pitchFamily="2" charset="-122"/>
                <a:ea typeface="黑体" pitchFamily="2" charset="-122"/>
              </a:rPr>
              <a:t> </a:t>
            </a:r>
            <a:r>
              <a:rPr kumimoji="1" lang="en-US" altLang="zh-CN" sz="3200" dirty="0">
                <a:solidFill>
                  <a:srgbClr val="3333FF"/>
                </a:solidFill>
                <a:latin typeface="黑体" pitchFamily="2" charset="-122"/>
                <a:ea typeface="黑体" pitchFamily="2" charset="-122"/>
              </a:rPr>
              <a:t>2</a:t>
            </a:r>
            <a:r>
              <a:rPr kumimoji="1" lang="zh-CN" altLang="en-US" sz="3200" dirty="0">
                <a:solidFill>
                  <a:srgbClr val="3333FF"/>
                </a:solidFill>
                <a:latin typeface="黑体" pitchFamily="2" charset="-122"/>
                <a:ea typeface="黑体" pitchFamily="2" charset="-122"/>
              </a:rPr>
              <a:t>、</a:t>
            </a:r>
            <a:r>
              <a:rPr kumimoji="1" lang="en-US" altLang="zh-CN" sz="3200" dirty="0">
                <a:solidFill>
                  <a:srgbClr val="3333FF"/>
                </a:solidFill>
                <a:latin typeface="黑体" pitchFamily="2" charset="-122"/>
                <a:ea typeface="黑体" pitchFamily="2" charset="-122"/>
              </a:rPr>
              <a:t>F</a:t>
            </a:r>
            <a:r>
              <a:rPr kumimoji="1" lang="zh-CN" altLang="en-US" sz="3200" dirty="0">
                <a:solidFill>
                  <a:srgbClr val="3333FF"/>
                </a:solidFill>
                <a:latin typeface="黑体" pitchFamily="2" charset="-122"/>
                <a:ea typeface="黑体" pitchFamily="2" charset="-122"/>
              </a:rPr>
              <a:t>统计量</a:t>
            </a:r>
            <a:r>
              <a:rPr kumimoji="1" lang="zh-CN" altLang="en-US" dirty="0"/>
              <a:t> </a:t>
            </a:r>
          </a:p>
        </p:txBody>
      </p:sp>
      <p:graphicFrame>
        <p:nvGraphicFramePr>
          <p:cNvPr id="2" name="Object 6">
            <a:extLst>
              <a:ext uri="{FF2B5EF4-FFF2-40B4-BE49-F238E27FC236}">
                <a16:creationId xmlns:a16="http://schemas.microsoft.com/office/drawing/2014/main" id="{0894DA8B-4B8B-329F-3A28-7A96ECDD6BA9}"/>
              </a:ext>
            </a:extLst>
          </p:cNvPr>
          <p:cNvGraphicFramePr>
            <a:graphicFrameLocks noChangeAspect="1"/>
          </p:cNvGraphicFramePr>
          <p:nvPr>
            <p:extLst>
              <p:ext uri="{D42A27DB-BD31-4B8C-83A1-F6EECF244321}">
                <p14:modId xmlns:p14="http://schemas.microsoft.com/office/powerpoint/2010/main" val="1623308622"/>
              </p:ext>
            </p:extLst>
          </p:nvPr>
        </p:nvGraphicFramePr>
        <p:xfrm>
          <a:off x="2111673" y="3140969"/>
          <a:ext cx="398462" cy="555625"/>
        </p:xfrm>
        <a:graphic>
          <a:graphicData uri="http://schemas.openxmlformats.org/presentationml/2006/ole">
            <mc:AlternateContent xmlns:mc="http://schemas.openxmlformats.org/markup-compatibility/2006">
              <mc:Choice xmlns:v="urn:schemas-microsoft-com:vml" Requires="v">
                <p:oleObj name="公式" r:id="rId6" imgW="95357" imgH="152280" progId="Equation.3">
                  <p:embed/>
                </p:oleObj>
              </mc:Choice>
              <mc:Fallback>
                <p:oleObj name="公式" r:id="rId6" imgW="95357" imgH="152280" progId="Equation.3">
                  <p:embed/>
                  <p:pic>
                    <p:nvPicPr>
                      <p:cNvPr id="7475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1673" y="3140969"/>
                        <a:ext cx="398462"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a:extLst>
              <a:ext uri="{FF2B5EF4-FFF2-40B4-BE49-F238E27FC236}">
                <a16:creationId xmlns:a16="http://schemas.microsoft.com/office/drawing/2014/main" id="{A0157A79-7E51-C238-DE68-1F5F9BD59A04}"/>
              </a:ext>
            </a:extLst>
          </p:cNvPr>
          <p:cNvSpPr>
            <a:spLocks noGrp="1"/>
          </p:cNvSpPr>
          <p:nvPr>
            <p:ph type="sldNum" sz="quarter" idx="11"/>
          </p:nvPr>
        </p:nvSpPr>
        <p:spPr/>
        <p:txBody>
          <a:bodyPr/>
          <a:lstStyle/>
          <a:p>
            <a:pPr>
              <a:defRPr/>
            </a:pPr>
            <a:fld id="{ED684311-88B0-4A0C-9DE6-0C14036BF0FF}" type="slidenum">
              <a:rPr lang="en-US" altLang="zh-CN" smtClean="0"/>
              <a:pPr>
                <a:defRPr/>
              </a:pPr>
              <a:t>76</a:t>
            </a:fld>
            <a:endParaRPr lang="en-US" altLang="zh-CN"/>
          </a:p>
        </p:txBody>
      </p:sp>
    </p:spTree>
    <p:extLst>
      <p:ext uri="{BB962C8B-B14F-4D97-AF65-F5344CB8AC3E}">
        <p14:creationId xmlns:p14="http://schemas.microsoft.com/office/powerpoint/2010/main" val="3357209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wipe(up)">
                                      <p:cBhvr>
                                        <p:cTn id="7" dur="500"/>
                                        <p:tgtEl>
                                          <p:spTgt spid="394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94245"/>
                                        </p:tgtEl>
                                        <p:attrNameLst>
                                          <p:attrName>style.visibility</p:attrName>
                                        </p:attrNameLst>
                                      </p:cBhvr>
                                      <p:to>
                                        <p:strVal val="visible"/>
                                      </p:to>
                                    </p:set>
                                    <p:animEffect transition="in" filter="wipe(left)">
                                      <p:cBhvr>
                                        <p:cTn id="12" dur="500"/>
                                        <p:tgtEl>
                                          <p:spTgt spid="394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4246"/>
                                        </p:tgtEl>
                                        <p:attrNameLst>
                                          <p:attrName>style.visibility</p:attrName>
                                        </p:attrNameLst>
                                      </p:cBhvr>
                                      <p:to>
                                        <p:strVal val="visible"/>
                                      </p:to>
                                    </p:set>
                                    <p:animEffect transition="in" filter="wipe(left)">
                                      <p:cBhvr>
                                        <p:cTn id="17" dur="500"/>
                                        <p:tgtEl>
                                          <p:spTgt spid="394246"/>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394247"/>
                                        </p:tgtEl>
                                        <p:attrNameLst>
                                          <p:attrName>style.visibility</p:attrName>
                                        </p:attrNameLst>
                                      </p:cBhvr>
                                      <p:to>
                                        <p:strVal val="visible"/>
                                      </p:to>
                                    </p:set>
                                    <p:animEffect transition="in" filter="wipe(left)">
                                      <p:cBhvr>
                                        <p:cTn id="21" dur="500"/>
                                        <p:tgtEl>
                                          <p:spTgt spid="394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4" grpId="0"/>
      <p:bldP spid="39424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1343472" y="1223027"/>
            <a:ext cx="20313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3333FF"/>
                </a:solidFill>
                <a:latin typeface="黑体" pitchFamily="2" charset="-122"/>
                <a:ea typeface="黑体" pitchFamily="2" charset="-122"/>
              </a:rPr>
              <a:t>2 F</a:t>
            </a:r>
            <a:r>
              <a:rPr kumimoji="1" lang="zh-CN" altLang="en-US" sz="3200" dirty="0">
                <a:solidFill>
                  <a:srgbClr val="3333FF"/>
                </a:solidFill>
                <a:latin typeface="黑体" pitchFamily="2" charset="-122"/>
                <a:ea typeface="黑体" pitchFamily="2" charset="-122"/>
              </a:rPr>
              <a:t>统计量</a:t>
            </a:r>
          </a:p>
        </p:txBody>
      </p:sp>
      <p:sp>
        <p:nvSpPr>
          <p:cNvPr id="75779" name="Rectangle 3"/>
          <p:cNvSpPr>
            <a:spLocks noChangeArrowheads="1"/>
          </p:cNvSpPr>
          <p:nvPr/>
        </p:nvSpPr>
        <p:spPr bwMode="auto">
          <a:xfrm>
            <a:off x="1847850" y="188913"/>
            <a:ext cx="82296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400">
                <a:solidFill>
                  <a:srgbClr val="057939"/>
                </a:solidFill>
                <a:latin typeface="黑体" pitchFamily="2" charset="-122"/>
                <a:ea typeface="黑体" pitchFamily="2" charset="-122"/>
              </a:rPr>
              <a:t>系统聚类方法</a:t>
            </a:r>
            <a:br>
              <a:rPr lang="zh-CN" altLang="en-US" sz="4400">
                <a:solidFill>
                  <a:srgbClr val="057939"/>
                </a:solidFill>
                <a:latin typeface="黑体" pitchFamily="2" charset="-122"/>
                <a:ea typeface="黑体" pitchFamily="2" charset="-122"/>
              </a:rPr>
            </a:br>
            <a:r>
              <a:rPr lang="zh-CN" altLang="en-US" sz="3200" b="1">
                <a:solidFill>
                  <a:srgbClr val="EE0006"/>
                </a:solidFill>
                <a:latin typeface="新宋体-18030" pitchFamily="49" charset="-122"/>
                <a:ea typeface="新宋体-18030" pitchFamily="49" charset="-122"/>
              </a:rPr>
              <a:t>确定类的个数</a:t>
            </a:r>
          </a:p>
        </p:txBody>
      </p:sp>
      <p:graphicFrame>
        <p:nvGraphicFramePr>
          <p:cNvPr id="74756" name="Object 4"/>
          <p:cNvGraphicFramePr>
            <a:graphicFrameLocks noChangeAspect="1"/>
          </p:cNvGraphicFramePr>
          <p:nvPr/>
        </p:nvGraphicFramePr>
        <p:xfrm>
          <a:off x="3071813" y="1268413"/>
          <a:ext cx="7345362" cy="2259012"/>
        </p:xfrm>
        <a:graphic>
          <a:graphicData uri="http://schemas.openxmlformats.org/presentationml/2006/ole">
            <mc:AlternateContent xmlns:mc="http://schemas.openxmlformats.org/markup-compatibility/2006">
              <mc:Choice xmlns:v="urn:schemas-microsoft-com:vml" Requires="v">
                <p:oleObj name="Equation" r:id="rId3" imgW="2933700" imgH="901700" progId="Equation.DSMT4">
                  <p:embed/>
                </p:oleObj>
              </mc:Choice>
              <mc:Fallback>
                <p:oleObj name="Equation" r:id="rId3" imgW="2933700" imgH="901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1268413"/>
                        <a:ext cx="7345362" cy="225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57" name="Text Box 5"/>
          <p:cNvSpPr txBox="1">
            <a:spLocks noChangeArrowheads="1"/>
          </p:cNvSpPr>
          <p:nvPr/>
        </p:nvSpPr>
        <p:spPr bwMode="auto">
          <a:xfrm>
            <a:off x="1847851" y="3573464"/>
            <a:ext cx="8569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t>其中</a:t>
            </a:r>
            <a:r>
              <a:rPr lang="en-US" altLang="zh-CN" sz="2400" b="1" dirty="0"/>
              <a:t>,     </a:t>
            </a:r>
            <a:r>
              <a:rPr lang="zh-CN" altLang="en-US" sz="2400" b="1" dirty="0"/>
              <a:t>为总体样本的中心向量</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n</a:t>
            </a:r>
            <a:r>
              <a:rPr lang="zh-CN" altLang="en-US" sz="2400" b="1" dirty="0"/>
              <a:t>是总体样本数</a:t>
            </a:r>
            <a:r>
              <a:rPr lang="zh-CN" altLang="en-US"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zh-CN" altLang="en-US" sz="2400" b="1" dirty="0">
                <a:latin typeface="Times New Roman" panose="02020603050405020304" pitchFamily="18" charset="0"/>
                <a:cs typeface="Times New Roman" panose="02020603050405020304" pitchFamily="18" charset="0"/>
              </a:rPr>
              <a:t>是类别数</a:t>
            </a:r>
            <a:r>
              <a:rPr lang="en-US" altLang="zh-CN" sz="2400" b="1" dirty="0"/>
              <a:t>.</a:t>
            </a:r>
            <a:endParaRPr lang="zh-CN" altLang="en-US" sz="2400" b="1" dirty="0"/>
          </a:p>
        </p:txBody>
      </p:sp>
      <p:graphicFrame>
        <p:nvGraphicFramePr>
          <p:cNvPr id="74758" name="Object 6"/>
          <p:cNvGraphicFramePr>
            <a:graphicFrameLocks noChangeAspect="1"/>
          </p:cNvGraphicFramePr>
          <p:nvPr/>
        </p:nvGraphicFramePr>
        <p:xfrm>
          <a:off x="2640013" y="3500439"/>
          <a:ext cx="398462" cy="555625"/>
        </p:xfrm>
        <a:graphic>
          <a:graphicData uri="http://schemas.openxmlformats.org/presentationml/2006/ole">
            <mc:AlternateContent xmlns:mc="http://schemas.openxmlformats.org/markup-compatibility/2006">
              <mc:Choice xmlns:v="urn:schemas-microsoft-com:vml" Requires="v">
                <p:oleObj name="公式" r:id="rId5" imgW="95357" imgH="152280" progId="Equation.3">
                  <p:embed/>
                </p:oleObj>
              </mc:Choice>
              <mc:Fallback>
                <p:oleObj name="公式" r:id="rId5" imgW="95357" imgH="1522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0013" y="3500439"/>
                        <a:ext cx="398462"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9" name="Object 7"/>
          <p:cNvGraphicFramePr>
            <a:graphicFrameLocks noChangeAspect="1"/>
          </p:cNvGraphicFramePr>
          <p:nvPr>
            <p:extLst>
              <p:ext uri="{D42A27DB-BD31-4B8C-83A1-F6EECF244321}">
                <p14:modId xmlns:p14="http://schemas.microsoft.com/office/powerpoint/2010/main" val="716934563"/>
              </p:ext>
            </p:extLst>
          </p:nvPr>
        </p:nvGraphicFramePr>
        <p:xfrm>
          <a:off x="2146301" y="4149726"/>
          <a:ext cx="3313113" cy="822325"/>
        </p:xfrm>
        <a:graphic>
          <a:graphicData uri="http://schemas.openxmlformats.org/presentationml/2006/ole">
            <mc:AlternateContent xmlns:mc="http://schemas.openxmlformats.org/markup-compatibility/2006">
              <mc:Choice xmlns:v="urn:schemas-microsoft-com:vml" Requires="v">
                <p:oleObj name="公式" r:id="rId7" imgW="1739880" imgH="431640" progId="Equation.3">
                  <p:embed/>
                </p:oleObj>
              </mc:Choice>
              <mc:Fallback>
                <p:oleObj name="公式" r:id="rId7" imgW="1739880" imgH="431640" progId="Equation.3">
                  <p:embed/>
                  <p:pic>
                    <p:nvPicPr>
                      <p:cNvPr id="0" name=""/>
                      <p:cNvPicPr>
                        <a:picLocks noChangeAspect="1" noChangeArrowheads="1"/>
                      </p:cNvPicPr>
                      <p:nvPr/>
                    </p:nvPicPr>
                    <p:blipFill>
                      <a:blip r:embed="rId8"/>
                      <a:srcRect/>
                      <a:stretch>
                        <a:fillRect/>
                      </a:stretch>
                    </p:blipFill>
                    <p:spPr bwMode="auto">
                      <a:xfrm>
                        <a:off x="2146301" y="4149726"/>
                        <a:ext cx="33131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60" name="Object 8"/>
          <p:cNvGraphicFramePr>
            <a:graphicFrameLocks noChangeAspect="1"/>
          </p:cNvGraphicFramePr>
          <p:nvPr>
            <p:extLst>
              <p:ext uri="{D42A27DB-BD31-4B8C-83A1-F6EECF244321}">
                <p14:modId xmlns:p14="http://schemas.microsoft.com/office/powerpoint/2010/main" val="2918306917"/>
              </p:ext>
            </p:extLst>
          </p:nvPr>
        </p:nvGraphicFramePr>
        <p:xfrm>
          <a:off x="1974850" y="4868863"/>
          <a:ext cx="6769100" cy="1139825"/>
        </p:xfrm>
        <a:graphic>
          <a:graphicData uri="http://schemas.openxmlformats.org/presentationml/2006/ole">
            <mc:AlternateContent xmlns:mc="http://schemas.openxmlformats.org/markup-compatibility/2006">
              <mc:Choice xmlns:v="urn:schemas-microsoft-com:vml" Requires="v">
                <p:oleObj name="Equation" r:id="rId9" imgW="2869920" imgH="482400" progId="Equation.DSMT4">
                  <p:embed/>
                </p:oleObj>
              </mc:Choice>
              <mc:Fallback>
                <p:oleObj name="Equation" r:id="rId9" imgW="2869920" imgH="482400" progId="Equation.DSMT4">
                  <p:embed/>
                  <p:pic>
                    <p:nvPicPr>
                      <p:cNvPr id="0" name=""/>
                      <p:cNvPicPr>
                        <a:picLocks noChangeAspect="1" noChangeArrowheads="1"/>
                      </p:cNvPicPr>
                      <p:nvPr/>
                    </p:nvPicPr>
                    <p:blipFill>
                      <a:blip r:embed="rId10"/>
                      <a:srcRect/>
                      <a:stretch>
                        <a:fillRect/>
                      </a:stretch>
                    </p:blipFill>
                    <p:spPr bwMode="auto">
                      <a:xfrm>
                        <a:off x="1974850" y="4868863"/>
                        <a:ext cx="67691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7161" name="Object 9"/>
          <p:cNvGraphicFramePr>
            <a:graphicFrameLocks noChangeAspect="1"/>
          </p:cNvGraphicFramePr>
          <p:nvPr/>
        </p:nvGraphicFramePr>
        <p:xfrm>
          <a:off x="1992314" y="6092826"/>
          <a:ext cx="7056437" cy="581025"/>
        </p:xfrm>
        <a:graphic>
          <a:graphicData uri="http://schemas.openxmlformats.org/presentationml/2006/ole">
            <mc:AlternateContent xmlns:mc="http://schemas.openxmlformats.org/markup-compatibility/2006">
              <mc:Choice xmlns:v="urn:schemas-microsoft-com:vml" Requires="v">
                <p:oleObj name="公式" r:id="rId11" imgW="3086100" imgH="254000" progId="Equation.3">
                  <p:embed/>
                </p:oleObj>
              </mc:Choice>
              <mc:Fallback>
                <p:oleObj name="公式" r:id="rId11" imgW="3086100" imgH="254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2314" y="6092826"/>
                        <a:ext cx="70564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7162" name="AutoShape 10"/>
          <p:cNvSpPr>
            <a:spLocks noChangeArrowheads="1"/>
          </p:cNvSpPr>
          <p:nvPr/>
        </p:nvSpPr>
        <p:spPr bwMode="auto">
          <a:xfrm>
            <a:off x="8458050" y="694482"/>
            <a:ext cx="2987824" cy="936625"/>
          </a:xfrm>
          <a:prstGeom prst="wedgeRoundRectCallout">
            <a:avLst>
              <a:gd name="adj1" fmla="val -83468"/>
              <a:gd name="adj2" fmla="val 95882"/>
              <a:gd name="adj3" fmla="val 16667"/>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FF0000"/>
                </a:solidFill>
                <a:latin typeface="楷体_GB2312" pitchFamily="49" charset="-122"/>
                <a:ea typeface="楷体_GB2312" pitchFamily="49" charset="-122"/>
              </a:rPr>
              <a:t>分子</a:t>
            </a:r>
            <a:r>
              <a:rPr lang="en-US" altLang="zh-CN" sz="2400" b="1">
                <a:solidFill>
                  <a:srgbClr val="FF0000"/>
                </a:solidFill>
                <a:latin typeface="楷体_GB2312" pitchFamily="49" charset="-122"/>
                <a:ea typeface="楷体_GB2312" pitchFamily="49" charset="-122"/>
              </a:rPr>
              <a:t>: </a:t>
            </a:r>
            <a:r>
              <a:rPr lang="zh-CN" altLang="en-US" sz="2400" b="1">
                <a:solidFill>
                  <a:srgbClr val="FF0000"/>
                </a:solidFill>
                <a:latin typeface="楷体_GB2312" pitchFamily="49" charset="-122"/>
                <a:ea typeface="楷体_GB2312" pitchFamily="49" charset="-122"/>
              </a:rPr>
              <a:t>类间样本距离</a:t>
            </a:r>
          </a:p>
          <a:p>
            <a:pPr algn="ctr"/>
            <a:r>
              <a:rPr lang="zh-CN" altLang="en-US" sz="2400" b="1">
                <a:solidFill>
                  <a:srgbClr val="FF0000"/>
                </a:solidFill>
                <a:latin typeface="楷体_GB2312" pitchFamily="49" charset="-122"/>
                <a:ea typeface="楷体_GB2312" pitchFamily="49" charset="-122"/>
              </a:rPr>
              <a:t>分母</a:t>
            </a:r>
            <a:r>
              <a:rPr lang="en-US" altLang="zh-CN" sz="2400" b="1">
                <a:solidFill>
                  <a:srgbClr val="FF0000"/>
                </a:solidFill>
                <a:latin typeface="楷体_GB2312" pitchFamily="49" charset="-122"/>
                <a:ea typeface="楷体_GB2312" pitchFamily="49" charset="-122"/>
              </a:rPr>
              <a:t>: </a:t>
            </a:r>
            <a:r>
              <a:rPr lang="zh-CN" altLang="en-US" sz="2400" b="1">
                <a:solidFill>
                  <a:srgbClr val="FF0000"/>
                </a:solidFill>
                <a:latin typeface="楷体_GB2312" pitchFamily="49" charset="-122"/>
                <a:ea typeface="楷体_GB2312" pitchFamily="49" charset="-122"/>
              </a:rPr>
              <a:t>类内样本距离</a:t>
            </a:r>
          </a:p>
        </p:txBody>
      </p:sp>
      <p:sp>
        <p:nvSpPr>
          <p:cNvPr id="2" name="灯片编号占位符 1">
            <a:extLst>
              <a:ext uri="{FF2B5EF4-FFF2-40B4-BE49-F238E27FC236}">
                <a16:creationId xmlns:a16="http://schemas.microsoft.com/office/drawing/2014/main" id="{7E6C6220-51A6-BA44-4D14-EE801C89B49D}"/>
              </a:ext>
            </a:extLst>
          </p:cNvPr>
          <p:cNvSpPr>
            <a:spLocks noGrp="1"/>
          </p:cNvSpPr>
          <p:nvPr>
            <p:ph type="sldNum" sz="quarter" idx="11"/>
          </p:nvPr>
        </p:nvSpPr>
        <p:spPr/>
        <p:txBody>
          <a:bodyPr/>
          <a:lstStyle/>
          <a:p>
            <a:pPr>
              <a:defRPr/>
            </a:pPr>
            <a:fld id="{ED684311-88B0-4A0C-9DE6-0C14036BF0FF}" type="slidenum">
              <a:rPr lang="en-US" altLang="zh-CN" smtClean="0"/>
              <a:pPr>
                <a:defRPr/>
              </a:pPr>
              <a:t>77</a:t>
            </a:fld>
            <a:endParaRPr lang="en-US" altLang="zh-CN"/>
          </a:p>
        </p:txBody>
      </p:sp>
    </p:spTree>
    <p:extLst>
      <p:ext uri="{BB962C8B-B14F-4D97-AF65-F5344CB8AC3E}">
        <p14:creationId xmlns:p14="http://schemas.microsoft.com/office/powerpoint/2010/main" val="1657640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wipe(left)">
                                      <p:cBhvr>
                                        <p:cTn id="7" dur="500"/>
                                        <p:tgtEl>
                                          <p:spTgt spid="74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7"/>
                                        </p:tgtEl>
                                        <p:attrNameLst>
                                          <p:attrName>style.visibility</p:attrName>
                                        </p:attrNameLst>
                                      </p:cBhvr>
                                      <p:to>
                                        <p:strVal val="visible"/>
                                      </p:to>
                                    </p:set>
                                    <p:animEffect transition="in" filter="wipe(left)">
                                      <p:cBhvr>
                                        <p:cTn id="12" dur="500"/>
                                        <p:tgtEl>
                                          <p:spTgt spid="177157"/>
                                        </p:tgtEl>
                                      </p:cBhvr>
                                    </p:animEffect>
                                  </p:childTnLst>
                                </p:cTn>
                              </p:par>
                              <p:par>
                                <p:cTn id="13" presetID="1" presetClass="entr" presetSubtype="0" fill="hold" nodeType="withEffect">
                                  <p:stCondLst>
                                    <p:cond delay="0"/>
                                  </p:stCondLst>
                                  <p:childTnLst>
                                    <p:set>
                                      <p:cBhvr>
                                        <p:cTn id="14" dur="1" fill="hold">
                                          <p:stCondLst>
                                            <p:cond delay="0"/>
                                          </p:stCondLst>
                                        </p:cTn>
                                        <p:tgtEl>
                                          <p:spTgt spid="7475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77159"/>
                                        </p:tgtEl>
                                        <p:attrNameLst>
                                          <p:attrName>style.visibility</p:attrName>
                                        </p:attrNameLst>
                                      </p:cBhvr>
                                      <p:to>
                                        <p:strVal val="visible"/>
                                      </p:to>
                                    </p:set>
                                    <p:animEffect transition="in" filter="wipe(left)">
                                      <p:cBhvr>
                                        <p:cTn id="19" dur="500"/>
                                        <p:tgtEl>
                                          <p:spTgt spid="1771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77160"/>
                                        </p:tgtEl>
                                        <p:attrNameLst>
                                          <p:attrName>style.visibility</p:attrName>
                                        </p:attrNameLst>
                                      </p:cBhvr>
                                      <p:to>
                                        <p:strVal val="visible"/>
                                      </p:to>
                                    </p:set>
                                    <p:animEffect transition="in" filter="wipe(left)">
                                      <p:cBhvr>
                                        <p:cTn id="24" dur="500"/>
                                        <p:tgtEl>
                                          <p:spTgt spid="1771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77161"/>
                                        </p:tgtEl>
                                        <p:attrNameLst>
                                          <p:attrName>style.visibility</p:attrName>
                                        </p:attrNameLst>
                                      </p:cBhvr>
                                      <p:to>
                                        <p:strVal val="visible"/>
                                      </p:to>
                                    </p:set>
                                    <p:animEffect transition="in" filter="wipe(left)">
                                      <p:cBhvr>
                                        <p:cTn id="29" dur="500"/>
                                        <p:tgtEl>
                                          <p:spTgt spid="17716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77162"/>
                                        </p:tgtEl>
                                        <p:attrNameLst>
                                          <p:attrName>style.visibility</p:attrName>
                                        </p:attrNameLst>
                                      </p:cBhvr>
                                      <p:to>
                                        <p:strVal val="visible"/>
                                      </p:to>
                                    </p:set>
                                    <p:anim calcmode="lin" valueType="num">
                                      <p:cBhvr additive="base">
                                        <p:cTn id="34" dur="500" fill="hold"/>
                                        <p:tgtEl>
                                          <p:spTgt spid="177162"/>
                                        </p:tgtEl>
                                        <p:attrNameLst>
                                          <p:attrName>ppt_x</p:attrName>
                                        </p:attrNameLst>
                                      </p:cBhvr>
                                      <p:tavLst>
                                        <p:tav tm="0">
                                          <p:val>
                                            <p:strVal val="1+#ppt_w/2"/>
                                          </p:val>
                                        </p:tav>
                                        <p:tav tm="100000">
                                          <p:val>
                                            <p:strVal val="#ppt_x"/>
                                          </p:val>
                                        </p:tav>
                                      </p:tavLst>
                                    </p:anim>
                                    <p:anim calcmode="lin" valueType="num">
                                      <p:cBhvr additive="base">
                                        <p:cTn id="35" dur="500" fill="hold"/>
                                        <p:tgtEl>
                                          <p:spTgt spid="1771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7" grpId="0"/>
      <p:bldP spid="17716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057939"/>
                </a:solidFill>
                <a:latin typeface="黑体" panose="02010609060101010101" pitchFamily="49" charset="-122"/>
                <a:ea typeface="黑体" panose="02010609060101010101" pitchFamily="49" charset="-122"/>
              </a:rPr>
              <a:t>作业</a:t>
            </a:r>
          </a:p>
        </p:txBody>
      </p:sp>
      <p:sp>
        <p:nvSpPr>
          <p:cNvPr id="3" name="内容占位符 2"/>
          <p:cNvSpPr>
            <a:spLocks noGrp="1"/>
          </p:cNvSpPr>
          <p:nvPr>
            <p:ph idx="1"/>
          </p:nvPr>
        </p:nvSpPr>
        <p:spPr/>
        <p:txBody>
          <a:bodyPr/>
          <a:lstStyle/>
          <a:p>
            <a:r>
              <a:rPr lang="zh-CN" altLang="en-US" sz="3600" b="1" dirty="0"/>
              <a:t>习题三</a:t>
            </a:r>
            <a:endParaRPr lang="en-US" altLang="zh-CN" sz="3600" b="1" dirty="0"/>
          </a:p>
          <a:p>
            <a:pPr marL="0" indent="0">
              <a:buNone/>
            </a:pPr>
            <a:r>
              <a:rPr lang="en-US" altLang="zh-CN" sz="3600" b="1" dirty="0"/>
              <a:t>       17, 18, 23</a:t>
            </a:r>
            <a:endParaRPr lang="zh-CN" altLang="en-US" sz="3600" b="1" dirty="0"/>
          </a:p>
        </p:txBody>
      </p:sp>
      <p:sp>
        <p:nvSpPr>
          <p:cNvPr id="4" name="灯片编号占位符 3">
            <a:extLst>
              <a:ext uri="{FF2B5EF4-FFF2-40B4-BE49-F238E27FC236}">
                <a16:creationId xmlns:a16="http://schemas.microsoft.com/office/drawing/2014/main" id="{B631C2EA-7182-155A-5CA3-C3CB48974062}"/>
              </a:ext>
            </a:extLst>
          </p:cNvPr>
          <p:cNvSpPr>
            <a:spLocks noGrp="1"/>
          </p:cNvSpPr>
          <p:nvPr>
            <p:ph type="sldNum" sz="quarter" idx="11"/>
          </p:nvPr>
        </p:nvSpPr>
        <p:spPr/>
        <p:txBody>
          <a:bodyPr/>
          <a:lstStyle/>
          <a:p>
            <a:pPr>
              <a:defRPr/>
            </a:pPr>
            <a:fld id="{F13753BC-CAEF-4333-AC48-2805658F6E3F}" type="slidenum">
              <a:rPr lang="en-US" altLang="zh-CN" smtClean="0"/>
              <a:pPr>
                <a:defRPr/>
              </a:pPr>
              <a:t>78</a:t>
            </a:fld>
            <a:endParaRPr lang="en-US" altLang="zh-CN"/>
          </a:p>
        </p:txBody>
      </p:sp>
    </p:spTree>
    <p:extLst>
      <p:ext uri="{BB962C8B-B14F-4D97-AF65-F5344CB8AC3E}">
        <p14:creationId xmlns:p14="http://schemas.microsoft.com/office/powerpoint/2010/main" val="4291940588"/>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57035</TotalTime>
  <Words>6610</Words>
  <Application>Microsoft Office PowerPoint</Application>
  <PresentationFormat>宽屏</PresentationFormat>
  <Paragraphs>877</Paragraphs>
  <Slides>78</Slides>
  <Notes>21</Notes>
  <HiddenSlides>6</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5</vt:i4>
      </vt:variant>
      <vt:variant>
        <vt:lpstr>幻灯片标题</vt:lpstr>
      </vt:variant>
      <vt:variant>
        <vt:i4>78</vt:i4>
      </vt:variant>
    </vt:vector>
  </HeadingPairs>
  <TitlesOfParts>
    <vt:vector size="103" baseType="lpstr">
      <vt:lpstr>Batang</vt:lpstr>
      <vt:lpstr>PMingLiU-ExtB</vt:lpstr>
      <vt:lpstr>仿宋_GB2312</vt:lpstr>
      <vt:lpstr>黑体</vt:lpstr>
      <vt:lpstr>华文琥珀</vt:lpstr>
      <vt:lpstr>华文楷体</vt:lpstr>
      <vt:lpstr>楷体_GB2312</vt:lpstr>
      <vt:lpstr>隶书</vt:lpstr>
      <vt:lpstr>宋体</vt:lpstr>
      <vt:lpstr>新宋体-18030</vt:lpstr>
      <vt:lpstr>Arial</vt:lpstr>
      <vt:lpstr>Arial Black</vt:lpstr>
      <vt:lpstr>Book Antiqua</vt:lpstr>
      <vt:lpstr>Cambria Math</vt:lpstr>
      <vt:lpstr>Monotype Corsiva</vt:lpstr>
      <vt:lpstr>Symbol</vt:lpstr>
      <vt:lpstr>Times New Roman</vt:lpstr>
      <vt:lpstr>Wingdings</vt:lpstr>
      <vt:lpstr>Wingdings 2</vt:lpstr>
      <vt:lpstr>Pixel</vt:lpstr>
      <vt:lpstr>MathType 6.0 Equation</vt:lpstr>
      <vt:lpstr>Equation</vt:lpstr>
      <vt:lpstr>公式</vt:lpstr>
      <vt:lpstr>Microsoft 公式 3.0</vt:lpstr>
      <vt:lpstr>Microsoft Equation 3.0</vt:lpstr>
      <vt:lpstr>第 3 章 模糊关系与聚类分析</vt:lpstr>
      <vt:lpstr>F关系的合成</vt:lpstr>
      <vt:lpstr>F关系合成的性质(4)</vt:lpstr>
      <vt:lpstr>PowerPoint 演示文稿</vt:lpstr>
      <vt:lpstr>PowerPoint 演示文稿</vt:lpstr>
      <vt:lpstr>[性质6]的证明：( Q◦R )T = RT◦QT </vt:lpstr>
      <vt:lpstr>3.6  F关系的传递性</vt:lpstr>
      <vt:lpstr>F关系的传递性举例1</vt:lpstr>
      <vt:lpstr>[定理1]R是传递的F关系的充要条件是RR2</vt:lpstr>
      <vt:lpstr>[定理1]R是传递的F关系的充要条件是RR2</vt:lpstr>
      <vt:lpstr>F关系的传递性举例1</vt:lpstr>
      <vt:lpstr>R的传递闭包</vt:lpstr>
      <vt:lpstr>普通二元关系幂的运算</vt:lpstr>
      <vt:lpstr>求R的传递闭包举例[P74例2]</vt:lpstr>
      <vt:lpstr>具有自反关系的传递闭包</vt:lpstr>
      <vt:lpstr>普通集合的等价关系</vt:lpstr>
      <vt:lpstr>A上的模3等价关系</vt:lpstr>
      <vt:lpstr>3.7  F等价关系及聚类图</vt:lpstr>
      <vt:lpstr>R是否为F等价矩阵？</vt:lpstr>
      <vt:lpstr>F等价矩阵的基本定理</vt:lpstr>
      <vt:lpstr>F等价矩阵的基本定理</vt:lpstr>
      <vt:lpstr>[P75例1]求R的动态聚类图</vt:lpstr>
      <vt:lpstr>[P75例1]求R的动态聚类图</vt:lpstr>
      <vt:lpstr>[P75例1]求R的动态聚类图</vt:lpstr>
      <vt:lpstr>[P75例1]求R的动态聚类图</vt:lpstr>
      <vt:lpstr>[P75例1]求R的动态聚类图</vt:lpstr>
      <vt:lpstr>[P75例1]求R的动态聚类图</vt:lpstr>
      <vt:lpstr>[P75例1]求R的动态聚类图</vt:lpstr>
      <vt:lpstr>F等价矩阵的基本定理</vt:lpstr>
      <vt:lpstr>3.8     F相似关系</vt:lpstr>
      <vt:lpstr>F相似矩阵的性质</vt:lpstr>
      <vt:lpstr>F相似矩阵的性质</vt:lpstr>
      <vt:lpstr>平方法求传递闭包</vt:lpstr>
      <vt:lpstr>将相似矩阵改造为等价矩阵举例</vt:lpstr>
      <vt:lpstr>3.9    聚类分析</vt:lpstr>
      <vt:lpstr>聚类与模式分类的区别</vt:lpstr>
      <vt:lpstr>聚类分析的方法</vt:lpstr>
      <vt:lpstr>数据矩阵</vt:lpstr>
      <vt:lpstr>数据归一化处理的作用</vt:lpstr>
      <vt:lpstr>数据的变换处理</vt:lpstr>
      <vt:lpstr>数据的变换处理</vt:lpstr>
      <vt:lpstr>相似系数和距离</vt:lpstr>
      <vt:lpstr>定义距离的准则</vt:lpstr>
      <vt:lpstr>常用距离的算法</vt:lpstr>
      <vt:lpstr>绝对值距离(曼哈顿距离)实例</vt:lpstr>
      <vt:lpstr>欧氏距离实例</vt:lpstr>
      <vt:lpstr>常用距离的算法</vt:lpstr>
      <vt:lpstr>常用距离的算法</vt:lpstr>
      <vt:lpstr>相似系数</vt:lpstr>
      <vt:lpstr>相似系数</vt:lpstr>
      <vt:lpstr>距离和相似系数选择的原则</vt:lpstr>
      <vt:lpstr>距离和相似系数选择的原则</vt:lpstr>
      <vt:lpstr> 至此，我们已经可以根据所选择的距离构成样本点间的距离表</vt:lpstr>
      <vt:lpstr>将n个样本各作为一类</vt:lpstr>
      <vt:lpstr> 类与类之间的距离</vt:lpstr>
      <vt:lpstr>  样本数据与小类、小类与小类之间的度量</vt:lpstr>
      <vt:lpstr> 样本数据与小类、小类与小类之间的度量</vt:lpstr>
      <vt:lpstr> 样本数据与小类、小类与小类之间的度量</vt:lpstr>
      <vt:lpstr>系统聚类方法</vt:lpstr>
      <vt:lpstr>系统聚类方法 常用的种类</vt:lpstr>
      <vt:lpstr>系统聚类方法 常用的种类</vt:lpstr>
      <vt:lpstr>最短距离法的递推公式</vt:lpstr>
      <vt:lpstr>系统聚类方法 常用的种类</vt:lpstr>
      <vt:lpstr>系统聚类方法 常用的种类</vt:lpstr>
      <vt:lpstr>系统聚类方法 常用的种类</vt:lpstr>
      <vt:lpstr>系统聚类方法 常用的种类</vt:lpstr>
      <vt:lpstr>最长距离法的递推公式</vt:lpstr>
      <vt:lpstr>系统聚类方法 常用的种类</vt:lpstr>
      <vt:lpstr>系统聚类方法 常用的种类</vt:lpstr>
      <vt:lpstr>系统聚类方法 常用的种类</vt:lpstr>
      <vt:lpstr>中间距离法的递推公式</vt:lpstr>
      <vt:lpstr>PowerPoint 演示文稿</vt:lpstr>
      <vt:lpstr>系统聚类方法 常用的种类</vt:lpstr>
      <vt:lpstr>系统聚类方法 常用的种类</vt:lpstr>
      <vt:lpstr>系统聚类方法 确定类的个数 </vt:lpstr>
      <vt:lpstr>PowerPoint 演示文稿</vt:lpstr>
      <vt:lpstr>PowerPoint 演示文稿</vt:lpstr>
      <vt:lpstr>作业</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3 章 模糊关系与聚类分析</dc:title>
  <dc:creator>凌卫新</dc:creator>
  <cp:lastModifiedBy>wxling66@outlook.com</cp:lastModifiedBy>
  <cp:revision>292</cp:revision>
  <cp:lastPrinted>2015-04-13T16:35:53Z</cp:lastPrinted>
  <dcterms:created xsi:type="dcterms:W3CDTF">2008-04-06T02:25:44Z</dcterms:created>
  <dcterms:modified xsi:type="dcterms:W3CDTF">2026-04-14T10:01:05Z</dcterms:modified>
</cp:coreProperties>
</file>