
<file path=[Content_Types].xml><?xml version="1.0" encoding="utf-8"?>
<Types xmlns="http://schemas.openxmlformats.org/package/2006/content-types">
  <Default Extension="bin" ContentType="application/vnd.openxmlformats-officedocument.oleObject"/>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theme/themeOverride1.xml" ContentType="application/vnd.openxmlformats-officedocument.themeOverride+xml"/>
  <Override PartName="/ppt/notesSlides/notesSlide3.xml" ContentType="application/vnd.openxmlformats-officedocument.presentationml.notesSlide+xml"/>
  <Override PartName="/ppt/theme/themeOverride2.xml" ContentType="application/vnd.openxmlformats-officedocument.themeOverr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theme/themeOverride3.xml" ContentType="application/vnd.openxmlformats-officedocument.themeOverr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theme/themeOverride4.xml" ContentType="application/vnd.openxmlformats-officedocument.themeOverr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theme/themeOverride5.xml" ContentType="application/vnd.openxmlformats-officedocument.themeOverride+xml"/>
  <Override PartName="/ppt/notesSlides/notesSlide10.xml" ContentType="application/vnd.openxmlformats-officedocument.presentationml.notesSlide+xml"/>
  <Override PartName="/ppt/theme/themeOverride6.xml" ContentType="application/vnd.openxmlformats-officedocument.themeOverr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9" r:id="rId1"/>
  </p:sldMasterIdLst>
  <p:notesMasterIdLst>
    <p:notesMasterId r:id="rId39"/>
  </p:notesMasterIdLst>
  <p:handoutMasterIdLst>
    <p:handoutMasterId r:id="rId40"/>
  </p:handoutMasterIdLst>
  <p:sldIdLst>
    <p:sldId id="339" r:id="rId2"/>
    <p:sldId id="285" r:id="rId3"/>
    <p:sldId id="286" r:id="rId4"/>
    <p:sldId id="287" r:id="rId5"/>
    <p:sldId id="288" r:id="rId6"/>
    <p:sldId id="340" r:id="rId7"/>
    <p:sldId id="289" r:id="rId8"/>
    <p:sldId id="293" r:id="rId9"/>
    <p:sldId id="294" r:id="rId10"/>
    <p:sldId id="295" r:id="rId11"/>
    <p:sldId id="296" r:id="rId12"/>
    <p:sldId id="290" r:id="rId13"/>
    <p:sldId id="292" r:id="rId14"/>
    <p:sldId id="291" r:id="rId15"/>
    <p:sldId id="297" r:id="rId16"/>
    <p:sldId id="310" r:id="rId17"/>
    <p:sldId id="383" r:id="rId18"/>
    <p:sldId id="331" r:id="rId19"/>
    <p:sldId id="332" r:id="rId20"/>
    <p:sldId id="333" r:id="rId21"/>
    <p:sldId id="334" r:id="rId22"/>
    <p:sldId id="384" r:id="rId23"/>
    <p:sldId id="299" r:id="rId24"/>
    <p:sldId id="385" r:id="rId25"/>
    <p:sldId id="386" r:id="rId26"/>
    <p:sldId id="387" r:id="rId27"/>
    <p:sldId id="303" r:id="rId28"/>
    <p:sldId id="304" r:id="rId29"/>
    <p:sldId id="305" r:id="rId30"/>
    <p:sldId id="306" r:id="rId31"/>
    <p:sldId id="342" r:id="rId32"/>
    <p:sldId id="343" r:id="rId33"/>
    <p:sldId id="344" r:id="rId34"/>
    <p:sldId id="345" r:id="rId35"/>
    <p:sldId id="346" r:id="rId36"/>
    <p:sldId id="347" r:id="rId37"/>
    <p:sldId id="348" r:id="rId38"/>
  </p:sldIdLst>
  <p:sldSz cx="12192000" cy="6858000"/>
  <p:notesSz cx="6858000" cy="9144000"/>
  <p:defaultTextStyle>
    <a:defPPr>
      <a:defRPr lang="zh-CN"/>
    </a:defPPr>
    <a:lvl1pPr algn="l" rtl="0" fontAlgn="base">
      <a:spcBef>
        <a:spcPct val="0"/>
      </a:spcBef>
      <a:spcAft>
        <a:spcPct val="0"/>
      </a:spcAft>
      <a:defRPr kern="1200">
        <a:solidFill>
          <a:schemeClr val="tx1"/>
        </a:solidFill>
        <a:latin typeface="Arial" charset="0"/>
        <a:ea typeface="宋体" pitchFamily="2" charset="-122"/>
        <a:cs typeface="+mn-cs"/>
      </a:defRPr>
    </a:lvl1pPr>
    <a:lvl2pPr marL="457200" algn="l" rtl="0" fontAlgn="base">
      <a:spcBef>
        <a:spcPct val="0"/>
      </a:spcBef>
      <a:spcAft>
        <a:spcPct val="0"/>
      </a:spcAft>
      <a:defRPr kern="1200">
        <a:solidFill>
          <a:schemeClr val="tx1"/>
        </a:solidFill>
        <a:latin typeface="Arial" charset="0"/>
        <a:ea typeface="宋体" pitchFamily="2" charset="-122"/>
        <a:cs typeface="+mn-cs"/>
      </a:defRPr>
    </a:lvl2pPr>
    <a:lvl3pPr marL="914400" algn="l" rtl="0" fontAlgn="base">
      <a:spcBef>
        <a:spcPct val="0"/>
      </a:spcBef>
      <a:spcAft>
        <a:spcPct val="0"/>
      </a:spcAft>
      <a:defRPr kern="1200">
        <a:solidFill>
          <a:schemeClr val="tx1"/>
        </a:solidFill>
        <a:latin typeface="Arial" charset="0"/>
        <a:ea typeface="宋体" pitchFamily="2" charset="-122"/>
        <a:cs typeface="+mn-cs"/>
      </a:defRPr>
    </a:lvl3pPr>
    <a:lvl4pPr marL="1371600" algn="l" rtl="0" fontAlgn="base">
      <a:spcBef>
        <a:spcPct val="0"/>
      </a:spcBef>
      <a:spcAft>
        <a:spcPct val="0"/>
      </a:spcAft>
      <a:defRPr kern="1200">
        <a:solidFill>
          <a:schemeClr val="tx1"/>
        </a:solidFill>
        <a:latin typeface="Arial" charset="0"/>
        <a:ea typeface="宋体" pitchFamily="2" charset="-122"/>
        <a:cs typeface="+mn-cs"/>
      </a:defRPr>
    </a:lvl4pPr>
    <a:lvl5pPr marL="1828800" algn="l" rtl="0" fontAlgn="base">
      <a:spcBef>
        <a:spcPct val="0"/>
      </a:spcBef>
      <a:spcAft>
        <a:spcPct val="0"/>
      </a:spcAft>
      <a:defRPr kern="1200">
        <a:solidFill>
          <a:schemeClr val="tx1"/>
        </a:solidFill>
        <a:latin typeface="Arial" charset="0"/>
        <a:ea typeface="宋体" pitchFamily="2" charset="-122"/>
        <a:cs typeface="+mn-cs"/>
      </a:defRPr>
    </a:lvl5pPr>
    <a:lvl6pPr marL="2286000" algn="l" defTabSz="914400" rtl="0" eaLnBrk="1" latinLnBrk="0" hangingPunct="1">
      <a:defRPr kern="1200">
        <a:solidFill>
          <a:schemeClr val="tx1"/>
        </a:solidFill>
        <a:latin typeface="Arial" charset="0"/>
        <a:ea typeface="宋体" pitchFamily="2" charset="-122"/>
        <a:cs typeface="+mn-cs"/>
      </a:defRPr>
    </a:lvl6pPr>
    <a:lvl7pPr marL="2743200" algn="l" defTabSz="914400" rtl="0" eaLnBrk="1" latinLnBrk="0" hangingPunct="1">
      <a:defRPr kern="1200">
        <a:solidFill>
          <a:schemeClr val="tx1"/>
        </a:solidFill>
        <a:latin typeface="Arial" charset="0"/>
        <a:ea typeface="宋体" pitchFamily="2" charset="-122"/>
        <a:cs typeface="+mn-cs"/>
      </a:defRPr>
    </a:lvl7pPr>
    <a:lvl8pPr marL="3200400" algn="l" defTabSz="914400" rtl="0" eaLnBrk="1" latinLnBrk="0" hangingPunct="1">
      <a:defRPr kern="1200">
        <a:solidFill>
          <a:schemeClr val="tx1"/>
        </a:solidFill>
        <a:latin typeface="Arial" charset="0"/>
        <a:ea typeface="宋体" pitchFamily="2" charset="-122"/>
        <a:cs typeface="+mn-cs"/>
      </a:defRPr>
    </a:lvl8pPr>
    <a:lvl9pPr marL="3657600" algn="l" defTabSz="914400" rtl="0" eaLnBrk="1" latinLnBrk="0" hangingPunct="1">
      <a:defRPr kern="1200">
        <a:solidFill>
          <a:schemeClr val="tx1"/>
        </a:solidFill>
        <a:latin typeface="Arial" charset="0"/>
        <a:ea typeface="宋体" pitchFamily="2" charset="-122"/>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CC00CC"/>
    <a:srgbClr val="FF0000"/>
    <a:srgbClr val="FFFFCC"/>
    <a:srgbClr val="3333FF"/>
    <a:srgbClr val="008000"/>
    <a:srgbClr val="33CCFF"/>
    <a:srgbClr val="FF0066"/>
    <a:srgbClr val="CCFF99"/>
    <a:srgbClr val="FFCCFF"/>
    <a:srgbClr val="CC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SorterView">
  <p:normalViewPr>
    <p:restoredLeft sz="15620"/>
    <p:restoredTop sz="94660"/>
  </p:normalViewPr>
  <p:slideViewPr>
    <p:cSldViewPr>
      <p:cViewPr varScale="1">
        <p:scale>
          <a:sx n="58" d="100"/>
          <a:sy n="58" d="100"/>
        </p:scale>
        <p:origin x="96" y="354"/>
      </p:cViewPr>
      <p:guideLst>
        <p:guide orient="horz" pos="2160"/>
        <p:guide pos="3840"/>
      </p:guideLst>
    </p:cSldViewPr>
  </p:slideViewPr>
  <p:notesTextViewPr>
    <p:cViewPr>
      <p:scale>
        <a:sx n="100" d="100"/>
        <a:sy n="100" d="100"/>
      </p:scale>
      <p:origin x="0" y="0"/>
    </p:cViewPr>
  </p:notesTextViewPr>
  <p:sorterViewPr>
    <p:cViewPr>
      <p:scale>
        <a:sx n="90" d="100"/>
        <a:sy n="90" d="100"/>
      </p:scale>
      <p:origin x="0" y="-1338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notesMaster" Target="notesMasters/notesMaster1.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handoutMaster" Target="handoutMasters/handout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9874" name="Rectangle 2"/>
          <p:cNvSpPr>
            <a:spLocks noGrp="1" noChangeArrowheads="1"/>
          </p:cNvSpPr>
          <p:nvPr>
            <p:ph type="hdr" sz="quarte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defRPr sz="1200"/>
            </a:lvl1pPr>
          </a:lstStyle>
          <a:p>
            <a:pPr>
              <a:defRPr/>
            </a:pPr>
            <a:endParaRPr lang="en-US" altLang="zh-CN"/>
          </a:p>
        </p:txBody>
      </p:sp>
      <p:sp>
        <p:nvSpPr>
          <p:cNvPr id="79875" name="Rectangle 3"/>
          <p:cNvSpPr>
            <a:spLocks noGrp="1" noChangeArrowheads="1"/>
          </p:cNvSpPr>
          <p:nvPr>
            <p:ph type="dt" sz="quarter" idx="1"/>
          </p:nvPr>
        </p:nvSpPr>
        <p:spPr bwMode="auto">
          <a:xfrm>
            <a:off x="3884613"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defRPr sz="1200"/>
            </a:lvl1pPr>
          </a:lstStyle>
          <a:p>
            <a:pPr>
              <a:defRPr/>
            </a:pPr>
            <a:endParaRPr lang="en-US" altLang="zh-CN"/>
          </a:p>
        </p:txBody>
      </p:sp>
      <p:sp>
        <p:nvSpPr>
          <p:cNvPr id="79876" name="Rectangle 4"/>
          <p:cNvSpPr>
            <a:spLocks noGrp="1" noChangeArrowheads="1"/>
          </p:cNvSpPr>
          <p:nvPr>
            <p:ph type="ftr" sz="quarter" idx="2"/>
          </p:nvPr>
        </p:nvSpPr>
        <p:spPr bwMode="auto">
          <a:xfrm>
            <a:off x="0"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defRPr sz="1200"/>
            </a:lvl1pPr>
          </a:lstStyle>
          <a:p>
            <a:pPr>
              <a:defRPr/>
            </a:pPr>
            <a:endParaRPr lang="en-US" altLang="zh-CN"/>
          </a:p>
        </p:txBody>
      </p:sp>
      <p:sp>
        <p:nvSpPr>
          <p:cNvPr id="79877" name="Rectangle 5"/>
          <p:cNvSpPr>
            <a:spLocks noGrp="1" noChangeArrowheads="1"/>
          </p:cNvSpPr>
          <p:nvPr>
            <p:ph type="sldNum" sz="quarter" idx="3"/>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a:defRPr sz="1200"/>
            </a:lvl1pPr>
          </a:lstStyle>
          <a:p>
            <a:pPr>
              <a:defRPr/>
            </a:pPr>
            <a:fld id="{7A16C515-5038-4F29-9793-72B23A8885FB}" type="slidenum">
              <a:rPr lang="en-US" altLang="zh-CN"/>
              <a:pPr>
                <a:defRPr/>
              </a:pPr>
              <a:t>‹#›</a:t>
            </a:fld>
            <a:endParaRPr lang="en-US" altLang="zh-CN"/>
          </a:p>
        </p:txBody>
      </p:sp>
    </p:spTree>
    <p:extLst>
      <p:ext uri="{BB962C8B-B14F-4D97-AF65-F5344CB8AC3E}">
        <p14:creationId xmlns:p14="http://schemas.microsoft.com/office/powerpoint/2010/main" val="358829617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1266" name="Rectangle 2"/>
          <p:cNvSpPr>
            <a:spLocks noGrp="1" noChangeArrowheads="1"/>
          </p:cNvSpPr>
          <p:nvPr>
            <p:ph type="hdr" sz="quarte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defRPr sz="1200"/>
            </a:lvl1pPr>
          </a:lstStyle>
          <a:p>
            <a:pPr>
              <a:defRPr/>
            </a:pPr>
            <a:endParaRPr lang="en-US" altLang="zh-CN"/>
          </a:p>
        </p:txBody>
      </p:sp>
      <p:sp>
        <p:nvSpPr>
          <p:cNvPr id="11267" name="Rectangle 3"/>
          <p:cNvSpPr>
            <a:spLocks noGrp="1" noChangeArrowheads="1"/>
          </p:cNvSpPr>
          <p:nvPr>
            <p:ph type="dt" idx="1"/>
          </p:nvPr>
        </p:nvSpPr>
        <p:spPr bwMode="auto">
          <a:xfrm>
            <a:off x="3884613"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defRPr sz="1200"/>
            </a:lvl1pPr>
          </a:lstStyle>
          <a:p>
            <a:pPr>
              <a:defRPr/>
            </a:pPr>
            <a:endParaRPr lang="en-US" altLang="zh-CN"/>
          </a:p>
        </p:txBody>
      </p:sp>
      <p:sp>
        <p:nvSpPr>
          <p:cNvPr id="65540" name="Rectangle 4"/>
          <p:cNvSpPr>
            <a:spLocks noGrp="1" noRot="1" noChangeAspect="1" noChangeArrowheads="1" noTextEdit="1"/>
          </p:cNvSpPr>
          <p:nvPr>
            <p:ph type="sldImg" idx="2"/>
          </p:nvPr>
        </p:nvSpPr>
        <p:spPr bwMode="auto">
          <a:xfrm>
            <a:off x="381000" y="685800"/>
            <a:ext cx="6096000" cy="3429000"/>
          </a:xfrm>
          <a:prstGeom prst="rect">
            <a:avLst/>
          </a:prstGeom>
          <a:noFill/>
          <a:ln w="9525">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11269" name="Rectangle 5"/>
          <p:cNvSpPr>
            <a:spLocks noGrp="1" noChangeArrowheads="1"/>
          </p:cNvSpPr>
          <p:nvPr>
            <p:ph type="body" sz="quarter" idx="3"/>
          </p:nvPr>
        </p:nvSpPr>
        <p:spPr bwMode="auto">
          <a:xfrm>
            <a:off x="685800" y="4343400"/>
            <a:ext cx="54864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p>
        </p:txBody>
      </p:sp>
      <p:sp>
        <p:nvSpPr>
          <p:cNvPr id="11270" name="Rectangle 6"/>
          <p:cNvSpPr>
            <a:spLocks noGrp="1" noChangeArrowheads="1"/>
          </p:cNvSpPr>
          <p:nvPr>
            <p:ph type="ftr" sz="quarter" idx="4"/>
          </p:nvPr>
        </p:nvSpPr>
        <p:spPr bwMode="auto">
          <a:xfrm>
            <a:off x="0"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defRPr sz="1200"/>
            </a:lvl1pPr>
          </a:lstStyle>
          <a:p>
            <a:pPr>
              <a:defRPr/>
            </a:pPr>
            <a:endParaRPr lang="en-US" altLang="zh-CN"/>
          </a:p>
        </p:txBody>
      </p:sp>
      <p:sp>
        <p:nvSpPr>
          <p:cNvPr id="11271" name="Rectangle 7"/>
          <p:cNvSpPr>
            <a:spLocks noGrp="1" noChangeArrowheads="1"/>
          </p:cNvSpPr>
          <p:nvPr>
            <p:ph type="sldNum" sz="quarter" idx="5"/>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a:defRPr sz="1200"/>
            </a:lvl1pPr>
          </a:lstStyle>
          <a:p>
            <a:pPr>
              <a:defRPr/>
            </a:pPr>
            <a:fld id="{ED33F81A-6228-4033-8C95-C4667528DA50}" type="slidenum">
              <a:rPr lang="en-US" altLang="zh-CN"/>
              <a:pPr>
                <a:defRPr/>
              </a:pPr>
              <a:t>‹#›</a:t>
            </a:fld>
            <a:endParaRPr lang="en-US" altLang="zh-CN"/>
          </a:p>
        </p:txBody>
      </p:sp>
    </p:spTree>
    <p:extLst>
      <p:ext uri="{BB962C8B-B14F-4D97-AF65-F5344CB8AC3E}">
        <p14:creationId xmlns:p14="http://schemas.microsoft.com/office/powerpoint/2010/main" val="1213802602"/>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charset="0"/>
        <a:ea typeface="宋体" pitchFamily="2" charset="-122"/>
        <a:cs typeface="+mn-cs"/>
      </a:defRPr>
    </a:lvl1pPr>
    <a:lvl2pPr marL="457200" algn="l" rtl="0" eaLnBrk="0" fontAlgn="base" hangingPunct="0">
      <a:spcBef>
        <a:spcPct val="30000"/>
      </a:spcBef>
      <a:spcAft>
        <a:spcPct val="0"/>
      </a:spcAft>
      <a:defRPr sz="1200" kern="1200">
        <a:solidFill>
          <a:schemeClr val="tx1"/>
        </a:solidFill>
        <a:latin typeface="Arial" charset="0"/>
        <a:ea typeface="宋体" pitchFamily="2" charset="-122"/>
        <a:cs typeface="+mn-cs"/>
      </a:defRPr>
    </a:lvl2pPr>
    <a:lvl3pPr marL="914400" algn="l" rtl="0" eaLnBrk="0" fontAlgn="base" hangingPunct="0">
      <a:spcBef>
        <a:spcPct val="30000"/>
      </a:spcBef>
      <a:spcAft>
        <a:spcPct val="0"/>
      </a:spcAft>
      <a:defRPr sz="1200" kern="1200">
        <a:solidFill>
          <a:schemeClr val="tx1"/>
        </a:solidFill>
        <a:latin typeface="Arial" charset="0"/>
        <a:ea typeface="宋体" pitchFamily="2" charset="-122"/>
        <a:cs typeface="+mn-cs"/>
      </a:defRPr>
    </a:lvl3pPr>
    <a:lvl4pPr marL="1371600" algn="l" rtl="0" eaLnBrk="0" fontAlgn="base" hangingPunct="0">
      <a:spcBef>
        <a:spcPct val="30000"/>
      </a:spcBef>
      <a:spcAft>
        <a:spcPct val="0"/>
      </a:spcAft>
      <a:defRPr sz="1200" kern="1200">
        <a:solidFill>
          <a:schemeClr val="tx1"/>
        </a:solidFill>
        <a:latin typeface="Arial" charset="0"/>
        <a:ea typeface="宋体" pitchFamily="2" charset="-122"/>
        <a:cs typeface="+mn-cs"/>
      </a:defRPr>
    </a:lvl4pPr>
    <a:lvl5pPr marL="1828800" algn="l" rtl="0" eaLnBrk="0" fontAlgn="base" hangingPunct="0">
      <a:spcBef>
        <a:spcPct val="30000"/>
      </a:spcBef>
      <a:spcAft>
        <a:spcPct val="0"/>
      </a:spcAft>
      <a:defRPr sz="1200" kern="1200">
        <a:solidFill>
          <a:schemeClr val="tx1"/>
        </a:solidFill>
        <a:latin typeface="Arial" charset="0"/>
        <a:ea typeface="宋体"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3" Type="http://schemas.openxmlformats.org/officeDocument/2006/relationships/slide" Target="../slides/slide7.xml"/><Relationship Id="rId2" Type="http://schemas.openxmlformats.org/officeDocument/2006/relationships/notesMaster" Target="../notesMasters/notesMaster1.xml"/><Relationship Id="rId1" Type="http://schemas.openxmlformats.org/officeDocument/2006/relationships/themeOverride" Target="../theme/themeOverride1.xml"/></Relationships>
</file>

<file path=ppt/notesSlides/_rels/notesSlide3.xml.rels><?xml version="1.0" encoding="UTF-8" standalone="yes"?>
<Relationships xmlns="http://schemas.openxmlformats.org/package/2006/relationships"><Relationship Id="rId3" Type="http://schemas.openxmlformats.org/officeDocument/2006/relationships/slide" Target="../slides/slide12.xml"/><Relationship Id="rId2" Type="http://schemas.openxmlformats.org/officeDocument/2006/relationships/notesMaster" Target="../notesMasters/notesMaster1.xml"/><Relationship Id="rId1" Type="http://schemas.openxmlformats.org/officeDocument/2006/relationships/themeOverride" Target="../theme/themeOverride2.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3" Type="http://schemas.openxmlformats.org/officeDocument/2006/relationships/slide" Target="../slides/slide27.xml"/><Relationship Id="rId2" Type="http://schemas.openxmlformats.org/officeDocument/2006/relationships/notesMaster" Target="../notesMasters/notesMaster1.xml"/><Relationship Id="rId1" Type="http://schemas.openxmlformats.org/officeDocument/2006/relationships/themeOverride" Target="../theme/themeOverride3.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3" Type="http://schemas.openxmlformats.org/officeDocument/2006/relationships/slide" Target="../slides/slide31.xml"/><Relationship Id="rId2" Type="http://schemas.openxmlformats.org/officeDocument/2006/relationships/notesMaster" Target="../notesMasters/notesMaster1.xml"/><Relationship Id="rId1" Type="http://schemas.openxmlformats.org/officeDocument/2006/relationships/themeOverride" Target="../theme/themeOverride4.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3" Type="http://schemas.openxmlformats.org/officeDocument/2006/relationships/slide" Target="../slides/slide36.xml"/><Relationship Id="rId2" Type="http://schemas.openxmlformats.org/officeDocument/2006/relationships/notesMaster" Target="../notesMasters/notesMaster1.xml"/><Relationship Id="rId1" Type="http://schemas.openxmlformats.org/officeDocument/2006/relationships/themeOverride" Target="../theme/themeOverride5.xml"/></Relationships>
</file>

<file path=ppt/notesSlides/_rels/notesSlide10.xml.rels><?xml version="1.0" encoding="UTF-8" standalone="yes"?>
<Relationships xmlns="http://schemas.openxmlformats.org/package/2006/relationships"><Relationship Id="rId3" Type="http://schemas.openxmlformats.org/officeDocument/2006/relationships/slide" Target="../slides/slide37.xml"/><Relationship Id="rId2" Type="http://schemas.openxmlformats.org/officeDocument/2006/relationships/notesMaster" Target="../notesMasters/notesMaster1.xml"/><Relationship Id="rId1" Type="http://schemas.openxmlformats.org/officeDocument/2006/relationships/themeOverride" Target="../theme/themeOverride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ED33F81A-6228-4033-8C95-C4667528DA50}" type="slidenum">
              <a:rPr lang="en-US" altLang="zh-CN" smtClean="0"/>
              <a:pPr>
                <a:defRPr/>
              </a:pPr>
              <a:t>2</a:t>
            </a:fld>
            <a:endParaRPr lang="en-US" altLang="zh-CN"/>
          </a:p>
        </p:txBody>
      </p:sp>
    </p:spTree>
    <p:extLst>
      <p:ext uri="{BB962C8B-B14F-4D97-AF65-F5344CB8AC3E}">
        <p14:creationId xmlns:p14="http://schemas.microsoft.com/office/powerpoint/2010/main" val="89771353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p:cSld>
    <p:bg bwMode="auto">
      <p:bgPr>
        <a:solidFill>
          <a:srgbClr val="FFFFFF"/>
        </a:solidFill>
        <a:effectLst/>
      </p:bgPr>
    </p:bg>
    <p:spTree>
      <p:nvGrpSpPr>
        <p:cNvPr id="1" name=""/>
        <p:cNvGrpSpPr/>
        <p:nvPr/>
      </p:nvGrpSpPr>
      <p:grpSpPr>
        <a:xfrm>
          <a:off x="0" y="0"/>
          <a:ext cx="0" cy="0"/>
          <a:chOff x="0" y="0"/>
          <a:chExt cx="0" cy="0"/>
        </a:xfrm>
      </p:grpSpPr>
      <p:sp>
        <p:nvSpPr>
          <p:cNvPr id="10242" name="Rectangle 7"/>
          <p:cNvSpPr txBox="1">
            <a:spLocks noGrp="1" noChangeArrowheads="1"/>
          </p:cNvSpPr>
          <p:nvPr/>
        </p:nvSpPr>
        <p:spPr bwMode="auto">
          <a:xfrm>
            <a:off x="3778250" y="9429750"/>
            <a:ext cx="2889250" cy="496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r" eaLnBrk="1" hangingPunct="1"/>
            <a:fld id="{BA4DC0E2-E192-4A60-94CF-56A2A530E1C6}" type="slidenum">
              <a:rPr lang="en-US" altLang="zh-CN" sz="1200"/>
              <a:pPr algn="r" eaLnBrk="1" hangingPunct="1"/>
              <a:t>7</a:t>
            </a:fld>
            <a:endParaRPr lang="en-US" altLang="zh-CN" sz="1200"/>
          </a:p>
        </p:txBody>
      </p:sp>
      <p:sp>
        <p:nvSpPr>
          <p:cNvPr id="10243" name="Rectangle 2"/>
          <p:cNvSpPr>
            <a:spLocks noGrp="1" noRot="1" noChangeAspect="1" noChangeArrowheads="1" noTextEdit="1"/>
          </p:cNvSpPr>
          <p:nvPr>
            <p:ph type="sldImg"/>
          </p:nvPr>
        </p:nvSpPr>
        <p:spPr>
          <a:xfrm>
            <a:off x="26988" y="744538"/>
            <a:ext cx="6615112" cy="3722687"/>
          </a:xfrm>
        </p:spPr>
      </p:sp>
      <p:sp>
        <p:nvSpPr>
          <p:cNvPr id="10244" name="Rectangle 3"/>
          <p:cNvSpPr>
            <a:spLocks noGrp="1" noChangeArrowheads="1"/>
          </p:cNvSpPr>
          <p:nvPr>
            <p:ph type="body" idx="1"/>
          </p:nvPr>
        </p:nvSpPr>
        <p:spPr/>
        <p:txBody>
          <a:bodyPr anchor="t"/>
          <a:lstStyle/>
          <a:p>
            <a:pPr eaLnBrk="1" hangingPunct="1"/>
            <a:r>
              <a:rPr lang="zh-CN" altLang="en-US"/>
              <a:t>执行这五种去</a:t>
            </a:r>
            <a:r>
              <a:rPr lang="en-US" altLang="zh-CN"/>
              <a:t>F</a:t>
            </a:r>
            <a:r>
              <a:rPr lang="zh-CN" altLang="en-US"/>
              <a:t>化运算的任何一种所需的计算都是很费时的，除非有特别的硬件支持。而且这些去</a:t>
            </a:r>
            <a:r>
              <a:rPr lang="en-US" altLang="zh-CN"/>
              <a:t>F</a:t>
            </a:r>
            <a:r>
              <a:rPr lang="zh-CN" altLang="en-US"/>
              <a:t>化运算不易进行严格的数学分析，因此研究大多是建立在实验结果上。这导致一些完全不需要去</a:t>
            </a:r>
            <a:r>
              <a:rPr lang="en-US" altLang="zh-CN"/>
              <a:t>F</a:t>
            </a:r>
            <a:r>
              <a:rPr lang="zh-CN" altLang="en-US"/>
              <a:t>化的其它</a:t>
            </a:r>
            <a:r>
              <a:rPr lang="en-US" altLang="zh-CN"/>
              <a:t>F</a:t>
            </a:r>
            <a:r>
              <a:rPr lang="zh-CN" altLang="en-US"/>
              <a:t>推理系统的提出。如后面介绍的两个系统</a:t>
            </a:r>
          </a:p>
        </p:txBody>
      </p:sp>
    </p:spTree>
    <p:extLst>
      <p:ext uri="{BB962C8B-B14F-4D97-AF65-F5344CB8AC3E}">
        <p14:creationId xmlns:p14="http://schemas.microsoft.com/office/powerpoint/2010/main" val="4182243326"/>
      </p:ext>
    </p:extLst>
  </p:cSld>
  <p:clrMapOvr>
    <a:overrideClrMapping bg1="lt1" tx1="dk1" bg2="lt2" tx2="dk2" accent1="accent1" accent2="accent2" accent3="accent3" accent4="accent4" accent5="accent5" accent6="accent6" hlink="hlink" folHlink="folHlink"/>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p:cSld>
    <p:bg bwMode="auto">
      <p:bgPr>
        <a:solidFill>
          <a:srgbClr val="FFFFFF"/>
        </a:solidFill>
        <a:effectLst/>
      </p:bgPr>
    </p:bg>
    <p:spTree>
      <p:nvGrpSpPr>
        <p:cNvPr id="1" name=""/>
        <p:cNvGrpSpPr/>
        <p:nvPr/>
      </p:nvGrpSpPr>
      <p:grpSpPr>
        <a:xfrm>
          <a:off x="0" y="0"/>
          <a:ext cx="0" cy="0"/>
          <a:chOff x="0" y="0"/>
          <a:chExt cx="0" cy="0"/>
        </a:xfrm>
      </p:grpSpPr>
      <p:sp>
        <p:nvSpPr>
          <p:cNvPr id="16386" name="Rectangle 7"/>
          <p:cNvSpPr txBox="1">
            <a:spLocks noGrp="1" noChangeArrowheads="1"/>
          </p:cNvSpPr>
          <p:nvPr/>
        </p:nvSpPr>
        <p:spPr bwMode="auto">
          <a:xfrm>
            <a:off x="3778250" y="9429750"/>
            <a:ext cx="2889250" cy="496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r" eaLnBrk="1" hangingPunct="1"/>
            <a:fld id="{3A7F08B1-C49F-4672-ADBA-0053D483A3E9}" type="slidenum">
              <a:rPr lang="en-US" altLang="zh-CN" sz="1200"/>
              <a:pPr algn="r" eaLnBrk="1" hangingPunct="1"/>
              <a:t>12</a:t>
            </a:fld>
            <a:endParaRPr lang="en-US" altLang="zh-CN" sz="1200"/>
          </a:p>
        </p:txBody>
      </p:sp>
      <p:sp>
        <p:nvSpPr>
          <p:cNvPr id="16387" name="Rectangle 2"/>
          <p:cNvSpPr>
            <a:spLocks noGrp="1" noRot="1" noChangeAspect="1" noChangeArrowheads="1" noTextEdit="1"/>
          </p:cNvSpPr>
          <p:nvPr>
            <p:ph type="sldImg"/>
          </p:nvPr>
        </p:nvSpPr>
        <p:spPr>
          <a:xfrm>
            <a:off x="26988" y="744538"/>
            <a:ext cx="6615112" cy="3722687"/>
          </a:xfrm>
        </p:spPr>
      </p:sp>
      <p:sp>
        <p:nvSpPr>
          <p:cNvPr id="16388" name="Rectangle 3"/>
          <p:cNvSpPr>
            <a:spLocks noGrp="1" noChangeArrowheads="1"/>
          </p:cNvSpPr>
          <p:nvPr>
            <p:ph type="body" idx="1"/>
          </p:nvPr>
        </p:nvSpPr>
        <p:spPr/>
        <p:txBody>
          <a:bodyPr anchor="t"/>
          <a:lstStyle/>
          <a:p>
            <a:pPr eaLnBrk="1" hangingPunct="1"/>
            <a:r>
              <a:rPr lang="zh-CN" altLang="en-US"/>
              <a:t>通常，</a:t>
            </a:r>
            <a:r>
              <a:rPr lang="en-US" altLang="zh-CN"/>
              <a:t>f(x,y)</a:t>
            </a:r>
            <a:r>
              <a:rPr lang="zh-CN" altLang="en-US"/>
              <a:t>是输入变量</a:t>
            </a:r>
            <a:r>
              <a:rPr lang="en-US" altLang="zh-CN"/>
              <a:t>x</a:t>
            </a:r>
            <a:r>
              <a:rPr lang="zh-CN" altLang="en-US"/>
              <a:t>和</a:t>
            </a:r>
            <a:r>
              <a:rPr lang="en-US" altLang="zh-CN"/>
              <a:t>y</a:t>
            </a:r>
            <a:r>
              <a:rPr lang="zh-CN" altLang="en-US"/>
              <a:t>的多项式。但是只要它能在由规则前件指定的</a:t>
            </a:r>
            <a:r>
              <a:rPr lang="en-US" altLang="zh-CN"/>
              <a:t>F</a:t>
            </a:r>
            <a:r>
              <a:rPr lang="zh-CN" altLang="en-US"/>
              <a:t>区域中恰当描述模型的输出，则它可以是</a:t>
            </a:r>
            <a:r>
              <a:rPr lang="zh-CN" altLang="en-US" b="1"/>
              <a:t>任意函数。</a:t>
            </a:r>
          </a:p>
        </p:txBody>
      </p:sp>
    </p:spTree>
    <p:extLst>
      <p:ext uri="{BB962C8B-B14F-4D97-AF65-F5344CB8AC3E}">
        <p14:creationId xmlns:p14="http://schemas.microsoft.com/office/powerpoint/2010/main" val="4110147109"/>
      </p:ext>
    </p:extLst>
  </p:cSld>
  <p:clrMapOvr>
    <a:overrideClrMapping bg1="lt1" tx1="dk1" bg2="lt2" tx2="dk2" accent1="accent1" accent2="accent2" accent3="accent3" accent4="accent4" accent5="accent5" accent6="accent6" hlink="hlink" folHlink="folHlink"/>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26988" y="744538"/>
            <a:ext cx="6615112" cy="3722687"/>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F8592D3-688D-4C88-AB5B-6BB2DB5D24BA}" type="slidenum">
              <a:rPr lang="en-US" altLang="zh-CN" smtClean="0"/>
              <a:pPr/>
              <a:t>21</a:t>
            </a:fld>
            <a:endParaRPr lang="en-US" altLang="zh-CN"/>
          </a:p>
        </p:txBody>
      </p:sp>
    </p:spTree>
    <p:extLst>
      <p:ext uri="{BB962C8B-B14F-4D97-AF65-F5344CB8AC3E}">
        <p14:creationId xmlns:p14="http://schemas.microsoft.com/office/powerpoint/2010/main" val="118477901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p:cSld>
    <p:bg bwMode="auto">
      <p:bgPr>
        <a:solidFill>
          <a:srgbClr val="FFFFFF"/>
        </a:solidFill>
        <a:effectLst/>
      </p:bgPr>
    </p:bg>
    <p:spTree>
      <p:nvGrpSpPr>
        <p:cNvPr id="1" name=""/>
        <p:cNvGrpSpPr/>
        <p:nvPr/>
      </p:nvGrpSpPr>
      <p:grpSpPr>
        <a:xfrm>
          <a:off x="0" y="0"/>
          <a:ext cx="0" cy="0"/>
          <a:chOff x="0" y="0"/>
          <a:chExt cx="0" cy="0"/>
        </a:xfrm>
      </p:grpSpPr>
      <p:sp>
        <p:nvSpPr>
          <p:cNvPr id="32770" name="Rectangle 7"/>
          <p:cNvSpPr txBox="1">
            <a:spLocks noGrp="1" noChangeArrowheads="1"/>
          </p:cNvSpPr>
          <p:nvPr/>
        </p:nvSpPr>
        <p:spPr bwMode="auto">
          <a:xfrm>
            <a:off x="3778250" y="9429750"/>
            <a:ext cx="2889250" cy="496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r" eaLnBrk="1" hangingPunct="1"/>
            <a:fld id="{A02DD750-69F5-46F0-B09B-095C75DBF9A2}" type="slidenum">
              <a:rPr lang="en-US" altLang="zh-CN" sz="1200"/>
              <a:pPr algn="r" eaLnBrk="1" hangingPunct="1"/>
              <a:t>27</a:t>
            </a:fld>
            <a:endParaRPr lang="en-US" altLang="zh-CN" sz="1200"/>
          </a:p>
        </p:txBody>
      </p:sp>
      <p:sp>
        <p:nvSpPr>
          <p:cNvPr id="32771" name="Rectangle 2"/>
          <p:cNvSpPr>
            <a:spLocks noGrp="1" noRot="1" noChangeAspect="1" noChangeArrowheads="1" noTextEdit="1"/>
          </p:cNvSpPr>
          <p:nvPr>
            <p:ph type="sldImg"/>
          </p:nvPr>
        </p:nvSpPr>
        <p:spPr>
          <a:xfrm>
            <a:off x="26988" y="744538"/>
            <a:ext cx="6615112" cy="3722687"/>
          </a:xfrm>
        </p:spPr>
      </p:sp>
      <p:sp>
        <p:nvSpPr>
          <p:cNvPr id="32772" name="Rectangle 3"/>
          <p:cNvSpPr>
            <a:spLocks noGrp="1" noChangeArrowheads="1"/>
          </p:cNvSpPr>
          <p:nvPr>
            <p:ph type="body" idx="1"/>
          </p:nvPr>
        </p:nvSpPr>
        <p:spPr/>
        <p:txBody>
          <a:bodyPr anchor="t"/>
          <a:lstStyle/>
          <a:p>
            <a:pPr eaLnBrk="1" hangingPunct="1"/>
            <a:r>
              <a:rPr lang="zh-CN" altLang="en-US"/>
              <a:t>因此，以下所讨论的划分输入空间以形成</a:t>
            </a:r>
            <a:r>
              <a:rPr lang="en-US" altLang="zh-CN"/>
              <a:t>F</a:t>
            </a:r>
            <a:r>
              <a:rPr lang="zh-CN" altLang="en-US"/>
              <a:t>规则前件的方法适用于所有这些</a:t>
            </a:r>
            <a:r>
              <a:rPr lang="en-US" altLang="zh-CN"/>
              <a:t>F</a:t>
            </a:r>
            <a:r>
              <a:rPr lang="zh-CN" altLang="en-US"/>
              <a:t>推理系统。</a:t>
            </a:r>
          </a:p>
        </p:txBody>
      </p:sp>
    </p:spTree>
    <p:extLst>
      <p:ext uri="{BB962C8B-B14F-4D97-AF65-F5344CB8AC3E}">
        <p14:creationId xmlns:p14="http://schemas.microsoft.com/office/powerpoint/2010/main" val="2263438208"/>
      </p:ext>
    </p:extLst>
  </p:cSld>
  <p:clrMapOvr>
    <a:overrideClrMapping bg1="lt1" tx1="dk1" bg2="lt2" tx2="dk2" accent1="accent1" accent2="accent2" accent3="accent3" accent4="accent4" accent5="accent5" accent6="accent6" hlink="hlink" folHlink="folHlink"/>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26988" y="744538"/>
            <a:ext cx="6615112" cy="3722687"/>
          </a:xfrm>
        </p:spPr>
      </p:sp>
      <p:sp>
        <p:nvSpPr>
          <p:cNvPr id="3" name="备注占位符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zh-CN" altLang="en-US" sz="1200" b="1" dirty="0">
                <a:ea typeface="楷体_GB2312" pitchFamily="1" charset="-122"/>
              </a:rPr>
              <a:t>即正交性只在</a:t>
            </a:r>
            <a:r>
              <a:rPr lang="en-US" altLang="zh-CN" sz="1200" b="1" dirty="0">
                <a:ea typeface="楷体_GB2312" pitchFamily="1" charset="-122"/>
              </a:rPr>
              <a:t>X</a:t>
            </a:r>
            <a:r>
              <a:rPr lang="en-US" altLang="zh-CN" b="1" dirty="0"/>
              <a:t>×</a:t>
            </a:r>
            <a:r>
              <a:rPr lang="en-US" altLang="zh-CN" sz="1200" b="1" dirty="0">
                <a:ea typeface="楷体_GB2312" pitchFamily="1" charset="-122"/>
              </a:rPr>
              <a:t>Y</a:t>
            </a:r>
            <a:r>
              <a:rPr lang="zh-CN" altLang="en-US" sz="1200" b="1" dirty="0">
                <a:ea typeface="楷体_GB2312" pitchFamily="1" charset="-122"/>
              </a:rPr>
              <a:t>上大体成立，在单独</a:t>
            </a:r>
            <a:r>
              <a:rPr lang="en-US" altLang="zh-CN" sz="1200" b="1" dirty="0">
                <a:ea typeface="楷体_GB2312" pitchFamily="1" charset="-122"/>
              </a:rPr>
              <a:t>X</a:t>
            </a:r>
            <a:r>
              <a:rPr lang="zh-CN" altLang="en-US" sz="1200" b="1" dirty="0">
                <a:ea typeface="楷体_GB2312" pitchFamily="1" charset="-122"/>
              </a:rPr>
              <a:t>或</a:t>
            </a:r>
            <a:r>
              <a:rPr lang="en-US" altLang="zh-CN" sz="1200" b="1" dirty="0">
                <a:ea typeface="楷体_GB2312" pitchFamily="1" charset="-122"/>
              </a:rPr>
              <a:t>Y</a:t>
            </a:r>
            <a:r>
              <a:rPr lang="zh-CN" altLang="en-US" sz="1200" b="1" dirty="0">
                <a:ea typeface="楷体_GB2312" pitchFamily="1" charset="-122"/>
              </a:rPr>
              <a:t>上却不成立。</a:t>
            </a:r>
          </a:p>
          <a:p>
            <a:endParaRPr lang="zh-CN" altLang="en-US" dirty="0"/>
          </a:p>
        </p:txBody>
      </p:sp>
      <p:sp>
        <p:nvSpPr>
          <p:cNvPr id="4" name="灯片编号占位符 3"/>
          <p:cNvSpPr>
            <a:spLocks noGrp="1"/>
          </p:cNvSpPr>
          <p:nvPr>
            <p:ph type="sldNum" sz="quarter" idx="5"/>
          </p:nvPr>
        </p:nvSpPr>
        <p:spPr/>
        <p:txBody>
          <a:bodyPr/>
          <a:lstStyle/>
          <a:p>
            <a:fld id="{1F8592D3-688D-4C88-AB5B-6BB2DB5D24BA}" type="slidenum">
              <a:rPr lang="en-US" altLang="zh-CN" smtClean="0"/>
              <a:pPr/>
              <a:t>29</a:t>
            </a:fld>
            <a:endParaRPr lang="en-US" altLang="zh-CN"/>
          </a:p>
        </p:txBody>
      </p:sp>
    </p:spTree>
    <p:extLst>
      <p:ext uri="{BB962C8B-B14F-4D97-AF65-F5344CB8AC3E}">
        <p14:creationId xmlns:p14="http://schemas.microsoft.com/office/powerpoint/2010/main" val="115650443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p:cSld>
    <p:bg bwMode="auto">
      <p:bgPr>
        <a:solidFill>
          <a:srgbClr val="FFFFFF"/>
        </a:solidFill>
        <a:effectLst/>
      </p:bgPr>
    </p:bg>
    <p:spTree>
      <p:nvGrpSpPr>
        <p:cNvPr id="1" name=""/>
        <p:cNvGrpSpPr/>
        <p:nvPr/>
      </p:nvGrpSpPr>
      <p:grpSpPr>
        <a:xfrm>
          <a:off x="0" y="0"/>
          <a:ext cx="0" cy="0"/>
          <a:chOff x="0" y="0"/>
          <a:chExt cx="0" cy="0"/>
        </a:xfrm>
      </p:grpSpPr>
      <p:sp>
        <p:nvSpPr>
          <p:cNvPr id="39938" name="Rectangle 7"/>
          <p:cNvSpPr txBox="1">
            <a:spLocks noGrp="1" noChangeArrowheads="1"/>
          </p:cNvSpPr>
          <p:nvPr/>
        </p:nvSpPr>
        <p:spPr bwMode="auto">
          <a:xfrm>
            <a:off x="3778250" y="9429750"/>
            <a:ext cx="2889250" cy="496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r" eaLnBrk="1" hangingPunct="1"/>
            <a:fld id="{FD74CB66-42D7-4F41-95E5-1F3E1C2D843E}" type="slidenum">
              <a:rPr lang="en-US" altLang="zh-CN" sz="1200"/>
              <a:pPr algn="r" eaLnBrk="1" hangingPunct="1"/>
              <a:t>31</a:t>
            </a:fld>
            <a:endParaRPr lang="en-US" altLang="zh-CN" sz="1200"/>
          </a:p>
        </p:txBody>
      </p:sp>
      <p:sp>
        <p:nvSpPr>
          <p:cNvPr id="39939" name="Rectangle 2"/>
          <p:cNvSpPr>
            <a:spLocks noGrp="1" noRot="1" noChangeAspect="1" noChangeArrowheads="1" noTextEdit="1"/>
          </p:cNvSpPr>
          <p:nvPr>
            <p:ph type="sldImg"/>
          </p:nvPr>
        </p:nvSpPr>
        <p:spPr>
          <a:xfrm>
            <a:off x="26988" y="744538"/>
            <a:ext cx="6615112" cy="3722687"/>
          </a:xfrm>
        </p:spPr>
      </p:sp>
      <p:sp>
        <p:nvSpPr>
          <p:cNvPr id="39940" name="Rectangle 3"/>
          <p:cNvSpPr>
            <a:spLocks noGrp="1" noChangeArrowheads="1"/>
          </p:cNvSpPr>
          <p:nvPr>
            <p:ph type="body" idx="1"/>
          </p:nvPr>
        </p:nvSpPr>
        <p:spPr/>
        <p:txBody>
          <a:bodyPr anchor="t"/>
          <a:lstStyle/>
          <a:p>
            <a:pPr eaLnBrk="1" hangingPunct="1"/>
            <a:r>
              <a:rPr lang="zh-CN" altLang="en-US"/>
              <a:t>此阶段得到规则库，这此语言术语的意义在第二阶段确定</a:t>
            </a:r>
          </a:p>
        </p:txBody>
      </p:sp>
    </p:spTree>
    <p:extLst>
      <p:ext uri="{BB962C8B-B14F-4D97-AF65-F5344CB8AC3E}">
        <p14:creationId xmlns:p14="http://schemas.microsoft.com/office/powerpoint/2010/main" val="252047956"/>
      </p:ext>
    </p:extLst>
  </p:cSld>
  <p:clrMapOvr>
    <a:overrideClrMapping bg1="lt1" tx1="dk1" bg2="lt2" tx2="dk2" accent1="accent1" accent2="accent2" accent3="accent3" accent4="accent4" accent5="accent5" accent6="accent6" hlink="hlink" folHlink="folHlink"/>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26988" y="744538"/>
            <a:ext cx="6615112" cy="3722687"/>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1F8592D3-688D-4C88-AB5B-6BB2DB5D24BA}" type="slidenum">
              <a:rPr lang="en-US" altLang="zh-CN" smtClean="0"/>
              <a:pPr/>
              <a:t>32</a:t>
            </a:fld>
            <a:endParaRPr lang="en-US" altLang="zh-CN"/>
          </a:p>
        </p:txBody>
      </p:sp>
    </p:spTree>
    <p:extLst>
      <p:ext uri="{BB962C8B-B14F-4D97-AF65-F5344CB8AC3E}">
        <p14:creationId xmlns:p14="http://schemas.microsoft.com/office/powerpoint/2010/main" val="52013333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p:cSld>
    <p:bg bwMode="auto">
      <p:bgPr>
        <a:solidFill>
          <a:srgbClr val="FFFFFF"/>
        </a:solidFill>
        <a:effectLst/>
      </p:bgPr>
    </p:bg>
    <p:spTree>
      <p:nvGrpSpPr>
        <p:cNvPr id="1" name=""/>
        <p:cNvGrpSpPr/>
        <p:nvPr/>
      </p:nvGrpSpPr>
      <p:grpSpPr>
        <a:xfrm>
          <a:off x="0" y="0"/>
          <a:ext cx="0" cy="0"/>
          <a:chOff x="0" y="0"/>
          <a:chExt cx="0" cy="0"/>
        </a:xfrm>
      </p:grpSpPr>
      <p:sp>
        <p:nvSpPr>
          <p:cNvPr id="46082" name="幻灯片图像占位符 1"/>
          <p:cNvSpPr>
            <a:spLocks noGrp="1" noRot="1" noChangeAspect="1" noTextEdit="1"/>
          </p:cNvSpPr>
          <p:nvPr>
            <p:ph type="sldImg"/>
          </p:nvPr>
        </p:nvSpPr>
        <p:spPr>
          <a:xfrm>
            <a:off x="26988" y="744538"/>
            <a:ext cx="6615112" cy="3722687"/>
          </a:xfrm>
        </p:spPr>
      </p:sp>
      <p:sp>
        <p:nvSpPr>
          <p:cNvPr id="46083" name="备注占位符 2"/>
          <p:cNvSpPr>
            <a:spLocks noGrp="1"/>
          </p:cNvSpPr>
          <p:nvPr>
            <p:ph type="body" idx="1"/>
          </p:nvPr>
        </p:nvSpPr>
        <p:spPr/>
        <p:txBody>
          <a:bodyPr anchor="t"/>
          <a:lstStyle/>
          <a:p>
            <a:pPr marL="0" lvl="1"/>
            <a:r>
              <a:rPr lang="zh-CN" altLang="en-US" sz="2400" b="1">
                <a:ea typeface="华文楷体" panose="02010600040101010101" pitchFamily="2" charset="-122"/>
                <a:sym typeface="Symbol" panose="05050102010706020507" pitchFamily="18" charset="2"/>
              </a:rPr>
              <a:t>这是因为“</a:t>
            </a:r>
            <a:r>
              <a:rPr lang="en-US" altLang="zh-CN" sz="2400" b="1">
                <a:ea typeface="华文楷体" panose="02010600040101010101" pitchFamily="2" charset="-122"/>
                <a:sym typeface="Symbol" panose="05050102010706020507" pitchFamily="18" charset="2"/>
              </a:rPr>
              <a:t>0</a:t>
            </a:r>
            <a:r>
              <a:rPr lang="zh-CN" altLang="en-US" sz="2400" b="1">
                <a:ea typeface="华文楷体" panose="02010600040101010101" pitchFamily="2" charset="-122"/>
                <a:sym typeface="Symbol" panose="05050102010706020507" pitchFamily="18" charset="2"/>
              </a:rPr>
              <a:t>”对应于控制系统的工作点，</a:t>
            </a:r>
            <a:endParaRPr lang="en-US" altLang="zh-CN" sz="2400"/>
          </a:p>
        </p:txBody>
      </p:sp>
      <p:sp>
        <p:nvSpPr>
          <p:cNvPr id="46084" name="灯片编号占位符 3"/>
          <p:cNvSpPr txBox="1">
            <a:spLocks noGrp="1" noChangeArrowheads="1"/>
          </p:cNvSpPr>
          <p:nvPr/>
        </p:nvSpPr>
        <p:spPr bwMode="auto">
          <a:xfrm>
            <a:off x="3778250" y="9429750"/>
            <a:ext cx="2889250" cy="496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r" eaLnBrk="1" hangingPunct="1"/>
            <a:fld id="{8BBB1A32-86F3-4BD1-A0AA-124360992653}" type="slidenum">
              <a:rPr lang="en-US" altLang="zh-CN" sz="1200"/>
              <a:pPr algn="r" eaLnBrk="1" hangingPunct="1"/>
              <a:t>36</a:t>
            </a:fld>
            <a:endParaRPr lang="en-US" altLang="zh-CN" sz="1200"/>
          </a:p>
        </p:txBody>
      </p:sp>
    </p:spTree>
    <p:extLst>
      <p:ext uri="{BB962C8B-B14F-4D97-AF65-F5344CB8AC3E}">
        <p14:creationId xmlns:p14="http://schemas.microsoft.com/office/powerpoint/2010/main" val="4091700761"/>
      </p:ext>
    </p:extLst>
  </p:cSld>
  <p:clrMapOvr>
    <a:overrideClrMapping bg1="lt1" tx1="dk1" bg2="lt2" tx2="dk2" accent1="accent1" accent2="accent2" accent3="accent3" accent4="accent4" accent5="accent5" accent6="accent6" hlink="hlink" folHlink="folHlink"/>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p:cSld>
    <p:bg bwMode="auto">
      <p:bgPr>
        <a:solidFill>
          <a:srgbClr val="FFFFFF"/>
        </a:solidFill>
        <a:effectLst/>
      </p:bgPr>
    </p:bg>
    <p:spTree>
      <p:nvGrpSpPr>
        <p:cNvPr id="1" name=""/>
        <p:cNvGrpSpPr/>
        <p:nvPr/>
      </p:nvGrpSpPr>
      <p:grpSpPr>
        <a:xfrm>
          <a:off x="0" y="0"/>
          <a:ext cx="0" cy="0"/>
          <a:chOff x="0" y="0"/>
          <a:chExt cx="0" cy="0"/>
        </a:xfrm>
      </p:grpSpPr>
      <p:sp>
        <p:nvSpPr>
          <p:cNvPr id="48130" name="幻灯片图像占位符 1"/>
          <p:cNvSpPr>
            <a:spLocks noGrp="1" noRot="1" noChangeAspect="1" noTextEdit="1"/>
          </p:cNvSpPr>
          <p:nvPr>
            <p:ph type="sldImg"/>
          </p:nvPr>
        </p:nvSpPr>
        <p:spPr>
          <a:xfrm>
            <a:off x="26988" y="744538"/>
            <a:ext cx="6615112" cy="3722687"/>
          </a:xfrm>
        </p:spPr>
      </p:sp>
      <p:sp>
        <p:nvSpPr>
          <p:cNvPr id="48131" name="备注占位符 2"/>
          <p:cNvSpPr>
            <a:spLocks noGrp="1"/>
          </p:cNvSpPr>
          <p:nvPr>
            <p:ph type="body" idx="1"/>
          </p:nvPr>
        </p:nvSpPr>
        <p:spPr/>
        <p:txBody>
          <a:bodyPr anchor="t"/>
          <a:lstStyle/>
          <a:p>
            <a:pPr marL="0" lvl="1"/>
            <a:r>
              <a:rPr lang="zh-CN" altLang="en-US" sz="2400" b="1">
                <a:ea typeface="华文楷体" panose="02010600040101010101" pitchFamily="2" charset="-122"/>
                <a:sym typeface="Symbol" panose="05050102010706020507" pitchFamily="18" charset="2"/>
              </a:rPr>
              <a:t>这是因为“</a:t>
            </a:r>
            <a:r>
              <a:rPr lang="en-US" altLang="zh-CN" sz="2400" b="1">
                <a:ea typeface="华文楷体" panose="02010600040101010101" pitchFamily="2" charset="-122"/>
                <a:sym typeface="Symbol" panose="05050102010706020507" pitchFamily="18" charset="2"/>
              </a:rPr>
              <a:t>0</a:t>
            </a:r>
            <a:r>
              <a:rPr lang="zh-CN" altLang="en-US" sz="2400" b="1">
                <a:ea typeface="华文楷体" panose="02010600040101010101" pitchFamily="2" charset="-122"/>
                <a:sym typeface="Symbol" panose="05050102010706020507" pitchFamily="18" charset="2"/>
              </a:rPr>
              <a:t>”对应于控制系统的工作点，</a:t>
            </a:r>
            <a:endParaRPr lang="en-US" altLang="zh-CN" sz="2400"/>
          </a:p>
        </p:txBody>
      </p:sp>
      <p:sp>
        <p:nvSpPr>
          <p:cNvPr id="48132" name="灯片编号占位符 3"/>
          <p:cNvSpPr txBox="1">
            <a:spLocks noGrp="1" noChangeArrowheads="1"/>
          </p:cNvSpPr>
          <p:nvPr/>
        </p:nvSpPr>
        <p:spPr bwMode="auto">
          <a:xfrm>
            <a:off x="3778250" y="9429750"/>
            <a:ext cx="2889250" cy="496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r" eaLnBrk="1" hangingPunct="1"/>
            <a:fld id="{901D2290-DEB9-4B87-B5A1-D09254FB9846}" type="slidenum">
              <a:rPr lang="en-US" altLang="zh-CN" sz="1200"/>
              <a:pPr algn="r" eaLnBrk="1" hangingPunct="1"/>
              <a:t>37</a:t>
            </a:fld>
            <a:endParaRPr lang="en-US" altLang="zh-CN" sz="1200"/>
          </a:p>
        </p:txBody>
      </p:sp>
    </p:spTree>
    <p:extLst>
      <p:ext uri="{BB962C8B-B14F-4D97-AF65-F5344CB8AC3E}">
        <p14:creationId xmlns:p14="http://schemas.microsoft.com/office/powerpoint/2010/main" val="3033212853"/>
      </p:ext>
    </p:extLst>
  </p:cSld>
  <p:clrMapOvr>
    <a:overrideClrMapping bg1="lt1" tx1="dk1" bg2="lt2" tx2="dk2" accent1="accent1" accent2="accent2" accent3="accent3" accent4="accent4" accent5="accent5" accent6="accent6" hlink="hlink" folHlink="folHlink"/>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grpSp>
        <p:nvGrpSpPr>
          <p:cNvPr id="4" name="Group 2"/>
          <p:cNvGrpSpPr>
            <a:grpSpLocks/>
          </p:cNvGrpSpPr>
          <p:nvPr/>
        </p:nvGrpSpPr>
        <p:grpSpPr bwMode="auto">
          <a:xfrm>
            <a:off x="0" y="0"/>
            <a:ext cx="12192000" cy="6858000"/>
            <a:chOff x="0" y="0"/>
            <a:chExt cx="5760" cy="4320"/>
          </a:xfrm>
        </p:grpSpPr>
        <p:sp>
          <p:nvSpPr>
            <p:cNvPr id="5" name="Rectangle 3"/>
            <p:cNvSpPr>
              <a:spLocks noChangeArrowheads="1"/>
            </p:cNvSpPr>
            <p:nvPr/>
          </p:nvSpPr>
          <p:spPr bwMode="hidden">
            <a:xfrm>
              <a:off x="0" y="0"/>
              <a:ext cx="2208" cy="4320"/>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CN" altLang="zh-CN" sz="2400">
                <a:latin typeface="Times New Roman" pitchFamily="18" charset="0"/>
              </a:endParaRPr>
            </a:p>
          </p:txBody>
        </p:sp>
        <p:sp>
          <p:nvSpPr>
            <p:cNvPr id="6" name="Rectangle 4"/>
            <p:cNvSpPr>
              <a:spLocks noChangeArrowheads="1"/>
            </p:cNvSpPr>
            <p:nvPr/>
          </p:nvSpPr>
          <p:spPr bwMode="hidden">
            <a:xfrm>
              <a:off x="1081" y="1065"/>
              <a:ext cx="4679" cy="1596"/>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sz="2400">
                <a:latin typeface="Times New Roman" pitchFamily="18" charset="0"/>
              </a:endParaRPr>
            </a:p>
          </p:txBody>
        </p:sp>
        <p:grpSp>
          <p:nvGrpSpPr>
            <p:cNvPr id="7" name="Group 5"/>
            <p:cNvGrpSpPr>
              <a:grpSpLocks/>
            </p:cNvGrpSpPr>
            <p:nvPr/>
          </p:nvGrpSpPr>
          <p:grpSpPr bwMode="auto">
            <a:xfrm>
              <a:off x="0" y="672"/>
              <a:ext cx="1806" cy="1989"/>
              <a:chOff x="0" y="672"/>
              <a:chExt cx="1806" cy="1989"/>
            </a:xfrm>
          </p:grpSpPr>
          <p:sp>
            <p:nvSpPr>
              <p:cNvPr id="8" name="Rectangle 6"/>
              <p:cNvSpPr>
                <a:spLocks noChangeArrowheads="1"/>
              </p:cNvSpPr>
              <p:nvPr userDrawn="1"/>
            </p:nvSpPr>
            <p:spPr bwMode="auto">
              <a:xfrm>
                <a:off x="361" y="2257"/>
                <a:ext cx="363" cy="404"/>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sz="2400">
                  <a:latin typeface="Times New Roman" pitchFamily="18" charset="0"/>
                </a:endParaRPr>
              </a:p>
            </p:txBody>
          </p:sp>
          <p:sp>
            <p:nvSpPr>
              <p:cNvPr id="9" name="Rectangle 7"/>
              <p:cNvSpPr>
                <a:spLocks noChangeArrowheads="1"/>
              </p:cNvSpPr>
              <p:nvPr userDrawn="1"/>
            </p:nvSpPr>
            <p:spPr bwMode="auto">
              <a:xfrm>
                <a:off x="1081" y="1065"/>
                <a:ext cx="362" cy="405"/>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sz="2400">
                  <a:latin typeface="Times New Roman" pitchFamily="18" charset="0"/>
                </a:endParaRPr>
              </a:p>
            </p:txBody>
          </p:sp>
          <p:sp>
            <p:nvSpPr>
              <p:cNvPr id="10" name="Rectangle 8"/>
              <p:cNvSpPr>
                <a:spLocks noChangeArrowheads="1"/>
              </p:cNvSpPr>
              <p:nvPr userDrawn="1"/>
            </p:nvSpPr>
            <p:spPr bwMode="auto">
              <a:xfrm>
                <a:off x="1437" y="672"/>
                <a:ext cx="369" cy="400"/>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sz="2400">
                  <a:latin typeface="Times New Roman" pitchFamily="18" charset="0"/>
                </a:endParaRPr>
              </a:p>
            </p:txBody>
          </p:sp>
          <p:sp>
            <p:nvSpPr>
              <p:cNvPr id="11" name="Rectangle 9"/>
              <p:cNvSpPr>
                <a:spLocks noChangeArrowheads="1"/>
              </p:cNvSpPr>
              <p:nvPr userDrawn="1"/>
            </p:nvSpPr>
            <p:spPr bwMode="auto">
              <a:xfrm>
                <a:off x="719" y="2257"/>
                <a:ext cx="368" cy="404"/>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sz="2400">
                  <a:latin typeface="Times New Roman" pitchFamily="18" charset="0"/>
                </a:endParaRPr>
              </a:p>
            </p:txBody>
          </p:sp>
          <p:sp>
            <p:nvSpPr>
              <p:cNvPr id="12" name="Rectangle 10"/>
              <p:cNvSpPr>
                <a:spLocks noChangeArrowheads="1"/>
              </p:cNvSpPr>
              <p:nvPr userDrawn="1"/>
            </p:nvSpPr>
            <p:spPr bwMode="auto">
              <a:xfrm>
                <a:off x="1437" y="1065"/>
                <a:ext cx="369" cy="405"/>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sz="2400">
                  <a:latin typeface="Times New Roman" pitchFamily="18" charset="0"/>
                </a:endParaRPr>
              </a:p>
            </p:txBody>
          </p:sp>
          <p:sp>
            <p:nvSpPr>
              <p:cNvPr id="13" name="Rectangle 11"/>
              <p:cNvSpPr>
                <a:spLocks noChangeArrowheads="1"/>
              </p:cNvSpPr>
              <p:nvPr userDrawn="1"/>
            </p:nvSpPr>
            <p:spPr bwMode="auto">
              <a:xfrm>
                <a:off x="719" y="1464"/>
                <a:ext cx="368" cy="399"/>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sz="2400">
                  <a:latin typeface="Times New Roman" pitchFamily="18" charset="0"/>
                </a:endParaRPr>
              </a:p>
            </p:txBody>
          </p:sp>
          <p:sp>
            <p:nvSpPr>
              <p:cNvPr id="14" name="Rectangle 12"/>
              <p:cNvSpPr>
                <a:spLocks noChangeArrowheads="1"/>
              </p:cNvSpPr>
              <p:nvPr userDrawn="1"/>
            </p:nvSpPr>
            <p:spPr bwMode="auto">
              <a:xfrm>
                <a:off x="0" y="1464"/>
                <a:ext cx="367" cy="399"/>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sz="2400">
                  <a:latin typeface="Times New Roman" pitchFamily="18" charset="0"/>
                </a:endParaRPr>
              </a:p>
            </p:txBody>
          </p:sp>
          <p:sp>
            <p:nvSpPr>
              <p:cNvPr id="15" name="Rectangle 13"/>
              <p:cNvSpPr>
                <a:spLocks noChangeArrowheads="1"/>
              </p:cNvSpPr>
              <p:nvPr userDrawn="1"/>
            </p:nvSpPr>
            <p:spPr bwMode="auto">
              <a:xfrm>
                <a:off x="1081" y="1464"/>
                <a:ext cx="362" cy="399"/>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sz="2400">
                  <a:latin typeface="Times New Roman" pitchFamily="18" charset="0"/>
                </a:endParaRPr>
              </a:p>
            </p:txBody>
          </p:sp>
          <p:sp>
            <p:nvSpPr>
              <p:cNvPr id="16" name="Rectangle 14"/>
              <p:cNvSpPr>
                <a:spLocks noChangeArrowheads="1"/>
              </p:cNvSpPr>
              <p:nvPr userDrawn="1"/>
            </p:nvSpPr>
            <p:spPr bwMode="auto">
              <a:xfrm>
                <a:off x="361" y="1857"/>
                <a:ext cx="363" cy="406"/>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sz="2400">
                  <a:latin typeface="Times New Roman" pitchFamily="18" charset="0"/>
                </a:endParaRPr>
              </a:p>
            </p:txBody>
          </p:sp>
          <p:sp>
            <p:nvSpPr>
              <p:cNvPr id="17" name="Rectangle 15"/>
              <p:cNvSpPr>
                <a:spLocks noChangeArrowheads="1"/>
              </p:cNvSpPr>
              <p:nvPr userDrawn="1"/>
            </p:nvSpPr>
            <p:spPr bwMode="auto">
              <a:xfrm>
                <a:off x="719" y="1857"/>
                <a:ext cx="368" cy="406"/>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sz="2400">
                  <a:latin typeface="Times New Roman" pitchFamily="18" charset="0"/>
                </a:endParaRPr>
              </a:p>
            </p:txBody>
          </p:sp>
        </p:grpSp>
      </p:grpSp>
      <p:sp>
        <p:nvSpPr>
          <p:cNvPr id="6163" name="Rectangle 19"/>
          <p:cNvSpPr>
            <a:spLocks noGrp="1" noChangeArrowheads="1"/>
          </p:cNvSpPr>
          <p:nvPr>
            <p:ph type="ctrTitle"/>
          </p:nvPr>
        </p:nvSpPr>
        <p:spPr>
          <a:xfrm>
            <a:off x="3962400" y="1828800"/>
            <a:ext cx="8026400" cy="2209800"/>
          </a:xfrm>
        </p:spPr>
        <p:txBody>
          <a:bodyPr/>
          <a:lstStyle>
            <a:lvl1pPr>
              <a:defRPr sz="5000">
                <a:solidFill>
                  <a:srgbClr val="FFFFFF"/>
                </a:solidFill>
              </a:defRPr>
            </a:lvl1pPr>
          </a:lstStyle>
          <a:p>
            <a:pPr lvl="0"/>
            <a:r>
              <a:rPr lang="zh-CN" altLang="en-US" noProof="0"/>
              <a:t>单击此处编辑母版标题样式</a:t>
            </a:r>
          </a:p>
        </p:txBody>
      </p:sp>
      <p:sp>
        <p:nvSpPr>
          <p:cNvPr id="6164" name="Rectangle 20"/>
          <p:cNvSpPr>
            <a:spLocks noGrp="1" noChangeArrowheads="1"/>
          </p:cNvSpPr>
          <p:nvPr>
            <p:ph type="subTitle" idx="1"/>
          </p:nvPr>
        </p:nvSpPr>
        <p:spPr>
          <a:xfrm>
            <a:off x="3962400" y="4267200"/>
            <a:ext cx="8026400" cy="1752600"/>
          </a:xfrm>
        </p:spPr>
        <p:txBody>
          <a:bodyPr/>
          <a:lstStyle>
            <a:lvl1pPr marL="0" indent="0">
              <a:buFont typeface="Wingdings" pitchFamily="2" charset="2"/>
              <a:buNone/>
              <a:defRPr sz="3400"/>
            </a:lvl1pPr>
          </a:lstStyle>
          <a:p>
            <a:pPr lvl="0"/>
            <a:r>
              <a:rPr lang="zh-CN" altLang="en-US" noProof="0"/>
              <a:t>单击此处编辑母版副标题样式</a:t>
            </a:r>
          </a:p>
        </p:txBody>
      </p:sp>
      <p:sp>
        <p:nvSpPr>
          <p:cNvPr id="18" name="Rectangle 16"/>
          <p:cNvSpPr>
            <a:spLocks noGrp="1" noChangeArrowheads="1"/>
          </p:cNvSpPr>
          <p:nvPr>
            <p:ph type="dt" sz="half" idx="10"/>
          </p:nvPr>
        </p:nvSpPr>
        <p:spPr>
          <a:xfrm>
            <a:off x="609600" y="6248400"/>
            <a:ext cx="2844800" cy="457200"/>
          </a:xfrm>
        </p:spPr>
        <p:txBody>
          <a:bodyPr/>
          <a:lstStyle>
            <a:lvl1pPr>
              <a:defRPr/>
            </a:lvl1pPr>
          </a:lstStyle>
          <a:p>
            <a:pPr>
              <a:defRPr/>
            </a:pPr>
            <a:endParaRPr lang="en-US" altLang="zh-CN"/>
          </a:p>
        </p:txBody>
      </p:sp>
      <p:sp>
        <p:nvSpPr>
          <p:cNvPr id="19" name="Rectangle 17"/>
          <p:cNvSpPr>
            <a:spLocks noGrp="1" noChangeArrowheads="1"/>
          </p:cNvSpPr>
          <p:nvPr>
            <p:ph type="ftr" sz="quarter" idx="11"/>
          </p:nvPr>
        </p:nvSpPr>
        <p:spPr/>
        <p:txBody>
          <a:bodyPr/>
          <a:lstStyle>
            <a:lvl1pPr>
              <a:defRPr/>
            </a:lvl1pPr>
          </a:lstStyle>
          <a:p>
            <a:pPr>
              <a:defRPr/>
            </a:pPr>
            <a:endParaRPr lang="en-US" altLang="zh-CN"/>
          </a:p>
        </p:txBody>
      </p:sp>
      <p:sp>
        <p:nvSpPr>
          <p:cNvPr id="20" name="Rectangle 18"/>
          <p:cNvSpPr>
            <a:spLocks noGrp="1" noChangeArrowheads="1"/>
          </p:cNvSpPr>
          <p:nvPr>
            <p:ph type="sldNum" sz="quarter" idx="12"/>
          </p:nvPr>
        </p:nvSpPr>
        <p:spPr>
          <a:xfrm>
            <a:off x="91752" y="6247897"/>
            <a:ext cx="517848" cy="457200"/>
          </a:xfrm>
        </p:spPr>
        <p:txBody>
          <a:bodyPr/>
          <a:lstStyle>
            <a:lvl1pPr>
              <a:defRPr/>
            </a:lvl1pPr>
          </a:lstStyle>
          <a:p>
            <a:pPr>
              <a:defRPr/>
            </a:pPr>
            <a:fld id="{DDACB426-8E95-4BBB-9181-885B2B64E6D8}" type="slidenum">
              <a:rPr lang="en-US" altLang="zh-CN"/>
              <a:pPr>
                <a:defRPr/>
              </a:pPr>
              <a:t>‹#›</a:t>
            </a:fld>
            <a:endParaRPr lang="en-US" altLang="zh-CN"/>
          </a:p>
        </p:txBody>
      </p:sp>
    </p:spTree>
    <p:extLst>
      <p:ext uri="{BB962C8B-B14F-4D97-AF65-F5344CB8AC3E}">
        <p14:creationId xmlns:p14="http://schemas.microsoft.com/office/powerpoint/2010/main" val="67675990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2"/>
          <p:cNvSpPr>
            <a:spLocks noGrp="1" noChangeArrowheads="1"/>
          </p:cNvSpPr>
          <p:nvPr>
            <p:ph type="ftr" sz="quarter" idx="10"/>
          </p:nvPr>
        </p:nvSpPr>
        <p:spPr>
          <a:ln/>
        </p:spPr>
        <p:txBody>
          <a:bodyPr/>
          <a:lstStyle>
            <a:lvl1pPr>
              <a:defRPr/>
            </a:lvl1pPr>
          </a:lstStyle>
          <a:p>
            <a:pPr>
              <a:defRPr/>
            </a:pPr>
            <a:endParaRPr lang="en-US" altLang="zh-CN"/>
          </a:p>
        </p:txBody>
      </p:sp>
      <p:sp>
        <p:nvSpPr>
          <p:cNvPr id="5" name="Rectangle 3"/>
          <p:cNvSpPr>
            <a:spLocks noGrp="1" noChangeArrowheads="1"/>
          </p:cNvSpPr>
          <p:nvPr>
            <p:ph type="sldNum" sz="quarter" idx="11"/>
          </p:nvPr>
        </p:nvSpPr>
        <p:spPr>
          <a:xfrm>
            <a:off x="31080" y="6266507"/>
            <a:ext cx="445840" cy="457200"/>
          </a:xfrm>
          <a:ln/>
        </p:spPr>
        <p:txBody>
          <a:bodyPr/>
          <a:lstStyle>
            <a:lvl1pPr>
              <a:defRPr/>
            </a:lvl1pPr>
          </a:lstStyle>
          <a:p>
            <a:pPr>
              <a:defRPr/>
            </a:pPr>
            <a:fld id="{1F3E0329-027F-44B1-A42A-8643FF593956}" type="slidenum">
              <a:rPr lang="en-US" altLang="zh-CN"/>
              <a:pPr>
                <a:defRPr/>
              </a:pPr>
              <a:t>‹#›</a:t>
            </a:fld>
            <a:endParaRPr lang="en-US" altLang="zh-CN"/>
          </a:p>
        </p:txBody>
      </p:sp>
      <p:sp>
        <p:nvSpPr>
          <p:cNvPr id="6" name="Rectangle 16"/>
          <p:cNvSpPr>
            <a:spLocks noGrp="1" noChangeArrowheads="1"/>
          </p:cNvSpPr>
          <p:nvPr>
            <p:ph type="dt" sz="half" idx="12"/>
          </p:nvPr>
        </p:nvSpPr>
        <p:spPr>
          <a:ln/>
        </p:spPr>
        <p:txBody>
          <a:bodyPr/>
          <a:lstStyle>
            <a:lvl1pPr>
              <a:defRPr/>
            </a:lvl1pPr>
          </a:lstStyle>
          <a:p>
            <a:pPr>
              <a:defRPr/>
            </a:pPr>
            <a:endParaRPr lang="en-US" altLang="zh-CN"/>
          </a:p>
        </p:txBody>
      </p:sp>
    </p:spTree>
    <p:extLst>
      <p:ext uri="{BB962C8B-B14F-4D97-AF65-F5344CB8AC3E}">
        <p14:creationId xmlns:p14="http://schemas.microsoft.com/office/powerpoint/2010/main" val="381884090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63084" y="4406901"/>
            <a:ext cx="103632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963084" y="2906713"/>
            <a:ext cx="103632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4" name="Rectangle 2"/>
          <p:cNvSpPr>
            <a:spLocks noGrp="1" noChangeArrowheads="1"/>
          </p:cNvSpPr>
          <p:nvPr>
            <p:ph type="ftr" sz="quarter" idx="10"/>
          </p:nvPr>
        </p:nvSpPr>
        <p:spPr>
          <a:ln/>
        </p:spPr>
        <p:txBody>
          <a:bodyPr/>
          <a:lstStyle>
            <a:lvl1pPr>
              <a:defRPr/>
            </a:lvl1pPr>
          </a:lstStyle>
          <a:p>
            <a:pPr>
              <a:defRPr/>
            </a:pPr>
            <a:endParaRPr lang="en-US" altLang="zh-CN"/>
          </a:p>
        </p:txBody>
      </p:sp>
      <p:sp>
        <p:nvSpPr>
          <p:cNvPr id="5" name="Rectangle 3"/>
          <p:cNvSpPr>
            <a:spLocks noGrp="1" noChangeArrowheads="1"/>
          </p:cNvSpPr>
          <p:nvPr>
            <p:ph type="sldNum" sz="quarter" idx="11"/>
          </p:nvPr>
        </p:nvSpPr>
        <p:spPr>
          <a:ln/>
        </p:spPr>
        <p:txBody>
          <a:bodyPr/>
          <a:lstStyle>
            <a:lvl1pPr>
              <a:defRPr/>
            </a:lvl1pPr>
          </a:lstStyle>
          <a:p>
            <a:pPr>
              <a:defRPr/>
            </a:pPr>
            <a:fld id="{C9BCA9C1-0131-48F7-AA99-CF8DF35E01A7}" type="slidenum">
              <a:rPr lang="en-US" altLang="zh-CN"/>
              <a:pPr>
                <a:defRPr/>
              </a:pPr>
              <a:t>‹#›</a:t>
            </a:fld>
            <a:endParaRPr lang="en-US" altLang="zh-CN"/>
          </a:p>
        </p:txBody>
      </p:sp>
      <p:sp>
        <p:nvSpPr>
          <p:cNvPr id="6" name="Rectangle 16"/>
          <p:cNvSpPr>
            <a:spLocks noGrp="1" noChangeArrowheads="1"/>
          </p:cNvSpPr>
          <p:nvPr>
            <p:ph type="dt" sz="half" idx="12"/>
          </p:nvPr>
        </p:nvSpPr>
        <p:spPr>
          <a:ln/>
        </p:spPr>
        <p:txBody>
          <a:bodyPr/>
          <a:lstStyle>
            <a:lvl1pPr>
              <a:defRPr/>
            </a:lvl1pPr>
          </a:lstStyle>
          <a:p>
            <a:pPr>
              <a:defRPr/>
            </a:pPr>
            <a:endParaRPr lang="en-US" altLang="zh-CN"/>
          </a:p>
        </p:txBody>
      </p:sp>
    </p:spTree>
    <p:extLst>
      <p:ext uri="{BB962C8B-B14F-4D97-AF65-F5344CB8AC3E}">
        <p14:creationId xmlns:p14="http://schemas.microsoft.com/office/powerpoint/2010/main" val="323293936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609600" y="1981200"/>
            <a:ext cx="5384800" cy="3886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97600" y="1981200"/>
            <a:ext cx="5384800" cy="3886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2"/>
          <p:cNvSpPr>
            <a:spLocks noGrp="1" noChangeArrowheads="1"/>
          </p:cNvSpPr>
          <p:nvPr>
            <p:ph type="ftr" sz="quarter" idx="10"/>
          </p:nvPr>
        </p:nvSpPr>
        <p:spPr>
          <a:ln/>
        </p:spPr>
        <p:txBody>
          <a:bodyPr/>
          <a:lstStyle>
            <a:lvl1pPr>
              <a:defRPr/>
            </a:lvl1pPr>
          </a:lstStyle>
          <a:p>
            <a:pPr>
              <a:defRPr/>
            </a:pPr>
            <a:endParaRPr lang="en-US" altLang="zh-CN"/>
          </a:p>
        </p:txBody>
      </p:sp>
      <p:sp>
        <p:nvSpPr>
          <p:cNvPr id="6" name="Rectangle 3"/>
          <p:cNvSpPr>
            <a:spLocks noGrp="1" noChangeArrowheads="1"/>
          </p:cNvSpPr>
          <p:nvPr>
            <p:ph type="sldNum" sz="quarter" idx="11"/>
          </p:nvPr>
        </p:nvSpPr>
        <p:spPr>
          <a:xfrm>
            <a:off x="141762" y="6283097"/>
            <a:ext cx="445840" cy="457200"/>
          </a:xfrm>
          <a:ln/>
        </p:spPr>
        <p:txBody>
          <a:bodyPr/>
          <a:lstStyle>
            <a:lvl1pPr>
              <a:defRPr/>
            </a:lvl1pPr>
          </a:lstStyle>
          <a:p>
            <a:pPr>
              <a:defRPr/>
            </a:pPr>
            <a:fld id="{14CFDC69-780A-4B1C-97E7-61C7E54B9DAB}" type="slidenum">
              <a:rPr lang="en-US" altLang="zh-CN"/>
              <a:pPr>
                <a:defRPr/>
              </a:pPr>
              <a:t>‹#›</a:t>
            </a:fld>
            <a:endParaRPr lang="en-US" altLang="zh-CN"/>
          </a:p>
        </p:txBody>
      </p:sp>
      <p:sp>
        <p:nvSpPr>
          <p:cNvPr id="7" name="Rectangle 16"/>
          <p:cNvSpPr>
            <a:spLocks noGrp="1" noChangeArrowheads="1"/>
          </p:cNvSpPr>
          <p:nvPr>
            <p:ph type="dt" sz="half" idx="12"/>
          </p:nvPr>
        </p:nvSpPr>
        <p:spPr>
          <a:ln/>
        </p:spPr>
        <p:txBody>
          <a:bodyPr/>
          <a:lstStyle>
            <a:lvl1pPr>
              <a:defRPr/>
            </a:lvl1pPr>
          </a:lstStyle>
          <a:p>
            <a:pPr>
              <a:defRPr/>
            </a:pPr>
            <a:endParaRPr lang="en-US" altLang="zh-CN"/>
          </a:p>
        </p:txBody>
      </p:sp>
    </p:spTree>
    <p:extLst>
      <p:ext uri="{BB962C8B-B14F-4D97-AF65-F5344CB8AC3E}">
        <p14:creationId xmlns:p14="http://schemas.microsoft.com/office/powerpoint/2010/main" val="25676724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Rectangle 2"/>
          <p:cNvSpPr>
            <a:spLocks noGrp="1" noChangeArrowheads="1"/>
          </p:cNvSpPr>
          <p:nvPr>
            <p:ph type="ftr" sz="quarter" idx="10"/>
          </p:nvPr>
        </p:nvSpPr>
        <p:spPr>
          <a:ln/>
        </p:spPr>
        <p:txBody>
          <a:bodyPr/>
          <a:lstStyle>
            <a:lvl1pPr>
              <a:defRPr/>
            </a:lvl1pPr>
          </a:lstStyle>
          <a:p>
            <a:pPr>
              <a:defRPr/>
            </a:pPr>
            <a:endParaRPr lang="en-US" altLang="zh-CN"/>
          </a:p>
        </p:txBody>
      </p:sp>
      <p:sp>
        <p:nvSpPr>
          <p:cNvPr id="8" name="Rectangle 3"/>
          <p:cNvSpPr>
            <a:spLocks noGrp="1" noChangeArrowheads="1"/>
          </p:cNvSpPr>
          <p:nvPr>
            <p:ph type="sldNum" sz="quarter" idx="11"/>
          </p:nvPr>
        </p:nvSpPr>
        <p:spPr>
          <a:ln/>
        </p:spPr>
        <p:txBody>
          <a:bodyPr/>
          <a:lstStyle>
            <a:lvl1pPr>
              <a:defRPr/>
            </a:lvl1pPr>
          </a:lstStyle>
          <a:p>
            <a:pPr>
              <a:defRPr/>
            </a:pPr>
            <a:fld id="{298979C5-4197-4E15-8450-D6EFDC2FA748}" type="slidenum">
              <a:rPr lang="en-US" altLang="zh-CN"/>
              <a:pPr>
                <a:defRPr/>
              </a:pPr>
              <a:t>‹#›</a:t>
            </a:fld>
            <a:endParaRPr lang="en-US" altLang="zh-CN"/>
          </a:p>
        </p:txBody>
      </p:sp>
      <p:sp>
        <p:nvSpPr>
          <p:cNvPr id="9" name="Rectangle 16"/>
          <p:cNvSpPr>
            <a:spLocks noGrp="1" noChangeArrowheads="1"/>
          </p:cNvSpPr>
          <p:nvPr>
            <p:ph type="dt" sz="half" idx="12"/>
          </p:nvPr>
        </p:nvSpPr>
        <p:spPr>
          <a:ln/>
        </p:spPr>
        <p:txBody>
          <a:bodyPr/>
          <a:lstStyle>
            <a:lvl1pPr>
              <a:defRPr/>
            </a:lvl1pPr>
          </a:lstStyle>
          <a:p>
            <a:pPr>
              <a:defRPr/>
            </a:pPr>
            <a:endParaRPr lang="en-US" altLang="zh-CN"/>
          </a:p>
        </p:txBody>
      </p:sp>
    </p:spTree>
    <p:extLst>
      <p:ext uri="{BB962C8B-B14F-4D97-AF65-F5344CB8AC3E}">
        <p14:creationId xmlns:p14="http://schemas.microsoft.com/office/powerpoint/2010/main" val="255606926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Rectangle 2"/>
          <p:cNvSpPr>
            <a:spLocks noGrp="1" noChangeArrowheads="1"/>
          </p:cNvSpPr>
          <p:nvPr>
            <p:ph type="ftr" sz="quarter" idx="10"/>
          </p:nvPr>
        </p:nvSpPr>
        <p:spPr>
          <a:ln/>
        </p:spPr>
        <p:txBody>
          <a:bodyPr/>
          <a:lstStyle>
            <a:lvl1pPr>
              <a:defRPr/>
            </a:lvl1pPr>
          </a:lstStyle>
          <a:p>
            <a:pPr>
              <a:defRPr/>
            </a:pPr>
            <a:endParaRPr lang="en-US" altLang="zh-CN"/>
          </a:p>
        </p:txBody>
      </p:sp>
      <p:sp>
        <p:nvSpPr>
          <p:cNvPr id="4" name="Rectangle 3"/>
          <p:cNvSpPr>
            <a:spLocks noGrp="1" noChangeArrowheads="1"/>
          </p:cNvSpPr>
          <p:nvPr>
            <p:ph type="sldNum" sz="quarter" idx="11"/>
          </p:nvPr>
        </p:nvSpPr>
        <p:spPr>
          <a:xfrm>
            <a:off x="163760" y="6230867"/>
            <a:ext cx="445840" cy="457200"/>
          </a:xfrm>
          <a:ln/>
        </p:spPr>
        <p:txBody>
          <a:bodyPr/>
          <a:lstStyle>
            <a:lvl1pPr>
              <a:defRPr/>
            </a:lvl1pPr>
          </a:lstStyle>
          <a:p>
            <a:pPr>
              <a:defRPr/>
            </a:pPr>
            <a:fld id="{F3995C34-E364-4B19-9DC1-3C25DD4113D5}" type="slidenum">
              <a:rPr lang="en-US" altLang="zh-CN"/>
              <a:pPr>
                <a:defRPr/>
              </a:pPr>
              <a:t>‹#›</a:t>
            </a:fld>
            <a:endParaRPr lang="en-US" altLang="zh-CN"/>
          </a:p>
        </p:txBody>
      </p:sp>
      <p:sp>
        <p:nvSpPr>
          <p:cNvPr id="5" name="Rectangle 16"/>
          <p:cNvSpPr>
            <a:spLocks noGrp="1" noChangeArrowheads="1"/>
          </p:cNvSpPr>
          <p:nvPr>
            <p:ph type="dt" sz="half" idx="12"/>
          </p:nvPr>
        </p:nvSpPr>
        <p:spPr>
          <a:ln/>
        </p:spPr>
        <p:txBody>
          <a:bodyPr/>
          <a:lstStyle>
            <a:lvl1pPr>
              <a:defRPr/>
            </a:lvl1pPr>
          </a:lstStyle>
          <a:p>
            <a:pPr>
              <a:defRPr/>
            </a:pPr>
            <a:endParaRPr lang="en-US" altLang="zh-CN"/>
          </a:p>
        </p:txBody>
      </p:sp>
    </p:spTree>
    <p:extLst>
      <p:ext uri="{BB962C8B-B14F-4D97-AF65-F5344CB8AC3E}">
        <p14:creationId xmlns:p14="http://schemas.microsoft.com/office/powerpoint/2010/main" val="353383997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2"/>
          <p:cNvSpPr>
            <a:spLocks noGrp="1" noChangeArrowheads="1"/>
          </p:cNvSpPr>
          <p:nvPr>
            <p:ph type="ftr" sz="quarter" idx="10"/>
          </p:nvPr>
        </p:nvSpPr>
        <p:spPr>
          <a:ln/>
        </p:spPr>
        <p:txBody>
          <a:bodyPr/>
          <a:lstStyle>
            <a:lvl1pPr>
              <a:defRPr/>
            </a:lvl1pPr>
          </a:lstStyle>
          <a:p>
            <a:pPr>
              <a:defRPr/>
            </a:pPr>
            <a:endParaRPr lang="en-US" altLang="zh-CN"/>
          </a:p>
        </p:txBody>
      </p:sp>
      <p:sp>
        <p:nvSpPr>
          <p:cNvPr id="3" name="Rectangle 3"/>
          <p:cNvSpPr>
            <a:spLocks noGrp="1" noChangeArrowheads="1"/>
          </p:cNvSpPr>
          <p:nvPr>
            <p:ph type="sldNum" sz="quarter" idx="11"/>
          </p:nvPr>
        </p:nvSpPr>
        <p:spPr>
          <a:xfrm>
            <a:off x="155617" y="6248400"/>
            <a:ext cx="445840" cy="457200"/>
          </a:xfrm>
          <a:ln/>
        </p:spPr>
        <p:txBody>
          <a:bodyPr/>
          <a:lstStyle>
            <a:lvl1pPr>
              <a:defRPr/>
            </a:lvl1pPr>
          </a:lstStyle>
          <a:p>
            <a:pPr>
              <a:defRPr/>
            </a:pPr>
            <a:fld id="{B77A47BA-BA63-4780-94A9-8AFA2EA4438D}" type="slidenum">
              <a:rPr lang="en-US" altLang="zh-CN"/>
              <a:pPr>
                <a:defRPr/>
              </a:pPr>
              <a:t>‹#›</a:t>
            </a:fld>
            <a:endParaRPr lang="en-US" altLang="zh-CN"/>
          </a:p>
        </p:txBody>
      </p:sp>
      <p:sp>
        <p:nvSpPr>
          <p:cNvPr id="4" name="Rectangle 16"/>
          <p:cNvSpPr>
            <a:spLocks noGrp="1" noChangeArrowheads="1"/>
          </p:cNvSpPr>
          <p:nvPr>
            <p:ph type="dt" sz="half" idx="12"/>
          </p:nvPr>
        </p:nvSpPr>
        <p:spPr>
          <a:ln/>
        </p:spPr>
        <p:txBody>
          <a:bodyPr/>
          <a:lstStyle>
            <a:lvl1pPr>
              <a:defRPr/>
            </a:lvl1pPr>
          </a:lstStyle>
          <a:p>
            <a:pPr>
              <a:defRPr/>
            </a:pPr>
            <a:endParaRPr lang="en-US" altLang="zh-CN"/>
          </a:p>
        </p:txBody>
      </p:sp>
    </p:spTree>
    <p:extLst>
      <p:ext uri="{BB962C8B-B14F-4D97-AF65-F5344CB8AC3E}">
        <p14:creationId xmlns:p14="http://schemas.microsoft.com/office/powerpoint/2010/main" val="229001333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09601" y="273050"/>
            <a:ext cx="4011084"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2"/>
          <p:cNvSpPr>
            <a:spLocks noGrp="1" noChangeArrowheads="1"/>
          </p:cNvSpPr>
          <p:nvPr>
            <p:ph type="ftr" sz="quarter" idx="10"/>
          </p:nvPr>
        </p:nvSpPr>
        <p:spPr>
          <a:ln/>
        </p:spPr>
        <p:txBody>
          <a:bodyPr/>
          <a:lstStyle>
            <a:lvl1pPr>
              <a:defRPr/>
            </a:lvl1pPr>
          </a:lstStyle>
          <a:p>
            <a:pPr>
              <a:defRPr/>
            </a:pPr>
            <a:endParaRPr lang="en-US" altLang="zh-CN"/>
          </a:p>
        </p:txBody>
      </p:sp>
      <p:sp>
        <p:nvSpPr>
          <p:cNvPr id="6" name="Rectangle 3"/>
          <p:cNvSpPr>
            <a:spLocks noGrp="1" noChangeArrowheads="1"/>
          </p:cNvSpPr>
          <p:nvPr>
            <p:ph type="sldNum" sz="quarter" idx="11"/>
          </p:nvPr>
        </p:nvSpPr>
        <p:spPr>
          <a:ln/>
        </p:spPr>
        <p:txBody>
          <a:bodyPr/>
          <a:lstStyle>
            <a:lvl1pPr>
              <a:defRPr/>
            </a:lvl1pPr>
          </a:lstStyle>
          <a:p>
            <a:pPr>
              <a:defRPr/>
            </a:pPr>
            <a:fld id="{8C21B6D3-6BB7-4272-938F-C3C6CB1DE332}" type="slidenum">
              <a:rPr lang="en-US" altLang="zh-CN"/>
              <a:pPr>
                <a:defRPr/>
              </a:pPr>
              <a:t>‹#›</a:t>
            </a:fld>
            <a:endParaRPr lang="en-US" altLang="zh-CN"/>
          </a:p>
        </p:txBody>
      </p:sp>
      <p:sp>
        <p:nvSpPr>
          <p:cNvPr id="7" name="Rectangle 16"/>
          <p:cNvSpPr>
            <a:spLocks noGrp="1" noChangeArrowheads="1"/>
          </p:cNvSpPr>
          <p:nvPr>
            <p:ph type="dt" sz="half" idx="12"/>
          </p:nvPr>
        </p:nvSpPr>
        <p:spPr>
          <a:ln/>
        </p:spPr>
        <p:txBody>
          <a:bodyPr/>
          <a:lstStyle>
            <a:lvl1pPr>
              <a:defRPr/>
            </a:lvl1pPr>
          </a:lstStyle>
          <a:p>
            <a:pPr>
              <a:defRPr/>
            </a:pPr>
            <a:endParaRPr lang="en-US" altLang="zh-CN"/>
          </a:p>
        </p:txBody>
      </p:sp>
    </p:spTree>
    <p:extLst>
      <p:ext uri="{BB962C8B-B14F-4D97-AF65-F5344CB8AC3E}">
        <p14:creationId xmlns:p14="http://schemas.microsoft.com/office/powerpoint/2010/main" val="190710574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2389717" y="4800600"/>
            <a:ext cx="73152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2"/>
          <p:cNvSpPr>
            <a:spLocks noGrp="1" noChangeArrowheads="1"/>
          </p:cNvSpPr>
          <p:nvPr>
            <p:ph type="ftr" sz="quarter" idx="10"/>
          </p:nvPr>
        </p:nvSpPr>
        <p:spPr>
          <a:ln/>
        </p:spPr>
        <p:txBody>
          <a:bodyPr/>
          <a:lstStyle>
            <a:lvl1pPr>
              <a:defRPr/>
            </a:lvl1pPr>
          </a:lstStyle>
          <a:p>
            <a:pPr>
              <a:defRPr/>
            </a:pPr>
            <a:endParaRPr lang="en-US" altLang="zh-CN"/>
          </a:p>
        </p:txBody>
      </p:sp>
      <p:sp>
        <p:nvSpPr>
          <p:cNvPr id="6" name="Rectangle 3"/>
          <p:cNvSpPr>
            <a:spLocks noGrp="1" noChangeArrowheads="1"/>
          </p:cNvSpPr>
          <p:nvPr>
            <p:ph type="sldNum" sz="quarter" idx="11"/>
          </p:nvPr>
        </p:nvSpPr>
        <p:spPr>
          <a:ln/>
        </p:spPr>
        <p:txBody>
          <a:bodyPr/>
          <a:lstStyle>
            <a:lvl1pPr>
              <a:defRPr/>
            </a:lvl1pPr>
          </a:lstStyle>
          <a:p>
            <a:pPr>
              <a:defRPr/>
            </a:pPr>
            <a:fld id="{BB55324F-2DC6-4E2C-A824-0AA5A2A441DD}" type="slidenum">
              <a:rPr lang="en-US" altLang="zh-CN"/>
              <a:pPr>
                <a:defRPr/>
              </a:pPr>
              <a:t>‹#›</a:t>
            </a:fld>
            <a:endParaRPr lang="en-US" altLang="zh-CN"/>
          </a:p>
        </p:txBody>
      </p:sp>
      <p:sp>
        <p:nvSpPr>
          <p:cNvPr id="7" name="Rectangle 16"/>
          <p:cNvSpPr>
            <a:spLocks noGrp="1" noChangeArrowheads="1"/>
          </p:cNvSpPr>
          <p:nvPr>
            <p:ph type="dt" sz="half" idx="12"/>
          </p:nvPr>
        </p:nvSpPr>
        <p:spPr>
          <a:ln/>
        </p:spPr>
        <p:txBody>
          <a:bodyPr/>
          <a:lstStyle>
            <a:lvl1pPr>
              <a:defRPr/>
            </a:lvl1pPr>
          </a:lstStyle>
          <a:p>
            <a:pPr>
              <a:defRPr/>
            </a:pPr>
            <a:endParaRPr lang="en-US" altLang="zh-CN"/>
          </a:p>
        </p:txBody>
      </p:sp>
    </p:spTree>
    <p:extLst>
      <p:ext uri="{BB962C8B-B14F-4D97-AF65-F5344CB8AC3E}">
        <p14:creationId xmlns:p14="http://schemas.microsoft.com/office/powerpoint/2010/main" val="378500674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2"/>
          <p:cNvSpPr>
            <a:spLocks noGrp="1" noChangeArrowheads="1"/>
          </p:cNvSpPr>
          <p:nvPr>
            <p:ph type="ftr" sz="quarter" idx="10"/>
          </p:nvPr>
        </p:nvSpPr>
        <p:spPr>
          <a:ln/>
        </p:spPr>
        <p:txBody>
          <a:bodyPr/>
          <a:lstStyle>
            <a:lvl1pPr>
              <a:defRPr/>
            </a:lvl1pPr>
          </a:lstStyle>
          <a:p>
            <a:pPr>
              <a:defRPr/>
            </a:pPr>
            <a:endParaRPr lang="en-US" altLang="zh-CN"/>
          </a:p>
        </p:txBody>
      </p:sp>
      <p:sp>
        <p:nvSpPr>
          <p:cNvPr id="5" name="Rectangle 3"/>
          <p:cNvSpPr>
            <a:spLocks noGrp="1" noChangeArrowheads="1"/>
          </p:cNvSpPr>
          <p:nvPr>
            <p:ph type="sldNum" sz="quarter" idx="11"/>
          </p:nvPr>
        </p:nvSpPr>
        <p:spPr>
          <a:ln/>
        </p:spPr>
        <p:txBody>
          <a:bodyPr/>
          <a:lstStyle>
            <a:lvl1pPr>
              <a:defRPr/>
            </a:lvl1pPr>
          </a:lstStyle>
          <a:p>
            <a:pPr>
              <a:defRPr/>
            </a:pPr>
            <a:fld id="{1ABC9D07-ECF5-49E4-9AEC-081DA347662E}" type="slidenum">
              <a:rPr lang="en-US" altLang="zh-CN"/>
              <a:pPr>
                <a:defRPr/>
              </a:pPr>
              <a:t>‹#›</a:t>
            </a:fld>
            <a:endParaRPr lang="en-US" altLang="zh-CN"/>
          </a:p>
        </p:txBody>
      </p:sp>
      <p:sp>
        <p:nvSpPr>
          <p:cNvPr id="6" name="Rectangle 16"/>
          <p:cNvSpPr>
            <a:spLocks noGrp="1" noChangeArrowheads="1"/>
          </p:cNvSpPr>
          <p:nvPr>
            <p:ph type="dt" sz="half" idx="12"/>
          </p:nvPr>
        </p:nvSpPr>
        <p:spPr>
          <a:ln/>
        </p:spPr>
        <p:txBody>
          <a:bodyPr/>
          <a:lstStyle>
            <a:lvl1pPr>
              <a:defRPr/>
            </a:lvl1pPr>
          </a:lstStyle>
          <a:p>
            <a:pPr>
              <a:defRPr/>
            </a:pPr>
            <a:endParaRPr lang="en-US" altLang="zh-CN"/>
          </a:p>
        </p:txBody>
      </p:sp>
    </p:spTree>
    <p:extLst>
      <p:ext uri="{BB962C8B-B14F-4D97-AF65-F5344CB8AC3E}">
        <p14:creationId xmlns:p14="http://schemas.microsoft.com/office/powerpoint/2010/main" val="76443258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839200" y="457200"/>
            <a:ext cx="2743200" cy="5410200"/>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609600" y="457200"/>
            <a:ext cx="8026400" cy="5410200"/>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2"/>
          <p:cNvSpPr>
            <a:spLocks noGrp="1" noChangeArrowheads="1"/>
          </p:cNvSpPr>
          <p:nvPr>
            <p:ph type="ftr" sz="quarter" idx="10"/>
          </p:nvPr>
        </p:nvSpPr>
        <p:spPr>
          <a:ln/>
        </p:spPr>
        <p:txBody>
          <a:bodyPr/>
          <a:lstStyle>
            <a:lvl1pPr>
              <a:defRPr/>
            </a:lvl1pPr>
          </a:lstStyle>
          <a:p>
            <a:pPr>
              <a:defRPr/>
            </a:pPr>
            <a:endParaRPr lang="en-US" altLang="zh-CN"/>
          </a:p>
        </p:txBody>
      </p:sp>
      <p:sp>
        <p:nvSpPr>
          <p:cNvPr id="5" name="Rectangle 3"/>
          <p:cNvSpPr>
            <a:spLocks noGrp="1" noChangeArrowheads="1"/>
          </p:cNvSpPr>
          <p:nvPr>
            <p:ph type="sldNum" sz="quarter" idx="11"/>
          </p:nvPr>
        </p:nvSpPr>
        <p:spPr>
          <a:ln/>
        </p:spPr>
        <p:txBody>
          <a:bodyPr/>
          <a:lstStyle>
            <a:lvl1pPr>
              <a:defRPr/>
            </a:lvl1pPr>
          </a:lstStyle>
          <a:p>
            <a:pPr>
              <a:defRPr/>
            </a:pPr>
            <a:fld id="{C900FCB0-6827-4052-B1F8-50690392BE8B}" type="slidenum">
              <a:rPr lang="en-US" altLang="zh-CN"/>
              <a:pPr>
                <a:defRPr/>
              </a:pPr>
              <a:t>‹#›</a:t>
            </a:fld>
            <a:endParaRPr lang="en-US" altLang="zh-CN"/>
          </a:p>
        </p:txBody>
      </p:sp>
      <p:sp>
        <p:nvSpPr>
          <p:cNvPr id="6" name="Rectangle 16"/>
          <p:cNvSpPr>
            <a:spLocks noGrp="1" noChangeArrowheads="1"/>
          </p:cNvSpPr>
          <p:nvPr>
            <p:ph type="dt" sz="half" idx="12"/>
          </p:nvPr>
        </p:nvSpPr>
        <p:spPr>
          <a:ln/>
        </p:spPr>
        <p:txBody>
          <a:bodyPr/>
          <a:lstStyle>
            <a:lvl1pPr>
              <a:defRPr/>
            </a:lvl1pPr>
          </a:lstStyle>
          <a:p>
            <a:pPr>
              <a:defRPr/>
            </a:pPr>
            <a:endParaRPr lang="en-US" altLang="zh-CN"/>
          </a:p>
        </p:txBody>
      </p:sp>
    </p:spTree>
    <p:extLst>
      <p:ext uri="{BB962C8B-B14F-4D97-AF65-F5344CB8AC3E}">
        <p14:creationId xmlns:p14="http://schemas.microsoft.com/office/powerpoint/2010/main" val="374452168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TwoObj" preserve="1">
  <p:cSld name="标题，文本与两项内容">
    <p:spTree>
      <p:nvGrpSpPr>
        <p:cNvPr id="1" name=""/>
        <p:cNvGrpSpPr/>
        <p:nvPr/>
      </p:nvGrpSpPr>
      <p:grpSpPr>
        <a:xfrm>
          <a:off x="0" y="0"/>
          <a:ext cx="0" cy="0"/>
          <a:chOff x="0" y="0"/>
          <a:chExt cx="0" cy="0"/>
        </a:xfrm>
      </p:grpSpPr>
      <p:sp>
        <p:nvSpPr>
          <p:cNvPr id="2" name="标题 1"/>
          <p:cNvSpPr>
            <a:spLocks noGrp="1"/>
          </p:cNvSpPr>
          <p:nvPr>
            <p:ph type="title"/>
          </p:nvPr>
        </p:nvSpPr>
        <p:spPr>
          <a:xfrm>
            <a:off x="609600" y="457200"/>
            <a:ext cx="10972800" cy="1371600"/>
          </a:xfrm>
        </p:spPr>
        <p:txBody>
          <a:bodyPr/>
          <a:lstStyle/>
          <a:p>
            <a:r>
              <a:rPr lang="zh-CN" altLang="en-US"/>
              <a:t>单击此处编辑母版标题样式</a:t>
            </a:r>
          </a:p>
        </p:txBody>
      </p:sp>
      <p:sp>
        <p:nvSpPr>
          <p:cNvPr id="3" name="文本占位符 2"/>
          <p:cNvSpPr>
            <a:spLocks noGrp="1"/>
          </p:cNvSpPr>
          <p:nvPr>
            <p:ph type="body" sz="half" idx="1"/>
          </p:nvPr>
        </p:nvSpPr>
        <p:spPr>
          <a:xfrm>
            <a:off x="609600" y="1981200"/>
            <a:ext cx="5384800" cy="38862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quarter" idx="2"/>
          </p:nvPr>
        </p:nvSpPr>
        <p:spPr>
          <a:xfrm>
            <a:off x="6197600" y="1981200"/>
            <a:ext cx="5384800" cy="18669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内容占位符 4"/>
          <p:cNvSpPr>
            <a:spLocks noGrp="1"/>
          </p:cNvSpPr>
          <p:nvPr>
            <p:ph sz="quarter" idx="3"/>
          </p:nvPr>
        </p:nvSpPr>
        <p:spPr>
          <a:xfrm>
            <a:off x="6197600" y="4000500"/>
            <a:ext cx="5384800" cy="18669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Rectangle 2"/>
          <p:cNvSpPr>
            <a:spLocks noGrp="1" noChangeArrowheads="1"/>
          </p:cNvSpPr>
          <p:nvPr>
            <p:ph type="ftr" sz="quarter" idx="10"/>
          </p:nvPr>
        </p:nvSpPr>
        <p:spPr>
          <a:ln/>
        </p:spPr>
        <p:txBody>
          <a:bodyPr/>
          <a:lstStyle>
            <a:lvl1pPr>
              <a:defRPr/>
            </a:lvl1pPr>
          </a:lstStyle>
          <a:p>
            <a:pPr>
              <a:defRPr/>
            </a:pPr>
            <a:endParaRPr lang="en-US" altLang="zh-CN"/>
          </a:p>
        </p:txBody>
      </p:sp>
      <p:sp>
        <p:nvSpPr>
          <p:cNvPr id="7" name="Rectangle 3"/>
          <p:cNvSpPr>
            <a:spLocks noGrp="1" noChangeArrowheads="1"/>
          </p:cNvSpPr>
          <p:nvPr>
            <p:ph type="sldNum" sz="quarter" idx="11"/>
          </p:nvPr>
        </p:nvSpPr>
        <p:spPr>
          <a:ln/>
        </p:spPr>
        <p:txBody>
          <a:bodyPr/>
          <a:lstStyle>
            <a:lvl1pPr>
              <a:defRPr/>
            </a:lvl1pPr>
          </a:lstStyle>
          <a:p>
            <a:pPr>
              <a:defRPr/>
            </a:pPr>
            <a:fld id="{D379F246-5609-47AB-8E41-68E47FB00079}" type="slidenum">
              <a:rPr lang="en-US" altLang="zh-CN"/>
              <a:pPr>
                <a:defRPr/>
              </a:pPr>
              <a:t>‹#›</a:t>
            </a:fld>
            <a:endParaRPr lang="en-US" altLang="zh-CN"/>
          </a:p>
        </p:txBody>
      </p:sp>
      <p:sp>
        <p:nvSpPr>
          <p:cNvPr id="8" name="Rectangle 16"/>
          <p:cNvSpPr>
            <a:spLocks noGrp="1" noChangeArrowheads="1"/>
          </p:cNvSpPr>
          <p:nvPr>
            <p:ph type="dt" sz="half" idx="12"/>
          </p:nvPr>
        </p:nvSpPr>
        <p:spPr>
          <a:ln/>
        </p:spPr>
        <p:txBody>
          <a:bodyPr/>
          <a:lstStyle>
            <a:lvl1pPr>
              <a:defRPr/>
            </a:lvl1pPr>
          </a:lstStyle>
          <a:p>
            <a:pPr>
              <a:defRPr/>
            </a:pPr>
            <a:endParaRPr lang="en-US" altLang="zh-CN"/>
          </a:p>
        </p:txBody>
      </p:sp>
    </p:spTree>
    <p:extLst>
      <p:ext uri="{BB962C8B-B14F-4D97-AF65-F5344CB8AC3E}">
        <p14:creationId xmlns:p14="http://schemas.microsoft.com/office/powerpoint/2010/main" val="232066794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609600" y="457200"/>
            <a:ext cx="10972800" cy="1371600"/>
          </a:xfrm>
        </p:spPr>
        <p:txBody>
          <a:bodyPr/>
          <a:lstStyle/>
          <a:p>
            <a:r>
              <a:rPr lang="zh-CN" altLang="en-US"/>
              <a:t>单击此处编辑母版标题样式</a:t>
            </a:r>
          </a:p>
        </p:txBody>
      </p:sp>
      <p:sp>
        <p:nvSpPr>
          <p:cNvPr id="3" name="文本占位符 2"/>
          <p:cNvSpPr>
            <a:spLocks noGrp="1"/>
          </p:cNvSpPr>
          <p:nvPr>
            <p:ph type="body" sz="half" idx="1"/>
          </p:nvPr>
        </p:nvSpPr>
        <p:spPr>
          <a:xfrm>
            <a:off x="609600" y="1981200"/>
            <a:ext cx="5384800" cy="38862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97600" y="1981200"/>
            <a:ext cx="5384800" cy="38862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2"/>
          <p:cNvSpPr>
            <a:spLocks noGrp="1" noChangeArrowheads="1"/>
          </p:cNvSpPr>
          <p:nvPr>
            <p:ph type="ftr" sz="quarter" idx="10"/>
          </p:nvPr>
        </p:nvSpPr>
        <p:spPr>
          <a:ln/>
        </p:spPr>
        <p:txBody>
          <a:bodyPr/>
          <a:lstStyle>
            <a:lvl1pPr>
              <a:defRPr/>
            </a:lvl1pPr>
          </a:lstStyle>
          <a:p>
            <a:pPr>
              <a:defRPr/>
            </a:pPr>
            <a:endParaRPr lang="en-US" altLang="zh-CN"/>
          </a:p>
        </p:txBody>
      </p:sp>
      <p:sp>
        <p:nvSpPr>
          <p:cNvPr id="6" name="Rectangle 3"/>
          <p:cNvSpPr>
            <a:spLocks noGrp="1" noChangeArrowheads="1"/>
          </p:cNvSpPr>
          <p:nvPr>
            <p:ph type="sldNum" sz="quarter" idx="11"/>
          </p:nvPr>
        </p:nvSpPr>
        <p:spPr>
          <a:ln/>
        </p:spPr>
        <p:txBody>
          <a:bodyPr/>
          <a:lstStyle>
            <a:lvl1pPr>
              <a:defRPr/>
            </a:lvl1pPr>
          </a:lstStyle>
          <a:p>
            <a:pPr>
              <a:defRPr/>
            </a:pPr>
            <a:fld id="{554DC022-E2FC-4194-89EB-F0AC4449F8FB}" type="slidenum">
              <a:rPr lang="en-US" altLang="zh-CN"/>
              <a:pPr>
                <a:defRPr/>
              </a:pPr>
              <a:t>‹#›</a:t>
            </a:fld>
            <a:endParaRPr lang="en-US" altLang="zh-CN"/>
          </a:p>
        </p:txBody>
      </p:sp>
      <p:sp>
        <p:nvSpPr>
          <p:cNvPr id="7" name="Rectangle 16"/>
          <p:cNvSpPr>
            <a:spLocks noGrp="1" noChangeArrowheads="1"/>
          </p:cNvSpPr>
          <p:nvPr>
            <p:ph type="dt" sz="half" idx="12"/>
          </p:nvPr>
        </p:nvSpPr>
        <p:spPr>
          <a:ln/>
        </p:spPr>
        <p:txBody>
          <a:bodyPr/>
          <a:lstStyle>
            <a:lvl1pPr>
              <a:defRPr/>
            </a:lvl1pPr>
          </a:lstStyle>
          <a:p>
            <a:pPr>
              <a:defRPr/>
            </a:pPr>
            <a:endParaRPr lang="en-US" altLang="zh-CN"/>
          </a:p>
        </p:txBody>
      </p:sp>
    </p:spTree>
    <p:extLst>
      <p:ext uri="{BB962C8B-B14F-4D97-AF65-F5344CB8AC3E}">
        <p14:creationId xmlns:p14="http://schemas.microsoft.com/office/powerpoint/2010/main" val="377947748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bl" preserve="1">
  <p:cSld name="标题和表格">
    <p:spTree>
      <p:nvGrpSpPr>
        <p:cNvPr id="1" name=""/>
        <p:cNvGrpSpPr/>
        <p:nvPr/>
      </p:nvGrpSpPr>
      <p:grpSpPr>
        <a:xfrm>
          <a:off x="0" y="0"/>
          <a:ext cx="0" cy="0"/>
          <a:chOff x="0" y="0"/>
          <a:chExt cx="0" cy="0"/>
        </a:xfrm>
      </p:grpSpPr>
      <p:sp>
        <p:nvSpPr>
          <p:cNvPr id="2" name="标题 1"/>
          <p:cNvSpPr>
            <a:spLocks noGrp="1"/>
          </p:cNvSpPr>
          <p:nvPr>
            <p:ph type="title"/>
          </p:nvPr>
        </p:nvSpPr>
        <p:spPr>
          <a:xfrm>
            <a:off x="609600" y="457200"/>
            <a:ext cx="10972800" cy="1371600"/>
          </a:xfrm>
        </p:spPr>
        <p:txBody>
          <a:bodyPr/>
          <a:lstStyle/>
          <a:p>
            <a:r>
              <a:rPr lang="zh-CN" altLang="en-US"/>
              <a:t>单击此处编辑母版标题样式</a:t>
            </a:r>
          </a:p>
        </p:txBody>
      </p:sp>
      <p:sp>
        <p:nvSpPr>
          <p:cNvPr id="3" name="表格占位符 2"/>
          <p:cNvSpPr>
            <a:spLocks noGrp="1"/>
          </p:cNvSpPr>
          <p:nvPr>
            <p:ph type="tbl" idx="1"/>
          </p:nvPr>
        </p:nvSpPr>
        <p:spPr>
          <a:xfrm>
            <a:off x="609600" y="1981200"/>
            <a:ext cx="10972800" cy="3886200"/>
          </a:xfrm>
        </p:spPr>
        <p:txBody>
          <a:bodyPr/>
          <a:lstStyle/>
          <a:p>
            <a:pPr lvl="0"/>
            <a:endParaRPr lang="zh-CN" altLang="en-US" noProof="0"/>
          </a:p>
        </p:txBody>
      </p:sp>
      <p:sp>
        <p:nvSpPr>
          <p:cNvPr id="4" name="Rectangle 2"/>
          <p:cNvSpPr>
            <a:spLocks noGrp="1" noChangeArrowheads="1"/>
          </p:cNvSpPr>
          <p:nvPr>
            <p:ph type="ftr" sz="quarter" idx="10"/>
          </p:nvPr>
        </p:nvSpPr>
        <p:spPr>
          <a:ln/>
        </p:spPr>
        <p:txBody>
          <a:bodyPr/>
          <a:lstStyle>
            <a:lvl1pPr>
              <a:defRPr/>
            </a:lvl1pPr>
          </a:lstStyle>
          <a:p>
            <a:pPr>
              <a:defRPr/>
            </a:pPr>
            <a:endParaRPr lang="en-US" altLang="zh-CN"/>
          </a:p>
        </p:txBody>
      </p:sp>
      <p:sp>
        <p:nvSpPr>
          <p:cNvPr id="5" name="Rectangle 3"/>
          <p:cNvSpPr>
            <a:spLocks noGrp="1" noChangeArrowheads="1"/>
          </p:cNvSpPr>
          <p:nvPr>
            <p:ph type="sldNum" sz="quarter" idx="11"/>
          </p:nvPr>
        </p:nvSpPr>
        <p:spPr>
          <a:xfrm>
            <a:off x="91752" y="6280362"/>
            <a:ext cx="517848" cy="457200"/>
          </a:xfrm>
          <a:ln/>
        </p:spPr>
        <p:txBody>
          <a:bodyPr/>
          <a:lstStyle>
            <a:lvl1pPr>
              <a:defRPr/>
            </a:lvl1pPr>
          </a:lstStyle>
          <a:p>
            <a:pPr>
              <a:defRPr/>
            </a:pPr>
            <a:fld id="{D2933C39-8941-4754-97F1-DAC9E9289B4E}" type="slidenum">
              <a:rPr lang="en-US" altLang="zh-CN"/>
              <a:pPr>
                <a:defRPr/>
              </a:pPr>
              <a:t>‹#›</a:t>
            </a:fld>
            <a:endParaRPr lang="en-US" altLang="zh-CN"/>
          </a:p>
        </p:txBody>
      </p:sp>
      <p:sp>
        <p:nvSpPr>
          <p:cNvPr id="6" name="Rectangle 16"/>
          <p:cNvSpPr>
            <a:spLocks noGrp="1" noChangeArrowheads="1"/>
          </p:cNvSpPr>
          <p:nvPr>
            <p:ph type="dt" sz="half" idx="12"/>
          </p:nvPr>
        </p:nvSpPr>
        <p:spPr>
          <a:ln/>
        </p:spPr>
        <p:txBody>
          <a:bodyPr/>
          <a:lstStyle>
            <a:lvl1pPr>
              <a:defRPr/>
            </a:lvl1pPr>
          </a:lstStyle>
          <a:p>
            <a:pPr>
              <a:defRPr/>
            </a:pPr>
            <a:endParaRPr lang="en-US" altLang="zh-CN"/>
          </a:p>
        </p:txBody>
      </p:sp>
    </p:spTree>
    <p:extLst>
      <p:ext uri="{BB962C8B-B14F-4D97-AF65-F5344CB8AC3E}">
        <p14:creationId xmlns:p14="http://schemas.microsoft.com/office/powerpoint/2010/main" val="145610073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122" name="Rectangle 2"/>
          <p:cNvSpPr>
            <a:spLocks noGrp="1" noChangeArrowheads="1"/>
          </p:cNvSpPr>
          <p:nvPr>
            <p:ph type="ftr" sz="quarter" idx="3"/>
          </p:nvPr>
        </p:nvSpPr>
        <p:spPr bwMode="auto">
          <a:xfrm>
            <a:off x="4165600" y="6248400"/>
            <a:ext cx="3860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ctr">
              <a:defRPr sz="1200"/>
            </a:lvl1pPr>
          </a:lstStyle>
          <a:p>
            <a:pPr>
              <a:defRPr/>
            </a:pPr>
            <a:endParaRPr lang="en-US" altLang="zh-CN"/>
          </a:p>
        </p:txBody>
      </p:sp>
      <p:sp>
        <p:nvSpPr>
          <p:cNvPr id="5123" name="Rectangle 3"/>
          <p:cNvSpPr>
            <a:spLocks noGrp="1" noChangeArrowheads="1"/>
          </p:cNvSpPr>
          <p:nvPr>
            <p:ph type="sldNum" sz="quarter" idx="4"/>
          </p:nvPr>
        </p:nvSpPr>
        <p:spPr bwMode="auto">
          <a:xfrm>
            <a:off x="90131" y="6264275"/>
            <a:ext cx="51784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a:defRPr sz="1200">
                <a:latin typeface="Arial Black" pitchFamily="34" charset="0"/>
              </a:defRPr>
            </a:lvl1pPr>
          </a:lstStyle>
          <a:p>
            <a:pPr>
              <a:defRPr/>
            </a:pPr>
            <a:fld id="{461A77B0-1F5B-4DE1-802B-D0CEC0E6BFA8}" type="slidenum">
              <a:rPr lang="en-US" altLang="zh-CN"/>
              <a:pPr>
                <a:defRPr/>
              </a:pPr>
              <a:t>‹#›</a:t>
            </a:fld>
            <a:endParaRPr lang="en-US" altLang="zh-CN"/>
          </a:p>
        </p:txBody>
      </p:sp>
      <p:grpSp>
        <p:nvGrpSpPr>
          <p:cNvPr id="1028" name="Group 4"/>
          <p:cNvGrpSpPr>
            <a:grpSpLocks/>
          </p:cNvGrpSpPr>
          <p:nvPr/>
        </p:nvGrpSpPr>
        <p:grpSpPr bwMode="auto">
          <a:xfrm>
            <a:off x="0" y="0"/>
            <a:ext cx="12192000" cy="546100"/>
            <a:chOff x="0" y="0"/>
            <a:chExt cx="5760" cy="344"/>
          </a:xfrm>
        </p:grpSpPr>
        <p:sp>
          <p:nvSpPr>
            <p:cNvPr id="1032" name="Rectangle 5"/>
            <p:cNvSpPr>
              <a:spLocks noChangeArrowheads="1"/>
            </p:cNvSpPr>
            <p:nvPr/>
          </p:nvSpPr>
          <p:spPr bwMode="auto">
            <a:xfrm>
              <a:off x="0" y="0"/>
              <a:ext cx="180" cy="336"/>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CN" altLang="zh-CN" sz="2400">
                <a:latin typeface="Times New Roman" pitchFamily="18" charset="0"/>
              </a:endParaRPr>
            </a:p>
          </p:txBody>
        </p:sp>
        <p:sp>
          <p:nvSpPr>
            <p:cNvPr id="1033" name="Rectangle 6"/>
            <p:cNvSpPr>
              <a:spLocks noChangeArrowheads="1"/>
            </p:cNvSpPr>
            <p:nvPr/>
          </p:nvSpPr>
          <p:spPr bwMode="auto">
            <a:xfrm>
              <a:off x="260" y="85"/>
              <a:ext cx="5500" cy="173"/>
            </a:xfrm>
            <a:prstGeom prst="rect">
              <a:avLst/>
            </a:prstGeom>
            <a:gradFill rotWithShape="0">
              <a:gsLst>
                <a:gs pos="0">
                  <a:schemeClr val="bg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sz="2400">
                <a:latin typeface="Times New Roman" pitchFamily="18" charset="0"/>
              </a:endParaRPr>
            </a:p>
          </p:txBody>
        </p:sp>
        <p:sp>
          <p:nvSpPr>
            <p:cNvPr id="1034" name="Rectangle 7"/>
            <p:cNvSpPr>
              <a:spLocks noChangeArrowheads="1"/>
            </p:cNvSpPr>
            <p:nvPr/>
          </p:nvSpPr>
          <p:spPr bwMode="auto">
            <a:xfrm>
              <a:off x="258" y="85"/>
              <a:ext cx="87" cy="89"/>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a:solidFill>
                  <a:schemeClr val="hlink"/>
                </a:solidFill>
              </a:endParaRPr>
            </a:p>
          </p:txBody>
        </p:sp>
        <p:sp>
          <p:nvSpPr>
            <p:cNvPr id="1035" name="Rectangle 8"/>
            <p:cNvSpPr>
              <a:spLocks noChangeArrowheads="1"/>
            </p:cNvSpPr>
            <p:nvPr/>
          </p:nvSpPr>
          <p:spPr bwMode="auto">
            <a:xfrm>
              <a:off x="345" y="0"/>
              <a:ext cx="88" cy="87"/>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a:solidFill>
                  <a:schemeClr val="hlink"/>
                </a:solidFill>
              </a:endParaRPr>
            </a:p>
          </p:txBody>
        </p:sp>
        <p:sp>
          <p:nvSpPr>
            <p:cNvPr id="1036" name="Rectangle 9"/>
            <p:cNvSpPr>
              <a:spLocks noChangeArrowheads="1"/>
            </p:cNvSpPr>
            <p:nvPr/>
          </p:nvSpPr>
          <p:spPr bwMode="auto">
            <a:xfrm>
              <a:off x="345" y="85"/>
              <a:ext cx="88" cy="89"/>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a:solidFill>
                  <a:schemeClr val="accent2"/>
                </a:solidFill>
              </a:endParaRPr>
            </a:p>
          </p:txBody>
        </p:sp>
        <p:sp>
          <p:nvSpPr>
            <p:cNvPr id="1037" name="Rectangle 10"/>
            <p:cNvSpPr>
              <a:spLocks noChangeArrowheads="1"/>
            </p:cNvSpPr>
            <p:nvPr/>
          </p:nvSpPr>
          <p:spPr bwMode="auto">
            <a:xfrm>
              <a:off x="173" y="173"/>
              <a:ext cx="86" cy="87"/>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a:solidFill>
                  <a:schemeClr val="hlink"/>
                </a:solidFill>
              </a:endParaRPr>
            </a:p>
          </p:txBody>
        </p:sp>
        <p:sp>
          <p:nvSpPr>
            <p:cNvPr id="1038" name="Rectangle 11"/>
            <p:cNvSpPr>
              <a:spLocks noChangeArrowheads="1"/>
            </p:cNvSpPr>
            <p:nvPr/>
          </p:nvSpPr>
          <p:spPr bwMode="auto">
            <a:xfrm>
              <a:off x="83" y="86"/>
              <a:ext cx="89" cy="87"/>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sz="2400">
                <a:latin typeface="Times New Roman" pitchFamily="18" charset="0"/>
              </a:endParaRPr>
            </a:p>
          </p:txBody>
        </p:sp>
        <p:sp>
          <p:nvSpPr>
            <p:cNvPr id="1039" name="Rectangle 12"/>
            <p:cNvSpPr>
              <a:spLocks noChangeArrowheads="1"/>
            </p:cNvSpPr>
            <p:nvPr/>
          </p:nvSpPr>
          <p:spPr bwMode="auto">
            <a:xfrm>
              <a:off x="258" y="171"/>
              <a:ext cx="87" cy="87"/>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a:solidFill>
                  <a:schemeClr val="accent2"/>
                </a:solidFill>
              </a:endParaRPr>
            </a:p>
          </p:txBody>
        </p:sp>
        <p:sp>
          <p:nvSpPr>
            <p:cNvPr id="1040" name="Rectangle 13"/>
            <p:cNvSpPr>
              <a:spLocks noChangeArrowheads="1"/>
            </p:cNvSpPr>
            <p:nvPr/>
          </p:nvSpPr>
          <p:spPr bwMode="auto">
            <a:xfrm>
              <a:off x="173" y="258"/>
              <a:ext cx="86" cy="86"/>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a:solidFill>
                  <a:schemeClr val="accent2"/>
                </a:solidFill>
              </a:endParaRPr>
            </a:p>
          </p:txBody>
        </p:sp>
      </p:grpSp>
      <p:sp>
        <p:nvSpPr>
          <p:cNvPr id="1029" name="Rectangle 14"/>
          <p:cNvSpPr>
            <a:spLocks noGrp="1" noChangeArrowheads="1"/>
          </p:cNvSpPr>
          <p:nvPr>
            <p:ph type="title"/>
          </p:nvPr>
        </p:nvSpPr>
        <p:spPr bwMode="auto">
          <a:xfrm>
            <a:off x="609600" y="457200"/>
            <a:ext cx="10972800" cy="1371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zh-CN" altLang="en-US"/>
              <a:t>单击此处编辑母版标题样式</a:t>
            </a:r>
          </a:p>
        </p:txBody>
      </p:sp>
      <p:sp>
        <p:nvSpPr>
          <p:cNvPr id="1030" name="Rectangle 15"/>
          <p:cNvSpPr>
            <a:spLocks noGrp="1" noChangeArrowheads="1"/>
          </p:cNvSpPr>
          <p:nvPr>
            <p:ph type="body" idx="1"/>
          </p:nvPr>
        </p:nvSpPr>
        <p:spPr bwMode="auto">
          <a:xfrm>
            <a:off x="609600" y="1981200"/>
            <a:ext cx="10972800" cy="3886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136" name="Rectangle 16"/>
          <p:cNvSpPr>
            <a:spLocks noGrp="1" noChangeArrowheads="1"/>
          </p:cNvSpPr>
          <p:nvPr>
            <p:ph type="dt" sz="half" idx="2"/>
          </p:nvPr>
        </p:nvSpPr>
        <p:spPr bwMode="auto">
          <a:xfrm>
            <a:off x="609600" y="6245225"/>
            <a:ext cx="28448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defRPr sz="1200"/>
            </a:lvl1pPr>
          </a:lstStyle>
          <a:p>
            <a:pPr>
              <a:defRPr/>
            </a:pPr>
            <a:endParaRPr lang="en-US" altLang="zh-CN"/>
          </a:p>
        </p:txBody>
      </p:sp>
    </p:spTree>
  </p:cSld>
  <p:clrMap bg1="lt1" tx1="dk1" bg2="lt2" tx2="dk2" accent1="accent1" accent2="accent2" accent3="accent3" accent4="accent4" accent5="accent5" accent6="accent6" hlink="hlink" folHlink="folHlink"/>
  <p:sldLayoutIdLst>
    <p:sldLayoutId id="2147483693" r:id="rId1"/>
    <p:sldLayoutId id="2147483680" r:id="rId2"/>
    <p:sldLayoutId id="2147483681" r:id="rId3"/>
    <p:sldLayoutId id="2147483682" r:id="rId4"/>
    <p:sldLayoutId id="2147483683" r:id="rId5"/>
    <p:sldLayoutId id="2147483684" r:id="rId6"/>
    <p:sldLayoutId id="2147483685" r:id="rId7"/>
    <p:sldLayoutId id="2147483686" r:id="rId8"/>
    <p:sldLayoutId id="2147483687" r:id="rId9"/>
    <p:sldLayoutId id="2147483688" r:id="rId10"/>
    <p:sldLayoutId id="2147483689" r:id="rId11"/>
    <p:sldLayoutId id="2147483690" r:id="rId12"/>
    <p:sldLayoutId id="2147483691" r:id="rId13"/>
    <p:sldLayoutId id="2147483692" r:id="rId14"/>
  </p:sldLayoutIdLst>
  <p:hf hdr="0" ftr="0" dt="0"/>
  <p:txStyles>
    <p:titleStyle>
      <a:lvl1pPr algn="l" rtl="0" eaLnBrk="0" fontAlgn="base" hangingPunct="0">
        <a:spcBef>
          <a:spcPct val="0"/>
        </a:spcBef>
        <a:spcAft>
          <a:spcPct val="0"/>
        </a:spcAft>
        <a:defRPr sz="4400">
          <a:solidFill>
            <a:schemeClr val="tx1"/>
          </a:solidFill>
          <a:latin typeface="+mj-lt"/>
          <a:ea typeface="+mj-ea"/>
          <a:cs typeface="+mj-cs"/>
        </a:defRPr>
      </a:lvl1pPr>
      <a:lvl2pPr algn="l" rtl="0" eaLnBrk="0" fontAlgn="base" hangingPunct="0">
        <a:spcBef>
          <a:spcPct val="0"/>
        </a:spcBef>
        <a:spcAft>
          <a:spcPct val="0"/>
        </a:spcAft>
        <a:defRPr sz="4400">
          <a:solidFill>
            <a:schemeClr val="tx1"/>
          </a:solidFill>
          <a:latin typeface="Arial" charset="0"/>
          <a:ea typeface="宋体" pitchFamily="2" charset="-122"/>
        </a:defRPr>
      </a:lvl2pPr>
      <a:lvl3pPr algn="l" rtl="0" eaLnBrk="0" fontAlgn="base" hangingPunct="0">
        <a:spcBef>
          <a:spcPct val="0"/>
        </a:spcBef>
        <a:spcAft>
          <a:spcPct val="0"/>
        </a:spcAft>
        <a:defRPr sz="4400">
          <a:solidFill>
            <a:schemeClr val="tx1"/>
          </a:solidFill>
          <a:latin typeface="Arial" charset="0"/>
          <a:ea typeface="宋体" pitchFamily="2" charset="-122"/>
        </a:defRPr>
      </a:lvl3pPr>
      <a:lvl4pPr algn="l" rtl="0" eaLnBrk="0" fontAlgn="base" hangingPunct="0">
        <a:spcBef>
          <a:spcPct val="0"/>
        </a:spcBef>
        <a:spcAft>
          <a:spcPct val="0"/>
        </a:spcAft>
        <a:defRPr sz="4400">
          <a:solidFill>
            <a:schemeClr val="tx1"/>
          </a:solidFill>
          <a:latin typeface="Arial" charset="0"/>
          <a:ea typeface="宋体" pitchFamily="2" charset="-122"/>
        </a:defRPr>
      </a:lvl4pPr>
      <a:lvl5pPr algn="l" rtl="0" eaLnBrk="0" fontAlgn="base" hangingPunct="0">
        <a:spcBef>
          <a:spcPct val="0"/>
        </a:spcBef>
        <a:spcAft>
          <a:spcPct val="0"/>
        </a:spcAft>
        <a:defRPr sz="4400">
          <a:solidFill>
            <a:schemeClr val="tx1"/>
          </a:solidFill>
          <a:latin typeface="Arial" charset="0"/>
          <a:ea typeface="宋体" pitchFamily="2" charset="-122"/>
        </a:defRPr>
      </a:lvl5pPr>
      <a:lvl6pPr marL="457200" algn="l" rtl="0" fontAlgn="base">
        <a:spcBef>
          <a:spcPct val="0"/>
        </a:spcBef>
        <a:spcAft>
          <a:spcPct val="0"/>
        </a:spcAft>
        <a:defRPr sz="4400">
          <a:solidFill>
            <a:schemeClr val="tx1"/>
          </a:solidFill>
          <a:latin typeface="Arial" charset="0"/>
          <a:ea typeface="宋体" pitchFamily="2" charset="-122"/>
        </a:defRPr>
      </a:lvl6pPr>
      <a:lvl7pPr marL="914400" algn="l" rtl="0" fontAlgn="base">
        <a:spcBef>
          <a:spcPct val="0"/>
        </a:spcBef>
        <a:spcAft>
          <a:spcPct val="0"/>
        </a:spcAft>
        <a:defRPr sz="4400">
          <a:solidFill>
            <a:schemeClr val="tx1"/>
          </a:solidFill>
          <a:latin typeface="Arial" charset="0"/>
          <a:ea typeface="宋体" pitchFamily="2" charset="-122"/>
        </a:defRPr>
      </a:lvl7pPr>
      <a:lvl8pPr marL="1371600" algn="l" rtl="0" fontAlgn="base">
        <a:spcBef>
          <a:spcPct val="0"/>
        </a:spcBef>
        <a:spcAft>
          <a:spcPct val="0"/>
        </a:spcAft>
        <a:defRPr sz="4400">
          <a:solidFill>
            <a:schemeClr val="tx1"/>
          </a:solidFill>
          <a:latin typeface="Arial" charset="0"/>
          <a:ea typeface="宋体" pitchFamily="2" charset="-122"/>
        </a:defRPr>
      </a:lvl8pPr>
      <a:lvl9pPr marL="1828800" algn="l" rtl="0" fontAlgn="base">
        <a:spcBef>
          <a:spcPct val="0"/>
        </a:spcBef>
        <a:spcAft>
          <a:spcPct val="0"/>
        </a:spcAft>
        <a:defRPr sz="4400">
          <a:solidFill>
            <a:schemeClr val="tx1"/>
          </a:solidFill>
          <a:latin typeface="Arial" charset="0"/>
          <a:ea typeface="宋体" pitchFamily="2" charset="-122"/>
        </a:defRPr>
      </a:lvl9pPr>
    </p:titleStyle>
    <p:bodyStyle>
      <a:lvl1pPr marL="342900" indent="-342900" algn="l" rtl="0" eaLnBrk="0" fontAlgn="base" hangingPunct="0">
        <a:spcBef>
          <a:spcPct val="20000"/>
        </a:spcBef>
        <a:spcAft>
          <a:spcPct val="0"/>
        </a:spcAft>
        <a:buClr>
          <a:schemeClr val="bg2"/>
        </a:buClr>
        <a:buSzPct val="75000"/>
        <a:buFont typeface="Wingdings"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itchFamily="2" charset="2"/>
        <a:buChar char="§"/>
        <a:defRPr sz="2000">
          <a:solidFill>
            <a:schemeClr val="tx1"/>
          </a:solidFill>
          <a:latin typeface="+mn-lt"/>
          <a:ea typeface="+mn-ea"/>
        </a:defRPr>
      </a:lvl5pPr>
      <a:lvl6pPr marL="2514600" indent="-228600" algn="l" rtl="0" fontAlgn="base">
        <a:spcBef>
          <a:spcPct val="20000"/>
        </a:spcBef>
        <a:spcAft>
          <a:spcPct val="0"/>
        </a:spcAft>
        <a:buClr>
          <a:schemeClr val="bg2"/>
        </a:buClr>
        <a:buFont typeface="Wingdings" pitchFamily="2" charset="2"/>
        <a:buChar char="§"/>
        <a:defRPr sz="2000">
          <a:solidFill>
            <a:schemeClr val="tx1"/>
          </a:solidFill>
          <a:latin typeface="+mn-lt"/>
          <a:ea typeface="+mn-ea"/>
        </a:defRPr>
      </a:lvl6pPr>
      <a:lvl7pPr marL="2971800" indent="-228600" algn="l" rtl="0" fontAlgn="base">
        <a:spcBef>
          <a:spcPct val="20000"/>
        </a:spcBef>
        <a:spcAft>
          <a:spcPct val="0"/>
        </a:spcAft>
        <a:buClr>
          <a:schemeClr val="bg2"/>
        </a:buClr>
        <a:buFont typeface="Wingdings" pitchFamily="2" charset="2"/>
        <a:buChar char="§"/>
        <a:defRPr sz="2000">
          <a:solidFill>
            <a:schemeClr val="tx1"/>
          </a:solidFill>
          <a:latin typeface="+mn-lt"/>
          <a:ea typeface="+mn-ea"/>
        </a:defRPr>
      </a:lvl7pPr>
      <a:lvl8pPr marL="3429000" indent="-228600" algn="l" rtl="0" fontAlgn="base">
        <a:spcBef>
          <a:spcPct val="20000"/>
        </a:spcBef>
        <a:spcAft>
          <a:spcPct val="0"/>
        </a:spcAft>
        <a:buClr>
          <a:schemeClr val="bg2"/>
        </a:buClr>
        <a:buFont typeface="Wingdings" pitchFamily="2" charset="2"/>
        <a:buChar char="§"/>
        <a:defRPr sz="2000">
          <a:solidFill>
            <a:schemeClr val="tx1"/>
          </a:solidFill>
          <a:latin typeface="+mn-lt"/>
          <a:ea typeface="+mn-ea"/>
        </a:defRPr>
      </a:lvl8pPr>
      <a:lvl9pPr marL="3886200" indent="-228600" algn="l" rtl="0" fontAlgn="base">
        <a:spcBef>
          <a:spcPct val="20000"/>
        </a:spcBef>
        <a:spcAft>
          <a:spcPct val="0"/>
        </a:spcAft>
        <a:buClr>
          <a:schemeClr val="bg2"/>
        </a:buClr>
        <a:buFont typeface="Wingdings" pitchFamily="2" charset="2"/>
        <a:buChar char="§"/>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7.xml"/><Relationship Id="rId5" Type="http://schemas.openxmlformats.org/officeDocument/2006/relationships/image" Target="../media/image7.png"/><Relationship Id="rId4" Type="http://schemas.openxmlformats.org/officeDocument/2006/relationships/image" Target="../media/image6.png"/></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7.png"/><Relationship Id="rId4" Type="http://schemas.openxmlformats.org/officeDocument/2006/relationships/image" Target="../media/image6.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10.wmf"/><Relationship Id="rId2" Type="http://schemas.openxmlformats.org/officeDocument/2006/relationships/oleObject" Target="../embeddings/oleObject1.bin"/><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7.xml"/><Relationship Id="rId4" Type="http://schemas.openxmlformats.org/officeDocument/2006/relationships/image" Target="../media/image13.png"/></Relationships>
</file>

<file path=ppt/slides/_rels/slide1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7.xml"/><Relationship Id="rId4" Type="http://schemas.openxmlformats.org/officeDocument/2006/relationships/image" Target="../media/image12.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16.wmf"/><Relationship Id="rId7" Type="http://schemas.openxmlformats.org/officeDocument/2006/relationships/image" Target="../media/image18.wmf"/><Relationship Id="rId2" Type="http://schemas.openxmlformats.org/officeDocument/2006/relationships/oleObject" Target="../embeddings/oleObject2.bin"/><Relationship Id="rId1" Type="http://schemas.openxmlformats.org/officeDocument/2006/relationships/slideLayout" Target="../slideLayouts/slideLayout7.xml"/><Relationship Id="rId6" Type="http://schemas.openxmlformats.org/officeDocument/2006/relationships/oleObject" Target="../embeddings/oleObject4.bin"/><Relationship Id="rId5" Type="http://schemas.openxmlformats.org/officeDocument/2006/relationships/image" Target="../media/image17.wmf"/><Relationship Id="rId4" Type="http://schemas.openxmlformats.org/officeDocument/2006/relationships/oleObject" Target="../embeddings/oleObject3.bin"/></Relationships>
</file>

<file path=ppt/slides/_rels/slide19.xml.rels><?xml version="1.0" encoding="UTF-8" standalone="yes"?>
<Relationships xmlns="http://schemas.openxmlformats.org/package/2006/relationships"><Relationship Id="rId3" Type="http://schemas.openxmlformats.org/officeDocument/2006/relationships/image" Target="../media/image16.wmf"/><Relationship Id="rId7" Type="http://schemas.openxmlformats.org/officeDocument/2006/relationships/image" Target="../media/image20.wmf"/><Relationship Id="rId2" Type="http://schemas.openxmlformats.org/officeDocument/2006/relationships/oleObject" Target="../embeddings/oleObject2.bin"/><Relationship Id="rId1" Type="http://schemas.openxmlformats.org/officeDocument/2006/relationships/slideLayout" Target="../slideLayouts/slideLayout7.xml"/><Relationship Id="rId6" Type="http://schemas.openxmlformats.org/officeDocument/2006/relationships/oleObject" Target="../embeddings/oleObject6.bin"/><Relationship Id="rId5" Type="http://schemas.openxmlformats.org/officeDocument/2006/relationships/image" Target="../media/image19.wmf"/><Relationship Id="rId4" Type="http://schemas.openxmlformats.org/officeDocument/2006/relationships/oleObject" Target="../embeddings/oleObject5.bin"/></Relationships>
</file>

<file path=ppt/slides/_rels/slide20.xml.rels><?xml version="1.0" encoding="UTF-8" standalone="yes"?>
<Relationships xmlns="http://schemas.openxmlformats.org/package/2006/relationships"><Relationship Id="rId3" Type="http://schemas.openxmlformats.org/officeDocument/2006/relationships/image" Target="../media/image16.wmf"/><Relationship Id="rId7" Type="http://schemas.openxmlformats.org/officeDocument/2006/relationships/image" Target="../media/image22.wmf"/><Relationship Id="rId2" Type="http://schemas.openxmlformats.org/officeDocument/2006/relationships/oleObject" Target="../embeddings/oleObject2.bin"/><Relationship Id="rId1" Type="http://schemas.openxmlformats.org/officeDocument/2006/relationships/slideLayout" Target="../slideLayouts/slideLayout7.xml"/><Relationship Id="rId6" Type="http://schemas.openxmlformats.org/officeDocument/2006/relationships/oleObject" Target="../embeddings/oleObject8.bin"/><Relationship Id="rId5" Type="http://schemas.openxmlformats.org/officeDocument/2006/relationships/image" Target="../media/image21.wmf"/><Relationship Id="rId4" Type="http://schemas.openxmlformats.org/officeDocument/2006/relationships/oleObject" Target="../embeddings/oleObject7.bin"/></Relationships>
</file>

<file path=ppt/slides/_rels/slide21.xml.rels><?xml version="1.0" encoding="UTF-8" standalone="yes"?>
<Relationships xmlns="http://schemas.openxmlformats.org/package/2006/relationships"><Relationship Id="rId3" Type="http://schemas.openxmlformats.org/officeDocument/2006/relationships/oleObject" Target="../embeddings/oleObject9.bin"/><Relationship Id="rId2" Type="http://schemas.openxmlformats.org/officeDocument/2006/relationships/notesSlide" Target="../notesSlides/notesSlide4.xml"/><Relationship Id="rId1" Type="http://schemas.openxmlformats.org/officeDocument/2006/relationships/slideLayout" Target="../slideLayouts/slideLayout7.xml"/><Relationship Id="rId5" Type="http://schemas.openxmlformats.org/officeDocument/2006/relationships/image" Target="../media/image24.png"/><Relationship Id="rId4" Type="http://schemas.openxmlformats.org/officeDocument/2006/relationships/image" Target="../media/image23.wmf"/></Relationships>
</file>

<file path=ppt/slides/_rels/slide22.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3" Type="http://schemas.openxmlformats.org/officeDocument/2006/relationships/image" Target="../media/image10.wmf"/><Relationship Id="rId2" Type="http://schemas.openxmlformats.org/officeDocument/2006/relationships/oleObject" Target="../embeddings/oleObject1.bin"/><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ChangeArrowheads="1"/>
          </p:cNvSpPr>
          <p:nvPr>
            <p:ph type="ctrTitle"/>
          </p:nvPr>
        </p:nvSpPr>
        <p:spPr>
          <a:xfrm>
            <a:off x="2287588" y="2060575"/>
            <a:ext cx="8380412" cy="2209800"/>
          </a:xfrm>
        </p:spPr>
        <p:txBody>
          <a:bodyPr/>
          <a:lstStyle/>
          <a:p>
            <a:pPr algn="ctr" eaLnBrk="1" hangingPunct="1"/>
            <a:r>
              <a:rPr lang="zh-CN" altLang="en-US" sz="6600" b="1" dirty="0">
                <a:solidFill>
                  <a:srgbClr val="E8E81C"/>
                </a:solidFill>
                <a:effectLst>
                  <a:outerShdw blurRad="38100" dist="38100" dir="2700000" algn="tl">
                    <a:srgbClr val="000000">
                      <a:alpha val="43137"/>
                    </a:srgbClr>
                  </a:outerShdw>
                </a:effectLst>
                <a:latin typeface="隶书" pitchFamily="49" charset="-122"/>
                <a:ea typeface="隶书" pitchFamily="49" charset="-122"/>
              </a:rPr>
              <a:t>第</a:t>
            </a:r>
            <a:r>
              <a:rPr lang="zh-CN" altLang="en-US" sz="6600" b="1" dirty="0">
                <a:solidFill>
                  <a:srgbClr val="E8E81C"/>
                </a:solidFill>
                <a:effectLst>
                  <a:outerShdw blurRad="38100" dist="38100" dir="2700000" algn="tl">
                    <a:srgbClr val="000000">
                      <a:alpha val="43137"/>
                    </a:srgbClr>
                  </a:outerShdw>
                </a:effectLst>
                <a:ea typeface="隶书" pitchFamily="49" charset="-122"/>
              </a:rPr>
              <a:t> </a:t>
            </a:r>
            <a:r>
              <a:rPr lang="en-US" altLang="zh-CN" sz="6600" b="1" dirty="0">
                <a:solidFill>
                  <a:srgbClr val="E8E81C"/>
                </a:solidFill>
                <a:effectLst>
                  <a:outerShdw blurRad="38100" dist="38100" dir="2700000" algn="tl">
                    <a:srgbClr val="000000">
                      <a:alpha val="43137"/>
                    </a:srgbClr>
                  </a:outerShdw>
                </a:effectLst>
                <a:ea typeface="隶书" pitchFamily="49" charset="-122"/>
              </a:rPr>
              <a:t>9 </a:t>
            </a:r>
            <a:r>
              <a:rPr lang="zh-CN" altLang="en-US" sz="6600" b="1" dirty="0">
                <a:solidFill>
                  <a:srgbClr val="E8E81C"/>
                </a:solidFill>
                <a:effectLst>
                  <a:outerShdw blurRad="38100" dist="38100" dir="2700000" algn="tl">
                    <a:srgbClr val="000000">
                      <a:alpha val="43137"/>
                    </a:srgbClr>
                  </a:outerShdw>
                </a:effectLst>
                <a:latin typeface="隶书" pitchFamily="49" charset="-122"/>
                <a:ea typeface="隶书" pitchFamily="49" charset="-122"/>
              </a:rPr>
              <a:t>章</a:t>
            </a:r>
            <a:br>
              <a:rPr lang="zh-CN" altLang="en-US" sz="6600" b="1" dirty="0">
                <a:solidFill>
                  <a:srgbClr val="E8E81C"/>
                </a:solidFill>
                <a:effectLst>
                  <a:outerShdw blurRad="38100" dist="38100" dir="2700000" algn="tl">
                    <a:srgbClr val="000000">
                      <a:alpha val="43137"/>
                    </a:srgbClr>
                  </a:outerShdw>
                </a:effectLst>
                <a:latin typeface="隶书" pitchFamily="49" charset="-122"/>
                <a:ea typeface="隶书" pitchFamily="49" charset="-122"/>
              </a:rPr>
            </a:br>
            <a:r>
              <a:rPr lang="zh-CN" altLang="en-US" sz="6600" b="1" dirty="0">
                <a:solidFill>
                  <a:srgbClr val="E8E81C"/>
                </a:solidFill>
                <a:effectLst>
                  <a:outerShdw blurRad="38100" dist="38100" dir="2700000" algn="tl">
                    <a:srgbClr val="000000">
                      <a:alpha val="43137"/>
                    </a:srgbClr>
                  </a:outerShdw>
                </a:effectLst>
                <a:latin typeface="隶书" pitchFamily="49" charset="-122"/>
                <a:ea typeface="隶书" pitchFamily="49" charset="-122"/>
              </a:rPr>
              <a:t>模糊推理系统</a:t>
            </a:r>
          </a:p>
        </p:txBody>
      </p:sp>
      <p:sp>
        <p:nvSpPr>
          <p:cNvPr id="3075" name="Rectangle 3"/>
          <p:cNvSpPr>
            <a:spLocks noGrp="1" noChangeArrowheads="1"/>
          </p:cNvSpPr>
          <p:nvPr>
            <p:ph type="subTitle" idx="1"/>
          </p:nvPr>
        </p:nvSpPr>
        <p:spPr>
          <a:xfrm>
            <a:off x="3143672" y="4270375"/>
            <a:ext cx="6984926" cy="2587625"/>
          </a:xfrm>
        </p:spPr>
        <p:txBody>
          <a:bodyPr/>
          <a:lstStyle/>
          <a:p>
            <a:pPr eaLnBrk="1" hangingPunct="1"/>
            <a:r>
              <a:rPr lang="en-US" altLang="zh-CN" sz="2800" dirty="0">
                <a:solidFill>
                  <a:srgbClr val="E90101"/>
                </a:solidFill>
                <a:latin typeface="Comic Sans MS" panose="030F0702030302020204" pitchFamily="66" charset="0"/>
                <a:ea typeface="黑体" panose="02010609060101010101" pitchFamily="49" charset="-122"/>
              </a:rPr>
              <a:t>9.1  </a:t>
            </a:r>
            <a:r>
              <a:rPr lang="zh-CN" altLang="en-US" sz="2800" dirty="0">
                <a:solidFill>
                  <a:srgbClr val="E90101"/>
                </a:solidFill>
                <a:latin typeface="Comic Sans MS" panose="030F0702030302020204" pitchFamily="66" charset="0"/>
                <a:ea typeface="黑体" panose="02010609060101010101" pitchFamily="49" charset="-122"/>
              </a:rPr>
              <a:t>概述</a:t>
            </a:r>
          </a:p>
          <a:p>
            <a:pPr eaLnBrk="1" hangingPunct="1"/>
            <a:r>
              <a:rPr lang="en-US" altLang="zh-CN" sz="2800" dirty="0">
                <a:solidFill>
                  <a:srgbClr val="E90101"/>
                </a:solidFill>
                <a:latin typeface="Comic Sans MS" panose="030F0702030302020204" pitchFamily="66" charset="0"/>
                <a:ea typeface="黑体" panose="02010609060101010101" pitchFamily="49" charset="-122"/>
              </a:rPr>
              <a:t>9.2  Mamdani </a:t>
            </a:r>
            <a:r>
              <a:rPr lang="zh-CN" altLang="en-US" sz="2800" dirty="0">
                <a:solidFill>
                  <a:srgbClr val="E90101"/>
                </a:solidFill>
                <a:latin typeface="Comic Sans MS" panose="030F0702030302020204" pitchFamily="66" charset="0"/>
                <a:ea typeface="黑体" panose="02010609060101010101" pitchFamily="49" charset="-122"/>
              </a:rPr>
              <a:t>模糊模型</a:t>
            </a:r>
          </a:p>
          <a:p>
            <a:pPr eaLnBrk="1" hangingPunct="1"/>
            <a:r>
              <a:rPr lang="en-US" altLang="zh-CN" sz="2800" dirty="0">
                <a:solidFill>
                  <a:srgbClr val="E90101"/>
                </a:solidFill>
                <a:latin typeface="Comic Sans MS" panose="030F0702030302020204" pitchFamily="66" charset="0"/>
                <a:ea typeface="黑体" panose="02010609060101010101" pitchFamily="49" charset="-122"/>
              </a:rPr>
              <a:t>9.3  </a:t>
            </a:r>
            <a:r>
              <a:rPr lang="en-US" altLang="zh-CN" sz="2800" dirty="0" err="1">
                <a:solidFill>
                  <a:srgbClr val="E90101"/>
                </a:solidFill>
                <a:latin typeface="Comic Sans MS" panose="030F0702030302020204" pitchFamily="66" charset="0"/>
                <a:ea typeface="黑体" panose="02010609060101010101" pitchFamily="49" charset="-122"/>
              </a:rPr>
              <a:t>Sugeno</a:t>
            </a:r>
            <a:r>
              <a:rPr lang="en-US" altLang="zh-CN" sz="2800" dirty="0">
                <a:solidFill>
                  <a:srgbClr val="E90101"/>
                </a:solidFill>
                <a:latin typeface="Comic Sans MS" panose="030F0702030302020204" pitchFamily="66" charset="0"/>
                <a:ea typeface="黑体" panose="02010609060101010101" pitchFamily="49" charset="-122"/>
              </a:rPr>
              <a:t> </a:t>
            </a:r>
            <a:r>
              <a:rPr lang="zh-CN" altLang="en-US" sz="2800" dirty="0">
                <a:solidFill>
                  <a:srgbClr val="E90101"/>
                </a:solidFill>
                <a:latin typeface="Comic Sans MS" panose="030F0702030302020204" pitchFamily="66" charset="0"/>
                <a:ea typeface="黑体" panose="02010609060101010101" pitchFamily="49" charset="-122"/>
              </a:rPr>
              <a:t>模糊模型</a:t>
            </a:r>
          </a:p>
          <a:p>
            <a:pPr eaLnBrk="1" hangingPunct="1"/>
            <a:r>
              <a:rPr lang="en-US" altLang="zh-CN" sz="2800" dirty="0">
                <a:solidFill>
                  <a:srgbClr val="E90101"/>
                </a:solidFill>
                <a:latin typeface="Comic Sans MS" panose="030F0702030302020204" pitchFamily="66" charset="0"/>
                <a:ea typeface="黑体" panose="02010609060101010101" pitchFamily="49" charset="-122"/>
              </a:rPr>
              <a:t>9.4  Tsukamoto </a:t>
            </a:r>
            <a:r>
              <a:rPr lang="zh-CN" altLang="en-US" sz="2800" dirty="0">
                <a:solidFill>
                  <a:srgbClr val="E90101"/>
                </a:solidFill>
                <a:latin typeface="Comic Sans MS" panose="030F0702030302020204" pitchFamily="66" charset="0"/>
                <a:ea typeface="黑体" panose="02010609060101010101" pitchFamily="49" charset="-122"/>
              </a:rPr>
              <a:t>模糊模型</a:t>
            </a:r>
            <a:endParaRPr lang="en-US" altLang="zh-CN" sz="2800" dirty="0">
              <a:solidFill>
                <a:srgbClr val="E90101"/>
              </a:solidFill>
              <a:latin typeface="Comic Sans MS" panose="030F0702030302020204" pitchFamily="66" charset="0"/>
              <a:ea typeface="黑体" panose="02010609060101010101" pitchFamily="49" charset="-122"/>
            </a:endParaRPr>
          </a:p>
          <a:p>
            <a:pPr eaLnBrk="1" hangingPunct="1"/>
            <a:r>
              <a:rPr lang="en-US" altLang="zh-CN" sz="2800" dirty="0">
                <a:solidFill>
                  <a:srgbClr val="E90101"/>
                </a:solidFill>
                <a:latin typeface="Comic Sans MS" panose="030F0702030302020204" pitchFamily="66" charset="0"/>
                <a:ea typeface="黑体" panose="02010609060101010101" pitchFamily="49" charset="-122"/>
              </a:rPr>
              <a:t>9.5  </a:t>
            </a:r>
            <a:r>
              <a:rPr lang="en-US" altLang="zh-CN" sz="2800" dirty="0">
                <a:solidFill>
                  <a:srgbClr val="FF0000"/>
                </a:solidFill>
              </a:rPr>
              <a:t>F</a:t>
            </a:r>
            <a:r>
              <a:rPr lang="zh-CN" altLang="en-US" sz="2800" dirty="0">
                <a:solidFill>
                  <a:srgbClr val="FF0000"/>
                </a:solidFill>
                <a:ea typeface="黑体" panose="02010609060101010101" pitchFamily="49" charset="-122"/>
              </a:rPr>
              <a:t>推理系统实现所考虑的其他因素</a:t>
            </a:r>
          </a:p>
        </p:txBody>
      </p:sp>
      <p:sp>
        <p:nvSpPr>
          <p:cNvPr id="2" name="灯片编号占位符 1">
            <a:extLst>
              <a:ext uri="{FF2B5EF4-FFF2-40B4-BE49-F238E27FC236}">
                <a16:creationId xmlns:a16="http://schemas.microsoft.com/office/drawing/2014/main" id="{08FE8D79-9D91-7633-201D-C15E716837D7}"/>
              </a:ext>
            </a:extLst>
          </p:cNvPr>
          <p:cNvSpPr>
            <a:spLocks noGrp="1"/>
          </p:cNvSpPr>
          <p:nvPr>
            <p:ph type="sldNum" sz="quarter" idx="12"/>
          </p:nvPr>
        </p:nvSpPr>
        <p:spPr/>
        <p:txBody>
          <a:bodyPr/>
          <a:lstStyle/>
          <a:p>
            <a:pPr>
              <a:defRPr/>
            </a:pPr>
            <a:fld id="{DDACB426-8E95-4BBB-9181-885B2B64E6D8}" type="slidenum">
              <a:rPr lang="en-US" altLang="zh-CN" smtClean="0"/>
              <a:pPr>
                <a:defRPr/>
              </a:pPr>
              <a:t>1</a:t>
            </a:fld>
            <a:endParaRPr lang="en-US" altLang="zh-CN"/>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idx="4294967295"/>
          </p:nvPr>
        </p:nvSpPr>
        <p:spPr>
          <a:xfrm>
            <a:off x="1981200" y="476672"/>
            <a:ext cx="8229600" cy="1027113"/>
          </a:xfrm>
        </p:spPr>
        <p:txBody>
          <a:bodyPr/>
          <a:lstStyle/>
          <a:p>
            <a:pPr algn="ctr" eaLnBrk="1" hangingPunct="1"/>
            <a:r>
              <a:rPr lang="en-US" altLang="zh-CN" dirty="0">
                <a:solidFill>
                  <a:srgbClr val="128828"/>
                </a:solidFill>
                <a:ea typeface="黑体" panose="02010609060101010101" pitchFamily="49" charset="-122"/>
              </a:rPr>
              <a:t>9.1  F </a:t>
            </a:r>
            <a:r>
              <a:rPr lang="zh-CN" altLang="en-US" dirty="0">
                <a:solidFill>
                  <a:srgbClr val="128828"/>
                </a:solidFill>
                <a:ea typeface="黑体" panose="02010609060101010101" pitchFamily="49" charset="-122"/>
              </a:rPr>
              <a:t>推理系统概述</a:t>
            </a:r>
          </a:p>
        </p:txBody>
      </p:sp>
      <p:sp>
        <p:nvSpPr>
          <p:cNvPr id="5123" name="Rectangle 3"/>
          <p:cNvSpPr>
            <a:spLocks noGrp="1" noChangeArrowheads="1"/>
          </p:cNvSpPr>
          <p:nvPr>
            <p:ph type="body" idx="4294967295"/>
          </p:nvPr>
        </p:nvSpPr>
        <p:spPr>
          <a:xfrm>
            <a:off x="911424" y="1700808"/>
            <a:ext cx="10441160" cy="4968875"/>
          </a:xfrm>
        </p:spPr>
        <p:txBody>
          <a:bodyPr/>
          <a:lstStyle/>
          <a:p>
            <a:pPr eaLnBrk="1" hangingPunct="1">
              <a:lnSpc>
                <a:spcPct val="110000"/>
              </a:lnSpc>
            </a:pPr>
            <a:r>
              <a:rPr lang="en-US" altLang="zh-CN" dirty="0">
                <a:solidFill>
                  <a:srgbClr val="FF0000"/>
                </a:solidFill>
                <a:ea typeface="黑体" panose="02010609060101010101" pitchFamily="49" charset="-122"/>
              </a:rPr>
              <a:t>F</a:t>
            </a:r>
            <a:r>
              <a:rPr lang="zh-CN" altLang="en-US" dirty="0">
                <a:solidFill>
                  <a:srgbClr val="FF0000"/>
                </a:solidFill>
                <a:ea typeface="黑体" panose="02010609060101010101" pitchFamily="49" charset="-122"/>
              </a:rPr>
              <a:t>推理系统(Fuzzy Inference System——FIS)</a:t>
            </a:r>
          </a:p>
          <a:p>
            <a:pPr lvl="1" eaLnBrk="1" hangingPunct="1">
              <a:lnSpc>
                <a:spcPct val="110000"/>
              </a:lnSpc>
            </a:pPr>
            <a:r>
              <a:rPr lang="zh-CN" altLang="en-US" b="1" dirty="0">
                <a:ea typeface="楷体_GB2312" pitchFamily="1" charset="-122"/>
              </a:rPr>
              <a:t>是建立在</a:t>
            </a:r>
            <a:r>
              <a:rPr lang="en-US" altLang="zh-CN" b="1" dirty="0">
                <a:ea typeface="楷体_GB2312" pitchFamily="1" charset="-122"/>
              </a:rPr>
              <a:t>F</a:t>
            </a:r>
            <a:r>
              <a:rPr lang="zh-CN" altLang="en-US" b="1" dirty="0">
                <a:ea typeface="楷体_GB2312" pitchFamily="1" charset="-122"/>
              </a:rPr>
              <a:t>集合理论、模糊“</a:t>
            </a:r>
            <a:r>
              <a:rPr lang="en-US" altLang="zh-CN" b="1" u="sng" dirty="0">
                <a:solidFill>
                  <a:srgbClr val="CC00CC"/>
                </a:solidFill>
                <a:ea typeface="楷体_GB2312" pitchFamily="1" charset="-122"/>
              </a:rPr>
              <a:t>IF - THEN</a:t>
            </a:r>
            <a:r>
              <a:rPr lang="en-US" altLang="zh-CN" b="1" dirty="0">
                <a:ea typeface="楷体_GB2312" pitchFamily="1" charset="-122"/>
              </a:rPr>
              <a:t>” </a:t>
            </a:r>
            <a:r>
              <a:rPr lang="zh-CN" altLang="en-US" b="1" dirty="0">
                <a:ea typeface="楷体_GB2312" pitchFamily="1" charset="-122"/>
              </a:rPr>
              <a:t>规则和</a:t>
            </a:r>
            <a:r>
              <a:rPr lang="en-US" altLang="zh-CN" b="1" dirty="0">
                <a:ea typeface="楷体_GB2312" pitchFamily="1" charset="-122"/>
              </a:rPr>
              <a:t>F</a:t>
            </a:r>
            <a:r>
              <a:rPr lang="zh-CN" altLang="en-US" b="1" dirty="0">
                <a:ea typeface="楷体_GB2312" pitchFamily="1" charset="-122"/>
              </a:rPr>
              <a:t>推理等基础和先进的计算框架上的。</a:t>
            </a:r>
          </a:p>
          <a:p>
            <a:pPr lvl="1" eaLnBrk="1" hangingPunct="1">
              <a:lnSpc>
                <a:spcPct val="110000"/>
              </a:lnSpc>
            </a:pPr>
            <a:r>
              <a:rPr lang="zh-CN" altLang="en-US" dirty="0">
                <a:ea typeface="黑体" panose="02010609060101010101" pitchFamily="49" charset="-122"/>
              </a:rPr>
              <a:t>在诸如自动控制、数据分类、决策分析、专家系统、时间序列预测、机器人和模式识别等领域得到了成功的应用。</a:t>
            </a:r>
          </a:p>
          <a:p>
            <a:pPr lvl="1" eaLnBrk="1" hangingPunct="1">
              <a:lnSpc>
                <a:spcPct val="110000"/>
              </a:lnSpc>
            </a:pPr>
            <a:r>
              <a:rPr lang="zh-CN" altLang="en-US" dirty="0">
                <a:ea typeface="黑体" panose="02010609060101010101" pitchFamily="49" charset="-122"/>
              </a:rPr>
              <a:t>它有许多叫法</a:t>
            </a:r>
            <a:r>
              <a:rPr lang="en-US" altLang="zh-CN" dirty="0">
                <a:ea typeface="黑体" panose="02010609060101010101" pitchFamily="49" charset="-122"/>
              </a:rPr>
              <a:t>——</a:t>
            </a:r>
            <a:endParaRPr lang="zh-CN" altLang="en-US" dirty="0">
              <a:ea typeface="黑体" panose="02010609060101010101" pitchFamily="49" charset="-122"/>
            </a:endParaRPr>
          </a:p>
          <a:p>
            <a:pPr lvl="2" eaLnBrk="1" hangingPunct="1">
              <a:lnSpc>
                <a:spcPct val="110000"/>
              </a:lnSpc>
            </a:pPr>
            <a:r>
              <a:rPr lang="zh-CN" altLang="en-US" sz="2800" b="1" dirty="0">
                <a:solidFill>
                  <a:srgbClr val="3333FF"/>
                </a:solidFill>
                <a:ea typeface="华文楷体" panose="02010600040101010101" pitchFamily="2" charset="-122"/>
              </a:rPr>
              <a:t>基于</a:t>
            </a:r>
            <a:r>
              <a:rPr lang="en-US" altLang="zh-CN" sz="2800" b="1" dirty="0">
                <a:solidFill>
                  <a:srgbClr val="3333FF"/>
                </a:solidFill>
                <a:ea typeface="华文楷体" panose="02010600040101010101" pitchFamily="2" charset="-122"/>
              </a:rPr>
              <a:t>F</a:t>
            </a:r>
            <a:r>
              <a:rPr lang="zh-CN" altLang="en-US" sz="2800" b="1" dirty="0">
                <a:solidFill>
                  <a:srgbClr val="3333FF"/>
                </a:solidFill>
                <a:ea typeface="华文楷体" panose="02010600040101010101" pitchFamily="2" charset="-122"/>
              </a:rPr>
              <a:t>规则的系统、</a:t>
            </a:r>
            <a:r>
              <a:rPr lang="en-US" altLang="zh-CN" sz="2800" b="1" dirty="0">
                <a:solidFill>
                  <a:srgbClr val="3333FF"/>
                </a:solidFill>
                <a:ea typeface="华文楷体" panose="02010600040101010101" pitchFamily="2" charset="-122"/>
              </a:rPr>
              <a:t>F</a:t>
            </a:r>
            <a:r>
              <a:rPr lang="zh-CN" altLang="en-US" sz="2800" b="1" dirty="0">
                <a:solidFill>
                  <a:srgbClr val="3333FF"/>
                </a:solidFill>
                <a:ea typeface="华文楷体" panose="02010600040101010101" pitchFamily="2" charset="-122"/>
              </a:rPr>
              <a:t>专家系统、</a:t>
            </a:r>
            <a:r>
              <a:rPr lang="en-US" altLang="zh-CN" sz="2800" b="1" dirty="0">
                <a:solidFill>
                  <a:srgbClr val="3333FF"/>
                </a:solidFill>
                <a:ea typeface="华文楷体" panose="02010600040101010101" pitchFamily="2" charset="-122"/>
              </a:rPr>
              <a:t>F</a:t>
            </a:r>
            <a:r>
              <a:rPr lang="zh-CN" altLang="en-US" sz="2800" b="1" dirty="0">
                <a:solidFill>
                  <a:srgbClr val="3333FF"/>
                </a:solidFill>
                <a:ea typeface="华文楷体" panose="02010600040101010101" pitchFamily="2" charset="-122"/>
              </a:rPr>
              <a:t>模型、</a:t>
            </a:r>
            <a:r>
              <a:rPr lang="en-US" altLang="zh-CN" sz="2800" b="1" dirty="0">
                <a:solidFill>
                  <a:srgbClr val="3333FF"/>
                </a:solidFill>
                <a:ea typeface="华文楷体" panose="02010600040101010101" pitchFamily="2" charset="-122"/>
              </a:rPr>
              <a:t>F</a:t>
            </a:r>
            <a:r>
              <a:rPr lang="zh-CN" altLang="en-US" sz="2800" b="1" dirty="0">
                <a:solidFill>
                  <a:srgbClr val="3333FF"/>
                </a:solidFill>
                <a:ea typeface="华文楷体" panose="02010600040101010101" pitchFamily="2" charset="-122"/>
              </a:rPr>
              <a:t>联想存贮、</a:t>
            </a:r>
            <a:r>
              <a:rPr lang="en-US" altLang="zh-CN" sz="2800" b="1" dirty="0">
                <a:solidFill>
                  <a:srgbClr val="3333FF"/>
                </a:solidFill>
                <a:ea typeface="华文楷体" panose="02010600040101010101" pitchFamily="2" charset="-122"/>
              </a:rPr>
              <a:t>F</a:t>
            </a:r>
            <a:r>
              <a:rPr lang="zh-CN" altLang="en-US" sz="2800" b="1" dirty="0">
                <a:solidFill>
                  <a:srgbClr val="3333FF"/>
                </a:solidFill>
                <a:ea typeface="华文楷体" panose="02010600040101010101" pitchFamily="2" charset="-122"/>
              </a:rPr>
              <a:t>逻辑控制器</a:t>
            </a:r>
          </a:p>
          <a:p>
            <a:pPr lvl="2" eaLnBrk="1" hangingPunct="1">
              <a:lnSpc>
                <a:spcPct val="110000"/>
              </a:lnSpc>
            </a:pPr>
            <a:r>
              <a:rPr lang="zh-CN" altLang="en-US" sz="2800" dirty="0">
                <a:ea typeface="黑体" panose="02010609060101010101" pitchFamily="49" charset="-122"/>
              </a:rPr>
              <a:t>简称</a:t>
            </a:r>
            <a:r>
              <a:rPr lang="en-US" altLang="zh-CN" sz="2800" dirty="0">
                <a:ea typeface="黑体" panose="02010609060101010101" pitchFamily="49" charset="-122"/>
              </a:rPr>
              <a:t>——“</a:t>
            </a:r>
            <a:r>
              <a:rPr lang="en-US" altLang="zh-CN" sz="2800" dirty="0">
                <a:solidFill>
                  <a:srgbClr val="FF0000"/>
                </a:solidFill>
                <a:ea typeface="黑体" panose="02010609060101010101" pitchFamily="49" charset="-122"/>
              </a:rPr>
              <a:t>F</a:t>
            </a:r>
            <a:r>
              <a:rPr lang="zh-CN" altLang="en-US" sz="2800" dirty="0">
                <a:solidFill>
                  <a:srgbClr val="FF0000"/>
                </a:solidFill>
                <a:ea typeface="黑体" panose="02010609060101010101" pitchFamily="49" charset="-122"/>
              </a:rPr>
              <a:t>系统</a:t>
            </a:r>
            <a:r>
              <a:rPr lang="zh-CN" altLang="en-US" sz="2800" dirty="0">
                <a:ea typeface="黑体" panose="02010609060101010101" pitchFamily="49" charset="-122"/>
              </a:rPr>
              <a:t>”</a:t>
            </a:r>
            <a:endParaRPr lang="zh-CN" altLang="en-US" sz="2800" b="1" dirty="0">
              <a:ea typeface="楷体_GB2312" pitchFamily="1" charset="-122"/>
            </a:endParaRPr>
          </a:p>
        </p:txBody>
      </p:sp>
      <p:sp>
        <p:nvSpPr>
          <p:cNvPr id="2" name="灯片编号占位符 1">
            <a:extLst>
              <a:ext uri="{FF2B5EF4-FFF2-40B4-BE49-F238E27FC236}">
                <a16:creationId xmlns:a16="http://schemas.microsoft.com/office/drawing/2014/main" id="{9EB060B4-55BC-5F50-472E-3BBC878BB5B8}"/>
              </a:ext>
            </a:extLst>
          </p:cNvPr>
          <p:cNvSpPr>
            <a:spLocks noGrp="1"/>
          </p:cNvSpPr>
          <p:nvPr>
            <p:ph type="sldNum" sz="quarter" idx="11"/>
          </p:nvPr>
        </p:nvSpPr>
        <p:spPr/>
        <p:txBody>
          <a:bodyPr/>
          <a:lstStyle/>
          <a:p>
            <a:pPr>
              <a:defRPr/>
            </a:pPr>
            <a:fld id="{B77A47BA-BA63-4780-94A9-8AFA2EA4438D}" type="slidenum">
              <a:rPr lang="en-US" altLang="zh-CN" smtClean="0"/>
              <a:pPr>
                <a:defRPr/>
              </a:pPr>
              <a:t>2</a:t>
            </a:fld>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1" fill="hold" nodeType="clickEffect">
                                  <p:stCondLst>
                                    <p:cond delay="0"/>
                                  </p:stCondLst>
                                  <p:childTnLst>
                                    <p:set>
                                      <p:cBhvr>
                                        <p:cTn id="6" dur="1" fill="hold">
                                          <p:stCondLst>
                                            <p:cond delay="0"/>
                                          </p:stCondLst>
                                        </p:cTn>
                                        <p:tgtEl>
                                          <p:spTgt spid="5123">
                                            <p:txEl>
                                              <p:pRg st="0" end="0"/>
                                            </p:txEl>
                                          </p:spTgt>
                                        </p:tgtEl>
                                        <p:attrNameLst>
                                          <p:attrName>style.visibility</p:attrName>
                                        </p:attrNameLst>
                                      </p:cBhvr>
                                      <p:to>
                                        <p:strVal val="visible"/>
                                      </p:to>
                                    </p:set>
                                    <p:animEffect transition="in" filter="wipe(up)">
                                      <p:cBhvr>
                                        <p:cTn id="7" dur="500"/>
                                        <p:tgtEl>
                                          <p:spTgt spid="5123">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1" fill="hold" nodeType="clickEffect">
                                  <p:stCondLst>
                                    <p:cond delay="0"/>
                                  </p:stCondLst>
                                  <p:childTnLst>
                                    <p:set>
                                      <p:cBhvr>
                                        <p:cTn id="11" dur="1" fill="hold">
                                          <p:stCondLst>
                                            <p:cond delay="0"/>
                                          </p:stCondLst>
                                        </p:cTn>
                                        <p:tgtEl>
                                          <p:spTgt spid="5123">
                                            <p:txEl>
                                              <p:pRg st="1" end="1"/>
                                            </p:txEl>
                                          </p:spTgt>
                                        </p:tgtEl>
                                        <p:attrNameLst>
                                          <p:attrName>style.visibility</p:attrName>
                                        </p:attrNameLst>
                                      </p:cBhvr>
                                      <p:to>
                                        <p:strVal val="visible"/>
                                      </p:to>
                                    </p:set>
                                    <p:animEffect transition="in" filter="wipe(up)">
                                      <p:cBhvr>
                                        <p:cTn id="12" dur="500"/>
                                        <p:tgtEl>
                                          <p:spTgt spid="5123">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1" fill="hold" nodeType="clickEffect">
                                  <p:stCondLst>
                                    <p:cond delay="0"/>
                                  </p:stCondLst>
                                  <p:childTnLst>
                                    <p:set>
                                      <p:cBhvr>
                                        <p:cTn id="16" dur="1" fill="hold">
                                          <p:stCondLst>
                                            <p:cond delay="0"/>
                                          </p:stCondLst>
                                        </p:cTn>
                                        <p:tgtEl>
                                          <p:spTgt spid="5123">
                                            <p:txEl>
                                              <p:pRg st="2" end="2"/>
                                            </p:txEl>
                                          </p:spTgt>
                                        </p:tgtEl>
                                        <p:attrNameLst>
                                          <p:attrName>style.visibility</p:attrName>
                                        </p:attrNameLst>
                                      </p:cBhvr>
                                      <p:to>
                                        <p:strVal val="visible"/>
                                      </p:to>
                                    </p:set>
                                    <p:animEffect transition="in" filter="wipe(up)">
                                      <p:cBhvr>
                                        <p:cTn id="17" dur="500"/>
                                        <p:tgtEl>
                                          <p:spTgt spid="5123">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1" fill="hold" nodeType="clickEffect">
                                  <p:stCondLst>
                                    <p:cond delay="0"/>
                                  </p:stCondLst>
                                  <p:childTnLst>
                                    <p:set>
                                      <p:cBhvr>
                                        <p:cTn id="21" dur="1" fill="hold">
                                          <p:stCondLst>
                                            <p:cond delay="0"/>
                                          </p:stCondLst>
                                        </p:cTn>
                                        <p:tgtEl>
                                          <p:spTgt spid="5123">
                                            <p:txEl>
                                              <p:pRg st="3" end="3"/>
                                            </p:txEl>
                                          </p:spTgt>
                                        </p:tgtEl>
                                        <p:attrNameLst>
                                          <p:attrName>style.visibility</p:attrName>
                                        </p:attrNameLst>
                                      </p:cBhvr>
                                      <p:to>
                                        <p:strVal val="visible"/>
                                      </p:to>
                                    </p:set>
                                    <p:animEffect transition="in" filter="wipe(up)">
                                      <p:cBhvr>
                                        <p:cTn id="22" dur="500"/>
                                        <p:tgtEl>
                                          <p:spTgt spid="5123">
                                            <p:txEl>
                                              <p:pRg st="3" end="3"/>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1" fill="hold" nodeType="clickEffect">
                                  <p:stCondLst>
                                    <p:cond delay="0"/>
                                  </p:stCondLst>
                                  <p:childTnLst>
                                    <p:set>
                                      <p:cBhvr>
                                        <p:cTn id="26" dur="1" fill="hold">
                                          <p:stCondLst>
                                            <p:cond delay="0"/>
                                          </p:stCondLst>
                                        </p:cTn>
                                        <p:tgtEl>
                                          <p:spTgt spid="5123">
                                            <p:txEl>
                                              <p:pRg st="4" end="4"/>
                                            </p:txEl>
                                          </p:spTgt>
                                        </p:tgtEl>
                                        <p:attrNameLst>
                                          <p:attrName>style.visibility</p:attrName>
                                        </p:attrNameLst>
                                      </p:cBhvr>
                                      <p:to>
                                        <p:strVal val="visible"/>
                                      </p:to>
                                    </p:set>
                                    <p:animEffect transition="in" filter="wipe(up)">
                                      <p:cBhvr>
                                        <p:cTn id="27" dur="500"/>
                                        <p:tgtEl>
                                          <p:spTgt spid="5123">
                                            <p:txEl>
                                              <p:pRg st="4" end="4"/>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1" fill="hold" nodeType="clickEffect">
                                  <p:stCondLst>
                                    <p:cond delay="0"/>
                                  </p:stCondLst>
                                  <p:childTnLst>
                                    <p:set>
                                      <p:cBhvr>
                                        <p:cTn id="31" dur="1" fill="hold">
                                          <p:stCondLst>
                                            <p:cond delay="0"/>
                                          </p:stCondLst>
                                        </p:cTn>
                                        <p:tgtEl>
                                          <p:spTgt spid="5123">
                                            <p:txEl>
                                              <p:pRg st="5" end="5"/>
                                            </p:txEl>
                                          </p:spTgt>
                                        </p:tgtEl>
                                        <p:attrNameLst>
                                          <p:attrName>style.visibility</p:attrName>
                                        </p:attrNameLst>
                                      </p:cBhvr>
                                      <p:to>
                                        <p:strVal val="visible"/>
                                      </p:to>
                                    </p:set>
                                    <p:animEffect transition="in" filter="wipe(up)">
                                      <p:cBhvr>
                                        <p:cTn id="32" dur="500"/>
                                        <p:tgtEl>
                                          <p:spTgt spid="512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48"/>
          <p:cNvSpPr>
            <a:spLocks noChangeArrowheads="1"/>
          </p:cNvSpPr>
          <p:nvPr/>
        </p:nvSpPr>
        <p:spPr bwMode="auto">
          <a:xfrm>
            <a:off x="3144391" y="1412776"/>
            <a:ext cx="5472112" cy="3600450"/>
          </a:xfrm>
          <a:prstGeom prst="rect">
            <a:avLst/>
          </a:prstGeom>
          <a:solidFill>
            <a:srgbClr val="66CCFF"/>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6147" name="Rectangle 2"/>
          <p:cNvSpPr>
            <a:spLocks noGrp="1" noChangeArrowheads="1"/>
          </p:cNvSpPr>
          <p:nvPr>
            <p:ph type="title" idx="4294967295"/>
          </p:nvPr>
        </p:nvSpPr>
        <p:spPr>
          <a:xfrm>
            <a:off x="1898650" y="332656"/>
            <a:ext cx="8229600" cy="1100138"/>
          </a:xfrm>
        </p:spPr>
        <p:txBody>
          <a:bodyPr/>
          <a:lstStyle/>
          <a:p>
            <a:pPr algn="ctr" eaLnBrk="1" hangingPunct="1"/>
            <a:r>
              <a:rPr lang="en-US" altLang="zh-CN" dirty="0">
                <a:solidFill>
                  <a:srgbClr val="128828"/>
                </a:solidFill>
                <a:ea typeface="黑体" panose="02010609060101010101" pitchFamily="49" charset="-122"/>
              </a:rPr>
              <a:t>F </a:t>
            </a:r>
            <a:r>
              <a:rPr lang="zh-CN" altLang="en-US" dirty="0">
                <a:solidFill>
                  <a:srgbClr val="128828"/>
                </a:solidFill>
                <a:ea typeface="黑体" panose="02010609060101010101" pitchFamily="49" charset="-122"/>
              </a:rPr>
              <a:t>推理系统的框图</a:t>
            </a:r>
          </a:p>
        </p:txBody>
      </p:sp>
      <p:sp>
        <p:nvSpPr>
          <p:cNvPr id="6148" name="Rectangle 3"/>
          <p:cNvSpPr>
            <a:spLocks noGrp="1" noChangeArrowheads="1"/>
          </p:cNvSpPr>
          <p:nvPr>
            <p:ph type="body" idx="4294967295"/>
          </p:nvPr>
        </p:nvSpPr>
        <p:spPr>
          <a:xfrm>
            <a:off x="839788" y="5013647"/>
            <a:ext cx="10080748" cy="1700212"/>
          </a:xfrm>
        </p:spPr>
        <p:txBody>
          <a:bodyPr/>
          <a:lstStyle/>
          <a:p>
            <a:pPr eaLnBrk="1" hangingPunct="1"/>
            <a:r>
              <a:rPr lang="en-US" altLang="zh-CN" sz="2800" dirty="0">
                <a:solidFill>
                  <a:srgbClr val="FF0000"/>
                </a:solidFill>
                <a:ea typeface="黑体" panose="02010609060101010101" pitchFamily="49" charset="-122"/>
              </a:rPr>
              <a:t>F</a:t>
            </a:r>
            <a:r>
              <a:rPr lang="zh-CN" altLang="en-US" sz="2800" dirty="0">
                <a:solidFill>
                  <a:srgbClr val="FF0000"/>
                </a:solidFill>
                <a:ea typeface="黑体" panose="02010609060101010101" pitchFamily="49" charset="-122"/>
              </a:rPr>
              <a:t>推理系统的结构</a:t>
            </a:r>
          </a:p>
          <a:p>
            <a:pPr lvl="1" eaLnBrk="1" hangingPunct="1"/>
            <a:r>
              <a:rPr lang="zh-CN" altLang="en-US" sz="2400" b="1" dirty="0">
                <a:solidFill>
                  <a:srgbClr val="3366FF"/>
                </a:solidFill>
                <a:ea typeface="楷体_GB2312" pitchFamily="1" charset="-122"/>
              </a:rPr>
              <a:t>一个规则库</a:t>
            </a:r>
            <a:r>
              <a:rPr lang="en-US" altLang="zh-CN" sz="2400" b="1" dirty="0">
                <a:ea typeface="楷体_GB2312" pitchFamily="1" charset="-122"/>
              </a:rPr>
              <a:t>——</a:t>
            </a:r>
            <a:r>
              <a:rPr lang="zh-CN" altLang="en-US" sz="2400" b="1" dirty="0">
                <a:ea typeface="楷体_GB2312" pitchFamily="1" charset="-122"/>
              </a:rPr>
              <a:t>包含一系列</a:t>
            </a:r>
            <a:r>
              <a:rPr lang="en-US" altLang="zh-CN" sz="2400" b="1" dirty="0">
                <a:ea typeface="楷体_GB2312" pitchFamily="1" charset="-122"/>
              </a:rPr>
              <a:t>F</a:t>
            </a:r>
            <a:r>
              <a:rPr lang="zh-CN" altLang="en-US" sz="2400" b="1" dirty="0">
                <a:ea typeface="楷体_GB2312" pitchFamily="1" charset="-122"/>
              </a:rPr>
              <a:t>规则</a:t>
            </a:r>
          </a:p>
          <a:p>
            <a:pPr lvl="1" eaLnBrk="1" hangingPunct="1"/>
            <a:r>
              <a:rPr lang="zh-CN" altLang="en-US" sz="2400" b="1" dirty="0">
                <a:solidFill>
                  <a:srgbClr val="3366FF"/>
                </a:solidFill>
                <a:ea typeface="楷体_GB2312" pitchFamily="1" charset="-122"/>
              </a:rPr>
              <a:t>一个数据库</a:t>
            </a:r>
            <a:r>
              <a:rPr lang="en-US" altLang="zh-CN" sz="2400" b="1" dirty="0">
                <a:solidFill>
                  <a:srgbClr val="3366FF"/>
                </a:solidFill>
                <a:ea typeface="楷体_GB2312" pitchFamily="1" charset="-122"/>
              </a:rPr>
              <a:t>(</a:t>
            </a:r>
            <a:r>
              <a:rPr lang="zh-CN" altLang="en-US" sz="2400" b="1" dirty="0">
                <a:solidFill>
                  <a:srgbClr val="3366FF"/>
                </a:solidFill>
                <a:ea typeface="楷体_GB2312" pitchFamily="1" charset="-122"/>
              </a:rPr>
              <a:t>词典</a:t>
            </a:r>
            <a:r>
              <a:rPr lang="en-US" altLang="zh-CN" sz="2400" b="1" dirty="0">
                <a:solidFill>
                  <a:srgbClr val="3366FF"/>
                </a:solidFill>
                <a:ea typeface="楷体_GB2312" pitchFamily="1" charset="-122"/>
              </a:rPr>
              <a:t>)</a:t>
            </a:r>
            <a:r>
              <a:rPr lang="en-US" altLang="zh-CN" sz="2400" b="1" dirty="0">
                <a:ea typeface="楷体_GB2312" pitchFamily="1" charset="-122"/>
              </a:rPr>
              <a:t>——</a:t>
            </a:r>
            <a:r>
              <a:rPr lang="zh-CN" altLang="en-US" sz="2400" b="1" dirty="0">
                <a:ea typeface="楷体_GB2312" pitchFamily="1" charset="-122"/>
              </a:rPr>
              <a:t>定义</a:t>
            </a:r>
            <a:r>
              <a:rPr lang="en-US" altLang="zh-CN" sz="2400" b="1" dirty="0">
                <a:ea typeface="楷体_GB2312" pitchFamily="1" charset="-122"/>
              </a:rPr>
              <a:t>F</a:t>
            </a:r>
            <a:r>
              <a:rPr lang="zh-CN" altLang="en-US" sz="2400" b="1" dirty="0">
                <a:ea typeface="楷体_GB2312" pitchFamily="1" charset="-122"/>
              </a:rPr>
              <a:t>规则中用到的隶属函数</a:t>
            </a:r>
          </a:p>
          <a:p>
            <a:pPr lvl="1" eaLnBrk="1" hangingPunct="1"/>
            <a:r>
              <a:rPr lang="zh-CN" altLang="en-US" sz="2400" b="1" dirty="0">
                <a:solidFill>
                  <a:srgbClr val="3366FF"/>
                </a:solidFill>
                <a:ea typeface="楷体_GB2312" pitchFamily="1" charset="-122"/>
              </a:rPr>
              <a:t>一个推理机制</a:t>
            </a:r>
            <a:r>
              <a:rPr lang="en-US" altLang="zh-CN" sz="2400" b="1" dirty="0">
                <a:ea typeface="楷体_GB2312" pitchFamily="1" charset="-122"/>
              </a:rPr>
              <a:t>——</a:t>
            </a:r>
            <a:r>
              <a:rPr lang="zh-CN" altLang="en-US" sz="2400" b="1" dirty="0">
                <a:ea typeface="楷体_GB2312" pitchFamily="1" charset="-122"/>
              </a:rPr>
              <a:t>按规则和事实执行推理过程求得合理的输出或结论</a:t>
            </a:r>
          </a:p>
        </p:txBody>
      </p:sp>
      <p:grpSp>
        <p:nvGrpSpPr>
          <p:cNvPr id="6149" name="Group 5"/>
          <p:cNvGrpSpPr>
            <a:grpSpLocks/>
          </p:cNvGrpSpPr>
          <p:nvPr/>
        </p:nvGrpSpPr>
        <p:grpSpPr bwMode="auto">
          <a:xfrm>
            <a:off x="3863529" y="1701701"/>
            <a:ext cx="2881313" cy="792162"/>
            <a:chOff x="0" y="0"/>
            <a:chExt cx="1815" cy="499"/>
          </a:xfrm>
        </p:grpSpPr>
        <p:sp>
          <p:nvSpPr>
            <p:cNvPr id="6150" name="Rectangle 8"/>
            <p:cNvSpPr>
              <a:spLocks noChangeArrowheads="1"/>
            </p:cNvSpPr>
            <p:nvPr/>
          </p:nvSpPr>
          <p:spPr bwMode="auto">
            <a:xfrm>
              <a:off x="0" y="0"/>
              <a:ext cx="1815" cy="499"/>
            </a:xfrm>
            <a:prstGeom prst="rect">
              <a:avLst/>
            </a:prstGeom>
            <a:solidFill>
              <a:srgbClr val="FFFF66"/>
            </a:solidFill>
            <a:ln w="9525" cmpd="sng">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6151" name="Rectangle 4"/>
            <p:cNvSpPr>
              <a:spLocks noChangeArrowheads="1"/>
            </p:cNvSpPr>
            <p:nvPr/>
          </p:nvSpPr>
          <p:spPr bwMode="auto">
            <a:xfrm>
              <a:off x="91" y="136"/>
              <a:ext cx="680" cy="272"/>
            </a:xfrm>
            <a:prstGeom prst="rect">
              <a:avLst/>
            </a:prstGeom>
            <a:solidFill>
              <a:schemeClr val="accent1"/>
            </a:solidFill>
            <a:ln w="9525" cmpd="sng">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a:t>x = A</a:t>
              </a:r>
              <a:r>
                <a:rPr lang="en-US" altLang="zh-CN" baseline="-25000"/>
                <a:t>1</a:t>
              </a:r>
            </a:p>
          </p:txBody>
        </p:sp>
        <p:sp>
          <p:nvSpPr>
            <p:cNvPr id="6152" name="Rectangle 5"/>
            <p:cNvSpPr>
              <a:spLocks noChangeArrowheads="1"/>
            </p:cNvSpPr>
            <p:nvPr/>
          </p:nvSpPr>
          <p:spPr bwMode="auto">
            <a:xfrm>
              <a:off x="1044" y="136"/>
              <a:ext cx="680" cy="272"/>
            </a:xfrm>
            <a:prstGeom prst="rect">
              <a:avLst/>
            </a:prstGeom>
            <a:solidFill>
              <a:srgbClr val="FF9933"/>
            </a:solidFill>
            <a:ln w="9525" cmpd="sng">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a:t>y = B</a:t>
              </a:r>
              <a:r>
                <a:rPr lang="en-US" altLang="zh-CN" baseline="-25000"/>
                <a:t>1</a:t>
              </a:r>
              <a:endParaRPr lang="en-US" altLang="zh-CN"/>
            </a:p>
          </p:txBody>
        </p:sp>
        <p:sp>
          <p:nvSpPr>
            <p:cNvPr id="6153" name="Line 6"/>
            <p:cNvSpPr>
              <a:spLocks noChangeShapeType="1"/>
            </p:cNvSpPr>
            <p:nvPr/>
          </p:nvSpPr>
          <p:spPr bwMode="auto">
            <a:xfrm>
              <a:off x="771" y="272"/>
              <a:ext cx="273" cy="0"/>
            </a:xfrm>
            <a:prstGeom prst="line">
              <a:avLst/>
            </a:prstGeom>
            <a:noFill/>
            <a:ln w="19050" cmpd="sng">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154" name="Text Box 7"/>
            <p:cNvSpPr txBox="1">
              <a:spLocks noChangeArrowheads="1"/>
            </p:cNvSpPr>
            <p:nvPr/>
          </p:nvSpPr>
          <p:spPr bwMode="auto">
            <a:xfrm>
              <a:off x="771" y="0"/>
              <a:ext cx="408"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a:t>w</a:t>
              </a:r>
              <a:r>
                <a:rPr lang="en-US" altLang="zh-CN" baseline="-25000"/>
                <a:t>1</a:t>
              </a:r>
            </a:p>
          </p:txBody>
        </p:sp>
      </p:grpSp>
      <p:grpSp>
        <p:nvGrpSpPr>
          <p:cNvPr id="6155" name="Group 11"/>
          <p:cNvGrpSpPr>
            <a:grpSpLocks/>
          </p:cNvGrpSpPr>
          <p:nvPr/>
        </p:nvGrpSpPr>
        <p:grpSpPr bwMode="auto">
          <a:xfrm>
            <a:off x="3863529" y="2781201"/>
            <a:ext cx="2881313" cy="792162"/>
            <a:chOff x="0" y="0"/>
            <a:chExt cx="1815" cy="499"/>
          </a:xfrm>
        </p:grpSpPr>
        <p:sp>
          <p:nvSpPr>
            <p:cNvPr id="6156" name="Rectangle 11"/>
            <p:cNvSpPr>
              <a:spLocks noChangeArrowheads="1"/>
            </p:cNvSpPr>
            <p:nvPr/>
          </p:nvSpPr>
          <p:spPr bwMode="auto">
            <a:xfrm>
              <a:off x="0" y="0"/>
              <a:ext cx="1815" cy="499"/>
            </a:xfrm>
            <a:prstGeom prst="rect">
              <a:avLst/>
            </a:prstGeom>
            <a:solidFill>
              <a:srgbClr val="FFFF66"/>
            </a:solidFill>
            <a:ln w="9525" cmpd="sng">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6157" name="Rectangle 12"/>
            <p:cNvSpPr>
              <a:spLocks noChangeArrowheads="1"/>
            </p:cNvSpPr>
            <p:nvPr/>
          </p:nvSpPr>
          <p:spPr bwMode="auto">
            <a:xfrm>
              <a:off x="91" y="136"/>
              <a:ext cx="680" cy="272"/>
            </a:xfrm>
            <a:prstGeom prst="rect">
              <a:avLst/>
            </a:prstGeom>
            <a:solidFill>
              <a:schemeClr val="accent1"/>
            </a:solidFill>
            <a:ln w="9525" cmpd="sng">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a:t>x = A</a:t>
              </a:r>
              <a:r>
                <a:rPr lang="en-US" altLang="zh-CN" baseline="-25000"/>
                <a:t>2</a:t>
              </a:r>
              <a:endParaRPr lang="en-US" altLang="zh-CN"/>
            </a:p>
          </p:txBody>
        </p:sp>
        <p:sp>
          <p:nvSpPr>
            <p:cNvPr id="6158" name="Rectangle 13"/>
            <p:cNvSpPr>
              <a:spLocks noChangeArrowheads="1"/>
            </p:cNvSpPr>
            <p:nvPr/>
          </p:nvSpPr>
          <p:spPr bwMode="auto">
            <a:xfrm>
              <a:off x="1044" y="136"/>
              <a:ext cx="680" cy="272"/>
            </a:xfrm>
            <a:prstGeom prst="rect">
              <a:avLst/>
            </a:prstGeom>
            <a:solidFill>
              <a:srgbClr val="FF9933"/>
            </a:solidFill>
            <a:ln w="9525" cmpd="sng">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a:t>y = B</a:t>
              </a:r>
              <a:r>
                <a:rPr lang="en-US" altLang="zh-CN" baseline="-25000"/>
                <a:t>2</a:t>
              </a:r>
              <a:endParaRPr lang="en-US" altLang="zh-CN"/>
            </a:p>
          </p:txBody>
        </p:sp>
        <p:sp>
          <p:nvSpPr>
            <p:cNvPr id="6159" name="Line 14"/>
            <p:cNvSpPr>
              <a:spLocks noChangeShapeType="1"/>
            </p:cNvSpPr>
            <p:nvPr/>
          </p:nvSpPr>
          <p:spPr bwMode="auto">
            <a:xfrm>
              <a:off x="771" y="272"/>
              <a:ext cx="273" cy="0"/>
            </a:xfrm>
            <a:prstGeom prst="line">
              <a:avLst/>
            </a:prstGeom>
            <a:noFill/>
            <a:ln w="19050" cmpd="sng">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160" name="Text Box 15"/>
            <p:cNvSpPr txBox="1">
              <a:spLocks noChangeArrowheads="1"/>
            </p:cNvSpPr>
            <p:nvPr/>
          </p:nvSpPr>
          <p:spPr bwMode="auto">
            <a:xfrm>
              <a:off x="771" y="0"/>
              <a:ext cx="408"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a:t>w</a:t>
              </a:r>
              <a:r>
                <a:rPr lang="en-US" altLang="zh-CN" baseline="-25000"/>
                <a:t>2</a:t>
              </a:r>
            </a:p>
          </p:txBody>
        </p:sp>
      </p:grpSp>
      <p:grpSp>
        <p:nvGrpSpPr>
          <p:cNvPr id="6161" name="Group 17"/>
          <p:cNvGrpSpPr>
            <a:grpSpLocks/>
          </p:cNvGrpSpPr>
          <p:nvPr/>
        </p:nvGrpSpPr>
        <p:grpSpPr bwMode="auto">
          <a:xfrm>
            <a:off x="3863529" y="4005164"/>
            <a:ext cx="2881313" cy="792163"/>
            <a:chOff x="0" y="0"/>
            <a:chExt cx="1815" cy="499"/>
          </a:xfrm>
        </p:grpSpPr>
        <p:sp>
          <p:nvSpPr>
            <p:cNvPr id="6162" name="Rectangle 17"/>
            <p:cNvSpPr>
              <a:spLocks noChangeArrowheads="1"/>
            </p:cNvSpPr>
            <p:nvPr/>
          </p:nvSpPr>
          <p:spPr bwMode="auto">
            <a:xfrm>
              <a:off x="0" y="0"/>
              <a:ext cx="1815" cy="499"/>
            </a:xfrm>
            <a:prstGeom prst="rect">
              <a:avLst/>
            </a:prstGeom>
            <a:solidFill>
              <a:srgbClr val="FFFF66"/>
            </a:solidFill>
            <a:ln w="9525" cmpd="sng">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6163" name="Rectangle 18"/>
            <p:cNvSpPr>
              <a:spLocks noChangeArrowheads="1"/>
            </p:cNvSpPr>
            <p:nvPr/>
          </p:nvSpPr>
          <p:spPr bwMode="auto">
            <a:xfrm>
              <a:off x="91" y="136"/>
              <a:ext cx="680" cy="272"/>
            </a:xfrm>
            <a:prstGeom prst="rect">
              <a:avLst/>
            </a:prstGeom>
            <a:solidFill>
              <a:schemeClr val="accent1"/>
            </a:solidFill>
            <a:ln w="9525" cmpd="sng">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a:t>x = A</a:t>
              </a:r>
              <a:r>
                <a:rPr lang="en-US" altLang="zh-CN" baseline="-25000"/>
                <a:t>n</a:t>
              </a:r>
              <a:endParaRPr lang="en-US" altLang="zh-CN"/>
            </a:p>
          </p:txBody>
        </p:sp>
        <p:sp>
          <p:nvSpPr>
            <p:cNvPr id="6164" name="Rectangle 19"/>
            <p:cNvSpPr>
              <a:spLocks noChangeArrowheads="1"/>
            </p:cNvSpPr>
            <p:nvPr/>
          </p:nvSpPr>
          <p:spPr bwMode="auto">
            <a:xfrm>
              <a:off x="1044" y="136"/>
              <a:ext cx="680" cy="272"/>
            </a:xfrm>
            <a:prstGeom prst="rect">
              <a:avLst/>
            </a:prstGeom>
            <a:solidFill>
              <a:srgbClr val="FF9933"/>
            </a:solidFill>
            <a:ln w="9525" cmpd="sng">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a:t>y = B</a:t>
              </a:r>
              <a:r>
                <a:rPr lang="en-US" altLang="zh-CN" baseline="-25000"/>
                <a:t>n</a:t>
              </a:r>
              <a:endParaRPr lang="en-US" altLang="zh-CN"/>
            </a:p>
          </p:txBody>
        </p:sp>
        <p:sp>
          <p:nvSpPr>
            <p:cNvPr id="6165" name="Line 20"/>
            <p:cNvSpPr>
              <a:spLocks noChangeShapeType="1"/>
            </p:cNvSpPr>
            <p:nvPr/>
          </p:nvSpPr>
          <p:spPr bwMode="auto">
            <a:xfrm>
              <a:off x="771" y="272"/>
              <a:ext cx="273" cy="0"/>
            </a:xfrm>
            <a:prstGeom prst="line">
              <a:avLst/>
            </a:prstGeom>
            <a:noFill/>
            <a:ln w="19050" cmpd="sng">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166" name="Text Box 21"/>
            <p:cNvSpPr txBox="1">
              <a:spLocks noChangeArrowheads="1"/>
            </p:cNvSpPr>
            <p:nvPr/>
          </p:nvSpPr>
          <p:spPr bwMode="auto">
            <a:xfrm>
              <a:off x="771" y="0"/>
              <a:ext cx="408"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a:t>w</a:t>
              </a:r>
              <a:r>
                <a:rPr lang="en-US" altLang="zh-CN" baseline="-25000"/>
                <a:t>n</a:t>
              </a:r>
            </a:p>
          </p:txBody>
        </p:sp>
      </p:grpSp>
      <p:sp>
        <p:nvSpPr>
          <p:cNvPr id="6167" name="AutoShape 22"/>
          <p:cNvSpPr>
            <a:spLocks noChangeArrowheads="1"/>
          </p:cNvSpPr>
          <p:nvPr/>
        </p:nvSpPr>
        <p:spPr bwMode="auto">
          <a:xfrm>
            <a:off x="3360292" y="1989039"/>
            <a:ext cx="503237" cy="288925"/>
          </a:xfrm>
          <a:prstGeom prst="rightArrow">
            <a:avLst>
              <a:gd name="adj1" fmla="val 50000"/>
              <a:gd name="adj2" fmla="val 43544"/>
            </a:avLst>
          </a:prstGeom>
          <a:solidFill>
            <a:schemeClr val="bg2"/>
          </a:solidFill>
          <a:ln w="9525" cmpd="sng">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6168" name="AutoShape 23"/>
          <p:cNvSpPr>
            <a:spLocks noChangeArrowheads="1"/>
          </p:cNvSpPr>
          <p:nvPr/>
        </p:nvSpPr>
        <p:spPr bwMode="auto">
          <a:xfrm>
            <a:off x="3360292" y="4294089"/>
            <a:ext cx="503237" cy="288925"/>
          </a:xfrm>
          <a:prstGeom prst="rightArrow">
            <a:avLst>
              <a:gd name="adj1" fmla="val 50000"/>
              <a:gd name="adj2" fmla="val 43544"/>
            </a:avLst>
          </a:prstGeom>
          <a:solidFill>
            <a:schemeClr val="bg2"/>
          </a:solidFill>
          <a:ln w="9525" cmpd="sng">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6169" name="AutoShape 24"/>
          <p:cNvSpPr>
            <a:spLocks noChangeArrowheads="1"/>
          </p:cNvSpPr>
          <p:nvPr/>
        </p:nvSpPr>
        <p:spPr bwMode="auto">
          <a:xfrm>
            <a:off x="3360292" y="2997102"/>
            <a:ext cx="503237" cy="288925"/>
          </a:xfrm>
          <a:prstGeom prst="rightArrow">
            <a:avLst>
              <a:gd name="adj1" fmla="val 50000"/>
              <a:gd name="adj2" fmla="val 43544"/>
            </a:avLst>
          </a:prstGeom>
          <a:solidFill>
            <a:schemeClr val="bg2"/>
          </a:solidFill>
          <a:ln w="9525" cmpd="sng">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6170" name="Rectangle 26"/>
          <p:cNvSpPr>
            <a:spLocks noChangeArrowheads="1"/>
          </p:cNvSpPr>
          <p:nvPr/>
        </p:nvSpPr>
        <p:spPr bwMode="auto">
          <a:xfrm>
            <a:off x="3287266" y="2062064"/>
            <a:ext cx="144462" cy="2447925"/>
          </a:xfrm>
          <a:prstGeom prst="rect">
            <a:avLst/>
          </a:prstGeom>
          <a:solidFill>
            <a:schemeClr val="bg2"/>
          </a:solidFill>
          <a:ln w="9525" cmpd="sng">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6171" name="Rectangle 27"/>
          <p:cNvSpPr>
            <a:spLocks noChangeArrowheads="1"/>
          </p:cNvSpPr>
          <p:nvPr/>
        </p:nvSpPr>
        <p:spPr bwMode="auto">
          <a:xfrm>
            <a:off x="2712592" y="3213001"/>
            <a:ext cx="574675" cy="144462"/>
          </a:xfrm>
          <a:prstGeom prst="rect">
            <a:avLst/>
          </a:prstGeom>
          <a:solidFill>
            <a:schemeClr val="bg2"/>
          </a:solidFill>
          <a:ln w="9525" cmpd="sng">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6172" name="Text Box 28"/>
          <p:cNvSpPr txBox="1">
            <a:spLocks noChangeArrowheads="1"/>
          </p:cNvSpPr>
          <p:nvPr/>
        </p:nvSpPr>
        <p:spPr bwMode="auto">
          <a:xfrm>
            <a:off x="2352228" y="3141564"/>
            <a:ext cx="4318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a:t>X</a:t>
            </a:r>
          </a:p>
        </p:txBody>
      </p:sp>
      <p:sp>
        <p:nvSpPr>
          <p:cNvPr id="6173" name="Text Box 29"/>
          <p:cNvSpPr txBox="1">
            <a:spLocks noChangeArrowheads="1"/>
          </p:cNvSpPr>
          <p:nvPr/>
        </p:nvSpPr>
        <p:spPr bwMode="auto">
          <a:xfrm>
            <a:off x="1560066" y="2682282"/>
            <a:ext cx="1800226"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sz="2000" b="1" dirty="0">
                <a:ea typeface="楷体_GB2312" pitchFamily="1" charset="-122"/>
              </a:rPr>
              <a:t>精确或模糊</a:t>
            </a:r>
          </a:p>
        </p:txBody>
      </p:sp>
      <p:sp>
        <p:nvSpPr>
          <p:cNvPr id="6174" name="Text Box 30"/>
          <p:cNvSpPr txBox="1">
            <a:spLocks noChangeArrowheads="1"/>
          </p:cNvSpPr>
          <p:nvPr/>
        </p:nvSpPr>
        <p:spPr bwMode="auto">
          <a:xfrm>
            <a:off x="3720654" y="1412776"/>
            <a:ext cx="576263"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a:t>R</a:t>
            </a:r>
            <a:r>
              <a:rPr lang="en-US" altLang="zh-CN" baseline="-25000"/>
              <a:t>1</a:t>
            </a:r>
            <a:endParaRPr lang="en-US" altLang="zh-CN"/>
          </a:p>
        </p:txBody>
      </p:sp>
      <p:sp>
        <p:nvSpPr>
          <p:cNvPr id="6175" name="Text Box 31"/>
          <p:cNvSpPr txBox="1">
            <a:spLocks noChangeArrowheads="1"/>
          </p:cNvSpPr>
          <p:nvPr/>
        </p:nvSpPr>
        <p:spPr bwMode="auto">
          <a:xfrm>
            <a:off x="3720654" y="3717827"/>
            <a:ext cx="576263" cy="369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a:t>R</a:t>
            </a:r>
            <a:r>
              <a:rPr lang="en-US" altLang="zh-CN" baseline="-25000"/>
              <a:t>n</a:t>
            </a:r>
            <a:endParaRPr lang="en-US" altLang="zh-CN"/>
          </a:p>
        </p:txBody>
      </p:sp>
      <p:sp>
        <p:nvSpPr>
          <p:cNvPr id="6176" name="Text Box 32"/>
          <p:cNvSpPr txBox="1">
            <a:spLocks noChangeArrowheads="1"/>
          </p:cNvSpPr>
          <p:nvPr/>
        </p:nvSpPr>
        <p:spPr bwMode="auto">
          <a:xfrm>
            <a:off x="3720654" y="2493863"/>
            <a:ext cx="576263" cy="369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a:t>R</a:t>
            </a:r>
            <a:r>
              <a:rPr lang="en-US" altLang="zh-CN" baseline="-25000"/>
              <a:t>2</a:t>
            </a:r>
            <a:endParaRPr lang="en-US" altLang="zh-CN"/>
          </a:p>
        </p:txBody>
      </p:sp>
      <p:sp>
        <p:nvSpPr>
          <p:cNvPr id="6177" name="Rectangle 33"/>
          <p:cNvSpPr>
            <a:spLocks noChangeArrowheads="1"/>
          </p:cNvSpPr>
          <p:nvPr/>
        </p:nvSpPr>
        <p:spPr bwMode="auto">
          <a:xfrm>
            <a:off x="7679878" y="2852639"/>
            <a:ext cx="865188" cy="576263"/>
          </a:xfrm>
          <a:prstGeom prst="rect">
            <a:avLst/>
          </a:prstGeom>
          <a:solidFill>
            <a:srgbClr val="FFCCFF"/>
          </a:solidFill>
          <a:ln w="28575" cmpd="sng">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r>
              <a:rPr lang="zh-CN" altLang="en-US" b="1">
                <a:ea typeface="楷体_GB2312" pitchFamily="1" charset="-122"/>
              </a:rPr>
              <a:t>集结器</a:t>
            </a:r>
          </a:p>
        </p:txBody>
      </p:sp>
      <p:sp>
        <p:nvSpPr>
          <p:cNvPr id="6178" name="Line 34"/>
          <p:cNvSpPr>
            <a:spLocks noChangeShapeType="1"/>
          </p:cNvSpPr>
          <p:nvPr/>
        </p:nvSpPr>
        <p:spPr bwMode="auto">
          <a:xfrm>
            <a:off x="6744842" y="3141563"/>
            <a:ext cx="935037" cy="0"/>
          </a:xfrm>
          <a:prstGeom prst="line">
            <a:avLst/>
          </a:prstGeom>
          <a:noFill/>
          <a:ln w="28575" cmpd="sng">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179" name="Line 35"/>
          <p:cNvSpPr>
            <a:spLocks noChangeShapeType="1"/>
          </p:cNvSpPr>
          <p:nvPr/>
        </p:nvSpPr>
        <p:spPr bwMode="auto">
          <a:xfrm>
            <a:off x="6744842" y="4365526"/>
            <a:ext cx="503237" cy="0"/>
          </a:xfrm>
          <a:prstGeom prst="line">
            <a:avLst/>
          </a:prstGeom>
          <a:noFill/>
          <a:ln w="28575" cmpd="sng">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180" name="Line 36"/>
          <p:cNvSpPr>
            <a:spLocks noChangeShapeType="1"/>
          </p:cNvSpPr>
          <p:nvPr/>
        </p:nvSpPr>
        <p:spPr bwMode="auto">
          <a:xfrm>
            <a:off x="6744842" y="2062063"/>
            <a:ext cx="503237" cy="0"/>
          </a:xfrm>
          <a:prstGeom prst="line">
            <a:avLst/>
          </a:prstGeom>
          <a:noFill/>
          <a:ln w="28575" cmpd="sng">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181" name="Line 37"/>
          <p:cNvSpPr>
            <a:spLocks noChangeShapeType="1"/>
          </p:cNvSpPr>
          <p:nvPr/>
        </p:nvSpPr>
        <p:spPr bwMode="auto">
          <a:xfrm>
            <a:off x="7248078" y="2062063"/>
            <a:ext cx="0" cy="935038"/>
          </a:xfrm>
          <a:prstGeom prst="line">
            <a:avLst/>
          </a:prstGeom>
          <a:noFill/>
          <a:ln w="28575" cmpd="sng">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182" name="Line 38"/>
          <p:cNvSpPr>
            <a:spLocks noChangeShapeType="1"/>
          </p:cNvSpPr>
          <p:nvPr/>
        </p:nvSpPr>
        <p:spPr bwMode="auto">
          <a:xfrm>
            <a:off x="7248078" y="3357464"/>
            <a:ext cx="0" cy="1006475"/>
          </a:xfrm>
          <a:prstGeom prst="line">
            <a:avLst/>
          </a:prstGeom>
          <a:noFill/>
          <a:ln w="28575" cmpd="sng">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183" name="Line 39"/>
          <p:cNvSpPr>
            <a:spLocks noChangeShapeType="1"/>
          </p:cNvSpPr>
          <p:nvPr/>
        </p:nvSpPr>
        <p:spPr bwMode="auto">
          <a:xfrm>
            <a:off x="7248078" y="2997101"/>
            <a:ext cx="431800" cy="0"/>
          </a:xfrm>
          <a:prstGeom prst="line">
            <a:avLst/>
          </a:prstGeom>
          <a:noFill/>
          <a:ln w="28575" cmpd="sng">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184" name="Line 40"/>
          <p:cNvSpPr>
            <a:spLocks noChangeShapeType="1"/>
          </p:cNvSpPr>
          <p:nvPr/>
        </p:nvSpPr>
        <p:spPr bwMode="auto">
          <a:xfrm>
            <a:off x="7248078" y="3357463"/>
            <a:ext cx="431800" cy="0"/>
          </a:xfrm>
          <a:prstGeom prst="line">
            <a:avLst/>
          </a:prstGeom>
          <a:noFill/>
          <a:ln w="28575" cmpd="sng">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185" name="Text Box 41"/>
          <p:cNvSpPr txBox="1">
            <a:spLocks noChangeArrowheads="1"/>
          </p:cNvSpPr>
          <p:nvPr/>
        </p:nvSpPr>
        <p:spPr bwMode="auto">
          <a:xfrm>
            <a:off x="6671816" y="2781201"/>
            <a:ext cx="64770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sz="1600" b="1">
                <a:ea typeface="楷体_GB2312" pitchFamily="1" charset="-122"/>
              </a:rPr>
              <a:t>模糊</a:t>
            </a:r>
          </a:p>
        </p:txBody>
      </p:sp>
      <p:sp>
        <p:nvSpPr>
          <p:cNvPr id="6186" name="Line 42"/>
          <p:cNvSpPr>
            <a:spLocks noChangeShapeType="1"/>
          </p:cNvSpPr>
          <p:nvPr/>
        </p:nvSpPr>
        <p:spPr bwMode="auto">
          <a:xfrm>
            <a:off x="8545066" y="3141563"/>
            <a:ext cx="431800" cy="0"/>
          </a:xfrm>
          <a:prstGeom prst="line">
            <a:avLst/>
          </a:prstGeom>
          <a:noFill/>
          <a:ln w="28575" cmpd="sng">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187" name="Rectangle 43"/>
          <p:cNvSpPr>
            <a:spLocks noChangeArrowheads="1"/>
          </p:cNvSpPr>
          <p:nvPr/>
        </p:nvSpPr>
        <p:spPr bwMode="auto">
          <a:xfrm>
            <a:off x="8976867" y="2852639"/>
            <a:ext cx="865187" cy="576263"/>
          </a:xfrm>
          <a:prstGeom prst="rect">
            <a:avLst/>
          </a:prstGeom>
          <a:solidFill>
            <a:srgbClr val="45E764"/>
          </a:solidFill>
          <a:ln w="28575" cmpd="sng">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r>
              <a:rPr lang="zh-CN" altLang="en-US" b="1">
                <a:ea typeface="楷体_GB2312" pitchFamily="1" charset="-122"/>
              </a:rPr>
              <a:t>去</a:t>
            </a:r>
            <a:r>
              <a:rPr lang="en-US" altLang="zh-CN" b="1">
                <a:ea typeface="楷体_GB2312" pitchFamily="1" charset="-122"/>
              </a:rPr>
              <a:t>F</a:t>
            </a:r>
            <a:r>
              <a:rPr lang="zh-CN" altLang="en-US" b="1">
                <a:ea typeface="楷体_GB2312" pitchFamily="1" charset="-122"/>
              </a:rPr>
              <a:t>化</a:t>
            </a:r>
          </a:p>
        </p:txBody>
      </p:sp>
      <p:sp>
        <p:nvSpPr>
          <p:cNvPr id="6188" name="Line 44"/>
          <p:cNvSpPr>
            <a:spLocks noChangeShapeType="1"/>
          </p:cNvSpPr>
          <p:nvPr/>
        </p:nvSpPr>
        <p:spPr bwMode="auto">
          <a:xfrm>
            <a:off x="9840466" y="3141563"/>
            <a:ext cx="647700" cy="0"/>
          </a:xfrm>
          <a:prstGeom prst="line">
            <a:avLst/>
          </a:prstGeom>
          <a:noFill/>
          <a:ln w="28575" cmpd="sng">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189" name="Text Box 45"/>
          <p:cNvSpPr txBox="1">
            <a:spLocks noChangeArrowheads="1"/>
          </p:cNvSpPr>
          <p:nvPr/>
        </p:nvSpPr>
        <p:spPr bwMode="auto">
          <a:xfrm>
            <a:off x="10488166" y="2925664"/>
            <a:ext cx="360362"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a:t>Y</a:t>
            </a:r>
          </a:p>
        </p:txBody>
      </p:sp>
      <p:sp>
        <p:nvSpPr>
          <p:cNvPr id="6190" name="Text Box 46"/>
          <p:cNvSpPr txBox="1">
            <a:spLocks noChangeArrowheads="1"/>
          </p:cNvSpPr>
          <p:nvPr/>
        </p:nvSpPr>
        <p:spPr bwMode="auto">
          <a:xfrm>
            <a:off x="8545066" y="2493863"/>
            <a:ext cx="64770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sz="1600" b="1">
                <a:ea typeface="楷体_GB2312" pitchFamily="1" charset="-122"/>
              </a:rPr>
              <a:t>模糊</a:t>
            </a:r>
          </a:p>
        </p:txBody>
      </p:sp>
      <p:sp>
        <p:nvSpPr>
          <p:cNvPr id="6191" name="Text Box 47"/>
          <p:cNvSpPr txBox="1">
            <a:spLocks noChangeArrowheads="1"/>
          </p:cNvSpPr>
          <p:nvPr/>
        </p:nvSpPr>
        <p:spPr bwMode="auto">
          <a:xfrm>
            <a:off x="9911903" y="2709763"/>
            <a:ext cx="64770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sz="1600" b="1">
                <a:ea typeface="楷体_GB2312" pitchFamily="1" charset="-122"/>
              </a:rPr>
              <a:t>精确</a:t>
            </a:r>
          </a:p>
        </p:txBody>
      </p:sp>
      <p:sp>
        <p:nvSpPr>
          <p:cNvPr id="6192" name="Text Box 49"/>
          <p:cNvSpPr txBox="1">
            <a:spLocks noChangeArrowheads="1"/>
          </p:cNvSpPr>
          <p:nvPr/>
        </p:nvSpPr>
        <p:spPr bwMode="auto">
          <a:xfrm>
            <a:off x="6671816" y="4005163"/>
            <a:ext cx="64770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sz="1600" b="1">
                <a:ea typeface="楷体_GB2312" pitchFamily="1" charset="-122"/>
              </a:rPr>
              <a:t>模糊</a:t>
            </a:r>
          </a:p>
        </p:txBody>
      </p:sp>
      <p:sp>
        <p:nvSpPr>
          <p:cNvPr id="6193" name="Text Box 50"/>
          <p:cNvSpPr txBox="1">
            <a:spLocks noChangeArrowheads="1"/>
          </p:cNvSpPr>
          <p:nvPr/>
        </p:nvSpPr>
        <p:spPr bwMode="auto">
          <a:xfrm>
            <a:off x="6671816" y="1701701"/>
            <a:ext cx="64770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sz="1600" b="1">
                <a:ea typeface="楷体_GB2312" pitchFamily="1" charset="-122"/>
              </a:rPr>
              <a:t>模糊</a:t>
            </a:r>
          </a:p>
        </p:txBody>
      </p:sp>
      <p:sp>
        <p:nvSpPr>
          <p:cNvPr id="6194" name="Text Box 51"/>
          <p:cNvSpPr txBox="1">
            <a:spLocks noChangeArrowheads="1"/>
          </p:cNvSpPr>
          <p:nvPr/>
        </p:nvSpPr>
        <p:spPr bwMode="auto">
          <a:xfrm>
            <a:off x="4079428" y="3573364"/>
            <a:ext cx="2520950" cy="461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sz="2400"/>
              <a:t>· · · · · · · · · · · · · </a:t>
            </a:r>
            <a:endParaRPr lang="en-US" altLang="zh-CN"/>
          </a:p>
        </p:txBody>
      </p:sp>
      <p:sp>
        <p:nvSpPr>
          <p:cNvPr id="2" name="灯片编号占位符 1">
            <a:extLst>
              <a:ext uri="{FF2B5EF4-FFF2-40B4-BE49-F238E27FC236}">
                <a16:creationId xmlns:a16="http://schemas.microsoft.com/office/drawing/2014/main" id="{3CBAE819-14C8-F55E-959C-FBBCE36D0C71}"/>
              </a:ext>
            </a:extLst>
          </p:cNvPr>
          <p:cNvSpPr>
            <a:spLocks noGrp="1"/>
          </p:cNvSpPr>
          <p:nvPr>
            <p:ph type="sldNum" sz="quarter" idx="11"/>
          </p:nvPr>
        </p:nvSpPr>
        <p:spPr/>
        <p:txBody>
          <a:bodyPr/>
          <a:lstStyle/>
          <a:p>
            <a:pPr>
              <a:defRPr/>
            </a:pPr>
            <a:fld id="{B77A47BA-BA63-4780-94A9-8AFA2EA4438D}" type="slidenum">
              <a:rPr lang="en-US" altLang="zh-CN" smtClean="0"/>
              <a:pPr>
                <a:defRPr/>
              </a:pPr>
              <a:t>3</a:t>
            </a:fld>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6148">
                                            <p:txEl>
                                              <p:pRg st="0" end="0"/>
                                            </p:txEl>
                                          </p:spTgt>
                                        </p:tgtEl>
                                        <p:attrNameLst>
                                          <p:attrName>style.visibility</p:attrName>
                                        </p:attrNameLst>
                                      </p:cBhvr>
                                      <p:to>
                                        <p:strVal val="visible"/>
                                      </p:to>
                                    </p:set>
                                    <p:animEffect transition="in" filter="wipe(left)">
                                      <p:cBhvr>
                                        <p:cTn id="7" dur="500"/>
                                        <p:tgtEl>
                                          <p:spTgt spid="6148">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6148">
                                            <p:txEl>
                                              <p:pRg st="1" end="1"/>
                                            </p:txEl>
                                          </p:spTgt>
                                        </p:tgtEl>
                                        <p:attrNameLst>
                                          <p:attrName>style.visibility</p:attrName>
                                        </p:attrNameLst>
                                      </p:cBhvr>
                                      <p:to>
                                        <p:strVal val="visible"/>
                                      </p:to>
                                    </p:set>
                                    <p:animEffect transition="in" filter="wipe(left)">
                                      <p:cBhvr>
                                        <p:cTn id="12" dur="500"/>
                                        <p:tgtEl>
                                          <p:spTgt spid="6148">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6148">
                                            <p:txEl>
                                              <p:pRg st="2" end="2"/>
                                            </p:txEl>
                                          </p:spTgt>
                                        </p:tgtEl>
                                        <p:attrNameLst>
                                          <p:attrName>style.visibility</p:attrName>
                                        </p:attrNameLst>
                                      </p:cBhvr>
                                      <p:to>
                                        <p:strVal val="visible"/>
                                      </p:to>
                                    </p:set>
                                    <p:animEffect transition="in" filter="wipe(left)">
                                      <p:cBhvr>
                                        <p:cTn id="17" dur="500"/>
                                        <p:tgtEl>
                                          <p:spTgt spid="6148">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6148">
                                            <p:txEl>
                                              <p:pRg st="3" end="3"/>
                                            </p:txEl>
                                          </p:spTgt>
                                        </p:tgtEl>
                                        <p:attrNameLst>
                                          <p:attrName>style.visibility</p:attrName>
                                        </p:attrNameLst>
                                      </p:cBhvr>
                                      <p:to>
                                        <p:strVal val="visible"/>
                                      </p:to>
                                    </p:set>
                                    <p:animEffect transition="in" filter="wipe(left)">
                                      <p:cBhvr>
                                        <p:cTn id="22" dur="500"/>
                                        <p:tgtEl>
                                          <p:spTgt spid="6148">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48" grpId="0" build="p" autoUpdateAnimBg="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ChangeArrowheads="1"/>
          </p:cNvSpPr>
          <p:nvPr/>
        </p:nvSpPr>
        <p:spPr bwMode="auto">
          <a:xfrm>
            <a:off x="3191001" y="1484313"/>
            <a:ext cx="5472112" cy="3600450"/>
          </a:xfrm>
          <a:prstGeom prst="rect">
            <a:avLst/>
          </a:prstGeom>
          <a:solidFill>
            <a:srgbClr val="66CCFF"/>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7171" name="Rectangle 3"/>
          <p:cNvSpPr>
            <a:spLocks noGrp="1" noChangeArrowheads="1"/>
          </p:cNvSpPr>
          <p:nvPr>
            <p:ph type="title" idx="4294967295"/>
          </p:nvPr>
        </p:nvSpPr>
        <p:spPr>
          <a:xfrm>
            <a:off x="1930041" y="404813"/>
            <a:ext cx="8229600" cy="1100138"/>
          </a:xfrm>
        </p:spPr>
        <p:txBody>
          <a:bodyPr/>
          <a:lstStyle/>
          <a:p>
            <a:pPr algn="ctr" eaLnBrk="1" hangingPunct="1"/>
            <a:r>
              <a:rPr lang="en-US" altLang="zh-CN" dirty="0">
                <a:solidFill>
                  <a:srgbClr val="128828"/>
                </a:solidFill>
                <a:ea typeface="黑体" panose="02010609060101010101" pitchFamily="49" charset="-122"/>
              </a:rPr>
              <a:t>F </a:t>
            </a:r>
            <a:r>
              <a:rPr lang="zh-CN" altLang="en-US" dirty="0">
                <a:solidFill>
                  <a:srgbClr val="128828"/>
                </a:solidFill>
                <a:ea typeface="黑体" panose="02010609060101010101" pitchFamily="49" charset="-122"/>
              </a:rPr>
              <a:t>推理系统的框图</a:t>
            </a:r>
          </a:p>
        </p:txBody>
      </p:sp>
      <p:sp>
        <p:nvSpPr>
          <p:cNvPr id="7172" name="Rectangle 4"/>
          <p:cNvSpPr>
            <a:spLocks noGrp="1" noChangeArrowheads="1"/>
          </p:cNvSpPr>
          <p:nvPr>
            <p:ph type="body" idx="4294967295"/>
          </p:nvPr>
        </p:nvSpPr>
        <p:spPr>
          <a:xfrm>
            <a:off x="596503" y="5096325"/>
            <a:ext cx="10998994" cy="1584325"/>
          </a:xfrm>
        </p:spPr>
        <p:txBody>
          <a:bodyPr/>
          <a:lstStyle/>
          <a:p>
            <a:pPr eaLnBrk="1" hangingPunct="1"/>
            <a:r>
              <a:rPr lang="zh-CN" altLang="en-US" sz="2400" dirty="0">
                <a:solidFill>
                  <a:srgbClr val="FF0000"/>
                </a:solidFill>
                <a:ea typeface="黑体" panose="02010609060101010101" pitchFamily="49" charset="-122"/>
              </a:rPr>
              <a:t>当有精确输入和输出时，</a:t>
            </a:r>
            <a:r>
              <a:rPr lang="en-US" altLang="zh-CN" sz="2400" dirty="0">
                <a:solidFill>
                  <a:srgbClr val="FF0000"/>
                </a:solidFill>
                <a:ea typeface="黑体" panose="02010609060101010101" pitchFamily="49" charset="-122"/>
              </a:rPr>
              <a:t>F</a:t>
            </a:r>
            <a:r>
              <a:rPr lang="zh-CN" altLang="en-US" sz="2400" dirty="0">
                <a:solidFill>
                  <a:srgbClr val="FF0000"/>
                </a:solidFill>
                <a:ea typeface="黑体" panose="02010609060101010101" pitchFamily="49" charset="-122"/>
              </a:rPr>
              <a:t>推理系统实现从输入到输出之间的非线性映射</a:t>
            </a:r>
          </a:p>
          <a:p>
            <a:pPr lvl="1" eaLnBrk="1" hangingPunct="1"/>
            <a:r>
              <a:rPr lang="zh-CN" altLang="en-US" sz="2400" dirty="0">
                <a:ea typeface="黑体" panose="02010609060101010101" pitchFamily="49" charset="-122"/>
              </a:rPr>
              <a:t>这个映射由一组模糊 </a:t>
            </a:r>
            <a:r>
              <a:rPr lang="en-US" altLang="zh-CN" sz="2400" b="1" dirty="0">
                <a:solidFill>
                  <a:srgbClr val="3333FF"/>
                </a:solidFill>
                <a:effectLst>
                  <a:outerShdw blurRad="38100" dist="38100" dir="2700000" algn="tl">
                    <a:srgbClr val="000000">
                      <a:alpha val="43137"/>
                    </a:srgbClr>
                  </a:outerShdw>
                </a:effectLst>
                <a:ea typeface="黑体" panose="02010609060101010101" pitchFamily="49" charset="-122"/>
              </a:rPr>
              <a:t>IF-THEN </a:t>
            </a:r>
            <a:r>
              <a:rPr lang="zh-CN" altLang="en-US" sz="2400" dirty="0">
                <a:ea typeface="黑体" panose="02010609060101010101" pitchFamily="49" charset="-122"/>
              </a:rPr>
              <a:t>规则来完成，每个规则描述映射的局部行为</a:t>
            </a:r>
          </a:p>
          <a:p>
            <a:pPr lvl="2" eaLnBrk="1" hangingPunct="1"/>
            <a:r>
              <a:rPr lang="zh-CN" altLang="en-US" b="1" dirty="0">
                <a:ea typeface="楷体_GB2312" pitchFamily="1" charset="-122"/>
              </a:rPr>
              <a:t>规则的前件定义输入空间的</a:t>
            </a:r>
            <a:r>
              <a:rPr lang="en-US" altLang="zh-CN" b="1" dirty="0">
                <a:ea typeface="楷体_GB2312" pitchFamily="1" charset="-122"/>
              </a:rPr>
              <a:t>F</a:t>
            </a:r>
            <a:r>
              <a:rPr lang="zh-CN" altLang="en-US" b="1" dirty="0">
                <a:ea typeface="楷体_GB2312" pitchFamily="1" charset="-122"/>
              </a:rPr>
              <a:t>区域</a:t>
            </a:r>
          </a:p>
          <a:p>
            <a:pPr lvl="2" eaLnBrk="1" hangingPunct="1"/>
            <a:r>
              <a:rPr lang="zh-CN" altLang="en-US" b="1" dirty="0">
                <a:ea typeface="楷体_GB2312" pitchFamily="1" charset="-122"/>
              </a:rPr>
              <a:t>规则的后件规定了</a:t>
            </a:r>
            <a:r>
              <a:rPr lang="en-US" altLang="zh-CN" b="1" dirty="0">
                <a:ea typeface="楷体_GB2312" pitchFamily="1" charset="-122"/>
              </a:rPr>
              <a:t>F</a:t>
            </a:r>
            <a:r>
              <a:rPr lang="zh-CN" altLang="en-US" b="1" dirty="0">
                <a:ea typeface="楷体_GB2312" pitchFamily="1" charset="-122"/>
              </a:rPr>
              <a:t>区域中的输出</a:t>
            </a:r>
          </a:p>
        </p:txBody>
      </p:sp>
      <p:grpSp>
        <p:nvGrpSpPr>
          <p:cNvPr id="7173" name="Group 5"/>
          <p:cNvGrpSpPr>
            <a:grpSpLocks/>
          </p:cNvGrpSpPr>
          <p:nvPr/>
        </p:nvGrpSpPr>
        <p:grpSpPr bwMode="auto">
          <a:xfrm>
            <a:off x="3910139" y="1773238"/>
            <a:ext cx="2881313" cy="792162"/>
            <a:chOff x="0" y="0"/>
            <a:chExt cx="1815" cy="499"/>
          </a:xfrm>
        </p:grpSpPr>
        <p:sp>
          <p:nvSpPr>
            <p:cNvPr id="7174" name="Rectangle 6"/>
            <p:cNvSpPr>
              <a:spLocks noChangeArrowheads="1"/>
            </p:cNvSpPr>
            <p:nvPr/>
          </p:nvSpPr>
          <p:spPr bwMode="auto">
            <a:xfrm>
              <a:off x="0" y="0"/>
              <a:ext cx="1815" cy="499"/>
            </a:xfrm>
            <a:prstGeom prst="rect">
              <a:avLst/>
            </a:prstGeom>
            <a:solidFill>
              <a:srgbClr val="FFFF66"/>
            </a:solidFill>
            <a:ln w="9525" cmpd="sng">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7175" name="Rectangle 7"/>
            <p:cNvSpPr>
              <a:spLocks noChangeArrowheads="1"/>
            </p:cNvSpPr>
            <p:nvPr/>
          </p:nvSpPr>
          <p:spPr bwMode="auto">
            <a:xfrm>
              <a:off x="91" y="136"/>
              <a:ext cx="680" cy="272"/>
            </a:xfrm>
            <a:prstGeom prst="rect">
              <a:avLst/>
            </a:prstGeom>
            <a:solidFill>
              <a:schemeClr val="accent1"/>
            </a:solidFill>
            <a:ln w="9525" cmpd="sng">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a:t>x = A</a:t>
              </a:r>
              <a:r>
                <a:rPr lang="en-US" altLang="zh-CN" baseline="-25000"/>
                <a:t>1</a:t>
              </a:r>
              <a:endParaRPr lang="en-US" altLang="zh-CN"/>
            </a:p>
          </p:txBody>
        </p:sp>
        <p:sp>
          <p:nvSpPr>
            <p:cNvPr id="7176" name="Rectangle 8"/>
            <p:cNvSpPr>
              <a:spLocks noChangeArrowheads="1"/>
            </p:cNvSpPr>
            <p:nvPr/>
          </p:nvSpPr>
          <p:spPr bwMode="auto">
            <a:xfrm>
              <a:off x="1044" y="136"/>
              <a:ext cx="680" cy="272"/>
            </a:xfrm>
            <a:prstGeom prst="rect">
              <a:avLst/>
            </a:prstGeom>
            <a:solidFill>
              <a:srgbClr val="FF9933"/>
            </a:solidFill>
            <a:ln w="9525" cmpd="sng">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a:t>y = B</a:t>
              </a:r>
              <a:r>
                <a:rPr lang="en-US" altLang="zh-CN" baseline="-25000"/>
                <a:t>1</a:t>
              </a:r>
              <a:endParaRPr lang="en-US" altLang="zh-CN"/>
            </a:p>
          </p:txBody>
        </p:sp>
        <p:sp>
          <p:nvSpPr>
            <p:cNvPr id="7177" name="Line 9"/>
            <p:cNvSpPr>
              <a:spLocks noChangeShapeType="1"/>
            </p:cNvSpPr>
            <p:nvPr/>
          </p:nvSpPr>
          <p:spPr bwMode="auto">
            <a:xfrm>
              <a:off x="771" y="272"/>
              <a:ext cx="273" cy="0"/>
            </a:xfrm>
            <a:prstGeom prst="line">
              <a:avLst/>
            </a:prstGeom>
            <a:noFill/>
            <a:ln w="19050" cmpd="sng">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178" name="Text Box 10"/>
            <p:cNvSpPr txBox="1">
              <a:spLocks noChangeArrowheads="1"/>
            </p:cNvSpPr>
            <p:nvPr/>
          </p:nvSpPr>
          <p:spPr bwMode="auto">
            <a:xfrm>
              <a:off x="771" y="0"/>
              <a:ext cx="408"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a:t>w</a:t>
              </a:r>
              <a:r>
                <a:rPr lang="en-US" altLang="zh-CN" baseline="-25000"/>
                <a:t>1</a:t>
              </a:r>
            </a:p>
          </p:txBody>
        </p:sp>
      </p:grpSp>
      <p:grpSp>
        <p:nvGrpSpPr>
          <p:cNvPr id="7179" name="Group 11"/>
          <p:cNvGrpSpPr>
            <a:grpSpLocks/>
          </p:cNvGrpSpPr>
          <p:nvPr/>
        </p:nvGrpSpPr>
        <p:grpSpPr bwMode="auto">
          <a:xfrm>
            <a:off x="3910139" y="2852738"/>
            <a:ext cx="2881313" cy="792162"/>
            <a:chOff x="0" y="0"/>
            <a:chExt cx="1815" cy="499"/>
          </a:xfrm>
        </p:grpSpPr>
        <p:sp>
          <p:nvSpPr>
            <p:cNvPr id="7180" name="Rectangle 12"/>
            <p:cNvSpPr>
              <a:spLocks noChangeArrowheads="1"/>
            </p:cNvSpPr>
            <p:nvPr/>
          </p:nvSpPr>
          <p:spPr bwMode="auto">
            <a:xfrm>
              <a:off x="0" y="0"/>
              <a:ext cx="1815" cy="499"/>
            </a:xfrm>
            <a:prstGeom prst="rect">
              <a:avLst/>
            </a:prstGeom>
            <a:solidFill>
              <a:srgbClr val="FFFF66"/>
            </a:solidFill>
            <a:ln w="9525" cmpd="sng">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7181" name="Rectangle 13"/>
            <p:cNvSpPr>
              <a:spLocks noChangeArrowheads="1"/>
            </p:cNvSpPr>
            <p:nvPr/>
          </p:nvSpPr>
          <p:spPr bwMode="auto">
            <a:xfrm>
              <a:off x="91" y="136"/>
              <a:ext cx="680" cy="272"/>
            </a:xfrm>
            <a:prstGeom prst="rect">
              <a:avLst/>
            </a:prstGeom>
            <a:solidFill>
              <a:schemeClr val="accent1"/>
            </a:solidFill>
            <a:ln w="9525" cmpd="sng">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a:t>x = A</a:t>
              </a:r>
              <a:r>
                <a:rPr lang="en-US" altLang="zh-CN" baseline="-25000"/>
                <a:t>2</a:t>
              </a:r>
              <a:endParaRPr lang="en-US" altLang="zh-CN"/>
            </a:p>
          </p:txBody>
        </p:sp>
        <p:sp>
          <p:nvSpPr>
            <p:cNvPr id="7182" name="Rectangle 14"/>
            <p:cNvSpPr>
              <a:spLocks noChangeArrowheads="1"/>
            </p:cNvSpPr>
            <p:nvPr/>
          </p:nvSpPr>
          <p:spPr bwMode="auto">
            <a:xfrm>
              <a:off x="1044" y="136"/>
              <a:ext cx="680" cy="272"/>
            </a:xfrm>
            <a:prstGeom prst="rect">
              <a:avLst/>
            </a:prstGeom>
            <a:solidFill>
              <a:srgbClr val="FF9933"/>
            </a:solidFill>
            <a:ln w="9525" cmpd="sng">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a:t>y = B</a:t>
              </a:r>
              <a:r>
                <a:rPr lang="en-US" altLang="zh-CN" baseline="-25000"/>
                <a:t>2</a:t>
              </a:r>
              <a:endParaRPr lang="en-US" altLang="zh-CN"/>
            </a:p>
          </p:txBody>
        </p:sp>
        <p:sp>
          <p:nvSpPr>
            <p:cNvPr id="7183" name="Line 15"/>
            <p:cNvSpPr>
              <a:spLocks noChangeShapeType="1"/>
            </p:cNvSpPr>
            <p:nvPr/>
          </p:nvSpPr>
          <p:spPr bwMode="auto">
            <a:xfrm>
              <a:off x="771" y="272"/>
              <a:ext cx="273" cy="0"/>
            </a:xfrm>
            <a:prstGeom prst="line">
              <a:avLst/>
            </a:prstGeom>
            <a:noFill/>
            <a:ln w="19050" cmpd="sng">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184" name="Text Box 16"/>
            <p:cNvSpPr txBox="1">
              <a:spLocks noChangeArrowheads="1"/>
            </p:cNvSpPr>
            <p:nvPr/>
          </p:nvSpPr>
          <p:spPr bwMode="auto">
            <a:xfrm>
              <a:off x="771" y="0"/>
              <a:ext cx="408"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a:t>w</a:t>
              </a:r>
              <a:r>
                <a:rPr lang="en-US" altLang="zh-CN" baseline="-25000"/>
                <a:t>2</a:t>
              </a:r>
            </a:p>
          </p:txBody>
        </p:sp>
      </p:grpSp>
      <p:grpSp>
        <p:nvGrpSpPr>
          <p:cNvPr id="7185" name="Group 17"/>
          <p:cNvGrpSpPr>
            <a:grpSpLocks/>
          </p:cNvGrpSpPr>
          <p:nvPr/>
        </p:nvGrpSpPr>
        <p:grpSpPr bwMode="auto">
          <a:xfrm>
            <a:off x="3910139" y="4076701"/>
            <a:ext cx="2881313" cy="792163"/>
            <a:chOff x="0" y="0"/>
            <a:chExt cx="1815" cy="499"/>
          </a:xfrm>
        </p:grpSpPr>
        <p:sp>
          <p:nvSpPr>
            <p:cNvPr id="7186" name="Rectangle 18"/>
            <p:cNvSpPr>
              <a:spLocks noChangeArrowheads="1"/>
            </p:cNvSpPr>
            <p:nvPr/>
          </p:nvSpPr>
          <p:spPr bwMode="auto">
            <a:xfrm>
              <a:off x="0" y="0"/>
              <a:ext cx="1815" cy="499"/>
            </a:xfrm>
            <a:prstGeom prst="rect">
              <a:avLst/>
            </a:prstGeom>
            <a:solidFill>
              <a:srgbClr val="FFFF66"/>
            </a:solidFill>
            <a:ln w="9525" cmpd="sng">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7187" name="Rectangle 19"/>
            <p:cNvSpPr>
              <a:spLocks noChangeArrowheads="1"/>
            </p:cNvSpPr>
            <p:nvPr/>
          </p:nvSpPr>
          <p:spPr bwMode="auto">
            <a:xfrm>
              <a:off x="91" y="136"/>
              <a:ext cx="680" cy="272"/>
            </a:xfrm>
            <a:prstGeom prst="rect">
              <a:avLst/>
            </a:prstGeom>
            <a:solidFill>
              <a:schemeClr val="accent1"/>
            </a:solidFill>
            <a:ln w="9525" cmpd="sng">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a:t>x = A</a:t>
              </a:r>
              <a:r>
                <a:rPr lang="en-US" altLang="zh-CN" baseline="-25000"/>
                <a:t>n</a:t>
              </a:r>
              <a:endParaRPr lang="en-US" altLang="zh-CN"/>
            </a:p>
          </p:txBody>
        </p:sp>
        <p:sp>
          <p:nvSpPr>
            <p:cNvPr id="7188" name="Rectangle 20"/>
            <p:cNvSpPr>
              <a:spLocks noChangeArrowheads="1"/>
            </p:cNvSpPr>
            <p:nvPr/>
          </p:nvSpPr>
          <p:spPr bwMode="auto">
            <a:xfrm>
              <a:off x="1044" y="136"/>
              <a:ext cx="680" cy="272"/>
            </a:xfrm>
            <a:prstGeom prst="rect">
              <a:avLst/>
            </a:prstGeom>
            <a:solidFill>
              <a:srgbClr val="FF9933"/>
            </a:solidFill>
            <a:ln w="9525" cmpd="sng">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a:t>y = B</a:t>
              </a:r>
              <a:r>
                <a:rPr lang="en-US" altLang="zh-CN" baseline="-25000"/>
                <a:t>n</a:t>
              </a:r>
              <a:endParaRPr lang="en-US" altLang="zh-CN"/>
            </a:p>
          </p:txBody>
        </p:sp>
        <p:sp>
          <p:nvSpPr>
            <p:cNvPr id="7189" name="Line 21"/>
            <p:cNvSpPr>
              <a:spLocks noChangeShapeType="1"/>
            </p:cNvSpPr>
            <p:nvPr/>
          </p:nvSpPr>
          <p:spPr bwMode="auto">
            <a:xfrm>
              <a:off x="771" y="272"/>
              <a:ext cx="273" cy="0"/>
            </a:xfrm>
            <a:prstGeom prst="line">
              <a:avLst/>
            </a:prstGeom>
            <a:noFill/>
            <a:ln w="19050" cmpd="sng">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190" name="Text Box 22"/>
            <p:cNvSpPr txBox="1">
              <a:spLocks noChangeArrowheads="1"/>
            </p:cNvSpPr>
            <p:nvPr/>
          </p:nvSpPr>
          <p:spPr bwMode="auto">
            <a:xfrm>
              <a:off x="771" y="0"/>
              <a:ext cx="408"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a:t>w</a:t>
              </a:r>
              <a:r>
                <a:rPr lang="en-US" altLang="zh-CN" baseline="-25000"/>
                <a:t>n</a:t>
              </a:r>
            </a:p>
          </p:txBody>
        </p:sp>
      </p:grpSp>
      <p:sp>
        <p:nvSpPr>
          <p:cNvPr id="7191" name="AutoShape 23"/>
          <p:cNvSpPr>
            <a:spLocks noChangeArrowheads="1"/>
          </p:cNvSpPr>
          <p:nvPr/>
        </p:nvSpPr>
        <p:spPr bwMode="auto">
          <a:xfrm>
            <a:off x="3406902" y="2060576"/>
            <a:ext cx="503237" cy="288925"/>
          </a:xfrm>
          <a:prstGeom prst="rightArrow">
            <a:avLst>
              <a:gd name="adj1" fmla="val 50000"/>
              <a:gd name="adj2" fmla="val 43544"/>
            </a:avLst>
          </a:prstGeom>
          <a:solidFill>
            <a:schemeClr val="bg2"/>
          </a:solidFill>
          <a:ln w="9525" cmpd="sng">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7192" name="AutoShape 24"/>
          <p:cNvSpPr>
            <a:spLocks noChangeArrowheads="1"/>
          </p:cNvSpPr>
          <p:nvPr/>
        </p:nvSpPr>
        <p:spPr bwMode="auto">
          <a:xfrm>
            <a:off x="3406902" y="4365626"/>
            <a:ext cx="503237" cy="288925"/>
          </a:xfrm>
          <a:prstGeom prst="rightArrow">
            <a:avLst>
              <a:gd name="adj1" fmla="val 50000"/>
              <a:gd name="adj2" fmla="val 43544"/>
            </a:avLst>
          </a:prstGeom>
          <a:solidFill>
            <a:schemeClr val="bg2"/>
          </a:solidFill>
          <a:ln w="9525" cmpd="sng">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7193" name="AutoShape 25"/>
          <p:cNvSpPr>
            <a:spLocks noChangeArrowheads="1"/>
          </p:cNvSpPr>
          <p:nvPr/>
        </p:nvSpPr>
        <p:spPr bwMode="auto">
          <a:xfrm>
            <a:off x="3406902" y="3068639"/>
            <a:ext cx="503237" cy="288925"/>
          </a:xfrm>
          <a:prstGeom prst="rightArrow">
            <a:avLst>
              <a:gd name="adj1" fmla="val 50000"/>
              <a:gd name="adj2" fmla="val 43544"/>
            </a:avLst>
          </a:prstGeom>
          <a:solidFill>
            <a:schemeClr val="bg2"/>
          </a:solidFill>
          <a:ln w="9525" cmpd="sng">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7194" name="Rectangle 26"/>
          <p:cNvSpPr>
            <a:spLocks noChangeArrowheads="1"/>
          </p:cNvSpPr>
          <p:nvPr/>
        </p:nvSpPr>
        <p:spPr bwMode="auto">
          <a:xfrm>
            <a:off x="3333876" y="2133601"/>
            <a:ext cx="144462" cy="2447925"/>
          </a:xfrm>
          <a:prstGeom prst="rect">
            <a:avLst/>
          </a:prstGeom>
          <a:solidFill>
            <a:schemeClr val="bg2"/>
          </a:solidFill>
          <a:ln w="9525" cmpd="sng">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7195" name="Rectangle 27"/>
          <p:cNvSpPr>
            <a:spLocks noChangeArrowheads="1"/>
          </p:cNvSpPr>
          <p:nvPr/>
        </p:nvSpPr>
        <p:spPr bwMode="auto">
          <a:xfrm>
            <a:off x="2759202" y="3284538"/>
            <a:ext cx="574675" cy="144462"/>
          </a:xfrm>
          <a:prstGeom prst="rect">
            <a:avLst/>
          </a:prstGeom>
          <a:solidFill>
            <a:schemeClr val="bg2"/>
          </a:solidFill>
          <a:ln w="9525" cmpd="sng">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7196" name="Text Box 28"/>
          <p:cNvSpPr txBox="1">
            <a:spLocks noChangeArrowheads="1"/>
          </p:cNvSpPr>
          <p:nvPr/>
        </p:nvSpPr>
        <p:spPr bwMode="auto">
          <a:xfrm>
            <a:off x="2398838" y="3213101"/>
            <a:ext cx="4318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a:t>X</a:t>
            </a:r>
          </a:p>
        </p:txBody>
      </p:sp>
      <p:sp>
        <p:nvSpPr>
          <p:cNvPr id="7197" name="Text Box 29"/>
          <p:cNvSpPr txBox="1">
            <a:spLocks noChangeArrowheads="1"/>
          </p:cNvSpPr>
          <p:nvPr/>
        </p:nvSpPr>
        <p:spPr bwMode="auto">
          <a:xfrm>
            <a:off x="1703512" y="2757220"/>
            <a:ext cx="1530352"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sz="2000" b="1" dirty="0">
                <a:ea typeface="楷体_GB2312" pitchFamily="1" charset="-122"/>
              </a:rPr>
              <a:t>精确或模糊</a:t>
            </a:r>
          </a:p>
        </p:txBody>
      </p:sp>
      <p:sp>
        <p:nvSpPr>
          <p:cNvPr id="7198" name="Text Box 30"/>
          <p:cNvSpPr txBox="1">
            <a:spLocks noChangeArrowheads="1"/>
          </p:cNvSpPr>
          <p:nvPr/>
        </p:nvSpPr>
        <p:spPr bwMode="auto">
          <a:xfrm>
            <a:off x="3767264" y="1484313"/>
            <a:ext cx="576263"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a:t>R</a:t>
            </a:r>
            <a:r>
              <a:rPr lang="en-US" altLang="zh-CN" baseline="-25000"/>
              <a:t>1</a:t>
            </a:r>
            <a:endParaRPr lang="en-US" altLang="zh-CN"/>
          </a:p>
        </p:txBody>
      </p:sp>
      <p:sp>
        <p:nvSpPr>
          <p:cNvPr id="7199" name="Text Box 31"/>
          <p:cNvSpPr txBox="1">
            <a:spLocks noChangeArrowheads="1"/>
          </p:cNvSpPr>
          <p:nvPr/>
        </p:nvSpPr>
        <p:spPr bwMode="auto">
          <a:xfrm>
            <a:off x="3767264" y="3789364"/>
            <a:ext cx="576263" cy="369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a:t>R</a:t>
            </a:r>
            <a:r>
              <a:rPr lang="en-US" altLang="zh-CN" baseline="-25000"/>
              <a:t>n</a:t>
            </a:r>
            <a:endParaRPr lang="en-US" altLang="zh-CN"/>
          </a:p>
        </p:txBody>
      </p:sp>
      <p:sp>
        <p:nvSpPr>
          <p:cNvPr id="7200" name="Text Box 32"/>
          <p:cNvSpPr txBox="1">
            <a:spLocks noChangeArrowheads="1"/>
          </p:cNvSpPr>
          <p:nvPr/>
        </p:nvSpPr>
        <p:spPr bwMode="auto">
          <a:xfrm>
            <a:off x="3767264" y="2565400"/>
            <a:ext cx="576263" cy="369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a:t>R</a:t>
            </a:r>
            <a:r>
              <a:rPr lang="en-US" altLang="zh-CN" baseline="-25000"/>
              <a:t>2</a:t>
            </a:r>
            <a:endParaRPr lang="en-US" altLang="zh-CN"/>
          </a:p>
        </p:txBody>
      </p:sp>
      <p:sp>
        <p:nvSpPr>
          <p:cNvPr id="7201" name="Rectangle 33"/>
          <p:cNvSpPr>
            <a:spLocks noChangeArrowheads="1"/>
          </p:cNvSpPr>
          <p:nvPr/>
        </p:nvSpPr>
        <p:spPr bwMode="auto">
          <a:xfrm>
            <a:off x="7726488" y="2924176"/>
            <a:ext cx="865188" cy="576263"/>
          </a:xfrm>
          <a:prstGeom prst="rect">
            <a:avLst/>
          </a:prstGeom>
          <a:solidFill>
            <a:srgbClr val="FFCCFF"/>
          </a:solidFill>
          <a:ln w="28575" cmpd="sng">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r>
              <a:rPr lang="zh-CN" altLang="en-US" b="1">
                <a:ea typeface="楷体_GB2312" pitchFamily="1" charset="-122"/>
              </a:rPr>
              <a:t>集结器</a:t>
            </a:r>
          </a:p>
        </p:txBody>
      </p:sp>
      <p:sp>
        <p:nvSpPr>
          <p:cNvPr id="7202" name="Line 34"/>
          <p:cNvSpPr>
            <a:spLocks noChangeShapeType="1"/>
          </p:cNvSpPr>
          <p:nvPr/>
        </p:nvSpPr>
        <p:spPr bwMode="auto">
          <a:xfrm>
            <a:off x="6791452" y="3213100"/>
            <a:ext cx="935037" cy="0"/>
          </a:xfrm>
          <a:prstGeom prst="line">
            <a:avLst/>
          </a:prstGeom>
          <a:noFill/>
          <a:ln w="28575" cmpd="sng">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203" name="Line 35"/>
          <p:cNvSpPr>
            <a:spLocks noChangeShapeType="1"/>
          </p:cNvSpPr>
          <p:nvPr/>
        </p:nvSpPr>
        <p:spPr bwMode="auto">
          <a:xfrm>
            <a:off x="6791452" y="4437063"/>
            <a:ext cx="503237" cy="0"/>
          </a:xfrm>
          <a:prstGeom prst="line">
            <a:avLst/>
          </a:prstGeom>
          <a:noFill/>
          <a:ln w="28575" cmpd="sng">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204" name="Line 36"/>
          <p:cNvSpPr>
            <a:spLocks noChangeShapeType="1"/>
          </p:cNvSpPr>
          <p:nvPr/>
        </p:nvSpPr>
        <p:spPr bwMode="auto">
          <a:xfrm>
            <a:off x="6791452" y="2133600"/>
            <a:ext cx="503237" cy="0"/>
          </a:xfrm>
          <a:prstGeom prst="line">
            <a:avLst/>
          </a:prstGeom>
          <a:noFill/>
          <a:ln w="28575" cmpd="sng">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205" name="Line 37"/>
          <p:cNvSpPr>
            <a:spLocks noChangeShapeType="1"/>
          </p:cNvSpPr>
          <p:nvPr/>
        </p:nvSpPr>
        <p:spPr bwMode="auto">
          <a:xfrm>
            <a:off x="7294688" y="2133600"/>
            <a:ext cx="0" cy="935038"/>
          </a:xfrm>
          <a:prstGeom prst="line">
            <a:avLst/>
          </a:prstGeom>
          <a:noFill/>
          <a:ln w="28575" cmpd="sng">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206" name="Line 38"/>
          <p:cNvSpPr>
            <a:spLocks noChangeShapeType="1"/>
          </p:cNvSpPr>
          <p:nvPr/>
        </p:nvSpPr>
        <p:spPr bwMode="auto">
          <a:xfrm>
            <a:off x="7294688" y="3429001"/>
            <a:ext cx="0" cy="1006475"/>
          </a:xfrm>
          <a:prstGeom prst="line">
            <a:avLst/>
          </a:prstGeom>
          <a:noFill/>
          <a:ln w="28575" cmpd="sng">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207" name="Line 39"/>
          <p:cNvSpPr>
            <a:spLocks noChangeShapeType="1"/>
          </p:cNvSpPr>
          <p:nvPr/>
        </p:nvSpPr>
        <p:spPr bwMode="auto">
          <a:xfrm>
            <a:off x="7294688" y="3068638"/>
            <a:ext cx="431800" cy="0"/>
          </a:xfrm>
          <a:prstGeom prst="line">
            <a:avLst/>
          </a:prstGeom>
          <a:noFill/>
          <a:ln w="28575" cmpd="sng">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208" name="Line 40"/>
          <p:cNvSpPr>
            <a:spLocks noChangeShapeType="1"/>
          </p:cNvSpPr>
          <p:nvPr/>
        </p:nvSpPr>
        <p:spPr bwMode="auto">
          <a:xfrm>
            <a:off x="7294688" y="3429000"/>
            <a:ext cx="431800" cy="0"/>
          </a:xfrm>
          <a:prstGeom prst="line">
            <a:avLst/>
          </a:prstGeom>
          <a:noFill/>
          <a:ln w="28575" cmpd="sng">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209" name="Text Box 41"/>
          <p:cNvSpPr txBox="1">
            <a:spLocks noChangeArrowheads="1"/>
          </p:cNvSpPr>
          <p:nvPr/>
        </p:nvSpPr>
        <p:spPr bwMode="auto">
          <a:xfrm>
            <a:off x="6718426" y="2852738"/>
            <a:ext cx="64770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sz="1600" b="1">
                <a:ea typeface="楷体_GB2312" pitchFamily="1" charset="-122"/>
              </a:rPr>
              <a:t>模糊</a:t>
            </a:r>
          </a:p>
        </p:txBody>
      </p:sp>
      <p:sp>
        <p:nvSpPr>
          <p:cNvPr id="7210" name="Line 42"/>
          <p:cNvSpPr>
            <a:spLocks noChangeShapeType="1"/>
          </p:cNvSpPr>
          <p:nvPr/>
        </p:nvSpPr>
        <p:spPr bwMode="auto">
          <a:xfrm>
            <a:off x="8591676" y="3213100"/>
            <a:ext cx="431800" cy="0"/>
          </a:xfrm>
          <a:prstGeom prst="line">
            <a:avLst/>
          </a:prstGeom>
          <a:noFill/>
          <a:ln w="28575" cmpd="sng">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211" name="Rectangle 43"/>
          <p:cNvSpPr>
            <a:spLocks noChangeArrowheads="1"/>
          </p:cNvSpPr>
          <p:nvPr/>
        </p:nvSpPr>
        <p:spPr bwMode="auto">
          <a:xfrm>
            <a:off x="9023477" y="2924176"/>
            <a:ext cx="865187" cy="576263"/>
          </a:xfrm>
          <a:prstGeom prst="rect">
            <a:avLst/>
          </a:prstGeom>
          <a:solidFill>
            <a:srgbClr val="45E764"/>
          </a:solidFill>
          <a:ln w="28575" cmpd="sng">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r>
              <a:rPr lang="zh-CN" altLang="en-US" b="1">
                <a:ea typeface="楷体_GB2312" pitchFamily="1" charset="-122"/>
              </a:rPr>
              <a:t>去</a:t>
            </a:r>
            <a:r>
              <a:rPr lang="en-US" altLang="zh-CN" b="1">
                <a:ea typeface="楷体_GB2312" pitchFamily="1" charset="-122"/>
              </a:rPr>
              <a:t>F</a:t>
            </a:r>
            <a:r>
              <a:rPr lang="zh-CN" altLang="en-US" b="1">
                <a:ea typeface="楷体_GB2312" pitchFamily="1" charset="-122"/>
              </a:rPr>
              <a:t>化</a:t>
            </a:r>
          </a:p>
        </p:txBody>
      </p:sp>
      <p:sp>
        <p:nvSpPr>
          <p:cNvPr id="7212" name="Line 44"/>
          <p:cNvSpPr>
            <a:spLocks noChangeShapeType="1"/>
          </p:cNvSpPr>
          <p:nvPr/>
        </p:nvSpPr>
        <p:spPr bwMode="auto">
          <a:xfrm>
            <a:off x="9887076" y="3213100"/>
            <a:ext cx="647700" cy="0"/>
          </a:xfrm>
          <a:prstGeom prst="line">
            <a:avLst/>
          </a:prstGeom>
          <a:noFill/>
          <a:ln w="28575" cmpd="sng">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213" name="Text Box 45"/>
          <p:cNvSpPr txBox="1">
            <a:spLocks noChangeArrowheads="1"/>
          </p:cNvSpPr>
          <p:nvPr/>
        </p:nvSpPr>
        <p:spPr bwMode="auto">
          <a:xfrm>
            <a:off x="10534776" y="2997201"/>
            <a:ext cx="360362"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a:t>Y</a:t>
            </a:r>
          </a:p>
        </p:txBody>
      </p:sp>
      <p:sp>
        <p:nvSpPr>
          <p:cNvPr id="7214" name="Text Box 46"/>
          <p:cNvSpPr txBox="1">
            <a:spLocks noChangeArrowheads="1"/>
          </p:cNvSpPr>
          <p:nvPr/>
        </p:nvSpPr>
        <p:spPr bwMode="auto">
          <a:xfrm>
            <a:off x="8591676" y="2565400"/>
            <a:ext cx="64770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sz="1600" b="1">
                <a:ea typeface="楷体_GB2312" pitchFamily="1" charset="-122"/>
              </a:rPr>
              <a:t>模糊</a:t>
            </a:r>
          </a:p>
        </p:txBody>
      </p:sp>
      <p:sp>
        <p:nvSpPr>
          <p:cNvPr id="7215" name="Text Box 47"/>
          <p:cNvSpPr txBox="1">
            <a:spLocks noChangeArrowheads="1"/>
          </p:cNvSpPr>
          <p:nvPr/>
        </p:nvSpPr>
        <p:spPr bwMode="auto">
          <a:xfrm>
            <a:off x="9958513" y="2781300"/>
            <a:ext cx="64770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sz="1600" b="1">
                <a:ea typeface="楷体_GB2312" pitchFamily="1" charset="-122"/>
              </a:rPr>
              <a:t>精确</a:t>
            </a:r>
          </a:p>
        </p:txBody>
      </p:sp>
      <p:sp>
        <p:nvSpPr>
          <p:cNvPr id="7216" name="Text Box 48"/>
          <p:cNvSpPr txBox="1">
            <a:spLocks noChangeArrowheads="1"/>
          </p:cNvSpPr>
          <p:nvPr/>
        </p:nvSpPr>
        <p:spPr bwMode="auto">
          <a:xfrm>
            <a:off x="6718426" y="4076700"/>
            <a:ext cx="64770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sz="1600" b="1">
                <a:ea typeface="楷体_GB2312" pitchFamily="1" charset="-122"/>
              </a:rPr>
              <a:t>模糊</a:t>
            </a:r>
          </a:p>
        </p:txBody>
      </p:sp>
      <p:sp>
        <p:nvSpPr>
          <p:cNvPr id="7217" name="Text Box 49"/>
          <p:cNvSpPr txBox="1">
            <a:spLocks noChangeArrowheads="1"/>
          </p:cNvSpPr>
          <p:nvPr/>
        </p:nvSpPr>
        <p:spPr bwMode="auto">
          <a:xfrm>
            <a:off x="6718426" y="1773238"/>
            <a:ext cx="64770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sz="1600" b="1">
                <a:ea typeface="楷体_GB2312" pitchFamily="1" charset="-122"/>
              </a:rPr>
              <a:t>模糊</a:t>
            </a:r>
          </a:p>
        </p:txBody>
      </p:sp>
      <p:sp>
        <p:nvSpPr>
          <p:cNvPr id="7218" name="Text Box 50"/>
          <p:cNvSpPr txBox="1">
            <a:spLocks noChangeArrowheads="1"/>
          </p:cNvSpPr>
          <p:nvPr/>
        </p:nvSpPr>
        <p:spPr bwMode="auto">
          <a:xfrm>
            <a:off x="4126038" y="3644901"/>
            <a:ext cx="2520950" cy="461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sz="2400"/>
              <a:t>· · · · · · · · · · · · · </a:t>
            </a:r>
            <a:endParaRPr lang="en-US" altLang="zh-CN"/>
          </a:p>
        </p:txBody>
      </p:sp>
      <p:sp>
        <p:nvSpPr>
          <p:cNvPr id="2" name="对话气泡: 矩形 1">
            <a:extLst>
              <a:ext uri="{FF2B5EF4-FFF2-40B4-BE49-F238E27FC236}">
                <a16:creationId xmlns:a16="http://schemas.microsoft.com/office/drawing/2014/main" id="{18619810-531D-46C1-8AA7-B78ABA7402AB}"/>
              </a:ext>
            </a:extLst>
          </p:cNvPr>
          <p:cNvSpPr/>
          <p:nvPr/>
        </p:nvSpPr>
        <p:spPr bwMode="auto">
          <a:xfrm>
            <a:off x="9191624" y="828450"/>
            <a:ext cx="2501900" cy="1550987"/>
          </a:xfrm>
          <a:prstGeom prst="wedgeRectCallout">
            <a:avLst>
              <a:gd name="adj1" fmla="val -20833"/>
              <a:gd name="adj2" fmla="val 47761"/>
            </a:avLst>
          </a:prstGeom>
          <a:solidFill>
            <a:srgbClr val="CC00CC"/>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r>
              <a:rPr lang="en-US" altLang="zh-CN" sz="2400" b="1" dirty="0">
                <a:solidFill>
                  <a:schemeClr val="bg1"/>
                </a:solidFill>
                <a:effectLst>
                  <a:outerShdw blurRad="38100" dist="38100" dir="2700000" algn="tl">
                    <a:srgbClr val="000000">
                      <a:alpha val="43137"/>
                    </a:srgbClr>
                  </a:outerShdw>
                </a:effectLst>
                <a:latin typeface="+mn-lt"/>
                <a:ea typeface="黑体" panose="02010609060101010101" pitchFamily="49" charset="-122"/>
              </a:rPr>
              <a:t>F</a:t>
            </a:r>
            <a:r>
              <a:rPr lang="zh-CN" altLang="en-US" sz="2400" b="1" dirty="0">
                <a:solidFill>
                  <a:schemeClr val="bg1"/>
                </a:solidFill>
                <a:effectLst>
                  <a:outerShdw blurRad="38100" dist="38100" dir="2700000" algn="tl">
                    <a:srgbClr val="000000">
                      <a:alpha val="43137"/>
                    </a:srgbClr>
                  </a:outerShdw>
                </a:effectLst>
                <a:latin typeface="+mn-lt"/>
                <a:ea typeface="黑体" panose="02010609060101010101" pitchFamily="49" charset="-122"/>
              </a:rPr>
              <a:t>推理</a:t>
            </a:r>
            <a:r>
              <a:rPr lang="en-US" altLang="zh-CN" sz="2400" b="1" dirty="0">
                <a:solidFill>
                  <a:schemeClr val="bg1"/>
                </a:solidFill>
                <a:effectLst>
                  <a:outerShdw blurRad="38100" dist="38100" dir="2700000" algn="tl">
                    <a:srgbClr val="000000">
                      <a:alpha val="43137"/>
                    </a:srgbClr>
                  </a:outerShdw>
                </a:effectLst>
                <a:latin typeface="+mn-lt"/>
                <a:ea typeface="黑体" panose="02010609060101010101" pitchFamily="49" charset="-122"/>
              </a:rPr>
              <a:t>——</a:t>
            </a:r>
          </a:p>
          <a:p>
            <a:r>
              <a:rPr lang="zh-CN" altLang="en-US" sz="2400" b="1" dirty="0">
                <a:solidFill>
                  <a:schemeClr val="bg1"/>
                </a:solidFill>
                <a:effectLst>
                  <a:outerShdw blurRad="38100" dist="38100" dir="2700000" algn="tl">
                    <a:srgbClr val="000000">
                      <a:alpha val="43137"/>
                    </a:srgbClr>
                  </a:outerShdw>
                </a:effectLst>
                <a:latin typeface="+mn-lt"/>
                <a:ea typeface="黑体" panose="02010609060101010101" pitchFamily="49" charset="-122"/>
              </a:rPr>
              <a:t>     使用</a:t>
            </a:r>
            <a:r>
              <a:rPr lang="en-US" altLang="zh-CN" sz="2400" b="1" dirty="0">
                <a:solidFill>
                  <a:schemeClr val="bg1"/>
                </a:solidFill>
                <a:effectLst>
                  <a:outerShdw blurRad="38100" dist="38100" dir="2700000" algn="tl">
                    <a:srgbClr val="000000">
                      <a:alpha val="43137"/>
                    </a:srgbClr>
                  </a:outerShdw>
                </a:effectLst>
                <a:latin typeface="+mn-lt"/>
                <a:ea typeface="黑体" panose="02010609060101010101" pitchFamily="49" charset="-122"/>
              </a:rPr>
              <a:t>F</a:t>
            </a:r>
            <a:r>
              <a:rPr lang="zh-CN" altLang="en-US" sz="2400" b="1" dirty="0">
                <a:solidFill>
                  <a:schemeClr val="bg1"/>
                </a:solidFill>
                <a:effectLst>
                  <a:outerShdw blurRad="38100" dist="38100" dir="2700000" algn="tl">
                    <a:srgbClr val="000000">
                      <a:alpha val="43137"/>
                    </a:srgbClr>
                  </a:outerShdw>
                </a:effectLst>
                <a:latin typeface="+mn-lt"/>
                <a:ea typeface="黑体" panose="02010609060101010101" pitchFamily="49" charset="-122"/>
              </a:rPr>
              <a:t>集理论，将给定输入映射到输出的过程。</a:t>
            </a:r>
          </a:p>
        </p:txBody>
      </p:sp>
      <p:sp>
        <p:nvSpPr>
          <p:cNvPr id="3" name="灯片编号占位符 2">
            <a:extLst>
              <a:ext uri="{FF2B5EF4-FFF2-40B4-BE49-F238E27FC236}">
                <a16:creationId xmlns:a16="http://schemas.microsoft.com/office/drawing/2014/main" id="{2096EB66-D307-3A0E-CB67-4BE9EEDDB451}"/>
              </a:ext>
            </a:extLst>
          </p:cNvPr>
          <p:cNvSpPr>
            <a:spLocks noGrp="1"/>
          </p:cNvSpPr>
          <p:nvPr>
            <p:ph type="sldNum" sz="quarter" idx="11"/>
          </p:nvPr>
        </p:nvSpPr>
        <p:spPr/>
        <p:txBody>
          <a:bodyPr/>
          <a:lstStyle/>
          <a:p>
            <a:pPr>
              <a:defRPr/>
            </a:pPr>
            <a:fld id="{B77A47BA-BA63-4780-94A9-8AFA2EA4438D}" type="slidenum">
              <a:rPr lang="en-US" altLang="zh-CN" smtClean="0"/>
              <a:pPr>
                <a:defRPr/>
              </a:pPr>
              <a:t>4</a:t>
            </a:fld>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7172">
                                            <p:txEl>
                                              <p:pRg st="0" end="0"/>
                                            </p:txEl>
                                          </p:spTgt>
                                        </p:tgtEl>
                                        <p:attrNameLst>
                                          <p:attrName>style.visibility</p:attrName>
                                        </p:attrNameLst>
                                      </p:cBhvr>
                                      <p:to>
                                        <p:strVal val="visible"/>
                                      </p:to>
                                    </p:set>
                                    <p:animEffect transition="in" filter="wipe(left)">
                                      <p:cBhvr>
                                        <p:cTn id="7" dur="500"/>
                                        <p:tgtEl>
                                          <p:spTgt spid="7172">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7172">
                                            <p:txEl>
                                              <p:pRg st="1" end="1"/>
                                            </p:txEl>
                                          </p:spTgt>
                                        </p:tgtEl>
                                        <p:attrNameLst>
                                          <p:attrName>style.visibility</p:attrName>
                                        </p:attrNameLst>
                                      </p:cBhvr>
                                      <p:to>
                                        <p:strVal val="visible"/>
                                      </p:to>
                                    </p:set>
                                    <p:animEffect transition="in" filter="wipe(left)">
                                      <p:cBhvr>
                                        <p:cTn id="12" dur="500"/>
                                        <p:tgtEl>
                                          <p:spTgt spid="7172">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7172">
                                            <p:txEl>
                                              <p:pRg st="2" end="2"/>
                                            </p:txEl>
                                          </p:spTgt>
                                        </p:tgtEl>
                                        <p:attrNameLst>
                                          <p:attrName>style.visibility</p:attrName>
                                        </p:attrNameLst>
                                      </p:cBhvr>
                                      <p:to>
                                        <p:strVal val="visible"/>
                                      </p:to>
                                    </p:set>
                                    <p:animEffect transition="in" filter="wipe(left)">
                                      <p:cBhvr>
                                        <p:cTn id="17" dur="500"/>
                                        <p:tgtEl>
                                          <p:spTgt spid="7172">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7172">
                                            <p:txEl>
                                              <p:pRg st="3" end="3"/>
                                            </p:txEl>
                                          </p:spTgt>
                                        </p:tgtEl>
                                        <p:attrNameLst>
                                          <p:attrName>style.visibility</p:attrName>
                                        </p:attrNameLst>
                                      </p:cBhvr>
                                      <p:to>
                                        <p:strVal val="visible"/>
                                      </p:to>
                                    </p:set>
                                    <p:animEffect transition="in" filter="wipe(left)">
                                      <p:cBhvr>
                                        <p:cTn id="22" dur="500"/>
                                        <p:tgtEl>
                                          <p:spTgt spid="7172">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grpId="0" nodeType="clickEffect">
                                  <p:stCondLst>
                                    <p:cond delay="0"/>
                                  </p:stCondLst>
                                  <p:childTnLst>
                                    <p:set>
                                      <p:cBhvr>
                                        <p:cTn id="26" dur="1" fill="hold">
                                          <p:stCondLst>
                                            <p:cond delay="0"/>
                                          </p:stCondLst>
                                        </p:cTn>
                                        <p:tgtEl>
                                          <p:spTgt spid="2"/>
                                        </p:tgtEl>
                                        <p:attrNameLst>
                                          <p:attrName>style.visibility</p:attrName>
                                        </p:attrNameLst>
                                      </p:cBhvr>
                                      <p:to>
                                        <p:strVal val="visible"/>
                                      </p:to>
                                    </p:set>
                                    <p:anim calcmode="lin" valueType="num">
                                      <p:cBhvr additive="base">
                                        <p:cTn id="27" dur="500" fill="hold"/>
                                        <p:tgtEl>
                                          <p:spTgt spid="2"/>
                                        </p:tgtEl>
                                        <p:attrNameLst>
                                          <p:attrName>ppt_x</p:attrName>
                                        </p:attrNameLst>
                                      </p:cBhvr>
                                      <p:tavLst>
                                        <p:tav tm="0">
                                          <p:val>
                                            <p:strVal val="#ppt_x"/>
                                          </p:val>
                                        </p:tav>
                                        <p:tav tm="100000">
                                          <p:val>
                                            <p:strVal val="#ppt_x"/>
                                          </p:val>
                                        </p:tav>
                                      </p:tavLst>
                                    </p:anim>
                                    <p:anim calcmode="lin" valueType="num">
                                      <p:cBhvr additive="base">
                                        <p:cTn id="2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72" grpId="0" build="p" autoUpdateAnimBg="0"/>
      <p:bldP spid="2"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 name="Rectangle 4"/>
          <p:cNvSpPr>
            <a:spLocks noChangeArrowheads="1"/>
          </p:cNvSpPr>
          <p:nvPr/>
        </p:nvSpPr>
        <p:spPr bwMode="auto">
          <a:xfrm>
            <a:off x="1055440" y="4221088"/>
            <a:ext cx="5976937" cy="719138"/>
          </a:xfrm>
          <a:prstGeom prst="rect">
            <a:avLst/>
          </a:prstGeom>
          <a:solidFill>
            <a:schemeClr val="accent5"/>
          </a:solidFill>
          <a:ln>
            <a:noFill/>
          </a:ln>
          <a:effec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8194" name="Rectangle 2"/>
          <p:cNvSpPr>
            <a:spLocks noGrp="1" noChangeArrowheads="1"/>
          </p:cNvSpPr>
          <p:nvPr>
            <p:ph type="title" idx="4294967295"/>
          </p:nvPr>
        </p:nvSpPr>
        <p:spPr>
          <a:xfrm>
            <a:off x="2135189" y="404664"/>
            <a:ext cx="8229600" cy="1100138"/>
          </a:xfrm>
        </p:spPr>
        <p:txBody>
          <a:bodyPr/>
          <a:lstStyle/>
          <a:p>
            <a:pPr algn="ctr" eaLnBrk="1" hangingPunct="1"/>
            <a:r>
              <a:rPr lang="en-US" altLang="zh-CN" dirty="0">
                <a:solidFill>
                  <a:srgbClr val="128828"/>
                </a:solidFill>
              </a:rPr>
              <a:t>9.2 </a:t>
            </a:r>
            <a:r>
              <a:rPr lang="en-US" altLang="zh-CN" dirty="0">
                <a:solidFill>
                  <a:srgbClr val="128828"/>
                </a:solidFill>
                <a:latin typeface="Comic Sans MS" panose="030F0702030302020204" pitchFamily="66" charset="0"/>
                <a:ea typeface="黑体" panose="02010609060101010101" pitchFamily="49" charset="-122"/>
              </a:rPr>
              <a:t>Mamdani </a:t>
            </a:r>
            <a:r>
              <a:rPr lang="zh-CN" altLang="en-US" dirty="0">
                <a:solidFill>
                  <a:srgbClr val="128828"/>
                </a:solidFill>
                <a:latin typeface="Comic Sans MS" panose="030F0702030302020204" pitchFamily="66" charset="0"/>
                <a:ea typeface="黑体" panose="02010609060101010101" pitchFamily="49" charset="-122"/>
              </a:rPr>
              <a:t>模糊模型</a:t>
            </a:r>
          </a:p>
        </p:txBody>
      </p:sp>
      <p:sp>
        <p:nvSpPr>
          <p:cNvPr id="8195" name="Rectangle 3"/>
          <p:cNvSpPr>
            <a:spLocks noGrp="1" noChangeArrowheads="1"/>
          </p:cNvSpPr>
          <p:nvPr>
            <p:ph type="body" idx="4294967295"/>
          </p:nvPr>
        </p:nvSpPr>
        <p:spPr>
          <a:xfrm>
            <a:off x="623392" y="1340445"/>
            <a:ext cx="10873208" cy="5329238"/>
          </a:xfrm>
        </p:spPr>
        <p:txBody>
          <a:bodyPr/>
          <a:lstStyle/>
          <a:p>
            <a:pPr eaLnBrk="1" hangingPunct="1"/>
            <a:r>
              <a:rPr lang="en-US" altLang="zh-CN" dirty="0">
                <a:ea typeface="黑体" panose="02010609060101010101" pitchFamily="49" charset="-122"/>
              </a:rPr>
              <a:t>Mamdani</a:t>
            </a:r>
            <a:r>
              <a:rPr lang="zh-CN" altLang="en-US" dirty="0">
                <a:ea typeface="黑体" panose="02010609060101010101" pitchFamily="49" charset="-122"/>
              </a:rPr>
              <a:t>模型是</a:t>
            </a:r>
            <a:r>
              <a:rPr lang="en-US" altLang="zh-CN" dirty="0">
                <a:ea typeface="黑体" panose="02010609060101010101" pitchFamily="49" charset="-122"/>
              </a:rPr>
              <a:t>F</a:t>
            </a:r>
            <a:r>
              <a:rPr lang="zh-CN" altLang="en-US" dirty="0">
                <a:ea typeface="黑体" panose="02010609060101010101" pitchFamily="49" charset="-122"/>
              </a:rPr>
              <a:t>推理技术中最常用的方法。</a:t>
            </a:r>
            <a:endParaRPr lang="en-US" altLang="zh-CN" dirty="0">
              <a:ea typeface="黑体" panose="02010609060101010101" pitchFamily="49" charset="-122"/>
            </a:endParaRPr>
          </a:p>
          <a:p>
            <a:pPr eaLnBrk="1" hangingPunct="1"/>
            <a:r>
              <a:rPr lang="en-US" altLang="zh-CN" dirty="0">
                <a:ea typeface="黑体" panose="02010609060101010101" pitchFamily="49" charset="-122"/>
              </a:rPr>
              <a:t>1975</a:t>
            </a:r>
            <a:r>
              <a:rPr lang="zh-CN" altLang="en-US" dirty="0">
                <a:ea typeface="黑体" panose="02010609060101010101" pitchFamily="49" charset="-122"/>
              </a:rPr>
              <a:t>年，伦敦大学的</a:t>
            </a:r>
            <a:r>
              <a:rPr lang="en-US" altLang="zh-CN" dirty="0">
                <a:ea typeface="黑体" panose="02010609060101010101" pitchFamily="49" charset="-122"/>
              </a:rPr>
              <a:t>Mamdani</a:t>
            </a:r>
            <a:r>
              <a:rPr lang="zh-CN" altLang="en-US" dirty="0">
                <a:ea typeface="黑体" panose="02010609060101010101" pitchFamily="49" charset="-122"/>
              </a:rPr>
              <a:t>教授</a:t>
            </a:r>
            <a:r>
              <a:rPr lang="zh-CN" altLang="zh-CN" dirty="0">
                <a:ea typeface="黑体" panose="02010609060101010101" pitchFamily="49" charset="-122"/>
              </a:rPr>
              <a:t>通过从有经验的操作员处获取一组语言控制规则</a:t>
            </a:r>
            <a:r>
              <a:rPr lang="zh-CN" altLang="en-US" dirty="0">
                <a:ea typeface="黑体" panose="02010609060101010101" pitchFamily="49" charset="-122"/>
              </a:rPr>
              <a:t>，建立了第一个</a:t>
            </a:r>
            <a:r>
              <a:rPr lang="en-US" altLang="zh-CN" dirty="0">
                <a:ea typeface="黑体" panose="02010609060101010101" pitchFamily="49" charset="-122"/>
              </a:rPr>
              <a:t>F</a:t>
            </a:r>
            <a:r>
              <a:rPr lang="zh-CN" altLang="en-US" dirty="0">
                <a:ea typeface="黑体" panose="02010609060101010101" pitchFamily="49" charset="-122"/>
              </a:rPr>
              <a:t>系统并成功对</a:t>
            </a:r>
            <a:r>
              <a:rPr lang="zh-CN" altLang="zh-CN" dirty="0">
                <a:ea typeface="黑体" panose="02010609060101010101" pitchFamily="49" charset="-122"/>
              </a:rPr>
              <a:t>蒸汽发动机和锅炉机组进行控制。</a:t>
            </a:r>
            <a:endParaRPr lang="en-US" altLang="zh-CN" dirty="0">
              <a:ea typeface="黑体" panose="02010609060101010101" pitchFamily="49" charset="-122"/>
            </a:endParaRPr>
          </a:p>
          <a:p>
            <a:pPr eaLnBrk="1" hangingPunct="1"/>
            <a:r>
              <a:rPr lang="zh-CN" altLang="en-US" b="1" dirty="0">
                <a:ea typeface="楷体_GB2312" pitchFamily="1" charset="-122"/>
              </a:rPr>
              <a:t>两输入单输出的</a:t>
            </a:r>
            <a:r>
              <a:rPr lang="en-US" altLang="zh-CN" b="1" dirty="0" err="1">
                <a:solidFill>
                  <a:srgbClr val="128828"/>
                </a:solidFill>
                <a:ea typeface="楷体_GB2312" pitchFamily="1" charset="-122"/>
              </a:rPr>
              <a:t>Mamdani</a:t>
            </a:r>
            <a:r>
              <a:rPr lang="zh-CN" altLang="en-US" b="1" dirty="0">
                <a:ea typeface="楷体_GB2312" pitchFamily="1" charset="-122"/>
              </a:rPr>
              <a:t>模型</a:t>
            </a:r>
            <a:endParaRPr lang="en-US" altLang="zh-CN" dirty="0">
              <a:ea typeface="黑体" panose="02010609060101010101" pitchFamily="49" charset="-122"/>
            </a:endParaRPr>
          </a:p>
          <a:p>
            <a:pPr lvl="1" eaLnBrk="1" hangingPunct="1">
              <a:buNone/>
            </a:pPr>
            <a:endParaRPr lang="en-US" altLang="zh-CN" sz="1200" dirty="0">
              <a:ea typeface="黑体" panose="02010609060101010101" pitchFamily="49" charset="-122"/>
            </a:endParaRPr>
          </a:p>
          <a:p>
            <a:pPr lvl="1" eaLnBrk="1" hangingPunct="1">
              <a:buNone/>
            </a:pPr>
            <a:r>
              <a:rPr lang="en-US" altLang="zh-CN" sz="3200" dirty="0">
                <a:ea typeface="黑体" panose="02010609060101010101" pitchFamily="49" charset="-122"/>
              </a:rPr>
              <a:t>IF x=A</a:t>
            </a:r>
            <a:r>
              <a:rPr lang="en-US" altLang="zh-CN" sz="3200" baseline="-25000" dirty="0">
                <a:ea typeface="黑体" panose="02010609060101010101" pitchFamily="49" charset="-122"/>
              </a:rPr>
              <a:t>i</a:t>
            </a:r>
            <a:r>
              <a:rPr lang="en-US" altLang="zh-CN" sz="3200" dirty="0">
                <a:ea typeface="黑体" panose="02010609060101010101" pitchFamily="49" charset="-122"/>
              </a:rPr>
              <a:t>  and  y=B</a:t>
            </a:r>
            <a:r>
              <a:rPr lang="en-US" altLang="zh-CN" sz="3200" baseline="-25000" dirty="0">
                <a:ea typeface="黑体" panose="02010609060101010101" pitchFamily="49" charset="-122"/>
              </a:rPr>
              <a:t>i</a:t>
            </a:r>
            <a:r>
              <a:rPr lang="en-US" altLang="zh-CN" sz="3200" dirty="0">
                <a:ea typeface="黑体" panose="02010609060101010101" pitchFamily="49" charset="-122"/>
              </a:rPr>
              <a:t> THEN z=C</a:t>
            </a:r>
            <a:r>
              <a:rPr lang="en-US" altLang="zh-CN" sz="3200" baseline="-25000" dirty="0">
                <a:ea typeface="黑体" panose="02010609060101010101" pitchFamily="49" charset="-122"/>
              </a:rPr>
              <a:t>i</a:t>
            </a:r>
            <a:endParaRPr lang="en-US" altLang="zh-CN" sz="3200" dirty="0">
              <a:ea typeface="黑体" panose="02010609060101010101" pitchFamily="49" charset="-122"/>
            </a:endParaRPr>
          </a:p>
          <a:p>
            <a:pPr lvl="1" eaLnBrk="1" hangingPunct="1">
              <a:buNone/>
            </a:pPr>
            <a:endParaRPr lang="en-US" altLang="zh-CN" sz="1800" dirty="0">
              <a:ea typeface="黑体" panose="02010609060101010101" pitchFamily="49" charset="-122"/>
            </a:endParaRPr>
          </a:p>
          <a:p>
            <a:pPr lvl="1" eaLnBrk="1" hangingPunct="1"/>
            <a:r>
              <a:rPr lang="en-US" altLang="zh-CN" sz="3200" dirty="0">
                <a:ea typeface="黑体" panose="02010609060101010101" pitchFamily="49" charset="-122"/>
              </a:rPr>
              <a:t>A</a:t>
            </a:r>
            <a:r>
              <a:rPr lang="en-US" altLang="zh-CN" sz="3200" baseline="-25000" dirty="0">
                <a:ea typeface="黑体" panose="02010609060101010101" pitchFamily="49" charset="-122"/>
              </a:rPr>
              <a:t>i</a:t>
            </a:r>
            <a:r>
              <a:rPr lang="zh-CN" altLang="en-US" sz="3200" dirty="0">
                <a:ea typeface="黑体" panose="02010609060101010101" pitchFamily="49" charset="-122"/>
              </a:rPr>
              <a:t>、</a:t>
            </a:r>
            <a:r>
              <a:rPr lang="en-US" altLang="zh-CN" sz="3200" dirty="0">
                <a:ea typeface="黑体" panose="02010609060101010101" pitchFamily="49" charset="-122"/>
              </a:rPr>
              <a:t>B</a:t>
            </a:r>
            <a:r>
              <a:rPr lang="en-US" altLang="zh-CN" sz="3200" baseline="-25000" dirty="0">
                <a:ea typeface="黑体" panose="02010609060101010101" pitchFamily="49" charset="-122"/>
              </a:rPr>
              <a:t>i</a:t>
            </a:r>
            <a:r>
              <a:rPr lang="zh-CN" altLang="en-US" sz="3200" dirty="0">
                <a:ea typeface="黑体" panose="02010609060101010101" pitchFamily="49" charset="-122"/>
              </a:rPr>
              <a:t>是前件中的</a:t>
            </a:r>
            <a:r>
              <a:rPr lang="en-US" altLang="zh-CN" sz="3200" dirty="0">
                <a:ea typeface="黑体" panose="02010609060101010101" pitchFamily="49" charset="-122"/>
              </a:rPr>
              <a:t>F</a:t>
            </a:r>
            <a:r>
              <a:rPr lang="zh-CN" altLang="en-US" sz="3200" dirty="0">
                <a:ea typeface="黑体" panose="02010609060101010101" pitchFamily="49" charset="-122"/>
              </a:rPr>
              <a:t>集合</a:t>
            </a:r>
          </a:p>
          <a:p>
            <a:pPr lvl="1" eaLnBrk="1" hangingPunct="1"/>
            <a:r>
              <a:rPr lang="en-US" altLang="zh-CN" sz="3200" dirty="0">
                <a:ea typeface="黑体" panose="02010609060101010101" pitchFamily="49" charset="-122"/>
              </a:rPr>
              <a:t>C</a:t>
            </a:r>
            <a:r>
              <a:rPr lang="en-US" altLang="zh-CN" sz="3200" baseline="-25000" dirty="0">
                <a:ea typeface="黑体" panose="02010609060101010101" pitchFamily="49" charset="-122"/>
              </a:rPr>
              <a:t>i</a:t>
            </a:r>
            <a:r>
              <a:rPr lang="zh-CN" altLang="en-US" sz="3200" dirty="0">
                <a:ea typeface="黑体" panose="02010609060101010101" pitchFamily="49" charset="-122"/>
              </a:rPr>
              <a:t>是后件中的</a:t>
            </a:r>
            <a:r>
              <a:rPr lang="en-US" altLang="zh-CN" sz="3200" dirty="0">
                <a:ea typeface="黑体" panose="02010609060101010101" pitchFamily="49" charset="-122"/>
              </a:rPr>
              <a:t>F</a:t>
            </a:r>
            <a:r>
              <a:rPr lang="zh-CN" altLang="en-US" sz="3200" dirty="0">
                <a:ea typeface="黑体" panose="02010609060101010101" pitchFamily="49" charset="-122"/>
              </a:rPr>
              <a:t>集合</a:t>
            </a:r>
          </a:p>
          <a:p>
            <a:pPr eaLnBrk="1" hangingPunct="1"/>
            <a:endParaRPr lang="zh-CN" altLang="zh-CN" sz="2800" dirty="0">
              <a:ea typeface="黑体" panose="02010609060101010101" pitchFamily="49" charset="-122"/>
            </a:endParaRPr>
          </a:p>
        </p:txBody>
      </p:sp>
      <p:sp>
        <p:nvSpPr>
          <p:cNvPr id="2" name="灯片编号占位符 1">
            <a:extLst>
              <a:ext uri="{FF2B5EF4-FFF2-40B4-BE49-F238E27FC236}">
                <a16:creationId xmlns:a16="http://schemas.microsoft.com/office/drawing/2014/main" id="{FBC90DBA-C639-AF67-FCD3-F367C81CDF64}"/>
              </a:ext>
            </a:extLst>
          </p:cNvPr>
          <p:cNvSpPr>
            <a:spLocks noGrp="1"/>
          </p:cNvSpPr>
          <p:nvPr>
            <p:ph type="sldNum" sz="quarter" idx="11"/>
          </p:nvPr>
        </p:nvSpPr>
        <p:spPr/>
        <p:txBody>
          <a:bodyPr/>
          <a:lstStyle/>
          <a:p>
            <a:pPr>
              <a:defRPr/>
            </a:pPr>
            <a:fld id="{B77A47BA-BA63-4780-94A9-8AFA2EA4438D}" type="slidenum">
              <a:rPr lang="en-US" altLang="zh-CN" smtClean="0"/>
              <a:pPr>
                <a:defRPr/>
              </a:pPr>
              <a:t>5</a:t>
            </a:fld>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8195">
                                            <p:txEl>
                                              <p:pRg st="0" end="0"/>
                                            </p:txEl>
                                          </p:spTgt>
                                        </p:tgtEl>
                                        <p:attrNameLst>
                                          <p:attrName>style.visibility</p:attrName>
                                        </p:attrNameLst>
                                      </p:cBhvr>
                                      <p:to>
                                        <p:strVal val="visible"/>
                                      </p:to>
                                    </p:set>
                                    <p:animEffect transition="in" filter="wipe(left)">
                                      <p:cBhvr>
                                        <p:cTn id="7" dur="500"/>
                                        <p:tgtEl>
                                          <p:spTgt spid="819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8195">
                                            <p:txEl>
                                              <p:pRg st="1" end="1"/>
                                            </p:txEl>
                                          </p:spTgt>
                                        </p:tgtEl>
                                        <p:attrNameLst>
                                          <p:attrName>style.visibility</p:attrName>
                                        </p:attrNameLst>
                                      </p:cBhvr>
                                      <p:to>
                                        <p:strVal val="visible"/>
                                      </p:to>
                                    </p:set>
                                    <p:animEffect transition="in" filter="wipe(left)">
                                      <p:cBhvr>
                                        <p:cTn id="12" dur="500"/>
                                        <p:tgtEl>
                                          <p:spTgt spid="8195">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8195">
                                            <p:txEl>
                                              <p:pRg st="2" end="2"/>
                                            </p:txEl>
                                          </p:spTgt>
                                        </p:tgtEl>
                                        <p:attrNameLst>
                                          <p:attrName>style.visibility</p:attrName>
                                        </p:attrNameLst>
                                      </p:cBhvr>
                                      <p:to>
                                        <p:strVal val="visible"/>
                                      </p:to>
                                    </p:set>
                                    <p:animEffect transition="in" filter="wipe(left)">
                                      <p:cBhvr>
                                        <p:cTn id="17" dur="500"/>
                                        <p:tgtEl>
                                          <p:spTgt spid="8195">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8195">
                                            <p:txEl>
                                              <p:pRg st="4" end="4"/>
                                            </p:txEl>
                                          </p:spTgt>
                                        </p:tgtEl>
                                        <p:attrNameLst>
                                          <p:attrName>style.visibility</p:attrName>
                                        </p:attrNameLst>
                                      </p:cBhvr>
                                      <p:to>
                                        <p:strVal val="visible"/>
                                      </p:to>
                                    </p:set>
                                    <p:animEffect transition="in" filter="wipe(left)">
                                      <p:cBhvr>
                                        <p:cTn id="22" dur="500"/>
                                        <p:tgtEl>
                                          <p:spTgt spid="8195">
                                            <p:txEl>
                                              <p:pRg st="4" end="4"/>
                                            </p:txEl>
                                          </p:spTgt>
                                        </p:tgtEl>
                                      </p:cBhvr>
                                    </p:animEffect>
                                  </p:childTnLst>
                                </p:cTn>
                              </p:par>
                              <p:par>
                                <p:cTn id="23" presetID="1" presetClass="entr" presetSubtype="0" fill="hold" grpId="0" nodeType="withEffect">
                                  <p:stCondLst>
                                    <p:cond delay="0"/>
                                  </p:stCondLst>
                                  <p:childTnLst>
                                    <p:set>
                                      <p:cBhvr>
                                        <p:cTn id="24" dur="1" fill="hold">
                                          <p:stCondLst>
                                            <p:cond delay="0"/>
                                          </p:stCondLst>
                                        </p:cTn>
                                        <p:tgtEl>
                                          <p:spTgt spid="78"/>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22" presetClass="entr" presetSubtype="8" fill="hold" grpId="0" nodeType="clickEffect">
                                  <p:stCondLst>
                                    <p:cond delay="0"/>
                                  </p:stCondLst>
                                  <p:childTnLst>
                                    <p:set>
                                      <p:cBhvr>
                                        <p:cTn id="28" dur="1" fill="hold">
                                          <p:stCondLst>
                                            <p:cond delay="0"/>
                                          </p:stCondLst>
                                        </p:cTn>
                                        <p:tgtEl>
                                          <p:spTgt spid="8195">
                                            <p:txEl>
                                              <p:pRg st="6" end="6"/>
                                            </p:txEl>
                                          </p:spTgt>
                                        </p:tgtEl>
                                        <p:attrNameLst>
                                          <p:attrName>style.visibility</p:attrName>
                                        </p:attrNameLst>
                                      </p:cBhvr>
                                      <p:to>
                                        <p:strVal val="visible"/>
                                      </p:to>
                                    </p:set>
                                    <p:animEffect transition="in" filter="wipe(left)">
                                      <p:cBhvr>
                                        <p:cTn id="29" dur="500"/>
                                        <p:tgtEl>
                                          <p:spTgt spid="8195">
                                            <p:txEl>
                                              <p:pRg st="6" end="6"/>
                                            </p:txEl>
                                          </p:spTgt>
                                        </p:tgtEl>
                                      </p:cBhvr>
                                    </p:animEffect>
                                  </p:childTnLst>
                                </p:cTn>
                              </p:par>
                            </p:childTnLst>
                          </p:cTn>
                        </p:par>
                      </p:childTnLst>
                    </p:cTn>
                  </p:par>
                  <p:par>
                    <p:cTn id="30" fill="hold">
                      <p:stCondLst>
                        <p:cond delay="indefinite"/>
                      </p:stCondLst>
                      <p:childTnLst>
                        <p:par>
                          <p:cTn id="31" fill="hold">
                            <p:stCondLst>
                              <p:cond delay="0"/>
                            </p:stCondLst>
                            <p:childTnLst>
                              <p:par>
                                <p:cTn id="32" presetID="22" presetClass="entr" presetSubtype="8" fill="hold" grpId="0" nodeType="clickEffect">
                                  <p:stCondLst>
                                    <p:cond delay="0"/>
                                  </p:stCondLst>
                                  <p:childTnLst>
                                    <p:set>
                                      <p:cBhvr>
                                        <p:cTn id="33" dur="1" fill="hold">
                                          <p:stCondLst>
                                            <p:cond delay="0"/>
                                          </p:stCondLst>
                                        </p:cTn>
                                        <p:tgtEl>
                                          <p:spTgt spid="8195">
                                            <p:txEl>
                                              <p:pRg st="7" end="7"/>
                                            </p:txEl>
                                          </p:spTgt>
                                        </p:tgtEl>
                                        <p:attrNameLst>
                                          <p:attrName>style.visibility</p:attrName>
                                        </p:attrNameLst>
                                      </p:cBhvr>
                                      <p:to>
                                        <p:strVal val="visible"/>
                                      </p:to>
                                    </p:set>
                                    <p:animEffect transition="in" filter="wipe(left)">
                                      <p:cBhvr>
                                        <p:cTn id="34" dur="500"/>
                                        <p:tgtEl>
                                          <p:spTgt spid="8195">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8" grpId="0" animBg="1" autoUpdateAnimBg="0"/>
      <p:bldP spid="8195" grpId="0" uiExpand="1" build="p" autoUpdateAnimBg="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idx="4294967295"/>
          </p:nvPr>
        </p:nvSpPr>
        <p:spPr>
          <a:xfrm>
            <a:off x="1764507" y="456992"/>
            <a:ext cx="8229600" cy="1100138"/>
          </a:xfrm>
        </p:spPr>
        <p:txBody>
          <a:bodyPr/>
          <a:lstStyle/>
          <a:p>
            <a:pPr algn="ctr" eaLnBrk="1" hangingPunct="1"/>
            <a:r>
              <a:rPr lang="en-US" altLang="zh-CN" sz="4100" dirty="0" err="1">
                <a:solidFill>
                  <a:srgbClr val="128828"/>
                </a:solidFill>
                <a:latin typeface="Comic Sans MS" panose="030F0702030302020204" pitchFamily="66" charset="0"/>
                <a:ea typeface="黑体" panose="02010609060101010101" pitchFamily="49" charset="-122"/>
              </a:rPr>
              <a:t>Mamdani</a:t>
            </a:r>
            <a:r>
              <a:rPr lang="en-US" altLang="zh-CN" sz="4100" dirty="0">
                <a:solidFill>
                  <a:srgbClr val="128828"/>
                </a:solidFill>
                <a:latin typeface="Comic Sans MS" panose="030F0702030302020204" pitchFamily="66" charset="0"/>
                <a:ea typeface="黑体" panose="02010609060101010101" pitchFamily="49" charset="-122"/>
              </a:rPr>
              <a:t> </a:t>
            </a:r>
            <a:r>
              <a:rPr lang="zh-CN" altLang="en-US" sz="4100" dirty="0">
                <a:solidFill>
                  <a:srgbClr val="128828"/>
                </a:solidFill>
                <a:latin typeface="Comic Sans MS" panose="030F0702030302020204" pitchFamily="66" charset="0"/>
                <a:ea typeface="黑体" panose="02010609060101010101" pitchFamily="49" charset="-122"/>
              </a:rPr>
              <a:t>模糊模型的推理机制</a:t>
            </a:r>
          </a:p>
        </p:txBody>
      </p:sp>
      <p:sp>
        <p:nvSpPr>
          <p:cNvPr id="8195" name="Rectangle 3"/>
          <p:cNvSpPr>
            <a:spLocks noGrp="1" noChangeArrowheads="1"/>
          </p:cNvSpPr>
          <p:nvPr>
            <p:ph type="body" idx="4294967295"/>
          </p:nvPr>
        </p:nvSpPr>
        <p:spPr>
          <a:xfrm>
            <a:off x="1393825" y="1596232"/>
            <a:ext cx="8229600" cy="1087438"/>
          </a:xfrm>
        </p:spPr>
        <p:txBody>
          <a:bodyPr/>
          <a:lstStyle/>
          <a:p>
            <a:pPr marL="342900" lvl="1" indent="-342900" eaLnBrk="1" hangingPunct="1">
              <a:buFont typeface="Wingdings" panose="05000000000000000000" pitchFamily="2" charset="2"/>
              <a:buChar char="n"/>
            </a:pPr>
            <a:r>
              <a:rPr lang="en-US" altLang="zh-CN" dirty="0">
                <a:ea typeface="黑体" panose="02010609060101010101" pitchFamily="49" charset="-122"/>
              </a:rPr>
              <a:t>R</a:t>
            </a:r>
            <a:r>
              <a:rPr lang="en-US" altLang="zh-CN" baseline="-25000" dirty="0">
                <a:ea typeface="黑体" panose="02010609060101010101" pitchFamily="49" charset="-122"/>
              </a:rPr>
              <a:t>1</a:t>
            </a:r>
            <a:r>
              <a:rPr lang="zh-CN" altLang="en-US" dirty="0">
                <a:ea typeface="黑体" panose="02010609060101010101" pitchFamily="49" charset="-122"/>
              </a:rPr>
              <a:t>：</a:t>
            </a:r>
            <a:r>
              <a:rPr lang="en-US" altLang="zh-CN" dirty="0">
                <a:ea typeface="黑体" panose="02010609060101010101" pitchFamily="49" charset="-122"/>
              </a:rPr>
              <a:t>IF x=A</a:t>
            </a:r>
            <a:r>
              <a:rPr lang="en-US" altLang="zh-CN" baseline="-25000" dirty="0">
                <a:ea typeface="黑体" panose="02010609060101010101" pitchFamily="49" charset="-122"/>
              </a:rPr>
              <a:t>1</a:t>
            </a:r>
            <a:r>
              <a:rPr lang="en-US" altLang="zh-CN" dirty="0">
                <a:ea typeface="黑体" panose="02010609060101010101" pitchFamily="49" charset="-122"/>
              </a:rPr>
              <a:t>  and  y=B</a:t>
            </a:r>
            <a:r>
              <a:rPr lang="en-US" altLang="zh-CN" baseline="-25000" dirty="0">
                <a:ea typeface="黑体" panose="02010609060101010101" pitchFamily="49" charset="-122"/>
              </a:rPr>
              <a:t>1</a:t>
            </a:r>
            <a:r>
              <a:rPr lang="en-US" altLang="zh-CN" dirty="0">
                <a:ea typeface="黑体" panose="02010609060101010101" pitchFamily="49" charset="-122"/>
              </a:rPr>
              <a:t> THEN z=C</a:t>
            </a:r>
            <a:r>
              <a:rPr lang="en-US" altLang="zh-CN" baseline="-25000" dirty="0">
                <a:ea typeface="黑体" panose="02010609060101010101" pitchFamily="49" charset="-122"/>
              </a:rPr>
              <a:t>1</a:t>
            </a:r>
            <a:endParaRPr lang="en-US" altLang="zh-CN" dirty="0">
              <a:ea typeface="黑体" panose="02010609060101010101" pitchFamily="49" charset="-122"/>
            </a:endParaRPr>
          </a:p>
          <a:p>
            <a:pPr marL="342900" lvl="1" indent="-342900" eaLnBrk="1" hangingPunct="1">
              <a:buFont typeface="Wingdings" panose="05000000000000000000" pitchFamily="2" charset="2"/>
              <a:buChar char="n"/>
            </a:pPr>
            <a:r>
              <a:rPr lang="en-US" altLang="zh-CN" dirty="0">
                <a:ea typeface="黑体" panose="02010609060101010101" pitchFamily="49" charset="-122"/>
              </a:rPr>
              <a:t>R</a:t>
            </a:r>
            <a:r>
              <a:rPr lang="en-US" altLang="zh-CN" baseline="-25000" dirty="0">
                <a:ea typeface="黑体" panose="02010609060101010101" pitchFamily="49" charset="-122"/>
              </a:rPr>
              <a:t>2</a:t>
            </a:r>
            <a:r>
              <a:rPr lang="zh-CN" altLang="en-US" dirty="0">
                <a:ea typeface="黑体" panose="02010609060101010101" pitchFamily="49" charset="-122"/>
              </a:rPr>
              <a:t>：</a:t>
            </a:r>
            <a:r>
              <a:rPr lang="en-US" altLang="zh-CN" dirty="0">
                <a:ea typeface="黑体" panose="02010609060101010101" pitchFamily="49" charset="-122"/>
              </a:rPr>
              <a:t>IF x=A</a:t>
            </a:r>
            <a:r>
              <a:rPr lang="en-US" altLang="zh-CN" baseline="-25000" dirty="0">
                <a:ea typeface="黑体" panose="02010609060101010101" pitchFamily="49" charset="-122"/>
              </a:rPr>
              <a:t>2</a:t>
            </a:r>
            <a:r>
              <a:rPr lang="en-US" altLang="zh-CN" dirty="0">
                <a:ea typeface="黑体" panose="02010609060101010101" pitchFamily="49" charset="-122"/>
              </a:rPr>
              <a:t>  and  y=B</a:t>
            </a:r>
            <a:r>
              <a:rPr lang="en-US" altLang="zh-CN" baseline="-25000" dirty="0">
                <a:ea typeface="黑体" panose="02010609060101010101" pitchFamily="49" charset="-122"/>
              </a:rPr>
              <a:t>2</a:t>
            </a:r>
            <a:r>
              <a:rPr lang="en-US" altLang="zh-CN" dirty="0">
                <a:ea typeface="黑体" panose="02010609060101010101" pitchFamily="49" charset="-122"/>
              </a:rPr>
              <a:t> THEN z=C</a:t>
            </a:r>
            <a:r>
              <a:rPr lang="en-US" altLang="zh-CN" baseline="-25000" dirty="0">
                <a:ea typeface="黑体" panose="02010609060101010101" pitchFamily="49" charset="-122"/>
              </a:rPr>
              <a:t>2</a:t>
            </a:r>
            <a:endParaRPr lang="en-US" altLang="zh-CN" dirty="0">
              <a:ea typeface="黑体" panose="02010609060101010101" pitchFamily="49" charset="-122"/>
            </a:endParaRPr>
          </a:p>
          <a:p>
            <a:pPr marL="0" indent="0" eaLnBrk="1" hangingPunct="1">
              <a:buNone/>
            </a:pPr>
            <a:endParaRPr lang="zh-CN" altLang="zh-CN" sz="2800" dirty="0">
              <a:ea typeface="黑体" panose="02010609060101010101" pitchFamily="49" charset="-122"/>
            </a:endParaRPr>
          </a:p>
        </p:txBody>
      </p:sp>
      <p:sp>
        <p:nvSpPr>
          <p:cNvPr id="8196" name="Line 30"/>
          <p:cNvSpPr>
            <a:spLocks noChangeShapeType="1"/>
          </p:cNvSpPr>
          <p:nvPr/>
        </p:nvSpPr>
        <p:spPr bwMode="auto">
          <a:xfrm flipV="1">
            <a:off x="3287713" y="2997201"/>
            <a:ext cx="0" cy="2447925"/>
          </a:xfrm>
          <a:prstGeom prst="line">
            <a:avLst/>
          </a:prstGeom>
          <a:noFill/>
          <a:ln w="19050" cmpd="sng">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197" name="Line 31"/>
          <p:cNvSpPr>
            <a:spLocks noChangeShapeType="1"/>
          </p:cNvSpPr>
          <p:nvPr/>
        </p:nvSpPr>
        <p:spPr bwMode="auto">
          <a:xfrm flipV="1">
            <a:off x="5664200" y="2997201"/>
            <a:ext cx="0" cy="2447925"/>
          </a:xfrm>
          <a:prstGeom prst="line">
            <a:avLst/>
          </a:prstGeom>
          <a:noFill/>
          <a:ln w="19050" cmpd="sng">
            <a:solidFill>
              <a:srgbClr val="0000FE"/>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198" name="Line 33"/>
          <p:cNvSpPr>
            <a:spLocks noChangeShapeType="1"/>
          </p:cNvSpPr>
          <p:nvPr/>
        </p:nvSpPr>
        <p:spPr bwMode="auto">
          <a:xfrm flipV="1">
            <a:off x="6959600" y="2925763"/>
            <a:ext cx="0" cy="2374900"/>
          </a:xfrm>
          <a:prstGeom prst="line">
            <a:avLst/>
          </a:prstGeom>
          <a:noFill/>
          <a:ln w="9525" cmpd="sng">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199" name="Line 35"/>
          <p:cNvSpPr>
            <a:spLocks noChangeShapeType="1"/>
          </p:cNvSpPr>
          <p:nvPr/>
        </p:nvSpPr>
        <p:spPr bwMode="auto">
          <a:xfrm>
            <a:off x="3287714" y="4940300"/>
            <a:ext cx="5329237" cy="0"/>
          </a:xfrm>
          <a:prstGeom prst="line">
            <a:avLst/>
          </a:prstGeom>
          <a:noFill/>
          <a:ln w="9525" cmpd="sng">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200" name="Line 36"/>
          <p:cNvSpPr>
            <a:spLocks noChangeShapeType="1"/>
          </p:cNvSpPr>
          <p:nvPr/>
        </p:nvSpPr>
        <p:spPr bwMode="auto">
          <a:xfrm>
            <a:off x="5664200" y="3789363"/>
            <a:ext cx="3240088" cy="0"/>
          </a:xfrm>
          <a:prstGeom prst="line">
            <a:avLst/>
          </a:prstGeom>
          <a:noFill/>
          <a:ln w="9525" cmpd="sng">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8201" name="Group 9"/>
          <p:cNvGrpSpPr>
            <a:grpSpLocks/>
          </p:cNvGrpSpPr>
          <p:nvPr/>
        </p:nvGrpSpPr>
        <p:grpSpPr bwMode="auto">
          <a:xfrm>
            <a:off x="2279650" y="2852739"/>
            <a:ext cx="4679950" cy="1519237"/>
            <a:chOff x="0" y="0"/>
            <a:chExt cx="2948" cy="957"/>
          </a:xfrm>
        </p:grpSpPr>
        <p:sp>
          <p:nvSpPr>
            <p:cNvPr id="8202" name="Line 4"/>
            <p:cNvSpPr>
              <a:spLocks noChangeShapeType="1"/>
            </p:cNvSpPr>
            <p:nvPr/>
          </p:nvSpPr>
          <p:spPr bwMode="auto">
            <a:xfrm>
              <a:off x="227" y="137"/>
              <a:ext cx="0" cy="589"/>
            </a:xfrm>
            <a:prstGeom prst="line">
              <a:avLst/>
            </a:prstGeom>
            <a:noFill/>
            <a:ln w="9525" cmpd="sng">
              <a:solidFill>
                <a:schemeClr val="tx1"/>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203" name="Line 5"/>
            <p:cNvSpPr>
              <a:spLocks noChangeShapeType="1"/>
            </p:cNvSpPr>
            <p:nvPr/>
          </p:nvSpPr>
          <p:spPr bwMode="auto">
            <a:xfrm>
              <a:off x="227" y="726"/>
              <a:ext cx="952" cy="0"/>
            </a:xfrm>
            <a:prstGeom prst="line">
              <a:avLst/>
            </a:prstGeom>
            <a:noFill/>
            <a:ln w="9525" cmpd="sng">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204" name="Line 6"/>
            <p:cNvSpPr>
              <a:spLocks noChangeShapeType="1"/>
            </p:cNvSpPr>
            <p:nvPr/>
          </p:nvSpPr>
          <p:spPr bwMode="auto">
            <a:xfrm>
              <a:off x="1769" y="137"/>
              <a:ext cx="0" cy="589"/>
            </a:xfrm>
            <a:prstGeom prst="line">
              <a:avLst/>
            </a:prstGeom>
            <a:noFill/>
            <a:ln w="9525" cmpd="sng">
              <a:solidFill>
                <a:schemeClr val="tx1"/>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205" name="Line 7"/>
            <p:cNvSpPr>
              <a:spLocks noChangeShapeType="1"/>
            </p:cNvSpPr>
            <p:nvPr/>
          </p:nvSpPr>
          <p:spPr bwMode="auto">
            <a:xfrm>
              <a:off x="1769" y="726"/>
              <a:ext cx="952" cy="0"/>
            </a:xfrm>
            <a:prstGeom prst="line">
              <a:avLst/>
            </a:prstGeom>
            <a:noFill/>
            <a:ln w="9525" cmpd="sng">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206" name="Line 12"/>
            <p:cNvSpPr>
              <a:spLocks noChangeShapeType="1"/>
            </p:cNvSpPr>
            <p:nvPr/>
          </p:nvSpPr>
          <p:spPr bwMode="auto">
            <a:xfrm flipV="1">
              <a:off x="363" y="273"/>
              <a:ext cx="227" cy="453"/>
            </a:xfrm>
            <a:prstGeom prst="line">
              <a:avLst/>
            </a:prstGeom>
            <a:noFill/>
            <a:ln w="28575" cmpd="sng">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207" name="Line 13"/>
            <p:cNvSpPr>
              <a:spLocks noChangeShapeType="1"/>
            </p:cNvSpPr>
            <p:nvPr/>
          </p:nvSpPr>
          <p:spPr bwMode="auto">
            <a:xfrm>
              <a:off x="590" y="273"/>
              <a:ext cx="181" cy="453"/>
            </a:xfrm>
            <a:prstGeom prst="line">
              <a:avLst/>
            </a:prstGeom>
            <a:noFill/>
            <a:ln w="28575" cmpd="sng">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208" name="Line 18"/>
            <p:cNvSpPr>
              <a:spLocks noChangeShapeType="1"/>
            </p:cNvSpPr>
            <p:nvPr/>
          </p:nvSpPr>
          <p:spPr bwMode="auto">
            <a:xfrm flipV="1">
              <a:off x="1769" y="273"/>
              <a:ext cx="227" cy="453"/>
            </a:xfrm>
            <a:prstGeom prst="line">
              <a:avLst/>
            </a:prstGeom>
            <a:noFill/>
            <a:ln w="28575" cmpd="sng">
              <a:solidFill>
                <a:srgbClr val="0000FE"/>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209" name="Line 19"/>
            <p:cNvSpPr>
              <a:spLocks noChangeShapeType="1"/>
            </p:cNvSpPr>
            <p:nvPr/>
          </p:nvSpPr>
          <p:spPr bwMode="auto">
            <a:xfrm>
              <a:off x="1996" y="273"/>
              <a:ext cx="181" cy="453"/>
            </a:xfrm>
            <a:prstGeom prst="line">
              <a:avLst/>
            </a:prstGeom>
            <a:noFill/>
            <a:ln w="28575" cmpd="sng">
              <a:solidFill>
                <a:srgbClr val="0000FE"/>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210" name="Line 34"/>
            <p:cNvSpPr>
              <a:spLocks noChangeShapeType="1"/>
            </p:cNvSpPr>
            <p:nvPr/>
          </p:nvSpPr>
          <p:spPr bwMode="auto">
            <a:xfrm>
              <a:off x="635" y="363"/>
              <a:ext cx="2313" cy="0"/>
            </a:xfrm>
            <a:prstGeom prst="line">
              <a:avLst/>
            </a:prstGeom>
            <a:noFill/>
            <a:ln w="9525" cmpd="sng">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211" name="Text Box 50"/>
            <p:cNvSpPr txBox="1">
              <a:spLocks noChangeArrowheads="1"/>
            </p:cNvSpPr>
            <p:nvPr/>
          </p:nvSpPr>
          <p:spPr bwMode="auto">
            <a:xfrm>
              <a:off x="363" y="91"/>
              <a:ext cx="363"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a:t>A</a:t>
              </a:r>
              <a:r>
                <a:rPr lang="en-US" altLang="zh-CN" baseline="-25000"/>
                <a:t>1</a:t>
              </a:r>
              <a:endParaRPr lang="en-US" altLang="zh-CN"/>
            </a:p>
          </p:txBody>
        </p:sp>
        <p:sp>
          <p:nvSpPr>
            <p:cNvPr id="8212" name="Text Box 53"/>
            <p:cNvSpPr txBox="1">
              <a:spLocks noChangeArrowheads="1"/>
            </p:cNvSpPr>
            <p:nvPr/>
          </p:nvSpPr>
          <p:spPr bwMode="auto">
            <a:xfrm>
              <a:off x="2177" y="91"/>
              <a:ext cx="363"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a:t>B</a:t>
              </a:r>
              <a:r>
                <a:rPr lang="en-US" altLang="zh-CN" baseline="-25000"/>
                <a:t>1</a:t>
              </a:r>
              <a:endParaRPr lang="en-US" altLang="zh-CN"/>
            </a:p>
          </p:txBody>
        </p:sp>
        <p:sp>
          <p:nvSpPr>
            <p:cNvPr id="8213" name="Text Box 63"/>
            <p:cNvSpPr txBox="1">
              <a:spLocks noChangeArrowheads="1"/>
            </p:cNvSpPr>
            <p:nvPr/>
          </p:nvSpPr>
          <p:spPr bwMode="auto">
            <a:xfrm>
              <a:off x="2540" y="726"/>
              <a:ext cx="363"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a:t>Y</a:t>
              </a:r>
            </a:p>
          </p:txBody>
        </p:sp>
        <p:sp>
          <p:nvSpPr>
            <p:cNvPr id="8214" name="Text Box 64"/>
            <p:cNvSpPr txBox="1">
              <a:spLocks noChangeArrowheads="1"/>
            </p:cNvSpPr>
            <p:nvPr/>
          </p:nvSpPr>
          <p:spPr bwMode="auto">
            <a:xfrm>
              <a:off x="953" y="726"/>
              <a:ext cx="363"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a:t>X</a:t>
              </a:r>
            </a:p>
          </p:txBody>
        </p:sp>
        <p:sp>
          <p:nvSpPr>
            <p:cNvPr id="8215" name="Text Box 68"/>
            <p:cNvSpPr txBox="1">
              <a:spLocks noChangeArrowheads="1"/>
            </p:cNvSpPr>
            <p:nvPr/>
          </p:nvSpPr>
          <p:spPr bwMode="auto">
            <a:xfrm>
              <a:off x="0" y="45"/>
              <a:ext cx="272"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l-GR" altLang="en-US"/>
                <a:t>μ</a:t>
              </a:r>
              <a:endParaRPr lang="en-US" altLang="zh-CN"/>
            </a:p>
          </p:txBody>
        </p:sp>
        <p:sp>
          <p:nvSpPr>
            <p:cNvPr id="8216" name="Text Box 69"/>
            <p:cNvSpPr txBox="1">
              <a:spLocks noChangeArrowheads="1"/>
            </p:cNvSpPr>
            <p:nvPr/>
          </p:nvSpPr>
          <p:spPr bwMode="auto">
            <a:xfrm>
              <a:off x="1588" y="0"/>
              <a:ext cx="272"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l-GR" altLang="en-US"/>
                <a:t>μ</a:t>
              </a:r>
              <a:endParaRPr lang="en-US" altLang="zh-CN"/>
            </a:p>
          </p:txBody>
        </p:sp>
      </p:grpSp>
      <p:grpSp>
        <p:nvGrpSpPr>
          <p:cNvPr id="8217" name="Group 25"/>
          <p:cNvGrpSpPr>
            <a:grpSpLocks/>
          </p:cNvGrpSpPr>
          <p:nvPr/>
        </p:nvGrpSpPr>
        <p:grpSpPr bwMode="auto">
          <a:xfrm>
            <a:off x="2279650" y="4149726"/>
            <a:ext cx="4679950" cy="1662113"/>
            <a:chOff x="0" y="0"/>
            <a:chExt cx="2948" cy="1047"/>
          </a:xfrm>
        </p:grpSpPr>
        <p:sp>
          <p:nvSpPr>
            <p:cNvPr id="8218" name="Line 8"/>
            <p:cNvSpPr>
              <a:spLocks noChangeShapeType="1"/>
            </p:cNvSpPr>
            <p:nvPr/>
          </p:nvSpPr>
          <p:spPr bwMode="auto">
            <a:xfrm>
              <a:off x="227" y="91"/>
              <a:ext cx="0" cy="589"/>
            </a:xfrm>
            <a:prstGeom prst="line">
              <a:avLst/>
            </a:prstGeom>
            <a:noFill/>
            <a:ln w="9525" cmpd="sng">
              <a:solidFill>
                <a:schemeClr val="tx1"/>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219" name="Line 9"/>
            <p:cNvSpPr>
              <a:spLocks noChangeShapeType="1"/>
            </p:cNvSpPr>
            <p:nvPr/>
          </p:nvSpPr>
          <p:spPr bwMode="auto">
            <a:xfrm>
              <a:off x="227" y="680"/>
              <a:ext cx="952" cy="0"/>
            </a:xfrm>
            <a:prstGeom prst="line">
              <a:avLst/>
            </a:prstGeom>
            <a:noFill/>
            <a:ln w="9525" cmpd="sng">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220" name="Line 10"/>
            <p:cNvSpPr>
              <a:spLocks noChangeShapeType="1"/>
            </p:cNvSpPr>
            <p:nvPr/>
          </p:nvSpPr>
          <p:spPr bwMode="auto">
            <a:xfrm>
              <a:off x="1769" y="91"/>
              <a:ext cx="0" cy="589"/>
            </a:xfrm>
            <a:prstGeom prst="line">
              <a:avLst/>
            </a:prstGeom>
            <a:noFill/>
            <a:ln w="9525" cmpd="sng">
              <a:solidFill>
                <a:schemeClr val="tx1"/>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221" name="Line 11"/>
            <p:cNvSpPr>
              <a:spLocks noChangeShapeType="1"/>
            </p:cNvSpPr>
            <p:nvPr/>
          </p:nvSpPr>
          <p:spPr bwMode="auto">
            <a:xfrm>
              <a:off x="1769" y="680"/>
              <a:ext cx="952" cy="0"/>
            </a:xfrm>
            <a:prstGeom prst="line">
              <a:avLst/>
            </a:prstGeom>
            <a:noFill/>
            <a:ln w="9525" cmpd="sng">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222" name="Line 14"/>
            <p:cNvSpPr>
              <a:spLocks noChangeShapeType="1"/>
            </p:cNvSpPr>
            <p:nvPr/>
          </p:nvSpPr>
          <p:spPr bwMode="auto">
            <a:xfrm flipV="1">
              <a:off x="544" y="226"/>
              <a:ext cx="227" cy="453"/>
            </a:xfrm>
            <a:prstGeom prst="line">
              <a:avLst/>
            </a:prstGeom>
            <a:noFill/>
            <a:ln w="28575" cmpd="sng">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223" name="Line 15"/>
            <p:cNvSpPr>
              <a:spLocks noChangeShapeType="1"/>
            </p:cNvSpPr>
            <p:nvPr/>
          </p:nvSpPr>
          <p:spPr bwMode="auto">
            <a:xfrm>
              <a:off x="771" y="226"/>
              <a:ext cx="181" cy="453"/>
            </a:xfrm>
            <a:prstGeom prst="line">
              <a:avLst/>
            </a:prstGeom>
            <a:noFill/>
            <a:ln w="28575" cmpd="sng">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224" name="Line 20"/>
            <p:cNvSpPr>
              <a:spLocks noChangeShapeType="1"/>
            </p:cNvSpPr>
            <p:nvPr/>
          </p:nvSpPr>
          <p:spPr bwMode="auto">
            <a:xfrm flipV="1">
              <a:off x="1950" y="226"/>
              <a:ext cx="227" cy="453"/>
            </a:xfrm>
            <a:prstGeom prst="line">
              <a:avLst/>
            </a:prstGeom>
            <a:noFill/>
            <a:ln w="28575" cmpd="sng">
              <a:solidFill>
                <a:srgbClr val="0000FE"/>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225" name="Line 21"/>
            <p:cNvSpPr>
              <a:spLocks noChangeShapeType="1"/>
            </p:cNvSpPr>
            <p:nvPr/>
          </p:nvSpPr>
          <p:spPr bwMode="auto">
            <a:xfrm>
              <a:off x="2177" y="226"/>
              <a:ext cx="181" cy="453"/>
            </a:xfrm>
            <a:prstGeom prst="line">
              <a:avLst/>
            </a:prstGeom>
            <a:noFill/>
            <a:ln w="28575" cmpd="sng">
              <a:solidFill>
                <a:srgbClr val="0000FE"/>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226" name="Line 37"/>
            <p:cNvSpPr>
              <a:spLocks noChangeShapeType="1"/>
            </p:cNvSpPr>
            <p:nvPr/>
          </p:nvSpPr>
          <p:spPr bwMode="auto">
            <a:xfrm>
              <a:off x="2132" y="317"/>
              <a:ext cx="816" cy="0"/>
            </a:xfrm>
            <a:prstGeom prst="line">
              <a:avLst/>
            </a:prstGeom>
            <a:noFill/>
            <a:ln w="9525" cmpd="sng">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227" name="Text Box 51"/>
            <p:cNvSpPr txBox="1">
              <a:spLocks noChangeArrowheads="1"/>
            </p:cNvSpPr>
            <p:nvPr/>
          </p:nvSpPr>
          <p:spPr bwMode="auto">
            <a:xfrm>
              <a:off x="2223" y="45"/>
              <a:ext cx="363"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a:t>B</a:t>
              </a:r>
              <a:r>
                <a:rPr lang="en-US" altLang="zh-CN" baseline="-25000"/>
                <a:t>2</a:t>
              </a:r>
              <a:endParaRPr lang="en-US" altLang="zh-CN"/>
            </a:p>
          </p:txBody>
        </p:sp>
        <p:sp>
          <p:nvSpPr>
            <p:cNvPr id="8228" name="Text Box 52"/>
            <p:cNvSpPr txBox="1">
              <a:spLocks noChangeArrowheads="1"/>
            </p:cNvSpPr>
            <p:nvPr/>
          </p:nvSpPr>
          <p:spPr bwMode="auto">
            <a:xfrm>
              <a:off x="363" y="181"/>
              <a:ext cx="363"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a:t>A</a:t>
              </a:r>
              <a:r>
                <a:rPr lang="en-US" altLang="zh-CN" baseline="-25000"/>
                <a:t>2</a:t>
              </a:r>
              <a:endParaRPr lang="en-US" altLang="zh-CN"/>
            </a:p>
          </p:txBody>
        </p:sp>
        <p:sp>
          <p:nvSpPr>
            <p:cNvPr id="8229" name="Text Box 56"/>
            <p:cNvSpPr txBox="1">
              <a:spLocks noChangeArrowheads="1"/>
            </p:cNvSpPr>
            <p:nvPr/>
          </p:nvSpPr>
          <p:spPr bwMode="auto">
            <a:xfrm>
              <a:off x="499" y="816"/>
              <a:ext cx="363"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a:t>x</a:t>
              </a:r>
            </a:p>
          </p:txBody>
        </p:sp>
        <p:sp>
          <p:nvSpPr>
            <p:cNvPr id="8230" name="Text Box 60"/>
            <p:cNvSpPr txBox="1">
              <a:spLocks noChangeArrowheads="1"/>
            </p:cNvSpPr>
            <p:nvPr/>
          </p:nvSpPr>
          <p:spPr bwMode="auto">
            <a:xfrm>
              <a:off x="1996" y="816"/>
              <a:ext cx="363"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a:t>y</a:t>
              </a:r>
            </a:p>
          </p:txBody>
        </p:sp>
        <p:sp>
          <p:nvSpPr>
            <p:cNvPr id="8231" name="Text Box 65"/>
            <p:cNvSpPr txBox="1">
              <a:spLocks noChangeArrowheads="1"/>
            </p:cNvSpPr>
            <p:nvPr/>
          </p:nvSpPr>
          <p:spPr bwMode="auto">
            <a:xfrm>
              <a:off x="2540" y="725"/>
              <a:ext cx="363"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a:t>Y</a:t>
              </a:r>
            </a:p>
          </p:txBody>
        </p:sp>
        <p:sp>
          <p:nvSpPr>
            <p:cNvPr id="8232" name="Text Box 66"/>
            <p:cNvSpPr txBox="1">
              <a:spLocks noChangeArrowheads="1"/>
            </p:cNvSpPr>
            <p:nvPr/>
          </p:nvSpPr>
          <p:spPr bwMode="auto">
            <a:xfrm>
              <a:off x="1043" y="725"/>
              <a:ext cx="363"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a:t>X</a:t>
              </a:r>
            </a:p>
          </p:txBody>
        </p:sp>
        <p:sp>
          <p:nvSpPr>
            <p:cNvPr id="8233" name="Text Box 67"/>
            <p:cNvSpPr txBox="1">
              <a:spLocks noChangeArrowheads="1"/>
            </p:cNvSpPr>
            <p:nvPr/>
          </p:nvSpPr>
          <p:spPr bwMode="auto">
            <a:xfrm>
              <a:off x="0" y="0"/>
              <a:ext cx="272"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l-GR" altLang="en-US"/>
                <a:t>μ</a:t>
              </a:r>
              <a:endParaRPr lang="en-US" altLang="zh-CN"/>
            </a:p>
          </p:txBody>
        </p:sp>
        <p:sp>
          <p:nvSpPr>
            <p:cNvPr id="8234" name="Text Box 70"/>
            <p:cNvSpPr txBox="1">
              <a:spLocks noChangeArrowheads="1"/>
            </p:cNvSpPr>
            <p:nvPr/>
          </p:nvSpPr>
          <p:spPr bwMode="auto">
            <a:xfrm>
              <a:off x="1542" y="0"/>
              <a:ext cx="272"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l-GR" altLang="en-US"/>
                <a:t>μ</a:t>
              </a:r>
              <a:endParaRPr lang="en-US" altLang="zh-CN"/>
            </a:p>
          </p:txBody>
        </p:sp>
      </p:grpSp>
      <p:grpSp>
        <p:nvGrpSpPr>
          <p:cNvPr id="8235" name="Group 43"/>
          <p:cNvGrpSpPr>
            <a:grpSpLocks/>
          </p:cNvGrpSpPr>
          <p:nvPr/>
        </p:nvGrpSpPr>
        <p:grpSpPr bwMode="auto">
          <a:xfrm>
            <a:off x="7391400" y="2924175"/>
            <a:ext cx="2376488" cy="1303338"/>
            <a:chOff x="0" y="0"/>
            <a:chExt cx="1497" cy="821"/>
          </a:xfrm>
        </p:grpSpPr>
        <p:sp>
          <p:nvSpPr>
            <p:cNvPr id="8236" name="Line 22"/>
            <p:cNvSpPr>
              <a:spLocks noChangeShapeType="1"/>
            </p:cNvSpPr>
            <p:nvPr/>
          </p:nvSpPr>
          <p:spPr bwMode="auto">
            <a:xfrm>
              <a:off x="182" y="92"/>
              <a:ext cx="0" cy="589"/>
            </a:xfrm>
            <a:prstGeom prst="line">
              <a:avLst/>
            </a:prstGeom>
            <a:noFill/>
            <a:ln w="9525" cmpd="sng">
              <a:solidFill>
                <a:schemeClr val="tx1"/>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237" name="Line 23"/>
            <p:cNvSpPr>
              <a:spLocks noChangeShapeType="1"/>
            </p:cNvSpPr>
            <p:nvPr/>
          </p:nvSpPr>
          <p:spPr bwMode="auto">
            <a:xfrm>
              <a:off x="182" y="681"/>
              <a:ext cx="952" cy="0"/>
            </a:xfrm>
            <a:prstGeom prst="line">
              <a:avLst/>
            </a:prstGeom>
            <a:noFill/>
            <a:ln w="9525" cmpd="sng">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238" name="Line 24"/>
            <p:cNvSpPr>
              <a:spLocks noChangeShapeType="1"/>
            </p:cNvSpPr>
            <p:nvPr/>
          </p:nvSpPr>
          <p:spPr bwMode="auto">
            <a:xfrm flipV="1">
              <a:off x="590" y="228"/>
              <a:ext cx="227" cy="453"/>
            </a:xfrm>
            <a:prstGeom prst="line">
              <a:avLst/>
            </a:prstGeom>
            <a:noFill/>
            <a:ln w="28575" cmpd="sng">
              <a:solidFill>
                <a:srgbClr val="128828"/>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239" name="Line 25"/>
            <p:cNvSpPr>
              <a:spLocks noChangeShapeType="1"/>
            </p:cNvSpPr>
            <p:nvPr/>
          </p:nvSpPr>
          <p:spPr bwMode="auto">
            <a:xfrm>
              <a:off x="817" y="228"/>
              <a:ext cx="181" cy="453"/>
            </a:xfrm>
            <a:prstGeom prst="line">
              <a:avLst/>
            </a:prstGeom>
            <a:noFill/>
            <a:ln w="28575" cmpd="sng">
              <a:solidFill>
                <a:srgbClr val="128828"/>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240" name="Line 44"/>
            <p:cNvSpPr>
              <a:spLocks noChangeShapeType="1"/>
            </p:cNvSpPr>
            <p:nvPr/>
          </p:nvSpPr>
          <p:spPr bwMode="auto">
            <a:xfrm>
              <a:off x="636" y="545"/>
              <a:ext cx="317" cy="0"/>
            </a:xfrm>
            <a:prstGeom prst="line">
              <a:avLst/>
            </a:prstGeom>
            <a:noFill/>
            <a:ln w="28575" cmpd="sng">
              <a:solidFill>
                <a:srgbClr val="0000FE"/>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241" name="Text Box 55"/>
            <p:cNvSpPr txBox="1">
              <a:spLocks noChangeArrowheads="1"/>
            </p:cNvSpPr>
            <p:nvPr/>
          </p:nvSpPr>
          <p:spPr bwMode="auto">
            <a:xfrm>
              <a:off x="409" y="91"/>
              <a:ext cx="363"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a:t>C</a:t>
              </a:r>
              <a:r>
                <a:rPr lang="en-US" altLang="zh-CN" baseline="-25000"/>
                <a:t>1</a:t>
              </a:r>
              <a:endParaRPr lang="en-US" altLang="zh-CN"/>
            </a:p>
          </p:txBody>
        </p:sp>
        <p:sp>
          <p:nvSpPr>
            <p:cNvPr id="8242" name="Text Box 57"/>
            <p:cNvSpPr txBox="1">
              <a:spLocks noChangeArrowheads="1"/>
            </p:cNvSpPr>
            <p:nvPr/>
          </p:nvSpPr>
          <p:spPr bwMode="auto">
            <a:xfrm>
              <a:off x="1044" y="363"/>
              <a:ext cx="363"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a:t>C’</a:t>
              </a:r>
              <a:r>
                <a:rPr lang="en-US" altLang="zh-CN" baseline="-25000"/>
                <a:t> 1</a:t>
              </a:r>
              <a:endParaRPr lang="en-US" altLang="zh-CN"/>
            </a:p>
          </p:txBody>
        </p:sp>
        <p:sp>
          <p:nvSpPr>
            <p:cNvPr id="8243" name="Text Box 62"/>
            <p:cNvSpPr txBox="1">
              <a:spLocks noChangeArrowheads="1"/>
            </p:cNvSpPr>
            <p:nvPr/>
          </p:nvSpPr>
          <p:spPr bwMode="auto">
            <a:xfrm>
              <a:off x="1134" y="590"/>
              <a:ext cx="363"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dirty="0"/>
                <a:t>Z</a:t>
              </a:r>
            </a:p>
          </p:txBody>
        </p:sp>
        <p:sp>
          <p:nvSpPr>
            <p:cNvPr id="8244" name="Text Box 71"/>
            <p:cNvSpPr txBox="1">
              <a:spLocks noChangeArrowheads="1"/>
            </p:cNvSpPr>
            <p:nvPr/>
          </p:nvSpPr>
          <p:spPr bwMode="auto">
            <a:xfrm>
              <a:off x="0" y="0"/>
              <a:ext cx="272"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l-GR" altLang="en-US"/>
                <a:t>μ</a:t>
              </a:r>
              <a:endParaRPr lang="en-US" altLang="zh-CN"/>
            </a:p>
          </p:txBody>
        </p:sp>
      </p:grpSp>
      <p:grpSp>
        <p:nvGrpSpPr>
          <p:cNvPr id="8245" name="Group 53"/>
          <p:cNvGrpSpPr>
            <a:grpSpLocks/>
          </p:cNvGrpSpPr>
          <p:nvPr/>
        </p:nvGrpSpPr>
        <p:grpSpPr bwMode="auto">
          <a:xfrm>
            <a:off x="7319963" y="4149726"/>
            <a:ext cx="2305050" cy="1295401"/>
            <a:chOff x="0" y="0"/>
            <a:chExt cx="1452" cy="816"/>
          </a:xfrm>
        </p:grpSpPr>
        <p:sp>
          <p:nvSpPr>
            <p:cNvPr id="8246" name="Line 26"/>
            <p:cNvSpPr>
              <a:spLocks noChangeShapeType="1"/>
            </p:cNvSpPr>
            <p:nvPr/>
          </p:nvSpPr>
          <p:spPr bwMode="auto">
            <a:xfrm>
              <a:off x="227" y="90"/>
              <a:ext cx="0" cy="589"/>
            </a:xfrm>
            <a:prstGeom prst="line">
              <a:avLst/>
            </a:prstGeom>
            <a:noFill/>
            <a:ln w="9525" cmpd="sng">
              <a:solidFill>
                <a:schemeClr val="tx1"/>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247" name="Line 27"/>
            <p:cNvSpPr>
              <a:spLocks noChangeShapeType="1"/>
            </p:cNvSpPr>
            <p:nvPr/>
          </p:nvSpPr>
          <p:spPr bwMode="auto">
            <a:xfrm>
              <a:off x="227" y="679"/>
              <a:ext cx="952" cy="0"/>
            </a:xfrm>
            <a:prstGeom prst="line">
              <a:avLst/>
            </a:prstGeom>
            <a:noFill/>
            <a:ln w="9525" cmpd="sng">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248" name="Line 28"/>
            <p:cNvSpPr>
              <a:spLocks noChangeShapeType="1"/>
            </p:cNvSpPr>
            <p:nvPr/>
          </p:nvSpPr>
          <p:spPr bwMode="auto">
            <a:xfrm flipV="1">
              <a:off x="454" y="226"/>
              <a:ext cx="227" cy="453"/>
            </a:xfrm>
            <a:prstGeom prst="line">
              <a:avLst/>
            </a:prstGeom>
            <a:noFill/>
            <a:ln w="28575" cmpd="sng">
              <a:solidFill>
                <a:srgbClr val="128828"/>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249" name="Line 29"/>
            <p:cNvSpPr>
              <a:spLocks noChangeShapeType="1"/>
            </p:cNvSpPr>
            <p:nvPr/>
          </p:nvSpPr>
          <p:spPr bwMode="auto">
            <a:xfrm>
              <a:off x="681" y="226"/>
              <a:ext cx="181" cy="453"/>
            </a:xfrm>
            <a:prstGeom prst="line">
              <a:avLst/>
            </a:prstGeom>
            <a:noFill/>
            <a:ln w="28575" cmpd="sng">
              <a:solidFill>
                <a:srgbClr val="128828"/>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250" name="Line 45"/>
            <p:cNvSpPr>
              <a:spLocks noChangeShapeType="1"/>
            </p:cNvSpPr>
            <p:nvPr/>
          </p:nvSpPr>
          <p:spPr bwMode="auto">
            <a:xfrm>
              <a:off x="544" y="499"/>
              <a:ext cx="227" cy="0"/>
            </a:xfrm>
            <a:prstGeom prst="line">
              <a:avLst/>
            </a:prstGeom>
            <a:noFill/>
            <a:ln w="28575" cmpd="sng">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251" name="Text Box 54"/>
            <p:cNvSpPr txBox="1">
              <a:spLocks noChangeArrowheads="1"/>
            </p:cNvSpPr>
            <p:nvPr/>
          </p:nvSpPr>
          <p:spPr bwMode="auto">
            <a:xfrm>
              <a:off x="363" y="136"/>
              <a:ext cx="363"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a:t>C</a:t>
              </a:r>
              <a:r>
                <a:rPr lang="en-US" altLang="zh-CN" baseline="-25000"/>
                <a:t>2</a:t>
              </a:r>
              <a:endParaRPr lang="en-US" altLang="zh-CN"/>
            </a:p>
          </p:txBody>
        </p:sp>
        <p:sp>
          <p:nvSpPr>
            <p:cNvPr id="8252" name="Text Box 58"/>
            <p:cNvSpPr txBox="1">
              <a:spLocks noChangeArrowheads="1"/>
            </p:cNvSpPr>
            <p:nvPr/>
          </p:nvSpPr>
          <p:spPr bwMode="auto">
            <a:xfrm>
              <a:off x="862" y="226"/>
              <a:ext cx="363"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a:t>C’</a:t>
              </a:r>
              <a:r>
                <a:rPr lang="en-US" altLang="zh-CN" baseline="-25000"/>
                <a:t> 2</a:t>
              </a:r>
              <a:endParaRPr lang="en-US" altLang="zh-CN"/>
            </a:p>
          </p:txBody>
        </p:sp>
        <p:sp>
          <p:nvSpPr>
            <p:cNvPr id="8253" name="Text Box 61"/>
            <p:cNvSpPr txBox="1">
              <a:spLocks noChangeArrowheads="1"/>
            </p:cNvSpPr>
            <p:nvPr/>
          </p:nvSpPr>
          <p:spPr bwMode="auto">
            <a:xfrm>
              <a:off x="1180" y="585"/>
              <a:ext cx="272"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dirty="0"/>
                <a:t>Z</a:t>
              </a:r>
            </a:p>
          </p:txBody>
        </p:sp>
        <p:sp>
          <p:nvSpPr>
            <p:cNvPr id="8254" name="Text Box 72"/>
            <p:cNvSpPr txBox="1">
              <a:spLocks noChangeArrowheads="1"/>
            </p:cNvSpPr>
            <p:nvPr/>
          </p:nvSpPr>
          <p:spPr bwMode="auto">
            <a:xfrm>
              <a:off x="0" y="0"/>
              <a:ext cx="272"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l-GR" altLang="en-US"/>
                <a:t>μ</a:t>
              </a:r>
              <a:endParaRPr lang="en-US" altLang="zh-CN"/>
            </a:p>
          </p:txBody>
        </p:sp>
      </p:grpSp>
      <p:grpSp>
        <p:nvGrpSpPr>
          <p:cNvPr id="8255" name="Group 63"/>
          <p:cNvGrpSpPr>
            <a:grpSpLocks/>
          </p:cNvGrpSpPr>
          <p:nvPr/>
        </p:nvGrpSpPr>
        <p:grpSpPr bwMode="auto">
          <a:xfrm>
            <a:off x="7319963" y="5445125"/>
            <a:ext cx="2303462" cy="1303338"/>
            <a:chOff x="0" y="0"/>
            <a:chExt cx="1451" cy="821"/>
          </a:xfrm>
        </p:grpSpPr>
        <p:sp>
          <p:nvSpPr>
            <p:cNvPr id="8256" name="Line 38"/>
            <p:cNvSpPr>
              <a:spLocks noChangeShapeType="1"/>
            </p:cNvSpPr>
            <p:nvPr/>
          </p:nvSpPr>
          <p:spPr bwMode="auto">
            <a:xfrm>
              <a:off x="227" y="91"/>
              <a:ext cx="0" cy="589"/>
            </a:xfrm>
            <a:prstGeom prst="line">
              <a:avLst/>
            </a:prstGeom>
            <a:noFill/>
            <a:ln w="9525" cmpd="sng">
              <a:solidFill>
                <a:schemeClr val="tx1"/>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257" name="Line 39"/>
            <p:cNvSpPr>
              <a:spLocks noChangeShapeType="1"/>
            </p:cNvSpPr>
            <p:nvPr/>
          </p:nvSpPr>
          <p:spPr bwMode="auto">
            <a:xfrm>
              <a:off x="227" y="680"/>
              <a:ext cx="952" cy="0"/>
            </a:xfrm>
            <a:prstGeom prst="line">
              <a:avLst/>
            </a:prstGeom>
            <a:noFill/>
            <a:ln w="9525" cmpd="sng">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258" name="Line 40"/>
            <p:cNvSpPr>
              <a:spLocks noChangeShapeType="1"/>
            </p:cNvSpPr>
            <p:nvPr/>
          </p:nvSpPr>
          <p:spPr bwMode="auto">
            <a:xfrm flipV="1">
              <a:off x="454" y="454"/>
              <a:ext cx="90" cy="226"/>
            </a:xfrm>
            <a:prstGeom prst="line">
              <a:avLst/>
            </a:prstGeom>
            <a:noFill/>
            <a:ln w="28575" cmpd="sng">
              <a:solidFill>
                <a:srgbClr val="128828"/>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259" name="Line 41"/>
            <p:cNvSpPr>
              <a:spLocks noChangeShapeType="1"/>
            </p:cNvSpPr>
            <p:nvPr/>
          </p:nvSpPr>
          <p:spPr bwMode="auto">
            <a:xfrm>
              <a:off x="771" y="454"/>
              <a:ext cx="91" cy="226"/>
            </a:xfrm>
            <a:prstGeom prst="line">
              <a:avLst/>
            </a:prstGeom>
            <a:noFill/>
            <a:ln w="28575" cmpd="sng">
              <a:solidFill>
                <a:srgbClr val="128828"/>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260" name="Line 42"/>
            <p:cNvSpPr>
              <a:spLocks noChangeShapeType="1"/>
            </p:cNvSpPr>
            <p:nvPr/>
          </p:nvSpPr>
          <p:spPr bwMode="auto">
            <a:xfrm flipV="1">
              <a:off x="635" y="544"/>
              <a:ext cx="46" cy="136"/>
            </a:xfrm>
            <a:prstGeom prst="line">
              <a:avLst/>
            </a:prstGeom>
            <a:noFill/>
            <a:ln w="28575" cmpd="sng">
              <a:solidFill>
                <a:srgbClr val="128828"/>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261" name="Line 43"/>
            <p:cNvSpPr>
              <a:spLocks noChangeShapeType="1"/>
            </p:cNvSpPr>
            <p:nvPr/>
          </p:nvSpPr>
          <p:spPr bwMode="auto">
            <a:xfrm>
              <a:off x="998" y="544"/>
              <a:ext cx="45" cy="136"/>
            </a:xfrm>
            <a:prstGeom prst="line">
              <a:avLst/>
            </a:prstGeom>
            <a:noFill/>
            <a:ln w="28575" cmpd="sng">
              <a:solidFill>
                <a:srgbClr val="128828"/>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262" name="Line 46"/>
            <p:cNvSpPr>
              <a:spLocks noChangeShapeType="1"/>
            </p:cNvSpPr>
            <p:nvPr/>
          </p:nvSpPr>
          <p:spPr bwMode="auto">
            <a:xfrm>
              <a:off x="544" y="454"/>
              <a:ext cx="227" cy="0"/>
            </a:xfrm>
            <a:prstGeom prst="line">
              <a:avLst/>
            </a:prstGeom>
            <a:noFill/>
            <a:ln w="28575" cmpd="sng">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263" name="Line 47"/>
            <p:cNvSpPr>
              <a:spLocks noChangeShapeType="1"/>
            </p:cNvSpPr>
            <p:nvPr/>
          </p:nvSpPr>
          <p:spPr bwMode="auto">
            <a:xfrm>
              <a:off x="681" y="544"/>
              <a:ext cx="317" cy="0"/>
            </a:xfrm>
            <a:prstGeom prst="line">
              <a:avLst/>
            </a:prstGeom>
            <a:noFill/>
            <a:ln w="28575" cmpd="sng">
              <a:solidFill>
                <a:srgbClr val="0000FE"/>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264" name="Line 48"/>
            <p:cNvSpPr>
              <a:spLocks noChangeShapeType="1"/>
            </p:cNvSpPr>
            <p:nvPr/>
          </p:nvSpPr>
          <p:spPr bwMode="auto">
            <a:xfrm>
              <a:off x="681" y="680"/>
              <a:ext cx="0" cy="91"/>
            </a:xfrm>
            <a:prstGeom prst="line">
              <a:avLst/>
            </a:prstGeom>
            <a:noFill/>
            <a:ln w="28575" cmpd="sng">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265" name="Text Box 59"/>
            <p:cNvSpPr txBox="1">
              <a:spLocks noChangeArrowheads="1"/>
            </p:cNvSpPr>
            <p:nvPr/>
          </p:nvSpPr>
          <p:spPr bwMode="auto">
            <a:xfrm>
              <a:off x="817" y="136"/>
              <a:ext cx="272"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a:t>C’</a:t>
              </a:r>
            </a:p>
          </p:txBody>
        </p:sp>
        <p:sp>
          <p:nvSpPr>
            <p:cNvPr id="8266" name="Text Box 73"/>
            <p:cNvSpPr txBox="1">
              <a:spLocks noChangeArrowheads="1"/>
            </p:cNvSpPr>
            <p:nvPr/>
          </p:nvSpPr>
          <p:spPr bwMode="auto">
            <a:xfrm>
              <a:off x="0" y="0"/>
              <a:ext cx="272"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l-GR" altLang="en-US"/>
                <a:t>μ</a:t>
              </a:r>
              <a:endParaRPr lang="en-US" altLang="zh-CN"/>
            </a:p>
          </p:txBody>
        </p:sp>
        <p:sp>
          <p:nvSpPr>
            <p:cNvPr id="8267" name="Text Box 74"/>
            <p:cNvSpPr txBox="1">
              <a:spLocks noChangeArrowheads="1"/>
            </p:cNvSpPr>
            <p:nvPr/>
          </p:nvSpPr>
          <p:spPr bwMode="auto">
            <a:xfrm>
              <a:off x="1179" y="590"/>
              <a:ext cx="272"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a:t>Z</a:t>
              </a:r>
            </a:p>
          </p:txBody>
        </p:sp>
      </p:grpSp>
      <p:sp>
        <p:nvSpPr>
          <p:cNvPr id="8268" name="Text Box 80"/>
          <p:cNvSpPr txBox="1">
            <a:spLocks noChangeArrowheads="1"/>
          </p:cNvSpPr>
          <p:nvPr/>
        </p:nvSpPr>
        <p:spPr bwMode="auto">
          <a:xfrm>
            <a:off x="6672264" y="5373688"/>
            <a:ext cx="719137"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a:solidFill>
                  <a:srgbClr val="FF3399"/>
                </a:solidFill>
              </a:rPr>
              <a:t>MIN</a:t>
            </a:r>
          </a:p>
        </p:txBody>
      </p:sp>
      <p:sp>
        <p:nvSpPr>
          <p:cNvPr id="8269" name="Text Box 81"/>
          <p:cNvSpPr txBox="1">
            <a:spLocks noChangeArrowheads="1"/>
          </p:cNvSpPr>
          <p:nvPr/>
        </p:nvSpPr>
        <p:spPr bwMode="auto">
          <a:xfrm>
            <a:off x="623393" y="6237288"/>
            <a:ext cx="6409234"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sz="2800" b="1" dirty="0">
                <a:ea typeface="楷体_GB2312" pitchFamily="1" charset="-122"/>
              </a:rPr>
              <a:t>以两输入单输出为例的</a:t>
            </a:r>
            <a:r>
              <a:rPr lang="en-US" altLang="zh-CN" sz="2800" b="1" dirty="0">
                <a:solidFill>
                  <a:srgbClr val="128828"/>
                </a:solidFill>
                <a:ea typeface="楷体_GB2312" pitchFamily="1" charset="-122"/>
              </a:rPr>
              <a:t>Mamdani</a:t>
            </a:r>
            <a:r>
              <a:rPr lang="zh-CN" altLang="en-US" sz="2800" b="1" dirty="0">
                <a:ea typeface="楷体_GB2312" pitchFamily="1" charset="-122"/>
              </a:rPr>
              <a:t>模型</a:t>
            </a:r>
          </a:p>
        </p:txBody>
      </p:sp>
      <p:sp>
        <p:nvSpPr>
          <p:cNvPr id="2" name="矩形 1">
            <a:extLst>
              <a:ext uri="{FF2B5EF4-FFF2-40B4-BE49-F238E27FC236}">
                <a16:creationId xmlns:a16="http://schemas.microsoft.com/office/drawing/2014/main" id="{40E8E130-D84F-45AD-9F29-17FBCC32B54A}"/>
              </a:ext>
            </a:extLst>
          </p:cNvPr>
          <p:cNvSpPr/>
          <p:nvPr/>
        </p:nvSpPr>
        <p:spPr>
          <a:xfrm>
            <a:off x="1736838" y="4550569"/>
            <a:ext cx="436338" cy="369332"/>
          </a:xfrm>
          <a:prstGeom prst="rect">
            <a:avLst/>
          </a:prstGeom>
        </p:spPr>
        <p:txBody>
          <a:bodyPr wrap="none">
            <a:spAutoFit/>
          </a:bodyPr>
          <a:lstStyle/>
          <a:p>
            <a:r>
              <a:rPr lang="en-US" altLang="zh-CN" dirty="0">
                <a:ea typeface="黑体" panose="02010609060101010101" pitchFamily="49" charset="-122"/>
              </a:rPr>
              <a:t>R</a:t>
            </a:r>
            <a:r>
              <a:rPr lang="en-US" altLang="zh-CN" baseline="-25000" dirty="0">
                <a:ea typeface="黑体" panose="02010609060101010101" pitchFamily="49" charset="-122"/>
              </a:rPr>
              <a:t>2</a:t>
            </a:r>
            <a:endParaRPr lang="zh-CN" altLang="en-US" dirty="0"/>
          </a:p>
        </p:txBody>
      </p:sp>
      <p:sp>
        <p:nvSpPr>
          <p:cNvPr id="79" name="矩形 78">
            <a:extLst>
              <a:ext uri="{FF2B5EF4-FFF2-40B4-BE49-F238E27FC236}">
                <a16:creationId xmlns:a16="http://schemas.microsoft.com/office/drawing/2014/main" id="{D9A04702-35CB-4F38-8C0F-7E13DC41DE74}"/>
              </a:ext>
            </a:extLst>
          </p:cNvPr>
          <p:cNvSpPr/>
          <p:nvPr/>
        </p:nvSpPr>
        <p:spPr>
          <a:xfrm>
            <a:off x="1774144" y="3420031"/>
            <a:ext cx="436338" cy="369332"/>
          </a:xfrm>
          <a:prstGeom prst="rect">
            <a:avLst/>
          </a:prstGeom>
        </p:spPr>
        <p:txBody>
          <a:bodyPr wrap="none">
            <a:spAutoFit/>
          </a:bodyPr>
          <a:lstStyle/>
          <a:p>
            <a:r>
              <a:rPr lang="en-US" altLang="zh-CN" dirty="0">
                <a:ea typeface="黑体" panose="02010609060101010101" pitchFamily="49" charset="-122"/>
              </a:rPr>
              <a:t>R</a:t>
            </a:r>
            <a:r>
              <a:rPr lang="en-US" altLang="zh-CN" baseline="-25000" dirty="0">
                <a:ea typeface="黑体" panose="02010609060101010101" pitchFamily="49" charset="-122"/>
              </a:rPr>
              <a:t>1</a:t>
            </a:r>
            <a:endParaRPr lang="zh-CN" altLang="en-US" dirty="0"/>
          </a:p>
        </p:txBody>
      </p:sp>
      <p:sp>
        <p:nvSpPr>
          <p:cNvPr id="3" name="文本框 2">
            <a:extLst>
              <a:ext uri="{FF2B5EF4-FFF2-40B4-BE49-F238E27FC236}">
                <a16:creationId xmlns:a16="http://schemas.microsoft.com/office/drawing/2014/main" id="{AC8FA40C-A866-4B5E-9EDB-6EAED0253385}"/>
              </a:ext>
            </a:extLst>
          </p:cNvPr>
          <p:cNvSpPr txBox="1"/>
          <p:nvPr/>
        </p:nvSpPr>
        <p:spPr>
          <a:xfrm>
            <a:off x="9859198" y="1387664"/>
            <a:ext cx="2109788" cy="1569660"/>
          </a:xfrm>
          <a:prstGeom prst="rect">
            <a:avLst/>
          </a:prstGeom>
          <a:solidFill>
            <a:srgbClr val="FFFF00"/>
          </a:solidFill>
          <a:scene3d>
            <a:camera prst="orthographicFront"/>
            <a:lightRig rig="threePt" dir="t"/>
          </a:scene3d>
          <a:sp3d>
            <a:bevelT w="165100" prst="coolSlant"/>
          </a:sp3d>
        </p:spPr>
        <p:txBody>
          <a:bodyPr wrap="square" rtlCol="0">
            <a:spAutoFit/>
          </a:bodyPr>
          <a:lstStyle/>
          <a:p>
            <a:pPr marL="342900" indent="-342900">
              <a:buFont typeface="+mj-ea"/>
              <a:buAutoNum type="circleNumDbPlain"/>
            </a:pPr>
            <a:r>
              <a:rPr lang="en-US" altLang="zh-CN" sz="2400" b="1" dirty="0"/>
              <a:t>F</a:t>
            </a:r>
            <a:r>
              <a:rPr lang="zh-CN" altLang="en-US" sz="2400" b="1" dirty="0"/>
              <a:t>化输入</a:t>
            </a:r>
            <a:endParaRPr lang="en-US" altLang="zh-CN" sz="2400" b="1" dirty="0"/>
          </a:p>
          <a:p>
            <a:pPr marL="342900" indent="-342900">
              <a:buFont typeface="+mj-ea"/>
              <a:buAutoNum type="circleNumDbPlain"/>
            </a:pPr>
            <a:r>
              <a:rPr lang="zh-CN" altLang="en-US" sz="2400" b="1" dirty="0"/>
              <a:t>规则评估</a:t>
            </a:r>
            <a:endParaRPr lang="en-US" altLang="zh-CN" sz="2400" b="1" dirty="0"/>
          </a:p>
          <a:p>
            <a:pPr marL="342900" indent="-342900">
              <a:buFont typeface="+mj-ea"/>
              <a:buAutoNum type="circleNumDbPlain"/>
            </a:pPr>
            <a:r>
              <a:rPr lang="zh-CN" altLang="en-US" sz="2400" b="1" dirty="0"/>
              <a:t>规则合成 </a:t>
            </a:r>
            <a:endParaRPr lang="en-US" altLang="zh-CN" sz="2400" b="1" dirty="0"/>
          </a:p>
          <a:p>
            <a:pPr marL="342900" indent="-342900">
              <a:buFont typeface="+mj-ea"/>
              <a:buAutoNum type="circleNumDbPlain"/>
            </a:pPr>
            <a:r>
              <a:rPr lang="zh-CN" altLang="en-US" sz="2400" b="1" dirty="0"/>
              <a:t>输出去</a:t>
            </a:r>
            <a:r>
              <a:rPr lang="en-US" altLang="zh-CN" sz="2400" b="1" dirty="0"/>
              <a:t>F</a:t>
            </a:r>
            <a:r>
              <a:rPr lang="zh-CN" altLang="en-US" sz="2400" b="1" dirty="0"/>
              <a:t>化</a:t>
            </a:r>
          </a:p>
        </p:txBody>
      </p:sp>
      <p:sp>
        <p:nvSpPr>
          <p:cNvPr id="4" name="灯片编号占位符 3">
            <a:extLst>
              <a:ext uri="{FF2B5EF4-FFF2-40B4-BE49-F238E27FC236}">
                <a16:creationId xmlns:a16="http://schemas.microsoft.com/office/drawing/2014/main" id="{6571F078-7DD8-1A95-0B23-7C0C66EAECE8}"/>
              </a:ext>
            </a:extLst>
          </p:cNvPr>
          <p:cNvSpPr>
            <a:spLocks noGrp="1"/>
          </p:cNvSpPr>
          <p:nvPr>
            <p:ph type="sldNum" sz="quarter" idx="11"/>
          </p:nvPr>
        </p:nvSpPr>
        <p:spPr/>
        <p:txBody>
          <a:bodyPr/>
          <a:lstStyle/>
          <a:p>
            <a:pPr>
              <a:defRPr/>
            </a:pPr>
            <a:fld id="{B77A47BA-BA63-4780-94A9-8AFA2EA4438D}" type="slidenum">
              <a:rPr lang="en-US" altLang="zh-CN" smtClean="0"/>
              <a:pPr>
                <a:defRPr/>
              </a:pPr>
              <a:t>6</a:t>
            </a:fld>
            <a:endParaRPr lang="en-US" altLang="zh-CN"/>
          </a:p>
        </p:txBody>
      </p:sp>
    </p:spTree>
    <p:extLst>
      <p:ext uri="{BB962C8B-B14F-4D97-AF65-F5344CB8AC3E}">
        <p14:creationId xmlns:p14="http://schemas.microsoft.com/office/powerpoint/2010/main" val="176194831"/>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8195">
                                            <p:txEl>
                                              <p:pRg st="0" end="0"/>
                                            </p:txEl>
                                          </p:spTgt>
                                        </p:tgtEl>
                                        <p:attrNameLst>
                                          <p:attrName>style.visibility</p:attrName>
                                        </p:attrNameLst>
                                      </p:cBhvr>
                                      <p:to>
                                        <p:strVal val="visible"/>
                                      </p:to>
                                    </p:set>
                                    <p:animEffect transition="in" filter="wipe(left)">
                                      <p:cBhvr>
                                        <p:cTn id="7" dur="500"/>
                                        <p:tgtEl>
                                          <p:spTgt spid="8195">
                                            <p:txEl>
                                              <p:pRg st="0" end="0"/>
                                            </p:txEl>
                                          </p:spTgt>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8195">
                                            <p:txEl>
                                              <p:pRg st="1" end="1"/>
                                            </p:txEl>
                                          </p:spTgt>
                                        </p:tgtEl>
                                        <p:attrNameLst>
                                          <p:attrName>style.visibility</p:attrName>
                                        </p:attrNameLst>
                                      </p:cBhvr>
                                      <p:to>
                                        <p:strVal val="visible"/>
                                      </p:to>
                                    </p:set>
                                    <p:animEffect transition="in" filter="wipe(left)">
                                      <p:cBhvr>
                                        <p:cTn id="10" dur="500"/>
                                        <p:tgtEl>
                                          <p:spTgt spid="8195">
                                            <p:txEl>
                                              <p:pRg st="1" end="1"/>
                                            </p:txEl>
                                          </p:spTgt>
                                        </p:tgtEl>
                                      </p:cBhvr>
                                    </p:animEffect>
                                  </p:childTnLst>
                                </p:cTn>
                              </p:par>
                            </p:childTnLst>
                          </p:cTn>
                        </p:par>
                      </p:childTnLst>
                    </p:cTn>
                  </p:par>
                  <p:par>
                    <p:cTn id="11" fill="hold" nodeType="clickPar">
                      <p:stCondLst>
                        <p:cond delay="indefinite"/>
                      </p:stCondLst>
                      <p:childTnLst>
                        <p:par>
                          <p:cTn id="12" fill="hold" nodeType="withGroup">
                            <p:stCondLst>
                              <p:cond delay="0"/>
                            </p:stCondLst>
                            <p:childTnLst>
                              <p:par>
                                <p:cTn id="13" presetID="2" presetClass="entr" presetSubtype="4" fill="hold" grpId="0" nodeType="clickEffect">
                                  <p:stCondLst>
                                    <p:cond delay="0"/>
                                  </p:stCondLst>
                                  <p:childTnLst>
                                    <p:set>
                                      <p:cBhvr>
                                        <p:cTn id="14" dur="1" fill="hold">
                                          <p:stCondLst>
                                            <p:cond delay="0"/>
                                          </p:stCondLst>
                                        </p:cTn>
                                        <p:tgtEl>
                                          <p:spTgt spid="8269"/>
                                        </p:tgtEl>
                                        <p:attrNameLst>
                                          <p:attrName>style.visibility</p:attrName>
                                        </p:attrNameLst>
                                      </p:cBhvr>
                                      <p:to>
                                        <p:strVal val="visible"/>
                                      </p:to>
                                    </p:set>
                                    <p:anim calcmode="lin" valueType="num">
                                      <p:cBhvr additive="base">
                                        <p:cTn id="15" dur="500" fill="hold"/>
                                        <p:tgtEl>
                                          <p:spTgt spid="8269"/>
                                        </p:tgtEl>
                                        <p:attrNameLst>
                                          <p:attrName>ppt_x</p:attrName>
                                        </p:attrNameLst>
                                      </p:cBhvr>
                                      <p:tavLst>
                                        <p:tav tm="0">
                                          <p:val>
                                            <p:strVal val="#ppt_x"/>
                                          </p:val>
                                        </p:tav>
                                        <p:tav tm="100000">
                                          <p:val>
                                            <p:strVal val="#ppt_x"/>
                                          </p:val>
                                        </p:tav>
                                      </p:tavLst>
                                    </p:anim>
                                    <p:anim calcmode="lin" valueType="num">
                                      <p:cBhvr additive="base">
                                        <p:cTn id="16" dur="500" fill="hold"/>
                                        <p:tgtEl>
                                          <p:spTgt spid="8269"/>
                                        </p:tgtEl>
                                        <p:attrNameLst>
                                          <p:attrName>ppt_y</p:attrName>
                                        </p:attrNameLst>
                                      </p:cBhvr>
                                      <p:tavLst>
                                        <p:tav tm="0">
                                          <p:val>
                                            <p:strVal val="1+#ppt_h/2"/>
                                          </p:val>
                                        </p:tav>
                                        <p:tav tm="100000">
                                          <p:val>
                                            <p:strVal val="#ppt_y"/>
                                          </p:val>
                                        </p:tav>
                                      </p:tavLst>
                                    </p:anim>
                                  </p:childTnLst>
                                </p:cTn>
                              </p:par>
                            </p:childTnLst>
                          </p:cTn>
                        </p:par>
                      </p:childTnLst>
                    </p:cTn>
                  </p:par>
                  <p:par>
                    <p:cTn id="17" fill="hold" nodeType="clickPar">
                      <p:stCondLst>
                        <p:cond delay="indefinite"/>
                      </p:stCondLst>
                      <p:childTnLst>
                        <p:par>
                          <p:cTn id="18" fill="hold" nodeType="withGroup">
                            <p:stCondLst>
                              <p:cond delay="0"/>
                            </p:stCondLst>
                            <p:childTnLst>
                              <p:par>
                                <p:cTn id="19" presetID="22" presetClass="entr" presetSubtype="8" fill="hold" nodeType="clickEffect">
                                  <p:stCondLst>
                                    <p:cond delay="0"/>
                                  </p:stCondLst>
                                  <p:childTnLst>
                                    <p:set>
                                      <p:cBhvr>
                                        <p:cTn id="20" dur="1" fill="hold">
                                          <p:stCondLst>
                                            <p:cond delay="0"/>
                                          </p:stCondLst>
                                        </p:cTn>
                                        <p:tgtEl>
                                          <p:spTgt spid="8201"/>
                                        </p:tgtEl>
                                        <p:attrNameLst>
                                          <p:attrName>style.visibility</p:attrName>
                                        </p:attrNameLst>
                                      </p:cBhvr>
                                      <p:to>
                                        <p:strVal val="visible"/>
                                      </p:to>
                                    </p:set>
                                    <p:animEffect transition="in" filter="wipe(left)">
                                      <p:cBhvr>
                                        <p:cTn id="21" dur="500"/>
                                        <p:tgtEl>
                                          <p:spTgt spid="8201"/>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79"/>
                                        </p:tgtEl>
                                        <p:attrNameLst>
                                          <p:attrName>style.visibility</p:attrName>
                                        </p:attrNameLst>
                                      </p:cBhvr>
                                      <p:to>
                                        <p:strVal val="visible"/>
                                      </p:to>
                                    </p:set>
                                    <p:animEffect transition="in" filter="fade">
                                      <p:cBhvr>
                                        <p:cTn id="24" dur="500"/>
                                        <p:tgtEl>
                                          <p:spTgt spid="79"/>
                                        </p:tgtEl>
                                      </p:cBhvr>
                                    </p:animEffect>
                                  </p:childTnLst>
                                </p:cTn>
                              </p:par>
                              <p:par>
                                <p:cTn id="25" presetID="1" presetClass="entr" presetSubtype="0" fill="hold" grpId="0" nodeType="withEffect">
                                  <p:stCondLst>
                                    <p:cond delay="0"/>
                                  </p:stCondLst>
                                  <p:childTnLst>
                                    <p:set>
                                      <p:cBhvr>
                                        <p:cTn id="26" dur="1" fill="hold">
                                          <p:stCondLst>
                                            <p:cond delay="0"/>
                                          </p:stCondLst>
                                        </p:cTn>
                                        <p:tgtEl>
                                          <p:spTgt spid="8196"/>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8197"/>
                                        </p:tgtEl>
                                        <p:attrNameLst>
                                          <p:attrName>style.visibility</p:attrName>
                                        </p:attrNameLst>
                                      </p:cBhvr>
                                      <p:to>
                                        <p:strVal val="visible"/>
                                      </p:to>
                                    </p:set>
                                  </p:childTnLst>
                                </p:cTn>
                              </p:par>
                            </p:childTnLst>
                          </p:cTn>
                        </p:par>
                        <p:par>
                          <p:cTn id="29" fill="hold" nodeType="afterGroup">
                            <p:stCondLst>
                              <p:cond delay="500"/>
                            </p:stCondLst>
                            <p:childTnLst>
                              <p:par>
                                <p:cTn id="30" presetID="1" presetClass="entr" presetSubtype="0" fill="hold" grpId="0" nodeType="afterEffect">
                                  <p:stCondLst>
                                    <p:cond delay="0"/>
                                  </p:stCondLst>
                                  <p:childTnLst>
                                    <p:set>
                                      <p:cBhvr>
                                        <p:cTn id="31" dur="1" fill="hold">
                                          <p:stCondLst>
                                            <p:cond delay="0"/>
                                          </p:stCondLst>
                                        </p:cTn>
                                        <p:tgtEl>
                                          <p:spTgt spid="8200"/>
                                        </p:tgtEl>
                                        <p:attrNameLst>
                                          <p:attrName>style.visibility</p:attrName>
                                        </p:attrNameLst>
                                      </p:cBhvr>
                                      <p:to>
                                        <p:strVal val="visible"/>
                                      </p:to>
                                    </p:set>
                                  </p:childTnLst>
                                </p:cTn>
                              </p:par>
                            </p:childTnLst>
                          </p:cTn>
                        </p:par>
                      </p:childTnLst>
                    </p:cTn>
                  </p:par>
                  <p:par>
                    <p:cTn id="32" fill="hold" nodeType="clickPar">
                      <p:stCondLst>
                        <p:cond delay="indefinite"/>
                      </p:stCondLst>
                      <p:childTnLst>
                        <p:par>
                          <p:cTn id="33" fill="hold" nodeType="withGroup">
                            <p:stCondLst>
                              <p:cond delay="0"/>
                            </p:stCondLst>
                            <p:childTnLst>
                              <p:par>
                                <p:cTn id="34" presetID="1" presetClass="entr" presetSubtype="0" fill="hold" nodeType="clickEffect">
                                  <p:stCondLst>
                                    <p:cond delay="0"/>
                                  </p:stCondLst>
                                  <p:childTnLst>
                                    <p:set>
                                      <p:cBhvr>
                                        <p:cTn id="35" dur="1" fill="hold">
                                          <p:stCondLst>
                                            <p:cond delay="0"/>
                                          </p:stCondLst>
                                        </p:cTn>
                                        <p:tgtEl>
                                          <p:spTgt spid="8268">
                                            <p:txEl>
                                              <p:pRg st="0" end="0"/>
                                            </p:txEl>
                                          </p:spTgt>
                                        </p:tgtEl>
                                        <p:attrNameLst>
                                          <p:attrName>style.visibility</p:attrName>
                                        </p:attrNameLst>
                                      </p:cBhvr>
                                      <p:to>
                                        <p:strVal val="visible"/>
                                      </p:to>
                                    </p:set>
                                  </p:childTnLst>
                                </p:cTn>
                              </p:par>
                              <p:par>
                                <p:cTn id="36" presetID="1" presetClass="entr" presetSubtype="0" fill="hold" grpId="0" nodeType="withEffect">
                                  <p:stCondLst>
                                    <p:cond delay="0"/>
                                  </p:stCondLst>
                                  <p:childTnLst>
                                    <p:set>
                                      <p:cBhvr>
                                        <p:cTn id="37" dur="1" fill="hold">
                                          <p:stCondLst>
                                            <p:cond delay="0"/>
                                          </p:stCondLst>
                                        </p:cTn>
                                        <p:tgtEl>
                                          <p:spTgt spid="8198"/>
                                        </p:tgtEl>
                                        <p:attrNameLst>
                                          <p:attrName>style.visibility</p:attrName>
                                        </p:attrNameLst>
                                      </p:cBhvr>
                                      <p:to>
                                        <p:strVal val="visible"/>
                                      </p:to>
                                    </p:set>
                                  </p:childTnLst>
                                </p:cTn>
                              </p:par>
                            </p:childTnLst>
                          </p:cTn>
                        </p:par>
                      </p:childTnLst>
                    </p:cTn>
                  </p:par>
                  <p:par>
                    <p:cTn id="38" fill="hold" nodeType="clickPar">
                      <p:stCondLst>
                        <p:cond delay="indefinite"/>
                      </p:stCondLst>
                      <p:childTnLst>
                        <p:par>
                          <p:cTn id="39" fill="hold" nodeType="withGroup">
                            <p:stCondLst>
                              <p:cond delay="0"/>
                            </p:stCondLst>
                            <p:childTnLst>
                              <p:par>
                                <p:cTn id="40" presetID="22" presetClass="entr" presetSubtype="8" fill="hold" nodeType="clickEffect">
                                  <p:stCondLst>
                                    <p:cond delay="0"/>
                                  </p:stCondLst>
                                  <p:childTnLst>
                                    <p:set>
                                      <p:cBhvr>
                                        <p:cTn id="41" dur="1" fill="hold">
                                          <p:stCondLst>
                                            <p:cond delay="0"/>
                                          </p:stCondLst>
                                        </p:cTn>
                                        <p:tgtEl>
                                          <p:spTgt spid="8235"/>
                                        </p:tgtEl>
                                        <p:attrNameLst>
                                          <p:attrName>style.visibility</p:attrName>
                                        </p:attrNameLst>
                                      </p:cBhvr>
                                      <p:to>
                                        <p:strVal val="visible"/>
                                      </p:to>
                                    </p:set>
                                    <p:animEffect transition="in" filter="wipe(left)">
                                      <p:cBhvr>
                                        <p:cTn id="42" dur="500"/>
                                        <p:tgtEl>
                                          <p:spTgt spid="8235"/>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22" presetClass="entr" presetSubtype="8" fill="hold" nodeType="clickEffect">
                                  <p:stCondLst>
                                    <p:cond delay="0"/>
                                  </p:stCondLst>
                                  <p:childTnLst>
                                    <p:set>
                                      <p:cBhvr>
                                        <p:cTn id="46" dur="1" fill="hold">
                                          <p:stCondLst>
                                            <p:cond delay="0"/>
                                          </p:stCondLst>
                                        </p:cTn>
                                        <p:tgtEl>
                                          <p:spTgt spid="8217"/>
                                        </p:tgtEl>
                                        <p:attrNameLst>
                                          <p:attrName>style.visibility</p:attrName>
                                        </p:attrNameLst>
                                      </p:cBhvr>
                                      <p:to>
                                        <p:strVal val="visible"/>
                                      </p:to>
                                    </p:set>
                                    <p:animEffect transition="in" filter="wipe(left)">
                                      <p:cBhvr>
                                        <p:cTn id="47" dur="500"/>
                                        <p:tgtEl>
                                          <p:spTgt spid="8217"/>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2"/>
                                        </p:tgtEl>
                                        <p:attrNameLst>
                                          <p:attrName>style.visibility</p:attrName>
                                        </p:attrNameLst>
                                      </p:cBhvr>
                                      <p:to>
                                        <p:strVal val="visible"/>
                                      </p:to>
                                    </p:set>
                                    <p:animEffect transition="in" filter="fade">
                                      <p:cBhvr>
                                        <p:cTn id="50" dur="500"/>
                                        <p:tgtEl>
                                          <p:spTgt spid="2"/>
                                        </p:tgtEl>
                                      </p:cBhvr>
                                    </p:animEffect>
                                  </p:childTnLst>
                                </p:cTn>
                              </p:par>
                            </p:childTnLst>
                          </p:cTn>
                        </p:par>
                      </p:childTnLst>
                    </p:cTn>
                  </p:par>
                  <p:par>
                    <p:cTn id="51" fill="hold" nodeType="clickPar">
                      <p:stCondLst>
                        <p:cond delay="indefinite"/>
                      </p:stCondLst>
                      <p:childTnLst>
                        <p:par>
                          <p:cTn id="52" fill="hold" nodeType="withGroup">
                            <p:stCondLst>
                              <p:cond delay="0"/>
                            </p:stCondLst>
                            <p:childTnLst>
                              <p:par>
                                <p:cTn id="53" presetID="22" presetClass="entr" presetSubtype="8" fill="hold" nodeType="clickEffect">
                                  <p:stCondLst>
                                    <p:cond delay="0"/>
                                  </p:stCondLst>
                                  <p:childTnLst>
                                    <p:set>
                                      <p:cBhvr>
                                        <p:cTn id="54" dur="1" fill="hold">
                                          <p:stCondLst>
                                            <p:cond delay="0"/>
                                          </p:stCondLst>
                                        </p:cTn>
                                        <p:tgtEl>
                                          <p:spTgt spid="8245"/>
                                        </p:tgtEl>
                                        <p:attrNameLst>
                                          <p:attrName>style.visibility</p:attrName>
                                        </p:attrNameLst>
                                      </p:cBhvr>
                                      <p:to>
                                        <p:strVal val="visible"/>
                                      </p:to>
                                    </p:set>
                                    <p:animEffect transition="in" filter="wipe(left)">
                                      <p:cBhvr>
                                        <p:cTn id="55" dur="500"/>
                                        <p:tgtEl>
                                          <p:spTgt spid="8245"/>
                                        </p:tgtEl>
                                      </p:cBhvr>
                                    </p:animEffect>
                                  </p:childTnLst>
                                </p:cTn>
                              </p:par>
                              <p:par>
                                <p:cTn id="56" presetID="1" presetClass="entr" presetSubtype="0" fill="hold" grpId="0" nodeType="withEffect">
                                  <p:stCondLst>
                                    <p:cond delay="0"/>
                                  </p:stCondLst>
                                  <p:childTnLst>
                                    <p:set>
                                      <p:cBhvr>
                                        <p:cTn id="57" dur="1" fill="hold">
                                          <p:stCondLst>
                                            <p:cond delay="0"/>
                                          </p:stCondLst>
                                        </p:cTn>
                                        <p:tgtEl>
                                          <p:spTgt spid="8199"/>
                                        </p:tgtEl>
                                        <p:attrNameLst>
                                          <p:attrName>style.visibility</p:attrName>
                                        </p:attrNameLst>
                                      </p:cBhvr>
                                      <p:to>
                                        <p:strVal val="visible"/>
                                      </p:to>
                                    </p:set>
                                  </p:childTnLst>
                                </p:cTn>
                              </p:par>
                            </p:childTnLst>
                          </p:cTn>
                        </p:par>
                      </p:childTnLst>
                    </p:cTn>
                  </p:par>
                  <p:par>
                    <p:cTn id="58" fill="hold" nodeType="clickPar">
                      <p:stCondLst>
                        <p:cond delay="indefinite"/>
                      </p:stCondLst>
                      <p:childTnLst>
                        <p:par>
                          <p:cTn id="59" fill="hold" nodeType="withGroup">
                            <p:stCondLst>
                              <p:cond delay="0"/>
                            </p:stCondLst>
                            <p:childTnLst>
                              <p:par>
                                <p:cTn id="60" presetID="22" presetClass="entr" presetSubtype="8" fill="hold" nodeType="clickEffect">
                                  <p:stCondLst>
                                    <p:cond delay="0"/>
                                  </p:stCondLst>
                                  <p:childTnLst>
                                    <p:set>
                                      <p:cBhvr>
                                        <p:cTn id="61" dur="1" fill="hold">
                                          <p:stCondLst>
                                            <p:cond delay="0"/>
                                          </p:stCondLst>
                                        </p:cTn>
                                        <p:tgtEl>
                                          <p:spTgt spid="8255"/>
                                        </p:tgtEl>
                                        <p:attrNameLst>
                                          <p:attrName>style.visibility</p:attrName>
                                        </p:attrNameLst>
                                      </p:cBhvr>
                                      <p:to>
                                        <p:strVal val="visible"/>
                                      </p:to>
                                    </p:set>
                                    <p:animEffect transition="in" filter="wipe(left)">
                                      <p:cBhvr>
                                        <p:cTn id="62" dur="500"/>
                                        <p:tgtEl>
                                          <p:spTgt spid="8255"/>
                                        </p:tgtEl>
                                      </p:cBhvr>
                                    </p:animEffect>
                                  </p:childTnLst>
                                </p:cTn>
                              </p:par>
                            </p:childTnLst>
                          </p:cTn>
                        </p:par>
                      </p:childTnLst>
                    </p:cTn>
                  </p:par>
                  <p:par>
                    <p:cTn id="63" fill="hold">
                      <p:stCondLst>
                        <p:cond delay="indefinite"/>
                      </p:stCondLst>
                      <p:childTnLst>
                        <p:par>
                          <p:cTn id="64" fill="hold">
                            <p:stCondLst>
                              <p:cond delay="0"/>
                            </p:stCondLst>
                            <p:childTnLst>
                              <p:par>
                                <p:cTn id="65" presetID="53" presetClass="entr" presetSubtype="16" fill="hold" grpId="0" nodeType="clickEffect">
                                  <p:stCondLst>
                                    <p:cond delay="0"/>
                                  </p:stCondLst>
                                  <p:childTnLst>
                                    <p:set>
                                      <p:cBhvr>
                                        <p:cTn id="66" dur="1" fill="hold">
                                          <p:stCondLst>
                                            <p:cond delay="0"/>
                                          </p:stCondLst>
                                        </p:cTn>
                                        <p:tgtEl>
                                          <p:spTgt spid="3"/>
                                        </p:tgtEl>
                                        <p:attrNameLst>
                                          <p:attrName>style.visibility</p:attrName>
                                        </p:attrNameLst>
                                      </p:cBhvr>
                                      <p:to>
                                        <p:strVal val="visible"/>
                                      </p:to>
                                    </p:set>
                                    <p:anim calcmode="lin" valueType="num">
                                      <p:cBhvr>
                                        <p:cTn id="67" dur="500" fill="hold"/>
                                        <p:tgtEl>
                                          <p:spTgt spid="3"/>
                                        </p:tgtEl>
                                        <p:attrNameLst>
                                          <p:attrName>ppt_w</p:attrName>
                                        </p:attrNameLst>
                                      </p:cBhvr>
                                      <p:tavLst>
                                        <p:tav tm="0">
                                          <p:val>
                                            <p:fltVal val="0"/>
                                          </p:val>
                                        </p:tav>
                                        <p:tav tm="100000">
                                          <p:val>
                                            <p:strVal val="#ppt_w"/>
                                          </p:val>
                                        </p:tav>
                                      </p:tavLst>
                                    </p:anim>
                                    <p:anim calcmode="lin" valueType="num">
                                      <p:cBhvr>
                                        <p:cTn id="68" dur="500" fill="hold"/>
                                        <p:tgtEl>
                                          <p:spTgt spid="3"/>
                                        </p:tgtEl>
                                        <p:attrNameLst>
                                          <p:attrName>ppt_h</p:attrName>
                                        </p:attrNameLst>
                                      </p:cBhvr>
                                      <p:tavLst>
                                        <p:tav tm="0">
                                          <p:val>
                                            <p:fltVal val="0"/>
                                          </p:val>
                                        </p:tav>
                                        <p:tav tm="100000">
                                          <p:val>
                                            <p:strVal val="#ppt_h"/>
                                          </p:val>
                                        </p:tav>
                                      </p:tavLst>
                                    </p:anim>
                                    <p:animEffect transition="in" filter="fade">
                                      <p:cBhvr>
                                        <p:cTn id="69"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195" grpId="0" build="p" autoUpdateAnimBg="0"/>
      <p:bldP spid="8196" grpId="0" animBg="1"/>
      <p:bldP spid="8197" grpId="0" animBg="1"/>
      <p:bldP spid="8198" grpId="0" animBg="1"/>
      <p:bldP spid="8199" grpId="0" animBg="1"/>
      <p:bldP spid="8200" grpId="0" animBg="1"/>
      <p:bldP spid="8269" grpId="0" autoUpdateAnimBg="0"/>
      <p:bldP spid="2" grpId="0"/>
      <p:bldP spid="79" grpId="0"/>
      <p:bldP spid="3"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Grp="1" noChangeArrowheads="1"/>
          </p:cNvSpPr>
          <p:nvPr>
            <p:ph type="title" idx="4294967295"/>
          </p:nvPr>
        </p:nvSpPr>
        <p:spPr>
          <a:xfrm>
            <a:off x="1335468" y="493712"/>
            <a:ext cx="8229600" cy="1027113"/>
          </a:xfrm>
        </p:spPr>
        <p:txBody>
          <a:bodyPr/>
          <a:lstStyle/>
          <a:p>
            <a:pPr algn="ctr" eaLnBrk="1" hangingPunct="1"/>
            <a:r>
              <a:rPr lang="zh-CN" altLang="zh-CN" dirty="0">
                <a:solidFill>
                  <a:srgbClr val="008000"/>
                </a:solidFill>
                <a:ea typeface="黑体" panose="02010609060101010101" pitchFamily="49" charset="-122"/>
              </a:rPr>
              <a:t>去模糊化的方法</a:t>
            </a:r>
          </a:p>
        </p:txBody>
      </p:sp>
      <p:sp>
        <p:nvSpPr>
          <p:cNvPr id="9220" name="Rectangle 7"/>
          <p:cNvSpPr>
            <a:spLocks noGrp="1" noChangeArrowheads="1"/>
          </p:cNvSpPr>
          <p:nvPr>
            <p:ph type="body" sz="half" idx="4294967295"/>
          </p:nvPr>
        </p:nvSpPr>
        <p:spPr>
          <a:xfrm>
            <a:off x="1847924" y="4149725"/>
            <a:ext cx="8064500" cy="2708275"/>
          </a:xfrm>
          <a:solidFill>
            <a:schemeClr val="bg1"/>
          </a:solidFill>
        </p:spPr>
        <p:txBody>
          <a:bodyPr/>
          <a:lstStyle/>
          <a:p>
            <a:pPr eaLnBrk="1" hangingPunct="1"/>
            <a:r>
              <a:rPr lang="en-US" altLang="zh-CN" sz="2800" b="1" dirty="0">
                <a:solidFill>
                  <a:srgbClr val="FF0000"/>
                </a:solidFill>
                <a:ea typeface="楷体_GB2312" pitchFamily="1" charset="-122"/>
              </a:rPr>
              <a:t>Centroid——</a:t>
            </a:r>
            <a:r>
              <a:rPr lang="zh-CN" altLang="en-US" sz="2800" b="1" dirty="0">
                <a:solidFill>
                  <a:srgbClr val="FF0000"/>
                </a:solidFill>
                <a:ea typeface="楷体_GB2312" pitchFamily="1" charset="-122"/>
              </a:rPr>
              <a:t>重心法</a:t>
            </a:r>
          </a:p>
          <a:p>
            <a:pPr eaLnBrk="1" hangingPunct="1"/>
            <a:r>
              <a:rPr lang="en-US" altLang="zh-CN" sz="2800" b="1" dirty="0">
                <a:solidFill>
                  <a:srgbClr val="FF0000"/>
                </a:solidFill>
                <a:ea typeface="楷体_GB2312" pitchFamily="1" charset="-122"/>
              </a:rPr>
              <a:t>Bisector——</a:t>
            </a:r>
            <a:r>
              <a:rPr lang="zh-CN" altLang="en-US" sz="2800" b="1" dirty="0">
                <a:solidFill>
                  <a:srgbClr val="FF0000"/>
                </a:solidFill>
                <a:ea typeface="楷体_GB2312" pitchFamily="1" charset="-122"/>
              </a:rPr>
              <a:t>面积等分法</a:t>
            </a:r>
          </a:p>
          <a:p>
            <a:pPr eaLnBrk="1" hangingPunct="1"/>
            <a:r>
              <a:rPr lang="en-US" altLang="zh-CN" sz="2800" b="1" dirty="0">
                <a:solidFill>
                  <a:srgbClr val="FF0000"/>
                </a:solidFill>
                <a:ea typeface="楷体_GB2312" pitchFamily="1" charset="-122"/>
              </a:rPr>
              <a:t>MOM ——</a:t>
            </a:r>
            <a:r>
              <a:rPr lang="zh-CN" altLang="en-US" sz="2800" b="1" dirty="0">
                <a:solidFill>
                  <a:srgbClr val="FF0000"/>
                </a:solidFill>
                <a:ea typeface="楷体_GB2312" pitchFamily="1" charset="-122"/>
              </a:rPr>
              <a:t>极大平均法</a:t>
            </a:r>
            <a:r>
              <a:rPr lang="zh-CN" altLang="en-US" sz="2800" b="1" dirty="0">
                <a:ea typeface="楷体_GB2312" pitchFamily="1" charset="-122"/>
              </a:rPr>
              <a:t>（</a:t>
            </a:r>
            <a:r>
              <a:rPr lang="en-US" altLang="zh-CN" sz="2800" b="1" dirty="0" err="1">
                <a:solidFill>
                  <a:srgbClr val="128828"/>
                </a:solidFill>
              </a:rPr>
              <a:t>Mamdani</a:t>
            </a:r>
            <a:r>
              <a:rPr lang="zh-CN" altLang="en-US" sz="2800" b="1" dirty="0"/>
              <a:t>模型采用此法）</a:t>
            </a:r>
            <a:endParaRPr lang="zh-CN" altLang="en-US" sz="2800" b="1" dirty="0">
              <a:ea typeface="楷体_GB2312" pitchFamily="1" charset="-122"/>
            </a:endParaRPr>
          </a:p>
          <a:p>
            <a:pPr eaLnBrk="1" hangingPunct="1"/>
            <a:r>
              <a:rPr lang="en-US" altLang="zh-CN" sz="2800" b="1" dirty="0">
                <a:solidFill>
                  <a:srgbClr val="33CCFF"/>
                </a:solidFill>
                <a:ea typeface="楷体_GB2312" pitchFamily="1" charset="-122"/>
              </a:rPr>
              <a:t>LOM ——</a:t>
            </a:r>
            <a:r>
              <a:rPr lang="zh-CN" altLang="en-US" sz="2800" b="1" dirty="0">
                <a:solidFill>
                  <a:srgbClr val="33CCFF"/>
                </a:solidFill>
                <a:ea typeface="楷体_GB2312" pitchFamily="1" charset="-122"/>
              </a:rPr>
              <a:t>极大最小法</a:t>
            </a:r>
          </a:p>
          <a:p>
            <a:pPr eaLnBrk="1" hangingPunct="1"/>
            <a:r>
              <a:rPr lang="en-US" altLang="zh-CN" sz="2800" b="1" dirty="0">
                <a:solidFill>
                  <a:srgbClr val="33CCFF"/>
                </a:solidFill>
                <a:ea typeface="楷体_GB2312" pitchFamily="1" charset="-122"/>
              </a:rPr>
              <a:t>SOM ——</a:t>
            </a:r>
            <a:r>
              <a:rPr lang="zh-CN" altLang="en-US" sz="2800" b="1" dirty="0">
                <a:solidFill>
                  <a:srgbClr val="33CCFF"/>
                </a:solidFill>
                <a:ea typeface="楷体_GB2312" pitchFamily="1" charset="-122"/>
              </a:rPr>
              <a:t>极大最大法</a:t>
            </a:r>
          </a:p>
        </p:txBody>
      </p:sp>
      <p:sp>
        <p:nvSpPr>
          <p:cNvPr id="9221" name="AutoShape 8"/>
          <p:cNvSpPr>
            <a:spLocks/>
          </p:cNvSpPr>
          <p:nvPr/>
        </p:nvSpPr>
        <p:spPr bwMode="auto">
          <a:xfrm>
            <a:off x="6024563" y="5876926"/>
            <a:ext cx="215900" cy="720725"/>
          </a:xfrm>
          <a:prstGeom prst="rightBrace">
            <a:avLst>
              <a:gd name="adj1" fmla="val 27819"/>
              <a:gd name="adj2" fmla="val 50000"/>
            </a:avLst>
          </a:prstGeom>
          <a:noFill/>
          <a:ln w="19050" cmpd="sng">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9222" name="Text Box 9"/>
          <p:cNvSpPr txBox="1">
            <a:spLocks noChangeArrowheads="1"/>
          </p:cNvSpPr>
          <p:nvPr/>
        </p:nvSpPr>
        <p:spPr bwMode="auto">
          <a:xfrm>
            <a:off x="6311901" y="6021388"/>
            <a:ext cx="4608635"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sz="2400" b="1" dirty="0">
                <a:ea typeface="楷体_GB2312" pitchFamily="1" charset="-122"/>
              </a:rPr>
              <a:t>因为其明显偏离中心，所以少用</a:t>
            </a:r>
          </a:p>
        </p:txBody>
      </p:sp>
      <p:pic>
        <p:nvPicPr>
          <p:cNvPr id="9223" name="Picture 10"/>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31951" y="1484313"/>
            <a:ext cx="8856663" cy="26654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 name="图片 2">
            <a:extLst>
              <a:ext uri="{FF2B5EF4-FFF2-40B4-BE49-F238E27FC236}">
                <a16:creationId xmlns:a16="http://schemas.microsoft.com/office/drawing/2014/main" id="{A2BF1B2A-5C38-6510-9CD0-913F697F7B6C}"/>
              </a:ext>
            </a:extLst>
          </p:cNvPr>
          <p:cNvPicPr>
            <a:picLocks noChangeAspect="1"/>
          </p:cNvPicPr>
          <p:nvPr/>
        </p:nvPicPr>
        <p:blipFill>
          <a:blip r:embed="rId4"/>
          <a:stretch>
            <a:fillRect/>
          </a:stretch>
        </p:blipFill>
        <p:spPr>
          <a:xfrm>
            <a:off x="9445130" y="116632"/>
            <a:ext cx="2679934" cy="1520197"/>
          </a:xfrm>
          <a:prstGeom prst="rect">
            <a:avLst/>
          </a:prstGeom>
          <a:effectLst>
            <a:glow rad="127000">
              <a:srgbClr val="00B0F0"/>
            </a:glow>
          </a:effectLst>
        </p:spPr>
      </p:pic>
      <p:sp>
        <p:nvSpPr>
          <p:cNvPr id="2" name="灯片编号占位符 1">
            <a:extLst>
              <a:ext uri="{FF2B5EF4-FFF2-40B4-BE49-F238E27FC236}">
                <a16:creationId xmlns:a16="http://schemas.microsoft.com/office/drawing/2014/main" id="{8C52F99B-9F08-5631-2574-C3C15B86577A}"/>
              </a:ext>
            </a:extLst>
          </p:cNvPr>
          <p:cNvSpPr>
            <a:spLocks noGrp="1"/>
          </p:cNvSpPr>
          <p:nvPr>
            <p:ph type="sldNum" sz="quarter" idx="11"/>
          </p:nvPr>
        </p:nvSpPr>
        <p:spPr/>
        <p:txBody>
          <a:bodyPr/>
          <a:lstStyle/>
          <a:p>
            <a:pPr>
              <a:defRPr/>
            </a:pPr>
            <a:fld id="{B77A47BA-BA63-4780-94A9-8AFA2EA4438D}" type="slidenum">
              <a:rPr lang="en-US" altLang="zh-CN" smtClean="0"/>
              <a:pPr>
                <a:defRPr/>
              </a:pPr>
              <a:t>7</a:t>
            </a:fld>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9220">
                                            <p:txEl>
                                              <p:pRg st="0" end="0"/>
                                            </p:txEl>
                                          </p:spTgt>
                                        </p:tgtEl>
                                        <p:attrNameLst>
                                          <p:attrName>style.visibility</p:attrName>
                                        </p:attrNameLst>
                                      </p:cBhvr>
                                      <p:to>
                                        <p:strVal val="visible"/>
                                      </p:to>
                                    </p:set>
                                    <p:animEffect transition="in" filter="wipe(left)">
                                      <p:cBhvr>
                                        <p:cTn id="7" dur="500"/>
                                        <p:tgtEl>
                                          <p:spTgt spid="9220">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9220">
                                            <p:txEl>
                                              <p:pRg st="1" end="1"/>
                                            </p:txEl>
                                          </p:spTgt>
                                        </p:tgtEl>
                                        <p:attrNameLst>
                                          <p:attrName>style.visibility</p:attrName>
                                        </p:attrNameLst>
                                      </p:cBhvr>
                                      <p:to>
                                        <p:strVal val="visible"/>
                                      </p:to>
                                    </p:set>
                                    <p:animEffect transition="in" filter="wipe(left)">
                                      <p:cBhvr>
                                        <p:cTn id="12" dur="500"/>
                                        <p:tgtEl>
                                          <p:spTgt spid="9220">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9220">
                                            <p:txEl>
                                              <p:pRg st="2" end="2"/>
                                            </p:txEl>
                                          </p:spTgt>
                                        </p:tgtEl>
                                        <p:attrNameLst>
                                          <p:attrName>style.visibility</p:attrName>
                                        </p:attrNameLst>
                                      </p:cBhvr>
                                      <p:to>
                                        <p:strVal val="visible"/>
                                      </p:to>
                                    </p:set>
                                    <p:animEffect transition="in" filter="wipe(left)">
                                      <p:cBhvr>
                                        <p:cTn id="17" dur="500"/>
                                        <p:tgtEl>
                                          <p:spTgt spid="9220">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9220">
                                            <p:txEl>
                                              <p:pRg st="3" end="3"/>
                                            </p:txEl>
                                          </p:spTgt>
                                        </p:tgtEl>
                                        <p:attrNameLst>
                                          <p:attrName>style.visibility</p:attrName>
                                        </p:attrNameLst>
                                      </p:cBhvr>
                                      <p:to>
                                        <p:strVal val="visible"/>
                                      </p:to>
                                    </p:set>
                                    <p:animEffect transition="in" filter="wipe(left)">
                                      <p:cBhvr>
                                        <p:cTn id="22" dur="500"/>
                                        <p:tgtEl>
                                          <p:spTgt spid="9220">
                                            <p:txEl>
                                              <p:pRg st="3" end="3"/>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9220">
                                            <p:txEl>
                                              <p:pRg st="4" end="4"/>
                                            </p:txEl>
                                          </p:spTgt>
                                        </p:tgtEl>
                                        <p:attrNameLst>
                                          <p:attrName>style.visibility</p:attrName>
                                        </p:attrNameLst>
                                      </p:cBhvr>
                                      <p:to>
                                        <p:strVal val="visible"/>
                                      </p:to>
                                    </p:set>
                                    <p:animEffect transition="in" filter="wipe(left)">
                                      <p:cBhvr>
                                        <p:cTn id="27" dur="500"/>
                                        <p:tgtEl>
                                          <p:spTgt spid="9220">
                                            <p:txEl>
                                              <p:pRg st="4" end="4"/>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1" fill="hold" grpId="0" nodeType="clickEffect">
                                  <p:stCondLst>
                                    <p:cond delay="0"/>
                                  </p:stCondLst>
                                  <p:childTnLst>
                                    <p:set>
                                      <p:cBhvr>
                                        <p:cTn id="31" dur="1" fill="hold">
                                          <p:stCondLst>
                                            <p:cond delay="0"/>
                                          </p:stCondLst>
                                        </p:cTn>
                                        <p:tgtEl>
                                          <p:spTgt spid="9221"/>
                                        </p:tgtEl>
                                        <p:attrNameLst>
                                          <p:attrName>style.visibility</p:attrName>
                                        </p:attrNameLst>
                                      </p:cBhvr>
                                      <p:to>
                                        <p:strVal val="visible"/>
                                      </p:to>
                                    </p:set>
                                    <p:animEffect transition="in" filter="wipe(up)">
                                      <p:cBhvr>
                                        <p:cTn id="32" dur="500"/>
                                        <p:tgtEl>
                                          <p:spTgt spid="9221"/>
                                        </p:tgtEl>
                                      </p:cBhvr>
                                    </p:animEffect>
                                  </p:childTnLst>
                                </p:cTn>
                              </p:par>
                            </p:childTnLst>
                          </p:cTn>
                        </p:par>
                        <p:par>
                          <p:cTn id="33" fill="hold" nodeType="afterGroup">
                            <p:stCondLst>
                              <p:cond delay="500"/>
                            </p:stCondLst>
                            <p:childTnLst>
                              <p:par>
                                <p:cTn id="34" presetID="22" presetClass="entr" presetSubtype="8" fill="hold" grpId="0" nodeType="afterEffect">
                                  <p:stCondLst>
                                    <p:cond delay="0"/>
                                  </p:stCondLst>
                                  <p:childTnLst>
                                    <p:set>
                                      <p:cBhvr>
                                        <p:cTn id="35" dur="1" fill="hold">
                                          <p:stCondLst>
                                            <p:cond delay="0"/>
                                          </p:stCondLst>
                                        </p:cTn>
                                        <p:tgtEl>
                                          <p:spTgt spid="9222"/>
                                        </p:tgtEl>
                                        <p:attrNameLst>
                                          <p:attrName>style.visibility</p:attrName>
                                        </p:attrNameLst>
                                      </p:cBhvr>
                                      <p:to>
                                        <p:strVal val="visible"/>
                                      </p:to>
                                    </p:set>
                                    <p:animEffect transition="in" filter="wipe(left)">
                                      <p:cBhvr>
                                        <p:cTn id="36" dur="500"/>
                                        <p:tgtEl>
                                          <p:spTgt spid="92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220" grpId="0" build="p" autoUpdateAnimBg="0"/>
      <p:bldP spid="9221" grpId="0" animBg="1" autoUpdateAnimBg="0"/>
      <p:bldP spid="9222" grpId="0" autoUpdateAnimBg="0"/>
    </p:bldLst>
  </p:timing>
</p:sld>
</file>

<file path=ppt/slides/slide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1266" name="Rectangle 2"/>
          <p:cNvSpPr>
            <a:spLocks noGrp="1" noChangeArrowheads="1"/>
          </p:cNvSpPr>
          <p:nvPr>
            <p:ph type="title" idx="4294967295"/>
          </p:nvPr>
        </p:nvSpPr>
        <p:spPr>
          <a:xfrm>
            <a:off x="1754983" y="509588"/>
            <a:ext cx="8229600" cy="1171575"/>
          </a:xfrm>
        </p:spPr>
        <p:txBody>
          <a:bodyPr/>
          <a:lstStyle/>
          <a:p>
            <a:pPr algn="ctr" eaLnBrk="1" hangingPunct="1"/>
            <a:r>
              <a:rPr lang="en-US" altLang="zh-CN" dirty="0">
                <a:solidFill>
                  <a:srgbClr val="128828"/>
                </a:solidFill>
                <a:latin typeface="Comic Sans MS" panose="030F0702030302020204" pitchFamily="66" charset="0"/>
                <a:ea typeface="黑体" panose="02010609060101010101" pitchFamily="49" charset="-122"/>
              </a:rPr>
              <a:t>Mamdani </a:t>
            </a:r>
            <a:r>
              <a:rPr lang="zh-CN" altLang="en-US" dirty="0">
                <a:solidFill>
                  <a:srgbClr val="128828"/>
                </a:solidFill>
                <a:latin typeface="Comic Sans MS" panose="030F0702030302020204" pitchFamily="66" charset="0"/>
                <a:ea typeface="黑体" panose="02010609060101010101" pitchFamily="49" charset="-122"/>
              </a:rPr>
              <a:t>模糊模型举例</a:t>
            </a:r>
          </a:p>
        </p:txBody>
      </p:sp>
      <p:sp>
        <p:nvSpPr>
          <p:cNvPr id="11267" name="Rectangle 3"/>
          <p:cNvSpPr>
            <a:spLocks noGrp="1" noChangeArrowheads="1"/>
          </p:cNvSpPr>
          <p:nvPr>
            <p:ph type="body" idx="4294967295"/>
          </p:nvPr>
        </p:nvSpPr>
        <p:spPr>
          <a:xfrm>
            <a:off x="1178721" y="1565274"/>
            <a:ext cx="5637359" cy="2106613"/>
          </a:xfrm>
        </p:spPr>
        <p:txBody>
          <a:bodyPr/>
          <a:lstStyle/>
          <a:p>
            <a:pPr eaLnBrk="1" hangingPunct="1"/>
            <a:r>
              <a:rPr lang="zh-CN" altLang="en-US" dirty="0">
                <a:ea typeface="黑体" panose="02010609060101010101" pitchFamily="49" charset="-122"/>
              </a:rPr>
              <a:t>单输入单输出例子</a:t>
            </a:r>
          </a:p>
          <a:p>
            <a:pPr lvl="1" eaLnBrk="1" hangingPunct="1"/>
            <a:r>
              <a:rPr lang="en-US" altLang="zh-CN" b="1" dirty="0">
                <a:ea typeface="楷体_GB2312" pitchFamily="1" charset="-122"/>
              </a:rPr>
              <a:t>IF </a:t>
            </a:r>
            <a:r>
              <a:rPr lang="en-US" altLang="zh-CN" b="1" u="sng" dirty="0">
                <a:ea typeface="楷体_GB2312" pitchFamily="1" charset="-122"/>
              </a:rPr>
              <a:t>X </a:t>
            </a:r>
            <a:r>
              <a:rPr lang="zh-CN" altLang="en-US" b="1" u="sng" dirty="0">
                <a:ea typeface="楷体_GB2312" pitchFamily="1" charset="-122"/>
              </a:rPr>
              <a:t>小</a:t>
            </a:r>
            <a:r>
              <a:rPr lang="zh-CN" altLang="en-US" b="1" dirty="0">
                <a:ea typeface="楷体_GB2312" pitchFamily="1" charset="-122"/>
              </a:rPr>
              <a:t>  </a:t>
            </a:r>
            <a:r>
              <a:rPr lang="en-US" altLang="zh-CN" b="1" dirty="0">
                <a:ea typeface="楷体_GB2312" pitchFamily="1" charset="-122"/>
              </a:rPr>
              <a:t>THEN </a:t>
            </a:r>
            <a:r>
              <a:rPr lang="en-US" altLang="zh-CN" b="1" u="sng" dirty="0">
                <a:ea typeface="楷体_GB2312" pitchFamily="1" charset="-122"/>
              </a:rPr>
              <a:t>Y </a:t>
            </a:r>
            <a:r>
              <a:rPr lang="zh-CN" altLang="en-US" b="1" u="sng" dirty="0">
                <a:ea typeface="楷体_GB2312" pitchFamily="1" charset="-122"/>
              </a:rPr>
              <a:t>小</a:t>
            </a:r>
            <a:endParaRPr lang="zh-CN" altLang="en-US" b="1" dirty="0">
              <a:ea typeface="楷体_GB2312" pitchFamily="1" charset="-122"/>
            </a:endParaRPr>
          </a:p>
          <a:p>
            <a:pPr lvl="1" eaLnBrk="1" hangingPunct="1"/>
            <a:r>
              <a:rPr lang="en-US" altLang="zh-CN" b="1" dirty="0">
                <a:ea typeface="楷体_GB2312" pitchFamily="1" charset="-122"/>
              </a:rPr>
              <a:t>IF </a:t>
            </a:r>
            <a:r>
              <a:rPr lang="en-US" altLang="zh-CN" b="1" u="sng" dirty="0">
                <a:ea typeface="楷体_GB2312" pitchFamily="1" charset="-122"/>
              </a:rPr>
              <a:t>X </a:t>
            </a:r>
            <a:r>
              <a:rPr lang="zh-CN" altLang="en-US" b="1" u="sng" dirty="0">
                <a:ea typeface="楷体_GB2312" pitchFamily="1" charset="-122"/>
              </a:rPr>
              <a:t>中</a:t>
            </a:r>
            <a:r>
              <a:rPr lang="zh-CN" altLang="en-US" b="1" dirty="0">
                <a:ea typeface="楷体_GB2312" pitchFamily="1" charset="-122"/>
              </a:rPr>
              <a:t>  </a:t>
            </a:r>
            <a:r>
              <a:rPr lang="en-US" altLang="zh-CN" b="1" dirty="0">
                <a:ea typeface="楷体_GB2312" pitchFamily="1" charset="-122"/>
              </a:rPr>
              <a:t>THEN </a:t>
            </a:r>
            <a:r>
              <a:rPr lang="en-US" altLang="zh-CN" b="1" u="sng" dirty="0">
                <a:ea typeface="楷体_GB2312" pitchFamily="1" charset="-122"/>
              </a:rPr>
              <a:t>Y </a:t>
            </a:r>
            <a:r>
              <a:rPr lang="zh-CN" altLang="en-US" b="1" u="sng" dirty="0">
                <a:ea typeface="楷体_GB2312" pitchFamily="1" charset="-122"/>
              </a:rPr>
              <a:t>中</a:t>
            </a:r>
          </a:p>
          <a:p>
            <a:pPr lvl="1" eaLnBrk="1" hangingPunct="1"/>
            <a:r>
              <a:rPr lang="en-US" altLang="zh-CN" b="1" dirty="0">
                <a:ea typeface="楷体_GB2312" pitchFamily="1" charset="-122"/>
              </a:rPr>
              <a:t>IF </a:t>
            </a:r>
            <a:r>
              <a:rPr lang="en-US" altLang="zh-CN" b="1" u="sng" dirty="0">
                <a:ea typeface="楷体_GB2312" pitchFamily="1" charset="-122"/>
              </a:rPr>
              <a:t>X </a:t>
            </a:r>
            <a:r>
              <a:rPr lang="zh-CN" altLang="en-US" b="1" u="sng" dirty="0">
                <a:ea typeface="楷体_GB2312" pitchFamily="1" charset="-122"/>
              </a:rPr>
              <a:t>大</a:t>
            </a:r>
            <a:r>
              <a:rPr lang="zh-CN" altLang="en-US" b="1" dirty="0">
                <a:ea typeface="楷体_GB2312" pitchFamily="1" charset="-122"/>
              </a:rPr>
              <a:t>  </a:t>
            </a:r>
            <a:r>
              <a:rPr lang="en-US" altLang="zh-CN" b="1" dirty="0">
                <a:ea typeface="楷体_GB2312" pitchFamily="1" charset="-122"/>
              </a:rPr>
              <a:t>THEN </a:t>
            </a:r>
            <a:r>
              <a:rPr lang="en-US" altLang="zh-CN" b="1" u="sng" dirty="0">
                <a:ea typeface="楷体_GB2312" pitchFamily="1" charset="-122"/>
              </a:rPr>
              <a:t>Y </a:t>
            </a:r>
            <a:r>
              <a:rPr lang="zh-CN" altLang="en-US" b="1" u="sng" dirty="0">
                <a:ea typeface="楷体_GB2312" pitchFamily="1" charset="-122"/>
              </a:rPr>
              <a:t>大</a:t>
            </a:r>
          </a:p>
          <a:p>
            <a:pPr lvl="1" eaLnBrk="1" hangingPunct="1"/>
            <a:endParaRPr lang="zh-CN" altLang="en-US" b="1" dirty="0">
              <a:ea typeface="楷体_GB2312" pitchFamily="1" charset="-122"/>
            </a:endParaRPr>
          </a:p>
        </p:txBody>
      </p:sp>
      <p:grpSp>
        <p:nvGrpSpPr>
          <p:cNvPr id="11268" name="Group 4"/>
          <p:cNvGrpSpPr>
            <a:grpSpLocks/>
          </p:cNvGrpSpPr>
          <p:nvPr/>
        </p:nvGrpSpPr>
        <p:grpSpPr bwMode="auto">
          <a:xfrm>
            <a:off x="2135188" y="3789363"/>
            <a:ext cx="4248150" cy="1446212"/>
            <a:chOff x="0" y="0"/>
            <a:chExt cx="2676" cy="911"/>
          </a:xfrm>
        </p:grpSpPr>
        <p:sp>
          <p:nvSpPr>
            <p:cNvPr id="11269" name="Rectangle 4"/>
            <p:cNvSpPr>
              <a:spLocks noChangeArrowheads="1"/>
            </p:cNvSpPr>
            <p:nvPr/>
          </p:nvSpPr>
          <p:spPr bwMode="auto">
            <a:xfrm>
              <a:off x="181" y="0"/>
              <a:ext cx="2404" cy="680"/>
            </a:xfrm>
            <a:prstGeom prst="rect">
              <a:avLst/>
            </a:prstGeom>
            <a:noFill/>
            <a:ln w="9525" cmpd="sng">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11270" name="Text Box 5"/>
            <p:cNvSpPr txBox="1">
              <a:spLocks noChangeArrowheads="1"/>
            </p:cNvSpPr>
            <p:nvPr/>
          </p:nvSpPr>
          <p:spPr bwMode="auto">
            <a:xfrm>
              <a:off x="136" y="680"/>
              <a:ext cx="2540"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a:t>-10     -6     -3       0      3        6       10</a:t>
              </a:r>
            </a:p>
          </p:txBody>
        </p:sp>
        <p:sp>
          <p:nvSpPr>
            <p:cNvPr id="11271" name="Text Box 6"/>
            <p:cNvSpPr txBox="1">
              <a:spLocks noChangeArrowheads="1"/>
            </p:cNvSpPr>
            <p:nvPr/>
          </p:nvSpPr>
          <p:spPr bwMode="auto">
            <a:xfrm>
              <a:off x="0" y="0"/>
              <a:ext cx="182"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a:t>1</a:t>
              </a:r>
            </a:p>
          </p:txBody>
        </p:sp>
        <p:sp>
          <p:nvSpPr>
            <p:cNvPr id="11272" name="Line 7"/>
            <p:cNvSpPr>
              <a:spLocks noChangeShapeType="1"/>
            </p:cNvSpPr>
            <p:nvPr/>
          </p:nvSpPr>
          <p:spPr bwMode="auto">
            <a:xfrm>
              <a:off x="181" y="136"/>
              <a:ext cx="545" cy="0"/>
            </a:xfrm>
            <a:prstGeom prst="line">
              <a:avLst/>
            </a:prstGeom>
            <a:noFill/>
            <a:ln w="28575" cmpd="sng">
              <a:solidFill>
                <a:srgbClr val="0000FE"/>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273" name="Line 8"/>
            <p:cNvSpPr>
              <a:spLocks noChangeShapeType="1"/>
            </p:cNvSpPr>
            <p:nvPr/>
          </p:nvSpPr>
          <p:spPr bwMode="auto">
            <a:xfrm>
              <a:off x="2041" y="136"/>
              <a:ext cx="545" cy="0"/>
            </a:xfrm>
            <a:prstGeom prst="line">
              <a:avLst/>
            </a:prstGeom>
            <a:noFill/>
            <a:ln w="19050" cmpd="sng">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274" name="Line 9"/>
            <p:cNvSpPr>
              <a:spLocks noChangeShapeType="1"/>
            </p:cNvSpPr>
            <p:nvPr/>
          </p:nvSpPr>
          <p:spPr bwMode="auto">
            <a:xfrm>
              <a:off x="726" y="136"/>
              <a:ext cx="272" cy="544"/>
            </a:xfrm>
            <a:prstGeom prst="line">
              <a:avLst/>
            </a:prstGeom>
            <a:noFill/>
            <a:ln w="19050" cmpd="sng">
              <a:solidFill>
                <a:srgbClr val="0000FE"/>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275" name="Line 10"/>
            <p:cNvSpPr>
              <a:spLocks noChangeShapeType="1"/>
            </p:cNvSpPr>
            <p:nvPr/>
          </p:nvSpPr>
          <p:spPr bwMode="auto">
            <a:xfrm flipH="1">
              <a:off x="1678" y="136"/>
              <a:ext cx="363" cy="544"/>
            </a:xfrm>
            <a:prstGeom prst="line">
              <a:avLst/>
            </a:prstGeom>
            <a:noFill/>
            <a:ln w="19050" cmpd="sng">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276" name="Line 11"/>
            <p:cNvSpPr>
              <a:spLocks noChangeShapeType="1"/>
            </p:cNvSpPr>
            <p:nvPr/>
          </p:nvSpPr>
          <p:spPr bwMode="auto">
            <a:xfrm>
              <a:off x="1043" y="136"/>
              <a:ext cx="635" cy="0"/>
            </a:xfrm>
            <a:prstGeom prst="line">
              <a:avLst/>
            </a:prstGeom>
            <a:noFill/>
            <a:ln w="19050" cmpd="sng">
              <a:solidFill>
                <a:srgbClr val="008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277" name="Line 12"/>
            <p:cNvSpPr>
              <a:spLocks noChangeShapeType="1"/>
            </p:cNvSpPr>
            <p:nvPr/>
          </p:nvSpPr>
          <p:spPr bwMode="auto">
            <a:xfrm>
              <a:off x="1678" y="136"/>
              <a:ext cx="408" cy="544"/>
            </a:xfrm>
            <a:prstGeom prst="line">
              <a:avLst/>
            </a:prstGeom>
            <a:noFill/>
            <a:ln w="19050" cmpd="sng">
              <a:solidFill>
                <a:srgbClr val="008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278" name="Line 13"/>
            <p:cNvSpPr>
              <a:spLocks noChangeShapeType="1"/>
            </p:cNvSpPr>
            <p:nvPr/>
          </p:nvSpPr>
          <p:spPr bwMode="auto">
            <a:xfrm flipH="1">
              <a:off x="635" y="136"/>
              <a:ext cx="408" cy="544"/>
            </a:xfrm>
            <a:prstGeom prst="line">
              <a:avLst/>
            </a:prstGeom>
            <a:noFill/>
            <a:ln w="19050" cmpd="sng">
              <a:solidFill>
                <a:srgbClr val="008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279" name="Text Box 14"/>
            <p:cNvSpPr txBox="1">
              <a:spLocks noChangeArrowheads="1"/>
            </p:cNvSpPr>
            <p:nvPr/>
          </p:nvSpPr>
          <p:spPr bwMode="auto">
            <a:xfrm>
              <a:off x="317" y="136"/>
              <a:ext cx="227"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a:t>小</a:t>
              </a:r>
            </a:p>
          </p:txBody>
        </p:sp>
        <p:sp>
          <p:nvSpPr>
            <p:cNvPr id="11280" name="Text Box 15"/>
            <p:cNvSpPr txBox="1">
              <a:spLocks noChangeArrowheads="1"/>
            </p:cNvSpPr>
            <p:nvPr/>
          </p:nvSpPr>
          <p:spPr bwMode="auto">
            <a:xfrm>
              <a:off x="1225" y="136"/>
              <a:ext cx="227"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a:t>中</a:t>
              </a:r>
            </a:p>
          </p:txBody>
        </p:sp>
        <p:sp>
          <p:nvSpPr>
            <p:cNvPr id="11281" name="Text Box 16"/>
            <p:cNvSpPr txBox="1">
              <a:spLocks noChangeArrowheads="1"/>
            </p:cNvSpPr>
            <p:nvPr/>
          </p:nvSpPr>
          <p:spPr bwMode="auto">
            <a:xfrm>
              <a:off x="2177" y="136"/>
              <a:ext cx="227"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a:t>大</a:t>
              </a:r>
            </a:p>
          </p:txBody>
        </p:sp>
      </p:grpSp>
      <p:sp>
        <p:nvSpPr>
          <p:cNvPr id="11282" name="Text Box 32"/>
          <p:cNvSpPr txBox="1">
            <a:spLocks noChangeArrowheads="1"/>
          </p:cNvSpPr>
          <p:nvPr/>
        </p:nvSpPr>
        <p:spPr bwMode="auto">
          <a:xfrm>
            <a:off x="1703388" y="4149726"/>
            <a:ext cx="360362"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a:t>X</a:t>
            </a:r>
          </a:p>
        </p:txBody>
      </p:sp>
      <p:grpSp>
        <p:nvGrpSpPr>
          <p:cNvPr id="11283" name="Group 19"/>
          <p:cNvGrpSpPr>
            <a:grpSpLocks/>
          </p:cNvGrpSpPr>
          <p:nvPr/>
        </p:nvGrpSpPr>
        <p:grpSpPr bwMode="auto">
          <a:xfrm>
            <a:off x="1703388" y="5411788"/>
            <a:ext cx="4752976" cy="1446212"/>
            <a:chOff x="-91" y="0"/>
            <a:chExt cx="2994" cy="911"/>
          </a:xfrm>
        </p:grpSpPr>
        <p:sp>
          <p:nvSpPr>
            <p:cNvPr id="11284" name="Rectangle 19"/>
            <p:cNvSpPr>
              <a:spLocks noChangeArrowheads="1"/>
            </p:cNvSpPr>
            <p:nvPr/>
          </p:nvSpPr>
          <p:spPr bwMode="auto">
            <a:xfrm>
              <a:off x="362" y="0"/>
              <a:ext cx="2404" cy="680"/>
            </a:xfrm>
            <a:prstGeom prst="rect">
              <a:avLst/>
            </a:prstGeom>
            <a:noFill/>
            <a:ln w="9525" cmpd="sng">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11285" name="Text Box 20"/>
            <p:cNvSpPr txBox="1">
              <a:spLocks noChangeArrowheads="1"/>
            </p:cNvSpPr>
            <p:nvPr/>
          </p:nvSpPr>
          <p:spPr bwMode="auto">
            <a:xfrm>
              <a:off x="272" y="680"/>
              <a:ext cx="2631"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a:t>0   1   2    3    4    5    6    7    8    9   10</a:t>
              </a:r>
            </a:p>
          </p:txBody>
        </p:sp>
        <p:sp>
          <p:nvSpPr>
            <p:cNvPr id="11286" name="Text Box 21"/>
            <p:cNvSpPr txBox="1">
              <a:spLocks noChangeArrowheads="1"/>
            </p:cNvSpPr>
            <p:nvPr/>
          </p:nvSpPr>
          <p:spPr bwMode="auto">
            <a:xfrm>
              <a:off x="181" y="0"/>
              <a:ext cx="182"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a:t>1</a:t>
              </a:r>
            </a:p>
          </p:txBody>
        </p:sp>
        <p:sp>
          <p:nvSpPr>
            <p:cNvPr id="11287" name="Line 28"/>
            <p:cNvSpPr>
              <a:spLocks noChangeShapeType="1"/>
            </p:cNvSpPr>
            <p:nvPr/>
          </p:nvSpPr>
          <p:spPr bwMode="auto">
            <a:xfrm flipH="1">
              <a:off x="680" y="157"/>
              <a:ext cx="363" cy="544"/>
            </a:xfrm>
            <a:prstGeom prst="line">
              <a:avLst/>
            </a:prstGeom>
            <a:noFill/>
            <a:ln w="19050" cmpd="sng">
              <a:solidFill>
                <a:srgbClr val="008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288" name="Text Box 29"/>
            <p:cNvSpPr txBox="1">
              <a:spLocks noChangeArrowheads="1"/>
            </p:cNvSpPr>
            <p:nvPr/>
          </p:nvSpPr>
          <p:spPr bwMode="auto">
            <a:xfrm>
              <a:off x="408" y="203"/>
              <a:ext cx="227"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a:t>小</a:t>
              </a:r>
            </a:p>
          </p:txBody>
        </p:sp>
        <p:sp>
          <p:nvSpPr>
            <p:cNvPr id="11289" name="Text Box 30"/>
            <p:cNvSpPr txBox="1">
              <a:spLocks noChangeArrowheads="1"/>
            </p:cNvSpPr>
            <p:nvPr/>
          </p:nvSpPr>
          <p:spPr bwMode="auto">
            <a:xfrm>
              <a:off x="1134" y="203"/>
              <a:ext cx="227"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a:t>中</a:t>
              </a:r>
            </a:p>
          </p:txBody>
        </p:sp>
        <p:sp>
          <p:nvSpPr>
            <p:cNvPr id="11290" name="Text Box 31"/>
            <p:cNvSpPr txBox="1">
              <a:spLocks noChangeArrowheads="1"/>
            </p:cNvSpPr>
            <p:nvPr/>
          </p:nvSpPr>
          <p:spPr bwMode="auto">
            <a:xfrm>
              <a:off x="2358" y="136"/>
              <a:ext cx="227"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a:t>大</a:t>
              </a:r>
            </a:p>
          </p:txBody>
        </p:sp>
        <p:sp>
          <p:nvSpPr>
            <p:cNvPr id="11291" name="Text Box 33"/>
            <p:cNvSpPr txBox="1">
              <a:spLocks noChangeArrowheads="1"/>
            </p:cNvSpPr>
            <p:nvPr/>
          </p:nvSpPr>
          <p:spPr bwMode="auto">
            <a:xfrm>
              <a:off x="-91" y="203"/>
              <a:ext cx="227"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dirty="0"/>
                <a:t>Y</a:t>
              </a:r>
            </a:p>
          </p:txBody>
        </p:sp>
        <p:sp>
          <p:nvSpPr>
            <p:cNvPr id="11292" name="Line 34"/>
            <p:cNvSpPr>
              <a:spLocks noChangeShapeType="1"/>
            </p:cNvSpPr>
            <p:nvPr/>
          </p:nvSpPr>
          <p:spPr bwMode="auto">
            <a:xfrm>
              <a:off x="363" y="157"/>
              <a:ext cx="317" cy="0"/>
            </a:xfrm>
            <a:prstGeom prst="line">
              <a:avLst/>
            </a:prstGeom>
            <a:noFill/>
            <a:ln w="19050" cmpd="sng">
              <a:solidFill>
                <a:srgbClr val="0000FE"/>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293" name="Line 35"/>
            <p:cNvSpPr>
              <a:spLocks noChangeShapeType="1"/>
            </p:cNvSpPr>
            <p:nvPr/>
          </p:nvSpPr>
          <p:spPr bwMode="auto">
            <a:xfrm>
              <a:off x="680" y="157"/>
              <a:ext cx="227" cy="544"/>
            </a:xfrm>
            <a:prstGeom prst="line">
              <a:avLst/>
            </a:prstGeom>
            <a:noFill/>
            <a:ln w="19050" cmpd="sng">
              <a:solidFill>
                <a:srgbClr val="0000FE"/>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294" name="Line 36"/>
            <p:cNvSpPr>
              <a:spLocks noChangeShapeType="1"/>
            </p:cNvSpPr>
            <p:nvPr/>
          </p:nvSpPr>
          <p:spPr bwMode="auto">
            <a:xfrm>
              <a:off x="1043" y="157"/>
              <a:ext cx="454" cy="0"/>
            </a:xfrm>
            <a:prstGeom prst="line">
              <a:avLst/>
            </a:prstGeom>
            <a:noFill/>
            <a:ln w="19050" cmpd="sng">
              <a:solidFill>
                <a:srgbClr val="008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295" name="Line 38"/>
            <p:cNvSpPr>
              <a:spLocks noChangeShapeType="1"/>
            </p:cNvSpPr>
            <p:nvPr/>
          </p:nvSpPr>
          <p:spPr bwMode="auto">
            <a:xfrm>
              <a:off x="1497" y="157"/>
              <a:ext cx="453" cy="499"/>
            </a:xfrm>
            <a:prstGeom prst="line">
              <a:avLst/>
            </a:prstGeom>
            <a:noFill/>
            <a:ln w="19050" cmpd="sng">
              <a:solidFill>
                <a:srgbClr val="008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296" name="Line 39"/>
            <p:cNvSpPr>
              <a:spLocks noChangeShapeType="1"/>
            </p:cNvSpPr>
            <p:nvPr/>
          </p:nvSpPr>
          <p:spPr bwMode="auto">
            <a:xfrm flipV="1">
              <a:off x="1497" y="157"/>
              <a:ext cx="499" cy="544"/>
            </a:xfrm>
            <a:prstGeom prst="line">
              <a:avLst/>
            </a:prstGeom>
            <a:noFill/>
            <a:ln w="19050" cmpd="sng">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297" name="Line 40"/>
            <p:cNvSpPr>
              <a:spLocks noChangeShapeType="1"/>
            </p:cNvSpPr>
            <p:nvPr/>
          </p:nvSpPr>
          <p:spPr bwMode="auto">
            <a:xfrm>
              <a:off x="1996" y="157"/>
              <a:ext cx="771" cy="0"/>
            </a:xfrm>
            <a:prstGeom prst="line">
              <a:avLst/>
            </a:prstGeom>
            <a:noFill/>
            <a:ln w="19050" cmpd="sng">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11298" name="Group 34"/>
          <p:cNvGrpSpPr>
            <a:grpSpLocks/>
          </p:cNvGrpSpPr>
          <p:nvPr/>
        </p:nvGrpSpPr>
        <p:grpSpPr bwMode="auto">
          <a:xfrm>
            <a:off x="7580750" y="3068638"/>
            <a:ext cx="4067175" cy="3789362"/>
            <a:chOff x="0" y="0"/>
            <a:chExt cx="2562" cy="2387"/>
          </a:xfrm>
        </p:grpSpPr>
        <p:sp>
          <p:nvSpPr>
            <p:cNvPr id="11299" name="Rectangle 41"/>
            <p:cNvSpPr>
              <a:spLocks noChangeArrowheads="1"/>
            </p:cNvSpPr>
            <p:nvPr/>
          </p:nvSpPr>
          <p:spPr bwMode="auto">
            <a:xfrm>
              <a:off x="227" y="0"/>
              <a:ext cx="2222" cy="2132"/>
            </a:xfrm>
            <a:prstGeom prst="rect">
              <a:avLst/>
            </a:prstGeom>
            <a:noFill/>
            <a:ln w="9525" cmpd="sng">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11300" name="Text Box 44"/>
            <p:cNvSpPr txBox="1">
              <a:spLocks noChangeArrowheads="1"/>
            </p:cNvSpPr>
            <p:nvPr/>
          </p:nvSpPr>
          <p:spPr bwMode="auto">
            <a:xfrm>
              <a:off x="0" y="2156"/>
              <a:ext cx="2562"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a:t>-10   -8   -6  -4 -2    0    2   4   6   8   10</a:t>
              </a:r>
            </a:p>
          </p:txBody>
        </p:sp>
        <p:sp>
          <p:nvSpPr>
            <p:cNvPr id="11301" name="Text Box 45"/>
            <p:cNvSpPr txBox="1">
              <a:spLocks noChangeArrowheads="1"/>
            </p:cNvSpPr>
            <p:nvPr/>
          </p:nvSpPr>
          <p:spPr bwMode="auto">
            <a:xfrm>
              <a:off x="0" y="0"/>
              <a:ext cx="363" cy="22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sz="1400" b="1"/>
                <a:t>10</a:t>
              </a:r>
            </a:p>
            <a:p>
              <a:pPr eaLnBrk="1" hangingPunct="1">
                <a:spcBef>
                  <a:spcPct val="50000"/>
                </a:spcBef>
              </a:pPr>
              <a:r>
                <a:rPr lang="en-US" altLang="zh-CN" sz="1400" b="1"/>
                <a:t>9</a:t>
              </a:r>
            </a:p>
            <a:p>
              <a:pPr eaLnBrk="1" hangingPunct="1">
                <a:spcBef>
                  <a:spcPct val="50000"/>
                </a:spcBef>
              </a:pPr>
              <a:r>
                <a:rPr lang="en-US" altLang="zh-CN" sz="1400" b="1"/>
                <a:t>8</a:t>
              </a:r>
            </a:p>
            <a:p>
              <a:pPr eaLnBrk="1" hangingPunct="1">
                <a:spcBef>
                  <a:spcPct val="50000"/>
                </a:spcBef>
              </a:pPr>
              <a:r>
                <a:rPr lang="en-US" altLang="zh-CN" sz="1400" b="1"/>
                <a:t>7</a:t>
              </a:r>
            </a:p>
            <a:p>
              <a:pPr eaLnBrk="1" hangingPunct="1">
                <a:spcBef>
                  <a:spcPct val="50000"/>
                </a:spcBef>
              </a:pPr>
              <a:r>
                <a:rPr lang="en-US" altLang="zh-CN" sz="1400" b="1"/>
                <a:t>6</a:t>
              </a:r>
            </a:p>
            <a:p>
              <a:pPr eaLnBrk="1" hangingPunct="1">
                <a:spcBef>
                  <a:spcPct val="50000"/>
                </a:spcBef>
              </a:pPr>
              <a:r>
                <a:rPr lang="en-US" altLang="zh-CN" sz="1400" b="1"/>
                <a:t>5</a:t>
              </a:r>
            </a:p>
            <a:p>
              <a:pPr eaLnBrk="1" hangingPunct="1">
                <a:spcBef>
                  <a:spcPct val="50000"/>
                </a:spcBef>
              </a:pPr>
              <a:r>
                <a:rPr lang="en-US" altLang="zh-CN" sz="1400" b="1"/>
                <a:t>4</a:t>
              </a:r>
            </a:p>
            <a:p>
              <a:pPr eaLnBrk="1" hangingPunct="1">
                <a:spcBef>
                  <a:spcPct val="50000"/>
                </a:spcBef>
              </a:pPr>
              <a:r>
                <a:rPr lang="en-US" altLang="zh-CN" sz="1400" b="1"/>
                <a:t>3</a:t>
              </a:r>
            </a:p>
            <a:p>
              <a:pPr eaLnBrk="1" hangingPunct="1">
                <a:spcBef>
                  <a:spcPct val="50000"/>
                </a:spcBef>
              </a:pPr>
              <a:r>
                <a:rPr lang="en-US" altLang="zh-CN" sz="1400" b="1"/>
                <a:t>2</a:t>
              </a:r>
            </a:p>
            <a:p>
              <a:pPr eaLnBrk="1" hangingPunct="1">
                <a:spcBef>
                  <a:spcPct val="50000"/>
                </a:spcBef>
              </a:pPr>
              <a:r>
                <a:rPr lang="en-US" altLang="zh-CN" sz="1400" b="1"/>
                <a:t>1</a:t>
              </a:r>
            </a:p>
            <a:p>
              <a:pPr eaLnBrk="1" hangingPunct="1">
                <a:spcBef>
                  <a:spcPct val="50000"/>
                </a:spcBef>
              </a:pPr>
              <a:r>
                <a:rPr lang="en-US" altLang="zh-CN" sz="1400" b="1"/>
                <a:t>0</a:t>
              </a:r>
            </a:p>
          </p:txBody>
        </p:sp>
        <p:sp>
          <p:nvSpPr>
            <p:cNvPr id="11302" name="Line 46"/>
            <p:cNvSpPr>
              <a:spLocks noChangeShapeType="1"/>
            </p:cNvSpPr>
            <p:nvPr/>
          </p:nvSpPr>
          <p:spPr bwMode="auto">
            <a:xfrm>
              <a:off x="227" y="1905"/>
              <a:ext cx="453" cy="0"/>
            </a:xfrm>
            <a:prstGeom prst="line">
              <a:avLst/>
            </a:prstGeom>
            <a:noFill/>
            <a:ln w="38100" cmpd="sng">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303" name="Line 47"/>
            <p:cNvSpPr>
              <a:spLocks noChangeShapeType="1"/>
            </p:cNvSpPr>
            <p:nvPr/>
          </p:nvSpPr>
          <p:spPr bwMode="auto">
            <a:xfrm>
              <a:off x="998" y="1316"/>
              <a:ext cx="725" cy="0"/>
            </a:xfrm>
            <a:prstGeom prst="line">
              <a:avLst/>
            </a:prstGeom>
            <a:noFill/>
            <a:ln w="38100" cmpd="sng">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304" name="Line 48"/>
            <p:cNvSpPr>
              <a:spLocks noChangeShapeType="1"/>
            </p:cNvSpPr>
            <p:nvPr/>
          </p:nvSpPr>
          <p:spPr bwMode="auto">
            <a:xfrm>
              <a:off x="1996" y="499"/>
              <a:ext cx="453" cy="0"/>
            </a:xfrm>
            <a:prstGeom prst="line">
              <a:avLst/>
            </a:prstGeom>
            <a:noFill/>
            <a:ln w="38100" cmpd="sng">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305" name="Line 49"/>
            <p:cNvSpPr>
              <a:spLocks noChangeShapeType="1"/>
            </p:cNvSpPr>
            <p:nvPr/>
          </p:nvSpPr>
          <p:spPr bwMode="auto">
            <a:xfrm flipH="1">
              <a:off x="1723" y="499"/>
              <a:ext cx="273" cy="817"/>
            </a:xfrm>
            <a:prstGeom prst="line">
              <a:avLst/>
            </a:prstGeom>
            <a:noFill/>
            <a:ln w="38100" cmpd="sng">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306" name="Freeform 50"/>
            <p:cNvSpPr>
              <a:spLocks/>
            </p:cNvSpPr>
            <p:nvPr/>
          </p:nvSpPr>
          <p:spPr bwMode="auto">
            <a:xfrm>
              <a:off x="680" y="1316"/>
              <a:ext cx="318" cy="589"/>
            </a:xfrm>
            <a:custGeom>
              <a:avLst/>
              <a:gdLst>
                <a:gd name="T0" fmla="*/ 0 w 318"/>
                <a:gd name="T1" fmla="*/ 589 h 589"/>
                <a:gd name="T2" fmla="*/ 91 w 318"/>
                <a:gd name="T3" fmla="*/ 272 h 589"/>
                <a:gd name="T4" fmla="*/ 318 w 318"/>
                <a:gd name="T5" fmla="*/ 0 h 589"/>
              </a:gdLst>
              <a:ahLst/>
              <a:cxnLst>
                <a:cxn ang="0">
                  <a:pos x="T0" y="T1"/>
                </a:cxn>
                <a:cxn ang="0">
                  <a:pos x="T2" y="T3"/>
                </a:cxn>
                <a:cxn ang="0">
                  <a:pos x="T4" y="T5"/>
                </a:cxn>
              </a:cxnLst>
              <a:rect l="0" t="0" r="r" b="b"/>
              <a:pathLst>
                <a:path w="318" h="589">
                  <a:moveTo>
                    <a:pt x="0" y="589"/>
                  </a:moveTo>
                  <a:cubicBezTo>
                    <a:pt x="19" y="479"/>
                    <a:pt x="38" y="370"/>
                    <a:pt x="91" y="272"/>
                  </a:cubicBezTo>
                  <a:cubicBezTo>
                    <a:pt x="144" y="174"/>
                    <a:pt x="280" y="45"/>
                    <a:pt x="318" y="0"/>
                  </a:cubicBezTo>
                </a:path>
              </a:pathLst>
            </a:custGeom>
            <a:noFill/>
            <a:ln w="38100" cmpd="sng">
              <a:solidFill>
                <a:srgbClr val="FF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2" name="灯片编号占位符 1">
            <a:extLst>
              <a:ext uri="{FF2B5EF4-FFF2-40B4-BE49-F238E27FC236}">
                <a16:creationId xmlns:a16="http://schemas.microsoft.com/office/drawing/2014/main" id="{55CE5CE1-2D57-6375-195C-326594EE985B}"/>
              </a:ext>
            </a:extLst>
          </p:cNvPr>
          <p:cNvSpPr>
            <a:spLocks noGrp="1"/>
          </p:cNvSpPr>
          <p:nvPr>
            <p:ph type="sldNum" sz="quarter" idx="11"/>
          </p:nvPr>
        </p:nvSpPr>
        <p:spPr/>
        <p:txBody>
          <a:bodyPr/>
          <a:lstStyle/>
          <a:p>
            <a:pPr>
              <a:defRPr/>
            </a:pPr>
            <a:fld id="{B77A47BA-BA63-4780-94A9-8AFA2EA4438D}" type="slidenum">
              <a:rPr lang="en-US" altLang="zh-CN" smtClean="0"/>
              <a:pPr>
                <a:defRPr/>
              </a:pPr>
              <a:t>8</a:t>
            </a:fld>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11267">
                                            <p:txEl>
                                              <p:pRg st="0" end="0"/>
                                            </p:txEl>
                                          </p:spTgt>
                                        </p:tgtEl>
                                        <p:attrNameLst>
                                          <p:attrName>style.visibility</p:attrName>
                                        </p:attrNameLst>
                                      </p:cBhvr>
                                      <p:to>
                                        <p:strVal val="visible"/>
                                      </p:to>
                                    </p:set>
                                    <p:animEffect transition="in" filter="wipe(up)">
                                      <p:cBhvr>
                                        <p:cTn id="7" dur="500"/>
                                        <p:tgtEl>
                                          <p:spTgt spid="11267">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11267">
                                            <p:txEl>
                                              <p:pRg st="1" end="1"/>
                                            </p:txEl>
                                          </p:spTgt>
                                        </p:tgtEl>
                                        <p:attrNameLst>
                                          <p:attrName>style.visibility</p:attrName>
                                        </p:attrNameLst>
                                      </p:cBhvr>
                                      <p:to>
                                        <p:strVal val="visible"/>
                                      </p:to>
                                    </p:set>
                                    <p:animEffect transition="in" filter="wipe(up)">
                                      <p:cBhvr>
                                        <p:cTn id="12" dur="500"/>
                                        <p:tgtEl>
                                          <p:spTgt spid="11267">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11267">
                                            <p:txEl>
                                              <p:pRg st="2" end="2"/>
                                            </p:txEl>
                                          </p:spTgt>
                                        </p:tgtEl>
                                        <p:attrNameLst>
                                          <p:attrName>style.visibility</p:attrName>
                                        </p:attrNameLst>
                                      </p:cBhvr>
                                      <p:to>
                                        <p:strVal val="visible"/>
                                      </p:to>
                                    </p:set>
                                    <p:animEffect transition="in" filter="wipe(up)">
                                      <p:cBhvr>
                                        <p:cTn id="17" dur="500"/>
                                        <p:tgtEl>
                                          <p:spTgt spid="11267">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1" fill="hold" grpId="0" nodeType="clickEffect">
                                  <p:stCondLst>
                                    <p:cond delay="0"/>
                                  </p:stCondLst>
                                  <p:childTnLst>
                                    <p:set>
                                      <p:cBhvr>
                                        <p:cTn id="21" dur="1" fill="hold">
                                          <p:stCondLst>
                                            <p:cond delay="0"/>
                                          </p:stCondLst>
                                        </p:cTn>
                                        <p:tgtEl>
                                          <p:spTgt spid="11267">
                                            <p:txEl>
                                              <p:pRg st="3" end="3"/>
                                            </p:txEl>
                                          </p:spTgt>
                                        </p:tgtEl>
                                        <p:attrNameLst>
                                          <p:attrName>style.visibility</p:attrName>
                                        </p:attrNameLst>
                                      </p:cBhvr>
                                      <p:to>
                                        <p:strVal val="visible"/>
                                      </p:to>
                                    </p:set>
                                    <p:animEffect transition="in" filter="wipe(up)">
                                      <p:cBhvr>
                                        <p:cTn id="22" dur="500"/>
                                        <p:tgtEl>
                                          <p:spTgt spid="11267">
                                            <p:txEl>
                                              <p:pRg st="3" end="3"/>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1" fill="hold" nodeType="clickEffect">
                                  <p:stCondLst>
                                    <p:cond delay="0"/>
                                  </p:stCondLst>
                                  <p:childTnLst>
                                    <p:set>
                                      <p:cBhvr>
                                        <p:cTn id="26" dur="1" fill="hold">
                                          <p:stCondLst>
                                            <p:cond delay="0"/>
                                          </p:stCondLst>
                                        </p:cTn>
                                        <p:tgtEl>
                                          <p:spTgt spid="11268"/>
                                        </p:tgtEl>
                                        <p:attrNameLst>
                                          <p:attrName>style.visibility</p:attrName>
                                        </p:attrNameLst>
                                      </p:cBhvr>
                                      <p:to>
                                        <p:strVal val="visible"/>
                                      </p:to>
                                    </p:set>
                                    <p:animEffect transition="in" filter="wipe(up)">
                                      <p:cBhvr>
                                        <p:cTn id="27" dur="500"/>
                                        <p:tgtEl>
                                          <p:spTgt spid="11268"/>
                                        </p:tgtEl>
                                      </p:cBhvr>
                                    </p:animEffect>
                                  </p:childTnLst>
                                </p:cTn>
                              </p:par>
                              <p:par>
                                <p:cTn id="28" presetID="22" presetClass="entr" presetSubtype="1" fill="hold" grpId="0" nodeType="withEffect">
                                  <p:stCondLst>
                                    <p:cond delay="0"/>
                                  </p:stCondLst>
                                  <p:childTnLst>
                                    <p:set>
                                      <p:cBhvr>
                                        <p:cTn id="29" dur="1" fill="hold">
                                          <p:stCondLst>
                                            <p:cond delay="0"/>
                                          </p:stCondLst>
                                        </p:cTn>
                                        <p:tgtEl>
                                          <p:spTgt spid="11282"/>
                                        </p:tgtEl>
                                        <p:attrNameLst>
                                          <p:attrName>style.visibility</p:attrName>
                                        </p:attrNameLst>
                                      </p:cBhvr>
                                      <p:to>
                                        <p:strVal val="visible"/>
                                      </p:to>
                                    </p:set>
                                    <p:animEffect transition="in" filter="wipe(up)">
                                      <p:cBhvr>
                                        <p:cTn id="30" dur="500"/>
                                        <p:tgtEl>
                                          <p:spTgt spid="11282"/>
                                        </p:tgtEl>
                                      </p:cBhvr>
                                    </p:animEffect>
                                  </p:childTnLst>
                                </p:cTn>
                              </p:par>
                            </p:childTnLst>
                          </p:cTn>
                        </p:par>
                      </p:childTnLst>
                    </p:cTn>
                  </p:par>
                  <p:par>
                    <p:cTn id="31" fill="hold" nodeType="clickPar">
                      <p:stCondLst>
                        <p:cond delay="indefinite"/>
                      </p:stCondLst>
                      <p:childTnLst>
                        <p:par>
                          <p:cTn id="32" fill="hold" nodeType="withGroup">
                            <p:stCondLst>
                              <p:cond delay="0"/>
                            </p:stCondLst>
                            <p:childTnLst>
                              <p:par>
                                <p:cTn id="33" presetID="22" presetClass="entr" presetSubtype="1" fill="hold" nodeType="clickEffect">
                                  <p:stCondLst>
                                    <p:cond delay="0"/>
                                  </p:stCondLst>
                                  <p:childTnLst>
                                    <p:set>
                                      <p:cBhvr>
                                        <p:cTn id="34" dur="1" fill="hold">
                                          <p:stCondLst>
                                            <p:cond delay="0"/>
                                          </p:stCondLst>
                                        </p:cTn>
                                        <p:tgtEl>
                                          <p:spTgt spid="11283"/>
                                        </p:tgtEl>
                                        <p:attrNameLst>
                                          <p:attrName>style.visibility</p:attrName>
                                        </p:attrNameLst>
                                      </p:cBhvr>
                                      <p:to>
                                        <p:strVal val="visible"/>
                                      </p:to>
                                    </p:set>
                                    <p:animEffect transition="in" filter="wipe(up)">
                                      <p:cBhvr>
                                        <p:cTn id="35" dur="500"/>
                                        <p:tgtEl>
                                          <p:spTgt spid="11283"/>
                                        </p:tgtEl>
                                      </p:cBhvr>
                                    </p:animEffect>
                                  </p:childTnLst>
                                </p:cTn>
                              </p:par>
                            </p:childTnLst>
                          </p:cTn>
                        </p:par>
                      </p:childTnLst>
                    </p:cTn>
                  </p:par>
                  <p:par>
                    <p:cTn id="36" fill="hold" nodeType="clickPar">
                      <p:stCondLst>
                        <p:cond delay="indefinite"/>
                      </p:stCondLst>
                      <p:childTnLst>
                        <p:par>
                          <p:cTn id="37" fill="hold" nodeType="withGroup">
                            <p:stCondLst>
                              <p:cond delay="0"/>
                            </p:stCondLst>
                            <p:childTnLst>
                              <p:par>
                                <p:cTn id="38" presetID="22" presetClass="entr" presetSubtype="1" fill="hold" nodeType="clickEffect">
                                  <p:stCondLst>
                                    <p:cond delay="0"/>
                                  </p:stCondLst>
                                  <p:childTnLst>
                                    <p:set>
                                      <p:cBhvr>
                                        <p:cTn id="39" dur="1" fill="hold">
                                          <p:stCondLst>
                                            <p:cond delay="0"/>
                                          </p:stCondLst>
                                        </p:cTn>
                                        <p:tgtEl>
                                          <p:spTgt spid="11298"/>
                                        </p:tgtEl>
                                        <p:attrNameLst>
                                          <p:attrName>style.visibility</p:attrName>
                                        </p:attrNameLst>
                                      </p:cBhvr>
                                      <p:to>
                                        <p:strVal val="visible"/>
                                      </p:to>
                                    </p:set>
                                    <p:animEffect transition="in" filter="wipe(up)">
                                      <p:cBhvr>
                                        <p:cTn id="40" dur="500"/>
                                        <p:tgtEl>
                                          <p:spTgt spid="1129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267" grpId="0" build="p" autoUpdateAnimBg="0"/>
      <p:bldP spid="11282" grpId="0" autoUpdateAnimBg="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p:cNvSpPr>
            <a:spLocks noGrp="1" noChangeArrowheads="1"/>
          </p:cNvSpPr>
          <p:nvPr>
            <p:ph type="title" idx="4294967295"/>
          </p:nvPr>
        </p:nvSpPr>
        <p:spPr>
          <a:xfrm>
            <a:off x="0" y="332656"/>
            <a:ext cx="10972800" cy="1371600"/>
          </a:xfrm>
        </p:spPr>
        <p:txBody>
          <a:bodyPr/>
          <a:lstStyle/>
          <a:p>
            <a:pPr algn="ctr" eaLnBrk="1" hangingPunct="1"/>
            <a:r>
              <a:rPr lang="en-US" altLang="zh-CN" dirty="0">
                <a:solidFill>
                  <a:srgbClr val="128828"/>
                </a:solidFill>
                <a:latin typeface="Comic Sans MS" panose="030F0702030302020204" pitchFamily="66" charset="0"/>
                <a:ea typeface="黑体" panose="02010609060101010101" pitchFamily="49" charset="-122"/>
              </a:rPr>
              <a:t>Mamdani </a:t>
            </a:r>
            <a:r>
              <a:rPr lang="zh-CN" altLang="en-US" dirty="0">
                <a:solidFill>
                  <a:srgbClr val="128828"/>
                </a:solidFill>
                <a:latin typeface="Comic Sans MS" panose="030F0702030302020204" pitchFamily="66" charset="0"/>
                <a:ea typeface="黑体" panose="02010609060101010101" pitchFamily="49" charset="-122"/>
              </a:rPr>
              <a:t>模糊模型举例</a:t>
            </a:r>
          </a:p>
        </p:txBody>
      </p:sp>
      <p:sp>
        <p:nvSpPr>
          <p:cNvPr id="12291" name="Rectangle 3"/>
          <p:cNvSpPr>
            <a:spLocks noGrp="1" noChangeArrowheads="1"/>
          </p:cNvSpPr>
          <p:nvPr>
            <p:ph type="body" idx="4294967295"/>
          </p:nvPr>
        </p:nvSpPr>
        <p:spPr>
          <a:xfrm>
            <a:off x="1981200" y="1556792"/>
            <a:ext cx="7010400" cy="2592387"/>
          </a:xfrm>
        </p:spPr>
        <p:txBody>
          <a:bodyPr/>
          <a:lstStyle/>
          <a:p>
            <a:pPr eaLnBrk="1" hangingPunct="1"/>
            <a:r>
              <a:rPr lang="zh-CN" altLang="en-US" dirty="0">
                <a:ea typeface="黑体" panose="02010609060101010101" pitchFamily="49" charset="-122"/>
              </a:rPr>
              <a:t>两输入单输出例子  </a:t>
            </a:r>
            <a:r>
              <a:rPr lang="en-US" altLang="zh-CN" dirty="0">
                <a:ea typeface="黑体" panose="02010609060101010101" pitchFamily="49" charset="-122"/>
              </a:rPr>
              <a:t>( x, y, z </a:t>
            </a:r>
            <a:r>
              <a:rPr lang="en-US" altLang="zh-CN" dirty="0">
                <a:ea typeface="黑体" panose="02010609060101010101" pitchFamily="49" charset="-122"/>
                <a:sym typeface="Symbol" panose="05050102010706020507" pitchFamily="18" charset="2"/>
              </a:rPr>
              <a:t></a:t>
            </a:r>
            <a:r>
              <a:rPr lang="en-US" altLang="zh-CN" dirty="0">
                <a:ea typeface="黑体" panose="02010609060101010101" pitchFamily="49" charset="-122"/>
              </a:rPr>
              <a:t>[-5,5] )</a:t>
            </a:r>
            <a:endParaRPr lang="zh-CN" altLang="en-US" dirty="0">
              <a:ea typeface="黑体" panose="02010609060101010101" pitchFamily="49" charset="-122"/>
            </a:endParaRPr>
          </a:p>
          <a:p>
            <a:pPr lvl="1" eaLnBrk="1" hangingPunct="1"/>
            <a:r>
              <a:rPr lang="en-US" altLang="zh-CN" b="1" dirty="0">
                <a:ea typeface="楷体_GB2312" pitchFamily="1" charset="-122"/>
              </a:rPr>
              <a:t>IF </a:t>
            </a:r>
            <a:r>
              <a:rPr lang="en-US" altLang="zh-CN" b="1" u="sng" dirty="0">
                <a:ea typeface="楷体_GB2312" pitchFamily="1" charset="-122"/>
              </a:rPr>
              <a:t>X </a:t>
            </a:r>
            <a:r>
              <a:rPr lang="zh-CN" altLang="en-US" b="1" u="sng" dirty="0">
                <a:ea typeface="楷体_GB2312" pitchFamily="1" charset="-122"/>
              </a:rPr>
              <a:t>小且</a:t>
            </a:r>
            <a:r>
              <a:rPr lang="en-US" altLang="zh-CN" b="1" u="sng" dirty="0">
                <a:ea typeface="楷体_GB2312" pitchFamily="1" charset="-122"/>
              </a:rPr>
              <a:t>Y </a:t>
            </a:r>
            <a:r>
              <a:rPr lang="zh-CN" altLang="en-US" b="1" u="sng" dirty="0">
                <a:ea typeface="楷体_GB2312" pitchFamily="1" charset="-122"/>
              </a:rPr>
              <a:t>小</a:t>
            </a:r>
            <a:r>
              <a:rPr lang="zh-CN" altLang="en-US" b="1" dirty="0">
                <a:ea typeface="楷体_GB2312" pitchFamily="1" charset="-122"/>
              </a:rPr>
              <a:t> </a:t>
            </a:r>
            <a:r>
              <a:rPr lang="en-US" altLang="zh-CN" b="1" dirty="0">
                <a:ea typeface="楷体_GB2312" pitchFamily="1" charset="-122"/>
              </a:rPr>
              <a:t>THEN </a:t>
            </a:r>
            <a:r>
              <a:rPr lang="en-US" altLang="zh-CN" b="1" u="sng" dirty="0">
                <a:ea typeface="楷体_GB2312" pitchFamily="1" charset="-122"/>
              </a:rPr>
              <a:t>Z </a:t>
            </a:r>
            <a:r>
              <a:rPr lang="zh-CN" altLang="en-US" b="1" u="sng" dirty="0">
                <a:ea typeface="楷体_GB2312" pitchFamily="1" charset="-122"/>
              </a:rPr>
              <a:t>负大</a:t>
            </a:r>
          </a:p>
          <a:p>
            <a:pPr lvl="1" eaLnBrk="1" hangingPunct="1"/>
            <a:r>
              <a:rPr lang="en-US" altLang="zh-CN" b="1" dirty="0">
                <a:ea typeface="楷体_GB2312" pitchFamily="1" charset="-122"/>
              </a:rPr>
              <a:t>IF </a:t>
            </a:r>
            <a:r>
              <a:rPr lang="en-US" altLang="zh-CN" b="1" u="sng" dirty="0">
                <a:ea typeface="楷体_GB2312" pitchFamily="1" charset="-122"/>
              </a:rPr>
              <a:t>X </a:t>
            </a:r>
            <a:r>
              <a:rPr lang="zh-CN" altLang="en-US" b="1" u="sng" dirty="0">
                <a:ea typeface="楷体_GB2312" pitchFamily="1" charset="-122"/>
              </a:rPr>
              <a:t>小且</a:t>
            </a:r>
            <a:r>
              <a:rPr lang="en-US" altLang="zh-CN" b="1" u="sng" dirty="0">
                <a:ea typeface="楷体_GB2312" pitchFamily="1" charset="-122"/>
              </a:rPr>
              <a:t>Y </a:t>
            </a:r>
            <a:r>
              <a:rPr lang="zh-CN" altLang="en-US" b="1" u="sng" dirty="0">
                <a:ea typeface="楷体_GB2312" pitchFamily="1" charset="-122"/>
              </a:rPr>
              <a:t>大</a:t>
            </a:r>
            <a:r>
              <a:rPr lang="zh-CN" altLang="en-US" b="1" dirty="0">
                <a:ea typeface="楷体_GB2312" pitchFamily="1" charset="-122"/>
              </a:rPr>
              <a:t> </a:t>
            </a:r>
            <a:r>
              <a:rPr lang="en-US" altLang="zh-CN" b="1" dirty="0">
                <a:ea typeface="楷体_GB2312" pitchFamily="1" charset="-122"/>
              </a:rPr>
              <a:t>THEN </a:t>
            </a:r>
            <a:r>
              <a:rPr lang="en-US" altLang="zh-CN" b="1" u="sng" dirty="0">
                <a:ea typeface="楷体_GB2312" pitchFamily="1" charset="-122"/>
              </a:rPr>
              <a:t>Z </a:t>
            </a:r>
            <a:r>
              <a:rPr lang="zh-CN" altLang="en-US" b="1" u="sng" dirty="0">
                <a:ea typeface="楷体_GB2312" pitchFamily="1" charset="-122"/>
              </a:rPr>
              <a:t>负小</a:t>
            </a:r>
          </a:p>
          <a:p>
            <a:pPr lvl="1" eaLnBrk="1" hangingPunct="1"/>
            <a:r>
              <a:rPr lang="en-US" altLang="zh-CN" b="1" dirty="0">
                <a:ea typeface="楷体_GB2312" pitchFamily="1" charset="-122"/>
              </a:rPr>
              <a:t>IF </a:t>
            </a:r>
            <a:r>
              <a:rPr lang="en-US" altLang="zh-CN" b="1" u="sng" dirty="0">
                <a:ea typeface="楷体_GB2312" pitchFamily="1" charset="-122"/>
              </a:rPr>
              <a:t>X </a:t>
            </a:r>
            <a:r>
              <a:rPr lang="zh-CN" altLang="en-US" b="1" u="sng" dirty="0">
                <a:ea typeface="楷体_GB2312" pitchFamily="1" charset="-122"/>
              </a:rPr>
              <a:t>大且</a:t>
            </a:r>
            <a:r>
              <a:rPr lang="en-US" altLang="zh-CN" b="1" u="sng" dirty="0">
                <a:ea typeface="楷体_GB2312" pitchFamily="1" charset="-122"/>
              </a:rPr>
              <a:t>Y </a:t>
            </a:r>
            <a:r>
              <a:rPr lang="zh-CN" altLang="en-US" b="1" u="sng" dirty="0">
                <a:ea typeface="楷体_GB2312" pitchFamily="1" charset="-122"/>
              </a:rPr>
              <a:t>小</a:t>
            </a:r>
            <a:r>
              <a:rPr lang="zh-CN" altLang="en-US" b="1" dirty="0">
                <a:ea typeface="楷体_GB2312" pitchFamily="1" charset="-122"/>
              </a:rPr>
              <a:t> </a:t>
            </a:r>
            <a:r>
              <a:rPr lang="en-US" altLang="zh-CN" b="1" dirty="0">
                <a:ea typeface="楷体_GB2312" pitchFamily="1" charset="-122"/>
              </a:rPr>
              <a:t>THEN </a:t>
            </a:r>
            <a:r>
              <a:rPr lang="en-US" altLang="zh-CN" b="1" u="sng" dirty="0">
                <a:ea typeface="楷体_GB2312" pitchFamily="1" charset="-122"/>
              </a:rPr>
              <a:t>Z </a:t>
            </a:r>
            <a:r>
              <a:rPr lang="zh-CN" altLang="en-US" b="1" u="sng" dirty="0">
                <a:ea typeface="楷体_GB2312" pitchFamily="1" charset="-122"/>
              </a:rPr>
              <a:t>正小</a:t>
            </a:r>
          </a:p>
          <a:p>
            <a:pPr lvl="1" eaLnBrk="1" hangingPunct="1"/>
            <a:r>
              <a:rPr lang="en-US" altLang="zh-CN" b="1" dirty="0">
                <a:ea typeface="楷体_GB2312" pitchFamily="1" charset="-122"/>
              </a:rPr>
              <a:t>IF </a:t>
            </a:r>
            <a:r>
              <a:rPr lang="en-US" altLang="zh-CN" b="1" u="sng" dirty="0">
                <a:ea typeface="楷体_GB2312" pitchFamily="1" charset="-122"/>
              </a:rPr>
              <a:t>X </a:t>
            </a:r>
            <a:r>
              <a:rPr lang="zh-CN" altLang="en-US" b="1" u="sng" dirty="0">
                <a:ea typeface="楷体_GB2312" pitchFamily="1" charset="-122"/>
              </a:rPr>
              <a:t>大且</a:t>
            </a:r>
            <a:r>
              <a:rPr lang="en-US" altLang="zh-CN" b="1" u="sng" dirty="0">
                <a:ea typeface="楷体_GB2312" pitchFamily="1" charset="-122"/>
              </a:rPr>
              <a:t>Y </a:t>
            </a:r>
            <a:r>
              <a:rPr lang="zh-CN" altLang="en-US" b="1" u="sng" dirty="0">
                <a:ea typeface="楷体_GB2312" pitchFamily="1" charset="-122"/>
              </a:rPr>
              <a:t>大</a:t>
            </a:r>
            <a:r>
              <a:rPr lang="zh-CN" altLang="en-US" b="1" dirty="0">
                <a:ea typeface="楷体_GB2312" pitchFamily="1" charset="-122"/>
              </a:rPr>
              <a:t> </a:t>
            </a:r>
            <a:r>
              <a:rPr lang="en-US" altLang="zh-CN" b="1" dirty="0">
                <a:ea typeface="楷体_GB2312" pitchFamily="1" charset="-122"/>
              </a:rPr>
              <a:t>THEN </a:t>
            </a:r>
            <a:r>
              <a:rPr lang="en-US" altLang="zh-CN" b="1" u="sng" dirty="0">
                <a:ea typeface="楷体_GB2312" pitchFamily="1" charset="-122"/>
              </a:rPr>
              <a:t>Z </a:t>
            </a:r>
            <a:r>
              <a:rPr lang="zh-CN" altLang="en-US" b="1" u="sng" dirty="0">
                <a:ea typeface="楷体_GB2312" pitchFamily="1" charset="-122"/>
              </a:rPr>
              <a:t>正大</a:t>
            </a:r>
          </a:p>
          <a:p>
            <a:pPr eaLnBrk="1" hangingPunct="1"/>
            <a:endParaRPr lang="en-US" altLang="zh-CN" b="1" dirty="0">
              <a:ea typeface="楷体_GB2312" pitchFamily="1" charset="-122"/>
            </a:endParaRPr>
          </a:p>
        </p:txBody>
      </p:sp>
      <p:pic>
        <p:nvPicPr>
          <p:cNvPr id="12292"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31504" y="4331257"/>
            <a:ext cx="8088715" cy="2492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灯片编号占位符 1">
            <a:extLst>
              <a:ext uri="{FF2B5EF4-FFF2-40B4-BE49-F238E27FC236}">
                <a16:creationId xmlns:a16="http://schemas.microsoft.com/office/drawing/2014/main" id="{A0D68C0F-EAAE-AA20-176D-2E1614F38AE5}"/>
              </a:ext>
            </a:extLst>
          </p:cNvPr>
          <p:cNvSpPr>
            <a:spLocks noGrp="1"/>
          </p:cNvSpPr>
          <p:nvPr>
            <p:ph type="sldNum" sz="quarter" idx="11"/>
          </p:nvPr>
        </p:nvSpPr>
        <p:spPr/>
        <p:txBody>
          <a:bodyPr/>
          <a:lstStyle/>
          <a:p>
            <a:pPr>
              <a:defRPr/>
            </a:pPr>
            <a:fld id="{B77A47BA-BA63-4780-94A9-8AFA2EA4438D}" type="slidenum">
              <a:rPr lang="en-US" altLang="zh-CN" smtClean="0"/>
              <a:pPr>
                <a:defRPr/>
              </a:pPr>
              <a:t>9</a:t>
            </a:fld>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2291">
                                            <p:txEl>
                                              <p:pRg st="0" end="0"/>
                                            </p:txEl>
                                          </p:spTgt>
                                        </p:tgtEl>
                                        <p:attrNameLst>
                                          <p:attrName>style.visibility</p:attrName>
                                        </p:attrNameLst>
                                      </p:cBhvr>
                                      <p:to>
                                        <p:strVal val="visible"/>
                                      </p:to>
                                    </p:set>
                                    <p:animEffect transition="in" filter="wipe(left)">
                                      <p:cBhvr>
                                        <p:cTn id="7" dur="500"/>
                                        <p:tgtEl>
                                          <p:spTgt spid="12291">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2291">
                                            <p:txEl>
                                              <p:pRg st="1" end="1"/>
                                            </p:txEl>
                                          </p:spTgt>
                                        </p:tgtEl>
                                        <p:attrNameLst>
                                          <p:attrName>style.visibility</p:attrName>
                                        </p:attrNameLst>
                                      </p:cBhvr>
                                      <p:to>
                                        <p:strVal val="visible"/>
                                      </p:to>
                                    </p:set>
                                    <p:animEffect transition="in" filter="wipe(left)">
                                      <p:cBhvr>
                                        <p:cTn id="12" dur="500"/>
                                        <p:tgtEl>
                                          <p:spTgt spid="12291">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2291">
                                            <p:txEl>
                                              <p:pRg st="2" end="2"/>
                                            </p:txEl>
                                          </p:spTgt>
                                        </p:tgtEl>
                                        <p:attrNameLst>
                                          <p:attrName>style.visibility</p:attrName>
                                        </p:attrNameLst>
                                      </p:cBhvr>
                                      <p:to>
                                        <p:strVal val="visible"/>
                                      </p:to>
                                    </p:set>
                                    <p:animEffect transition="in" filter="wipe(left)">
                                      <p:cBhvr>
                                        <p:cTn id="17" dur="500"/>
                                        <p:tgtEl>
                                          <p:spTgt spid="12291">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12291">
                                            <p:txEl>
                                              <p:pRg st="3" end="3"/>
                                            </p:txEl>
                                          </p:spTgt>
                                        </p:tgtEl>
                                        <p:attrNameLst>
                                          <p:attrName>style.visibility</p:attrName>
                                        </p:attrNameLst>
                                      </p:cBhvr>
                                      <p:to>
                                        <p:strVal val="visible"/>
                                      </p:to>
                                    </p:set>
                                    <p:animEffect transition="in" filter="wipe(left)">
                                      <p:cBhvr>
                                        <p:cTn id="22" dur="500"/>
                                        <p:tgtEl>
                                          <p:spTgt spid="12291">
                                            <p:txEl>
                                              <p:pRg st="3" end="3"/>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12291">
                                            <p:txEl>
                                              <p:pRg st="4" end="4"/>
                                            </p:txEl>
                                          </p:spTgt>
                                        </p:tgtEl>
                                        <p:attrNameLst>
                                          <p:attrName>style.visibility</p:attrName>
                                        </p:attrNameLst>
                                      </p:cBhvr>
                                      <p:to>
                                        <p:strVal val="visible"/>
                                      </p:to>
                                    </p:set>
                                    <p:animEffect transition="in" filter="wipe(left)">
                                      <p:cBhvr>
                                        <p:cTn id="27" dur="500"/>
                                        <p:tgtEl>
                                          <p:spTgt spid="12291">
                                            <p:txEl>
                                              <p:pRg st="4" end="4"/>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 presetClass="entr" presetSubtype="4" fill="hold" nodeType="clickEffect">
                                  <p:stCondLst>
                                    <p:cond delay="0"/>
                                  </p:stCondLst>
                                  <p:childTnLst>
                                    <p:set>
                                      <p:cBhvr>
                                        <p:cTn id="31" dur="1" fill="hold">
                                          <p:stCondLst>
                                            <p:cond delay="0"/>
                                          </p:stCondLst>
                                        </p:cTn>
                                        <p:tgtEl>
                                          <p:spTgt spid="12292"/>
                                        </p:tgtEl>
                                        <p:attrNameLst>
                                          <p:attrName>style.visibility</p:attrName>
                                        </p:attrNameLst>
                                      </p:cBhvr>
                                      <p:to>
                                        <p:strVal val="visible"/>
                                      </p:to>
                                    </p:set>
                                    <p:anim calcmode="lin" valueType="num">
                                      <p:cBhvr additive="base">
                                        <p:cTn id="32" dur="500" fill="hold"/>
                                        <p:tgtEl>
                                          <p:spTgt spid="12292"/>
                                        </p:tgtEl>
                                        <p:attrNameLst>
                                          <p:attrName>ppt_x</p:attrName>
                                        </p:attrNameLst>
                                      </p:cBhvr>
                                      <p:tavLst>
                                        <p:tav tm="0">
                                          <p:val>
                                            <p:strVal val="#ppt_x"/>
                                          </p:val>
                                        </p:tav>
                                        <p:tav tm="100000">
                                          <p:val>
                                            <p:strVal val="#ppt_x"/>
                                          </p:val>
                                        </p:tav>
                                      </p:tavLst>
                                    </p:anim>
                                    <p:anim calcmode="lin" valueType="num">
                                      <p:cBhvr additive="base">
                                        <p:cTn id="33" dur="500" fill="hold"/>
                                        <p:tgtEl>
                                          <p:spTgt spid="1229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291" grpId="0" build="p" autoUpdateAnimBg="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Grp="1" noChangeArrowheads="1"/>
          </p:cNvSpPr>
          <p:nvPr>
            <p:ph type="title" idx="4294967295"/>
          </p:nvPr>
        </p:nvSpPr>
        <p:spPr>
          <a:xfrm>
            <a:off x="361949" y="392113"/>
            <a:ext cx="8745538" cy="1133475"/>
          </a:xfrm>
        </p:spPr>
        <p:txBody>
          <a:bodyPr/>
          <a:lstStyle/>
          <a:p>
            <a:pPr eaLnBrk="1" hangingPunct="1"/>
            <a:r>
              <a:rPr lang="en-US" altLang="zh-CN" dirty="0">
                <a:solidFill>
                  <a:srgbClr val="128828"/>
                </a:solidFill>
                <a:latin typeface="Comic Sans MS" panose="030F0702030302020204" pitchFamily="66" charset="0"/>
                <a:ea typeface="黑体" panose="02010609060101010101" pitchFamily="49" charset="-122"/>
              </a:rPr>
              <a:t>Mamdani </a:t>
            </a:r>
            <a:r>
              <a:rPr lang="zh-CN" altLang="en-US" dirty="0">
                <a:solidFill>
                  <a:srgbClr val="128828"/>
                </a:solidFill>
                <a:latin typeface="Comic Sans MS" panose="030F0702030302020204" pitchFamily="66" charset="0"/>
                <a:ea typeface="黑体" panose="02010609060101010101" pitchFamily="49" charset="-122"/>
              </a:rPr>
              <a:t>模型</a:t>
            </a:r>
            <a:r>
              <a:rPr lang="zh-CN" altLang="en-US" dirty="0">
                <a:solidFill>
                  <a:srgbClr val="008000"/>
                </a:solidFill>
                <a:ea typeface="黑体" panose="02010609060101010101" pitchFamily="49" charset="-122"/>
              </a:rPr>
              <a:t>两输入单输出</a:t>
            </a:r>
            <a:r>
              <a:rPr lang="zh-CN" altLang="en-US" dirty="0">
                <a:solidFill>
                  <a:srgbClr val="128828"/>
                </a:solidFill>
                <a:latin typeface="Comic Sans MS" panose="030F0702030302020204" pitchFamily="66" charset="0"/>
                <a:ea typeface="黑体" panose="02010609060101010101" pitchFamily="49" charset="-122"/>
              </a:rPr>
              <a:t>举例</a:t>
            </a:r>
          </a:p>
        </p:txBody>
      </p:sp>
      <p:sp>
        <p:nvSpPr>
          <p:cNvPr id="13315" name="Text Box 6"/>
          <p:cNvSpPr txBox="1">
            <a:spLocks noChangeArrowheads="1"/>
          </p:cNvSpPr>
          <p:nvPr/>
        </p:nvSpPr>
        <p:spPr bwMode="auto">
          <a:xfrm>
            <a:off x="1055440" y="2565401"/>
            <a:ext cx="360363"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a:t>X</a:t>
            </a:r>
          </a:p>
        </p:txBody>
      </p:sp>
      <p:sp>
        <p:nvSpPr>
          <p:cNvPr id="13316" name="Text Box 7"/>
          <p:cNvSpPr txBox="1">
            <a:spLocks noChangeArrowheads="1"/>
          </p:cNvSpPr>
          <p:nvPr/>
        </p:nvSpPr>
        <p:spPr bwMode="auto">
          <a:xfrm>
            <a:off x="5932241" y="2253206"/>
            <a:ext cx="360363"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a:t>Y</a:t>
            </a:r>
          </a:p>
        </p:txBody>
      </p:sp>
      <p:sp>
        <p:nvSpPr>
          <p:cNvPr id="13317" name="Text Box 10"/>
          <p:cNvSpPr txBox="1">
            <a:spLocks noChangeArrowheads="1"/>
          </p:cNvSpPr>
          <p:nvPr/>
        </p:nvSpPr>
        <p:spPr bwMode="auto">
          <a:xfrm>
            <a:off x="738833" y="5323097"/>
            <a:ext cx="360362"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dirty="0"/>
              <a:t>Z</a:t>
            </a:r>
          </a:p>
        </p:txBody>
      </p:sp>
      <p:pic>
        <p:nvPicPr>
          <p:cNvPr id="13318" name="Picture 1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16082" y="3618790"/>
            <a:ext cx="4825230" cy="32928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3319" name="Picture 1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42070" y="4459498"/>
            <a:ext cx="4133850" cy="2028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3320" name="Picture 1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308646" y="1808793"/>
            <a:ext cx="4162425" cy="2000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3321" name="Picture 1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383338" y="1735681"/>
            <a:ext cx="4057650" cy="2028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322" name="Text Box 15"/>
          <p:cNvSpPr txBox="1">
            <a:spLocks noChangeArrowheads="1"/>
          </p:cNvSpPr>
          <p:nvPr/>
        </p:nvSpPr>
        <p:spPr bwMode="auto">
          <a:xfrm>
            <a:off x="6062191" y="6465887"/>
            <a:ext cx="19456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sz="2400" b="1" dirty="0">
                <a:solidFill>
                  <a:srgbClr val="FF0000"/>
                </a:solidFill>
                <a:latin typeface="楷体_GB2312" pitchFamily="1" charset="-122"/>
                <a:ea typeface="楷体_GB2312" pitchFamily="1" charset="-122"/>
              </a:rPr>
              <a:t>总</a:t>
            </a:r>
            <a:r>
              <a:rPr lang="zh-CN" altLang="en-US" sz="2400" b="1" dirty="0">
                <a:solidFill>
                  <a:srgbClr val="FF0000"/>
                </a:solidFill>
                <a:ea typeface="楷体_GB2312" pitchFamily="1" charset="-122"/>
              </a:rPr>
              <a:t>的</a:t>
            </a:r>
            <a:r>
              <a:rPr lang="en-US" altLang="zh-CN" sz="2400" b="1" dirty="0">
                <a:solidFill>
                  <a:srgbClr val="FF0000"/>
                </a:solidFill>
                <a:ea typeface="楷体_GB2312" pitchFamily="1" charset="-122"/>
              </a:rPr>
              <a:t>I/O</a:t>
            </a:r>
            <a:r>
              <a:rPr lang="zh-CN" altLang="en-US" sz="2400" b="1" dirty="0">
                <a:solidFill>
                  <a:srgbClr val="FF0000"/>
                </a:solidFill>
                <a:ea typeface="楷体_GB2312" pitchFamily="1" charset="-122"/>
              </a:rPr>
              <a:t>曲面</a:t>
            </a:r>
          </a:p>
        </p:txBody>
      </p:sp>
      <p:sp>
        <p:nvSpPr>
          <p:cNvPr id="13323" name="Rectangle 3"/>
          <p:cNvSpPr txBox="1">
            <a:spLocks noChangeArrowheads="1"/>
          </p:cNvSpPr>
          <p:nvPr/>
        </p:nvSpPr>
        <p:spPr bwMode="auto">
          <a:xfrm>
            <a:off x="8688288" y="234950"/>
            <a:ext cx="3456384" cy="1538289"/>
          </a:xfrm>
          <a:prstGeom prst="rect">
            <a:avLst/>
          </a:prstGeom>
          <a:solidFill>
            <a:srgbClr val="FFCC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spcBef>
                <a:spcPct val="20000"/>
              </a:spcBef>
              <a:buClr>
                <a:schemeClr val="bg2"/>
              </a:buClr>
              <a:buSzPct val="75000"/>
              <a:buFont typeface="Wingdings" panose="05000000000000000000" pitchFamily="2" charset="2"/>
              <a:buNone/>
            </a:pPr>
            <a:r>
              <a:rPr lang="en-US" altLang="zh-CN" sz="2000" b="1" dirty="0">
                <a:ea typeface="楷体_GB2312" pitchFamily="1" charset="-122"/>
              </a:rPr>
              <a:t>IF </a:t>
            </a:r>
            <a:r>
              <a:rPr lang="en-US" altLang="zh-CN" sz="2000" b="1" u="sng" dirty="0">
                <a:ea typeface="楷体_GB2312" pitchFamily="1" charset="-122"/>
              </a:rPr>
              <a:t>X </a:t>
            </a:r>
            <a:r>
              <a:rPr lang="zh-CN" altLang="en-US" sz="2000" b="1" u="sng" dirty="0">
                <a:ea typeface="楷体_GB2312" pitchFamily="1" charset="-122"/>
              </a:rPr>
              <a:t>小且</a:t>
            </a:r>
            <a:r>
              <a:rPr lang="en-US" altLang="zh-CN" sz="2000" b="1" u="sng" dirty="0">
                <a:ea typeface="楷体_GB2312" pitchFamily="1" charset="-122"/>
              </a:rPr>
              <a:t>Y </a:t>
            </a:r>
            <a:r>
              <a:rPr lang="zh-CN" altLang="en-US" sz="2000" b="1" u="sng" dirty="0">
                <a:ea typeface="楷体_GB2312" pitchFamily="1" charset="-122"/>
              </a:rPr>
              <a:t>小</a:t>
            </a:r>
            <a:r>
              <a:rPr lang="zh-CN" altLang="en-US" sz="2000" b="1" dirty="0">
                <a:ea typeface="楷体_GB2312" pitchFamily="1" charset="-122"/>
              </a:rPr>
              <a:t> </a:t>
            </a:r>
            <a:r>
              <a:rPr lang="en-US" altLang="zh-CN" sz="2000" b="1" dirty="0">
                <a:ea typeface="楷体_GB2312" pitchFamily="1" charset="-122"/>
              </a:rPr>
              <a:t>THEN </a:t>
            </a:r>
            <a:r>
              <a:rPr lang="en-US" altLang="zh-CN" sz="2000" b="1" u="sng" dirty="0">
                <a:ea typeface="楷体_GB2312" pitchFamily="1" charset="-122"/>
              </a:rPr>
              <a:t>Z </a:t>
            </a:r>
            <a:r>
              <a:rPr lang="zh-CN" altLang="en-US" sz="2000" b="1" u="sng" dirty="0">
                <a:ea typeface="楷体_GB2312" pitchFamily="1" charset="-122"/>
              </a:rPr>
              <a:t>负大</a:t>
            </a:r>
          </a:p>
          <a:p>
            <a:pPr eaLnBrk="1" hangingPunct="1">
              <a:spcBef>
                <a:spcPct val="20000"/>
              </a:spcBef>
              <a:buClr>
                <a:schemeClr val="bg2"/>
              </a:buClr>
              <a:buSzPct val="75000"/>
              <a:buFont typeface="Wingdings" panose="05000000000000000000" pitchFamily="2" charset="2"/>
              <a:buNone/>
            </a:pPr>
            <a:r>
              <a:rPr lang="en-US" altLang="zh-CN" sz="2000" b="1" dirty="0">
                <a:ea typeface="楷体_GB2312" pitchFamily="1" charset="-122"/>
              </a:rPr>
              <a:t>IF </a:t>
            </a:r>
            <a:r>
              <a:rPr lang="en-US" altLang="zh-CN" sz="2000" b="1" u="sng" dirty="0">
                <a:ea typeface="楷体_GB2312" pitchFamily="1" charset="-122"/>
              </a:rPr>
              <a:t>X </a:t>
            </a:r>
            <a:r>
              <a:rPr lang="zh-CN" altLang="en-US" sz="2000" b="1" u="sng" dirty="0">
                <a:ea typeface="楷体_GB2312" pitchFamily="1" charset="-122"/>
              </a:rPr>
              <a:t>小且</a:t>
            </a:r>
            <a:r>
              <a:rPr lang="en-US" altLang="zh-CN" sz="2000" b="1" u="sng" dirty="0">
                <a:ea typeface="楷体_GB2312" pitchFamily="1" charset="-122"/>
              </a:rPr>
              <a:t>Y </a:t>
            </a:r>
            <a:r>
              <a:rPr lang="zh-CN" altLang="en-US" sz="2000" b="1" u="sng" dirty="0">
                <a:ea typeface="楷体_GB2312" pitchFamily="1" charset="-122"/>
              </a:rPr>
              <a:t>大</a:t>
            </a:r>
            <a:r>
              <a:rPr lang="zh-CN" altLang="en-US" sz="2000" b="1" dirty="0">
                <a:ea typeface="楷体_GB2312" pitchFamily="1" charset="-122"/>
              </a:rPr>
              <a:t> </a:t>
            </a:r>
            <a:r>
              <a:rPr lang="en-US" altLang="zh-CN" sz="2000" b="1" dirty="0">
                <a:ea typeface="楷体_GB2312" pitchFamily="1" charset="-122"/>
              </a:rPr>
              <a:t>THEN </a:t>
            </a:r>
            <a:r>
              <a:rPr lang="en-US" altLang="zh-CN" sz="2000" b="1" u="sng" dirty="0">
                <a:ea typeface="楷体_GB2312" pitchFamily="1" charset="-122"/>
              </a:rPr>
              <a:t>Z </a:t>
            </a:r>
            <a:r>
              <a:rPr lang="zh-CN" altLang="en-US" sz="2000" b="1" u="sng" dirty="0">
                <a:ea typeface="楷体_GB2312" pitchFamily="1" charset="-122"/>
              </a:rPr>
              <a:t>负小</a:t>
            </a:r>
          </a:p>
          <a:p>
            <a:pPr eaLnBrk="1" hangingPunct="1">
              <a:spcBef>
                <a:spcPct val="20000"/>
              </a:spcBef>
              <a:buClr>
                <a:schemeClr val="bg2"/>
              </a:buClr>
              <a:buSzPct val="75000"/>
              <a:buFont typeface="Wingdings" panose="05000000000000000000" pitchFamily="2" charset="2"/>
              <a:buNone/>
            </a:pPr>
            <a:r>
              <a:rPr lang="en-US" altLang="zh-CN" sz="2000" b="1" dirty="0">
                <a:ea typeface="楷体_GB2312" pitchFamily="1" charset="-122"/>
              </a:rPr>
              <a:t>IF </a:t>
            </a:r>
            <a:r>
              <a:rPr lang="en-US" altLang="zh-CN" sz="2000" b="1" u="sng" dirty="0">
                <a:ea typeface="楷体_GB2312" pitchFamily="1" charset="-122"/>
              </a:rPr>
              <a:t>X </a:t>
            </a:r>
            <a:r>
              <a:rPr lang="zh-CN" altLang="en-US" sz="2000" b="1" u="sng" dirty="0">
                <a:ea typeface="楷体_GB2312" pitchFamily="1" charset="-122"/>
              </a:rPr>
              <a:t>大且</a:t>
            </a:r>
            <a:r>
              <a:rPr lang="en-US" altLang="zh-CN" sz="2000" b="1" u="sng" dirty="0">
                <a:ea typeface="楷体_GB2312" pitchFamily="1" charset="-122"/>
              </a:rPr>
              <a:t>Y </a:t>
            </a:r>
            <a:r>
              <a:rPr lang="zh-CN" altLang="en-US" sz="2000" b="1" u="sng" dirty="0">
                <a:ea typeface="楷体_GB2312" pitchFamily="1" charset="-122"/>
              </a:rPr>
              <a:t>小</a:t>
            </a:r>
            <a:r>
              <a:rPr lang="zh-CN" altLang="en-US" sz="2000" b="1" dirty="0">
                <a:ea typeface="楷体_GB2312" pitchFamily="1" charset="-122"/>
              </a:rPr>
              <a:t> </a:t>
            </a:r>
            <a:r>
              <a:rPr lang="en-US" altLang="zh-CN" sz="2000" b="1" dirty="0">
                <a:ea typeface="楷体_GB2312" pitchFamily="1" charset="-122"/>
              </a:rPr>
              <a:t>THEN </a:t>
            </a:r>
            <a:r>
              <a:rPr lang="en-US" altLang="zh-CN" sz="2000" b="1" u="sng" dirty="0">
                <a:ea typeface="楷体_GB2312" pitchFamily="1" charset="-122"/>
              </a:rPr>
              <a:t>Z </a:t>
            </a:r>
            <a:r>
              <a:rPr lang="zh-CN" altLang="en-US" sz="2000" b="1" u="sng" dirty="0">
                <a:ea typeface="楷体_GB2312" pitchFamily="1" charset="-122"/>
              </a:rPr>
              <a:t>正小</a:t>
            </a:r>
          </a:p>
          <a:p>
            <a:pPr eaLnBrk="1" hangingPunct="1">
              <a:spcBef>
                <a:spcPct val="20000"/>
              </a:spcBef>
              <a:buClr>
                <a:schemeClr val="bg2"/>
              </a:buClr>
              <a:buSzPct val="75000"/>
              <a:buFont typeface="Wingdings" panose="05000000000000000000" pitchFamily="2" charset="2"/>
              <a:buNone/>
            </a:pPr>
            <a:r>
              <a:rPr lang="en-US" altLang="zh-CN" sz="2000" b="1" dirty="0">
                <a:ea typeface="楷体_GB2312" pitchFamily="1" charset="-122"/>
              </a:rPr>
              <a:t>IF </a:t>
            </a:r>
            <a:r>
              <a:rPr lang="en-US" altLang="zh-CN" sz="2000" b="1" u="sng" dirty="0">
                <a:ea typeface="楷体_GB2312" pitchFamily="1" charset="-122"/>
              </a:rPr>
              <a:t>X </a:t>
            </a:r>
            <a:r>
              <a:rPr lang="zh-CN" altLang="en-US" sz="2000" b="1" u="sng" dirty="0">
                <a:ea typeface="楷体_GB2312" pitchFamily="1" charset="-122"/>
              </a:rPr>
              <a:t>大且</a:t>
            </a:r>
            <a:r>
              <a:rPr lang="en-US" altLang="zh-CN" sz="2000" b="1" u="sng" dirty="0">
                <a:ea typeface="楷体_GB2312" pitchFamily="1" charset="-122"/>
              </a:rPr>
              <a:t>Y </a:t>
            </a:r>
            <a:r>
              <a:rPr lang="zh-CN" altLang="en-US" sz="2000" b="1" u="sng" dirty="0">
                <a:ea typeface="楷体_GB2312" pitchFamily="1" charset="-122"/>
              </a:rPr>
              <a:t>大</a:t>
            </a:r>
            <a:r>
              <a:rPr lang="zh-CN" altLang="en-US" sz="2000" b="1" dirty="0">
                <a:ea typeface="楷体_GB2312" pitchFamily="1" charset="-122"/>
              </a:rPr>
              <a:t> </a:t>
            </a:r>
            <a:r>
              <a:rPr lang="en-US" altLang="zh-CN" sz="2000" b="1" dirty="0">
                <a:ea typeface="楷体_GB2312" pitchFamily="1" charset="-122"/>
              </a:rPr>
              <a:t>THEN </a:t>
            </a:r>
            <a:r>
              <a:rPr lang="en-US" altLang="zh-CN" sz="2000" b="1" u="sng" dirty="0">
                <a:ea typeface="楷体_GB2312" pitchFamily="1" charset="-122"/>
              </a:rPr>
              <a:t>Z </a:t>
            </a:r>
            <a:r>
              <a:rPr lang="zh-CN" altLang="en-US" sz="2000" b="1" u="sng" dirty="0">
                <a:ea typeface="楷体_GB2312" pitchFamily="1" charset="-122"/>
              </a:rPr>
              <a:t>正大</a:t>
            </a:r>
          </a:p>
          <a:p>
            <a:pPr eaLnBrk="1" hangingPunct="1">
              <a:spcBef>
                <a:spcPct val="20000"/>
              </a:spcBef>
              <a:buClr>
                <a:schemeClr val="bg2"/>
              </a:buClr>
              <a:buSzPct val="75000"/>
              <a:buFont typeface="Wingdings" panose="05000000000000000000" pitchFamily="2" charset="2"/>
              <a:buNone/>
            </a:pPr>
            <a:endParaRPr lang="en-US" altLang="zh-CN" sz="3200" b="1" dirty="0">
              <a:ea typeface="楷体_GB2312" pitchFamily="1" charset="-122"/>
            </a:endParaRPr>
          </a:p>
        </p:txBody>
      </p:sp>
      <p:sp>
        <p:nvSpPr>
          <p:cNvPr id="2" name="灯片编号占位符 1">
            <a:extLst>
              <a:ext uri="{FF2B5EF4-FFF2-40B4-BE49-F238E27FC236}">
                <a16:creationId xmlns:a16="http://schemas.microsoft.com/office/drawing/2014/main" id="{0C94DB30-8E8E-292F-61FB-F863D2EDEBFA}"/>
              </a:ext>
            </a:extLst>
          </p:cNvPr>
          <p:cNvSpPr>
            <a:spLocks noGrp="1"/>
          </p:cNvSpPr>
          <p:nvPr>
            <p:ph type="sldNum" sz="quarter" idx="11"/>
          </p:nvPr>
        </p:nvSpPr>
        <p:spPr/>
        <p:txBody>
          <a:bodyPr/>
          <a:lstStyle/>
          <a:p>
            <a:pPr>
              <a:defRPr/>
            </a:pPr>
            <a:fld id="{B77A47BA-BA63-4780-94A9-8AFA2EA4438D}" type="slidenum">
              <a:rPr lang="en-US" altLang="zh-CN" smtClean="0"/>
              <a:pPr>
                <a:defRPr/>
              </a:pPr>
              <a:t>10</a:t>
            </a:fld>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3323">
                                            <p:bg/>
                                          </p:spTgt>
                                        </p:tgtEl>
                                        <p:attrNameLst>
                                          <p:attrName>style.visibility</p:attrName>
                                        </p:attrNameLst>
                                      </p:cBhvr>
                                      <p:to>
                                        <p:strVal val="visible"/>
                                      </p:to>
                                    </p:set>
                                    <p:animEffect transition="in" filter="wipe(left)">
                                      <p:cBhvr>
                                        <p:cTn id="7" dur="500"/>
                                        <p:tgtEl>
                                          <p:spTgt spid="13323">
                                            <p:bg/>
                                          </p:spTgt>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13323">
                                            <p:txEl>
                                              <p:pRg st="0" end="0"/>
                                            </p:txEl>
                                          </p:spTgt>
                                        </p:tgtEl>
                                        <p:attrNameLst>
                                          <p:attrName>style.visibility</p:attrName>
                                        </p:attrNameLst>
                                      </p:cBhvr>
                                      <p:to>
                                        <p:strVal val="visible"/>
                                      </p:to>
                                    </p:set>
                                    <p:animEffect transition="in" filter="wipe(left)">
                                      <p:cBhvr>
                                        <p:cTn id="10" dur="500"/>
                                        <p:tgtEl>
                                          <p:spTgt spid="13323">
                                            <p:txEl>
                                              <p:pRg st="0" end="0"/>
                                            </p:txEl>
                                          </p:spTgt>
                                        </p:tgtEl>
                                      </p:cBhvr>
                                    </p:animEffect>
                                  </p:childTnLst>
                                </p:cTn>
                              </p:par>
                              <p:par>
                                <p:cTn id="11" presetID="22" presetClass="entr" presetSubtype="8" fill="hold" grpId="0" nodeType="withEffect">
                                  <p:stCondLst>
                                    <p:cond delay="0"/>
                                  </p:stCondLst>
                                  <p:childTnLst>
                                    <p:set>
                                      <p:cBhvr>
                                        <p:cTn id="12" dur="1" fill="hold">
                                          <p:stCondLst>
                                            <p:cond delay="0"/>
                                          </p:stCondLst>
                                        </p:cTn>
                                        <p:tgtEl>
                                          <p:spTgt spid="13323">
                                            <p:txEl>
                                              <p:pRg st="1" end="1"/>
                                            </p:txEl>
                                          </p:spTgt>
                                        </p:tgtEl>
                                        <p:attrNameLst>
                                          <p:attrName>style.visibility</p:attrName>
                                        </p:attrNameLst>
                                      </p:cBhvr>
                                      <p:to>
                                        <p:strVal val="visible"/>
                                      </p:to>
                                    </p:set>
                                    <p:animEffect transition="in" filter="wipe(left)">
                                      <p:cBhvr>
                                        <p:cTn id="13" dur="500"/>
                                        <p:tgtEl>
                                          <p:spTgt spid="13323">
                                            <p:txEl>
                                              <p:pRg st="1" end="1"/>
                                            </p:txEl>
                                          </p:spTgt>
                                        </p:tgtEl>
                                      </p:cBhvr>
                                    </p:animEffect>
                                  </p:childTnLst>
                                </p:cTn>
                              </p:par>
                              <p:par>
                                <p:cTn id="14" presetID="22" presetClass="entr" presetSubtype="8" fill="hold" grpId="0" nodeType="withEffect">
                                  <p:stCondLst>
                                    <p:cond delay="0"/>
                                  </p:stCondLst>
                                  <p:childTnLst>
                                    <p:set>
                                      <p:cBhvr>
                                        <p:cTn id="15" dur="1" fill="hold">
                                          <p:stCondLst>
                                            <p:cond delay="0"/>
                                          </p:stCondLst>
                                        </p:cTn>
                                        <p:tgtEl>
                                          <p:spTgt spid="13323">
                                            <p:txEl>
                                              <p:pRg st="2" end="2"/>
                                            </p:txEl>
                                          </p:spTgt>
                                        </p:tgtEl>
                                        <p:attrNameLst>
                                          <p:attrName>style.visibility</p:attrName>
                                        </p:attrNameLst>
                                      </p:cBhvr>
                                      <p:to>
                                        <p:strVal val="visible"/>
                                      </p:to>
                                    </p:set>
                                    <p:animEffect transition="in" filter="wipe(left)">
                                      <p:cBhvr>
                                        <p:cTn id="16" dur="500"/>
                                        <p:tgtEl>
                                          <p:spTgt spid="13323">
                                            <p:txEl>
                                              <p:pRg st="2" end="2"/>
                                            </p:txEl>
                                          </p:spTgt>
                                        </p:tgtEl>
                                      </p:cBhvr>
                                    </p:animEffect>
                                  </p:childTnLst>
                                </p:cTn>
                              </p:par>
                              <p:par>
                                <p:cTn id="17" presetID="22" presetClass="entr" presetSubtype="8" fill="hold" grpId="0" nodeType="withEffect">
                                  <p:stCondLst>
                                    <p:cond delay="0"/>
                                  </p:stCondLst>
                                  <p:childTnLst>
                                    <p:set>
                                      <p:cBhvr>
                                        <p:cTn id="18" dur="1" fill="hold">
                                          <p:stCondLst>
                                            <p:cond delay="0"/>
                                          </p:stCondLst>
                                        </p:cTn>
                                        <p:tgtEl>
                                          <p:spTgt spid="13323">
                                            <p:txEl>
                                              <p:pRg st="3" end="3"/>
                                            </p:txEl>
                                          </p:spTgt>
                                        </p:tgtEl>
                                        <p:attrNameLst>
                                          <p:attrName>style.visibility</p:attrName>
                                        </p:attrNameLst>
                                      </p:cBhvr>
                                      <p:to>
                                        <p:strVal val="visible"/>
                                      </p:to>
                                    </p:set>
                                    <p:animEffect transition="in" filter="wipe(left)">
                                      <p:cBhvr>
                                        <p:cTn id="19" dur="500"/>
                                        <p:tgtEl>
                                          <p:spTgt spid="13323">
                                            <p:txEl>
                                              <p:pRg st="3" end="3"/>
                                            </p:txEl>
                                          </p:spTgt>
                                        </p:tgtEl>
                                      </p:cBhvr>
                                    </p:animEffect>
                                  </p:childTnLst>
                                </p:cTn>
                              </p:par>
                            </p:childTnLst>
                          </p:cTn>
                        </p:par>
                      </p:childTnLst>
                    </p:cTn>
                  </p:par>
                  <p:par>
                    <p:cTn id="20" fill="hold" nodeType="clickPar">
                      <p:stCondLst>
                        <p:cond delay="indefinite"/>
                      </p:stCondLst>
                      <p:childTnLst>
                        <p:par>
                          <p:cTn id="21" fill="hold" nodeType="withGroup">
                            <p:stCondLst>
                              <p:cond delay="0"/>
                            </p:stCondLst>
                            <p:childTnLst>
                              <p:par>
                                <p:cTn id="22" presetID="22" presetClass="entr" presetSubtype="1" fill="hold" nodeType="clickEffect">
                                  <p:stCondLst>
                                    <p:cond delay="0"/>
                                  </p:stCondLst>
                                  <p:childTnLst>
                                    <p:set>
                                      <p:cBhvr>
                                        <p:cTn id="23" dur="1" fill="hold">
                                          <p:stCondLst>
                                            <p:cond delay="0"/>
                                          </p:stCondLst>
                                        </p:cTn>
                                        <p:tgtEl>
                                          <p:spTgt spid="13320"/>
                                        </p:tgtEl>
                                        <p:attrNameLst>
                                          <p:attrName>style.visibility</p:attrName>
                                        </p:attrNameLst>
                                      </p:cBhvr>
                                      <p:to>
                                        <p:strVal val="visible"/>
                                      </p:to>
                                    </p:set>
                                    <p:animEffect transition="in" filter="wipe(up)">
                                      <p:cBhvr>
                                        <p:cTn id="24" dur="500"/>
                                        <p:tgtEl>
                                          <p:spTgt spid="13320"/>
                                        </p:tgtEl>
                                      </p:cBhvr>
                                    </p:animEffect>
                                  </p:childTnLst>
                                </p:cTn>
                              </p:par>
                            </p:childTnLst>
                          </p:cTn>
                        </p:par>
                        <p:par>
                          <p:cTn id="25" fill="hold" nodeType="afterGroup">
                            <p:stCondLst>
                              <p:cond delay="500"/>
                            </p:stCondLst>
                            <p:childTnLst>
                              <p:par>
                                <p:cTn id="26" presetID="22" presetClass="entr" presetSubtype="1" fill="hold" grpId="0" nodeType="afterEffect">
                                  <p:stCondLst>
                                    <p:cond delay="0"/>
                                  </p:stCondLst>
                                  <p:childTnLst>
                                    <p:set>
                                      <p:cBhvr>
                                        <p:cTn id="27" dur="1" fill="hold">
                                          <p:stCondLst>
                                            <p:cond delay="0"/>
                                          </p:stCondLst>
                                        </p:cTn>
                                        <p:tgtEl>
                                          <p:spTgt spid="13315"/>
                                        </p:tgtEl>
                                        <p:attrNameLst>
                                          <p:attrName>style.visibility</p:attrName>
                                        </p:attrNameLst>
                                      </p:cBhvr>
                                      <p:to>
                                        <p:strVal val="visible"/>
                                      </p:to>
                                    </p:set>
                                    <p:animEffect transition="in" filter="wipe(up)">
                                      <p:cBhvr>
                                        <p:cTn id="28" dur="500"/>
                                        <p:tgtEl>
                                          <p:spTgt spid="13315"/>
                                        </p:tgtEl>
                                      </p:cBhvr>
                                    </p:animEffect>
                                  </p:childTnLst>
                                </p:cTn>
                              </p:par>
                            </p:childTnLst>
                          </p:cTn>
                        </p:par>
                      </p:childTnLst>
                    </p:cTn>
                  </p:par>
                  <p:par>
                    <p:cTn id="29" fill="hold" nodeType="clickPar">
                      <p:stCondLst>
                        <p:cond delay="indefinite"/>
                      </p:stCondLst>
                      <p:childTnLst>
                        <p:par>
                          <p:cTn id="30" fill="hold" nodeType="withGroup">
                            <p:stCondLst>
                              <p:cond delay="0"/>
                            </p:stCondLst>
                            <p:childTnLst>
                              <p:par>
                                <p:cTn id="31" presetID="22" presetClass="entr" presetSubtype="1" fill="hold" nodeType="clickEffect">
                                  <p:stCondLst>
                                    <p:cond delay="0"/>
                                  </p:stCondLst>
                                  <p:childTnLst>
                                    <p:set>
                                      <p:cBhvr>
                                        <p:cTn id="32" dur="1" fill="hold">
                                          <p:stCondLst>
                                            <p:cond delay="0"/>
                                          </p:stCondLst>
                                        </p:cTn>
                                        <p:tgtEl>
                                          <p:spTgt spid="13321"/>
                                        </p:tgtEl>
                                        <p:attrNameLst>
                                          <p:attrName>style.visibility</p:attrName>
                                        </p:attrNameLst>
                                      </p:cBhvr>
                                      <p:to>
                                        <p:strVal val="visible"/>
                                      </p:to>
                                    </p:set>
                                    <p:animEffect transition="in" filter="wipe(up)">
                                      <p:cBhvr>
                                        <p:cTn id="33" dur="500"/>
                                        <p:tgtEl>
                                          <p:spTgt spid="13321"/>
                                        </p:tgtEl>
                                      </p:cBhvr>
                                    </p:animEffect>
                                  </p:childTnLst>
                                </p:cTn>
                              </p:par>
                            </p:childTnLst>
                          </p:cTn>
                        </p:par>
                        <p:par>
                          <p:cTn id="34" fill="hold" nodeType="afterGroup">
                            <p:stCondLst>
                              <p:cond delay="500"/>
                            </p:stCondLst>
                            <p:childTnLst>
                              <p:par>
                                <p:cTn id="35" presetID="22" presetClass="entr" presetSubtype="1" fill="hold" grpId="0" nodeType="afterEffect">
                                  <p:stCondLst>
                                    <p:cond delay="0"/>
                                  </p:stCondLst>
                                  <p:childTnLst>
                                    <p:set>
                                      <p:cBhvr>
                                        <p:cTn id="36" dur="1" fill="hold">
                                          <p:stCondLst>
                                            <p:cond delay="0"/>
                                          </p:stCondLst>
                                        </p:cTn>
                                        <p:tgtEl>
                                          <p:spTgt spid="13316"/>
                                        </p:tgtEl>
                                        <p:attrNameLst>
                                          <p:attrName>style.visibility</p:attrName>
                                        </p:attrNameLst>
                                      </p:cBhvr>
                                      <p:to>
                                        <p:strVal val="visible"/>
                                      </p:to>
                                    </p:set>
                                    <p:animEffect transition="in" filter="wipe(up)">
                                      <p:cBhvr>
                                        <p:cTn id="37" dur="500"/>
                                        <p:tgtEl>
                                          <p:spTgt spid="13316"/>
                                        </p:tgtEl>
                                      </p:cBhvr>
                                    </p:animEffect>
                                  </p:childTnLst>
                                </p:cTn>
                              </p:par>
                            </p:childTnLst>
                          </p:cTn>
                        </p:par>
                      </p:childTnLst>
                    </p:cTn>
                  </p:par>
                  <p:par>
                    <p:cTn id="38" fill="hold">
                      <p:stCondLst>
                        <p:cond delay="indefinite"/>
                      </p:stCondLst>
                      <p:childTnLst>
                        <p:par>
                          <p:cTn id="39" fill="hold" nodeType="afterGroup">
                            <p:stCondLst>
                              <p:cond delay="0"/>
                            </p:stCondLst>
                            <p:childTnLst>
                              <p:par>
                                <p:cTn id="40" presetID="22" presetClass="entr" presetSubtype="1" fill="hold" nodeType="clickEffect">
                                  <p:stCondLst>
                                    <p:cond delay="0"/>
                                  </p:stCondLst>
                                  <p:childTnLst>
                                    <p:set>
                                      <p:cBhvr>
                                        <p:cTn id="41" dur="1" fill="hold">
                                          <p:stCondLst>
                                            <p:cond delay="0"/>
                                          </p:stCondLst>
                                        </p:cTn>
                                        <p:tgtEl>
                                          <p:spTgt spid="13319"/>
                                        </p:tgtEl>
                                        <p:attrNameLst>
                                          <p:attrName>style.visibility</p:attrName>
                                        </p:attrNameLst>
                                      </p:cBhvr>
                                      <p:to>
                                        <p:strVal val="visible"/>
                                      </p:to>
                                    </p:set>
                                    <p:animEffect transition="in" filter="wipe(up)">
                                      <p:cBhvr>
                                        <p:cTn id="42" dur="500"/>
                                        <p:tgtEl>
                                          <p:spTgt spid="13319"/>
                                        </p:tgtEl>
                                      </p:cBhvr>
                                    </p:animEffect>
                                  </p:childTnLst>
                                </p:cTn>
                              </p:par>
                            </p:childTnLst>
                          </p:cTn>
                        </p:par>
                        <p:par>
                          <p:cTn id="43" fill="hold" nodeType="withGroup">
                            <p:stCondLst>
                              <p:cond delay="500"/>
                            </p:stCondLst>
                            <p:childTnLst>
                              <p:par>
                                <p:cTn id="44" presetID="22" presetClass="entr" presetSubtype="1" fill="hold" grpId="0" nodeType="afterEffect">
                                  <p:stCondLst>
                                    <p:cond delay="0"/>
                                  </p:stCondLst>
                                  <p:childTnLst>
                                    <p:set>
                                      <p:cBhvr>
                                        <p:cTn id="45" dur="1" fill="hold">
                                          <p:stCondLst>
                                            <p:cond delay="0"/>
                                          </p:stCondLst>
                                        </p:cTn>
                                        <p:tgtEl>
                                          <p:spTgt spid="13317"/>
                                        </p:tgtEl>
                                        <p:attrNameLst>
                                          <p:attrName>style.visibility</p:attrName>
                                        </p:attrNameLst>
                                      </p:cBhvr>
                                      <p:to>
                                        <p:strVal val="visible"/>
                                      </p:to>
                                    </p:set>
                                    <p:animEffect transition="in" filter="wipe(up)">
                                      <p:cBhvr>
                                        <p:cTn id="46" dur="500"/>
                                        <p:tgtEl>
                                          <p:spTgt spid="13317"/>
                                        </p:tgtEl>
                                      </p:cBhvr>
                                    </p:animEffect>
                                  </p:childTnLst>
                                </p:cTn>
                              </p:par>
                            </p:childTnLst>
                          </p:cTn>
                        </p:par>
                      </p:childTnLst>
                    </p:cTn>
                  </p:par>
                  <p:par>
                    <p:cTn id="47" fill="hold" nodeType="clickPar">
                      <p:stCondLst>
                        <p:cond delay="indefinite"/>
                      </p:stCondLst>
                      <p:childTnLst>
                        <p:par>
                          <p:cTn id="48" fill="hold" nodeType="withGroup">
                            <p:stCondLst>
                              <p:cond delay="0"/>
                            </p:stCondLst>
                            <p:childTnLst>
                              <p:par>
                                <p:cTn id="49" presetID="22" presetClass="entr" presetSubtype="1" fill="hold" nodeType="clickEffect">
                                  <p:stCondLst>
                                    <p:cond delay="0"/>
                                  </p:stCondLst>
                                  <p:childTnLst>
                                    <p:set>
                                      <p:cBhvr>
                                        <p:cTn id="50" dur="1" fill="hold">
                                          <p:stCondLst>
                                            <p:cond delay="0"/>
                                          </p:stCondLst>
                                        </p:cTn>
                                        <p:tgtEl>
                                          <p:spTgt spid="13318"/>
                                        </p:tgtEl>
                                        <p:attrNameLst>
                                          <p:attrName>style.visibility</p:attrName>
                                        </p:attrNameLst>
                                      </p:cBhvr>
                                      <p:to>
                                        <p:strVal val="visible"/>
                                      </p:to>
                                    </p:set>
                                    <p:animEffect transition="in" filter="wipe(up)">
                                      <p:cBhvr>
                                        <p:cTn id="51" dur="500"/>
                                        <p:tgtEl>
                                          <p:spTgt spid="13318"/>
                                        </p:tgtEl>
                                      </p:cBhvr>
                                    </p:animEffect>
                                  </p:childTnLst>
                                </p:cTn>
                              </p:par>
                            </p:childTnLst>
                          </p:cTn>
                        </p:par>
                        <p:par>
                          <p:cTn id="52" fill="hold" nodeType="afterGroup">
                            <p:stCondLst>
                              <p:cond delay="500"/>
                            </p:stCondLst>
                            <p:childTnLst>
                              <p:par>
                                <p:cTn id="53" presetID="2" presetClass="entr" presetSubtype="4" fill="hold" grpId="0" nodeType="afterEffect">
                                  <p:stCondLst>
                                    <p:cond delay="0"/>
                                  </p:stCondLst>
                                  <p:childTnLst>
                                    <p:set>
                                      <p:cBhvr>
                                        <p:cTn id="54" dur="1" fill="hold">
                                          <p:stCondLst>
                                            <p:cond delay="0"/>
                                          </p:stCondLst>
                                        </p:cTn>
                                        <p:tgtEl>
                                          <p:spTgt spid="13322"/>
                                        </p:tgtEl>
                                        <p:attrNameLst>
                                          <p:attrName>style.visibility</p:attrName>
                                        </p:attrNameLst>
                                      </p:cBhvr>
                                      <p:to>
                                        <p:strVal val="visible"/>
                                      </p:to>
                                    </p:set>
                                    <p:anim calcmode="lin" valueType="num">
                                      <p:cBhvr additive="base">
                                        <p:cTn id="55" dur="500" fill="hold"/>
                                        <p:tgtEl>
                                          <p:spTgt spid="13322"/>
                                        </p:tgtEl>
                                        <p:attrNameLst>
                                          <p:attrName>ppt_x</p:attrName>
                                        </p:attrNameLst>
                                      </p:cBhvr>
                                      <p:tavLst>
                                        <p:tav tm="0">
                                          <p:val>
                                            <p:strVal val="#ppt_x"/>
                                          </p:val>
                                        </p:tav>
                                        <p:tav tm="100000">
                                          <p:val>
                                            <p:strVal val="#ppt_x"/>
                                          </p:val>
                                        </p:tav>
                                      </p:tavLst>
                                    </p:anim>
                                    <p:anim calcmode="lin" valueType="num">
                                      <p:cBhvr additive="base">
                                        <p:cTn id="56" dur="500" fill="hold"/>
                                        <p:tgtEl>
                                          <p:spTgt spid="1332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315" grpId="0" autoUpdateAnimBg="0"/>
      <p:bldP spid="13316" grpId="0" autoUpdateAnimBg="0"/>
      <p:bldP spid="13317" grpId="0" autoUpdateAnimBg="0"/>
      <p:bldP spid="13322" grpId="0" autoUpdateAnimBg="0"/>
      <p:bldP spid="13323" grpId="0" build="p" animBg="1" autoUpdateAnimBg="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Grp="1" noChangeArrowheads="1"/>
          </p:cNvSpPr>
          <p:nvPr>
            <p:ph type="title" idx="4294967295"/>
          </p:nvPr>
        </p:nvSpPr>
        <p:spPr>
          <a:xfrm>
            <a:off x="1463824" y="292896"/>
            <a:ext cx="10272465" cy="1371600"/>
          </a:xfrm>
        </p:spPr>
        <p:txBody>
          <a:bodyPr/>
          <a:lstStyle/>
          <a:p>
            <a:pPr eaLnBrk="1" hangingPunct="1"/>
            <a:r>
              <a:rPr lang="en-US" altLang="zh-CN" dirty="0" err="1">
                <a:solidFill>
                  <a:srgbClr val="128828"/>
                </a:solidFill>
                <a:latin typeface="Comic Sans MS" panose="030F0702030302020204" pitchFamily="66" charset="0"/>
                <a:ea typeface="黑体" panose="02010609060101010101" pitchFamily="49" charset="-122"/>
              </a:rPr>
              <a:t>Mamdani</a:t>
            </a:r>
            <a:r>
              <a:rPr lang="en-US" altLang="zh-CN" dirty="0">
                <a:solidFill>
                  <a:srgbClr val="128828"/>
                </a:solidFill>
                <a:latin typeface="Comic Sans MS" panose="030F0702030302020204" pitchFamily="66" charset="0"/>
                <a:ea typeface="黑体" panose="02010609060101010101" pitchFamily="49" charset="-122"/>
              </a:rPr>
              <a:t> </a:t>
            </a:r>
            <a:r>
              <a:rPr lang="zh-CN" altLang="en-US" dirty="0">
                <a:solidFill>
                  <a:srgbClr val="128828"/>
                </a:solidFill>
                <a:latin typeface="Comic Sans MS" panose="030F0702030302020204" pitchFamily="66" charset="0"/>
                <a:ea typeface="黑体" panose="02010609060101010101" pitchFamily="49" charset="-122"/>
              </a:rPr>
              <a:t>模糊模型</a:t>
            </a:r>
            <a:r>
              <a:rPr lang="zh-CN" altLang="en-US" dirty="0">
                <a:solidFill>
                  <a:srgbClr val="008000"/>
                </a:solidFill>
                <a:ea typeface="黑体" panose="02010609060101010101" pitchFamily="49" charset="-122"/>
              </a:rPr>
              <a:t>两输入单输出</a:t>
            </a:r>
            <a:r>
              <a:rPr lang="zh-CN" altLang="en-US" dirty="0">
                <a:solidFill>
                  <a:srgbClr val="128828"/>
                </a:solidFill>
                <a:latin typeface="Comic Sans MS" panose="030F0702030302020204" pitchFamily="66" charset="0"/>
                <a:ea typeface="黑体" panose="02010609060101010101" pitchFamily="49" charset="-122"/>
              </a:rPr>
              <a:t>举例</a:t>
            </a:r>
          </a:p>
        </p:txBody>
      </p:sp>
      <p:pic>
        <p:nvPicPr>
          <p:cNvPr id="14339"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079876" y="1868489"/>
            <a:ext cx="6480175" cy="3508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4340" name="Picture 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078288" y="5589588"/>
            <a:ext cx="6481762" cy="1193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341" name="Rectangle 3"/>
          <p:cNvSpPr txBox="1">
            <a:spLocks noChangeArrowheads="1"/>
          </p:cNvSpPr>
          <p:nvPr/>
        </p:nvSpPr>
        <p:spPr bwMode="auto">
          <a:xfrm>
            <a:off x="695400" y="2348484"/>
            <a:ext cx="3183186" cy="2375918"/>
          </a:xfrm>
          <a:prstGeom prst="rect">
            <a:avLst/>
          </a:prstGeom>
          <a:solidFill>
            <a:srgbClr val="FFCC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spcBef>
                <a:spcPct val="20000"/>
              </a:spcBef>
              <a:buClr>
                <a:schemeClr val="bg2"/>
              </a:buClr>
              <a:buSzPct val="75000"/>
              <a:buFont typeface="Wingdings" panose="05000000000000000000" pitchFamily="2" charset="2"/>
              <a:buNone/>
            </a:pPr>
            <a:r>
              <a:rPr lang="en-US" altLang="zh-CN" sz="2000" b="1" dirty="0">
                <a:ea typeface="楷体_GB2312" pitchFamily="1" charset="-122"/>
              </a:rPr>
              <a:t>IF </a:t>
            </a:r>
            <a:r>
              <a:rPr lang="en-US" altLang="zh-CN" sz="2000" b="1" u="sng" dirty="0">
                <a:ea typeface="楷体_GB2312" pitchFamily="1" charset="-122"/>
              </a:rPr>
              <a:t>X</a:t>
            </a:r>
            <a:r>
              <a:rPr lang="zh-CN" altLang="en-US" sz="2000" b="1" u="sng" dirty="0">
                <a:ea typeface="楷体_GB2312" pitchFamily="1" charset="-122"/>
              </a:rPr>
              <a:t>小 </a:t>
            </a:r>
            <a:r>
              <a:rPr lang="en-US" altLang="zh-CN" sz="2000" b="1" u="sng" dirty="0">
                <a:ea typeface="楷体_GB2312" pitchFamily="1" charset="-122"/>
              </a:rPr>
              <a:t>Y</a:t>
            </a:r>
            <a:r>
              <a:rPr lang="zh-CN" altLang="en-US" sz="2000" b="1" u="sng" dirty="0">
                <a:ea typeface="楷体_GB2312" pitchFamily="1" charset="-122"/>
              </a:rPr>
              <a:t>小</a:t>
            </a:r>
            <a:r>
              <a:rPr lang="zh-CN" altLang="en-US" sz="2000" b="1" dirty="0">
                <a:ea typeface="楷体_GB2312" pitchFamily="1" charset="-122"/>
              </a:rPr>
              <a:t> </a:t>
            </a:r>
            <a:r>
              <a:rPr lang="en-US" altLang="zh-CN" sz="2000" b="1" dirty="0">
                <a:ea typeface="楷体_GB2312" pitchFamily="1" charset="-122"/>
              </a:rPr>
              <a:t>THEN </a:t>
            </a:r>
            <a:r>
              <a:rPr lang="en-US" altLang="zh-CN" sz="2000" b="1" u="sng" dirty="0">
                <a:ea typeface="楷体_GB2312" pitchFamily="1" charset="-122"/>
              </a:rPr>
              <a:t>Z </a:t>
            </a:r>
            <a:r>
              <a:rPr lang="zh-CN" altLang="en-US" sz="2000" b="1" u="sng" dirty="0">
                <a:ea typeface="楷体_GB2312" pitchFamily="1" charset="-122"/>
              </a:rPr>
              <a:t>负大</a:t>
            </a:r>
            <a:endParaRPr lang="en-US" altLang="zh-CN" sz="2000" b="1" u="sng" dirty="0">
              <a:ea typeface="楷体_GB2312" pitchFamily="1" charset="-122"/>
            </a:endParaRPr>
          </a:p>
          <a:p>
            <a:pPr eaLnBrk="1" hangingPunct="1">
              <a:spcBef>
                <a:spcPct val="20000"/>
              </a:spcBef>
              <a:buClr>
                <a:schemeClr val="bg2"/>
              </a:buClr>
              <a:buSzPct val="75000"/>
              <a:buFont typeface="Wingdings" panose="05000000000000000000" pitchFamily="2" charset="2"/>
              <a:buNone/>
            </a:pPr>
            <a:endParaRPr lang="zh-CN" altLang="en-US" sz="1400" b="1" u="sng" dirty="0">
              <a:ea typeface="楷体_GB2312" pitchFamily="1" charset="-122"/>
            </a:endParaRPr>
          </a:p>
          <a:p>
            <a:pPr eaLnBrk="1" hangingPunct="1">
              <a:spcBef>
                <a:spcPct val="20000"/>
              </a:spcBef>
              <a:buClr>
                <a:schemeClr val="bg2"/>
              </a:buClr>
              <a:buSzPct val="75000"/>
              <a:buFont typeface="Wingdings" panose="05000000000000000000" pitchFamily="2" charset="2"/>
              <a:buNone/>
            </a:pPr>
            <a:r>
              <a:rPr lang="en-US" altLang="zh-CN" sz="2000" b="1" dirty="0">
                <a:ea typeface="楷体_GB2312" pitchFamily="1" charset="-122"/>
              </a:rPr>
              <a:t>IF </a:t>
            </a:r>
            <a:r>
              <a:rPr lang="en-US" altLang="zh-CN" sz="2000" b="1" u="sng" dirty="0">
                <a:ea typeface="楷体_GB2312" pitchFamily="1" charset="-122"/>
              </a:rPr>
              <a:t>X</a:t>
            </a:r>
            <a:r>
              <a:rPr lang="zh-CN" altLang="en-US" sz="2000" b="1" u="sng" dirty="0">
                <a:ea typeface="楷体_GB2312" pitchFamily="1" charset="-122"/>
              </a:rPr>
              <a:t>小 </a:t>
            </a:r>
            <a:r>
              <a:rPr lang="en-US" altLang="zh-CN" sz="2000" b="1" u="sng" dirty="0">
                <a:ea typeface="楷体_GB2312" pitchFamily="1" charset="-122"/>
              </a:rPr>
              <a:t>Y</a:t>
            </a:r>
            <a:r>
              <a:rPr lang="zh-CN" altLang="en-US" sz="2000" b="1" u="sng" dirty="0">
                <a:ea typeface="楷体_GB2312" pitchFamily="1" charset="-122"/>
              </a:rPr>
              <a:t>大</a:t>
            </a:r>
            <a:r>
              <a:rPr lang="zh-CN" altLang="en-US" sz="2000" b="1" dirty="0">
                <a:ea typeface="楷体_GB2312" pitchFamily="1" charset="-122"/>
              </a:rPr>
              <a:t> </a:t>
            </a:r>
            <a:r>
              <a:rPr lang="en-US" altLang="zh-CN" sz="2000" b="1" dirty="0">
                <a:ea typeface="楷体_GB2312" pitchFamily="1" charset="-122"/>
              </a:rPr>
              <a:t>THEN </a:t>
            </a:r>
            <a:r>
              <a:rPr lang="en-US" altLang="zh-CN" sz="2000" b="1" u="sng" dirty="0">
                <a:ea typeface="楷体_GB2312" pitchFamily="1" charset="-122"/>
              </a:rPr>
              <a:t>Z </a:t>
            </a:r>
            <a:r>
              <a:rPr lang="zh-CN" altLang="en-US" sz="2000" b="1" u="sng" dirty="0">
                <a:ea typeface="楷体_GB2312" pitchFamily="1" charset="-122"/>
              </a:rPr>
              <a:t>负小</a:t>
            </a:r>
            <a:endParaRPr lang="en-US" altLang="zh-CN" sz="2000" b="1" u="sng" dirty="0">
              <a:ea typeface="楷体_GB2312" pitchFamily="1" charset="-122"/>
            </a:endParaRPr>
          </a:p>
          <a:p>
            <a:pPr eaLnBrk="1" hangingPunct="1">
              <a:spcBef>
                <a:spcPct val="20000"/>
              </a:spcBef>
              <a:buClr>
                <a:schemeClr val="bg2"/>
              </a:buClr>
              <a:buSzPct val="75000"/>
              <a:buFont typeface="Wingdings" panose="05000000000000000000" pitchFamily="2" charset="2"/>
              <a:buNone/>
            </a:pPr>
            <a:endParaRPr lang="zh-CN" altLang="en-US" sz="1400" b="1" u="sng" dirty="0">
              <a:ea typeface="楷体_GB2312" pitchFamily="1" charset="-122"/>
            </a:endParaRPr>
          </a:p>
          <a:p>
            <a:pPr eaLnBrk="1" hangingPunct="1">
              <a:spcBef>
                <a:spcPct val="20000"/>
              </a:spcBef>
              <a:buClr>
                <a:schemeClr val="bg2"/>
              </a:buClr>
              <a:buSzPct val="75000"/>
              <a:buFont typeface="Wingdings" panose="05000000000000000000" pitchFamily="2" charset="2"/>
              <a:buNone/>
            </a:pPr>
            <a:r>
              <a:rPr lang="en-US" altLang="zh-CN" sz="2000" b="1" dirty="0">
                <a:ea typeface="楷体_GB2312" pitchFamily="1" charset="-122"/>
              </a:rPr>
              <a:t>IF </a:t>
            </a:r>
            <a:r>
              <a:rPr lang="en-US" altLang="zh-CN" sz="2000" b="1" u="sng" dirty="0">
                <a:ea typeface="楷体_GB2312" pitchFamily="1" charset="-122"/>
              </a:rPr>
              <a:t>X</a:t>
            </a:r>
            <a:r>
              <a:rPr lang="zh-CN" altLang="en-US" sz="2000" b="1" u="sng" dirty="0">
                <a:ea typeface="楷体_GB2312" pitchFamily="1" charset="-122"/>
              </a:rPr>
              <a:t>大 </a:t>
            </a:r>
            <a:r>
              <a:rPr lang="en-US" altLang="zh-CN" sz="2000" b="1" u="sng" dirty="0">
                <a:ea typeface="楷体_GB2312" pitchFamily="1" charset="-122"/>
              </a:rPr>
              <a:t>Y</a:t>
            </a:r>
            <a:r>
              <a:rPr lang="zh-CN" altLang="en-US" sz="2000" b="1" u="sng" dirty="0">
                <a:ea typeface="楷体_GB2312" pitchFamily="1" charset="-122"/>
              </a:rPr>
              <a:t>小</a:t>
            </a:r>
            <a:r>
              <a:rPr lang="zh-CN" altLang="en-US" sz="2000" b="1" dirty="0">
                <a:ea typeface="楷体_GB2312" pitchFamily="1" charset="-122"/>
              </a:rPr>
              <a:t> </a:t>
            </a:r>
            <a:r>
              <a:rPr lang="en-US" altLang="zh-CN" sz="2000" b="1" dirty="0">
                <a:ea typeface="楷体_GB2312" pitchFamily="1" charset="-122"/>
              </a:rPr>
              <a:t>THEN </a:t>
            </a:r>
            <a:r>
              <a:rPr lang="en-US" altLang="zh-CN" sz="2000" b="1" u="sng" dirty="0">
                <a:ea typeface="楷体_GB2312" pitchFamily="1" charset="-122"/>
              </a:rPr>
              <a:t>Z </a:t>
            </a:r>
            <a:r>
              <a:rPr lang="zh-CN" altLang="en-US" sz="2000" b="1" u="sng" dirty="0">
                <a:ea typeface="楷体_GB2312" pitchFamily="1" charset="-122"/>
              </a:rPr>
              <a:t>正小</a:t>
            </a:r>
            <a:endParaRPr lang="en-US" altLang="zh-CN" sz="2000" b="1" u="sng" dirty="0">
              <a:ea typeface="楷体_GB2312" pitchFamily="1" charset="-122"/>
            </a:endParaRPr>
          </a:p>
          <a:p>
            <a:pPr eaLnBrk="1" hangingPunct="1">
              <a:spcBef>
                <a:spcPct val="20000"/>
              </a:spcBef>
              <a:buClr>
                <a:schemeClr val="bg2"/>
              </a:buClr>
              <a:buSzPct val="75000"/>
              <a:buFont typeface="Wingdings" panose="05000000000000000000" pitchFamily="2" charset="2"/>
              <a:buNone/>
            </a:pPr>
            <a:endParaRPr lang="en-US" altLang="zh-CN" sz="1400" b="1" u="sng" dirty="0">
              <a:ea typeface="楷体_GB2312" pitchFamily="1" charset="-122"/>
            </a:endParaRPr>
          </a:p>
          <a:p>
            <a:pPr eaLnBrk="1" hangingPunct="1">
              <a:spcBef>
                <a:spcPct val="20000"/>
              </a:spcBef>
              <a:buClr>
                <a:schemeClr val="bg2"/>
              </a:buClr>
              <a:buSzPct val="75000"/>
              <a:buFont typeface="Wingdings" panose="05000000000000000000" pitchFamily="2" charset="2"/>
              <a:buNone/>
            </a:pPr>
            <a:r>
              <a:rPr lang="en-US" altLang="zh-CN" sz="2000" b="1" dirty="0">
                <a:ea typeface="楷体_GB2312" pitchFamily="1" charset="-122"/>
              </a:rPr>
              <a:t>IF </a:t>
            </a:r>
            <a:r>
              <a:rPr lang="en-US" altLang="zh-CN" sz="2000" b="1" u="sng" dirty="0">
                <a:ea typeface="楷体_GB2312" pitchFamily="1" charset="-122"/>
              </a:rPr>
              <a:t>X</a:t>
            </a:r>
            <a:r>
              <a:rPr lang="zh-CN" altLang="en-US" sz="2000" b="1" u="sng" dirty="0">
                <a:ea typeface="楷体_GB2312" pitchFamily="1" charset="-122"/>
              </a:rPr>
              <a:t>大 </a:t>
            </a:r>
            <a:r>
              <a:rPr lang="en-US" altLang="zh-CN" sz="2000" b="1" u="sng" dirty="0">
                <a:ea typeface="楷体_GB2312" pitchFamily="1" charset="-122"/>
              </a:rPr>
              <a:t>Y</a:t>
            </a:r>
            <a:r>
              <a:rPr lang="zh-CN" altLang="en-US" sz="2000" b="1" u="sng" dirty="0">
                <a:ea typeface="楷体_GB2312" pitchFamily="1" charset="-122"/>
              </a:rPr>
              <a:t>大</a:t>
            </a:r>
            <a:r>
              <a:rPr lang="zh-CN" altLang="en-US" sz="2000" b="1" dirty="0">
                <a:ea typeface="楷体_GB2312" pitchFamily="1" charset="-122"/>
              </a:rPr>
              <a:t> </a:t>
            </a:r>
            <a:r>
              <a:rPr lang="en-US" altLang="zh-CN" sz="2000" b="1" dirty="0">
                <a:ea typeface="楷体_GB2312" pitchFamily="1" charset="-122"/>
              </a:rPr>
              <a:t>THEN </a:t>
            </a:r>
            <a:r>
              <a:rPr lang="en-US" altLang="zh-CN" sz="2000" b="1" u="sng" dirty="0">
                <a:ea typeface="楷体_GB2312" pitchFamily="1" charset="-122"/>
              </a:rPr>
              <a:t>Z </a:t>
            </a:r>
            <a:r>
              <a:rPr lang="zh-CN" altLang="en-US" sz="2000" b="1" u="sng" dirty="0">
                <a:ea typeface="楷体_GB2312" pitchFamily="1" charset="-122"/>
              </a:rPr>
              <a:t>正大</a:t>
            </a:r>
            <a:endParaRPr lang="en-US" altLang="zh-CN" sz="3200" b="1" dirty="0">
              <a:ea typeface="楷体_GB2312" pitchFamily="1" charset="-122"/>
            </a:endParaRPr>
          </a:p>
        </p:txBody>
      </p:sp>
      <p:sp>
        <p:nvSpPr>
          <p:cNvPr id="14342" name="矩形 1"/>
          <p:cNvSpPr>
            <a:spLocks noChangeArrowheads="1"/>
          </p:cNvSpPr>
          <p:nvPr/>
        </p:nvSpPr>
        <p:spPr bwMode="auto">
          <a:xfrm>
            <a:off x="4078288" y="2852738"/>
            <a:ext cx="6410325" cy="576262"/>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endParaRPr>
          </a:p>
        </p:txBody>
      </p:sp>
      <p:sp>
        <p:nvSpPr>
          <p:cNvPr id="14343" name="矩形 6"/>
          <p:cNvSpPr>
            <a:spLocks noChangeArrowheads="1"/>
          </p:cNvSpPr>
          <p:nvPr/>
        </p:nvSpPr>
        <p:spPr bwMode="auto">
          <a:xfrm>
            <a:off x="4078288" y="3429001"/>
            <a:ext cx="6410325" cy="576263"/>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endParaRPr>
          </a:p>
        </p:txBody>
      </p:sp>
      <p:sp>
        <p:nvSpPr>
          <p:cNvPr id="14344" name="矩形 7"/>
          <p:cNvSpPr>
            <a:spLocks noChangeArrowheads="1"/>
          </p:cNvSpPr>
          <p:nvPr/>
        </p:nvSpPr>
        <p:spPr bwMode="auto">
          <a:xfrm>
            <a:off x="4006851" y="4005264"/>
            <a:ext cx="6481762" cy="719137"/>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endParaRPr>
          </a:p>
        </p:txBody>
      </p:sp>
      <p:sp>
        <p:nvSpPr>
          <p:cNvPr id="14345" name="矩形 8"/>
          <p:cNvSpPr>
            <a:spLocks noChangeArrowheads="1"/>
          </p:cNvSpPr>
          <p:nvPr/>
        </p:nvSpPr>
        <p:spPr bwMode="auto">
          <a:xfrm>
            <a:off x="4448175" y="4724401"/>
            <a:ext cx="6121400" cy="652463"/>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endParaRPr>
          </a:p>
        </p:txBody>
      </p:sp>
      <p:grpSp>
        <p:nvGrpSpPr>
          <p:cNvPr id="2" name="组合 1"/>
          <p:cNvGrpSpPr/>
          <p:nvPr/>
        </p:nvGrpSpPr>
        <p:grpSpPr>
          <a:xfrm>
            <a:off x="4367214" y="1354262"/>
            <a:ext cx="5905251" cy="699334"/>
            <a:chOff x="2843213" y="1354262"/>
            <a:chExt cx="5905251" cy="699334"/>
          </a:xfrm>
        </p:grpSpPr>
        <p:pic>
          <p:nvPicPr>
            <p:cNvPr id="10" name="Picture 13"/>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2843213" y="1354263"/>
              <a:ext cx="1512416" cy="633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 name="Picture 14"/>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5076056" y="1354262"/>
              <a:ext cx="1440160" cy="6467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 name="Picture 12"/>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7246803" y="1354262"/>
              <a:ext cx="1501661" cy="6993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3" name="灯片编号占位符 2">
            <a:extLst>
              <a:ext uri="{FF2B5EF4-FFF2-40B4-BE49-F238E27FC236}">
                <a16:creationId xmlns:a16="http://schemas.microsoft.com/office/drawing/2014/main" id="{81FCC333-55AD-7109-E470-734254A87AF8}"/>
              </a:ext>
            </a:extLst>
          </p:cNvPr>
          <p:cNvSpPr>
            <a:spLocks noGrp="1"/>
          </p:cNvSpPr>
          <p:nvPr>
            <p:ph type="sldNum" sz="quarter" idx="11"/>
          </p:nvPr>
        </p:nvSpPr>
        <p:spPr/>
        <p:txBody>
          <a:bodyPr/>
          <a:lstStyle/>
          <a:p>
            <a:pPr>
              <a:defRPr/>
            </a:pPr>
            <a:fld id="{B77A47BA-BA63-4780-94A9-8AFA2EA4438D}" type="slidenum">
              <a:rPr lang="en-US" altLang="zh-CN" smtClean="0"/>
              <a:pPr>
                <a:defRPr/>
              </a:pPr>
              <a:t>11</a:t>
            </a:fld>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4341">
                                            <p:bg/>
                                          </p:spTgt>
                                        </p:tgtEl>
                                        <p:attrNameLst>
                                          <p:attrName>style.visibility</p:attrName>
                                        </p:attrNameLst>
                                      </p:cBhvr>
                                      <p:to>
                                        <p:strVal val="visible"/>
                                      </p:to>
                                    </p:set>
                                    <p:animEffect transition="in" filter="wipe(left)">
                                      <p:cBhvr>
                                        <p:cTn id="7" dur="500"/>
                                        <p:tgtEl>
                                          <p:spTgt spid="14341">
                                            <p:bg/>
                                          </p:spTgt>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14341">
                                            <p:txEl>
                                              <p:pRg st="0" end="0"/>
                                            </p:txEl>
                                          </p:spTgt>
                                        </p:tgtEl>
                                        <p:attrNameLst>
                                          <p:attrName>style.visibility</p:attrName>
                                        </p:attrNameLst>
                                      </p:cBhvr>
                                      <p:to>
                                        <p:strVal val="visible"/>
                                      </p:to>
                                    </p:set>
                                    <p:animEffect transition="in" filter="wipe(left)">
                                      <p:cBhvr>
                                        <p:cTn id="10" dur="500"/>
                                        <p:tgtEl>
                                          <p:spTgt spid="14341">
                                            <p:txEl>
                                              <p:pRg st="0" end="0"/>
                                            </p:txEl>
                                          </p:spTgt>
                                        </p:tgtEl>
                                      </p:cBhvr>
                                    </p:animEffect>
                                  </p:childTnLst>
                                </p:cTn>
                              </p:par>
                            </p:childTnLst>
                          </p:cTn>
                        </p:par>
                      </p:childTnLst>
                    </p:cTn>
                  </p:par>
                  <p:par>
                    <p:cTn id="11" fill="hold" nodeType="clickPar">
                      <p:stCondLst>
                        <p:cond delay="indefinite"/>
                      </p:stCondLst>
                      <p:childTnLst>
                        <p:par>
                          <p:cTn id="12" fill="hold" nodeType="withGroup">
                            <p:stCondLst>
                              <p:cond delay="0"/>
                            </p:stCondLst>
                            <p:childTnLst>
                              <p:par>
                                <p:cTn id="13" presetID="10" presetClass="entr" presetSubtype="0" fill="hold" nodeType="clickEffect">
                                  <p:stCondLst>
                                    <p:cond delay="0"/>
                                  </p:stCondLst>
                                  <p:childTnLst>
                                    <p:set>
                                      <p:cBhvr>
                                        <p:cTn id="14" dur="1" fill="hold">
                                          <p:stCondLst>
                                            <p:cond delay="0"/>
                                          </p:stCondLst>
                                        </p:cTn>
                                        <p:tgtEl>
                                          <p:spTgt spid="14339"/>
                                        </p:tgtEl>
                                        <p:attrNameLst>
                                          <p:attrName>style.visibility</p:attrName>
                                        </p:attrNameLst>
                                      </p:cBhvr>
                                      <p:to>
                                        <p:strVal val="visible"/>
                                      </p:to>
                                    </p:set>
                                    <p:animEffect transition="in" filter="fade">
                                      <p:cBhvr>
                                        <p:cTn id="15" dur="500"/>
                                        <p:tgtEl>
                                          <p:spTgt spid="14339"/>
                                        </p:tgtEl>
                                      </p:cBhvr>
                                    </p:animEffect>
                                  </p:childTnLst>
                                </p:cTn>
                              </p:par>
                            </p:childTnLst>
                          </p:cTn>
                        </p:par>
                      </p:childTnLst>
                    </p:cTn>
                  </p:par>
                  <p:par>
                    <p:cTn id="16" fill="hold" nodeType="clickPar">
                      <p:stCondLst>
                        <p:cond delay="indefinite"/>
                      </p:stCondLst>
                      <p:childTnLst>
                        <p:par>
                          <p:cTn id="17" fill="hold" nodeType="withGroup">
                            <p:stCondLst>
                              <p:cond delay="0"/>
                            </p:stCondLst>
                            <p:childTnLst>
                              <p:par>
                                <p:cTn id="18" presetID="22" presetClass="entr" presetSubtype="8" fill="hold" grpId="0" nodeType="clickEffect">
                                  <p:stCondLst>
                                    <p:cond delay="0"/>
                                  </p:stCondLst>
                                  <p:childTnLst>
                                    <p:set>
                                      <p:cBhvr>
                                        <p:cTn id="19" dur="1" fill="hold">
                                          <p:stCondLst>
                                            <p:cond delay="0"/>
                                          </p:stCondLst>
                                        </p:cTn>
                                        <p:tgtEl>
                                          <p:spTgt spid="14341">
                                            <p:txEl>
                                              <p:pRg st="2" end="2"/>
                                            </p:txEl>
                                          </p:spTgt>
                                        </p:tgtEl>
                                        <p:attrNameLst>
                                          <p:attrName>style.visibility</p:attrName>
                                        </p:attrNameLst>
                                      </p:cBhvr>
                                      <p:to>
                                        <p:strVal val="visible"/>
                                      </p:to>
                                    </p:set>
                                    <p:animEffect transition="in" filter="wipe(left)">
                                      <p:cBhvr>
                                        <p:cTn id="20" dur="500"/>
                                        <p:tgtEl>
                                          <p:spTgt spid="14341">
                                            <p:txEl>
                                              <p:pRg st="2" end="2"/>
                                            </p:txEl>
                                          </p:spTgt>
                                        </p:tgtEl>
                                      </p:cBhvr>
                                    </p:animEffect>
                                  </p:childTnLst>
                                </p:cTn>
                              </p:par>
                            </p:childTnLst>
                          </p:cTn>
                        </p:par>
                      </p:childTnLst>
                    </p:cTn>
                  </p:par>
                  <p:par>
                    <p:cTn id="21" fill="hold" nodeType="clickPar">
                      <p:stCondLst>
                        <p:cond delay="indefinite"/>
                      </p:stCondLst>
                      <p:childTnLst>
                        <p:par>
                          <p:cTn id="22" fill="hold" nodeType="withGroup">
                            <p:stCondLst>
                              <p:cond delay="0"/>
                            </p:stCondLst>
                            <p:childTnLst>
                              <p:par>
                                <p:cTn id="23" presetID="22" presetClass="exit" presetSubtype="8" fill="hold" grpId="0" nodeType="clickEffect">
                                  <p:stCondLst>
                                    <p:cond delay="0"/>
                                  </p:stCondLst>
                                  <p:childTnLst>
                                    <p:animEffect transition="out" filter="wipe(left)">
                                      <p:cBhvr>
                                        <p:cTn id="24" dur="500"/>
                                        <p:tgtEl>
                                          <p:spTgt spid="14342"/>
                                        </p:tgtEl>
                                      </p:cBhvr>
                                    </p:animEffect>
                                    <p:set>
                                      <p:cBhvr>
                                        <p:cTn id="25" dur="1" fill="hold">
                                          <p:stCondLst>
                                            <p:cond delay="499"/>
                                          </p:stCondLst>
                                        </p:cTn>
                                        <p:tgtEl>
                                          <p:spTgt spid="14342"/>
                                        </p:tgtEl>
                                        <p:attrNameLst>
                                          <p:attrName>style.visibility</p:attrName>
                                        </p:attrNameLst>
                                      </p:cBhvr>
                                      <p:to>
                                        <p:strVal val="hidden"/>
                                      </p:to>
                                    </p:set>
                                  </p:childTnLst>
                                </p:cTn>
                              </p:par>
                            </p:childTnLst>
                          </p:cTn>
                        </p:par>
                      </p:childTnLst>
                    </p:cTn>
                  </p:par>
                  <p:par>
                    <p:cTn id="26" fill="hold" nodeType="clickPar">
                      <p:stCondLst>
                        <p:cond delay="indefinite"/>
                      </p:stCondLst>
                      <p:childTnLst>
                        <p:par>
                          <p:cTn id="27" fill="hold" nodeType="withGroup">
                            <p:stCondLst>
                              <p:cond delay="0"/>
                            </p:stCondLst>
                            <p:childTnLst>
                              <p:par>
                                <p:cTn id="28" presetID="22" presetClass="entr" presetSubtype="8" fill="hold" grpId="0" nodeType="clickEffect">
                                  <p:stCondLst>
                                    <p:cond delay="0"/>
                                  </p:stCondLst>
                                  <p:childTnLst>
                                    <p:set>
                                      <p:cBhvr>
                                        <p:cTn id="29" dur="1" fill="hold">
                                          <p:stCondLst>
                                            <p:cond delay="0"/>
                                          </p:stCondLst>
                                        </p:cTn>
                                        <p:tgtEl>
                                          <p:spTgt spid="14341">
                                            <p:txEl>
                                              <p:pRg st="4" end="4"/>
                                            </p:txEl>
                                          </p:spTgt>
                                        </p:tgtEl>
                                        <p:attrNameLst>
                                          <p:attrName>style.visibility</p:attrName>
                                        </p:attrNameLst>
                                      </p:cBhvr>
                                      <p:to>
                                        <p:strVal val="visible"/>
                                      </p:to>
                                    </p:set>
                                    <p:animEffect transition="in" filter="wipe(left)">
                                      <p:cBhvr>
                                        <p:cTn id="30" dur="500"/>
                                        <p:tgtEl>
                                          <p:spTgt spid="14341">
                                            <p:txEl>
                                              <p:pRg st="4" end="4"/>
                                            </p:txEl>
                                          </p:spTgt>
                                        </p:tgtEl>
                                      </p:cBhvr>
                                    </p:animEffect>
                                  </p:childTnLst>
                                </p:cTn>
                              </p:par>
                            </p:childTnLst>
                          </p:cTn>
                        </p:par>
                      </p:childTnLst>
                    </p:cTn>
                  </p:par>
                  <p:par>
                    <p:cTn id="31" fill="hold" nodeType="clickPar">
                      <p:stCondLst>
                        <p:cond delay="indefinite"/>
                      </p:stCondLst>
                      <p:childTnLst>
                        <p:par>
                          <p:cTn id="32" fill="hold" nodeType="withGroup">
                            <p:stCondLst>
                              <p:cond delay="0"/>
                            </p:stCondLst>
                            <p:childTnLst>
                              <p:par>
                                <p:cTn id="33" presetID="22" presetClass="exit" presetSubtype="8" fill="hold" grpId="0" nodeType="clickEffect">
                                  <p:stCondLst>
                                    <p:cond delay="0"/>
                                  </p:stCondLst>
                                  <p:childTnLst>
                                    <p:animEffect transition="out" filter="wipe(left)">
                                      <p:cBhvr>
                                        <p:cTn id="34" dur="500"/>
                                        <p:tgtEl>
                                          <p:spTgt spid="14343"/>
                                        </p:tgtEl>
                                      </p:cBhvr>
                                    </p:animEffect>
                                    <p:set>
                                      <p:cBhvr>
                                        <p:cTn id="35" dur="1" fill="hold">
                                          <p:stCondLst>
                                            <p:cond delay="499"/>
                                          </p:stCondLst>
                                        </p:cTn>
                                        <p:tgtEl>
                                          <p:spTgt spid="14343"/>
                                        </p:tgtEl>
                                        <p:attrNameLst>
                                          <p:attrName>style.visibility</p:attrName>
                                        </p:attrNameLst>
                                      </p:cBhvr>
                                      <p:to>
                                        <p:strVal val="hidden"/>
                                      </p:to>
                                    </p:set>
                                  </p:childTnLst>
                                </p:cTn>
                              </p:par>
                            </p:childTnLst>
                          </p:cTn>
                        </p:par>
                      </p:childTnLst>
                    </p:cTn>
                  </p:par>
                  <p:par>
                    <p:cTn id="36" fill="hold" nodeType="clickPar">
                      <p:stCondLst>
                        <p:cond delay="indefinite"/>
                      </p:stCondLst>
                      <p:childTnLst>
                        <p:par>
                          <p:cTn id="37" fill="hold" nodeType="withGroup">
                            <p:stCondLst>
                              <p:cond delay="0"/>
                            </p:stCondLst>
                            <p:childTnLst>
                              <p:par>
                                <p:cTn id="38" presetID="22" presetClass="entr" presetSubtype="8" fill="hold" grpId="0" nodeType="clickEffect">
                                  <p:stCondLst>
                                    <p:cond delay="0"/>
                                  </p:stCondLst>
                                  <p:childTnLst>
                                    <p:set>
                                      <p:cBhvr>
                                        <p:cTn id="39" dur="1" fill="hold">
                                          <p:stCondLst>
                                            <p:cond delay="0"/>
                                          </p:stCondLst>
                                        </p:cTn>
                                        <p:tgtEl>
                                          <p:spTgt spid="14341">
                                            <p:txEl>
                                              <p:pRg st="6" end="6"/>
                                            </p:txEl>
                                          </p:spTgt>
                                        </p:tgtEl>
                                        <p:attrNameLst>
                                          <p:attrName>style.visibility</p:attrName>
                                        </p:attrNameLst>
                                      </p:cBhvr>
                                      <p:to>
                                        <p:strVal val="visible"/>
                                      </p:to>
                                    </p:set>
                                    <p:animEffect transition="in" filter="wipe(left)">
                                      <p:cBhvr>
                                        <p:cTn id="40" dur="500"/>
                                        <p:tgtEl>
                                          <p:spTgt spid="14341">
                                            <p:txEl>
                                              <p:pRg st="6" end="6"/>
                                            </p:txEl>
                                          </p:spTgt>
                                        </p:tgtEl>
                                      </p:cBhvr>
                                    </p:animEffect>
                                  </p:childTnLst>
                                </p:cTn>
                              </p:par>
                            </p:childTnLst>
                          </p:cTn>
                        </p:par>
                      </p:childTnLst>
                    </p:cTn>
                  </p:par>
                  <p:par>
                    <p:cTn id="41" fill="hold" nodeType="clickPar">
                      <p:stCondLst>
                        <p:cond delay="indefinite"/>
                      </p:stCondLst>
                      <p:childTnLst>
                        <p:par>
                          <p:cTn id="42" fill="hold" nodeType="withGroup">
                            <p:stCondLst>
                              <p:cond delay="0"/>
                            </p:stCondLst>
                            <p:childTnLst>
                              <p:par>
                                <p:cTn id="43" presetID="22" presetClass="exit" presetSubtype="8" fill="hold" grpId="0" nodeType="clickEffect">
                                  <p:stCondLst>
                                    <p:cond delay="0"/>
                                  </p:stCondLst>
                                  <p:childTnLst>
                                    <p:animEffect transition="out" filter="wipe(left)">
                                      <p:cBhvr>
                                        <p:cTn id="44" dur="500"/>
                                        <p:tgtEl>
                                          <p:spTgt spid="14344"/>
                                        </p:tgtEl>
                                      </p:cBhvr>
                                    </p:animEffect>
                                    <p:set>
                                      <p:cBhvr>
                                        <p:cTn id="45" dur="1" fill="hold">
                                          <p:stCondLst>
                                            <p:cond delay="499"/>
                                          </p:stCondLst>
                                        </p:cTn>
                                        <p:tgtEl>
                                          <p:spTgt spid="14344"/>
                                        </p:tgtEl>
                                        <p:attrNameLst>
                                          <p:attrName>style.visibility</p:attrName>
                                        </p:attrNameLst>
                                      </p:cBhvr>
                                      <p:to>
                                        <p:strVal val="hidden"/>
                                      </p:to>
                                    </p:set>
                                  </p:childTnLst>
                                </p:cTn>
                              </p:par>
                            </p:childTnLst>
                          </p:cTn>
                        </p:par>
                      </p:childTnLst>
                    </p:cTn>
                  </p:par>
                  <p:par>
                    <p:cTn id="46" fill="hold" nodeType="clickPar">
                      <p:stCondLst>
                        <p:cond delay="indefinite"/>
                      </p:stCondLst>
                      <p:childTnLst>
                        <p:par>
                          <p:cTn id="47" fill="hold" nodeType="withGroup">
                            <p:stCondLst>
                              <p:cond delay="0"/>
                            </p:stCondLst>
                            <p:childTnLst>
                              <p:par>
                                <p:cTn id="48" presetID="22" presetClass="exit" presetSubtype="8" fill="hold" grpId="0" nodeType="clickEffect">
                                  <p:stCondLst>
                                    <p:cond delay="0"/>
                                  </p:stCondLst>
                                  <p:childTnLst>
                                    <p:animEffect transition="out" filter="wipe(left)">
                                      <p:cBhvr>
                                        <p:cTn id="49" dur="500"/>
                                        <p:tgtEl>
                                          <p:spTgt spid="14345"/>
                                        </p:tgtEl>
                                      </p:cBhvr>
                                    </p:animEffect>
                                    <p:set>
                                      <p:cBhvr>
                                        <p:cTn id="50" dur="1" fill="hold">
                                          <p:stCondLst>
                                            <p:cond delay="499"/>
                                          </p:stCondLst>
                                        </p:cTn>
                                        <p:tgtEl>
                                          <p:spTgt spid="14345"/>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341" grpId="0" uiExpand="1" build="p" animBg="1" autoUpdateAnimBg="0"/>
      <p:bldP spid="14342" grpId="0" animBg="1" autoUpdateAnimBg="0"/>
      <p:bldP spid="14343" grpId="0" animBg="1" autoUpdateAnimBg="0"/>
      <p:bldP spid="14344" grpId="0" animBg="1" autoUpdateAnimBg="0"/>
      <p:bldP spid="14345" grpId="0" animBg="1" autoUpdateAnimBg="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4"/>
          <p:cNvSpPr>
            <a:spLocks noChangeArrowheads="1"/>
          </p:cNvSpPr>
          <p:nvPr/>
        </p:nvSpPr>
        <p:spPr bwMode="auto">
          <a:xfrm>
            <a:off x="1487488" y="3429000"/>
            <a:ext cx="6336704" cy="719138"/>
          </a:xfrm>
          <a:prstGeom prst="rect">
            <a:avLst/>
          </a:prstGeom>
          <a:solidFill>
            <a:srgbClr val="FF9933"/>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15363" name="Rectangle 2"/>
          <p:cNvSpPr>
            <a:spLocks noGrp="1" noChangeArrowheads="1"/>
          </p:cNvSpPr>
          <p:nvPr>
            <p:ph type="title" idx="4294967295"/>
          </p:nvPr>
        </p:nvSpPr>
        <p:spPr>
          <a:xfrm>
            <a:off x="263352" y="307076"/>
            <a:ext cx="10972800" cy="1371600"/>
          </a:xfrm>
        </p:spPr>
        <p:txBody>
          <a:bodyPr/>
          <a:lstStyle/>
          <a:p>
            <a:pPr algn="ctr" eaLnBrk="1" hangingPunct="1"/>
            <a:r>
              <a:rPr lang="en-US" altLang="zh-CN" sz="4100" dirty="0">
                <a:solidFill>
                  <a:srgbClr val="008000"/>
                </a:solidFill>
                <a:ea typeface="黑体" panose="02010609060101010101" pitchFamily="49" charset="-122"/>
              </a:rPr>
              <a:t>9.3</a:t>
            </a:r>
            <a:r>
              <a:rPr lang="en-US" altLang="zh-CN" sz="4100" dirty="0">
                <a:solidFill>
                  <a:srgbClr val="008000"/>
                </a:solidFill>
                <a:latin typeface="Comic Sans MS" panose="030F0702030302020204" pitchFamily="66" charset="0"/>
                <a:ea typeface="黑体" panose="02010609060101010101" pitchFamily="49" charset="-122"/>
              </a:rPr>
              <a:t>  </a:t>
            </a:r>
            <a:r>
              <a:rPr lang="en-US" altLang="zh-CN" sz="4100" dirty="0" err="1">
                <a:solidFill>
                  <a:srgbClr val="008000"/>
                </a:solidFill>
                <a:latin typeface="Comic Sans MS" panose="030F0702030302020204" pitchFamily="66" charset="0"/>
                <a:ea typeface="黑体" panose="02010609060101010101" pitchFamily="49" charset="-122"/>
              </a:rPr>
              <a:t>Sugeno</a:t>
            </a:r>
            <a:r>
              <a:rPr lang="en-US" altLang="zh-CN" sz="4100" dirty="0">
                <a:solidFill>
                  <a:srgbClr val="008000"/>
                </a:solidFill>
                <a:latin typeface="Comic Sans MS" panose="030F0702030302020204" pitchFamily="66" charset="0"/>
                <a:ea typeface="黑体" panose="02010609060101010101" pitchFamily="49" charset="-122"/>
              </a:rPr>
              <a:t> </a:t>
            </a:r>
            <a:r>
              <a:rPr lang="zh-CN" altLang="en-US" sz="4100" dirty="0">
                <a:solidFill>
                  <a:srgbClr val="008000"/>
                </a:solidFill>
                <a:latin typeface="Comic Sans MS" panose="030F0702030302020204" pitchFamily="66" charset="0"/>
                <a:ea typeface="黑体" panose="02010609060101010101" pitchFamily="49" charset="-122"/>
              </a:rPr>
              <a:t>模糊模型</a:t>
            </a:r>
            <a:r>
              <a:rPr lang="en-US" altLang="zh-CN" sz="4100" dirty="0">
                <a:solidFill>
                  <a:srgbClr val="008000"/>
                </a:solidFill>
                <a:latin typeface="Comic Sans MS" panose="030F0702030302020204" pitchFamily="66" charset="0"/>
                <a:ea typeface="黑体" panose="02010609060101010101" pitchFamily="49" charset="-122"/>
              </a:rPr>
              <a:t>(TSK</a:t>
            </a:r>
            <a:r>
              <a:rPr lang="zh-CN" altLang="en-US" sz="4100" dirty="0">
                <a:solidFill>
                  <a:srgbClr val="008000"/>
                </a:solidFill>
                <a:latin typeface="Comic Sans MS" panose="030F0702030302020204" pitchFamily="66" charset="0"/>
                <a:ea typeface="黑体" panose="02010609060101010101" pitchFamily="49" charset="-122"/>
              </a:rPr>
              <a:t>模型</a:t>
            </a:r>
            <a:r>
              <a:rPr lang="en-US" altLang="zh-CN" sz="4100" dirty="0">
                <a:solidFill>
                  <a:srgbClr val="008000"/>
                </a:solidFill>
                <a:latin typeface="Comic Sans MS" panose="030F0702030302020204" pitchFamily="66" charset="0"/>
                <a:ea typeface="黑体" panose="02010609060101010101" pitchFamily="49" charset="-122"/>
              </a:rPr>
              <a:t>)</a:t>
            </a:r>
          </a:p>
        </p:txBody>
      </p:sp>
      <p:sp>
        <p:nvSpPr>
          <p:cNvPr id="15364" name="Rectangle 3"/>
          <p:cNvSpPr>
            <a:spLocks noGrp="1" noChangeArrowheads="1"/>
          </p:cNvSpPr>
          <p:nvPr>
            <p:ph type="body" idx="4294967295"/>
          </p:nvPr>
        </p:nvSpPr>
        <p:spPr>
          <a:xfrm>
            <a:off x="982352" y="1694700"/>
            <a:ext cx="10227295" cy="5163300"/>
          </a:xfrm>
        </p:spPr>
        <p:txBody>
          <a:bodyPr/>
          <a:lstStyle/>
          <a:p>
            <a:pPr eaLnBrk="1" hangingPunct="1"/>
            <a:r>
              <a:rPr lang="zh-CN" altLang="en-US" dirty="0">
                <a:ea typeface="黑体" panose="02010609060101010101" pitchFamily="49" charset="-122"/>
              </a:rPr>
              <a:t>由</a:t>
            </a:r>
            <a:r>
              <a:rPr lang="en-US" altLang="zh-CN" dirty="0">
                <a:ea typeface="黑体" panose="02010609060101010101" pitchFamily="49" charset="-122"/>
              </a:rPr>
              <a:t>Takagi</a:t>
            </a:r>
            <a:r>
              <a:rPr lang="zh-CN" altLang="en-US" dirty="0">
                <a:ea typeface="黑体" panose="02010609060101010101" pitchFamily="49" charset="-122"/>
              </a:rPr>
              <a:t>，</a:t>
            </a:r>
            <a:r>
              <a:rPr lang="en-US" altLang="zh-CN" dirty="0" err="1">
                <a:ea typeface="黑体" panose="02010609060101010101" pitchFamily="49" charset="-122"/>
              </a:rPr>
              <a:t>Sugeno</a:t>
            </a:r>
            <a:r>
              <a:rPr lang="en-US" altLang="zh-CN" dirty="0">
                <a:ea typeface="黑体" panose="02010609060101010101" pitchFamily="49" charset="-122"/>
              </a:rPr>
              <a:t> </a:t>
            </a:r>
            <a:r>
              <a:rPr lang="zh-CN" altLang="en-US" dirty="0">
                <a:ea typeface="黑体" panose="02010609060101010101" pitchFamily="49" charset="-122"/>
              </a:rPr>
              <a:t>和</a:t>
            </a:r>
            <a:r>
              <a:rPr lang="en-US" altLang="zh-CN" dirty="0">
                <a:ea typeface="黑体" panose="02010609060101010101" pitchFamily="49" charset="-122"/>
              </a:rPr>
              <a:t>Kang </a:t>
            </a:r>
            <a:r>
              <a:rPr lang="zh-CN" altLang="en-US" dirty="0">
                <a:ea typeface="黑体" panose="02010609060101010101" pitchFamily="49" charset="-122"/>
              </a:rPr>
              <a:t>提出，旨在开发对给定的输入</a:t>
            </a:r>
            <a:r>
              <a:rPr lang="en-US" altLang="zh-CN" dirty="0">
                <a:ea typeface="黑体" panose="02010609060101010101" pitchFamily="49" charset="-122"/>
              </a:rPr>
              <a:t>-</a:t>
            </a:r>
            <a:r>
              <a:rPr lang="zh-CN" altLang="en-US" dirty="0">
                <a:ea typeface="黑体" panose="02010609060101010101" pitchFamily="49" charset="-122"/>
              </a:rPr>
              <a:t>输出数据集产生</a:t>
            </a:r>
            <a:r>
              <a:rPr lang="en-US" altLang="zh-CN" dirty="0">
                <a:ea typeface="黑体" panose="02010609060101010101" pitchFamily="49" charset="-122"/>
              </a:rPr>
              <a:t>F</a:t>
            </a:r>
            <a:r>
              <a:rPr lang="zh-CN" altLang="en-US" dirty="0">
                <a:ea typeface="黑体" panose="02010609060101010101" pitchFamily="49" charset="-122"/>
              </a:rPr>
              <a:t>规则的系统化方法。</a:t>
            </a:r>
          </a:p>
          <a:p>
            <a:pPr eaLnBrk="1" hangingPunct="1"/>
            <a:r>
              <a:rPr lang="en-US" altLang="zh-CN" dirty="0" err="1">
                <a:ea typeface="黑体" panose="02010609060101010101" pitchFamily="49" charset="-122"/>
              </a:rPr>
              <a:t>Sugeno</a:t>
            </a:r>
            <a:r>
              <a:rPr lang="en-US" altLang="zh-CN" dirty="0">
                <a:ea typeface="黑体" panose="02010609060101010101" pitchFamily="49" charset="-122"/>
              </a:rPr>
              <a:t> F</a:t>
            </a:r>
            <a:r>
              <a:rPr lang="zh-CN" altLang="en-US" dirty="0">
                <a:ea typeface="黑体" panose="02010609060101010101" pitchFamily="49" charset="-122"/>
              </a:rPr>
              <a:t>模型中典型的</a:t>
            </a:r>
            <a:r>
              <a:rPr lang="en-US" altLang="zh-CN" dirty="0">
                <a:ea typeface="黑体" panose="02010609060101010101" pitchFamily="49" charset="-122"/>
              </a:rPr>
              <a:t>F</a:t>
            </a:r>
            <a:r>
              <a:rPr lang="zh-CN" altLang="en-US" dirty="0">
                <a:ea typeface="黑体" panose="02010609060101010101" pitchFamily="49" charset="-122"/>
              </a:rPr>
              <a:t>规则形式</a:t>
            </a:r>
            <a:r>
              <a:rPr lang="en-US" altLang="zh-CN" dirty="0">
                <a:ea typeface="黑体" panose="02010609060101010101" pitchFamily="49" charset="-122"/>
              </a:rPr>
              <a:t>——</a:t>
            </a:r>
          </a:p>
          <a:p>
            <a:pPr lvl="1" eaLnBrk="1" hangingPunct="1">
              <a:buFont typeface="Wingdings" panose="05000000000000000000" pitchFamily="2" charset="2"/>
              <a:buNone/>
            </a:pPr>
            <a:endParaRPr lang="en-US" altLang="zh-CN" sz="1400" dirty="0">
              <a:ea typeface="黑体" panose="02010609060101010101" pitchFamily="49" charset="-122"/>
            </a:endParaRPr>
          </a:p>
          <a:p>
            <a:pPr lvl="1" eaLnBrk="1" hangingPunct="1">
              <a:buFont typeface="Wingdings" panose="05000000000000000000" pitchFamily="2" charset="2"/>
              <a:buNone/>
            </a:pPr>
            <a:r>
              <a:rPr lang="en-US" altLang="zh-CN" sz="3200" dirty="0">
                <a:ea typeface="黑体" panose="02010609060101010101" pitchFamily="49" charset="-122"/>
              </a:rPr>
              <a:t>IF x=A  and  y=B THEN z=</a:t>
            </a:r>
            <a:r>
              <a:rPr lang="en-US" altLang="zh-CN" sz="3200" dirty="0">
                <a:latin typeface="Monotype Corsiva" panose="03010101010201010101" pitchFamily="66" charset="0"/>
                <a:ea typeface="黑体" panose="02010609060101010101" pitchFamily="49" charset="-122"/>
              </a:rPr>
              <a:t>f</a:t>
            </a:r>
            <a:r>
              <a:rPr lang="en-US" altLang="zh-CN" sz="3200" dirty="0">
                <a:ea typeface="黑体" panose="02010609060101010101" pitchFamily="49" charset="-122"/>
              </a:rPr>
              <a:t> (x, y)</a:t>
            </a:r>
          </a:p>
          <a:p>
            <a:pPr lvl="1" eaLnBrk="1" hangingPunct="1"/>
            <a:endParaRPr lang="en-US" altLang="zh-CN" sz="1600" dirty="0">
              <a:ea typeface="黑体" panose="02010609060101010101" pitchFamily="49" charset="-122"/>
            </a:endParaRPr>
          </a:p>
          <a:p>
            <a:pPr lvl="1" eaLnBrk="1" hangingPunct="1"/>
            <a:r>
              <a:rPr lang="en-US" altLang="zh-CN" sz="3200" dirty="0">
                <a:ea typeface="黑体" panose="02010609060101010101" pitchFamily="49" charset="-122"/>
              </a:rPr>
              <a:t>A</a:t>
            </a:r>
            <a:r>
              <a:rPr lang="zh-CN" altLang="en-US" sz="3200" dirty="0">
                <a:ea typeface="黑体" panose="02010609060101010101" pitchFamily="49" charset="-122"/>
              </a:rPr>
              <a:t>、</a:t>
            </a:r>
            <a:r>
              <a:rPr lang="en-US" altLang="zh-CN" sz="3200" dirty="0">
                <a:ea typeface="黑体" panose="02010609060101010101" pitchFamily="49" charset="-122"/>
              </a:rPr>
              <a:t>B</a:t>
            </a:r>
            <a:r>
              <a:rPr lang="zh-CN" altLang="en-US" sz="3200" dirty="0">
                <a:ea typeface="黑体" panose="02010609060101010101" pitchFamily="49" charset="-122"/>
              </a:rPr>
              <a:t>是前件中的</a:t>
            </a:r>
            <a:r>
              <a:rPr lang="en-US" altLang="zh-CN" sz="3200" dirty="0">
                <a:ea typeface="黑体" panose="02010609060101010101" pitchFamily="49" charset="-122"/>
              </a:rPr>
              <a:t>F</a:t>
            </a:r>
            <a:r>
              <a:rPr lang="zh-CN" altLang="en-US" sz="3200" dirty="0">
                <a:ea typeface="黑体" panose="02010609060101010101" pitchFamily="49" charset="-122"/>
              </a:rPr>
              <a:t>集合</a:t>
            </a:r>
          </a:p>
          <a:p>
            <a:pPr lvl="1" eaLnBrk="1" hangingPunct="1"/>
            <a:r>
              <a:rPr lang="en-US" altLang="zh-CN" sz="3200" dirty="0">
                <a:ea typeface="黑体" panose="02010609060101010101" pitchFamily="49" charset="-122"/>
              </a:rPr>
              <a:t>z=</a:t>
            </a:r>
            <a:r>
              <a:rPr lang="en-US" altLang="zh-CN" sz="3200" dirty="0">
                <a:latin typeface="Monotype Corsiva" panose="03010101010201010101" pitchFamily="66" charset="0"/>
                <a:ea typeface="黑体" panose="02010609060101010101" pitchFamily="49" charset="-122"/>
              </a:rPr>
              <a:t>f</a:t>
            </a:r>
            <a:r>
              <a:rPr lang="en-US" altLang="zh-CN" sz="3200" dirty="0">
                <a:latin typeface="ITC Zapf Chancery" pitchFamily="2" charset="0"/>
                <a:ea typeface="黑体" panose="02010609060101010101" pitchFamily="49" charset="-122"/>
              </a:rPr>
              <a:t> </a:t>
            </a:r>
            <a:r>
              <a:rPr lang="en-US" altLang="zh-CN" sz="3200" dirty="0">
                <a:ea typeface="黑体" panose="02010609060101010101" pitchFamily="49" charset="-122"/>
              </a:rPr>
              <a:t>(x, y)</a:t>
            </a:r>
            <a:r>
              <a:rPr lang="zh-CN" altLang="en-US" sz="3200" dirty="0">
                <a:ea typeface="黑体" panose="02010609060101010101" pitchFamily="49" charset="-122"/>
              </a:rPr>
              <a:t>是后件中的</a:t>
            </a:r>
            <a:r>
              <a:rPr lang="zh-CN" altLang="en-US" sz="3200" dirty="0">
                <a:solidFill>
                  <a:srgbClr val="3333FF"/>
                </a:solidFill>
                <a:ea typeface="黑体" panose="02010609060101010101" pitchFamily="49" charset="-122"/>
              </a:rPr>
              <a:t>精确函数</a:t>
            </a:r>
          </a:p>
          <a:p>
            <a:pPr lvl="2" eaLnBrk="1" hangingPunct="1"/>
            <a:r>
              <a:rPr lang="zh-CN" altLang="en-US" sz="2800" dirty="0">
                <a:ea typeface="黑体" panose="02010609060101010101" pitchFamily="49" charset="-122"/>
              </a:rPr>
              <a:t>当</a:t>
            </a:r>
            <a:r>
              <a:rPr lang="en-US" altLang="zh-CN" sz="2800" dirty="0">
                <a:latin typeface="Monotype Corsiva" panose="03010101010201010101" pitchFamily="66" charset="0"/>
                <a:ea typeface="黑体" panose="02010609060101010101" pitchFamily="49" charset="-122"/>
              </a:rPr>
              <a:t>f</a:t>
            </a:r>
            <a:r>
              <a:rPr lang="en-US" altLang="zh-CN" sz="2800" dirty="0">
                <a:latin typeface="ITC Zapf Chancery" pitchFamily="2" charset="0"/>
                <a:ea typeface="黑体" panose="02010609060101010101" pitchFamily="49" charset="-122"/>
              </a:rPr>
              <a:t> </a:t>
            </a:r>
            <a:r>
              <a:rPr lang="en-US" altLang="zh-CN" sz="2800" dirty="0">
                <a:ea typeface="黑体" panose="02010609060101010101" pitchFamily="49" charset="-122"/>
              </a:rPr>
              <a:t>(x, y)</a:t>
            </a:r>
            <a:r>
              <a:rPr lang="zh-CN" altLang="en-US" sz="2800" dirty="0">
                <a:ea typeface="黑体" panose="02010609060101010101" pitchFamily="49" charset="-122"/>
              </a:rPr>
              <a:t>是一阶多项式时，得到</a:t>
            </a:r>
            <a:r>
              <a:rPr lang="zh-CN" altLang="en-US" sz="2800" dirty="0">
                <a:solidFill>
                  <a:srgbClr val="FF0000"/>
                </a:solidFill>
                <a:ea typeface="黑体" panose="02010609060101010101" pitchFamily="49" charset="-122"/>
              </a:rPr>
              <a:t>一阶</a:t>
            </a:r>
            <a:r>
              <a:rPr lang="en-US" altLang="zh-CN" sz="2800" dirty="0" err="1">
                <a:solidFill>
                  <a:srgbClr val="FF0000"/>
                </a:solidFill>
                <a:ea typeface="黑体" panose="02010609060101010101" pitchFamily="49" charset="-122"/>
              </a:rPr>
              <a:t>Sugeno</a:t>
            </a:r>
            <a:r>
              <a:rPr lang="en-US" altLang="zh-CN" sz="2800" dirty="0">
                <a:solidFill>
                  <a:srgbClr val="FF0000"/>
                </a:solidFill>
                <a:ea typeface="黑体" panose="02010609060101010101" pitchFamily="49" charset="-122"/>
              </a:rPr>
              <a:t> F</a:t>
            </a:r>
            <a:r>
              <a:rPr lang="zh-CN" altLang="en-US" sz="2800" dirty="0">
                <a:solidFill>
                  <a:srgbClr val="FF0000"/>
                </a:solidFill>
                <a:ea typeface="黑体" panose="02010609060101010101" pitchFamily="49" charset="-122"/>
              </a:rPr>
              <a:t>模型</a:t>
            </a:r>
          </a:p>
          <a:p>
            <a:pPr lvl="2" eaLnBrk="1" hangingPunct="1"/>
            <a:r>
              <a:rPr lang="zh-CN" altLang="en-US" sz="2800" dirty="0">
                <a:ea typeface="黑体" panose="02010609060101010101" pitchFamily="49" charset="-122"/>
              </a:rPr>
              <a:t>当</a:t>
            </a:r>
            <a:r>
              <a:rPr lang="en-US" altLang="zh-CN" sz="2800" dirty="0">
                <a:latin typeface="Monotype Corsiva" panose="03010101010201010101" pitchFamily="66" charset="0"/>
                <a:ea typeface="黑体" panose="02010609060101010101" pitchFamily="49" charset="-122"/>
              </a:rPr>
              <a:t>f</a:t>
            </a:r>
            <a:r>
              <a:rPr lang="en-US" altLang="zh-CN" sz="2800" dirty="0">
                <a:latin typeface="ITC Zapf Chancery" pitchFamily="2" charset="0"/>
                <a:ea typeface="黑体" panose="02010609060101010101" pitchFamily="49" charset="-122"/>
              </a:rPr>
              <a:t> </a:t>
            </a:r>
            <a:r>
              <a:rPr lang="en-US" altLang="zh-CN" sz="2800" dirty="0">
                <a:ea typeface="黑体" panose="02010609060101010101" pitchFamily="49" charset="-122"/>
              </a:rPr>
              <a:t>(x, y)</a:t>
            </a:r>
            <a:r>
              <a:rPr lang="zh-CN" altLang="en-US" sz="2800" dirty="0">
                <a:ea typeface="黑体" panose="02010609060101010101" pitchFamily="49" charset="-122"/>
              </a:rPr>
              <a:t>是常数时，为</a:t>
            </a:r>
            <a:r>
              <a:rPr lang="zh-CN" altLang="en-US" sz="2800" dirty="0">
                <a:solidFill>
                  <a:srgbClr val="FF0000"/>
                </a:solidFill>
                <a:ea typeface="黑体" panose="02010609060101010101" pitchFamily="49" charset="-122"/>
              </a:rPr>
              <a:t>零阶</a:t>
            </a:r>
            <a:r>
              <a:rPr lang="en-US" altLang="zh-CN" sz="2800" dirty="0" err="1">
                <a:solidFill>
                  <a:srgbClr val="FF0000"/>
                </a:solidFill>
                <a:ea typeface="黑体" panose="02010609060101010101" pitchFamily="49" charset="-122"/>
              </a:rPr>
              <a:t>Sugeno</a:t>
            </a:r>
            <a:r>
              <a:rPr lang="en-US" altLang="zh-CN" sz="2800" dirty="0">
                <a:solidFill>
                  <a:srgbClr val="FF0000"/>
                </a:solidFill>
                <a:ea typeface="黑体" panose="02010609060101010101" pitchFamily="49" charset="-122"/>
              </a:rPr>
              <a:t> F</a:t>
            </a:r>
            <a:r>
              <a:rPr lang="zh-CN" altLang="en-US" sz="2800" dirty="0">
                <a:solidFill>
                  <a:srgbClr val="FF0000"/>
                </a:solidFill>
                <a:ea typeface="黑体" panose="02010609060101010101" pitchFamily="49" charset="-122"/>
              </a:rPr>
              <a:t>模型</a:t>
            </a:r>
          </a:p>
        </p:txBody>
      </p:sp>
      <p:sp>
        <p:nvSpPr>
          <p:cNvPr id="2" name="灯片编号占位符 1">
            <a:extLst>
              <a:ext uri="{FF2B5EF4-FFF2-40B4-BE49-F238E27FC236}">
                <a16:creationId xmlns:a16="http://schemas.microsoft.com/office/drawing/2014/main" id="{7B4E8127-C349-2315-9CBE-57B9F010B019}"/>
              </a:ext>
            </a:extLst>
          </p:cNvPr>
          <p:cNvSpPr>
            <a:spLocks noGrp="1"/>
          </p:cNvSpPr>
          <p:nvPr>
            <p:ph type="sldNum" sz="quarter" idx="11"/>
          </p:nvPr>
        </p:nvSpPr>
        <p:spPr/>
        <p:txBody>
          <a:bodyPr/>
          <a:lstStyle/>
          <a:p>
            <a:pPr>
              <a:defRPr/>
            </a:pPr>
            <a:fld id="{B77A47BA-BA63-4780-94A9-8AFA2EA4438D}" type="slidenum">
              <a:rPr lang="en-US" altLang="zh-CN" smtClean="0"/>
              <a:pPr>
                <a:defRPr/>
              </a:pPr>
              <a:t>12</a:t>
            </a:fld>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5364">
                                            <p:txEl>
                                              <p:pRg st="0" end="0"/>
                                            </p:txEl>
                                          </p:spTgt>
                                        </p:tgtEl>
                                        <p:attrNameLst>
                                          <p:attrName>style.visibility</p:attrName>
                                        </p:attrNameLst>
                                      </p:cBhvr>
                                      <p:to>
                                        <p:strVal val="visible"/>
                                      </p:to>
                                    </p:set>
                                    <p:animEffect transition="in" filter="wipe(left)">
                                      <p:cBhvr>
                                        <p:cTn id="7" dur="500"/>
                                        <p:tgtEl>
                                          <p:spTgt spid="15364">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5364">
                                            <p:txEl>
                                              <p:pRg st="1" end="1"/>
                                            </p:txEl>
                                          </p:spTgt>
                                        </p:tgtEl>
                                        <p:attrNameLst>
                                          <p:attrName>style.visibility</p:attrName>
                                        </p:attrNameLst>
                                      </p:cBhvr>
                                      <p:to>
                                        <p:strVal val="visible"/>
                                      </p:to>
                                    </p:set>
                                    <p:animEffect transition="in" filter="wipe(left)">
                                      <p:cBhvr>
                                        <p:cTn id="12" dur="500"/>
                                        <p:tgtEl>
                                          <p:spTgt spid="15364">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5364">
                                            <p:txEl>
                                              <p:pRg st="3" end="3"/>
                                            </p:txEl>
                                          </p:spTgt>
                                        </p:tgtEl>
                                        <p:attrNameLst>
                                          <p:attrName>style.visibility</p:attrName>
                                        </p:attrNameLst>
                                      </p:cBhvr>
                                      <p:to>
                                        <p:strVal val="visible"/>
                                      </p:to>
                                    </p:set>
                                    <p:animEffect transition="in" filter="wipe(left)">
                                      <p:cBhvr>
                                        <p:cTn id="17" dur="500"/>
                                        <p:tgtEl>
                                          <p:spTgt spid="15364">
                                            <p:txEl>
                                              <p:pRg st="3" end="3"/>
                                            </p:txEl>
                                          </p:spTgt>
                                        </p:tgtEl>
                                      </p:cBhvr>
                                    </p:animEffect>
                                  </p:childTnLst>
                                </p:cTn>
                              </p:par>
                              <p:par>
                                <p:cTn id="18" presetID="1" presetClass="entr" presetSubtype="0" fill="hold" grpId="0" nodeType="withEffect">
                                  <p:stCondLst>
                                    <p:cond delay="0"/>
                                  </p:stCondLst>
                                  <p:childTnLst>
                                    <p:set>
                                      <p:cBhvr>
                                        <p:cTn id="19" dur="1" fill="hold">
                                          <p:stCondLst>
                                            <p:cond delay="0"/>
                                          </p:stCondLst>
                                        </p:cTn>
                                        <p:tgtEl>
                                          <p:spTgt spid="15362"/>
                                        </p:tgtEl>
                                        <p:attrNameLst>
                                          <p:attrName>style.visibility</p:attrName>
                                        </p:attrNameLst>
                                      </p:cBhvr>
                                      <p:to>
                                        <p:strVal val="visible"/>
                                      </p:to>
                                    </p:set>
                                  </p:childTnLst>
                                </p:cTn>
                              </p:par>
                            </p:childTnLst>
                          </p:cTn>
                        </p:par>
                      </p:childTnLst>
                    </p:cTn>
                  </p:par>
                  <p:par>
                    <p:cTn id="20" fill="hold" nodeType="clickPar">
                      <p:stCondLst>
                        <p:cond delay="indefinite"/>
                      </p:stCondLst>
                      <p:childTnLst>
                        <p:par>
                          <p:cTn id="21" fill="hold" nodeType="withGroup">
                            <p:stCondLst>
                              <p:cond delay="0"/>
                            </p:stCondLst>
                            <p:childTnLst>
                              <p:par>
                                <p:cTn id="22" presetID="22" presetClass="entr" presetSubtype="8" fill="hold" grpId="0" nodeType="clickEffect">
                                  <p:stCondLst>
                                    <p:cond delay="0"/>
                                  </p:stCondLst>
                                  <p:childTnLst>
                                    <p:set>
                                      <p:cBhvr>
                                        <p:cTn id="23" dur="1" fill="hold">
                                          <p:stCondLst>
                                            <p:cond delay="0"/>
                                          </p:stCondLst>
                                        </p:cTn>
                                        <p:tgtEl>
                                          <p:spTgt spid="15364">
                                            <p:txEl>
                                              <p:pRg st="5" end="5"/>
                                            </p:txEl>
                                          </p:spTgt>
                                        </p:tgtEl>
                                        <p:attrNameLst>
                                          <p:attrName>style.visibility</p:attrName>
                                        </p:attrNameLst>
                                      </p:cBhvr>
                                      <p:to>
                                        <p:strVal val="visible"/>
                                      </p:to>
                                    </p:set>
                                    <p:animEffect transition="in" filter="wipe(left)">
                                      <p:cBhvr>
                                        <p:cTn id="24" dur="500"/>
                                        <p:tgtEl>
                                          <p:spTgt spid="15364">
                                            <p:txEl>
                                              <p:pRg st="5" end="5"/>
                                            </p:txEl>
                                          </p:spTgt>
                                        </p:tgtEl>
                                      </p:cBhvr>
                                    </p:animEffect>
                                  </p:childTnLst>
                                </p:cTn>
                              </p:par>
                            </p:childTnLst>
                          </p:cTn>
                        </p:par>
                      </p:childTnLst>
                    </p:cTn>
                  </p:par>
                  <p:par>
                    <p:cTn id="25" fill="hold" nodeType="clickPar">
                      <p:stCondLst>
                        <p:cond delay="indefinite"/>
                      </p:stCondLst>
                      <p:childTnLst>
                        <p:par>
                          <p:cTn id="26" fill="hold" nodeType="withGroup">
                            <p:stCondLst>
                              <p:cond delay="0"/>
                            </p:stCondLst>
                            <p:childTnLst>
                              <p:par>
                                <p:cTn id="27" presetID="22" presetClass="entr" presetSubtype="8" fill="hold" grpId="0" nodeType="clickEffect">
                                  <p:stCondLst>
                                    <p:cond delay="0"/>
                                  </p:stCondLst>
                                  <p:childTnLst>
                                    <p:set>
                                      <p:cBhvr>
                                        <p:cTn id="28" dur="1" fill="hold">
                                          <p:stCondLst>
                                            <p:cond delay="0"/>
                                          </p:stCondLst>
                                        </p:cTn>
                                        <p:tgtEl>
                                          <p:spTgt spid="15364">
                                            <p:txEl>
                                              <p:pRg st="6" end="6"/>
                                            </p:txEl>
                                          </p:spTgt>
                                        </p:tgtEl>
                                        <p:attrNameLst>
                                          <p:attrName>style.visibility</p:attrName>
                                        </p:attrNameLst>
                                      </p:cBhvr>
                                      <p:to>
                                        <p:strVal val="visible"/>
                                      </p:to>
                                    </p:set>
                                    <p:animEffect transition="in" filter="wipe(left)">
                                      <p:cBhvr>
                                        <p:cTn id="29" dur="500"/>
                                        <p:tgtEl>
                                          <p:spTgt spid="15364">
                                            <p:txEl>
                                              <p:pRg st="6" end="6"/>
                                            </p:txEl>
                                          </p:spTgt>
                                        </p:tgtEl>
                                      </p:cBhvr>
                                    </p:animEffect>
                                  </p:childTnLst>
                                </p:cTn>
                              </p:par>
                            </p:childTnLst>
                          </p:cTn>
                        </p:par>
                      </p:childTnLst>
                    </p:cTn>
                  </p:par>
                  <p:par>
                    <p:cTn id="30" fill="hold" nodeType="clickPar">
                      <p:stCondLst>
                        <p:cond delay="indefinite"/>
                      </p:stCondLst>
                      <p:childTnLst>
                        <p:par>
                          <p:cTn id="31" fill="hold" nodeType="withGroup">
                            <p:stCondLst>
                              <p:cond delay="0"/>
                            </p:stCondLst>
                            <p:childTnLst>
                              <p:par>
                                <p:cTn id="32" presetID="22" presetClass="entr" presetSubtype="8" fill="hold" grpId="0" nodeType="clickEffect">
                                  <p:stCondLst>
                                    <p:cond delay="0"/>
                                  </p:stCondLst>
                                  <p:childTnLst>
                                    <p:set>
                                      <p:cBhvr>
                                        <p:cTn id="33" dur="1" fill="hold">
                                          <p:stCondLst>
                                            <p:cond delay="0"/>
                                          </p:stCondLst>
                                        </p:cTn>
                                        <p:tgtEl>
                                          <p:spTgt spid="15364">
                                            <p:txEl>
                                              <p:pRg st="7" end="7"/>
                                            </p:txEl>
                                          </p:spTgt>
                                        </p:tgtEl>
                                        <p:attrNameLst>
                                          <p:attrName>style.visibility</p:attrName>
                                        </p:attrNameLst>
                                      </p:cBhvr>
                                      <p:to>
                                        <p:strVal val="visible"/>
                                      </p:to>
                                    </p:set>
                                    <p:animEffect transition="in" filter="wipe(left)">
                                      <p:cBhvr>
                                        <p:cTn id="34" dur="500"/>
                                        <p:tgtEl>
                                          <p:spTgt spid="15364">
                                            <p:txEl>
                                              <p:pRg st="7" end="7"/>
                                            </p:txEl>
                                          </p:spTgt>
                                        </p:tgtEl>
                                      </p:cBhvr>
                                    </p:animEffect>
                                  </p:childTnLst>
                                </p:cTn>
                              </p:par>
                            </p:childTnLst>
                          </p:cTn>
                        </p:par>
                      </p:childTnLst>
                    </p:cTn>
                  </p:par>
                  <p:par>
                    <p:cTn id="35" fill="hold" nodeType="clickPar">
                      <p:stCondLst>
                        <p:cond delay="indefinite"/>
                      </p:stCondLst>
                      <p:childTnLst>
                        <p:par>
                          <p:cTn id="36" fill="hold" nodeType="withGroup">
                            <p:stCondLst>
                              <p:cond delay="0"/>
                            </p:stCondLst>
                            <p:childTnLst>
                              <p:par>
                                <p:cTn id="37" presetID="22" presetClass="entr" presetSubtype="8" fill="hold" grpId="0" nodeType="clickEffect">
                                  <p:stCondLst>
                                    <p:cond delay="0"/>
                                  </p:stCondLst>
                                  <p:childTnLst>
                                    <p:set>
                                      <p:cBhvr>
                                        <p:cTn id="38" dur="1" fill="hold">
                                          <p:stCondLst>
                                            <p:cond delay="0"/>
                                          </p:stCondLst>
                                        </p:cTn>
                                        <p:tgtEl>
                                          <p:spTgt spid="15364">
                                            <p:txEl>
                                              <p:pRg st="8" end="8"/>
                                            </p:txEl>
                                          </p:spTgt>
                                        </p:tgtEl>
                                        <p:attrNameLst>
                                          <p:attrName>style.visibility</p:attrName>
                                        </p:attrNameLst>
                                      </p:cBhvr>
                                      <p:to>
                                        <p:strVal val="visible"/>
                                      </p:to>
                                    </p:set>
                                    <p:animEffect transition="in" filter="wipe(left)">
                                      <p:cBhvr>
                                        <p:cTn id="39" dur="500"/>
                                        <p:tgtEl>
                                          <p:spTgt spid="15364">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362" grpId="0" animBg="1" autoUpdateAnimBg="0"/>
      <p:bldP spid="15364" grpId="0" uiExpand="1" build="p" autoUpdateAnimBg="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Grp="1" noChangeArrowheads="1"/>
          </p:cNvSpPr>
          <p:nvPr>
            <p:ph type="title" idx="4294967295"/>
          </p:nvPr>
        </p:nvSpPr>
        <p:spPr>
          <a:xfrm>
            <a:off x="1908176" y="456406"/>
            <a:ext cx="8229600" cy="1027113"/>
          </a:xfrm>
        </p:spPr>
        <p:txBody>
          <a:bodyPr/>
          <a:lstStyle/>
          <a:p>
            <a:pPr algn="ctr" eaLnBrk="1" hangingPunct="1"/>
            <a:r>
              <a:rPr lang="zh-CN" altLang="en-US" dirty="0">
                <a:solidFill>
                  <a:srgbClr val="008000"/>
                </a:solidFill>
                <a:latin typeface="Comic Sans MS" panose="030F0702030302020204" pitchFamily="66" charset="0"/>
                <a:ea typeface="黑体" panose="02010609060101010101" pitchFamily="49" charset="-122"/>
              </a:rPr>
              <a:t>一阶</a:t>
            </a:r>
            <a:r>
              <a:rPr lang="en-US" altLang="zh-CN" dirty="0" err="1">
                <a:solidFill>
                  <a:srgbClr val="008000"/>
                </a:solidFill>
                <a:latin typeface="Comic Sans MS" panose="030F0702030302020204" pitchFamily="66" charset="0"/>
                <a:ea typeface="黑体" panose="02010609060101010101" pitchFamily="49" charset="-122"/>
              </a:rPr>
              <a:t>Sugeno</a:t>
            </a:r>
            <a:r>
              <a:rPr lang="en-US" altLang="zh-CN" dirty="0">
                <a:solidFill>
                  <a:srgbClr val="008000"/>
                </a:solidFill>
                <a:latin typeface="Comic Sans MS" panose="030F0702030302020204" pitchFamily="66" charset="0"/>
                <a:ea typeface="黑体" panose="02010609060101010101" pitchFamily="49" charset="-122"/>
              </a:rPr>
              <a:t> </a:t>
            </a:r>
            <a:r>
              <a:rPr lang="zh-CN" altLang="en-US" dirty="0">
                <a:solidFill>
                  <a:srgbClr val="008000"/>
                </a:solidFill>
                <a:latin typeface="Comic Sans MS" panose="030F0702030302020204" pitchFamily="66" charset="0"/>
                <a:ea typeface="黑体" panose="02010609060101010101" pitchFamily="49" charset="-122"/>
              </a:rPr>
              <a:t>模糊模型推理过程</a:t>
            </a:r>
            <a:endParaRPr lang="zh-CN" altLang="en-US" dirty="0">
              <a:solidFill>
                <a:srgbClr val="128828"/>
              </a:solidFill>
              <a:latin typeface="Comic Sans MS" panose="030F0702030302020204" pitchFamily="66" charset="0"/>
              <a:ea typeface="黑体" panose="02010609060101010101" pitchFamily="49" charset="-122"/>
            </a:endParaRPr>
          </a:p>
        </p:txBody>
      </p:sp>
      <p:sp>
        <p:nvSpPr>
          <p:cNvPr id="17411" name="Rectangle 3"/>
          <p:cNvSpPr>
            <a:spLocks noGrp="1" noChangeArrowheads="1"/>
          </p:cNvSpPr>
          <p:nvPr>
            <p:ph type="body" sz="half" idx="4294967295"/>
          </p:nvPr>
        </p:nvSpPr>
        <p:spPr>
          <a:xfrm>
            <a:off x="720067" y="1398587"/>
            <a:ext cx="11136571" cy="1653057"/>
          </a:xfrm>
          <a:solidFill>
            <a:srgbClr val="FFFFCC"/>
          </a:solidFill>
        </p:spPr>
        <p:txBody>
          <a:bodyPr>
            <a:noAutofit/>
          </a:bodyPr>
          <a:lstStyle/>
          <a:p>
            <a:pPr eaLnBrk="1" hangingPunct="1">
              <a:lnSpc>
                <a:spcPct val="90000"/>
              </a:lnSpc>
            </a:pPr>
            <a:r>
              <a:rPr lang="zh-CN" altLang="en-US" sz="2800" b="1" dirty="0">
                <a:ea typeface="楷体_GB2312" pitchFamily="1" charset="-122"/>
              </a:rPr>
              <a:t>由于每条规则都有一个精确输出，通过加权平均可得到整体输出，故免去了</a:t>
            </a:r>
            <a:r>
              <a:rPr lang="en-US" altLang="zh-CN" sz="2800" b="1" dirty="0">
                <a:solidFill>
                  <a:srgbClr val="128828"/>
                </a:solidFill>
                <a:ea typeface="楷体_GB2312" pitchFamily="1" charset="-122"/>
              </a:rPr>
              <a:t>Mamdani</a:t>
            </a:r>
            <a:r>
              <a:rPr lang="zh-CN" altLang="en-US" sz="2800" b="1" dirty="0">
                <a:ea typeface="楷体_GB2312" pitchFamily="1" charset="-122"/>
              </a:rPr>
              <a:t>模型的去</a:t>
            </a:r>
            <a:r>
              <a:rPr lang="en-US" altLang="zh-CN" sz="2800" b="1" dirty="0">
                <a:ea typeface="楷体_GB2312" pitchFamily="1" charset="-122"/>
              </a:rPr>
              <a:t>F</a:t>
            </a:r>
            <a:r>
              <a:rPr lang="zh-CN" altLang="en-US" sz="2800" b="1" dirty="0">
                <a:ea typeface="楷体_GB2312" pitchFamily="1" charset="-122"/>
              </a:rPr>
              <a:t>化过程。</a:t>
            </a:r>
          </a:p>
          <a:p>
            <a:pPr eaLnBrk="1" hangingPunct="1">
              <a:lnSpc>
                <a:spcPct val="90000"/>
              </a:lnSpc>
            </a:pPr>
            <a:r>
              <a:rPr lang="zh-CN" altLang="en-US" sz="2800" b="1" dirty="0">
                <a:ea typeface="楷体_GB2312" pitchFamily="1" charset="-122"/>
              </a:rPr>
              <a:t>因为</a:t>
            </a:r>
            <a:r>
              <a:rPr lang="en-US" altLang="zh-CN" sz="2800" b="1" dirty="0" err="1">
                <a:solidFill>
                  <a:srgbClr val="FF0000"/>
                </a:solidFill>
                <a:ea typeface="楷体_GB2312" pitchFamily="1" charset="-122"/>
              </a:rPr>
              <a:t>Sugeno</a:t>
            </a:r>
            <a:r>
              <a:rPr lang="zh-CN" altLang="en-US" sz="2800" b="1" dirty="0">
                <a:ea typeface="楷体_GB2312" pitchFamily="1" charset="-122"/>
              </a:rPr>
              <a:t>模型的</a:t>
            </a:r>
            <a:r>
              <a:rPr lang="en-US" altLang="zh-CN" sz="2800" b="1" dirty="0">
                <a:ea typeface="楷体_GB2312" pitchFamily="1" charset="-122"/>
              </a:rPr>
              <a:t>F</a:t>
            </a:r>
            <a:r>
              <a:rPr lang="zh-CN" altLang="en-US" sz="2800" b="1" dirty="0">
                <a:ea typeface="楷体_GB2312" pitchFamily="1" charset="-122"/>
              </a:rPr>
              <a:t>部分只在前件中，故易显示出</a:t>
            </a:r>
            <a:r>
              <a:rPr lang="en-US" altLang="zh-CN" sz="2800" b="1" dirty="0">
                <a:ea typeface="楷体_GB2312" pitchFamily="1" charset="-122"/>
              </a:rPr>
              <a:t>F</a:t>
            </a:r>
            <a:r>
              <a:rPr lang="zh-CN" altLang="en-US" sz="2800" b="1" dirty="0">
                <a:ea typeface="楷体_GB2312" pitchFamily="1" charset="-122"/>
              </a:rPr>
              <a:t>规则与非</a:t>
            </a:r>
            <a:r>
              <a:rPr lang="en-US" altLang="zh-CN" sz="2800" b="1" dirty="0">
                <a:ea typeface="楷体_GB2312" pitchFamily="1" charset="-122"/>
              </a:rPr>
              <a:t>F</a:t>
            </a:r>
            <a:r>
              <a:rPr lang="zh-CN" altLang="en-US" sz="2800" b="1" dirty="0">
                <a:ea typeface="楷体_GB2312" pitchFamily="1" charset="-122"/>
              </a:rPr>
              <a:t>规则间的区别</a:t>
            </a:r>
          </a:p>
        </p:txBody>
      </p:sp>
      <p:graphicFrame>
        <p:nvGraphicFramePr>
          <p:cNvPr id="17463" name="Object 55"/>
          <p:cNvGraphicFramePr>
            <a:graphicFrameLocks noGrp="1" noChangeAspect="1"/>
          </p:cNvGraphicFramePr>
          <p:nvPr>
            <p:ph sz="half" idx="4294967295"/>
            <p:extLst>
              <p:ext uri="{D42A27DB-BD31-4B8C-83A1-F6EECF244321}">
                <p14:modId xmlns:p14="http://schemas.microsoft.com/office/powerpoint/2010/main" val="2993691175"/>
              </p:ext>
            </p:extLst>
          </p:nvPr>
        </p:nvGraphicFramePr>
        <p:xfrm>
          <a:off x="8688288" y="5822950"/>
          <a:ext cx="2587625" cy="1035050"/>
        </p:xfrm>
        <a:graphic>
          <a:graphicData uri="http://schemas.openxmlformats.org/presentationml/2006/ole">
            <mc:AlternateContent xmlns:mc="http://schemas.openxmlformats.org/markup-compatibility/2006">
              <mc:Choice xmlns:v="urn:schemas-microsoft-com:vml" Requires="v">
                <p:oleObj name="Equation" r:id="rId2" imgW="1079349" imgH="431930" progId="Equation.DSMT4">
                  <p:embed/>
                </p:oleObj>
              </mc:Choice>
              <mc:Fallback>
                <p:oleObj name="Equation" r:id="rId2" imgW="1079349" imgH="431930" progId="Equation.DSMT4">
                  <p:embed/>
                  <p:pic>
                    <p:nvPicPr>
                      <p:cNvPr id="17463" name="Object 5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688288" y="5822950"/>
                        <a:ext cx="2587625" cy="10350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7412" name="Text Box 52"/>
          <p:cNvSpPr txBox="1">
            <a:spLocks noChangeArrowheads="1"/>
          </p:cNvSpPr>
          <p:nvPr/>
        </p:nvSpPr>
        <p:spPr bwMode="auto">
          <a:xfrm>
            <a:off x="7536683" y="3639021"/>
            <a:ext cx="26638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sz="2400" i="1" dirty="0"/>
              <a:t>Z</a:t>
            </a:r>
            <a:r>
              <a:rPr lang="en-US" altLang="zh-CN" sz="2400" baseline="-25000" dirty="0"/>
              <a:t>1</a:t>
            </a:r>
            <a:r>
              <a:rPr lang="en-US" altLang="zh-CN" sz="2400" dirty="0"/>
              <a:t>=</a:t>
            </a:r>
            <a:r>
              <a:rPr lang="en-US" altLang="zh-CN" sz="2400" i="1" dirty="0"/>
              <a:t>p</a:t>
            </a:r>
            <a:r>
              <a:rPr lang="en-US" altLang="zh-CN" sz="2400" baseline="-25000" dirty="0"/>
              <a:t>1</a:t>
            </a:r>
            <a:r>
              <a:rPr lang="en-US" altLang="zh-CN" sz="2400" i="1" dirty="0"/>
              <a:t>x</a:t>
            </a:r>
            <a:r>
              <a:rPr lang="en-US" altLang="zh-CN" sz="2400" dirty="0"/>
              <a:t>+</a:t>
            </a:r>
            <a:r>
              <a:rPr lang="en-US" altLang="zh-CN" sz="2400" i="1" dirty="0"/>
              <a:t>q</a:t>
            </a:r>
            <a:r>
              <a:rPr lang="en-US" altLang="zh-CN" sz="2400" baseline="-25000" dirty="0"/>
              <a:t>1</a:t>
            </a:r>
            <a:r>
              <a:rPr lang="en-US" altLang="zh-CN" sz="2400" i="1" dirty="0"/>
              <a:t>y</a:t>
            </a:r>
            <a:endParaRPr lang="en-US" altLang="zh-CN" sz="2400" i="1" baseline="-25000" dirty="0"/>
          </a:p>
        </p:txBody>
      </p:sp>
      <p:sp>
        <p:nvSpPr>
          <p:cNvPr id="17413" name="Text Box 77"/>
          <p:cNvSpPr txBox="1">
            <a:spLocks noChangeArrowheads="1"/>
          </p:cNvSpPr>
          <p:nvPr/>
        </p:nvSpPr>
        <p:spPr bwMode="auto">
          <a:xfrm>
            <a:off x="839417" y="6237288"/>
            <a:ext cx="6193210"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sz="2800" b="1" dirty="0">
                <a:ea typeface="楷体_GB2312" pitchFamily="1" charset="-122"/>
              </a:rPr>
              <a:t>以两输入单输出为例的</a:t>
            </a:r>
            <a:r>
              <a:rPr lang="en-US" altLang="zh-CN" sz="2800" b="1" dirty="0" err="1">
                <a:solidFill>
                  <a:srgbClr val="128828"/>
                </a:solidFill>
                <a:ea typeface="楷体_GB2312" pitchFamily="1" charset="-122"/>
              </a:rPr>
              <a:t>Sugeno</a:t>
            </a:r>
            <a:r>
              <a:rPr lang="zh-CN" altLang="en-US" sz="2800" b="1" dirty="0">
                <a:ea typeface="楷体_GB2312" pitchFamily="1" charset="-122"/>
              </a:rPr>
              <a:t>模型</a:t>
            </a:r>
          </a:p>
        </p:txBody>
      </p:sp>
      <p:sp>
        <p:nvSpPr>
          <p:cNvPr id="17414" name="Text Box 78"/>
          <p:cNvSpPr txBox="1">
            <a:spLocks noChangeArrowheads="1"/>
          </p:cNvSpPr>
          <p:nvPr/>
        </p:nvSpPr>
        <p:spPr bwMode="auto">
          <a:xfrm>
            <a:off x="7536683" y="4574058"/>
            <a:ext cx="22320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sz="2400" i="1" dirty="0"/>
              <a:t>Z</a:t>
            </a:r>
            <a:r>
              <a:rPr lang="en-US" altLang="zh-CN" sz="2400" baseline="-25000" dirty="0"/>
              <a:t>2</a:t>
            </a:r>
            <a:r>
              <a:rPr lang="en-US" altLang="zh-CN" sz="2400" dirty="0"/>
              <a:t>=</a:t>
            </a:r>
            <a:r>
              <a:rPr lang="en-US" altLang="zh-CN" sz="2400" i="1" dirty="0"/>
              <a:t>p</a:t>
            </a:r>
            <a:r>
              <a:rPr lang="en-US" altLang="zh-CN" sz="2400" baseline="-25000" dirty="0"/>
              <a:t>2</a:t>
            </a:r>
            <a:r>
              <a:rPr lang="en-US" altLang="zh-CN" sz="2400" dirty="0"/>
              <a:t>x+</a:t>
            </a:r>
            <a:r>
              <a:rPr lang="en-US" altLang="zh-CN" sz="2400" i="1" dirty="0"/>
              <a:t>q</a:t>
            </a:r>
            <a:r>
              <a:rPr lang="en-US" altLang="zh-CN" sz="2400" baseline="-25000" dirty="0"/>
              <a:t>2</a:t>
            </a:r>
            <a:r>
              <a:rPr lang="en-US" altLang="zh-CN" sz="2400" i="1" dirty="0"/>
              <a:t>y</a:t>
            </a:r>
            <a:endParaRPr lang="en-US" altLang="zh-CN" sz="2400" i="1" baseline="-25000" dirty="0"/>
          </a:p>
        </p:txBody>
      </p:sp>
      <p:grpSp>
        <p:nvGrpSpPr>
          <p:cNvPr id="17415" name="Group 7"/>
          <p:cNvGrpSpPr>
            <a:grpSpLocks/>
          </p:cNvGrpSpPr>
          <p:nvPr/>
        </p:nvGrpSpPr>
        <p:grpSpPr bwMode="auto">
          <a:xfrm>
            <a:off x="1991544" y="3134196"/>
            <a:ext cx="5689600" cy="2959100"/>
            <a:chOff x="0" y="0"/>
            <a:chExt cx="3584" cy="1864"/>
          </a:xfrm>
        </p:grpSpPr>
        <p:sp>
          <p:nvSpPr>
            <p:cNvPr id="17416" name="Text Box 76"/>
            <p:cNvSpPr txBox="1">
              <a:spLocks noChangeArrowheads="1"/>
            </p:cNvSpPr>
            <p:nvPr/>
          </p:nvSpPr>
          <p:spPr bwMode="auto">
            <a:xfrm>
              <a:off x="2722" y="1588"/>
              <a:ext cx="862"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b="1">
                  <a:solidFill>
                    <a:srgbClr val="FF3399"/>
                  </a:solidFill>
                  <a:ea typeface="楷体_GB2312" pitchFamily="1" charset="-122"/>
                </a:rPr>
                <a:t>乘积或</a:t>
              </a:r>
              <a:r>
                <a:rPr lang="en-US" altLang="zh-CN" b="1">
                  <a:solidFill>
                    <a:srgbClr val="FF3399"/>
                  </a:solidFill>
                  <a:ea typeface="楷体_GB2312" pitchFamily="1" charset="-122"/>
                </a:rPr>
                <a:t>MIN</a:t>
              </a:r>
            </a:p>
          </p:txBody>
        </p:sp>
        <p:grpSp>
          <p:nvGrpSpPr>
            <p:cNvPr id="17417" name="Group 9"/>
            <p:cNvGrpSpPr>
              <a:grpSpLocks/>
            </p:cNvGrpSpPr>
            <p:nvPr/>
          </p:nvGrpSpPr>
          <p:grpSpPr bwMode="auto">
            <a:xfrm>
              <a:off x="0" y="0"/>
              <a:ext cx="3311" cy="1864"/>
              <a:chOff x="0" y="0"/>
              <a:chExt cx="3311" cy="1864"/>
            </a:xfrm>
          </p:grpSpPr>
          <p:sp>
            <p:nvSpPr>
              <p:cNvPr id="17418" name="Line 4"/>
              <p:cNvSpPr>
                <a:spLocks noChangeShapeType="1"/>
              </p:cNvSpPr>
              <p:nvPr/>
            </p:nvSpPr>
            <p:spPr bwMode="auto">
              <a:xfrm flipV="1">
                <a:off x="635" y="91"/>
                <a:ext cx="0" cy="1542"/>
              </a:xfrm>
              <a:prstGeom prst="line">
                <a:avLst/>
              </a:prstGeom>
              <a:noFill/>
              <a:ln w="19050" cmpd="sng">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7419" name="Line 5"/>
              <p:cNvSpPr>
                <a:spLocks noChangeShapeType="1"/>
              </p:cNvSpPr>
              <p:nvPr/>
            </p:nvSpPr>
            <p:spPr bwMode="auto">
              <a:xfrm flipV="1">
                <a:off x="2132" y="91"/>
                <a:ext cx="0" cy="1542"/>
              </a:xfrm>
              <a:prstGeom prst="line">
                <a:avLst/>
              </a:prstGeom>
              <a:noFill/>
              <a:ln w="19050" cmpd="sng">
                <a:solidFill>
                  <a:srgbClr val="0000FE"/>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7420" name="Line 6"/>
              <p:cNvSpPr>
                <a:spLocks noChangeShapeType="1"/>
              </p:cNvSpPr>
              <p:nvPr/>
            </p:nvSpPr>
            <p:spPr bwMode="auto">
              <a:xfrm flipV="1">
                <a:off x="2948" y="46"/>
                <a:ext cx="0" cy="1496"/>
              </a:xfrm>
              <a:prstGeom prst="line">
                <a:avLst/>
              </a:prstGeom>
              <a:noFill/>
              <a:ln w="9525" cmpd="sng">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7421" name="Line 7"/>
              <p:cNvSpPr>
                <a:spLocks noChangeShapeType="1"/>
              </p:cNvSpPr>
              <p:nvPr/>
            </p:nvSpPr>
            <p:spPr bwMode="auto">
              <a:xfrm>
                <a:off x="635" y="1315"/>
                <a:ext cx="2313" cy="1"/>
              </a:xfrm>
              <a:prstGeom prst="line">
                <a:avLst/>
              </a:prstGeom>
              <a:noFill/>
              <a:ln w="9525" cmpd="sng">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7422" name="Line 8"/>
              <p:cNvSpPr>
                <a:spLocks noChangeShapeType="1"/>
              </p:cNvSpPr>
              <p:nvPr/>
            </p:nvSpPr>
            <p:spPr bwMode="auto">
              <a:xfrm>
                <a:off x="2132" y="590"/>
                <a:ext cx="816" cy="0"/>
              </a:xfrm>
              <a:prstGeom prst="line">
                <a:avLst/>
              </a:prstGeom>
              <a:noFill/>
              <a:ln w="9525" cmpd="sng">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17423" name="Group 15"/>
              <p:cNvGrpSpPr>
                <a:grpSpLocks/>
              </p:cNvGrpSpPr>
              <p:nvPr/>
            </p:nvGrpSpPr>
            <p:grpSpPr bwMode="auto">
              <a:xfrm>
                <a:off x="0" y="0"/>
                <a:ext cx="2948" cy="957"/>
                <a:chOff x="0" y="0"/>
                <a:chExt cx="2948" cy="957"/>
              </a:xfrm>
            </p:grpSpPr>
            <p:sp>
              <p:nvSpPr>
                <p:cNvPr id="17424" name="Line 10"/>
                <p:cNvSpPr>
                  <a:spLocks noChangeShapeType="1"/>
                </p:cNvSpPr>
                <p:nvPr/>
              </p:nvSpPr>
              <p:spPr bwMode="auto">
                <a:xfrm>
                  <a:off x="227" y="137"/>
                  <a:ext cx="0" cy="589"/>
                </a:xfrm>
                <a:prstGeom prst="line">
                  <a:avLst/>
                </a:prstGeom>
                <a:noFill/>
                <a:ln w="9525" cmpd="sng">
                  <a:solidFill>
                    <a:schemeClr val="tx1"/>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7425" name="Line 11"/>
                <p:cNvSpPr>
                  <a:spLocks noChangeShapeType="1"/>
                </p:cNvSpPr>
                <p:nvPr/>
              </p:nvSpPr>
              <p:spPr bwMode="auto">
                <a:xfrm>
                  <a:off x="227" y="726"/>
                  <a:ext cx="952" cy="0"/>
                </a:xfrm>
                <a:prstGeom prst="line">
                  <a:avLst/>
                </a:prstGeom>
                <a:noFill/>
                <a:ln w="9525" cmpd="sng">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7426" name="Line 12"/>
                <p:cNvSpPr>
                  <a:spLocks noChangeShapeType="1"/>
                </p:cNvSpPr>
                <p:nvPr/>
              </p:nvSpPr>
              <p:spPr bwMode="auto">
                <a:xfrm>
                  <a:off x="1769" y="137"/>
                  <a:ext cx="0" cy="589"/>
                </a:xfrm>
                <a:prstGeom prst="line">
                  <a:avLst/>
                </a:prstGeom>
                <a:noFill/>
                <a:ln w="9525" cmpd="sng">
                  <a:solidFill>
                    <a:schemeClr val="tx1"/>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7427" name="Line 13"/>
                <p:cNvSpPr>
                  <a:spLocks noChangeShapeType="1"/>
                </p:cNvSpPr>
                <p:nvPr/>
              </p:nvSpPr>
              <p:spPr bwMode="auto">
                <a:xfrm>
                  <a:off x="1769" y="726"/>
                  <a:ext cx="952" cy="0"/>
                </a:xfrm>
                <a:prstGeom prst="line">
                  <a:avLst/>
                </a:prstGeom>
                <a:noFill/>
                <a:ln w="9525" cmpd="sng">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7428" name="Line 14"/>
                <p:cNvSpPr>
                  <a:spLocks noChangeShapeType="1"/>
                </p:cNvSpPr>
                <p:nvPr/>
              </p:nvSpPr>
              <p:spPr bwMode="auto">
                <a:xfrm flipV="1">
                  <a:off x="363" y="273"/>
                  <a:ext cx="227" cy="453"/>
                </a:xfrm>
                <a:prstGeom prst="line">
                  <a:avLst/>
                </a:prstGeom>
                <a:noFill/>
                <a:ln w="28575" cmpd="sng">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7429" name="Line 15"/>
                <p:cNvSpPr>
                  <a:spLocks noChangeShapeType="1"/>
                </p:cNvSpPr>
                <p:nvPr/>
              </p:nvSpPr>
              <p:spPr bwMode="auto">
                <a:xfrm>
                  <a:off x="590" y="273"/>
                  <a:ext cx="181" cy="453"/>
                </a:xfrm>
                <a:prstGeom prst="line">
                  <a:avLst/>
                </a:prstGeom>
                <a:noFill/>
                <a:ln w="28575" cmpd="sng">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7430" name="Line 16"/>
                <p:cNvSpPr>
                  <a:spLocks noChangeShapeType="1"/>
                </p:cNvSpPr>
                <p:nvPr/>
              </p:nvSpPr>
              <p:spPr bwMode="auto">
                <a:xfrm flipV="1">
                  <a:off x="1769" y="273"/>
                  <a:ext cx="227" cy="453"/>
                </a:xfrm>
                <a:prstGeom prst="line">
                  <a:avLst/>
                </a:prstGeom>
                <a:noFill/>
                <a:ln w="28575" cmpd="sng">
                  <a:solidFill>
                    <a:srgbClr val="0000FE"/>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7431" name="Line 17"/>
                <p:cNvSpPr>
                  <a:spLocks noChangeShapeType="1"/>
                </p:cNvSpPr>
                <p:nvPr/>
              </p:nvSpPr>
              <p:spPr bwMode="auto">
                <a:xfrm>
                  <a:off x="1996" y="273"/>
                  <a:ext cx="181" cy="453"/>
                </a:xfrm>
                <a:prstGeom prst="line">
                  <a:avLst/>
                </a:prstGeom>
                <a:noFill/>
                <a:ln w="28575" cmpd="sng">
                  <a:solidFill>
                    <a:srgbClr val="0000FE"/>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7432" name="Line 18"/>
                <p:cNvSpPr>
                  <a:spLocks noChangeShapeType="1"/>
                </p:cNvSpPr>
                <p:nvPr/>
              </p:nvSpPr>
              <p:spPr bwMode="auto">
                <a:xfrm>
                  <a:off x="635" y="363"/>
                  <a:ext cx="2313" cy="0"/>
                </a:xfrm>
                <a:prstGeom prst="line">
                  <a:avLst/>
                </a:prstGeom>
                <a:noFill/>
                <a:ln w="9525" cmpd="sng">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7433" name="Text Box 19"/>
                <p:cNvSpPr txBox="1">
                  <a:spLocks noChangeArrowheads="1"/>
                </p:cNvSpPr>
                <p:nvPr/>
              </p:nvSpPr>
              <p:spPr bwMode="auto">
                <a:xfrm>
                  <a:off x="363" y="91"/>
                  <a:ext cx="363"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a:t>A</a:t>
                  </a:r>
                  <a:r>
                    <a:rPr lang="en-US" altLang="zh-CN" baseline="-25000"/>
                    <a:t>1</a:t>
                  </a:r>
                </a:p>
              </p:txBody>
            </p:sp>
            <p:sp>
              <p:nvSpPr>
                <p:cNvPr id="17434" name="Text Box 20"/>
                <p:cNvSpPr txBox="1">
                  <a:spLocks noChangeArrowheads="1"/>
                </p:cNvSpPr>
                <p:nvPr/>
              </p:nvSpPr>
              <p:spPr bwMode="auto">
                <a:xfrm>
                  <a:off x="2177" y="91"/>
                  <a:ext cx="363"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a:t>B</a:t>
                  </a:r>
                  <a:r>
                    <a:rPr lang="en-US" altLang="zh-CN" baseline="-25000"/>
                    <a:t>1</a:t>
                  </a:r>
                  <a:endParaRPr lang="en-US" altLang="zh-CN"/>
                </a:p>
              </p:txBody>
            </p:sp>
            <p:sp>
              <p:nvSpPr>
                <p:cNvPr id="17435" name="Text Box 21"/>
                <p:cNvSpPr txBox="1">
                  <a:spLocks noChangeArrowheads="1"/>
                </p:cNvSpPr>
                <p:nvPr/>
              </p:nvSpPr>
              <p:spPr bwMode="auto">
                <a:xfrm>
                  <a:off x="2540" y="726"/>
                  <a:ext cx="363"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a:t>Y</a:t>
                  </a:r>
                </a:p>
              </p:txBody>
            </p:sp>
            <p:sp>
              <p:nvSpPr>
                <p:cNvPr id="17436" name="Text Box 22"/>
                <p:cNvSpPr txBox="1">
                  <a:spLocks noChangeArrowheads="1"/>
                </p:cNvSpPr>
                <p:nvPr/>
              </p:nvSpPr>
              <p:spPr bwMode="auto">
                <a:xfrm>
                  <a:off x="953" y="726"/>
                  <a:ext cx="363"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a:t>X</a:t>
                  </a:r>
                </a:p>
              </p:txBody>
            </p:sp>
            <p:sp>
              <p:nvSpPr>
                <p:cNvPr id="17437" name="Text Box 23"/>
                <p:cNvSpPr txBox="1">
                  <a:spLocks noChangeArrowheads="1"/>
                </p:cNvSpPr>
                <p:nvPr/>
              </p:nvSpPr>
              <p:spPr bwMode="auto">
                <a:xfrm>
                  <a:off x="0" y="45"/>
                  <a:ext cx="272"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l-GR" altLang="en-US"/>
                    <a:t>μ</a:t>
                  </a:r>
                  <a:endParaRPr lang="en-US" altLang="zh-CN"/>
                </a:p>
              </p:txBody>
            </p:sp>
            <p:sp>
              <p:nvSpPr>
                <p:cNvPr id="17438" name="Text Box 24"/>
                <p:cNvSpPr txBox="1">
                  <a:spLocks noChangeArrowheads="1"/>
                </p:cNvSpPr>
                <p:nvPr/>
              </p:nvSpPr>
              <p:spPr bwMode="auto">
                <a:xfrm>
                  <a:off x="1588" y="0"/>
                  <a:ext cx="272"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l-GR" altLang="en-US"/>
                    <a:t>μ</a:t>
                  </a:r>
                  <a:endParaRPr lang="en-US" altLang="zh-CN"/>
                </a:p>
              </p:txBody>
            </p:sp>
          </p:grpSp>
          <p:grpSp>
            <p:nvGrpSpPr>
              <p:cNvPr id="17439" name="Group 31"/>
              <p:cNvGrpSpPr>
                <a:grpSpLocks/>
              </p:cNvGrpSpPr>
              <p:nvPr/>
            </p:nvGrpSpPr>
            <p:grpSpPr bwMode="auto">
              <a:xfrm>
                <a:off x="0" y="817"/>
                <a:ext cx="2948" cy="1047"/>
                <a:chOff x="0" y="0"/>
                <a:chExt cx="2948" cy="1047"/>
              </a:xfrm>
            </p:grpSpPr>
            <p:sp>
              <p:nvSpPr>
                <p:cNvPr id="17440" name="Line 26"/>
                <p:cNvSpPr>
                  <a:spLocks noChangeShapeType="1"/>
                </p:cNvSpPr>
                <p:nvPr/>
              </p:nvSpPr>
              <p:spPr bwMode="auto">
                <a:xfrm>
                  <a:off x="227" y="91"/>
                  <a:ext cx="0" cy="589"/>
                </a:xfrm>
                <a:prstGeom prst="line">
                  <a:avLst/>
                </a:prstGeom>
                <a:noFill/>
                <a:ln w="9525" cmpd="sng">
                  <a:solidFill>
                    <a:schemeClr val="tx1"/>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7441" name="Line 27"/>
                <p:cNvSpPr>
                  <a:spLocks noChangeShapeType="1"/>
                </p:cNvSpPr>
                <p:nvPr/>
              </p:nvSpPr>
              <p:spPr bwMode="auto">
                <a:xfrm>
                  <a:off x="227" y="680"/>
                  <a:ext cx="952" cy="0"/>
                </a:xfrm>
                <a:prstGeom prst="line">
                  <a:avLst/>
                </a:prstGeom>
                <a:noFill/>
                <a:ln w="9525" cmpd="sng">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7442" name="Line 28"/>
                <p:cNvSpPr>
                  <a:spLocks noChangeShapeType="1"/>
                </p:cNvSpPr>
                <p:nvPr/>
              </p:nvSpPr>
              <p:spPr bwMode="auto">
                <a:xfrm>
                  <a:off x="1769" y="91"/>
                  <a:ext cx="0" cy="589"/>
                </a:xfrm>
                <a:prstGeom prst="line">
                  <a:avLst/>
                </a:prstGeom>
                <a:noFill/>
                <a:ln w="9525" cmpd="sng">
                  <a:solidFill>
                    <a:schemeClr val="tx1"/>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7443" name="Line 29"/>
                <p:cNvSpPr>
                  <a:spLocks noChangeShapeType="1"/>
                </p:cNvSpPr>
                <p:nvPr/>
              </p:nvSpPr>
              <p:spPr bwMode="auto">
                <a:xfrm>
                  <a:off x="1769" y="680"/>
                  <a:ext cx="952" cy="0"/>
                </a:xfrm>
                <a:prstGeom prst="line">
                  <a:avLst/>
                </a:prstGeom>
                <a:noFill/>
                <a:ln w="9525" cmpd="sng">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7444" name="Line 30"/>
                <p:cNvSpPr>
                  <a:spLocks noChangeShapeType="1"/>
                </p:cNvSpPr>
                <p:nvPr/>
              </p:nvSpPr>
              <p:spPr bwMode="auto">
                <a:xfrm flipV="1">
                  <a:off x="544" y="226"/>
                  <a:ext cx="227" cy="453"/>
                </a:xfrm>
                <a:prstGeom prst="line">
                  <a:avLst/>
                </a:prstGeom>
                <a:noFill/>
                <a:ln w="28575" cmpd="sng">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7445" name="Line 31"/>
                <p:cNvSpPr>
                  <a:spLocks noChangeShapeType="1"/>
                </p:cNvSpPr>
                <p:nvPr/>
              </p:nvSpPr>
              <p:spPr bwMode="auto">
                <a:xfrm>
                  <a:off x="771" y="226"/>
                  <a:ext cx="181" cy="453"/>
                </a:xfrm>
                <a:prstGeom prst="line">
                  <a:avLst/>
                </a:prstGeom>
                <a:noFill/>
                <a:ln w="28575" cmpd="sng">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7446" name="Line 32"/>
                <p:cNvSpPr>
                  <a:spLocks noChangeShapeType="1"/>
                </p:cNvSpPr>
                <p:nvPr/>
              </p:nvSpPr>
              <p:spPr bwMode="auto">
                <a:xfrm flipV="1">
                  <a:off x="1950" y="226"/>
                  <a:ext cx="227" cy="453"/>
                </a:xfrm>
                <a:prstGeom prst="line">
                  <a:avLst/>
                </a:prstGeom>
                <a:noFill/>
                <a:ln w="28575" cmpd="sng">
                  <a:solidFill>
                    <a:srgbClr val="0000FE"/>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7447" name="Line 33"/>
                <p:cNvSpPr>
                  <a:spLocks noChangeShapeType="1"/>
                </p:cNvSpPr>
                <p:nvPr/>
              </p:nvSpPr>
              <p:spPr bwMode="auto">
                <a:xfrm>
                  <a:off x="2177" y="226"/>
                  <a:ext cx="181" cy="453"/>
                </a:xfrm>
                <a:prstGeom prst="line">
                  <a:avLst/>
                </a:prstGeom>
                <a:noFill/>
                <a:ln w="28575" cmpd="sng">
                  <a:solidFill>
                    <a:srgbClr val="0000FE"/>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7448" name="Line 34"/>
                <p:cNvSpPr>
                  <a:spLocks noChangeShapeType="1"/>
                </p:cNvSpPr>
                <p:nvPr/>
              </p:nvSpPr>
              <p:spPr bwMode="auto">
                <a:xfrm>
                  <a:off x="2132" y="317"/>
                  <a:ext cx="816" cy="0"/>
                </a:xfrm>
                <a:prstGeom prst="line">
                  <a:avLst/>
                </a:prstGeom>
                <a:noFill/>
                <a:ln w="9525" cmpd="sng">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7449" name="Text Box 35"/>
                <p:cNvSpPr txBox="1">
                  <a:spLocks noChangeArrowheads="1"/>
                </p:cNvSpPr>
                <p:nvPr/>
              </p:nvSpPr>
              <p:spPr bwMode="auto">
                <a:xfrm>
                  <a:off x="2223" y="45"/>
                  <a:ext cx="363"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a:t>B</a:t>
                  </a:r>
                  <a:r>
                    <a:rPr lang="en-US" altLang="zh-CN" baseline="-25000"/>
                    <a:t>2</a:t>
                  </a:r>
                  <a:endParaRPr lang="en-US" altLang="zh-CN"/>
                </a:p>
              </p:txBody>
            </p:sp>
            <p:sp>
              <p:nvSpPr>
                <p:cNvPr id="17450" name="Text Box 36"/>
                <p:cNvSpPr txBox="1">
                  <a:spLocks noChangeArrowheads="1"/>
                </p:cNvSpPr>
                <p:nvPr/>
              </p:nvSpPr>
              <p:spPr bwMode="auto">
                <a:xfrm>
                  <a:off x="363" y="181"/>
                  <a:ext cx="363"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a:t>A</a:t>
                  </a:r>
                  <a:r>
                    <a:rPr lang="en-US" altLang="zh-CN" baseline="-25000"/>
                    <a:t>2</a:t>
                  </a:r>
                  <a:endParaRPr lang="en-US" altLang="zh-CN"/>
                </a:p>
              </p:txBody>
            </p:sp>
            <p:sp>
              <p:nvSpPr>
                <p:cNvPr id="17451" name="Text Box 37"/>
                <p:cNvSpPr txBox="1">
                  <a:spLocks noChangeArrowheads="1"/>
                </p:cNvSpPr>
                <p:nvPr/>
              </p:nvSpPr>
              <p:spPr bwMode="auto">
                <a:xfrm>
                  <a:off x="499" y="816"/>
                  <a:ext cx="363"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a:t>x</a:t>
                  </a:r>
                </a:p>
              </p:txBody>
            </p:sp>
            <p:sp>
              <p:nvSpPr>
                <p:cNvPr id="17452" name="Text Box 38"/>
                <p:cNvSpPr txBox="1">
                  <a:spLocks noChangeArrowheads="1"/>
                </p:cNvSpPr>
                <p:nvPr/>
              </p:nvSpPr>
              <p:spPr bwMode="auto">
                <a:xfrm>
                  <a:off x="1996" y="816"/>
                  <a:ext cx="363"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a:t>y</a:t>
                  </a:r>
                </a:p>
              </p:txBody>
            </p:sp>
            <p:sp>
              <p:nvSpPr>
                <p:cNvPr id="17453" name="Text Box 39"/>
                <p:cNvSpPr txBox="1">
                  <a:spLocks noChangeArrowheads="1"/>
                </p:cNvSpPr>
                <p:nvPr/>
              </p:nvSpPr>
              <p:spPr bwMode="auto">
                <a:xfrm>
                  <a:off x="2540" y="725"/>
                  <a:ext cx="363"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a:t>Y</a:t>
                  </a:r>
                </a:p>
              </p:txBody>
            </p:sp>
            <p:sp>
              <p:nvSpPr>
                <p:cNvPr id="17454" name="Text Box 40"/>
                <p:cNvSpPr txBox="1">
                  <a:spLocks noChangeArrowheads="1"/>
                </p:cNvSpPr>
                <p:nvPr/>
              </p:nvSpPr>
              <p:spPr bwMode="auto">
                <a:xfrm>
                  <a:off x="1043" y="725"/>
                  <a:ext cx="363"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a:t>X</a:t>
                  </a:r>
                </a:p>
              </p:txBody>
            </p:sp>
            <p:sp>
              <p:nvSpPr>
                <p:cNvPr id="17455" name="Text Box 41"/>
                <p:cNvSpPr txBox="1">
                  <a:spLocks noChangeArrowheads="1"/>
                </p:cNvSpPr>
                <p:nvPr/>
              </p:nvSpPr>
              <p:spPr bwMode="auto">
                <a:xfrm>
                  <a:off x="0" y="0"/>
                  <a:ext cx="272"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l-GR" altLang="en-US"/>
                    <a:t>μ</a:t>
                  </a:r>
                  <a:endParaRPr lang="en-US" altLang="zh-CN"/>
                </a:p>
              </p:txBody>
            </p:sp>
            <p:sp>
              <p:nvSpPr>
                <p:cNvPr id="17456" name="Text Box 42"/>
                <p:cNvSpPr txBox="1">
                  <a:spLocks noChangeArrowheads="1"/>
                </p:cNvSpPr>
                <p:nvPr/>
              </p:nvSpPr>
              <p:spPr bwMode="auto">
                <a:xfrm>
                  <a:off x="1542" y="0"/>
                  <a:ext cx="272"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l-GR" altLang="en-US"/>
                    <a:t>μ</a:t>
                  </a:r>
                  <a:endParaRPr lang="en-US" altLang="zh-CN"/>
                </a:p>
              </p:txBody>
            </p:sp>
          </p:grpSp>
          <p:sp>
            <p:nvSpPr>
              <p:cNvPr id="17457" name="Text Box 49"/>
              <p:cNvSpPr txBox="1">
                <a:spLocks noChangeArrowheads="1"/>
              </p:cNvSpPr>
              <p:nvPr/>
            </p:nvSpPr>
            <p:spPr bwMode="auto">
              <a:xfrm>
                <a:off x="2948" y="454"/>
                <a:ext cx="363"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a:t>W</a:t>
                </a:r>
                <a:r>
                  <a:rPr lang="en-US" altLang="zh-CN" baseline="-25000"/>
                  <a:t>1</a:t>
                </a:r>
                <a:endParaRPr lang="en-US" altLang="zh-CN"/>
              </a:p>
            </p:txBody>
          </p:sp>
          <p:sp>
            <p:nvSpPr>
              <p:cNvPr id="17458" name="Text Box 59"/>
              <p:cNvSpPr txBox="1">
                <a:spLocks noChangeArrowheads="1"/>
              </p:cNvSpPr>
              <p:nvPr/>
            </p:nvSpPr>
            <p:spPr bwMode="auto">
              <a:xfrm>
                <a:off x="2903" y="1179"/>
                <a:ext cx="363"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a:t>W</a:t>
                </a:r>
                <a:r>
                  <a:rPr lang="en-US" altLang="zh-CN" baseline="-25000"/>
                  <a:t>2</a:t>
                </a:r>
                <a:endParaRPr lang="en-US" altLang="zh-CN"/>
              </a:p>
            </p:txBody>
          </p:sp>
        </p:grpSp>
      </p:grpSp>
      <p:sp>
        <p:nvSpPr>
          <p:cNvPr id="17464" name="AutoShape 87"/>
          <p:cNvSpPr>
            <a:spLocks noChangeArrowheads="1"/>
          </p:cNvSpPr>
          <p:nvPr/>
        </p:nvSpPr>
        <p:spPr bwMode="auto">
          <a:xfrm>
            <a:off x="8328844" y="5223346"/>
            <a:ext cx="431800" cy="647700"/>
          </a:xfrm>
          <a:prstGeom prst="downArrow">
            <a:avLst>
              <a:gd name="adj1" fmla="val 50000"/>
              <a:gd name="adj2" fmla="val 37500"/>
            </a:avLst>
          </a:prstGeom>
          <a:solidFill>
            <a:srgbClr val="008000"/>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17465" name="Text Box 88"/>
          <p:cNvSpPr txBox="1">
            <a:spLocks noChangeArrowheads="1"/>
          </p:cNvSpPr>
          <p:nvPr/>
        </p:nvSpPr>
        <p:spPr bwMode="auto">
          <a:xfrm>
            <a:off x="8976545" y="5366221"/>
            <a:ext cx="1223963"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b="1">
                <a:solidFill>
                  <a:srgbClr val="008000"/>
                </a:solidFill>
                <a:ea typeface="楷体_GB2312" pitchFamily="1" charset="-122"/>
              </a:rPr>
              <a:t>加权平均</a:t>
            </a:r>
          </a:p>
        </p:txBody>
      </p:sp>
      <p:sp>
        <p:nvSpPr>
          <p:cNvPr id="2" name="灯片编号占位符 1">
            <a:extLst>
              <a:ext uri="{FF2B5EF4-FFF2-40B4-BE49-F238E27FC236}">
                <a16:creationId xmlns:a16="http://schemas.microsoft.com/office/drawing/2014/main" id="{E20DBB67-ABDC-D0F3-05F0-3185ABA13EF4}"/>
              </a:ext>
            </a:extLst>
          </p:cNvPr>
          <p:cNvSpPr>
            <a:spLocks noGrp="1"/>
          </p:cNvSpPr>
          <p:nvPr>
            <p:ph type="sldNum" sz="quarter" idx="11"/>
          </p:nvPr>
        </p:nvSpPr>
        <p:spPr/>
        <p:txBody>
          <a:bodyPr/>
          <a:lstStyle/>
          <a:p>
            <a:pPr>
              <a:defRPr/>
            </a:pPr>
            <a:fld id="{B77A47BA-BA63-4780-94A9-8AFA2EA4438D}" type="slidenum">
              <a:rPr lang="en-US" altLang="zh-CN" smtClean="0"/>
              <a:pPr>
                <a:defRPr/>
              </a:pPr>
              <a:t>13</a:t>
            </a:fld>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7411">
                                            <p:bg/>
                                          </p:spTgt>
                                        </p:tgtEl>
                                        <p:attrNameLst>
                                          <p:attrName>style.visibility</p:attrName>
                                        </p:attrNameLst>
                                      </p:cBhvr>
                                      <p:to>
                                        <p:strVal val="visible"/>
                                      </p:to>
                                    </p:set>
                                    <p:animEffect transition="in" filter="wipe(left)">
                                      <p:cBhvr>
                                        <p:cTn id="7" dur="500"/>
                                        <p:tgtEl>
                                          <p:spTgt spid="17411">
                                            <p:bg/>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7411">
                                            <p:txEl>
                                              <p:pRg st="0" end="0"/>
                                            </p:txEl>
                                          </p:spTgt>
                                        </p:tgtEl>
                                        <p:attrNameLst>
                                          <p:attrName>style.visibility</p:attrName>
                                        </p:attrNameLst>
                                      </p:cBhvr>
                                      <p:to>
                                        <p:strVal val="visible"/>
                                      </p:to>
                                    </p:set>
                                    <p:animEffect transition="in" filter="wipe(left)">
                                      <p:cBhvr>
                                        <p:cTn id="12" dur="500"/>
                                        <p:tgtEl>
                                          <p:spTgt spid="17411">
                                            <p:txEl>
                                              <p:pRg st="0" end="0"/>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17413"/>
                                        </p:tgtEl>
                                        <p:attrNameLst>
                                          <p:attrName>style.visibility</p:attrName>
                                        </p:attrNameLst>
                                      </p:cBhvr>
                                      <p:to>
                                        <p:strVal val="visible"/>
                                      </p:to>
                                    </p:set>
                                    <p:anim calcmode="lin" valueType="num">
                                      <p:cBhvr additive="base">
                                        <p:cTn id="17" dur="500" fill="hold"/>
                                        <p:tgtEl>
                                          <p:spTgt spid="17413"/>
                                        </p:tgtEl>
                                        <p:attrNameLst>
                                          <p:attrName>ppt_x</p:attrName>
                                        </p:attrNameLst>
                                      </p:cBhvr>
                                      <p:tavLst>
                                        <p:tav tm="0">
                                          <p:val>
                                            <p:strVal val="#ppt_x"/>
                                          </p:val>
                                        </p:tav>
                                        <p:tav tm="100000">
                                          <p:val>
                                            <p:strVal val="#ppt_x"/>
                                          </p:val>
                                        </p:tav>
                                      </p:tavLst>
                                    </p:anim>
                                    <p:anim calcmode="lin" valueType="num">
                                      <p:cBhvr additive="base">
                                        <p:cTn id="18" dur="500" fill="hold"/>
                                        <p:tgtEl>
                                          <p:spTgt spid="17413"/>
                                        </p:tgtEl>
                                        <p:attrNameLst>
                                          <p:attrName>ppt_y</p:attrName>
                                        </p:attrNameLst>
                                      </p:cBhvr>
                                      <p:tavLst>
                                        <p:tav tm="0">
                                          <p:val>
                                            <p:strVal val="1+#ppt_h/2"/>
                                          </p:val>
                                        </p:tav>
                                        <p:tav tm="100000">
                                          <p:val>
                                            <p:strVal val="#ppt_y"/>
                                          </p:val>
                                        </p:tav>
                                      </p:tavLst>
                                    </p:anim>
                                  </p:childTnLst>
                                </p:cTn>
                              </p:par>
                            </p:childTnLst>
                          </p:cTn>
                        </p:par>
                      </p:childTnLst>
                    </p:cTn>
                  </p:par>
                  <p:par>
                    <p:cTn id="19" fill="hold" nodeType="clickPar">
                      <p:stCondLst>
                        <p:cond delay="indefinite"/>
                      </p:stCondLst>
                      <p:childTnLst>
                        <p:par>
                          <p:cTn id="20" fill="hold" nodeType="withGroup">
                            <p:stCondLst>
                              <p:cond delay="0"/>
                            </p:stCondLst>
                            <p:childTnLst>
                              <p:par>
                                <p:cTn id="21" presetID="22" presetClass="entr" presetSubtype="1" fill="hold" nodeType="clickEffect">
                                  <p:stCondLst>
                                    <p:cond delay="0"/>
                                  </p:stCondLst>
                                  <p:childTnLst>
                                    <p:set>
                                      <p:cBhvr>
                                        <p:cTn id="22" dur="1" fill="hold">
                                          <p:stCondLst>
                                            <p:cond delay="0"/>
                                          </p:stCondLst>
                                        </p:cTn>
                                        <p:tgtEl>
                                          <p:spTgt spid="17415"/>
                                        </p:tgtEl>
                                        <p:attrNameLst>
                                          <p:attrName>style.visibility</p:attrName>
                                        </p:attrNameLst>
                                      </p:cBhvr>
                                      <p:to>
                                        <p:strVal val="visible"/>
                                      </p:to>
                                    </p:set>
                                    <p:animEffect transition="in" filter="wipe(up)">
                                      <p:cBhvr>
                                        <p:cTn id="23" dur="500"/>
                                        <p:tgtEl>
                                          <p:spTgt spid="17415"/>
                                        </p:tgtEl>
                                      </p:cBhvr>
                                    </p:animEffect>
                                  </p:childTnLst>
                                </p:cTn>
                              </p:par>
                            </p:childTnLst>
                          </p:cTn>
                        </p:par>
                      </p:childTnLst>
                    </p:cTn>
                  </p:par>
                  <p:par>
                    <p:cTn id="24" fill="hold" nodeType="clickPar">
                      <p:stCondLst>
                        <p:cond delay="indefinite"/>
                      </p:stCondLst>
                      <p:childTnLst>
                        <p:par>
                          <p:cTn id="25" fill="hold" nodeType="withGroup">
                            <p:stCondLst>
                              <p:cond delay="0"/>
                            </p:stCondLst>
                            <p:childTnLst>
                              <p:par>
                                <p:cTn id="26" presetID="22" presetClass="entr" presetSubtype="1" fill="hold" grpId="0" nodeType="clickEffect">
                                  <p:stCondLst>
                                    <p:cond delay="0"/>
                                  </p:stCondLst>
                                  <p:childTnLst>
                                    <p:set>
                                      <p:cBhvr>
                                        <p:cTn id="27" dur="1" fill="hold">
                                          <p:stCondLst>
                                            <p:cond delay="0"/>
                                          </p:stCondLst>
                                        </p:cTn>
                                        <p:tgtEl>
                                          <p:spTgt spid="17412"/>
                                        </p:tgtEl>
                                        <p:attrNameLst>
                                          <p:attrName>style.visibility</p:attrName>
                                        </p:attrNameLst>
                                      </p:cBhvr>
                                      <p:to>
                                        <p:strVal val="visible"/>
                                      </p:to>
                                    </p:set>
                                    <p:animEffect transition="in" filter="wipe(up)">
                                      <p:cBhvr>
                                        <p:cTn id="28" dur="500"/>
                                        <p:tgtEl>
                                          <p:spTgt spid="17412"/>
                                        </p:tgtEl>
                                      </p:cBhvr>
                                    </p:animEffect>
                                  </p:childTnLst>
                                </p:cTn>
                              </p:par>
                            </p:childTnLst>
                          </p:cTn>
                        </p:par>
                      </p:childTnLst>
                    </p:cTn>
                  </p:par>
                  <p:par>
                    <p:cTn id="29" fill="hold" nodeType="clickPar">
                      <p:stCondLst>
                        <p:cond delay="indefinite"/>
                      </p:stCondLst>
                      <p:childTnLst>
                        <p:par>
                          <p:cTn id="30" fill="hold" nodeType="withGroup">
                            <p:stCondLst>
                              <p:cond delay="0"/>
                            </p:stCondLst>
                            <p:childTnLst>
                              <p:par>
                                <p:cTn id="31" presetID="22" presetClass="entr" presetSubtype="1" fill="hold" grpId="0" nodeType="clickEffect">
                                  <p:stCondLst>
                                    <p:cond delay="0"/>
                                  </p:stCondLst>
                                  <p:childTnLst>
                                    <p:set>
                                      <p:cBhvr>
                                        <p:cTn id="32" dur="1" fill="hold">
                                          <p:stCondLst>
                                            <p:cond delay="0"/>
                                          </p:stCondLst>
                                        </p:cTn>
                                        <p:tgtEl>
                                          <p:spTgt spid="17414"/>
                                        </p:tgtEl>
                                        <p:attrNameLst>
                                          <p:attrName>style.visibility</p:attrName>
                                        </p:attrNameLst>
                                      </p:cBhvr>
                                      <p:to>
                                        <p:strVal val="visible"/>
                                      </p:to>
                                    </p:set>
                                    <p:animEffect transition="in" filter="wipe(up)">
                                      <p:cBhvr>
                                        <p:cTn id="33" dur="500"/>
                                        <p:tgtEl>
                                          <p:spTgt spid="17414"/>
                                        </p:tgtEl>
                                      </p:cBhvr>
                                    </p:animEffect>
                                  </p:childTnLst>
                                </p:cTn>
                              </p:par>
                            </p:childTnLst>
                          </p:cTn>
                        </p:par>
                      </p:childTnLst>
                    </p:cTn>
                  </p:par>
                  <p:par>
                    <p:cTn id="34" fill="hold" nodeType="clickPar">
                      <p:stCondLst>
                        <p:cond delay="indefinite"/>
                      </p:stCondLst>
                      <p:childTnLst>
                        <p:par>
                          <p:cTn id="35" fill="hold" nodeType="withGroup">
                            <p:stCondLst>
                              <p:cond delay="0"/>
                            </p:stCondLst>
                            <p:childTnLst>
                              <p:par>
                                <p:cTn id="36" presetID="22" presetClass="entr" presetSubtype="1" fill="hold" grpId="0" nodeType="clickEffect">
                                  <p:stCondLst>
                                    <p:cond delay="0"/>
                                  </p:stCondLst>
                                  <p:childTnLst>
                                    <p:set>
                                      <p:cBhvr>
                                        <p:cTn id="37" dur="1" fill="hold">
                                          <p:stCondLst>
                                            <p:cond delay="0"/>
                                          </p:stCondLst>
                                        </p:cTn>
                                        <p:tgtEl>
                                          <p:spTgt spid="17464"/>
                                        </p:tgtEl>
                                        <p:attrNameLst>
                                          <p:attrName>style.visibility</p:attrName>
                                        </p:attrNameLst>
                                      </p:cBhvr>
                                      <p:to>
                                        <p:strVal val="visible"/>
                                      </p:to>
                                    </p:set>
                                    <p:animEffect transition="in" filter="wipe(up)">
                                      <p:cBhvr>
                                        <p:cTn id="38" dur="500"/>
                                        <p:tgtEl>
                                          <p:spTgt spid="17464"/>
                                        </p:tgtEl>
                                      </p:cBhvr>
                                    </p:animEffect>
                                  </p:childTnLst>
                                </p:cTn>
                              </p:par>
                            </p:childTnLst>
                          </p:cTn>
                        </p:par>
                        <p:par>
                          <p:cTn id="39" fill="hold" nodeType="afterGroup">
                            <p:stCondLst>
                              <p:cond delay="500"/>
                            </p:stCondLst>
                            <p:childTnLst>
                              <p:par>
                                <p:cTn id="40" presetID="22" presetClass="entr" presetSubtype="1" fill="hold" grpId="0" nodeType="afterEffect">
                                  <p:stCondLst>
                                    <p:cond delay="0"/>
                                  </p:stCondLst>
                                  <p:childTnLst>
                                    <p:set>
                                      <p:cBhvr>
                                        <p:cTn id="41" dur="1" fill="hold">
                                          <p:stCondLst>
                                            <p:cond delay="0"/>
                                          </p:stCondLst>
                                        </p:cTn>
                                        <p:tgtEl>
                                          <p:spTgt spid="17465"/>
                                        </p:tgtEl>
                                        <p:attrNameLst>
                                          <p:attrName>style.visibility</p:attrName>
                                        </p:attrNameLst>
                                      </p:cBhvr>
                                      <p:to>
                                        <p:strVal val="visible"/>
                                      </p:to>
                                    </p:set>
                                    <p:animEffect transition="in" filter="wipe(up)">
                                      <p:cBhvr>
                                        <p:cTn id="42" dur="500"/>
                                        <p:tgtEl>
                                          <p:spTgt spid="17465"/>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22" presetClass="entr" presetSubtype="1" fill="hold" nodeType="clickEffect">
                                  <p:stCondLst>
                                    <p:cond delay="0"/>
                                  </p:stCondLst>
                                  <p:childTnLst>
                                    <p:set>
                                      <p:cBhvr>
                                        <p:cTn id="46" dur="1" fill="hold">
                                          <p:stCondLst>
                                            <p:cond delay="0"/>
                                          </p:stCondLst>
                                        </p:cTn>
                                        <p:tgtEl>
                                          <p:spTgt spid="17463"/>
                                        </p:tgtEl>
                                        <p:attrNameLst>
                                          <p:attrName>style.visibility</p:attrName>
                                        </p:attrNameLst>
                                      </p:cBhvr>
                                      <p:to>
                                        <p:strVal val="visible"/>
                                      </p:to>
                                    </p:set>
                                    <p:animEffect transition="in" filter="wipe(up)">
                                      <p:cBhvr>
                                        <p:cTn id="47" dur="500"/>
                                        <p:tgtEl>
                                          <p:spTgt spid="17463"/>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22" presetClass="entr" presetSubtype="8" fill="hold" grpId="0" nodeType="clickEffect">
                                  <p:stCondLst>
                                    <p:cond delay="0"/>
                                  </p:stCondLst>
                                  <p:childTnLst>
                                    <p:set>
                                      <p:cBhvr>
                                        <p:cTn id="51" dur="1" fill="hold">
                                          <p:stCondLst>
                                            <p:cond delay="0"/>
                                          </p:stCondLst>
                                        </p:cTn>
                                        <p:tgtEl>
                                          <p:spTgt spid="17411">
                                            <p:txEl>
                                              <p:pRg st="1" end="1"/>
                                            </p:txEl>
                                          </p:spTgt>
                                        </p:tgtEl>
                                        <p:attrNameLst>
                                          <p:attrName>style.visibility</p:attrName>
                                        </p:attrNameLst>
                                      </p:cBhvr>
                                      <p:to>
                                        <p:strVal val="visible"/>
                                      </p:to>
                                    </p:set>
                                    <p:animEffect transition="in" filter="wipe(left)">
                                      <p:cBhvr>
                                        <p:cTn id="52" dur="500"/>
                                        <p:tgtEl>
                                          <p:spTgt spid="17411">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411" grpId="0" build="p" animBg="1" autoUpdateAnimBg="0"/>
      <p:bldP spid="17412" grpId="0" autoUpdateAnimBg="0"/>
      <p:bldP spid="17413" grpId="0" autoUpdateAnimBg="0"/>
      <p:bldP spid="17414" grpId="0" autoUpdateAnimBg="0"/>
      <p:bldP spid="17464" grpId="0" animBg="1" autoUpdateAnimBg="0"/>
      <p:bldP spid="17465" grpId="0" autoUpdateAnimBg="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Grp="1" noChangeArrowheads="1"/>
          </p:cNvSpPr>
          <p:nvPr>
            <p:ph type="title" idx="4294967295"/>
          </p:nvPr>
        </p:nvSpPr>
        <p:spPr>
          <a:xfrm>
            <a:off x="0" y="457200"/>
            <a:ext cx="10972800" cy="1371600"/>
          </a:xfrm>
        </p:spPr>
        <p:txBody>
          <a:bodyPr/>
          <a:lstStyle/>
          <a:p>
            <a:pPr algn="ctr" eaLnBrk="1" hangingPunct="1"/>
            <a:r>
              <a:rPr lang="zh-CN" altLang="en-US" dirty="0">
                <a:solidFill>
                  <a:srgbClr val="008000"/>
                </a:solidFill>
                <a:latin typeface="Comic Sans MS" panose="030F0702030302020204" pitchFamily="66" charset="0"/>
                <a:ea typeface="黑体" panose="02010609060101010101" pitchFamily="49" charset="-122"/>
              </a:rPr>
              <a:t>一阶</a:t>
            </a:r>
            <a:r>
              <a:rPr lang="en-US" altLang="zh-CN" dirty="0" err="1">
                <a:solidFill>
                  <a:srgbClr val="008000"/>
                </a:solidFill>
                <a:latin typeface="Comic Sans MS" panose="030F0702030302020204" pitchFamily="66" charset="0"/>
                <a:ea typeface="黑体" panose="02010609060101010101" pitchFamily="49" charset="-122"/>
              </a:rPr>
              <a:t>Sugeno</a:t>
            </a:r>
            <a:r>
              <a:rPr lang="en-US" altLang="zh-CN" dirty="0">
                <a:solidFill>
                  <a:srgbClr val="008000"/>
                </a:solidFill>
                <a:latin typeface="Comic Sans MS" panose="030F0702030302020204" pitchFamily="66" charset="0"/>
                <a:ea typeface="黑体" panose="02010609060101010101" pitchFamily="49" charset="-122"/>
              </a:rPr>
              <a:t> </a:t>
            </a:r>
            <a:r>
              <a:rPr lang="zh-CN" altLang="en-US" dirty="0">
                <a:solidFill>
                  <a:srgbClr val="008000"/>
                </a:solidFill>
                <a:latin typeface="Comic Sans MS" panose="030F0702030302020204" pitchFamily="66" charset="0"/>
                <a:ea typeface="黑体" panose="02010609060101010101" pitchFamily="49" charset="-122"/>
              </a:rPr>
              <a:t>模糊模型举例</a:t>
            </a:r>
          </a:p>
        </p:txBody>
      </p:sp>
      <p:sp>
        <p:nvSpPr>
          <p:cNvPr id="18435" name="Rectangle 3"/>
          <p:cNvSpPr>
            <a:spLocks noGrp="1" noChangeArrowheads="1"/>
          </p:cNvSpPr>
          <p:nvPr>
            <p:ph type="body" idx="4294967295"/>
          </p:nvPr>
        </p:nvSpPr>
        <p:spPr>
          <a:xfrm>
            <a:off x="767408" y="1828800"/>
            <a:ext cx="10205392" cy="4751387"/>
          </a:xfrm>
        </p:spPr>
        <p:txBody>
          <a:bodyPr/>
          <a:lstStyle/>
          <a:p>
            <a:pPr eaLnBrk="1" hangingPunct="1">
              <a:lnSpc>
                <a:spcPct val="120000"/>
              </a:lnSpc>
            </a:pPr>
            <a:r>
              <a:rPr lang="en-US" altLang="zh-CN" dirty="0">
                <a:solidFill>
                  <a:srgbClr val="FF0000"/>
                </a:solidFill>
                <a:ea typeface="黑体" panose="02010609060101010101" pitchFamily="49" charset="-122"/>
              </a:rPr>
              <a:t>F</a:t>
            </a:r>
            <a:r>
              <a:rPr lang="zh-CN" altLang="en-US" dirty="0">
                <a:solidFill>
                  <a:srgbClr val="FF0000"/>
                </a:solidFill>
                <a:ea typeface="黑体" panose="02010609060101010101" pitchFamily="49" charset="-122"/>
              </a:rPr>
              <a:t>规则与非</a:t>
            </a:r>
            <a:r>
              <a:rPr lang="en-US" altLang="zh-CN" dirty="0">
                <a:solidFill>
                  <a:srgbClr val="FF0000"/>
                </a:solidFill>
                <a:ea typeface="黑体" panose="02010609060101010101" pitchFamily="49" charset="-122"/>
              </a:rPr>
              <a:t>F</a:t>
            </a:r>
            <a:r>
              <a:rPr lang="zh-CN" altLang="en-US" dirty="0">
                <a:solidFill>
                  <a:srgbClr val="FF0000"/>
                </a:solidFill>
                <a:ea typeface="黑体" panose="02010609060101010101" pitchFamily="49" charset="-122"/>
              </a:rPr>
              <a:t>规则集的比较</a:t>
            </a:r>
          </a:p>
          <a:p>
            <a:pPr eaLnBrk="1" hangingPunct="1">
              <a:lnSpc>
                <a:spcPct val="120000"/>
              </a:lnSpc>
            </a:pPr>
            <a:r>
              <a:rPr lang="zh-CN" altLang="en-US" b="1" dirty="0"/>
              <a:t>一个单输入</a:t>
            </a:r>
            <a:r>
              <a:rPr lang="en-US" altLang="zh-CN" b="1" dirty="0" err="1"/>
              <a:t>Sugeno</a:t>
            </a:r>
            <a:r>
              <a:rPr lang="en-US" altLang="zh-CN" b="1" dirty="0"/>
              <a:t> F</a:t>
            </a:r>
            <a:r>
              <a:rPr lang="zh-CN" altLang="en-US" b="1" dirty="0"/>
              <a:t>模型的例子</a:t>
            </a:r>
          </a:p>
          <a:p>
            <a:pPr lvl="1" eaLnBrk="1" hangingPunct="1">
              <a:lnSpc>
                <a:spcPct val="120000"/>
              </a:lnSpc>
            </a:pPr>
            <a:r>
              <a:rPr lang="en-US" altLang="zh-CN" b="1" dirty="0">
                <a:solidFill>
                  <a:srgbClr val="3333FF"/>
                </a:solidFill>
                <a:ea typeface="楷体_GB2312" pitchFamily="1" charset="-122"/>
              </a:rPr>
              <a:t>IF </a:t>
            </a:r>
            <a:r>
              <a:rPr lang="en-US" altLang="zh-CN" b="1" u="sng" dirty="0">
                <a:solidFill>
                  <a:srgbClr val="3333FF"/>
                </a:solidFill>
                <a:ea typeface="楷体_GB2312" pitchFamily="1" charset="-122"/>
              </a:rPr>
              <a:t>X </a:t>
            </a:r>
            <a:r>
              <a:rPr lang="zh-CN" altLang="en-US" b="1" u="sng" dirty="0">
                <a:solidFill>
                  <a:srgbClr val="3333FF"/>
                </a:solidFill>
                <a:ea typeface="楷体_GB2312" pitchFamily="1" charset="-122"/>
              </a:rPr>
              <a:t>小</a:t>
            </a:r>
            <a:r>
              <a:rPr lang="zh-CN" altLang="en-US" b="1" dirty="0">
                <a:solidFill>
                  <a:srgbClr val="3333FF"/>
                </a:solidFill>
                <a:ea typeface="楷体_GB2312" pitchFamily="1" charset="-122"/>
              </a:rPr>
              <a:t>  </a:t>
            </a:r>
            <a:r>
              <a:rPr lang="en-US" altLang="zh-CN" b="1" dirty="0">
                <a:solidFill>
                  <a:srgbClr val="3333FF"/>
                </a:solidFill>
                <a:ea typeface="楷体_GB2312" pitchFamily="1" charset="-122"/>
              </a:rPr>
              <a:t>THEN Y=0.1X+6.4</a:t>
            </a:r>
          </a:p>
          <a:p>
            <a:pPr lvl="1" eaLnBrk="1" hangingPunct="1">
              <a:lnSpc>
                <a:spcPct val="120000"/>
              </a:lnSpc>
            </a:pPr>
            <a:r>
              <a:rPr lang="en-US" altLang="zh-CN" b="1" dirty="0">
                <a:solidFill>
                  <a:srgbClr val="3333FF"/>
                </a:solidFill>
                <a:ea typeface="楷体_GB2312" pitchFamily="1" charset="-122"/>
              </a:rPr>
              <a:t>IF </a:t>
            </a:r>
            <a:r>
              <a:rPr lang="en-US" altLang="zh-CN" b="1" u="sng" dirty="0">
                <a:solidFill>
                  <a:srgbClr val="3333FF"/>
                </a:solidFill>
                <a:ea typeface="楷体_GB2312" pitchFamily="1" charset="-122"/>
              </a:rPr>
              <a:t>X </a:t>
            </a:r>
            <a:r>
              <a:rPr lang="zh-CN" altLang="en-US" b="1" u="sng" dirty="0">
                <a:solidFill>
                  <a:srgbClr val="3333FF"/>
                </a:solidFill>
                <a:ea typeface="楷体_GB2312" pitchFamily="1" charset="-122"/>
              </a:rPr>
              <a:t>中</a:t>
            </a:r>
            <a:r>
              <a:rPr lang="zh-CN" altLang="en-US" b="1" dirty="0">
                <a:solidFill>
                  <a:srgbClr val="3333FF"/>
                </a:solidFill>
                <a:ea typeface="楷体_GB2312" pitchFamily="1" charset="-122"/>
              </a:rPr>
              <a:t>  </a:t>
            </a:r>
            <a:r>
              <a:rPr lang="en-US" altLang="zh-CN" b="1" dirty="0">
                <a:solidFill>
                  <a:srgbClr val="3333FF"/>
                </a:solidFill>
                <a:ea typeface="楷体_GB2312" pitchFamily="1" charset="-122"/>
              </a:rPr>
              <a:t>THEN Y=-0.5X+4</a:t>
            </a:r>
          </a:p>
          <a:p>
            <a:pPr lvl="1" eaLnBrk="1" hangingPunct="1">
              <a:lnSpc>
                <a:spcPct val="120000"/>
              </a:lnSpc>
            </a:pPr>
            <a:r>
              <a:rPr lang="en-US" altLang="zh-CN" b="1" dirty="0">
                <a:solidFill>
                  <a:srgbClr val="3333FF"/>
                </a:solidFill>
                <a:ea typeface="楷体_GB2312" pitchFamily="1" charset="-122"/>
              </a:rPr>
              <a:t>IF </a:t>
            </a:r>
            <a:r>
              <a:rPr lang="en-US" altLang="zh-CN" b="1" u="sng" dirty="0">
                <a:solidFill>
                  <a:srgbClr val="3333FF"/>
                </a:solidFill>
                <a:ea typeface="楷体_GB2312" pitchFamily="1" charset="-122"/>
              </a:rPr>
              <a:t>X </a:t>
            </a:r>
            <a:r>
              <a:rPr lang="zh-CN" altLang="en-US" b="1" u="sng" dirty="0">
                <a:solidFill>
                  <a:srgbClr val="3333FF"/>
                </a:solidFill>
                <a:ea typeface="楷体_GB2312" pitchFamily="1" charset="-122"/>
              </a:rPr>
              <a:t>大</a:t>
            </a:r>
            <a:r>
              <a:rPr lang="zh-CN" altLang="en-US" b="1" dirty="0">
                <a:solidFill>
                  <a:srgbClr val="3333FF"/>
                </a:solidFill>
                <a:ea typeface="楷体_GB2312" pitchFamily="1" charset="-122"/>
              </a:rPr>
              <a:t>  </a:t>
            </a:r>
            <a:r>
              <a:rPr lang="en-US" altLang="zh-CN" b="1" dirty="0">
                <a:solidFill>
                  <a:srgbClr val="3333FF"/>
                </a:solidFill>
                <a:ea typeface="楷体_GB2312" pitchFamily="1" charset="-122"/>
              </a:rPr>
              <a:t>THEN Y=X-2</a:t>
            </a:r>
          </a:p>
          <a:p>
            <a:pPr eaLnBrk="1" hangingPunct="1">
              <a:lnSpc>
                <a:spcPct val="120000"/>
              </a:lnSpc>
            </a:pPr>
            <a:r>
              <a:rPr lang="zh-CN" altLang="en-US" b="1" dirty="0">
                <a:ea typeface="楷体_GB2312" pitchFamily="1" charset="-122"/>
              </a:rPr>
              <a:t>当“小”、“中”、“大”的隶属函数分别为非模糊和模糊时比较其</a:t>
            </a:r>
            <a:r>
              <a:rPr lang="zh-CN" altLang="en-US" b="1" dirty="0">
                <a:solidFill>
                  <a:srgbClr val="CC00CC"/>
                </a:solidFill>
                <a:ea typeface="楷体_GB2312" pitchFamily="1" charset="-122"/>
              </a:rPr>
              <a:t>输入</a:t>
            </a:r>
            <a:r>
              <a:rPr lang="en-US" altLang="zh-CN" b="1" dirty="0">
                <a:solidFill>
                  <a:srgbClr val="CC00CC"/>
                </a:solidFill>
                <a:ea typeface="楷体_GB2312" pitchFamily="1" charset="-122"/>
              </a:rPr>
              <a:t>—</a:t>
            </a:r>
            <a:r>
              <a:rPr lang="zh-CN" altLang="en-US" b="1" dirty="0">
                <a:solidFill>
                  <a:srgbClr val="CC00CC"/>
                </a:solidFill>
                <a:ea typeface="楷体_GB2312" pitchFamily="1" charset="-122"/>
              </a:rPr>
              <a:t>输出曲面</a:t>
            </a:r>
          </a:p>
        </p:txBody>
      </p:sp>
      <p:sp>
        <p:nvSpPr>
          <p:cNvPr id="2" name="灯片编号占位符 1">
            <a:extLst>
              <a:ext uri="{FF2B5EF4-FFF2-40B4-BE49-F238E27FC236}">
                <a16:creationId xmlns:a16="http://schemas.microsoft.com/office/drawing/2014/main" id="{5F80565F-B946-2AE5-BC25-91A01B703391}"/>
              </a:ext>
            </a:extLst>
          </p:cNvPr>
          <p:cNvSpPr>
            <a:spLocks noGrp="1"/>
          </p:cNvSpPr>
          <p:nvPr>
            <p:ph type="sldNum" sz="quarter" idx="11"/>
          </p:nvPr>
        </p:nvSpPr>
        <p:spPr/>
        <p:txBody>
          <a:bodyPr/>
          <a:lstStyle/>
          <a:p>
            <a:pPr>
              <a:defRPr/>
            </a:pPr>
            <a:fld id="{B77A47BA-BA63-4780-94A9-8AFA2EA4438D}" type="slidenum">
              <a:rPr lang="en-US" altLang="zh-CN" smtClean="0"/>
              <a:pPr>
                <a:defRPr/>
              </a:pPr>
              <a:t>14</a:t>
            </a:fld>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8435">
                                            <p:txEl>
                                              <p:pRg st="0" end="0"/>
                                            </p:txEl>
                                          </p:spTgt>
                                        </p:tgtEl>
                                        <p:attrNameLst>
                                          <p:attrName>style.visibility</p:attrName>
                                        </p:attrNameLst>
                                      </p:cBhvr>
                                      <p:to>
                                        <p:strVal val="visible"/>
                                      </p:to>
                                    </p:set>
                                    <p:animEffect transition="in" filter="wipe(left)">
                                      <p:cBhvr>
                                        <p:cTn id="7" dur="500"/>
                                        <p:tgtEl>
                                          <p:spTgt spid="1843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8435">
                                            <p:txEl>
                                              <p:pRg st="1" end="1"/>
                                            </p:txEl>
                                          </p:spTgt>
                                        </p:tgtEl>
                                        <p:attrNameLst>
                                          <p:attrName>style.visibility</p:attrName>
                                        </p:attrNameLst>
                                      </p:cBhvr>
                                      <p:to>
                                        <p:strVal val="visible"/>
                                      </p:to>
                                    </p:set>
                                    <p:animEffect transition="in" filter="wipe(left)">
                                      <p:cBhvr>
                                        <p:cTn id="12" dur="500"/>
                                        <p:tgtEl>
                                          <p:spTgt spid="18435">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8435">
                                            <p:txEl>
                                              <p:pRg st="2" end="2"/>
                                            </p:txEl>
                                          </p:spTgt>
                                        </p:tgtEl>
                                        <p:attrNameLst>
                                          <p:attrName>style.visibility</p:attrName>
                                        </p:attrNameLst>
                                      </p:cBhvr>
                                      <p:to>
                                        <p:strVal val="visible"/>
                                      </p:to>
                                    </p:set>
                                    <p:animEffect transition="in" filter="wipe(left)">
                                      <p:cBhvr>
                                        <p:cTn id="17" dur="500"/>
                                        <p:tgtEl>
                                          <p:spTgt spid="18435">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18435">
                                            <p:txEl>
                                              <p:pRg st="3" end="3"/>
                                            </p:txEl>
                                          </p:spTgt>
                                        </p:tgtEl>
                                        <p:attrNameLst>
                                          <p:attrName>style.visibility</p:attrName>
                                        </p:attrNameLst>
                                      </p:cBhvr>
                                      <p:to>
                                        <p:strVal val="visible"/>
                                      </p:to>
                                    </p:set>
                                    <p:animEffect transition="in" filter="wipe(left)">
                                      <p:cBhvr>
                                        <p:cTn id="22" dur="500"/>
                                        <p:tgtEl>
                                          <p:spTgt spid="18435">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18435">
                                            <p:txEl>
                                              <p:pRg st="4" end="4"/>
                                            </p:txEl>
                                          </p:spTgt>
                                        </p:tgtEl>
                                        <p:attrNameLst>
                                          <p:attrName>style.visibility</p:attrName>
                                        </p:attrNameLst>
                                      </p:cBhvr>
                                      <p:to>
                                        <p:strVal val="visible"/>
                                      </p:to>
                                    </p:set>
                                    <p:animEffect transition="in" filter="wipe(left)">
                                      <p:cBhvr>
                                        <p:cTn id="27" dur="500"/>
                                        <p:tgtEl>
                                          <p:spTgt spid="18435">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18435">
                                            <p:txEl>
                                              <p:pRg st="5" end="5"/>
                                            </p:txEl>
                                          </p:spTgt>
                                        </p:tgtEl>
                                        <p:attrNameLst>
                                          <p:attrName>style.visibility</p:attrName>
                                        </p:attrNameLst>
                                      </p:cBhvr>
                                      <p:to>
                                        <p:strVal val="visible"/>
                                      </p:to>
                                    </p:set>
                                    <p:animEffect transition="in" filter="wipe(left)">
                                      <p:cBhvr>
                                        <p:cTn id="32" dur="500"/>
                                        <p:tgtEl>
                                          <p:spTgt spid="18435">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435" grpId="0" build="p"/>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ChangeArrowheads="1"/>
          </p:cNvSpPr>
          <p:nvPr>
            <p:ph type="title" idx="4294967295"/>
          </p:nvPr>
        </p:nvSpPr>
        <p:spPr>
          <a:xfrm>
            <a:off x="104776" y="350361"/>
            <a:ext cx="10972800" cy="1371600"/>
          </a:xfrm>
        </p:spPr>
        <p:txBody>
          <a:bodyPr/>
          <a:lstStyle/>
          <a:p>
            <a:pPr algn="ctr" eaLnBrk="1" hangingPunct="1"/>
            <a:r>
              <a:rPr lang="zh-CN" altLang="en-US" sz="4500" dirty="0">
                <a:solidFill>
                  <a:srgbClr val="008000"/>
                </a:solidFill>
                <a:latin typeface="Comic Sans MS" panose="030F0702030302020204" pitchFamily="66" charset="0"/>
                <a:ea typeface="黑体" panose="02010609060101010101" pitchFamily="49" charset="-122"/>
              </a:rPr>
              <a:t>一阶</a:t>
            </a:r>
            <a:r>
              <a:rPr lang="en-US" altLang="zh-CN" sz="4500" dirty="0" err="1">
                <a:solidFill>
                  <a:srgbClr val="008000"/>
                </a:solidFill>
                <a:latin typeface="Comic Sans MS" panose="030F0702030302020204" pitchFamily="66" charset="0"/>
                <a:ea typeface="黑体" panose="02010609060101010101" pitchFamily="49" charset="-122"/>
              </a:rPr>
              <a:t>Sugeno</a:t>
            </a:r>
            <a:r>
              <a:rPr lang="en-US" altLang="zh-CN" sz="4500" dirty="0">
                <a:solidFill>
                  <a:srgbClr val="008000"/>
                </a:solidFill>
                <a:latin typeface="Comic Sans MS" panose="030F0702030302020204" pitchFamily="66" charset="0"/>
                <a:ea typeface="黑体" panose="02010609060101010101" pitchFamily="49" charset="-122"/>
              </a:rPr>
              <a:t> </a:t>
            </a:r>
            <a:r>
              <a:rPr lang="zh-CN" altLang="en-US" dirty="0">
                <a:solidFill>
                  <a:srgbClr val="008000"/>
                </a:solidFill>
                <a:latin typeface="Comic Sans MS" panose="030F0702030302020204" pitchFamily="66" charset="0"/>
                <a:ea typeface="黑体" panose="02010609060101010101" pitchFamily="49" charset="-122"/>
              </a:rPr>
              <a:t>模糊模型</a:t>
            </a:r>
            <a:r>
              <a:rPr lang="zh-CN" altLang="en-US" sz="4500" dirty="0">
                <a:solidFill>
                  <a:srgbClr val="008000"/>
                </a:solidFill>
                <a:latin typeface="Comic Sans MS" panose="030F0702030302020204" pitchFamily="66" charset="0"/>
                <a:ea typeface="黑体" panose="02010609060101010101" pitchFamily="49" charset="-122"/>
              </a:rPr>
              <a:t>举例</a:t>
            </a:r>
          </a:p>
        </p:txBody>
      </p:sp>
      <p:sp>
        <p:nvSpPr>
          <p:cNvPr id="19459" name="Rectangle 3"/>
          <p:cNvSpPr>
            <a:spLocks noGrp="1" noChangeArrowheads="1"/>
          </p:cNvSpPr>
          <p:nvPr>
            <p:ph type="body" idx="4294967295"/>
          </p:nvPr>
        </p:nvSpPr>
        <p:spPr>
          <a:xfrm>
            <a:off x="1127448" y="1916832"/>
            <a:ext cx="9845352" cy="3886200"/>
          </a:xfrm>
        </p:spPr>
        <p:txBody>
          <a:bodyPr/>
          <a:lstStyle/>
          <a:p>
            <a:pPr eaLnBrk="1" hangingPunct="1"/>
            <a:r>
              <a:rPr lang="zh-CN" altLang="zh-CN" b="1" dirty="0">
                <a:ea typeface="楷体_GB2312" pitchFamily="1" charset="-122"/>
              </a:rPr>
              <a:t>当“小”、“中”、“大”的隶属函数是</a:t>
            </a:r>
            <a:r>
              <a:rPr lang="zh-CN" altLang="zh-CN" b="1" dirty="0">
                <a:solidFill>
                  <a:srgbClr val="CC00CC"/>
                </a:solidFill>
                <a:ea typeface="楷体_GB2312" pitchFamily="1" charset="-122"/>
              </a:rPr>
              <a:t>非模糊</a:t>
            </a:r>
            <a:r>
              <a:rPr lang="zh-CN" altLang="zh-CN" b="1" dirty="0">
                <a:ea typeface="楷体_GB2312" pitchFamily="1" charset="-122"/>
              </a:rPr>
              <a:t>时</a:t>
            </a:r>
            <a:endParaRPr lang="zh-CN" altLang="zh-CN" dirty="0"/>
          </a:p>
        </p:txBody>
      </p:sp>
      <p:pic>
        <p:nvPicPr>
          <p:cNvPr id="19460"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718917" y="2924944"/>
            <a:ext cx="4105275" cy="27984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9461" name="Text Box 6"/>
          <p:cNvSpPr txBox="1">
            <a:spLocks noChangeArrowheads="1"/>
          </p:cNvSpPr>
          <p:nvPr/>
        </p:nvSpPr>
        <p:spPr bwMode="auto">
          <a:xfrm>
            <a:off x="3863256" y="5869721"/>
            <a:ext cx="3659688" cy="10156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sz="2400" b="1" dirty="0">
                <a:ea typeface="楷体_GB2312" pitchFamily="1" charset="-122"/>
              </a:rPr>
              <a:t>精确规则前提的隶属函数</a:t>
            </a:r>
          </a:p>
          <a:p>
            <a:pPr algn="r" eaLnBrk="1" hangingPunct="1">
              <a:spcBef>
                <a:spcPct val="50000"/>
              </a:spcBef>
            </a:pPr>
            <a:r>
              <a:rPr lang="zh-CN" altLang="en-US" sz="2400" b="1" dirty="0">
                <a:ea typeface="楷体_GB2312" pitchFamily="1" charset="-122"/>
              </a:rPr>
              <a:t> </a:t>
            </a:r>
            <a:r>
              <a:rPr lang="en-US" altLang="zh-CN" sz="2400" b="1" dirty="0">
                <a:ea typeface="楷体_GB2312" pitchFamily="1" charset="-122"/>
              </a:rPr>
              <a:t>——</a:t>
            </a:r>
            <a:r>
              <a:rPr lang="zh-CN" altLang="en-US" sz="2400" b="1" dirty="0">
                <a:ea typeface="楷体_GB2312" pitchFamily="1" charset="-122"/>
              </a:rPr>
              <a:t>是</a:t>
            </a:r>
            <a:r>
              <a:rPr lang="zh-CN" altLang="en-US" sz="2400" b="1" dirty="0">
                <a:solidFill>
                  <a:srgbClr val="008000"/>
                </a:solidFill>
                <a:ea typeface="楷体_GB2312" pitchFamily="1" charset="-122"/>
              </a:rPr>
              <a:t>分段函数</a:t>
            </a:r>
          </a:p>
        </p:txBody>
      </p:sp>
      <p:sp>
        <p:nvSpPr>
          <p:cNvPr id="19462" name="Text Box 7"/>
          <p:cNvSpPr txBox="1">
            <a:spLocks noChangeArrowheads="1"/>
          </p:cNvSpPr>
          <p:nvPr/>
        </p:nvSpPr>
        <p:spPr bwMode="auto">
          <a:xfrm>
            <a:off x="8406783" y="5889878"/>
            <a:ext cx="3449857" cy="1015663"/>
          </a:xfrm>
          <a:prstGeom prst="rect">
            <a:avLst/>
          </a:prstGeom>
          <a:solidFill>
            <a:srgbClr val="FF9933"/>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sz="2400" b="1" dirty="0">
                <a:ea typeface="楷体_GB2312" pitchFamily="1" charset="-122"/>
              </a:rPr>
              <a:t>精确规则总</a:t>
            </a:r>
            <a:r>
              <a:rPr lang="en-US" altLang="zh-CN" sz="2400" b="1" dirty="0">
                <a:ea typeface="楷体_GB2312" pitchFamily="1" charset="-122"/>
              </a:rPr>
              <a:t>I/O</a:t>
            </a:r>
            <a:r>
              <a:rPr lang="zh-CN" altLang="en-US" sz="2400" b="1" dirty="0">
                <a:ea typeface="楷体_GB2312" pitchFamily="1" charset="-122"/>
              </a:rPr>
              <a:t>曲线</a:t>
            </a:r>
            <a:endParaRPr lang="en-US" altLang="zh-CN" sz="2400" b="1" dirty="0">
              <a:ea typeface="楷体_GB2312" pitchFamily="1" charset="-122"/>
            </a:endParaRPr>
          </a:p>
          <a:p>
            <a:pPr eaLnBrk="1" hangingPunct="1">
              <a:spcBef>
                <a:spcPct val="50000"/>
              </a:spcBef>
            </a:pPr>
            <a:r>
              <a:rPr lang="en-US" altLang="zh-CN" sz="2400" b="1" dirty="0">
                <a:ea typeface="楷体_GB2312" pitchFamily="1" charset="-122"/>
              </a:rPr>
              <a:t>             ——</a:t>
            </a:r>
            <a:r>
              <a:rPr lang="zh-CN" altLang="en-US" sz="2400" b="1" dirty="0">
                <a:ea typeface="楷体_GB2312" pitchFamily="1" charset="-122"/>
              </a:rPr>
              <a:t>是</a:t>
            </a:r>
            <a:r>
              <a:rPr lang="zh-CN" altLang="en-US" sz="2400" b="1" dirty="0">
                <a:solidFill>
                  <a:srgbClr val="008000"/>
                </a:solidFill>
                <a:ea typeface="楷体_GB2312" pitchFamily="1" charset="-122"/>
              </a:rPr>
              <a:t>分段函数</a:t>
            </a:r>
          </a:p>
        </p:txBody>
      </p:sp>
      <p:pic>
        <p:nvPicPr>
          <p:cNvPr id="3" name="图片 2" descr="图片包含 文本&#10;&#10;描述已自动生成">
            <a:extLst>
              <a:ext uri="{FF2B5EF4-FFF2-40B4-BE49-F238E27FC236}">
                <a16:creationId xmlns:a16="http://schemas.microsoft.com/office/drawing/2014/main" id="{9F1290E8-3265-4893-ACB6-DB481B8054A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2389" y="3508815"/>
            <a:ext cx="3381847" cy="1324160"/>
          </a:xfrm>
          <a:prstGeom prst="rect">
            <a:avLst/>
          </a:prstGeom>
          <a:effectLst>
            <a:glow rad="190500">
              <a:srgbClr val="FFCCFF"/>
            </a:glow>
          </a:effectLst>
        </p:spPr>
      </p:pic>
      <p:grpSp>
        <p:nvGrpSpPr>
          <p:cNvPr id="17" name="组合 16">
            <a:extLst>
              <a:ext uri="{FF2B5EF4-FFF2-40B4-BE49-F238E27FC236}">
                <a16:creationId xmlns:a16="http://schemas.microsoft.com/office/drawing/2014/main" id="{800BEBC1-C337-EF49-4A10-E5B19433876D}"/>
              </a:ext>
            </a:extLst>
          </p:cNvPr>
          <p:cNvGrpSpPr/>
          <p:nvPr/>
        </p:nvGrpSpPr>
        <p:grpSpPr>
          <a:xfrm>
            <a:off x="7824193" y="3113089"/>
            <a:ext cx="4146190" cy="2547937"/>
            <a:chOff x="5003800" y="3068638"/>
            <a:chExt cx="3744913" cy="2547937"/>
          </a:xfrm>
        </p:grpSpPr>
        <p:pic>
          <p:nvPicPr>
            <p:cNvPr id="19463" name="Picture 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003800" y="3068638"/>
              <a:ext cx="3744913" cy="2547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4" name="直接连接符 3">
              <a:extLst>
                <a:ext uri="{FF2B5EF4-FFF2-40B4-BE49-F238E27FC236}">
                  <a16:creationId xmlns:a16="http://schemas.microsoft.com/office/drawing/2014/main" id="{44148B82-B6CE-A939-56F3-6ECEFFE5342C}"/>
                </a:ext>
              </a:extLst>
            </p:cNvPr>
            <p:cNvCxnSpPr/>
            <p:nvPr/>
          </p:nvCxnSpPr>
          <p:spPr bwMode="auto">
            <a:xfrm flipV="1">
              <a:off x="5580063" y="3861048"/>
              <a:ext cx="792137" cy="216024"/>
            </a:xfrm>
            <a:prstGeom prst="line">
              <a:avLst/>
            </a:prstGeom>
            <a:solidFill>
              <a:schemeClr val="accent1"/>
            </a:solidFill>
            <a:ln w="57150" cap="flat" cmpd="sng" algn="ctr">
              <a:solidFill>
                <a:srgbClr val="0D0DFF"/>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7" name="直接连接符 6">
              <a:extLst>
                <a:ext uri="{FF2B5EF4-FFF2-40B4-BE49-F238E27FC236}">
                  <a16:creationId xmlns:a16="http://schemas.microsoft.com/office/drawing/2014/main" id="{261D494F-D6DA-515D-D12F-2B59532DC929}"/>
                </a:ext>
              </a:extLst>
            </p:cNvPr>
            <p:cNvCxnSpPr/>
            <p:nvPr/>
          </p:nvCxnSpPr>
          <p:spPr bwMode="auto">
            <a:xfrm>
              <a:off x="6372200" y="3861048"/>
              <a:ext cx="1224136" cy="1468190"/>
            </a:xfrm>
            <a:prstGeom prst="line">
              <a:avLst/>
            </a:prstGeom>
            <a:solidFill>
              <a:schemeClr val="accent1"/>
            </a:solidFill>
            <a:ln w="57150" cap="flat" cmpd="sng" algn="ctr">
              <a:solidFill>
                <a:srgbClr val="0D0DFF"/>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2" name="直接连接符 11">
              <a:extLst>
                <a:ext uri="{FF2B5EF4-FFF2-40B4-BE49-F238E27FC236}">
                  <a16:creationId xmlns:a16="http://schemas.microsoft.com/office/drawing/2014/main" id="{0C425B8E-8450-CAC9-8D56-C2155CC4191C}"/>
                </a:ext>
              </a:extLst>
            </p:cNvPr>
            <p:cNvCxnSpPr/>
            <p:nvPr/>
          </p:nvCxnSpPr>
          <p:spPr bwMode="auto">
            <a:xfrm flipV="1">
              <a:off x="7596336" y="3212976"/>
              <a:ext cx="857321" cy="2116262"/>
            </a:xfrm>
            <a:prstGeom prst="line">
              <a:avLst/>
            </a:prstGeom>
            <a:solidFill>
              <a:schemeClr val="accent1"/>
            </a:solidFill>
            <a:ln w="57150" cap="flat" cmpd="sng" algn="ctr">
              <a:solidFill>
                <a:srgbClr val="0D0DFF"/>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6" name="直角三角形 15">
              <a:extLst>
                <a:ext uri="{FF2B5EF4-FFF2-40B4-BE49-F238E27FC236}">
                  <a16:creationId xmlns:a16="http://schemas.microsoft.com/office/drawing/2014/main" id="{72CCB1D7-7368-8A95-6497-BE7D3169A423}"/>
                </a:ext>
              </a:extLst>
            </p:cNvPr>
            <p:cNvSpPr/>
            <p:nvPr/>
          </p:nvSpPr>
          <p:spPr bwMode="auto">
            <a:xfrm rot="11709466">
              <a:off x="7075848" y="4768817"/>
              <a:ext cx="602322" cy="471774"/>
            </a:xfrm>
            <a:prstGeom prst="rtTriangle">
              <a:avLst/>
            </a:prstGeom>
            <a:solidFill>
              <a:schemeClr val="bg1"/>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endParaRPr lang="zh-CN" altLang="en-US"/>
            </a:p>
          </p:txBody>
        </p:sp>
      </p:grpSp>
      <p:sp>
        <p:nvSpPr>
          <p:cNvPr id="2" name="灯片编号占位符 1">
            <a:extLst>
              <a:ext uri="{FF2B5EF4-FFF2-40B4-BE49-F238E27FC236}">
                <a16:creationId xmlns:a16="http://schemas.microsoft.com/office/drawing/2014/main" id="{6E6B8E7B-040D-9743-9656-550D8CE0E9B8}"/>
              </a:ext>
            </a:extLst>
          </p:cNvPr>
          <p:cNvSpPr>
            <a:spLocks noGrp="1"/>
          </p:cNvSpPr>
          <p:nvPr>
            <p:ph type="sldNum" sz="quarter" idx="11"/>
          </p:nvPr>
        </p:nvSpPr>
        <p:spPr/>
        <p:txBody>
          <a:bodyPr/>
          <a:lstStyle/>
          <a:p>
            <a:pPr>
              <a:defRPr/>
            </a:pPr>
            <a:fld id="{B77A47BA-BA63-4780-94A9-8AFA2EA4438D}" type="slidenum">
              <a:rPr lang="en-US" altLang="zh-CN" smtClean="0"/>
              <a:pPr>
                <a:defRPr/>
              </a:pPr>
              <a:t>15</a:t>
            </a:fld>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1" fill="hold" nodeType="clickEffect">
                                  <p:stCondLst>
                                    <p:cond delay="0"/>
                                  </p:stCondLst>
                                  <p:childTnLst>
                                    <p:set>
                                      <p:cBhvr>
                                        <p:cTn id="6" dur="1" fill="hold">
                                          <p:stCondLst>
                                            <p:cond delay="0"/>
                                          </p:stCondLst>
                                        </p:cTn>
                                        <p:tgtEl>
                                          <p:spTgt spid="19460"/>
                                        </p:tgtEl>
                                        <p:attrNameLst>
                                          <p:attrName>style.visibility</p:attrName>
                                        </p:attrNameLst>
                                      </p:cBhvr>
                                      <p:to>
                                        <p:strVal val="visible"/>
                                      </p:to>
                                    </p:set>
                                    <p:animEffect transition="in" filter="wipe(up)">
                                      <p:cBhvr>
                                        <p:cTn id="7" dur="500"/>
                                        <p:tgtEl>
                                          <p:spTgt spid="19460"/>
                                        </p:tgtEl>
                                      </p:cBhvr>
                                    </p:animEffect>
                                  </p:childTnLst>
                                </p:cTn>
                              </p:par>
                            </p:childTnLst>
                          </p:cTn>
                        </p:par>
                        <p:par>
                          <p:cTn id="8" fill="hold" nodeType="afterGroup">
                            <p:stCondLst>
                              <p:cond delay="500"/>
                            </p:stCondLst>
                            <p:childTnLst>
                              <p:par>
                                <p:cTn id="9" presetID="22" presetClass="entr" presetSubtype="1" fill="hold" grpId="0" nodeType="afterEffect">
                                  <p:stCondLst>
                                    <p:cond delay="0"/>
                                  </p:stCondLst>
                                  <p:childTnLst>
                                    <p:set>
                                      <p:cBhvr>
                                        <p:cTn id="10" dur="1" fill="hold">
                                          <p:stCondLst>
                                            <p:cond delay="0"/>
                                          </p:stCondLst>
                                        </p:cTn>
                                        <p:tgtEl>
                                          <p:spTgt spid="19461"/>
                                        </p:tgtEl>
                                        <p:attrNameLst>
                                          <p:attrName>style.visibility</p:attrName>
                                        </p:attrNameLst>
                                      </p:cBhvr>
                                      <p:to>
                                        <p:strVal val="visible"/>
                                      </p:to>
                                    </p:set>
                                    <p:animEffect transition="in" filter="wipe(up)">
                                      <p:cBhvr>
                                        <p:cTn id="11" dur="500"/>
                                        <p:tgtEl>
                                          <p:spTgt spid="19461"/>
                                        </p:tgtEl>
                                      </p:cBhvr>
                                    </p:animEffect>
                                  </p:childTnLst>
                                </p:cTn>
                              </p:par>
                            </p:childTnLst>
                          </p:cTn>
                        </p:par>
                      </p:childTnLst>
                    </p:cTn>
                  </p:par>
                  <p:par>
                    <p:cTn id="12" fill="hold">
                      <p:stCondLst>
                        <p:cond delay="indefinite"/>
                      </p:stCondLst>
                      <p:childTnLst>
                        <p:par>
                          <p:cTn id="13" fill="hold">
                            <p:stCondLst>
                              <p:cond delay="0"/>
                            </p:stCondLst>
                            <p:childTnLst>
                              <p:par>
                                <p:cTn id="14" presetID="10" presetClass="entr" presetSubtype="0" fill="hold" nodeType="clickEffect">
                                  <p:stCondLst>
                                    <p:cond delay="0"/>
                                  </p:stCondLst>
                                  <p:childTnLst>
                                    <p:set>
                                      <p:cBhvr>
                                        <p:cTn id="15" dur="1" fill="hold">
                                          <p:stCondLst>
                                            <p:cond delay="0"/>
                                          </p:stCondLst>
                                        </p:cTn>
                                        <p:tgtEl>
                                          <p:spTgt spid="17"/>
                                        </p:tgtEl>
                                        <p:attrNameLst>
                                          <p:attrName>style.visibility</p:attrName>
                                        </p:attrNameLst>
                                      </p:cBhvr>
                                      <p:to>
                                        <p:strVal val="visible"/>
                                      </p:to>
                                    </p:set>
                                    <p:animEffect transition="in" filter="fade">
                                      <p:cBhvr>
                                        <p:cTn id="16" dur="500"/>
                                        <p:tgtEl>
                                          <p:spTgt spid="17"/>
                                        </p:tgtEl>
                                      </p:cBhvr>
                                    </p:animEffect>
                                  </p:childTnLst>
                                </p:cTn>
                              </p:par>
                            </p:childTnLst>
                          </p:cTn>
                        </p:par>
                        <p:par>
                          <p:cTn id="17" fill="hold">
                            <p:stCondLst>
                              <p:cond delay="500"/>
                            </p:stCondLst>
                            <p:childTnLst>
                              <p:par>
                                <p:cTn id="18" presetID="22" presetClass="entr" presetSubtype="1" fill="hold" grpId="0" nodeType="afterEffect">
                                  <p:stCondLst>
                                    <p:cond delay="0"/>
                                  </p:stCondLst>
                                  <p:childTnLst>
                                    <p:set>
                                      <p:cBhvr>
                                        <p:cTn id="19" dur="1" fill="hold">
                                          <p:stCondLst>
                                            <p:cond delay="0"/>
                                          </p:stCondLst>
                                        </p:cTn>
                                        <p:tgtEl>
                                          <p:spTgt spid="19462"/>
                                        </p:tgtEl>
                                        <p:attrNameLst>
                                          <p:attrName>style.visibility</p:attrName>
                                        </p:attrNameLst>
                                      </p:cBhvr>
                                      <p:to>
                                        <p:strVal val="visible"/>
                                      </p:to>
                                    </p:set>
                                    <p:animEffect transition="in" filter="wipe(up)">
                                      <p:cBhvr>
                                        <p:cTn id="20" dur="500"/>
                                        <p:tgtEl>
                                          <p:spTgt spid="1946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461" grpId="0" autoUpdateAnimBg="0"/>
      <p:bldP spid="19462" grpId="0" animBg="1" autoUpdateAnimBg="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noChangeArrowheads="1"/>
          </p:cNvSpPr>
          <p:nvPr>
            <p:ph type="title" idx="4294967295"/>
          </p:nvPr>
        </p:nvSpPr>
        <p:spPr>
          <a:xfrm>
            <a:off x="104776" y="404664"/>
            <a:ext cx="10972800" cy="1371600"/>
          </a:xfrm>
        </p:spPr>
        <p:txBody>
          <a:bodyPr/>
          <a:lstStyle/>
          <a:p>
            <a:pPr algn="ctr" eaLnBrk="1" hangingPunct="1"/>
            <a:r>
              <a:rPr lang="zh-CN" altLang="en-US" sz="4500" dirty="0">
                <a:solidFill>
                  <a:srgbClr val="008000"/>
                </a:solidFill>
                <a:latin typeface="Comic Sans MS" panose="030F0702030302020204" pitchFamily="66" charset="0"/>
                <a:ea typeface="黑体" panose="02010609060101010101" pitchFamily="49" charset="-122"/>
              </a:rPr>
              <a:t>一阶</a:t>
            </a:r>
            <a:r>
              <a:rPr lang="en-US" altLang="zh-CN" sz="4500" dirty="0" err="1">
                <a:solidFill>
                  <a:srgbClr val="008000"/>
                </a:solidFill>
                <a:latin typeface="Comic Sans MS" panose="030F0702030302020204" pitchFamily="66" charset="0"/>
                <a:ea typeface="黑体" panose="02010609060101010101" pitchFamily="49" charset="-122"/>
              </a:rPr>
              <a:t>Sugeno</a:t>
            </a:r>
            <a:r>
              <a:rPr lang="en-US" altLang="zh-CN" sz="4500" dirty="0">
                <a:solidFill>
                  <a:srgbClr val="008000"/>
                </a:solidFill>
                <a:latin typeface="Comic Sans MS" panose="030F0702030302020204" pitchFamily="66" charset="0"/>
                <a:ea typeface="黑体" panose="02010609060101010101" pitchFamily="49" charset="-122"/>
              </a:rPr>
              <a:t> </a:t>
            </a:r>
            <a:r>
              <a:rPr lang="zh-CN" altLang="en-US" sz="4500" dirty="0">
                <a:solidFill>
                  <a:srgbClr val="008000"/>
                </a:solidFill>
                <a:latin typeface="Comic Sans MS" panose="030F0702030302020204" pitchFamily="66" charset="0"/>
                <a:ea typeface="黑体" panose="02010609060101010101" pitchFamily="49" charset="-122"/>
              </a:rPr>
              <a:t>模糊模型</a:t>
            </a:r>
            <a:r>
              <a:rPr lang="zh-CN" altLang="en-US" dirty="0">
                <a:solidFill>
                  <a:srgbClr val="008000"/>
                </a:solidFill>
                <a:latin typeface="Comic Sans MS" panose="030F0702030302020204" pitchFamily="66" charset="0"/>
                <a:ea typeface="黑体" panose="02010609060101010101" pitchFamily="49" charset="-122"/>
              </a:rPr>
              <a:t>举例</a:t>
            </a:r>
            <a:endParaRPr lang="zh-CN" altLang="en-US" sz="4500" dirty="0">
              <a:solidFill>
                <a:srgbClr val="008000"/>
              </a:solidFill>
              <a:latin typeface="Comic Sans MS" panose="030F0702030302020204" pitchFamily="66" charset="0"/>
              <a:ea typeface="黑体" panose="02010609060101010101" pitchFamily="49" charset="-122"/>
            </a:endParaRPr>
          </a:p>
        </p:txBody>
      </p:sp>
      <p:sp>
        <p:nvSpPr>
          <p:cNvPr id="20483" name="Rectangle 3"/>
          <p:cNvSpPr>
            <a:spLocks noGrp="1" noChangeArrowheads="1"/>
          </p:cNvSpPr>
          <p:nvPr>
            <p:ph type="body" idx="4294967295"/>
          </p:nvPr>
        </p:nvSpPr>
        <p:spPr>
          <a:xfrm>
            <a:off x="1199456" y="1916504"/>
            <a:ext cx="9703617" cy="864424"/>
          </a:xfrm>
        </p:spPr>
        <p:txBody>
          <a:bodyPr/>
          <a:lstStyle/>
          <a:p>
            <a:pPr eaLnBrk="1" hangingPunct="1"/>
            <a:r>
              <a:rPr lang="zh-CN" altLang="zh-CN" b="1" dirty="0">
                <a:ea typeface="楷体_GB2312" pitchFamily="1" charset="-122"/>
              </a:rPr>
              <a:t>当“小”、“中”、“大”的隶属函数是</a:t>
            </a:r>
            <a:r>
              <a:rPr lang="zh-CN" altLang="zh-CN" b="1" dirty="0">
                <a:solidFill>
                  <a:srgbClr val="CC00CC"/>
                </a:solidFill>
                <a:ea typeface="楷体_GB2312" pitchFamily="1" charset="-122"/>
              </a:rPr>
              <a:t>模糊</a:t>
            </a:r>
            <a:r>
              <a:rPr lang="zh-CN" altLang="zh-CN" b="1" dirty="0">
                <a:ea typeface="楷体_GB2312" pitchFamily="1" charset="-122"/>
              </a:rPr>
              <a:t>时</a:t>
            </a:r>
            <a:endParaRPr lang="zh-CN" altLang="zh-CN" dirty="0"/>
          </a:p>
        </p:txBody>
      </p:sp>
      <p:sp>
        <p:nvSpPr>
          <p:cNvPr id="20484" name="Text Box 6"/>
          <p:cNvSpPr txBox="1">
            <a:spLocks noChangeArrowheads="1"/>
          </p:cNvSpPr>
          <p:nvPr/>
        </p:nvSpPr>
        <p:spPr bwMode="auto">
          <a:xfrm>
            <a:off x="4006255" y="5797713"/>
            <a:ext cx="3601913" cy="10156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sz="2400" b="1" dirty="0">
                <a:ea typeface="楷体_GB2312" pitchFamily="1" charset="-122"/>
              </a:rPr>
              <a:t>精确规则前提的隶属函数</a:t>
            </a:r>
          </a:p>
          <a:p>
            <a:pPr algn="r" eaLnBrk="1" hangingPunct="1">
              <a:spcBef>
                <a:spcPct val="50000"/>
              </a:spcBef>
            </a:pPr>
            <a:r>
              <a:rPr lang="zh-CN" altLang="en-US" sz="2400" b="1" dirty="0">
                <a:ea typeface="楷体_GB2312" pitchFamily="1" charset="-122"/>
              </a:rPr>
              <a:t> </a:t>
            </a:r>
            <a:r>
              <a:rPr lang="en-US" altLang="zh-CN" sz="2400" b="1" dirty="0">
                <a:ea typeface="楷体_GB2312" pitchFamily="1" charset="-122"/>
              </a:rPr>
              <a:t>——</a:t>
            </a:r>
            <a:r>
              <a:rPr lang="zh-CN" altLang="en-US" sz="2400" b="1" dirty="0">
                <a:ea typeface="楷体_GB2312" pitchFamily="1" charset="-122"/>
              </a:rPr>
              <a:t>是</a:t>
            </a:r>
            <a:r>
              <a:rPr lang="zh-CN" altLang="en-US" sz="2400" b="1" dirty="0">
                <a:solidFill>
                  <a:srgbClr val="008000"/>
                </a:solidFill>
                <a:ea typeface="楷体_GB2312" pitchFamily="1" charset="-122"/>
              </a:rPr>
              <a:t>光滑</a:t>
            </a:r>
            <a:r>
              <a:rPr lang="zh-CN" altLang="en-US" sz="2400" b="1" dirty="0">
                <a:ea typeface="楷体_GB2312" pitchFamily="1" charset="-122"/>
              </a:rPr>
              <a:t>的</a:t>
            </a:r>
          </a:p>
        </p:txBody>
      </p:sp>
      <p:sp>
        <p:nvSpPr>
          <p:cNvPr id="20485" name="Text Box 7"/>
          <p:cNvSpPr txBox="1">
            <a:spLocks noChangeArrowheads="1"/>
          </p:cNvSpPr>
          <p:nvPr/>
        </p:nvSpPr>
        <p:spPr bwMode="auto">
          <a:xfrm>
            <a:off x="8507362" y="5892969"/>
            <a:ext cx="3394325" cy="1015663"/>
          </a:xfrm>
          <a:prstGeom prst="rect">
            <a:avLst/>
          </a:prstGeom>
          <a:solidFill>
            <a:srgbClr val="FF9933"/>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sz="2400" b="1" dirty="0">
                <a:ea typeface="楷体_GB2312" pitchFamily="1" charset="-122"/>
              </a:rPr>
              <a:t>精确规则总</a:t>
            </a:r>
            <a:r>
              <a:rPr lang="en-US" altLang="zh-CN" sz="2400" b="1" dirty="0">
                <a:ea typeface="楷体_GB2312" pitchFamily="1" charset="-122"/>
              </a:rPr>
              <a:t>I/O</a:t>
            </a:r>
            <a:r>
              <a:rPr lang="zh-CN" altLang="en-US" sz="2400" b="1" dirty="0">
                <a:ea typeface="楷体_GB2312" pitchFamily="1" charset="-122"/>
              </a:rPr>
              <a:t>曲线</a:t>
            </a:r>
            <a:endParaRPr lang="en-US" altLang="zh-CN" sz="2400" b="1" dirty="0">
              <a:ea typeface="楷体_GB2312" pitchFamily="1" charset="-122"/>
            </a:endParaRPr>
          </a:p>
          <a:p>
            <a:pPr algn="r" eaLnBrk="1" hangingPunct="1">
              <a:spcBef>
                <a:spcPct val="50000"/>
              </a:spcBef>
            </a:pPr>
            <a:r>
              <a:rPr lang="en-US" altLang="zh-CN" sz="2400" b="1" dirty="0">
                <a:ea typeface="楷体_GB2312" pitchFamily="1" charset="-122"/>
              </a:rPr>
              <a:t>                ——</a:t>
            </a:r>
            <a:r>
              <a:rPr lang="zh-CN" altLang="en-US" sz="2400" b="1" dirty="0">
                <a:ea typeface="楷体_GB2312" pitchFamily="1" charset="-122"/>
              </a:rPr>
              <a:t>是</a:t>
            </a:r>
            <a:r>
              <a:rPr lang="zh-CN" altLang="en-US" sz="2400" b="1" dirty="0">
                <a:solidFill>
                  <a:srgbClr val="008000"/>
                </a:solidFill>
                <a:ea typeface="楷体_GB2312" pitchFamily="1" charset="-122"/>
              </a:rPr>
              <a:t>光滑</a:t>
            </a:r>
            <a:r>
              <a:rPr lang="zh-CN" altLang="en-US" sz="2400" b="1" dirty="0">
                <a:ea typeface="楷体_GB2312" pitchFamily="1" charset="-122"/>
              </a:rPr>
              <a:t>的</a:t>
            </a:r>
          </a:p>
        </p:txBody>
      </p:sp>
      <p:pic>
        <p:nvPicPr>
          <p:cNvPr id="20486" name="Picture 8"/>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719737" y="2986931"/>
            <a:ext cx="4248472" cy="274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0487" name="Picture 9"/>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968208" y="3068639"/>
            <a:ext cx="4173935" cy="25306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 name="图片 7" descr="图片包含 文本&#10;&#10;描述已自动生成">
            <a:extLst>
              <a:ext uri="{FF2B5EF4-FFF2-40B4-BE49-F238E27FC236}">
                <a16:creationId xmlns:a16="http://schemas.microsoft.com/office/drawing/2014/main" id="{F7A6FDA8-872D-4E10-996A-26A330A888B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9857" y="3573016"/>
            <a:ext cx="3381847" cy="1324160"/>
          </a:xfrm>
          <a:prstGeom prst="rect">
            <a:avLst/>
          </a:prstGeom>
          <a:effectLst>
            <a:glow rad="190500">
              <a:srgbClr val="FFCCFF"/>
            </a:glow>
          </a:effectLst>
        </p:spPr>
      </p:pic>
      <p:sp>
        <p:nvSpPr>
          <p:cNvPr id="2" name="灯片编号占位符 1">
            <a:extLst>
              <a:ext uri="{FF2B5EF4-FFF2-40B4-BE49-F238E27FC236}">
                <a16:creationId xmlns:a16="http://schemas.microsoft.com/office/drawing/2014/main" id="{54922A9C-D61E-3EAD-9E5B-80A96A96A1C5}"/>
              </a:ext>
            </a:extLst>
          </p:cNvPr>
          <p:cNvSpPr>
            <a:spLocks noGrp="1"/>
          </p:cNvSpPr>
          <p:nvPr>
            <p:ph type="sldNum" sz="quarter" idx="11"/>
          </p:nvPr>
        </p:nvSpPr>
        <p:spPr/>
        <p:txBody>
          <a:bodyPr/>
          <a:lstStyle/>
          <a:p>
            <a:pPr>
              <a:defRPr/>
            </a:pPr>
            <a:fld id="{B77A47BA-BA63-4780-94A9-8AFA2EA4438D}" type="slidenum">
              <a:rPr lang="en-US" altLang="zh-CN" smtClean="0"/>
              <a:pPr>
                <a:defRPr/>
              </a:pPr>
              <a:t>16</a:t>
            </a:fld>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1" fill="hold" nodeType="clickEffect">
                                  <p:stCondLst>
                                    <p:cond delay="0"/>
                                  </p:stCondLst>
                                  <p:childTnLst>
                                    <p:set>
                                      <p:cBhvr>
                                        <p:cTn id="6" dur="1" fill="hold">
                                          <p:stCondLst>
                                            <p:cond delay="0"/>
                                          </p:stCondLst>
                                        </p:cTn>
                                        <p:tgtEl>
                                          <p:spTgt spid="20486"/>
                                        </p:tgtEl>
                                        <p:attrNameLst>
                                          <p:attrName>style.visibility</p:attrName>
                                        </p:attrNameLst>
                                      </p:cBhvr>
                                      <p:to>
                                        <p:strVal val="visible"/>
                                      </p:to>
                                    </p:set>
                                    <p:animEffect transition="in" filter="wipe(up)">
                                      <p:cBhvr>
                                        <p:cTn id="7" dur="500"/>
                                        <p:tgtEl>
                                          <p:spTgt spid="20486"/>
                                        </p:tgtEl>
                                      </p:cBhvr>
                                    </p:animEffect>
                                  </p:childTnLst>
                                </p:cTn>
                              </p:par>
                            </p:childTnLst>
                          </p:cTn>
                        </p:par>
                        <p:par>
                          <p:cTn id="8" fill="hold" nodeType="afterGroup">
                            <p:stCondLst>
                              <p:cond delay="500"/>
                            </p:stCondLst>
                            <p:childTnLst>
                              <p:par>
                                <p:cTn id="9" presetID="22" presetClass="entr" presetSubtype="1" fill="hold" grpId="0" nodeType="afterEffect">
                                  <p:stCondLst>
                                    <p:cond delay="0"/>
                                  </p:stCondLst>
                                  <p:childTnLst>
                                    <p:set>
                                      <p:cBhvr>
                                        <p:cTn id="10" dur="1" fill="hold">
                                          <p:stCondLst>
                                            <p:cond delay="0"/>
                                          </p:stCondLst>
                                        </p:cTn>
                                        <p:tgtEl>
                                          <p:spTgt spid="20484"/>
                                        </p:tgtEl>
                                        <p:attrNameLst>
                                          <p:attrName>style.visibility</p:attrName>
                                        </p:attrNameLst>
                                      </p:cBhvr>
                                      <p:to>
                                        <p:strVal val="visible"/>
                                      </p:to>
                                    </p:set>
                                    <p:animEffect transition="in" filter="wipe(up)">
                                      <p:cBhvr>
                                        <p:cTn id="11" dur="500"/>
                                        <p:tgtEl>
                                          <p:spTgt spid="20484"/>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22" presetClass="entr" presetSubtype="1" fill="hold" nodeType="clickEffect">
                                  <p:stCondLst>
                                    <p:cond delay="0"/>
                                  </p:stCondLst>
                                  <p:childTnLst>
                                    <p:set>
                                      <p:cBhvr>
                                        <p:cTn id="15" dur="1" fill="hold">
                                          <p:stCondLst>
                                            <p:cond delay="0"/>
                                          </p:stCondLst>
                                        </p:cTn>
                                        <p:tgtEl>
                                          <p:spTgt spid="20487"/>
                                        </p:tgtEl>
                                        <p:attrNameLst>
                                          <p:attrName>style.visibility</p:attrName>
                                        </p:attrNameLst>
                                      </p:cBhvr>
                                      <p:to>
                                        <p:strVal val="visible"/>
                                      </p:to>
                                    </p:set>
                                    <p:animEffect transition="in" filter="wipe(up)">
                                      <p:cBhvr>
                                        <p:cTn id="16" dur="500"/>
                                        <p:tgtEl>
                                          <p:spTgt spid="20487"/>
                                        </p:tgtEl>
                                      </p:cBhvr>
                                    </p:animEffect>
                                  </p:childTnLst>
                                </p:cTn>
                              </p:par>
                            </p:childTnLst>
                          </p:cTn>
                        </p:par>
                        <p:par>
                          <p:cTn id="17" fill="hold" nodeType="afterGroup">
                            <p:stCondLst>
                              <p:cond delay="500"/>
                            </p:stCondLst>
                            <p:childTnLst>
                              <p:par>
                                <p:cTn id="18" presetID="22" presetClass="entr" presetSubtype="1" fill="hold" grpId="0" nodeType="afterEffect">
                                  <p:stCondLst>
                                    <p:cond delay="0"/>
                                  </p:stCondLst>
                                  <p:childTnLst>
                                    <p:set>
                                      <p:cBhvr>
                                        <p:cTn id="19" dur="1" fill="hold">
                                          <p:stCondLst>
                                            <p:cond delay="0"/>
                                          </p:stCondLst>
                                        </p:cTn>
                                        <p:tgtEl>
                                          <p:spTgt spid="20485"/>
                                        </p:tgtEl>
                                        <p:attrNameLst>
                                          <p:attrName>style.visibility</p:attrName>
                                        </p:attrNameLst>
                                      </p:cBhvr>
                                      <p:to>
                                        <p:strVal val="visible"/>
                                      </p:to>
                                    </p:set>
                                    <p:animEffect transition="in" filter="wipe(up)">
                                      <p:cBhvr>
                                        <p:cTn id="20" dur="500"/>
                                        <p:tgtEl>
                                          <p:spTgt spid="2048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484" grpId="0" autoUpdateAnimBg="0"/>
      <p:bldP spid="20485" grpId="0" animBg="1" autoUpdateAnimBg="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noGrp="1" noChangeArrowheads="1"/>
          </p:cNvSpPr>
          <p:nvPr>
            <p:ph type="title" idx="4294967295"/>
          </p:nvPr>
        </p:nvSpPr>
        <p:spPr>
          <a:xfrm>
            <a:off x="1992313" y="260350"/>
            <a:ext cx="8229600" cy="1371600"/>
          </a:xfrm>
        </p:spPr>
        <p:txBody>
          <a:bodyPr/>
          <a:lstStyle/>
          <a:p>
            <a:pPr algn="ctr" eaLnBrk="1" hangingPunct="1"/>
            <a:r>
              <a:rPr lang="zh-CN" altLang="en-US" dirty="0">
                <a:solidFill>
                  <a:srgbClr val="008000"/>
                </a:solidFill>
                <a:latin typeface="Comic Sans MS" panose="030F0702030302020204" pitchFamily="66" charset="0"/>
                <a:ea typeface="黑体" panose="02010609060101010101" pitchFamily="49" charset="-122"/>
              </a:rPr>
              <a:t>一阶</a:t>
            </a:r>
            <a:r>
              <a:rPr lang="en-US" altLang="zh-CN" dirty="0" err="1">
                <a:solidFill>
                  <a:srgbClr val="008000"/>
                </a:solidFill>
                <a:latin typeface="Comic Sans MS" panose="030F0702030302020204" pitchFamily="66" charset="0"/>
                <a:ea typeface="黑体" panose="02010609060101010101" pitchFamily="49" charset="-122"/>
              </a:rPr>
              <a:t>Sugeno</a:t>
            </a:r>
            <a:r>
              <a:rPr lang="en-US" altLang="zh-CN" dirty="0">
                <a:solidFill>
                  <a:srgbClr val="008000"/>
                </a:solidFill>
                <a:latin typeface="Comic Sans MS" panose="030F0702030302020204" pitchFamily="66" charset="0"/>
                <a:ea typeface="黑体" panose="02010609060101010101" pitchFamily="49" charset="-122"/>
              </a:rPr>
              <a:t> </a:t>
            </a:r>
            <a:r>
              <a:rPr lang="zh-CN" altLang="en-US" dirty="0">
                <a:solidFill>
                  <a:srgbClr val="008000"/>
                </a:solidFill>
                <a:latin typeface="Comic Sans MS" panose="030F0702030302020204" pitchFamily="66" charset="0"/>
                <a:ea typeface="黑体" panose="02010609060101010101" pitchFamily="49" charset="-122"/>
              </a:rPr>
              <a:t>模糊模型举例</a:t>
            </a:r>
          </a:p>
        </p:txBody>
      </p:sp>
      <p:sp>
        <p:nvSpPr>
          <p:cNvPr id="21507" name="Rectangle 3"/>
          <p:cNvSpPr>
            <a:spLocks noGrp="1" noChangeArrowheads="1"/>
          </p:cNvSpPr>
          <p:nvPr>
            <p:ph type="body" idx="4294967295"/>
          </p:nvPr>
        </p:nvSpPr>
        <p:spPr>
          <a:xfrm>
            <a:off x="767408" y="1484316"/>
            <a:ext cx="10513168" cy="5184775"/>
          </a:xfrm>
        </p:spPr>
        <p:txBody>
          <a:bodyPr/>
          <a:lstStyle/>
          <a:p>
            <a:pPr eaLnBrk="1" hangingPunct="1"/>
            <a:r>
              <a:rPr lang="en-US" altLang="zh-CN" dirty="0" err="1">
                <a:solidFill>
                  <a:srgbClr val="FF0000"/>
                </a:solidFill>
                <a:latin typeface="Comic Sans MS" panose="030F0702030302020204" pitchFamily="66" charset="0"/>
                <a:ea typeface="黑体" panose="02010609060101010101" pitchFamily="49" charset="-122"/>
              </a:rPr>
              <a:t>Sugeno</a:t>
            </a:r>
            <a:r>
              <a:rPr lang="en-US" altLang="zh-CN" dirty="0">
                <a:solidFill>
                  <a:srgbClr val="FF0000"/>
                </a:solidFill>
                <a:latin typeface="Comic Sans MS" panose="030F0702030302020204" pitchFamily="66" charset="0"/>
                <a:ea typeface="黑体" panose="02010609060101010101" pitchFamily="49" charset="-122"/>
              </a:rPr>
              <a:t> </a:t>
            </a:r>
            <a:r>
              <a:rPr lang="zh-CN" altLang="en-US" dirty="0">
                <a:solidFill>
                  <a:srgbClr val="FF0000"/>
                </a:solidFill>
                <a:latin typeface="Comic Sans MS" panose="030F0702030302020204" pitchFamily="66" charset="0"/>
                <a:ea typeface="黑体" panose="02010609060101010101" pitchFamily="49" charset="-122"/>
              </a:rPr>
              <a:t>模糊模型实现线性映射之间的</a:t>
            </a:r>
            <a:r>
              <a:rPr lang="zh-CN" altLang="en-US" u="sng" dirty="0">
                <a:solidFill>
                  <a:srgbClr val="FF0000"/>
                </a:solidFill>
                <a:latin typeface="Comic Sans MS" panose="030F0702030302020204" pitchFamily="66" charset="0"/>
                <a:ea typeface="黑体" panose="02010609060101010101" pitchFamily="49" charset="-122"/>
              </a:rPr>
              <a:t>非线性插补</a:t>
            </a:r>
            <a:endParaRPr lang="zh-CN" altLang="en-US" sz="2800" u="sng" dirty="0">
              <a:solidFill>
                <a:srgbClr val="FF0000"/>
              </a:solidFill>
              <a:ea typeface="黑体" panose="02010609060101010101" pitchFamily="49" charset="-122"/>
            </a:endParaRPr>
          </a:p>
          <a:p>
            <a:pPr eaLnBrk="1" hangingPunct="1"/>
            <a:r>
              <a:rPr lang="zh-CN" altLang="en-US" dirty="0">
                <a:ea typeface="黑体" panose="02010609060101010101" pitchFamily="49" charset="-122"/>
              </a:rPr>
              <a:t>例：设</a:t>
            </a:r>
            <a:r>
              <a:rPr lang="en-US" altLang="zh-CN" dirty="0">
                <a:ea typeface="黑体" panose="02010609060101010101" pitchFamily="49" charset="-122"/>
              </a:rPr>
              <a:t>F</a:t>
            </a:r>
            <a:r>
              <a:rPr lang="zh-CN" altLang="en-US" dirty="0">
                <a:ea typeface="黑体" panose="02010609060101010101" pitchFamily="49" charset="-122"/>
              </a:rPr>
              <a:t>控制器只有一个输入</a:t>
            </a:r>
            <a:r>
              <a:rPr lang="en-US" altLang="zh-CN" dirty="0">
                <a:ea typeface="黑体" panose="02010609060101010101" pitchFamily="49" charset="-122"/>
              </a:rPr>
              <a:t>x</a:t>
            </a:r>
            <a:r>
              <a:rPr lang="zh-CN" altLang="en-US" dirty="0">
                <a:ea typeface="黑体" panose="02010609060101010101" pitchFamily="49" charset="-122"/>
              </a:rPr>
              <a:t>，</a:t>
            </a:r>
            <a:r>
              <a:rPr lang="en-US" altLang="zh-CN" dirty="0">
                <a:ea typeface="黑体" panose="02010609060101010101" pitchFamily="49" charset="-122"/>
              </a:rPr>
              <a:t>F</a:t>
            </a:r>
            <a:r>
              <a:rPr lang="zh-CN" altLang="en-US" dirty="0">
                <a:ea typeface="黑体" panose="02010609060101010101" pitchFamily="49" charset="-122"/>
              </a:rPr>
              <a:t>变量取值只有两个：</a:t>
            </a:r>
            <a:r>
              <a:rPr lang="en-US" altLang="zh-CN" dirty="0">
                <a:ea typeface="黑体" panose="02010609060101010101" pitchFamily="49" charset="-122"/>
              </a:rPr>
              <a:t>P(</a:t>
            </a:r>
            <a:r>
              <a:rPr lang="zh-CN" altLang="en-US" dirty="0">
                <a:ea typeface="黑体" panose="02010609060101010101" pitchFamily="49" charset="-122"/>
              </a:rPr>
              <a:t>正</a:t>
            </a:r>
            <a:r>
              <a:rPr lang="en-US" altLang="zh-CN" dirty="0">
                <a:ea typeface="黑体" panose="02010609060101010101" pitchFamily="49" charset="-122"/>
              </a:rPr>
              <a:t>)</a:t>
            </a:r>
            <a:r>
              <a:rPr lang="zh-CN" altLang="en-US" dirty="0">
                <a:ea typeface="黑体" panose="02010609060101010101" pitchFamily="49" charset="-122"/>
              </a:rPr>
              <a:t>、</a:t>
            </a:r>
            <a:r>
              <a:rPr lang="en-US" altLang="zh-CN" dirty="0">
                <a:ea typeface="黑体" panose="02010609060101010101" pitchFamily="49" charset="-122"/>
              </a:rPr>
              <a:t>N(</a:t>
            </a:r>
            <a:r>
              <a:rPr lang="zh-CN" altLang="en-US" dirty="0">
                <a:ea typeface="黑体" panose="02010609060101010101" pitchFamily="49" charset="-122"/>
              </a:rPr>
              <a:t>负</a:t>
            </a:r>
            <a:r>
              <a:rPr lang="en-US" altLang="zh-CN" dirty="0">
                <a:ea typeface="黑体" panose="02010609060101010101" pitchFamily="49" charset="-122"/>
              </a:rPr>
              <a:t>)</a:t>
            </a:r>
          </a:p>
          <a:p>
            <a:pPr lvl="1" eaLnBrk="1" hangingPunct="1">
              <a:buNone/>
            </a:pPr>
            <a:r>
              <a:rPr lang="en-US" altLang="zh-CN" sz="3200" b="1" dirty="0">
                <a:solidFill>
                  <a:srgbClr val="008000"/>
                </a:solidFill>
                <a:ea typeface="楷体_GB2312" pitchFamily="1" charset="-122"/>
              </a:rPr>
              <a:t>    </a:t>
            </a:r>
            <a:r>
              <a:rPr lang="en-US" altLang="zh-CN" sz="3200" b="1" dirty="0">
                <a:solidFill>
                  <a:srgbClr val="FF0000"/>
                </a:solidFill>
                <a:ea typeface="楷体_GB2312" pitchFamily="1" charset="-122"/>
              </a:rPr>
              <a:t>P(x)=0.5+0.5x      </a:t>
            </a:r>
            <a:r>
              <a:rPr lang="en-US" altLang="zh-CN" sz="3200" b="1" dirty="0">
                <a:ea typeface="楷体_GB2312" pitchFamily="1" charset="-122"/>
              </a:rPr>
              <a:t>-1 </a:t>
            </a:r>
            <a:r>
              <a:rPr lang="en-US" altLang="zh-CN" sz="3200" b="1" dirty="0"/>
              <a:t>≤ </a:t>
            </a:r>
            <a:r>
              <a:rPr lang="en-US" altLang="zh-CN" sz="3200" b="1" dirty="0">
                <a:ea typeface="楷体_GB2312" pitchFamily="1" charset="-122"/>
              </a:rPr>
              <a:t>x </a:t>
            </a:r>
            <a:r>
              <a:rPr lang="en-US" altLang="zh-CN" sz="3200" b="1" dirty="0"/>
              <a:t>≤ </a:t>
            </a:r>
            <a:r>
              <a:rPr lang="en-US" altLang="zh-CN" sz="3200" b="1" dirty="0">
                <a:ea typeface="楷体_GB2312" pitchFamily="1" charset="-122"/>
              </a:rPr>
              <a:t>1</a:t>
            </a:r>
          </a:p>
          <a:p>
            <a:pPr lvl="1" eaLnBrk="1" hangingPunct="1">
              <a:buFont typeface="Wingdings" panose="05000000000000000000" pitchFamily="2" charset="2"/>
              <a:buNone/>
            </a:pPr>
            <a:r>
              <a:rPr lang="en-US" altLang="zh-CN" sz="3200" dirty="0">
                <a:ea typeface="楷体_GB2312" pitchFamily="1" charset="-122"/>
              </a:rPr>
              <a:t>    </a:t>
            </a:r>
            <a:r>
              <a:rPr lang="en-US" altLang="zh-CN" sz="3200" b="1" dirty="0">
                <a:solidFill>
                  <a:srgbClr val="0D0DFF"/>
                </a:solidFill>
                <a:ea typeface="楷体_GB2312" pitchFamily="1" charset="-122"/>
              </a:rPr>
              <a:t>N(x)=0.5-0.5x       </a:t>
            </a:r>
            <a:r>
              <a:rPr lang="en-US" altLang="zh-CN" sz="3200" b="1" dirty="0">
                <a:ea typeface="楷体_GB2312" pitchFamily="1" charset="-122"/>
              </a:rPr>
              <a:t>-1 </a:t>
            </a:r>
            <a:r>
              <a:rPr lang="en-US" altLang="zh-CN" sz="3200" b="1" dirty="0"/>
              <a:t>≤ </a:t>
            </a:r>
            <a:r>
              <a:rPr lang="en-US" altLang="zh-CN" sz="3200" b="1" dirty="0">
                <a:ea typeface="楷体_GB2312" pitchFamily="1" charset="-122"/>
              </a:rPr>
              <a:t>x </a:t>
            </a:r>
            <a:r>
              <a:rPr lang="en-US" altLang="zh-CN" sz="3200" b="1" dirty="0"/>
              <a:t>≤ </a:t>
            </a:r>
            <a:r>
              <a:rPr lang="en-US" altLang="zh-CN" sz="3200" b="1" dirty="0">
                <a:ea typeface="楷体_GB2312" pitchFamily="1" charset="-122"/>
              </a:rPr>
              <a:t>1</a:t>
            </a:r>
          </a:p>
          <a:p>
            <a:pPr lvl="1" eaLnBrk="1" hangingPunct="1">
              <a:buFont typeface="Wingdings" panose="05000000000000000000" pitchFamily="2" charset="2"/>
              <a:buNone/>
            </a:pPr>
            <a:endParaRPr lang="en-US" altLang="zh-CN" sz="1600" b="1" dirty="0">
              <a:ea typeface="楷体_GB2312" pitchFamily="1" charset="-122"/>
            </a:endParaRPr>
          </a:p>
          <a:p>
            <a:pPr lvl="1" eaLnBrk="1" hangingPunct="1">
              <a:buFont typeface="Wingdings" panose="05000000000000000000" pitchFamily="2" charset="2"/>
              <a:buNone/>
            </a:pPr>
            <a:r>
              <a:rPr lang="zh-CN" altLang="en-US" b="1" dirty="0">
                <a:ea typeface="楷体_GB2312" pitchFamily="1" charset="-122"/>
              </a:rPr>
              <a:t>已知：</a:t>
            </a:r>
            <a:r>
              <a:rPr lang="en-US" altLang="zh-CN" b="1" dirty="0">
                <a:solidFill>
                  <a:srgbClr val="CC00CC"/>
                </a:solidFill>
                <a:ea typeface="楷体_GB2312" pitchFamily="1" charset="-122"/>
              </a:rPr>
              <a:t>x</a:t>
            </a:r>
            <a:r>
              <a:rPr lang="en-US" altLang="zh-CN" b="1" baseline="-25000" dirty="0">
                <a:solidFill>
                  <a:srgbClr val="CC00CC"/>
                </a:solidFill>
                <a:ea typeface="楷体_GB2312" pitchFamily="1" charset="-122"/>
              </a:rPr>
              <a:t>0</a:t>
            </a:r>
            <a:r>
              <a:rPr lang="en-US" altLang="zh-CN" b="1" dirty="0">
                <a:solidFill>
                  <a:srgbClr val="CC00CC"/>
                </a:solidFill>
                <a:ea typeface="楷体_GB2312" pitchFamily="1" charset="-122"/>
              </a:rPr>
              <a:t>=0.5</a:t>
            </a:r>
            <a:r>
              <a:rPr lang="zh-CN" altLang="en-US" b="1" dirty="0">
                <a:ea typeface="楷体_GB2312" pitchFamily="1" charset="-122"/>
              </a:rPr>
              <a:t>，激活两条规则：</a:t>
            </a:r>
          </a:p>
          <a:p>
            <a:pPr lvl="1" eaLnBrk="1" hangingPunct="1">
              <a:buFont typeface="Wingdings" panose="05000000000000000000" pitchFamily="2" charset="2"/>
              <a:buNone/>
            </a:pPr>
            <a:r>
              <a:rPr lang="zh-CN" altLang="en-US" b="1" dirty="0">
                <a:solidFill>
                  <a:srgbClr val="008000"/>
                </a:solidFill>
                <a:ea typeface="楷体_GB2312" pitchFamily="1" charset="-122"/>
              </a:rPr>
              <a:t>           </a:t>
            </a:r>
            <a:r>
              <a:rPr lang="en-US" altLang="zh-CN" b="1" dirty="0">
                <a:solidFill>
                  <a:srgbClr val="008000"/>
                </a:solidFill>
                <a:ea typeface="楷体_GB2312" pitchFamily="1" charset="-122"/>
              </a:rPr>
              <a:t>R</a:t>
            </a:r>
            <a:r>
              <a:rPr lang="en-US" altLang="zh-CN" b="1" baseline="-25000" dirty="0">
                <a:solidFill>
                  <a:srgbClr val="008000"/>
                </a:solidFill>
                <a:ea typeface="楷体_GB2312" pitchFamily="1" charset="-122"/>
              </a:rPr>
              <a:t>1</a:t>
            </a:r>
            <a:r>
              <a:rPr lang="zh-CN" altLang="en-US" b="1" dirty="0">
                <a:solidFill>
                  <a:srgbClr val="008000"/>
                </a:solidFill>
                <a:ea typeface="楷体_GB2312" pitchFamily="1" charset="-122"/>
              </a:rPr>
              <a:t>：</a:t>
            </a:r>
            <a:r>
              <a:rPr lang="en-US" altLang="zh-CN" b="1" dirty="0">
                <a:solidFill>
                  <a:srgbClr val="008000"/>
                </a:solidFill>
                <a:ea typeface="楷体_GB2312" pitchFamily="1" charset="-122"/>
              </a:rPr>
              <a:t>IF </a:t>
            </a:r>
            <a:r>
              <a:rPr lang="en-US" altLang="zh-CN" b="1" u="sng" dirty="0">
                <a:solidFill>
                  <a:srgbClr val="008000"/>
                </a:solidFill>
                <a:ea typeface="楷体_GB2312" pitchFamily="1" charset="-122"/>
              </a:rPr>
              <a:t>x </a:t>
            </a:r>
            <a:r>
              <a:rPr lang="zh-CN" altLang="en-US" b="1" u="sng" dirty="0">
                <a:solidFill>
                  <a:srgbClr val="008000"/>
                </a:solidFill>
                <a:ea typeface="楷体_GB2312" pitchFamily="1" charset="-122"/>
              </a:rPr>
              <a:t>是正</a:t>
            </a:r>
            <a:r>
              <a:rPr lang="zh-CN" altLang="en-US" b="1" dirty="0">
                <a:solidFill>
                  <a:srgbClr val="008000"/>
                </a:solidFill>
                <a:ea typeface="楷体_GB2312" pitchFamily="1" charset="-122"/>
              </a:rPr>
              <a:t>  </a:t>
            </a:r>
            <a:r>
              <a:rPr lang="en-US" altLang="zh-CN" b="1" dirty="0">
                <a:solidFill>
                  <a:srgbClr val="008000"/>
                </a:solidFill>
                <a:ea typeface="楷体_GB2312" pitchFamily="1" charset="-122"/>
              </a:rPr>
              <a:t>THEN b</a:t>
            </a:r>
            <a:r>
              <a:rPr lang="en-US" altLang="zh-CN" b="1" baseline="-25000" dirty="0">
                <a:solidFill>
                  <a:srgbClr val="008000"/>
                </a:solidFill>
                <a:ea typeface="楷体_GB2312" pitchFamily="1" charset="-122"/>
              </a:rPr>
              <a:t>1</a:t>
            </a:r>
            <a:r>
              <a:rPr lang="en-US" altLang="zh-CN" b="1" dirty="0">
                <a:solidFill>
                  <a:srgbClr val="008000"/>
                </a:solidFill>
                <a:ea typeface="楷体_GB2312" pitchFamily="1" charset="-122"/>
              </a:rPr>
              <a:t>=1+x</a:t>
            </a:r>
          </a:p>
          <a:p>
            <a:pPr lvl="1" eaLnBrk="1" hangingPunct="1">
              <a:buFont typeface="Wingdings" panose="05000000000000000000" pitchFamily="2" charset="2"/>
              <a:buNone/>
            </a:pPr>
            <a:r>
              <a:rPr lang="en-US" altLang="zh-CN" b="1" dirty="0">
                <a:solidFill>
                  <a:srgbClr val="008000"/>
                </a:solidFill>
                <a:ea typeface="楷体_GB2312" pitchFamily="1" charset="-122"/>
              </a:rPr>
              <a:t>           R</a:t>
            </a:r>
            <a:r>
              <a:rPr lang="en-US" altLang="zh-CN" b="1" baseline="-25000" dirty="0">
                <a:solidFill>
                  <a:srgbClr val="008000"/>
                </a:solidFill>
                <a:ea typeface="楷体_GB2312" pitchFamily="1" charset="-122"/>
              </a:rPr>
              <a:t>2</a:t>
            </a:r>
            <a:r>
              <a:rPr lang="zh-CN" altLang="en-US" b="1" dirty="0">
                <a:solidFill>
                  <a:srgbClr val="008000"/>
                </a:solidFill>
                <a:ea typeface="楷体_GB2312" pitchFamily="1" charset="-122"/>
              </a:rPr>
              <a:t>：</a:t>
            </a:r>
            <a:r>
              <a:rPr lang="en-US" altLang="zh-CN" b="1" dirty="0">
                <a:solidFill>
                  <a:srgbClr val="008000"/>
                </a:solidFill>
                <a:ea typeface="楷体_GB2312" pitchFamily="1" charset="-122"/>
              </a:rPr>
              <a:t>IF </a:t>
            </a:r>
            <a:r>
              <a:rPr lang="en-US" altLang="zh-CN" b="1" u="sng" dirty="0">
                <a:solidFill>
                  <a:srgbClr val="008000"/>
                </a:solidFill>
                <a:ea typeface="楷体_GB2312" pitchFamily="1" charset="-122"/>
              </a:rPr>
              <a:t>x </a:t>
            </a:r>
            <a:r>
              <a:rPr lang="zh-CN" altLang="en-US" b="1" u="sng" dirty="0">
                <a:solidFill>
                  <a:srgbClr val="008000"/>
                </a:solidFill>
                <a:ea typeface="楷体_GB2312" pitchFamily="1" charset="-122"/>
              </a:rPr>
              <a:t>是负</a:t>
            </a:r>
            <a:r>
              <a:rPr lang="zh-CN" altLang="en-US" b="1" dirty="0">
                <a:solidFill>
                  <a:srgbClr val="008000"/>
                </a:solidFill>
                <a:ea typeface="楷体_GB2312" pitchFamily="1" charset="-122"/>
              </a:rPr>
              <a:t>  </a:t>
            </a:r>
            <a:r>
              <a:rPr lang="en-US" altLang="zh-CN" b="1" dirty="0">
                <a:solidFill>
                  <a:srgbClr val="008000"/>
                </a:solidFill>
                <a:ea typeface="楷体_GB2312" pitchFamily="1" charset="-122"/>
              </a:rPr>
              <a:t>THEN b</a:t>
            </a:r>
            <a:r>
              <a:rPr lang="en-US" altLang="zh-CN" b="1" baseline="-25000" dirty="0">
                <a:solidFill>
                  <a:srgbClr val="008000"/>
                </a:solidFill>
                <a:ea typeface="楷体_GB2312" pitchFamily="1" charset="-122"/>
              </a:rPr>
              <a:t>2</a:t>
            </a:r>
            <a:r>
              <a:rPr lang="en-US" altLang="zh-CN" b="1" dirty="0">
                <a:solidFill>
                  <a:srgbClr val="008000"/>
                </a:solidFill>
                <a:ea typeface="楷体_GB2312" pitchFamily="1" charset="-122"/>
              </a:rPr>
              <a:t>=2+x</a:t>
            </a:r>
          </a:p>
          <a:p>
            <a:pPr eaLnBrk="1" hangingPunct="1"/>
            <a:r>
              <a:rPr lang="zh-CN" altLang="en-US" b="1" dirty="0">
                <a:ea typeface="楷体_GB2312" pitchFamily="1" charset="-122"/>
              </a:rPr>
              <a:t>试求</a:t>
            </a:r>
            <a:r>
              <a:rPr lang="en-US" altLang="zh-CN" b="1" dirty="0">
                <a:ea typeface="楷体_GB2312" pitchFamily="1" charset="-122"/>
              </a:rPr>
              <a:t>F</a:t>
            </a:r>
            <a:r>
              <a:rPr lang="zh-CN" altLang="en-US" b="1" dirty="0">
                <a:ea typeface="楷体_GB2312" pitchFamily="1" charset="-122"/>
              </a:rPr>
              <a:t>控制器所对应的输出</a:t>
            </a:r>
          </a:p>
        </p:txBody>
      </p:sp>
      <p:grpSp>
        <p:nvGrpSpPr>
          <p:cNvPr id="21508" name="Group 4"/>
          <p:cNvGrpSpPr>
            <a:grpSpLocks/>
          </p:cNvGrpSpPr>
          <p:nvPr/>
        </p:nvGrpSpPr>
        <p:grpSpPr bwMode="auto">
          <a:xfrm>
            <a:off x="7464102" y="3169072"/>
            <a:ext cx="3600450" cy="1916112"/>
            <a:chOff x="0" y="0"/>
            <a:chExt cx="2268" cy="1207"/>
          </a:xfrm>
        </p:grpSpPr>
        <p:grpSp>
          <p:nvGrpSpPr>
            <p:cNvPr id="21509" name="Group 5"/>
            <p:cNvGrpSpPr>
              <a:grpSpLocks/>
            </p:cNvGrpSpPr>
            <p:nvPr/>
          </p:nvGrpSpPr>
          <p:grpSpPr bwMode="auto">
            <a:xfrm>
              <a:off x="0" y="0"/>
              <a:ext cx="2268" cy="1207"/>
              <a:chOff x="0" y="0"/>
              <a:chExt cx="2268" cy="1207"/>
            </a:xfrm>
          </p:grpSpPr>
          <p:sp>
            <p:nvSpPr>
              <p:cNvPr id="21510" name="Line 4"/>
              <p:cNvSpPr>
                <a:spLocks noChangeShapeType="1"/>
              </p:cNvSpPr>
              <p:nvPr/>
            </p:nvSpPr>
            <p:spPr bwMode="auto">
              <a:xfrm>
                <a:off x="0" y="997"/>
                <a:ext cx="2132" cy="0"/>
              </a:xfrm>
              <a:prstGeom prst="line">
                <a:avLst/>
              </a:prstGeom>
              <a:noFill/>
              <a:ln w="19050" cmpd="sng">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1511" name="Line 5"/>
              <p:cNvSpPr>
                <a:spLocks noChangeShapeType="1"/>
              </p:cNvSpPr>
              <p:nvPr/>
            </p:nvSpPr>
            <p:spPr bwMode="auto">
              <a:xfrm flipV="1">
                <a:off x="1044" y="90"/>
                <a:ext cx="0" cy="907"/>
              </a:xfrm>
              <a:prstGeom prst="line">
                <a:avLst/>
              </a:prstGeom>
              <a:noFill/>
              <a:ln w="19050" cmpd="sng">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1512" name="Line 6"/>
              <p:cNvSpPr>
                <a:spLocks noChangeShapeType="1"/>
              </p:cNvSpPr>
              <p:nvPr/>
            </p:nvSpPr>
            <p:spPr bwMode="auto">
              <a:xfrm flipV="1">
                <a:off x="408" y="952"/>
                <a:ext cx="0" cy="45"/>
              </a:xfrm>
              <a:prstGeom prst="line">
                <a:avLst/>
              </a:prstGeom>
              <a:noFill/>
              <a:ln w="9525" cmpd="sng">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1513" name="Line 7"/>
              <p:cNvSpPr>
                <a:spLocks noChangeShapeType="1"/>
              </p:cNvSpPr>
              <p:nvPr/>
            </p:nvSpPr>
            <p:spPr bwMode="auto">
              <a:xfrm flipV="1">
                <a:off x="1679" y="952"/>
                <a:ext cx="0" cy="45"/>
              </a:xfrm>
              <a:prstGeom prst="line">
                <a:avLst/>
              </a:prstGeom>
              <a:noFill/>
              <a:ln w="9525" cmpd="sng">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1514" name="Line 8"/>
              <p:cNvSpPr>
                <a:spLocks noChangeShapeType="1"/>
              </p:cNvSpPr>
              <p:nvPr/>
            </p:nvSpPr>
            <p:spPr bwMode="auto">
              <a:xfrm>
                <a:off x="1044" y="317"/>
                <a:ext cx="45" cy="0"/>
              </a:xfrm>
              <a:prstGeom prst="line">
                <a:avLst/>
              </a:prstGeom>
              <a:noFill/>
              <a:ln w="9525" cmpd="sng">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1515" name="Line 9"/>
              <p:cNvSpPr>
                <a:spLocks noChangeShapeType="1"/>
              </p:cNvSpPr>
              <p:nvPr/>
            </p:nvSpPr>
            <p:spPr bwMode="auto">
              <a:xfrm flipH="1">
                <a:off x="408" y="317"/>
                <a:ext cx="1271" cy="680"/>
              </a:xfrm>
              <a:prstGeom prst="line">
                <a:avLst/>
              </a:prstGeom>
              <a:noFill/>
              <a:ln w="28575" cmpd="sng">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1516" name="Line 10"/>
              <p:cNvSpPr>
                <a:spLocks noChangeShapeType="1"/>
              </p:cNvSpPr>
              <p:nvPr/>
            </p:nvSpPr>
            <p:spPr bwMode="auto">
              <a:xfrm flipH="1" flipV="1">
                <a:off x="408" y="317"/>
                <a:ext cx="1271" cy="680"/>
              </a:xfrm>
              <a:prstGeom prst="line">
                <a:avLst/>
              </a:prstGeom>
              <a:noFill/>
              <a:ln w="28575" cmpd="sng">
                <a:solidFill>
                  <a:srgbClr val="0000FE"/>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1517" name="Line 11"/>
              <p:cNvSpPr>
                <a:spLocks noChangeShapeType="1"/>
              </p:cNvSpPr>
              <p:nvPr/>
            </p:nvSpPr>
            <p:spPr bwMode="auto">
              <a:xfrm>
                <a:off x="1679" y="317"/>
                <a:ext cx="362" cy="0"/>
              </a:xfrm>
              <a:prstGeom prst="line">
                <a:avLst/>
              </a:prstGeom>
              <a:noFill/>
              <a:ln w="28575" cmpd="sng">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1518" name="Line 12"/>
              <p:cNvSpPr>
                <a:spLocks noChangeShapeType="1"/>
              </p:cNvSpPr>
              <p:nvPr/>
            </p:nvSpPr>
            <p:spPr bwMode="auto">
              <a:xfrm>
                <a:off x="46" y="317"/>
                <a:ext cx="362" cy="0"/>
              </a:xfrm>
              <a:prstGeom prst="line">
                <a:avLst/>
              </a:prstGeom>
              <a:noFill/>
              <a:ln w="28575" cmpd="sng">
                <a:solidFill>
                  <a:srgbClr val="0000FE"/>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1519" name="Line 13"/>
              <p:cNvSpPr>
                <a:spLocks noChangeShapeType="1"/>
              </p:cNvSpPr>
              <p:nvPr/>
            </p:nvSpPr>
            <p:spPr bwMode="auto">
              <a:xfrm>
                <a:off x="0" y="997"/>
                <a:ext cx="408" cy="0"/>
              </a:xfrm>
              <a:prstGeom prst="line">
                <a:avLst/>
              </a:prstGeom>
              <a:noFill/>
              <a:ln w="28575" cmpd="sng">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1520" name="Line 14"/>
              <p:cNvSpPr>
                <a:spLocks noChangeShapeType="1"/>
              </p:cNvSpPr>
              <p:nvPr/>
            </p:nvSpPr>
            <p:spPr bwMode="auto">
              <a:xfrm>
                <a:off x="1679" y="997"/>
                <a:ext cx="408" cy="0"/>
              </a:xfrm>
              <a:prstGeom prst="line">
                <a:avLst/>
              </a:prstGeom>
              <a:noFill/>
              <a:ln w="28575" cmpd="sng">
                <a:solidFill>
                  <a:srgbClr val="0000FE"/>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1521" name="Text Box 15"/>
              <p:cNvSpPr txBox="1">
                <a:spLocks noChangeArrowheads="1"/>
              </p:cNvSpPr>
              <p:nvPr/>
            </p:nvSpPr>
            <p:spPr bwMode="auto">
              <a:xfrm>
                <a:off x="1724" y="45"/>
                <a:ext cx="363"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a:t>P(x)</a:t>
                </a:r>
              </a:p>
            </p:txBody>
          </p:sp>
          <p:sp>
            <p:nvSpPr>
              <p:cNvPr id="21522" name="Text Box 16"/>
              <p:cNvSpPr txBox="1">
                <a:spLocks noChangeArrowheads="1"/>
              </p:cNvSpPr>
              <p:nvPr/>
            </p:nvSpPr>
            <p:spPr bwMode="auto">
              <a:xfrm>
                <a:off x="46" y="90"/>
                <a:ext cx="363"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a:t>N(x)</a:t>
                </a:r>
              </a:p>
            </p:txBody>
          </p:sp>
          <p:sp>
            <p:nvSpPr>
              <p:cNvPr id="21523" name="Text Box 17"/>
              <p:cNvSpPr txBox="1">
                <a:spLocks noChangeArrowheads="1"/>
              </p:cNvSpPr>
              <p:nvPr/>
            </p:nvSpPr>
            <p:spPr bwMode="auto">
              <a:xfrm>
                <a:off x="0" y="995"/>
                <a:ext cx="2268"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sz="1600"/>
                  <a:t>        -1               0                1           x</a:t>
                </a:r>
              </a:p>
            </p:txBody>
          </p:sp>
          <p:sp>
            <p:nvSpPr>
              <p:cNvPr id="21524" name="Rectangle 18"/>
              <p:cNvSpPr>
                <a:spLocks noChangeArrowheads="1"/>
              </p:cNvSpPr>
              <p:nvPr/>
            </p:nvSpPr>
            <p:spPr bwMode="auto">
              <a:xfrm>
                <a:off x="817" y="0"/>
                <a:ext cx="199"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r>
                  <a:rPr lang="el-GR" altLang="en-US"/>
                  <a:t>μ</a:t>
                </a:r>
                <a:endParaRPr lang="en-US" altLang="zh-CN"/>
              </a:p>
            </p:txBody>
          </p:sp>
          <p:sp>
            <p:nvSpPr>
              <p:cNvPr id="21525" name="Text Box 19"/>
              <p:cNvSpPr txBox="1">
                <a:spLocks noChangeArrowheads="1"/>
              </p:cNvSpPr>
              <p:nvPr/>
            </p:nvSpPr>
            <p:spPr bwMode="auto">
              <a:xfrm>
                <a:off x="907" y="181"/>
                <a:ext cx="363"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a:t>1</a:t>
                </a:r>
              </a:p>
            </p:txBody>
          </p:sp>
        </p:grpSp>
        <p:sp>
          <p:nvSpPr>
            <p:cNvPr id="21526" name="Text Box 21"/>
            <p:cNvSpPr txBox="1">
              <a:spLocks noChangeArrowheads="1"/>
            </p:cNvSpPr>
            <p:nvPr/>
          </p:nvSpPr>
          <p:spPr bwMode="auto">
            <a:xfrm>
              <a:off x="725" y="544"/>
              <a:ext cx="363"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sz="1400" b="1"/>
                <a:t>0.5</a:t>
              </a:r>
            </a:p>
          </p:txBody>
        </p:sp>
      </p:grpSp>
      <p:sp>
        <p:nvSpPr>
          <p:cNvPr id="2" name="灯片编号占位符 1">
            <a:extLst>
              <a:ext uri="{FF2B5EF4-FFF2-40B4-BE49-F238E27FC236}">
                <a16:creationId xmlns:a16="http://schemas.microsoft.com/office/drawing/2014/main" id="{B4641E84-9273-4715-8A87-423E0B00CC81}"/>
              </a:ext>
            </a:extLst>
          </p:cNvPr>
          <p:cNvSpPr>
            <a:spLocks noGrp="1"/>
          </p:cNvSpPr>
          <p:nvPr>
            <p:ph type="sldNum" sz="quarter" idx="11"/>
          </p:nvPr>
        </p:nvSpPr>
        <p:spPr/>
        <p:txBody>
          <a:bodyPr/>
          <a:lstStyle/>
          <a:p>
            <a:pPr>
              <a:defRPr/>
            </a:pPr>
            <a:fld id="{B77A47BA-BA63-4780-94A9-8AFA2EA4438D}" type="slidenum">
              <a:rPr lang="en-US" altLang="zh-CN" smtClean="0"/>
              <a:pPr>
                <a:defRPr/>
              </a:pPr>
              <a:t>17</a:t>
            </a:fld>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1507">
                                            <p:txEl>
                                              <p:pRg st="0" end="0"/>
                                            </p:txEl>
                                          </p:spTgt>
                                        </p:tgtEl>
                                        <p:attrNameLst>
                                          <p:attrName>style.visibility</p:attrName>
                                        </p:attrNameLst>
                                      </p:cBhvr>
                                      <p:to>
                                        <p:strVal val="visible"/>
                                      </p:to>
                                    </p:set>
                                    <p:animEffect transition="in" filter="wipe(left)">
                                      <p:cBhvr>
                                        <p:cTn id="7" dur="500"/>
                                        <p:tgtEl>
                                          <p:spTgt spid="21507">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21507">
                                            <p:txEl>
                                              <p:pRg st="1" end="1"/>
                                            </p:txEl>
                                          </p:spTgt>
                                        </p:tgtEl>
                                        <p:attrNameLst>
                                          <p:attrName>style.visibility</p:attrName>
                                        </p:attrNameLst>
                                      </p:cBhvr>
                                      <p:to>
                                        <p:strVal val="visible"/>
                                      </p:to>
                                    </p:set>
                                    <p:animEffect transition="in" filter="wipe(left)">
                                      <p:cBhvr>
                                        <p:cTn id="12" dur="500"/>
                                        <p:tgtEl>
                                          <p:spTgt spid="21507">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21507">
                                            <p:txEl>
                                              <p:pRg st="2" end="2"/>
                                            </p:txEl>
                                          </p:spTgt>
                                        </p:tgtEl>
                                        <p:attrNameLst>
                                          <p:attrName>style.visibility</p:attrName>
                                        </p:attrNameLst>
                                      </p:cBhvr>
                                      <p:to>
                                        <p:strVal val="visible"/>
                                      </p:to>
                                    </p:set>
                                    <p:animEffect transition="in" filter="wipe(left)">
                                      <p:cBhvr>
                                        <p:cTn id="17" dur="500"/>
                                        <p:tgtEl>
                                          <p:spTgt spid="21507">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21507">
                                            <p:txEl>
                                              <p:pRg st="3" end="3"/>
                                            </p:txEl>
                                          </p:spTgt>
                                        </p:tgtEl>
                                        <p:attrNameLst>
                                          <p:attrName>style.visibility</p:attrName>
                                        </p:attrNameLst>
                                      </p:cBhvr>
                                      <p:to>
                                        <p:strVal val="visible"/>
                                      </p:to>
                                    </p:set>
                                    <p:animEffect transition="in" filter="wipe(left)">
                                      <p:cBhvr>
                                        <p:cTn id="22" dur="500"/>
                                        <p:tgtEl>
                                          <p:spTgt spid="21507">
                                            <p:txEl>
                                              <p:pRg st="3" end="3"/>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3" presetClass="entr" presetSubtype="10" fill="hold" nodeType="clickEffect">
                                  <p:stCondLst>
                                    <p:cond delay="0"/>
                                  </p:stCondLst>
                                  <p:childTnLst>
                                    <p:set>
                                      <p:cBhvr>
                                        <p:cTn id="26" dur="1" fill="hold">
                                          <p:stCondLst>
                                            <p:cond delay="0"/>
                                          </p:stCondLst>
                                        </p:cTn>
                                        <p:tgtEl>
                                          <p:spTgt spid="21508"/>
                                        </p:tgtEl>
                                        <p:attrNameLst>
                                          <p:attrName>style.visibility</p:attrName>
                                        </p:attrNameLst>
                                      </p:cBhvr>
                                      <p:to>
                                        <p:strVal val="visible"/>
                                      </p:to>
                                    </p:set>
                                    <p:animEffect transition="in" filter="blinds(horizontal)">
                                      <p:cBhvr>
                                        <p:cTn id="27" dur="500"/>
                                        <p:tgtEl>
                                          <p:spTgt spid="21508"/>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21507">
                                            <p:txEl>
                                              <p:pRg st="5" end="5"/>
                                            </p:txEl>
                                          </p:spTgt>
                                        </p:tgtEl>
                                        <p:attrNameLst>
                                          <p:attrName>style.visibility</p:attrName>
                                        </p:attrNameLst>
                                      </p:cBhvr>
                                      <p:to>
                                        <p:strVal val="visible"/>
                                      </p:to>
                                    </p:set>
                                    <p:animEffect transition="in" filter="wipe(left)">
                                      <p:cBhvr>
                                        <p:cTn id="32" dur="500"/>
                                        <p:tgtEl>
                                          <p:spTgt spid="21507">
                                            <p:txEl>
                                              <p:pRg st="5" end="5"/>
                                            </p:txEl>
                                          </p:spTgt>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21507">
                                            <p:txEl>
                                              <p:pRg st="6" end="6"/>
                                            </p:txEl>
                                          </p:spTgt>
                                        </p:tgtEl>
                                        <p:attrNameLst>
                                          <p:attrName>style.visibility</p:attrName>
                                        </p:attrNameLst>
                                      </p:cBhvr>
                                      <p:to>
                                        <p:strVal val="visible"/>
                                      </p:to>
                                    </p:set>
                                    <p:animEffect transition="in" filter="wipe(left)">
                                      <p:cBhvr>
                                        <p:cTn id="37" dur="500"/>
                                        <p:tgtEl>
                                          <p:spTgt spid="21507">
                                            <p:txEl>
                                              <p:pRg st="6" end="6"/>
                                            </p:txEl>
                                          </p:spTgt>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21507">
                                            <p:txEl>
                                              <p:pRg st="7" end="7"/>
                                            </p:txEl>
                                          </p:spTgt>
                                        </p:tgtEl>
                                        <p:attrNameLst>
                                          <p:attrName>style.visibility</p:attrName>
                                        </p:attrNameLst>
                                      </p:cBhvr>
                                      <p:to>
                                        <p:strVal val="visible"/>
                                      </p:to>
                                    </p:set>
                                    <p:animEffect transition="in" filter="wipe(left)">
                                      <p:cBhvr>
                                        <p:cTn id="42" dur="500"/>
                                        <p:tgtEl>
                                          <p:spTgt spid="21507">
                                            <p:txEl>
                                              <p:pRg st="7" end="7"/>
                                            </p:txEl>
                                          </p:spTgt>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22" presetClass="entr" presetSubtype="8" fill="hold" grpId="0" nodeType="clickEffect">
                                  <p:stCondLst>
                                    <p:cond delay="0"/>
                                  </p:stCondLst>
                                  <p:childTnLst>
                                    <p:set>
                                      <p:cBhvr>
                                        <p:cTn id="46" dur="1" fill="hold">
                                          <p:stCondLst>
                                            <p:cond delay="0"/>
                                          </p:stCondLst>
                                        </p:cTn>
                                        <p:tgtEl>
                                          <p:spTgt spid="21507">
                                            <p:txEl>
                                              <p:pRg st="8" end="8"/>
                                            </p:txEl>
                                          </p:spTgt>
                                        </p:tgtEl>
                                        <p:attrNameLst>
                                          <p:attrName>style.visibility</p:attrName>
                                        </p:attrNameLst>
                                      </p:cBhvr>
                                      <p:to>
                                        <p:strVal val="visible"/>
                                      </p:to>
                                    </p:set>
                                    <p:animEffect transition="in" filter="wipe(left)">
                                      <p:cBhvr>
                                        <p:cTn id="47" dur="500"/>
                                        <p:tgtEl>
                                          <p:spTgt spid="21507">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507" grpId="0" uiExpand="1" build="p" autoUpdateAnimBg="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p:cNvSpPr>
            <a:spLocks noGrp="1" noChangeArrowheads="1"/>
          </p:cNvSpPr>
          <p:nvPr>
            <p:ph type="title" idx="4294967295"/>
          </p:nvPr>
        </p:nvSpPr>
        <p:spPr>
          <a:xfrm>
            <a:off x="1992313" y="188913"/>
            <a:ext cx="8229600" cy="1371600"/>
          </a:xfrm>
        </p:spPr>
        <p:txBody>
          <a:bodyPr/>
          <a:lstStyle/>
          <a:p>
            <a:pPr algn="ctr" eaLnBrk="1" hangingPunct="1"/>
            <a:r>
              <a:rPr lang="zh-CN" altLang="en-US" dirty="0">
                <a:solidFill>
                  <a:srgbClr val="008000"/>
                </a:solidFill>
                <a:latin typeface="Comic Sans MS" panose="030F0702030302020204" pitchFamily="66" charset="0"/>
                <a:ea typeface="黑体" panose="02010609060101010101" pitchFamily="49" charset="-122"/>
              </a:rPr>
              <a:t>一阶</a:t>
            </a:r>
            <a:r>
              <a:rPr lang="en-US" altLang="zh-CN" dirty="0" err="1">
                <a:solidFill>
                  <a:srgbClr val="008000"/>
                </a:solidFill>
                <a:latin typeface="Comic Sans MS" panose="030F0702030302020204" pitchFamily="66" charset="0"/>
                <a:ea typeface="黑体" panose="02010609060101010101" pitchFamily="49" charset="-122"/>
              </a:rPr>
              <a:t>Sugeno</a:t>
            </a:r>
            <a:r>
              <a:rPr lang="en-US" altLang="zh-CN" dirty="0">
                <a:solidFill>
                  <a:srgbClr val="008000"/>
                </a:solidFill>
                <a:latin typeface="Comic Sans MS" panose="030F0702030302020204" pitchFamily="66" charset="0"/>
                <a:ea typeface="黑体" panose="02010609060101010101" pitchFamily="49" charset="-122"/>
              </a:rPr>
              <a:t> </a:t>
            </a:r>
            <a:r>
              <a:rPr lang="zh-CN" altLang="en-US" dirty="0">
                <a:solidFill>
                  <a:srgbClr val="008000"/>
                </a:solidFill>
                <a:latin typeface="Comic Sans MS" panose="030F0702030302020204" pitchFamily="66" charset="0"/>
                <a:ea typeface="黑体" panose="02010609060101010101" pitchFamily="49" charset="-122"/>
              </a:rPr>
              <a:t>模糊模型举例</a:t>
            </a:r>
          </a:p>
        </p:txBody>
      </p:sp>
      <p:sp>
        <p:nvSpPr>
          <p:cNvPr id="22531" name="Rectangle 3"/>
          <p:cNvSpPr>
            <a:spLocks noGrp="1" noChangeArrowheads="1"/>
          </p:cNvSpPr>
          <p:nvPr>
            <p:ph type="body" sz="half" idx="4294967295"/>
          </p:nvPr>
        </p:nvSpPr>
        <p:spPr>
          <a:xfrm>
            <a:off x="767408" y="1484316"/>
            <a:ext cx="10657184" cy="5184775"/>
          </a:xfrm>
        </p:spPr>
        <p:txBody>
          <a:bodyPr/>
          <a:lstStyle/>
          <a:p>
            <a:pPr eaLnBrk="1" hangingPunct="1">
              <a:lnSpc>
                <a:spcPct val="90000"/>
              </a:lnSpc>
            </a:pPr>
            <a:r>
              <a:rPr lang="zh-CN" altLang="en-US" sz="2800" dirty="0">
                <a:ea typeface="黑体" panose="02010609060101010101" pitchFamily="49" charset="-122"/>
              </a:rPr>
              <a:t>只有一个输入</a:t>
            </a:r>
            <a:r>
              <a:rPr lang="en-US" altLang="zh-CN" sz="2800" dirty="0">
                <a:ea typeface="黑体" panose="02010609060101010101" pitchFamily="49" charset="-122"/>
              </a:rPr>
              <a:t>x</a:t>
            </a:r>
            <a:r>
              <a:rPr lang="zh-CN" altLang="en-US" sz="2800" dirty="0">
                <a:ea typeface="黑体" panose="02010609060101010101" pitchFamily="49" charset="-122"/>
              </a:rPr>
              <a:t>，</a:t>
            </a:r>
            <a:r>
              <a:rPr lang="en-US" altLang="zh-CN" sz="2800" dirty="0">
                <a:ea typeface="黑体" panose="02010609060101010101" pitchFamily="49" charset="-122"/>
              </a:rPr>
              <a:t>F</a:t>
            </a:r>
            <a:r>
              <a:rPr lang="zh-CN" altLang="en-US" sz="2800" dirty="0">
                <a:ea typeface="黑体" panose="02010609060101010101" pitchFamily="49" charset="-122"/>
              </a:rPr>
              <a:t>变量取值只有两个：</a:t>
            </a:r>
            <a:r>
              <a:rPr lang="en-US" altLang="zh-CN" sz="2800" dirty="0">
                <a:ea typeface="黑体" panose="02010609060101010101" pitchFamily="49" charset="-122"/>
              </a:rPr>
              <a:t>P(</a:t>
            </a:r>
            <a:r>
              <a:rPr lang="zh-CN" altLang="en-US" sz="2800" dirty="0">
                <a:ea typeface="黑体" panose="02010609060101010101" pitchFamily="49" charset="-122"/>
              </a:rPr>
              <a:t>正</a:t>
            </a:r>
            <a:r>
              <a:rPr lang="en-US" altLang="zh-CN" sz="2800" dirty="0">
                <a:ea typeface="黑体" panose="02010609060101010101" pitchFamily="49" charset="-122"/>
              </a:rPr>
              <a:t>)</a:t>
            </a:r>
            <a:r>
              <a:rPr lang="zh-CN" altLang="en-US" sz="2800" dirty="0">
                <a:ea typeface="黑体" panose="02010609060101010101" pitchFamily="49" charset="-122"/>
              </a:rPr>
              <a:t>、</a:t>
            </a:r>
            <a:r>
              <a:rPr lang="en-US" altLang="zh-CN" sz="2800" dirty="0">
                <a:ea typeface="黑体" panose="02010609060101010101" pitchFamily="49" charset="-122"/>
              </a:rPr>
              <a:t>N(</a:t>
            </a:r>
            <a:r>
              <a:rPr lang="zh-CN" altLang="en-US" sz="2800" dirty="0">
                <a:ea typeface="黑体" panose="02010609060101010101" pitchFamily="49" charset="-122"/>
              </a:rPr>
              <a:t>负</a:t>
            </a:r>
            <a:r>
              <a:rPr lang="en-US" altLang="zh-CN" sz="2800" dirty="0">
                <a:ea typeface="黑体" panose="02010609060101010101" pitchFamily="49" charset="-122"/>
              </a:rPr>
              <a:t>)</a:t>
            </a:r>
          </a:p>
          <a:p>
            <a:pPr lvl="1" eaLnBrk="1" hangingPunct="1">
              <a:lnSpc>
                <a:spcPct val="90000"/>
              </a:lnSpc>
              <a:buNone/>
            </a:pPr>
            <a:r>
              <a:rPr lang="en-US" altLang="zh-CN" b="1" dirty="0">
                <a:ea typeface="楷体_GB2312" pitchFamily="1" charset="-122"/>
              </a:rPr>
              <a:t>    </a:t>
            </a:r>
            <a:r>
              <a:rPr lang="en-US" altLang="zh-CN" b="1" dirty="0">
                <a:solidFill>
                  <a:srgbClr val="FF0000"/>
                </a:solidFill>
                <a:ea typeface="楷体_GB2312" pitchFamily="1" charset="-122"/>
              </a:rPr>
              <a:t>P(x)=0.5+0.5x     </a:t>
            </a:r>
            <a:r>
              <a:rPr lang="en-US" altLang="zh-CN" b="1" dirty="0">
                <a:solidFill>
                  <a:srgbClr val="0D0DFF"/>
                </a:solidFill>
                <a:ea typeface="楷体_GB2312" pitchFamily="1" charset="-122"/>
              </a:rPr>
              <a:t>N(x)=0.5-0.5x       </a:t>
            </a:r>
            <a:r>
              <a:rPr lang="en-US" altLang="zh-CN" b="1" dirty="0">
                <a:ea typeface="楷体_GB2312" pitchFamily="1" charset="-122"/>
              </a:rPr>
              <a:t>-1 </a:t>
            </a:r>
            <a:r>
              <a:rPr lang="en-US" altLang="zh-CN" b="1" dirty="0"/>
              <a:t>≤ </a:t>
            </a:r>
            <a:r>
              <a:rPr lang="en-US" altLang="zh-CN" b="1" dirty="0">
                <a:ea typeface="楷体_GB2312" pitchFamily="1" charset="-122"/>
              </a:rPr>
              <a:t>x </a:t>
            </a:r>
            <a:r>
              <a:rPr lang="en-US" altLang="zh-CN" b="1" dirty="0"/>
              <a:t>≤ </a:t>
            </a:r>
            <a:r>
              <a:rPr lang="en-US" altLang="zh-CN" b="1" dirty="0">
                <a:ea typeface="楷体_GB2312" pitchFamily="1" charset="-122"/>
              </a:rPr>
              <a:t>1</a:t>
            </a:r>
          </a:p>
          <a:p>
            <a:pPr eaLnBrk="1" hangingPunct="1">
              <a:lnSpc>
                <a:spcPct val="90000"/>
              </a:lnSpc>
              <a:buNone/>
            </a:pPr>
            <a:r>
              <a:rPr lang="zh-CN" altLang="en-US" b="1" dirty="0">
                <a:solidFill>
                  <a:srgbClr val="7030A0"/>
                </a:solidFill>
                <a:ea typeface="楷体_GB2312" pitchFamily="1" charset="-122"/>
              </a:rPr>
              <a:t>解：</a:t>
            </a:r>
            <a:r>
              <a:rPr lang="zh-CN" altLang="en-US" sz="2800" b="1" dirty="0">
                <a:ea typeface="楷体_GB2312" pitchFamily="1" charset="-122"/>
              </a:rPr>
              <a:t>由</a:t>
            </a:r>
            <a:r>
              <a:rPr lang="en-US" altLang="zh-CN" sz="2800" b="1" dirty="0">
                <a:solidFill>
                  <a:srgbClr val="CC00CC"/>
                </a:solidFill>
                <a:ea typeface="楷体_GB2312" pitchFamily="1" charset="-122"/>
              </a:rPr>
              <a:t>x</a:t>
            </a:r>
            <a:r>
              <a:rPr lang="en-US" altLang="zh-CN" sz="2800" b="1" baseline="-25000" dirty="0">
                <a:solidFill>
                  <a:srgbClr val="CC00CC"/>
                </a:solidFill>
                <a:ea typeface="楷体_GB2312" pitchFamily="1" charset="-122"/>
              </a:rPr>
              <a:t>0</a:t>
            </a:r>
            <a:r>
              <a:rPr lang="en-US" altLang="zh-CN" sz="2800" b="1" dirty="0">
                <a:solidFill>
                  <a:srgbClr val="CC00CC"/>
                </a:solidFill>
                <a:ea typeface="楷体_GB2312" pitchFamily="1" charset="-122"/>
              </a:rPr>
              <a:t>=0.5</a:t>
            </a:r>
            <a:r>
              <a:rPr lang="zh-CN" altLang="en-US" sz="2800" b="1" dirty="0">
                <a:ea typeface="楷体_GB2312" pitchFamily="1" charset="-122"/>
              </a:rPr>
              <a:t> 激活的两条规则</a:t>
            </a:r>
          </a:p>
          <a:p>
            <a:pPr lvl="1" eaLnBrk="1" hangingPunct="1">
              <a:lnSpc>
                <a:spcPct val="90000"/>
              </a:lnSpc>
              <a:buFont typeface="Wingdings" panose="05000000000000000000" pitchFamily="2" charset="2"/>
              <a:buNone/>
            </a:pPr>
            <a:r>
              <a:rPr lang="zh-CN" altLang="en-US" b="1" dirty="0">
                <a:solidFill>
                  <a:srgbClr val="008000"/>
                </a:solidFill>
                <a:ea typeface="楷体_GB2312" pitchFamily="1" charset="-122"/>
              </a:rPr>
              <a:t>   </a:t>
            </a:r>
            <a:r>
              <a:rPr lang="en-US" altLang="zh-CN" b="1" dirty="0">
                <a:solidFill>
                  <a:srgbClr val="008000"/>
                </a:solidFill>
                <a:ea typeface="楷体_GB2312" pitchFamily="1" charset="-122"/>
              </a:rPr>
              <a:t>R</a:t>
            </a:r>
            <a:r>
              <a:rPr lang="en-US" altLang="zh-CN" b="1" baseline="-25000" dirty="0">
                <a:solidFill>
                  <a:srgbClr val="008000"/>
                </a:solidFill>
                <a:ea typeface="楷体_GB2312" pitchFamily="1" charset="-122"/>
              </a:rPr>
              <a:t>1</a:t>
            </a:r>
            <a:r>
              <a:rPr lang="zh-CN" altLang="en-US" b="1" dirty="0">
                <a:solidFill>
                  <a:srgbClr val="008000"/>
                </a:solidFill>
                <a:ea typeface="楷体_GB2312" pitchFamily="1" charset="-122"/>
              </a:rPr>
              <a:t>：</a:t>
            </a:r>
            <a:r>
              <a:rPr lang="en-US" altLang="zh-CN" b="1" dirty="0">
                <a:solidFill>
                  <a:srgbClr val="008000"/>
                </a:solidFill>
                <a:ea typeface="楷体_GB2312" pitchFamily="1" charset="-122"/>
              </a:rPr>
              <a:t>IF </a:t>
            </a:r>
            <a:r>
              <a:rPr lang="en-US" altLang="zh-CN" b="1" u="sng" dirty="0">
                <a:solidFill>
                  <a:srgbClr val="008000"/>
                </a:solidFill>
                <a:ea typeface="楷体_GB2312" pitchFamily="1" charset="-122"/>
              </a:rPr>
              <a:t>x </a:t>
            </a:r>
            <a:r>
              <a:rPr lang="zh-CN" altLang="en-US" b="1" u="sng" dirty="0">
                <a:solidFill>
                  <a:srgbClr val="008000"/>
                </a:solidFill>
                <a:ea typeface="楷体_GB2312" pitchFamily="1" charset="-122"/>
              </a:rPr>
              <a:t>是正</a:t>
            </a:r>
            <a:r>
              <a:rPr lang="zh-CN" altLang="en-US" b="1" dirty="0">
                <a:solidFill>
                  <a:srgbClr val="008000"/>
                </a:solidFill>
                <a:ea typeface="楷体_GB2312" pitchFamily="1" charset="-122"/>
              </a:rPr>
              <a:t>  </a:t>
            </a:r>
            <a:r>
              <a:rPr lang="en-US" altLang="zh-CN" b="1" dirty="0">
                <a:solidFill>
                  <a:srgbClr val="008000"/>
                </a:solidFill>
                <a:ea typeface="楷体_GB2312" pitchFamily="1" charset="-122"/>
              </a:rPr>
              <a:t>THEN b</a:t>
            </a:r>
            <a:r>
              <a:rPr lang="en-US" altLang="zh-CN" b="1" baseline="-25000" dirty="0">
                <a:solidFill>
                  <a:srgbClr val="008000"/>
                </a:solidFill>
                <a:ea typeface="楷体_GB2312" pitchFamily="1" charset="-122"/>
              </a:rPr>
              <a:t>1</a:t>
            </a:r>
            <a:r>
              <a:rPr lang="en-US" altLang="zh-CN" b="1" dirty="0">
                <a:solidFill>
                  <a:srgbClr val="008000"/>
                </a:solidFill>
                <a:ea typeface="楷体_GB2312" pitchFamily="1" charset="-122"/>
              </a:rPr>
              <a:t>=1+x</a:t>
            </a:r>
          </a:p>
          <a:p>
            <a:pPr lvl="1" eaLnBrk="1" hangingPunct="1">
              <a:lnSpc>
                <a:spcPct val="90000"/>
              </a:lnSpc>
              <a:buFont typeface="Wingdings" panose="05000000000000000000" pitchFamily="2" charset="2"/>
              <a:buNone/>
            </a:pPr>
            <a:r>
              <a:rPr lang="en-US" altLang="zh-CN" b="1" dirty="0">
                <a:solidFill>
                  <a:srgbClr val="008000"/>
                </a:solidFill>
                <a:ea typeface="楷体_GB2312" pitchFamily="1" charset="-122"/>
              </a:rPr>
              <a:t>   R</a:t>
            </a:r>
            <a:r>
              <a:rPr lang="en-US" altLang="zh-CN" b="1" baseline="-25000" dirty="0">
                <a:solidFill>
                  <a:srgbClr val="008000"/>
                </a:solidFill>
                <a:ea typeface="楷体_GB2312" pitchFamily="1" charset="-122"/>
              </a:rPr>
              <a:t>2</a:t>
            </a:r>
            <a:r>
              <a:rPr lang="zh-CN" altLang="en-US" b="1" dirty="0">
                <a:solidFill>
                  <a:srgbClr val="008000"/>
                </a:solidFill>
                <a:ea typeface="楷体_GB2312" pitchFamily="1" charset="-122"/>
              </a:rPr>
              <a:t>：</a:t>
            </a:r>
            <a:r>
              <a:rPr lang="en-US" altLang="zh-CN" b="1" dirty="0">
                <a:solidFill>
                  <a:srgbClr val="008000"/>
                </a:solidFill>
                <a:ea typeface="楷体_GB2312" pitchFamily="1" charset="-122"/>
              </a:rPr>
              <a:t>IF </a:t>
            </a:r>
            <a:r>
              <a:rPr lang="en-US" altLang="zh-CN" b="1" u="sng" dirty="0">
                <a:solidFill>
                  <a:srgbClr val="008000"/>
                </a:solidFill>
                <a:ea typeface="楷体_GB2312" pitchFamily="1" charset="-122"/>
              </a:rPr>
              <a:t>x </a:t>
            </a:r>
            <a:r>
              <a:rPr lang="zh-CN" altLang="en-US" b="1" u="sng" dirty="0">
                <a:solidFill>
                  <a:srgbClr val="008000"/>
                </a:solidFill>
                <a:ea typeface="楷体_GB2312" pitchFamily="1" charset="-122"/>
              </a:rPr>
              <a:t>是负</a:t>
            </a:r>
            <a:r>
              <a:rPr lang="zh-CN" altLang="en-US" b="1" dirty="0">
                <a:solidFill>
                  <a:srgbClr val="008000"/>
                </a:solidFill>
                <a:ea typeface="楷体_GB2312" pitchFamily="1" charset="-122"/>
              </a:rPr>
              <a:t>  </a:t>
            </a:r>
            <a:r>
              <a:rPr lang="en-US" altLang="zh-CN" b="1" dirty="0">
                <a:solidFill>
                  <a:srgbClr val="008000"/>
                </a:solidFill>
                <a:ea typeface="楷体_GB2312" pitchFamily="1" charset="-122"/>
              </a:rPr>
              <a:t>THEN b</a:t>
            </a:r>
            <a:r>
              <a:rPr lang="en-US" altLang="zh-CN" b="1" baseline="-25000" dirty="0">
                <a:solidFill>
                  <a:srgbClr val="008000"/>
                </a:solidFill>
                <a:ea typeface="楷体_GB2312" pitchFamily="1" charset="-122"/>
              </a:rPr>
              <a:t>2</a:t>
            </a:r>
            <a:r>
              <a:rPr lang="en-US" altLang="zh-CN" b="1" dirty="0">
                <a:solidFill>
                  <a:srgbClr val="008000"/>
                </a:solidFill>
                <a:ea typeface="楷体_GB2312" pitchFamily="1" charset="-122"/>
              </a:rPr>
              <a:t>=2+x</a:t>
            </a:r>
          </a:p>
          <a:p>
            <a:pPr eaLnBrk="1" hangingPunct="1">
              <a:lnSpc>
                <a:spcPct val="90000"/>
              </a:lnSpc>
              <a:buFont typeface="Wingdings" panose="05000000000000000000" pitchFamily="2" charset="2"/>
              <a:buNone/>
            </a:pPr>
            <a:r>
              <a:rPr lang="en-US" altLang="zh-CN" sz="2800" b="1" dirty="0">
                <a:ea typeface="楷体_GB2312" pitchFamily="1" charset="-122"/>
              </a:rPr>
              <a:t>       </a:t>
            </a:r>
            <a:r>
              <a:rPr lang="zh-CN" altLang="en-US" sz="2800" b="1" dirty="0">
                <a:ea typeface="楷体_GB2312" pitchFamily="1" charset="-122"/>
              </a:rPr>
              <a:t>可知：</a:t>
            </a:r>
          </a:p>
          <a:p>
            <a:pPr eaLnBrk="1" hangingPunct="1">
              <a:lnSpc>
                <a:spcPct val="90000"/>
              </a:lnSpc>
              <a:buFont typeface="Wingdings" panose="05000000000000000000" pitchFamily="2" charset="2"/>
              <a:buNone/>
            </a:pPr>
            <a:endParaRPr lang="zh-CN" altLang="en-US" sz="3600" b="1" dirty="0">
              <a:ea typeface="楷体_GB2312" pitchFamily="1" charset="-122"/>
            </a:endParaRPr>
          </a:p>
          <a:p>
            <a:pPr eaLnBrk="1" hangingPunct="1">
              <a:lnSpc>
                <a:spcPct val="90000"/>
              </a:lnSpc>
              <a:buFont typeface="Wingdings" panose="05000000000000000000" pitchFamily="2" charset="2"/>
              <a:buNone/>
            </a:pPr>
            <a:endParaRPr lang="zh-CN" altLang="en-US" sz="500" b="1" dirty="0">
              <a:ea typeface="楷体_GB2312" pitchFamily="1" charset="-122"/>
            </a:endParaRPr>
          </a:p>
          <a:p>
            <a:pPr eaLnBrk="1" hangingPunct="1">
              <a:lnSpc>
                <a:spcPct val="90000"/>
              </a:lnSpc>
              <a:buFont typeface="Wingdings" panose="05000000000000000000" pitchFamily="2" charset="2"/>
              <a:buNone/>
            </a:pPr>
            <a:r>
              <a:rPr lang="zh-CN" altLang="en-US" sz="2800" b="1" dirty="0">
                <a:ea typeface="楷体_GB2312" pitchFamily="1" charset="-122"/>
              </a:rPr>
              <a:t>      由</a:t>
            </a:r>
            <a:r>
              <a:rPr lang="en-US" altLang="zh-CN" sz="2800" b="1" dirty="0">
                <a:ea typeface="楷体_GB2312" pitchFamily="1" charset="-122"/>
              </a:rPr>
              <a:t>R</a:t>
            </a:r>
            <a:r>
              <a:rPr lang="en-US" altLang="zh-CN" sz="2800" b="1" baseline="-25000" dirty="0">
                <a:ea typeface="楷体_GB2312" pitchFamily="1" charset="-122"/>
              </a:rPr>
              <a:t>1</a:t>
            </a:r>
            <a:r>
              <a:rPr lang="zh-CN" altLang="en-US" sz="2800" b="1" dirty="0">
                <a:ea typeface="楷体_GB2312" pitchFamily="1" charset="-122"/>
              </a:rPr>
              <a:t>及上图得：  </a:t>
            </a:r>
            <a:r>
              <a:rPr lang="en-US" altLang="zh-CN" sz="2800" b="1" dirty="0">
                <a:ea typeface="楷体_GB2312" pitchFamily="1" charset="-122"/>
              </a:rPr>
              <a:t>b</a:t>
            </a:r>
            <a:r>
              <a:rPr lang="en-US" altLang="zh-CN" sz="2800" b="1" baseline="-25000" dirty="0">
                <a:ea typeface="楷体_GB2312" pitchFamily="1" charset="-122"/>
              </a:rPr>
              <a:t>1</a:t>
            </a:r>
            <a:r>
              <a:rPr lang="en-US" altLang="zh-CN" sz="2800" b="1" dirty="0">
                <a:ea typeface="楷体_GB2312" pitchFamily="1" charset="-122"/>
              </a:rPr>
              <a:t>=1+x</a:t>
            </a:r>
            <a:r>
              <a:rPr lang="en-US" altLang="zh-CN" sz="2800" b="1" baseline="-25000" dirty="0">
                <a:ea typeface="楷体_GB2312" pitchFamily="1" charset="-122"/>
              </a:rPr>
              <a:t>0</a:t>
            </a:r>
            <a:r>
              <a:rPr lang="en-US" altLang="zh-CN" sz="2800" b="1" dirty="0">
                <a:ea typeface="楷体_GB2312" pitchFamily="1" charset="-122"/>
              </a:rPr>
              <a:t>=1+0.5=1.5,   </a:t>
            </a:r>
            <a:r>
              <a:rPr lang="en-US" altLang="zh-CN" sz="2800" b="1" dirty="0">
                <a:solidFill>
                  <a:srgbClr val="FF0000"/>
                </a:solidFill>
                <a:ea typeface="楷体_GB2312" pitchFamily="1" charset="-122"/>
              </a:rPr>
              <a:t>w</a:t>
            </a:r>
            <a:r>
              <a:rPr lang="en-US" altLang="zh-CN" sz="2800" b="1" baseline="-25000" dirty="0">
                <a:solidFill>
                  <a:srgbClr val="FF0000"/>
                </a:solidFill>
                <a:ea typeface="楷体_GB2312" pitchFamily="1" charset="-122"/>
              </a:rPr>
              <a:t>1</a:t>
            </a:r>
            <a:r>
              <a:rPr lang="en-US" altLang="zh-CN" sz="2800" b="1" dirty="0">
                <a:solidFill>
                  <a:srgbClr val="FF0000"/>
                </a:solidFill>
                <a:ea typeface="楷体_GB2312" pitchFamily="1" charset="-122"/>
              </a:rPr>
              <a:t>=0.75</a:t>
            </a:r>
          </a:p>
          <a:p>
            <a:pPr eaLnBrk="1" hangingPunct="1">
              <a:lnSpc>
                <a:spcPct val="90000"/>
              </a:lnSpc>
              <a:buFont typeface="Wingdings" panose="05000000000000000000" pitchFamily="2" charset="2"/>
              <a:buNone/>
            </a:pPr>
            <a:r>
              <a:rPr lang="en-US" altLang="zh-CN" sz="2800" b="1" dirty="0">
                <a:ea typeface="楷体_GB2312" pitchFamily="1" charset="-122"/>
              </a:rPr>
              <a:t>      </a:t>
            </a:r>
            <a:r>
              <a:rPr lang="zh-CN" altLang="en-US" sz="2800" b="1" dirty="0">
                <a:ea typeface="楷体_GB2312" pitchFamily="1" charset="-122"/>
              </a:rPr>
              <a:t>由</a:t>
            </a:r>
            <a:r>
              <a:rPr lang="en-US" altLang="zh-CN" sz="2800" b="1" dirty="0">
                <a:ea typeface="楷体_GB2312" pitchFamily="1" charset="-122"/>
              </a:rPr>
              <a:t>R</a:t>
            </a:r>
            <a:r>
              <a:rPr lang="en-US" altLang="zh-CN" sz="2800" b="1" baseline="-25000" dirty="0">
                <a:ea typeface="楷体_GB2312" pitchFamily="1" charset="-122"/>
              </a:rPr>
              <a:t>2</a:t>
            </a:r>
            <a:r>
              <a:rPr lang="zh-CN" altLang="en-US" sz="2800" b="1" dirty="0">
                <a:ea typeface="楷体_GB2312" pitchFamily="1" charset="-122"/>
              </a:rPr>
              <a:t>及上图得：  </a:t>
            </a:r>
            <a:r>
              <a:rPr lang="en-US" altLang="zh-CN" sz="2800" b="1" dirty="0">
                <a:ea typeface="楷体_GB2312" pitchFamily="1" charset="-122"/>
              </a:rPr>
              <a:t>b</a:t>
            </a:r>
            <a:r>
              <a:rPr lang="en-US" altLang="zh-CN" sz="2800" b="1" baseline="-25000" dirty="0">
                <a:ea typeface="楷体_GB2312" pitchFamily="1" charset="-122"/>
              </a:rPr>
              <a:t>2</a:t>
            </a:r>
            <a:r>
              <a:rPr lang="en-US" altLang="zh-CN" sz="2800" b="1" dirty="0">
                <a:ea typeface="楷体_GB2312" pitchFamily="1" charset="-122"/>
              </a:rPr>
              <a:t>=2+x</a:t>
            </a:r>
            <a:r>
              <a:rPr lang="en-US" altLang="zh-CN" sz="2800" b="1" baseline="-25000" dirty="0">
                <a:ea typeface="楷体_GB2312" pitchFamily="1" charset="-122"/>
              </a:rPr>
              <a:t>0</a:t>
            </a:r>
            <a:r>
              <a:rPr lang="en-US" altLang="zh-CN" sz="2800" b="1" dirty="0">
                <a:ea typeface="楷体_GB2312" pitchFamily="1" charset="-122"/>
              </a:rPr>
              <a:t>=2+0.5=2.5,   </a:t>
            </a:r>
            <a:r>
              <a:rPr lang="en-US" altLang="zh-CN" sz="2800" b="1" dirty="0">
                <a:solidFill>
                  <a:srgbClr val="3333FF"/>
                </a:solidFill>
                <a:ea typeface="楷体_GB2312" pitchFamily="1" charset="-122"/>
              </a:rPr>
              <a:t>w</a:t>
            </a:r>
            <a:r>
              <a:rPr lang="en-US" altLang="zh-CN" sz="2800" b="1" baseline="-25000" dirty="0">
                <a:solidFill>
                  <a:srgbClr val="3333FF"/>
                </a:solidFill>
                <a:ea typeface="楷体_GB2312" pitchFamily="1" charset="-122"/>
              </a:rPr>
              <a:t>2</a:t>
            </a:r>
            <a:r>
              <a:rPr lang="en-US" altLang="zh-CN" sz="2800" b="1" dirty="0">
                <a:solidFill>
                  <a:srgbClr val="3333FF"/>
                </a:solidFill>
                <a:ea typeface="楷体_GB2312" pitchFamily="1" charset="-122"/>
              </a:rPr>
              <a:t>=0.25</a:t>
            </a:r>
          </a:p>
          <a:p>
            <a:pPr eaLnBrk="1" hangingPunct="1">
              <a:lnSpc>
                <a:spcPct val="90000"/>
              </a:lnSpc>
              <a:buFont typeface="Wingdings" panose="05000000000000000000" pitchFamily="2" charset="2"/>
              <a:buNone/>
            </a:pPr>
            <a:r>
              <a:rPr lang="en-US" altLang="zh-CN" sz="2800" b="1" dirty="0">
                <a:ea typeface="楷体_GB2312" pitchFamily="1" charset="-122"/>
              </a:rPr>
              <a:t>      </a:t>
            </a:r>
            <a:r>
              <a:rPr lang="zh-CN" altLang="en-US" sz="2800" b="1" dirty="0">
                <a:ea typeface="楷体_GB2312" pitchFamily="1" charset="-122"/>
              </a:rPr>
              <a:t>因此，</a:t>
            </a:r>
          </a:p>
          <a:p>
            <a:pPr eaLnBrk="1" hangingPunct="1">
              <a:lnSpc>
                <a:spcPct val="90000"/>
              </a:lnSpc>
              <a:buFont typeface="Wingdings" panose="05000000000000000000" pitchFamily="2" charset="2"/>
              <a:buNone/>
            </a:pPr>
            <a:r>
              <a:rPr lang="zh-CN" altLang="en-US" sz="2400" b="1" dirty="0">
                <a:ea typeface="楷体_GB2312" pitchFamily="1" charset="-122"/>
              </a:rPr>
              <a:t>   </a:t>
            </a:r>
          </a:p>
        </p:txBody>
      </p:sp>
      <p:graphicFrame>
        <p:nvGraphicFramePr>
          <p:cNvPr id="22532" name="Object 4"/>
          <p:cNvGraphicFramePr>
            <a:graphicFrameLocks noGrp="1" noChangeAspect="1"/>
          </p:cNvGraphicFramePr>
          <p:nvPr>
            <p:ph sz="quarter" idx="4294967295"/>
            <p:extLst>
              <p:ext uri="{D42A27DB-BD31-4B8C-83A1-F6EECF244321}">
                <p14:modId xmlns:p14="http://schemas.microsoft.com/office/powerpoint/2010/main" val="3784871821"/>
              </p:ext>
            </p:extLst>
          </p:nvPr>
        </p:nvGraphicFramePr>
        <p:xfrm>
          <a:off x="2567137" y="4084361"/>
          <a:ext cx="1944687" cy="858838"/>
        </p:xfrm>
        <a:graphic>
          <a:graphicData uri="http://schemas.openxmlformats.org/presentationml/2006/ole">
            <mc:AlternateContent xmlns:mc="http://schemas.openxmlformats.org/markup-compatibility/2006">
              <mc:Choice xmlns:v="urn:schemas-microsoft-com:vml" Requires="v">
                <p:oleObj name="Equation" r:id="rId2" imgW="978217" imgH="432117" progId="Equation.DSMT4">
                  <p:embed/>
                </p:oleObj>
              </mc:Choice>
              <mc:Fallback>
                <p:oleObj name="Equation" r:id="rId2" imgW="978217" imgH="432117" progId="Equation.DSMT4">
                  <p:embed/>
                  <p:pic>
                    <p:nvPicPr>
                      <p:cNvPr id="22532" name="Object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67137" y="4084361"/>
                        <a:ext cx="1944687" cy="8588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22533" name="Group 5"/>
          <p:cNvGrpSpPr>
            <a:grpSpLocks/>
          </p:cNvGrpSpPr>
          <p:nvPr/>
        </p:nvGrpSpPr>
        <p:grpSpPr bwMode="auto">
          <a:xfrm>
            <a:off x="7608118" y="2698474"/>
            <a:ext cx="3600450" cy="1916112"/>
            <a:chOff x="0" y="0"/>
            <a:chExt cx="2268" cy="1207"/>
          </a:xfrm>
        </p:grpSpPr>
        <p:grpSp>
          <p:nvGrpSpPr>
            <p:cNvPr id="22534" name="Group 6"/>
            <p:cNvGrpSpPr>
              <a:grpSpLocks/>
            </p:cNvGrpSpPr>
            <p:nvPr/>
          </p:nvGrpSpPr>
          <p:grpSpPr bwMode="auto">
            <a:xfrm>
              <a:off x="0" y="0"/>
              <a:ext cx="2268" cy="1207"/>
              <a:chOff x="0" y="0"/>
              <a:chExt cx="2268" cy="1207"/>
            </a:xfrm>
          </p:grpSpPr>
          <p:sp>
            <p:nvSpPr>
              <p:cNvPr id="22535" name="Line 6"/>
              <p:cNvSpPr>
                <a:spLocks noChangeShapeType="1"/>
              </p:cNvSpPr>
              <p:nvPr/>
            </p:nvSpPr>
            <p:spPr bwMode="auto">
              <a:xfrm>
                <a:off x="0" y="997"/>
                <a:ext cx="2132" cy="0"/>
              </a:xfrm>
              <a:prstGeom prst="line">
                <a:avLst/>
              </a:prstGeom>
              <a:noFill/>
              <a:ln w="19050" cmpd="sng">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2536" name="Line 7"/>
              <p:cNvSpPr>
                <a:spLocks noChangeShapeType="1"/>
              </p:cNvSpPr>
              <p:nvPr/>
            </p:nvSpPr>
            <p:spPr bwMode="auto">
              <a:xfrm flipV="1">
                <a:off x="1044" y="90"/>
                <a:ext cx="0" cy="907"/>
              </a:xfrm>
              <a:prstGeom prst="line">
                <a:avLst/>
              </a:prstGeom>
              <a:noFill/>
              <a:ln w="19050" cmpd="sng">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2537" name="Line 8"/>
              <p:cNvSpPr>
                <a:spLocks noChangeShapeType="1"/>
              </p:cNvSpPr>
              <p:nvPr/>
            </p:nvSpPr>
            <p:spPr bwMode="auto">
              <a:xfrm flipV="1">
                <a:off x="408" y="952"/>
                <a:ext cx="0" cy="45"/>
              </a:xfrm>
              <a:prstGeom prst="line">
                <a:avLst/>
              </a:prstGeom>
              <a:noFill/>
              <a:ln w="9525" cmpd="sng">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2538" name="Line 9"/>
              <p:cNvSpPr>
                <a:spLocks noChangeShapeType="1"/>
              </p:cNvSpPr>
              <p:nvPr/>
            </p:nvSpPr>
            <p:spPr bwMode="auto">
              <a:xfrm flipV="1">
                <a:off x="1679" y="952"/>
                <a:ext cx="0" cy="45"/>
              </a:xfrm>
              <a:prstGeom prst="line">
                <a:avLst/>
              </a:prstGeom>
              <a:noFill/>
              <a:ln w="9525" cmpd="sng">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2539" name="Line 10"/>
              <p:cNvSpPr>
                <a:spLocks noChangeShapeType="1"/>
              </p:cNvSpPr>
              <p:nvPr/>
            </p:nvSpPr>
            <p:spPr bwMode="auto">
              <a:xfrm>
                <a:off x="1044" y="317"/>
                <a:ext cx="45" cy="0"/>
              </a:xfrm>
              <a:prstGeom prst="line">
                <a:avLst/>
              </a:prstGeom>
              <a:noFill/>
              <a:ln w="9525" cmpd="sng">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2540" name="Line 11"/>
              <p:cNvSpPr>
                <a:spLocks noChangeShapeType="1"/>
              </p:cNvSpPr>
              <p:nvPr/>
            </p:nvSpPr>
            <p:spPr bwMode="auto">
              <a:xfrm flipH="1">
                <a:off x="408" y="317"/>
                <a:ext cx="1271" cy="680"/>
              </a:xfrm>
              <a:prstGeom prst="line">
                <a:avLst/>
              </a:prstGeom>
              <a:noFill/>
              <a:ln w="28575" cmpd="sng">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2541" name="Line 12"/>
              <p:cNvSpPr>
                <a:spLocks noChangeShapeType="1"/>
              </p:cNvSpPr>
              <p:nvPr/>
            </p:nvSpPr>
            <p:spPr bwMode="auto">
              <a:xfrm flipH="1" flipV="1">
                <a:off x="408" y="317"/>
                <a:ext cx="1271" cy="680"/>
              </a:xfrm>
              <a:prstGeom prst="line">
                <a:avLst/>
              </a:prstGeom>
              <a:noFill/>
              <a:ln w="28575" cmpd="sng">
                <a:solidFill>
                  <a:srgbClr val="0000FE"/>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2542" name="Line 13"/>
              <p:cNvSpPr>
                <a:spLocks noChangeShapeType="1"/>
              </p:cNvSpPr>
              <p:nvPr/>
            </p:nvSpPr>
            <p:spPr bwMode="auto">
              <a:xfrm>
                <a:off x="1679" y="317"/>
                <a:ext cx="362" cy="0"/>
              </a:xfrm>
              <a:prstGeom prst="line">
                <a:avLst/>
              </a:prstGeom>
              <a:noFill/>
              <a:ln w="28575" cmpd="sng">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2543" name="Line 14"/>
              <p:cNvSpPr>
                <a:spLocks noChangeShapeType="1"/>
              </p:cNvSpPr>
              <p:nvPr/>
            </p:nvSpPr>
            <p:spPr bwMode="auto">
              <a:xfrm>
                <a:off x="46" y="317"/>
                <a:ext cx="362" cy="0"/>
              </a:xfrm>
              <a:prstGeom prst="line">
                <a:avLst/>
              </a:prstGeom>
              <a:noFill/>
              <a:ln w="28575" cmpd="sng">
                <a:solidFill>
                  <a:srgbClr val="0000FE"/>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2544" name="Line 15"/>
              <p:cNvSpPr>
                <a:spLocks noChangeShapeType="1"/>
              </p:cNvSpPr>
              <p:nvPr/>
            </p:nvSpPr>
            <p:spPr bwMode="auto">
              <a:xfrm>
                <a:off x="0" y="997"/>
                <a:ext cx="408" cy="0"/>
              </a:xfrm>
              <a:prstGeom prst="line">
                <a:avLst/>
              </a:prstGeom>
              <a:noFill/>
              <a:ln w="28575" cmpd="sng">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2545" name="Line 16"/>
              <p:cNvSpPr>
                <a:spLocks noChangeShapeType="1"/>
              </p:cNvSpPr>
              <p:nvPr/>
            </p:nvSpPr>
            <p:spPr bwMode="auto">
              <a:xfrm>
                <a:off x="1679" y="997"/>
                <a:ext cx="408" cy="0"/>
              </a:xfrm>
              <a:prstGeom prst="line">
                <a:avLst/>
              </a:prstGeom>
              <a:noFill/>
              <a:ln w="28575" cmpd="sng">
                <a:solidFill>
                  <a:srgbClr val="0000FE"/>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2546" name="Text Box 17"/>
              <p:cNvSpPr txBox="1">
                <a:spLocks noChangeArrowheads="1"/>
              </p:cNvSpPr>
              <p:nvPr/>
            </p:nvSpPr>
            <p:spPr bwMode="auto">
              <a:xfrm>
                <a:off x="1724" y="45"/>
                <a:ext cx="363"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a:t>P(x)</a:t>
                </a:r>
              </a:p>
            </p:txBody>
          </p:sp>
          <p:sp>
            <p:nvSpPr>
              <p:cNvPr id="22547" name="Text Box 18"/>
              <p:cNvSpPr txBox="1">
                <a:spLocks noChangeArrowheads="1"/>
              </p:cNvSpPr>
              <p:nvPr/>
            </p:nvSpPr>
            <p:spPr bwMode="auto">
              <a:xfrm>
                <a:off x="46" y="90"/>
                <a:ext cx="363"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a:t>N(x)</a:t>
                </a:r>
              </a:p>
            </p:txBody>
          </p:sp>
          <p:sp>
            <p:nvSpPr>
              <p:cNvPr id="22548" name="Text Box 19"/>
              <p:cNvSpPr txBox="1">
                <a:spLocks noChangeArrowheads="1"/>
              </p:cNvSpPr>
              <p:nvPr/>
            </p:nvSpPr>
            <p:spPr bwMode="auto">
              <a:xfrm>
                <a:off x="0" y="995"/>
                <a:ext cx="2268"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sz="1600" dirty="0"/>
                  <a:t>        -1               0                1           x</a:t>
                </a:r>
              </a:p>
            </p:txBody>
          </p:sp>
          <p:sp>
            <p:nvSpPr>
              <p:cNvPr id="22549" name="Rectangle 20"/>
              <p:cNvSpPr>
                <a:spLocks noChangeArrowheads="1"/>
              </p:cNvSpPr>
              <p:nvPr/>
            </p:nvSpPr>
            <p:spPr bwMode="auto">
              <a:xfrm>
                <a:off x="817" y="0"/>
                <a:ext cx="200"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r>
                  <a:rPr lang="el-GR" altLang="en-US"/>
                  <a:t>μ</a:t>
                </a:r>
                <a:endParaRPr lang="en-US" altLang="zh-CN"/>
              </a:p>
            </p:txBody>
          </p:sp>
          <p:sp>
            <p:nvSpPr>
              <p:cNvPr id="22550" name="Text Box 21"/>
              <p:cNvSpPr txBox="1">
                <a:spLocks noChangeArrowheads="1"/>
              </p:cNvSpPr>
              <p:nvPr/>
            </p:nvSpPr>
            <p:spPr bwMode="auto">
              <a:xfrm>
                <a:off x="907" y="181"/>
                <a:ext cx="363"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a:t>1</a:t>
                </a:r>
              </a:p>
            </p:txBody>
          </p:sp>
        </p:grpSp>
        <p:sp>
          <p:nvSpPr>
            <p:cNvPr id="22551" name="Text Box 22"/>
            <p:cNvSpPr txBox="1">
              <a:spLocks noChangeArrowheads="1"/>
            </p:cNvSpPr>
            <p:nvPr/>
          </p:nvSpPr>
          <p:spPr bwMode="auto">
            <a:xfrm>
              <a:off x="725" y="544"/>
              <a:ext cx="363"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sz="1400" b="1"/>
                <a:t>0.5</a:t>
              </a:r>
            </a:p>
          </p:txBody>
        </p:sp>
      </p:grpSp>
      <p:sp>
        <p:nvSpPr>
          <p:cNvPr id="22552" name="Text Box 25"/>
          <p:cNvSpPr txBox="1">
            <a:spLocks noChangeArrowheads="1"/>
          </p:cNvSpPr>
          <p:nvPr/>
        </p:nvSpPr>
        <p:spPr bwMode="auto">
          <a:xfrm>
            <a:off x="9840146" y="3346174"/>
            <a:ext cx="1081087"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sz="1400" b="1" dirty="0">
                <a:solidFill>
                  <a:srgbClr val="FF0000"/>
                </a:solidFill>
              </a:rPr>
              <a:t>w1=0.75</a:t>
            </a:r>
          </a:p>
        </p:txBody>
      </p:sp>
      <p:sp>
        <p:nvSpPr>
          <p:cNvPr id="22553" name="Text Box 26"/>
          <p:cNvSpPr txBox="1">
            <a:spLocks noChangeArrowheads="1"/>
          </p:cNvSpPr>
          <p:nvPr/>
        </p:nvSpPr>
        <p:spPr bwMode="auto">
          <a:xfrm>
            <a:off x="9840143" y="3779561"/>
            <a:ext cx="10795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sz="1400" b="1">
                <a:solidFill>
                  <a:srgbClr val="3333FF"/>
                </a:solidFill>
              </a:rPr>
              <a:t>w2=0.25</a:t>
            </a:r>
          </a:p>
        </p:txBody>
      </p:sp>
      <p:grpSp>
        <p:nvGrpSpPr>
          <p:cNvPr id="22554" name="Group 26"/>
          <p:cNvGrpSpPr>
            <a:grpSpLocks/>
          </p:cNvGrpSpPr>
          <p:nvPr/>
        </p:nvGrpSpPr>
        <p:grpSpPr bwMode="auto">
          <a:xfrm>
            <a:off x="9370242" y="3490639"/>
            <a:ext cx="1150938" cy="1325563"/>
            <a:chOff x="-115" y="0"/>
            <a:chExt cx="725" cy="835"/>
          </a:xfrm>
        </p:grpSpPr>
        <p:sp>
          <p:nvSpPr>
            <p:cNvPr id="22555" name="Line 23"/>
            <p:cNvSpPr>
              <a:spLocks noChangeShapeType="1"/>
            </p:cNvSpPr>
            <p:nvPr/>
          </p:nvSpPr>
          <p:spPr bwMode="auto">
            <a:xfrm>
              <a:off x="136" y="0"/>
              <a:ext cx="0" cy="590"/>
            </a:xfrm>
            <a:prstGeom prst="line">
              <a:avLst/>
            </a:prstGeom>
            <a:noFill/>
            <a:ln w="28575" cmpd="sng">
              <a:solidFill>
                <a:srgbClr val="CC00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2556" name="Text Box 24"/>
            <p:cNvSpPr txBox="1">
              <a:spLocks noChangeArrowheads="1"/>
            </p:cNvSpPr>
            <p:nvPr/>
          </p:nvSpPr>
          <p:spPr bwMode="auto">
            <a:xfrm>
              <a:off x="-115" y="602"/>
              <a:ext cx="725"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dirty="0">
                  <a:solidFill>
                    <a:srgbClr val="CC00CC"/>
                  </a:solidFill>
                </a:rPr>
                <a:t>x</a:t>
              </a:r>
              <a:r>
                <a:rPr lang="en-US" altLang="zh-CN" b="1" baseline="-25000" dirty="0">
                  <a:solidFill>
                    <a:srgbClr val="CC00CC"/>
                  </a:solidFill>
                  <a:ea typeface="楷体_GB2312" pitchFamily="1" charset="-122"/>
                </a:rPr>
                <a:t>0</a:t>
              </a:r>
              <a:r>
                <a:rPr lang="en-US" altLang="zh-CN" dirty="0">
                  <a:solidFill>
                    <a:srgbClr val="CC00CC"/>
                  </a:solidFill>
                </a:rPr>
                <a:t>=0.5</a:t>
              </a:r>
            </a:p>
          </p:txBody>
        </p:sp>
        <p:sp>
          <p:nvSpPr>
            <p:cNvPr id="22557" name="Line 29"/>
            <p:cNvSpPr>
              <a:spLocks noChangeShapeType="1"/>
            </p:cNvSpPr>
            <p:nvPr/>
          </p:nvSpPr>
          <p:spPr bwMode="auto">
            <a:xfrm>
              <a:off x="135" y="318"/>
              <a:ext cx="91" cy="0"/>
            </a:xfrm>
            <a:prstGeom prst="line">
              <a:avLst/>
            </a:prstGeom>
            <a:noFill/>
            <a:ln w="9525" cmpd="sng">
              <a:solidFill>
                <a:srgbClr val="CC00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2558" name="Line 30"/>
            <p:cNvSpPr>
              <a:spLocks noChangeShapeType="1"/>
            </p:cNvSpPr>
            <p:nvPr/>
          </p:nvSpPr>
          <p:spPr bwMode="auto">
            <a:xfrm>
              <a:off x="135" y="0"/>
              <a:ext cx="91" cy="0"/>
            </a:xfrm>
            <a:prstGeom prst="line">
              <a:avLst/>
            </a:prstGeom>
            <a:noFill/>
            <a:ln w="9525" cmpd="sng">
              <a:solidFill>
                <a:srgbClr val="CC00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aphicFrame>
        <p:nvGraphicFramePr>
          <p:cNvPr id="22560" name="Object 32"/>
          <p:cNvGraphicFramePr>
            <a:graphicFrameLocks noChangeAspect="1"/>
          </p:cNvGraphicFramePr>
          <p:nvPr>
            <p:extLst>
              <p:ext uri="{D42A27DB-BD31-4B8C-83A1-F6EECF244321}">
                <p14:modId xmlns:p14="http://schemas.microsoft.com/office/powerpoint/2010/main" val="3869075715"/>
              </p:ext>
            </p:extLst>
          </p:nvPr>
        </p:nvGraphicFramePr>
        <p:xfrm>
          <a:off x="2567608" y="5994797"/>
          <a:ext cx="2017713" cy="890587"/>
        </p:xfrm>
        <a:graphic>
          <a:graphicData uri="http://schemas.openxmlformats.org/presentationml/2006/ole">
            <mc:AlternateContent xmlns:mc="http://schemas.openxmlformats.org/markup-compatibility/2006">
              <mc:Choice xmlns:v="urn:schemas-microsoft-com:vml" Requires="v">
                <p:oleObj name="Equation" r:id="rId4" imgW="23469917" imgH="10363517" progId="Equation.DSMT4">
                  <p:embed/>
                </p:oleObj>
              </mc:Choice>
              <mc:Fallback>
                <p:oleObj name="Equation" r:id="rId4" imgW="23469917" imgH="10363517" progId="Equation.DSMT4">
                  <p:embed/>
                  <p:pic>
                    <p:nvPicPr>
                      <p:cNvPr id="22560" name="Object 3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567608" y="5994797"/>
                        <a:ext cx="2017713" cy="8905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2561" name="Object 33"/>
          <p:cNvGraphicFramePr>
            <a:graphicFrameLocks noChangeAspect="1"/>
          </p:cNvGraphicFramePr>
          <p:nvPr>
            <p:extLst>
              <p:ext uri="{D42A27DB-BD31-4B8C-83A1-F6EECF244321}">
                <p14:modId xmlns:p14="http://schemas.microsoft.com/office/powerpoint/2010/main" val="323961575"/>
              </p:ext>
            </p:extLst>
          </p:nvPr>
        </p:nvGraphicFramePr>
        <p:xfrm>
          <a:off x="4656755" y="5994794"/>
          <a:ext cx="3816350" cy="811212"/>
        </p:xfrm>
        <a:graphic>
          <a:graphicData uri="http://schemas.openxmlformats.org/presentationml/2006/ole">
            <mc:AlternateContent xmlns:mc="http://schemas.openxmlformats.org/markup-compatibility/2006">
              <mc:Choice xmlns:v="urn:schemas-microsoft-com:vml" Requires="v">
                <p:oleObj name="Equation" r:id="rId6" imgW="1854517" imgH="394017" progId="Equation.DSMT4">
                  <p:embed/>
                </p:oleObj>
              </mc:Choice>
              <mc:Fallback>
                <p:oleObj name="Equation" r:id="rId6" imgW="1854517" imgH="394017" progId="Equation.DSMT4">
                  <p:embed/>
                  <p:pic>
                    <p:nvPicPr>
                      <p:cNvPr id="22561" name="Object 33"/>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656755" y="5994794"/>
                        <a:ext cx="3816350" cy="8112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 name="灯片编号占位符 1">
            <a:extLst>
              <a:ext uri="{FF2B5EF4-FFF2-40B4-BE49-F238E27FC236}">
                <a16:creationId xmlns:a16="http://schemas.microsoft.com/office/drawing/2014/main" id="{5C7D41D0-686A-23E1-911C-E08ACB094F0D}"/>
              </a:ext>
            </a:extLst>
          </p:cNvPr>
          <p:cNvSpPr>
            <a:spLocks noGrp="1"/>
          </p:cNvSpPr>
          <p:nvPr>
            <p:ph type="sldNum" sz="quarter" idx="11"/>
          </p:nvPr>
        </p:nvSpPr>
        <p:spPr/>
        <p:txBody>
          <a:bodyPr/>
          <a:lstStyle/>
          <a:p>
            <a:pPr>
              <a:defRPr/>
            </a:pPr>
            <a:fld id="{B77A47BA-BA63-4780-94A9-8AFA2EA4438D}" type="slidenum">
              <a:rPr lang="en-US" altLang="zh-CN" smtClean="0"/>
              <a:pPr>
                <a:defRPr/>
              </a:pPr>
              <a:t>18</a:t>
            </a:fld>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22533"/>
                                        </p:tgtEl>
                                        <p:attrNameLst>
                                          <p:attrName>style.visibility</p:attrName>
                                        </p:attrNameLst>
                                      </p:cBhvr>
                                      <p:to>
                                        <p:strVal val="visible"/>
                                      </p:to>
                                    </p:set>
                                    <p:animEffect transition="in" filter="blinds(horizontal)">
                                      <p:cBhvr>
                                        <p:cTn id="7" dur="500"/>
                                        <p:tgtEl>
                                          <p:spTgt spid="22533"/>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22531">
                                            <p:txEl>
                                              <p:pRg st="2" end="2"/>
                                            </p:txEl>
                                          </p:spTgt>
                                        </p:tgtEl>
                                        <p:attrNameLst>
                                          <p:attrName>style.visibility</p:attrName>
                                        </p:attrNameLst>
                                      </p:cBhvr>
                                      <p:to>
                                        <p:strVal val="visible"/>
                                      </p:to>
                                    </p:set>
                                    <p:animEffect transition="in" filter="wipe(left)">
                                      <p:cBhvr>
                                        <p:cTn id="12" dur="500"/>
                                        <p:tgtEl>
                                          <p:spTgt spid="22531">
                                            <p:txEl>
                                              <p:pRg st="2" end="2"/>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22531">
                                            <p:txEl>
                                              <p:pRg st="3" end="3"/>
                                            </p:txEl>
                                          </p:spTgt>
                                        </p:tgtEl>
                                        <p:attrNameLst>
                                          <p:attrName>style.visibility</p:attrName>
                                        </p:attrNameLst>
                                      </p:cBhvr>
                                      <p:to>
                                        <p:strVal val="visible"/>
                                      </p:to>
                                    </p:set>
                                    <p:animEffect transition="in" filter="wipe(left)">
                                      <p:cBhvr>
                                        <p:cTn id="17" dur="500"/>
                                        <p:tgtEl>
                                          <p:spTgt spid="22531">
                                            <p:txEl>
                                              <p:pRg st="3" end="3"/>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22531">
                                            <p:txEl>
                                              <p:pRg st="4" end="4"/>
                                            </p:txEl>
                                          </p:spTgt>
                                        </p:tgtEl>
                                        <p:attrNameLst>
                                          <p:attrName>style.visibility</p:attrName>
                                        </p:attrNameLst>
                                      </p:cBhvr>
                                      <p:to>
                                        <p:strVal val="visible"/>
                                      </p:to>
                                    </p:set>
                                    <p:animEffect transition="in" filter="wipe(left)">
                                      <p:cBhvr>
                                        <p:cTn id="22" dur="500"/>
                                        <p:tgtEl>
                                          <p:spTgt spid="22531">
                                            <p:txEl>
                                              <p:pRg st="4" end="4"/>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4" fill="hold" nodeType="clickEffect">
                                  <p:stCondLst>
                                    <p:cond delay="0"/>
                                  </p:stCondLst>
                                  <p:childTnLst>
                                    <p:set>
                                      <p:cBhvr>
                                        <p:cTn id="26" dur="1" fill="hold">
                                          <p:stCondLst>
                                            <p:cond delay="0"/>
                                          </p:stCondLst>
                                        </p:cTn>
                                        <p:tgtEl>
                                          <p:spTgt spid="22554"/>
                                        </p:tgtEl>
                                        <p:attrNameLst>
                                          <p:attrName>style.visibility</p:attrName>
                                        </p:attrNameLst>
                                      </p:cBhvr>
                                      <p:to>
                                        <p:strVal val="visible"/>
                                      </p:to>
                                    </p:set>
                                    <p:animEffect transition="in" filter="wipe(down)">
                                      <p:cBhvr>
                                        <p:cTn id="27" dur="500"/>
                                        <p:tgtEl>
                                          <p:spTgt spid="22554"/>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1" fill="hold" grpId="0" nodeType="clickEffect">
                                  <p:stCondLst>
                                    <p:cond delay="0"/>
                                  </p:stCondLst>
                                  <p:childTnLst>
                                    <p:set>
                                      <p:cBhvr>
                                        <p:cTn id="31" dur="1" fill="hold">
                                          <p:stCondLst>
                                            <p:cond delay="0"/>
                                          </p:stCondLst>
                                        </p:cTn>
                                        <p:tgtEl>
                                          <p:spTgt spid="22552"/>
                                        </p:tgtEl>
                                        <p:attrNameLst>
                                          <p:attrName>style.visibility</p:attrName>
                                        </p:attrNameLst>
                                      </p:cBhvr>
                                      <p:to>
                                        <p:strVal val="visible"/>
                                      </p:to>
                                    </p:set>
                                    <p:animEffect transition="in" filter="wipe(up)">
                                      <p:cBhvr>
                                        <p:cTn id="32" dur="500"/>
                                        <p:tgtEl>
                                          <p:spTgt spid="22552"/>
                                        </p:tgtEl>
                                      </p:cBhvr>
                                    </p:animEffect>
                                  </p:childTnLst>
                                </p:cTn>
                              </p:par>
                            </p:childTnLst>
                          </p:cTn>
                        </p:par>
                        <p:par>
                          <p:cTn id="33" fill="hold" nodeType="afterGroup">
                            <p:stCondLst>
                              <p:cond delay="500"/>
                            </p:stCondLst>
                            <p:childTnLst>
                              <p:par>
                                <p:cTn id="34" presetID="22" presetClass="entr" presetSubtype="1" fill="hold" grpId="0" nodeType="afterEffect">
                                  <p:stCondLst>
                                    <p:cond delay="0"/>
                                  </p:stCondLst>
                                  <p:childTnLst>
                                    <p:set>
                                      <p:cBhvr>
                                        <p:cTn id="35" dur="1" fill="hold">
                                          <p:stCondLst>
                                            <p:cond delay="0"/>
                                          </p:stCondLst>
                                        </p:cTn>
                                        <p:tgtEl>
                                          <p:spTgt spid="22553"/>
                                        </p:tgtEl>
                                        <p:attrNameLst>
                                          <p:attrName>style.visibility</p:attrName>
                                        </p:attrNameLst>
                                      </p:cBhvr>
                                      <p:to>
                                        <p:strVal val="visible"/>
                                      </p:to>
                                    </p:set>
                                    <p:animEffect transition="in" filter="wipe(up)">
                                      <p:cBhvr>
                                        <p:cTn id="36" dur="500"/>
                                        <p:tgtEl>
                                          <p:spTgt spid="22553"/>
                                        </p:tgtEl>
                                      </p:cBhvr>
                                    </p:animEffect>
                                  </p:childTnLst>
                                </p:cTn>
                              </p:par>
                            </p:childTnLst>
                          </p:cTn>
                        </p:par>
                      </p:childTnLst>
                    </p:cTn>
                  </p:par>
                  <p:par>
                    <p:cTn id="37" fill="hold" nodeType="clickPar">
                      <p:stCondLst>
                        <p:cond delay="indefinite"/>
                      </p:stCondLst>
                      <p:childTnLst>
                        <p:par>
                          <p:cTn id="38" fill="hold" nodeType="withGroup">
                            <p:stCondLst>
                              <p:cond delay="0"/>
                            </p:stCondLst>
                            <p:childTnLst>
                              <p:par>
                                <p:cTn id="39" presetID="22" presetClass="entr" presetSubtype="8" fill="hold" grpId="0" nodeType="clickEffect">
                                  <p:stCondLst>
                                    <p:cond delay="0"/>
                                  </p:stCondLst>
                                  <p:childTnLst>
                                    <p:set>
                                      <p:cBhvr>
                                        <p:cTn id="40" dur="1" fill="hold">
                                          <p:stCondLst>
                                            <p:cond delay="0"/>
                                          </p:stCondLst>
                                        </p:cTn>
                                        <p:tgtEl>
                                          <p:spTgt spid="22531">
                                            <p:txEl>
                                              <p:pRg st="5" end="5"/>
                                            </p:txEl>
                                          </p:spTgt>
                                        </p:tgtEl>
                                        <p:attrNameLst>
                                          <p:attrName>style.visibility</p:attrName>
                                        </p:attrNameLst>
                                      </p:cBhvr>
                                      <p:to>
                                        <p:strVal val="visible"/>
                                      </p:to>
                                    </p:set>
                                    <p:animEffect transition="in" filter="wipe(left)">
                                      <p:cBhvr>
                                        <p:cTn id="41" dur="500"/>
                                        <p:tgtEl>
                                          <p:spTgt spid="22531">
                                            <p:txEl>
                                              <p:pRg st="5" end="5"/>
                                            </p:txEl>
                                          </p:spTgt>
                                        </p:tgtEl>
                                      </p:cBhvr>
                                    </p:animEffect>
                                  </p:childTnLst>
                                </p:cTn>
                              </p:par>
                            </p:childTnLst>
                          </p:cTn>
                        </p:par>
                      </p:childTnLst>
                    </p:cTn>
                  </p:par>
                  <p:par>
                    <p:cTn id="42" fill="hold" nodeType="clickPar">
                      <p:stCondLst>
                        <p:cond delay="indefinite"/>
                      </p:stCondLst>
                      <p:childTnLst>
                        <p:par>
                          <p:cTn id="43" fill="hold" nodeType="withGroup">
                            <p:stCondLst>
                              <p:cond delay="0"/>
                            </p:stCondLst>
                            <p:childTnLst>
                              <p:par>
                                <p:cTn id="44" presetID="22" presetClass="entr" presetSubtype="8" fill="hold" nodeType="clickEffect">
                                  <p:stCondLst>
                                    <p:cond delay="0"/>
                                  </p:stCondLst>
                                  <p:childTnLst>
                                    <p:set>
                                      <p:cBhvr>
                                        <p:cTn id="45" dur="1" fill="hold">
                                          <p:stCondLst>
                                            <p:cond delay="0"/>
                                          </p:stCondLst>
                                        </p:cTn>
                                        <p:tgtEl>
                                          <p:spTgt spid="22532"/>
                                        </p:tgtEl>
                                        <p:attrNameLst>
                                          <p:attrName>style.visibility</p:attrName>
                                        </p:attrNameLst>
                                      </p:cBhvr>
                                      <p:to>
                                        <p:strVal val="visible"/>
                                      </p:to>
                                    </p:set>
                                    <p:animEffect transition="in" filter="wipe(left)">
                                      <p:cBhvr>
                                        <p:cTn id="46" dur="500"/>
                                        <p:tgtEl>
                                          <p:spTgt spid="22532"/>
                                        </p:tgtEl>
                                      </p:cBhvr>
                                    </p:animEffect>
                                  </p:childTnLst>
                                </p:cTn>
                              </p:par>
                            </p:childTnLst>
                          </p:cTn>
                        </p:par>
                      </p:childTnLst>
                    </p:cTn>
                  </p:par>
                  <p:par>
                    <p:cTn id="47" fill="hold" nodeType="clickPar">
                      <p:stCondLst>
                        <p:cond delay="indefinite"/>
                      </p:stCondLst>
                      <p:childTnLst>
                        <p:par>
                          <p:cTn id="48" fill="hold" nodeType="withGroup">
                            <p:stCondLst>
                              <p:cond delay="0"/>
                            </p:stCondLst>
                            <p:childTnLst>
                              <p:par>
                                <p:cTn id="49" presetID="22" presetClass="entr" presetSubtype="8" fill="hold" grpId="0" nodeType="clickEffect">
                                  <p:stCondLst>
                                    <p:cond delay="0"/>
                                  </p:stCondLst>
                                  <p:childTnLst>
                                    <p:set>
                                      <p:cBhvr>
                                        <p:cTn id="50" dur="1" fill="hold">
                                          <p:stCondLst>
                                            <p:cond delay="0"/>
                                          </p:stCondLst>
                                        </p:cTn>
                                        <p:tgtEl>
                                          <p:spTgt spid="22531">
                                            <p:txEl>
                                              <p:pRg st="8" end="8"/>
                                            </p:txEl>
                                          </p:spTgt>
                                        </p:tgtEl>
                                        <p:attrNameLst>
                                          <p:attrName>style.visibility</p:attrName>
                                        </p:attrNameLst>
                                      </p:cBhvr>
                                      <p:to>
                                        <p:strVal val="visible"/>
                                      </p:to>
                                    </p:set>
                                    <p:animEffect transition="in" filter="wipe(left)">
                                      <p:cBhvr>
                                        <p:cTn id="51" dur="500"/>
                                        <p:tgtEl>
                                          <p:spTgt spid="22531">
                                            <p:txEl>
                                              <p:pRg st="8" end="8"/>
                                            </p:txEl>
                                          </p:spTgt>
                                        </p:tgtEl>
                                      </p:cBhvr>
                                    </p:animEffect>
                                  </p:childTnLst>
                                </p:cTn>
                              </p:par>
                            </p:childTnLst>
                          </p:cTn>
                        </p:par>
                      </p:childTnLst>
                    </p:cTn>
                  </p:par>
                  <p:par>
                    <p:cTn id="52" fill="hold" nodeType="clickPar">
                      <p:stCondLst>
                        <p:cond delay="indefinite"/>
                      </p:stCondLst>
                      <p:childTnLst>
                        <p:par>
                          <p:cTn id="53" fill="hold" nodeType="withGroup">
                            <p:stCondLst>
                              <p:cond delay="0"/>
                            </p:stCondLst>
                            <p:childTnLst>
                              <p:par>
                                <p:cTn id="54" presetID="22" presetClass="entr" presetSubtype="8" fill="hold" grpId="0" nodeType="clickEffect">
                                  <p:stCondLst>
                                    <p:cond delay="0"/>
                                  </p:stCondLst>
                                  <p:childTnLst>
                                    <p:set>
                                      <p:cBhvr>
                                        <p:cTn id="55" dur="1" fill="hold">
                                          <p:stCondLst>
                                            <p:cond delay="0"/>
                                          </p:stCondLst>
                                        </p:cTn>
                                        <p:tgtEl>
                                          <p:spTgt spid="22531">
                                            <p:txEl>
                                              <p:pRg st="9" end="9"/>
                                            </p:txEl>
                                          </p:spTgt>
                                        </p:tgtEl>
                                        <p:attrNameLst>
                                          <p:attrName>style.visibility</p:attrName>
                                        </p:attrNameLst>
                                      </p:cBhvr>
                                      <p:to>
                                        <p:strVal val="visible"/>
                                      </p:to>
                                    </p:set>
                                    <p:animEffect transition="in" filter="wipe(left)">
                                      <p:cBhvr>
                                        <p:cTn id="56" dur="500"/>
                                        <p:tgtEl>
                                          <p:spTgt spid="22531">
                                            <p:txEl>
                                              <p:pRg st="9" end="9"/>
                                            </p:txEl>
                                          </p:spTgt>
                                        </p:tgtEl>
                                      </p:cBhvr>
                                    </p:animEffect>
                                  </p:childTnLst>
                                </p:cTn>
                              </p:par>
                            </p:childTnLst>
                          </p:cTn>
                        </p:par>
                      </p:childTnLst>
                    </p:cTn>
                  </p:par>
                  <p:par>
                    <p:cTn id="57" fill="hold" nodeType="clickPar">
                      <p:stCondLst>
                        <p:cond delay="indefinite"/>
                      </p:stCondLst>
                      <p:childTnLst>
                        <p:par>
                          <p:cTn id="58" fill="hold" nodeType="withGroup">
                            <p:stCondLst>
                              <p:cond delay="0"/>
                            </p:stCondLst>
                            <p:childTnLst>
                              <p:par>
                                <p:cTn id="59" presetID="22" presetClass="entr" presetSubtype="8" fill="hold" grpId="0" nodeType="clickEffect">
                                  <p:stCondLst>
                                    <p:cond delay="0"/>
                                  </p:stCondLst>
                                  <p:childTnLst>
                                    <p:set>
                                      <p:cBhvr>
                                        <p:cTn id="60" dur="1" fill="hold">
                                          <p:stCondLst>
                                            <p:cond delay="0"/>
                                          </p:stCondLst>
                                        </p:cTn>
                                        <p:tgtEl>
                                          <p:spTgt spid="22531">
                                            <p:txEl>
                                              <p:pRg st="10" end="10"/>
                                            </p:txEl>
                                          </p:spTgt>
                                        </p:tgtEl>
                                        <p:attrNameLst>
                                          <p:attrName>style.visibility</p:attrName>
                                        </p:attrNameLst>
                                      </p:cBhvr>
                                      <p:to>
                                        <p:strVal val="visible"/>
                                      </p:to>
                                    </p:set>
                                    <p:animEffect transition="in" filter="wipe(left)">
                                      <p:cBhvr>
                                        <p:cTn id="61" dur="500"/>
                                        <p:tgtEl>
                                          <p:spTgt spid="22531">
                                            <p:txEl>
                                              <p:pRg st="10" end="10"/>
                                            </p:txEl>
                                          </p:spTgt>
                                        </p:tgtEl>
                                      </p:cBhvr>
                                    </p:animEffect>
                                  </p:childTnLst>
                                </p:cTn>
                              </p:par>
                            </p:childTnLst>
                          </p:cTn>
                        </p:par>
                      </p:childTnLst>
                    </p:cTn>
                  </p:par>
                  <p:par>
                    <p:cTn id="62" fill="hold" nodeType="clickPar">
                      <p:stCondLst>
                        <p:cond delay="indefinite"/>
                      </p:stCondLst>
                      <p:childTnLst>
                        <p:par>
                          <p:cTn id="63" fill="hold" nodeType="withGroup">
                            <p:stCondLst>
                              <p:cond delay="0"/>
                            </p:stCondLst>
                            <p:childTnLst>
                              <p:par>
                                <p:cTn id="64" presetID="22" presetClass="entr" presetSubtype="8" fill="hold" grpId="0" nodeType="clickEffect">
                                  <p:stCondLst>
                                    <p:cond delay="0"/>
                                  </p:stCondLst>
                                  <p:childTnLst>
                                    <p:set>
                                      <p:cBhvr>
                                        <p:cTn id="65" dur="1" fill="hold">
                                          <p:stCondLst>
                                            <p:cond delay="0"/>
                                          </p:stCondLst>
                                        </p:cTn>
                                        <p:tgtEl>
                                          <p:spTgt spid="22531">
                                            <p:txEl>
                                              <p:pRg st="11" end="11"/>
                                            </p:txEl>
                                          </p:spTgt>
                                        </p:tgtEl>
                                        <p:attrNameLst>
                                          <p:attrName>style.visibility</p:attrName>
                                        </p:attrNameLst>
                                      </p:cBhvr>
                                      <p:to>
                                        <p:strVal val="visible"/>
                                      </p:to>
                                    </p:set>
                                    <p:animEffect transition="in" filter="wipe(left)">
                                      <p:cBhvr>
                                        <p:cTn id="66" dur="500"/>
                                        <p:tgtEl>
                                          <p:spTgt spid="22531">
                                            <p:txEl>
                                              <p:pRg st="11" end="11"/>
                                            </p:txEl>
                                          </p:spTgt>
                                        </p:tgtEl>
                                      </p:cBhvr>
                                    </p:animEffect>
                                  </p:childTnLst>
                                </p:cTn>
                              </p:par>
                            </p:childTnLst>
                          </p:cTn>
                        </p:par>
                      </p:childTnLst>
                    </p:cTn>
                  </p:par>
                  <p:par>
                    <p:cTn id="67" fill="hold" nodeType="clickPar">
                      <p:stCondLst>
                        <p:cond delay="indefinite"/>
                      </p:stCondLst>
                      <p:childTnLst>
                        <p:par>
                          <p:cTn id="68" fill="hold" nodeType="withGroup">
                            <p:stCondLst>
                              <p:cond delay="0"/>
                            </p:stCondLst>
                            <p:childTnLst>
                              <p:par>
                                <p:cTn id="69" presetID="22" presetClass="entr" presetSubtype="8" fill="hold" nodeType="clickEffect">
                                  <p:stCondLst>
                                    <p:cond delay="0"/>
                                  </p:stCondLst>
                                  <p:childTnLst>
                                    <p:set>
                                      <p:cBhvr>
                                        <p:cTn id="70" dur="1" fill="hold">
                                          <p:stCondLst>
                                            <p:cond delay="0"/>
                                          </p:stCondLst>
                                        </p:cTn>
                                        <p:tgtEl>
                                          <p:spTgt spid="22560"/>
                                        </p:tgtEl>
                                        <p:attrNameLst>
                                          <p:attrName>style.visibility</p:attrName>
                                        </p:attrNameLst>
                                      </p:cBhvr>
                                      <p:to>
                                        <p:strVal val="visible"/>
                                      </p:to>
                                    </p:set>
                                    <p:animEffect transition="in" filter="wipe(left)">
                                      <p:cBhvr>
                                        <p:cTn id="71" dur="500"/>
                                        <p:tgtEl>
                                          <p:spTgt spid="22560"/>
                                        </p:tgtEl>
                                      </p:cBhvr>
                                    </p:animEffect>
                                  </p:childTnLst>
                                </p:cTn>
                              </p:par>
                            </p:childTnLst>
                          </p:cTn>
                        </p:par>
                      </p:childTnLst>
                    </p:cTn>
                  </p:par>
                  <p:par>
                    <p:cTn id="72" fill="hold" nodeType="clickPar">
                      <p:stCondLst>
                        <p:cond delay="indefinite"/>
                      </p:stCondLst>
                      <p:childTnLst>
                        <p:par>
                          <p:cTn id="73" fill="hold" nodeType="withGroup">
                            <p:stCondLst>
                              <p:cond delay="0"/>
                            </p:stCondLst>
                            <p:childTnLst>
                              <p:par>
                                <p:cTn id="74" presetID="22" presetClass="entr" presetSubtype="8" fill="hold" nodeType="clickEffect">
                                  <p:stCondLst>
                                    <p:cond delay="0"/>
                                  </p:stCondLst>
                                  <p:childTnLst>
                                    <p:set>
                                      <p:cBhvr>
                                        <p:cTn id="75" dur="1" fill="hold">
                                          <p:stCondLst>
                                            <p:cond delay="0"/>
                                          </p:stCondLst>
                                        </p:cTn>
                                        <p:tgtEl>
                                          <p:spTgt spid="22561"/>
                                        </p:tgtEl>
                                        <p:attrNameLst>
                                          <p:attrName>style.visibility</p:attrName>
                                        </p:attrNameLst>
                                      </p:cBhvr>
                                      <p:to>
                                        <p:strVal val="visible"/>
                                      </p:to>
                                    </p:set>
                                    <p:animEffect transition="in" filter="wipe(left)">
                                      <p:cBhvr>
                                        <p:cTn id="76" dur="500"/>
                                        <p:tgtEl>
                                          <p:spTgt spid="2256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531" grpId="0" build="p" autoUpdateAnimBg="0"/>
      <p:bldP spid="22552" grpId="0" autoUpdateAnimBg="0"/>
      <p:bldP spid="22553" grpId="0" autoUpdateAnimBg="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idx="4294967295"/>
          </p:nvPr>
        </p:nvSpPr>
        <p:spPr>
          <a:xfrm>
            <a:off x="1992313" y="188913"/>
            <a:ext cx="8229600" cy="1371600"/>
          </a:xfrm>
        </p:spPr>
        <p:txBody>
          <a:bodyPr/>
          <a:lstStyle/>
          <a:p>
            <a:pPr algn="ctr" eaLnBrk="1" hangingPunct="1"/>
            <a:r>
              <a:rPr lang="zh-CN" altLang="en-US" dirty="0">
                <a:solidFill>
                  <a:srgbClr val="008000"/>
                </a:solidFill>
                <a:latin typeface="Comic Sans MS" panose="030F0702030302020204" pitchFamily="66" charset="0"/>
                <a:ea typeface="黑体" panose="02010609060101010101" pitchFamily="49" charset="-122"/>
              </a:rPr>
              <a:t>一阶</a:t>
            </a:r>
            <a:r>
              <a:rPr lang="en-US" altLang="zh-CN" dirty="0" err="1">
                <a:solidFill>
                  <a:srgbClr val="008000"/>
                </a:solidFill>
                <a:latin typeface="Comic Sans MS" panose="030F0702030302020204" pitchFamily="66" charset="0"/>
                <a:ea typeface="黑体" panose="02010609060101010101" pitchFamily="49" charset="-122"/>
              </a:rPr>
              <a:t>Sugeno</a:t>
            </a:r>
            <a:r>
              <a:rPr lang="en-US" altLang="zh-CN" dirty="0">
                <a:solidFill>
                  <a:srgbClr val="008000"/>
                </a:solidFill>
                <a:latin typeface="Comic Sans MS" panose="030F0702030302020204" pitchFamily="66" charset="0"/>
                <a:ea typeface="黑体" panose="02010609060101010101" pitchFamily="49" charset="-122"/>
              </a:rPr>
              <a:t> </a:t>
            </a:r>
            <a:r>
              <a:rPr lang="zh-CN" altLang="en-US" dirty="0">
                <a:solidFill>
                  <a:srgbClr val="008000"/>
                </a:solidFill>
                <a:latin typeface="Comic Sans MS" panose="030F0702030302020204" pitchFamily="66" charset="0"/>
                <a:ea typeface="黑体" panose="02010609060101010101" pitchFamily="49" charset="-122"/>
              </a:rPr>
              <a:t>模糊模型举例</a:t>
            </a:r>
          </a:p>
        </p:txBody>
      </p:sp>
      <p:sp>
        <p:nvSpPr>
          <p:cNvPr id="23555" name="Rectangle 3"/>
          <p:cNvSpPr>
            <a:spLocks noGrp="1" noChangeArrowheads="1"/>
          </p:cNvSpPr>
          <p:nvPr>
            <p:ph type="body" sz="half" idx="4294967295"/>
          </p:nvPr>
        </p:nvSpPr>
        <p:spPr>
          <a:xfrm>
            <a:off x="1055440" y="1484316"/>
            <a:ext cx="10657184" cy="5184775"/>
          </a:xfrm>
        </p:spPr>
        <p:txBody>
          <a:bodyPr/>
          <a:lstStyle/>
          <a:p>
            <a:pPr eaLnBrk="1" hangingPunct="1">
              <a:lnSpc>
                <a:spcPct val="80000"/>
              </a:lnSpc>
            </a:pPr>
            <a:r>
              <a:rPr lang="zh-CN" altLang="en-US" sz="2800" dirty="0">
                <a:ea typeface="黑体" panose="02010609060101010101" pitchFamily="49" charset="-122"/>
              </a:rPr>
              <a:t>只有一个输入</a:t>
            </a:r>
            <a:r>
              <a:rPr lang="en-US" altLang="zh-CN" sz="2800" dirty="0">
                <a:ea typeface="黑体" panose="02010609060101010101" pitchFamily="49" charset="-122"/>
              </a:rPr>
              <a:t>x</a:t>
            </a:r>
            <a:r>
              <a:rPr lang="zh-CN" altLang="en-US" sz="2800" dirty="0">
                <a:ea typeface="黑体" panose="02010609060101010101" pitchFamily="49" charset="-122"/>
              </a:rPr>
              <a:t>，</a:t>
            </a:r>
            <a:r>
              <a:rPr lang="en-US" altLang="zh-CN" sz="2800" dirty="0">
                <a:ea typeface="黑体" panose="02010609060101010101" pitchFamily="49" charset="-122"/>
              </a:rPr>
              <a:t>F</a:t>
            </a:r>
            <a:r>
              <a:rPr lang="zh-CN" altLang="en-US" sz="2800" dirty="0">
                <a:ea typeface="黑体" panose="02010609060101010101" pitchFamily="49" charset="-122"/>
              </a:rPr>
              <a:t>变量取值只有两个：</a:t>
            </a:r>
            <a:r>
              <a:rPr lang="en-US" altLang="zh-CN" sz="2800" dirty="0">
                <a:ea typeface="黑体" panose="02010609060101010101" pitchFamily="49" charset="-122"/>
              </a:rPr>
              <a:t>P(</a:t>
            </a:r>
            <a:r>
              <a:rPr lang="zh-CN" altLang="en-US" sz="2800" dirty="0">
                <a:ea typeface="黑体" panose="02010609060101010101" pitchFamily="49" charset="-122"/>
              </a:rPr>
              <a:t>正</a:t>
            </a:r>
            <a:r>
              <a:rPr lang="en-US" altLang="zh-CN" sz="2800" dirty="0">
                <a:ea typeface="黑体" panose="02010609060101010101" pitchFamily="49" charset="-122"/>
              </a:rPr>
              <a:t>)</a:t>
            </a:r>
            <a:r>
              <a:rPr lang="zh-CN" altLang="en-US" sz="2800" dirty="0">
                <a:ea typeface="黑体" panose="02010609060101010101" pitchFamily="49" charset="-122"/>
              </a:rPr>
              <a:t>、</a:t>
            </a:r>
            <a:r>
              <a:rPr lang="en-US" altLang="zh-CN" sz="2800" dirty="0">
                <a:ea typeface="黑体" panose="02010609060101010101" pitchFamily="49" charset="-122"/>
              </a:rPr>
              <a:t>N(</a:t>
            </a:r>
            <a:r>
              <a:rPr lang="zh-CN" altLang="en-US" sz="2800" dirty="0">
                <a:ea typeface="黑体" panose="02010609060101010101" pitchFamily="49" charset="-122"/>
              </a:rPr>
              <a:t>负</a:t>
            </a:r>
            <a:r>
              <a:rPr lang="en-US" altLang="zh-CN" sz="2800" dirty="0">
                <a:ea typeface="黑体" panose="02010609060101010101" pitchFamily="49" charset="-122"/>
              </a:rPr>
              <a:t>)</a:t>
            </a:r>
          </a:p>
          <a:p>
            <a:pPr lvl="1" eaLnBrk="1" hangingPunct="1">
              <a:lnSpc>
                <a:spcPct val="80000"/>
              </a:lnSpc>
              <a:buNone/>
            </a:pPr>
            <a:r>
              <a:rPr lang="en-US" altLang="zh-CN" b="1" dirty="0">
                <a:ea typeface="楷体_GB2312" pitchFamily="1" charset="-122"/>
              </a:rPr>
              <a:t>   </a:t>
            </a:r>
            <a:r>
              <a:rPr lang="en-US" altLang="zh-CN" b="1" dirty="0">
                <a:solidFill>
                  <a:srgbClr val="FF0000"/>
                </a:solidFill>
                <a:ea typeface="楷体_GB2312" pitchFamily="1" charset="-122"/>
              </a:rPr>
              <a:t> P(x)=0.5+0.5x     </a:t>
            </a:r>
            <a:r>
              <a:rPr lang="en-US" altLang="zh-CN" b="1" dirty="0">
                <a:solidFill>
                  <a:srgbClr val="0D0DFF"/>
                </a:solidFill>
                <a:ea typeface="楷体_GB2312" pitchFamily="1" charset="-122"/>
              </a:rPr>
              <a:t>N(x)=0.5-0.5x       </a:t>
            </a:r>
            <a:r>
              <a:rPr lang="en-US" altLang="zh-CN" b="1" dirty="0">
                <a:ea typeface="楷体_GB2312" pitchFamily="1" charset="-122"/>
              </a:rPr>
              <a:t>-1 </a:t>
            </a:r>
            <a:r>
              <a:rPr lang="en-US" altLang="zh-CN" b="1" dirty="0"/>
              <a:t>≤ </a:t>
            </a:r>
            <a:r>
              <a:rPr lang="en-US" altLang="zh-CN" b="1" dirty="0">
                <a:ea typeface="楷体_GB2312" pitchFamily="1" charset="-122"/>
              </a:rPr>
              <a:t>x </a:t>
            </a:r>
            <a:r>
              <a:rPr lang="en-US" altLang="zh-CN" b="1" dirty="0"/>
              <a:t>≤ </a:t>
            </a:r>
            <a:r>
              <a:rPr lang="en-US" altLang="zh-CN" b="1" dirty="0">
                <a:ea typeface="楷体_GB2312" pitchFamily="1" charset="-122"/>
              </a:rPr>
              <a:t>1</a:t>
            </a:r>
          </a:p>
          <a:p>
            <a:pPr lvl="1" eaLnBrk="1" hangingPunct="1">
              <a:lnSpc>
                <a:spcPct val="80000"/>
              </a:lnSpc>
              <a:buFont typeface="Wingdings" panose="05000000000000000000" pitchFamily="2" charset="2"/>
              <a:buNone/>
            </a:pPr>
            <a:r>
              <a:rPr lang="en-US" altLang="zh-CN" b="1" dirty="0">
                <a:solidFill>
                  <a:srgbClr val="008000"/>
                </a:solidFill>
                <a:ea typeface="楷体_GB2312" pitchFamily="1" charset="-122"/>
              </a:rPr>
              <a:t> R</a:t>
            </a:r>
            <a:r>
              <a:rPr lang="en-US" altLang="zh-CN" b="1" baseline="-25000" dirty="0">
                <a:solidFill>
                  <a:srgbClr val="008000"/>
                </a:solidFill>
                <a:ea typeface="楷体_GB2312" pitchFamily="1" charset="-122"/>
              </a:rPr>
              <a:t>1</a:t>
            </a:r>
            <a:r>
              <a:rPr lang="zh-CN" altLang="en-US" b="1" dirty="0">
                <a:solidFill>
                  <a:srgbClr val="008000"/>
                </a:solidFill>
                <a:ea typeface="楷体_GB2312" pitchFamily="1" charset="-122"/>
              </a:rPr>
              <a:t>：</a:t>
            </a:r>
            <a:r>
              <a:rPr lang="en-US" altLang="zh-CN" b="1" dirty="0">
                <a:solidFill>
                  <a:srgbClr val="008000"/>
                </a:solidFill>
                <a:ea typeface="楷体_GB2312" pitchFamily="1" charset="-122"/>
              </a:rPr>
              <a:t>IF </a:t>
            </a:r>
            <a:r>
              <a:rPr lang="en-US" altLang="zh-CN" b="1" u="sng" dirty="0">
                <a:solidFill>
                  <a:srgbClr val="008000"/>
                </a:solidFill>
                <a:ea typeface="楷体_GB2312" pitchFamily="1" charset="-122"/>
              </a:rPr>
              <a:t>x </a:t>
            </a:r>
            <a:r>
              <a:rPr lang="zh-CN" altLang="en-US" b="1" u="sng" dirty="0">
                <a:solidFill>
                  <a:srgbClr val="008000"/>
                </a:solidFill>
                <a:ea typeface="楷体_GB2312" pitchFamily="1" charset="-122"/>
              </a:rPr>
              <a:t>是正</a:t>
            </a:r>
            <a:r>
              <a:rPr lang="zh-CN" altLang="en-US" b="1" dirty="0">
                <a:solidFill>
                  <a:srgbClr val="008000"/>
                </a:solidFill>
                <a:ea typeface="楷体_GB2312" pitchFamily="1" charset="-122"/>
              </a:rPr>
              <a:t>  </a:t>
            </a:r>
            <a:r>
              <a:rPr lang="en-US" altLang="zh-CN" b="1" dirty="0">
                <a:solidFill>
                  <a:srgbClr val="008000"/>
                </a:solidFill>
                <a:ea typeface="楷体_GB2312" pitchFamily="1" charset="-122"/>
              </a:rPr>
              <a:t>THEN b</a:t>
            </a:r>
            <a:r>
              <a:rPr lang="en-US" altLang="zh-CN" b="1" baseline="-25000" dirty="0">
                <a:solidFill>
                  <a:srgbClr val="008000"/>
                </a:solidFill>
                <a:ea typeface="楷体_GB2312" pitchFamily="1" charset="-122"/>
              </a:rPr>
              <a:t>1</a:t>
            </a:r>
            <a:r>
              <a:rPr lang="en-US" altLang="zh-CN" b="1" dirty="0">
                <a:solidFill>
                  <a:srgbClr val="008000"/>
                </a:solidFill>
                <a:ea typeface="楷体_GB2312" pitchFamily="1" charset="-122"/>
              </a:rPr>
              <a:t>=1+x</a:t>
            </a:r>
          </a:p>
          <a:p>
            <a:pPr lvl="1" eaLnBrk="1" hangingPunct="1">
              <a:lnSpc>
                <a:spcPct val="80000"/>
              </a:lnSpc>
              <a:buFont typeface="Wingdings" panose="05000000000000000000" pitchFamily="2" charset="2"/>
              <a:buNone/>
            </a:pPr>
            <a:r>
              <a:rPr lang="en-US" altLang="zh-CN" b="1" dirty="0">
                <a:solidFill>
                  <a:srgbClr val="008000"/>
                </a:solidFill>
                <a:ea typeface="楷体_GB2312" pitchFamily="1" charset="-122"/>
              </a:rPr>
              <a:t> R</a:t>
            </a:r>
            <a:r>
              <a:rPr lang="en-US" altLang="zh-CN" b="1" baseline="-25000" dirty="0">
                <a:solidFill>
                  <a:srgbClr val="008000"/>
                </a:solidFill>
                <a:ea typeface="楷体_GB2312" pitchFamily="1" charset="-122"/>
              </a:rPr>
              <a:t>2</a:t>
            </a:r>
            <a:r>
              <a:rPr lang="zh-CN" altLang="en-US" b="1" dirty="0">
                <a:solidFill>
                  <a:srgbClr val="008000"/>
                </a:solidFill>
                <a:ea typeface="楷体_GB2312" pitchFamily="1" charset="-122"/>
              </a:rPr>
              <a:t>：</a:t>
            </a:r>
            <a:r>
              <a:rPr lang="en-US" altLang="zh-CN" b="1" dirty="0">
                <a:solidFill>
                  <a:srgbClr val="008000"/>
                </a:solidFill>
                <a:ea typeface="楷体_GB2312" pitchFamily="1" charset="-122"/>
              </a:rPr>
              <a:t>IF </a:t>
            </a:r>
            <a:r>
              <a:rPr lang="en-US" altLang="zh-CN" b="1" u="sng" dirty="0">
                <a:solidFill>
                  <a:srgbClr val="008000"/>
                </a:solidFill>
                <a:ea typeface="楷体_GB2312" pitchFamily="1" charset="-122"/>
              </a:rPr>
              <a:t>x </a:t>
            </a:r>
            <a:r>
              <a:rPr lang="zh-CN" altLang="en-US" b="1" u="sng" dirty="0">
                <a:solidFill>
                  <a:srgbClr val="008000"/>
                </a:solidFill>
                <a:ea typeface="楷体_GB2312" pitchFamily="1" charset="-122"/>
              </a:rPr>
              <a:t>是负</a:t>
            </a:r>
            <a:r>
              <a:rPr lang="zh-CN" altLang="en-US" b="1" dirty="0">
                <a:solidFill>
                  <a:srgbClr val="008000"/>
                </a:solidFill>
                <a:ea typeface="楷体_GB2312" pitchFamily="1" charset="-122"/>
              </a:rPr>
              <a:t>  </a:t>
            </a:r>
            <a:r>
              <a:rPr lang="en-US" altLang="zh-CN" b="1" dirty="0">
                <a:solidFill>
                  <a:srgbClr val="008000"/>
                </a:solidFill>
                <a:ea typeface="楷体_GB2312" pitchFamily="1" charset="-122"/>
              </a:rPr>
              <a:t>THEN b</a:t>
            </a:r>
            <a:r>
              <a:rPr lang="en-US" altLang="zh-CN" b="1" baseline="-25000" dirty="0">
                <a:solidFill>
                  <a:srgbClr val="008000"/>
                </a:solidFill>
                <a:ea typeface="楷体_GB2312" pitchFamily="1" charset="-122"/>
              </a:rPr>
              <a:t>2</a:t>
            </a:r>
            <a:r>
              <a:rPr lang="en-US" altLang="zh-CN" b="1" dirty="0">
                <a:solidFill>
                  <a:srgbClr val="008000"/>
                </a:solidFill>
                <a:ea typeface="楷体_GB2312" pitchFamily="1" charset="-122"/>
              </a:rPr>
              <a:t>=2+x</a:t>
            </a:r>
          </a:p>
          <a:p>
            <a:pPr eaLnBrk="1" hangingPunct="1">
              <a:lnSpc>
                <a:spcPct val="80000"/>
              </a:lnSpc>
              <a:buFont typeface="Wingdings" panose="05000000000000000000" pitchFamily="2" charset="2"/>
              <a:buNone/>
            </a:pPr>
            <a:r>
              <a:rPr lang="zh-CN" altLang="en-US" b="1" dirty="0">
                <a:solidFill>
                  <a:srgbClr val="7030A0"/>
                </a:solidFill>
                <a:ea typeface="楷体_GB2312" pitchFamily="1" charset="-122"/>
              </a:rPr>
              <a:t>解：</a:t>
            </a:r>
            <a:r>
              <a:rPr lang="zh-CN" altLang="en-US" sz="2800" b="1" dirty="0">
                <a:ea typeface="楷体_GB2312" pitchFamily="1" charset="-122"/>
              </a:rPr>
              <a:t>由图可发现：</a:t>
            </a:r>
          </a:p>
          <a:p>
            <a:pPr eaLnBrk="1" hangingPunct="1">
              <a:lnSpc>
                <a:spcPct val="80000"/>
              </a:lnSpc>
              <a:buFont typeface="Wingdings" panose="05000000000000000000" pitchFamily="2" charset="2"/>
              <a:buNone/>
            </a:pPr>
            <a:r>
              <a:rPr lang="zh-CN" altLang="en-US" sz="2800" b="1" dirty="0">
                <a:ea typeface="楷体_GB2312" pitchFamily="1" charset="-122"/>
              </a:rPr>
              <a:t>        当  </a:t>
            </a:r>
            <a:r>
              <a:rPr lang="en-US" altLang="zh-CN" sz="2800" b="1" dirty="0">
                <a:ea typeface="楷体_GB2312" pitchFamily="1" charset="-122"/>
              </a:rPr>
              <a:t>x&gt;1 </a:t>
            </a:r>
            <a:r>
              <a:rPr lang="zh-CN" altLang="en-US" sz="2800" b="1" dirty="0">
                <a:ea typeface="楷体_GB2312" pitchFamily="1" charset="-122"/>
              </a:rPr>
              <a:t>时，</a:t>
            </a:r>
            <a:r>
              <a:rPr lang="en-US" altLang="zh-CN" sz="2800" b="1" dirty="0">
                <a:ea typeface="楷体_GB2312" pitchFamily="1" charset="-122"/>
              </a:rPr>
              <a:t>N(x)=0</a:t>
            </a:r>
            <a:r>
              <a:rPr lang="zh-CN" altLang="en-US" sz="2800" b="1" dirty="0">
                <a:ea typeface="楷体_GB2312" pitchFamily="1" charset="-122"/>
              </a:rPr>
              <a:t>， </a:t>
            </a:r>
            <a:r>
              <a:rPr lang="en-US" altLang="zh-CN" sz="2800" b="1" dirty="0">
                <a:solidFill>
                  <a:srgbClr val="FF0000"/>
                </a:solidFill>
                <a:ea typeface="楷体_GB2312" pitchFamily="1" charset="-122"/>
              </a:rPr>
              <a:t>w</a:t>
            </a:r>
            <a:r>
              <a:rPr lang="en-US" altLang="zh-CN" sz="2800" b="1" baseline="-25000" dirty="0">
                <a:solidFill>
                  <a:srgbClr val="FF0000"/>
                </a:solidFill>
                <a:ea typeface="楷体_GB2312" pitchFamily="1" charset="-122"/>
              </a:rPr>
              <a:t>1</a:t>
            </a:r>
            <a:r>
              <a:rPr lang="en-US" altLang="zh-CN" sz="2800" b="1" dirty="0">
                <a:solidFill>
                  <a:srgbClr val="FF0000"/>
                </a:solidFill>
                <a:ea typeface="楷体_GB2312" pitchFamily="1" charset="-122"/>
              </a:rPr>
              <a:t>=1</a:t>
            </a:r>
            <a:r>
              <a:rPr lang="zh-CN" altLang="en-US" sz="2800" b="1" dirty="0">
                <a:ea typeface="楷体_GB2312" pitchFamily="1" charset="-122"/>
              </a:rPr>
              <a:t>，</a:t>
            </a:r>
            <a:r>
              <a:rPr lang="en-US" altLang="zh-CN" sz="2800" b="1" dirty="0">
                <a:solidFill>
                  <a:srgbClr val="3333FF"/>
                </a:solidFill>
                <a:ea typeface="楷体_GB2312" pitchFamily="1" charset="-122"/>
              </a:rPr>
              <a:t>w</a:t>
            </a:r>
            <a:r>
              <a:rPr lang="en-US" altLang="zh-CN" sz="2800" b="1" baseline="-25000" dirty="0">
                <a:solidFill>
                  <a:srgbClr val="3333FF"/>
                </a:solidFill>
                <a:ea typeface="楷体_GB2312" pitchFamily="1" charset="-122"/>
              </a:rPr>
              <a:t>2</a:t>
            </a:r>
            <a:r>
              <a:rPr lang="en-US" altLang="zh-CN" sz="2800" b="1" dirty="0">
                <a:solidFill>
                  <a:srgbClr val="3333FF"/>
                </a:solidFill>
                <a:ea typeface="楷体_GB2312" pitchFamily="1" charset="-122"/>
              </a:rPr>
              <a:t>=0</a:t>
            </a:r>
          </a:p>
          <a:p>
            <a:pPr eaLnBrk="1" hangingPunct="1">
              <a:lnSpc>
                <a:spcPct val="80000"/>
              </a:lnSpc>
              <a:buFont typeface="Wingdings" panose="05000000000000000000" pitchFamily="2" charset="2"/>
              <a:buNone/>
            </a:pPr>
            <a:endParaRPr lang="en-US" altLang="zh-CN" sz="2800" b="1" dirty="0">
              <a:ea typeface="楷体_GB2312" pitchFamily="1" charset="-122"/>
            </a:endParaRPr>
          </a:p>
          <a:p>
            <a:pPr eaLnBrk="1" hangingPunct="1">
              <a:lnSpc>
                <a:spcPct val="80000"/>
              </a:lnSpc>
              <a:buFont typeface="Wingdings" panose="05000000000000000000" pitchFamily="2" charset="2"/>
              <a:buNone/>
            </a:pPr>
            <a:endParaRPr lang="en-US" altLang="zh-CN" sz="2800" b="1" dirty="0">
              <a:ea typeface="楷体_GB2312" pitchFamily="1" charset="-122"/>
            </a:endParaRPr>
          </a:p>
          <a:p>
            <a:pPr lvl="1" eaLnBrk="1" hangingPunct="1">
              <a:lnSpc>
                <a:spcPct val="80000"/>
              </a:lnSpc>
              <a:buFont typeface="Wingdings" panose="05000000000000000000" pitchFamily="2" charset="2"/>
              <a:buNone/>
            </a:pPr>
            <a:r>
              <a:rPr lang="zh-CN" altLang="en-US" sz="3200" b="1" dirty="0">
                <a:ea typeface="楷体_GB2312" pitchFamily="1" charset="-122"/>
              </a:rPr>
              <a:t>   </a:t>
            </a:r>
            <a:r>
              <a:rPr lang="zh-CN" altLang="en-US" b="1" dirty="0">
                <a:ea typeface="楷体_GB2312" pitchFamily="1" charset="-122"/>
              </a:rPr>
              <a:t>当  </a:t>
            </a:r>
            <a:r>
              <a:rPr lang="en-US" altLang="zh-CN" b="1" dirty="0">
                <a:ea typeface="楷体_GB2312" pitchFamily="1" charset="-122"/>
              </a:rPr>
              <a:t>x&lt;-1 </a:t>
            </a:r>
            <a:r>
              <a:rPr lang="zh-CN" altLang="en-US" b="1" dirty="0">
                <a:ea typeface="楷体_GB2312" pitchFamily="1" charset="-122"/>
              </a:rPr>
              <a:t>时，</a:t>
            </a:r>
            <a:r>
              <a:rPr lang="en-US" altLang="zh-CN" b="1" dirty="0">
                <a:ea typeface="楷体_GB2312" pitchFamily="1" charset="-122"/>
              </a:rPr>
              <a:t>P(x)=0</a:t>
            </a:r>
            <a:r>
              <a:rPr lang="zh-CN" altLang="en-US" b="1" dirty="0">
                <a:ea typeface="楷体_GB2312" pitchFamily="1" charset="-122"/>
              </a:rPr>
              <a:t>，</a:t>
            </a:r>
            <a:r>
              <a:rPr lang="en-US" altLang="zh-CN" b="1" dirty="0">
                <a:solidFill>
                  <a:srgbClr val="FF0000"/>
                </a:solidFill>
                <a:ea typeface="楷体_GB2312" pitchFamily="1" charset="-122"/>
              </a:rPr>
              <a:t>w</a:t>
            </a:r>
            <a:r>
              <a:rPr lang="en-US" altLang="zh-CN" b="1" baseline="-25000" dirty="0">
                <a:solidFill>
                  <a:srgbClr val="FF0000"/>
                </a:solidFill>
                <a:ea typeface="楷体_GB2312" pitchFamily="1" charset="-122"/>
              </a:rPr>
              <a:t>1</a:t>
            </a:r>
            <a:r>
              <a:rPr lang="en-US" altLang="zh-CN" b="1" dirty="0">
                <a:solidFill>
                  <a:srgbClr val="FF0000"/>
                </a:solidFill>
                <a:ea typeface="楷体_GB2312" pitchFamily="1" charset="-122"/>
              </a:rPr>
              <a:t>=0</a:t>
            </a:r>
            <a:r>
              <a:rPr lang="zh-CN" altLang="en-US" b="1" dirty="0">
                <a:ea typeface="楷体_GB2312" pitchFamily="1" charset="-122"/>
              </a:rPr>
              <a:t>，</a:t>
            </a:r>
            <a:r>
              <a:rPr lang="en-US" altLang="zh-CN" b="1" dirty="0">
                <a:solidFill>
                  <a:srgbClr val="3333FF"/>
                </a:solidFill>
                <a:ea typeface="楷体_GB2312" pitchFamily="1" charset="-122"/>
              </a:rPr>
              <a:t>w</a:t>
            </a:r>
            <a:r>
              <a:rPr lang="en-US" altLang="zh-CN" b="1" baseline="-25000" dirty="0">
                <a:solidFill>
                  <a:srgbClr val="3333FF"/>
                </a:solidFill>
                <a:ea typeface="楷体_GB2312" pitchFamily="1" charset="-122"/>
              </a:rPr>
              <a:t>2</a:t>
            </a:r>
            <a:r>
              <a:rPr lang="en-US" altLang="zh-CN" b="1" dirty="0">
                <a:solidFill>
                  <a:srgbClr val="3333FF"/>
                </a:solidFill>
                <a:ea typeface="楷体_GB2312" pitchFamily="1" charset="-122"/>
              </a:rPr>
              <a:t>=1</a:t>
            </a:r>
            <a:endParaRPr lang="zh-CN" altLang="en-US" b="1" dirty="0">
              <a:solidFill>
                <a:srgbClr val="3333FF"/>
              </a:solidFill>
              <a:ea typeface="楷体_GB2312" pitchFamily="1" charset="-122"/>
            </a:endParaRPr>
          </a:p>
          <a:p>
            <a:pPr eaLnBrk="1" hangingPunct="1">
              <a:lnSpc>
                <a:spcPct val="80000"/>
              </a:lnSpc>
              <a:buFont typeface="Wingdings" panose="05000000000000000000" pitchFamily="2" charset="2"/>
              <a:buNone/>
            </a:pPr>
            <a:endParaRPr lang="en-US" altLang="zh-CN" sz="2000" b="1" dirty="0">
              <a:ea typeface="楷体_GB2312" pitchFamily="1" charset="-122"/>
            </a:endParaRPr>
          </a:p>
          <a:p>
            <a:pPr eaLnBrk="1" hangingPunct="1">
              <a:lnSpc>
                <a:spcPct val="80000"/>
              </a:lnSpc>
              <a:buFont typeface="Wingdings" panose="05000000000000000000" pitchFamily="2" charset="2"/>
              <a:buNone/>
            </a:pPr>
            <a:endParaRPr lang="en-US" altLang="zh-CN" sz="2000" b="1" dirty="0">
              <a:ea typeface="楷体_GB2312" pitchFamily="1" charset="-122"/>
            </a:endParaRPr>
          </a:p>
          <a:p>
            <a:pPr eaLnBrk="1" hangingPunct="1">
              <a:lnSpc>
                <a:spcPct val="80000"/>
              </a:lnSpc>
              <a:buFont typeface="Wingdings" panose="05000000000000000000" pitchFamily="2" charset="2"/>
              <a:buNone/>
            </a:pPr>
            <a:endParaRPr lang="en-US" altLang="zh-CN" sz="2000" b="1" dirty="0">
              <a:ea typeface="楷体_GB2312" pitchFamily="1" charset="-122"/>
            </a:endParaRPr>
          </a:p>
          <a:p>
            <a:pPr eaLnBrk="1" hangingPunct="1">
              <a:lnSpc>
                <a:spcPct val="80000"/>
              </a:lnSpc>
              <a:buFont typeface="Wingdings" panose="05000000000000000000" pitchFamily="2" charset="2"/>
              <a:buNone/>
            </a:pPr>
            <a:r>
              <a:rPr lang="en-US" altLang="zh-CN" sz="2800" b="1" dirty="0">
                <a:ea typeface="楷体_GB2312" pitchFamily="1" charset="-122"/>
              </a:rPr>
              <a:t>        </a:t>
            </a:r>
            <a:r>
              <a:rPr lang="zh-CN" altLang="en-US" sz="2800" b="1" dirty="0">
                <a:ea typeface="楷体_GB2312" pitchFamily="1" charset="-122"/>
              </a:rPr>
              <a:t>当  </a:t>
            </a:r>
            <a:r>
              <a:rPr lang="en-US" altLang="zh-CN" sz="2800" b="1" dirty="0">
                <a:ea typeface="楷体_GB2312" pitchFamily="1" charset="-122"/>
              </a:rPr>
              <a:t>-1 ≤ x ≤</a:t>
            </a:r>
            <a:r>
              <a:rPr lang="zh-CN" altLang="en-US" sz="2800" b="1" dirty="0">
                <a:ea typeface="楷体_GB2312" pitchFamily="1" charset="-122"/>
              </a:rPr>
              <a:t> </a:t>
            </a:r>
            <a:r>
              <a:rPr lang="en-US" altLang="zh-CN" sz="2800" b="1" dirty="0">
                <a:ea typeface="楷体_GB2312" pitchFamily="1" charset="-122"/>
              </a:rPr>
              <a:t>1</a:t>
            </a:r>
            <a:r>
              <a:rPr lang="zh-CN" altLang="en-US" sz="2800" b="1" dirty="0">
                <a:ea typeface="楷体_GB2312" pitchFamily="1" charset="-122"/>
              </a:rPr>
              <a:t>时，</a:t>
            </a:r>
            <a:r>
              <a:rPr lang="en-US" altLang="zh-CN" sz="2800" b="1" dirty="0">
                <a:ea typeface="楷体_GB2312" pitchFamily="1" charset="-122"/>
              </a:rPr>
              <a:t>         </a:t>
            </a:r>
            <a:endParaRPr lang="zh-CN" altLang="en-US" sz="2400" b="1" dirty="0">
              <a:solidFill>
                <a:srgbClr val="0D0DFF"/>
              </a:solidFill>
              <a:ea typeface="楷体_GB2312" pitchFamily="1" charset="-122"/>
            </a:endParaRPr>
          </a:p>
        </p:txBody>
      </p:sp>
      <p:graphicFrame>
        <p:nvGraphicFramePr>
          <p:cNvPr id="23556" name="Object 4"/>
          <p:cNvGraphicFramePr>
            <a:graphicFrameLocks noGrp="1" noChangeAspect="1"/>
          </p:cNvGraphicFramePr>
          <p:nvPr>
            <p:ph sz="quarter" idx="4294967295"/>
            <p:extLst>
              <p:ext uri="{D42A27DB-BD31-4B8C-83A1-F6EECF244321}">
                <p14:modId xmlns:p14="http://schemas.microsoft.com/office/powerpoint/2010/main" val="963865911"/>
              </p:ext>
            </p:extLst>
          </p:nvPr>
        </p:nvGraphicFramePr>
        <p:xfrm>
          <a:off x="2495550" y="4082330"/>
          <a:ext cx="1944688" cy="858838"/>
        </p:xfrm>
        <a:graphic>
          <a:graphicData uri="http://schemas.openxmlformats.org/presentationml/2006/ole">
            <mc:AlternateContent xmlns:mc="http://schemas.openxmlformats.org/markup-compatibility/2006">
              <mc:Choice xmlns:v="urn:schemas-microsoft-com:vml" Requires="v">
                <p:oleObj name="Equation" r:id="rId2" imgW="978217" imgH="432117" progId="Equation.DSMT4">
                  <p:embed/>
                </p:oleObj>
              </mc:Choice>
              <mc:Fallback>
                <p:oleObj name="Equation" r:id="rId2" imgW="978217" imgH="432117" progId="Equation.DSMT4">
                  <p:embed/>
                  <p:pic>
                    <p:nvPicPr>
                      <p:cNvPr id="23556" name="Object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95550" y="4082330"/>
                        <a:ext cx="1944688" cy="8588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23557" name="Group 5"/>
          <p:cNvGrpSpPr>
            <a:grpSpLocks/>
          </p:cNvGrpSpPr>
          <p:nvPr/>
        </p:nvGrpSpPr>
        <p:grpSpPr bwMode="auto">
          <a:xfrm>
            <a:off x="7608118" y="2557636"/>
            <a:ext cx="3600450" cy="1916112"/>
            <a:chOff x="0" y="0"/>
            <a:chExt cx="2268" cy="1207"/>
          </a:xfrm>
        </p:grpSpPr>
        <p:grpSp>
          <p:nvGrpSpPr>
            <p:cNvPr id="23558" name="Group 6"/>
            <p:cNvGrpSpPr>
              <a:grpSpLocks/>
            </p:cNvGrpSpPr>
            <p:nvPr/>
          </p:nvGrpSpPr>
          <p:grpSpPr bwMode="auto">
            <a:xfrm>
              <a:off x="0" y="0"/>
              <a:ext cx="2268" cy="1207"/>
              <a:chOff x="0" y="0"/>
              <a:chExt cx="2268" cy="1207"/>
            </a:xfrm>
          </p:grpSpPr>
          <p:sp>
            <p:nvSpPr>
              <p:cNvPr id="23559" name="Line 7"/>
              <p:cNvSpPr>
                <a:spLocks noChangeShapeType="1"/>
              </p:cNvSpPr>
              <p:nvPr/>
            </p:nvSpPr>
            <p:spPr bwMode="auto">
              <a:xfrm>
                <a:off x="0" y="997"/>
                <a:ext cx="2132" cy="0"/>
              </a:xfrm>
              <a:prstGeom prst="line">
                <a:avLst/>
              </a:prstGeom>
              <a:noFill/>
              <a:ln w="19050" cmpd="sng">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3560" name="Line 8"/>
              <p:cNvSpPr>
                <a:spLocks noChangeShapeType="1"/>
              </p:cNvSpPr>
              <p:nvPr/>
            </p:nvSpPr>
            <p:spPr bwMode="auto">
              <a:xfrm flipV="1">
                <a:off x="1044" y="90"/>
                <a:ext cx="0" cy="907"/>
              </a:xfrm>
              <a:prstGeom prst="line">
                <a:avLst/>
              </a:prstGeom>
              <a:noFill/>
              <a:ln w="19050" cmpd="sng">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3561" name="Line 9"/>
              <p:cNvSpPr>
                <a:spLocks noChangeShapeType="1"/>
              </p:cNvSpPr>
              <p:nvPr/>
            </p:nvSpPr>
            <p:spPr bwMode="auto">
              <a:xfrm flipV="1">
                <a:off x="408" y="952"/>
                <a:ext cx="0" cy="45"/>
              </a:xfrm>
              <a:prstGeom prst="line">
                <a:avLst/>
              </a:prstGeom>
              <a:noFill/>
              <a:ln w="9525" cmpd="sng">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3562" name="Line 10"/>
              <p:cNvSpPr>
                <a:spLocks noChangeShapeType="1"/>
              </p:cNvSpPr>
              <p:nvPr/>
            </p:nvSpPr>
            <p:spPr bwMode="auto">
              <a:xfrm flipV="1">
                <a:off x="1679" y="952"/>
                <a:ext cx="0" cy="45"/>
              </a:xfrm>
              <a:prstGeom prst="line">
                <a:avLst/>
              </a:prstGeom>
              <a:noFill/>
              <a:ln w="9525" cmpd="sng">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3563" name="Line 11"/>
              <p:cNvSpPr>
                <a:spLocks noChangeShapeType="1"/>
              </p:cNvSpPr>
              <p:nvPr/>
            </p:nvSpPr>
            <p:spPr bwMode="auto">
              <a:xfrm>
                <a:off x="1044" y="317"/>
                <a:ext cx="45" cy="0"/>
              </a:xfrm>
              <a:prstGeom prst="line">
                <a:avLst/>
              </a:prstGeom>
              <a:noFill/>
              <a:ln w="9525" cmpd="sng">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3564" name="Line 12"/>
              <p:cNvSpPr>
                <a:spLocks noChangeShapeType="1"/>
              </p:cNvSpPr>
              <p:nvPr/>
            </p:nvSpPr>
            <p:spPr bwMode="auto">
              <a:xfrm flipH="1">
                <a:off x="408" y="317"/>
                <a:ext cx="1271" cy="680"/>
              </a:xfrm>
              <a:prstGeom prst="line">
                <a:avLst/>
              </a:prstGeom>
              <a:noFill/>
              <a:ln w="28575" cmpd="sng">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3565" name="Line 13"/>
              <p:cNvSpPr>
                <a:spLocks noChangeShapeType="1"/>
              </p:cNvSpPr>
              <p:nvPr/>
            </p:nvSpPr>
            <p:spPr bwMode="auto">
              <a:xfrm flipH="1" flipV="1">
                <a:off x="408" y="317"/>
                <a:ext cx="1271" cy="680"/>
              </a:xfrm>
              <a:prstGeom prst="line">
                <a:avLst/>
              </a:prstGeom>
              <a:noFill/>
              <a:ln w="28575" cmpd="sng">
                <a:solidFill>
                  <a:srgbClr val="0000FE"/>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3566" name="Line 14"/>
              <p:cNvSpPr>
                <a:spLocks noChangeShapeType="1"/>
              </p:cNvSpPr>
              <p:nvPr/>
            </p:nvSpPr>
            <p:spPr bwMode="auto">
              <a:xfrm>
                <a:off x="1679" y="317"/>
                <a:ext cx="362" cy="0"/>
              </a:xfrm>
              <a:prstGeom prst="line">
                <a:avLst/>
              </a:prstGeom>
              <a:noFill/>
              <a:ln w="28575" cmpd="sng">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3567" name="Line 15"/>
              <p:cNvSpPr>
                <a:spLocks noChangeShapeType="1"/>
              </p:cNvSpPr>
              <p:nvPr/>
            </p:nvSpPr>
            <p:spPr bwMode="auto">
              <a:xfrm>
                <a:off x="46" y="317"/>
                <a:ext cx="362" cy="0"/>
              </a:xfrm>
              <a:prstGeom prst="line">
                <a:avLst/>
              </a:prstGeom>
              <a:noFill/>
              <a:ln w="28575" cmpd="sng">
                <a:solidFill>
                  <a:srgbClr val="0000FE"/>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3568" name="Line 16"/>
              <p:cNvSpPr>
                <a:spLocks noChangeShapeType="1"/>
              </p:cNvSpPr>
              <p:nvPr/>
            </p:nvSpPr>
            <p:spPr bwMode="auto">
              <a:xfrm>
                <a:off x="0" y="997"/>
                <a:ext cx="408" cy="0"/>
              </a:xfrm>
              <a:prstGeom prst="line">
                <a:avLst/>
              </a:prstGeom>
              <a:noFill/>
              <a:ln w="28575" cmpd="sng">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3569" name="Line 17"/>
              <p:cNvSpPr>
                <a:spLocks noChangeShapeType="1"/>
              </p:cNvSpPr>
              <p:nvPr/>
            </p:nvSpPr>
            <p:spPr bwMode="auto">
              <a:xfrm>
                <a:off x="1679" y="997"/>
                <a:ext cx="408" cy="0"/>
              </a:xfrm>
              <a:prstGeom prst="line">
                <a:avLst/>
              </a:prstGeom>
              <a:noFill/>
              <a:ln w="28575" cmpd="sng">
                <a:solidFill>
                  <a:srgbClr val="0000FE"/>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3570" name="Text Box 18"/>
              <p:cNvSpPr txBox="1">
                <a:spLocks noChangeArrowheads="1"/>
              </p:cNvSpPr>
              <p:nvPr/>
            </p:nvSpPr>
            <p:spPr bwMode="auto">
              <a:xfrm>
                <a:off x="1724" y="45"/>
                <a:ext cx="363"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a:t>P(x)</a:t>
                </a:r>
              </a:p>
            </p:txBody>
          </p:sp>
          <p:sp>
            <p:nvSpPr>
              <p:cNvPr id="23571" name="Text Box 19"/>
              <p:cNvSpPr txBox="1">
                <a:spLocks noChangeArrowheads="1"/>
              </p:cNvSpPr>
              <p:nvPr/>
            </p:nvSpPr>
            <p:spPr bwMode="auto">
              <a:xfrm>
                <a:off x="46" y="90"/>
                <a:ext cx="363"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a:t>N(x)</a:t>
                </a:r>
              </a:p>
            </p:txBody>
          </p:sp>
          <p:sp>
            <p:nvSpPr>
              <p:cNvPr id="23572" name="Text Box 20"/>
              <p:cNvSpPr txBox="1">
                <a:spLocks noChangeArrowheads="1"/>
              </p:cNvSpPr>
              <p:nvPr/>
            </p:nvSpPr>
            <p:spPr bwMode="auto">
              <a:xfrm>
                <a:off x="0" y="995"/>
                <a:ext cx="2268"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sz="1600"/>
                  <a:t>        -1               0                1           x</a:t>
                </a:r>
              </a:p>
            </p:txBody>
          </p:sp>
          <p:sp>
            <p:nvSpPr>
              <p:cNvPr id="23573" name="Rectangle 21"/>
              <p:cNvSpPr>
                <a:spLocks noChangeArrowheads="1"/>
              </p:cNvSpPr>
              <p:nvPr/>
            </p:nvSpPr>
            <p:spPr bwMode="auto">
              <a:xfrm>
                <a:off x="817" y="0"/>
                <a:ext cx="200"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r>
                  <a:rPr lang="el-GR" altLang="en-US"/>
                  <a:t>μ</a:t>
                </a:r>
                <a:endParaRPr lang="en-US" altLang="zh-CN"/>
              </a:p>
            </p:txBody>
          </p:sp>
          <p:sp>
            <p:nvSpPr>
              <p:cNvPr id="23574" name="Text Box 22"/>
              <p:cNvSpPr txBox="1">
                <a:spLocks noChangeArrowheads="1"/>
              </p:cNvSpPr>
              <p:nvPr/>
            </p:nvSpPr>
            <p:spPr bwMode="auto">
              <a:xfrm>
                <a:off x="907" y="181"/>
                <a:ext cx="363"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a:t>1</a:t>
                </a:r>
              </a:p>
            </p:txBody>
          </p:sp>
        </p:grpSp>
        <p:sp>
          <p:nvSpPr>
            <p:cNvPr id="23575" name="Text Box 23"/>
            <p:cNvSpPr txBox="1">
              <a:spLocks noChangeArrowheads="1"/>
            </p:cNvSpPr>
            <p:nvPr/>
          </p:nvSpPr>
          <p:spPr bwMode="auto">
            <a:xfrm>
              <a:off x="725" y="544"/>
              <a:ext cx="363"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sz="1400" b="1"/>
                <a:t>0.5</a:t>
              </a:r>
            </a:p>
          </p:txBody>
        </p:sp>
      </p:grpSp>
      <p:sp>
        <p:nvSpPr>
          <p:cNvPr id="23576" name="Text Box 24"/>
          <p:cNvSpPr txBox="1">
            <a:spLocks noChangeArrowheads="1"/>
          </p:cNvSpPr>
          <p:nvPr/>
        </p:nvSpPr>
        <p:spPr bwMode="auto">
          <a:xfrm>
            <a:off x="9840146" y="3205336"/>
            <a:ext cx="1441449"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sz="1400" b="1" dirty="0">
                <a:solidFill>
                  <a:srgbClr val="FF0000"/>
                </a:solidFill>
              </a:rPr>
              <a:t>w1=0.5+0.5x</a:t>
            </a:r>
          </a:p>
        </p:txBody>
      </p:sp>
      <p:sp>
        <p:nvSpPr>
          <p:cNvPr id="23577" name="Text Box 25"/>
          <p:cNvSpPr txBox="1">
            <a:spLocks noChangeArrowheads="1"/>
          </p:cNvSpPr>
          <p:nvPr/>
        </p:nvSpPr>
        <p:spPr bwMode="auto">
          <a:xfrm>
            <a:off x="9840142" y="3638723"/>
            <a:ext cx="1260495"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sz="1400" b="1" dirty="0">
                <a:solidFill>
                  <a:srgbClr val="3333FF"/>
                </a:solidFill>
              </a:rPr>
              <a:t>w2=0.5-0.5x</a:t>
            </a:r>
          </a:p>
        </p:txBody>
      </p:sp>
      <p:grpSp>
        <p:nvGrpSpPr>
          <p:cNvPr id="23578" name="Group 26"/>
          <p:cNvGrpSpPr>
            <a:grpSpLocks/>
          </p:cNvGrpSpPr>
          <p:nvPr/>
        </p:nvGrpSpPr>
        <p:grpSpPr bwMode="auto">
          <a:xfrm>
            <a:off x="9603607" y="3349798"/>
            <a:ext cx="1028700" cy="1306513"/>
            <a:chOff x="32" y="0"/>
            <a:chExt cx="648" cy="823"/>
          </a:xfrm>
        </p:grpSpPr>
        <p:sp>
          <p:nvSpPr>
            <p:cNvPr id="23579" name="Line 27"/>
            <p:cNvSpPr>
              <a:spLocks noChangeShapeType="1"/>
            </p:cNvSpPr>
            <p:nvPr/>
          </p:nvSpPr>
          <p:spPr bwMode="auto">
            <a:xfrm>
              <a:off x="136" y="0"/>
              <a:ext cx="0" cy="590"/>
            </a:xfrm>
            <a:prstGeom prst="line">
              <a:avLst/>
            </a:prstGeom>
            <a:noFill/>
            <a:ln w="28575" cmpd="sng">
              <a:solidFill>
                <a:srgbClr val="CC00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3580" name="Text Box 28"/>
            <p:cNvSpPr txBox="1">
              <a:spLocks noChangeArrowheads="1"/>
            </p:cNvSpPr>
            <p:nvPr/>
          </p:nvSpPr>
          <p:spPr bwMode="auto">
            <a:xfrm>
              <a:off x="32" y="590"/>
              <a:ext cx="648"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dirty="0">
                  <a:solidFill>
                    <a:srgbClr val="CC00CC"/>
                  </a:solidFill>
                </a:rPr>
                <a:t>x</a:t>
              </a:r>
              <a:endParaRPr lang="en-US" altLang="zh-CN" baseline="-25000" dirty="0">
                <a:solidFill>
                  <a:srgbClr val="CC00CC"/>
                </a:solidFill>
              </a:endParaRPr>
            </a:p>
          </p:txBody>
        </p:sp>
        <p:sp>
          <p:nvSpPr>
            <p:cNvPr id="23581" name="Line 29"/>
            <p:cNvSpPr>
              <a:spLocks noChangeShapeType="1"/>
            </p:cNvSpPr>
            <p:nvPr/>
          </p:nvSpPr>
          <p:spPr bwMode="auto">
            <a:xfrm>
              <a:off x="135" y="318"/>
              <a:ext cx="91" cy="0"/>
            </a:xfrm>
            <a:prstGeom prst="line">
              <a:avLst/>
            </a:prstGeom>
            <a:noFill/>
            <a:ln w="9525" cmpd="sng">
              <a:solidFill>
                <a:srgbClr val="CC00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3582" name="Line 30"/>
            <p:cNvSpPr>
              <a:spLocks noChangeShapeType="1"/>
            </p:cNvSpPr>
            <p:nvPr/>
          </p:nvSpPr>
          <p:spPr bwMode="auto">
            <a:xfrm>
              <a:off x="135" y="0"/>
              <a:ext cx="91" cy="0"/>
            </a:xfrm>
            <a:prstGeom prst="line">
              <a:avLst/>
            </a:prstGeom>
            <a:noFill/>
            <a:ln w="9525" cmpd="sng">
              <a:solidFill>
                <a:srgbClr val="CC00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aphicFrame>
        <p:nvGraphicFramePr>
          <p:cNvPr id="23583" name="Object 31"/>
          <p:cNvGraphicFramePr>
            <a:graphicFrameLocks noGrp="1" noChangeAspect="1"/>
          </p:cNvGraphicFramePr>
          <p:nvPr>
            <p:ph sz="quarter" idx="4294967295"/>
            <p:extLst>
              <p:ext uri="{D42A27DB-BD31-4B8C-83A1-F6EECF244321}">
                <p14:modId xmlns:p14="http://schemas.microsoft.com/office/powerpoint/2010/main" val="1650164855"/>
              </p:ext>
            </p:extLst>
          </p:nvPr>
        </p:nvGraphicFramePr>
        <p:xfrm>
          <a:off x="4518822" y="4291089"/>
          <a:ext cx="1323975" cy="441325"/>
        </p:xfrm>
        <a:graphic>
          <a:graphicData uri="http://schemas.openxmlformats.org/presentationml/2006/ole">
            <mc:AlternateContent xmlns:mc="http://schemas.openxmlformats.org/markup-compatibility/2006">
              <mc:Choice xmlns:v="urn:schemas-microsoft-com:vml" Requires="v">
                <p:oleObj name="Equation" r:id="rId4" imgW="685800" imgH="228600" progId="Equation.DSMT4">
                  <p:embed/>
                </p:oleObj>
              </mc:Choice>
              <mc:Fallback>
                <p:oleObj name="Equation" r:id="rId4" imgW="685800" imgH="228600" progId="Equation.DSMT4">
                  <p:embed/>
                  <p:pic>
                    <p:nvPicPr>
                      <p:cNvPr id="23583" name="Object 31"/>
                      <p:cNvPicPr>
                        <a:picLocks noChangeAspect="1" noChangeArrowheads="1"/>
                      </p:cNvPicPr>
                      <p:nvPr/>
                    </p:nvPicPr>
                    <p:blipFill>
                      <a:blip r:embed="rId5"/>
                      <a:srcRect/>
                      <a:stretch>
                        <a:fillRect/>
                      </a:stretch>
                    </p:blipFill>
                    <p:spPr bwMode="auto">
                      <a:xfrm>
                        <a:off x="4518822" y="4291089"/>
                        <a:ext cx="1323975" cy="4413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3584" name="Object 32"/>
          <p:cNvGraphicFramePr>
            <a:graphicFrameLocks noChangeAspect="1"/>
          </p:cNvGraphicFramePr>
          <p:nvPr>
            <p:extLst>
              <p:ext uri="{D42A27DB-BD31-4B8C-83A1-F6EECF244321}">
                <p14:modId xmlns:p14="http://schemas.microsoft.com/office/powerpoint/2010/main" val="3451061420"/>
              </p:ext>
            </p:extLst>
          </p:nvPr>
        </p:nvGraphicFramePr>
        <p:xfrm>
          <a:off x="2481266" y="5450483"/>
          <a:ext cx="1944687" cy="858837"/>
        </p:xfrm>
        <a:graphic>
          <a:graphicData uri="http://schemas.openxmlformats.org/presentationml/2006/ole">
            <mc:AlternateContent xmlns:mc="http://schemas.openxmlformats.org/markup-compatibility/2006">
              <mc:Choice xmlns:v="urn:schemas-microsoft-com:vml" Requires="v">
                <p:oleObj name="Equation" r:id="rId2" imgW="978217" imgH="432117" progId="Equation.DSMT4">
                  <p:embed/>
                </p:oleObj>
              </mc:Choice>
              <mc:Fallback>
                <p:oleObj name="Equation" r:id="rId2" imgW="978217" imgH="432117" progId="Equation.DSMT4">
                  <p:embed/>
                  <p:pic>
                    <p:nvPicPr>
                      <p:cNvPr id="23584" name="Object 3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81266" y="5450483"/>
                        <a:ext cx="1944687" cy="8588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3585" name="Object 33"/>
          <p:cNvGraphicFramePr>
            <a:graphicFrameLocks noChangeAspect="1"/>
          </p:cNvGraphicFramePr>
          <p:nvPr>
            <p:extLst>
              <p:ext uri="{D42A27DB-BD31-4B8C-83A1-F6EECF244321}">
                <p14:modId xmlns:p14="http://schemas.microsoft.com/office/powerpoint/2010/main" val="1710739653"/>
              </p:ext>
            </p:extLst>
          </p:nvPr>
        </p:nvGraphicFramePr>
        <p:xfrm>
          <a:off x="4440238" y="5646538"/>
          <a:ext cx="1504950" cy="466725"/>
        </p:xfrm>
        <a:graphic>
          <a:graphicData uri="http://schemas.openxmlformats.org/presentationml/2006/ole">
            <mc:AlternateContent xmlns:mc="http://schemas.openxmlformats.org/markup-compatibility/2006">
              <mc:Choice xmlns:v="urn:schemas-microsoft-com:vml" Requires="v">
                <p:oleObj name="Equation" r:id="rId6" imgW="736560" imgH="228600" progId="Equation.DSMT4">
                  <p:embed/>
                </p:oleObj>
              </mc:Choice>
              <mc:Fallback>
                <p:oleObj name="Equation" r:id="rId6" imgW="736560" imgH="228600" progId="Equation.DSMT4">
                  <p:embed/>
                  <p:pic>
                    <p:nvPicPr>
                      <p:cNvPr id="23585" name="Object 33"/>
                      <p:cNvPicPr>
                        <a:picLocks noChangeAspect="1" noChangeArrowheads="1"/>
                      </p:cNvPicPr>
                      <p:nvPr/>
                    </p:nvPicPr>
                    <p:blipFill>
                      <a:blip r:embed="rId7"/>
                      <a:srcRect/>
                      <a:stretch>
                        <a:fillRect/>
                      </a:stretch>
                    </p:blipFill>
                    <p:spPr bwMode="auto">
                      <a:xfrm>
                        <a:off x="4440238" y="5646538"/>
                        <a:ext cx="1504950" cy="466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3" name="文本框 2">
            <a:extLst>
              <a:ext uri="{FF2B5EF4-FFF2-40B4-BE49-F238E27FC236}">
                <a16:creationId xmlns:a16="http://schemas.microsoft.com/office/drawing/2014/main" id="{A1C08726-0668-FD23-05BC-B0CE8562EDD4}"/>
              </a:ext>
            </a:extLst>
          </p:cNvPr>
          <p:cNvSpPr txBox="1"/>
          <p:nvPr/>
        </p:nvSpPr>
        <p:spPr>
          <a:xfrm>
            <a:off x="4723376" y="6258598"/>
            <a:ext cx="6891855" cy="523220"/>
          </a:xfrm>
          <a:prstGeom prst="rect">
            <a:avLst/>
          </a:prstGeom>
          <a:noFill/>
        </p:spPr>
        <p:txBody>
          <a:bodyPr wrap="square">
            <a:spAutoFit/>
          </a:bodyPr>
          <a:lstStyle/>
          <a:p>
            <a:r>
              <a:rPr lang="en-US" altLang="zh-CN" sz="2800" b="1" dirty="0">
                <a:solidFill>
                  <a:srgbClr val="FF0000"/>
                </a:solidFill>
                <a:ea typeface="楷体_GB2312" pitchFamily="1" charset="-122"/>
              </a:rPr>
              <a:t>w</a:t>
            </a:r>
            <a:r>
              <a:rPr lang="en-US" altLang="zh-CN" sz="2800" b="1" baseline="-25000" dirty="0">
                <a:solidFill>
                  <a:srgbClr val="FF0000"/>
                </a:solidFill>
                <a:ea typeface="楷体_GB2312" pitchFamily="1" charset="-122"/>
              </a:rPr>
              <a:t>1</a:t>
            </a:r>
            <a:r>
              <a:rPr lang="en-US" altLang="zh-CN" sz="2800" b="1" dirty="0">
                <a:ea typeface="楷体_GB2312" pitchFamily="1" charset="-122"/>
              </a:rPr>
              <a:t>=</a:t>
            </a:r>
            <a:r>
              <a:rPr lang="en-US" altLang="zh-CN" sz="2800" b="1" dirty="0">
                <a:solidFill>
                  <a:srgbClr val="FF0000"/>
                </a:solidFill>
                <a:ea typeface="楷体_GB2312" pitchFamily="1" charset="-122"/>
              </a:rPr>
              <a:t>P(x)=0.5+0.5x     </a:t>
            </a:r>
            <a:r>
              <a:rPr lang="en-US" altLang="zh-CN" sz="2800" b="1" dirty="0">
                <a:solidFill>
                  <a:srgbClr val="3333FF"/>
                </a:solidFill>
                <a:ea typeface="楷体_GB2312" pitchFamily="1" charset="-122"/>
              </a:rPr>
              <a:t>w</a:t>
            </a:r>
            <a:r>
              <a:rPr lang="en-US" altLang="zh-CN" sz="2800" b="1" baseline="-25000" dirty="0">
                <a:solidFill>
                  <a:srgbClr val="3333FF"/>
                </a:solidFill>
                <a:ea typeface="楷体_GB2312" pitchFamily="1" charset="-122"/>
              </a:rPr>
              <a:t>2</a:t>
            </a:r>
            <a:r>
              <a:rPr lang="en-US" altLang="zh-CN" sz="2800" b="1" dirty="0">
                <a:ea typeface="楷体_GB2312" pitchFamily="1" charset="-122"/>
              </a:rPr>
              <a:t>=</a:t>
            </a:r>
            <a:r>
              <a:rPr lang="en-US" altLang="zh-CN" sz="2800" b="1" dirty="0">
                <a:solidFill>
                  <a:srgbClr val="0D0DFF"/>
                </a:solidFill>
                <a:ea typeface="楷体_GB2312" pitchFamily="1" charset="-122"/>
              </a:rPr>
              <a:t>N(x)=0.5-0.5x</a:t>
            </a:r>
            <a:endParaRPr lang="zh-CN" altLang="en-US" sz="2800" dirty="0"/>
          </a:p>
        </p:txBody>
      </p:sp>
      <p:sp>
        <p:nvSpPr>
          <p:cNvPr id="4" name="灯片编号占位符 3">
            <a:extLst>
              <a:ext uri="{FF2B5EF4-FFF2-40B4-BE49-F238E27FC236}">
                <a16:creationId xmlns:a16="http://schemas.microsoft.com/office/drawing/2014/main" id="{B7F43894-C524-FBD4-8727-D6AA1BCC9472}"/>
              </a:ext>
            </a:extLst>
          </p:cNvPr>
          <p:cNvSpPr>
            <a:spLocks noGrp="1"/>
          </p:cNvSpPr>
          <p:nvPr>
            <p:ph type="sldNum" sz="quarter" idx="11"/>
          </p:nvPr>
        </p:nvSpPr>
        <p:spPr/>
        <p:txBody>
          <a:bodyPr/>
          <a:lstStyle/>
          <a:p>
            <a:pPr>
              <a:defRPr/>
            </a:pPr>
            <a:fld id="{B77A47BA-BA63-4780-94A9-8AFA2EA4438D}" type="slidenum">
              <a:rPr lang="en-US" altLang="zh-CN" smtClean="0"/>
              <a:pPr>
                <a:defRPr/>
              </a:pPr>
              <a:t>19</a:t>
            </a:fld>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3555">
                                            <p:txEl>
                                              <p:pRg st="4" end="4"/>
                                            </p:txEl>
                                          </p:spTgt>
                                        </p:tgtEl>
                                        <p:attrNameLst>
                                          <p:attrName>style.visibility</p:attrName>
                                        </p:attrNameLst>
                                      </p:cBhvr>
                                      <p:to>
                                        <p:strVal val="visible"/>
                                      </p:to>
                                    </p:set>
                                    <p:animEffect transition="in" filter="wipe(left)">
                                      <p:cBhvr>
                                        <p:cTn id="7" dur="500"/>
                                        <p:tgtEl>
                                          <p:spTgt spid="23555">
                                            <p:txEl>
                                              <p:pRg st="4" end="4"/>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23555">
                                            <p:txEl>
                                              <p:pRg st="5" end="5"/>
                                            </p:txEl>
                                          </p:spTgt>
                                        </p:tgtEl>
                                        <p:attrNameLst>
                                          <p:attrName>style.visibility</p:attrName>
                                        </p:attrNameLst>
                                      </p:cBhvr>
                                      <p:to>
                                        <p:strVal val="visible"/>
                                      </p:to>
                                    </p:set>
                                    <p:animEffect transition="in" filter="wipe(left)">
                                      <p:cBhvr>
                                        <p:cTn id="12" dur="500"/>
                                        <p:tgtEl>
                                          <p:spTgt spid="23555">
                                            <p:txEl>
                                              <p:pRg st="5" end="5"/>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23556"/>
                                        </p:tgtEl>
                                        <p:attrNameLst>
                                          <p:attrName>style.visibility</p:attrName>
                                        </p:attrNameLst>
                                      </p:cBhvr>
                                      <p:to>
                                        <p:strVal val="visible"/>
                                      </p:to>
                                    </p:set>
                                    <p:animEffect transition="in" filter="wipe(left)">
                                      <p:cBhvr>
                                        <p:cTn id="17" dur="500"/>
                                        <p:tgtEl>
                                          <p:spTgt spid="23556"/>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23583"/>
                                        </p:tgtEl>
                                        <p:attrNameLst>
                                          <p:attrName>style.visibility</p:attrName>
                                        </p:attrNameLst>
                                      </p:cBhvr>
                                      <p:to>
                                        <p:strVal val="visible"/>
                                      </p:to>
                                    </p:set>
                                    <p:animEffect transition="in" filter="wipe(left)">
                                      <p:cBhvr>
                                        <p:cTn id="22" dur="500"/>
                                        <p:tgtEl>
                                          <p:spTgt spid="23583"/>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23555">
                                            <p:txEl>
                                              <p:pRg st="8" end="8"/>
                                            </p:txEl>
                                          </p:spTgt>
                                        </p:tgtEl>
                                        <p:attrNameLst>
                                          <p:attrName>style.visibility</p:attrName>
                                        </p:attrNameLst>
                                      </p:cBhvr>
                                      <p:to>
                                        <p:strVal val="visible"/>
                                      </p:to>
                                    </p:set>
                                    <p:animEffect transition="in" filter="wipe(left)">
                                      <p:cBhvr>
                                        <p:cTn id="27" dur="500"/>
                                        <p:tgtEl>
                                          <p:spTgt spid="23555">
                                            <p:txEl>
                                              <p:pRg st="8" end="8"/>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nodeType="clickEffect">
                                  <p:stCondLst>
                                    <p:cond delay="0"/>
                                  </p:stCondLst>
                                  <p:childTnLst>
                                    <p:set>
                                      <p:cBhvr>
                                        <p:cTn id="31" dur="1" fill="hold">
                                          <p:stCondLst>
                                            <p:cond delay="0"/>
                                          </p:stCondLst>
                                        </p:cTn>
                                        <p:tgtEl>
                                          <p:spTgt spid="23584"/>
                                        </p:tgtEl>
                                        <p:attrNameLst>
                                          <p:attrName>style.visibility</p:attrName>
                                        </p:attrNameLst>
                                      </p:cBhvr>
                                      <p:to>
                                        <p:strVal val="visible"/>
                                      </p:to>
                                    </p:set>
                                    <p:animEffect transition="in" filter="wipe(left)">
                                      <p:cBhvr>
                                        <p:cTn id="32" dur="500"/>
                                        <p:tgtEl>
                                          <p:spTgt spid="23584"/>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nodeType="clickEffect">
                                  <p:stCondLst>
                                    <p:cond delay="0"/>
                                  </p:stCondLst>
                                  <p:childTnLst>
                                    <p:set>
                                      <p:cBhvr>
                                        <p:cTn id="36" dur="1" fill="hold">
                                          <p:stCondLst>
                                            <p:cond delay="0"/>
                                          </p:stCondLst>
                                        </p:cTn>
                                        <p:tgtEl>
                                          <p:spTgt spid="23585"/>
                                        </p:tgtEl>
                                        <p:attrNameLst>
                                          <p:attrName>style.visibility</p:attrName>
                                        </p:attrNameLst>
                                      </p:cBhvr>
                                      <p:to>
                                        <p:strVal val="visible"/>
                                      </p:to>
                                    </p:set>
                                    <p:animEffect transition="in" filter="wipe(left)">
                                      <p:cBhvr>
                                        <p:cTn id="37" dur="500"/>
                                        <p:tgtEl>
                                          <p:spTgt spid="23585"/>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23555">
                                            <p:txEl>
                                              <p:pRg st="12" end="12"/>
                                            </p:txEl>
                                          </p:spTgt>
                                        </p:tgtEl>
                                        <p:attrNameLst>
                                          <p:attrName>style.visibility</p:attrName>
                                        </p:attrNameLst>
                                      </p:cBhvr>
                                      <p:to>
                                        <p:strVal val="visible"/>
                                      </p:to>
                                    </p:set>
                                    <p:animEffect transition="in" filter="wipe(left)">
                                      <p:cBhvr>
                                        <p:cTn id="42" dur="500"/>
                                        <p:tgtEl>
                                          <p:spTgt spid="23555">
                                            <p:txEl>
                                              <p:pRg st="12" end="12"/>
                                            </p:txEl>
                                          </p:spTgt>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22" presetClass="entr" presetSubtype="4" fill="hold" nodeType="clickEffect">
                                  <p:stCondLst>
                                    <p:cond delay="0"/>
                                  </p:stCondLst>
                                  <p:childTnLst>
                                    <p:set>
                                      <p:cBhvr>
                                        <p:cTn id="46" dur="1" fill="hold">
                                          <p:stCondLst>
                                            <p:cond delay="0"/>
                                          </p:stCondLst>
                                        </p:cTn>
                                        <p:tgtEl>
                                          <p:spTgt spid="23578"/>
                                        </p:tgtEl>
                                        <p:attrNameLst>
                                          <p:attrName>style.visibility</p:attrName>
                                        </p:attrNameLst>
                                      </p:cBhvr>
                                      <p:to>
                                        <p:strVal val="visible"/>
                                      </p:to>
                                    </p:set>
                                    <p:animEffect transition="in" filter="wipe(down)">
                                      <p:cBhvr>
                                        <p:cTn id="47" dur="500"/>
                                        <p:tgtEl>
                                          <p:spTgt spid="23578"/>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22" presetClass="entr" presetSubtype="1" fill="hold" grpId="0" nodeType="clickEffect">
                                  <p:stCondLst>
                                    <p:cond delay="0"/>
                                  </p:stCondLst>
                                  <p:childTnLst>
                                    <p:set>
                                      <p:cBhvr>
                                        <p:cTn id="51" dur="1" fill="hold">
                                          <p:stCondLst>
                                            <p:cond delay="0"/>
                                          </p:stCondLst>
                                        </p:cTn>
                                        <p:tgtEl>
                                          <p:spTgt spid="23576"/>
                                        </p:tgtEl>
                                        <p:attrNameLst>
                                          <p:attrName>style.visibility</p:attrName>
                                        </p:attrNameLst>
                                      </p:cBhvr>
                                      <p:to>
                                        <p:strVal val="visible"/>
                                      </p:to>
                                    </p:set>
                                    <p:animEffect transition="in" filter="wipe(up)">
                                      <p:cBhvr>
                                        <p:cTn id="52" dur="500"/>
                                        <p:tgtEl>
                                          <p:spTgt spid="23576"/>
                                        </p:tgtEl>
                                      </p:cBhvr>
                                    </p:animEffect>
                                  </p:childTnLst>
                                </p:cTn>
                              </p:par>
                            </p:childTnLst>
                          </p:cTn>
                        </p:par>
                        <p:par>
                          <p:cTn id="53" fill="hold" nodeType="afterGroup">
                            <p:stCondLst>
                              <p:cond delay="500"/>
                            </p:stCondLst>
                            <p:childTnLst>
                              <p:par>
                                <p:cTn id="54" presetID="22" presetClass="entr" presetSubtype="1" fill="hold" grpId="0" nodeType="afterEffect">
                                  <p:stCondLst>
                                    <p:cond delay="0"/>
                                  </p:stCondLst>
                                  <p:childTnLst>
                                    <p:set>
                                      <p:cBhvr>
                                        <p:cTn id="55" dur="1" fill="hold">
                                          <p:stCondLst>
                                            <p:cond delay="0"/>
                                          </p:stCondLst>
                                        </p:cTn>
                                        <p:tgtEl>
                                          <p:spTgt spid="23577"/>
                                        </p:tgtEl>
                                        <p:attrNameLst>
                                          <p:attrName>style.visibility</p:attrName>
                                        </p:attrNameLst>
                                      </p:cBhvr>
                                      <p:to>
                                        <p:strVal val="visible"/>
                                      </p:to>
                                    </p:set>
                                    <p:animEffect transition="in" filter="wipe(up)">
                                      <p:cBhvr>
                                        <p:cTn id="56" dur="500"/>
                                        <p:tgtEl>
                                          <p:spTgt spid="23577"/>
                                        </p:tgtEl>
                                      </p:cBhvr>
                                    </p:animEffect>
                                  </p:childTnLst>
                                </p:cTn>
                              </p:par>
                            </p:childTnLst>
                          </p:cTn>
                        </p:par>
                      </p:childTnLst>
                    </p:cTn>
                  </p:par>
                  <p:par>
                    <p:cTn id="57" fill="hold">
                      <p:stCondLst>
                        <p:cond delay="indefinite"/>
                      </p:stCondLst>
                      <p:childTnLst>
                        <p:par>
                          <p:cTn id="58" fill="hold">
                            <p:stCondLst>
                              <p:cond delay="0"/>
                            </p:stCondLst>
                            <p:childTnLst>
                              <p:par>
                                <p:cTn id="59" presetID="22" presetClass="entr" presetSubtype="8" fill="hold" grpId="0" nodeType="clickEffect">
                                  <p:stCondLst>
                                    <p:cond delay="0"/>
                                  </p:stCondLst>
                                  <p:childTnLst>
                                    <p:set>
                                      <p:cBhvr>
                                        <p:cTn id="60" dur="1" fill="hold">
                                          <p:stCondLst>
                                            <p:cond delay="0"/>
                                          </p:stCondLst>
                                        </p:cTn>
                                        <p:tgtEl>
                                          <p:spTgt spid="3"/>
                                        </p:tgtEl>
                                        <p:attrNameLst>
                                          <p:attrName>style.visibility</p:attrName>
                                        </p:attrNameLst>
                                      </p:cBhvr>
                                      <p:to>
                                        <p:strVal val="visible"/>
                                      </p:to>
                                    </p:set>
                                    <p:animEffect transition="in" filter="wipe(left)">
                                      <p:cBhvr>
                                        <p:cTn id="61"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555" grpId="0" uiExpand="1" build="p" autoUpdateAnimBg="0"/>
      <p:bldP spid="23576" grpId="0" autoUpdateAnimBg="0"/>
      <p:bldP spid="23577" grpId="0" autoUpdateAnimBg="0"/>
      <p:bldP spid="3"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ChangeArrowheads="1"/>
          </p:cNvSpPr>
          <p:nvPr>
            <p:ph type="title" idx="4294967295"/>
          </p:nvPr>
        </p:nvSpPr>
        <p:spPr>
          <a:xfrm>
            <a:off x="1992313" y="188913"/>
            <a:ext cx="8229600" cy="1371600"/>
          </a:xfrm>
        </p:spPr>
        <p:txBody>
          <a:bodyPr/>
          <a:lstStyle/>
          <a:p>
            <a:pPr algn="ctr" eaLnBrk="1" hangingPunct="1"/>
            <a:r>
              <a:rPr lang="zh-CN" altLang="en-US" dirty="0">
                <a:solidFill>
                  <a:srgbClr val="008000"/>
                </a:solidFill>
                <a:latin typeface="Comic Sans MS" panose="030F0702030302020204" pitchFamily="66" charset="0"/>
                <a:ea typeface="黑体" panose="02010609060101010101" pitchFamily="49" charset="-122"/>
              </a:rPr>
              <a:t>一阶</a:t>
            </a:r>
            <a:r>
              <a:rPr lang="en-US" altLang="zh-CN" dirty="0" err="1">
                <a:solidFill>
                  <a:srgbClr val="008000"/>
                </a:solidFill>
                <a:latin typeface="Comic Sans MS" panose="030F0702030302020204" pitchFamily="66" charset="0"/>
                <a:ea typeface="黑体" panose="02010609060101010101" pitchFamily="49" charset="-122"/>
              </a:rPr>
              <a:t>Sugeno</a:t>
            </a:r>
            <a:r>
              <a:rPr lang="en-US" altLang="zh-CN" dirty="0">
                <a:solidFill>
                  <a:srgbClr val="008000"/>
                </a:solidFill>
                <a:latin typeface="Comic Sans MS" panose="030F0702030302020204" pitchFamily="66" charset="0"/>
                <a:ea typeface="黑体" panose="02010609060101010101" pitchFamily="49" charset="-122"/>
              </a:rPr>
              <a:t> </a:t>
            </a:r>
            <a:r>
              <a:rPr lang="zh-CN" altLang="en-US" dirty="0">
                <a:solidFill>
                  <a:srgbClr val="008000"/>
                </a:solidFill>
                <a:latin typeface="Comic Sans MS" panose="030F0702030302020204" pitchFamily="66" charset="0"/>
                <a:ea typeface="黑体" panose="02010609060101010101" pitchFamily="49" charset="-122"/>
              </a:rPr>
              <a:t>模糊模型举例</a:t>
            </a:r>
          </a:p>
        </p:txBody>
      </p:sp>
      <p:sp>
        <p:nvSpPr>
          <p:cNvPr id="24579" name="Rectangle 3"/>
          <p:cNvSpPr>
            <a:spLocks noGrp="1" noChangeArrowheads="1"/>
          </p:cNvSpPr>
          <p:nvPr>
            <p:ph type="body" sz="half" idx="4294967295"/>
          </p:nvPr>
        </p:nvSpPr>
        <p:spPr>
          <a:xfrm>
            <a:off x="695400" y="1524003"/>
            <a:ext cx="10729192" cy="5184775"/>
          </a:xfrm>
        </p:spPr>
        <p:txBody>
          <a:bodyPr/>
          <a:lstStyle/>
          <a:p>
            <a:pPr eaLnBrk="1" hangingPunct="1"/>
            <a:r>
              <a:rPr lang="zh-CN" altLang="en-US" sz="2800" dirty="0">
                <a:ea typeface="黑体" panose="02010609060101010101" pitchFamily="49" charset="-122"/>
              </a:rPr>
              <a:t>只有一个输入</a:t>
            </a:r>
            <a:r>
              <a:rPr lang="en-US" altLang="zh-CN" sz="2800" dirty="0">
                <a:ea typeface="黑体" panose="02010609060101010101" pitchFamily="49" charset="-122"/>
              </a:rPr>
              <a:t>x</a:t>
            </a:r>
            <a:r>
              <a:rPr lang="zh-CN" altLang="en-US" sz="2800" dirty="0">
                <a:ea typeface="黑体" panose="02010609060101010101" pitchFamily="49" charset="-122"/>
              </a:rPr>
              <a:t>，</a:t>
            </a:r>
            <a:r>
              <a:rPr lang="en-US" altLang="zh-CN" sz="2800" dirty="0">
                <a:ea typeface="黑体" panose="02010609060101010101" pitchFamily="49" charset="-122"/>
              </a:rPr>
              <a:t>F</a:t>
            </a:r>
            <a:r>
              <a:rPr lang="zh-CN" altLang="en-US" sz="2800" dirty="0">
                <a:ea typeface="黑体" panose="02010609060101010101" pitchFamily="49" charset="-122"/>
              </a:rPr>
              <a:t>变量取值只有两个：</a:t>
            </a:r>
            <a:r>
              <a:rPr lang="en-US" altLang="zh-CN" sz="2800" dirty="0">
                <a:ea typeface="黑体" panose="02010609060101010101" pitchFamily="49" charset="-122"/>
              </a:rPr>
              <a:t>P(</a:t>
            </a:r>
            <a:r>
              <a:rPr lang="zh-CN" altLang="en-US" sz="2800" dirty="0">
                <a:ea typeface="黑体" panose="02010609060101010101" pitchFamily="49" charset="-122"/>
              </a:rPr>
              <a:t>正</a:t>
            </a:r>
            <a:r>
              <a:rPr lang="en-US" altLang="zh-CN" sz="2800" dirty="0">
                <a:ea typeface="黑体" panose="02010609060101010101" pitchFamily="49" charset="-122"/>
              </a:rPr>
              <a:t>)</a:t>
            </a:r>
            <a:r>
              <a:rPr lang="zh-CN" altLang="en-US" sz="2800" dirty="0">
                <a:ea typeface="黑体" panose="02010609060101010101" pitchFamily="49" charset="-122"/>
              </a:rPr>
              <a:t>、</a:t>
            </a:r>
            <a:r>
              <a:rPr lang="en-US" altLang="zh-CN" sz="2800" dirty="0">
                <a:ea typeface="黑体" panose="02010609060101010101" pitchFamily="49" charset="-122"/>
              </a:rPr>
              <a:t>N(</a:t>
            </a:r>
            <a:r>
              <a:rPr lang="zh-CN" altLang="en-US" sz="2800" dirty="0">
                <a:ea typeface="黑体" panose="02010609060101010101" pitchFamily="49" charset="-122"/>
              </a:rPr>
              <a:t>负</a:t>
            </a:r>
            <a:r>
              <a:rPr lang="en-US" altLang="zh-CN" sz="2800" dirty="0">
                <a:ea typeface="黑体" panose="02010609060101010101" pitchFamily="49" charset="-122"/>
              </a:rPr>
              <a:t>)</a:t>
            </a:r>
          </a:p>
          <a:p>
            <a:pPr lvl="1" eaLnBrk="1" hangingPunct="1">
              <a:buNone/>
            </a:pPr>
            <a:r>
              <a:rPr lang="en-US" altLang="zh-CN" b="1" dirty="0">
                <a:ea typeface="楷体_GB2312" pitchFamily="1" charset="-122"/>
              </a:rPr>
              <a:t>    </a:t>
            </a:r>
            <a:r>
              <a:rPr lang="en-US" altLang="zh-CN" b="1" dirty="0">
                <a:solidFill>
                  <a:srgbClr val="FF0000"/>
                </a:solidFill>
                <a:ea typeface="楷体_GB2312" pitchFamily="1" charset="-122"/>
              </a:rPr>
              <a:t>P(x)=0.5+0.5x     </a:t>
            </a:r>
            <a:r>
              <a:rPr lang="en-US" altLang="zh-CN" b="1" dirty="0">
                <a:solidFill>
                  <a:srgbClr val="0D0DFF"/>
                </a:solidFill>
                <a:ea typeface="楷体_GB2312" pitchFamily="1" charset="-122"/>
              </a:rPr>
              <a:t>N(x)=0.5-0.5x       </a:t>
            </a:r>
            <a:r>
              <a:rPr lang="en-US" altLang="zh-CN" b="1" dirty="0">
                <a:ea typeface="楷体_GB2312" pitchFamily="1" charset="-122"/>
              </a:rPr>
              <a:t>-1 </a:t>
            </a:r>
            <a:r>
              <a:rPr lang="en-US" altLang="zh-CN" b="1" dirty="0"/>
              <a:t>≤ </a:t>
            </a:r>
            <a:r>
              <a:rPr lang="en-US" altLang="zh-CN" b="1" dirty="0">
                <a:ea typeface="楷体_GB2312" pitchFamily="1" charset="-122"/>
              </a:rPr>
              <a:t>x </a:t>
            </a:r>
            <a:r>
              <a:rPr lang="en-US" altLang="zh-CN" b="1" dirty="0"/>
              <a:t>≤ </a:t>
            </a:r>
            <a:r>
              <a:rPr lang="en-US" altLang="zh-CN" b="1" dirty="0">
                <a:ea typeface="楷体_GB2312" pitchFamily="1" charset="-122"/>
              </a:rPr>
              <a:t>1</a:t>
            </a:r>
          </a:p>
          <a:p>
            <a:pPr lvl="1" eaLnBrk="1" hangingPunct="1">
              <a:buFont typeface="Wingdings" panose="05000000000000000000" pitchFamily="2" charset="2"/>
              <a:buNone/>
            </a:pPr>
            <a:r>
              <a:rPr lang="en-US" altLang="zh-CN" b="1" dirty="0">
                <a:solidFill>
                  <a:srgbClr val="008000"/>
                </a:solidFill>
                <a:ea typeface="楷体_GB2312" pitchFamily="1" charset="-122"/>
              </a:rPr>
              <a:t> R</a:t>
            </a:r>
            <a:r>
              <a:rPr lang="en-US" altLang="zh-CN" b="1" baseline="-25000" dirty="0">
                <a:solidFill>
                  <a:srgbClr val="008000"/>
                </a:solidFill>
                <a:ea typeface="楷体_GB2312" pitchFamily="1" charset="-122"/>
              </a:rPr>
              <a:t>1</a:t>
            </a:r>
            <a:r>
              <a:rPr lang="zh-CN" altLang="en-US" b="1" dirty="0">
                <a:solidFill>
                  <a:srgbClr val="008000"/>
                </a:solidFill>
                <a:ea typeface="楷体_GB2312" pitchFamily="1" charset="-122"/>
              </a:rPr>
              <a:t>：</a:t>
            </a:r>
            <a:r>
              <a:rPr lang="en-US" altLang="zh-CN" b="1" dirty="0">
                <a:solidFill>
                  <a:srgbClr val="008000"/>
                </a:solidFill>
                <a:ea typeface="楷体_GB2312" pitchFamily="1" charset="-122"/>
              </a:rPr>
              <a:t>IF </a:t>
            </a:r>
            <a:r>
              <a:rPr lang="en-US" altLang="zh-CN" b="1" u="sng" dirty="0">
                <a:solidFill>
                  <a:srgbClr val="008000"/>
                </a:solidFill>
                <a:ea typeface="楷体_GB2312" pitchFamily="1" charset="-122"/>
              </a:rPr>
              <a:t>x </a:t>
            </a:r>
            <a:r>
              <a:rPr lang="zh-CN" altLang="en-US" b="1" u="sng" dirty="0">
                <a:solidFill>
                  <a:srgbClr val="008000"/>
                </a:solidFill>
                <a:ea typeface="楷体_GB2312" pitchFamily="1" charset="-122"/>
              </a:rPr>
              <a:t>是正</a:t>
            </a:r>
            <a:r>
              <a:rPr lang="zh-CN" altLang="en-US" b="1" dirty="0">
                <a:solidFill>
                  <a:srgbClr val="008000"/>
                </a:solidFill>
                <a:ea typeface="楷体_GB2312" pitchFamily="1" charset="-122"/>
              </a:rPr>
              <a:t>  </a:t>
            </a:r>
            <a:r>
              <a:rPr lang="en-US" altLang="zh-CN" b="1" dirty="0">
                <a:solidFill>
                  <a:srgbClr val="008000"/>
                </a:solidFill>
                <a:ea typeface="楷体_GB2312" pitchFamily="1" charset="-122"/>
              </a:rPr>
              <a:t>THEN b</a:t>
            </a:r>
            <a:r>
              <a:rPr lang="en-US" altLang="zh-CN" b="1" baseline="-25000" dirty="0">
                <a:solidFill>
                  <a:srgbClr val="008000"/>
                </a:solidFill>
                <a:ea typeface="楷体_GB2312" pitchFamily="1" charset="-122"/>
              </a:rPr>
              <a:t>1</a:t>
            </a:r>
            <a:r>
              <a:rPr lang="en-US" altLang="zh-CN" b="1" dirty="0">
                <a:solidFill>
                  <a:srgbClr val="008000"/>
                </a:solidFill>
                <a:ea typeface="楷体_GB2312" pitchFamily="1" charset="-122"/>
              </a:rPr>
              <a:t>=1+x</a:t>
            </a:r>
          </a:p>
          <a:p>
            <a:pPr lvl="1" eaLnBrk="1" hangingPunct="1">
              <a:buFont typeface="Wingdings" panose="05000000000000000000" pitchFamily="2" charset="2"/>
              <a:buNone/>
            </a:pPr>
            <a:r>
              <a:rPr lang="en-US" altLang="zh-CN" b="1" dirty="0">
                <a:solidFill>
                  <a:srgbClr val="008000"/>
                </a:solidFill>
                <a:ea typeface="楷体_GB2312" pitchFamily="1" charset="-122"/>
              </a:rPr>
              <a:t> R</a:t>
            </a:r>
            <a:r>
              <a:rPr lang="en-US" altLang="zh-CN" b="1" baseline="-25000" dirty="0">
                <a:solidFill>
                  <a:srgbClr val="008000"/>
                </a:solidFill>
                <a:ea typeface="楷体_GB2312" pitchFamily="1" charset="-122"/>
              </a:rPr>
              <a:t>2</a:t>
            </a:r>
            <a:r>
              <a:rPr lang="zh-CN" altLang="en-US" b="1" dirty="0">
                <a:solidFill>
                  <a:srgbClr val="008000"/>
                </a:solidFill>
                <a:ea typeface="楷体_GB2312" pitchFamily="1" charset="-122"/>
              </a:rPr>
              <a:t>：</a:t>
            </a:r>
            <a:r>
              <a:rPr lang="en-US" altLang="zh-CN" b="1" dirty="0">
                <a:solidFill>
                  <a:srgbClr val="008000"/>
                </a:solidFill>
                <a:ea typeface="楷体_GB2312" pitchFamily="1" charset="-122"/>
              </a:rPr>
              <a:t>IF </a:t>
            </a:r>
            <a:r>
              <a:rPr lang="en-US" altLang="zh-CN" b="1" u="sng" dirty="0">
                <a:solidFill>
                  <a:srgbClr val="008000"/>
                </a:solidFill>
                <a:ea typeface="楷体_GB2312" pitchFamily="1" charset="-122"/>
              </a:rPr>
              <a:t>x </a:t>
            </a:r>
            <a:r>
              <a:rPr lang="zh-CN" altLang="en-US" b="1" u="sng" dirty="0">
                <a:solidFill>
                  <a:srgbClr val="008000"/>
                </a:solidFill>
                <a:ea typeface="楷体_GB2312" pitchFamily="1" charset="-122"/>
              </a:rPr>
              <a:t>是负</a:t>
            </a:r>
            <a:r>
              <a:rPr lang="zh-CN" altLang="en-US" b="1" dirty="0">
                <a:solidFill>
                  <a:srgbClr val="008000"/>
                </a:solidFill>
                <a:ea typeface="楷体_GB2312" pitchFamily="1" charset="-122"/>
              </a:rPr>
              <a:t>  </a:t>
            </a:r>
            <a:r>
              <a:rPr lang="en-US" altLang="zh-CN" b="1" dirty="0">
                <a:solidFill>
                  <a:srgbClr val="008000"/>
                </a:solidFill>
                <a:ea typeface="楷体_GB2312" pitchFamily="1" charset="-122"/>
              </a:rPr>
              <a:t>THEN b</a:t>
            </a:r>
            <a:r>
              <a:rPr lang="en-US" altLang="zh-CN" b="1" baseline="-25000" dirty="0">
                <a:solidFill>
                  <a:srgbClr val="008000"/>
                </a:solidFill>
                <a:ea typeface="楷体_GB2312" pitchFamily="1" charset="-122"/>
              </a:rPr>
              <a:t>2</a:t>
            </a:r>
            <a:r>
              <a:rPr lang="en-US" altLang="zh-CN" b="1" dirty="0">
                <a:solidFill>
                  <a:srgbClr val="008000"/>
                </a:solidFill>
                <a:ea typeface="楷体_GB2312" pitchFamily="1" charset="-122"/>
              </a:rPr>
              <a:t>=2+x</a:t>
            </a:r>
          </a:p>
          <a:p>
            <a:pPr eaLnBrk="1" hangingPunct="1">
              <a:buFont typeface="Wingdings" panose="05000000000000000000" pitchFamily="2" charset="2"/>
              <a:buNone/>
            </a:pPr>
            <a:r>
              <a:rPr lang="zh-CN" altLang="en-US" b="1" dirty="0">
                <a:solidFill>
                  <a:srgbClr val="7030A0"/>
                </a:solidFill>
                <a:ea typeface="楷体_GB2312" pitchFamily="1" charset="-122"/>
              </a:rPr>
              <a:t>解：</a:t>
            </a:r>
            <a:r>
              <a:rPr lang="en-US" altLang="zh-CN" sz="2800" b="1" dirty="0">
                <a:solidFill>
                  <a:srgbClr val="7030A0"/>
                </a:solidFill>
                <a:ea typeface="楷体_GB2312" pitchFamily="1" charset="-122"/>
              </a:rPr>
              <a:t> </a:t>
            </a:r>
            <a:r>
              <a:rPr lang="zh-CN" altLang="en-US" sz="2800" b="1" dirty="0">
                <a:ea typeface="楷体_GB2312" pitchFamily="1" charset="-122"/>
              </a:rPr>
              <a:t>当  </a:t>
            </a:r>
            <a:r>
              <a:rPr lang="en-US" altLang="zh-CN" sz="2800" b="1" dirty="0">
                <a:ea typeface="楷体_GB2312" pitchFamily="1" charset="-122"/>
              </a:rPr>
              <a:t>-1 ≤ x ≤</a:t>
            </a:r>
            <a:r>
              <a:rPr lang="zh-CN" altLang="en-US" sz="2800" b="1" dirty="0">
                <a:ea typeface="楷体_GB2312" pitchFamily="1" charset="-122"/>
              </a:rPr>
              <a:t> </a:t>
            </a:r>
            <a:r>
              <a:rPr lang="en-US" altLang="zh-CN" sz="2800" b="1" dirty="0">
                <a:ea typeface="楷体_GB2312" pitchFamily="1" charset="-122"/>
              </a:rPr>
              <a:t>1</a:t>
            </a:r>
            <a:r>
              <a:rPr lang="zh-CN" altLang="en-US" sz="2800" b="1" dirty="0">
                <a:ea typeface="楷体_GB2312" pitchFamily="1" charset="-122"/>
              </a:rPr>
              <a:t>时，</a:t>
            </a:r>
            <a:r>
              <a:rPr lang="en-US" altLang="zh-CN" sz="2800" b="1" dirty="0">
                <a:ea typeface="楷体_GB2312" pitchFamily="1" charset="-122"/>
              </a:rPr>
              <a:t> </a:t>
            </a:r>
          </a:p>
          <a:p>
            <a:pPr eaLnBrk="1" hangingPunct="1">
              <a:buNone/>
            </a:pPr>
            <a:r>
              <a:rPr lang="en-US" altLang="zh-CN" sz="2800" b="1" dirty="0">
                <a:ea typeface="楷体_GB2312" pitchFamily="1" charset="-122"/>
              </a:rPr>
              <a:t>            w</a:t>
            </a:r>
            <a:r>
              <a:rPr lang="en-US" altLang="zh-CN" sz="2800" b="1" baseline="-25000" dirty="0">
                <a:ea typeface="楷体_GB2312" pitchFamily="1" charset="-122"/>
              </a:rPr>
              <a:t>1</a:t>
            </a:r>
            <a:r>
              <a:rPr lang="en-US" altLang="zh-CN" sz="2800" b="1" dirty="0">
                <a:ea typeface="楷体_GB2312" pitchFamily="1" charset="-122"/>
              </a:rPr>
              <a:t>=</a:t>
            </a:r>
            <a:r>
              <a:rPr lang="en-US" altLang="zh-CN" sz="2800" b="1" dirty="0">
                <a:solidFill>
                  <a:srgbClr val="FF0000"/>
                </a:solidFill>
                <a:ea typeface="楷体_GB2312" pitchFamily="1" charset="-122"/>
              </a:rPr>
              <a:t>P(x)=0.5+0.5x     </a:t>
            </a:r>
          </a:p>
          <a:p>
            <a:pPr eaLnBrk="1" hangingPunct="1">
              <a:buFont typeface="Wingdings" panose="05000000000000000000" pitchFamily="2" charset="2"/>
              <a:buNone/>
            </a:pPr>
            <a:r>
              <a:rPr lang="en-US" altLang="zh-CN" sz="2800" b="1" dirty="0">
                <a:ea typeface="楷体_GB2312" pitchFamily="1" charset="-122"/>
              </a:rPr>
              <a:t>            w</a:t>
            </a:r>
            <a:r>
              <a:rPr lang="en-US" altLang="zh-CN" sz="2800" b="1" baseline="-25000" dirty="0">
                <a:ea typeface="楷体_GB2312" pitchFamily="1" charset="-122"/>
              </a:rPr>
              <a:t>2</a:t>
            </a:r>
            <a:r>
              <a:rPr lang="en-US" altLang="zh-CN" sz="2800" b="1" dirty="0">
                <a:ea typeface="楷体_GB2312" pitchFamily="1" charset="-122"/>
              </a:rPr>
              <a:t>=</a:t>
            </a:r>
            <a:r>
              <a:rPr lang="en-US" altLang="zh-CN" sz="2800" b="1" dirty="0">
                <a:solidFill>
                  <a:srgbClr val="0D0DFF"/>
                </a:solidFill>
                <a:ea typeface="楷体_GB2312" pitchFamily="1" charset="-122"/>
              </a:rPr>
              <a:t>N(x)=0.5-0.5x</a:t>
            </a:r>
          </a:p>
          <a:p>
            <a:pPr eaLnBrk="1" hangingPunct="1">
              <a:lnSpc>
                <a:spcPct val="80000"/>
              </a:lnSpc>
              <a:buFont typeface="Wingdings" panose="05000000000000000000" pitchFamily="2" charset="2"/>
              <a:buNone/>
            </a:pPr>
            <a:endParaRPr lang="en-US" altLang="zh-CN" sz="2800" b="1" dirty="0">
              <a:ea typeface="楷体_GB2312" pitchFamily="1" charset="-122"/>
            </a:endParaRPr>
          </a:p>
          <a:p>
            <a:pPr eaLnBrk="1" hangingPunct="1">
              <a:lnSpc>
                <a:spcPct val="80000"/>
              </a:lnSpc>
              <a:buFont typeface="Wingdings" panose="05000000000000000000" pitchFamily="2" charset="2"/>
              <a:buNone/>
            </a:pPr>
            <a:endParaRPr lang="en-US" altLang="zh-CN" sz="2800" b="1" dirty="0">
              <a:ea typeface="楷体_GB2312" pitchFamily="1" charset="-122"/>
            </a:endParaRPr>
          </a:p>
          <a:p>
            <a:pPr lvl="1" eaLnBrk="1" hangingPunct="1">
              <a:lnSpc>
                <a:spcPct val="80000"/>
              </a:lnSpc>
              <a:buFont typeface="Wingdings" panose="05000000000000000000" pitchFamily="2" charset="2"/>
              <a:buNone/>
            </a:pPr>
            <a:endParaRPr lang="en-US" altLang="zh-CN" sz="1400" b="1" dirty="0">
              <a:ea typeface="楷体_GB2312" pitchFamily="1" charset="-122"/>
            </a:endParaRPr>
          </a:p>
          <a:p>
            <a:pPr lvl="1" eaLnBrk="1" hangingPunct="1">
              <a:lnSpc>
                <a:spcPct val="80000"/>
              </a:lnSpc>
              <a:buFont typeface="Wingdings" panose="05000000000000000000" pitchFamily="2" charset="2"/>
              <a:buNone/>
            </a:pPr>
            <a:endParaRPr lang="en-US" altLang="zh-CN" sz="1400" b="1" dirty="0">
              <a:ea typeface="楷体_GB2312" pitchFamily="1" charset="-122"/>
            </a:endParaRPr>
          </a:p>
          <a:p>
            <a:pPr lvl="1" eaLnBrk="1" hangingPunct="1">
              <a:lnSpc>
                <a:spcPct val="80000"/>
              </a:lnSpc>
              <a:buFont typeface="Wingdings" panose="05000000000000000000" pitchFamily="2" charset="2"/>
              <a:buNone/>
            </a:pPr>
            <a:endParaRPr lang="en-US" altLang="zh-CN" sz="1400" b="1" dirty="0">
              <a:ea typeface="楷体_GB2312" pitchFamily="1" charset="-122"/>
            </a:endParaRPr>
          </a:p>
          <a:p>
            <a:pPr lvl="1" eaLnBrk="1" hangingPunct="1">
              <a:lnSpc>
                <a:spcPct val="80000"/>
              </a:lnSpc>
              <a:buFont typeface="Wingdings" panose="05000000000000000000" pitchFamily="2" charset="2"/>
              <a:buNone/>
            </a:pPr>
            <a:endParaRPr lang="en-US" altLang="zh-CN" sz="1400" b="1" dirty="0">
              <a:ea typeface="楷体_GB2312" pitchFamily="1" charset="-122"/>
            </a:endParaRPr>
          </a:p>
          <a:p>
            <a:pPr lvl="1" eaLnBrk="1" hangingPunct="1">
              <a:lnSpc>
                <a:spcPct val="80000"/>
              </a:lnSpc>
              <a:buFont typeface="Wingdings" panose="05000000000000000000" pitchFamily="2" charset="2"/>
              <a:buNone/>
            </a:pPr>
            <a:endParaRPr lang="en-US" altLang="zh-CN" sz="1400" b="1" dirty="0">
              <a:ea typeface="楷体_GB2312" pitchFamily="1" charset="-122"/>
            </a:endParaRPr>
          </a:p>
          <a:p>
            <a:pPr lvl="1" eaLnBrk="1" hangingPunct="1">
              <a:lnSpc>
                <a:spcPct val="80000"/>
              </a:lnSpc>
              <a:buFont typeface="Wingdings" panose="05000000000000000000" pitchFamily="2" charset="2"/>
              <a:buNone/>
            </a:pPr>
            <a:endParaRPr lang="en-US" altLang="zh-CN" sz="1400" b="1" dirty="0">
              <a:ea typeface="楷体_GB2312" pitchFamily="1" charset="-122"/>
            </a:endParaRPr>
          </a:p>
          <a:p>
            <a:pPr eaLnBrk="1" hangingPunct="1">
              <a:lnSpc>
                <a:spcPct val="80000"/>
              </a:lnSpc>
              <a:buFont typeface="Wingdings" panose="05000000000000000000" pitchFamily="2" charset="2"/>
              <a:buNone/>
            </a:pPr>
            <a:endParaRPr lang="en-US" altLang="zh-CN" sz="2000" b="1" dirty="0">
              <a:ea typeface="楷体_GB2312" pitchFamily="1" charset="-122"/>
            </a:endParaRPr>
          </a:p>
          <a:p>
            <a:pPr eaLnBrk="1" hangingPunct="1">
              <a:lnSpc>
                <a:spcPct val="80000"/>
              </a:lnSpc>
              <a:buFont typeface="Wingdings" panose="05000000000000000000" pitchFamily="2" charset="2"/>
              <a:buNone/>
            </a:pPr>
            <a:endParaRPr lang="en-US" altLang="zh-CN" sz="2000" b="1" dirty="0">
              <a:ea typeface="楷体_GB2312" pitchFamily="1" charset="-122"/>
            </a:endParaRPr>
          </a:p>
          <a:p>
            <a:pPr eaLnBrk="1" hangingPunct="1">
              <a:lnSpc>
                <a:spcPct val="80000"/>
              </a:lnSpc>
              <a:buFont typeface="Wingdings" panose="05000000000000000000" pitchFamily="2" charset="2"/>
              <a:buNone/>
            </a:pPr>
            <a:endParaRPr lang="en-US" altLang="zh-CN" sz="2000" b="1" dirty="0">
              <a:ea typeface="楷体_GB2312" pitchFamily="1" charset="-122"/>
            </a:endParaRPr>
          </a:p>
        </p:txBody>
      </p:sp>
      <p:graphicFrame>
        <p:nvGraphicFramePr>
          <p:cNvPr id="24580" name="Object 4"/>
          <p:cNvGraphicFramePr>
            <a:graphicFrameLocks noGrp="1" noChangeAspect="1"/>
          </p:cNvGraphicFramePr>
          <p:nvPr>
            <p:ph sz="quarter" idx="4294967295"/>
            <p:extLst>
              <p:ext uri="{D42A27DB-BD31-4B8C-83A1-F6EECF244321}">
                <p14:modId xmlns:p14="http://schemas.microsoft.com/office/powerpoint/2010/main" val="2292715778"/>
              </p:ext>
            </p:extLst>
          </p:nvPr>
        </p:nvGraphicFramePr>
        <p:xfrm>
          <a:off x="1459559" y="5381079"/>
          <a:ext cx="2226292" cy="983203"/>
        </p:xfrm>
        <a:graphic>
          <a:graphicData uri="http://schemas.openxmlformats.org/presentationml/2006/ole">
            <mc:AlternateContent xmlns:mc="http://schemas.openxmlformats.org/markup-compatibility/2006">
              <mc:Choice xmlns:v="urn:schemas-microsoft-com:vml" Requires="v">
                <p:oleObj name="Equation" r:id="rId2" imgW="978217" imgH="432117" progId="Equation.DSMT4">
                  <p:embed/>
                </p:oleObj>
              </mc:Choice>
              <mc:Fallback>
                <p:oleObj name="Equation" r:id="rId2" imgW="978217" imgH="432117" progId="Equation.DSMT4">
                  <p:embed/>
                  <p:pic>
                    <p:nvPicPr>
                      <p:cNvPr id="24580" name="Object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59559" y="5381079"/>
                        <a:ext cx="2226292" cy="983203"/>
                      </a:xfrm>
                      <a:prstGeom prst="rect">
                        <a:avLst/>
                      </a:prstGeom>
                      <a:noFill/>
                      <a:ln>
                        <a:noFill/>
                      </a:ln>
                      <a:effectLst/>
                    </p:spPr>
                  </p:pic>
                </p:oleObj>
              </mc:Fallback>
            </mc:AlternateContent>
          </a:graphicData>
        </a:graphic>
      </p:graphicFrame>
      <p:grpSp>
        <p:nvGrpSpPr>
          <p:cNvPr id="24581" name="Group 5"/>
          <p:cNvGrpSpPr>
            <a:grpSpLocks/>
          </p:cNvGrpSpPr>
          <p:nvPr/>
        </p:nvGrpSpPr>
        <p:grpSpPr bwMode="auto">
          <a:xfrm>
            <a:off x="7464102" y="2852936"/>
            <a:ext cx="3600450" cy="1916112"/>
            <a:chOff x="0" y="0"/>
            <a:chExt cx="2268" cy="1207"/>
          </a:xfrm>
        </p:grpSpPr>
        <p:grpSp>
          <p:nvGrpSpPr>
            <p:cNvPr id="24582" name="Group 6"/>
            <p:cNvGrpSpPr>
              <a:grpSpLocks/>
            </p:cNvGrpSpPr>
            <p:nvPr/>
          </p:nvGrpSpPr>
          <p:grpSpPr bwMode="auto">
            <a:xfrm>
              <a:off x="0" y="0"/>
              <a:ext cx="2268" cy="1207"/>
              <a:chOff x="0" y="0"/>
              <a:chExt cx="2268" cy="1207"/>
            </a:xfrm>
          </p:grpSpPr>
          <p:sp>
            <p:nvSpPr>
              <p:cNvPr id="24583" name="Line 7"/>
              <p:cNvSpPr>
                <a:spLocks noChangeShapeType="1"/>
              </p:cNvSpPr>
              <p:nvPr/>
            </p:nvSpPr>
            <p:spPr bwMode="auto">
              <a:xfrm>
                <a:off x="0" y="997"/>
                <a:ext cx="2132" cy="0"/>
              </a:xfrm>
              <a:prstGeom prst="line">
                <a:avLst/>
              </a:prstGeom>
              <a:noFill/>
              <a:ln w="19050" cmpd="sng">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4584" name="Line 8"/>
              <p:cNvSpPr>
                <a:spLocks noChangeShapeType="1"/>
              </p:cNvSpPr>
              <p:nvPr/>
            </p:nvSpPr>
            <p:spPr bwMode="auto">
              <a:xfrm flipV="1">
                <a:off x="1044" y="90"/>
                <a:ext cx="0" cy="907"/>
              </a:xfrm>
              <a:prstGeom prst="line">
                <a:avLst/>
              </a:prstGeom>
              <a:noFill/>
              <a:ln w="19050" cmpd="sng">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4585" name="Line 9"/>
              <p:cNvSpPr>
                <a:spLocks noChangeShapeType="1"/>
              </p:cNvSpPr>
              <p:nvPr/>
            </p:nvSpPr>
            <p:spPr bwMode="auto">
              <a:xfrm flipV="1">
                <a:off x="408" y="952"/>
                <a:ext cx="0" cy="45"/>
              </a:xfrm>
              <a:prstGeom prst="line">
                <a:avLst/>
              </a:prstGeom>
              <a:noFill/>
              <a:ln w="9525" cmpd="sng">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4586" name="Line 10"/>
              <p:cNvSpPr>
                <a:spLocks noChangeShapeType="1"/>
              </p:cNvSpPr>
              <p:nvPr/>
            </p:nvSpPr>
            <p:spPr bwMode="auto">
              <a:xfrm flipV="1">
                <a:off x="1679" y="952"/>
                <a:ext cx="0" cy="45"/>
              </a:xfrm>
              <a:prstGeom prst="line">
                <a:avLst/>
              </a:prstGeom>
              <a:noFill/>
              <a:ln w="9525" cmpd="sng">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4587" name="Line 11"/>
              <p:cNvSpPr>
                <a:spLocks noChangeShapeType="1"/>
              </p:cNvSpPr>
              <p:nvPr/>
            </p:nvSpPr>
            <p:spPr bwMode="auto">
              <a:xfrm>
                <a:off x="1044" y="317"/>
                <a:ext cx="45" cy="0"/>
              </a:xfrm>
              <a:prstGeom prst="line">
                <a:avLst/>
              </a:prstGeom>
              <a:noFill/>
              <a:ln w="9525" cmpd="sng">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4588" name="Line 12"/>
              <p:cNvSpPr>
                <a:spLocks noChangeShapeType="1"/>
              </p:cNvSpPr>
              <p:nvPr/>
            </p:nvSpPr>
            <p:spPr bwMode="auto">
              <a:xfrm flipH="1">
                <a:off x="408" y="317"/>
                <a:ext cx="1271" cy="680"/>
              </a:xfrm>
              <a:prstGeom prst="line">
                <a:avLst/>
              </a:prstGeom>
              <a:noFill/>
              <a:ln w="28575" cmpd="sng">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4589" name="Line 13"/>
              <p:cNvSpPr>
                <a:spLocks noChangeShapeType="1"/>
              </p:cNvSpPr>
              <p:nvPr/>
            </p:nvSpPr>
            <p:spPr bwMode="auto">
              <a:xfrm flipH="1" flipV="1">
                <a:off x="408" y="317"/>
                <a:ext cx="1271" cy="680"/>
              </a:xfrm>
              <a:prstGeom prst="line">
                <a:avLst/>
              </a:prstGeom>
              <a:noFill/>
              <a:ln w="28575" cmpd="sng">
                <a:solidFill>
                  <a:srgbClr val="0000FE"/>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4590" name="Line 14"/>
              <p:cNvSpPr>
                <a:spLocks noChangeShapeType="1"/>
              </p:cNvSpPr>
              <p:nvPr/>
            </p:nvSpPr>
            <p:spPr bwMode="auto">
              <a:xfrm>
                <a:off x="1679" y="317"/>
                <a:ext cx="362" cy="0"/>
              </a:xfrm>
              <a:prstGeom prst="line">
                <a:avLst/>
              </a:prstGeom>
              <a:noFill/>
              <a:ln w="28575" cmpd="sng">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4591" name="Line 15"/>
              <p:cNvSpPr>
                <a:spLocks noChangeShapeType="1"/>
              </p:cNvSpPr>
              <p:nvPr/>
            </p:nvSpPr>
            <p:spPr bwMode="auto">
              <a:xfrm>
                <a:off x="46" y="317"/>
                <a:ext cx="362" cy="0"/>
              </a:xfrm>
              <a:prstGeom prst="line">
                <a:avLst/>
              </a:prstGeom>
              <a:noFill/>
              <a:ln w="28575" cmpd="sng">
                <a:solidFill>
                  <a:srgbClr val="0000FE"/>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4592" name="Line 16"/>
              <p:cNvSpPr>
                <a:spLocks noChangeShapeType="1"/>
              </p:cNvSpPr>
              <p:nvPr/>
            </p:nvSpPr>
            <p:spPr bwMode="auto">
              <a:xfrm>
                <a:off x="0" y="997"/>
                <a:ext cx="408" cy="0"/>
              </a:xfrm>
              <a:prstGeom prst="line">
                <a:avLst/>
              </a:prstGeom>
              <a:noFill/>
              <a:ln w="28575" cmpd="sng">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4593" name="Line 17"/>
              <p:cNvSpPr>
                <a:spLocks noChangeShapeType="1"/>
              </p:cNvSpPr>
              <p:nvPr/>
            </p:nvSpPr>
            <p:spPr bwMode="auto">
              <a:xfrm>
                <a:off x="1679" y="997"/>
                <a:ext cx="408" cy="0"/>
              </a:xfrm>
              <a:prstGeom prst="line">
                <a:avLst/>
              </a:prstGeom>
              <a:noFill/>
              <a:ln w="28575" cmpd="sng">
                <a:solidFill>
                  <a:srgbClr val="0000FE"/>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4594" name="Text Box 18"/>
              <p:cNvSpPr txBox="1">
                <a:spLocks noChangeArrowheads="1"/>
              </p:cNvSpPr>
              <p:nvPr/>
            </p:nvSpPr>
            <p:spPr bwMode="auto">
              <a:xfrm>
                <a:off x="1724" y="45"/>
                <a:ext cx="363"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a:t>P(x)</a:t>
                </a:r>
              </a:p>
            </p:txBody>
          </p:sp>
          <p:sp>
            <p:nvSpPr>
              <p:cNvPr id="24595" name="Text Box 19"/>
              <p:cNvSpPr txBox="1">
                <a:spLocks noChangeArrowheads="1"/>
              </p:cNvSpPr>
              <p:nvPr/>
            </p:nvSpPr>
            <p:spPr bwMode="auto">
              <a:xfrm>
                <a:off x="46" y="90"/>
                <a:ext cx="363"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a:t>N(x)</a:t>
                </a:r>
              </a:p>
            </p:txBody>
          </p:sp>
          <p:sp>
            <p:nvSpPr>
              <p:cNvPr id="24596" name="Text Box 20"/>
              <p:cNvSpPr txBox="1">
                <a:spLocks noChangeArrowheads="1"/>
              </p:cNvSpPr>
              <p:nvPr/>
            </p:nvSpPr>
            <p:spPr bwMode="auto">
              <a:xfrm>
                <a:off x="0" y="995"/>
                <a:ext cx="2268"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sz="1600"/>
                  <a:t>        -1               0                1           x</a:t>
                </a:r>
              </a:p>
            </p:txBody>
          </p:sp>
          <p:sp>
            <p:nvSpPr>
              <p:cNvPr id="24597" name="Rectangle 21"/>
              <p:cNvSpPr>
                <a:spLocks noChangeArrowheads="1"/>
              </p:cNvSpPr>
              <p:nvPr/>
            </p:nvSpPr>
            <p:spPr bwMode="auto">
              <a:xfrm>
                <a:off x="817" y="0"/>
                <a:ext cx="200"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r>
                  <a:rPr lang="el-GR" altLang="en-US"/>
                  <a:t>μ</a:t>
                </a:r>
                <a:endParaRPr lang="en-US" altLang="zh-CN"/>
              </a:p>
            </p:txBody>
          </p:sp>
          <p:sp>
            <p:nvSpPr>
              <p:cNvPr id="24598" name="Text Box 22"/>
              <p:cNvSpPr txBox="1">
                <a:spLocks noChangeArrowheads="1"/>
              </p:cNvSpPr>
              <p:nvPr/>
            </p:nvSpPr>
            <p:spPr bwMode="auto">
              <a:xfrm>
                <a:off x="907" y="181"/>
                <a:ext cx="363"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a:t>1</a:t>
                </a:r>
              </a:p>
            </p:txBody>
          </p:sp>
        </p:grpSp>
        <p:sp>
          <p:nvSpPr>
            <p:cNvPr id="24599" name="Text Box 23"/>
            <p:cNvSpPr txBox="1">
              <a:spLocks noChangeArrowheads="1"/>
            </p:cNvSpPr>
            <p:nvPr/>
          </p:nvSpPr>
          <p:spPr bwMode="auto">
            <a:xfrm>
              <a:off x="725" y="544"/>
              <a:ext cx="363"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sz="1400" b="1"/>
                <a:t>0.5</a:t>
              </a:r>
            </a:p>
          </p:txBody>
        </p:sp>
      </p:grpSp>
      <p:graphicFrame>
        <p:nvGraphicFramePr>
          <p:cNvPr id="24600" name="Object 24"/>
          <p:cNvGraphicFramePr>
            <a:graphicFrameLocks noChangeAspect="1"/>
          </p:cNvGraphicFramePr>
          <p:nvPr>
            <p:extLst>
              <p:ext uri="{D42A27DB-BD31-4B8C-83A1-F6EECF244321}">
                <p14:modId xmlns:p14="http://schemas.microsoft.com/office/powerpoint/2010/main" val="570936090"/>
              </p:ext>
            </p:extLst>
          </p:nvPr>
        </p:nvGraphicFramePr>
        <p:xfrm>
          <a:off x="9983267" y="5591868"/>
          <a:ext cx="1657349" cy="441844"/>
        </p:xfrm>
        <a:graphic>
          <a:graphicData uri="http://schemas.openxmlformats.org/presentationml/2006/ole">
            <mc:AlternateContent xmlns:mc="http://schemas.openxmlformats.org/markup-compatibility/2006">
              <mc:Choice xmlns:v="urn:schemas-microsoft-com:vml" Requires="v">
                <p:oleObj name="Equation" r:id="rId4" imgW="736560" imgH="177480" progId="Equation.DSMT4">
                  <p:embed/>
                </p:oleObj>
              </mc:Choice>
              <mc:Fallback>
                <p:oleObj name="Equation" r:id="rId4" imgW="736560" imgH="177480" progId="Equation.DSMT4">
                  <p:embed/>
                  <p:pic>
                    <p:nvPicPr>
                      <p:cNvPr id="24600" name="Object 24"/>
                      <p:cNvPicPr>
                        <a:picLocks noChangeAspect="1" noChangeArrowheads="1"/>
                      </p:cNvPicPr>
                      <p:nvPr/>
                    </p:nvPicPr>
                    <p:blipFill>
                      <a:blip r:embed="rId5"/>
                      <a:srcRect/>
                      <a:stretch>
                        <a:fillRect/>
                      </a:stretch>
                    </p:blipFill>
                    <p:spPr bwMode="auto">
                      <a:xfrm>
                        <a:off x="9983267" y="5591868"/>
                        <a:ext cx="1657349" cy="441844"/>
                      </a:xfrm>
                      <a:prstGeom prst="rect">
                        <a:avLst/>
                      </a:prstGeom>
                      <a:noFill/>
                      <a:ln>
                        <a:noFill/>
                      </a:ln>
                    </p:spPr>
                  </p:pic>
                </p:oleObj>
              </mc:Fallback>
            </mc:AlternateContent>
          </a:graphicData>
        </a:graphic>
      </p:graphicFrame>
      <p:graphicFrame>
        <p:nvGraphicFramePr>
          <p:cNvPr id="24601" name="Object 25"/>
          <p:cNvGraphicFramePr>
            <a:graphicFrameLocks noChangeAspect="1"/>
          </p:cNvGraphicFramePr>
          <p:nvPr>
            <p:extLst>
              <p:ext uri="{D42A27DB-BD31-4B8C-83A1-F6EECF244321}">
                <p14:modId xmlns:p14="http://schemas.microsoft.com/office/powerpoint/2010/main" val="3890592736"/>
              </p:ext>
            </p:extLst>
          </p:nvPr>
        </p:nvGraphicFramePr>
        <p:xfrm>
          <a:off x="3606159" y="5319939"/>
          <a:ext cx="6259743" cy="1061389"/>
        </p:xfrm>
        <a:graphic>
          <a:graphicData uri="http://schemas.openxmlformats.org/presentationml/2006/ole">
            <mc:AlternateContent xmlns:mc="http://schemas.openxmlformats.org/markup-compatibility/2006">
              <mc:Choice xmlns:v="urn:schemas-microsoft-com:vml" Requires="v">
                <p:oleObj name="Equation" r:id="rId6" imgW="2476440" imgH="419040" progId="Equation.DSMT4">
                  <p:embed/>
                </p:oleObj>
              </mc:Choice>
              <mc:Fallback>
                <p:oleObj name="Equation" r:id="rId6" imgW="2476440" imgH="419040" progId="Equation.DSMT4">
                  <p:embed/>
                  <p:pic>
                    <p:nvPicPr>
                      <p:cNvPr id="24601" name="Object 25"/>
                      <p:cNvPicPr>
                        <a:picLocks noChangeAspect="1" noChangeArrowheads="1"/>
                      </p:cNvPicPr>
                      <p:nvPr/>
                    </p:nvPicPr>
                    <p:blipFill>
                      <a:blip r:embed="rId7"/>
                      <a:srcRect/>
                      <a:stretch>
                        <a:fillRect/>
                      </a:stretch>
                    </p:blipFill>
                    <p:spPr bwMode="auto">
                      <a:xfrm>
                        <a:off x="3606159" y="5319939"/>
                        <a:ext cx="6259743" cy="1061389"/>
                      </a:xfrm>
                      <a:prstGeom prst="rect">
                        <a:avLst/>
                      </a:prstGeom>
                      <a:noFill/>
                      <a:ln>
                        <a:noFill/>
                      </a:ln>
                    </p:spPr>
                  </p:pic>
                </p:oleObj>
              </mc:Fallback>
            </mc:AlternateContent>
          </a:graphicData>
        </a:graphic>
      </p:graphicFrame>
      <p:grpSp>
        <p:nvGrpSpPr>
          <p:cNvPr id="24602" name="Group 26"/>
          <p:cNvGrpSpPr>
            <a:grpSpLocks/>
          </p:cNvGrpSpPr>
          <p:nvPr/>
        </p:nvGrpSpPr>
        <p:grpSpPr bwMode="auto">
          <a:xfrm>
            <a:off x="9329414" y="3638748"/>
            <a:ext cx="431800" cy="1303338"/>
            <a:chOff x="0" y="0"/>
            <a:chExt cx="272" cy="821"/>
          </a:xfrm>
        </p:grpSpPr>
        <p:sp>
          <p:nvSpPr>
            <p:cNvPr id="24603" name="Line 27"/>
            <p:cNvSpPr>
              <a:spLocks noChangeShapeType="1"/>
            </p:cNvSpPr>
            <p:nvPr/>
          </p:nvSpPr>
          <p:spPr bwMode="auto">
            <a:xfrm>
              <a:off x="136" y="0"/>
              <a:ext cx="0" cy="590"/>
            </a:xfrm>
            <a:prstGeom prst="line">
              <a:avLst/>
            </a:prstGeom>
            <a:noFill/>
            <a:ln w="28575" cap="flat" cmpd="sng">
              <a:solidFill>
                <a:srgbClr val="CC00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4604" name="Text Box 28"/>
            <p:cNvSpPr txBox="1">
              <a:spLocks noChangeArrowheads="1"/>
            </p:cNvSpPr>
            <p:nvPr/>
          </p:nvSpPr>
          <p:spPr bwMode="auto">
            <a:xfrm>
              <a:off x="0" y="590"/>
              <a:ext cx="272"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a:t> </a:t>
              </a:r>
              <a:r>
                <a:rPr lang="en-US" altLang="zh-CN"/>
                <a:t>x</a:t>
              </a:r>
              <a:endParaRPr lang="en-US" altLang="zh-CN" baseline="-25000"/>
            </a:p>
          </p:txBody>
        </p:sp>
        <p:sp>
          <p:nvSpPr>
            <p:cNvPr id="24605" name="Line 29"/>
            <p:cNvSpPr>
              <a:spLocks noChangeShapeType="1"/>
            </p:cNvSpPr>
            <p:nvPr/>
          </p:nvSpPr>
          <p:spPr bwMode="auto">
            <a:xfrm>
              <a:off x="135" y="318"/>
              <a:ext cx="91" cy="0"/>
            </a:xfrm>
            <a:prstGeom prst="line">
              <a:avLst/>
            </a:prstGeom>
            <a:noFill/>
            <a:ln w="9525" cap="flat" cmpd="sng">
              <a:solidFill>
                <a:srgbClr val="CC00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4606" name="Line 30"/>
            <p:cNvSpPr>
              <a:spLocks noChangeShapeType="1"/>
            </p:cNvSpPr>
            <p:nvPr/>
          </p:nvSpPr>
          <p:spPr bwMode="auto">
            <a:xfrm>
              <a:off x="135" y="0"/>
              <a:ext cx="91" cy="0"/>
            </a:xfrm>
            <a:prstGeom prst="line">
              <a:avLst/>
            </a:prstGeom>
            <a:noFill/>
            <a:ln w="9525" cap="flat" cmpd="sng">
              <a:solidFill>
                <a:srgbClr val="CC00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2" name="Text Box 24">
            <a:extLst>
              <a:ext uri="{FF2B5EF4-FFF2-40B4-BE49-F238E27FC236}">
                <a16:creationId xmlns:a16="http://schemas.microsoft.com/office/drawing/2014/main" id="{04702156-1D69-062C-BD26-4F19E04A7730}"/>
              </a:ext>
            </a:extLst>
          </p:cNvPr>
          <p:cNvSpPr txBox="1">
            <a:spLocks noChangeArrowheads="1"/>
          </p:cNvSpPr>
          <p:nvPr/>
        </p:nvSpPr>
        <p:spPr bwMode="auto">
          <a:xfrm>
            <a:off x="9696404" y="3501008"/>
            <a:ext cx="1441449"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sz="1400" b="1" dirty="0">
                <a:solidFill>
                  <a:srgbClr val="FF0000"/>
                </a:solidFill>
              </a:rPr>
              <a:t>w1=0.5+0.5x</a:t>
            </a:r>
          </a:p>
        </p:txBody>
      </p:sp>
      <p:sp>
        <p:nvSpPr>
          <p:cNvPr id="3" name="Text Box 25">
            <a:extLst>
              <a:ext uri="{FF2B5EF4-FFF2-40B4-BE49-F238E27FC236}">
                <a16:creationId xmlns:a16="http://schemas.microsoft.com/office/drawing/2014/main" id="{8BEFFDCB-C3FE-CB5C-F4AE-E20B33E4E0B0}"/>
              </a:ext>
            </a:extLst>
          </p:cNvPr>
          <p:cNvSpPr txBox="1">
            <a:spLocks noChangeArrowheads="1"/>
          </p:cNvSpPr>
          <p:nvPr/>
        </p:nvSpPr>
        <p:spPr bwMode="auto">
          <a:xfrm>
            <a:off x="9696400" y="3934395"/>
            <a:ext cx="1260495"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sz="1400" b="1" dirty="0">
                <a:solidFill>
                  <a:srgbClr val="3333FF"/>
                </a:solidFill>
              </a:rPr>
              <a:t>w2=0.5-0.5x</a:t>
            </a:r>
          </a:p>
        </p:txBody>
      </p:sp>
      <p:sp>
        <p:nvSpPr>
          <p:cNvPr id="4" name="灯片编号占位符 3">
            <a:extLst>
              <a:ext uri="{FF2B5EF4-FFF2-40B4-BE49-F238E27FC236}">
                <a16:creationId xmlns:a16="http://schemas.microsoft.com/office/drawing/2014/main" id="{1F3688B3-AD16-BEAC-6ACD-2C9206A691DE}"/>
              </a:ext>
            </a:extLst>
          </p:cNvPr>
          <p:cNvSpPr>
            <a:spLocks noGrp="1"/>
          </p:cNvSpPr>
          <p:nvPr>
            <p:ph type="sldNum" sz="quarter" idx="11"/>
          </p:nvPr>
        </p:nvSpPr>
        <p:spPr/>
        <p:txBody>
          <a:bodyPr/>
          <a:lstStyle/>
          <a:p>
            <a:pPr>
              <a:defRPr/>
            </a:pPr>
            <a:fld id="{B77A47BA-BA63-4780-94A9-8AFA2EA4438D}" type="slidenum">
              <a:rPr lang="en-US" altLang="zh-CN" smtClean="0"/>
              <a:pPr>
                <a:defRPr/>
              </a:pPr>
              <a:t>20</a:t>
            </a:fld>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4579">
                                            <p:txEl>
                                              <p:pRg st="5" end="5"/>
                                            </p:txEl>
                                          </p:spTgt>
                                        </p:tgtEl>
                                        <p:attrNameLst>
                                          <p:attrName>style.visibility</p:attrName>
                                        </p:attrNameLst>
                                      </p:cBhvr>
                                      <p:to>
                                        <p:strVal val="visible"/>
                                      </p:to>
                                    </p:set>
                                    <p:animEffect transition="in" filter="wipe(left)">
                                      <p:cBhvr>
                                        <p:cTn id="7" dur="500"/>
                                        <p:tgtEl>
                                          <p:spTgt spid="24579">
                                            <p:txEl>
                                              <p:pRg st="5" end="5"/>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24579">
                                            <p:txEl>
                                              <p:pRg st="6" end="6"/>
                                            </p:txEl>
                                          </p:spTgt>
                                        </p:tgtEl>
                                        <p:attrNameLst>
                                          <p:attrName>style.visibility</p:attrName>
                                        </p:attrNameLst>
                                      </p:cBhvr>
                                      <p:to>
                                        <p:strVal val="visible"/>
                                      </p:to>
                                    </p:set>
                                    <p:animEffect transition="in" filter="wipe(left)">
                                      <p:cBhvr>
                                        <p:cTn id="12" dur="500"/>
                                        <p:tgtEl>
                                          <p:spTgt spid="24579">
                                            <p:txEl>
                                              <p:pRg st="6" end="6"/>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24580"/>
                                        </p:tgtEl>
                                        <p:attrNameLst>
                                          <p:attrName>style.visibility</p:attrName>
                                        </p:attrNameLst>
                                      </p:cBhvr>
                                      <p:to>
                                        <p:strVal val="visible"/>
                                      </p:to>
                                    </p:set>
                                    <p:animEffect transition="in" filter="wipe(left)">
                                      <p:cBhvr>
                                        <p:cTn id="17" dur="500"/>
                                        <p:tgtEl>
                                          <p:spTgt spid="24580"/>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nodeType="clickEffect">
                                  <p:stCondLst>
                                    <p:cond delay="0"/>
                                  </p:stCondLst>
                                  <p:childTnLst>
                                    <p:set>
                                      <p:cBhvr>
                                        <p:cTn id="21" dur="1" fill="hold">
                                          <p:stCondLst>
                                            <p:cond delay="0"/>
                                          </p:stCondLst>
                                        </p:cTn>
                                        <p:tgtEl>
                                          <p:spTgt spid="24601"/>
                                        </p:tgtEl>
                                        <p:attrNameLst>
                                          <p:attrName>style.visibility</p:attrName>
                                        </p:attrNameLst>
                                      </p:cBhvr>
                                      <p:to>
                                        <p:strVal val="visible"/>
                                      </p:to>
                                    </p:set>
                                    <p:animEffect transition="in" filter="wipe(left)">
                                      <p:cBhvr>
                                        <p:cTn id="22" dur="500"/>
                                        <p:tgtEl>
                                          <p:spTgt spid="24601"/>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nodeType="clickEffect">
                                  <p:stCondLst>
                                    <p:cond delay="0"/>
                                  </p:stCondLst>
                                  <p:childTnLst>
                                    <p:set>
                                      <p:cBhvr>
                                        <p:cTn id="26" dur="1" fill="hold">
                                          <p:stCondLst>
                                            <p:cond delay="0"/>
                                          </p:stCondLst>
                                        </p:cTn>
                                        <p:tgtEl>
                                          <p:spTgt spid="24600"/>
                                        </p:tgtEl>
                                        <p:attrNameLst>
                                          <p:attrName>style.visibility</p:attrName>
                                        </p:attrNameLst>
                                      </p:cBhvr>
                                      <p:to>
                                        <p:strVal val="visible"/>
                                      </p:to>
                                    </p:set>
                                    <p:animEffect transition="in" filter="wipe(left)">
                                      <p:cBhvr>
                                        <p:cTn id="27" dur="500"/>
                                        <p:tgtEl>
                                          <p:spTgt spid="2460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579" grpId="0" uiExpand="1" build="p" autoUpdateAnimBg="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标题 1"/>
          <p:cNvSpPr>
            <a:spLocks noGrp="1"/>
          </p:cNvSpPr>
          <p:nvPr>
            <p:ph type="title" idx="4294967295"/>
          </p:nvPr>
        </p:nvSpPr>
        <p:spPr>
          <a:xfrm>
            <a:off x="1992313" y="260350"/>
            <a:ext cx="8229600" cy="1371600"/>
          </a:xfrm>
        </p:spPr>
        <p:txBody>
          <a:bodyPr/>
          <a:lstStyle/>
          <a:p>
            <a:pPr algn="ctr" eaLnBrk="1" hangingPunct="1"/>
            <a:r>
              <a:rPr lang="zh-CN" altLang="en-US" dirty="0">
                <a:solidFill>
                  <a:srgbClr val="008000"/>
                </a:solidFill>
                <a:latin typeface="Comic Sans MS" panose="030F0702030302020204" pitchFamily="66" charset="0"/>
                <a:ea typeface="黑体" panose="02010609060101010101" pitchFamily="49" charset="-122"/>
              </a:rPr>
              <a:t>一阶</a:t>
            </a:r>
            <a:r>
              <a:rPr lang="en-US" altLang="zh-CN" dirty="0" err="1">
                <a:solidFill>
                  <a:srgbClr val="008000"/>
                </a:solidFill>
                <a:latin typeface="Comic Sans MS" panose="030F0702030302020204" pitchFamily="66" charset="0"/>
                <a:ea typeface="黑体" panose="02010609060101010101" pitchFamily="49" charset="-122"/>
              </a:rPr>
              <a:t>Sugeno</a:t>
            </a:r>
            <a:r>
              <a:rPr lang="en-US" altLang="zh-CN" dirty="0">
                <a:solidFill>
                  <a:srgbClr val="008000"/>
                </a:solidFill>
                <a:latin typeface="Comic Sans MS" panose="030F0702030302020204" pitchFamily="66" charset="0"/>
                <a:ea typeface="黑体" panose="02010609060101010101" pitchFamily="49" charset="-122"/>
              </a:rPr>
              <a:t> </a:t>
            </a:r>
            <a:r>
              <a:rPr lang="zh-CN" altLang="en-US" dirty="0">
                <a:solidFill>
                  <a:srgbClr val="008000"/>
                </a:solidFill>
                <a:latin typeface="Comic Sans MS" panose="030F0702030302020204" pitchFamily="66" charset="0"/>
                <a:ea typeface="黑体" panose="02010609060101010101" pitchFamily="49" charset="-122"/>
              </a:rPr>
              <a:t>模糊模型举例</a:t>
            </a:r>
            <a:endParaRPr lang="zh-CN" altLang="en-US" dirty="0"/>
          </a:p>
        </p:txBody>
      </p:sp>
      <p:sp>
        <p:nvSpPr>
          <p:cNvPr id="25603" name="文本占位符 2"/>
          <p:cNvSpPr>
            <a:spLocks noGrp="1"/>
          </p:cNvSpPr>
          <p:nvPr>
            <p:ph type="body" sz="half" idx="4294967295"/>
          </p:nvPr>
        </p:nvSpPr>
        <p:spPr>
          <a:xfrm>
            <a:off x="1301754" y="1573213"/>
            <a:ext cx="8229600" cy="3066806"/>
          </a:xfrm>
        </p:spPr>
        <p:txBody>
          <a:bodyPr/>
          <a:lstStyle/>
          <a:p>
            <a:pPr eaLnBrk="1" hangingPunct="1"/>
            <a:r>
              <a:rPr lang="zh-CN" altLang="en-US" b="1" dirty="0"/>
              <a:t>这个</a:t>
            </a:r>
            <a:r>
              <a:rPr lang="en-US" altLang="zh-CN" b="1" dirty="0"/>
              <a:t>F</a:t>
            </a:r>
            <a:r>
              <a:rPr lang="zh-CN" altLang="en-US" b="1" dirty="0"/>
              <a:t>控制器输出为：</a:t>
            </a:r>
            <a:endParaRPr lang="en-US" altLang="zh-CN" b="1" dirty="0"/>
          </a:p>
          <a:p>
            <a:pPr eaLnBrk="1" hangingPunct="1"/>
            <a:endParaRPr lang="en-US" altLang="zh-CN" b="1" dirty="0"/>
          </a:p>
          <a:p>
            <a:pPr eaLnBrk="1" hangingPunct="1"/>
            <a:endParaRPr lang="en-US" altLang="zh-CN" b="1" dirty="0"/>
          </a:p>
          <a:p>
            <a:pPr eaLnBrk="1" hangingPunct="1"/>
            <a:endParaRPr lang="en-US" altLang="zh-CN" b="1" dirty="0"/>
          </a:p>
          <a:p>
            <a:pPr eaLnBrk="1" hangingPunct="1"/>
            <a:r>
              <a:rPr lang="en-US" altLang="zh-CN" b="1" dirty="0"/>
              <a:t>y</a:t>
            </a:r>
            <a:r>
              <a:rPr lang="zh-CN" altLang="en-US" b="1" dirty="0"/>
              <a:t>为两条直线间的插值</a:t>
            </a:r>
            <a:endParaRPr lang="zh-CN" altLang="en-US" dirty="0"/>
          </a:p>
        </p:txBody>
      </p:sp>
      <p:graphicFrame>
        <p:nvGraphicFramePr>
          <p:cNvPr id="25604" name="Object 4"/>
          <p:cNvGraphicFramePr>
            <a:graphicFrameLocks noChangeAspect="1"/>
          </p:cNvGraphicFramePr>
          <p:nvPr/>
        </p:nvGraphicFramePr>
        <p:xfrm>
          <a:off x="2006600" y="2276475"/>
          <a:ext cx="3735388" cy="1593850"/>
        </p:xfrm>
        <a:graphic>
          <a:graphicData uri="http://schemas.openxmlformats.org/presentationml/2006/ole">
            <mc:AlternateContent xmlns:mc="http://schemas.openxmlformats.org/markup-compatibility/2006">
              <mc:Choice xmlns:v="urn:schemas-microsoft-com:vml" Requires="v">
                <p:oleObj name="Equation" r:id="rId3" imgW="1663560" imgH="711000" progId="Equation.DSMT4">
                  <p:embed/>
                </p:oleObj>
              </mc:Choice>
              <mc:Fallback>
                <p:oleObj name="Equation" r:id="rId3" imgW="1663560" imgH="711000" progId="Equation.DSMT4">
                  <p:embed/>
                  <p:pic>
                    <p:nvPicPr>
                      <p:cNvPr id="25604" name="Object 4"/>
                      <p:cNvPicPr>
                        <a:picLocks noChangeAspect="1" noChangeArrowheads="1"/>
                      </p:cNvPicPr>
                      <p:nvPr/>
                    </p:nvPicPr>
                    <p:blipFill>
                      <a:blip r:embed="rId4"/>
                      <a:srcRect/>
                      <a:stretch>
                        <a:fillRect/>
                      </a:stretch>
                    </p:blipFill>
                    <p:spPr bwMode="auto">
                      <a:xfrm>
                        <a:off x="2006600" y="2276475"/>
                        <a:ext cx="3735388" cy="1593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5629" name="Text Box 29"/>
          <p:cNvSpPr txBox="1">
            <a:spLocks noChangeArrowheads="1"/>
          </p:cNvSpPr>
          <p:nvPr/>
        </p:nvSpPr>
        <p:spPr bwMode="auto">
          <a:xfrm>
            <a:off x="1457554" y="4800833"/>
            <a:ext cx="3768237" cy="1572225"/>
          </a:xfrm>
          <a:prstGeom prst="rect">
            <a:avLst/>
          </a:prstGeom>
          <a:solidFill>
            <a:srgbClr val="FFFF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lIns="90170" tIns="46990" rIns="90170" bIns="46990">
            <a:spAutoFit/>
          </a:bodyPr>
          <a:lstStyle/>
          <a:p>
            <a:pPr algn="ctr"/>
            <a:r>
              <a:rPr lang="en-US" altLang="zh-CN" sz="3200" b="1" dirty="0" err="1">
                <a:solidFill>
                  <a:srgbClr val="CC00CC"/>
                </a:solidFill>
                <a:effectLst>
                  <a:outerShdw blurRad="38100" dist="38100" dir="2700000" algn="tl">
                    <a:srgbClr val="000000">
                      <a:alpha val="43137"/>
                    </a:srgbClr>
                  </a:outerShdw>
                </a:effectLst>
                <a:cs typeface="Arial" panose="020B0604020202020204" pitchFamily="34" charset="0"/>
              </a:rPr>
              <a:t>Sugeno</a:t>
            </a:r>
            <a:r>
              <a:rPr lang="en-US" altLang="zh-CN" sz="3200" b="1" dirty="0">
                <a:solidFill>
                  <a:srgbClr val="CC00CC"/>
                </a:solidFill>
                <a:effectLst>
                  <a:outerShdw blurRad="38100" dist="38100" dir="2700000" algn="tl">
                    <a:srgbClr val="000000">
                      <a:alpha val="43137"/>
                    </a:srgbClr>
                  </a:outerShdw>
                </a:effectLst>
                <a:cs typeface="Arial" panose="020B0604020202020204" pitchFamily="34" charset="0"/>
              </a:rPr>
              <a:t> </a:t>
            </a:r>
            <a:r>
              <a:rPr lang="zh-CN" altLang="en-US" sz="3200" b="1" dirty="0">
                <a:solidFill>
                  <a:srgbClr val="CC00CC"/>
                </a:solidFill>
                <a:effectLst>
                  <a:outerShdw blurRad="38100" dist="38100" dir="2700000" algn="tl">
                    <a:srgbClr val="000000">
                      <a:alpha val="43137"/>
                    </a:srgbClr>
                  </a:outerShdw>
                </a:effectLst>
                <a:cs typeface="Arial" panose="020B0604020202020204" pitchFamily="34" charset="0"/>
              </a:rPr>
              <a:t>模糊模型实现线性映射之间的</a:t>
            </a:r>
            <a:r>
              <a:rPr lang="zh-CN" altLang="en-US" sz="3200" b="1" u="sng" dirty="0">
                <a:solidFill>
                  <a:srgbClr val="CC00CC"/>
                </a:solidFill>
                <a:effectLst>
                  <a:outerShdw blurRad="38100" dist="38100" dir="2700000" algn="tl">
                    <a:srgbClr val="000000">
                      <a:alpha val="43137"/>
                    </a:srgbClr>
                  </a:outerShdw>
                </a:effectLst>
                <a:cs typeface="Arial" panose="020B0604020202020204" pitchFamily="34" charset="0"/>
              </a:rPr>
              <a:t>非线性插补</a:t>
            </a:r>
          </a:p>
        </p:txBody>
      </p:sp>
      <p:grpSp>
        <p:nvGrpSpPr>
          <p:cNvPr id="2" name="组合 1"/>
          <p:cNvGrpSpPr/>
          <p:nvPr/>
        </p:nvGrpSpPr>
        <p:grpSpPr>
          <a:xfrm>
            <a:off x="6096000" y="1631950"/>
            <a:ext cx="6063520" cy="4300371"/>
            <a:chOff x="2947988" y="2275884"/>
            <a:chExt cx="6063520" cy="4300371"/>
          </a:xfrm>
        </p:grpSpPr>
        <p:grpSp>
          <p:nvGrpSpPr>
            <p:cNvPr id="25605" name="Group 5"/>
            <p:cNvGrpSpPr>
              <a:grpSpLocks/>
            </p:cNvGrpSpPr>
            <p:nvPr/>
          </p:nvGrpSpPr>
          <p:grpSpPr bwMode="auto">
            <a:xfrm>
              <a:off x="2947988" y="2275884"/>
              <a:ext cx="6063520" cy="4300371"/>
              <a:chOff x="0" y="-211698"/>
              <a:chExt cx="6275388" cy="4467225"/>
            </a:xfrm>
          </p:grpSpPr>
          <p:grpSp>
            <p:nvGrpSpPr>
              <p:cNvPr id="25606" name="Group 6"/>
              <p:cNvGrpSpPr>
                <a:grpSpLocks/>
              </p:cNvGrpSpPr>
              <p:nvPr/>
            </p:nvGrpSpPr>
            <p:grpSpPr bwMode="auto">
              <a:xfrm>
                <a:off x="0" y="-211698"/>
                <a:ext cx="6275388" cy="4467225"/>
                <a:chOff x="0" y="-463"/>
                <a:chExt cx="3953" cy="2814"/>
              </a:xfrm>
            </p:grpSpPr>
            <p:sp>
              <p:nvSpPr>
                <p:cNvPr id="25607" name="Line 7"/>
                <p:cNvSpPr>
                  <a:spLocks noChangeShapeType="1"/>
                </p:cNvSpPr>
                <p:nvPr/>
              </p:nvSpPr>
              <p:spPr bwMode="auto">
                <a:xfrm flipV="1">
                  <a:off x="0" y="2125"/>
                  <a:ext cx="3641" cy="1"/>
                </a:xfrm>
                <a:prstGeom prst="line">
                  <a:avLst/>
                </a:prstGeom>
                <a:noFill/>
                <a:ln w="19050" cmpd="sng">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5609" name="Line 9"/>
                <p:cNvSpPr>
                  <a:spLocks noChangeShapeType="1"/>
                </p:cNvSpPr>
                <p:nvPr/>
              </p:nvSpPr>
              <p:spPr bwMode="auto">
                <a:xfrm flipV="1">
                  <a:off x="1097" y="2081"/>
                  <a:ext cx="0" cy="45"/>
                </a:xfrm>
                <a:prstGeom prst="line">
                  <a:avLst/>
                </a:prstGeom>
                <a:noFill/>
                <a:ln w="9525" cmpd="sng">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5610" name="Line 10"/>
                <p:cNvSpPr>
                  <a:spLocks noChangeShapeType="1"/>
                </p:cNvSpPr>
                <p:nvPr/>
              </p:nvSpPr>
              <p:spPr bwMode="auto">
                <a:xfrm flipV="1">
                  <a:off x="2368" y="2081"/>
                  <a:ext cx="0" cy="45"/>
                </a:xfrm>
                <a:prstGeom prst="line">
                  <a:avLst/>
                </a:prstGeom>
                <a:noFill/>
                <a:ln w="9525" cmpd="sng">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5611" name="Line 11"/>
                <p:cNvSpPr>
                  <a:spLocks noChangeShapeType="1"/>
                </p:cNvSpPr>
                <p:nvPr/>
              </p:nvSpPr>
              <p:spPr bwMode="auto">
                <a:xfrm>
                  <a:off x="1733" y="1446"/>
                  <a:ext cx="45" cy="0"/>
                </a:xfrm>
                <a:prstGeom prst="line">
                  <a:avLst/>
                </a:prstGeom>
                <a:noFill/>
                <a:ln w="9525" cmpd="sng">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5613" name="Line 13"/>
                <p:cNvSpPr>
                  <a:spLocks noChangeShapeType="1"/>
                </p:cNvSpPr>
                <p:nvPr/>
              </p:nvSpPr>
              <p:spPr bwMode="auto">
                <a:xfrm flipV="1">
                  <a:off x="214" y="1503"/>
                  <a:ext cx="884" cy="815"/>
                </a:xfrm>
                <a:prstGeom prst="line">
                  <a:avLst/>
                </a:prstGeom>
                <a:noFill/>
                <a:ln w="63500" cap="flat" cmpd="sng">
                  <a:solidFill>
                    <a:srgbClr val="0000FE"/>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5616" name="Text Box 18"/>
                <p:cNvSpPr txBox="1">
                  <a:spLocks noChangeArrowheads="1"/>
                </p:cNvSpPr>
                <p:nvPr/>
              </p:nvSpPr>
              <p:spPr bwMode="auto">
                <a:xfrm rot="18945277">
                  <a:off x="368" y="1626"/>
                  <a:ext cx="485" cy="2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sz="2000" b="1" dirty="0">
                      <a:solidFill>
                        <a:srgbClr val="3333FF"/>
                      </a:solidFill>
                      <a:effectLst>
                        <a:outerShdw blurRad="38100" dist="38100" dir="2700000" algn="tl">
                          <a:srgbClr val="000000">
                            <a:alpha val="43137"/>
                          </a:srgbClr>
                        </a:outerShdw>
                      </a:effectLst>
                    </a:rPr>
                    <a:t>2+x</a:t>
                  </a:r>
                </a:p>
              </p:txBody>
            </p:sp>
            <p:sp>
              <p:nvSpPr>
                <p:cNvPr id="25617" name="Text Box 19"/>
                <p:cNvSpPr txBox="1">
                  <a:spLocks noChangeArrowheads="1"/>
                </p:cNvSpPr>
                <p:nvPr/>
              </p:nvSpPr>
              <p:spPr bwMode="auto">
                <a:xfrm rot="18999739">
                  <a:off x="2744" y="367"/>
                  <a:ext cx="447" cy="2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sz="2000" b="1" dirty="0">
                      <a:solidFill>
                        <a:srgbClr val="FF0000"/>
                      </a:solidFill>
                      <a:effectLst>
                        <a:outerShdw blurRad="38100" dist="38100" dir="2700000" algn="tl">
                          <a:srgbClr val="000000">
                            <a:alpha val="43137"/>
                          </a:srgbClr>
                        </a:outerShdw>
                      </a:effectLst>
                    </a:rPr>
                    <a:t>1+x</a:t>
                  </a:r>
                </a:p>
              </p:txBody>
            </p:sp>
            <p:sp>
              <p:nvSpPr>
                <p:cNvPr id="25618" name="Text Box 20"/>
                <p:cNvSpPr txBox="1">
                  <a:spLocks noChangeArrowheads="1"/>
                </p:cNvSpPr>
                <p:nvPr/>
              </p:nvSpPr>
              <p:spPr bwMode="auto">
                <a:xfrm>
                  <a:off x="105" y="2129"/>
                  <a:ext cx="3848" cy="2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sz="1600" dirty="0"/>
                    <a:t>      -2               -1              0               1             2              x</a:t>
                  </a:r>
                </a:p>
              </p:txBody>
            </p:sp>
            <p:sp>
              <p:nvSpPr>
                <p:cNvPr id="25620" name="Text Box 22"/>
                <p:cNvSpPr txBox="1">
                  <a:spLocks noChangeArrowheads="1"/>
                </p:cNvSpPr>
                <p:nvPr/>
              </p:nvSpPr>
              <p:spPr bwMode="auto">
                <a:xfrm>
                  <a:off x="1541" y="1319"/>
                  <a:ext cx="363" cy="2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a:t>1</a:t>
                  </a:r>
                </a:p>
              </p:txBody>
            </p:sp>
            <p:sp>
              <p:nvSpPr>
                <p:cNvPr id="25619" name="Rectangle 21"/>
                <p:cNvSpPr>
                  <a:spLocks noChangeArrowheads="1"/>
                </p:cNvSpPr>
                <p:nvPr/>
              </p:nvSpPr>
              <p:spPr bwMode="auto">
                <a:xfrm rot="19990050">
                  <a:off x="1646" y="719"/>
                  <a:ext cx="844" cy="262"/>
                </a:xfrm>
                <a:prstGeom prst="rect">
                  <a:avLst/>
                </a:prstGeom>
                <a:solidFill>
                  <a:schemeClr val="bg1"/>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r>
                    <a:rPr lang="en-US" altLang="zh-CN" sz="2000" b="1" dirty="0">
                      <a:solidFill>
                        <a:srgbClr val="CC00CC"/>
                      </a:solidFill>
                      <a:effectLst>
                        <a:outerShdw blurRad="38100" dist="38100" dir="2700000" algn="tl">
                          <a:srgbClr val="000000">
                            <a:alpha val="43137"/>
                          </a:srgbClr>
                        </a:outerShdw>
                      </a:effectLst>
                    </a:rPr>
                    <a:t>1.5+1.5x</a:t>
                  </a:r>
                </a:p>
              </p:txBody>
            </p:sp>
            <p:sp>
              <p:nvSpPr>
                <p:cNvPr id="25612" name="Line 12"/>
                <p:cNvSpPr>
                  <a:spLocks noChangeShapeType="1"/>
                </p:cNvSpPr>
                <p:nvPr/>
              </p:nvSpPr>
              <p:spPr bwMode="auto">
                <a:xfrm flipH="1">
                  <a:off x="2383" y="0"/>
                  <a:ext cx="885" cy="848"/>
                </a:xfrm>
                <a:prstGeom prst="line">
                  <a:avLst/>
                </a:prstGeom>
                <a:noFill/>
                <a:ln w="63500" cap="flat" cmpd="sng">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5608" name="Line 8"/>
                <p:cNvSpPr>
                  <a:spLocks noChangeShapeType="1"/>
                </p:cNvSpPr>
                <p:nvPr/>
              </p:nvSpPr>
              <p:spPr bwMode="auto">
                <a:xfrm flipV="1">
                  <a:off x="1733" y="-463"/>
                  <a:ext cx="0" cy="2589"/>
                </a:xfrm>
                <a:prstGeom prst="line">
                  <a:avLst/>
                </a:prstGeom>
                <a:noFill/>
                <a:ln w="19050" cmpd="sng">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25621" name="Group 21"/>
              <p:cNvGrpSpPr>
                <a:grpSpLocks/>
              </p:cNvGrpSpPr>
              <p:nvPr/>
            </p:nvGrpSpPr>
            <p:grpSpPr bwMode="auto">
              <a:xfrm>
                <a:off x="1417637" y="0"/>
                <a:ext cx="3194844" cy="4228538"/>
                <a:chOff x="0" y="0"/>
                <a:chExt cx="3194844" cy="4228538"/>
              </a:xfrm>
            </p:grpSpPr>
            <p:sp>
              <p:nvSpPr>
                <p:cNvPr id="25624" name="Text Box 22"/>
                <p:cNvSpPr txBox="1">
                  <a:spLocks noChangeArrowheads="1"/>
                </p:cNvSpPr>
                <p:nvPr/>
              </p:nvSpPr>
              <p:spPr bwMode="auto">
                <a:xfrm>
                  <a:off x="933629" y="1652824"/>
                  <a:ext cx="576263" cy="3836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a:t>2</a:t>
                  </a:r>
                </a:p>
              </p:txBody>
            </p:sp>
            <p:sp>
              <p:nvSpPr>
                <p:cNvPr id="25625" name="Line 13"/>
                <p:cNvSpPr>
                  <a:spLocks noChangeShapeType="1"/>
                </p:cNvSpPr>
                <p:nvPr/>
              </p:nvSpPr>
              <p:spPr bwMode="auto">
                <a:xfrm flipV="1">
                  <a:off x="412750" y="0"/>
                  <a:ext cx="2782094" cy="2791030"/>
                </a:xfrm>
                <a:prstGeom prst="line">
                  <a:avLst/>
                </a:prstGeom>
                <a:noFill/>
                <a:ln w="28575" cmpd="sng">
                  <a:solidFill>
                    <a:srgbClr val="0000FE"/>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5626" name="Line 12"/>
                <p:cNvSpPr>
                  <a:spLocks noChangeShapeType="1"/>
                </p:cNvSpPr>
                <p:nvPr/>
              </p:nvSpPr>
              <p:spPr bwMode="auto">
                <a:xfrm flipH="1">
                  <a:off x="0" y="1889471"/>
                  <a:ext cx="2365376" cy="2339067"/>
                </a:xfrm>
                <a:prstGeom prst="line">
                  <a:avLst/>
                </a:prstGeom>
                <a:noFill/>
                <a:ln w="28575" cmpd="sng">
                  <a:solidFill>
                    <a:srgbClr val="FF0000"/>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cxnSp>
              <p:nvCxnSpPr>
                <p:cNvPr id="25627" name="直接连接符 32"/>
                <p:cNvCxnSpPr>
                  <a:cxnSpLocks noChangeShapeType="1"/>
                </p:cNvCxnSpPr>
                <p:nvPr/>
              </p:nvCxnSpPr>
              <p:spPr bwMode="auto">
                <a:xfrm flipV="1">
                  <a:off x="2341563" y="1683727"/>
                  <a:ext cx="0" cy="2214606"/>
                </a:xfrm>
                <a:prstGeom prst="line">
                  <a:avLst/>
                </a:prstGeom>
                <a:noFill/>
                <a:ln w="9525" cmpd="sng">
                  <a:solidFill>
                    <a:schemeClr val="tx1"/>
                  </a:solidFill>
                  <a:prstDash val="dashDot"/>
                  <a:round/>
                  <a:headEnd/>
                  <a:tailEnd/>
                </a:ln>
                <a:extLst>
                  <a:ext uri="{909E8E84-426E-40DD-AFC4-6F175D3DCCD1}">
                    <a14:hiddenFill xmlns:a14="http://schemas.microsoft.com/office/drawing/2010/main">
                      <a:noFill/>
                    </a14:hiddenFill>
                  </a:ext>
                </a:extLst>
              </p:spPr>
            </p:cxnSp>
            <p:cxnSp>
              <p:nvCxnSpPr>
                <p:cNvPr id="25628" name="直接连接符 34"/>
                <p:cNvCxnSpPr>
                  <a:cxnSpLocks noChangeShapeType="1"/>
                  <a:endCxn id="25626" idx="0"/>
                </p:cNvCxnSpPr>
                <p:nvPr/>
              </p:nvCxnSpPr>
              <p:spPr bwMode="auto">
                <a:xfrm flipV="1">
                  <a:off x="325437" y="1889471"/>
                  <a:ext cx="2039938" cy="1019858"/>
                </a:xfrm>
                <a:prstGeom prst="line">
                  <a:avLst/>
                </a:prstGeom>
                <a:noFill/>
                <a:ln w="63500" cap="flat" cmpd="sng">
                  <a:solidFill>
                    <a:srgbClr val="CC00CC"/>
                  </a:solidFill>
                  <a:round/>
                  <a:headEnd/>
                  <a:tailEnd/>
                </a:ln>
                <a:extLst>
                  <a:ext uri="{909E8E84-426E-40DD-AFC4-6F175D3DCCD1}">
                    <a14:hiddenFill xmlns:a14="http://schemas.microsoft.com/office/drawing/2010/main">
                      <a:noFill/>
                    </a14:hiddenFill>
                  </a:ext>
                </a:extLst>
              </p:spPr>
            </p:cxnSp>
          </p:grpSp>
        </p:grpSp>
        <p:cxnSp>
          <p:nvCxnSpPr>
            <p:cNvPr id="30" name="直接连接符 32"/>
            <p:cNvCxnSpPr>
              <a:cxnSpLocks noChangeShapeType="1"/>
            </p:cNvCxnSpPr>
            <p:nvPr/>
          </p:nvCxnSpPr>
          <p:spPr bwMode="auto">
            <a:xfrm flipV="1">
              <a:off x="4630680" y="4061899"/>
              <a:ext cx="0" cy="2131888"/>
            </a:xfrm>
            <a:prstGeom prst="line">
              <a:avLst/>
            </a:prstGeom>
            <a:noFill/>
            <a:ln w="9525" cmpd="sng">
              <a:solidFill>
                <a:schemeClr val="tx1"/>
              </a:solidFill>
              <a:prstDash val="dashDot"/>
              <a:round/>
              <a:headEnd/>
              <a:tailEnd/>
            </a:ln>
            <a:extLst>
              <a:ext uri="{909E8E84-426E-40DD-AFC4-6F175D3DCCD1}">
                <a14:hiddenFill xmlns:a14="http://schemas.microsoft.com/office/drawing/2010/main">
                  <a:noFill/>
                </a14:hiddenFill>
              </a:ext>
            </a:extLst>
          </p:spPr>
        </p:cxnSp>
      </p:grpSp>
      <p:pic>
        <p:nvPicPr>
          <p:cNvPr id="4" name="图片 3">
            <a:extLst>
              <a:ext uri="{FF2B5EF4-FFF2-40B4-BE49-F238E27FC236}">
                <a16:creationId xmlns:a16="http://schemas.microsoft.com/office/drawing/2014/main" id="{EB9C3B20-FE11-272C-F1DE-44410398862F}"/>
              </a:ext>
            </a:extLst>
          </p:cNvPr>
          <p:cNvPicPr>
            <a:picLocks noChangeAspect="1"/>
          </p:cNvPicPr>
          <p:nvPr/>
        </p:nvPicPr>
        <p:blipFill>
          <a:blip r:embed="rId5"/>
          <a:stretch>
            <a:fillRect/>
          </a:stretch>
        </p:blipFill>
        <p:spPr>
          <a:xfrm>
            <a:off x="7505869" y="6134318"/>
            <a:ext cx="2924175" cy="571500"/>
          </a:xfrm>
          <a:prstGeom prst="rect">
            <a:avLst/>
          </a:prstGeom>
          <a:effectLst>
            <a:glow rad="127000">
              <a:srgbClr val="FFC000"/>
            </a:glow>
          </a:effectLst>
        </p:spPr>
      </p:pic>
      <p:sp>
        <p:nvSpPr>
          <p:cNvPr id="5" name="灯片编号占位符 4">
            <a:extLst>
              <a:ext uri="{FF2B5EF4-FFF2-40B4-BE49-F238E27FC236}">
                <a16:creationId xmlns:a16="http://schemas.microsoft.com/office/drawing/2014/main" id="{F18D621A-A9E4-B351-1B51-2A84D3627F0D}"/>
              </a:ext>
            </a:extLst>
          </p:cNvPr>
          <p:cNvSpPr>
            <a:spLocks noGrp="1"/>
          </p:cNvSpPr>
          <p:nvPr>
            <p:ph type="sldNum" sz="quarter" idx="11"/>
          </p:nvPr>
        </p:nvSpPr>
        <p:spPr/>
        <p:txBody>
          <a:bodyPr/>
          <a:lstStyle/>
          <a:p>
            <a:pPr>
              <a:defRPr/>
            </a:pPr>
            <a:fld id="{B77A47BA-BA63-4780-94A9-8AFA2EA4438D}" type="slidenum">
              <a:rPr lang="en-US" altLang="zh-CN" smtClean="0"/>
              <a:pPr>
                <a:defRPr/>
              </a:pPr>
              <a:t>21</a:t>
            </a:fld>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5603">
                                            <p:txEl>
                                              <p:pRg st="0" end="0"/>
                                            </p:txEl>
                                          </p:spTgt>
                                        </p:tgtEl>
                                        <p:attrNameLst>
                                          <p:attrName>style.visibility</p:attrName>
                                        </p:attrNameLst>
                                      </p:cBhvr>
                                      <p:to>
                                        <p:strVal val="visible"/>
                                      </p:to>
                                    </p:set>
                                    <p:animEffect transition="in" filter="wipe(left)">
                                      <p:cBhvr>
                                        <p:cTn id="7" dur="500"/>
                                        <p:tgtEl>
                                          <p:spTgt spid="25603">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25604"/>
                                        </p:tgtEl>
                                        <p:attrNameLst>
                                          <p:attrName>style.visibility</p:attrName>
                                        </p:attrNameLst>
                                      </p:cBhvr>
                                      <p:to>
                                        <p:strVal val="visible"/>
                                      </p:to>
                                    </p:set>
                                    <p:animEffect transition="in" filter="wipe(left)">
                                      <p:cBhvr>
                                        <p:cTn id="12" dur="500"/>
                                        <p:tgtEl>
                                          <p:spTgt spid="25604"/>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25603">
                                            <p:txEl>
                                              <p:pRg st="4" end="4"/>
                                            </p:txEl>
                                          </p:spTgt>
                                        </p:tgtEl>
                                        <p:attrNameLst>
                                          <p:attrName>style.visibility</p:attrName>
                                        </p:attrNameLst>
                                      </p:cBhvr>
                                      <p:to>
                                        <p:strVal val="visible"/>
                                      </p:to>
                                    </p:set>
                                    <p:animEffect transition="in" filter="wipe(left)">
                                      <p:cBhvr>
                                        <p:cTn id="17" dur="500"/>
                                        <p:tgtEl>
                                          <p:spTgt spid="25603">
                                            <p:txEl>
                                              <p:pRg st="4" end="4"/>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2"/>
                                        </p:tgtEl>
                                        <p:attrNameLst>
                                          <p:attrName>style.visibility</p:attrName>
                                        </p:attrNameLst>
                                      </p:cBhvr>
                                      <p:to>
                                        <p:strVal val="visible"/>
                                      </p:to>
                                    </p:set>
                                    <p:animEffect transition="in" filter="blinds(horizontal)">
                                      <p:cBhvr>
                                        <p:cTn id="22" dur="500"/>
                                        <p:tgtEl>
                                          <p:spTgt spid="2"/>
                                        </p:tgtEl>
                                      </p:cBhvr>
                                    </p:animEffect>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grpId="0" nodeType="clickEffect">
                                  <p:stCondLst>
                                    <p:cond delay="0"/>
                                  </p:stCondLst>
                                  <p:childTnLst>
                                    <p:set>
                                      <p:cBhvr>
                                        <p:cTn id="26" dur="1" fill="hold">
                                          <p:stCondLst>
                                            <p:cond delay="0"/>
                                          </p:stCondLst>
                                        </p:cTn>
                                        <p:tgtEl>
                                          <p:spTgt spid="25629"/>
                                        </p:tgtEl>
                                        <p:attrNameLst>
                                          <p:attrName>style.visibility</p:attrName>
                                        </p:attrNameLst>
                                      </p:cBhvr>
                                      <p:to>
                                        <p:strVal val="visible"/>
                                      </p:to>
                                    </p:set>
                                    <p:anim calcmode="lin" valueType="num">
                                      <p:cBhvr additive="base">
                                        <p:cTn id="27" dur="500" fill="hold"/>
                                        <p:tgtEl>
                                          <p:spTgt spid="25629"/>
                                        </p:tgtEl>
                                        <p:attrNameLst>
                                          <p:attrName>ppt_x</p:attrName>
                                        </p:attrNameLst>
                                      </p:cBhvr>
                                      <p:tavLst>
                                        <p:tav tm="0">
                                          <p:val>
                                            <p:strVal val="#ppt_x"/>
                                          </p:val>
                                        </p:tav>
                                        <p:tav tm="100000">
                                          <p:val>
                                            <p:strVal val="#ppt_x"/>
                                          </p:val>
                                        </p:tav>
                                      </p:tavLst>
                                    </p:anim>
                                    <p:anim calcmode="lin" valueType="num">
                                      <p:cBhvr additive="base">
                                        <p:cTn id="28" dur="500" fill="hold"/>
                                        <p:tgtEl>
                                          <p:spTgt spid="2562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603" grpId="0" uiExpand="1" build="p" autoUpdateAnimBg="0"/>
      <p:bldP spid="25629" grpId="0" bldLvl="0" animBg="1" autoUpdateAnimBg="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p:cNvSpPr>
            <a:spLocks noGrp="1" noChangeArrowheads="1"/>
          </p:cNvSpPr>
          <p:nvPr>
            <p:ph type="title" idx="4294967295"/>
          </p:nvPr>
        </p:nvSpPr>
        <p:spPr>
          <a:xfrm>
            <a:off x="1343472" y="333375"/>
            <a:ext cx="9324528" cy="1371600"/>
          </a:xfrm>
        </p:spPr>
        <p:txBody>
          <a:bodyPr/>
          <a:lstStyle/>
          <a:p>
            <a:pPr eaLnBrk="1" hangingPunct="1"/>
            <a:r>
              <a:rPr lang="zh-CN" altLang="en-US" dirty="0">
                <a:solidFill>
                  <a:srgbClr val="008000"/>
                </a:solidFill>
                <a:latin typeface="Comic Sans MS" panose="030F0702030302020204" pitchFamily="66" charset="0"/>
                <a:ea typeface="黑体" panose="02010609060101010101" pitchFamily="49" charset="-122"/>
              </a:rPr>
              <a:t>两输入单输出</a:t>
            </a:r>
            <a:r>
              <a:rPr lang="en-US" altLang="zh-CN" dirty="0" err="1">
                <a:solidFill>
                  <a:srgbClr val="008000"/>
                </a:solidFill>
                <a:latin typeface="Comic Sans MS" panose="030F0702030302020204" pitchFamily="66" charset="0"/>
                <a:ea typeface="黑体" panose="02010609060101010101" pitchFamily="49" charset="-122"/>
              </a:rPr>
              <a:t>Sugeno</a:t>
            </a:r>
            <a:r>
              <a:rPr lang="en-US" altLang="zh-CN" dirty="0">
                <a:solidFill>
                  <a:srgbClr val="008000"/>
                </a:solidFill>
                <a:latin typeface="Comic Sans MS" panose="030F0702030302020204" pitchFamily="66" charset="0"/>
                <a:ea typeface="黑体" panose="02010609060101010101" pitchFamily="49" charset="-122"/>
              </a:rPr>
              <a:t> </a:t>
            </a:r>
            <a:r>
              <a:rPr lang="zh-CN" altLang="en-US" dirty="0">
                <a:solidFill>
                  <a:srgbClr val="008000"/>
                </a:solidFill>
                <a:latin typeface="Comic Sans MS" panose="030F0702030302020204" pitchFamily="66" charset="0"/>
                <a:ea typeface="黑体" panose="02010609060101010101" pitchFamily="49" charset="-122"/>
              </a:rPr>
              <a:t>模糊模型举例</a:t>
            </a:r>
          </a:p>
        </p:txBody>
      </p:sp>
      <p:sp>
        <p:nvSpPr>
          <p:cNvPr id="26627" name="Rectangle 3"/>
          <p:cNvSpPr>
            <a:spLocks noGrp="1" noChangeArrowheads="1"/>
          </p:cNvSpPr>
          <p:nvPr>
            <p:ph type="body" idx="4294967295"/>
          </p:nvPr>
        </p:nvSpPr>
        <p:spPr>
          <a:xfrm>
            <a:off x="1992317" y="1773238"/>
            <a:ext cx="7056012" cy="2303462"/>
          </a:xfrm>
        </p:spPr>
        <p:txBody>
          <a:bodyPr/>
          <a:lstStyle/>
          <a:p>
            <a:pPr eaLnBrk="1" hangingPunct="1">
              <a:lnSpc>
                <a:spcPct val="90000"/>
              </a:lnSpc>
            </a:pPr>
            <a:r>
              <a:rPr lang="en-US" altLang="zh-CN" b="1" dirty="0">
                <a:ea typeface="楷体_GB2312" pitchFamily="1" charset="-122"/>
              </a:rPr>
              <a:t>IF </a:t>
            </a:r>
            <a:r>
              <a:rPr lang="en-US" altLang="zh-CN" b="1" u="sng" dirty="0">
                <a:ea typeface="楷体_GB2312" pitchFamily="1" charset="-122"/>
              </a:rPr>
              <a:t>X </a:t>
            </a:r>
            <a:r>
              <a:rPr lang="zh-CN" altLang="en-US" b="1" u="sng" dirty="0">
                <a:ea typeface="楷体_GB2312" pitchFamily="1" charset="-122"/>
              </a:rPr>
              <a:t>小</a:t>
            </a:r>
            <a:r>
              <a:rPr lang="zh-CN" altLang="en-US" b="1" dirty="0">
                <a:ea typeface="楷体_GB2312" pitchFamily="1" charset="-122"/>
              </a:rPr>
              <a:t> </a:t>
            </a:r>
            <a:r>
              <a:rPr lang="en-US" altLang="zh-CN" b="1" dirty="0">
                <a:ea typeface="楷体_GB2312" pitchFamily="1" charset="-122"/>
              </a:rPr>
              <a:t>and </a:t>
            </a:r>
            <a:r>
              <a:rPr lang="en-US" altLang="zh-CN" b="1" u="sng" dirty="0">
                <a:ea typeface="楷体_GB2312" pitchFamily="1" charset="-122"/>
              </a:rPr>
              <a:t>Y </a:t>
            </a:r>
            <a:r>
              <a:rPr lang="zh-CN" altLang="en-US" b="1" u="sng" dirty="0">
                <a:ea typeface="楷体_GB2312" pitchFamily="1" charset="-122"/>
              </a:rPr>
              <a:t>小</a:t>
            </a:r>
            <a:r>
              <a:rPr lang="zh-CN" altLang="en-US" b="1" dirty="0">
                <a:ea typeface="楷体_GB2312" pitchFamily="1" charset="-122"/>
              </a:rPr>
              <a:t>  </a:t>
            </a:r>
            <a:r>
              <a:rPr lang="en-US" altLang="zh-CN" b="1" dirty="0">
                <a:ea typeface="楷体_GB2312" pitchFamily="1" charset="-122"/>
              </a:rPr>
              <a:t>THEN  z=-x+y+1</a:t>
            </a:r>
          </a:p>
          <a:p>
            <a:pPr eaLnBrk="1" hangingPunct="1">
              <a:lnSpc>
                <a:spcPct val="90000"/>
              </a:lnSpc>
            </a:pPr>
            <a:r>
              <a:rPr lang="en-US" altLang="zh-CN" b="1" dirty="0">
                <a:ea typeface="楷体_GB2312" pitchFamily="1" charset="-122"/>
              </a:rPr>
              <a:t>IF </a:t>
            </a:r>
            <a:r>
              <a:rPr lang="en-US" altLang="zh-CN" b="1" u="sng" dirty="0">
                <a:ea typeface="楷体_GB2312" pitchFamily="1" charset="-122"/>
              </a:rPr>
              <a:t>X </a:t>
            </a:r>
            <a:r>
              <a:rPr lang="zh-CN" altLang="en-US" b="1" u="sng" dirty="0">
                <a:ea typeface="楷体_GB2312" pitchFamily="1" charset="-122"/>
              </a:rPr>
              <a:t>小</a:t>
            </a:r>
            <a:r>
              <a:rPr lang="zh-CN" altLang="en-US" b="1" dirty="0">
                <a:ea typeface="楷体_GB2312" pitchFamily="1" charset="-122"/>
              </a:rPr>
              <a:t> </a:t>
            </a:r>
            <a:r>
              <a:rPr lang="en-US" altLang="zh-CN" b="1" dirty="0">
                <a:ea typeface="楷体_GB2312" pitchFamily="1" charset="-122"/>
              </a:rPr>
              <a:t>and </a:t>
            </a:r>
            <a:r>
              <a:rPr lang="en-US" altLang="zh-CN" b="1" u="sng" dirty="0">
                <a:ea typeface="楷体_GB2312" pitchFamily="1" charset="-122"/>
              </a:rPr>
              <a:t>Y </a:t>
            </a:r>
            <a:r>
              <a:rPr lang="zh-CN" altLang="en-US" b="1" u="sng" dirty="0">
                <a:ea typeface="楷体_GB2312" pitchFamily="1" charset="-122"/>
              </a:rPr>
              <a:t>大</a:t>
            </a:r>
            <a:r>
              <a:rPr lang="zh-CN" altLang="en-US" b="1" dirty="0">
                <a:ea typeface="楷体_GB2312" pitchFamily="1" charset="-122"/>
              </a:rPr>
              <a:t>  </a:t>
            </a:r>
            <a:r>
              <a:rPr lang="en-US" altLang="zh-CN" b="1" dirty="0">
                <a:ea typeface="楷体_GB2312" pitchFamily="1" charset="-122"/>
              </a:rPr>
              <a:t>THEN  z=-y+3</a:t>
            </a:r>
          </a:p>
          <a:p>
            <a:pPr eaLnBrk="1" hangingPunct="1">
              <a:lnSpc>
                <a:spcPct val="90000"/>
              </a:lnSpc>
            </a:pPr>
            <a:r>
              <a:rPr lang="en-US" altLang="zh-CN" b="1" dirty="0">
                <a:ea typeface="楷体_GB2312" pitchFamily="1" charset="-122"/>
              </a:rPr>
              <a:t>IF </a:t>
            </a:r>
            <a:r>
              <a:rPr lang="en-US" altLang="zh-CN" b="1" u="sng" dirty="0">
                <a:ea typeface="楷体_GB2312" pitchFamily="1" charset="-122"/>
              </a:rPr>
              <a:t>X </a:t>
            </a:r>
            <a:r>
              <a:rPr lang="zh-CN" altLang="en-US" b="1" u="sng" dirty="0">
                <a:ea typeface="楷体_GB2312" pitchFamily="1" charset="-122"/>
              </a:rPr>
              <a:t>大</a:t>
            </a:r>
            <a:r>
              <a:rPr lang="zh-CN" altLang="en-US" b="1" dirty="0">
                <a:ea typeface="楷体_GB2312" pitchFamily="1" charset="-122"/>
              </a:rPr>
              <a:t> </a:t>
            </a:r>
            <a:r>
              <a:rPr lang="en-US" altLang="zh-CN" b="1" dirty="0">
                <a:ea typeface="楷体_GB2312" pitchFamily="1" charset="-122"/>
              </a:rPr>
              <a:t>and </a:t>
            </a:r>
            <a:r>
              <a:rPr lang="en-US" altLang="zh-CN" b="1" u="sng" dirty="0">
                <a:ea typeface="楷体_GB2312" pitchFamily="1" charset="-122"/>
              </a:rPr>
              <a:t>Y </a:t>
            </a:r>
            <a:r>
              <a:rPr lang="zh-CN" altLang="en-US" b="1" u="sng" dirty="0">
                <a:ea typeface="楷体_GB2312" pitchFamily="1" charset="-122"/>
              </a:rPr>
              <a:t>小</a:t>
            </a:r>
            <a:r>
              <a:rPr lang="zh-CN" altLang="en-US" b="1" dirty="0">
                <a:ea typeface="楷体_GB2312" pitchFamily="1" charset="-122"/>
              </a:rPr>
              <a:t>  </a:t>
            </a:r>
            <a:r>
              <a:rPr lang="en-US" altLang="zh-CN" b="1" dirty="0">
                <a:ea typeface="楷体_GB2312" pitchFamily="1" charset="-122"/>
              </a:rPr>
              <a:t>THEN  z=-x+3</a:t>
            </a:r>
          </a:p>
          <a:p>
            <a:pPr eaLnBrk="1" hangingPunct="1">
              <a:lnSpc>
                <a:spcPct val="90000"/>
              </a:lnSpc>
            </a:pPr>
            <a:r>
              <a:rPr lang="en-US" altLang="zh-CN" b="1" dirty="0">
                <a:ea typeface="楷体_GB2312" pitchFamily="1" charset="-122"/>
              </a:rPr>
              <a:t>IF </a:t>
            </a:r>
            <a:r>
              <a:rPr lang="en-US" altLang="zh-CN" b="1" u="sng" dirty="0">
                <a:ea typeface="楷体_GB2312" pitchFamily="1" charset="-122"/>
              </a:rPr>
              <a:t>X </a:t>
            </a:r>
            <a:r>
              <a:rPr lang="zh-CN" altLang="en-US" b="1" u="sng" dirty="0">
                <a:ea typeface="楷体_GB2312" pitchFamily="1" charset="-122"/>
              </a:rPr>
              <a:t>大</a:t>
            </a:r>
            <a:r>
              <a:rPr lang="zh-CN" altLang="en-US" b="1" dirty="0">
                <a:ea typeface="楷体_GB2312" pitchFamily="1" charset="-122"/>
              </a:rPr>
              <a:t> </a:t>
            </a:r>
            <a:r>
              <a:rPr lang="en-US" altLang="zh-CN" b="1" dirty="0">
                <a:ea typeface="楷体_GB2312" pitchFamily="1" charset="-122"/>
              </a:rPr>
              <a:t>and </a:t>
            </a:r>
            <a:r>
              <a:rPr lang="en-US" altLang="zh-CN" b="1" u="sng" dirty="0">
                <a:ea typeface="楷体_GB2312" pitchFamily="1" charset="-122"/>
              </a:rPr>
              <a:t>Y </a:t>
            </a:r>
            <a:r>
              <a:rPr lang="zh-CN" altLang="en-US" b="1" u="sng" dirty="0">
                <a:ea typeface="楷体_GB2312" pitchFamily="1" charset="-122"/>
              </a:rPr>
              <a:t>大</a:t>
            </a:r>
            <a:r>
              <a:rPr lang="zh-CN" altLang="en-US" b="1" dirty="0">
                <a:ea typeface="楷体_GB2312" pitchFamily="1" charset="-122"/>
              </a:rPr>
              <a:t>  </a:t>
            </a:r>
            <a:r>
              <a:rPr lang="en-US" altLang="zh-CN" b="1" dirty="0">
                <a:ea typeface="楷体_GB2312" pitchFamily="1" charset="-122"/>
              </a:rPr>
              <a:t>THEN  z=x+y+2</a:t>
            </a:r>
          </a:p>
        </p:txBody>
      </p:sp>
      <p:grpSp>
        <p:nvGrpSpPr>
          <p:cNvPr id="26628" name="Group 4"/>
          <p:cNvGrpSpPr>
            <a:grpSpLocks/>
          </p:cNvGrpSpPr>
          <p:nvPr/>
        </p:nvGrpSpPr>
        <p:grpSpPr bwMode="auto">
          <a:xfrm>
            <a:off x="1524003" y="4437063"/>
            <a:ext cx="8888413" cy="2019300"/>
            <a:chOff x="0" y="0"/>
            <a:chExt cx="5599" cy="1272"/>
          </a:xfrm>
        </p:grpSpPr>
        <p:pic>
          <p:nvPicPr>
            <p:cNvPr id="26629" name="Picture 1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9" y="0"/>
              <a:ext cx="2598" cy="12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6630" name="Picture 1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61" y="0"/>
              <a:ext cx="2538" cy="12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6631" name="Text Box 16"/>
            <p:cNvSpPr txBox="1">
              <a:spLocks noChangeArrowheads="1"/>
            </p:cNvSpPr>
            <p:nvPr/>
          </p:nvSpPr>
          <p:spPr bwMode="auto">
            <a:xfrm>
              <a:off x="0" y="408"/>
              <a:ext cx="295"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a:t>X</a:t>
              </a:r>
            </a:p>
          </p:txBody>
        </p:sp>
        <p:sp>
          <p:nvSpPr>
            <p:cNvPr id="26632" name="Text Box 17"/>
            <p:cNvSpPr txBox="1">
              <a:spLocks noChangeArrowheads="1"/>
            </p:cNvSpPr>
            <p:nvPr/>
          </p:nvSpPr>
          <p:spPr bwMode="auto">
            <a:xfrm>
              <a:off x="2880" y="408"/>
              <a:ext cx="227"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a:t>Y</a:t>
              </a:r>
            </a:p>
          </p:txBody>
        </p:sp>
      </p:grpSp>
      <p:sp>
        <p:nvSpPr>
          <p:cNvPr id="2" name="灯片编号占位符 1">
            <a:extLst>
              <a:ext uri="{FF2B5EF4-FFF2-40B4-BE49-F238E27FC236}">
                <a16:creationId xmlns:a16="http://schemas.microsoft.com/office/drawing/2014/main" id="{D9ABF513-85EB-CB92-C6F2-EAF3BECAE256}"/>
              </a:ext>
            </a:extLst>
          </p:cNvPr>
          <p:cNvSpPr>
            <a:spLocks noGrp="1"/>
          </p:cNvSpPr>
          <p:nvPr>
            <p:ph type="sldNum" sz="quarter" idx="11"/>
          </p:nvPr>
        </p:nvSpPr>
        <p:spPr/>
        <p:txBody>
          <a:bodyPr/>
          <a:lstStyle/>
          <a:p>
            <a:pPr>
              <a:defRPr/>
            </a:pPr>
            <a:fld id="{B77A47BA-BA63-4780-94A9-8AFA2EA4438D}" type="slidenum">
              <a:rPr lang="en-US" altLang="zh-CN" smtClean="0"/>
              <a:pPr>
                <a:defRPr/>
              </a:pPr>
              <a:t>22</a:t>
            </a:fld>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1" fill="hold" nodeType="clickEffect">
                                  <p:stCondLst>
                                    <p:cond delay="0"/>
                                  </p:stCondLst>
                                  <p:childTnLst>
                                    <p:set>
                                      <p:cBhvr>
                                        <p:cTn id="6" dur="1" fill="hold">
                                          <p:stCondLst>
                                            <p:cond delay="0"/>
                                          </p:stCondLst>
                                        </p:cTn>
                                        <p:tgtEl>
                                          <p:spTgt spid="26628"/>
                                        </p:tgtEl>
                                        <p:attrNameLst>
                                          <p:attrName>style.visibility</p:attrName>
                                        </p:attrNameLst>
                                      </p:cBhvr>
                                      <p:to>
                                        <p:strVal val="visible"/>
                                      </p:to>
                                    </p:set>
                                    <p:animEffect transition="in" filter="wipe(up)">
                                      <p:cBhvr>
                                        <p:cTn id="7" dur="500"/>
                                        <p:tgtEl>
                                          <p:spTgt spid="266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p:cNvSpPr>
            <a:spLocks noGrp="1" noChangeArrowheads="1"/>
          </p:cNvSpPr>
          <p:nvPr>
            <p:ph type="title" idx="4294967295"/>
          </p:nvPr>
        </p:nvSpPr>
        <p:spPr>
          <a:xfrm>
            <a:off x="1486916" y="113184"/>
            <a:ext cx="9073706" cy="1371600"/>
          </a:xfrm>
        </p:spPr>
        <p:txBody>
          <a:bodyPr/>
          <a:lstStyle/>
          <a:p>
            <a:pPr eaLnBrk="1" hangingPunct="1"/>
            <a:r>
              <a:rPr lang="zh-CN" altLang="en-US" dirty="0">
                <a:solidFill>
                  <a:srgbClr val="008000"/>
                </a:solidFill>
                <a:latin typeface="Comic Sans MS" panose="030F0702030302020204" pitchFamily="66" charset="0"/>
                <a:ea typeface="黑体" panose="02010609060101010101" pitchFamily="49" charset="-122"/>
              </a:rPr>
              <a:t>两输入单输出</a:t>
            </a:r>
            <a:r>
              <a:rPr lang="en-US" altLang="zh-CN" dirty="0" err="1">
                <a:solidFill>
                  <a:srgbClr val="008000"/>
                </a:solidFill>
                <a:latin typeface="Comic Sans MS" panose="030F0702030302020204" pitchFamily="66" charset="0"/>
                <a:ea typeface="黑体" panose="02010609060101010101" pitchFamily="49" charset="-122"/>
              </a:rPr>
              <a:t>Sugeno</a:t>
            </a:r>
            <a:r>
              <a:rPr lang="en-US" altLang="zh-CN" dirty="0">
                <a:solidFill>
                  <a:srgbClr val="008000"/>
                </a:solidFill>
                <a:latin typeface="Comic Sans MS" panose="030F0702030302020204" pitchFamily="66" charset="0"/>
                <a:ea typeface="黑体" panose="02010609060101010101" pitchFamily="49" charset="-122"/>
              </a:rPr>
              <a:t> </a:t>
            </a:r>
            <a:r>
              <a:rPr lang="zh-CN" altLang="en-US" dirty="0">
                <a:solidFill>
                  <a:srgbClr val="008000"/>
                </a:solidFill>
                <a:latin typeface="Comic Sans MS" panose="030F0702030302020204" pitchFamily="66" charset="0"/>
                <a:ea typeface="黑体" panose="02010609060101010101" pitchFamily="49" charset="-122"/>
              </a:rPr>
              <a:t>模糊模型举例</a:t>
            </a:r>
          </a:p>
        </p:txBody>
      </p:sp>
      <p:pic>
        <p:nvPicPr>
          <p:cNvPr id="27651" name="Picture 7"/>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025504" y="1268413"/>
            <a:ext cx="6615112" cy="3600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7652" name="Text Box 9"/>
          <p:cNvSpPr txBox="1">
            <a:spLocks noChangeArrowheads="1"/>
          </p:cNvSpPr>
          <p:nvPr/>
        </p:nvSpPr>
        <p:spPr bwMode="auto">
          <a:xfrm>
            <a:off x="6816728" y="4797428"/>
            <a:ext cx="3851275"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endParaRPr lang="zh-CN" altLang="en-US"/>
          </a:p>
        </p:txBody>
      </p:sp>
      <p:sp>
        <p:nvSpPr>
          <p:cNvPr id="27653" name="Rectangle 11"/>
          <p:cNvSpPr>
            <a:spLocks noChangeArrowheads="1"/>
          </p:cNvSpPr>
          <p:nvPr/>
        </p:nvSpPr>
        <p:spPr bwMode="auto">
          <a:xfrm>
            <a:off x="695400" y="4797428"/>
            <a:ext cx="10873208" cy="2060575"/>
          </a:xfrm>
          <a:prstGeom prst="rect">
            <a:avLst/>
          </a:prstGeom>
          <a:solidFill>
            <a:srgbClr val="FFCCFF"/>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lnSpc>
                <a:spcPct val="105000"/>
              </a:lnSpc>
              <a:spcBef>
                <a:spcPct val="20000"/>
              </a:spcBef>
              <a:buClr>
                <a:schemeClr val="bg2"/>
              </a:buClr>
              <a:buSzPct val="75000"/>
              <a:buFont typeface="Wingdings" panose="05000000000000000000" pitchFamily="2" charset="2"/>
              <a:buChar char="n"/>
            </a:pPr>
            <a:r>
              <a:rPr lang="zh-CN" altLang="en-US" sz="2800" b="1" dirty="0">
                <a:ea typeface="华文楷体" panose="02010600040101010101" pitchFamily="2" charset="-122"/>
              </a:rPr>
              <a:t>与</a:t>
            </a:r>
            <a:r>
              <a:rPr lang="en-US" altLang="zh-CN" sz="2800" b="1" dirty="0" err="1">
                <a:ea typeface="华文楷体" panose="02010600040101010101" pitchFamily="2" charset="-122"/>
              </a:rPr>
              <a:t>Mamdani</a:t>
            </a:r>
            <a:r>
              <a:rPr lang="en-US" altLang="zh-CN" sz="2800" b="1" dirty="0">
                <a:ea typeface="华文楷体" panose="02010600040101010101" pitchFamily="2" charset="-122"/>
              </a:rPr>
              <a:t> F</a:t>
            </a:r>
            <a:r>
              <a:rPr lang="zh-CN" altLang="en-US" sz="2800" b="1" dirty="0">
                <a:ea typeface="华文楷体" panose="02010600040101010101" pitchFamily="2" charset="-122"/>
              </a:rPr>
              <a:t>模型不同，</a:t>
            </a:r>
            <a:r>
              <a:rPr lang="en-US" altLang="zh-CN" sz="2800" b="1" dirty="0" err="1">
                <a:ea typeface="华文楷体" panose="02010600040101010101" pitchFamily="2" charset="-122"/>
              </a:rPr>
              <a:t>Sugeno</a:t>
            </a:r>
            <a:r>
              <a:rPr lang="en-US" altLang="zh-CN" sz="2800" b="1" dirty="0">
                <a:ea typeface="华文楷体" panose="02010600040101010101" pitchFamily="2" charset="-122"/>
              </a:rPr>
              <a:t> F</a:t>
            </a:r>
            <a:r>
              <a:rPr lang="zh-CN" altLang="en-US" sz="2800" b="1" dirty="0">
                <a:ea typeface="华文楷体" panose="02010600040101010101" pitchFamily="2" charset="-122"/>
              </a:rPr>
              <a:t>模型在其推理机制中不严格遵循推理复合规则</a:t>
            </a:r>
          </a:p>
          <a:p>
            <a:pPr eaLnBrk="1" hangingPunct="1">
              <a:lnSpc>
                <a:spcPct val="105000"/>
              </a:lnSpc>
              <a:spcBef>
                <a:spcPct val="20000"/>
              </a:spcBef>
              <a:buClr>
                <a:schemeClr val="bg2"/>
              </a:buClr>
              <a:buSzPct val="75000"/>
              <a:buFont typeface="Wingdings" panose="05000000000000000000" pitchFamily="2" charset="2"/>
              <a:buChar char="n"/>
            </a:pPr>
            <a:r>
              <a:rPr lang="zh-CN" altLang="en-US" sz="2800" b="1" dirty="0">
                <a:ea typeface="华文楷体" panose="02010600040101010101" pitchFamily="2" charset="-122"/>
              </a:rPr>
              <a:t>但在使用时，可用上图前件</a:t>
            </a:r>
            <a:r>
              <a:rPr lang="en-US" altLang="zh-CN" sz="2800" b="1" dirty="0">
                <a:ea typeface="华文楷体" panose="02010600040101010101" pitchFamily="2" charset="-122"/>
              </a:rPr>
              <a:t>F</a:t>
            </a:r>
            <a:r>
              <a:rPr lang="zh-CN" altLang="en-US" sz="2800" b="1" dirty="0">
                <a:ea typeface="华文楷体" panose="02010600040101010101" pitchFamily="2" charset="-122"/>
              </a:rPr>
              <a:t>集合匹配的方法求得每条规则的</a:t>
            </a:r>
            <a:r>
              <a:rPr lang="zh-CN" altLang="en-US" sz="2800" b="1" dirty="0">
                <a:solidFill>
                  <a:srgbClr val="0000FE"/>
                </a:solidFill>
                <a:ea typeface="华文楷体" panose="02010600040101010101" pitchFamily="2" charset="-122"/>
              </a:rPr>
              <a:t>激励强度</a:t>
            </a:r>
            <a:r>
              <a:rPr lang="zh-CN" altLang="en-US" sz="2800" b="1" dirty="0">
                <a:ea typeface="华文楷体" panose="02010600040101010101" pitchFamily="2" charset="-122"/>
              </a:rPr>
              <a:t>，然后通过平均加权和产生整体的输出（精确值）</a:t>
            </a:r>
          </a:p>
        </p:txBody>
      </p:sp>
      <p:pic>
        <p:nvPicPr>
          <p:cNvPr id="3" name="图片 2">
            <a:extLst>
              <a:ext uri="{FF2B5EF4-FFF2-40B4-BE49-F238E27FC236}">
                <a16:creationId xmlns:a16="http://schemas.microsoft.com/office/drawing/2014/main" id="{68272FD8-2D9A-41B8-2357-B0EE779D6350}"/>
              </a:ext>
            </a:extLst>
          </p:cNvPr>
          <p:cNvPicPr>
            <a:picLocks noChangeAspect="1"/>
          </p:cNvPicPr>
          <p:nvPr/>
        </p:nvPicPr>
        <p:blipFill>
          <a:blip r:embed="rId3"/>
          <a:stretch>
            <a:fillRect/>
          </a:stretch>
        </p:blipFill>
        <p:spPr>
          <a:xfrm>
            <a:off x="263352" y="1628800"/>
            <a:ext cx="4762152" cy="2376263"/>
          </a:xfrm>
          <a:prstGeom prst="rect">
            <a:avLst/>
          </a:prstGeom>
        </p:spPr>
      </p:pic>
      <p:sp>
        <p:nvSpPr>
          <p:cNvPr id="4" name="灯片编号占位符 3">
            <a:extLst>
              <a:ext uri="{FF2B5EF4-FFF2-40B4-BE49-F238E27FC236}">
                <a16:creationId xmlns:a16="http://schemas.microsoft.com/office/drawing/2014/main" id="{159BC4CD-3E37-71CD-B647-4DE18D410D8D}"/>
              </a:ext>
            </a:extLst>
          </p:cNvPr>
          <p:cNvSpPr>
            <a:spLocks noGrp="1"/>
          </p:cNvSpPr>
          <p:nvPr>
            <p:ph type="sldNum" sz="quarter" idx="11"/>
          </p:nvPr>
        </p:nvSpPr>
        <p:spPr/>
        <p:txBody>
          <a:bodyPr/>
          <a:lstStyle/>
          <a:p>
            <a:pPr>
              <a:defRPr/>
            </a:pPr>
            <a:fld id="{B77A47BA-BA63-4780-94A9-8AFA2EA4438D}" type="slidenum">
              <a:rPr lang="en-US" altLang="zh-CN" smtClean="0"/>
              <a:pPr>
                <a:defRPr/>
              </a:pPr>
              <a:t>23</a:t>
            </a:fld>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27653">
                                            <p:txEl>
                                              <p:pRg st="0" end="0"/>
                                            </p:txEl>
                                          </p:spTgt>
                                        </p:tgtEl>
                                        <p:attrNameLst>
                                          <p:attrName>style.visibility</p:attrName>
                                        </p:attrNameLst>
                                      </p:cBhvr>
                                      <p:to>
                                        <p:strVal val="visible"/>
                                      </p:to>
                                    </p:set>
                                    <p:animEffect transition="in" filter="wipe(left)">
                                      <p:cBhvr>
                                        <p:cTn id="7" dur="500"/>
                                        <p:tgtEl>
                                          <p:spTgt spid="27653">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27653">
                                            <p:txEl>
                                              <p:pRg st="1" end="1"/>
                                            </p:txEl>
                                          </p:spTgt>
                                        </p:tgtEl>
                                        <p:attrNameLst>
                                          <p:attrName>style.visibility</p:attrName>
                                        </p:attrNameLst>
                                      </p:cBhvr>
                                      <p:to>
                                        <p:strVal val="visible"/>
                                      </p:to>
                                    </p:set>
                                    <p:animEffect transition="in" filter="wipe(left)">
                                      <p:cBhvr>
                                        <p:cTn id="12" dur="500"/>
                                        <p:tgtEl>
                                          <p:spTgt spid="2765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8674" name="Picture 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56040" y="3068638"/>
            <a:ext cx="4968875" cy="3313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8675" name="Rectangle 2"/>
          <p:cNvSpPr>
            <a:spLocks noGrp="1" noChangeArrowheads="1"/>
          </p:cNvSpPr>
          <p:nvPr>
            <p:ph type="title" idx="4294967295"/>
          </p:nvPr>
        </p:nvSpPr>
        <p:spPr>
          <a:xfrm>
            <a:off x="1487489" y="188913"/>
            <a:ext cx="9001128" cy="1371600"/>
          </a:xfrm>
        </p:spPr>
        <p:txBody>
          <a:bodyPr/>
          <a:lstStyle/>
          <a:p>
            <a:pPr eaLnBrk="1" hangingPunct="1"/>
            <a:r>
              <a:rPr lang="zh-CN" altLang="en-US" dirty="0">
                <a:solidFill>
                  <a:srgbClr val="008000"/>
                </a:solidFill>
                <a:latin typeface="Comic Sans MS" panose="030F0702030302020204" pitchFamily="66" charset="0"/>
                <a:ea typeface="黑体" panose="02010609060101010101" pitchFamily="49" charset="-122"/>
              </a:rPr>
              <a:t>两输入单输出</a:t>
            </a:r>
            <a:r>
              <a:rPr lang="en-US" altLang="zh-CN" dirty="0" err="1">
                <a:solidFill>
                  <a:srgbClr val="008000"/>
                </a:solidFill>
                <a:latin typeface="Comic Sans MS" panose="030F0702030302020204" pitchFamily="66" charset="0"/>
                <a:ea typeface="黑体" panose="02010609060101010101" pitchFamily="49" charset="-122"/>
              </a:rPr>
              <a:t>Sugeno</a:t>
            </a:r>
            <a:r>
              <a:rPr lang="en-US" altLang="zh-CN" dirty="0">
                <a:solidFill>
                  <a:srgbClr val="008000"/>
                </a:solidFill>
                <a:latin typeface="Comic Sans MS" panose="030F0702030302020204" pitchFamily="66" charset="0"/>
                <a:ea typeface="黑体" panose="02010609060101010101" pitchFamily="49" charset="-122"/>
              </a:rPr>
              <a:t> </a:t>
            </a:r>
            <a:r>
              <a:rPr lang="zh-CN" altLang="en-US" dirty="0">
                <a:solidFill>
                  <a:srgbClr val="008000"/>
                </a:solidFill>
                <a:latin typeface="Comic Sans MS" panose="030F0702030302020204" pitchFamily="66" charset="0"/>
                <a:ea typeface="黑体" panose="02010609060101010101" pitchFamily="49" charset="-122"/>
              </a:rPr>
              <a:t>模糊模型举例</a:t>
            </a:r>
          </a:p>
        </p:txBody>
      </p:sp>
      <p:sp>
        <p:nvSpPr>
          <p:cNvPr id="28676" name="Rectangle 3"/>
          <p:cNvSpPr>
            <a:spLocks noGrp="1" noChangeArrowheads="1"/>
          </p:cNvSpPr>
          <p:nvPr>
            <p:ph type="body" idx="4294967295"/>
          </p:nvPr>
        </p:nvSpPr>
        <p:spPr>
          <a:xfrm>
            <a:off x="851458" y="1560513"/>
            <a:ext cx="5244542" cy="5108574"/>
          </a:xfrm>
          <a:solidFill>
            <a:srgbClr val="FFFFCC"/>
          </a:solidFill>
        </p:spPr>
        <p:txBody>
          <a:bodyPr/>
          <a:lstStyle/>
          <a:p>
            <a:pPr eaLnBrk="1" hangingPunct="1"/>
            <a:r>
              <a:rPr lang="en-US" altLang="zh-CN" dirty="0">
                <a:solidFill>
                  <a:srgbClr val="FF0000"/>
                </a:solidFill>
                <a:latin typeface="+mj-lt"/>
                <a:ea typeface="黑体" panose="02010609060101010101" pitchFamily="49" charset="-122"/>
              </a:rPr>
              <a:t>I/O</a:t>
            </a:r>
            <a:r>
              <a:rPr lang="zh-CN" altLang="en-US" dirty="0">
                <a:solidFill>
                  <a:srgbClr val="FF0000"/>
                </a:solidFill>
                <a:latin typeface="+mj-lt"/>
                <a:ea typeface="黑体" panose="02010609060101010101" pitchFamily="49" charset="-122"/>
              </a:rPr>
              <a:t>曲面复杂</a:t>
            </a:r>
          </a:p>
          <a:p>
            <a:pPr lvl="1" eaLnBrk="1" hangingPunct="1"/>
            <a:r>
              <a:rPr lang="zh-CN" altLang="en-US" dirty="0">
                <a:latin typeface="+mj-lt"/>
                <a:ea typeface="黑体" panose="02010609060101010101" pitchFamily="49" charset="-122"/>
              </a:rPr>
              <a:t>明显由几个平面构成</a:t>
            </a:r>
          </a:p>
          <a:p>
            <a:pPr lvl="1" eaLnBrk="1" hangingPunct="1"/>
            <a:r>
              <a:rPr lang="zh-CN" altLang="en-US" dirty="0">
                <a:latin typeface="+mj-lt"/>
                <a:ea typeface="黑体" panose="02010609060101010101" pitchFamily="49" charset="-122"/>
              </a:rPr>
              <a:t>各平面由一条</a:t>
            </a:r>
            <a:r>
              <a:rPr lang="en-US" altLang="zh-CN" dirty="0">
                <a:latin typeface="+mj-lt"/>
                <a:ea typeface="黑体" panose="02010609060101010101" pitchFamily="49" charset="-122"/>
              </a:rPr>
              <a:t>F</a:t>
            </a:r>
            <a:r>
              <a:rPr lang="zh-CN" altLang="en-US" dirty="0">
                <a:latin typeface="+mj-lt"/>
                <a:ea typeface="黑体" panose="02010609060101010101" pitchFamily="49" charset="-122"/>
              </a:rPr>
              <a:t>规则的输出方程来描述</a:t>
            </a:r>
          </a:p>
          <a:p>
            <a:pPr eaLnBrk="1" hangingPunct="1"/>
            <a:r>
              <a:rPr lang="zh-CN" altLang="en-US" dirty="0">
                <a:solidFill>
                  <a:srgbClr val="FF0000"/>
                </a:solidFill>
                <a:latin typeface="+mj-lt"/>
                <a:ea typeface="黑体" panose="02010609060101010101" pitchFamily="49" charset="-122"/>
              </a:rPr>
              <a:t>适用范围</a:t>
            </a:r>
          </a:p>
          <a:p>
            <a:pPr lvl="1" eaLnBrk="1" hangingPunct="1"/>
            <a:r>
              <a:rPr lang="en-US" altLang="zh-CN" dirty="0" err="1">
                <a:latin typeface="+mj-lt"/>
                <a:ea typeface="黑体" panose="02010609060101010101" pitchFamily="49" charset="-122"/>
              </a:rPr>
              <a:t>Sugeno</a:t>
            </a:r>
            <a:r>
              <a:rPr lang="en-US" altLang="zh-CN" dirty="0">
                <a:latin typeface="+mj-lt"/>
                <a:ea typeface="黑体" panose="02010609060101010101" pitchFamily="49" charset="-122"/>
              </a:rPr>
              <a:t> F</a:t>
            </a:r>
            <a:r>
              <a:rPr lang="zh-CN" altLang="en-US" dirty="0">
                <a:latin typeface="+mj-lt"/>
                <a:ea typeface="黑体" panose="02010609060101010101" pitchFamily="49" charset="-122"/>
              </a:rPr>
              <a:t>模型不需要耗时和数学上不易分析的</a:t>
            </a:r>
            <a:r>
              <a:rPr lang="zh-CN" altLang="en-US" dirty="0">
                <a:solidFill>
                  <a:srgbClr val="3333FF"/>
                </a:solidFill>
                <a:latin typeface="+mj-lt"/>
                <a:ea typeface="黑体" panose="02010609060101010101" pitchFamily="49" charset="-122"/>
              </a:rPr>
              <a:t>去</a:t>
            </a:r>
            <a:r>
              <a:rPr lang="en-US" altLang="zh-CN" dirty="0">
                <a:solidFill>
                  <a:srgbClr val="3333FF"/>
                </a:solidFill>
                <a:latin typeface="+mj-lt"/>
                <a:ea typeface="黑体" panose="02010609060101010101" pitchFamily="49" charset="-122"/>
              </a:rPr>
              <a:t>F</a:t>
            </a:r>
            <a:r>
              <a:rPr lang="zh-CN" altLang="en-US" dirty="0">
                <a:solidFill>
                  <a:srgbClr val="3333FF"/>
                </a:solidFill>
                <a:latin typeface="+mj-lt"/>
                <a:ea typeface="黑体" panose="02010609060101010101" pitchFamily="49" charset="-122"/>
              </a:rPr>
              <a:t>化</a:t>
            </a:r>
            <a:r>
              <a:rPr lang="zh-CN" altLang="en-US" dirty="0">
                <a:latin typeface="+mj-lt"/>
                <a:ea typeface="黑体" panose="02010609060101010101" pitchFamily="49" charset="-122"/>
              </a:rPr>
              <a:t>运算，至今为止，它是基于样本的</a:t>
            </a:r>
            <a:r>
              <a:rPr lang="en-US" altLang="zh-CN" dirty="0">
                <a:latin typeface="+mj-lt"/>
                <a:ea typeface="黑体" panose="02010609060101010101" pitchFamily="49" charset="-122"/>
              </a:rPr>
              <a:t>F</a:t>
            </a:r>
            <a:r>
              <a:rPr lang="zh-CN" altLang="en-US" dirty="0">
                <a:latin typeface="+mj-lt"/>
                <a:ea typeface="黑体" panose="02010609060101010101" pitchFamily="49" charset="-122"/>
              </a:rPr>
              <a:t>建模中最常选用的方法</a:t>
            </a:r>
            <a:endParaRPr lang="zh-CN" altLang="en-US" sz="3200" dirty="0">
              <a:latin typeface="+mj-lt"/>
              <a:ea typeface="黑体" panose="02010609060101010101" pitchFamily="49" charset="-122"/>
            </a:endParaRPr>
          </a:p>
        </p:txBody>
      </p:sp>
      <p:sp>
        <p:nvSpPr>
          <p:cNvPr id="28677" name="Text Box 6"/>
          <p:cNvSpPr txBox="1">
            <a:spLocks noChangeArrowheads="1"/>
          </p:cNvSpPr>
          <p:nvPr/>
        </p:nvSpPr>
        <p:spPr bwMode="auto">
          <a:xfrm>
            <a:off x="8184232" y="6381750"/>
            <a:ext cx="2808288"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sz="2400" b="1" dirty="0">
                <a:solidFill>
                  <a:srgbClr val="CC00CC"/>
                </a:solidFill>
              </a:rPr>
              <a:t>输入 </a:t>
            </a:r>
            <a:r>
              <a:rPr lang="en-US" altLang="zh-CN" sz="2400" b="1" dirty="0">
                <a:solidFill>
                  <a:srgbClr val="CC00CC"/>
                </a:solidFill>
              </a:rPr>
              <a:t>- </a:t>
            </a:r>
            <a:r>
              <a:rPr lang="zh-CN" altLang="en-US" sz="2400" b="1" dirty="0">
                <a:solidFill>
                  <a:srgbClr val="CC00CC"/>
                </a:solidFill>
              </a:rPr>
              <a:t>输出曲面</a:t>
            </a:r>
          </a:p>
        </p:txBody>
      </p:sp>
      <p:sp>
        <p:nvSpPr>
          <p:cNvPr id="28678" name="Rectangle 8"/>
          <p:cNvSpPr>
            <a:spLocks noGrp="1" noChangeArrowheads="1"/>
          </p:cNvSpPr>
          <p:nvPr/>
        </p:nvSpPr>
        <p:spPr bwMode="auto">
          <a:xfrm>
            <a:off x="7170851" y="1560513"/>
            <a:ext cx="4140200" cy="13668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eaLnBrk="0" hangingPunct="0">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bg2"/>
              </a:buClr>
              <a:buSzPct val="7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bg2"/>
              </a:buClr>
              <a:buSzPct val="7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bg2"/>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lnSpc>
                <a:spcPct val="90000"/>
              </a:lnSpc>
              <a:buFont typeface="Wingdings" panose="05000000000000000000" pitchFamily="2" charset="2"/>
              <a:buNone/>
            </a:pPr>
            <a:r>
              <a:rPr lang="en-US" altLang="zh-CN" sz="2000" b="1" dirty="0"/>
              <a:t>IF </a:t>
            </a:r>
            <a:r>
              <a:rPr lang="en-US" altLang="zh-CN" sz="2000" b="1" u="sng" dirty="0"/>
              <a:t>X </a:t>
            </a:r>
            <a:r>
              <a:rPr lang="zh-CN" altLang="en-US" sz="2000" b="1" u="sng" dirty="0"/>
              <a:t>小</a:t>
            </a:r>
            <a:r>
              <a:rPr lang="zh-CN" altLang="en-US" sz="2000" b="1" dirty="0"/>
              <a:t> </a:t>
            </a:r>
            <a:r>
              <a:rPr lang="en-US" altLang="zh-CN" sz="2000" b="1" dirty="0"/>
              <a:t>and </a:t>
            </a:r>
            <a:r>
              <a:rPr lang="en-US" altLang="zh-CN" sz="2000" b="1" u="sng" dirty="0"/>
              <a:t>Y </a:t>
            </a:r>
            <a:r>
              <a:rPr lang="zh-CN" altLang="en-US" sz="2000" b="1" u="sng" dirty="0"/>
              <a:t>小</a:t>
            </a:r>
            <a:r>
              <a:rPr lang="zh-CN" altLang="en-US" sz="2000" b="1" dirty="0"/>
              <a:t>  </a:t>
            </a:r>
            <a:r>
              <a:rPr lang="en-US" altLang="zh-CN" sz="2000" b="1" dirty="0"/>
              <a:t>THEN  z=-x+y+1</a:t>
            </a:r>
          </a:p>
          <a:p>
            <a:pPr eaLnBrk="1" hangingPunct="1">
              <a:lnSpc>
                <a:spcPct val="90000"/>
              </a:lnSpc>
              <a:buFont typeface="Wingdings" panose="05000000000000000000" pitchFamily="2" charset="2"/>
              <a:buNone/>
            </a:pPr>
            <a:r>
              <a:rPr lang="en-US" altLang="zh-CN" sz="2000" b="1" dirty="0"/>
              <a:t>IF </a:t>
            </a:r>
            <a:r>
              <a:rPr lang="en-US" altLang="zh-CN" sz="2000" b="1" u="sng" dirty="0"/>
              <a:t>X </a:t>
            </a:r>
            <a:r>
              <a:rPr lang="zh-CN" altLang="en-US" sz="2000" b="1" u="sng" dirty="0"/>
              <a:t>小</a:t>
            </a:r>
            <a:r>
              <a:rPr lang="zh-CN" altLang="en-US" sz="2000" b="1" dirty="0"/>
              <a:t> </a:t>
            </a:r>
            <a:r>
              <a:rPr lang="en-US" altLang="zh-CN" sz="2000" b="1" dirty="0"/>
              <a:t>and </a:t>
            </a:r>
            <a:r>
              <a:rPr lang="en-US" altLang="zh-CN" sz="2000" b="1" u="sng" dirty="0"/>
              <a:t>Y </a:t>
            </a:r>
            <a:r>
              <a:rPr lang="zh-CN" altLang="en-US" sz="2000" b="1" u="sng" dirty="0"/>
              <a:t>大</a:t>
            </a:r>
            <a:r>
              <a:rPr lang="zh-CN" altLang="en-US" sz="2000" b="1" dirty="0"/>
              <a:t>  </a:t>
            </a:r>
            <a:r>
              <a:rPr lang="en-US" altLang="zh-CN" sz="2000" b="1" dirty="0"/>
              <a:t>THEN  z=-y+3</a:t>
            </a:r>
          </a:p>
          <a:p>
            <a:pPr eaLnBrk="1" hangingPunct="1">
              <a:lnSpc>
                <a:spcPct val="90000"/>
              </a:lnSpc>
              <a:buFont typeface="Wingdings" panose="05000000000000000000" pitchFamily="2" charset="2"/>
              <a:buNone/>
            </a:pPr>
            <a:r>
              <a:rPr lang="en-US" altLang="zh-CN" sz="2000" b="1" dirty="0"/>
              <a:t>IF </a:t>
            </a:r>
            <a:r>
              <a:rPr lang="en-US" altLang="zh-CN" sz="2000" b="1" u="sng" dirty="0"/>
              <a:t>X </a:t>
            </a:r>
            <a:r>
              <a:rPr lang="zh-CN" altLang="en-US" sz="2000" b="1" u="sng" dirty="0"/>
              <a:t>大</a:t>
            </a:r>
            <a:r>
              <a:rPr lang="zh-CN" altLang="en-US" sz="2000" b="1" dirty="0"/>
              <a:t> </a:t>
            </a:r>
            <a:r>
              <a:rPr lang="en-US" altLang="zh-CN" sz="2000" b="1" dirty="0"/>
              <a:t>and </a:t>
            </a:r>
            <a:r>
              <a:rPr lang="en-US" altLang="zh-CN" sz="2000" b="1" u="sng" dirty="0"/>
              <a:t>Y </a:t>
            </a:r>
            <a:r>
              <a:rPr lang="zh-CN" altLang="en-US" sz="2000" b="1" u="sng" dirty="0"/>
              <a:t>小</a:t>
            </a:r>
            <a:r>
              <a:rPr lang="zh-CN" altLang="en-US" sz="2000" b="1" dirty="0"/>
              <a:t>  </a:t>
            </a:r>
            <a:r>
              <a:rPr lang="en-US" altLang="zh-CN" sz="2000" b="1" dirty="0"/>
              <a:t>THEN  z=-x+3</a:t>
            </a:r>
          </a:p>
          <a:p>
            <a:pPr eaLnBrk="1" hangingPunct="1">
              <a:lnSpc>
                <a:spcPct val="90000"/>
              </a:lnSpc>
              <a:buFont typeface="Wingdings" panose="05000000000000000000" pitchFamily="2" charset="2"/>
              <a:buNone/>
            </a:pPr>
            <a:r>
              <a:rPr lang="en-US" altLang="zh-CN" sz="2000" b="1" dirty="0"/>
              <a:t>IF </a:t>
            </a:r>
            <a:r>
              <a:rPr lang="en-US" altLang="zh-CN" sz="2000" b="1" u="sng" dirty="0"/>
              <a:t>X </a:t>
            </a:r>
            <a:r>
              <a:rPr lang="zh-CN" altLang="en-US" sz="2000" b="1" u="sng" dirty="0"/>
              <a:t>大</a:t>
            </a:r>
            <a:r>
              <a:rPr lang="zh-CN" altLang="en-US" sz="2000" b="1" dirty="0"/>
              <a:t> </a:t>
            </a:r>
            <a:r>
              <a:rPr lang="en-US" altLang="zh-CN" sz="2000" b="1" dirty="0"/>
              <a:t>and </a:t>
            </a:r>
            <a:r>
              <a:rPr lang="en-US" altLang="zh-CN" sz="2000" b="1" u="sng" dirty="0"/>
              <a:t>Y </a:t>
            </a:r>
            <a:r>
              <a:rPr lang="zh-CN" altLang="en-US" sz="2000" b="1" u="sng" dirty="0"/>
              <a:t>大</a:t>
            </a:r>
            <a:r>
              <a:rPr lang="zh-CN" altLang="en-US" sz="2000" b="1" dirty="0"/>
              <a:t>  </a:t>
            </a:r>
            <a:r>
              <a:rPr lang="en-US" altLang="zh-CN" sz="2000" b="1" dirty="0"/>
              <a:t>THEN  z=x+y+2</a:t>
            </a:r>
          </a:p>
        </p:txBody>
      </p:sp>
      <p:sp>
        <p:nvSpPr>
          <p:cNvPr id="2" name="灯片编号占位符 1">
            <a:extLst>
              <a:ext uri="{FF2B5EF4-FFF2-40B4-BE49-F238E27FC236}">
                <a16:creationId xmlns:a16="http://schemas.microsoft.com/office/drawing/2014/main" id="{E01F1A5A-C866-FEFA-FA4B-2EDBB75777FE}"/>
              </a:ext>
            </a:extLst>
          </p:cNvPr>
          <p:cNvSpPr>
            <a:spLocks noGrp="1"/>
          </p:cNvSpPr>
          <p:nvPr>
            <p:ph type="sldNum" sz="quarter" idx="11"/>
          </p:nvPr>
        </p:nvSpPr>
        <p:spPr/>
        <p:txBody>
          <a:bodyPr/>
          <a:lstStyle/>
          <a:p>
            <a:pPr>
              <a:defRPr/>
            </a:pPr>
            <a:fld id="{B77A47BA-BA63-4780-94A9-8AFA2EA4438D}" type="slidenum">
              <a:rPr lang="en-US" altLang="zh-CN" smtClean="0"/>
              <a:pPr>
                <a:defRPr/>
              </a:pPr>
              <a:t>24</a:t>
            </a:fld>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8676">
                                            <p:txEl>
                                              <p:pRg st="0" end="0"/>
                                            </p:txEl>
                                          </p:spTgt>
                                        </p:tgtEl>
                                        <p:attrNameLst>
                                          <p:attrName>style.visibility</p:attrName>
                                        </p:attrNameLst>
                                      </p:cBhvr>
                                      <p:to>
                                        <p:strVal val="visible"/>
                                      </p:to>
                                    </p:set>
                                    <p:animEffect transition="in" filter="wipe(left)">
                                      <p:cBhvr>
                                        <p:cTn id="7" dur="500"/>
                                        <p:tgtEl>
                                          <p:spTgt spid="28676">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0" presetClass="entr" presetSubtype="0" fill="hold" nodeType="clickEffect">
                                  <p:stCondLst>
                                    <p:cond delay="0"/>
                                  </p:stCondLst>
                                  <p:childTnLst>
                                    <p:set>
                                      <p:cBhvr>
                                        <p:cTn id="11" dur="1" fill="hold">
                                          <p:stCondLst>
                                            <p:cond delay="0"/>
                                          </p:stCondLst>
                                        </p:cTn>
                                        <p:tgtEl>
                                          <p:spTgt spid="28674"/>
                                        </p:tgtEl>
                                        <p:attrNameLst>
                                          <p:attrName>style.visibility</p:attrName>
                                        </p:attrNameLst>
                                      </p:cBhvr>
                                      <p:to>
                                        <p:strVal val="visible"/>
                                      </p:to>
                                    </p:set>
                                    <p:animEffect transition="in" filter="fade">
                                      <p:cBhvr>
                                        <p:cTn id="12" dur="500"/>
                                        <p:tgtEl>
                                          <p:spTgt spid="28674"/>
                                        </p:tgtEl>
                                      </p:cBhvr>
                                    </p:animEffect>
                                  </p:childTnLst>
                                </p:cTn>
                              </p:par>
                            </p:childTnLst>
                          </p:cTn>
                        </p:par>
                        <p:par>
                          <p:cTn id="13" fill="hold" nodeType="afterGroup">
                            <p:stCondLst>
                              <p:cond delay="500"/>
                            </p:stCondLst>
                            <p:childTnLst>
                              <p:par>
                                <p:cTn id="14" presetID="10" presetClass="entr" presetSubtype="0" fill="hold" grpId="0" nodeType="afterEffect">
                                  <p:stCondLst>
                                    <p:cond delay="0"/>
                                  </p:stCondLst>
                                  <p:childTnLst>
                                    <p:set>
                                      <p:cBhvr>
                                        <p:cTn id="15" dur="1" fill="hold">
                                          <p:stCondLst>
                                            <p:cond delay="0"/>
                                          </p:stCondLst>
                                        </p:cTn>
                                        <p:tgtEl>
                                          <p:spTgt spid="28677"/>
                                        </p:tgtEl>
                                        <p:attrNameLst>
                                          <p:attrName>style.visibility</p:attrName>
                                        </p:attrNameLst>
                                      </p:cBhvr>
                                      <p:to>
                                        <p:strVal val="visible"/>
                                      </p:to>
                                    </p:set>
                                    <p:animEffect transition="in" filter="fade">
                                      <p:cBhvr>
                                        <p:cTn id="16" dur="500"/>
                                        <p:tgtEl>
                                          <p:spTgt spid="28677"/>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22" presetClass="entr" presetSubtype="8" fill="hold" grpId="0" nodeType="clickEffect">
                                  <p:stCondLst>
                                    <p:cond delay="0"/>
                                  </p:stCondLst>
                                  <p:childTnLst>
                                    <p:set>
                                      <p:cBhvr>
                                        <p:cTn id="20" dur="1" fill="hold">
                                          <p:stCondLst>
                                            <p:cond delay="0"/>
                                          </p:stCondLst>
                                        </p:cTn>
                                        <p:tgtEl>
                                          <p:spTgt spid="28676">
                                            <p:txEl>
                                              <p:pRg st="1" end="1"/>
                                            </p:txEl>
                                          </p:spTgt>
                                        </p:tgtEl>
                                        <p:attrNameLst>
                                          <p:attrName>style.visibility</p:attrName>
                                        </p:attrNameLst>
                                      </p:cBhvr>
                                      <p:to>
                                        <p:strVal val="visible"/>
                                      </p:to>
                                    </p:set>
                                    <p:animEffect transition="in" filter="wipe(left)">
                                      <p:cBhvr>
                                        <p:cTn id="21" dur="500"/>
                                        <p:tgtEl>
                                          <p:spTgt spid="28676">
                                            <p:txEl>
                                              <p:pRg st="1" end="1"/>
                                            </p:txEl>
                                          </p:spTgt>
                                        </p:tgtEl>
                                      </p:cBhvr>
                                    </p:animEffect>
                                  </p:childTnLst>
                                </p:cTn>
                              </p:par>
                            </p:childTnLst>
                          </p:cTn>
                        </p:par>
                      </p:childTnLst>
                    </p:cTn>
                  </p:par>
                  <p:par>
                    <p:cTn id="22" fill="hold" nodeType="clickPar">
                      <p:stCondLst>
                        <p:cond delay="indefinite"/>
                      </p:stCondLst>
                      <p:childTnLst>
                        <p:par>
                          <p:cTn id="23" fill="hold" nodeType="withGroup">
                            <p:stCondLst>
                              <p:cond delay="0"/>
                            </p:stCondLst>
                            <p:childTnLst>
                              <p:par>
                                <p:cTn id="24" presetID="22" presetClass="entr" presetSubtype="8" fill="hold" grpId="0" nodeType="clickEffect">
                                  <p:stCondLst>
                                    <p:cond delay="0"/>
                                  </p:stCondLst>
                                  <p:childTnLst>
                                    <p:set>
                                      <p:cBhvr>
                                        <p:cTn id="25" dur="1" fill="hold">
                                          <p:stCondLst>
                                            <p:cond delay="0"/>
                                          </p:stCondLst>
                                        </p:cTn>
                                        <p:tgtEl>
                                          <p:spTgt spid="28676">
                                            <p:txEl>
                                              <p:pRg st="2" end="2"/>
                                            </p:txEl>
                                          </p:spTgt>
                                        </p:tgtEl>
                                        <p:attrNameLst>
                                          <p:attrName>style.visibility</p:attrName>
                                        </p:attrNameLst>
                                      </p:cBhvr>
                                      <p:to>
                                        <p:strVal val="visible"/>
                                      </p:to>
                                    </p:set>
                                    <p:animEffect transition="in" filter="wipe(left)">
                                      <p:cBhvr>
                                        <p:cTn id="26" dur="500"/>
                                        <p:tgtEl>
                                          <p:spTgt spid="28676">
                                            <p:txEl>
                                              <p:pRg st="2" end="2"/>
                                            </p:txEl>
                                          </p:spTgt>
                                        </p:tgtEl>
                                      </p:cBhvr>
                                    </p:animEffect>
                                  </p:childTnLst>
                                </p:cTn>
                              </p:par>
                            </p:childTnLst>
                          </p:cTn>
                        </p:par>
                      </p:childTnLst>
                    </p:cTn>
                  </p:par>
                  <p:par>
                    <p:cTn id="27" fill="hold" nodeType="clickPar">
                      <p:stCondLst>
                        <p:cond delay="indefinite"/>
                      </p:stCondLst>
                      <p:childTnLst>
                        <p:par>
                          <p:cTn id="28" fill="hold" nodeType="withGroup">
                            <p:stCondLst>
                              <p:cond delay="0"/>
                            </p:stCondLst>
                            <p:childTnLst>
                              <p:par>
                                <p:cTn id="29" presetID="22" presetClass="entr" presetSubtype="8" fill="hold" grpId="0" nodeType="clickEffect">
                                  <p:stCondLst>
                                    <p:cond delay="0"/>
                                  </p:stCondLst>
                                  <p:childTnLst>
                                    <p:set>
                                      <p:cBhvr>
                                        <p:cTn id="30" dur="1" fill="hold">
                                          <p:stCondLst>
                                            <p:cond delay="0"/>
                                          </p:stCondLst>
                                        </p:cTn>
                                        <p:tgtEl>
                                          <p:spTgt spid="28676">
                                            <p:txEl>
                                              <p:pRg st="3" end="3"/>
                                            </p:txEl>
                                          </p:spTgt>
                                        </p:tgtEl>
                                        <p:attrNameLst>
                                          <p:attrName>style.visibility</p:attrName>
                                        </p:attrNameLst>
                                      </p:cBhvr>
                                      <p:to>
                                        <p:strVal val="visible"/>
                                      </p:to>
                                    </p:set>
                                    <p:animEffect transition="in" filter="wipe(left)">
                                      <p:cBhvr>
                                        <p:cTn id="31" dur="500"/>
                                        <p:tgtEl>
                                          <p:spTgt spid="28676">
                                            <p:txEl>
                                              <p:pRg st="3" end="3"/>
                                            </p:txEl>
                                          </p:spTgt>
                                        </p:tgtEl>
                                      </p:cBhvr>
                                    </p:animEffect>
                                  </p:childTnLst>
                                </p:cTn>
                              </p:par>
                            </p:childTnLst>
                          </p:cTn>
                        </p:par>
                      </p:childTnLst>
                    </p:cTn>
                  </p:par>
                  <p:par>
                    <p:cTn id="32" fill="hold" nodeType="clickPar">
                      <p:stCondLst>
                        <p:cond delay="indefinite"/>
                      </p:stCondLst>
                      <p:childTnLst>
                        <p:par>
                          <p:cTn id="33" fill="hold" nodeType="withGroup">
                            <p:stCondLst>
                              <p:cond delay="0"/>
                            </p:stCondLst>
                            <p:childTnLst>
                              <p:par>
                                <p:cTn id="34" presetID="22" presetClass="entr" presetSubtype="8" fill="hold" grpId="0" nodeType="clickEffect">
                                  <p:stCondLst>
                                    <p:cond delay="0"/>
                                  </p:stCondLst>
                                  <p:childTnLst>
                                    <p:set>
                                      <p:cBhvr>
                                        <p:cTn id="35" dur="1" fill="hold">
                                          <p:stCondLst>
                                            <p:cond delay="0"/>
                                          </p:stCondLst>
                                        </p:cTn>
                                        <p:tgtEl>
                                          <p:spTgt spid="28676">
                                            <p:txEl>
                                              <p:pRg st="4" end="4"/>
                                            </p:txEl>
                                          </p:spTgt>
                                        </p:tgtEl>
                                        <p:attrNameLst>
                                          <p:attrName>style.visibility</p:attrName>
                                        </p:attrNameLst>
                                      </p:cBhvr>
                                      <p:to>
                                        <p:strVal val="visible"/>
                                      </p:to>
                                    </p:set>
                                    <p:animEffect transition="in" filter="wipe(left)">
                                      <p:cBhvr>
                                        <p:cTn id="36" dur="500"/>
                                        <p:tgtEl>
                                          <p:spTgt spid="28676">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676" grpId="0" uiExpand="1" build="p" autoUpdateAnimBg="0"/>
      <p:bldP spid="28677" grpId="0" autoUpdateAnimBg="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p:cNvSpPr>
            <a:spLocks noGrp="1" noChangeArrowheads="1"/>
          </p:cNvSpPr>
          <p:nvPr>
            <p:ph type="title" idx="4294967295"/>
          </p:nvPr>
        </p:nvSpPr>
        <p:spPr>
          <a:xfrm>
            <a:off x="1981200" y="404664"/>
            <a:ext cx="8229600" cy="1027113"/>
          </a:xfrm>
        </p:spPr>
        <p:txBody>
          <a:bodyPr/>
          <a:lstStyle/>
          <a:p>
            <a:pPr algn="ctr" eaLnBrk="1" hangingPunct="1"/>
            <a:r>
              <a:rPr lang="en-US" altLang="zh-CN" dirty="0">
                <a:solidFill>
                  <a:srgbClr val="008000"/>
                </a:solidFill>
                <a:latin typeface="Comic Sans MS" panose="030F0702030302020204" pitchFamily="66" charset="0"/>
                <a:ea typeface="黑体" panose="02010609060101010101" pitchFamily="49" charset="-122"/>
              </a:rPr>
              <a:t>9.4 Tsukamoto </a:t>
            </a:r>
            <a:r>
              <a:rPr lang="zh-CN" altLang="en-US" dirty="0">
                <a:solidFill>
                  <a:srgbClr val="008000"/>
                </a:solidFill>
                <a:latin typeface="Comic Sans MS" panose="030F0702030302020204" pitchFamily="66" charset="0"/>
                <a:ea typeface="黑体" panose="02010609060101010101" pitchFamily="49" charset="-122"/>
              </a:rPr>
              <a:t>模糊模型</a:t>
            </a:r>
            <a:endParaRPr lang="zh-CN" altLang="en-US" dirty="0">
              <a:solidFill>
                <a:srgbClr val="128828"/>
              </a:solidFill>
              <a:latin typeface="Comic Sans MS" panose="030F0702030302020204" pitchFamily="66" charset="0"/>
              <a:ea typeface="黑体" panose="02010609060101010101" pitchFamily="49" charset="-122"/>
            </a:endParaRPr>
          </a:p>
        </p:txBody>
      </p:sp>
      <p:sp>
        <p:nvSpPr>
          <p:cNvPr id="29699" name="Rectangle 3"/>
          <p:cNvSpPr>
            <a:spLocks noGrp="1" noChangeArrowheads="1"/>
          </p:cNvSpPr>
          <p:nvPr>
            <p:ph type="body" sz="half" idx="4294967295"/>
          </p:nvPr>
        </p:nvSpPr>
        <p:spPr>
          <a:xfrm>
            <a:off x="1055441" y="1335087"/>
            <a:ext cx="10081117" cy="1784354"/>
          </a:xfrm>
          <a:solidFill>
            <a:schemeClr val="accent6">
              <a:lumMod val="20000"/>
              <a:lumOff val="80000"/>
            </a:schemeClr>
          </a:solidFill>
        </p:spPr>
        <p:txBody>
          <a:bodyPr/>
          <a:lstStyle/>
          <a:p>
            <a:pPr eaLnBrk="1" hangingPunct="1">
              <a:lnSpc>
                <a:spcPct val="90000"/>
              </a:lnSpc>
            </a:pPr>
            <a:r>
              <a:rPr lang="zh-CN" altLang="en-US" sz="2800" b="1" dirty="0">
                <a:ea typeface="楷体_GB2312" pitchFamily="1" charset="-122"/>
              </a:rPr>
              <a:t>每条规则后件由具有</a:t>
            </a:r>
            <a:r>
              <a:rPr lang="zh-CN" altLang="en-US" sz="2800" b="1" u="sng" dirty="0">
                <a:solidFill>
                  <a:srgbClr val="CC00CC"/>
                </a:solidFill>
                <a:ea typeface="楷体_GB2312" pitchFamily="1" charset="-122"/>
              </a:rPr>
              <a:t>单调隶属函数</a:t>
            </a:r>
            <a:r>
              <a:rPr lang="zh-CN" altLang="en-US" sz="2800" b="1" dirty="0">
                <a:ea typeface="楷体_GB2312" pitchFamily="1" charset="-122"/>
              </a:rPr>
              <a:t>的</a:t>
            </a:r>
            <a:r>
              <a:rPr lang="en-US" altLang="zh-CN" sz="2800" b="1" dirty="0">
                <a:ea typeface="楷体_GB2312" pitchFamily="1" charset="-122"/>
              </a:rPr>
              <a:t>F</a:t>
            </a:r>
            <a:r>
              <a:rPr lang="zh-CN" altLang="en-US" sz="2800" b="1" dirty="0">
                <a:ea typeface="楷体_GB2312" pitchFamily="1" charset="-122"/>
              </a:rPr>
              <a:t>集合表示</a:t>
            </a:r>
          </a:p>
          <a:p>
            <a:pPr eaLnBrk="1" hangingPunct="1">
              <a:lnSpc>
                <a:spcPct val="90000"/>
              </a:lnSpc>
            </a:pPr>
            <a:r>
              <a:rPr lang="zh-CN" altLang="en-US" sz="2800" b="1" dirty="0">
                <a:ea typeface="楷体_GB2312" pitchFamily="1" charset="-122"/>
              </a:rPr>
              <a:t>故每条规则所推得的输出就定义为由规则的激励强度导出的精确数值</a:t>
            </a:r>
          </a:p>
          <a:p>
            <a:pPr eaLnBrk="1" hangingPunct="1">
              <a:lnSpc>
                <a:spcPct val="90000"/>
              </a:lnSpc>
            </a:pPr>
            <a:r>
              <a:rPr lang="zh-CN" altLang="en-US" sz="2800" b="1" dirty="0">
                <a:ea typeface="楷体_GB2312" pitchFamily="1" charset="-122"/>
              </a:rPr>
              <a:t>整体输出取各规则的加权平均</a:t>
            </a:r>
          </a:p>
        </p:txBody>
      </p:sp>
      <p:sp>
        <p:nvSpPr>
          <p:cNvPr id="29700" name="Text Box 5"/>
          <p:cNvSpPr txBox="1">
            <a:spLocks noChangeArrowheads="1"/>
          </p:cNvSpPr>
          <p:nvPr/>
        </p:nvSpPr>
        <p:spPr bwMode="auto">
          <a:xfrm>
            <a:off x="1524003" y="6237288"/>
            <a:ext cx="55086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sz="2400" b="1">
                <a:ea typeface="楷体_GB2312" pitchFamily="1" charset="-122"/>
              </a:rPr>
              <a:t>以两输入单输出为例的</a:t>
            </a:r>
            <a:r>
              <a:rPr lang="en-US" altLang="zh-CN" sz="2400" b="1">
                <a:solidFill>
                  <a:srgbClr val="128828"/>
                </a:solidFill>
                <a:ea typeface="楷体_GB2312" pitchFamily="1" charset="-122"/>
              </a:rPr>
              <a:t>Tsukamoto</a:t>
            </a:r>
            <a:r>
              <a:rPr lang="zh-CN" altLang="en-US" sz="2400" b="1">
                <a:ea typeface="楷体_GB2312" pitchFamily="1" charset="-122"/>
              </a:rPr>
              <a:t>模型</a:t>
            </a:r>
          </a:p>
        </p:txBody>
      </p:sp>
      <p:grpSp>
        <p:nvGrpSpPr>
          <p:cNvPr id="29701" name="Group 5"/>
          <p:cNvGrpSpPr>
            <a:grpSpLocks/>
          </p:cNvGrpSpPr>
          <p:nvPr/>
        </p:nvGrpSpPr>
        <p:grpSpPr bwMode="auto">
          <a:xfrm>
            <a:off x="2063750" y="3068638"/>
            <a:ext cx="5689600" cy="2959100"/>
            <a:chOff x="0" y="0"/>
            <a:chExt cx="3584" cy="1864"/>
          </a:xfrm>
        </p:grpSpPr>
        <p:sp>
          <p:nvSpPr>
            <p:cNvPr id="29702" name="Text Box 8"/>
            <p:cNvSpPr txBox="1">
              <a:spLocks noChangeArrowheads="1"/>
            </p:cNvSpPr>
            <p:nvPr/>
          </p:nvSpPr>
          <p:spPr bwMode="auto">
            <a:xfrm>
              <a:off x="2722" y="1588"/>
              <a:ext cx="862"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b="1">
                  <a:solidFill>
                    <a:srgbClr val="FF3399"/>
                  </a:solidFill>
                  <a:ea typeface="楷体_GB2312" pitchFamily="1" charset="-122"/>
                </a:rPr>
                <a:t>乘积或</a:t>
              </a:r>
              <a:r>
                <a:rPr lang="en-US" altLang="zh-CN" b="1">
                  <a:solidFill>
                    <a:srgbClr val="FF3399"/>
                  </a:solidFill>
                  <a:ea typeface="楷体_GB2312" pitchFamily="1" charset="-122"/>
                </a:rPr>
                <a:t>MIN</a:t>
              </a:r>
            </a:p>
          </p:txBody>
        </p:sp>
        <p:grpSp>
          <p:nvGrpSpPr>
            <p:cNvPr id="29703" name="Group 7"/>
            <p:cNvGrpSpPr>
              <a:grpSpLocks/>
            </p:cNvGrpSpPr>
            <p:nvPr/>
          </p:nvGrpSpPr>
          <p:grpSpPr bwMode="auto">
            <a:xfrm>
              <a:off x="0" y="0"/>
              <a:ext cx="3311" cy="1864"/>
              <a:chOff x="0" y="0"/>
              <a:chExt cx="3311" cy="1864"/>
            </a:xfrm>
          </p:grpSpPr>
          <p:sp>
            <p:nvSpPr>
              <p:cNvPr id="29704" name="Line 10"/>
              <p:cNvSpPr>
                <a:spLocks noChangeShapeType="1"/>
              </p:cNvSpPr>
              <p:nvPr/>
            </p:nvSpPr>
            <p:spPr bwMode="auto">
              <a:xfrm flipV="1">
                <a:off x="635" y="91"/>
                <a:ext cx="0" cy="1542"/>
              </a:xfrm>
              <a:prstGeom prst="line">
                <a:avLst/>
              </a:prstGeom>
              <a:noFill/>
              <a:ln w="19050" cmpd="sng">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9705" name="Line 11"/>
              <p:cNvSpPr>
                <a:spLocks noChangeShapeType="1"/>
              </p:cNvSpPr>
              <p:nvPr/>
            </p:nvSpPr>
            <p:spPr bwMode="auto">
              <a:xfrm flipV="1">
                <a:off x="2132" y="91"/>
                <a:ext cx="0" cy="1542"/>
              </a:xfrm>
              <a:prstGeom prst="line">
                <a:avLst/>
              </a:prstGeom>
              <a:noFill/>
              <a:ln w="19050" cmpd="sng">
                <a:solidFill>
                  <a:srgbClr val="0000FE"/>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9706" name="Line 12"/>
              <p:cNvSpPr>
                <a:spLocks noChangeShapeType="1"/>
              </p:cNvSpPr>
              <p:nvPr/>
            </p:nvSpPr>
            <p:spPr bwMode="auto">
              <a:xfrm flipV="1">
                <a:off x="2948" y="46"/>
                <a:ext cx="0" cy="1496"/>
              </a:xfrm>
              <a:prstGeom prst="line">
                <a:avLst/>
              </a:prstGeom>
              <a:noFill/>
              <a:ln w="9525" cmpd="sng">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9707" name="Line 13"/>
              <p:cNvSpPr>
                <a:spLocks noChangeShapeType="1"/>
              </p:cNvSpPr>
              <p:nvPr/>
            </p:nvSpPr>
            <p:spPr bwMode="auto">
              <a:xfrm>
                <a:off x="635" y="1315"/>
                <a:ext cx="2313" cy="1"/>
              </a:xfrm>
              <a:prstGeom prst="line">
                <a:avLst/>
              </a:prstGeom>
              <a:noFill/>
              <a:ln w="9525" cmpd="sng">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9708" name="Line 14"/>
              <p:cNvSpPr>
                <a:spLocks noChangeShapeType="1"/>
              </p:cNvSpPr>
              <p:nvPr/>
            </p:nvSpPr>
            <p:spPr bwMode="auto">
              <a:xfrm>
                <a:off x="2132" y="590"/>
                <a:ext cx="816" cy="0"/>
              </a:xfrm>
              <a:prstGeom prst="line">
                <a:avLst/>
              </a:prstGeom>
              <a:noFill/>
              <a:ln w="9525" cmpd="sng">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29709" name="Group 13"/>
              <p:cNvGrpSpPr>
                <a:grpSpLocks/>
              </p:cNvGrpSpPr>
              <p:nvPr/>
            </p:nvGrpSpPr>
            <p:grpSpPr bwMode="auto">
              <a:xfrm>
                <a:off x="0" y="0"/>
                <a:ext cx="2948" cy="957"/>
                <a:chOff x="0" y="0"/>
                <a:chExt cx="2948" cy="957"/>
              </a:xfrm>
            </p:grpSpPr>
            <p:sp>
              <p:nvSpPr>
                <p:cNvPr id="29710" name="Line 16"/>
                <p:cNvSpPr>
                  <a:spLocks noChangeShapeType="1"/>
                </p:cNvSpPr>
                <p:nvPr/>
              </p:nvSpPr>
              <p:spPr bwMode="auto">
                <a:xfrm>
                  <a:off x="227" y="137"/>
                  <a:ext cx="0" cy="589"/>
                </a:xfrm>
                <a:prstGeom prst="line">
                  <a:avLst/>
                </a:prstGeom>
                <a:noFill/>
                <a:ln w="9525" cmpd="sng">
                  <a:solidFill>
                    <a:schemeClr val="tx1"/>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9711" name="Line 17"/>
                <p:cNvSpPr>
                  <a:spLocks noChangeShapeType="1"/>
                </p:cNvSpPr>
                <p:nvPr/>
              </p:nvSpPr>
              <p:spPr bwMode="auto">
                <a:xfrm>
                  <a:off x="227" y="726"/>
                  <a:ext cx="952" cy="0"/>
                </a:xfrm>
                <a:prstGeom prst="line">
                  <a:avLst/>
                </a:prstGeom>
                <a:noFill/>
                <a:ln w="9525" cmpd="sng">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9712" name="Line 18"/>
                <p:cNvSpPr>
                  <a:spLocks noChangeShapeType="1"/>
                </p:cNvSpPr>
                <p:nvPr/>
              </p:nvSpPr>
              <p:spPr bwMode="auto">
                <a:xfrm>
                  <a:off x="1769" y="137"/>
                  <a:ext cx="0" cy="589"/>
                </a:xfrm>
                <a:prstGeom prst="line">
                  <a:avLst/>
                </a:prstGeom>
                <a:noFill/>
                <a:ln w="9525" cmpd="sng">
                  <a:solidFill>
                    <a:schemeClr val="tx1"/>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9713" name="Line 19"/>
                <p:cNvSpPr>
                  <a:spLocks noChangeShapeType="1"/>
                </p:cNvSpPr>
                <p:nvPr/>
              </p:nvSpPr>
              <p:spPr bwMode="auto">
                <a:xfrm>
                  <a:off x="1769" y="726"/>
                  <a:ext cx="952" cy="0"/>
                </a:xfrm>
                <a:prstGeom prst="line">
                  <a:avLst/>
                </a:prstGeom>
                <a:noFill/>
                <a:ln w="9525" cmpd="sng">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9714" name="Line 20"/>
                <p:cNvSpPr>
                  <a:spLocks noChangeShapeType="1"/>
                </p:cNvSpPr>
                <p:nvPr/>
              </p:nvSpPr>
              <p:spPr bwMode="auto">
                <a:xfrm flipV="1">
                  <a:off x="363" y="273"/>
                  <a:ext cx="227" cy="453"/>
                </a:xfrm>
                <a:prstGeom prst="line">
                  <a:avLst/>
                </a:prstGeom>
                <a:noFill/>
                <a:ln w="28575" cmpd="sng">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9715" name="Line 21"/>
                <p:cNvSpPr>
                  <a:spLocks noChangeShapeType="1"/>
                </p:cNvSpPr>
                <p:nvPr/>
              </p:nvSpPr>
              <p:spPr bwMode="auto">
                <a:xfrm>
                  <a:off x="590" y="273"/>
                  <a:ext cx="181" cy="453"/>
                </a:xfrm>
                <a:prstGeom prst="line">
                  <a:avLst/>
                </a:prstGeom>
                <a:noFill/>
                <a:ln w="28575" cmpd="sng">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9716" name="Line 22"/>
                <p:cNvSpPr>
                  <a:spLocks noChangeShapeType="1"/>
                </p:cNvSpPr>
                <p:nvPr/>
              </p:nvSpPr>
              <p:spPr bwMode="auto">
                <a:xfrm flipV="1">
                  <a:off x="1769" y="273"/>
                  <a:ext cx="227" cy="453"/>
                </a:xfrm>
                <a:prstGeom prst="line">
                  <a:avLst/>
                </a:prstGeom>
                <a:noFill/>
                <a:ln w="28575" cmpd="sng">
                  <a:solidFill>
                    <a:srgbClr val="0000FE"/>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9717" name="Line 23"/>
                <p:cNvSpPr>
                  <a:spLocks noChangeShapeType="1"/>
                </p:cNvSpPr>
                <p:nvPr/>
              </p:nvSpPr>
              <p:spPr bwMode="auto">
                <a:xfrm>
                  <a:off x="1996" y="273"/>
                  <a:ext cx="181" cy="453"/>
                </a:xfrm>
                <a:prstGeom prst="line">
                  <a:avLst/>
                </a:prstGeom>
                <a:noFill/>
                <a:ln w="28575" cmpd="sng">
                  <a:solidFill>
                    <a:srgbClr val="0000FE"/>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9718" name="Line 24"/>
                <p:cNvSpPr>
                  <a:spLocks noChangeShapeType="1"/>
                </p:cNvSpPr>
                <p:nvPr/>
              </p:nvSpPr>
              <p:spPr bwMode="auto">
                <a:xfrm>
                  <a:off x="635" y="363"/>
                  <a:ext cx="2313" cy="0"/>
                </a:xfrm>
                <a:prstGeom prst="line">
                  <a:avLst/>
                </a:prstGeom>
                <a:noFill/>
                <a:ln w="9525" cmpd="sng">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9719" name="Text Box 25"/>
                <p:cNvSpPr txBox="1">
                  <a:spLocks noChangeArrowheads="1"/>
                </p:cNvSpPr>
                <p:nvPr/>
              </p:nvSpPr>
              <p:spPr bwMode="auto">
                <a:xfrm>
                  <a:off x="363" y="91"/>
                  <a:ext cx="363"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a:t>A</a:t>
                  </a:r>
                  <a:r>
                    <a:rPr lang="en-US" altLang="zh-CN" baseline="-25000"/>
                    <a:t>1</a:t>
                  </a:r>
                </a:p>
              </p:txBody>
            </p:sp>
            <p:sp>
              <p:nvSpPr>
                <p:cNvPr id="29720" name="Text Box 26"/>
                <p:cNvSpPr txBox="1">
                  <a:spLocks noChangeArrowheads="1"/>
                </p:cNvSpPr>
                <p:nvPr/>
              </p:nvSpPr>
              <p:spPr bwMode="auto">
                <a:xfrm>
                  <a:off x="2177" y="91"/>
                  <a:ext cx="363"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a:t>B</a:t>
                  </a:r>
                  <a:r>
                    <a:rPr lang="en-US" altLang="zh-CN" baseline="-25000"/>
                    <a:t>1</a:t>
                  </a:r>
                  <a:endParaRPr lang="en-US" altLang="zh-CN"/>
                </a:p>
              </p:txBody>
            </p:sp>
            <p:sp>
              <p:nvSpPr>
                <p:cNvPr id="29721" name="Text Box 27"/>
                <p:cNvSpPr txBox="1">
                  <a:spLocks noChangeArrowheads="1"/>
                </p:cNvSpPr>
                <p:nvPr/>
              </p:nvSpPr>
              <p:spPr bwMode="auto">
                <a:xfrm>
                  <a:off x="2540" y="726"/>
                  <a:ext cx="363"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a:t>Y</a:t>
                  </a:r>
                </a:p>
              </p:txBody>
            </p:sp>
            <p:sp>
              <p:nvSpPr>
                <p:cNvPr id="29722" name="Text Box 28"/>
                <p:cNvSpPr txBox="1">
                  <a:spLocks noChangeArrowheads="1"/>
                </p:cNvSpPr>
                <p:nvPr/>
              </p:nvSpPr>
              <p:spPr bwMode="auto">
                <a:xfrm>
                  <a:off x="953" y="726"/>
                  <a:ext cx="363"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a:t>X</a:t>
                  </a:r>
                </a:p>
              </p:txBody>
            </p:sp>
            <p:sp>
              <p:nvSpPr>
                <p:cNvPr id="29723" name="Text Box 29"/>
                <p:cNvSpPr txBox="1">
                  <a:spLocks noChangeArrowheads="1"/>
                </p:cNvSpPr>
                <p:nvPr/>
              </p:nvSpPr>
              <p:spPr bwMode="auto">
                <a:xfrm>
                  <a:off x="0" y="45"/>
                  <a:ext cx="272"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l-GR" altLang="en-US"/>
                    <a:t>μ</a:t>
                  </a:r>
                  <a:endParaRPr lang="en-US" altLang="zh-CN"/>
                </a:p>
              </p:txBody>
            </p:sp>
            <p:sp>
              <p:nvSpPr>
                <p:cNvPr id="29724" name="Text Box 30"/>
                <p:cNvSpPr txBox="1">
                  <a:spLocks noChangeArrowheads="1"/>
                </p:cNvSpPr>
                <p:nvPr/>
              </p:nvSpPr>
              <p:spPr bwMode="auto">
                <a:xfrm>
                  <a:off x="1588" y="0"/>
                  <a:ext cx="272"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l-GR" altLang="en-US"/>
                    <a:t>μ</a:t>
                  </a:r>
                  <a:endParaRPr lang="en-US" altLang="zh-CN"/>
                </a:p>
              </p:txBody>
            </p:sp>
          </p:grpSp>
          <p:grpSp>
            <p:nvGrpSpPr>
              <p:cNvPr id="29725" name="Group 29"/>
              <p:cNvGrpSpPr>
                <a:grpSpLocks/>
              </p:cNvGrpSpPr>
              <p:nvPr/>
            </p:nvGrpSpPr>
            <p:grpSpPr bwMode="auto">
              <a:xfrm>
                <a:off x="0" y="817"/>
                <a:ext cx="2948" cy="1047"/>
                <a:chOff x="0" y="0"/>
                <a:chExt cx="2948" cy="1047"/>
              </a:xfrm>
            </p:grpSpPr>
            <p:sp>
              <p:nvSpPr>
                <p:cNvPr id="29726" name="Line 32"/>
                <p:cNvSpPr>
                  <a:spLocks noChangeShapeType="1"/>
                </p:cNvSpPr>
                <p:nvPr/>
              </p:nvSpPr>
              <p:spPr bwMode="auto">
                <a:xfrm>
                  <a:off x="227" y="91"/>
                  <a:ext cx="0" cy="589"/>
                </a:xfrm>
                <a:prstGeom prst="line">
                  <a:avLst/>
                </a:prstGeom>
                <a:noFill/>
                <a:ln w="9525" cmpd="sng">
                  <a:solidFill>
                    <a:schemeClr val="tx1"/>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9727" name="Line 33"/>
                <p:cNvSpPr>
                  <a:spLocks noChangeShapeType="1"/>
                </p:cNvSpPr>
                <p:nvPr/>
              </p:nvSpPr>
              <p:spPr bwMode="auto">
                <a:xfrm>
                  <a:off x="227" y="680"/>
                  <a:ext cx="952" cy="0"/>
                </a:xfrm>
                <a:prstGeom prst="line">
                  <a:avLst/>
                </a:prstGeom>
                <a:noFill/>
                <a:ln w="9525" cmpd="sng">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9728" name="Line 34"/>
                <p:cNvSpPr>
                  <a:spLocks noChangeShapeType="1"/>
                </p:cNvSpPr>
                <p:nvPr/>
              </p:nvSpPr>
              <p:spPr bwMode="auto">
                <a:xfrm>
                  <a:off x="1769" y="91"/>
                  <a:ext cx="0" cy="589"/>
                </a:xfrm>
                <a:prstGeom prst="line">
                  <a:avLst/>
                </a:prstGeom>
                <a:noFill/>
                <a:ln w="9525" cmpd="sng">
                  <a:solidFill>
                    <a:schemeClr val="tx1"/>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9729" name="Line 35"/>
                <p:cNvSpPr>
                  <a:spLocks noChangeShapeType="1"/>
                </p:cNvSpPr>
                <p:nvPr/>
              </p:nvSpPr>
              <p:spPr bwMode="auto">
                <a:xfrm>
                  <a:off x="1769" y="680"/>
                  <a:ext cx="952" cy="0"/>
                </a:xfrm>
                <a:prstGeom prst="line">
                  <a:avLst/>
                </a:prstGeom>
                <a:noFill/>
                <a:ln w="9525" cmpd="sng">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9730" name="Line 36"/>
                <p:cNvSpPr>
                  <a:spLocks noChangeShapeType="1"/>
                </p:cNvSpPr>
                <p:nvPr/>
              </p:nvSpPr>
              <p:spPr bwMode="auto">
                <a:xfrm flipV="1">
                  <a:off x="544" y="226"/>
                  <a:ext cx="227" cy="453"/>
                </a:xfrm>
                <a:prstGeom prst="line">
                  <a:avLst/>
                </a:prstGeom>
                <a:noFill/>
                <a:ln w="28575" cmpd="sng">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9731" name="Line 37"/>
                <p:cNvSpPr>
                  <a:spLocks noChangeShapeType="1"/>
                </p:cNvSpPr>
                <p:nvPr/>
              </p:nvSpPr>
              <p:spPr bwMode="auto">
                <a:xfrm>
                  <a:off x="771" y="226"/>
                  <a:ext cx="181" cy="453"/>
                </a:xfrm>
                <a:prstGeom prst="line">
                  <a:avLst/>
                </a:prstGeom>
                <a:noFill/>
                <a:ln w="28575" cmpd="sng">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9732" name="Line 38"/>
                <p:cNvSpPr>
                  <a:spLocks noChangeShapeType="1"/>
                </p:cNvSpPr>
                <p:nvPr/>
              </p:nvSpPr>
              <p:spPr bwMode="auto">
                <a:xfrm flipV="1">
                  <a:off x="1950" y="226"/>
                  <a:ext cx="227" cy="453"/>
                </a:xfrm>
                <a:prstGeom prst="line">
                  <a:avLst/>
                </a:prstGeom>
                <a:noFill/>
                <a:ln w="28575" cmpd="sng">
                  <a:solidFill>
                    <a:srgbClr val="0000FE"/>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9733" name="Line 39"/>
                <p:cNvSpPr>
                  <a:spLocks noChangeShapeType="1"/>
                </p:cNvSpPr>
                <p:nvPr/>
              </p:nvSpPr>
              <p:spPr bwMode="auto">
                <a:xfrm>
                  <a:off x="2177" y="226"/>
                  <a:ext cx="181" cy="453"/>
                </a:xfrm>
                <a:prstGeom prst="line">
                  <a:avLst/>
                </a:prstGeom>
                <a:noFill/>
                <a:ln w="28575" cmpd="sng">
                  <a:solidFill>
                    <a:srgbClr val="0000FE"/>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9734" name="Line 40"/>
                <p:cNvSpPr>
                  <a:spLocks noChangeShapeType="1"/>
                </p:cNvSpPr>
                <p:nvPr/>
              </p:nvSpPr>
              <p:spPr bwMode="auto">
                <a:xfrm>
                  <a:off x="2132" y="317"/>
                  <a:ext cx="816" cy="0"/>
                </a:xfrm>
                <a:prstGeom prst="line">
                  <a:avLst/>
                </a:prstGeom>
                <a:noFill/>
                <a:ln w="9525" cmpd="sng">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9735" name="Text Box 41"/>
                <p:cNvSpPr txBox="1">
                  <a:spLocks noChangeArrowheads="1"/>
                </p:cNvSpPr>
                <p:nvPr/>
              </p:nvSpPr>
              <p:spPr bwMode="auto">
                <a:xfrm>
                  <a:off x="2223" y="45"/>
                  <a:ext cx="363"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a:t>B</a:t>
                  </a:r>
                  <a:r>
                    <a:rPr lang="en-US" altLang="zh-CN" baseline="-25000"/>
                    <a:t>2</a:t>
                  </a:r>
                  <a:endParaRPr lang="en-US" altLang="zh-CN"/>
                </a:p>
              </p:txBody>
            </p:sp>
            <p:sp>
              <p:nvSpPr>
                <p:cNvPr id="29736" name="Text Box 42"/>
                <p:cNvSpPr txBox="1">
                  <a:spLocks noChangeArrowheads="1"/>
                </p:cNvSpPr>
                <p:nvPr/>
              </p:nvSpPr>
              <p:spPr bwMode="auto">
                <a:xfrm>
                  <a:off x="363" y="181"/>
                  <a:ext cx="363"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a:t>A</a:t>
                  </a:r>
                  <a:r>
                    <a:rPr lang="en-US" altLang="zh-CN" baseline="-25000"/>
                    <a:t>2</a:t>
                  </a:r>
                  <a:endParaRPr lang="en-US" altLang="zh-CN"/>
                </a:p>
              </p:txBody>
            </p:sp>
            <p:sp>
              <p:nvSpPr>
                <p:cNvPr id="29737" name="Text Box 43"/>
                <p:cNvSpPr txBox="1">
                  <a:spLocks noChangeArrowheads="1"/>
                </p:cNvSpPr>
                <p:nvPr/>
              </p:nvSpPr>
              <p:spPr bwMode="auto">
                <a:xfrm>
                  <a:off x="499" y="816"/>
                  <a:ext cx="363"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a:t>x</a:t>
                  </a:r>
                </a:p>
              </p:txBody>
            </p:sp>
            <p:sp>
              <p:nvSpPr>
                <p:cNvPr id="29738" name="Text Box 44"/>
                <p:cNvSpPr txBox="1">
                  <a:spLocks noChangeArrowheads="1"/>
                </p:cNvSpPr>
                <p:nvPr/>
              </p:nvSpPr>
              <p:spPr bwMode="auto">
                <a:xfrm>
                  <a:off x="1996" y="816"/>
                  <a:ext cx="363"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a:t>y</a:t>
                  </a:r>
                </a:p>
              </p:txBody>
            </p:sp>
            <p:sp>
              <p:nvSpPr>
                <p:cNvPr id="29739" name="Text Box 45"/>
                <p:cNvSpPr txBox="1">
                  <a:spLocks noChangeArrowheads="1"/>
                </p:cNvSpPr>
                <p:nvPr/>
              </p:nvSpPr>
              <p:spPr bwMode="auto">
                <a:xfrm>
                  <a:off x="2540" y="725"/>
                  <a:ext cx="363"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a:t>Y</a:t>
                  </a:r>
                </a:p>
              </p:txBody>
            </p:sp>
            <p:sp>
              <p:nvSpPr>
                <p:cNvPr id="29740" name="Text Box 46"/>
                <p:cNvSpPr txBox="1">
                  <a:spLocks noChangeArrowheads="1"/>
                </p:cNvSpPr>
                <p:nvPr/>
              </p:nvSpPr>
              <p:spPr bwMode="auto">
                <a:xfrm>
                  <a:off x="1043" y="725"/>
                  <a:ext cx="363"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a:t>X</a:t>
                  </a:r>
                </a:p>
              </p:txBody>
            </p:sp>
            <p:sp>
              <p:nvSpPr>
                <p:cNvPr id="29741" name="Text Box 47"/>
                <p:cNvSpPr txBox="1">
                  <a:spLocks noChangeArrowheads="1"/>
                </p:cNvSpPr>
                <p:nvPr/>
              </p:nvSpPr>
              <p:spPr bwMode="auto">
                <a:xfrm>
                  <a:off x="0" y="0"/>
                  <a:ext cx="272"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l-GR" altLang="en-US"/>
                    <a:t>μ</a:t>
                  </a:r>
                  <a:endParaRPr lang="en-US" altLang="zh-CN"/>
                </a:p>
              </p:txBody>
            </p:sp>
            <p:sp>
              <p:nvSpPr>
                <p:cNvPr id="29742" name="Text Box 48"/>
                <p:cNvSpPr txBox="1">
                  <a:spLocks noChangeArrowheads="1"/>
                </p:cNvSpPr>
                <p:nvPr/>
              </p:nvSpPr>
              <p:spPr bwMode="auto">
                <a:xfrm>
                  <a:off x="1542" y="0"/>
                  <a:ext cx="272"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l-GR" altLang="en-US"/>
                    <a:t>μ</a:t>
                  </a:r>
                  <a:endParaRPr lang="en-US" altLang="zh-CN"/>
                </a:p>
              </p:txBody>
            </p:sp>
          </p:grpSp>
          <p:sp>
            <p:nvSpPr>
              <p:cNvPr id="29743" name="Text Box 49"/>
              <p:cNvSpPr txBox="1">
                <a:spLocks noChangeArrowheads="1"/>
              </p:cNvSpPr>
              <p:nvPr/>
            </p:nvSpPr>
            <p:spPr bwMode="auto">
              <a:xfrm>
                <a:off x="2948" y="454"/>
                <a:ext cx="363"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a:t>W</a:t>
                </a:r>
                <a:r>
                  <a:rPr lang="en-US" altLang="zh-CN" baseline="-25000"/>
                  <a:t>1</a:t>
                </a:r>
                <a:endParaRPr lang="en-US" altLang="zh-CN"/>
              </a:p>
            </p:txBody>
          </p:sp>
          <p:sp>
            <p:nvSpPr>
              <p:cNvPr id="29744" name="Text Box 50"/>
              <p:cNvSpPr txBox="1">
                <a:spLocks noChangeArrowheads="1"/>
              </p:cNvSpPr>
              <p:nvPr/>
            </p:nvSpPr>
            <p:spPr bwMode="auto">
              <a:xfrm>
                <a:off x="2903" y="1179"/>
                <a:ext cx="363"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a:t>W</a:t>
                </a:r>
                <a:r>
                  <a:rPr lang="en-US" altLang="zh-CN" baseline="-25000"/>
                  <a:t>2</a:t>
                </a:r>
                <a:endParaRPr lang="en-US" altLang="zh-CN"/>
              </a:p>
            </p:txBody>
          </p:sp>
          <p:sp>
            <p:nvSpPr>
              <p:cNvPr id="29745" name="Text Box 51"/>
              <p:cNvSpPr txBox="1">
                <a:spLocks noChangeArrowheads="1"/>
              </p:cNvSpPr>
              <p:nvPr/>
            </p:nvSpPr>
            <p:spPr bwMode="auto">
              <a:xfrm>
                <a:off x="680" y="182"/>
                <a:ext cx="318"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endParaRPr lang="zh-CN" altLang="en-US"/>
              </a:p>
            </p:txBody>
          </p:sp>
          <p:sp>
            <p:nvSpPr>
              <p:cNvPr id="29746" name="Text Box 52"/>
              <p:cNvSpPr txBox="1">
                <a:spLocks noChangeArrowheads="1"/>
              </p:cNvSpPr>
              <p:nvPr/>
            </p:nvSpPr>
            <p:spPr bwMode="auto">
              <a:xfrm>
                <a:off x="1860" y="998"/>
                <a:ext cx="318"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endParaRPr lang="zh-CN" altLang="en-US"/>
              </a:p>
            </p:txBody>
          </p:sp>
          <p:sp>
            <p:nvSpPr>
              <p:cNvPr id="29747" name="Text Box 53"/>
              <p:cNvSpPr txBox="1">
                <a:spLocks noChangeArrowheads="1"/>
              </p:cNvSpPr>
              <p:nvPr/>
            </p:nvSpPr>
            <p:spPr bwMode="auto">
              <a:xfrm>
                <a:off x="2177" y="408"/>
                <a:ext cx="318"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endParaRPr lang="zh-CN" altLang="en-US"/>
              </a:p>
            </p:txBody>
          </p:sp>
          <p:sp>
            <p:nvSpPr>
              <p:cNvPr id="29748" name="Text Box 54"/>
              <p:cNvSpPr txBox="1">
                <a:spLocks noChangeArrowheads="1"/>
              </p:cNvSpPr>
              <p:nvPr/>
            </p:nvSpPr>
            <p:spPr bwMode="auto">
              <a:xfrm>
                <a:off x="907" y="1043"/>
                <a:ext cx="318"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endParaRPr lang="zh-CN" altLang="en-US"/>
              </a:p>
            </p:txBody>
          </p:sp>
        </p:grpSp>
      </p:grpSp>
      <p:graphicFrame>
        <p:nvGraphicFramePr>
          <p:cNvPr id="29749" name="Object 53"/>
          <p:cNvGraphicFramePr>
            <a:graphicFrameLocks noGrp="1" noChangeAspect="1"/>
          </p:cNvGraphicFramePr>
          <p:nvPr>
            <p:ph sz="half" idx="4294967295"/>
          </p:nvPr>
        </p:nvGraphicFramePr>
        <p:xfrm>
          <a:off x="7535866" y="6110288"/>
          <a:ext cx="2447925" cy="747712"/>
        </p:xfrm>
        <a:graphic>
          <a:graphicData uri="http://schemas.openxmlformats.org/presentationml/2006/ole">
            <mc:AlternateContent xmlns:mc="http://schemas.openxmlformats.org/markup-compatibility/2006">
              <mc:Choice xmlns:v="urn:schemas-microsoft-com:vml" Requires="v">
                <p:oleObj name="Equation" r:id="rId2" imgW="1079349" imgH="431930" progId="Equation.DSMT4">
                  <p:embed/>
                </p:oleObj>
              </mc:Choice>
              <mc:Fallback>
                <p:oleObj name="Equation" r:id="rId2" imgW="1079349" imgH="431930" progId="Equation.DSMT4">
                  <p:embed/>
                  <p:pic>
                    <p:nvPicPr>
                      <p:cNvPr id="29749" name="Object 5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535866" y="6110288"/>
                        <a:ext cx="2447925" cy="7477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9750" name="AutoShape 56"/>
          <p:cNvSpPr>
            <a:spLocks noChangeArrowheads="1"/>
          </p:cNvSpPr>
          <p:nvPr/>
        </p:nvSpPr>
        <p:spPr bwMode="auto">
          <a:xfrm>
            <a:off x="8472488" y="5805491"/>
            <a:ext cx="431800" cy="288925"/>
          </a:xfrm>
          <a:prstGeom prst="downArrow">
            <a:avLst>
              <a:gd name="adj1" fmla="val 50000"/>
              <a:gd name="adj2" fmla="val 25000"/>
            </a:avLst>
          </a:prstGeom>
          <a:solidFill>
            <a:srgbClr val="008000"/>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29751" name="Text Box 57"/>
          <p:cNvSpPr txBox="1">
            <a:spLocks noChangeArrowheads="1"/>
          </p:cNvSpPr>
          <p:nvPr/>
        </p:nvSpPr>
        <p:spPr bwMode="auto">
          <a:xfrm>
            <a:off x="9048753" y="5734053"/>
            <a:ext cx="1223963"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b="1">
                <a:solidFill>
                  <a:srgbClr val="008000"/>
                </a:solidFill>
                <a:ea typeface="楷体_GB2312" pitchFamily="1" charset="-122"/>
              </a:rPr>
              <a:t>加权平均</a:t>
            </a:r>
          </a:p>
        </p:txBody>
      </p:sp>
      <p:sp>
        <p:nvSpPr>
          <p:cNvPr id="29752" name="Line 72"/>
          <p:cNvSpPr>
            <a:spLocks noChangeShapeType="1"/>
          </p:cNvSpPr>
          <p:nvPr/>
        </p:nvSpPr>
        <p:spPr bwMode="auto">
          <a:xfrm>
            <a:off x="6743703" y="4005263"/>
            <a:ext cx="1800225" cy="0"/>
          </a:xfrm>
          <a:prstGeom prst="line">
            <a:avLst/>
          </a:prstGeom>
          <a:noFill/>
          <a:ln w="9525" cmpd="sng">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29753" name="Group 57"/>
          <p:cNvGrpSpPr>
            <a:grpSpLocks/>
          </p:cNvGrpSpPr>
          <p:nvPr/>
        </p:nvGrpSpPr>
        <p:grpSpPr bwMode="auto">
          <a:xfrm>
            <a:off x="7464425" y="3206753"/>
            <a:ext cx="2376488" cy="1374775"/>
            <a:chOff x="0" y="0"/>
            <a:chExt cx="1497" cy="866"/>
          </a:xfrm>
        </p:grpSpPr>
        <p:sp>
          <p:nvSpPr>
            <p:cNvPr id="29754" name="Text Box 66"/>
            <p:cNvSpPr txBox="1">
              <a:spLocks noChangeArrowheads="1"/>
            </p:cNvSpPr>
            <p:nvPr/>
          </p:nvSpPr>
          <p:spPr bwMode="auto">
            <a:xfrm>
              <a:off x="1134" y="595"/>
              <a:ext cx="363"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a:t>Z</a:t>
              </a:r>
            </a:p>
          </p:txBody>
        </p:sp>
        <p:grpSp>
          <p:nvGrpSpPr>
            <p:cNvPr id="29755" name="Group 59"/>
            <p:cNvGrpSpPr>
              <a:grpSpLocks/>
            </p:cNvGrpSpPr>
            <p:nvPr/>
          </p:nvGrpSpPr>
          <p:grpSpPr bwMode="auto">
            <a:xfrm>
              <a:off x="0" y="0"/>
              <a:ext cx="1134" cy="866"/>
              <a:chOff x="0" y="0"/>
              <a:chExt cx="1134" cy="866"/>
            </a:xfrm>
          </p:grpSpPr>
          <p:sp>
            <p:nvSpPr>
              <p:cNvPr id="29756" name="Line 59"/>
              <p:cNvSpPr>
                <a:spLocks noChangeShapeType="1"/>
              </p:cNvSpPr>
              <p:nvPr/>
            </p:nvSpPr>
            <p:spPr bwMode="auto">
              <a:xfrm>
                <a:off x="182" y="92"/>
                <a:ext cx="0" cy="589"/>
              </a:xfrm>
              <a:prstGeom prst="line">
                <a:avLst/>
              </a:prstGeom>
              <a:noFill/>
              <a:ln w="9525" cmpd="sng">
                <a:solidFill>
                  <a:schemeClr val="tx1"/>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9757" name="Line 60"/>
              <p:cNvSpPr>
                <a:spLocks noChangeShapeType="1"/>
              </p:cNvSpPr>
              <p:nvPr/>
            </p:nvSpPr>
            <p:spPr bwMode="auto">
              <a:xfrm>
                <a:off x="182" y="681"/>
                <a:ext cx="952" cy="0"/>
              </a:xfrm>
              <a:prstGeom prst="line">
                <a:avLst/>
              </a:prstGeom>
              <a:noFill/>
              <a:ln w="9525" cmpd="sng">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9758" name="Text Box 64"/>
              <p:cNvSpPr txBox="1">
                <a:spLocks noChangeArrowheads="1"/>
              </p:cNvSpPr>
              <p:nvPr/>
            </p:nvSpPr>
            <p:spPr bwMode="auto">
              <a:xfrm>
                <a:off x="544" y="90"/>
                <a:ext cx="363"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a:t>C</a:t>
                </a:r>
                <a:r>
                  <a:rPr lang="en-US" altLang="zh-CN" baseline="-25000"/>
                  <a:t>1</a:t>
                </a:r>
                <a:endParaRPr lang="en-US" altLang="zh-CN"/>
              </a:p>
            </p:txBody>
          </p:sp>
          <p:sp>
            <p:nvSpPr>
              <p:cNvPr id="29759" name="Text Box 67"/>
              <p:cNvSpPr txBox="1">
                <a:spLocks noChangeArrowheads="1"/>
              </p:cNvSpPr>
              <p:nvPr/>
            </p:nvSpPr>
            <p:spPr bwMode="auto">
              <a:xfrm>
                <a:off x="0" y="0"/>
                <a:ext cx="272"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l-GR" altLang="en-US"/>
                  <a:t>μ</a:t>
                </a:r>
                <a:endParaRPr lang="en-US" altLang="zh-CN"/>
              </a:p>
            </p:txBody>
          </p:sp>
          <p:sp>
            <p:nvSpPr>
              <p:cNvPr id="29760" name="Line 68"/>
              <p:cNvSpPr>
                <a:spLocks noChangeShapeType="1"/>
              </p:cNvSpPr>
              <p:nvPr/>
            </p:nvSpPr>
            <p:spPr bwMode="auto">
              <a:xfrm>
                <a:off x="907" y="226"/>
                <a:ext cx="181" cy="0"/>
              </a:xfrm>
              <a:prstGeom prst="line">
                <a:avLst/>
              </a:prstGeom>
              <a:noFill/>
              <a:ln w="28575" cmpd="sng">
                <a:solidFill>
                  <a:srgbClr val="CC00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9761" name="Freeform 70"/>
              <p:cNvSpPr>
                <a:spLocks/>
              </p:cNvSpPr>
              <p:nvPr/>
            </p:nvSpPr>
            <p:spPr bwMode="auto">
              <a:xfrm>
                <a:off x="453" y="226"/>
                <a:ext cx="454" cy="454"/>
              </a:xfrm>
              <a:custGeom>
                <a:avLst/>
                <a:gdLst>
                  <a:gd name="T0" fmla="*/ 0 w 454"/>
                  <a:gd name="T1" fmla="*/ 454 h 454"/>
                  <a:gd name="T2" fmla="*/ 182 w 454"/>
                  <a:gd name="T3" fmla="*/ 363 h 454"/>
                  <a:gd name="T4" fmla="*/ 318 w 454"/>
                  <a:gd name="T5" fmla="*/ 91 h 454"/>
                  <a:gd name="T6" fmla="*/ 454 w 454"/>
                  <a:gd name="T7" fmla="*/ 0 h 454"/>
                </a:gdLst>
                <a:ahLst/>
                <a:cxnLst>
                  <a:cxn ang="0">
                    <a:pos x="T0" y="T1"/>
                  </a:cxn>
                  <a:cxn ang="0">
                    <a:pos x="T2" y="T3"/>
                  </a:cxn>
                  <a:cxn ang="0">
                    <a:pos x="T4" y="T5"/>
                  </a:cxn>
                  <a:cxn ang="0">
                    <a:pos x="T6" y="T7"/>
                  </a:cxn>
                </a:cxnLst>
                <a:rect l="0" t="0" r="r" b="b"/>
                <a:pathLst>
                  <a:path w="454" h="454">
                    <a:moveTo>
                      <a:pt x="0" y="454"/>
                    </a:moveTo>
                    <a:cubicBezTo>
                      <a:pt x="64" y="438"/>
                      <a:pt x="129" y="423"/>
                      <a:pt x="182" y="363"/>
                    </a:cubicBezTo>
                    <a:cubicBezTo>
                      <a:pt x="235" y="303"/>
                      <a:pt x="273" y="151"/>
                      <a:pt x="318" y="91"/>
                    </a:cubicBezTo>
                    <a:cubicBezTo>
                      <a:pt x="363" y="31"/>
                      <a:pt x="431" y="15"/>
                      <a:pt x="454" y="0"/>
                    </a:cubicBezTo>
                  </a:path>
                </a:pathLst>
              </a:custGeom>
              <a:noFill/>
              <a:ln w="28575" cmpd="sng">
                <a:solidFill>
                  <a:srgbClr val="CC00CC"/>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solidFill>
                    <a:srgbClr val="CC00CC"/>
                  </a:solidFill>
                </a:endParaRPr>
              </a:p>
            </p:txBody>
          </p:sp>
          <p:sp>
            <p:nvSpPr>
              <p:cNvPr id="29762" name="Line 74"/>
              <p:cNvSpPr>
                <a:spLocks noChangeShapeType="1"/>
              </p:cNvSpPr>
              <p:nvPr/>
            </p:nvSpPr>
            <p:spPr bwMode="auto">
              <a:xfrm>
                <a:off x="680" y="544"/>
                <a:ext cx="0" cy="136"/>
              </a:xfrm>
              <a:prstGeom prst="line">
                <a:avLst/>
              </a:prstGeom>
              <a:noFill/>
              <a:ln w="9525" cmpd="sng">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9763" name="Text Box 75"/>
              <p:cNvSpPr txBox="1">
                <a:spLocks noChangeArrowheads="1"/>
              </p:cNvSpPr>
              <p:nvPr/>
            </p:nvSpPr>
            <p:spPr bwMode="auto">
              <a:xfrm>
                <a:off x="544" y="635"/>
                <a:ext cx="363"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a:t>Z</a:t>
                </a:r>
                <a:r>
                  <a:rPr lang="en-US" altLang="zh-CN" baseline="-25000"/>
                  <a:t>1</a:t>
                </a:r>
                <a:endParaRPr lang="en-US" altLang="zh-CN"/>
              </a:p>
            </p:txBody>
          </p:sp>
        </p:grpSp>
      </p:grpSp>
      <p:sp>
        <p:nvSpPr>
          <p:cNvPr id="29764" name="Line 86"/>
          <p:cNvSpPr>
            <a:spLocks noChangeShapeType="1"/>
          </p:cNvSpPr>
          <p:nvPr/>
        </p:nvSpPr>
        <p:spPr bwMode="auto">
          <a:xfrm>
            <a:off x="6743700" y="5157788"/>
            <a:ext cx="1657350" cy="0"/>
          </a:xfrm>
          <a:prstGeom prst="line">
            <a:avLst/>
          </a:prstGeom>
          <a:noFill/>
          <a:ln w="9525" cmpd="sng">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29765" name="Group 69"/>
          <p:cNvGrpSpPr>
            <a:grpSpLocks/>
          </p:cNvGrpSpPr>
          <p:nvPr/>
        </p:nvGrpSpPr>
        <p:grpSpPr bwMode="auto">
          <a:xfrm>
            <a:off x="7464425" y="4365625"/>
            <a:ext cx="2376488" cy="1377950"/>
            <a:chOff x="0" y="0"/>
            <a:chExt cx="1497" cy="868"/>
          </a:xfrm>
        </p:grpSpPr>
        <p:grpSp>
          <p:nvGrpSpPr>
            <p:cNvPr id="29766" name="Group 70"/>
            <p:cNvGrpSpPr>
              <a:grpSpLocks/>
            </p:cNvGrpSpPr>
            <p:nvPr/>
          </p:nvGrpSpPr>
          <p:grpSpPr bwMode="auto">
            <a:xfrm>
              <a:off x="0" y="0"/>
              <a:ext cx="1134" cy="868"/>
              <a:chOff x="0" y="0"/>
              <a:chExt cx="1134" cy="868"/>
            </a:xfrm>
          </p:grpSpPr>
          <p:sp>
            <p:nvSpPr>
              <p:cNvPr id="29767" name="Freeform 71"/>
              <p:cNvSpPr>
                <a:spLocks/>
              </p:cNvSpPr>
              <p:nvPr/>
            </p:nvSpPr>
            <p:spPr bwMode="auto">
              <a:xfrm flipH="1">
                <a:off x="363" y="226"/>
                <a:ext cx="454" cy="454"/>
              </a:xfrm>
              <a:custGeom>
                <a:avLst/>
                <a:gdLst>
                  <a:gd name="T0" fmla="*/ 0 w 454"/>
                  <a:gd name="T1" fmla="*/ 454 h 454"/>
                  <a:gd name="T2" fmla="*/ 182 w 454"/>
                  <a:gd name="T3" fmla="*/ 363 h 454"/>
                  <a:gd name="T4" fmla="*/ 318 w 454"/>
                  <a:gd name="T5" fmla="*/ 91 h 454"/>
                  <a:gd name="T6" fmla="*/ 454 w 454"/>
                  <a:gd name="T7" fmla="*/ 0 h 454"/>
                </a:gdLst>
                <a:ahLst/>
                <a:cxnLst>
                  <a:cxn ang="0">
                    <a:pos x="T0" y="T1"/>
                  </a:cxn>
                  <a:cxn ang="0">
                    <a:pos x="T2" y="T3"/>
                  </a:cxn>
                  <a:cxn ang="0">
                    <a:pos x="T4" y="T5"/>
                  </a:cxn>
                  <a:cxn ang="0">
                    <a:pos x="T6" y="T7"/>
                  </a:cxn>
                </a:cxnLst>
                <a:rect l="0" t="0" r="r" b="b"/>
                <a:pathLst>
                  <a:path w="454" h="454">
                    <a:moveTo>
                      <a:pt x="0" y="454"/>
                    </a:moveTo>
                    <a:cubicBezTo>
                      <a:pt x="64" y="438"/>
                      <a:pt x="129" y="423"/>
                      <a:pt x="182" y="363"/>
                    </a:cubicBezTo>
                    <a:cubicBezTo>
                      <a:pt x="235" y="303"/>
                      <a:pt x="273" y="151"/>
                      <a:pt x="318" y="91"/>
                    </a:cubicBezTo>
                    <a:cubicBezTo>
                      <a:pt x="363" y="31"/>
                      <a:pt x="431" y="15"/>
                      <a:pt x="454" y="0"/>
                    </a:cubicBezTo>
                  </a:path>
                </a:pathLst>
              </a:custGeom>
              <a:noFill/>
              <a:ln w="28575" cmpd="sng">
                <a:solidFill>
                  <a:srgbClr val="CC00CC"/>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dirty="0"/>
              </a:p>
            </p:txBody>
          </p:sp>
          <p:sp>
            <p:nvSpPr>
              <p:cNvPr id="29768" name="Line 78"/>
              <p:cNvSpPr>
                <a:spLocks noChangeShapeType="1"/>
              </p:cNvSpPr>
              <p:nvPr/>
            </p:nvSpPr>
            <p:spPr bwMode="auto">
              <a:xfrm>
                <a:off x="182" y="92"/>
                <a:ext cx="0" cy="589"/>
              </a:xfrm>
              <a:prstGeom prst="line">
                <a:avLst/>
              </a:prstGeom>
              <a:noFill/>
              <a:ln w="9525" cmpd="sng">
                <a:solidFill>
                  <a:schemeClr val="tx1"/>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9769" name="Line 79"/>
              <p:cNvSpPr>
                <a:spLocks noChangeShapeType="1"/>
              </p:cNvSpPr>
              <p:nvPr/>
            </p:nvSpPr>
            <p:spPr bwMode="auto">
              <a:xfrm>
                <a:off x="182" y="681"/>
                <a:ext cx="952" cy="0"/>
              </a:xfrm>
              <a:prstGeom prst="line">
                <a:avLst/>
              </a:prstGeom>
              <a:noFill/>
              <a:ln w="9525" cmpd="sng">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9770" name="Text Box 80"/>
              <p:cNvSpPr txBox="1">
                <a:spLocks noChangeArrowheads="1"/>
              </p:cNvSpPr>
              <p:nvPr/>
            </p:nvSpPr>
            <p:spPr bwMode="auto">
              <a:xfrm>
                <a:off x="544" y="90"/>
                <a:ext cx="363"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a:t>C</a:t>
                </a:r>
                <a:r>
                  <a:rPr lang="en-US" altLang="zh-CN" baseline="-25000"/>
                  <a:t>2</a:t>
                </a:r>
                <a:endParaRPr lang="en-US" altLang="zh-CN"/>
              </a:p>
            </p:txBody>
          </p:sp>
          <p:sp>
            <p:nvSpPr>
              <p:cNvPr id="29771" name="Text Box 81"/>
              <p:cNvSpPr txBox="1">
                <a:spLocks noChangeArrowheads="1"/>
              </p:cNvSpPr>
              <p:nvPr/>
            </p:nvSpPr>
            <p:spPr bwMode="auto">
              <a:xfrm>
                <a:off x="0" y="0"/>
                <a:ext cx="272"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l-GR" altLang="en-US"/>
                  <a:t>μ</a:t>
                </a:r>
                <a:endParaRPr lang="en-US" altLang="zh-CN"/>
              </a:p>
            </p:txBody>
          </p:sp>
          <p:sp>
            <p:nvSpPr>
              <p:cNvPr id="29772" name="Line 82"/>
              <p:cNvSpPr>
                <a:spLocks noChangeShapeType="1"/>
              </p:cNvSpPr>
              <p:nvPr/>
            </p:nvSpPr>
            <p:spPr bwMode="auto">
              <a:xfrm>
                <a:off x="181" y="226"/>
                <a:ext cx="181" cy="0"/>
              </a:xfrm>
              <a:prstGeom prst="line">
                <a:avLst/>
              </a:prstGeom>
              <a:noFill/>
              <a:ln w="28575" cmpd="sng">
                <a:solidFill>
                  <a:srgbClr val="CC00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dirty="0"/>
              </a:p>
            </p:txBody>
          </p:sp>
          <p:sp>
            <p:nvSpPr>
              <p:cNvPr id="29773" name="Line 84"/>
              <p:cNvSpPr>
                <a:spLocks noChangeShapeType="1"/>
              </p:cNvSpPr>
              <p:nvPr/>
            </p:nvSpPr>
            <p:spPr bwMode="auto">
              <a:xfrm>
                <a:off x="590" y="499"/>
                <a:ext cx="0" cy="181"/>
              </a:xfrm>
              <a:prstGeom prst="line">
                <a:avLst/>
              </a:prstGeom>
              <a:noFill/>
              <a:ln w="9525" cmpd="sng">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9774" name="Text Box 85"/>
              <p:cNvSpPr txBox="1">
                <a:spLocks noChangeArrowheads="1"/>
              </p:cNvSpPr>
              <p:nvPr/>
            </p:nvSpPr>
            <p:spPr bwMode="auto">
              <a:xfrm>
                <a:off x="408" y="635"/>
                <a:ext cx="363"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a:t>Z</a:t>
                </a:r>
                <a:r>
                  <a:rPr lang="en-US" altLang="zh-CN" baseline="-25000"/>
                  <a:t>2</a:t>
                </a:r>
                <a:endParaRPr lang="en-US" altLang="zh-CN"/>
              </a:p>
            </p:txBody>
          </p:sp>
        </p:grpSp>
        <p:sp>
          <p:nvSpPr>
            <p:cNvPr id="29775" name="Text Box 88"/>
            <p:cNvSpPr txBox="1">
              <a:spLocks noChangeArrowheads="1"/>
            </p:cNvSpPr>
            <p:nvPr/>
          </p:nvSpPr>
          <p:spPr bwMode="auto">
            <a:xfrm>
              <a:off x="1134" y="544"/>
              <a:ext cx="363"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a:t>Z</a:t>
              </a:r>
            </a:p>
          </p:txBody>
        </p:sp>
      </p:grpSp>
      <p:sp>
        <p:nvSpPr>
          <p:cNvPr id="2" name="灯片编号占位符 1">
            <a:extLst>
              <a:ext uri="{FF2B5EF4-FFF2-40B4-BE49-F238E27FC236}">
                <a16:creationId xmlns:a16="http://schemas.microsoft.com/office/drawing/2014/main" id="{BAAF8216-AB57-E239-43B7-F57070A0AB90}"/>
              </a:ext>
            </a:extLst>
          </p:cNvPr>
          <p:cNvSpPr>
            <a:spLocks noGrp="1"/>
          </p:cNvSpPr>
          <p:nvPr>
            <p:ph type="sldNum" sz="quarter" idx="11"/>
          </p:nvPr>
        </p:nvSpPr>
        <p:spPr/>
        <p:txBody>
          <a:bodyPr/>
          <a:lstStyle/>
          <a:p>
            <a:pPr>
              <a:defRPr/>
            </a:pPr>
            <a:fld id="{B77A47BA-BA63-4780-94A9-8AFA2EA4438D}" type="slidenum">
              <a:rPr lang="en-US" altLang="zh-CN" smtClean="0"/>
              <a:pPr>
                <a:defRPr/>
              </a:pPr>
              <a:t>25</a:t>
            </a:fld>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9699">
                                            <p:txEl>
                                              <p:pRg st="0" end="0"/>
                                            </p:txEl>
                                          </p:spTgt>
                                        </p:tgtEl>
                                        <p:attrNameLst>
                                          <p:attrName>style.visibility</p:attrName>
                                        </p:attrNameLst>
                                      </p:cBhvr>
                                      <p:to>
                                        <p:strVal val="visible"/>
                                      </p:to>
                                    </p:set>
                                    <p:animEffect transition="in" filter="wipe(left)">
                                      <p:cBhvr>
                                        <p:cTn id="7" dur="500"/>
                                        <p:tgtEl>
                                          <p:spTgt spid="29699">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 presetClass="entr" presetSubtype="4" fill="hold" grpId="0" nodeType="clickEffect">
                                  <p:stCondLst>
                                    <p:cond delay="0"/>
                                  </p:stCondLst>
                                  <p:childTnLst>
                                    <p:set>
                                      <p:cBhvr>
                                        <p:cTn id="11" dur="1" fill="hold">
                                          <p:stCondLst>
                                            <p:cond delay="0"/>
                                          </p:stCondLst>
                                        </p:cTn>
                                        <p:tgtEl>
                                          <p:spTgt spid="29700"/>
                                        </p:tgtEl>
                                        <p:attrNameLst>
                                          <p:attrName>style.visibility</p:attrName>
                                        </p:attrNameLst>
                                      </p:cBhvr>
                                      <p:to>
                                        <p:strVal val="visible"/>
                                      </p:to>
                                    </p:set>
                                    <p:anim calcmode="lin" valueType="num">
                                      <p:cBhvr additive="base">
                                        <p:cTn id="12" dur="500" fill="hold"/>
                                        <p:tgtEl>
                                          <p:spTgt spid="29700"/>
                                        </p:tgtEl>
                                        <p:attrNameLst>
                                          <p:attrName>ppt_x</p:attrName>
                                        </p:attrNameLst>
                                      </p:cBhvr>
                                      <p:tavLst>
                                        <p:tav tm="0">
                                          <p:val>
                                            <p:strVal val="#ppt_x"/>
                                          </p:val>
                                        </p:tav>
                                        <p:tav tm="100000">
                                          <p:val>
                                            <p:strVal val="#ppt_x"/>
                                          </p:val>
                                        </p:tav>
                                      </p:tavLst>
                                    </p:anim>
                                    <p:anim calcmode="lin" valueType="num">
                                      <p:cBhvr additive="base">
                                        <p:cTn id="13" dur="500" fill="hold"/>
                                        <p:tgtEl>
                                          <p:spTgt spid="29700"/>
                                        </p:tgtEl>
                                        <p:attrNameLst>
                                          <p:attrName>ppt_y</p:attrName>
                                        </p:attrNameLst>
                                      </p:cBhvr>
                                      <p:tavLst>
                                        <p:tav tm="0">
                                          <p:val>
                                            <p:strVal val="1+#ppt_h/2"/>
                                          </p:val>
                                        </p:tav>
                                        <p:tav tm="100000">
                                          <p:val>
                                            <p:strVal val="#ppt_y"/>
                                          </p:val>
                                        </p:tav>
                                      </p:tavLst>
                                    </p:anim>
                                  </p:childTnLst>
                                </p:cTn>
                              </p:par>
                            </p:childTnLst>
                          </p:cTn>
                        </p:par>
                      </p:childTnLst>
                    </p:cTn>
                  </p:par>
                  <p:par>
                    <p:cTn id="14" fill="hold" nodeType="clickPar">
                      <p:stCondLst>
                        <p:cond delay="indefinite"/>
                      </p:stCondLst>
                      <p:childTnLst>
                        <p:par>
                          <p:cTn id="15" fill="hold" nodeType="withGroup">
                            <p:stCondLst>
                              <p:cond delay="0"/>
                            </p:stCondLst>
                            <p:childTnLst>
                              <p:par>
                                <p:cTn id="16" presetID="22" presetClass="entr" presetSubtype="1" fill="hold" nodeType="clickEffect">
                                  <p:stCondLst>
                                    <p:cond delay="0"/>
                                  </p:stCondLst>
                                  <p:childTnLst>
                                    <p:set>
                                      <p:cBhvr>
                                        <p:cTn id="17" dur="1" fill="hold">
                                          <p:stCondLst>
                                            <p:cond delay="0"/>
                                          </p:stCondLst>
                                        </p:cTn>
                                        <p:tgtEl>
                                          <p:spTgt spid="29701"/>
                                        </p:tgtEl>
                                        <p:attrNameLst>
                                          <p:attrName>style.visibility</p:attrName>
                                        </p:attrNameLst>
                                      </p:cBhvr>
                                      <p:to>
                                        <p:strVal val="visible"/>
                                      </p:to>
                                    </p:set>
                                    <p:animEffect transition="in" filter="wipe(up)">
                                      <p:cBhvr>
                                        <p:cTn id="18" dur="500"/>
                                        <p:tgtEl>
                                          <p:spTgt spid="29701"/>
                                        </p:tgtEl>
                                      </p:cBhvr>
                                    </p:animEffect>
                                  </p:childTnLst>
                                </p:cTn>
                              </p:par>
                            </p:childTnLst>
                          </p:cTn>
                        </p:par>
                      </p:childTnLst>
                    </p:cTn>
                  </p:par>
                  <p:par>
                    <p:cTn id="19" fill="hold" nodeType="clickPar">
                      <p:stCondLst>
                        <p:cond delay="indefinite"/>
                      </p:stCondLst>
                      <p:childTnLst>
                        <p:par>
                          <p:cTn id="20" fill="hold" nodeType="withGroup">
                            <p:stCondLst>
                              <p:cond delay="0"/>
                            </p:stCondLst>
                            <p:childTnLst>
                              <p:par>
                                <p:cTn id="21" presetID="22" presetClass="entr" presetSubtype="8" fill="hold" grpId="0" nodeType="clickEffect">
                                  <p:stCondLst>
                                    <p:cond delay="0"/>
                                  </p:stCondLst>
                                  <p:childTnLst>
                                    <p:set>
                                      <p:cBhvr>
                                        <p:cTn id="22" dur="1" fill="hold">
                                          <p:stCondLst>
                                            <p:cond delay="0"/>
                                          </p:stCondLst>
                                        </p:cTn>
                                        <p:tgtEl>
                                          <p:spTgt spid="29699">
                                            <p:txEl>
                                              <p:pRg st="1" end="1"/>
                                            </p:txEl>
                                          </p:spTgt>
                                        </p:tgtEl>
                                        <p:attrNameLst>
                                          <p:attrName>style.visibility</p:attrName>
                                        </p:attrNameLst>
                                      </p:cBhvr>
                                      <p:to>
                                        <p:strVal val="visible"/>
                                      </p:to>
                                    </p:set>
                                    <p:animEffect transition="in" filter="wipe(left)">
                                      <p:cBhvr>
                                        <p:cTn id="23" dur="500"/>
                                        <p:tgtEl>
                                          <p:spTgt spid="29699">
                                            <p:txEl>
                                              <p:pRg st="1" end="1"/>
                                            </p:txEl>
                                          </p:spTgt>
                                        </p:tgtEl>
                                      </p:cBhvr>
                                    </p:animEffect>
                                  </p:childTnLst>
                                </p:cTn>
                              </p:par>
                            </p:childTnLst>
                          </p:cTn>
                        </p:par>
                      </p:childTnLst>
                    </p:cTn>
                  </p:par>
                  <p:par>
                    <p:cTn id="24" fill="hold" nodeType="clickPar">
                      <p:stCondLst>
                        <p:cond delay="indefinite"/>
                      </p:stCondLst>
                      <p:childTnLst>
                        <p:par>
                          <p:cTn id="25" fill="hold" nodeType="withGroup">
                            <p:stCondLst>
                              <p:cond delay="0"/>
                            </p:stCondLst>
                            <p:childTnLst>
                              <p:par>
                                <p:cTn id="26" presetID="22" presetClass="entr" presetSubtype="8" fill="hold" grpId="0" nodeType="clickEffect">
                                  <p:stCondLst>
                                    <p:cond delay="0"/>
                                  </p:stCondLst>
                                  <p:childTnLst>
                                    <p:set>
                                      <p:cBhvr>
                                        <p:cTn id="27" dur="1" fill="hold">
                                          <p:stCondLst>
                                            <p:cond delay="0"/>
                                          </p:stCondLst>
                                        </p:cTn>
                                        <p:tgtEl>
                                          <p:spTgt spid="29752"/>
                                        </p:tgtEl>
                                        <p:attrNameLst>
                                          <p:attrName>style.visibility</p:attrName>
                                        </p:attrNameLst>
                                      </p:cBhvr>
                                      <p:to>
                                        <p:strVal val="visible"/>
                                      </p:to>
                                    </p:set>
                                    <p:animEffect transition="in" filter="wipe(left)">
                                      <p:cBhvr>
                                        <p:cTn id="28" dur="500"/>
                                        <p:tgtEl>
                                          <p:spTgt spid="29752"/>
                                        </p:tgtEl>
                                      </p:cBhvr>
                                    </p:animEffect>
                                  </p:childTnLst>
                                </p:cTn>
                              </p:par>
                            </p:childTnLst>
                          </p:cTn>
                        </p:par>
                      </p:childTnLst>
                    </p:cTn>
                  </p:par>
                  <p:par>
                    <p:cTn id="29" fill="hold" nodeType="clickPar">
                      <p:stCondLst>
                        <p:cond delay="indefinite"/>
                      </p:stCondLst>
                      <p:childTnLst>
                        <p:par>
                          <p:cTn id="30" fill="hold" nodeType="withGroup">
                            <p:stCondLst>
                              <p:cond delay="0"/>
                            </p:stCondLst>
                            <p:childTnLst>
                              <p:par>
                                <p:cTn id="31" presetID="22" presetClass="entr" presetSubtype="8" fill="hold" grpId="0" nodeType="clickEffect">
                                  <p:stCondLst>
                                    <p:cond delay="0"/>
                                  </p:stCondLst>
                                  <p:childTnLst>
                                    <p:set>
                                      <p:cBhvr>
                                        <p:cTn id="32" dur="1" fill="hold">
                                          <p:stCondLst>
                                            <p:cond delay="0"/>
                                          </p:stCondLst>
                                        </p:cTn>
                                        <p:tgtEl>
                                          <p:spTgt spid="29764"/>
                                        </p:tgtEl>
                                        <p:attrNameLst>
                                          <p:attrName>style.visibility</p:attrName>
                                        </p:attrNameLst>
                                      </p:cBhvr>
                                      <p:to>
                                        <p:strVal val="visible"/>
                                      </p:to>
                                    </p:set>
                                    <p:animEffect transition="in" filter="wipe(left)">
                                      <p:cBhvr>
                                        <p:cTn id="33" dur="500"/>
                                        <p:tgtEl>
                                          <p:spTgt spid="29764"/>
                                        </p:tgtEl>
                                      </p:cBhvr>
                                    </p:animEffect>
                                  </p:childTnLst>
                                </p:cTn>
                              </p:par>
                            </p:childTnLst>
                          </p:cTn>
                        </p:par>
                      </p:childTnLst>
                    </p:cTn>
                  </p:par>
                  <p:par>
                    <p:cTn id="34" fill="hold" nodeType="clickPar">
                      <p:stCondLst>
                        <p:cond delay="indefinite"/>
                      </p:stCondLst>
                      <p:childTnLst>
                        <p:par>
                          <p:cTn id="35" fill="hold" nodeType="withGroup">
                            <p:stCondLst>
                              <p:cond delay="0"/>
                            </p:stCondLst>
                            <p:childTnLst>
                              <p:par>
                                <p:cTn id="36" presetID="22" presetClass="entr" presetSubtype="8" fill="hold" nodeType="clickEffect">
                                  <p:stCondLst>
                                    <p:cond delay="0"/>
                                  </p:stCondLst>
                                  <p:childTnLst>
                                    <p:set>
                                      <p:cBhvr>
                                        <p:cTn id="37" dur="1" fill="hold">
                                          <p:stCondLst>
                                            <p:cond delay="0"/>
                                          </p:stCondLst>
                                        </p:cTn>
                                        <p:tgtEl>
                                          <p:spTgt spid="29753"/>
                                        </p:tgtEl>
                                        <p:attrNameLst>
                                          <p:attrName>style.visibility</p:attrName>
                                        </p:attrNameLst>
                                      </p:cBhvr>
                                      <p:to>
                                        <p:strVal val="visible"/>
                                      </p:to>
                                    </p:set>
                                    <p:animEffect transition="in" filter="wipe(left)">
                                      <p:cBhvr>
                                        <p:cTn id="38" dur="500"/>
                                        <p:tgtEl>
                                          <p:spTgt spid="29753"/>
                                        </p:tgtEl>
                                      </p:cBhvr>
                                    </p:animEffect>
                                  </p:childTnLst>
                                </p:cTn>
                              </p:par>
                            </p:childTnLst>
                          </p:cTn>
                        </p:par>
                      </p:childTnLst>
                    </p:cTn>
                  </p:par>
                  <p:par>
                    <p:cTn id="39" fill="hold" nodeType="clickPar">
                      <p:stCondLst>
                        <p:cond delay="indefinite"/>
                      </p:stCondLst>
                      <p:childTnLst>
                        <p:par>
                          <p:cTn id="40" fill="hold" nodeType="withGroup">
                            <p:stCondLst>
                              <p:cond delay="0"/>
                            </p:stCondLst>
                            <p:childTnLst>
                              <p:par>
                                <p:cTn id="41" presetID="22" presetClass="entr" presetSubtype="8" fill="hold" nodeType="clickEffect">
                                  <p:stCondLst>
                                    <p:cond delay="0"/>
                                  </p:stCondLst>
                                  <p:childTnLst>
                                    <p:set>
                                      <p:cBhvr>
                                        <p:cTn id="42" dur="1" fill="hold">
                                          <p:stCondLst>
                                            <p:cond delay="0"/>
                                          </p:stCondLst>
                                        </p:cTn>
                                        <p:tgtEl>
                                          <p:spTgt spid="29765"/>
                                        </p:tgtEl>
                                        <p:attrNameLst>
                                          <p:attrName>style.visibility</p:attrName>
                                        </p:attrNameLst>
                                      </p:cBhvr>
                                      <p:to>
                                        <p:strVal val="visible"/>
                                      </p:to>
                                    </p:set>
                                    <p:animEffect transition="in" filter="wipe(left)">
                                      <p:cBhvr>
                                        <p:cTn id="43" dur="500"/>
                                        <p:tgtEl>
                                          <p:spTgt spid="29765"/>
                                        </p:tgtEl>
                                      </p:cBhvr>
                                    </p:animEffect>
                                  </p:childTnLst>
                                </p:cTn>
                              </p:par>
                            </p:childTnLst>
                          </p:cTn>
                        </p:par>
                      </p:childTnLst>
                    </p:cTn>
                  </p:par>
                  <p:par>
                    <p:cTn id="44" fill="hold" nodeType="clickPar">
                      <p:stCondLst>
                        <p:cond delay="indefinite"/>
                      </p:stCondLst>
                      <p:childTnLst>
                        <p:par>
                          <p:cTn id="45" fill="hold" nodeType="withGroup">
                            <p:stCondLst>
                              <p:cond delay="0"/>
                            </p:stCondLst>
                            <p:childTnLst>
                              <p:par>
                                <p:cTn id="46" presetID="22" presetClass="entr" presetSubtype="1" fill="hold" grpId="0" nodeType="clickEffect">
                                  <p:stCondLst>
                                    <p:cond delay="0"/>
                                  </p:stCondLst>
                                  <p:childTnLst>
                                    <p:set>
                                      <p:cBhvr>
                                        <p:cTn id="47" dur="1" fill="hold">
                                          <p:stCondLst>
                                            <p:cond delay="0"/>
                                          </p:stCondLst>
                                        </p:cTn>
                                        <p:tgtEl>
                                          <p:spTgt spid="29750"/>
                                        </p:tgtEl>
                                        <p:attrNameLst>
                                          <p:attrName>style.visibility</p:attrName>
                                        </p:attrNameLst>
                                      </p:cBhvr>
                                      <p:to>
                                        <p:strVal val="visible"/>
                                      </p:to>
                                    </p:set>
                                    <p:animEffect transition="in" filter="wipe(up)">
                                      <p:cBhvr>
                                        <p:cTn id="48" dur="500"/>
                                        <p:tgtEl>
                                          <p:spTgt spid="29750"/>
                                        </p:tgtEl>
                                      </p:cBhvr>
                                    </p:animEffect>
                                  </p:childTnLst>
                                </p:cTn>
                              </p:par>
                            </p:childTnLst>
                          </p:cTn>
                        </p:par>
                        <p:par>
                          <p:cTn id="49" fill="hold" nodeType="afterGroup">
                            <p:stCondLst>
                              <p:cond delay="500"/>
                            </p:stCondLst>
                            <p:childTnLst>
                              <p:par>
                                <p:cTn id="50" presetID="22" presetClass="entr" presetSubtype="1" fill="hold" grpId="0" nodeType="afterEffect">
                                  <p:stCondLst>
                                    <p:cond delay="0"/>
                                  </p:stCondLst>
                                  <p:childTnLst>
                                    <p:set>
                                      <p:cBhvr>
                                        <p:cTn id="51" dur="1" fill="hold">
                                          <p:stCondLst>
                                            <p:cond delay="0"/>
                                          </p:stCondLst>
                                        </p:cTn>
                                        <p:tgtEl>
                                          <p:spTgt spid="29751"/>
                                        </p:tgtEl>
                                        <p:attrNameLst>
                                          <p:attrName>style.visibility</p:attrName>
                                        </p:attrNameLst>
                                      </p:cBhvr>
                                      <p:to>
                                        <p:strVal val="visible"/>
                                      </p:to>
                                    </p:set>
                                    <p:animEffect transition="in" filter="wipe(up)">
                                      <p:cBhvr>
                                        <p:cTn id="52" dur="500"/>
                                        <p:tgtEl>
                                          <p:spTgt spid="29751"/>
                                        </p:tgtEl>
                                      </p:cBhvr>
                                    </p:animEffect>
                                  </p:childTnLst>
                                </p:cTn>
                              </p:par>
                            </p:childTnLst>
                          </p:cTn>
                        </p:par>
                      </p:childTnLst>
                    </p:cTn>
                  </p:par>
                  <p:par>
                    <p:cTn id="53" fill="hold" nodeType="clickPar">
                      <p:stCondLst>
                        <p:cond delay="indefinite"/>
                      </p:stCondLst>
                      <p:childTnLst>
                        <p:par>
                          <p:cTn id="54" fill="hold" nodeType="withGroup">
                            <p:stCondLst>
                              <p:cond delay="0"/>
                            </p:stCondLst>
                            <p:childTnLst>
                              <p:par>
                                <p:cTn id="55" presetID="22" presetClass="entr" presetSubtype="8" fill="hold" grpId="0" nodeType="clickEffect">
                                  <p:stCondLst>
                                    <p:cond delay="0"/>
                                  </p:stCondLst>
                                  <p:childTnLst>
                                    <p:set>
                                      <p:cBhvr>
                                        <p:cTn id="56" dur="1" fill="hold">
                                          <p:stCondLst>
                                            <p:cond delay="0"/>
                                          </p:stCondLst>
                                        </p:cTn>
                                        <p:tgtEl>
                                          <p:spTgt spid="29699">
                                            <p:txEl>
                                              <p:pRg st="2" end="2"/>
                                            </p:txEl>
                                          </p:spTgt>
                                        </p:tgtEl>
                                        <p:attrNameLst>
                                          <p:attrName>style.visibility</p:attrName>
                                        </p:attrNameLst>
                                      </p:cBhvr>
                                      <p:to>
                                        <p:strVal val="visible"/>
                                      </p:to>
                                    </p:set>
                                    <p:animEffect transition="in" filter="wipe(left)">
                                      <p:cBhvr>
                                        <p:cTn id="57" dur="500"/>
                                        <p:tgtEl>
                                          <p:spTgt spid="29699">
                                            <p:txEl>
                                              <p:pRg st="2" end="2"/>
                                            </p:txEl>
                                          </p:spTgt>
                                        </p:tgtEl>
                                      </p:cBhvr>
                                    </p:animEffect>
                                  </p:childTnLst>
                                </p:cTn>
                              </p:par>
                            </p:childTnLst>
                          </p:cTn>
                        </p:par>
                      </p:childTnLst>
                    </p:cTn>
                  </p:par>
                  <p:par>
                    <p:cTn id="58" fill="hold" nodeType="clickPar">
                      <p:stCondLst>
                        <p:cond delay="indefinite"/>
                      </p:stCondLst>
                      <p:childTnLst>
                        <p:par>
                          <p:cTn id="59" fill="hold" nodeType="withGroup">
                            <p:stCondLst>
                              <p:cond delay="0"/>
                            </p:stCondLst>
                            <p:childTnLst>
                              <p:par>
                                <p:cTn id="60" presetID="22" presetClass="entr" presetSubtype="1" fill="hold" nodeType="clickEffect">
                                  <p:stCondLst>
                                    <p:cond delay="0"/>
                                  </p:stCondLst>
                                  <p:childTnLst>
                                    <p:set>
                                      <p:cBhvr>
                                        <p:cTn id="61" dur="1" fill="hold">
                                          <p:stCondLst>
                                            <p:cond delay="0"/>
                                          </p:stCondLst>
                                        </p:cTn>
                                        <p:tgtEl>
                                          <p:spTgt spid="29749"/>
                                        </p:tgtEl>
                                        <p:attrNameLst>
                                          <p:attrName>style.visibility</p:attrName>
                                        </p:attrNameLst>
                                      </p:cBhvr>
                                      <p:to>
                                        <p:strVal val="visible"/>
                                      </p:to>
                                    </p:set>
                                    <p:animEffect transition="in" filter="wipe(up)">
                                      <p:cBhvr>
                                        <p:cTn id="62" dur="500"/>
                                        <p:tgtEl>
                                          <p:spTgt spid="2974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699" grpId="0" build="p" autoUpdateAnimBg="0"/>
      <p:bldP spid="29700" grpId="0" autoUpdateAnimBg="0"/>
      <p:bldP spid="29750" grpId="0" animBg="1" autoUpdateAnimBg="0"/>
      <p:bldP spid="29751" grpId="0" autoUpdateAnimBg="0"/>
      <p:bldP spid="29752" grpId="0" animBg="1"/>
      <p:bldP spid="29764"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p:cNvSpPr>
            <a:spLocks noGrp="1" noChangeArrowheads="1"/>
          </p:cNvSpPr>
          <p:nvPr>
            <p:ph type="title" idx="4294967295"/>
          </p:nvPr>
        </p:nvSpPr>
        <p:spPr>
          <a:xfrm>
            <a:off x="1981200" y="332656"/>
            <a:ext cx="8229600" cy="1371600"/>
          </a:xfrm>
        </p:spPr>
        <p:txBody>
          <a:bodyPr/>
          <a:lstStyle/>
          <a:p>
            <a:pPr algn="ctr" eaLnBrk="1" hangingPunct="1"/>
            <a:r>
              <a:rPr lang="zh-CN" altLang="en-US" dirty="0">
                <a:solidFill>
                  <a:srgbClr val="008000"/>
                </a:solidFill>
                <a:latin typeface="Comic Sans MS" panose="030F0702030302020204" pitchFamily="66" charset="0"/>
                <a:ea typeface="黑体" panose="02010609060101010101" pitchFamily="49" charset="-122"/>
              </a:rPr>
              <a:t>各种推理模型的特点</a:t>
            </a:r>
          </a:p>
        </p:txBody>
      </p:sp>
      <p:sp>
        <p:nvSpPr>
          <p:cNvPr id="30723" name="Rectangle 3"/>
          <p:cNvSpPr>
            <a:spLocks noGrp="1" noChangeArrowheads="1"/>
          </p:cNvSpPr>
          <p:nvPr>
            <p:ph type="body" idx="4294967295"/>
          </p:nvPr>
        </p:nvSpPr>
        <p:spPr>
          <a:xfrm>
            <a:off x="947428" y="1554554"/>
            <a:ext cx="10297144" cy="5303446"/>
          </a:xfrm>
        </p:spPr>
        <p:txBody>
          <a:bodyPr/>
          <a:lstStyle/>
          <a:p>
            <a:pPr eaLnBrk="1" hangingPunct="1"/>
            <a:r>
              <a:rPr lang="zh-CN" altLang="en-US" dirty="0">
                <a:solidFill>
                  <a:srgbClr val="3333FF"/>
                </a:solidFill>
                <a:ea typeface="黑体" panose="02010609060101010101" pitchFamily="49" charset="-122"/>
              </a:rPr>
              <a:t>在获取专家知识时，常使用</a:t>
            </a:r>
            <a:r>
              <a:rPr lang="en-US" altLang="zh-CN" dirty="0">
                <a:solidFill>
                  <a:srgbClr val="3333FF"/>
                </a:solidFill>
              </a:rPr>
              <a:t>Mamdani</a:t>
            </a:r>
            <a:r>
              <a:rPr lang="zh-CN" altLang="en-US" dirty="0">
                <a:solidFill>
                  <a:srgbClr val="3333FF"/>
                </a:solidFill>
                <a:latin typeface="黑体" panose="02010609060101010101" pitchFamily="49" charset="-122"/>
                <a:ea typeface="黑体" panose="02010609060101010101" pitchFamily="49" charset="-122"/>
              </a:rPr>
              <a:t>模型</a:t>
            </a:r>
            <a:r>
              <a:rPr lang="zh-CN" altLang="en-US" dirty="0">
                <a:solidFill>
                  <a:srgbClr val="3333FF"/>
                </a:solidFill>
              </a:rPr>
              <a:t>。</a:t>
            </a:r>
            <a:r>
              <a:rPr lang="zh-CN" altLang="en-US" dirty="0">
                <a:solidFill>
                  <a:srgbClr val="3333FF"/>
                </a:solidFill>
                <a:ea typeface="黑体" panose="02010609060101010101" pitchFamily="49" charset="-122"/>
              </a:rPr>
              <a:t>因为这种模型可以用更直接、更接近人类的方式来描述专家的问题意见，但计算量大。</a:t>
            </a:r>
            <a:endParaRPr lang="en-US" altLang="zh-CN" dirty="0">
              <a:solidFill>
                <a:srgbClr val="3333FF"/>
              </a:solidFill>
              <a:ea typeface="黑体" panose="02010609060101010101" pitchFamily="49" charset="-122"/>
            </a:endParaRPr>
          </a:p>
          <a:p>
            <a:pPr eaLnBrk="1" hangingPunct="1"/>
            <a:r>
              <a:rPr lang="en-US" altLang="zh-CN" b="1" dirty="0" err="1">
                <a:solidFill>
                  <a:srgbClr val="CC00CC"/>
                </a:solidFill>
              </a:rPr>
              <a:t>Sugeno</a:t>
            </a:r>
            <a:r>
              <a:rPr lang="zh-CN" altLang="en-US" b="1" dirty="0">
                <a:solidFill>
                  <a:srgbClr val="CC00CC"/>
                </a:solidFill>
              </a:rPr>
              <a:t>模型的计算效率高，并能与优化算法和自适应技术协同工作，这使得该模型在控制问题，尤其是动态非线性系统很有吸引力。</a:t>
            </a:r>
            <a:endParaRPr lang="en-US" altLang="zh-CN" b="1" dirty="0">
              <a:solidFill>
                <a:srgbClr val="CC00CC"/>
              </a:solidFill>
            </a:endParaRPr>
          </a:p>
          <a:p>
            <a:pPr eaLnBrk="1" hangingPunct="1"/>
            <a:r>
              <a:rPr lang="en-US" altLang="zh-CN" b="1" dirty="0"/>
              <a:t>T</a:t>
            </a:r>
            <a:r>
              <a:rPr lang="en-US" altLang="zh-CN" dirty="0">
                <a:ea typeface="黑体" panose="02010609060101010101" pitchFamily="49" charset="-122"/>
              </a:rPr>
              <a:t>sukamoto</a:t>
            </a:r>
            <a:r>
              <a:rPr lang="zh-CN" altLang="en-US" dirty="0">
                <a:ea typeface="黑体" panose="02010609060101010101" pitchFamily="49" charset="-122"/>
              </a:rPr>
              <a:t>模型的</a:t>
            </a:r>
            <a:r>
              <a:rPr lang="zh-CN" altLang="en-US" dirty="0">
                <a:latin typeface="黑体" panose="02010609060101010101" pitchFamily="49" charset="-122"/>
                <a:ea typeface="黑体" panose="02010609060101010101" pitchFamily="49" charset="-122"/>
              </a:rPr>
              <a:t>每条规则推理得出一个精确输出，通过加权平均的方法集结每条规则的输出，从而避免了耗时的去</a:t>
            </a:r>
            <a:r>
              <a:rPr lang="en-US" altLang="zh-CN" dirty="0">
                <a:latin typeface="黑体" panose="02010609060101010101" pitchFamily="49" charset="-122"/>
                <a:ea typeface="黑体" panose="02010609060101010101" pitchFamily="49" charset="-122"/>
              </a:rPr>
              <a:t>F</a:t>
            </a:r>
            <a:r>
              <a:rPr lang="zh-CN" altLang="en-US" dirty="0">
                <a:latin typeface="黑体" panose="02010609060101010101" pitchFamily="49" charset="-122"/>
                <a:ea typeface="黑体" panose="02010609060101010101" pitchFamily="49" charset="-122"/>
              </a:rPr>
              <a:t>过程，</a:t>
            </a:r>
            <a:r>
              <a:rPr lang="zh-CN" altLang="en-US" b="1" dirty="0"/>
              <a:t>不像</a:t>
            </a:r>
            <a:r>
              <a:rPr lang="en-US" altLang="zh-CN" b="1" dirty="0"/>
              <a:t>Mamdani </a:t>
            </a:r>
            <a:r>
              <a:rPr lang="zh-CN" altLang="en-US" b="1" dirty="0"/>
              <a:t>和 </a:t>
            </a:r>
            <a:r>
              <a:rPr lang="en-US" altLang="zh-CN" b="1" dirty="0" err="1"/>
              <a:t>Sugeno</a:t>
            </a:r>
            <a:r>
              <a:rPr lang="en-US" altLang="zh-CN" b="1" dirty="0"/>
              <a:t> </a:t>
            </a:r>
            <a:r>
              <a:rPr lang="zh-CN" altLang="en-US" b="1" dirty="0"/>
              <a:t>两种</a:t>
            </a:r>
            <a:r>
              <a:rPr lang="en-US" altLang="zh-CN" b="1" dirty="0"/>
              <a:t>F</a:t>
            </a:r>
            <a:r>
              <a:rPr lang="zh-CN" altLang="en-US" b="1" dirty="0"/>
              <a:t>模型透明，因此不是经常得到应用</a:t>
            </a:r>
            <a:endParaRPr lang="zh-CN" altLang="en-US" b="1" dirty="0">
              <a:solidFill>
                <a:srgbClr val="3333FF"/>
              </a:solidFill>
              <a:ea typeface="楷体_GB2312" pitchFamily="1" charset="-122"/>
            </a:endParaRPr>
          </a:p>
          <a:p>
            <a:pPr marL="0" indent="0" eaLnBrk="1" hangingPunct="1">
              <a:buNone/>
            </a:pPr>
            <a:endParaRPr lang="zh-CN" altLang="en-US" sz="3600" b="1" dirty="0"/>
          </a:p>
        </p:txBody>
      </p:sp>
      <p:sp>
        <p:nvSpPr>
          <p:cNvPr id="2" name="灯片编号占位符 1">
            <a:extLst>
              <a:ext uri="{FF2B5EF4-FFF2-40B4-BE49-F238E27FC236}">
                <a16:creationId xmlns:a16="http://schemas.microsoft.com/office/drawing/2014/main" id="{37D81871-EE1A-84D0-AE29-2C36275D9A84}"/>
              </a:ext>
            </a:extLst>
          </p:cNvPr>
          <p:cNvSpPr>
            <a:spLocks noGrp="1"/>
          </p:cNvSpPr>
          <p:nvPr>
            <p:ph type="sldNum" sz="quarter" idx="11"/>
          </p:nvPr>
        </p:nvSpPr>
        <p:spPr/>
        <p:txBody>
          <a:bodyPr/>
          <a:lstStyle/>
          <a:p>
            <a:pPr>
              <a:defRPr/>
            </a:pPr>
            <a:fld id="{B77A47BA-BA63-4780-94A9-8AFA2EA4438D}" type="slidenum">
              <a:rPr lang="en-US" altLang="zh-CN" smtClean="0"/>
              <a:pPr>
                <a:defRPr/>
              </a:pPr>
              <a:t>26</a:t>
            </a:fld>
            <a:endParaRPr lang="en-US" altLang="zh-CN"/>
          </a:p>
        </p:txBody>
      </p:sp>
    </p:spTree>
    <p:extLst>
      <p:ext uri="{BB962C8B-B14F-4D97-AF65-F5344CB8AC3E}">
        <p14:creationId xmlns:p14="http://schemas.microsoft.com/office/powerpoint/2010/main" val="1226813175"/>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0723">
                                            <p:txEl>
                                              <p:pRg st="0" end="0"/>
                                            </p:txEl>
                                          </p:spTgt>
                                        </p:tgtEl>
                                        <p:attrNameLst>
                                          <p:attrName>style.visibility</p:attrName>
                                        </p:attrNameLst>
                                      </p:cBhvr>
                                      <p:to>
                                        <p:strVal val="visible"/>
                                      </p:to>
                                    </p:set>
                                    <p:animEffect transition="in" filter="wipe(left)">
                                      <p:cBhvr>
                                        <p:cTn id="7" dur="500"/>
                                        <p:tgtEl>
                                          <p:spTgt spid="3072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30723">
                                            <p:txEl>
                                              <p:pRg st="1" end="1"/>
                                            </p:txEl>
                                          </p:spTgt>
                                        </p:tgtEl>
                                        <p:attrNameLst>
                                          <p:attrName>style.visibility</p:attrName>
                                        </p:attrNameLst>
                                      </p:cBhvr>
                                      <p:to>
                                        <p:strVal val="visible"/>
                                      </p:to>
                                    </p:set>
                                    <p:animEffect transition="in" filter="wipe(left)">
                                      <p:cBhvr>
                                        <p:cTn id="12" dur="500"/>
                                        <p:tgtEl>
                                          <p:spTgt spid="3072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30723">
                                            <p:txEl>
                                              <p:pRg st="2" end="2"/>
                                            </p:txEl>
                                          </p:spTgt>
                                        </p:tgtEl>
                                        <p:attrNameLst>
                                          <p:attrName>style.visibility</p:attrName>
                                        </p:attrNameLst>
                                      </p:cBhvr>
                                      <p:to>
                                        <p:strVal val="visible"/>
                                      </p:to>
                                    </p:set>
                                    <p:animEffect transition="in" filter="wipe(left)">
                                      <p:cBhvr>
                                        <p:cTn id="17" dur="500"/>
                                        <p:tgtEl>
                                          <p:spTgt spid="3072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723" grpId="0" build="p" autoUpdateAnimBg="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p:cNvSpPr>
            <a:spLocks noGrp="1" noChangeArrowheads="1"/>
          </p:cNvSpPr>
          <p:nvPr>
            <p:ph type="title" idx="4294967295"/>
          </p:nvPr>
        </p:nvSpPr>
        <p:spPr>
          <a:xfrm>
            <a:off x="1271464" y="188913"/>
            <a:ext cx="9721079" cy="1371600"/>
          </a:xfrm>
        </p:spPr>
        <p:txBody>
          <a:bodyPr/>
          <a:lstStyle/>
          <a:p>
            <a:pPr eaLnBrk="1" hangingPunct="1"/>
            <a:r>
              <a:rPr lang="en-US" altLang="zh-CN" dirty="0">
                <a:solidFill>
                  <a:srgbClr val="008000"/>
                </a:solidFill>
              </a:rPr>
              <a:t>9.5  F</a:t>
            </a:r>
            <a:r>
              <a:rPr lang="zh-CN" altLang="en-US" dirty="0">
                <a:solidFill>
                  <a:srgbClr val="008000"/>
                </a:solidFill>
                <a:ea typeface="黑体" panose="02010609060101010101" pitchFamily="49" charset="-122"/>
              </a:rPr>
              <a:t>推理系统实现所考虑的其他因素</a:t>
            </a:r>
          </a:p>
        </p:txBody>
      </p:sp>
      <p:sp>
        <p:nvSpPr>
          <p:cNvPr id="31747" name="Rectangle 3"/>
          <p:cNvSpPr>
            <a:spLocks noGrp="1" noChangeArrowheads="1"/>
          </p:cNvSpPr>
          <p:nvPr>
            <p:ph type="body" idx="4294967295"/>
          </p:nvPr>
        </p:nvSpPr>
        <p:spPr>
          <a:xfrm>
            <a:off x="1055440" y="1636981"/>
            <a:ext cx="10585176" cy="5041900"/>
          </a:xfrm>
        </p:spPr>
        <p:txBody>
          <a:bodyPr/>
          <a:lstStyle/>
          <a:p>
            <a:pPr eaLnBrk="1" hangingPunct="1"/>
            <a:r>
              <a:rPr lang="en-US" altLang="zh-CN" dirty="0">
                <a:latin typeface="黑体" panose="02010609060101010101" pitchFamily="49" charset="-122"/>
                <a:ea typeface="黑体" panose="02010609060101010101" pitchFamily="49" charset="-122"/>
              </a:rPr>
              <a:t>F</a:t>
            </a:r>
            <a:r>
              <a:rPr lang="zh-CN" altLang="en-US" dirty="0">
                <a:latin typeface="黑体" panose="02010609060101010101" pitchFamily="49" charset="-122"/>
                <a:ea typeface="黑体" panose="02010609060101010101" pitchFamily="49" charset="-122"/>
              </a:rPr>
              <a:t>推理系统的精华体现在</a:t>
            </a:r>
            <a:r>
              <a:rPr lang="zh-CN" altLang="en-US" dirty="0">
                <a:ea typeface="黑体" panose="02010609060101010101" pitchFamily="49" charset="-122"/>
              </a:rPr>
              <a:t>”</a:t>
            </a:r>
            <a:r>
              <a:rPr lang="zh-CN" altLang="en-US" dirty="0">
                <a:solidFill>
                  <a:srgbClr val="FF0000"/>
                </a:solidFill>
                <a:latin typeface="黑体" panose="02010609060101010101" pitchFamily="49" charset="-122"/>
                <a:ea typeface="黑体" panose="02010609060101010101" pitchFamily="49" charset="-122"/>
              </a:rPr>
              <a:t>分而治之</a:t>
            </a:r>
            <a:r>
              <a:rPr lang="zh-CN" altLang="en-US" dirty="0">
                <a:ea typeface="黑体" panose="02010609060101010101" pitchFamily="49" charset="-122"/>
              </a:rPr>
              <a:t>”</a:t>
            </a:r>
            <a:endParaRPr lang="zh-CN" altLang="en-US" dirty="0">
              <a:latin typeface="黑体" panose="02010609060101010101" pitchFamily="49" charset="-122"/>
              <a:ea typeface="黑体" panose="02010609060101010101" pitchFamily="49" charset="-122"/>
            </a:endParaRPr>
          </a:p>
          <a:p>
            <a:pPr lvl="1" eaLnBrk="1" hangingPunct="1"/>
            <a:r>
              <a:rPr lang="zh-CN" altLang="en-US" dirty="0">
                <a:ea typeface="黑体" panose="02010609060101010101" pitchFamily="49" charset="-122"/>
              </a:rPr>
              <a:t>即</a:t>
            </a:r>
            <a:r>
              <a:rPr lang="en-US" altLang="zh-CN" dirty="0">
                <a:ea typeface="黑体" panose="02010609060101010101" pitchFamily="49" charset="-122"/>
              </a:rPr>
              <a:t>F</a:t>
            </a:r>
            <a:r>
              <a:rPr lang="zh-CN" altLang="en-US" dirty="0">
                <a:ea typeface="黑体" panose="02010609060101010101" pitchFamily="49" charset="-122"/>
              </a:rPr>
              <a:t>规则定义了局部</a:t>
            </a:r>
            <a:r>
              <a:rPr lang="en-US" altLang="zh-CN" dirty="0">
                <a:ea typeface="黑体" panose="02010609060101010101" pitchFamily="49" charset="-122"/>
              </a:rPr>
              <a:t>F</a:t>
            </a:r>
            <a:r>
              <a:rPr lang="zh-CN" altLang="en-US" dirty="0">
                <a:ea typeface="黑体" panose="02010609060101010101" pitchFamily="49" charset="-122"/>
              </a:rPr>
              <a:t>区域，后件通过不同的组成成分描述该区域的行为</a:t>
            </a:r>
          </a:p>
          <a:p>
            <a:pPr lvl="1" eaLnBrk="1" hangingPunct="1"/>
            <a:r>
              <a:rPr lang="zh-CN" altLang="en-US" dirty="0">
                <a:solidFill>
                  <a:srgbClr val="0000FE"/>
                </a:solidFill>
                <a:latin typeface="黑体" panose="02010609060101010101" pitchFamily="49" charset="-122"/>
                <a:ea typeface="黑体" panose="02010609060101010101" pitchFamily="49" charset="-122"/>
              </a:rPr>
              <a:t>后件的组成</a:t>
            </a:r>
          </a:p>
          <a:p>
            <a:pPr lvl="2" eaLnBrk="1" hangingPunct="1"/>
            <a:r>
              <a:rPr lang="zh-CN" altLang="en-US" sz="2800" b="1" dirty="0">
                <a:ea typeface="楷体_GB2312" pitchFamily="1" charset="-122"/>
              </a:rPr>
              <a:t>可以是后件的隶属函数</a:t>
            </a:r>
            <a:r>
              <a:rPr lang="en-US" altLang="zh-CN" sz="2800" b="1" dirty="0">
                <a:ea typeface="楷体_GB2312" pitchFamily="1" charset="-122"/>
              </a:rPr>
              <a:t>(</a:t>
            </a:r>
            <a:r>
              <a:rPr lang="zh-CN" altLang="en-US" sz="2800" b="1" dirty="0">
                <a:ea typeface="楷体_GB2312" pitchFamily="1" charset="-122"/>
              </a:rPr>
              <a:t>如</a:t>
            </a:r>
            <a:r>
              <a:rPr lang="en-US" altLang="zh-CN" sz="2800" b="1" dirty="0">
                <a:ea typeface="楷体_GB2312" pitchFamily="1" charset="-122"/>
              </a:rPr>
              <a:t>Mamdani</a:t>
            </a:r>
            <a:r>
              <a:rPr lang="zh-CN" altLang="en-US" sz="2800" b="1" dirty="0">
                <a:ea typeface="楷体_GB2312" pitchFamily="1" charset="-122"/>
              </a:rPr>
              <a:t>或</a:t>
            </a:r>
            <a:r>
              <a:rPr lang="en-US" altLang="zh-CN" sz="2800" b="1" dirty="0">
                <a:ea typeface="楷体_GB2312" pitchFamily="1" charset="-122"/>
              </a:rPr>
              <a:t>Tsukamoto </a:t>
            </a:r>
            <a:r>
              <a:rPr lang="zh-CN" altLang="en-US" sz="2800" b="1" dirty="0">
                <a:ea typeface="楷体_GB2312" pitchFamily="1" charset="-122"/>
              </a:rPr>
              <a:t>模型</a:t>
            </a:r>
            <a:r>
              <a:rPr lang="en-US" altLang="zh-CN" sz="2800" b="1" dirty="0">
                <a:ea typeface="楷体_GB2312" pitchFamily="1" charset="-122"/>
              </a:rPr>
              <a:t>)</a:t>
            </a:r>
          </a:p>
          <a:p>
            <a:pPr lvl="2" eaLnBrk="1" hangingPunct="1"/>
            <a:r>
              <a:rPr lang="zh-CN" altLang="en-US" sz="2800" b="1" dirty="0">
                <a:ea typeface="楷体_GB2312" pitchFamily="1" charset="-122"/>
              </a:rPr>
              <a:t>常量</a:t>
            </a:r>
            <a:r>
              <a:rPr lang="en-US" altLang="zh-CN" sz="2800" b="1" dirty="0">
                <a:ea typeface="楷体_GB2312" pitchFamily="1" charset="-122"/>
              </a:rPr>
              <a:t>(</a:t>
            </a:r>
            <a:r>
              <a:rPr lang="zh-CN" altLang="en-US" sz="2800" b="1" dirty="0">
                <a:ea typeface="楷体_GB2312" pitchFamily="1" charset="-122"/>
              </a:rPr>
              <a:t>零阶</a:t>
            </a:r>
            <a:r>
              <a:rPr lang="en-US" altLang="zh-CN" sz="2800" b="1" dirty="0" err="1">
                <a:ea typeface="楷体_GB2312" pitchFamily="1" charset="-122"/>
              </a:rPr>
              <a:t>Sugeno</a:t>
            </a:r>
            <a:r>
              <a:rPr lang="en-US" altLang="zh-CN" sz="2800" b="1" dirty="0">
                <a:ea typeface="楷体_GB2312" pitchFamily="1" charset="-122"/>
              </a:rPr>
              <a:t> </a:t>
            </a:r>
            <a:r>
              <a:rPr lang="zh-CN" altLang="en-US" sz="2800" b="1" dirty="0">
                <a:ea typeface="楷体_GB2312" pitchFamily="1" charset="-122"/>
              </a:rPr>
              <a:t>模型</a:t>
            </a:r>
            <a:r>
              <a:rPr lang="en-US" altLang="zh-CN" sz="2800" b="1" dirty="0">
                <a:ea typeface="楷体_GB2312" pitchFamily="1" charset="-122"/>
              </a:rPr>
              <a:t>)</a:t>
            </a:r>
          </a:p>
          <a:p>
            <a:pPr lvl="2" eaLnBrk="1" hangingPunct="1"/>
            <a:r>
              <a:rPr lang="zh-CN" altLang="en-US" sz="2800" b="1" dirty="0">
                <a:ea typeface="楷体_GB2312" pitchFamily="1" charset="-122"/>
              </a:rPr>
              <a:t>线性方程组</a:t>
            </a:r>
            <a:r>
              <a:rPr lang="en-US" altLang="zh-CN" sz="2800" b="1" dirty="0">
                <a:ea typeface="楷体_GB2312" pitchFamily="1" charset="-122"/>
              </a:rPr>
              <a:t>(</a:t>
            </a:r>
            <a:r>
              <a:rPr lang="zh-CN" altLang="en-US" sz="2800" b="1" dirty="0">
                <a:ea typeface="楷体_GB2312" pitchFamily="1" charset="-122"/>
              </a:rPr>
              <a:t>一阶</a:t>
            </a:r>
            <a:r>
              <a:rPr lang="en-US" altLang="zh-CN" sz="2800" b="1" dirty="0" err="1">
                <a:ea typeface="楷体_GB2312" pitchFamily="1" charset="-122"/>
              </a:rPr>
              <a:t>Sugeno</a:t>
            </a:r>
            <a:r>
              <a:rPr lang="en-US" altLang="zh-CN" sz="2800" b="1" dirty="0">
                <a:ea typeface="楷体_GB2312" pitchFamily="1" charset="-122"/>
              </a:rPr>
              <a:t> </a:t>
            </a:r>
            <a:r>
              <a:rPr lang="zh-CN" altLang="en-US" sz="2800" b="1" dirty="0">
                <a:ea typeface="楷体_GB2312" pitchFamily="1" charset="-122"/>
              </a:rPr>
              <a:t>模型</a:t>
            </a:r>
            <a:r>
              <a:rPr lang="en-US" altLang="zh-CN" sz="2800" b="1" dirty="0">
                <a:ea typeface="楷体_GB2312" pitchFamily="1" charset="-122"/>
              </a:rPr>
              <a:t>)</a:t>
            </a:r>
          </a:p>
          <a:p>
            <a:pPr lvl="1" eaLnBrk="1" hangingPunct="1"/>
            <a:r>
              <a:rPr lang="zh-CN" altLang="en-US" sz="3200" dirty="0">
                <a:solidFill>
                  <a:srgbClr val="CC00CC"/>
                </a:solidFill>
                <a:latin typeface="黑体" panose="02010609060101010101" pitchFamily="49" charset="-122"/>
                <a:ea typeface="黑体" panose="02010609060101010101" pitchFamily="49" charset="-122"/>
              </a:rPr>
              <a:t>不同的后件组成成分形成了不同的</a:t>
            </a:r>
            <a:r>
              <a:rPr lang="en-US" altLang="zh-CN" sz="3200" dirty="0">
                <a:solidFill>
                  <a:srgbClr val="CC00CC"/>
                </a:solidFill>
                <a:latin typeface="黑体" panose="02010609060101010101" pitchFamily="49" charset="-122"/>
                <a:ea typeface="黑体" panose="02010609060101010101" pitchFamily="49" charset="-122"/>
              </a:rPr>
              <a:t>F</a:t>
            </a:r>
            <a:r>
              <a:rPr lang="zh-CN" altLang="en-US" sz="3200" dirty="0">
                <a:solidFill>
                  <a:srgbClr val="CC00CC"/>
                </a:solidFill>
                <a:latin typeface="黑体" panose="02010609060101010101" pitchFamily="49" charset="-122"/>
                <a:ea typeface="黑体" panose="02010609060101010101" pitchFamily="49" charset="-122"/>
              </a:rPr>
              <a:t>推理系统，但它们的前件总是相同的。</a:t>
            </a:r>
          </a:p>
        </p:txBody>
      </p:sp>
      <p:sp>
        <p:nvSpPr>
          <p:cNvPr id="2" name="灯片编号占位符 1">
            <a:extLst>
              <a:ext uri="{FF2B5EF4-FFF2-40B4-BE49-F238E27FC236}">
                <a16:creationId xmlns:a16="http://schemas.microsoft.com/office/drawing/2014/main" id="{B4787810-5469-C29C-7057-516CA265A0B5}"/>
              </a:ext>
            </a:extLst>
          </p:cNvPr>
          <p:cNvSpPr>
            <a:spLocks noGrp="1"/>
          </p:cNvSpPr>
          <p:nvPr>
            <p:ph type="sldNum" sz="quarter" idx="11"/>
          </p:nvPr>
        </p:nvSpPr>
        <p:spPr/>
        <p:txBody>
          <a:bodyPr/>
          <a:lstStyle/>
          <a:p>
            <a:pPr>
              <a:defRPr/>
            </a:pPr>
            <a:fld id="{B77A47BA-BA63-4780-94A9-8AFA2EA4438D}" type="slidenum">
              <a:rPr lang="en-US" altLang="zh-CN" smtClean="0"/>
              <a:pPr>
                <a:defRPr/>
              </a:pPr>
              <a:t>27</a:t>
            </a:fld>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1747">
                                            <p:txEl>
                                              <p:pRg st="0" end="0"/>
                                            </p:txEl>
                                          </p:spTgt>
                                        </p:tgtEl>
                                        <p:attrNameLst>
                                          <p:attrName>style.visibility</p:attrName>
                                        </p:attrNameLst>
                                      </p:cBhvr>
                                      <p:to>
                                        <p:strVal val="visible"/>
                                      </p:to>
                                    </p:set>
                                    <p:animEffect transition="in" filter="wipe(left)">
                                      <p:cBhvr>
                                        <p:cTn id="7" dur="500"/>
                                        <p:tgtEl>
                                          <p:spTgt spid="31747">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31747">
                                            <p:txEl>
                                              <p:pRg st="1" end="1"/>
                                            </p:txEl>
                                          </p:spTgt>
                                        </p:tgtEl>
                                        <p:attrNameLst>
                                          <p:attrName>style.visibility</p:attrName>
                                        </p:attrNameLst>
                                      </p:cBhvr>
                                      <p:to>
                                        <p:strVal val="visible"/>
                                      </p:to>
                                    </p:set>
                                    <p:animEffect transition="in" filter="wipe(left)">
                                      <p:cBhvr>
                                        <p:cTn id="12" dur="500"/>
                                        <p:tgtEl>
                                          <p:spTgt spid="31747">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31747">
                                            <p:txEl>
                                              <p:pRg st="2" end="2"/>
                                            </p:txEl>
                                          </p:spTgt>
                                        </p:tgtEl>
                                        <p:attrNameLst>
                                          <p:attrName>style.visibility</p:attrName>
                                        </p:attrNameLst>
                                      </p:cBhvr>
                                      <p:to>
                                        <p:strVal val="visible"/>
                                      </p:to>
                                    </p:set>
                                    <p:animEffect transition="in" filter="wipe(left)">
                                      <p:cBhvr>
                                        <p:cTn id="17" dur="500"/>
                                        <p:tgtEl>
                                          <p:spTgt spid="31747">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31747">
                                            <p:txEl>
                                              <p:pRg st="3" end="3"/>
                                            </p:txEl>
                                          </p:spTgt>
                                        </p:tgtEl>
                                        <p:attrNameLst>
                                          <p:attrName>style.visibility</p:attrName>
                                        </p:attrNameLst>
                                      </p:cBhvr>
                                      <p:to>
                                        <p:strVal val="visible"/>
                                      </p:to>
                                    </p:set>
                                    <p:animEffect transition="in" filter="wipe(left)">
                                      <p:cBhvr>
                                        <p:cTn id="22" dur="500"/>
                                        <p:tgtEl>
                                          <p:spTgt spid="31747">
                                            <p:txEl>
                                              <p:pRg st="3" end="3"/>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31747">
                                            <p:txEl>
                                              <p:pRg st="4" end="4"/>
                                            </p:txEl>
                                          </p:spTgt>
                                        </p:tgtEl>
                                        <p:attrNameLst>
                                          <p:attrName>style.visibility</p:attrName>
                                        </p:attrNameLst>
                                      </p:cBhvr>
                                      <p:to>
                                        <p:strVal val="visible"/>
                                      </p:to>
                                    </p:set>
                                    <p:animEffect transition="in" filter="wipe(left)">
                                      <p:cBhvr>
                                        <p:cTn id="27" dur="500"/>
                                        <p:tgtEl>
                                          <p:spTgt spid="31747">
                                            <p:txEl>
                                              <p:pRg st="4" end="4"/>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31747">
                                            <p:txEl>
                                              <p:pRg st="5" end="5"/>
                                            </p:txEl>
                                          </p:spTgt>
                                        </p:tgtEl>
                                        <p:attrNameLst>
                                          <p:attrName>style.visibility</p:attrName>
                                        </p:attrNameLst>
                                      </p:cBhvr>
                                      <p:to>
                                        <p:strVal val="visible"/>
                                      </p:to>
                                    </p:set>
                                    <p:animEffect transition="in" filter="wipe(left)">
                                      <p:cBhvr>
                                        <p:cTn id="32" dur="500"/>
                                        <p:tgtEl>
                                          <p:spTgt spid="31747">
                                            <p:txEl>
                                              <p:pRg st="5" end="5"/>
                                            </p:txEl>
                                          </p:spTgt>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31747">
                                            <p:txEl>
                                              <p:pRg st="6" end="6"/>
                                            </p:txEl>
                                          </p:spTgt>
                                        </p:tgtEl>
                                        <p:attrNameLst>
                                          <p:attrName>style.visibility</p:attrName>
                                        </p:attrNameLst>
                                      </p:cBhvr>
                                      <p:to>
                                        <p:strVal val="visible"/>
                                      </p:to>
                                    </p:set>
                                    <p:animEffect transition="in" filter="wipe(left)">
                                      <p:cBhvr>
                                        <p:cTn id="37" dur="500"/>
                                        <p:tgtEl>
                                          <p:spTgt spid="31747">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747" grpId="0" build="p" autoUpdateAnimBg="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2"/>
          <p:cNvSpPr>
            <a:spLocks noGrp="1" noChangeArrowheads="1"/>
          </p:cNvSpPr>
          <p:nvPr>
            <p:ph type="title" idx="4294967295"/>
          </p:nvPr>
        </p:nvSpPr>
        <p:spPr>
          <a:xfrm>
            <a:off x="1992313" y="333375"/>
            <a:ext cx="8229600" cy="1371600"/>
          </a:xfrm>
        </p:spPr>
        <p:txBody>
          <a:bodyPr/>
          <a:lstStyle/>
          <a:p>
            <a:pPr algn="ctr" eaLnBrk="1" hangingPunct="1"/>
            <a:r>
              <a:rPr lang="en-US" altLang="zh-CN" dirty="0">
                <a:solidFill>
                  <a:srgbClr val="008000"/>
                </a:solidFill>
              </a:rPr>
              <a:t>F</a:t>
            </a:r>
            <a:r>
              <a:rPr lang="zh-CN" altLang="en-US" dirty="0">
                <a:solidFill>
                  <a:srgbClr val="008000"/>
                </a:solidFill>
                <a:ea typeface="黑体" panose="02010609060101010101" pitchFamily="49" charset="-122"/>
              </a:rPr>
              <a:t>推理系统的输入空间的划分</a:t>
            </a:r>
          </a:p>
        </p:txBody>
      </p:sp>
      <p:sp>
        <p:nvSpPr>
          <p:cNvPr id="33795" name="Rectangle 3"/>
          <p:cNvSpPr>
            <a:spLocks noGrp="1" noChangeArrowheads="1"/>
          </p:cNvSpPr>
          <p:nvPr>
            <p:ph type="body" idx="4294967295"/>
          </p:nvPr>
        </p:nvSpPr>
        <p:spPr>
          <a:xfrm>
            <a:off x="695402" y="1555750"/>
            <a:ext cx="7382614" cy="5114929"/>
          </a:xfrm>
        </p:spPr>
        <p:txBody>
          <a:bodyPr/>
          <a:lstStyle/>
          <a:p>
            <a:pPr eaLnBrk="1" hangingPunct="1"/>
            <a:r>
              <a:rPr lang="zh-CN" altLang="en-US" dirty="0">
                <a:solidFill>
                  <a:srgbClr val="FF0000"/>
                </a:solidFill>
                <a:ea typeface="黑体" panose="02010609060101010101" pitchFamily="49" charset="-122"/>
              </a:rPr>
              <a:t>网格划分</a:t>
            </a:r>
          </a:p>
          <a:p>
            <a:pPr lvl="1" eaLnBrk="1" hangingPunct="1"/>
            <a:r>
              <a:rPr lang="zh-CN" altLang="en-US" b="1" dirty="0">
                <a:ea typeface="楷体_GB2312" pitchFamily="1" charset="-122"/>
              </a:rPr>
              <a:t>典型</a:t>
            </a:r>
            <a:r>
              <a:rPr lang="en-US" altLang="zh-CN" b="1" dirty="0">
                <a:ea typeface="楷体_GB2312" pitchFamily="1" charset="-122"/>
              </a:rPr>
              <a:t>——</a:t>
            </a:r>
            <a:r>
              <a:rPr lang="zh-CN" altLang="en-US" b="1" dirty="0">
                <a:ea typeface="楷体_GB2312" pitchFamily="1" charset="-122"/>
              </a:rPr>
              <a:t>二维输入空间的网格划分方法</a:t>
            </a:r>
          </a:p>
          <a:p>
            <a:pPr lvl="1" eaLnBrk="1" hangingPunct="1"/>
            <a:r>
              <a:rPr lang="zh-CN" altLang="en-US" b="1" dirty="0">
                <a:ea typeface="楷体_GB2312" pitchFamily="1" charset="-122"/>
              </a:rPr>
              <a:t>它通常只包含几个状态变量作为控制器的输入</a:t>
            </a:r>
          </a:p>
          <a:p>
            <a:pPr lvl="1" eaLnBrk="1" hangingPunct="1"/>
            <a:r>
              <a:rPr lang="zh-CN" altLang="en-US" b="1" dirty="0">
                <a:ea typeface="楷体_GB2312" pitchFamily="1" charset="-122"/>
              </a:rPr>
              <a:t>适用于每个输入只需要少数几个隶属函数</a:t>
            </a:r>
          </a:p>
          <a:p>
            <a:pPr lvl="1" eaLnBrk="1" hangingPunct="1"/>
            <a:r>
              <a:rPr lang="zh-CN" altLang="en-US" b="1" dirty="0">
                <a:ea typeface="楷体_GB2312" pitchFamily="1" charset="-122"/>
              </a:rPr>
              <a:t>但当输入变量的数目很大时，会产生</a:t>
            </a:r>
            <a:r>
              <a:rPr lang="zh-CN" altLang="en-US" b="1" dirty="0">
                <a:solidFill>
                  <a:srgbClr val="CC00CC"/>
                </a:solidFill>
                <a:ea typeface="楷体_GB2312" pitchFamily="1" charset="-122"/>
              </a:rPr>
              <a:t>维数灾难</a:t>
            </a:r>
          </a:p>
          <a:p>
            <a:pPr lvl="2" eaLnBrk="1" hangingPunct="1"/>
            <a:r>
              <a:rPr lang="zh-CN" altLang="en-US" b="1" dirty="0">
                <a:solidFill>
                  <a:schemeClr val="bg2"/>
                </a:solidFill>
                <a:ea typeface="楷体_GB2312" pitchFamily="1" charset="-122"/>
              </a:rPr>
              <a:t>如一个具有</a:t>
            </a:r>
            <a:r>
              <a:rPr lang="en-US" altLang="zh-CN" b="1" dirty="0">
                <a:solidFill>
                  <a:schemeClr val="bg2"/>
                </a:solidFill>
                <a:ea typeface="楷体_GB2312" pitchFamily="1" charset="-122"/>
              </a:rPr>
              <a:t>10</a:t>
            </a:r>
            <a:r>
              <a:rPr lang="zh-CN" altLang="en-US" b="1" dirty="0">
                <a:solidFill>
                  <a:schemeClr val="bg2"/>
                </a:solidFill>
                <a:ea typeface="楷体_GB2312" pitchFamily="1" charset="-122"/>
              </a:rPr>
              <a:t>个输入的</a:t>
            </a:r>
            <a:r>
              <a:rPr lang="en-US" altLang="zh-CN" b="1" dirty="0">
                <a:solidFill>
                  <a:schemeClr val="bg2"/>
                </a:solidFill>
                <a:ea typeface="楷体_GB2312" pitchFamily="1" charset="-122"/>
              </a:rPr>
              <a:t>F</a:t>
            </a:r>
            <a:r>
              <a:rPr lang="zh-CN" altLang="en-US" b="1" dirty="0">
                <a:solidFill>
                  <a:schemeClr val="bg2"/>
                </a:solidFill>
                <a:ea typeface="楷体_GB2312" pitchFamily="1" charset="-122"/>
              </a:rPr>
              <a:t>模型</a:t>
            </a:r>
          </a:p>
          <a:p>
            <a:pPr lvl="2" eaLnBrk="1" hangingPunct="1"/>
            <a:r>
              <a:rPr lang="zh-CN" altLang="en-US" b="1" dirty="0">
                <a:solidFill>
                  <a:schemeClr val="bg2"/>
                </a:solidFill>
                <a:ea typeface="楷体_GB2312" pitchFamily="1" charset="-122"/>
              </a:rPr>
              <a:t>每个输入有两个隶属函数</a:t>
            </a:r>
          </a:p>
          <a:p>
            <a:pPr lvl="2" eaLnBrk="1" hangingPunct="1"/>
            <a:r>
              <a:rPr lang="zh-CN" altLang="en-US" b="1" dirty="0">
                <a:solidFill>
                  <a:schemeClr val="bg2"/>
                </a:solidFill>
                <a:ea typeface="楷体_GB2312" pitchFamily="1" charset="-122"/>
              </a:rPr>
              <a:t>则产生</a:t>
            </a:r>
            <a:r>
              <a:rPr lang="en-US" altLang="zh-CN" b="1" dirty="0">
                <a:solidFill>
                  <a:srgbClr val="CC00CC"/>
                </a:solidFill>
                <a:ea typeface="楷体_GB2312" pitchFamily="1" charset="-122"/>
              </a:rPr>
              <a:t>1024</a:t>
            </a:r>
            <a:r>
              <a:rPr lang="zh-CN" altLang="en-US" b="1" dirty="0">
                <a:solidFill>
                  <a:schemeClr val="bg2"/>
                </a:solidFill>
                <a:ea typeface="楷体_GB2312" pitchFamily="1" charset="-122"/>
              </a:rPr>
              <a:t>条模糊 “</a:t>
            </a:r>
            <a:r>
              <a:rPr lang="en-US" altLang="zh-CN" b="1" u="sng" dirty="0">
                <a:solidFill>
                  <a:schemeClr val="bg2"/>
                </a:solidFill>
                <a:ea typeface="楷体_GB2312" pitchFamily="1" charset="-122"/>
              </a:rPr>
              <a:t>IF THEN</a:t>
            </a:r>
            <a:r>
              <a:rPr lang="en-US" altLang="zh-CN" b="1" dirty="0">
                <a:solidFill>
                  <a:schemeClr val="bg2"/>
                </a:solidFill>
                <a:ea typeface="楷体_GB2312" pitchFamily="1" charset="-122"/>
              </a:rPr>
              <a:t>”</a:t>
            </a:r>
            <a:r>
              <a:rPr lang="zh-CN" altLang="en-US" b="1" dirty="0">
                <a:solidFill>
                  <a:schemeClr val="bg2"/>
                </a:solidFill>
                <a:ea typeface="楷体_GB2312" pitchFamily="1" charset="-122"/>
              </a:rPr>
              <a:t>规则</a:t>
            </a:r>
          </a:p>
        </p:txBody>
      </p:sp>
      <p:grpSp>
        <p:nvGrpSpPr>
          <p:cNvPr id="33796" name="Group 4"/>
          <p:cNvGrpSpPr>
            <a:grpSpLocks/>
          </p:cNvGrpSpPr>
          <p:nvPr/>
        </p:nvGrpSpPr>
        <p:grpSpPr bwMode="auto">
          <a:xfrm>
            <a:off x="8365353" y="1773241"/>
            <a:ext cx="2843212" cy="2305050"/>
            <a:chOff x="0" y="0"/>
            <a:chExt cx="1906" cy="1588"/>
          </a:xfrm>
        </p:grpSpPr>
        <p:sp>
          <p:nvSpPr>
            <p:cNvPr id="33797" name="Rectangle 4"/>
            <p:cNvSpPr>
              <a:spLocks noChangeArrowheads="1"/>
            </p:cNvSpPr>
            <p:nvPr/>
          </p:nvSpPr>
          <p:spPr bwMode="auto">
            <a:xfrm>
              <a:off x="0" y="0"/>
              <a:ext cx="1905" cy="1588"/>
            </a:xfrm>
            <a:prstGeom prst="rect">
              <a:avLst/>
            </a:prstGeom>
            <a:noFill/>
            <a:ln w="12700" cmpd="sng">
              <a:solidFill>
                <a:srgbClr val="0000FE"/>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33798" name="Line 5"/>
            <p:cNvSpPr>
              <a:spLocks noChangeShapeType="1"/>
            </p:cNvSpPr>
            <p:nvPr/>
          </p:nvSpPr>
          <p:spPr bwMode="auto">
            <a:xfrm>
              <a:off x="0" y="454"/>
              <a:ext cx="1906" cy="0"/>
            </a:xfrm>
            <a:prstGeom prst="line">
              <a:avLst/>
            </a:prstGeom>
            <a:noFill/>
            <a:ln w="76200" cmpd="sng">
              <a:solidFill>
                <a:srgbClr val="0000FE"/>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3799" name="Line 6"/>
            <p:cNvSpPr>
              <a:spLocks noChangeShapeType="1"/>
            </p:cNvSpPr>
            <p:nvPr/>
          </p:nvSpPr>
          <p:spPr bwMode="auto">
            <a:xfrm>
              <a:off x="0" y="1089"/>
              <a:ext cx="1906" cy="0"/>
            </a:xfrm>
            <a:prstGeom prst="line">
              <a:avLst/>
            </a:prstGeom>
            <a:noFill/>
            <a:ln w="76200" cmpd="sng">
              <a:solidFill>
                <a:srgbClr val="0000FE"/>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3800" name="Line 7"/>
            <p:cNvSpPr>
              <a:spLocks noChangeShapeType="1"/>
            </p:cNvSpPr>
            <p:nvPr/>
          </p:nvSpPr>
          <p:spPr bwMode="auto">
            <a:xfrm>
              <a:off x="545" y="0"/>
              <a:ext cx="0" cy="1588"/>
            </a:xfrm>
            <a:prstGeom prst="line">
              <a:avLst/>
            </a:prstGeom>
            <a:noFill/>
            <a:ln w="76200" cmpd="sng">
              <a:solidFill>
                <a:srgbClr val="0000FE"/>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3801" name="Line 8"/>
            <p:cNvSpPr>
              <a:spLocks noChangeShapeType="1"/>
            </p:cNvSpPr>
            <p:nvPr/>
          </p:nvSpPr>
          <p:spPr bwMode="auto">
            <a:xfrm>
              <a:off x="1180" y="0"/>
              <a:ext cx="0" cy="1588"/>
            </a:xfrm>
            <a:prstGeom prst="line">
              <a:avLst/>
            </a:prstGeom>
            <a:noFill/>
            <a:ln w="76200" cmpd="sng">
              <a:solidFill>
                <a:srgbClr val="0000FE"/>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33802" name="Group 10"/>
          <p:cNvGrpSpPr>
            <a:grpSpLocks/>
          </p:cNvGrpSpPr>
          <p:nvPr/>
        </p:nvGrpSpPr>
        <p:grpSpPr bwMode="auto">
          <a:xfrm>
            <a:off x="8365356" y="4365629"/>
            <a:ext cx="2808287" cy="2305050"/>
            <a:chOff x="0" y="0"/>
            <a:chExt cx="1769" cy="1452"/>
          </a:xfrm>
        </p:grpSpPr>
        <p:sp>
          <p:nvSpPr>
            <p:cNvPr id="33803" name="Rectangle 11"/>
            <p:cNvSpPr>
              <a:spLocks noChangeArrowheads="1"/>
            </p:cNvSpPr>
            <p:nvPr/>
          </p:nvSpPr>
          <p:spPr bwMode="auto">
            <a:xfrm>
              <a:off x="0" y="0"/>
              <a:ext cx="1768" cy="1452"/>
            </a:xfrm>
            <a:prstGeom prst="rect">
              <a:avLst/>
            </a:prstGeom>
            <a:noFill/>
            <a:ln w="12700" cmpd="sng">
              <a:solidFill>
                <a:srgbClr val="0000FE"/>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33804" name="Line 12"/>
            <p:cNvSpPr>
              <a:spLocks noChangeShapeType="1"/>
            </p:cNvSpPr>
            <p:nvPr/>
          </p:nvSpPr>
          <p:spPr bwMode="auto">
            <a:xfrm>
              <a:off x="0" y="318"/>
              <a:ext cx="1769" cy="362"/>
            </a:xfrm>
            <a:prstGeom prst="line">
              <a:avLst/>
            </a:prstGeom>
            <a:noFill/>
            <a:ln w="76200" cmpd="sng">
              <a:solidFill>
                <a:srgbClr val="0000FE"/>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3805" name="Line 13"/>
            <p:cNvSpPr>
              <a:spLocks noChangeShapeType="1"/>
            </p:cNvSpPr>
            <p:nvPr/>
          </p:nvSpPr>
          <p:spPr bwMode="auto">
            <a:xfrm>
              <a:off x="0" y="771"/>
              <a:ext cx="1769" cy="408"/>
            </a:xfrm>
            <a:prstGeom prst="line">
              <a:avLst/>
            </a:prstGeom>
            <a:noFill/>
            <a:ln w="76200" cmpd="sng">
              <a:solidFill>
                <a:srgbClr val="0000FE"/>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3806" name="Line 14"/>
            <p:cNvSpPr>
              <a:spLocks noChangeShapeType="1"/>
            </p:cNvSpPr>
            <p:nvPr/>
          </p:nvSpPr>
          <p:spPr bwMode="auto">
            <a:xfrm>
              <a:off x="363" y="0"/>
              <a:ext cx="363" cy="1452"/>
            </a:xfrm>
            <a:prstGeom prst="line">
              <a:avLst/>
            </a:prstGeom>
            <a:noFill/>
            <a:ln w="76200" cmpd="sng">
              <a:solidFill>
                <a:srgbClr val="0000FE"/>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3807" name="Line 15"/>
            <p:cNvSpPr>
              <a:spLocks noChangeShapeType="1"/>
            </p:cNvSpPr>
            <p:nvPr/>
          </p:nvSpPr>
          <p:spPr bwMode="auto">
            <a:xfrm>
              <a:off x="907" y="0"/>
              <a:ext cx="409" cy="1452"/>
            </a:xfrm>
            <a:prstGeom prst="line">
              <a:avLst/>
            </a:prstGeom>
            <a:noFill/>
            <a:ln w="76200" cmpd="sng">
              <a:solidFill>
                <a:srgbClr val="0000FE"/>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2" name="灯片编号占位符 1">
            <a:extLst>
              <a:ext uri="{FF2B5EF4-FFF2-40B4-BE49-F238E27FC236}">
                <a16:creationId xmlns:a16="http://schemas.microsoft.com/office/drawing/2014/main" id="{26D9CF7B-9E93-E757-83B2-ADA0CF627A66}"/>
              </a:ext>
            </a:extLst>
          </p:cNvPr>
          <p:cNvSpPr>
            <a:spLocks noGrp="1"/>
          </p:cNvSpPr>
          <p:nvPr>
            <p:ph type="sldNum" sz="quarter" idx="11"/>
          </p:nvPr>
        </p:nvSpPr>
        <p:spPr/>
        <p:txBody>
          <a:bodyPr/>
          <a:lstStyle/>
          <a:p>
            <a:pPr>
              <a:defRPr/>
            </a:pPr>
            <a:fld id="{B77A47BA-BA63-4780-94A9-8AFA2EA4438D}" type="slidenum">
              <a:rPr lang="en-US" altLang="zh-CN" smtClean="0"/>
              <a:pPr>
                <a:defRPr/>
              </a:pPr>
              <a:t>28</a:t>
            </a:fld>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3795">
                                            <p:txEl>
                                              <p:pRg st="0" end="0"/>
                                            </p:txEl>
                                          </p:spTgt>
                                        </p:tgtEl>
                                        <p:attrNameLst>
                                          <p:attrName>style.visibility</p:attrName>
                                        </p:attrNameLst>
                                      </p:cBhvr>
                                      <p:to>
                                        <p:strVal val="visible"/>
                                      </p:to>
                                    </p:set>
                                    <p:animEffect transition="in" filter="wipe(left)">
                                      <p:cBhvr>
                                        <p:cTn id="7" dur="500"/>
                                        <p:tgtEl>
                                          <p:spTgt spid="33795">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1" fill="hold" nodeType="clickEffect">
                                  <p:stCondLst>
                                    <p:cond delay="0"/>
                                  </p:stCondLst>
                                  <p:childTnLst>
                                    <p:set>
                                      <p:cBhvr>
                                        <p:cTn id="11" dur="1" fill="hold">
                                          <p:stCondLst>
                                            <p:cond delay="0"/>
                                          </p:stCondLst>
                                        </p:cTn>
                                        <p:tgtEl>
                                          <p:spTgt spid="33796"/>
                                        </p:tgtEl>
                                        <p:attrNameLst>
                                          <p:attrName>style.visibility</p:attrName>
                                        </p:attrNameLst>
                                      </p:cBhvr>
                                      <p:to>
                                        <p:strVal val="visible"/>
                                      </p:to>
                                    </p:set>
                                    <p:animEffect transition="in" filter="wipe(up)">
                                      <p:cBhvr>
                                        <p:cTn id="12" dur="500"/>
                                        <p:tgtEl>
                                          <p:spTgt spid="33796"/>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33795">
                                            <p:txEl>
                                              <p:pRg st="1" end="1"/>
                                            </p:txEl>
                                          </p:spTgt>
                                        </p:tgtEl>
                                        <p:attrNameLst>
                                          <p:attrName>style.visibility</p:attrName>
                                        </p:attrNameLst>
                                      </p:cBhvr>
                                      <p:to>
                                        <p:strVal val="visible"/>
                                      </p:to>
                                    </p:set>
                                    <p:animEffect transition="in" filter="wipe(left)">
                                      <p:cBhvr>
                                        <p:cTn id="17" dur="500"/>
                                        <p:tgtEl>
                                          <p:spTgt spid="33795">
                                            <p:txEl>
                                              <p:pRg st="1" end="1"/>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33795">
                                            <p:txEl>
                                              <p:pRg st="2" end="2"/>
                                            </p:txEl>
                                          </p:spTgt>
                                        </p:tgtEl>
                                        <p:attrNameLst>
                                          <p:attrName>style.visibility</p:attrName>
                                        </p:attrNameLst>
                                      </p:cBhvr>
                                      <p:to>
                                        <p:strVal val="visible"/>
                                      </p:to>
                                    </p:set>
                                    <p:animEffect transition="in" filter="wipe(left)">
                                      <p:cBhvr>
                                        <p:cTn id="22" dur="500"/>
                                        <p:tgtEl>
                                          <p:spTgt spid="33795">
                                            <p:txEl>
                                              <p:pRg st="2" end="2"/>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33795">
                                            <p:txEl>
                                              <p:pRg st="3" end="3"/>
                                            </p:txEl>
                                          </p:spTgt>
                                        </p:tgtEl>
                                        <p:attrNameLst>
                                          <p:attrName>style.visibility</p:attrName>
                                        </p:attrNameLst>
                                      </p:cBhvr>
                                      <p:to>
                                        <p:strVal val="visible"/>
                                      </p:to>
                                    </p:set>
                                    <p:animEffect transition="in" filter="wipe(left)">
                                      <p:cBhvr>
                                        <p:cTn id="27" dur="500"/>
                                        <p:tgtEl>
                                          <p:spTgt spid="33795">
                                            <p:txEl>
                                              <p:pRg st="3" end="3"/>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33795">
                                            <p:txEl>
                                              <p:pRg st="4" end="4"/>
                                            </p:txEl>
                                          </p:spTgt>
                                        </p:tgtEl>
                                        <p:attrNameLst>
                                          <p:attrName>style.visibility</p:attrName>
                                        </p:attrNameLst>
                                      </p:cBhvr>
                                      <p:to>
                                        <p:strVal val="visible"/>
                                      </p:to>
                                    </p:set>
                                    <p:animEffect transition="in" filter="wipe(left)">
                                      <p:cBhvr>
                                        <p:cTn id="32" dur="500"/>
                                        <p:tgtEl>
                                          <p:spTgt spid="33795">
                                            <p:txEl>
                                              <p:pRg st="4" end="4"/>
                                            </p:txEl>
                                          </p:spTgt>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33795">
                                            <p:txEl>
                                              <p:pRg st="5" end="5"/>
                                            </p:txEl>
                                          </p:spTgt>
                                        </p:tgtEl>
                                        <p:attrNameLst>
                                          <p:attrName>style.visibility</p:attrName>
                                        </p:attrNameLst>
                                      </p:cBhvr>
                                      <p:to>
                                        <p:strVal val="visible"/>
                                      </p:to>
                                    </p:set>
                                    <p:animEffect transition="in" filter="wipe(left)">
                                      <p:cBhvr>
                                        <p:cTn id="37" dur="500"/>
                                        <p:tgtEl>
                                          <p:spTgt spid="33795">
                                            <p:txEl>
                                              <p:pRg st="5" end="5"/>
                                            </p:txEl>
                                          </p:spTgt>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33795">
                                            <p:txEl>
                                              <p:pRg st="6" end="6"/>
                                            </p:txEl>
                                          </p:spTgt>
                                        </p:tgtEl>
                                        <p:attrNameLst>
                                          <p:attrName>style.visibility</p:attrName>
                                        </p:attrNameLst>
                                      </p:cBhvr>
                                      <p:to>
                                        <p:strVal val="visible"/>
                                      </p:to>
                                    </p:set>
                                    <p:animEffect transition="in" filter="wipe(left)">
                                      <p:cBhvr>
                                        <p:cTn id="42" dur="500"/>
                                        <p:tgtEl>
                                          <p:spTgt spid="33795">
                                            <p:txEl>
                                              <p:pRg st="6" end="6"/>
                                            </p:txEl>
                                          </p:spTgt>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22" presetClass="entr" presetSubtype="8" fill="hold" grpId="0" nodeType="clickEffect">
                                  <p:stCondLst>
                                    <p:cond delay="0"/>
                                  </p:stCondLst>
                                  <p:childTnLst>
                                    <p:set>
                                      <p:cBhvr>
                                        <p:cTn id="46" dur="1" fill="hold">
                                          <p:stCondLst>
                                            <p:cond delay="0"/>
                                          </p:stCondLst>
                                        </p:cTn>
                                        <p:tgtEl>
                                          <p:spTgt spid="33795">
                                            <p:txEl>
                                              <p:pRg st="7" end="7"/>
                                            </p:txEl>
                                          </p:spTgt>
                                        </p:tgtEl>
                                        <p:attrNameLst>
                                          <p:attrName>style.visibility</p:attrName>
                                        </p:attrNameLst>
                                      </p:cBhvr>
                                      <p:to>
                                        <p:strVal val="visible"/>
                                      </p:to>
                                    </p:set>
                                    <p:animEffect transition="in" filter="wipe(left)">
                                      <p:cBhvr>
                                        <p:cTn id="47" dur="500"/>
                                        <p:tgtEl>
                                          <p:spTgt spid="33795">
                                            <p:txEl>
                                              <p:pRg st="7" end="7"/>
                                            </p:txEl>
                                          </p:spTgt>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22" presetClass="entr" presetSubtype="1" fill="hold" nodeType="clickEffect">
                                  <p:stCondLst>
                                    <p:cond delay="0"/>
                                  </p:stCondLst>
                                  <p:childTnLst>
                                    <p:set>
                                      <p:cBhvr>
                                        <p:cTn id="51" dur="1" fill="hold">
                                          <p:stCondLst>
                                            <p:cond delay="0"/>
                                          </p:stCondLst>
                                        </p:cTn>
                                        <p:tgtEl>
                                          <p:spTgt spid="33802"/>
                                        </p:tgtEl>
                                        <p:attrNameLst>
                                          <p:attrName>style.visibility</p:attrName>
                                        </p:attrNameLst>
                                      </p:cBhvr>
                                      <p:to>
                                        <p:strVal val="visible"/>
                                      </p:to>
                                    </p:set>
                                    <p:animEffect transition="in" filter="wipe(up)">
                                      <p:cBhvr>
                                        <p:cTn id="52" dur="500"/>
                                        <p:tgtEl>
                                          <p:spTgt spid="3380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795" grpId="0" uiExpand="1" build="p" autoUpdateAnimBg="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p:cNvSpPr>
            <a:spLocks noGrp="1" noChangeArrowheads="1"/>
          </p:cNvSpPr>
          <p:nvPr>
            <p:ph type="title" idx="4294967295"/>
          </p:nvPr>
        </p:nvSpPr>
        <p:spPr>
          <a:xfrm>
            <a:off x="1992313" y="260350"/>
            <a:ext cx="8229600" cy="1371600"/>
          </a:xfrm>
        </p:spPr>
        <p:txBody>
          <a:bodyPr/>
          <a:lstStyle/>
          <a:p>
            <a:pPr algn="ctr" eaLnBrk="1" hangingPunct="1"/>
            <a:r>
              <a:rPr lang="en-US" altLang="zh-CN">
                <a:solidFill>
                  <a:srgbClr val="008000"/>
                </a:solidFill>
              </a:rPr>
              <a:t>F</a:t>
            </a:r>
            <a:r>
              <a:rPr lang="zh-CN" altLang="en-US">
                <a:solidFill>
                  <a:srgbClr val="008000"/>
                </a:solidFill>
                <a:ea typeface="黑体" panose="02010609060101010101" pitchFamily="49" charset="-122"/>
              </a:rPr>
              <a:t>推理系统的输入空间的划分</a:t>
            </a:r>
          </a:p>
        </p:txBody>
      </p:sp>
      <p:sp>
        <p:nvSpPr>
          <p:cNvPr id="34819" name="Rectangle 3"/>
          <p:cNvSpPr>
            <a:spLocks noGrp="1" noChangeArrowheads="1"/>
          </p:cNvSpPr>
          <p:nvPr>
            <p:ph type="body" idx="4294967295"/>
          </p:nvPr>
        </p:nvSpPr>
        <p:spPr>
          <a:xfrm>
            <a:off x="1127448" y="1700216"/>
            <a:ext cx="5976615" cy="4968875"/>
          </a:xfrm>
        </p:spPr>
        <p:txBody>
          <a:bodyPr/>
          <a:lstStyle/>
          <a:p>
            <a:pPr eaLnBrk="1" hangingPunct="1">
              <a:lnSpc>
                <a:spcPct val="110000"/>
              </a:lnSpc>
            </a:pPr>
            <a:r>
              <a:rPr lang="zh-CN" altLang="en-US" dirty="0">
                <a:solidFill>
                  <a:srgbClr val="FF0000"/>
                </a:solidFill>
                <a:ea typeface="黑体" panose="02010609060101010101" pitchFamily="49" charset="-122"/>
              </a:rPr>
              <a:t>树状划分</a:t>
            </a:r>
          </a:p>
          <a:p>
            <a:pPr lvl="1" eaLnBrk="1" hangingPunct="1">
              <a:lnSpc>
                <a:spcPct val="110000"/>
              </a:lnSpc>
            </a:pPr>
            <a:r>
              <a:rPr lang="zh-CN" altLang="en-US" b="1" dirty="0">
                <a:ea typeface="楷体_GB2312" pitchFamily="1" charset="-122"/>
              </a:rPr>
              <a:t>其中每个区域沿相应的</a:t>
            </a:r>
            <a:r>
              <a:rPr lang="zh-CN" altLang="en-US" b="1" dirty="0">
                <a:solidFill>
                  <a:srgbClr val="CC00CC"/>
                </a:solidFill>
                <a:effectLst>
                  <a:outerShdw blurRad="38100" dist="38100" dir="2700000" algn="tl">
                    <a:srgbClr val="000000">
                      <a:alpha val="43137"/>
                    </a:srgbClr>
                  </a:outerShdw>
                </a:effectLst>
                <a:ea typeface="楷体_GB2312" pitchFamily="1" charset="-122"/>
              </a:rPr>
              <a:t>决策树</a:t>
            </a:r>
            <a:r>
              <a:rPr lang="zh-CN" altLang="en-US" b="1" dirty="0">
                <a:ea typeface="楷体_GB2312" pitchFamily="1" charset="-122"/>
              </a:rPr>
              <a:t>可以唯一地指定</a:t>
            </a:r>
          </a:p>
          <a:p>
            <a:pPr lvl="1" eaLnBrk="1" hangingPunct="1">
              <a:lnSpc>
                <a:spcPct val="110000"/>
              </a:lnSpc>
            </a:pPr>
            <a:r>
              <a:rPr lang="zh-CN" altLang="en-US" b="1" dirty="0">
                <a:solidFill>
                  <a:srgbClr val="0000FE"/>
                </a:solidFill>
                <a:ea typeface="楷体_GB2312" pitchFamily="1" charset="-122"/>
              </a:rPr>
              <a:t>它可以解决规则数呈指数增长的问题</a:t>
            </a:r>
          </a:p>
          <a:p>
            <a:pPr lvl="1" eaLnBrk="1" hangingPunct="1">
              <a:lnSpc>
                <a:spcPct val="110000"/>
              </a:lnSpc>
            </a:pPr>
            <a:r>
              <a:rPr lang="zh-CN" altLang="en-US" b="1" dirty="0">
                <a:ea typeface="楷体_GB2312" pitchFamily="1" charset="-122"/>
              </a:rPr>
              <a:t>但对每个输入需要有更多的隶属函数来定义这些</a:t>
            </a:r>
            <a:r>
              <a:rPr lang="en-US" altLang="zh-CN" b="1" dirty="0">
                <a:ea typeface="楷体_GB2312" pitchFamily="1" charset="-122"/>
              </a:rPr>
              <a:t>F</a:t>
            </a:r>
            <a:r>
              <a:rPr lang="zh-CN" altLang="en-US" b="1" dirty="0">
                <a:ea typeface="楷体_GB2312" pitchFamily="1" charset="-122"/>
              </a:rPr>
              <a:t>区域，</a:t>
            </a:r>
          </a:p>
          <a:p>
            <a:pPr lvl="2" eaLnBrk="1" hangingPunct="1">
              <a:lnSpc>
                <a:spcPct val="110000"/>
              </a:lnSpc>
            </a:pPr>
            <a:r>
              <a:rPr lang="zh-CN" altLang="en-US" b="1" dirty="0">
                <a:ea typeface="楷体_GB2312" pitchFamily="1" charset="-122"/>
              </a:rPr>
              <a:t>而且这些隶属函数通常没有如“小”、“大”等清晰的语言含义</a:t>
            </a:r>
            <a:r>
              <a:rPr lang="zh-CN" altLang="en-US" sz="2000" b="1" dirty="0">
                <a:ea typeface="楷体_GB2312" pitchFamily="1" charset="-122"/>
              </a:rPr>
              <a:t>，</a:t>
            </a:r>
          </a:p>
        </p:txBody>
      </p:sp>
      <p:grpSp>
        <p:nvGrpSpPr>
          <p:cNvPr id="34820" name="Group 4"/>
          <p:cNvGrpSpPr>
            <a:grpSpLocks/>
          </p:cNvGrpSpPr>
          <p:nvPr/>
        </p:nvGrpSpPr>
        <p:grpSpPr bwMode="auto">
          <a:xfrm>
            <a:off x="8184827" y="1773241"/>
            <a:ext cx="2879725" cy="2232025"/>
            <a:chOff x="0" y="0"/>
            <a:chExt cx="1906" cy="1588"/>
          </a:xfrm>
        </p:grpSpPr>
        <p:sp>
          <p:nvSpPr>
            <p:cNvPr id="34821" name="Rectangle 5"/>
            <p:cNvSpPr>
              <a:spLocks noChangeArrowheads="1"/>
            </p:cNvSpPr>
            <p:nvPr/>
          </p:nvSpPr>
          <p:spPr bwMode="auto">
            <a:xfrm>
              <a:off x="0" y="0"/>
              <a:ext cx="1905" cy="1588"/>
            </a:xfrm>
            <a:prstGeom prst="rect">
              <a:avLst/>
            </a:prstGeom>
            <a:noFill/>
            <a:ln w="12700" cmpd="sng">
              <a:solidFill>
                <a:srgbClr val="0000FE"/>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34822" name="Line 6"/>
            <p:cNvSpPr>
              <a:spLocks noChangeShapeType="1"/>
            </p:cNvSpPr>
            <p:nvPr/>
          </p:nvSpPr>
          <p:spPr bwMode="auto">
            <a:xfrm>
              <a:off x="1180" y="454"/>
              <a:ext cx="726" cy="0"/>
            </a:xfrm>
            <a:prstGeom prst="line">
              <a:avLst/>
            </a:prstGeom>
            <a:noFill/>
            <a:ln w="76200" cmpd="sng">
              <a:solidFill>
                <a:srgbClr val="0000FE"/>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4823" name="Line 7"/>
            <p:cNvSpPr>
              <a:spLocks noChangeShapeType="1"/>
            </p:cNvSpPr>
            <p:nvPr/>
          </p:nvSpPr>
          <p:spPr bwMode="auto">
            <a:xfrm>
              <a:off x="1180" y="1225"/>
              <a:ext cx="726" cy="0"/>
            </a:xfrm>
            <a:prstGeom prst="line">
              <a:avLst/>
            </a:prstGeom>
            <a:noFill/>
            <a:ln w="76200" cmpd="sng">
              <a:solidFill>
                <a:srgbClr val="0000FE"/>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4824" name="Line 8"/>
            <p:cNvSpPr>
              <a:spLocks noChangeShapeType="1"/>
            </p:cNvSpPr>
            <p:nvPr/>
          </p:nvSpPr>
          <p:spPr bwMode="auto">
            <a:xfrm>
              <a:off x="363" y="227"/>
              <a:ext cx="0" cy="726"/>
            </a:xfrm>
            <a:prstGeom prst="line">
              <a:avLst/>
            </a:prstGeom>
            <a:noFill/>
            <a:ln w="76200" cmpd="sng">
              <a:solidFill>
                <a:srgbClr val="0000FE"/>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4825" name="Line 9"/>
            <p:cNvSpPr>
              <a:spLocks noChangeShapeType="1"/>
            </p:cNvSpPr>
            <p:nvPr/>
          </p:nvSpPr>
          <p:spPr bwMode="auto">
            <a:xfrm>
              <a:off x="1180" y="0"/>
              <a:ext cx="0" cy="1588"/>
            </a:xfrm>
            <a:prstGeom prst="line">
              <a:avLst/>
            </a:prstGeom>
            <a:noFill/>
            <a:ln w="76200" cmpd="sng">
              <a:solidFill>
                <a:srgbClr val="0000FE"/>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4826" name="Line 10"/>
            <p:cNvSpPr>
              <a:spLocks noChangeShapeType="1"/>
            </p:cNvSpPr>
            <p:nvPr/>
          </p:nvSpPr>
          <p:spPr bwMode="auto">
            <a:xfrm>
              <a:off x="0" y="227"/>
              <a:ext cx="1180" cy="0"/>
            </a:xfrm>
            <a:prstGeom prst="line">
              <a:avLst/>
            </a:prstGeom>
            <a:noFill/>
            <a:ln w="76200" cmpd="sng">
              <a:solidFill>
                <a:srgbClr val="0000FE"/>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4827" name="Line 11"/>
            <p:cNvSpPr>
              <a:spLocks noChangeShapeType="1"/>
            </p:cNvSpPr>
            <p:nvPr/>
          </p:nvSpPr>
          <p:spPr bwMode="auto">
            <a:xfrm>
              <a:off x="0" y="953"/>
              <a:ext cx="1180" cy="0"/>
            </a:xfrm>
            <a:prstGeom prst="line">
              <a:avLst/>
            </a:prstGeom>
            <a:noFill/>
            <a:ln w="76200" cmpd="sng">
              <a:solidFill>
                <a:srgbClr val="0000FE"/>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4828" name="Line 12"/>
            <p:cNvSpPr>
              <a:spLocks noChangeShapeType="1"/>
            </p:cNvSpPr>
            <p:nvPr/>
          </p:nvSpPr>
          <p:spPr bwMode="auto">
            <a:xfrm>
              <a:off x="681" y="935"/>
              <a:ext cx="0" cy="653"/>
            </a:xfrm>
            <a:prstGeom prst="line">
              <a:avLst/>
            </a:prstGeom>
            <a:noFill/>
            <a:ln w="76200" cmpd="sng">
              <a:solidFill>
                <a:srgbClr val="0000FE"/>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34829" name="Group 13"/>
          <p:cNvGrpSpPr>
            <a:grpSpLocks/>
          </p:cNvGrpSpPr>
          <p:nvPr/>
        </p:nvGrpSpPr>
        <p:grpSpPr bwMode="auto">
          <a:xfrm>
            <a:off x="8184827" y="4365628"/>
            <a:ext cx="2808287" cy="2303463"/>
            <a:chOff x="0" y="0"/>
            <a:chExt cx="1769" cy="1451"/>
          </a:xfrm>
        </p:grpSpPr>
        <p:sp>
          <p:nvSpPr>
            <p:cNvPr id="34830" name="Rectangle 16"/>
            <p:cNvSpPr>
              <a:spLocks noChangeArrowheads="1"/>
            </p:cNvSpPr>
            <p:nvPr/>
          </p:nvSpPr>
          <p:spPr bwMode="auto">
            <a:xfrm>
              <a:off x="0" y="0"/>
              <a:ext cx="1768" cy="1451"/>
            </a:xfrm>
            <a:prstGeom prst="rect">
              <a:avLst/>
            </a:prstGeom>
            <a:noFill/>
            <a:ln w="12700" cmpd="sng">
              <a:solidFill>
                <a:srgbClr val="0000FE"/>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34831" name="Line 17"/>
            <p:cNvSpPr>
              <a:spLocks noChangeShapeType="1"/>
            </p:cNvSpPr>
            <p:nvPr/>
          </p:nvSpPr>
          <p:spPr bwMode="auto">
            <a:xfrm flipV="1">
              <a:off x="1225" y="317"/>
              <a:ext cx="544" cy="182"/>
            </a:xfrm>
            <a:prstGeom prst="line">
              <a:avLst/>
            </a:prstGeom>
            <a:noFill/>
            <a:ln w="76200" cmpd="sng">
              <a:solidFill>
                <a:srgbClr val="0000FE"/>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4832" name="Line 18"/>
            <p:cNvSpPr>
              <a:spLocks noChangeShapeType="1"/>
            </p:cNvSpPr>
            <p:nvPr/>
          </p:nvSpPr>
          <p:spPr bwMode="auto">
            <a:xfrm>
              <a:off x="1134" y="816"/>
              <a:ext cx="635" cy="408"/>
            </a:xfrm>
            <a:prstGeom prst="line">
              <a:avLst/>
            </a:prstGeom>
            <a:noFill/>
            <a:ln w="76200" cmpd="sng">
              <a:solidFill>
                <a:srgbClr val="0000FE"/>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4833" name="Line 19"/>
            <p:cNvSpPr>
              <a:spLocks noChangeShapeType="1"/>
            </p:cNvSpPr>
            <p:nvPr/>
          </p:nvSpPr>
          <p:spPr bwMode="auto">
            <a:xfrm flipH="1">
              <a:off x="182" y="136"/>
              <a:ext cx="589" cy="408"/>
            </a:xfrm>
            <a:prstGeom prst="line">
              <a:avLst/>
            </a:prstGeom>
            <a:noFill/>
            <a:ln w="76200" cmpd="sng">
              <a:solidFill>
                <a:srgbClr val="0000FE"/>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4834" name="Line 20"/>
            <p:cNvSpPr>
              <a:spLocks noChangeShapeType="1"/>
            </p:cNvSpPr>
            <p:nvPr/>
          </p:nvSpPr>
          <p:spPr bwMode="auto">
            <a:xfrm flipH="1">
              <a:off x="907" y="0"/>
              <a:ext cx="499" cy="1451"/>
            </a:xfrm>
            <a:prstGeom prst="line">
              <a:avLst/>
            </a:prstGeom>
            <a:noFill/>
            <a:ln w="76200" cmpd="sng">
              <a:solidFill>
                <a:srgbClr val="0000FE"/>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4835" name="Line 21"/>
            <p:cNvSpPr>
              <a:spLocks noChangeShapeType="1"/>
            </p:cNvSpPr>
            <p:nvPr/>
          </p:nvSpPr>
          <p:spPr bwMode="auto">
            <a:xfrm>
              <a:off x="408" y="0"/>
              <a:ext cx="862" cy="317"/>
            </a:xfrm>
            <a:prstGeom prst="line">
              <a:avLst/>
            </a:prstGeom>
            <a:noFill/>
            <a:ln w="76200" cmpd="sng">
              <a:solidFill>
                <a:srgbClr val="0000FE"/>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4836" name="Line 22"/>
            <p:cNvSpPr>
              <a:spLocks noChangeShapeType="1"/>
            </p:cNvSpPr>
            <p:nvPr/>
          </p:nvSpPr>
          <p:spPr bwMode="auto">
            <a:xfrm>
              <a:off x="0" y="453"/>
              <a:ext cx="953" cy="726"/>
            </a:xfrm>
            <a:prstGeom prst="line">
              <a:avLst/>
            </a:prstGeom>
            <a:noFill/>
            <a:ln w="76200" cmpd="sng">
              <a:solidFill>
                <a:srgbClr val="0000FE"/>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4837" name="Line 23"/>
            <p:cNvSpPr>
              <a:spLocks noChangeShapeType="1"/>
            </p:cNvSpPr>
            <p:nvPr/>
          </p:nvSpPr>
          <p:spPr bwMode="auto">
            <a:xfrm flipH="1">
              <a:off x="0" y="862"/>
              <a:ext cx="499" cy="272"/>
            </a:xfrm>
            <a:prstGeom prst="line">
              <a:avLst/>
            </a:prstGeom>
            <a:noFill/>
            <a:ln w="76200" cmpd="sng">
              <a:solidFill>
                <a:srgbClr val="0000FE"/>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2" name="灯片编号占位符 1">
            <a:extLst>
              <a:ext uri="{FF2B5EF4-FFF2-40B4-BE49-F238E27FC236}">
                <a16:creationId xmlns:a16="http://schemas.microsoft.com/office/drawing/2014/main" id="{9704705A-6580-D29E-C4AF-FEAA3302D5F0}"/>
              </a:ext>
            </a:extLst>
          </p:cNvPr>
          <p:cNvSpPr>
            <a:spLocks noGrp="1"/>
          </p:cNvSpPr>
          <p:nvPr>
            <p:ph type="sldNum" sz="quarter" idx="11"/>
          </p:nvPr>
        </p:nvSpPr>
        <p:spPr/>
        <p:txBody>
          <a:bodyPr/>
          <a:lstStyle/>
          <a:p>
            <a:pPr>
              <a:defRPr/>
            </a:pPr>
            <a:fld id="{B77A47BA-BA63-4780-94A9-8AFA2EA4438D}" type="slidenum">
              <a:rPr lang="en-US" altLang="zh-CN" smtClean="0"/>
              <a:pPr>
                <a:defRPr/>
              </a:pPr>
              <a:t>29</a:t>
            </a:fld>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4819">
                                            <p:txEl>
                                              <p:pRg st="0" end="0"/>
                                            </p:txEl>
                                          </p:spTgt>
                                        </p:tgtEl>
                                        <p:attrNameLst>
                                          <p:attrName>style.visibility</p:attrName>
                                        </p:attrNameLst>
                                      </p:cBhvr>
                                      <p:to>
                                        <p:strVal val="visible"/>
                                      </p:to>
                                    </p:set>
                                    <p:animEffect transition="in" filter="wipe(left)">
                                      <p:cBhvr>
                                        <p:cTn id="7" dur="500"/>
                                        <p:tgtEl>
                                          <p:spTgt spid="34819">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1" fill="hold" nodeType="clickEffect">
                                  <p:stCondLst>
                                    <p:cond delay="0"/>
                                  </p:stCondLst>
                                  <p:childTnLst>
                                    <p:set>
                                      <p:cBhvr>
                                        <p:cTn id="11" dur="1" fill="hold">
                                          <p:stCondLst>
                                            <p:cond delay="0"/>
                                          </p:stCondLst>
                                        </p:cTn>
                                        <p:tgtEl>
                                          <p:spTgt spid="34820"/>
                                        </p:tgtEl>
                                        <p:attrNameLst>
                                          <p:attrName>style.visibility</p:attrName>
                                        </p:attrNameLst>
                                      </p:cBhvr>
                                      <p:to>
                                        <p:strVal val="visible"/>
                                      </p:to>
                                    </p:set>
                                    <p:animEffect transition="in" filter="wipe(up)">
                                      <p:cBhvr>
                                        <p:cTn id="12" dur="500"/>
                                        <p:tgtEl>
                                          <p:spTgt spid="34820"/>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34819">
                                            <p:txEl>
                                              <p:pRg st="1" end="1"/>
                                            </p:txEl>
                                          </p:spTgt>
                                        </p:tgtEl>
                                        <p:attrNameLst>
                                          <p:attrName>style.visibility</p:attrName>
                                        </p:attrNameLst>
                                      </p:cBhvr>
                                      <p:to>
                                        <p:strVal val="visible"/>
                                      </p:to>
                                    </p:set>
                                    <p:animEffect transition="in" filter="wipe(left)">
                                      <p:cBhvr>
                                        <p:cTn id="17" dur="500"/>
                                        <p:tgtEl>
                                          <p:spTgt spid="34819">
                                            <p:txEl>
                                              <p:pRg st="1" end="1"/>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34819">
                                            <p:txEl>
                                              <p:pRg st="2" end="2"/>
                                            </p:txEl>
                                          </p:spTgt>
                                        </p:tgtEl>
                                        <p:attrNameLst>
                                          <p:attrName>style.visibility</p:attrName>
                                        </p:attrNameLst>
                                      </p:cBhvr>
                                      <p:to>
                                        <p:strVal val="visible"/>
                                      </p:to>
                                    </p:set>
                                    <p:animEffect transition="in" filter="wipe(left)">
                                      <p:cBhvr>
                                        <p:cTn id="22" dur="500"/>
                                        <p:tgtEl>
                                          <p:spTgt spid="34819">
                                            <p:txEl>
                                              <p:pRg st="2" end="2"/>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34819">
                                            <p:txEl>
                                              <p:pRg st="3" end="3"/>
                                            </p:txEl>
                                          </p:spTgt>
                                        </p:tgtEl>
                                        <p:attrNameLst>
                                          <p:attrName>style.visibility</p:attrName>
                                        </p:attrNameLst>
                                      </p:cBhvr>
                                      <p:to>
                                        <p:strVal val="visible"/>
                                      </p:to>
                                    </p:set>
                                    <p:animEffect transition="in" filter="wipe(left)">
                                      <p:cBhvr>
                                        <p:cTn id="27" dur="500"/>
                                        <p:tgtEl>
                                          <p:spTgt spid="34819">
                                            <p:txEl>
                                              <p:pRg st="3" end="3"/>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34819">
                                            <p:txEl>
                                              <p:pRg st="4" end="4"/>
                                            </p:txEl>
                                          </p:spTgt>
                                        </p:tgtEl>
                                        <p:attrNameLst>
                                          <p:attrName>style.visibility</p:attrName>
                                        </p:attrNameLst>
                                      </p:cBhvr>
                                      <p:to>
                                        <p:strVal val="visible"/>
                                      </p:to>
                                    </p:set>
                                    <p:animEffect transition="in" filter="wipe(left)">
                                      <p:cBhvr>
                                        <p:cTn id="32" dur="500"/>
                                        <p:tgtEl>
                                          <p:spTgt spid="34819">
                                            <p:txEl>
                                              <p:pRg st="4" end="4"/>
                                            </p:txEl>
                                          </p:spTgt>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1" fill="hold" nodeType="clickEffect">
                                  <p:stCondLst>
                                    <p:cond delay="0"/>
                                  </p:stCondLst>
                                  <p:childTnLst>
                                    <p:set>
                                      <p:cBhvr>
                                        <p:cTn id="36" dur="1" fill="hold">
                                          <p:stCondLst>
                                            <p:cond delay="0"/>
                                          </p:stCondLst>
                                        </p:cTn>
                                        <p:tgtEl>
                                          <p:spTgt spid="34829"/>
                                        </p:tgtEl>
                                        <p:attrNameLst>
                                          <p:attrName>style.visibility</p:attrName>
                                        </p:attrNameLst>
                                      </p:cBhvr>
                                      <p:to>
                                        <p:strVal val="visible"/>
                                      </p:to>
                                    </p:set>
                                    <p:animEffect transition="in" filter="wipe(up)">
                                      <p:cBhvr>
                                        <p:cTn id="37" dur="500"/>
                                        <p:tgtEl>
                                          <p:spTgt spid="348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819" grpId="0" build="p" autoUpdateAnimBg="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p:cNvSpPr>
            <a:spLocks noGrp="1" noChangeArrowheads="1"/>
          </p:cNvSpPr>
          <p:nvPr>
            <p:ph type="title" idx="4294967295"/>
          </p:nvPr>
        </p:nvSpPr>
        <p:spPr>
          <a:xfrm>
            <a:off x="1981200" y="188913"/>
            <a:ext cx="8229600" cy="1371600"/>
          </a:xfrm>
        </p:spPr>
        <p:txBody>
          <a:bodyPr/>
          <a:lstStyle/>
          <a:p>
            <a:pPr algn="ctr" eaLnBrk="1" hangingPunct="1"/>
            <a:r>
              <a:rPr lang="en-US" altLang="zh-CN" dirty="0">
                <a:solidFill>
                  <a:srgbClr val="008000"/>
                </a:solidFill>
              </a:rPr>
              <a:t>F</a:t>
            </a:r>
            <a:r>
              <a:rPr lang="zh-CN" altLang="en-US" dirty="0">
                <a:solidFill>
                  <a:srgbClr val="008000"/>
                </a:solidFill>
                <a:ea typeface="黑体" panose="02010609060101010101" pitchFamily="49" charset="-122"/>
              </a:rPr>
              <a:t>推理系统的输入空间的划分</a:t>
            </a:r>
          </a:p>
        </p:txBody>
      </p:sp>
      <p:sp>
        <p:nvSpPr>
          <p:cNvPr id="35843" name="Rectangle 3"/>
          <p:cNvSpPr>
            <a:spLocks noGrp="1" noChangeArrowheads="1"/>
          </p:cNvSpPr>
          <p:nvPr>
            <p:ph type="body" idx="4294967295"/>
          </p:nvPr>
        </p:nvSpPr>
        <p:spPr>
          <a:xfrm>
            <a:off x="839417" y="1773241"/>
            <a:ext cx="6264650" cy="4968875"/>
          </a:xfrm>
        </p:spPr>
        <p:txBody>
          <a:bodyPr/>
          <a:lstStyle/>
          <a:p>
            <a:pPr eaLnBrk="1" hangingPunct="1"/>
            <a:r>
              <a:rPr lang="zh-CN" altLang="en-US" dirty="0">
                <a:solidFill>
                  <a:srgbClr val="FF0000"/>
                </a:solidFill>
                <a:ea typeface="黑体" panose="02010609060101010101" pitchFamily="49" charset="-122"/>
              </a:rPr>
              <a:t>散播划分</a:t>
            </a:r>
          </a:p>
          <a:p>
            <a:pPr lvl="1" eaLnBrk="1" hangingPunct="1"/>
            <a:r>
              <a:rPr lang="zh-CN" altLang="en-US" b="1" dirty="0">
                <a:ea typeface="楷体_GB2312" pitchFamily="1" charset="-122"/>
              </a:rPr>
              <a:t>通过覆盖整个输入空间的一个子集，表征了输入向量可能发生区域</a:t>
            </a:r>
          </a:p>
          <a:p>
            <a:pPr lvl="1" eaLnBrk="1" hangingPunct="1"/>
            <a:r>
              <a:rPr lang="zh-CN" altLang="en-US" b="1" dirty="0">
                <a:ea typeface="楷体_GB2312" pitchFamily="1" charset="-122"/>
              </a:rPr>
              <a:t>它也可以有效地限制规则数在可行的数量上</a:t>
            </a:r>
          </a:p>
          <a:p>
            <a:pPr lvl="1" eaLnBrk="1" hangingPunct="1"/>
            <a:r>
              <a:rPr lang="zh-CN" altLang="en-US" b="1" dirty="0">
                <a:ea typeface="楷体_GB2312" pitchFamily="1" charset="-122"/>
              </a:rPr>
              <a:t>散播划分通常是由</a:t>
            </a:r>
            <a:r>
              <a:rPr lang="zh-CN" altLang="en-US" b="1" u="sng" dirty="0">
                <a:ea typeface="楷体_GB2312" pitchFamily="1" charset="-122"/>
              </a:rPr>
              <a:t>输入</a:t>
            </a:r>
            <a:r>
              <a:rPr lang="en-US" altLang="zh-CN" b="1" u="sng" dirty="0">
                <a:ea typeface="楷体_GB2312" pitchFamily="1" charset="-122"/>
              </a:rPr>
              <a:t>-</a:t>
            </a:r>
            <a:r>
              <a:rPr lang="zh-CN" altLang="en-US" b="1" u="sng" dirty="0">
                <a:ea typeface="楷体_GB2312" pitchFamily="1" charset="-122"/>
              </a:rPr>
              <a:t>输出数据对</a:t>
            </a:r>
            <a:r>
              <a:rPr lang="zh-CN" altLang="en-US" b="1" dirty="0">
                <a:ea typeface="楷体_GB2312" pitchFamily="1" charset="-122"/>
              </a:rPr>
              <a:t>决定，因此在</a:t>
            </a:r>
            <a:r>
              <a:rPr lang="en-US" altLang="zh-CN" b="1" dirty="0">
                <a:ea typeface="楷体_GB2312" pitchFamily="1" charset="-122"/>
              </a:rPr>
              <a:t>X</a:t>
            </a:r>
            <a:r>
              <a:rPr lang="zh-CN" altLang="en-US" b="1" dirty="0">
                <a:ea typeface="楷体_GB2312" pitchFamily="1" charset="-122"/>
              </a:rPr>
              <a:t>、</a:t>
            </a:r>
            <a:r>
              <a:rPr lang="en-US" altLang="zh-CN" b="1" dirty="0">
                <a:ea typeface="楷体_GB2312" pitchFamily="1" charset="-122"/>
              </a:rPr>
              <a:t>Y</a:t>
            </a:r>
            <a:r>
              <a:rPr lang="zh-CN" altLang="en-US" b="1" dirty="0">
                <a:ea typeface="楷体_GB2312" pitchFamily="1" charset="-122"/>
              </a:rPr>
              <a:t>或</a:t>
            </a:r>
            <a:r>
              <a:rPr lang="en-US" altLang="zh-CN" b="1" dirty="0">
                <a:ea typeface="楷体_GB2312" pitchFamily="1" charset="-122"/>
              </a:rPr>
              <a:t>X×Y</a:t>
            </a:r>
            <a:r>
              <a:rPr lang="zh-CN" altLang="en-US" b="1" dirty="0">
                <a:ea typeface="楷体_GB2312" pitchFamily="1" charset="-122"/>
              </a:rPr>
              <a:t>上正交性都不成立。</a:t>
            </a:r>
          </a:p>
          <a:p>
            <a:pPr lvl="1" eaLnBrk="1" hangingPunct="1"/>
            <a:r>
              <a:rPr lang="zh-CN" altLang="en-US" b="1" dirty="0">
                <a:ea typeface="楷体_GB2312" pitchFamily="1" charset="-122"/>
              </a:rPr>
              <a:t>它很难从每条规则输出后件直接估计整体映射</a:t>
            </a:r>
            <a:endParaRPr lang="zh-CN" altLang="en-US" b="1" dirty="0">
              <a:solidFill>
                <a:schemeClr val="bg2"/>
              </a:solidFill>
              <a:ea typeface="楷体_GB2312" pitchFamily="1" charset="-122"/>
            </a:endParaRPr>
          </a:p>
        </p:txBody>
      </p:sp>
      <p:grpSp>
        <p:nvGrpSpPr>
          <p:cNvPr id="35844" name="Group 4"/>
          <p:cNvGrpSpPr>
            <a:grpSpLocks/>
          </p:cNvGrpSpPr>
          <p:nvPr/>
        </p:nvGrpSpPr>
        <p:grpSpPr bwMode="auto">
          <a:xfrm>
            <a:off x="8327681" y="1844675"/>
            <a:ext cx="2841625" cy="2305050"/>
            <a:chOff x="0" y="0"/>
            <a:chExt cx="1790" cy="1452"/>
          </a:xfrm>
        </p:grpSpPr>
        <p:sp>
          <p:nvSpPr>
            <p:cNvPr id="35845" name="Rectangle 5"/>
            <p:cNvSpPr>
              <a:spLocks noChangeArrowheads="1"/>
            </p:cNvSpPr>
            <p:nvPr/>
          </p:nvSpPr>
          <p:spPr bwMode="auto">
            <a:xfrm>
              <a:off x="0" y="0"/>
              <a:ext cx="1790" cy="1452"/>
            </a:xfrm>
            <a:prstGeom prst="rect">
              <a:avLst/>
            </a:prstGeom>
            <a:noFill/>
            <a:ln w="12700" cmpd="sng">
              <a:solidFill>
                <a:srgbClr val="0000FE"/>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35846" name="Rectangle 17"/>
            <p:cNvSpPr>
              <a:spLocks noChangeArrowheads="1"/>
            </p:cNvSpPr>
            <p:nvPr/>
          </p:nvSpPr>
          <p:spPr bwMode="auto">
            <a:xfrm>
              <a:off x="0" y="1043"/>
              <a:ext cx="681" cy="409"/>
            </a:xfrm>
            <a:prstGeom prst="rect">
              <a:avLst/>
            </a:prstGeom>
            <a:noFill/>
            <a:ln w="76200" cmpd="sng">
              <a:solidFill>
                <a:srgbClr val="0000FE"/>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35847" name="Rectangle 19"/>
            <p:cNvSpPr>
              <a:spLocks noChangeArrowheads="1"/>
            </p:cNvSpPr>
            <p:nvPr/>
          </p:nvSpPr>
          <p:spPr bwMode="auto">
            <a:xfrm>
              <a:off x="227" y="544"/>
              <a:ext cx="862" cy="726"/>
            </a:xfrm>
            <a:prstGeom prst="rect">
              <a:avLst/>
            </a:prstGeom>
            <a:noFill/>
            <a:ln w="76200" cmpd="sng">
              <a:solidFill>
                <a:srgbClr val="0000FE"/>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35848" name="Rectangle 20"/>
            <p:cNvSpPr>
              <a:spLocks noChangeArrowheads="1"/>
            </p:cNvSpPr>
            <p:nvPr/>
          </p:nvSpPr>
          <p:spPr bwMode="auto">
            <a:xfrm>
              <a:off x="862" y="363"/>
              <a:ext cx="680" cy="499"/>
            </a:xfrm>
            <a:prstGeom prst="rect">
              <a:avLst/>
            </a:prstGeom>
            <a:noFill/>
            <a:ln w="76200" cmpd="sng">
              <a:solidFill>
                <a:srgbClr val="0000FE"/>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35849" name="Rectangle 21"/>
            <p:cNvSpPr>
              <a:spLocks noChangeArrowheads="1"/>
            </p:cNvSpPr>
            <p:nvPr/>
          </p:nvSpPr>
          <p:spPr bwMode="auto">
            <a:xfrm>
              <a:off x="1180" y="0"/>
              <a:ext cx="589" cy="499"/>
            </a:xfrm>
            <a:prstGeom prst="rect">
              <a:avLst/>
            </a:prstGeom>
            <a:noFill/>
            <a:ln w="76200" cmpd="sng">
              <a:solidFill>
                <a:srgbClr val="0000FE"/>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35850" name="Rectangle 22"/>
            <p:cNvSpPr>
              <a:spLocks noChangeArrowheads="1"/>
            </p:cNvSpPr>
            <p:nvPr/>
          </p:nvSpPr>
          <p:spPr bwMode="auto">
            <a:xfrm>
              <a:off x="544" y="136"/>
              <a:ext cx="727" cy="499"/>
            </a:xfrm>
            <a:prstGeom prst="rect">
              <a:avLst/>
            </a:prstGeom>
            <a:noFill/>
            <a:ln w="76200" cmpd="sng">
              <a:solidFill>
                <a:srgbClr val="0000FE"/>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grpSp>
      <p:pic>
        <p:nvPicPr>
          <p:cNvPr id="35851" name="Picture 2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256240" y="4365628"/>
            <a:ext cx="2952750" cy="2384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灯片编号占位符 1">
            <a:extLst>
              <a:ext uri="{FF2B5EF4-FFF2-40B4-BE49-F238E27FC236}">
                <a16:creationId xmlns:a16="http://schemas.microsoft.com/office/drawing/2014/main" id="{9C627184-A4B9-F148-7332-3F4AB2C2EBB8}"/>
              </a:ext>
            </a:extLst>
          </p:cNvPr>
          <p:cNvSpPr>
            <a:spLocks noGrp="1"/>
          </p:cNvSpPr>
          <p:nvPr>
            <p:ph type="sldNum" sz="quarter" idx="11"/>
          </p:nvPr>
        </p:nvSpPr>
        <p:spPr/>
        <p:txBody>
          <a:bodyPr/>
          <a:lstStyle/>
          <a:p>
            <a:pPr>
              <a:defRPr/>
            </a:pPr>
            <a:fld id="{B77A47BA-BA63-4780-94A9-8AFA2EA4438D}" type="slidenum">
              <a:rPr lang="en-US" altLang="zh-CN" smtClean="0"/>
              <a:pPr>
                <a:defRPr/>
              </a:pPr>
              <a:t>30</a:t>
            </a:fld>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5843">
                                            <p:txEl>
                                              <p:pRg st="0" end="0"/>
                                            </p:txEl>
                                          </p:spTgt>
                                        </p:tgtEl>
                                        <p:attrNameLst>
                                          <p:attrName>style.visibility</p:attrName>
                                        </p:attrNameLst>
                                      </p:cBhvr>
                                      <p:to>
                                        <p:strVal val="visible"/>
                                      </p:to>
                                    </p:set>
                                    <p:animEffect transition="in" filter="wipe(left)">
                                      <p:cBhvr>
                                        <p:cTn id="7" dur="500"/>
                                        <p:tgtEl>
                                          <p:spTgt spid="35843">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1" fill="hold" nodeType="clickEffect">
                                  <p:stCondLst>
                                    <p:cond delay="0"/>
                                  </p:stCondLst>
                                  <p:childTnLst>
                                    <p:set>
                                      <p:cBhvr>
                                        <p:cTn id="11" dur="1" fill="hold">
                                          <p:stCondLst>
                                            <p:cond delay="0"/>
                                          </p:stCondLst>
                                        </p:cTn>
                                        <p:tgtEl>
                                          <p:spTgt spid="35844"/>
                                        </p:tgtEl>
                                        <p:attrNameLst>
                                          <p:attrName>style.visibility</p:attrName>
                                        </p:attrNameLst>
                                      </p:cBhvr>
                                      <p:to>
                                        <p:strVal val="visible"/>
                                      </p:to>
                                    </p:set>
                                    <p:animEffect transition="in" filter="wipe(up)">
                                      <p:cBhvr>
                                        <p:cTn id="12" dur="500"/>
                                        <p:tgtEl>
                                          <p:spTgt spid="35844"/>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35843">
                                            <p:txEl>
                                              <p:pRg st="1" end="1"/>
                                            </p:txEl>
                                          </p:spTgt>
                                        </p:tgtEl>
                                        <p:attrNameLst>
                                          <p:attrName>style.visibility</p:attrName>
                                        </p:attrNameLst>
                                      </p:cBhvr>
                                      <p:to>
                                        <p:strVal val="visible"/>
                                      </p:to>
                                    </p:set>
                                    <p:animEffect transition="in" filter="wipe(left)">
                                      <p:cBhvr>
                                        <p:cTn id="17" dur="500"/>
                                        <p:tgtEl>
                                          <p:spTgt spid="35843">
                                            <p:txEl>
                                              <p:pRg st="1" end="1"/>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35843">
                                            <p:txEl>
                                              <p:pRg st="2" end="2"/>
                                            </p:txEl>
                                          </p:spTgt>
                                        </p:tgtEl>
                                        <p:attrNameLst>
                                          <p:attrName>style.visibility</p:attrName>
                                        </p:attrNameLst>
                                      </p:cBhvr>
                                      <p:to>
                                        <p:strVal val="visible"/>
                                      </p:to>
                                    </p:set>
                                    <p:animEffect transition="in" filter="wipe(left)">
                                      <p:cBhvr>
                                        <p:cTn id="22" dur="500"/>
                                        <p:tgtEl>
                                          <p:spTgt spid="35843">
                                            <p:txEl>
                                              <p:pRg st="2" end="2"/>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35843">
                                            <p:txEl>
                                              <p:pRg st="3" end="3"/>
                                            </p:txEl>
                                          </p:spTgt>
                                        </p:tgtEl>
                                        <p:attrNameLst>
                                          <p:attrName>style.visibility</p:attrName>
                                        </p:attrNameLst>
                                      </p:cBhvr>
                                      <p:to>
                                        <p:strVal val="visible"/>
                                      </p:to>
                                    </p:set>
                                    <p:animEffect transition="in" filter="wipe(left)">
                                      <p:cBhvr>
                                        <p:cTn id="27" dur="500"/>
                                        <p:tgtEl>
                                          <p:spTgt spid="35843">
                                            <p:txEl>
                                              <p:pRg st="3" end="3"/>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35843">
                                            <p:txEl>
                                              <p:pRg st="4" end="4"/>
                                            </p:txEl>
                                          </p:spTgt>
                                        </p:tgtEl>
                                        <p:attrNameLst>
                                          <p:attrName>style.visibility</p:attrName>
                                        </p:attrNameLst>
                                      </p:cBhvr>
                                      <p:to>
                                        <p:strVal val="visible"/>
                                      </p:to>
                                    </p:set>
                                    <p:animEffect transition="in" filter="wipe(left)">
                                      <p:cBhvr>
                                        <p:cTn id="32" dur="500"/>
                                        <p:tgtEl>
                                          <p:spTgt spid="35843">
                                            <p:txEl>
                                              <p:pRg st="4" end="4"/>
                                            </p:txEl>
                                          </p:spTgt>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1" fill="hold" nodeType="clickEffect">
                                  <p:stCondLst>
                                    <p:cond delay="0"/>
                                  </p:stCondLst>
                                  <p:childTnLst>
                                    <p:set>
                                      <p:cBhvr>
                                        <p:cTn id="36" dur="1" fill="hold">
                                          <p:stCondLst>
                                            <p:cond delay="0"/>
                                          </p:stCondLst>
                                        </p:cTn>
                                        <p:tgtEl>
                                          <p:spTgt spid="35851"/>
                                        </p:tgtEl>
                                        <p:attrNameLst>
                                          <p:attrName>style.visibility</p:attrName>
                                        </p:attrNameLst>
                                      </p:cBhvr>
                                      <p:to>
                                        <p:strVal val="visible"/>
                                      </p:to>
                                    </p:set>
                                    <p:animEffect transition="in" filter="wipe(up)">
                                      <p:cBhvr>
                                        <p:cTn id="37" dur="500"/>
                                        <p:tgtEl>
                                          <p:spTgt spid="3585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843" grpId="0" uiExpand="1" build="p" autoUpdateAnimBg="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2"/>
          <p:cNvSpPr>
            <a:spLocks noGrp="1" noChangeArrowheads="1"/>
          </p:cNvSpPr>
          <p:nvPr>
            <p:ph type="title"/>
          </p:nvPr>
        </p:nvSpPr>
        <p:spPr>
          <a:xfrm>
            <a:off x="1981200" y="188640"/>
            <a:ext cx="8229600" cy="1371600"/>
          </a:xfrm>
        </p:spPr>
        <p:txBody>
          <a:bodyPr/>
          <a:lstStyle/>
          <a:p>
            <a:pPr algn="ctr" eaLnBrk="1" hangingPunct="1"/>
            <a:r>
              <a:rPr lang="en-US" altLang="zh-CN" dirty="0">
                <a:solidFill>
                  <a:srgbClr val="008000"/>
                </a:solidFill>
                <a:ea typeface="黑体" panose="02010609060101010101" pitchFamily="49" charset="-122"/>
              </a:rPr>
              <a:t>9.6 </a:t>
            </a:r>
            <a:r>
              <a:rPr lang="zh-CN" altLang="zh-CN" dirty="0">
                <a:solidFill>
                  <a:srgbClr val="008000"/>
                </a:solidFill>
                <a:ea typeface="黑体" panose="02010609060101010101" pitchFamily="49" charset="-122"/>
              </a:rPr>
              <a:t>模糊系统的建模过程</a:t>
            </a:r>
          </a:p>
        </p:txBody>
      </p:sp>
      <p:sp>
        <p:nvSpPr>
          <p:cNvPr id="38915" name="Rectangle 3"/>
          <p:cNvSpPr>
            <a:spLocks noGrp="1" noChangeArrowheads="1"/>
          </p:cNvSpPr>
          <p:nvPr>
            <p:ph idx="1"/>
          </p:nvPr>
        </p:nvSpPr>
        <p:spPr>
          <a:xfrm>
            <a:off x="1199456" y="1484784"/>
            <a:ext cx="10081120" cy="4968552"/>
          </a:xfrm>
        </p:spPr>
        <p:txBody>
          <a:bodyPr/>
          <a:lstStyle/>
          <a:p>
            <a:pPr eaLnBrk="1" hangingPunct="1"/>
            <a:r>
              <a:rPr lang="zh-CN" altLang="en-US" dirty="0">
                <a:solidFill>
                  <a:srgbClr val="FF0000"/>
                </a:solidFill>
                <a:ea typeface="黑体" panose="02010609060101010101" pitchFamily="49" charset="-122"/>
              </a:rPr>
              <a:t>辨识表面结构（第一阶段）</a:t>
            </a:r>
          </a:p>
          <a:p>
            <a:pPr lvl="1" eaLnBrk="1" hangingPunct="1"/>
            <a:r>
              <a:rPr lang="zh-CN" altLang="en-US" b="1" dirty="0">
                <a:ea typeface="华文楷体" panose="02010600040101010101" pitchFamily="2" charset="-122"/>
              </a:rPr>
              <a:t>选择相关的输入和输出变量</a:t>
            </a:r>
          </a:p>
          <a:p>
            <a:pPr lvl="1" eaLnBrk="1" hangingPunct="1"/>
            <a:r>
              <a:rPr lang="zh-CN" altLang="en-US" b="1" dirty="0">
                <a:ea typeface="华文楷体" panose="02010600040101010101" pitchFamily="2" charset="-122"/>
              </a:rPr>
              <a:t>选择特定形式的</a:t>
            </a:r>
            <a:r>
              <a:rPr lang="en-US" altLang="zh-CN" b="1" dirty="0">
                <a:ea typeface="华文楷体" panose="02010600040101010101" pitchFamily="2" charset="-122"/>
              </a:rPr>
              <a:t>F</a:t>
            </a:r>
            <a:r>
              <a:rPr lang="zh-CN" altLang="en-US" b="1" dirty="0">
                <a:ea typeface="华文楷体" panose="02010600040101010101" pitchFamily="2" charset="-122"/>
              </a:rPr>
              <a:t>推理系统</a:t>
            </a:r>
          </a:p>
          <a:p>
            <a:pPr lvl="1" eaLnBrk="1" hangingPunct="1"/>
            <a:r>
              <a:rPr lang="zh-CN" altLang="en-US" b="1" dirty="0">
                <a:ea typeface="华文楷体" panose="02010600040101010101" pitchFamily="2" charset="-122"/>
              </a:rPr>
              <a:t>确定与每个输入和输出变量有关的语言术语的数目</a:t>
            </a:r>
          </a:p>
          <a:p>
            <a:pPr lvl="2" eaLnBrk="1" hangingPunct="1"/>
            <a:r>
              <a:rPr lang="zh-CN" altLang="en-US" sz="2800" b="1" dirty="0">
                <a:solidFill>
                  <a:srgbClr val="CC00CC"/>
                </a:solidFill>
                <a:ea typeface="华文楷体" panose="02010600040101010101" pitchFamily="2" charset="-122"/>
              </a:rPr>
              <a:t>对</a:t>
            </a:r>
            <a:r>
              <a:rPr lang="en-US" altLang="zh-CN" sz="2800" b="1" dirty="0" err="1">
                <a:solidFill>
                  <a:srgbClr val="CC00CC"/>
                </a:solidFill>
                <a:ea typeface="华文楷体" panose="02010600040101010101" pitchFamily="2" charset="-122"/>
              </a:rPr>
              <a:t>Sugeno</a:t>
            </a:r>
            <a:r>
              <a:rPr lang="en-US" altLang="zh-CN" sz="2800" b="1" dirty="0">
                <a:solidFill>
                  <a:srgbClr val="CC00CC"/>
                </a:solidFill>
                <a:ea typeface="华文楷体" panose="02010600040101010101" pitchFamily="2" charset="-122"/>
              </a:rPr>
              <a:t> F</a:t>
            </a:r>
            <a:r>
              <a:rPr lang="zh-CN" altLang="en-US" sz="2800" b="1" dirty="0">
                <a:solidFill>
                  <a:srgbClr val="CC00CC"/>
                </a:solidFill>
                <a:ea typeface="华文楷体" panose="02010600040101010101" pitchFamily="2" charset="-122"/>
              </a:rPr>
              <a:t>模型，要确定后件的方程式阶次</a:t>
            </a:r>
          </a:p>
          <a:p>
            <a:pPr lvl="1" eaLnBrk="1" hangingPunct="1"/>
            <a:r>
              <a:rPr lang="zh-CN" altLang="en-US" b="1" dirty="0">
                <a:ea typeface="华文楷体" panose="02010600040101010101" pitchFamily="2" charset="-122"/>
              </a:rPr>
              <a:t>设计一组模糊 </a:t>
            </a:r>
            <a:r>
              <a:rPr lang="en-US" altLang="zh-CN" b="1" dirty="0">
                <a:ea typeface="华文楷体" panose="02010600040101010101" pitchFamily="2" charset="-122"/>
              </a:rPr>
              <a:t>IF-THEN </a:t>
            </a:r>
            <a:r>
              <a:rPr lang="zh-CN" altLang="en-US" b="1" dirty="0">
                <a:ea typeface="华文楷体" panose="02010600040101010101" pitchFamily="2" charset="-122"/>
              </a:rPr>
              <a:t>规则</a:t>
            </a:r>
          </a:p>
          <a:p>
            <a:pPr eaLnBrk="1" hangingPunct="1"/>
            <a:r>
              <a:rPr lang="zh-CN" altLang="en-US" dirty="0">
                <a:solidFill>
                  <a:srgbClr val="0000FE"/>
                </a:solidFill>
                <a:ea typeface="黑体" panose="02010609060101010101" pitchFamily="49" charset="-122"/>
              </a:rPr>
              <a:t>注意：</a:t>
            </a:r>
          </a:p>
          <a:p>
            <a:pPr lvl="1" eaLnBrk="1" hangingPunct="1"/>
            <a:r>
              <a:rPr lang="zh-CN" altLang="en-US" b="1" dirty="0">
                <a:latin typeface="华文楷体" panose="02010600040101010101" pitchFamily="2" charset="-122"/>
                <a:ea typeface="华文楷体" panose="02010600040101010101" pitchFamily="2" charset="-122"/>
              </a:rPr>
              <a:t>以上任务的完成需依赖对目标系统的知识，</a:t>
            </a:r>
          </a:p>
          <a:p>
            <a:pPr lvl="2" eaLnBrk="1" hangingPunct="1"/>
            <a:r>
              <a:rPr lang="zh-CN" altLang="en-US" b="1" dirty="0">
                <a:latin typeface="华文楷体" panose="02010600040101010101" pitchFamily="2" charset="-122"/>
                <a:ea typeface="华文楷体" panose="02010600040101010101" pitchFamily="2" charset="-122"/>
              </a:rPr>
              <a:t>由熟知目标系统的人类专家提供给我们的信息</a:t>
            </a:r>
          </a:p>
          <a:p>
            <a:pPr lvl="2" eaLnBrk="1" hangingPunct="1"/>
            <a:r>
              <a:rPr lang="zh-CN" altLang="en-US" b="1" dirty="0">
                <a:latin typeface="华文楷体" panose="02010600040101010101" pitchFamily="2" charset="-122"/>
                <a:ea typeface="华文楷体" panose="02010600040101010101" pitchFamily="2" charset="-122"/>
              </a:rPr>
              <a:t>或只是简单的试探结果</a:t>
            </a:r>
          </a:p>
        </p:txBody>
      </p:sp>
      <p:sp>
        <p:nvSpPr>
          <p:cNvPr id="2" name="灯片编号占位符 1">
            <a:extLst>
              <a:ext uri="{FF2B5EF4-FFF2-40B4-BE49-F238E27FC236}">
                <a16:creationId xmlns:a16="http://schemas.microsoft.com/office/drawing/2014/main" id="{63FD49B3-56BE-848F-1E16-C68284E175EB}"/>
              </a:ext>
            </a:extLst>
          </p:cNvPr>
          <p:cNvSpPr>
            <a:spLocks noGrp="1"/>
          </p:cNvSpPr>
          <p:nvPr>
            <p:ph type="sldNum" sz="quarter" idx="11"/>
          </p:nvPr>
        </p:nvSpPr>
        <p:spPr/>
        <p:txBody>
          <a:bodyPr/>
          <a:lstStyle/>
          <a:p>
            <a:pPr>
              <a:defRPr/>
            </a:pPr>
            <a:fld id="{1F3E0329-027F-44B1-A42A-8643FF593956}" type="slidenum">
              <a:rPr lang="en-US" altLang="zh-CN" smtClean="0"/>
              <a:pPr>
                <a:defRPr/>
              </a:pPr>
              <a:t>31</a:t>
            </a:fld>
            <a:endParaRPr lang="en-US" altLang="zh-CN"/>
          </a:p>
        </p:txBody>
      </p:sp>
    </p:spTree>
    <p:extLst>
      <p:ext uri="{BB962C8B-B14F-4D97-AF65-F5344CB8AC3E}">
        <p14:creationId xmlns:p14="http://schemas.microsoft.com/office/powerpoint/2010/main" val="245051349"/>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8915">
                                            <p:txEl>
                                              <p:pRg st="0" end="0"/>
                                            </p:txEl>
                                          </p:spTgt>
                                        </p:tgtEl>
                                        <p:attrNameLst>
                                          <p:attrName>style.visibility</p:attrName>
                                        </p:attrNameLst>
                                      </p:cBhvr>
                                      <p:to>
                                        <p:strVal val="visible"/>
                                      </p:to>
                                    </p:set>
                                    <p:animEffect transition="in" filter="wipe(left)">
                                      <p:cBhvr>
                                        <p:cTn id="7" dur="500"/>
                                        <p:tgtEl>
                                          <p:spTgt spid="38915">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38915">
                                            <p:txEl>
                                              <p:pRg st="1" end="1"/>
                                            </p:txEl>
                                          </p:spTgt>
                                        </p:tgtEl>
                                        <p:attrNameLst>
                                          <p:attrName>style.visibility</p:attrName>
                                        </p:attrNameLst>
                                      </p:cBhvr>
                                      <p:to>
                                        <p:strVal val="visible"/>
                                      </p:to>
                                    </p:set>
                                    <p:animEffect transition="in" filter="wipe(left)">
                                      <p:cBhvr>
                                        <p:cTn id="12" dur="500"/>
                                        <p:tgtEl>
                                          <p:spTgt spid="38915">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38915">
                                            <p:txEl>
                                              <p:pRg st="2" end="2"/>
                                            </p:txEl>
                                          </p:spTgt>
                                        </p:tgtEl>
                                        <p:attrNameLst>
                                          <p:attrName>style.visibility</p:attrName>
                                        </p:attrNameLst>
                                      </p:cBhvr>
                                      <p:to>
                                        <p:strVal val="visible"/>
                                      </p:to>
                                    </p:set>
                                    <p:animEffect transition="in" filter="wipe(left)">
                                      <p:cBhvr>
                                        <p:cTn id="17" dur="500"/>
                                        <p:tgtEl>
                                          <p:spTgt spid="38915">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38915">
                                            <p:txEl>
                                              <p:pRg st="3" end="3"/>
                                            </p:txEl>
                                          </p:spTgt>
                                        </p:tgtEl>
                                        <p:attrNameLst>
                                          <p:attrName>style.visibility</p:attrName>
                                        </p:attrNameLst>
                                      </p:cBhvr>
                                      <p:to>
                                        <p:strVal val="visible"/>
                                      </p:to>
                                    </p:set>
                                    <p:animEffect transition="in" filter="wipe(left)">
                                      <p:cBhvr>
                                        <p:cTn id="22" dur="500"/>
                                        <p:tgtEl>
                                          <p:spTgt spid="38915">
                                            <p:txEl>
                                              <p:pRg st="3" end="3"/>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38915">
                                            <p:txEl>
                                              <p:pRg st="4" end="4"/>
                                            </p:txEl>
                                          </p:spTgt>
                                        </p:tgtEl>
                                        <p:attrNameLst>
                                          <p:attrName>style.visibility</p:attrName>
                                        </p:attrNameLst>
                                      </p:cBhvr>
                                      <p:to>
                                        <p:strVal val="visible"/>
                                      </p:to>
                                    </p:set>
                                    <p:animEffect transition="in" filter="wipe(left)">
                                      <p:cBhvr>
                                        <p:cTn id="27" dur="500"/>
                                        <p:tgtEl>
                                          <p:spTgt spid="38915">
                                            <p:txEl>
                                              <p:pRg st="4" end="4"/>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38915">
                                            <p:txEl>
                                              <p:pRg st="5" end="5"/>
                                            </p:txEl>
                                          </p:spTgt>
                                        </p:tgtEl>
                                        <p:attrNameLst>
                                          <p:attrName>style.visibility</p:attrName>
                                        </p:attrNameLst>
                                      </p:cBhvr>
                                      <p:to>
                                        <p:strVal val="visible"/>
                                      </p:to>
                                    </p:set>
                                    <p:animEffect transition="in" filter="wipe(left)">
                                      <p:cBhvr>
                                        <p:cTn id="32" dur="500"/>
                                        <p:tgtEl>
                                          <p:spTgt spid="38915">
                                            <p:txEl>
                                              <p:pRg st="5" end="5"/>
                                            </p:txEl>
                                          </p:spTgt>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38915">
                                            <p:txEl>
                                              <p:pRg st="6" end="6"/>
                                            </p:txEl>
                                          </p:spTgt>
                                        </p:tgtEl>
                                        <p:attrNameLst>
                                          <p:attrName>style.visibility</p:attrName>
                                        </p:attrNameLst>
                                      </p:cBhvr>
                                      <p:to>
                                        <p:strVal val="visible"/>
                                      </p:to>
                                    </p:set>
                                    <p:animEffect transition="in" filter="wipe(left)">
                                      <p:cBhvr>
                                        <p:cTn id="37" dur="500"/>
                                        <p:tgtEl>
                                          <p:spTgt spid="38915">
                                            <p:txEl>
                                              <p:pRg st="6" end="6"/>
                                            </p:txEl>
                                          </p:spTgt>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38915">
                                            <p:txEl>
                                              <p:pRg st="7" end="7"/>
                                            </p:txEl>
                                          </p:spTgt>
                                        </p:tgtEl>
                                        <p:attrNameLst>
                                          <p:attrName>style.visibility</p:attrName>
                                        </p:attrNameLst>
                                      </p:cBhvr>
                                      <p:to>
                                        <p:strVal val="visible"/>
                                      </p:to>
                                    </p:set>
                                    <p:animEffect transition="in" filter="wipe(left)">
                                      <p:cBhvr>
                                        <p:cTn id="42" dur="500"/>
                                        <p:tgtEl>
                                          <p:spTgt spid="38915">
                                            <p:txEl>
                                              <p:pRg st="7" end="7"/>
                                            </p:txEl>
                                          </p:spTgt>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22" presetClass="entr" presetSubtype="8" fill="hold" grpId="0" nodeType="clickEffect">
                                  <p:stCondLst>
                                    <p:cond delay="0"/>
                                  </p:stCondLst>
                                  <p:childTnLst>
                                    <p:set>
                                      <p:cBhvr>
                                        <p:cTn id="46" dur="1" fill="hold">
                                          <p:stCondLst>
                                            <p:cond delay="0"/>
                                          </p:stCondLst>
                                        </p:cTn>
                                        <p:tgtEl>
                                          <p:spTgt spid="38915">
                                            <p:txEl>
                                              <p:pRg st="8" end="8"/>
                                            </p:txEl>
                                          </p:spTgt>
                                        </p:tgtEl>
                                        <p:attrNameLst>
                                          <p:attrName>style.visibility</p:attrName>
                                        </p:attrNameLst>
                                      </p:cBhvr>
                                      <p:to>
                                        <p:strVal val="visible"/>
                                      </p:to>
                                    </p:set>
                                    <p:animEffect transition="in" filter="wipe(left)">
                                      <p:cBhvr>
                                        <p:cTn id="47" dur="500"/>
                                        <p:tgtEl>
                                          <p:spTgt spid="38915">
                                            <p:txEl>
                                              <p:pRg st="8" end="8"/>
                                            </p:txEl>
                                          </p:spTgt>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22" presetClass="entr" presetSubtype="8" fill="hold" grpId="0" nodeType="clickEffect">
                                  <p:stCondLst>
                                    <p:cond delay="0"/>
                                  </p:stCondLst>
                                  <p:childTnLst>
                                    <p:set>
                                      <p:cBhvr>
                                        <p:cTn id="51" dur="1" fill="hold">
                                          <p:stCondLst>
                                            <p:cond delay="0"/>
                                          </p:stCondLst>
                                        </p:cTn>
                                        <p:tgtEl>
                                          <p:spTgt spid="38915">
                                            <p:txEl>
                                              <p:pRg st="9" end="9"/>
                                            </p:txEl>
                                          </p:spTgt>
                                        </p:tgtEl>
                                        <p:attrNameLst>
                                          <p:attrName>style.visibility</p:attrName>
                                        </p:attrNameLst>
                                      </p:cBhvr>
                                      <p:to>
                                        <p:strVal val="visible"/>
                                      </p:to>
                                    </p:set>
                                    <p:animEffect transition="in" filter="wipe(left)">
                                      <p:cBhvr>
                                        <p:cTn id="52" dur="500"/>
                                        <p:tgtEl>
                                          <p:spTgt spid="38915">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915" grpId="0" build="p" autoUpdateAnimBg="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p:cNvSpPr>
            <a:spLocks noGrp="1" noChangeArrowheads="1"/>
          </p:cNvSpPr>
          <p:nvPr>
            <p:ph type="title"/>
          </p:nvPr>
        </p:nvSpPr>
        <p:spPr>
          <a:xfrm>
            <a:off x="1981200" y="260648"/>
            <a:ext cx="8229600" cy="1371600"/>
          </a:xfrm>
        </p:spPr>
        <p:txBody>
          <a:bodyPr/>
          <a:lstStyle/>
          <a:p>
            <a:pPr algn="ctr" eaLnBrk="1" hangingPunct="1"/>
            <a:r>
              <a:rPr lang="zh-CN" altLang="zh-CN" dirty="0">
                <a:solidFill>
                  <a:srgbClr val="008000"/>
                </a:solidFill>
                <a:ea typeface="黑体" panose="02010609060101010101" pitchFamily="49" charset="-122"/>
              </a:rPr>
              <a:t>模糊系统的建模过程</a:t>
            </a:r>
          </a:p>
        </p:txBody>
      </p:sp>
      <p:sp>
        <p:nvSpPr>
          <p:cNvPr id="40963" name="Rectangle 3"/>
          <p:cNvSpPr>
            <a:spLocks noGrp="1" noChangeArrowheads="1"/>
          </p:cNvSpPr>
          <p:nvPr>
            <p:ph idx="1"/>
          </p:nvPr>
        </p:nvSpPr>
        <p:spPr>
          <a:xfrm>
            <a:off x="1127448" y="1632248"/>
            <a:ext cx="9937104" cy="4893096"/>
          </a:xfrm>
        </p:spPr>
        <p:txBody>
          <a:bodyPr/>
          <a:lstStyle/>
          <a:p>
            <a:pPr eaLnBrk="1" hangingPunct="1">
              <a:lnSpc>
                <a:spcPct val="120000"/>
              </a:lnSpc>
            </a:pPr>
            <a:r>
              <a:rPr lang="zh-CN" altLang="en-US" dirty="0">
                <a:solidFill>
                  <a:srgbClr val="FF0000"/>
                </a:solidFill>
                <a:ea typeface="黑体" panose="02010609060101010101" pitchFamily="49" charset="-122"/>
              </a:rPr>
              <a:t>深度表面结构（第二阶段）</a:t>
            </a:r>
          </a:p>
          <a:p>
            <a:pPr lvl="1" eaLnBrk="1" hangingPunct="1">
              <a:lnSpc>
                <a:spcPct val="120000"/>
              </a:lnSpc>
            </a:pPr>
            <a:r>
              <a:rPr lang="zh-CN" altLang="en-US" b="1" dirty="0">
                <a:latin typeface="华文楷体" panose="02010600040101010101" pitchFamily="2" charset="-122"/>
                <a:ea typeface="华文楷体" panose="02010600040101010101" pitchFamily="2" charset="-122"/>
              </a:rPr>
              <a:t>选择恰当的参数化隶属函数族</a:t>
            </a:r>
          </a:p>
          <a:p>
            <a:pPr lvl="1" eaLnBrk="1" hangingPunct="1">
              <a:lnSpc>
                <a:spcPct val="120000"/>
              </a:lnSpc>
            </a:pPr>
            <a:r>
              <a:rPr lang="zh-CN" altLang="en-US" b="1" dirty="0">
                <a:latin typeface="华文楷体" panose="02010600040101010101" pitchFamily="2" charset="-122"/>
                <a:ea typeface="华文楷体" panose="02010600040101010101" pitchFamily="2" charset="-122"/>
              </a:rPr>
              <a:t>与熟悉目标系统的人类专家交谈，以确定规则库中所用的隶属函数的参数</a:t>
            </a:r>
          </a:p>
          <a:p>
            <a:pPr lvl="1" eaLnBrk="1" hangingPunct="1">
              <a:lnSpc>
                <a:spcPct val="120000"/>
              </a:lnSpc>
            </a:pPr>
            <a:r>
              <a:rPr lang="zh-CN" altLang="en-US" b="1" dirty="0">
                <a:latin typeface="华文楷体" panose="02010600040101010101" pitchFamily="2" charset="-122"/>
                <a:ea typeface="华文楷体" panose="02010600040101010101" pitchFamily="2" charset="-122"/>
              </a:rPr>
              <a:t>使用</a:t>
            </a:r>
            <a:r>
              <a:rPr lang="zh-CN" altLang="en-US" b="1" dirty="0">
                <a:solidFill>
                  <a:srgbClr val="3333FF"/>
                </a:solidFill>
                <a:latin typeface="华文楷体" panose="02010600040101010101" pitchFamily="2" charset="-122"/>
                <a:ea typeface="华文楷体" panose="02010600040101010101" pitchFamily="2" charset="-122"/>
              </a:rPr>
              <a:t>回归和优化技术精调隶属函数</a:t>
            </a:r>
          </a:p>
          <a:p>
            <a:pPr eaLnBrk="1" hangingPunct="1">
              <a:lnSpc>
                <a:spcPct val="120000"/>
              </a:lnSpc>
            </a:pPr>
            <a:r>
              <a:rPr lang="zh-CN" altLang="en-US" dirty="0">
                <a:solidFill>
                  <a:srgbClr val="CC00CC"/>
                </a:solidFill>
                <a:ea typeface="黑体" panose="02010609060101010101" pitchFamily="49" charset="-122"/>
              </a:rPr>
              <a:t>注意：</a:t>
            </a:r>
          </a:p>
          <a:p>
            <a:pPr lvl="1" eaLnBrk="1" hangingPunct="1">
              <a:lnSpc>
                <a:spcPct val="120000"/>
              </a:lnSpc>
            </a:pPr>
            <a:r>
              <a:rPr lang="zh-CN" altLang="en-US" b="1" dirty="0">
                <a:latin typeface="华文楷体" panose="02010600040101010101" pitchFamily="2" charset="-122"/>
                <a:ea typeface="华文楷体" panose="02010600040101010101" pitchFamily="2" charset="-122"/>
              </a:rPr>
              <a:t>前两项任务是假定存在人类专家</a:t>
            </a:r>
          </a:p>
          <a:p>
            <a:pPr lvl="1" eaLnBrk="1" hangingPunct="1">
              <a:lnSpc>
                <a:spcPct val="120000"/>
              </a:lnSpc>
            </a:pPr>
            <a:r>
              <a:rPr lang="zh-CN" altLang="en-US" b="1" dirty="0">
                <a:latin typeface="华文楷体" panose="02010600040101010101" pitchFamily="2" charset="-122"/>
                <a:ea typeface="华文楷体" panose="02010600040101010101" pitchFamily="2" charset="-122"/>
              </a:rPr>
              <a:t>最后一项任务是假定存在期望的</a:t>
            </a:r>
            <a:r>
              <a:rPr lang="zh-CN" altLang="en-US" b="1" u="sng" dirty="0">
                <a:solidFill>
                  <a:srgbClr val="008000"/>
                </a:solidFill>
                <a:latin typeface="华文楷体" panose="02010600040101010101" pitchFamily="2" charset="-122"/>
                <a:ea typeface="华文楷体" panose="02010600040101010101" pitchFamily="2" charset="-122"/>
              </a:rPr>
              <a:t>输入</a:t>
            </a:r>
            <a:r>
              <a:rPr lang="en-US" altLang="zh-CN" b="1" u="sng" dirty="0">
                <a:solidFill>
                  <a:srgbClr val="008000"/>
                </a:solidFill>
                <a:latin typeface="华文楷体" panose="02010600040101010101" pitchFamily="2" charset="-122"/>
                <a:ea typeface="华文楷体" panose="02010600040101010101" pitchFamily="2" charset="-122"/>
              </a:rPr>
              <a:t>-</a:t>
            </a:r>
            <a:r>
              <a:rPr lang="zh-CN" altLang="en-US" b="1" u="sng" dirty="0">
                <a:solidFill>
                  <a:srgbClr val="008000"/>
                </a:solidFill>
                <a:latin typeface="华文楷体" panose="02010600040101010101" pitchFamily="2" charset="-122"/>
                <a:ea typeface="华文楷体" panose="02010600040101010101" pitchFamily="2" charset="-122"/>
              </a:rPr>
              <a:t>输出数据集</a:t>
            </a:r>
          </a:p>
        </p:txBody>
      </p:sp>
      <p:sp>
        <p:nvSpPr>
          <p:cNvPr id="2" name="灯片编号占位符 1">
            <a:extLst>
              <a:ext uri="{FF2B5EF4-FFF2-40B4-BE49-F238E27FC236}">
                <a16:creationId xmlns:a16="http://schemas.microsoft.com/office/drawing/2014/main" id="{3185BAA9-F5C4-1D46-31F3-B8D8DFB703CF}"/>
              </a:ext>
            </a:extLst>
          </p:cNvPr>
          <p:cNvSpPr>
            <a:spLocks noGrp="1"/>
          </p:cNvSpPr>
          <p:nvPr>
            <p:ph type="sldNum" sz="quarter" idx="11"/>
          </p:nvPr>
        </p:nvSpPr>
        <p:spPr/>
        <p:txBody>
          <a:bodyPr/>
          <a:lstStyle/>
          <a:p>
            <a:pPr>
              <a:defRPr/>
            </a:pPr>
            <a:fld id="{1F3E0329-027F-44B1-A42A-8643FF593956}" type="slidenum">
              <a:rPr lang="en-US" altLang="zh-CN" smtClean="0"/>
              <a:pPr>
                <a:defRPr/>
              </a:pPr>
              <a:t>32</a:t>
            </a:fld>
            <a:endParaRPr lang="en-US" altLang="zh-CN"/>
          </a:p>
        </p:txBody>
      </p:sp>
    </p:spTree>
    <p:extLst>
      <p:ext uri="{BB962C8B-B14F-4D97-AF65-F5344CB8AC3E}">
        <p14:creationId xmlns:p14="http://schemas.microsoft.com/office/powerpoint/2010/main" val="89063022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40963">
                                            <p:txEl>
                                              <p:pRg st="0" end="0"/>
                                            </p:txEl>
                                          </p:spTgt>
                                        </p:tgtEl>
                                        <p:attrNameLst>
                                          <p:attrName>style.visibility</p:attrName>
                                        </p:attrNameLst>
                                      </p:cBhvr>
                                      <p:to>
                                        <p:strVal val="visible"/>
                                      </p:to>
                                    </p:set>
                                    <p:animEffect transition="in" filter="wipe(left)">
                                      <p:cBhvr>
                                        <p:cTn id="7" dur="500"/>
                                        <p:tgtEl>
                                          <p:spTgt spid="40963">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40963">
                                            <p:txEl>
                                              <p:pRg st="1" end="1"/>
                                            </p:txEl>
                                          </p:spTgt>
                                        </p:tgtEl>
                                        <p:attrNameLst>
                                          <p:attrName>style.visibility</p:attrName>
                                        </p:attrNameLst>
                                      </p:cBhvr>
                                      <p:to>
                                        <p:strVal val="visible"/>
                                      </p:to>
                                    </p:set>
                                    <p:animEffect transition="in" filter="wipe(left)">
                                      <p:cBhvr>
                                        <p:cTn id="12" dur="500"/>
                                        <p:tgtEl>
                                          <p:spTgt spid="40963">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40963">
                                            <p:txEl>
                                              <p:pRg st="2" end="2"/>
                                            </p:txEl>
                                          </p:spTgt>
                                        </p:tgtEl>
                                        <p:attrNameLst>
                                          <p:attrName>style.visibility</p:attrName>
                                        </p:attrNameLst>
                                      </p:cBhvr>
                                      <p:to>
                                        <p:strVal val="visible"/>
                                      </p:to>
                                    </p:set>
                                    <p:animEffect transition="in" filter="wipe(left)">
                                      <p:cBhvr>
                                        <p:cTn id="17" dur="500"/>
                                        <p:tgtEl>
                                          <p:spTgt spid="40963">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40963">
                                            <p:txEl>
                                              <p:pRg st="3" end="3"/>
                                            </p:txEl>
                                          </p:spTgt>
                                        </p:tgtEl>
                                        <p:attrNameLst>
                                          <p:attrName>style.visibility</p:attrName>
                                        </p:attrNameLst>
                                      </p:cBhvr>
                                      <p:to>
                                        <p:strVal val="visible"/>
                                      </p:to>
                                    </p:set>
                                    <p:animEffect transition="in" filter="wipe(left)">
                                      <p:cBhvr>
                                        <p:cTn id="22" dur="500"/>
                                        <p:tgtEl>
                                          <p:spTgt spid="40963">
                                            <p:txEl>
                                              <p:pRg st="3" end="3"/>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40963">
                                            <p:txEl>
                                              <p:pRg st="4" end="4"/>
                                            </p:txEl>
                                          </p:spTgt>
                                        </p:tgtEl>
                                        <p:attrNameLst>
                                          <p:attrName>style.visibility</p:attrName>
                                        </p:attrNameLst>
                                      </p:cBhvr>
                                      <p:to>
                                        <p:strVal val="visible"/>
                                      </p:to>
                                    </p:set>
                                    <p:animEffect transition="in" filter="wipe(left)">
                                      <p:cBhvr>
                                        <p:cTn id="27" dur="500"/>
                                        <p:tgtEl>
                                          <p:spTgt spid="40963">
                                            <p:txEl>
                                              <p:pRg st="4" end="4"/>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40963">
                                            <p:txEl>
                                              <p:pRg st="5" end="5"/>
                                            </p:txEl>
                                          </p:spTgt>
                                        </p:tgtEl>
                                        <p:attrNameLst>
                                          <p:attrName>style.visibility</p:attrName>
                                        </p:attrNameLst>
                                      </p:cBhvr>
                                      <p:to>
                                        <p:strVal val="visible"/>
                                      </p:to>
                                    </p:set>
                                    <p:animEffect transition="in" filter="wipe(left)">
                                      <p:cBhvr>
                                        <p:cTn id="32" dur="500"/>
                                        <p:tgtEl>
                                          <p:spTgt spid="40963">
                                            <p:txEl>
                                              <p:pRg st="5" end="5"/>
                                            </p:txEl>
                                          </p:spTgt>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40963">
                                            <p:txEl>
                                              <p:pRg st="6" end="6"/>
                                            </p:txEl>
                                          </p:spTgt>
                                        </p:tgtEl>
                                        <p:attrNameLst>
                                          <p:attrName>style.visibility</p:attrName>
                                        </p:attrNameLst>
                                      </p:cBhvr>
                                      <p:to>
                                        <p:strVal val="visible"/>
                                      </p:to>
                                    </p:set>
                                    <p:animEffect transition="in" filter="wipe(left)">
                                      <p:cBhvr>
                                        <p:cTn id="37" dur="500"/>
                                        <p:tgtEl>
                                          <p:spTgt spid="4096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963" grpId="0" build="p" autoUpdateAnimBg="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标题 1"/>
          <p:cNvSpPr>
            <a:spLocks noGrp="1"/>
          </p:cNvSpPr>
          <p:nvPr>
            <p:ph type="title"/>
          </p:nvPr>
        </p:nvSpPr>
        <p:spPr/>
        <p:txBody>
          <a:bodyPr/>
          <a:lstStyle/>
          <a:p>
            <a:pPr algn="ctr"/>
            <a:r>
              <a:rPr lang="zh-CN" altLang="zh-CN">
                <a:solidFill>
                  <a:srgbClr val="008000"/>
                </a:solidFill>
                <a:latin typeface="黑体" panose="02010609060101010101" pitchFamily="49" charset="-122"/>
                <a:ea typeface="黑体" panose="02010609060101010101" pitchFamily="49" charset="-122"/>
              </a:rPr>
              <a:t>模糊化</a:t>
            </a:r>
          </a:p>
        </p:txBody>
      </p:sp>
      <p:sp>
        <p:nvSpPr>
          <p:cNvPr id="41987" name="内容占位符 2"/>
          <p:cNvSpPr>
            <a:spLocks noGrp="1"/>
          </p:cNvSpPr>
          <p:nvPr>
            <p:ph idx="1"/>
          </p:nvPr>
        </p:nvSpPr>
        <p:spPr>
          <a:xfrm>
            <a:off x="1055440" y="1700808"/>
            <a:ext cx="10009112" cy="4699992"/>
          </a:xfrm>
        </p:spPr>
        <p:txBody>
          <a:bodyPr/>
          <a:lstStyle/>
          <a:p>
            <a:r>
              <a:rPr lang="zh-CN" altLang="en-US" dirty="0">
                <a:solidFill>
                  <a:srgbClr val="FF0000"/>
                </a:solidFill>
                <a:latin typeface="黑体" panose="02010609060101010101" pitchFamily="49" charset="-122"/>
                <a:ea typeface="黑体" panose="02010609060101010101" pitchFamily="49" charset="-122"/>
              </a:rPr>
              <a:t>模糊化</a:t>
            </a:r>
            <a:endParaRPr lang="en-US" altLang="zh-CN" dirty="0">
              <a:solidFill>
                <a:srgbClr val="FF0000"/>
              </a:solidFill>
              <a:latin typeface="黑体" panose="02010609060101010101" pitchFamily="49" charset="-122"/>
              <a:ea typeface="黑体" panose="02010609060101010101" pitchFamily="49" charset="-122"/>
            </a:endParaRPr>
          </a:p>
          <a:p>
            <a:pPr lvl="1">
              <a:lnSpc>
                <a:spcPct val="110000"/>
              </a:lnSpc>
            </a:pPr>
            <a:r>
              <a:rPr lang="zh-CN" altLang="en-US" b="1" dirty="0">
                <a:ea typeface="华文楷体" panose="02010600040101010101" pitchFamily="2" charset="-122"/>
              </a:rPr>
              <a:t>是指把输入的清晰值映射成</a:t>
            </a:r>
            <a:r>
              <a:rPr lang="en-US" altLang="zh-CN" b="1" dirty="0">
                <a:ea typeface="华文楷体" panose="02010600040101010101" pitchFamily="2" charset="-122"/>
              </a:rPr>
              <a:t>F</a:t>
            </a:r>
            <a:r>
              <a:rPr lang="zh-CN" altLang="en-US" b="1" dirty="0">
                <a:ea typeface="华文楷体" panose="02010600040101010101" pitchFamily="2" charset="-122"/>
              </a:rPr>
              <a:t>子集及其隶属函数的变换过程</a:t>
            </a:r>
            <a:r>
              <a:rPr lang="zh-CN" altLang="en-US" sz="3200" b="1" dirty="0">
                <a:ea typeface="华文楷体" panose="02010600040101010101" pitchFamily="2" charset="-122"/>
              </a:rPr>
              <a:t>。</a:t>
            </a:r>
            <a:endParaRPr lang="en-US" altLang="zh-CN" sz="3200" b="1" dirty="0">
              <a:ea typeface="华文楷体" panose="02010600040101010101" pitchFamily="2" charset="-122"/>
            </a:endParaRPr>
          </a:p>
          <a:p>
            <a:pPr>
              <a:lnSpc>
                <a:spcPct val="110000"/>
              </a:lnSpc>
            </a:pPr>
            <a:r>
              <a:rPr lang="zh-CN" altLang="en-US" sz="2800" b="1" dirty="0">
                <a:solidFill>
                  <a:srgbClr val="3333FF"/>
                </a:solidFill>
                <a:ea typeface="华文楷体" panose="02010600040101010101" pitchFamily="2" charset="-122"/>
              </a:rPr>
              <a:t>确定覆盖在</a:t>
            </a:r>
            <a:r>
              <a:rPr lang="en-US" altLang="zh-CN" sz="2800" b="1" dirty="0">
                <a:solidFill>
                  <a:srgbClr val="3333FF"/>
                </a:solidFill>
                <a:ea typeface="华文楷体" panose="02010600040101010101" pitchFamily="2" charset="-122"/>
              </a:rPr>
              <a:t>F</a:t>
            </a:r>
            <a:r>
              <a:rPr lang="zh-CN" altLang="en-US" sz="2800" b="1" dirty="0">
                <a:solidFill>
                  <a:srgbClr val="3333FF"/>
                </a:solidFill>
                <a:ea typeface="华文楷体" panose="02010600040101010101" pitchFamily="2" charset="-122"/>
              </a:rPr>
              <a:t>论域上的</a:t>
            </a:r>
            <a:r>
              <a:rPr lang="en-US" altLang="zh-CN" sz="2800" b="1" dirty="0">
                <a:solidFill>
                  <a:srgbClr val="3333FF"/>
                </a:solidFill>
                <a:ea typeface="华文楷体" panose="02010600040101010101" pitchFamily="2" charset="-122"/>
              </a:rPr>
              <a:t>F</a:t>
            </a:r>
            <a:r>
              <a:rPr lang="zh-CN" altLang="en-US" sz="2800" b="1" dirty="0">
                <a:solidFill>
                  <a:srgbClr val="3333FF"/>
                </a:solidFill>
                <a:ea typeface="华文楷体" panose="02010600040101010101" pitchFamily="2" charset="-122"/>
              </a:rPr>
              <a:t>子集数目</a:t>
            </a:r>
            <a:r>
              <a:rPr lang="en-US" altLang="zh-CN" sz="2800" b="1" dirty="0">
                <a:solidFill>
                  <a:srgbClr val="3333FF"/>
                </a:solidFill>
                <a:ea typeface="华文楷体" panose="02010600040101010101" pitchFamily="2" charset="-122"/>
              </a:rPr>
              <a:t>——</a:t>
            </a:r>
            <a:r>
              <a:rPr lang="zh-CN" altLang="en-US" sz="2800" b="1" dirty="0">
                <a:solidFill>
                  <a:srgbClr val="3333FF"/>
                </a:solidFill>
                <a:ea typeface="华文楷体" panose="02010600040101010101" pitchFamily="2" charset="-122"/>
              </a:rPr>
              <a:t>要适当</a:t>
            </a:r>
            <a:endParaRPr lang="en-US" altLang="zh-CN" sz="2800" b="1" dirty="0">
              <a:solidFill>
                <a:srgbClr val="3333FF"/>
              </a:solidFill>
              <a:ea typeface="华文楷体" panose="02010600040101010101" pitchFamily="2" charset="-122"/>
            </a:endParaRPr>
          </a:p>
          <a:p>
            <a:pPr lvl="1">
              <a:lnSpc>
                <a:spcPct val="110000"/>
              </a:lnSpc>
            </a:pPr>
            <a:r>
              <a:rPr lang="en-US" altLang="zh-CN" b="1" dirty="0">
                <a:ea typeface="华文楷体" panose="02010600040101010101" pitchFamily="2" charset="-122"/>
              </a:rPr>
              <a:t>F</a:t>
            </a:r>
            <a:r>
              <a:rPr lang="zh-CN" altLang="en-US" b="1" dirty="0">
                <a:ea typeface="华文楷体" panose="02010600040101010101" pitchFamily="2" charset="-122"/>
              </a:rPr>
              <a:t>子集数目较多时，虽可提高控制精度，但</a:t>
            </a:r>
            <a:r>
              <a:rPr lang="en-US" altLang="zh-CN" b="1" dirty="0">
                <a:ea typeface="华文楷体" panose="02010600040101010101" pitchFamily="2" charset="-122"/>
              </a:rPr>
              <a:t>F</a:t>
            </a:r>
            <a:r>
              <a:rPr lang="zh-CN" altLang="en-US" b="1" dirty="0">
                <a:ea typeface="华文楷体" panose="02010600040101010101" pitchFamily="2" charset="-122"/>
              </a:rPr>
              <a:t>规则数目增长更快，使运算量大增；</a:t>
            </a:r>
            <a:endParaRPr lang="en-US" altLang="zh-CN" b="1" dirty="0">
              <a:ea typeface="华文楷体" panose="02010600040101010101" pitchFamily="2" charset="-122"/>
            </a:endParaRPr>
          </a:p>
          <a:p>
            <a:pPr>
              <a:lnSpc>
                <a:spcPct val="110000"/>
              </a:lnSpc>
            </a:pPr>
            <a:r>
              <a:rPr lang="zh-CN" altLang="en-US" sz="2800" b="1" dirty="0">
                <a:ea typeface="华文楷体" panose="02010600040101010101" pitchFamily="2" charset="-122"/>
              </a:rPr>
              <a:t>根据经验和运算的方便性，</a:t>
            </a:r>
            <a:r>
              <a:rPr lang="zh-CN" altLang="en-US" sz="2800" b="1" dirty="0">
                <a:solidFill>
                  <a:srgbClr val="CC00CC"/>
                </a:solidFill>
                <a:ea typeface="华文楷体" panose="02010600040101010101" pitchFamily="2" charset="-122"/>
              </a:rPr>
              <a:t>一般覆盖整个</a:t>
            </a:r>
            <a:r>
              <a:rPr lang="en-US" altLang="zh-CN" sz="2800" b="1" dirty="0">
                <a:solidFill>
                  <a:srgbClr val="CC00CC"/>
                </a:solidFill>
                <a:ea typeface="华文楷体" panose="02010600040101010101" pitchFamily="2" charset="-122"/>
              </a:rPr>
              <a:t>F</a:t>
            </a:r>
            <a:r>
              <a:rPr lang="zh-CN" altLang="en-US" sz="2800" b="1" dirty="0">
                <a:solidFill>
                  <a:srgbClr val="CC00CC"/>
                </a:solidFill>
                <a:ea typeface="华文楷体" panose="02010600040101010101" pitchFamily="2" charset="-122"/>
              </a:rPr>
              <a:t>论域的</a:t>
            </a:r>
            <a:r>
              <a:rPr lang="en-US" altLang="zh-CN" sz="2800" b="1" dirty="0">
                <a:solidFill>
                  <a:srgbClr val="CC00CC"/>
                </a:solidFill>
                <a:ea typeface="华文楷体" panose="02010600040101010101" pitchFamily="2" charset="-122"/>
              </a:rPr>
              <a:t>F</a:t>
            </a:r>
            <a:r>
              <a:rPr lang="zh-CN" altLang="en-US" sz="2800" b="1" dirty="0">
                <a:solidFill>
                  <a:srgbClr val="CC00CC"/>
                </a:solidFill>
                <a:ea typeface="华文楷体" panose="02010600040101010101" pitchFamily="2" charset="-122"/>
              </a:rPr>
              <a:t>子集数目以</a:t>
            </a:r>
            <a:r>
              <a:rPr lang="en-US" altLang="zh-CN" sz="2800" b="1" dirty="0">
                <a:solidFill>
                  <a:srgbClr val="CC00CC"/>
                </a:solidFill>
                <a:ea typeface="华文楷体" panose="02010600040101010101" pitchFamily="2" charset="-122"/>
              </a:rPr>
              <a:t>3~10</a:t>
            </a:r>
            <a:r>
              <a:rPr lang="zh-CN" altLang="en-US" sz="2800" b="1" dirty="0">
                <a:solidFill>
                  <a:srgbClr val="CC00CC"/>
                </a:solidFill>
                <a:ea typeface="华文楷体" panose="02010600040101010101" pitchFamily="2" charset="-122"/>
              </a:rPr>
              <a:t>个为宜，</a:t>
            </a:r>
            <a:r>
              <a:rPr lang="zh-CN" altLang="en-US" sz="2800" b="1" dirty="0">
                <a:ea typeface="华文楷体" panose="02010600040101010101" pitchFamily="2" charset="-122"/>
              </a:rPr>
              <a:t>这样既可以确保一定的控制精度，又可以避免</a:t>
            </a:r>
            <a:r>
              <a:rPr lang="en-US" altLang="zh-CN" sz="2800" b="1" dirty="0">
                <a:ea typeface="华文楷体" panose="02010600040101010101" pitchFamily="2" charset="-122"/>
              </a:rPr>
              <a:t>F</a:t>
            </a:r>
            <a:r>
              <a:rPr lang="zh-CN" altLang="en-US" sz="2800" b="1" dirty="0">
                <a:ea typeface="华文楷体" panose="02010600040101010101" pitchFamily="2" charset="-122"/>
              </a:rPr>
              <a:t>规则数过多。</a:t>
            </a:r>
            <a:endParaRPr lang="en-US" altLang="zh-CN" sz="2800" b="1" dirty="0">
              <a:ea typeface="华文楷体" panose="02010600040101010101" pitchFamily="2" charset="-122"/>
            </a:endParaRPr>
          </a:p>
        </p:txBody>
      </p:sp>
      <p:sp>
        <p:nvSpPr>
          <p:cNvPr id="2" name="灯片编号占位符 1">
            <a:extLst>
              <a:ext uri="{FF2B5EF4-FFF2-40B4-BE49-F238E27FC236}">
                <a16:creationId xmlns:a16="http://schemas.microsoft.com/office/drawing/2014/main" id="{9C4C2DE5-A1E8-5390-60D1-C65263A8F9F3}"/>
              </a:ext>
            </a:extLst>
          </p:cNvPr>
          <p:cNvSpPr>
            <a:spLocks noGrp="1"/>
          </p:cNvSpPr>
          <p:nvPr>
            <p:ph type="sldNum" sz="quarter" idx="11"/>
          </p:nvPr>
        </p:nvSpPr>
        <p:spPr/>
        <p:txBody>
          <a:bodyPr/>
          <a:lstStyle/>
          <a:p>
            <a:pPr>
              <a:defRPr/>
            </a:pPr>
            <a:fld id="{1F3E0329-027F-44B1-A42A-8643FF593956}" type="slidenum">
              <a:rPr lang="en-US" altLang="zh-CN" smtClean="0"/>
              <a:pPr>
                <a:defRPr/>
              </a:pPr>
              <a:t>33</a:t>
            </a:fld>
            <a:endParaRPr lang="en-US" altLang="zh-CN"/>
          </a:p>
        </p:txBody>
      </p:sp>
    </p:spTree>
    <p:extLst>
      <p:ext uri="{BB962C8B-B14F-4D97-AF65-F5344CB8AC3E}">
        <p14:creationId xmlns:p14="http://schemas.microsoft.com/office/powerpoint/2010/main" val="809465530"/>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41987">
                                            <p:txEl>
                                              <p:pRg st="0" end="0"/>
                                            </p:txEl>
                                          </p:spTgt>
                                        </p:tgtEl>
                                        <p:attrNameLst>
                                          <p:attrName>style.visibility</p:attrName>
                                        </p:attrNameLst>
                                      </p:cBhvr>
                                      <p:to>
                                        <p:strVal val="visible"/>
                                      </p:to>
                                    </p:set>
                                    <p:animEffect transition="in" filter="wipe(left)">
                                      <p:cBhvr>
                                        <p:cTn id="7" dur="500"/>
                                        <p:tgtEl>
                                          <p:spTgt spid="41987">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41987">
                                            <p:txEl>
                                              <p:pRg st="1" end="1"/>
                                            </p:txEl>
                                          </p:spTgt>
                                        </p:tgtEl>
                                        <p:attrNameLst>
                                          <p:attrName>style.visibility</p:attrName>
                                        </p:attrNameLst>
                                      </p:cBhvr>
                                      <p:to>
                                        <p:strVal val="visible"/>
                                      </p:to>
                                    </p:set>
                                    <p:animEffect transition="in" filter="wipe(left)">
                                      <p:cBhvr>
                                        <p:cTn id="12" dur="500"/>
                                        <p:tgtEl>
                                          <p:spTgt spid="41987">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41987">
                                            <p:txEl>
                                              <p:pRg st="2" end="2"/>
                                            </p:txEl>
                                          </p:spTgt>
                                        </p:tgtEl>
                                        <p:attrNameLst>
                                          <p:attrName>style.visibility</p:attrName>
                                        </p:attrNameLst>
                                      </p:cBhvr>
                                      <p:to>
                                        <p:strVal val="visible"/>
                                      </p:to>
                                    </p:set>
                                    <p:animEffect transition="in" filter="wipe(left)">
                                      <p:cBhvr>
                                        <p:cTn id="17" dur="500"/>
                                        <p:tgtEl>
                                          <p:spTgt spid="41987">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41987">
                                            <p:txEl>
                                              <p:pRg st="3" end="3"/>
                                            </p:txEl>
                                          </p:spTgt>
                                        </p:tgtEl>
                                        <p:attrNameLst>
                                          <p:attrName>style.visibility</p:attrName>
                                        </p:attrNameLst>
                                      </p:cBhvr>
                                      <p:to>
                                        <p:strVal val="visible"/>
                                      </p:to>
                                    </p:set>
                                    <p:animEffect transition="in" filter="wipe(left)">
                                      <p:cBhvr>
                                        <p:cTn id="22" dur="500"/>
                                        <p:tgtEl>
                                          <p:spTgt spid="41987">
                                            <p:txEl>
                                              <p:pRg st="3" end="3"/>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41987">
                                            <p:txEl>
                                              <p:pRg st="4" end="4"/>
                                            </p:txEl>
                                          </p:spTgt>
                                        </p:tgtEl>
                                        <p:attrNameLst>
                                          <p:attrName>style.visibility</p:attrName>
                                        </p:attrNameLst>
                                      </p:cBhvr>
                                      <p:to>
                                        <p:strVal val="visible"/>
                                      </p:to>
                                    </p:set>
                                    <p:animEffect transition="in" filter="wipe(left)">
                                      <p:cBhvr>
                                        <p:cTn id="27" dur="500"/>
                                        <p:tgtEl>
                                          <p:spTgt spid="41987">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987" grpId="0" build="p" autoUpdateAnimBg="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标题 1"/>
          <p:cNvSpPr>
            <a:spLocks noGrp="1"/>
          </p:cNvSpPr>
          <p:nvPr>
            <p:ph type="title"/>
          </p:nvPr>
        </p:nvSpPr>
        <p:spPr>
          <a:xfrm>
            <a:off x="1981200" y="196006"/>
            <a:ext cx="8229600" cy="1371600"/>
          </a:xfrm>
        </p:spPr>
        <p:txBody>
          <a:bodyPr/>
          <a:lstStyle/>
          <a:p>
            <a:pPr algn="ctr"/>
            <a:r>
              <a:rPr lang="zh-CN" altLang="zh-CN" dirty="0">
                <a:solidFill>
                  <a:srgbClr val="008000"/>
                </a:solidFill>
                <a:latin typeface="黑体" panose="02010609060101010101" pitchFamily="49" charset="-122"/>
                <a:ea typeface="黑体" panose="02010609060101010101" pitchFamily="49" charset="-122"/>
              </a:rPr>
              <a:t>模糊化</a:t>
            </a:r>
          </a:p>
        </p:txBody>
      </p:sp>
      <p:sp>
        <p:nvSpPr>
          <p:cNvPr id="43011" name="内容占位符 2"/>
          <p:cNvSpPr>
            <a:spLocks noGrp="1"/>
          </p:cNvSpPr>
          <p:nvPr>
            <p:ph idx="1"/>
          </p:nvPr>
        </p:nvSpPr>
        <p:spPr>
          <a:xfrm>
            <a:off x="1250915" y="1417973"/>
            <a:ext cx="9861176" cy="2476463"/>
          </a:xfrm>
          <a:solidFill>
            <a:srgbClr val="FFFFCC"/>
          </a:solidFill>
        </p:spPr>
        <p:txBody>
          <a:bodyPr/>
          <a:lstStyle/>
          <a:p>
            <a:r>
              <a:rPr lang="zh-CN" altLang="en-US" dirty="0">
                <a:ea typeface="黑体" panose="02010609060101010101" pitchFamily="49" charset="-122"/>
              </a:rPr>
              <a:t>确定各</a:t>
            </a:r>
            <a:r>
              <a:rPr lang="en-US" altLang="zh-CN" dirty="0">
                <a:ea typeface="黑体" panose="02010609060101010101" pitchFamily="49" charset="-122"/>
              </a:rPr>
              <a:t>F</a:t>
            </a:r>
            <a:r>
              <a:rPr lang="zh-CN" altLang="en-US" dirty="0">
                <a:ea typeface="黑体" panose="02010609060101010101" pitchFamily="49" charset="-122"/>
              </a:rPr>
              <a:t>子集的隶属函数</a:t>
            </a:r>
            <a:r>
              <a:rPr lang="en-US" altLang="zh-CN" dirty="0">
                <a:ea typeface="黑体" panose="02010609060101010101" pitchFamily="49" charset="-122"/>
              </a:rPr>
              <a:t>——F</a:t>
            </a:r>
            <a:r>
              <a:rPr lang="zh-CN" altLang="en-US" dirty="0">
                <a:ea typeface="黑体" panose="02010609060101010101" pitchFamily="49" charset="-122"/>
              </a:rPr>
              <a:t>子集的分布</a:t>
            </a:r>
            <a:endParaRPr lang="en-US" altLang="zh-CN" dirty="0">
              <a:ea typeface="黑体" panose="02010609060101010101" pitchFamily="49" charset="-122"/>
            </a:endParaRPr>
          </a:p>
          <a:p>
            <a:pPr marL="457200" lvl="1" indent="0">
              <a:buNone/>
            </a:pPr>
            <a:r>
              <a:rPr lang="zh-CN" altLang="en-US" b="1" dirty="0"/>
              <a:t>即</a:t>
            </a:r>
            <a:r>
              <a:rPr lang="en-US" altLang="zh-CN" b="1" dirty="0"/>
              <a:t>F</a:t>
            </a:r>
            <a:r>
              <a:rPr lang="zh-CN" altLang="en-US" b="1" dirty="0"/>
              <a:t>子集在</a:t>
            </a:r>
            <a:r>
              <a:rPr lang="en-US" altLang="zh-CN" b="1" dirty="0"/>
              <a:t>F</a:t>
            </a:r>
            <a:r>
              <a:rPr lang="zh-CN" altLang="en-US" b="1" dirty="0"/>
              <a:t>论域上的散布方式和情况，应具有下面特性</a:t>
            </a:r>
            <a:endParaRPr lang="en-US" altLang="zh-CN" b="1" dirty="0"/>
          </a:p>
          <a:p>
            <a:pPr marL="457200" lvl="1" indent="0">
              <a:buFont typeface="Wingdings" panose="05000000000000000000" pitchFamily="2" charset="2"/>
              <a:buChar char="p"/>
            </a:pPr>
            <a:r>
              <a:rPr lang="zh-CN" altLang="en-US" b="1" dirty="0">
                <a:solidFill>
                  <a:srgbClr val="CC00CC"/>
                </a:solidFill>
                <a:ea typeface="黑体" panose="02010609060101010101" pitchFamily="49" charset="-122"/>
              </a:rPr>
              <a:t>完备性：</a:t>
            </a:r>
            <a:r>
              <a:rPr lang="zh-CN" altLang="en-US" b="1" dirty="0"/>
              <a:t>即论域上任一元素至少与一个</a:t>
            </a:r>
            <a:r>
              <a:rPr lang="en-US" altLang="zh-CN" b="1" dirty="0"/>
              <a:t>F</a:t>
            </a:r>
            <a:r>
              <a:rPr lang="zh-CN" altLang="en-US" b="1" dirty="0"/>
              <a:t>子集对应。</a:t>
            </a:r>
            <a:endParaRPr lang="en-US" altLang="zh-CN" b="1" dirty="0"/>
          </a:p>
          <a:p>
            <a:pPr marL="457200" lvl="1" indent="0">
              <a:buFont typeface="Wingdings" panose="05000000000000000000" pitchFamily="2" charset="2"/>
              <a:buChar char="p"/>
            </a:pPr>
            <a:r>
              <a:rPr lang="zh-CN" altLang="en-US" b="1" dirty="0">
                <a:solidFill>
                  <a:srgbClr val="CC00CC"/>
                </a:solidFill>
                <a:ea typeface="黑体" panose="02010609060101010101" pitchFamily="49" charset="-122"/>
              </a:rPr>
              <a:t>一致性</a:t>
            </a:r>
            <a:r>
              <a:rPr lang="zh-CN" altLang="en-US" b="1" dirty="0"/>
              <a:t>：即论域上任一元素不得同时是两个</a:t>
            </a:r>
            <a:r>
              <a:rPr lang="en-US" altLang="zh-CN" b="1" dirty="0"/>
              <a:t>F</a:t>
            </a:r>
            <a:r>
              <a:rPr lang="zh-CN" altLang="en-US" b="1" dirty="0"/>
              <a:t>子集的核</a:t>
            </a:r>
            <a:endParaRPr lang="en-US" altLang="zh-CN" b="1" dirty="0"/>
          </a:p>
          <a:p>
            <a:pPr marL="457200" lvl="1" indent="0">
              <a:buFont typeface="Wingdings" panose="05000000000000000000" pitchFamily="2" charset="2"/>
              <a:buChar char="p"/>
            </a:pPr>
            <a:r>
              <a:rPr lang="zh-CN" altLang="en-US" b="1" dirty="0">
                <a:solidFill>
                  <a:srgbClr val="CC00CC"/>
                </a:solidFill>
                <a:ea typeface="黑体" panose="02010609060101010101" pitchFamily="49" charset="-122"/>
              </a:rPr>
              <a:t>交互性</a:t>
            </a:r>
            <a:r>
              <a:rPr lang="zh-CN" altLang="en-US" b="1" dirty="0"/>
              <a:t>：论域上任一非边缘元素不能仅属于一个</a:t>
            </a:r>
            <a:r>
              <a:rPr lang="en-US" altLang="zh-CN" b="1" dirty="0"/>
              <a:t>F</a:t>
            </a:r>
            <a:r>
              <a:rPr lang="zh-CN" altLang="en-US" b="1" dirty="0"/>
              <a:t>集合</a:t>
            </a:r>
            <a:endParaRPr lang="en-US" altLang="zh-CN" b="1" dirty="0"/>
          </a:p>
          <a:p>
            <a:pPr marL="457200" lvl="1" indent="0">
              <a:buNone/>
            </a:pPr>
            <a:endParaRPr lang="zh-CN" altLang="en-US" b="1" dirty="0"/>
          </a:p>
        </p:txBody>
      </p:sp>
      <p:grpSp>
        <p:nvGrpSpPr>
          <p:cNvPr id="12" name="组合 11">
            <a:extLst>
              <a:ext uri="{FF2B5EF4-FFF2-40B4-BE49-F238E27FC236}">
                <a16:creationId xmlns:a16="http://schemas.microsoft.com/office/drawing/2014/main" id="{5ADF8E77-AF02-303D-A311-6ED7C7D8F236}"/>
              </a:ext>
            </a:extLst>
          </p:cNvPr>
          <p:cNvGrpSpPr/>
          <p:nvPr/>
        </p:nvGrpSpPr>
        <p:grpSpPr>
          <a:xfrm>
            <a:off x="2639616" y="4193729"/>
            <a:ext cx="6481763" cy="2392362"/>
            <a:chOff x="1549400" y="4049713"/>
            <a:chExt cx="6481763" cy="2392362"/>
          </a:xfrm>
        </p:grpSpPr>
        <p:grpSp>
          <p:nvGrpSpPr>
            <p:cNvPr id="43012" name="Group 4"/>
            <p:cNvGrpSpPr>
              <a:grpSpLocks/>
            </p:cNvGrpSpPr>
            <p:nvPr/>
          </p:nvGrpSpPr>
          <p:grpSpPr bwMode="auto">
            <a:xfrm>
              <a:off x="1549400" y="4049713"/>
              <a:ext cx="6481763" cy="2392362"/>
              <a:chOff x="0" y="0"/>
              <a:chExt cx="6482680" cy="2392469"/>
            </a:xfrm>
          </p:grpSpPr>
          <p:cxnSp>
            <p:nvCxnSpPr>
              <p:cNvPr id="43013" name="直接箭头连接符 7"/>
              <p:cNvCxnSpPr>
                <a:cxnSpLocks noChangeShapeType="1"/>
              </p:cNvCxnSpPr>
              <p:nvPr/>
            </p:nvCxnSpPr>
            <p:spPr bwMode="auto">
              <a:xfrm>
                <a:off x="1960" y="2376264"/>
                <a:ext cx="6480720" cy="16205"/>
              </a:xfrm>
              <a:prstGeom prst="straightConnector1">
                <a:avLst/>
              </a:prstGeom>
              <a:noFill/>
              <a:ln w="19050" cmpd="sng">
                <a:solidFill>
                  <a:schemeClr val="tx1"/>
                </a:solidFill>
                <a:round/>
                <a:headEnd/>
                <a:tailEnd type="arrow" w="med" len="med"/>
              </a:ln>
              <a:extLst>
                <a:ext uri="{909E8E84-426E-40DD-AFC4-6F175D3DCCD1}">
                  <a14:hiddenFill xmlns:a14="http://schemas.microsoft.com/office/drawing/2010/main">
                    <a:noFill/>
                  </a14:hiddenFill>
                </a:ext>
              </a:extLst>
            </p:spPr>
          </p:cxnSp>
          <p:cxnSp>
            <p:nvCxnSpPr>
              <p:cNvPr id="43014" name="直接箭头连接符 10"/>
              <p:cNvCxnSpPr>
                <a:cxnSpLocks noChangeShapeType="1"/>
              </p:cNvCxnSpPr>
              <p:nvPr/>
            </p:nvCxnSpPr>
            <p:spPr bwMode="auto">
              <a:xfrm flipV="1">
                <a:off x="3240360" y="0"/>
                <a:ext cx="1960" cy="2370620"/>
              </a:xfrm>
              <a:prstGeom prst="straightConnector1">
                <a:avLst/>
              </a:prstGeom>
              <a:noFill/>
              <a:ln w="19050" cmpd="sng">
                <a:solidFill>
                  <a:schemeClr val="tx1"/>
                </a:solidFill>
                <a:round/>
                <a:headEnd/>
                <a:tailEnd type="arrow" w="med" len="med"/>
              </a:ln>
              <a:extLst>
                <a:ext uri="{909E8E84-426E-40DD-AFC4-6F175D3DCCD1}">
                  <a14:hiddenFill xmlns:a14="http://schemas.microsoft.com/office/drawing/2010/main">
                    <a:noFill/>
                  </a14:hiddenFill>
                </a:ext>
              </a:extLst>
            </p:spPr>
          </p:cxnSp>
          <p:cxnSp>
            <p:nvCxnSpPr>
              <p:cNvPr id="43015" name="直接连接符 14"/>
              <p:cNvCxnSpPr>
                <a:cxnSpLocks noChangeShapeType="1"/>
              </p:cNvCxnSpPr>
              <p:nvPr/>
            </p:nvCxnSpPr>
            <p:spPr bwMode="auto">
              <a:xfrm flipH="1">
                <a:off x="3172272" y="432048"/>
                <a:ext cx="70048" cy="0"/>
              </a:xfrm>
              <a:prstGeom prst="line">
                <a:avLst/>
              </a:prstGeom>
              <a:noFill/>
              <a:ln w="19050" cmpd="sng">
                <a:solidFill>
                  <a:schemeClr val="tx1"/>
                </a:solidFill>
                <a:round/>
                <a:headEnd/>
                <a:tailEnd/>
              </a:ln>
              <a:extLst>
                <a:ext uri="{909E8E84-426E-40DD-AFC4-6F175D3DCCD1}">
                  <a14:hiddenFill xmlns:a14="http://schemas.microsoft.com/office/drawing/2010/main">
                    <a:noFill/>
                  </a14:hiddenFill>
                </a:ext>
              </a:extLst>
            </p:spPr>
          </p:cxnSp>
          <p:sp>
            <p:nvSpPr>
              <p:cNvPr id="43016" name="TextBox 15"/>
              <p:cNvSpPr txBox="1">
                <a:spLocks noChangeArrowheads="1"/>
              </p:cNvSpPr>
              <p:nvPr/>
            </p:nvSpPr>
            <p:spPr bwMode="auto">
              <a:xfrm>
                <a:off x="2882280" y="99501"/>
                <a:ext cx="36004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r>
                  <a:rPr lang="en-US" altLang="zh-CN"/>
                  <a:t>1</a:t>
                </a:r>
                <a:endParaRPr lang="zh-CN" altLang="en-US"/>
              </a:p>
            </p:txBody>
          </p:sp>
          <p:grpSp>
            <p:nvGrpSpPr>
              <p:cNvPr id="43017" name="Group 9"/>
              <p:cNvGrpSpPr>
                <a:grpSpLocks/>
              </p:cNvGrpSpPr>
              <p:nvPr/>
            </p:nvGrpSpPr>
            <p:grpSpPr bwMode="auto">
              <a:xfrm>
                <a:off x="0" y="483205"/>
                <a:ext cx="2234208" cy="1893059"/>
                <a:chOff x="0" y="0"/>
                <a:chExt cx="2234208" cy="1893059"/>
              </a:xfrm>
            </p:grpSpPr>
            <p:cxnSp>
              <p:nvCxnSpPr>
                <p:cNvPr id="43018" name="直接连接符 17"/>
                <p:cNvCxnSpPr>
                  <a:cxnSpLocks noChangeShapeType="1"/>
                </p:cNvCxnSpPr>
                <p:nvPr/>
              </p:nvCxnSpPr>
              <p:spPr bwMode="auto">
                <a:xfrm flipH="1">
                  <a:off x="0" y="0"/>
                  <a:ext cx="1219200" cy="1887415"/>
                </a:xfrm>
                <a:prstGeom prst="line">
                  <a:avLst/>
                </a:prstGeom>
                <a:noFill/>
                <a:ln w="38100" cmpd="sng">
                  <a:solidFill>
                    <a:srgbClr val="CC00CC"/>
                  </a:solidFill>
                  <a:round/>
                  <a:headEnd/>
                  <a:tailEnd/>
                </a:ln>
                <a:extLst>
                  <a:ext uri="{909E8E84-426E-40DD-AFC4-6F175D3DCCD1}">
                    <a14:hiddenFill xmlns:a14="http://schemas.microsoft.com/office/drawing/2010/main">
                      <a:noFill/>
                    </a14:hiddenFill>
                  </a:ext>
                </a:extLst>
              </p:spPr>
            </p:cxnSp>
            <p:cxnSp>
              <p:nvCxnSpPr>
                <p:cNvPr id="43019" name="直接连接符 26"/>
                <p:cNvCxnSpPr>
                  <a:cxnSpLocks noChangeShapeType="1"/>
                </p:cNvCxnSpPr>
                <p:nvPr/>
              </p:nvCxnSpPr>
              <p:spPr bwMode="auto">
                <a:xfrm>
                  <a:off x="1219200" y="0"/>
                  <a:ext cx="1015008" cy="1893059"/>
                </a:xfrm>
                <a:prstGeom prst="line">
                  <a:avLst/>
                </a:prstGeom>
                <a:noFill/>
                <a:ln w="38100" cmpd="sng">
                  <a:solidFill>
                    <a:srgbClr val="CC00CC"/>
                  </a:solidFill>
                  <a:round/>
                  <a:headEnd/>
                  <a:tailEnd/>
                </a:ln>
                <a:extLst>
                  <a:ext uri="{909E8E84-426E-40DD-AFC4-6F175D3DCCD1}">
                    <a14:hiddenFill xmlns:a14="http://schemas.microsoft.com/office/drawing/2010/main">
                      <a:noFill/>
                    </a14:hiddenFill>
                  </a:ext>
                </a:extLst>
              </p:spPr>
            </p:cxnSp>
          </p:grpSp>
          <p:grpSp>
            <p:nvGrpSpPr>
              <p:cNvPr id="43020" name="Group 12"/>
              <p:cNvGrpSpPr>
                <a:grpSpLocks/>
              </p:cNvGrpSpPr>
              <p:nvPr/>
            </p:nvGrpSpPr>
            <p:grpSpPr bwMode="auto">
              <a:xfrm>
                <a:off x="2498939" y="493766"/>
                <a:ext cx="2234208" cy="1893059"/>
                <a:chOff x="0" y="0"/>
                <a:chExt cx="2234208" cy="1893059"/>
              </a:xfrm>
            </p:grpSpPr>
            <p:cxnSp>
              <p:nvCxnSpPr>
                <p:cNvPr id="43021" name="直接连接符 33"/>
                <p:cNvCxnSpPr>
                  <a:cxnSpLocks noChangeShapeType="1"/>
                </p:cNvCxnSpPr>
                <p:nvPr/>
              </p:nvCxnSpPr>
              <p:spPr bwMode="auto">
                <a:xfrm flipH="1">
                  <a:off x="0" y="0"/>
                  <a:ext cx="1219200" cy="1887415"/>
                </a:xfrm>
                <a:prstGeom prst="line">
                  <a:avLst/>
                </a:prstGeom>
                <a:noFill/>
                <a:ln w="38100" cmpd="sng">
                  <a:solidFill>
                    <a:srgbClr val="008000"/>
                  </a:solidFill>
                  <a:round/>
                  <a:headEnd/>
                  <a:tailEnd/>
                </a:ln>
                <a:extLst>
                  <a:ext uri="{909E8E84-426E-40DD-AFC4-6F175D3DCCD1}">
                    <a14:hiddenFill xmlns:a14="http://schemas.microsoft.com/office/drawing/2010/main">
                      <a:noFill/>
                    </a14:hiddenFill>
                  </a:ext>
                </a:extLst>
              </p:spPr>
            </p:cxnSp>
            <p:cxnSp>
              <p:nvCxnSpPr>
                <p:cNvPr id="43022" name="直接连接符 34"/>
                <p:cNvCxnSpPr>
                  <a:cxnSpLocks noChangeShapeType="1"/>
                </p:cNvCxnSpPr>
                <p:nvPr/>
              </p:nvCxnSpPr>
              <p:spPr bwMode="auto">
                <a:xfrm>
                  <a:off x="1219200" y="0"/>
                  <a:ext cx="1015008" cy="1893059"/>
                </a:xfrm>
                <a:prstGeom prst="line">
                  <a:avLst/>
                </a:prstGeom>
                <a:noFill/>
                <a:ln w="38100" cmpd="sng">
                  <a:solidFill>
                    <a:srgbClr val="008000"/>
                  </a:solidFill>
                  <a:round/>
                  <a:headEnd/>
                  <a:tailEnd/>
                </a:ln>
                <a:extLst>
                  <a:ext uri="{909E8E84-426E-40DD-AFC4-6F175D3DCCD1}">
                    <a14:hiddenFill xmlns:a14="http://schemas.microsoft.com/office/drawing/2010/main">
                      <a:noFill/>
                    </a14:hiddenFill>
                  </a:ext>
                </a:extLst>
              </p:spPr>
            </p:cxnSp>
          </p:grpSp>
          <p:grpSp>
            <p:nvGrpSpPr>
              <p:cNvPr id="43023" name="Group 15"/>
              <p:cNvGrpSpPr>
                <a:grpSpLocks/>
              </p:cNvGrpSpPr>
              <p:nvPr/>
            </p:nvGrpSpPr>
            <p:grpSpPr bwMode="auto">
              <a:xfrm>
                <a:off x="3042283" y="499410"/>
                <a:ext cx="1955596" cy="1887414"/>
                <a:chOff x="-444806" y="0"/>
                <a:chExt cx="1955596" cy="1887414"/>
              </a:xfrm>
            </p:grpSpPr>
            <p:cxnSp>
              <p:nvCxnSpPr>
                <p:cNvPr id="43024" name="直接连接符 36"/>
                <p:cNvCxnSpPr>
                  <a:cxnSpLocks noChangeShapeType="1"/>
                </p:cNvCxnSpPr>
                <p:nvPr/>
              </p:nvCxnSpPr>
              <p:spPr bwMode="auto">
                <a:xfrm flipH="1">
                  <a:off x="-444806" y="31139"/>
                  <a:ext cx="673896" cy="1856275"/>
                </a:xfrm>
                <a:prstGeom prst="line">
                  <a:avLst/>
                </a:prstGeom>
                <a:noFill/>
                <a:ln w="38100" cmpd="sng">
                  <a:solidFill>
                    <a:srgbClr val="FF0000"/>
                  </a:solidFill>
                  <a:round/>
                  <a:headEnd/>
                  <a:tailEnd/>
                </a:ln>
                <a:extLst>
                  <a:ext uri="{909E8E84-426E-40DD-AFC4-6F175D3DCCD1}">
                    <a14:hiddenFill xmlns:a14="http://schemas.microsoft.com/office/drawing/2010/main">
                      <a:noFill/>
                    </a14:hiddenFill>
                  </a:ext>
                </a:extLst>
              </p:spPr>
            </p:cxnSp>
            <p:cxnSp>
              <p:nvCxnSpPr>
                <p:cNvPr id="43025" name="直接连接符 37"/>
                <p:cNvCxnSpPr>
                  <a:cxnSpLocks noChangeShapeType="1"/>
                </p:cNvCxnSpPr>
                <p:nvPr/>
              </p:nvCxnSpPr>
              <p:spPr bwMode="auto">
                <a:xfrm>
                  <a:off x="904284" y="0"/>
                  <a:ext cx="606506" cy="1876853"/>
                </a:xfrm>
                <a:prstGeom prst="line">
                  <a:avLst/>
                </a:prstGeom>
                <a:noFill/>
                <a:ln w="38100" cmpd="sng">
                  <a:solidFill>
                    <a:srgbClr val="FF0000"/>
                  </a:solidFill>
                  <a:round/>
                  <a:headEnd/>
                  <a:tailEnd/>
                </a:ln>
                <a:extLst>
                  <a:ext uri="{909E8E84-426E-40DD-AFC4-6F175D3DCCD1}">
                    <a14:hiddenFill xmlns:a14="http://schemas.microsoft.com/office/drawing/2010/main">
                      <a:noFill/>
                    </a14:hiddenFill>
                  </a:ext>
                </a:extLst>
              </p:spPr>
            </p:cxnSp>
          </p:grpSp>
          <p:grpSp>
            <p:nvGrpSpPr>
              <p:cNvPr id="43026" name="Group 18"/>
              <p:cNvGrpSpPr>
                <a:grpSpLocks/>
              </p:cNvGrpSpPr>
              <p:nvPr/>
            </p:nvGrpSpPr>
            <p:grpSpPr bwMode="auto">
              <a:xfrm>
                <a:off x="4992542" y="468833"/>
                <a:ext cx="1279740" cy="1912347"/>
                <a:chOff x="954468" y="-8728"/>
                <a:chExt cx="1279740" cy="1912347"/>
              </a:xfrm>
            </p:grpSpPr>
            <p:cxnSp>
              <p:nvCxnSpPr>
                <p:cNvPr id="43027" name="直接连接符 39"/>
                <p:cNvCxnSpPr>
                  <a:cxnSpLocks noChangeShapeType="1"/>
                </p:cNvCxnSpPr>
                <p:nvPr/>
              </p:nvCxnSpPr>
              <p:spPr bwMode="auto">
                <a:xfrm flipH="1">
                  <a:off x="954468" y="-8728"/>
                  <a:ext cx="529464" cy="1912347"/>
                </a:xfrm>
                <a:prstGeom prst="line">
                  <a:avLst/>
                </a:prstGeom>
                <a:noFill/>
                <a:ln w="38100" cmpd="sng">
                  <a:solidFill>
                    <a:srgbClr val="3333FF"/>
                  </a:solidFill>
                  <a:round/>
                  <a:headEnd/>
                  <a:tailEnd/>
                </a:ln>
                <a:extLst>
                  <a:ext uri="{909E8E84-426E-40DD-AFC4-6F175D3DCCD1}">
                    <a14:hiddenFill xmlns:a14="http://schemas.microsoft.com/office/drawing/2010/main">
                      <a:noFill/>
                    </a14:hiddenFill>
                  </a:ext>
                </a:extLst>
              </p:spPr>
            </p:cxnSp>
            <p:cxnSp>
              <p:nvCxnSpPr>
                <p:cNvPr id="43028" name="直接连接符 40"/>
                <p:cNvCxnSpPr>
                  <a:cxnSpLocks noChangeShapeType="1"/>
                </p:cNvCxnSpPr>
                <p:nvPr/>
              </p:nvCxnSpPr>
              <p:spPr bwMode="auto">
                <a:xfrm>
                  <a:off x="1483932" y="-8728"/>
                  <a:ext cx="750276" cy="1901788"/>
                </a:xfrm>
                <a:prstGeom prst="line">
                  <a:avLst/>
                </a:prstGeom>
                <a:noFill/>
                <a:ln w="38100" cmpd="sng">
                  <a:solidFill>
                    <a:srgbClr val="3333FF"/>
                  </a:solidFill>
                  <a:round/>
                  <a:headEnd/>
                  <a:tailEnd/>
                </a:ln>
                <a:extLst>
                  <a:ext uri="{909E8E84-426E-40DD-AFC4-6F175D3DCCD1}">
                    <a14:hiddenFill xmlns:a14="http://schemas.microsoft.com/office/drawing/2010/main">
                      <a:noFill/>
                    </a14:hiddenFill>
                  </a:ext>
                </a:extLst>
              </p:spPr>
            </p:cxnSp>
          </p:grpSp>
          <p:sp>
            <p:nvSpPr>
              <p:cNvPr id="43029" name="TextBox 42"/>
              <p:cNvSpPr txBox="1">
                <a:spLocks noChangeArrowheads="1"/>
              </p:cNvSpPr>
              <p:nvPr/>
            </p:nvSpPr>
            <p:spPr bwMode="auto">
              <a:xfrm>
                <a:off x="1096525" y="62716"/>
                <a:ext cx="478846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r>
                  <a:rPr lang="en-US" altLang="zh-CN"/>
                  <a:t>A                                    B             C       D</a:t>
                </a:r>
                <a:endParaRPr lang="zh-CN" altLang="en-US"/>
              </a:p>
            </p:txBody>
          </p:sp>
        </p:grpSp>
        <p:cxnSp>
          <p:nvCxnSpPr>
            <p:cNvPr id="4" name="直接连接符 37">
              <a:extLst>
                <a:ext uri="{FF2B5EF4-FFF2-40B4-BE49-F238E27FC236}">
                  <a16:creationId xmlns:a16="http://schemas.microsoft.com/office/drawing/2014/main" id="{54AF90A3-AE72-D37B-18A3-E5D8DA462FED}"/>
                </a:ext>
              </a:extLst>
            </p:cNvPr>
            <p:cNvCxnSpPr>
              <a:cxnSpLocks noChangeShapeType="1"/>
            </p:cNvCxnSpPr>
            <p:nvPr/>
          </p:nvCxnSpPr>
          <p:spPr bwMode="auto">
            <a:xfrm>
              <a:off x="5265054" y="4544454"/>
              <a:ext cx="694239" cy="0"/>
            </a:xfrm>
            <a:prstGeom prst="line">
              <a:avLst/>
            </a:prstGeom>
            <a:noFill/>
            <a:ln w="38100" cmpd="sng">
              <a:solidFill>
                <a:srgbClr val="FF0000"/>
              </a:solidFill>
              <a:round/>
              <a:headEnd/>
              <a:tailEnd/>
            </a:ln>
            <a:extLst>
              <a:ext uri="{909E8E84-426E-40DD-AFC4-6F175D3DCCD1}">
                <a14:hiddenFill xmlns:a14="http://schemas.microsoft.com/office/drawing/2010/main">
                  <a:noFill/>
                </a14:hiddenFill>
              </a:ext>
            </a:extLst>
          </p:spPr>
        </p:cxnSp>
      </p:grpSp>
      <p:sp>
        <p:nvSpPr>
          <p:cNvPr id="13" name="椭圆 12">
            <a:extLst>
              <a:ext uri="{FF2B5EF4-FFF2-40B4-BE49-F238E27FC236}">
                <a16:creationId xmlns:a16="http://schemas.microsoft.com/office/drawing/2014/main" id="{A3028568-26D3-802A-29A6-BD27FE97E85F}"/>
              </a:ext>
            </a:extLst>
          </p:cNvPr>
          <p:cNvSpPr/>
          <p:nvPr/>
        </p:nvSpPr>
        <p:spPr bwMode="auto">
          <a:xfrm>
            <a:off x="4827353" y="6427501"/>
            <a:ext cx="329820" cy="300248"/>
          </a:xfrm>
          <a:prstGeom prst="ellipse">
            <a:avLst/>
          </a:prstGeom>
          <a:noFill/>
          <a:ln w="57150">
            <a:solidFill>
              <a:srgbClr val="FF9933"/>
            </a:solidFill>
            <a:prstDash val="sysDot"/>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t" anchorCtr="0" compatLnSpc="1">
            <a:prstTxWarp prst="textNoShape">
              <a:avLst/>
            </a:prstTxWarp>
          </a:bodyPr>
          <a:lstStyle/>
          <a:p>
            <a:endParaRPr lang="zh-CN" altLang="en-US">
              <a:solidFill>
                <a:schemeClr val="tx1"/>
              </a:solidFill>
              <a:latin typeface="Arial" panose="020B0604020202020204" pitchFamily="34" charset="0"/>
              <a:ea typeface="宋体" panose="02010600030101010101" pitchFamily="2" charset="-122"/>
            </a:endParaRPr>
          </a:p>
        </p:txBody>
      </p:sp>
      <p:sp>
        <p:nvSpPr>
          <p:cNvPr id="15" name="椭圆 14">
            <a:extLst>
              <a:ext uri="{FF2B5EF4-FFF2-40B4-BE49-F238E27FC236}">
                <a16:creationId xmlns:a16="http://schemas.microsoft.com/office/drawing/2014/main" id="{93DA8015-987C-CC46-11B5-A8D2D8562085}"/>
              </a:ext>
            </a:extLst>
          </p:cNvPr>
          <p:cNvSpPr/>
          <p:nvPr/>
        </p:nvSpPr>
        <p:spPr bwMode="auto">
          <a:xfrm>
            <a:off x="6134880" y="4555740"/>
            <a:ext cx="428668" cy="300248"/>
          </a:xfrm>
          <a:prstGeom prst="ellipse">
            <a:avLst/>
          </a:prstGeom>
          <a:noFill/>
          <a:ln w="57150">
            <a:solidFill>
              <a:srgbClr val="FF9933"/>
            </a:solidFill>
            <a:prstDash val="sysDot"/>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t" anchorCtr="0" compatLnSpc="1">
            <a:prstTxWarp prst="textNoShape">
              <a:avLst/>
            </a:prstTxWarp>
          </a:bodyPr>
          <a:lstStyle/>
          <a:p>
            <a:endParaRPr lang="zh-CN" altLang="en-US">
              <a:solidFill>
                <a:schemeClr val="tx1"/>
              </a:solidFill>
              <a:latin typeface="Arial" panose="020B0604020202020204" pitchFamily="34" charset="0"/>
              <a:ea typeface="宋体" panose="02010600030101010101" pitchFamily="2" charset="-122"/>
            </a:endParaRPr>
          </a:p>
        </p:txBody>
      </p:sp>
      <p:sp>
        <p:nvSpPr>
          <p:cNvPr id="16" name="椭圆 15">
            <a:extLst>
              <a:ext uri="{FF2B5EF4-FFF2-40B4-BE49-F238E27FC236}">
                <a16:creationId xmlns:a16="http://schemas.microsoft.com/office/drawing/2014/main" id="{8758EF23-1C6F-BFC8-BFA4-2CA4E2B02F79}"/>
              </a:ext>
            </a:extLst>
          </p:cNvPr>
          <p:cNvSpPr/>
          <p:nvPr/>
        </p:nvSpPr>
        <p:spPr bwMode="auto">
          <a:xfrm>
            <a:off x="7448502" y="6441120"/>
            <a:ext cx="428668" cy="300248"/>
          </a:xfrm>
          <a:prstGeom prst="ellipse">
            <a:avLst/>
          </a:prstGeom>
          <a:noFill/>
          <a:ln w="57150">
            <a:solidFill>
              <a:srgbClr val="FF9933"/>
            </a:solidFill>
            <a:prstDash val="sysDot"/>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t" anchorCtr="0" compatLnSpc="1">
            <a:prstTxWarp prst="textNoShape">
              <a:avLst/>
            </a:prstTxWarp>
          </a:bodyPr>
          <a:lstStyle/>
          <a:p>
            <a:endParaRPr lang="zh-CN" altLang="en-US">
              <a:solidFill>
                <a:schemeClr val="tx1"/>
              </a:solidFill>
              <a:latin typeface="Arial" panose="020B0604020202020204" pitchFamily="34" charset="0"/>
              <a:ea typeface="宋体" panose="02010600030101010101" pitchFamily="2" charset="-122"/>
            </a:endParaRPr>
          </a:p>
        </p:txBody>
      </p:sp>
      <p:sp>
        <p:nvSpPr>
          <p:cNvPr id="2" name="灯片编号占位符 1">
            <a:extLst>
              <a:ext uri="{FF2B5EF4-FFF2-40B4-BE49-F238E27FC236}">
                <a16:creationId xmlns:a16="http://schemas.microsoft.com/office/drawing/2014/main" id="{B1185CD6-D15D-48E4-139C-D7E97EA779E4}"/>
              </a:ext>
            </a:extLst>
          </p:cNvPr>
          <p:cNvSpPr>
            <a:spLocks noGrp="1"/>
          </p:cNvSpPr>
          <p:nvPr>
            <p:ph type="sldNum" sz="quarter" idx="11"/>
          </p:nvPr>
        </p:nvSpPr>
        <p:spPr/>
        <p:txBody>
          <a:bodyPr/>
          <a:lstStyle/>
          <a:p>
            <a:pPr>
              <a:defRPr/>
            </a:pPr>
            <a:fld id="{1F3E0329-027F-44B1-A42A-8643FF593956}" type="slidenum">
              <a:rPr lang="en-US" altLang="zh-CN" smtClean="0"/>
              <a:pPr>
                <a:defRPr/>
              </a:pPr>
              <a:t>34</a:t>
            </a:fld>
            <a:endParaRPr lang="en-US" altLang="zh-CN"/>
          </a:p>
        </p:txBody>
      </p:sp>
    </p:spTree>
    <p:extLst>
      <p:ext uri="{BB962C8B-B14F-4D97-AF65-F5344CB8AC3E}">
        <p14:creationId xmlns:p14="http://schemas.microsoft.com/office/powerpoint/2010/main" val="572060516"/>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43011">
                                            <p:txEl>
                                              <p:pRg st="0" end="0"/>
                                            </p:txEl>
                                          </p:spTgt>
                                        </p:tgtEl>
                                        <p:attrNameLst>
                                          <p:attrName>style.visibility</p:attrName>
                                        </p:attrNameLst>
                                      </p:cBhvr>
                                      <p:to>
                                        <p:strVal val="visible"/>
                                      </p:to>
                                    </p:set>
                                    <p:animEffect transition="in" filter="wipe(left)">
                                      <p:cBhvr>
                                        <p:cTn id="7" dur="500"/>
                                        <p:tgtEl>
                                          <p:spTgt spid="43011">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43011">
                                            <p:txEl>
                                              <p:pRg st="1" end="1"/>
                                            </p:txEl>
                                          </p:spTgt>
                                        </p:tgtEl>
                                        <p:attrNameLst>
                                          <p:attrName>style.visibility</p:attrName>
                                        </p:attrNameLst>
                                      </p:cBhvr>
                                      <p:to>
                                        <p:strVal val="visible"/>
                                      </p:to>
                                    </p:set>
                                    <p:animEffect transition="in" filter="wipe(left)">
                                      <p:cBhvr>
                                        <p:cTn id="12" dur="500"/>
                                        <p:tgtEl>
                                          <p:spTgt spid="43011">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43011">
                                            <p:txEl>
                                              <p:pRg st="2" end="2"/>
                                            </p:txEl>
                                          </p:spTgt>
                                        </p:tgtEl>
                                        <p:attrNameLst>
                                          <p:attrName>style.visibility</p:attrName>
                                        </p:attrNameLst>
                                      </p:cBhvr>
                                      <p:to>
                                        <p:strVal val="visible"/>
                                      </p:to>
                                    </p:set>
                                    <p:animEffect transition="in" filter="wipe(left)">
                                      <p:cBhvr>
                                        <p:cTn id="17" dur="500"/>
                                        <p:tgtEl>
                                          <p:spTgt spid="43011">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42" presetClass="entr" presetSubtype="0" fill="hold" nodeType="clickEffect">
                                  <p:stCondLst>
                                    <p:cond delay="0"/>
                                  </p:stCondLst>
                                  <p:childTnLst>
                                    <p:set>
                                      <p:cBhvr>
                                        <p:cTn id="21" dur="1" fill="hold">
                                          <p:stCondLst>
                                            <p:cond delay="0"/>
                                          </p:stCondLst>
                                        </p:cTn>
                                        <p:tgtEl>
                                          <p:spTgt spid="12"/>
                                        </p:tgtEl>
                                        <p:attrNameLst>
                                          <p:attrName>style.visibility</p:attrName>
                                        </p:attrNameLst>
                                      </p:cBhvr>
                                      <p:to>
                                        <p:strVal val="visible"/>
                                      </p:to>
                                    </p:set>
                                    <p:animEffect transition="in" filter="fade">
                                      <p:cBhvr>
                                        <p:cTn id="22" dur="1000"/>
                                        <p:tgtEl>
                                          <p:spTgt spid="12"/>
                                        </p:tgtEl>
                                      </p:cBhvr>
                                    </p:animEffect>
                                    <p:anim calcmode="lin" valueType="num">
                                      <p:cBhvr>
                                        <p:cTn id="23" dur="1000" fill="hold"/>
                                        <p:tgtEl>
                                          <p:spTgt spid="12"/>
                                        </p:tgtEl>
                                        <p:attrNameLst>
                                          <p:attrName>ppt_x</p:attrName>
                                        </p:attrNameLst>
                                      </p:cBhvr>
                                      <p:tavLst>
                                        <p:tav tm="0">
                                          <p:val>
                                            <p:strVal val="#ppt_x"/>
                                          </p:val>
                                        </p:tav>
                                        <p:tav tm="100000">
                                          <p:val>
                                            <p:strVal val="#ppt_x"/>
                                          </p:val>
                                        </p:tav>
                                      </p:tavLst>
                                    </p:anim>
                                    <p:anim calcmode="lin" valueType="num">
                                      <p:cBhvr>
                                        <p:cTn id="24" dur="1000" fill="hold"/>
                                        <p:tgtEl>
                                          <p:spTgt spid="12"/>
                                        </p:tgtEl>
                                        <p:attrNameLst>
                                          <p:attrName>ppt_y</p:attrName>
                                        </p:attrNameLst>
                                      </p:cBhvr>
                                      <p:tavLst>
                                        <p:tav tm="0">
                                          <p:val>
                                            <p:strVal val="#ppt_y+.1"/>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 presetClass="entr" presetSubtype="4" fill="hold" grpId="0" nodeType="clickEffect">
                                  <p:stCondLst>
                                    <p:cond delay="0"/>
                                  </p:stCondLst>
                                  <p:childTnLst>
                                    <p:set>
                                      <p:cBhvr>
                                        <p:cTn id="28" dur="1" fill="hold">
                                          <p:stCondLst>
                                            <p:cond delay="0"/>
                                          </p:stCondLst>
                                        </p:cTn>
                                        <p:tgtEl>
                                          <p:spTgt spid="13"/>
                                        </p:tgtEl>
                                        <p:attrNameLst>
                                          <p:attrName>style.visibility</p:attrName>
                                        </p:attrNameLst>
                                      </p:cBhvr>
                                      <p:to>
                                        <p:strVal val="visible"/>
                                      </p:to>
                                    </p:set>
                                    <p:anim calcmode="lin" valueType="num">
                                      <p:cBhvr additive="base">
                                        <p:cTn id="29" dur="500" fill="hold"/>
                                        <p:tgtEl>
                                          <p:spTgt spid="13"/>
                                        </p:tgtEl>
                                        <p:attrNameLst>
                                          <p:attrName>ppt_x</p:attrName>
                                        </p:attrNameLst>
                                      </p:cBhvr>
                                      <p:tavLst>
                                        <p:tav tm="0">
                                          <p:val>
                                            <p:strVal val="#ppt_x"/>
                                          </p:val>
                                        </p:tav>
                                        <p:tav tm="100000">
                                          <p:val>
                                            <p:strVal val="#ppt_x"/>
                                          </p:val>
                                        </p:tav>
                                      </p:tavLst>
                                    </p:anim>
                                    <p:anim calcmode="lin" valueType="num">
                                      <p:cBhvr additive="base">
                                        <p:cTn id="30" dur="500" fill="hold"/>
                                        <p:tgtEl>
                                          <p:spTgt spid="13"/>
                                        </p:tgtEl>
                                        <p:attrNameLst>
                                          <p:attrName>ppt_y</p:attrName>
                                        </p:attrNameLst>
                                      </p:cBhvr>
                                      <p:tavLst>
                                        <p:tav tm="0">
                                          <p:val>
                                            <p:strVal val="1+#ppt_h/2"/>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22" presetClass="entr" presetSubtype="8" fill="hold" grpId="0" nodeType="clickEffect">
                                  <p:stCondLst>
                                    <p:cond delay="0"/>
                                  </p:stCondLst>
                                  <p:childTnLst>
                                    <p:set>
                                      <p:cBhvr>
                                        <p:cTn id="34" dur="1" fill="hold">
                                          <p:stCondLst>
                                            <p:cond delay="0"/>
                                          </p:stCondLst>
                                        </p:cTn>
                                        <p:tgtEl>
                                          <p:spTgt spid="43011">
                                            <p:txEl>
                                              <p:pRg st="3" end="3"/>
                                            </p:txEl>
                                          </p:spTgt>
                                        </p:tgtEl>
                                        <p:attrNameLst>
                                          <p:attrName>style.visibility</p:attrName>
                                        </p:attrNameLst>
                                      </p:cBhvr>
                                      <p:to>
                                        <p:strVal val="visible"/>
                                      </p:to>
                                    </p:set>
                                    <p:animEffect transition="in" filter="wipe(left)">
                                      <p:cBhvr>
                                        <p:cTn id="35" dur="500"/>
                                        <p:tgtEl>
                                          <p:spTgt spid="43011">
                                            <p:txEl>
                                              <p:pRg st="3" end="3"/>
                                            </p:txEl>
                                          </p:spTgt>
                                        </p:tgtEl>
                                      </p:cBhvr>
                                    </p:animEffect>
                                  </p:childTnLst>
                                </p:cTn>
                              </p:par>
                            </p:childTnLst>
                          </p:cTn>
                        </p:par>
                      </p:childTnLst>
                    </p:cTn>
                  </p:par>
                  <p:par>
                    <p:cTn id="36" fill="hold" nodeType="clickPar">
                      <p:stCondLst>
                        <p:cond delay="indefinite"/>
                      </p:stCondLst>
                      <p:childTnLst>
                        <p:par>
                          <p:cTn id="37" fill="hold" nodeType="withGroup">
                            <p:stCondLst>
                              <p:cond delay="0"/>
                            </p:stCondLst>
                            <p:childTnLst>
                              <p:par>
                                <p:cTn id="38" presetID="2" presetClass="entr" presetSubtype="4" fill="hold" grpId="0" nodeType="clickEffect">
                                  <p:stCondLst>
                                    <p:cond delay="0"/>
                                  </p:stCondLst>
                                  <p:childTnLst>
                                    <p:set>
                                      <p:cBhvr>
                                        <p:cTn id="39" dur="1" fill="hold">
                                          <p:stCondLst>
                                            <p:cond delay="0"/>
                                          </p:stCondLst>
                                        </p:cTn>
                                        <p:tgtEl>
                                          <p:spTgt spid="15"/>
                                        </p:tgtEl>
                                        <p:attrNameLst>
                                          <p:attrName>style.visibility</p:attrName>
                                        </p:attrNameLst>
                                      </p:cBhvr>
                                      <p:to>
                                        <p:strVal val="visible"/>
                                      </p:to>
                                    </p:set>
                                    <p:anim calcmode="lin" valueType="num">
                                      <p:cBhvr additive="base">
                                        <p:cTn id="40" dur="500" fill="hold"/>
                                        <p:tgtEl>
                                          <p:spTgt spid="15"/>
                                        </p:tgtEl>
                                        <p:attrNameLst>
                                          <p:attrName>ppt_x</p:attrName>
                                        </p:attrNameLst>
                                      </p:cBhvr>
                                      <p:tavLst>
                                        <p:tav tm="0">
                                          <p:val>
                                            <p:strVal val="#ppt_x"/>
                                          </p:val>
                                        </p:tav>
                                        <p:tav tm="100000">
                                          <p:val>
                                            <p:strVal val="#ppt_x"/>
                                          </p:val>
                                        </p:tav>
                                      </p:tavLst>
                                    </p:anim>
                                    <p:anim calcmode="lin" valueType="num">
                                      <p:cBhvr additive="base">
                                        <p:cTn id="41" dur="500" fill="hold"/>
                                        <p:tgtEl>
                                          <p:spTgt spid="15"/>
                                        </p:tgtEl>
                                        <p:attrNameLst>
                                          <p:attrName>ppt_y</p:attrName>
                                        </p:attrNameLst>
                                      </p:cBhvr>
                                      <p:tavLst>
                                        <p:tav tm="0">
                                          <p:val>
                                            <p:strVal val="1+#ppt_h/2"/>
                                          </p:val>
                                        </p:tav>
                                        <p:tav tm="100000">
                                          <p:val>
                                            <p:strVal val="#ppt_y"/>
                                          </p:val>
                                        </p:tav>
                                      </p:tavLst>
                                    </p:anim>
                                  </p:childTnLst>
                                </p:cTn>
                              </p:par>
                            </p:childTnLst>
                          </p:cTn>
                        </p:par>
                      </p:childTnLst>
                    </p:cTn>
                  </p:par>
                  <p:par>
                    <p:cTn id="42" fill="hold">
                      <p:stCondLst>
                        <p:cond delay="indefinite"/>
                      </p:stCondLst>
                      <p:childTnLst>
                        <p:par>
                          <p:cTn id="43" fill="hold">
                            <p:stCondLst>
                              <p:cond delay="0"/>
                            </p:stCondLst>
                            <p:childTnLst>
                              <p:par>
                                <p:cTn id="44" presetID="22" presetClass="entr" presetSubtype="8" fill="hold" grpId="0" nodeType="clickEffect">
                                  <p:stCondLst>
                                    <p:cond delay="0"/>
                                  </p:stCondLst>
                                  <p:childTnLst>
                                    <p:set>
                                      <p:cBhvr>
                                        <p:cTn id="45" dur="1" fill="hold">
                                          <p:stCondLst>
                                            <p:cond delay="0"/>
                                          </p:stCondLst>
                                        </p:cTn>
                                        <p:tgtEl>
                                          <p:spTgt spid="43011">
                                            <p:txEl>
                                              <p:pRg st="4" end="4"/>
                                            </p:txEl>
                                          </p:spTgt>
                                        </p:tgtEl>
                                        <p:attrNameLst>
                                          <p:attrName>style.visibility</p:attrName>
                                        </p:attrNameLst>
                                      </p:cBhvr>
                                      <p:to>
                                        <p:strVal val="visible"/>
                                      </p:to>
                                    </p:set>
                                    <p:animEffect transition="in" filter="wipe(left)">
                                      <p:cBhvr>
                                        <p:cTn id="46" dur="500"/>
                                        <p:tgtEl>
                                          <p:spTgt spid="43011">
                                            <p:txEl>
                                              <p:pRg st="4" end="4"/>
                                            </p:txEl>
                                          </p:spTgt>
                                        </p:tgtEl>
                                      </p:cBhvr>
                                    </p:animEffect>
                                  </p:childTnLst>
                                </p:cTn>
                              </p:par>
                            </p:childTnLst>
                          </p:cTn>
                        </p:par>
                      </p:childTnLst>
                    </p:cTn>
                  </p:par>
                  <p:par>
                    <p:cTn id="47" fill="hold">
                      <p:stCondLst>
                        <p:cond delay="indefinite"/>
                      </p:stCondLst>
                      <p:childTnLst>
                        <p:par>
                          <p:cTn id="48" fill="hold">
                            <p:stCondLst>
                              <p:cond delay="0"/>
                            </p:stCondLst>
                            <p:childTnLst>
                              <p:par>
                                <p:cTn id="49" presetID="2" presetClass="entr" presetSubtype="4" fill="hold" grpId="0" nodeType="clickEffect">
                                  <p:stCondLst>
                                    <p:cond delay="0"/>
                                  </p:stCondLst>
                                  <p:childTnLst>
                                    <p:set>
                                      <p:cBhvr>
                                        <p:cTn id="50" dur="1" fill="hold">
                                          <p:stCondLst>
                                            <p:cond delay="0"/>
                                          </p:stCondLst>
                                        </p:cTn>
                                        <p:tgtEl>
                                          <p:spTgt spid="16"/>
                                        </p:tgtEl>
                                        <p:attrNameLst>
                                          <p:attrName>style.visibility</p:attrName>
                                        </p:attrNameLst>
                                      </p:cBhvr>
                                      <p:to>
                                        <p:strVal val="visible"/>
                                      </p:to>
                                    </p:set>
                                    <p:anim calcmode="lin" valueType="num">
                                      <p:cBhvr additive="base">
                                        <p:cTn id="51" dur="500" fill="hold"/>
                                        <p:tgtEl>
                                          <p:spTgt spid="16"/>
                                        </p:tgtEl>
                                        <p:attrNameLst>
                                          <p:attrName>ppt_x</p:attrName>
                                        </p:attrNameLst>
                                      </p:cBhvr>
                                      <p:tavLst>
                                        <p:tav tm="0">
                                          <p:val>
                                            <p:strVal val="#ppt_x"/>
                                          </p:val>
                                        </p:tav>
                                        <p:tav tm="100000">
                                          <p:val>
                                            <p:strVal val="#ppt_x"/>
                                          </p:val>
                                        </p:tav>
                                      </p:tavLst>
                                    </p:anim>
                                    <p:anim calcmode="lin" valueType="num">
                                      <p:cBhvr additive="base">
                                        <p:cTn id="52" dur="500" fill="hold"/>
                                        <p:tgtEl>
                                          <p:spTgt spid="1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011" grpId="0" uiExpand="1" build="p" autoUpdateAnimBg="0"/>
      <p:bldP spid="13" grpId="0" animBg="1"/>
      <p:bldP spid="15" grpId="0" animBg="1"/>
      <p:bldP spid="16" grpId="0" animBg="1"/>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标题 1"/>
          <p:cNvSpPr>
            <a:spLocks noGrp="1"/>
          </p:cNvSpPr>
          <p:nvPr>
            <p:ph type="title"/>
          </p:nvPr>
        </p:nvSpPr>
        <p:spPr>
          <a:xfrm>
            <a:off x="1981200" y="210760"/>
            <a:ext cx="8229600" cy="1371600"/>
          </a:xfrm>
        </p:spPr>
        <p:txBody>
          <a:bodyPr/>
          <a:lstStyle/>
          <a:p>
            <a:pPr algn="ctr"/>
            <a:r>
              <a:rPr lang="en-US" altLang="zh-CN" dirty="0">
                <a:solidFill>
                  <a:srgbClr val="008000"/>
                </a:solidFill>
                <a:ea typeface="黑体" panose="02010609060101010101" pitchFamily="49" charset="-122"/>
              </a:rPr>
              <a:t>F</a:t>
            </a:r>
            <a:r>
              <a:rPr lang="zh-CN" altLang="en-US" dirty="0">
                <a:solidFill>
                  <a:srgbClr val="008000"/>
                </a:solidFill>
                <a:latin typeface="黑体" panose="02010609060101010101" pitchFamily="49" charset="-122"/>
                <a:ea typeface="黑体" panose="02010609060101010101" pitchFamily="49" charset="-122"/>
              </a:rPr>
              <a:t>子集的分布</a:t>
            </a:r>
          </a:p>
        </p:txBody>
      </p:sp>
      <p:sp>
        <p:nvSpPr>
          <p:cNvPr id="44035" name="内容占位符 2"/>
          <p:cNvSpPr>
            <a:spLocks noGrp="1"/>
          </p:cNvSpPr>
          <p:nvPr>
            <p:ph idx="1"/>
          </p:nvPr>
        </p:nvSpPr>
        <p:spPr>
          <a:xfrm>
            <a:off x="911424" y="1463983"/>
            <a:ext cx="10297144" cy="2541187"/>
          </a:xfrm>
        </p:spPr>
        <p:txBody>
          <a:bodyPr/>
          <a:lstStyle/>
          <a:p>
            <a:r>
              <a:rPr lang="zh-CN" altLang="en-US" sz="2800" dirty="0">
                <a:ea typeface="黑体" panose="02010609060101010101" pitchFamily="49" charset="-122"/>
              </a:rPr>
              <a:t>两个</a:t>
            </a:r>
            <a:r>
              <a:rPr lang="en-US" altLang="zh-CN" sz="2800" dirty="0">
                <a:ea typeface="黑体" panose="02010609060101010101" pitchFamily="49" charset="-122"/>
              </a:rPr>
              <a:t>F</a:t>
            </a:r>
            <a:r>
              <a:rPr lang="zh-CN" altLang="en-US" sz="2800" dirty="0">
                <a:ea typeface="黑体" panose="02010609060101010101" pitchFamily="49" charset="-122"/>
              </a:rPr>
              <a:t>子集的隶属函数交叉时，交叉点的隶属度值</a:t>
            </a:r>
            <a:r>
              <a:rPr lang="zh-CN" altLang="en-US" sz="2800" i="1" dirty="0">
                <a:ea typeface="黑体" panose="02010609060101010101" pitchFamily="49" charset="-122"/>
                <a:sym typeface="Symbol" panose="05050102010706020507" pitchFamily="18" charset="2"/>
              </a:rPr>
              <a:t></a:t>
            </a:r>
            <a:r>
              <a:rPr lang="zh-CN" altLang="en-US" sz="2800" dirty="0">
                <a:ea typeface="黑体" panose="02010609060101010101" pitchFamily="49" charset="-122"/>
              </a:rPr>
              <a:t>应取得合适</a:t>
            </a:r>
            <a:r>
              <a:rPr lang="en-US" altLang="zh-CN" sz="2800" dirty="0">
                <a:ea typeface="黑体" panose="02010609060101010101" pitchFamily="49" charset="-122"/>
              </a:rPr>
              <a:t>(0.2~0.7)</a:t>
            </a:r>
            <a:r>
              <a:rPr lang="zh-CN" altLang="en-US" sz="2800" dirty="0">
                <a:ea typeface="黑体" panose="02010609060101010101" pitchFamily="49" charset="-122"/>
              </a:rPr>
              <a:t>  </a:t>
            </a:r>
            <a:endParaRPr lang="en-US" altLang="zh-CN" sz="2800" dirty="0">
              <a:ea typeface="黑体" panose="02010609060101010101" pitchFamily="49" charset="-122"/>
            </a:endParaRPr>
          </a:p>
          <a:p>
            <a:pPr lvl="1"/>
            <a:r>
              <a:rPr lang="zh-CN" altLang="en-US" sz="2400" b="1" i="1" dirty="0">
                <a:solidFill>
                  <a:srgbClr val="CC00CC"/>
                </a:solidFill>
                <a:ea typeface="华文楷体" panose="02010600040101010101" pitchFamily="2" charset="-122"/>
                <a:sym typeface="Symbol" panose="05050102010706020507" pitchFamily="18" charset="2"/>
              </a:rPr>
              <a:t></a:t>
            </a:r>
            <a:r>
              <a:rPr lang="zh-CN" altLang="en-US" sz="2400" b="1" dirty="0">
                <a:solidFill>
                  <a:srgbClr val="CC00CC"/>
                </a:solidFill>
                <a:ea typeface="华文楷体" panose="02010600040101010101" pitchFamily="2" charset="-122"/>
                <a:sym typeface="Symbol" panose="05050102010706020507" pitchFamily="18" charset="2"/>
              </a:rPr>
              <a:t>值大时，</a:t>
            </a:r>
            <a:r>
              <a:rPr lang="zh-CN" altLang="en-US" sz="2400" b="1" dirty="0">
                <a:ea typeface="华文楷体" panose="02010600040101010101" pitchFamily="2" charset="-122"/>
                <a:sym typeface="Symbol" panose="05050102010706020507" pitchFamily="18" charset="2"/>
              </a:rPr>
              <a:t>虽然能使控制稳定性变好，变化平缓，但同时也会使系统的灵敏度变差；</a:t>
            </a:r>
            <a:endParaRPr lang="en-US" altLang="zh-CN" sz="2400" b="1" dirty="0">
              <a:ea typeface="华文楷体" panose="02010600040101010101" pitchFamily="2" charset="-122"/>
              <a:sym typeface="Symbol" panose="05050102010706020507" pitchFamily="18" charset="2"/>
            </a:endParaRPr>
          </a:p>
          <a:p>
            <a:pPr lvl="1"/>
            <a:r>
              <a:rPr lang="zh-CN" altLang="en-US" sz="2400" b="1" i="1" dirty="0">
                <a:solidFill>
                  <a:srgbClr val="FF0000"/>
                </a:solidFill>
                <a:ea typeface="华文楷体" panose="02010600040101010101" pitchFamily="2" charset="-122"/>
                <a:sym typeface="Symbol" panose="05050102010706020507" pitchFamily="18" charset="2"/>
              </a:rPr>
              <a:t></a:t>
            </a:r>
            <a:r>
              <a:rPr lang="zh-CN" altLang="en-US" sz="2400" b="1" dirty="0">
                <a:solidFill>
                  <a:srgbClr val="FF0000"/>
                </a:solidFill>
                <a:ea typeface="华文楷体" panose="02010600040101010101" pitchFamily="2" charset="-122"/>
                <a:sym typeface="Symbol" panose="05050102010706020507" pitchFamily="18" charset="2"/>
              </a:rPr>
              <a:t>值小时，</a:t>
            </a:r>
            <a:r>
              <a:rPr lang="zh-CN" altLang="en-US" sz="2400" b="1" dirty="0">
                <a:ea typeface="华文楷体" panose="02010600040101010101" pitchFamily="2" charset="-122"/>
                <a:sym typeface="Symbol" panose="05050102010706020507" pitchFamily="18" charset="2"/>
              </a:rPr>
              <a:t>虽使控制灵敏度变好，但却使系统的稳定性变差，易引起系统波动； </a:t>
            </a:r>
            <a:r>
              <a:rPr lang="zh-CN" altLang="en-US" sz="2400" b="1" i="1" dirty="0">
                <a:solidFill>
                  <a:srgbClr val="3333FF"/>
                </a:solidFill>
                <a:ea typeface="华文楷体" panose="02010600040101010101" pitchFamily="2" charset="-122"/>
                <a:sym typeface="Symbol" panose="05050102010706020507" pitchFamily="18" charset="2"/>
              </a:rPr>
              <a:t></a:t>
            </a:r>
            <a:r>
              <a:rPr lang="zh-CN" altLang="en-US" sz="2400" b="1" dirty="0">
                <a:solidFill>
                  <a:srgbClr val="3333FF"/>
                </a:solidFill>
                <a:ea typeface="华文楷体" panose="02010600040101010101" pitchFamily="2" charset="-122"/>
                <a:sym typeface="Symbol" panose="05050102010706020507" pitchFamily="18" charset="2"/>
              </a:rPr>
              <a:t>值过小时，</a:t>
            </a:r>
            <a:r>
              <a:rPr lang="zh-CN" altLang="en-US" sz="2400" b="1" dirty="0">
                <a:ea typeface="华文楷体" panose="02010600040101010101" pitchFamily="2" charset="-122"/>
                <a:sym typeface="Symbol" panose="05050102010706020507" pitchFamily="18" charset="2"/>
              </a:rPr>
              <a:t>会使控制器的</a:t>
            </a:r>
            <a:r>
              <a:rPr lang="en-US" altLang="zh-CN" sz="2400" b="1" dirty="0">
                <a:ea typeface="华文楷体" panose="02010600040101010101" pitchFamily="2" charset="-122"/>
                <a:sym typeface="Symbol" panose="05050102010706020507" pitchFamily="18" charset="2"/>
              </a:rPr>
              <a:t>F</a:t>
            </a:r>
            <a:r>
              <a:rPr lang="zh-CN" altLang="en-US" sz="2400" b="1" dirty="0">
                <a:ea typeface="华文楷体" panose="02010600040101010101" pitchFamily="2" charset="-122"/>
                <a:sym typeface="Symbol" panose="05050102010706020507" pitchFamily="18" charset="2"/>
              </a:rPr>
              <a:t>性变差。</a:t>
            </a:r>
            <a:endParaRPr lang="en-US" altLang="zh-CN" sz="2400" b="1" dirty="0">
              <a:ea typeface="华文楷体" panose="02010600040101010101" pitchFamily="2" charset="-122"/>
            </a:endParaRPr>
          </a:p>
          <a:p>
            <a:pPr lvl="1"/>
            <a:endParaRPr lang="zh-CN" altLang="en-US" dirty="0"/>
          </a:p>
        </p:txBody>
      </p:sp>
      <p:grpSp>
        <p:nvGrpSpPr>
          <p:cNvPr id="44036" name="Group 4"/>
          <p:cNvGrpSpPr>
            <a:grpSpLocks/>
          </p:cNvGrpSpPr>
          <p:nvPr/>
        </p:nvGrpSpPr>
        <p:grpSpPr bwMode="auto">
          <a:xfrm>
            <a:off x="2929310" y="4276728"/>
            <a:ext cx="6481390" cy="2392363"/>
            <a:chOff x="1960" y="0"/>
            <a:chExt cx="6480720" cy="2392469"/>
          </a:xfrm>
        </p:grpSpPr>
        <p:cxnSp>
          <p:nvCxnSpPr>
            <p:cNvPr id="44037" name="直接箭头连接符 22"/>
            <p:cNvCxnSpPr>
              <a:cxnSpLocks noChangeShapeType="1"/>
            </p:cNvCxnSpPr>
            <p:nvPr/>
          </p:nvCxnSpPr>
          <p:spPr bwMode="auto">
            <a:xfrm>
              <a:off x="1960" y="2376264"/>
              <a:ext cx="6480720" cy="16205"/>
            </a:xfrm>
            <a:prstGeom prst="straightConnector1">
              <a:avLst/>
            </a:prstGeom>
            <a:noFill/>
            <a:ln w="19050" cmpd="sng">
              <a:solidFill>
                <a:schemeClr val="tx1"/>
              </a:solidFill>
              <a:round/>
              <a:headEnd/>
              <a:tailEnd type="arrow" w="med" len="med"/>
            </a:ln>
            <a:extLst>
              <a:ext uri="{909E8E84-426E-40DD-AFC4-6F175D3DCCD1}">
                <a14:hiddenFill xmlns:a14="http://schemas.microsoft.com/office/drawing/2010/main">
                  <a:noFill/>
                </a14:hiddenFill>
              </a:ext>
            </a:extLst>
          </p:spPr>
        </p:cxnSp>
        <p:cxnSp>
          <p:nvCxnSpPr>
            <p:cNvPr id="44038" name="直接箭头连接符 23"/>
            <p:cNvCxnSpPr>
              <a:cxnSpLocks noChangeShapeType="1"/>
            </p:cNvCxnSpPr>
            <p:nvPr/>
          </p:nvCxnSpPr>
          <p:spPr bwMode="auto">
            <a:xfrm flipV="1">
              <a:off x="3240360" y="0"/>
              <a:ext cx="1960" cy="2370620"/>
            </a:xfrm>
            <a:prstGeom prst="straightConnector1">
              <a:avLst/>
            </a:prstGeom>
            <a:noFill/>
            <a:ln w="19050" cmpd="sng">
              <a:solidFill>
                <a:schemeClr val="tx1"/>
              </a:solidFill>
              <a:round/>
              <a:headEnd/>
              <a:tailEnd type="arrow" w="med" len="med"/>
            </a:ln>
            <a:extLst>
              <a:ext uri="{909E8E84-426E-40DD-AFC4-6F175D3DCCD1}">
                <a14:hiddenFill xmlns:a14="http://schemas.microsoft.com/office/drawing/2010/main">
                  <a:noFill/>
                </a14:hiddenFill>
              </a:ext>
            </a:extLst>
          </p:spPr>
        </p:cxnSp>
        <p:cxnSp>
          <p:nvCxnSpPr>
            <p:cNvPr id="44039" name="直接连接符 24"/>
            <p:cNvCxnSpPr>
              <a:cxnSpLocks noChangeShapeType="1"/>
            </p:cNvCxnSpPr>
            <p:nvPr/>
          </p:nvCxnSpPr>
          <p:spPr bwMode="auto">
            <a:xfrm flipH="1">
              <a:off x="3172272" y="520261"/>
              <a:ext cx="70048" cy="0"/>
            </a:xfrm>
            <a:prstGeom prst="line">
              <a:avLst/>
            </a:prstGeom>
            <a:noFill/>
            <a:ln w="19050" cmpd="sng">
              <a:solidFill>
                <a:schemeClr val="tx1"/>
              </a:solidFill>
              <a:round/>
              <a:headEnd/>
              <a:tailEnd/>
            </a:ln>
            <a:extLst>
              <a:ext uri="{909E8E84-426E-40DD-AFC4-6F175D3DCCD1}">
                <a14:hiddenFill xmlns:a14="http://schemas.microsoft.com/office/drawing/2010/main">
                  <a:noFill/>
                </a14:hiddenFill>
              </a:ext>
            </a:extLst>
          </p:spPr>
        </p:cxnSp>
        <p:sp>
          <p:nvSpPr>
            <p:cNvPr id="44040" name="TextBox 25"/>
            <p:cNvSpPr txBox="1">
              <a:spLocks noChangeArrowheads="1"/>
            </p:cNvSpPr>
            <p:nvPr/>
          </p:nvSpPr>
          <p:spPr bwMode="auto">
            <a:xfrm>
              <a:off x="2882280" y="99501"/>
              <a:ext cx="36004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r>
                <a:rPr lang="en-US" altLang="zh-CN"/>
                <a:t>1</a:t>
              </a:r>
              <a:endParaRPr lang="zh-CN" altLang="en-US"/>
            </a:p>
          </p:txBody>
        </p:sp>
        <p:grpSp>
          <p:nvGrpSpPr>
            <p:cNvPr id="44041" name="Group 9"/>
            <p:cNvGrpSpPr>
              <a:grpSpLocks/>
            </p:cNvGrpSpPr>
            <p:nvPr/>
          </p:nvGrpSpPr>
          <p:grpSpPr bwMode="auto">
            <a:xfrm>
              <a:off x="581113" y="483205"/>
              <a:ext cx="2227207" cy="1893059"/>
              <a:chOff x="581113" y="0"/>
              <a:chExt cx="2227207" cy="1893059"/>
            </a:xfrm>
          </p:grpSpPr>
          <p:cxnSp>
            <p:nvCxnSpPr>
              <p:cNvPr id="44042" name="直接连接符 37"/>
              <p:cNvCxnSpPr>
                <a:cxnSpLocks noChangeShapeType="1"/>
              </p:cNvCxnSpPr>
              <p:nvPr/>
            </p:nvCxnSpPr>
            <p:spPr bwMode="auto">
              <a:xfrm flipH="1">
                <a:off x="581113" y="0"/>
                <a:ext cx="1219200" cy="1887415"/>
              </a:xfrm>
              <a:prstGeom prst="line">
                <a:avLst/>
              </a:prstGeom>
              <a:noFill/>
              <a:ln w="38100" cmpd="sng">
                <a:solidFill>
                  <a:srgbClr val="CC00CC"/>
                </a:solidFill>
                <a:round/>
                <a:headEnd/>
                <a:tailEnd/>
              </a:ln>
              <a:extLst>
                <a:ext uri="{909E8E84-426E-40DD-AFC4-6F175D3DCCD1}">
                  <a14:hiddenFill xmlns:a14="http://schemas.microsoft.com/office/drawing/2010/main">
                    <a:noFill/>
                  </a14:hiddenFill>
                </a:ext>
              </a:extLst>
            </p:spPr>
          </p:cxnSp>
          <p:cxnSp>
            <p:nvCxnSpPr>
              <p:cNvPr id="44043" name="直接连接符 38"/>
              <p:cNvCxnSpPr>
                <a:cxnSpLocks noChangeShapeType="1"/>
              </p:cNvCxnSpPr>
              <p:nvPr/>
            </p:nvCxnSpPr>
            <p:spPr bwMode="auto">
              <a:xfrm>
                <a:off x="1793312" y="0"/>
                <a:ext cx="1015008" cy="1893059"/>
              </a:xfrm>
              <a:prstGeom prst="line">
                <a:avLst/>
              </a:prstGeom>
              <a:noFill/>
              <a:ln w="38100" cmpd="sng">
                <a:solidFill>
                  <a:srgbClr val="CC00CC"/>
                </a:solidFill>
                <a:round/>
                <a:headEnd/>
                <a:tailEnd/>
              </a:ln>
              <a:extLst>
                <a:ext uri="{909E8E84-426E-40DD-AFC4-6F175D3DCCD1}">
                  <a14:hiddenFill xmlns:a14="http://schemas.microsoft.com/office/drawing/2010/main">
                    <a:noFill/>
                  </a14:hiddenFill>
                </a:ext>
              </a:extLst>
            </p:spPr>
          </p:cxnSp>
        </p:grpSp>
        <p:grpSp>
          <p:nvGrpSpPr>
            <p:cNvPr id="44044" name="Group 12"/>
            <p:cNvGrpSpPr>
              <a:grpSpLocks/>
            </p:cNvGrpSpPr>
            <p:nvPr/>
          </p:nvGrpSpPr>
          <p:grpSpPr bwMode="auto">
            <a:xfrm>
              <a:off x="2498939" y="493766"/>
              <a:ext cx="2234208" cy="1893059"/>
              <a:chOff x="0" y="0"/>
              <a:chExt cx="2234208" cy="1893059"/>
            </a:xfrm>
          </p:grpSpPr>
          <p:cxnSp>
            <p:nvCxnSpPr>
              <p:cNvPr id="44045" name="直接连接符 35"/>
              <p:cNvCxnSpPr>
                <a:cxnSpLocks noChangeShapeType="1"/>
              </p:cNvCxnSpPr>
              <p:nvPr/>
            </p:nvCxnSpPr>
            <p:spPr bwMode="auto">
              <a:xfrm flipH="1">
                <a:off x="0" y="0"/>
                <a:ext cx="1219200" cy="1887415"/>
              </a:xfrm>
              <a:prstGeom prst="line">
                <a:avLst/>
              </a:prstGeom>
              <a:noFill/>
              <a:ln w="38100" cmpd="sng">
                <a:solidFill>
                  <a:srgbClr val="008000"/>
                </a:solidFill>
                <a:round/>
                <a:headEnd/>
                <a:tailEnd/>
              </a:ln>
              <a:extLst>
                <a:ext uri="{909E8E84-426E-40DD-AFC4-6F175D3DCCD1}">
                  <a14:hiddenFill xmlns:a14="http://schemas.microsoft.com/office/drawing/2010/main">
                    <a:noFill/>
                  </a14:hiddenFill>
                </a:ext>
              </a:extLst>
            </p:spPr>
          </p:cxnSp>
          <p:cxnSp>
            <p:nvCxnSpPr>
              <p:cNvPr id="44046" name="直接连接符 36"/>
              <p:cNvCxnSpPr>
                <a:cxnSpLocks noChangeShapeType="1"/>
              </p:cNvCxnSpPr>
              <p:nvPr/>
            </p:nvCxnSpPr>
            <p:spPr bwMode="auto">
              <a:xfrm>
                <a:off x="1219200" y="0"/>
                <a:ext cx="1015008" cy="1893059"/>
              </a:xfrm>
              <a:prstGeom prst="line">
                <a:avLst/>
              </a:prstGeom>
              <a:noFill/>
              <a:ln w="38100" cmpd="sng">
                <a:solidFill>
                  <a:srgbClr val="008000"/>
                </a:solidFill>
                <a:round/>
                <a:headEnd/>
                <a:tailEnd/>
              </a:ln>
              <a:extLst>
                <a:ext uri="{909E8E84-426E-40DD-AFC4-6F175D3DCCD1}">
                  <a14:hiddenFill xmlns:a14="http://schemas.microsoft.com/office/drawing/2010/main">
                    <a:noFill/>
                  </a14:hiddenFill>
                </a:ext>
              </a:extLst>
            </p:spPr>
          </p:cxnSp>
        </p:grpSp>
        <p:grpSp>
          <p:nvGrpSpPr>
            <p:cNvPr id="44047" name="Group 15"/>
            <p:cNvGrpSpPr>
              <a:grpSpLocks/>
            </p:cNvGrpSpPr>
            <p:nvPr/>
          </p:nvGrpSpPr>
          <p:grpSpPr bwMode="auto">
            <a:xfrm>
              <a:off x="3487089" y="499410"/>
              <a:ext cx="2234208" cy="1893059"/>
              <a:chOff x="0" y="0"/>
              <a:chExt cx="2234208" cy="1893059"/>
            </a:xfrm>
          </p:grpSpPr>
          <p:cxnSp>
            <p:nvCxnSpPr>
              <p:cNvPr id="44048" name="直接连接符 33"/>
              <p:cNvCxnSpPr>
                <a:cxnSpLocks noChangeShapeType="1"/>
              </p:cNvCxnSpPr>
              <p:nvPr/>
            </p:nvCxnSpPr>
            <p:spPr bwMode="auto">
              <a:xfrm flipH="1">
                <a:off x="0" y="0"/>
                <a:ext cx="1219200" cy="1887415"/>
              </a:xfrm>
              <a:prstGeom prst="line">
                <a:avLst/>
              </a:prstGeom>
              <a:noFill/>
              <a:ln w="38100" cmpd="sng">
                <a:solidFill>
                  <a:srgbClr val="FF0000"/>
                </a:solidFill>
                <a:round/>
                <a:headEnd/>
                <a:tailEnd/>
              </a:ln>
              <a:extLst>
                <a:ext uri="{909E8E84-426E-40DD-AFC4-6F175D3DCCD1}">
                  <a14:hiddenFill xmlns:a14="http://schemas.microsoft.com/office/drawing/2010/main">
                    <a:noFill/>
                  </a14:hiddenFill>
                </a:ext>
              </a:extLst>
            </p:spPr>
          </p:cxnSp>
          <p:cxnSp>
            <p:nvCxnSpPr>
              <p:cNvPr id="44049" name="直接连接符 34"/>
              <p:cNvCxnSpPr>
                <a:cxnSpLocks noChangeShapeType="1"/>
              </p:cNvCxnSpPr>
              <p:nvPr/>
            </p:nvCxnSpPr>
            <p:spPr bwMode="auto">
              <a:xfrm>
                <a:off x="1219200" y="0"/>
                <a:ext cx="1015008" cy="1893059"/>
              </a:xfrm>
              <a:prstGeom prst="line">
                <a:avLst/>
              </a:prstGeom>
              <a:noFill/>
              <a:ln w="38100" cmpd="sng">
                <a:solidFill>
                  <a:srgbClr val="FF0000"/>
                </a:solidFill>
                <a:round/>
                <a:headEnd/>
                <a:tailEnd/>
              </a:ln>
              <a:extLst>
                <a:ext uri="{909E8E84-426E-40DD-AFC4-6F175D3DCCD1}">
                  <a14:hiddenFill xmlns:a14="http://schemas.microsoft.com/office/drawing/2010/main">
                    <a:noFill/>
                  </a14:hiddenFill>
                </a:ext>
              </a:extLst>
            </p:spPr>
          </p:cxnSp>
        </p:grpSp>
        <p:grpSp>
          <p:nvGrpSpPr>
            <p:cNvPr id="44050" name="Group 18"/>
            <p:cNvGrpSpPr>
              <a:grpSpLocks/>
            </p:cNvGrpSpPr>
            <p:nvPr/>
          </p:nvGrpSpPr>
          <p:grpSpPr bwMode="auto">
            <a:xfrm>
              <a:off x="4038074" y="477561"/>
              <a:ext cx="2234208" cy="1893059"/>
              <a:chOff x="0" y="0"/>
              <a:chExt cx="2234208" cy="1893059"/>
            </a:xfrm>
          </p:grpSpPr>
          <p:cxnSp>
            <p:nvCxnSpPr>
              <p:cNvPr id="44051" name="直接连接符 31"/>
              <p:cNvCxnSpPr>
                <a:cxnSpLocks noChangeShapeType="1"/>
              </p:cNvCxnSpPr>
              <p:nvPr/>
            </p:nvCxnSpPr>
            <p:spPr bwMode="auto">
              <a:xfrm flipH="1">
                <a:off x="0" y="0"/>
                <a:ext cx="1219200" cy="1887415"/>
              </a:xfrm>
              <a:prstGeom prst="line">
                <a:avLst/>
              </a:prstGeom>
              <a:noFill/>
              <a:ln w="38100" cmpd="sng">
                <a:solidFill>
                  <a:srgbClr val="3333FF"/>
                </a:solidFill>
                <a:round/>
                <a:headEnd/>
                <a:tailEnd/>
              </a:ln>
              <a:extLst>
                <a:ext uri="{909E8E84-426E-40DD-AFC4-6F175D3DCCD1}">
                  <a14:hiddenFill xmlns:a14="http://schemas.microsoft.com/office/drawing/2010/main">
                    <a:noFill/>
                  </a14:hiddenFill>
                </a:ext>
              </a:extLst>
            </p:spPr>
          </p:cxnSp>
          <p:cxnSp>
            <p:nvCxnSpPr>
              <p:cNvPr id="44052" name="直接连接符 32"/>
              <p:cNvCxnSpPr>
                <a:cxnSpLocks noChangeShapeType="1"/>
              </p:cNvCxnSpPr>
              <p:nvPr/>
            </p:nvCxnSpPr>
            <p:spPr bwMode="auto">
              <a:xfrm>
                <a:off x="1219200" y="0"/>
                <a:ext cx="1015008" cy="1893059"/>
              </a:xfrm>
              <a:prstGeom prst="line">
                <a:avLst/>
              </a:prstGeom>
              <a:noFill/>
              <a:ln w="38100" cmpd="sng">
                <a:solidFill>
                  <a:srgbClr val="3333FF"/>
                </a:solidFill>
                <a:round/>
                <a:headEnd/>
                <a:tailEnd/>
              </a:ln>
              <a:extLst>
                <a:ext uri="{909E8E84-426E-40DD-AFC4-6F175D3DCCD1}">
                  <a14:hiddenFill xmlns:a14="http://schemas.microsoft.com/office/drawing/2010/main">
                    <a:noFill/>
                  </a14:hiddenFill>
                </a:ext>
              </a:extLst>
            </p:spPr>
          </p:cxnSp>
        </p:grpSp>
        <p:sp>
          <p:nvSpPr>
            <p:cNvPr id="44053" name="TextBox 30"/>
            <p:cNvSpPr txBox="1">
              <a:spLocks noChangeArrowheads="1"/>
            </p:cNvSpPr>
            <p:nvPr/>
          </p:nvSpPr>
          <p:spPr bwMode="auto">
            <a:xfrm>
              <a:off x="1096525" y="62716"/>
              <a:ext cx="4788460" cy="3693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r>
                <a:rPr lang="en-US" altLang="zh-CN" dirty="0"/>
                <a:t>       A                             B             C       D</a:t>
              </a:r>
              <a:endParaRPr lang="zh-CN" altLang="en-US" dirty="0"/>
            </a:p>
          </p:txBody>
        </p:sp>
      </p:grpSp>
      <p:grpSp>
        <p:nvGrpSpPr>
          <p:cNvPr id="44054" name="Group 22"/>
          <p:cNvGrpSpPr>
            <a:grpSpLocks/>
          </p:cNvGrpSpPr>
          <p:nvPr/>
        </p:nvGrpSpPr>
        <p:grpSpPr bwMode="auto">
          <a:xfrm>
            <a:off x="5591175" y="5013325"/>
            <a:ext cx="2305050" cy="369888"/>
            <a:chOff x="0" y="0"/>
            <a:chExt cx="2304256" cy="369332"/>
          </a:xfrm>
        </p:grpSpPr>
        <p:cxnSp>
          <p:nvCxnSpPr>
            <p:cNvPr id="44055" name="直接连接符 40"/>
            <p:cNvCxnSpPr>
              <a:cxnSpLocks noChangeShapeType="1"/>
            </p:cNvCxnSpPr>
            <p:nvPr/>
          </p:nvCxnSpPr>
          <p:spPr bwMode="auto">
            <a:xfrm flipH="1">
              <a:off x="576064" y="216024"/>
              <a:ext cx="1728192" cy="0"/>
            </a:xfrm>
            <a:prstGeom prst="line">
              <a:avLst/>
            </a:prstGeom>
            <a:noFill/>
            <a:ln w="28575" cmpd="sng">
              <a:solidFill>
                <a:srgbClr val="FF9933"/>
              </a:solidFill>
              <a:prstDash val="sysDash"/>
              <a:round/>
              <a:headEnd/>
              <a:tailEnd/>
            </a:ln>
            <a:extLst>
              <a:ext uri="{909E8E84-426E-40DD-AFC4-6F175D3DCCD1}">
                <a14:hiddenFill xmlns:a14="http://schemas.microsoft.com/office/drawing/2010/main">
                  <a:noFill/>
                </a14:hiddenFill>
              </a:ext>
            </a:extLst>
          </p:spPr>
        </p:cxnSp>
        <p:sp>
          <p:nvSpPr>
            <p:cNvPr id="44056" name="TextBox 41"/>
            <p:cNvSpPr txBox="1">
              <a:spLocks noChangeArrowheads="1"/>
            </p:cNvSpPr>
            <p:nvPr/>
          </p:nvSpPr>
          <p:spPr bwMode="auto">
            <a:xfrm>
              <a:off x="0" y="0"/>
              <a:ext cx="50797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r>
                <a:rPr lang="en-US" altLang="zh-CN" dirty="0"/>
                <a:t>0.8</a:t>
              </a:r>
              <a:endParaRPr lang="zh-CN" altLang="en-US" dirty="0"/>
            </a:p>
          </p:txBody>
        </p:sp>
      </p:grpSp>
      <p:grpSp>
        <p:nvGrpSpPr>
          <p:cNvPr id="3" name="组合 2"/>
          <p:cNvGrpSpPr/>
          <p:nvPr/>
        </p:nvGrpSpPr>
        <p:grpSpPr>
          <a:xfrm>
            <a:off x="5581982" y="6168747"/>
            <a:ext cx="1234101" cy="369332"/>
            <a:chOff x="4057979" y="6168747"/>
            <a:chExt cx="1234101" cy="369332"/>
          </a:xfrm>
        </p:grpSpPr>
        <p:cxnSp>
          <p:nvCxnSpPr>
            <p:cNvPr id="25" name="直接连接符 40"/>
            <p:cNvCxnSpPr>
              <a:cxnSpLocks noChangeShapeType="1"/>
            </p:cNvCxnSpPr>
            <p:nvPr/>
          </p:nvCxnSpPr>
          <p:spPr bwMode="auto">
            <a:xfrm flipH="1">
              <a:off x="4057979" y="6381328"/>
              <a:ext cx="585459" cy="0"/>
            </a:xfrm>
            <a:prstGeom prst="line">
              <a:avLst/>
            </a:prstGeom>
            <a:noFill/>
            <a:ln w="28575" cmpd="sng">
              <a:solidFill>
                <a:srgbClr val="FF9933"/>
              </a:solidFill>
              <a:prstDash val="sysDash"/>
              <a:round/>
              <a:headEnd/>
              <a:tailEnd/>
            </a:ln>
            <a:extLst>
              <a:ext uri="{909E8E84-426E-40DD-AFC4-6F175D3DCCD1}">
                <a14:hiddenFill xmlns:a14="http://schemas.microsoft.com/office/drawing/2010/main">
                  <a:noFill/>
                </a14:hiddenFill>
              </a:ext>
            </a:extLst>
          </p:spPr>
        </p:cxnSp>
        <p:sp>
          <p:nvSpPr>
            <p:cNvPr id="27" name="TextBox 41"/>
            <p:cNvSpPr txBox="1">
              <a:spLocks noChangeArrowheads="1"/>
            </p:cNvSpPr>
            <p:nvPr/>
          </p:nvSpPr>
          <p:spPr bwMode="auto">
            <a:xfrm>
              <a:off x="4586380" y="6168747"/>
              <a:ext cx="70570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r>
                <a:rPr lang="en-US" altLang="zh-CN" dirty="0"/>
                <a:t>0.15</a:t>
              </a:r>
              <a:endParaRPr lang="zh-CN" altLang="en-US" dirty="0"/>
            </a:p>
          </p:txBody>
        </p:sp>
      </p:grpSp>
      <p:sp>
        <p:nvSpPr>
          <p:cNvPr id="2" name="灯片编号占位符 1">
            <a:extLst>
              <a:ext uri="{FF2B5EF4-FFF2-40B4-BE49-F238E27FC236}">
                <a16:creationId xmlns:a16="http://schemas.microsoft.com/office/drawing/2014/main" id="{4AC53241-132A-88FA-3138-B9963B73F29D}"/>
              </a:ext>
            </a:extLst>
          </p:cNvPr>
          <p:cNvSpPr>
            <a:spLocks noGrp="1"/>
          </p:cNvSpPr>
          <p:nvPr>
            <p:ph type="sldNum" sz="quarter" idx="11"/>
          </p:nvPr>
        </p:nvSpPr>
        <p:spPr/>
        <p:txBody>
          <a:bodyPr/>
          <a:lstStyle/>
          <a:p>
            <a:pPr>
              <a:defRPr/>
            </a:pPr>
            <a:fld id="{1F3E0329-027F-44B1-A42A-8643FF593956}" type="slidenum">
              <a:rPr lang="en-US" altLang="zh-CN" smtClean="0"/>
              <a:pPr>
                <a:defRPr/>
              </a:pPr>
              <a:t>35</a:t>
            </a:fld>
            <a:endParaRPr lang="en-US" altLang="zh-CN"/>
          </a:p>
        </p:txBody>
      </p:sp>
    </p:spTree>
    <p:extLst>
      <p:ext uri="{BB962C8B-B14F-4D97-AF65-F5344CB8AC3E}">
        <p14:creationId xmlns:p14="http://schemas.microsoft.com/office/powerpoint/2010/main" val="95449627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44035">
                                            <p:txEl>
                                              <p:pRg st="0" end="0"/>
                                            </p:txEl>
                                          </p:spTgt>
                                        </p:tgtEl>
                                        <p:attrNameLst>
                                          <p:attrName>style.visibility</p:attrName>
                                        </p:attrNameLst>
                                      </p:cBhvr>
                                      <p:to>
                                        <p:strVal val="visible"/>
                                      </p:to>
                                    </p:set>
                                    <p:animEffect transition="in" filter="wipe(left)">
                                      <p:cBhvr>
                                        <p:cTn id="7" dur="500"/>
                                        <p:tgtEl>
                                          <p:spTgt spid="44035">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2" presetClass="entr" presetSubtype="0" fill="hold" nodeType="clickEffect">
                                  <p:stCondLst>
                                    <p:cond delay="0"/>
                                  </p:stCondLst>
                                  <p:childTnLst>
                                    <p:set>
                                      <p:cBhvr>
                                        <p:cTn id="11" dur="1" fill="hold">
                                          <p:stCondLst>
                                            <p:cond delay="0"/>
                                          </p:stCondLst>
                                        </p:cTn>
                                        <p:tgtEl>
                                          <p:spTgt spid="44036"/>
                                        </p:tgtEl>
                                        <p:attrNameLst>
                                          <p:attrName>style.visibility</p:attrName>
                                        </p:attrNameLst>
                                      </p:cBhvr>
                                      <p:to>
                                        <p:strVal val="visible"/>
                                      </p:to>
                                    </p:set>
                                    <p:animEffect transition="in" filter="fade">
                                      <p:cBhvr>
                                        <p:cTn id="12" dur="1000"/>
                                        <p:tgtEl>
                                          <p:spTgt spid="44036"/>
                                        </p:tgtEl>
                                      </p:cBhvr>
                                    </p:animEffect>
                                    <p:anim calcmode="lin" valueType="num">
                                      <p:cBhvr>
                                        <p:cTn id="13" dur="1000" fill="hold"/>
                                        <p:tgtEl>
                                          <p:spTgt spid="44036"/>
                                        </p:tgtEl>
                                        <p:attrNameLst>
                                          <p:attrName>ppt_x</p:attrName>
                                        </p:attrNameLst>
                                      </p:cBhvr>
                                      <p:tavLst>
                                        <p:tav tm="0">
                                          <p:val>
                                            <p:strVal val="#ppt_x"/>
                                          </p:val>
                                        </p:tav>
                                        <p:tav tm="100000">
                                          <p:val>
                                            <p:strVal val="#ppt_x"/>
                                          </p:val>
                                        </p:tav>
                                      </p:tavLst>
                                    </p:anim>
                                    <p:anim calcmode="lin" valueType="num">
                                      <p:cBhvr>
                                        <p:cTn id="14" dur="1000" fill="hold"/>
                                        <p:tgtEl>
                                          <p:spTgt spid="44036"/>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2" presetClass="entr" presetSubtype="8" fill="hold" grpId="0" nodeType="clickEffect">
                                  <p:stCondLst>
                                    <p:cond delay="0"/>
                                  </p:stCondLst>
                                  <p:childTnLst>
                                    <p:set>
                                      <p:cBhvr>
                                        <p:cTn id="18" dur="1" fill="hold">
                                          <p:stCondLst>
                                            <p:cond delay="0"/>
                                          </p:stCondLst>
                                        </p:cTn>
                                        <p:tgtEl>
                                          <p:spTgt spid="44035">
                                            <p:txEl>
                                              <p:pRg st="1" end="1"/>
                                            </p:txEl>
                                          </p:spTgt>
                                        </p:tgtEl>
                                        <p:attrNameLst>
                                          <p:attrName>style.visibility</p:attrName>
                                        </p:attrNameLst>
                                      </p:cBhvr>
                                      <p:to>
                                        <p:strVal val="visible"/>
                                      </p:to>
                                    </p:set>
                                    <p:animEffect transition="in" filter="wipe(left)">
                                      <p:cBhvr>
                                        <p:cTn id="19" dur="500"/>
                                        <p:tgtEl>
                                          <p:spTgt spid="44035">
                                            <p:txEl>
                                              <p:pRg st="1" end="1"/>
                                            </p:txEl>
                                          </p:spTgt>
                                        </p:tgtEl>
                                      </p:cBhvr>
                                    </p:animEffect>
                                  </p:childTnLst>
                                </p:cTn>
                              </p:par>
                            </p:childTnLst>
                          </p:cTn>
                        </p:par>
                      </p:childTnLst>
                    </p:cTn>
                  </p:par>
                  <p:par>
                    <p:cTn id="20" fill="hold" nodeType="clickPar">
                      <p:stCondLst>
                        <p:cond delay="indefinite"/>
                      </p:stCondLst>
                      <p:childTnLst>
                        <p:par>
                          <p:cTn id="21" fill="hold" nodeType="withGroup">
                            <p:stCondLst>
                              <p:cond delay="0"/>
                            </p:stCondLst>
                            <p:childTnLst>
                              <p:par>
                                <p:cTn id="22" presetID="10" presetClass="entr" presetSubtype="0" fill="hold" nodeType="clickEffect">
                                  <p:stCondLst>
                                    <p:cond delay="0"/>
                                  </p:stCondLst>
                                  <p:childTnLst>
                                    <p:set>
                                      <p:cBhvr>
                                        <p:cTn id="23" dur="1" fill="hold">
                                          <p:stCondLst>
                                            <p:cond delay="0"/>
                                          </p:stCondLst>
                                        </p:cTn>
                                        <p:tgtEl>
                                          <p:spTgt spid="44054"/>
                                        </p:tgtEl>
                                        <p:attrNameLst>
                                          <p:attrName>style.visibility</p:attrName>
                                        </p:attrNameLst>
                                      </p:cBhvr>
                                      <p:to>
                                        <p:strVal val="visible"/>
                                      </p:to>
                                    </p:set>
                                    <p:animEffect transition="in" filter="fade">
                                      <p:cBhvr>
                                        <p:cTn id="24" dur="500"/>
                                        <p:tgtEl>
                                          <p:spTgt spid="44054"/>
                                        </p:tgtEl>
                                      </p:cBhvr>
                                    </p:animEffect>
                                  </p:childTnLst>
                                </p:cTn>
                              </p:par>
                            </p:childTnLst>
                          </p:cTn>
                        </p:par>
                      </p:childTnLst>
                    </p:cTn>
                  </p:par>
                  <p:par>
                    <p:cTn id="25" fill="hold">
                      <p:stCondLst>
                        <p:cond delay="indefinite"/>
                      </p:stCondLst>
                      <p:childTnLst>
                        <p:par>
                          <p:cTn id="26" fill="hold">
                            <p:stCondLst>
                              <p:cond delay="0"/>
                            </p:stCondLst>
                            <p:childTnLst>
                              <p:par>
                                <p:cTn id="27" presetID="22" presetClass="entr" presetSubtype="8" fill="hold" grpId="0" nodeType="clickEffect">
                                  <p:stCondLst>
                                    <p:cond delay="0"/>
                                  </p:stCondLst>
                                  <p:childTnLst>
                                    <p:set>
                                      <p:cBhvr>
                                        <p:cTn id="28" dur="1" fill="hold">
                                          <p:stCondLst>
                                            <p:cond delay="0"/>
                                          </p:stCondLst>
                                        </p:cTn>
                                        <p:tgtEl>
                                          <p:spTgt spid="44035">
                                            <p:txEl>
                                              <p:pRg st="2" end="2"/>
                                            </p:txEl>
                                          </p:spTgt>
                                        </p:tgtEl>
                                        <p:attrNameLst>
                                          <p:attrName>style.visibility</p:attrName>
                                        </p:attrNameLst>
                                      </p:cBhvr>
                                      <p:to>
                                        <p:strVal val="visible"/>
                                      </p:to>
                                    </p:set>
                                    <p:animEffect transition="in" filter="wipe(left)">
                                      <p:cBhvr>
                                        <p:cTn id="29" dur="500"/>
                                        <p:tgtEl>
                                          <p:spTgt spid="44035">
                                            <p:txEl>
                                              <p:pRg st="2" end="2"/>
                                            </p:txEl>
                                          </p:spTgt>
                                        </p:tgtEl>
                                      </p:cBhvr>
                                    </p:animEffect>
                                  </p:childTnLst>
                                </p:cTn>
                              </p:par>
                            </p:childTnLst>
                          </p:cTn>
                        </p:par>
                      </p:childTnLst>
                    </p:cTn>
                  </p:par>
                  <p:par>
                    <p:cTn id="30" fill="hold">
                      <p:stCondLst>
                        <p:cond delay="indefinite"/>
                      </p:stCondLst>
                      <p:childTnLst>
                        <p:par>
                          <p:cTn id="31" fill="hold">
                            <p:stCondLst>
                              <p:cond delay="0"/>
                            </p:stCondLst>
                            <p:childTnLst>
                              <p:par>
                                <p:cTn id="32" presetID="42" presetClass="entr" presetSubtype="0" fill="hold" nodeType="clickEffect">
                                  <p:stCondLst>
                                    <p:cond delay="0"/>
                                  </p:stCondLst>
                                  <p:childTnLst>
                                    <p:set>
                                      <p:cBhvr>
                                        <p:cTn id="33" dur="1" fill="hold">
                                          <p:stCondLst>
                                            <p:cond delay="0"/>
                                          </p:stCondLst>
                                        </p:cTn>
                                        <p:tgtEl>
                                          <p:spTgt spid="3"/>
                                        </p:tgtEl>
                                        <p:attrNameLst>
                                          <p:attrName>style.visibility</p:attrName>
                                        </p:attrNameLst>
                                      </p:cBhvr>
                                      <p:to>
                                        <p:strVal val="visible"/>
                                      </p:to>
                                    </p:set>
                                    <p:animEffect transition="in" filter="fade">
                                      <p:cBhvr>
                                        <p:cTn id="34" dur="1000"/>
                                        <p:tgtEl>
                                          <p:spTgt spid="3"/>
                                        </p:tgtEl>
                                      </p:cBhvr>
                                    </p:animEffect>
                                    <p:anim calcmode="lin" valueType="num">
                                      <p:cBhvr>
                                        <p:cTn id="35" dur="1000" fill="hold"/>
                                        <p:tgtEl>
                                          <p:spTgt spid="3"/>
                                        </p:tgtEl>
                                        <p:attrNameLst>
                                          <p:attrName>ppt_x</p:attrName>
                                        </p:attrNameLst>
                                      </p:cBhvr>
                                      <p:tavLst>
                                        <p:tav tm="0">
                                          <p:val>
                                            <p:strVal val="#ppt_x"/>
                                          </p:val>
                                        </p:tav>
                                        <p:tav tm="100000">
                                          <p:val>
                                            <p:strVal val="#ppt_x"/>
                                          </p:val>
                                        </p:tav>
                                      </p:tavLst>
                                    </p:anim>
                                    <p:anim calcmode="lin" valueType="num">
                                      <p:cBhvr>
                                        <p:cTn id="36" dur="100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035" grpId="0" build="p" autoUpdateAnimBg="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标题 1"/>
          <p:cNvSpPr>
            <a:spLocks noGrp="1"/>
          </p:cNvSpPr>
          <p:nvPr>
            <p:ph type="title"/>
          </p:nvPr>
        </p:nvSpPr>
        <p:spPr>
          <a:xfrm>
            <a:off x="2015219" y="189407"/>
            <a:ext cx="8229600" cy="1371600"/>
          </a:xfrm>
        </p:spPr>
        <p:txBody>
          <a:bodyPr/>
          <a:lstStyle/>
          <a:p>
            <a:pPr algn="ctr"/>
            <a:r>
              <a:rPr lang="en-US" altLang="zh-CN" dirty="0">
                <a:solidFill>
                  <a:srgbClr val="008000"/>
                </a:solidFill>
                <a:ea typeface="黑体" panose="02010609060101010101" pitchFamily="49" charset="-122"/>
              </a:rPr>
              <a:t>F</a:t>
            </a:r>
            <a:r>
              <a:rPr lang="zh-CN" altLang="en-US" dirty="0">
                <a:solidFill>
                  <a:srgbClr val="008000"/>
                </a:solidFill>
                <a:latin typeface="黑体" panose="02010609060101010101" pitchFamily="49" charset="-122"/>
                <a:ea typeface="黑体" panose="02010609060101010101" pitchFamily="49" charset="-122"/>
              </a:rPr>
              <a:t>子集的分布</a:t>
            </a:r>
          </a:p>
        </p:txBody>
      </p:sp>
      <p:sp>
        <p:nvSpPr>
          <p:cNvPr id="45059" name="内容占位符 2"/>
          <p:cNvSpPr>
            <a:spLocks noGrp="1"/>
          </p:cNvSpPr>
          <p:nvPr>
            <p:ph idx="1"/>
          </p:nvPr>
        </p:nvSpPr>
        <p:spPr>
          <a:xfrm>
            <a:off x="1129408" y="1220970"/>
            <a:ext cx="10147248" cy="4168527"/>
          </a:xfrm>
        </p:spPr>
        <p:txBody>
          <a:bodyPr/>
          <a:lstStyle/>
          <a:p>
            <a:r>
              <a:rPr lang="zh-CN" altLang="en-US" dirty="0">
                <a:ea typeface="黑体" panose="02010609060101010101" pitchFamily="49" charset="-122"/>
              </a:rPr>
              <a:t>通常使一个</a:t>
            </a:r>
            <a:r>
              <a:rPr lang="en-US" altLang="zh-CN" dirty="0">
                <a:ea typeface="黑体" panose="02010609060101010101" pitchFamily="49" charset="-122"/>
              </a:rPr>
              <a:t>F</a:t>
            </a:r>
            <a:r>
              <a:rPr lang="zh-CN" altLang="en-US" dirty="0">
                <a:ea typeface="黑体" panose="02010609060101010101" pitchFamily="49" charset="-122"/>
              </a:rPr>
              <a:t>子集的“核”元素属于相邻</a:t>
            </a:r>
            <a:r>
              <a:rPr lang="en-US" altLang="zh-CN" dirty="0">
                <a:ea typeface="黑体" panose="02010609060101010101" pitchFamily="49" charset="-122"/>
              </a:rPr>
              <a:t>F</a:t>
            </a:r>
            <a:r>
              <a:rPr lang="zh-CN" altLang="en-US" dirty="0">
                <a:ea typeface="黑体" panose="02010609060101010101" pitchFamily="49" charset="-122"/>
              </a:rPr>
              <a:t>子集的隶属度尽量小，最好接近于零</a:t>
            </a:r>
            <a:endParaRPr lang="en-US" altLang="zh-CN" dirty="0">
              <a:ea typeface="黑体" panose="02010609060101010101" pitchFamily="49" charset="-122"/>
            </a:endParaRPr>
          </a:p>
          <a:p>
            <a:pPr lvl="1"/>
            <a:r>
              <a:rPr lang="zh-CN" altLang="en-US" b="1" dirty="0">
                <a:solidFill>
                  <a:srgbClr val="CC00CC"/>
                </a:solidFill>
                <a:ea typeface="华文楷体" panose="02010600040101010101" pitchFamily="2" charset="-122"/>
                <a:sym typeface="Symbol" panose="05050102010706020507" pitchFamily="18" charset="2"/>
              </a:rPr>
              <a:t>下图的</a:t>
            </a:r>
            <a:r>
              <a:rPr lang="en-US" altLang="zh-CN" b="1" dirty="0">
                <a:solidFill>
                  <a:srgbClr val="CC00CC"/>
                </a:solidFill>
                <a:ea typeface="华文楷体" panose="02010600040101010101" pitchFamily="2" charset="-122"/>
                <a:sym typeface="Symbol" panose="05050102010706020507" pitchFamily="18" charset="2"/>
              </a:rPr>
              <a:t>F</a:t>
            </a:r>
            <a:r>
              <a:rPr lang="zh-CN" altLang="en-US" b="1" dirty="0">
                <a:solidFill>
                  <a:srgbClr val="CC00CC"/>
                </a:solidFill>
                <a:ea typeface="华文楷体" panose="02010600040101010101" pitchFamily="2" charset="-122"/>
                <a:sym typeface="Symbol" panose="05050102010706020507" pitchFamily="18" charset="2"/>
              </a:rPr>
              <a:t>子集的分布是均匀的，</a:t>
            </a:r>
            <a:endParaRPr lang="en-US" altLang="zh-CN" b="1" dirty="0">
              <a:solidFill>
                <a:srgbClr val="CC00CC"/>
              </a:solidFill>
              <a:ea typeface="华文楷体" panose="02010600040101010101" pitchFamily="2" charset="-122"/>
              <a:sym typeface="Symbol" panose="05050102010706020507" pitchFamily="18" charset="2"/>
            </a:endParaRPr>
          </a:p>
          <a:p>
            <a:pPr lvl="1"/>
            <a:endParaRPr lang="en-US" altLang="zh-CN" b="1" dirty="0">
              <a:solidFill>
                <a:srgbClr val="CC00CC"/>
              </a:solidFill>
              <a:ea typeface="华文楷体" panose="02010600040101010101" pitchFamily="2" charset="-122"/>
              <a:sym typeface="Symbol" panose="05050102010706020507" pitchFamily="18" charset="2"/>
            </a:endParaRPr>
          </a:p>
          <a:p>
            <a:pPr lvl="1"/>
            <a:endParaRPr lang="en-US" altLang="zh-CN" b="1" dirty="0">
              <a:solidFill>
                <a:srgbClr val="CC00CC"/>
              </a:solidFill>
              <a:ea typeface="华文楷体" panose="02010600040101010101" pitchFamily="2" charset="-122"/>
              <a:sym typeface="Symbol" panose="05050102010706020507" pitchFamily="18" charset="2"/>
            </a:endParaRPr>
          </a:p>
          <a:p>
            <a:pPr lvl="1"/>
            <a:endParaRPr lang="en-US" altLang="zh-CN" b="1" dirty="0">
              <a:solidFill>
                <a:srgbClr val="CC00CC"/>
              </a:solidFill>
              <a:ea typeface="华文楷体" panose="02010600040101010101" pitchFamily="2" charset="-122"/>
              <a:sym typeface="Symbol" panose="05050102010706020507" pitchFamily="18" charset="2"/>
            </a:endParaRPr>
          </a:p>
          <a:p>
            <a:pPr lvl="1"/>
            <a:r>
              <a:rPr lang="zh-CN" altLang="en-US" b="1" dirty="0">
                <a:solidFill>
                  <a:srgbClr val="3333FF"/>
                </a:solidFill>
                <a:ea typeface="华文楷体" panose="02010600040101010101" pitchFamily="2" charset="-122"/>
                <a:sym typeface="Symbol" panose="05050102010706020507" pitchFamily="18" charset="2"/>
              </a:rPr>
              <a:t>下图的</a:t>
            </a:r>
            <a:r>
              <a:rPr lang="en-US" altLang="zh-CN" b="1" dirty="0">
                <a:solidFill>
                  <a:srgbClr val="3333FF"/>
                </a:solidFill>
                <a:ea typeface="华文楷体" panose="02010600040101010101" pitchFamily="2" charset="-122"/>
                <a:sym typeface="Symbol" panose="05050102010706020507" pitchFamily="18" charset="2"/>
              </a:rPr>
              <a:t>F</a:t>
            </a:r>
            <a:r>
              <a:rPr lang="zh-CN" altLang="en-US" b="1" dirty="0">
                <a:solidFill>
                  <a:srgbClr val="3333FF"/>
                </a:solidFill>
                <a:ea typeface="华文楷体" panose="02010600040101010101" pitchFamily="2" charset="-122"/>
                <a:sym typeface="Symbol" panose="05050102010706020507" pitchFamily="18" charset="2"/>
              </a:rPr>
              <a:t>子集的分布的不均匀的，</a:t>
            </a:r>
            <a:r>
              <a:rPr lang="zh-CN" altLang="en-US" b="1" dirty="0">
                <a:ea typeface="华文楷体" panose="02010600040101010101" pitchFamily="2" charset="-122"/>
                <a:sym typeface="Symbol" panose="05050102010706020507" pitchFamily="18" charset="2"/>
              </a:rPr>
              <a:t>“</a:t>
            </a:r>
            <a:r>
              <a:rPr lang="en-US" altLang="zh-CN" b="1" dirty="0">
                <a:ea typeface="华文楷体" panose="02010600040101010101" pitchFamily="2" charset="-122"/>
                <a:sym typeface="Symbol" panose="05050102010706020507" pitchFamily="18" charset="2"/>
              </a:rPr>
              <a:t>0</a:t>
            </a:r>
            <a:r>
              <a:rPr lang="zh-CN" altLang="en-US" b="1" dirty="0">
                <a:ea typeface="华文楷体" panose="02010600040101010101" pitchFamily="2" charset="-122"/>
                <a:sym typeface="Symbol" panose="05050102010706020507" pitchFamily="18" charset="2"/>
              </a:rPr>
              <a:t>”左右的</a:t>
            </a:r>
            <a:r>
              <a:rPr lang="en-US" altLang="zh-CN" b="1" dirty="0">
                <a:ea typeface="华文楷体" panose="02010600040101010101" pitchFamily="2" charset="-122"/>
                <a:sym typeface="Symbol" panose="05050102010706020507" pitchFamily="18" charset="2"/>
              </a:rPr>
              <a:t>F</a:t>
            </a:r>
            <a:r>
              <a:rPr lang="zh-CN" altLang="en-US" b="1" dirty="0">
                <a:ea typeface="华文楷体" panose="02010600040101010101" pitchFamily="2" charset="-122"/>
                <a:sym typeface="Symbol" panose="05050102010706020507" pitchFamily="18" charset="2"/>
              </a:rPr>
              <a:t>子集划分得较细，可使控制器在零点附近的精确、细腻；</a:t>
            </a:r>
            <a:endParaRPr lang="en-US" altLang="zh-CN" b="1" dirty="0">
              <a:ea typeface="华文楷体" panose="02010600040101010101" pitchFamily="2" charset="-122"/>
              <a:sym typeface="Symbol" panose="05050102010706020507" pitchFamily="18" charset="2"/>
            </a:endParaRPr>
          </a:p>
        </p:txBody>
      </p:sp>
      <p:grpSp>
        <p:nvGrpSpPr>
          <p:cNvPr id="45060" name="Group 4"/>
          <p:cNvGrpSpPr>
            <a:grpSpLocks/>
          </p:cNvGrpSpPr>
          <p:nvPr/>
        </p:nvGrpSpPr>
        <p:grpSpPr bwMode="auto">
          <a:xfrm>
            <a:off x="3001020" y="2806090"/>
            <a:ext cx="6983412" cy="1208088"/>
            <a:chOff x="0" y="0"/>
            <a:chExt cx="6982816" cy="1207159"/>
          </a:xfrm>
        </p:grpSpPr>
        <p:cxnSp>
          <p:nvCxnSpPr>
            <p:cNvPr id="45061" name="直接箭头连接符 41"/>
            <p:cNvCxnSpPr>
              <a:cxnSpLocks noChangeShapeType="1"/>
            </p:cNvCxnSpPr>
            <p:nvPr/>
          </p:nvCxnSpPr>
          <p:spPr bwMode="auto">
            <a:xfrm>
              <a:off x="0" y="1190954"/>
              <a:ext cx="6982816" cy="16205"/>
            </a:xfrm>
            <a:prstGeom prst="straightConnector1">
              <a:avLst/>
            </a:prstGeom>
            <a:noFill/>
            <a:ln w="19050" cmpd="sng">
              <a:solidFill>
                <a:schemeClr val="tx1"/>
              </a:solidFill>
              <a:round/>
              <a:headEnd/>
              <a:tailEnd type="arrow" w="med" len="med"/>
            </a:ln>
            <a:extLst>
              <a:ext uri="{909E8E84-426E-40DD-AFC4-6F175D3DCCD1}">
                <a14:hiddenFill xmlns:a14="http://schemas.microsoft.com/office/drawing/2010/main">
                  <a:noFill/>
                </a14:hiddenFill>
              </a:ext>
            </a:extLst>
          </p:spPr>
        </p:cxnSp>
        <p:cxnSp>
          <p:nvCxnSpPr>
            <p:cNvPr id="45062" name="直接箭头连接符 42"/>
            <p:cNvCxnSpPr>
              <a:cxnSpLocks noChangeShapeType="1"/>
            </p:cNvCxnSpPr>
            <p:nvPr/>
          </p:nvCxnSpPr>
          <p:spPr bwMode="auto">
            <a:xfrm flipV="1">
              <a:off x="3380456" y="0"/>
              <a:ext cx="1960" cy="1185310"/>
            </a:xfrm>
            <a:prstGeom prst="straightConnector1">
              <a:avLst/>
            </a:prstGeom>
            <a:noFill/>
            <a:ln w="19050" cmpd="sng">
              <a:solidFill>
                <a:schemeClr val="tx1"/>
              </a:solidFill>
              <a:round/>
              <a:headEnd/>
              <a:tailEnd type="arrow" w="med" len="med"/>
            </a:ln>
            <a:extLst>
              <a:ext uri="{909E8E84-426E-40DD-AFC4-6F175D3DCCD1}">
                <a14:hiddenFill xmlns:a14="http://schemas.microsoft.com/office/drawing/2010/main">
                  <a:noFill/>
                </a14:hiddenFill>
              </a:ext>
            </a:extLst>
          </p:spPr>
        </p:cxnSp>
        <p:cxnSp>
          <p:nvCxnSpPr>
            <p:cNvPr id="45063" name="直接连接符 43"/>
            <p:cNvCxnSpPr>
              <a:cxnSpLocks noChangeShapeType="1"/>
            </p:cNvCxnSpPr>
            <p:nvPr/>
          </p:nvCxnSpPr>
          <p:spPr bwMode="auto">
            <a:xfrm flipH="1">
              <a:off x="3312368" y="415071"/>
              <a:ext cx="70048" cy="0"/>
            </a:xfrm>
            <a:prstGeom prst="line">
              <a:avLst/>
            </a:prstGeom>
            <a:noFill/>
            <a:ln w="19050" cmpd="sng">
              <a:solidFill>
                <a:schemeClr val="tx1"/>
              </a:solidFill>
              <a:round/>
              <a:headEnd/>
              <a:tailEnd/>
            </a:ln>
            <a:extLst>
              <a:ext uri="{909E8E84-426E-40DD-AFC4-6F175D3DCCD1}">
                <a14:hiddenFill xmlns:a14="http://schemas.microsoft.com/office/drawing/2010/main">
                  <a:noFill/>
                </a14:hiddenFill>
              </a:ext>
            </a:extLst>
          </p:spPr>
        </p:cxnSp>
        <p:sp>
          <p:nvSpPr>
            <p:cNvPr id="45064" name="TextBox 44"/>
            <p:cNvSpPr txBox="1">
              <a:spLocks noChangeArrowheads="1"/>
            </p:cNvSpPr>
            <p:nvPr/>
          </p:nvSpPr>
          <p:spPr bwMode="auto">
            <a:xfrm>
              <a:off x="3022376" y="45739"/>
              <a:ext cx="36004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r>
                <a:rPr lang="en-US" altLang="zh-CN"/>
                <a:t>1</a:t>
              </a:r>
              <a:endParaRPr lang="zh-CN" altLang="en-US"/>
            </a:p>
          </p:txBody>
        </p:sp>
        <p:grpSp>
          <p:nvGrpSpPr>
            <p:cNvPr id="45065" name="Group 9"/>
            <p:cNvGrpSpPr>
              <a:grpSpLocks/>
            </p:cNvGrpSpPr>
            <p:nvPr/>
          </p:nvGrpSpPr>
          <p:grpSpPr bwMode="auto">
            <a:xfrm>
              <a:off x="0" y="415072"/>
              <a:ext cx="2232248" cy="776853"/>
              <a:chOff x="0" y="0"/>
              <a:chExt cx="2232248" cy="1893059"/>
            </a:xfrm>
          </p:grpSpPr>
          <p:cxnSp>
            <p:nvCxnSpPr>
              <p:cNvPr id="45066" name="直接连接符 56"/>
              <p:cNvCxnSpPr>
                <a:cxnSpLocks noChangeShapeType="1"/>
              </p:cNvCxnSpPr>
              <p:nvPr/>
            </p:nvCxnSpPr>
            <p:spPr bwMode="auto">
              <a:xfrm flipH="1">
                <a:off x="0" y="42769"/>
                <a:ext cx="1094565" cy="1834173"/>
              </a:xfrm>
              <a:prstGeom prst="line">
                <a:avLst/>
              </a:prstGeom>
              <a:noFill/>
              <a:ln w="38100" cmpd="sng">
                <a:solidFill>
                  <a:srgbClr val="CC00CC"/>
                </a:solidFill>
                <a:round/>
                <a:headEnd/>
                <a:tailEnd/>
              </a:ln>
              <a:extLst>
                <a:ext uri="{909E8E84-426E-40DD-AFC4-6F175D3DCCD1}">
                  <a14:hiddenFill xmlns:a14="http://schemas.microsoft.com/office/drawing/2010/main">
                    <a:noFill/>
                  </a14:hiddenFill>
                </a:ext>
              </a:extLst>
            </p:spPr>
          </p:cxnSp>
          <p:cxnSp>
            <p:nvCxnSpPr>
              <p:cNvPr id="45067" name="直接连接符 57"/>
              <p:cNvCxnSpPr>
                <a:cxnSpLocks noChangeShapeType="1"/>
              </p:cNvCxnSpPr>
              <p:nvPr/>
            </p:nvCxnSpPr>
            <p:spPr bwMode="auto">
              <a:xfrm>
                <a:off x="1094565" y="0"/>
                <a:ext cx="1137683" cy="1893059"/>
              </a:xfrm>
              <a:prstGeom prst="line">
                <a:avLst/>
              </a:prstGeom>
              <a:noFill/>
              <a:ln w="38100" cmpd="sng">
                <a:solidFill>
                  <a:srgbClr val="CC00CC"/>
                </a:solidFill>
                <a:round/>
                <a:headEnd/>
                <a:tailEnd/>
              </a:ln>
              <a:extLst>
                <a:ext uri="{909E8E84-426E-40DD-AFC4-6F175D3DCCD1}">
                  <a14:hiddenFill xmlns:a14="http://schemas.microsoft.com/office/drawing/2010/main">
                    <a:noFill/>
                  </a14:hiddenFill>
                </a:ext>
              </a:extLst>
            </p:spPr>
          </p:cxnSp>
        </p:grpSp>
        <p:grpSp>
          <p:nvGrpSpPr>
            <p:cNvPr id="45068" name="Group 12"/>
            <p:cNvGrpSpPr>
              <a:grpSpLocks/>
            </p:cNvGrpSpPr>
            <p:nvPr/>
          </p:nvGrpSpPr>
          <p:grpSpPr bwMode="auto">
            <a:xfrm>
              <a:off x="1150168" y="415071"/>
              <a:ext cx="2232248" cy="776853"/>
              <a:chOff x="0" y="0"/>
              <a:chExt cx="2232248" cy="1893059"/>
            </a:xfrm>
          </p:grpSpPr>
          <p:cxnSp>
            <p:nvCxnSpPr>
              <p:cNvPr id="45069" name="直接连接符 62"/>
              <p:cNvCxnSpPr>
                <a:cxnSpLocks noChangeShapeType="1"/>
              </p:cNvCxnSpPr>
              <p:nvPr/>
            </p:nvCxnSpPr>
            <p:spPr bwMode="auto">
              <a:xfrm flipH="1">
                <a:off x="0" y="42769"/>
                <a:ext cx="1094565" cy="1834173"/>
              </a:xfrm>
              <a:prstGeom prst="line">
                <a:avLst/>
              </a:prstGeom>
              <a:noFill/>
              <a:ln w="38100" cmpd="sng">
                <a:solidFill>
                  <a:srgbClr val="45E764"/>
                </a:solidFill>
                <a:round/>
                <a:headEnd/>
                <a:tailEnd/>
              </a:ln>
              <a:extLst>
                <a:ext uri="{909E8E84-426E-40DD-AFC4-6F175D3DCCD1}">
                  <a14:hiddenFill xmlns:a14="http://schemas.microsoft.com/office/drawing/2010/main">
                    <a:noFill/>
                  </a14:hiddenFill>
                </a:ext>
              </a:extLst>
            </p:spPr>
          </p:cxnSp>
          <p:cxnSp>
            <p:nvCxnSpPr>
              <p:cNvPr id="45070" name="直接连接符 63"/>
              <p:cNvCxnSpPr>
                <a:cxnSpLocks noChangeShapeType="1"/>
              </p:cNvCxnSpPr>
              <p:nvPr/>
            </p:nvCxnSpPr>
            <p:spPr bwMode="auto">
              <a:xfrm>
                <a:off x="1094565" y="0"/>
                <a:ext cx="1137683" cy="1893059"/>
              </a:xfrm>
              <a:prstGeom prst="line">
                <a:avLst/>
              </a:prstGeom>
              <a:noFill/>
              <a:ln w="38100" cmpd="sng">
                <a:solidFill>
                  <a:srgbClr val="45E764"/>
                </a:solidFill>
                <a:round/>
                <a:headEnd/>
                <a:tailEnd/>
              </a:ln>
              <a:extLst>
                <a:ext uri="{909E8E84-426E-40DD-AFC4-6F175D3DCCD1}">
                  <a14:hiddenFill xmlns:a14="http://schemas.microsoft.com/office/drawing/2010/main">
                    <a:noFill/>
                  </a14:hiddenFill>
                </a:ext>
              </a:extLst>
            </p:spPr>
          </p:cxnSp>
        </p:grpSp>
        <p:grpSp>
          <p:nvGrpSpPr>
            <p:cNvPr id="45071" name="Group 15"/>
            <p:cNvGrpSpPr>
              <a:grpSpLocks/>
            </p:cNvGrpSpPr>
            <p:nvPr/>
          </p:nvGrpSpPr>
          <p:grpSpPr bwMode="auto">
            <a:xfrm>
              <a:off x="2230288" y="415071"/>
              <a:ext cx="2232248" cy="776853"/>
              <a:chOff x="0" y="0"/>
              <a:chExt cx="2232248" cy="1893059"/>
            </a:xfrm>
          </p:grpSpPr>
          <p:cxnSp>
            <p:nvCxnSpPr>
              <p:cNvPr id="45072" name="直接连接符 65"/>
              <p:cNvCxnSpPr>
                <a:cxnSpLocks noChangeShapeType="1"/>
              </p:cNvCxnSpPr>
              <p:nvPr/>
            </p:nvCxnSpPr>
            <p:spPr bwMode="auto">
              <a:xfrm flipH="1">
                <a:off x="0" y="42769"/>
                <a:ext cx="1094565" cy="1834173"/>
              </a:xfrm>
              <a:prstGeom prst="line">
                <a:avLst/>
              </a:prstGeom>
              <a:noFill/>
              <a:ln w="38100" cmpd="sng">
                <a:solidFill>
                  <a:srgbClr val="FF9933"/>
                </a:solidFill>
                <a:round/>
                <a:headEnd/>
                <a:tailEnd/>
              </a:ln>
              <a:extLst>
                <a:ext uri="{909E8E84-426E-40DD-AFC4-6F175D3DCCD1}">
                  <a14:hiddenFill xmlns:a14="http://schemas.microsoft.com/office/drawing/2010/main">
                    <a:noFill/>
                  </a14:hiddenFill>
                </a:ext>
              </a:extLst>
            </p:spPr>
          </p:cxnSp>
          <p:cxnSp>
            <p:nvCxnSpPr>
              <p:cNvPr id="45073" name="直接连接符 66"/>
              <p:cNvCxnSpPr>
                <a:cxnSpLocks noChangeShapeType="1"/>
              </p:cNvCxnSpPr>
              <p:nvPr/>
            </p:nvCxnSpPr>
            <p:spPr bwMode="auto">
              <a:xfrm>
                <a:off x="1094565" y="0"/>
                <a:ext cx="1137683" cy="1893059"/>
              </a:xfrm>
              <a:prstGeom prst="line">
                <a:avLst/>
              </a:prstGeom>
              <a:noFill/>
              <a:ln w="38100" cmpd="sng">
                <a:solidFill>
                  <a:srgbClr val="FF9933"/>
                </a:solidFill>
                <a:round/>
                <a:headEnd/>
                <a:tailEnd/>
              </a:ln>
              <a:extLst>
                <a:ext uri="{909E8E84-426E-40DD-AFC4-6F175D3DCCD1}">
                  <a14:hiddenFill xmlns:a14="http://schemas.microsoft.com/office/drawing/2010/main">
                    <a:noFill/>
                  </a14:hiddenFill>
                </a:ext>
              </a:extLst>
            </p:spPr>
          </p:cxnSp>
        </p:grpSp>
        <p:grpSp>
          <p:nvGrpSpPr>
            <p:cNvPr id="45074" name="Group 18"/>
            <p:cNvGrpSpPr>
              <a:grpSpLocks/>
            </p:cNvGrpSpPr>
            <p:nvPr/>
          </p:nvGrpSpPr>
          <p:grpSpPr bwMode="auto">
            <a:xfrm>
              <a:off x="3382416" y="430306"/>
              <a:ext cx="2232248" cy="776853"/>
              <a:chOff x="0" y="0"/>
              <a:chExt cx="2232248" cy="1893059"/>
            </a:xfrm>
          </p:grpSpPr>
          <p:cxnSp>
            <p:nvCxnSpPr>
              <p:cNvPr id="45075" name="直接连接符 68"/>
              <p:cNvCxnSpPr>
                <a:cxnSpLocks noChangeShapeType="1"/>
              </p:cNvCxnSpPr>
              <p:nvPr/>
            </p:nvCxnSpPr>
            <p:spPr bwMode="auto">
              <a:xfrm flipH="1">
                <a:off x="0" y="42769"/>
                <a:ext cx="1094565" cy="1834173"/>
              </a:xfrm>
              <a:prstGeom prst="line">
                <a:avLst/>
              </a:prstGeom>
              <a:noFill/>
              <a:ln w="38100" cmpd="sng">
                <a:solidFill>
                  <a:srgbClr val="FF0000"/>
                </a:solidFill>
                <a:round/>
                <a:headEnd/>
                <a:tailEnd/>
              </a:ln>
              <a:extLst>
                <a:ext uri="{909E8E84-426E-40DD-AFC4-6F175D3DCCD1}">
                  <a14:hiddenFill xmlns:a14="http://schemas.microsoft.com/office/drawing/2010/main">
                    <a:noFill/>
                  </a14:hiddenFill>
                </a:ext>
              </a:extLst>
            </p:spPr>
          </p:cxnSp>
          <p:cxnSp>
            <p:nvCxnSpPr>
              <p:cNvPr id="45076" name="直接连接符 69"/>
              <p:cNvCxnSpPr>
                <a:cxnSpLocks noChangeShapeType="1"/>
              </p:cNvCxnSpPr>
              <p:nvPr/>
            </p:nvCxnSpPr>
            <p:spPr bwMode="auto">
              <a:xfrm>
                <a:off x="1094565" y="0"/>
                <a:ext cx="1137683" cy="1893059"/>
              </a:xfrm>
              <a:prstGeom prst="line">
                <a:avLst/>
              </a:prstGeom>
              <a:noFill/>
              <a:ln w="38100" cmpd="sng">
                <a:solidFill>
                  <a:srgbClr val="FF0000"/>
                </a:solidFill>
                <a:round/>
                <a:headEnd/>
                <a:tailEnd/>
              </a:ln>
              <a:extLst>
                <a:ext uri="{909E8E84-426E-40DD-AFC4-6F175D3DCCD1}">
                  <a14:hiddenFill xmlns:a14="http://schemas.microsoft.com/office/drawing/2010/main">
                    <a:noFill/>
                  </a14:hiddenFill>
                </a:ext>
              </a:extLst>
            </p:spPr>
          </p:cxnSp>
        </p:grpSp>
        <p:grpSp>
          <p:nvGrpSpPr>
            <p:cNvPr id="45077" name="Group 21"/>
            <p:cNvGrpSpPr>
              <a:grpSpLocks/>
            </p:cNvGrpSpPr>
            <p:nvPr/>
          </p:nvGrpSpPr>
          <p:grpSpPr bwMode="auto">
            <a:xfrm>
              <a:off x="4462536" y="415071"/>
              <a:ext cx="2232248" cy="776853"/>
              <a:chOff x="0" y="0"/>
              <a:chExt cx="2232248" cy="1893059"/>
            </a:xfrm>
          </p:grpSpPr>
          <p:cxnSp>
            <p:nvCxnSpPr>
              <p:cNvPr id="45078" name="直接连接符 71"/>
              <p:cNvCxnSpPr>
                <a:cxnSpLocks noChangeShapeType="1"/>
              </p:cNvCxnSpPr>
              <p:nvPr/>
            </p:nvCxnSpPr>
            <p:spPr bwMode="auto">
              <a:xfrm flipH="1">
                <a:off x="0" y="42769"/>
                <a:ext cx="1094565" cy="1834173"/>
              </a:xfrm>
              <a:prstGeom prst="line">
                <a:avLst/>
              </a:prstGeom>
              <a:noFill/>
              <a:ln w="38100" cmpd="sng">
                <a:solidFill>
                  <a:srgbClr val="3333FF"/>
                </a:solidFill>
                <a:round/>
                <a:headEnd/>
                <a:tailEnd/>
              </a:ln>
              <a:extLst>
                <a:ext uri="{909E8E84-426E-40DD-AFC4-6F175D3DCCD1}">
                  <a14:hiddenFill xmlns:a14="http://schemas.microsoft.com/office/drawing/2010/main">
                    <a:noFill/>
                  </a14:hiddenFill>
                </a:ext>
              </a:extLst>
            </p:spPr>
          </p:cxnSp>
          <p:cxnSp>
            <p:nvCxnSpPr>
              <p:cNvPr id="45079" name="直接连接符 72"/>
              <p:cNvCxnSpPr>
                <a:cxnSpLocks noChangeShapeType="1"/>
              </p:cNvCxnSpPr>
              <p:nvPr/>
            </p:nvCxnSpPr>
            <p:spPr bwMode="auto">
              <a:xfrm>
                <a:off x="1094565" y="0"/>
                <a:ext cx="1137683" cy="1893059"/>
              </a:xfrm>
              <a:prstGeom prst="line">
                <a:avLst/>
              </a:prstGeom>
              <a:noFill/>
              <a:ln w="38100" cmpd="sng">
                <a:solidFill>
                  <a:srgbClr val="3333FF"/>
                </a:solidFill>
                <a:round/>
                <a:headEnd/>
                <a:tailEnd/>
              </a:ln>
              <a:extLst>
                <a:ext uri="{909E8E84-426E-40DD-AFC4-6F175D3DCCD1}">
                  <a14:hiddenFill xmlns:a14="http://schemas.microsoft.com/office/drawing/2010/main">
                    <a:noFill/>
                  </a14:hiddenFill>
                </a:ext>
              </a:extLst>
            </p:spPr>
          </p:cxnSp>
        </p:grpSp>
        <p:cxnSp>
          <p:nvCxnSpPr>
            <p:cNvPr id="45080" name="直接连接符 75"/>
            <p:cNvCxnSpPr>
              <a:cxnSpLocks noChangeShapeType="1"/>
            </p:cNvCxnSpPr>
            <p:nvPr/>
          </p:nvCxnSpPr>
          <p:spPr bwMode="auto">
            <a:xfrm>
              <a:off x="12485" y="415071"/>
              <a:ext cx="1137683" cy="776853"/>
            </a:xfrm>
            <a:prstGeom prst="line">
              <a:avLst/>
            </a:prstGeom>
            <a:noFill/>
            <a:ln w="38100" cmpd="sng">
              <a:solidFill>
                <a:schemeClr val="tx1"/>
              </a:solidFill>
              <a:round/>
              <a:headEnd/>
              <a:tailEnd/>
            </a:ln>
            <a:extLst>
              <a:ext uri="{909E8E84-426E-40DD-AFC4-6F175D3DCCD1}">
                <a14:hiddenFill xmlns:a14="http://schemas.microsoft.com/office/drawing/2010/main">
                  <a:noFill/>
                </a14:hiddenFill>
              </a:ext>
            </a:extLst>
          </p:spPr>
        </p:cxnSp>
        <p:cxnSp>
          <p:nvCxnSpPr>
            <p:cNvPr id="45081" name="直接连接符 76"/>
            <p:cNvCxnSpPr>
              <a:cxnSpLocks noChangeShapeType="1"/>
            </p:cNvCxnSpPr>
            <p:nvPr/>
          </p:nvCxnSpPr>
          <p:spPr bwMode="auto">
            <a:xfrm flipH="1">
              <a:off x="5614664" y="454471"/>
              <a:ext cx="1094565" cy="752688"/>
            </a:xfrm>
            <a:prstGeom prst="line">
              <a:avLst/>
            </a:prstGeom>
            <a:noFill/>
            <a:ln w="38100" cmpd="sng">
              <a:solidFill>
                <a:srgbClr val="7F7F7F"/>
              </a:solidFill>
              <a:round/>
              <a:headEnd/>
              <a:tailEnd/>
            </a:ln>
            <a:extLst>
              <a:ext uri="{909E8E84-426E-40DD-AFC4-6F175D3DCCD1}">
                <a14:hiddenFill xmlns:a14="http://schemas.microsoft.com/office/drawing/2010/main">
                  <a:noFill/>
                </a14:hiddenFill>
              </a:ext>
            </a:extLst>
          </p:spPr>
        </p:cxnSp>
      </p:grpSp>
      <p:grpSp>
        <p:nvGrpSpPr>
          <p:cNvPr id="45082" name="Group 26"/>
          <p:cNvGrpSpPr>
            <a:grpSpLocks/>
          </p:cNvGrpSpPr>
          <p:nvPr/>
        </p:nvGrpSpPr>
        <p:grpSpPr bwMode="auto">
          <a:xfrm>
            <a:off x="2927353" y="5389563"/>
            <a:ext cx="6983413" cy="1231900"/>
            <a:chOff x="0" y="0"/>
            <a:chExt cx="6982816" cy="1231324"/>
          </a:xfrm>
        </p:grpSpPr>
        <p:cxnSp>
          <p:nvCxnSpPr>
            <p:cNvPr id="45083" name="直接箭头连接符 79"/>
            <p:cNvCxnSpPr>
              <a:cxnSpLocks noChangeShapeType="1"/>
            </p:cNvCxnSpPr>
            <p:nvPr/>
          </p:nvCxnSpPr>
          <p:spPr bwMode="auto">
            <a:xfrm>
              <a:off x="0" y="1207225"/>
              <a:ext cx="6982816" cy="16205"/>
            </a:xfrm>
            <a:prstGeom prst="straightConnector1">
              <a:avLst/>
            </a:prstGeom>
            <a:noFill/>
            <a:ln w="19050" cmpd="sng">
              <a:solidFill>
                <a:schemeClr val="tx1"/>
              </a:solidFill>
              <a:round/>
              <a:headEnd/>
              <a:tailEnd type="arrow" w="med" len="med"/>
            </a:ln>
            <a:extLst>
              <a:ext uri="{909E8E84-426E-40DD-AFC4-6F175D3DCCD1}">
                <a14:hiddenFill xmlns:a14="http://schemas.microsoft.com/office/drawing/2010/main">
                  <a:noFill/>
                </a14:hiddenFill>
              </a:ext>
            </a:extLst>
          </p:spPr>
        </p:cxnSp>
        <p:cxnSp>
          <p:nvCxnSpPr>
            <p:cNvPr id="45084" name="直接箭头连接符 80"/>
            <p:cNvCxnSpPr>
              <a:cxnSpLocks noChangeShapeType="1"/>
            </p:cNvCxnSpPr>
            <p:nvPr/>
          </p:nvCxnSpPr>
          <p:spPr bwMode="auto">
            <a:xfrm flipV="1">
              <a:off x="3380456" y="0"/>
              <a:ext cx="1960" cy="1185310"/>
            </a:xfrm>
            <a:prstGeom prst="straightConnector1">
              <a:avLst/>
            </a:prstGeom>
            <a:noFill/>
            <a:ln w="19050" cmpd="sng">
              <a:solidFill>
                <a:schemeClr val="tx1"/>
              </a:solidFill>
              <a:round/>
              <a:headEnd/>
              <a:tailEnd type="arrow" w="med" len="med"/>
            </a:ln>
            <a:extLst>
              <a:ext uri="{909E8E84-426E-40DD-AFC4-6F175D3DCCD1}">
                <a14:hiddenFill xmlns:a14="http://schemas.microsoft.com/office/drawing/2010/main">
                  <a:noFill/>
                </a14:hiddenFill>
              </a:ext>
            </a:extLst>
          </p:spPr>
        </p:cxnSp>
        <p:cxnSp>
          <p:nvCxnSpPr>
            <p:cNvPr id="45085" name="直接连接符 81"/>
            <p:cNvCxnSpPr>
              <a:cxnSpLocks noChangeShapeType="1"/>
            </p:cNvCxnSpPr>
            <p:nvPr/>
          </p:nvCxnSpPr>
          <p:spPr bwMode="auto">
            <a:xfrm flipH="1">
              <a:off x="3312368" y="415071"/>
              <a:ext cx="70048" cy="0"/>
            </a:xfrm>
            <a:prstGeom prst="line">
              <a:avLst/>
            </a:prstGeom>
            <a:noFill/>
            <a:ln w="19050" cmpd="sng">
              <a:solidFill>
                <a:schemeClr val="tx1"/>
              </a:solidFill>
              <a:round/>
              <a:headEnd/>
              <a:tailEnd/>
            </a:ln>
            <a:extLst>
              <a:ext uri="{909E8E84-426E-40DD-AFC4-6F175D3DCCD1}">
                <a14:hiddenFill xmlns:a14="http://schemas.microsoft.com/office/drawing/2010/main">
                  <a:noFill/>
                </a14:hiddenFill>
              </a:ext>
            </a:extLst>
          </p:spPr>
        </p:cxnSp>
        <p:sp>
          <p:nvSpPr>
            <p:cNvPr id="45086" name="TextBox 82"/>
            <p:cNvSpPr txBox="1">
              <a:spLocks noChangeArrowheads="1"/>
            </p:cNvSpPr>
            <p:nvPr/>
          </p:nvSpPr>
          <p:spPr bwMode="auto">
            <a:xfrm>
              <a:off x="3022376" y="45739"/>
              <a:ext cx="36004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r>
                <a:rPr lang="en-US" altLang="zh-CN"/>
                <a:t>1</a:t>
              </a:r>
              <a:endParaRPr lang="zh-CN" altLang="en-US"/>
            </a:p>
          </p:txBody>
        </p:sp>
        <p:grpSp>
          <p:nvGrpSpPr>
            <p:cNvPr id="45087" name="Group 31"/>
            <p:cNvGrpSpPr>
              <a:grpSpLocks/>
            </p:cNvGrpSpPr>
            <p:nvPr/>
          </p:nvGrpSpPr>
          <p:grpSpPr bwMode="auto">
            <a:xfrm>
              <a:off x="14445" y="415072"/>
              <a:ext cx="2793867" cy="776853"/>
              <a:chOff x="0" y="0"/>
              <a:chExt cx="2793867" cy="1893059"/>
            </a:xfrm>
          </p:grpSpPr>
          <p:cxnSp>
            <p:nvCxnSpPr>
              <p:cNvPr id="45088" name="直接连接符 84"/>
              <p:cNvCxnSpPr>
                <a:cxnSpLocks noChangeShapeType="1"/>
              </p:cNvCxnSpPr>
              <p:nvPr/>
            </p:nvCxnSpPr>
            <p:spPr bwMode="auto">
              <a:xfrm flipH="1">
                <a:off x="0" y="42769"/>
                <a:ext cx="1656185" cy="1834173"/>
              </a:xfrm>
              <a:prstGeom prst="line">
                <a:avLst/>
              </a:prstGeom>
              <a:noFill/>
              <a:ln w="38100" cmpd="sng">
                <a:solidFill>
                  <a:srgbClr val="CC00CC"/>
                </a:solidFill>
                <a:round/>
                <a:headEnd/>
                <a:tailEnd/>
              </a:ln>
              <a:extLst>
                <a:ext uri="{909E8E84-426E-40DD-AFC4-6F175D3DCCD1}">
                  <a14:hiddenFill xmlns:a14="http://schemas.microsoft.com/office/drawing/2010/main">
                    <a:noFill/>
                  </a14:hiddenFill>
                </a:ext>
              </a:extLst>
            </p:spPr>
          </p:cxnSp>
          <p:cxnSp>
            <p:nvCxnSpPr>
              <p:cNvPr id="45089" name="直接连接符 85"/>
              <p:cNvCxnSpPr>
                <a:cxnSpLocks noChangeShapeType="1"/>
              </p:cNvCxnSpPr>
              <p:nvPr/>
            </p:nvCxnSpPr>
            <p:spPr bwMode="auto">
              <a:xfrm>
                <a:off x="1656184" y="0"/>
                <a:ext cx="1137683" cy="1893059"/>
              </a:xfrm>
              <a:prstGeom prst="line">
                <a:avLst/>
              </a:prstGeom>
              <a:noFill/>
              <a:ln w="38100" cmpd="sng">
                <a:solidFill>
                  <a:srgbClr val="CC00CC"/>
                </a:solidFill>
                <a:round/>
                <a:headEnd/>
                <a:tailEnd/>
              </a:ln>
              <a:extLst>
                <a:ext uri="{909E8E84-426E-40DD-AFC4-6F175D3DCCD1}">
                  <a14:hiddenFill xmlns:a14="http://schemas.microsoft.com/office/drawing/2010/main">
                    <a:noFill/>
                  </a14:hiddenFill>
                </a:ext>
              </a:extLst>
            </p:spPr>
          </p:cxnSp>
        </p:grpSp>
        <p:grpSp>
          <p:nvGrpSpPr>
            <p:cNvPr id="45090" name="Group 34"/>
            <p:cNvGrpSpPr>
              <a:grpSpLocks/>
            </p:cNvGrpSpPr>
            <p:nvPr/>
          </p:nvGrpSpPr>
          <p:grpSpPr bwMode="auto">
            <a:xfrm>
              <a:off x="1494457" y="454471"/>
              <a:ext cx="1887959" cy="752688"/>
              <a:chOff x="0" y="0"/>
              <a:chExt cx="1887959" cy="1834173"/>
            </a:xfrm>
          </p:grpSpPr>
          <p:cxnSp>
            <p:nvCxnSpPr>
              <p:cNvPr id="45091" name="直接连接符 87"/>
              <p:cNvCxnSpPr>
                <a:cxnSpLocks noChangeShapeType="1"/>
              </p:cNvCxnSpPr>
              <p:nvPr/>
            </p:nvCxnSpPr>
            <p:spPr bwMode="auto">
              <a:xfrm flipH="1">
                <a:off x="0" y="0"/>
                <a:ext cx="1094565" cy="1834173"/>
              </a:xfrm>
              <a:prstGeom prst="line">
                <a:avLst/>
              </a:prstGeom>
              <a:noFill/>
              <a:ln w="38100" cmpd="sng">
                <a:solidFill>
                  <a:srgbClr val="45E764"/>
                </a:solidFill>
                <a:round/>
                <a:headEnd/>
                <a:tailEnd/>
              </a:ln>
              <a:extLst>
                <a:ext uri="{909E8E84-426E-40DD-AFC4-6F175D3DCCD1}">
                  <a14:hiddenFill xmlns:a14="http://schemas.microsoft.com/office/drawing/2010/main">
                    <a:noFill/>
                  </a14:hiddenFill>
                </a:ext>
              </a:extLst>
            </p:spPr>
          </p:cxnSp>
          <p:cxnSp>
            <p:nvCxnSpPr>
              <p:cNvPr id="45092" name="直接连接符 88"/>
              <p:cNvCxnSpPr>
                <a:cxnSpLocks noChangeShapeType="1"/>
              </p:cNvCxnSpPr>
              <p:nvPr/>
            </p:nvCxnSpPr>
            <p:spPr bwMode="auto">
              <a:xfrm>
                <a:off x="1097831" y="0"/>
                <a:ext cx="790128" cy="1797048"/>
              </a:xfrm>
              <a:prstGeom prst="line">
                <a:avLst/>
              </a:prstGeom>
              <a:noFill/>
              <a:ln w="38100" cmpd="sng">
                <a:solidFill>
                  <a:srgbClr val="45E764"/>
                </a:solidFill>
                <a:round/>
                <a:headEnd/>
                <a:tailEnd/>
              </a:ln>
              <a:extLst>
                <a:ext uri="{909E8E84-426E-40DD-AFC4-6F175D3DCCD1}">
                  <a14:hiddenFill xmlns:a14="http://schemas.microsoft.com/office/drawing/2010/main">
                    <a:noFill/>
                  </a14:hiddenFill>
                </a:ext>
              </a:extLst>
            </p:spPr>
          </p:cxnSp>
        </p:grpSp>
        <p:grpSp>
          <p:nvGrpSpPr>
            <p:cNvPr id="45093" name="Group 37"/>
            <p:cNvGrpSpPr>
              <a:grpSpLocks/>
            </p:cNvGrpSpPr>
            <p:nvPr/>
          </p:nvGrpSpPr>
          <p:grpSpPr bwMode="auto">
            <a:xfrm>
              <a:off x="2815534" y="415071"/>
              <a:ext cx="1078160" cy="792088"/>
              <a:chOff x="0" y="0"/>
              <a:chExt cx="1078160" cy="1930184"/>
            </a:xfrm>
          </p:grpSpPr>
          <p:cxnSp>
            <p:nvCxnSpPr>
              <p:cNvPr id="45094" name="直接连接符 90"/>
              <p:cNvCxnSpPr>
                <a:cxnSpLocks noChangeShapeType="1"/>
              </p:cNvCxnSpPr>
              <p:nvPr/>
            </p:nvCxnSpPr>
            <p:spPr bwMode="auto">
              <a:xfrm flipH="1">
                <a:off x="0" y="0"/>
                <a:ext cx="564922" cy="1876942"/>
              </a:xfrm>
              <a:prstGeom prst="line">
                <a:avLst/>
              </a:prstGeom>
              <a:noFill/>
              <a:ln w="38100" cmpd="sng">
                <a:solidFill>
                  <a:srgbClr val="FF9933"/>
                </a:solidFill>
                <a:round/>
                <a:headEnd/>
                <a:tailEnd/>
              </a:ln>
              <a:extLst>
                <a:ext uri="{909E8E84-426E-40DD-AFC4-6F175D3DCCD1}">
                  <a14:hiddenFill xmlns:a14="http://schemas.microsoft.com/office/drawing/2010/main">
                    <a:noFill/>
                  </a14:hiddenFill>
                </a:ext>
              </a:extLst>
            </p:spPr>
          </p:cxnSp>
          <p:cxnSp>
            <p:nvCxnSpPr>
              <p:cNvPr id="45095" name="直接连接符 91"/>
              <p:cNvCxnSpPr>
                <a:cxnSpLocks noChangeShapeType="1"/>
              </p:cNvCxnSpPr>
              <p:nvPr/>
            </p:nvCxnSpPr>
            <p:spPr bwMode="auto">
              <a:xfrm>
                <a:off x="564922" y="0"/>
                <a:ext cx="513238" cy="1930184"/>
              </a:xfrm>
              <a:prstGeom prst="line">
                <a:avLst/>
              </a:prstGeom>
              <a:noFill/>
              <a:ln w="38100" cmpd="sng">
                <a:solidFill>
                  <a:srgbClr val="FF9933"/>
                </a:solidFill>
                <a:round/>
                <a:headEnd/>
                <a:tailEnd/>
              </a:ln>
              <a:extLst>
                <a:ext uri="{909E8E84-426E-40DD-AFC4-6F175D3DCCD1}">
                  <a14:hiddenFill xmlns:a14="http://schemas.microsoft.com/office/drawing/2010/main">
                    <a:noFill/>
                  </a14:hiddenFill>
                </a:ext>
              </a:extLst>
            </p:spPr>
          </p:cxnSp>
        </p:grpSp>
        <p:grpSp>
          <p:nvGrpSpPr>
            <p:cNvPr id="45096" name="Group 40"/>
            <p:cNvGrpSpPr>
              <a:grpSpLocks/>
            </p:cNvGrpSpPr>
            <p:nvPr/>
          </p:nvGrpSpPr>
          <p:grpSpPr bwMode="auto">
            <a:xfrm>
              <a:off x="3382418" y="454471"/>
              <a:ext cx="1859721" cy="776853"/>
              <a:chOff x="0" y="0"/>
              <a:chExt cx="1859721" cy="1893059"/>
            </a:xfrm>
          </p:grpSpPr>
          <p:cxnSp>
            <p:nvCxnSpPr>
              <p:cNvPr id="45097" name="直接连接符 93"/>
              <p:cNvCxnSpPr>
                <a:cxnSpLocks noChangeShapeType="1"/>
              </p:cNvCxnSpPr>
              <p:nvPr/>
            </p:nvCxnSpPr>
            <p:spPr bwMode="auto">
              <a:xfrm flipH="1">
                <a:off x="0" y="0"/>
                <a:ext cx="722038" cy="1818056"/>
              </a:xfrm>
              <a:prstGeom prst="line">
                <a:avLst/>
              </a:prstGeom>
              <a:noFill/>
              <a:ln w="38100" cmpd="sng">
                <a:solidFill>
                  <a:srgbClr val="FF0000"/>
                </a:solidFill>
                <a:round/>
                <a:headEnd/>
                <a:tailEnd/>
              </a:ln>
              <a:extLst>
                <a:ext uri="{909E8E84-426E-40DD-AFC4-6F175D3DCCD1}">
                  <a14:hiddenFill xmlns:a14="http://schemas.microsoft.com/office/drawing/2010/main">
                    <a:noFill/>
                  </a14:hiddenFill>
                </a:ext>
              </a:extLst>
            </p:spPr>
          </p:cxnSp>
          <p:cxnSp>
            <p:nvCxnSpPr>
              <p:cNvPr id="45098" name="直接连接符 94"/>
              <p:cNvCxnSpPr>
                <a:cxnSpLocks noChangeShapeType="1"/>
              </p:cNvCxnSpPr>
              <p:nvPr/>
            </p:nvCxnSpPr>
            <p:spPr bwMode="auto">
              <a:xfrm>
                <a:off x="722038" y="0"/>
                <a:ext cx="1137683" cy="1893059"/>
              </a:xfrm>
              <a:prstGeom prst="line">
                <a:avLst/>
              </a:prstGeom>
              <a:noFill/>
              <a:ln w="38100" cmpd="sng">
                <a:solidFill>
                  <a:srgbClr val="FF0000"/>
                </a:solidFill>
                <a:round/>
                <a:headEnd/>
                <a:tailEnd/>
              </a:ln>
              <a:extLst>
                <a:ext uri="{909E8E84-426E-40DD-AFC4-6F175D3DCCD1}">
                  <a14:hiddenFill xmlns:a14="http://schemas.microsoft.com/office/drawing/2010/main">
                    <a:noFill/>
                  </a14:hiddenFill>
                </a:ext>
              </a:extLst>
            </p:spPr>
          </p:cxnSp>
        </p:grpSp>
        <p:grpSp>
          <p:nvGrpSpPr>
            <p:cNvPr id="45099" name="Group 43"/>
            <p:cNvGrpSpPr>
              <a:grpSpLocks/>
            </p:cNvGrpSpPr>
            <p:nvPr/>
          </p:nvGrpSpPr>
          <p:grpSpPr bwMode="auto">
            <a:xfrm>
              <a:off x="3888432" y="415071"/>
              <a:ext cx="2822757" cy="770240"/>
              <a:chOff x="0" y="0"/>
              <a:chExt cx="2822757" cy="1876944"/>
            </a:xfrm>
          </p:grpSpPr>
          <p:cxnSp>
            <p:nvCxnSpPr>
              <p:cNvPr id="45100" name="直接连接符 96"/>
              <p:cNvCxnSpPr>
                <a:cxnSpLocks noChangeShapeType="1"/>
              </p:cNvCxnSpPr>
              <p:nvPr/>
            </p:nvCxnSpPr>
            <p:spPr bwMode="auto">
              <a:xfrm flipH="1">
                <a:off x="0" y="42769"/>
                <a:ext cx="1094565" cy="1834173"/>
              </a:xfrm>
              <a:prstGeom prst="line">
                <a:avLst/>
              </a:prstGeom>
              <a:noFill/>
              <a:ln w="38100" cmpd="sng">
                <a:solidFill>
                  <a:srgbClr val="3333FF"/>
                </a:solidFill>
                <a:round/>
                <a:headEnd/>
                <a:tailEnd/>
              </a:ln>
              <a:extLst>
                <a:ext uri="{909E8E84-426E-40DD-AFC4-6F175D3DCCD1}">
                  <a14:hiddenFill xmlns:a14="http://schemas.microsoft.com/office/drawing/2010/main">
                    <a:noFill/>
                  </a14:hiddenFill>
                </a:ext>
              </a:extLst>
            </p:spPr>
          </p:cxnSp>
          <p:cxnSp>
            <p:nvCxnSpPr>
              <p:cNvPr id="45101" name="直接连接符 97"/>
              <p:cNvCxnSpPr>
                <a:cxnSpLocks noChangeShapeType="1"/>
              </p:cNvCxnSpPr>
              <p:nvPr/>
            </p:nvCxnSpPr>
            <p:spPr bwMode="auto">
              <a:xfrm>
                <a:off x="1094565" y="0"/>
                <a:ext cx="1728192" cy="1876944"/>
              </a:xfrm>
              <a:prstGeom prst="line">
                <a:avLst/>
              </a:prstGeom>
              <a:noFill/>
              <a:ln w="38100" cmpd="sng">
                <a:solidFill>
                  <a:srgbClr val="3333FF"/>
                </a:solidFill>
                <a:round/>
                <a:headEnd/>
                <a:tailEnd/>
              </a:ln>
              <a:extLst>
                <a:ext uri="{909E8E84-426E-40DD-AFC4-6F175D3DCCD1}">
                  <a14:hiddenFill xmlns:a14="http://schemas.microsoft.com/office/drawing/2010/main">
                    <a:noFill/>
                  </a14:hiddenFill>
                </a:ext>
              </a:extLst>
            </p:spPr>
          </p:cxnSp>
        </p:grpSp>
        <p:cxnSp>
          <p:nvCxnSpPr>
            <p:cNvPr id="45102" name="直接连接符 98"/>
            <p:cNvCxnSpPr>
              <a:cxnSpLocks noChangeShapeType="1"/>
            </p:cNvCxnSpPr>
            <p:nvPr/>
          </p:nvCxnSpPr>
          <p:spPr bwMode="auto">
            <a:xfrm>
              <a:off x="12485" y="415071"/>
              <a:ext cx="1481972" cy="816253"/>
            </a:xfrm>
            <a:prstGeom prst="line">
              <a:avLst/>
            </a:prstGeom>
            <a:noFill/>
            <a:ln w="38100" cmpd="sng">
              <a:solidFill>
                <a:schemeClr val="tx1"/>
              </a:solidFill>
              <a:round/>
              <a:headEnd/>
              <a:tailEnd/>
            </a:ln>
            <a:extLst>
              <a:ext uri="{909E8E84-426E-40DD-AFC4-6F175D3DCCD1}">
                <a14:hiddenFill xmlns:a14="http://schemas.microsoft.com/office/drawing/2010/main">
                  <a:noFill/>
                </a14:hiddenFill>
              </a:ext>
            </a:extLst>
          </p:spPr>
        </p:cxnSp>
        <p:cxnSp>
          <p:nvCxnSpPr>
            <p:cNvPr id="45103" name="直接连接符 99"/>
            <p:cNvCxnSpPr>
              <a:cxnSpLocks noChangeShapeType="1"/>
            </p:cNvCxnSpPr>
            <p:nvPr/>
          </p:nvCxnSpPr>
          <p:spPr bwMode="auto">
            <a:xfrm flipH="1">
              <a:off x="5242139" y="454471"/>
              <a:ext cx="1467091" cy="776853"/>
            </a:xfrm>
            <a:prstGeom prst="line">
              <a:avLst/>
            </a:prstGeom>
            <a:noFill/>
            <a:ln w="38100" cmpd="sng">
              <a:solidFill>
                <a:srgbClr val="7F7F7F"/>
              </a:solidFill>
              <a:round/>
              <a:headEnd/>
              <a:tailEnd/>
            </a:ln>
            <a:extLst>
              <a:ext uri="{909E8E84-426E-40DD-AFC4-6F175D3DCCD1}">
                <a14:hiddenFill xmlns:a14="http://schemas.microsoft.com/office/drawing/2010/main">
                  <a:noFill/>
                </a14:hiddenFill>
              </a:ext>
            </a:extLst>
          </p:spPr>
        </p:cxnSp>
      </p:grpSp>
      <p:sp>
        <p:nvSpPr>
          <p:cNvPr id="2" name="灯片编号占位符 1">
            <a:extLst>
              <a:ext uri="{FF2B5EF4-FFF2-40B4-BE49-F238E27FC236}">
                <a16:creationId xmlns:a16="http://schemas.microsoft.com/office/drawing/2014/main" id="{0669934D-2B64-0D17-E8A7-A4D51C3BB07D}"/>
              </a:ext>
            </a:extLst>
          </p:cNvPr>
          <p:cNvSpPr>
            <a:spLocks noGrp="1"/>
          </p:cNvSpPr>
          <p:nvPr>
            <p:ph type="sldNum" sz="quarter" idx="11"/>
          </p:nvPr>
        </p:nvSpPr>
        <p:spPr/>
        <p:txBody>
          <a:bodyPr/>
          <a:lstStyle/>
          <a:p>
            <a:pPr>
              <a:defRPr/>
            </a:pPr>
            <a:fld id="{1F3E0329-027F-44B1-A42A-8643FF593956}" type="slidenum">
              <a:rPr lang="en-US" altLang="zh-CN" smtClean="0"/>
              <a:pPr>
                <a:defRPr/>
              </a:pPr>
              <a:t>36</a:t>
            </a:fld>
            <a:endParaRPr lang="en-US" altLang="zh-CN"/>
          </a:p>
        </p:txBody>
      </p:sp>
    </p:spTree>
    <p:extLst>
      <p:ext uri="{BB962C8B-B14F-4D97-AF65-F5344CB8AC3E}">
        <p14:creationId xmlns:p14="http://schemas.microsoft.com/office/powerpoint/2010/main" val="334949963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45059">
                                            <p:txEl>
                                              <p:pRg st="0" end="0"/>
                                            </p:txEl>
                                          </p:spTgt>
                                        </p:tgtEl>
                                        <p:attrNameLst>
                                          <p:attrName>style.visibility</p:attrName>
                                        </p:attrNameLst>
                                      </p:cBhvr>
                                      <p:to>
                                        <p:strVal val="visible"/>
                                      </p:to>
                                    </p:set>
                                    <p:animEffect transition="in" filter="wipe(left)">
                                      <p:cBhvr>
                                        <p:cTn id="7" dur="500"/>
                                        <p:tgtEl>
                                          <p:spTgt spid="45059">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45059">
                                            <p:txEl>
                                              <p:pRg st="1" end="1"/>
                                            </p:txEl>
                                          </p:spTgt>
                                        </p:tgtEl>
                                        <p:attrNameLst>
                                          <p:attrName>style.visibility</p:attrName>
                                        </p:attrNameLst>
                                      </p:cBhvr>
                                      <p:to>
                                        <p:strVal val="visible"/>
                                      </p:to>
                                    </p:set>
                                    <p:animEffect transition="in" filter="wipe(left)">
                                      <p:cBhvr>
                                        <p:cTn id="12" dur="500"/>
                                        <p:tgtEl>
                                          <p:spTgt spid="45059">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42" presetClass="entr" presetSubtype="0" fill="hold" nodeType="clickEffect">
                                  <p:stCondLst>
                                    <p:cond delay="0"/>
                                  </p:stCondLst>
                                  <p:childTnLst>
                                    <p:set>
                                      <p:cBhvr>
                                        <p:cTn id="16" dur="1" fill="hold">
                                          <p:stCondLst>
                                            <p:cond delay="0"/>
                                          </p:stCondLst>
                                        </p:cTn>
                                        <p:tgtEl>
                                          <p:spTgt spid="45060"/>
                                        </p:tgtEl>
                                        <p:attrNameLst>
                                          <p:attrName>style.visibility</p:attrName>
                                        </p:attrNameLst>
                                      </p:cBhvr>
                                      <p:to>
                                        <p:strVal val="visible"/>
                                      </p:to>
                                    </p:set>
                                    <p:animEffect transition="in" filter="fade">
                                      <p:cBhvr>
                                        <p:cTn id="17" dur="1000"/>
                                        <p:tgtEl>
                                          <p:spTgt spid="45060"/>
                                        </p:tgtEl>
                                      </p:cBhvr>
                                    </p:animEffect>
                                    <p:anim calcmode="lin" valueType="num">
                                      <p:cBhvr>
                                        <p:cTn id="18" dur="1000" fill="hold"/>
                                        <p:tgtEl>
                                          <p:spTgt spid="45060"/>
                                        </p:tgtEl>
                                        <p:attrNameLst>
                                          <p:attrName>ppt_x</p:attrName>
                                        </p:attrNameLst>
                                      </p:cBhvr>
                                      <p:tavLst>
                                        <p:tav tm="0">
                                          <p:val>
                                            <p:strVal val="#ppt_x"/>
                                          </p:val>
                                        </p:tav>
                                        <p:tav tm="100000">
                                          <p:val>
                                            <p:strVal val="#ppt_x"/>
                                          </p:val>
                                        </p:tav>
                                      </p:tavLst>
                                    </p:anim>
                                    <p:anim calcmode="lin" valueType="num">
                                      <p:cBhvr>
                                        <p:cTn id="19" dur="1000" fill="hold"/>
                                        <p:tgtEl>
                                          <p:spTgt spid="45060"/>
                                        </p:tgtEl>
                                        <p:attrNameLst>
                                          <p:attrName>ppt_y</p:attrName>
                                        </p:attrNameLst>
                                      </p:cBhvr>
                                      <p:tavLst>
                                        <p:tav tm="0">
                                          <p:val>
                                            <p:strVal val="#ppt_y+.1"/>
                                          </p:val>
                                        </p:tav>
                                        <p:tav tm="100000">
                                          <p:val>
                                            <p:strVal val="#ppt_y"/>
                                          </p:val>
                                        </p:tav>
                                      </p:tavLst>
                                    </p:anim>
                                  </p:childTnLst>
                                </p:cTn>
                              </p:par>
                            </p:childTnLst>
                          </p:cTn>
                        </p:par>
                      </p:childTnLst>
                    </p:cTn>
                  </p:par>
                  <p:par>
                    <p:cTn id="20" fill="hold" nodeType="clickPar">
                      <p:stCondLst>
                        <p:cond delay="indefinite"/>
                      </p:stCondLst>
                      <p:childTnLst>
                        <p:par>
                          <p:cTn id="21" fill="hold" nodeType="withGroup">
                            <p:stCondLst>
                              <p:cond delay="0"/>
                            </p:stCondLst>
                            <p:childTnLst>
                              <p:par>
                                <p:cTn id="22" presetID="22" presetClass="entr" presetSubtype="8" fill="hold" grpId="0" nodeType="clickEffect">
                                  <p:stCondLst>
                                    <p:cond delay="0"/>
                                  </p:stCondLst>
                                  <p:childTnLst>
                                    <p:set>
                                      <p:cBhvr>
                                        <p:cTn id="23" dur="1" fill="hold">
                                          <p:stCondLst>
                                            <p:cond delay="0"/>
                                          </p:stCondLst>
                                        </p:cTn>
                                        <p:tgtEl>
                                          <p:spTgt spid="45059">
                                            <p:txEl>
                                              <p:pRg st="5" end="5"/>
                                            </p:txEl>
                                          </p:spTgt>
                                        </p:tgtEl>
                                        <p:attrNameLst>
                                          <p:attrName>style.visibility</p:attrName>
                                        </p:attrNameLst>
                                      </p:cBhvr>
                                      <p:to>
                                        <p:strVal val="visible"/>
                                      </p:to>
                                    </p:set>
                                    <p:animEffect transition="in" filter="wipe(left)">
                                      <p:cBhvr>
                                        <p:cTn id="24" dur="500"/>
                                        <p:tgtEl>
                                          <p:spTgt spid="45059">
                                            <p:txEl>
                                              <p:pRg st="5" end="5"/>
                                            </p:txEl>
                                          </p:spTgt>
                                        </p:tgtEl>
                                      </p:cBhvr>
                                    </p:animEffect>
                                  </p:childTnLst>
                                </p:cTn>
                              </p:par>
                            </p:childTnLst>
                          </p:cTn>
                        </p:par>
                      </p:childTnLst>
                    </p:cTn>
                  </p:par>
                  <p:par>
                    <p:cTn id="25" fill="hold">
                      <p:stCondLst>
                        <p:cond delay="indefinite"/>
                      </p:stCondLst>
                      <p:childTnLst>
                        <p:par>
                          <p:cTn id="26" fill="hold">
                            <p:stCondLst>
                              <p:cond delay="0"/>
                            </p:stCondLst>
                            <p:childTnLst>
                              <p:par>
                                <p:cTn id="27" presetID="42" presetClass="entr" presetSubtype="0" fill="hold" nodeType="clickEffect">
                                  <p:stCondLst>
                                    <p:cond delay="0"/>
                                  </p:stCondLst>
                                  <p:childTnLst>
                                    <p:set>
                                      <p:cBhvr>
                                        <p:cTn id="28" dur="1" fill="hold">
                                          <p:stCondLst>
                                            <p:cond delay="0"/>
                                          </p:stCondLst>
                                        </p:cTn>
                                        <p:tgtEl>
                                          <p:spTgt spid="45082"/>
                                        </p:tgtEl>
                                        <p:attrNameLst>
                                          <p:attrName>style.visibility</p:attrName>
                                        </p:attrNameLst>
                                      </p:cBhvr>
                                      <p:to>
                                        <p:strVal val="visible"/>
                                      </p:to>
                                    </p:set>
                                    <p:animEffect transition="in" filter="fade">
                                      <p:cBhvr>
                                        <p:cTn id="29" dur="1000"/>
                                        <p:tgtEl>
                                          <p:spTgt spid="45082"/>
                                        </p:tgtEl>
                                      </p:cBhvr>
                                    </p:animEffect>
                                    <p:anim calcmode="lin" valueType="num">
                                      <p:cBhvr>
                                        <p:cTn id="30" dur="1000" fill="hold"/>
                                        <p:tgtEl>
                                          <p:spTgt spid="45082"/>
                                        </p:tgtEl>
                                        <p:attrNameLst>
                                          <p:attrName>ppt_x</p:attrName>
                                        </p:attrNameLst>
                                      </p:cBhvr>
                                      <p:tavLst>
                                        <p:tav tm="0">
                                          <p:val>
                                            <p:strVal val="#ppt_x"/>
                                          </p:val>
                                        </p:tav>
                                        <p:tav tm="100000">
                                          <p:val>
                                            <p:strVal val="#ppt_x"/>
                                          </p:val>
                                        </p:tav>
                                      </p:tavLst>
                                    </p:anim>
                                    <p:anim calcmode="lin" valueType="num">
                                      <p:cBhvr>
                                        <p:cTn id="31" dur="1000" fill="hold"/>
                                        <p:tgtEl>
                                          <p:spTgt spid="4508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059" grpId="0" uiExpand="1" build="p" autoUpdateAnimBg="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标题 1"/>
          <p:cNvSpPr>
            <a:spLocks noGrp="1"/>
          </p:cNvSpPr>
          <p:nvPr>
            <p:ph type="title"/>
          </p:nvPr>
        </p:nvSpPr>
        <p:spPr>
          <a:xfrm>
            <a:off x="2015219" y="145892"/>
            <a:ext cx="8229600" cy="1371600"/>
          </a:xfrm>
        </p:spPr>
        <p:txBody>
          <a:bodyPr/>
          <a:lstStyle/>
          <a:p>
            <a:pPr algn="ctr"/>
            <a:r>
              <a:rPr lang="en-US" altLang="zh-CN" dirty="0">
                <a:solidFill>
                  <a:srgbClr val="008000"/>
                </a:solidFill>
                <a:ea typeface="黑体" panose="02010609060101010101" pitchFamily="49" charset="-122"/>
              </a:rPr>
              <a:t>F</a:t>
            </a:r>
            <a:r>
              <a:rPr lang="zh-CN" altLang="en-US" dirty="0">
                <a:solidFill>
                  <a:srgbClr val="008000"/>
                </a:solidFill>
                <a:latin typeface="黑体" panose="02010609060101010101" pitchFamily="49" charset="-122"/>
                <a:ea typeface="黑体" panose="02010609060101010101" pitchFamily="49" charset="-122"/>
              </a:rPr>
              <a:t>子集隶属函数类型的选择</a:t>
            </a:r>
          </a:p>
        </p:txBody>
      </p:sp>
      <p:sp>
        <p:nvSpPr>
          <p:cNvPr id="47107" name="内容占位符 2"/>
          <p:cNvSpPr>
            <a:spLocks noGrp="1"/>
          </p:cNvSpPr>
          <p:nvPr>
            <p:ph idx="1"/>
          </p:nvPr>
        </p:nvSpPr>
        <p:spPr>
          <a:xfrm>
            <a:off x="1125494" y="1518237"/>
            <a:ext cx="10011066" cy="3886200"/>
          </a:xfrm>
        </p:spPr>
        <p:txBody>
          <a:bodyPr/>
          <a:lstStyle/>
          <a:p>
            <a:r>
              <a:rPr lang="en-US" altLang="zh-CN" sz="2800" dirty="0">
                <a:ea typeface="黑体" panose="02010609060101010101" pitchFamily="49" charset="-122"/>
                <a:sym typeface="Symbol" panose="05050102010706020507" pitchFamily="18" charset="2"/>
              </a:rPr>
              <a:t>F</a:t>
            </a:r>
            <a:r>
              <a:rPr lang="zh-CN" altLang="en-US" sz="2800" dirty="0">
                <a:ea typeface="黑体" panose="02010609060101010101" pitchFamily="49" charset="-122"/>
                <a:sym typeface="Symbol" panose="05050102010706020507" pitchFamily="18" charset="2"/>
              </a:rPr>
              <a:t>子集的隶属函数类型可以相同或不同，取决于控制对象的不同情况加上设计者的习惯、处理方便.</a:t>
            </a:r>
            <a:endParaRPr lang="en-US" altLang="zh-CN" sz="2800" dirty="0">
              <a:ea typeface="黑体" panose="02010609060101010101" pitchFamily="49" charset="-122"/>
              <a:sym typeface="Symbol" panose="05050102010706020507" pitchFamily="18" charset="2"/>
            </a:endParaRPr>
          </a:p>
          <a:p>
            <a:r>
              <a:rPr lang="zh-CN" altLang="en-US" sz="2800" b="1" dirty="0">
                <a:solidFill>
                  <a:srgbClr val="FF0000"/>
                </a:solidFill>
                <a:ea typeface="华文楷体" panose="02010600040101010101" pitchFamily="2" charset="-122"/>
                <a:sym typeface="Symbol" panose="05050102010706020507" pitchFamily="18" charset="2"/>
              </a:rPr>
              <a:t>一般</a:t>
            </a:r>
            <a:r>
              <a:rPr lang="en-US" altLang="zh-CN" sz="2800" b="1" dirty="0">
                <a:solidFill>
                  <a:srgbClr val="FF0000"/>
                </a:solidFill>
                <a:ea typeface="华文楷体" panose="02010600040101010101" pitchFamily="2" charset="-122"/>
                <a:sym typeface="Symbol" panose="05050102010706020507" pitchFamily="18" charset="2"/>
              </a:rPr>
              <a:t>F</a:t>
            </a:r>
            <a:r>
              <a:rPr lang="zh-CN" altLang="en-US" sz="2800" b="1" dirty="0">
                <a:solidFill>
                  <a:srgbClr val="FF0000"/>
                </a:solidFill>
                <a:ea typeface="华文楷体" panose="02010600040101010101" pitchFamily="2" charset="-122"/>
                <a:sym typeface="Symbol" panose="05050102010706020507" pitchFamily="18" charset="2"/>
              </a:rPr>
              <a:t>子集的隶属函数是</a:t>
            </a:r>
            <a:endParaRPr lang="en-US" altLang="zh-CN" sz="2800" b="1" dirty="0">
              <a:solidFill>
                <a:srgbClr val="FF0000"/>
              </a:solidFill>
              <a:ea typeface="华文楷体" panose="02010600040101010101" pitchFamily="2" charset="-122"/>
              <a:sym typeface="Symbol" panose="05050102010706020507" pitchFamily="18" charset="2"/>
            </a:endParaRPr>
          </a:p>
          <a:p>
            <a:pPr lvl="1"/>
            <a:r>
              <a:rPr lang="zh-CN" altLang="en-US" sz="2400" b="1" dirty="0">
                <a:ea typeface="华文楷体" panose="02010600040101010101" pitchFamily="2" charset="-122"/>
                <a:sym typeface="Symbol" panose="05050102010706020507" pitchFamily="18" charset="2"/>
              </a:rPr>
              <a:t>是</a:t>
            </a:r>
            <a:r>
              <a:rPr lang="zh-CN" altLang="en-US" sz="2400" b="1" u="sng" dirty="0">
                <a:solidFill>
                  <a:srgbClr val="3333FF"/>
                </a:solidFill>
                <a:ea typeface="华文楷体" panose="02010600040101010101" pitchFamily="2" charset="-122"/>
                <a:sym typeface="Symbol" panose="05050102010706020507" pitchFamily="18" charset="2"/>
              </a:rPr>
              <a:t>连续</a:t>
            </a:r>
            <a:r>
              <a:rPr lang="zh-CN" altLang="en-US" sz="2400" b="1" dirty="0">
                <a:ea typeface="华文楷体" panose="02010600040101010101" pitchFamily="2" charset="-122"/>
                <a:sym typeface="Symbol" panose="05050102010706020507" pitchFamily="18" charset="2"/>
              </a:rPr>
              <a:t>的函数，除边界外是</a:t>
            </a:r>
            <a:r>
              <a:rPr lang="zh-CN" altLang="en-US" sz="2400" b="1" u="sng" dirty="0">
                <a:solidFill>
                  <a:srgbClr val="3333FF"/>
                </a:solidFill>
                <a:ea typeface="华文楷体" panose="02010600040101010101" pitchFamily="2" charset="-122"/>
                <a:sym typeface="Symbol" panose="05050102010706020507" pitchFamily="18" charset="2"/>
              </a:rPr>
              <a:t>对称的凸</a:t>
            </a:r>
            <a:r>
              <a:rPr lang="en-US" altLang="zh-CN" sz="2400" b="1" u="sng" dirty="0">
                <a:solidFill>
                  <a:srgbClr val="3333FF"/>
                </a:solidFill>
                <a:ea typeface="华文楷体" panose="02010600040101010101" pitchFamily="2" charset="-122"/>
                <a:sym typeface="Symbol" panose="05050102010706020507" pitchFamily="18" charset="2"/>
              </a:rPr>
              <a:t>F</a:t>
            </a:r>
            <a:r>
              <a:rPr lang="zh-CN" altLang="en-US" sz="2400" b="1" u="sng" dirty="0">
                <a:solidFill>
                  <a:srgbClr val="3333FF"/>
                </a:solidFill>
                <a:ea typeface="华文楷体" panose="02010600040101010101" pitchFamily="2" charset="-122"/>
                <a:sym typeface="Symbol" panose="05050102010706020507" pitchFamily="18" charset="2"/>
              </a:rPr>
              <a:t>集</a:t>
            </a:r>
            <a:endParaRPr lang="en-US" altLang="zh-CN" sz="2400" b="1" u="sng" dirty="0">
              <a:solidFill>
                <a:srgbClr val="3333FF"/>
              </a:solidFill>
              <a:ea typeface="华文楷体" panose="02010600040101010101" pitchFamily="2" charset="-122"/>
              <a:sym typeface="Symbol" panose="05050102010706020507" pitchFamily="18" charset="2"/>
            </a:endParaRPr>
          </a:p>
          <a:p>
            <a:pPr lvl="1"/>
            <a:r>
              <a:rPr lang="zh-CN" altLang="en-US" sz="2400" b="1" dirty="0">
                <a:solidFill>
                  <a:srgbClr val="CC00CC"/>
                </a:solidFill>
                <a:ea typeface="华文楷体" panose="02010600040101010101" pitchFamily="2" charset="-122"/>
                <a:sym typeface="Symbol" panose="05050102010706020507" pitchFamily="18" charset="2"/>
              </a:rPr>
              <a:t>陡峭</a:t>
            </a:r>
            <a:r>
              <a:rPr lang="zh-CN" altLang="en-US" sz="2400" b="1" dirty="0">
                <a:ea typeface="华文楷体" panose="02010600040101010101" pitchFamily="2" charset="-122"/>
                <a:sym typeface="Symbol" panose="05050102010706020507" pitchFamily="18" charset="2"/>
              </a:rPr>
              <a:t>的形状将使控制具有较高分辨率，控制灵敏度增高</a:t>
            </a:r>
            <a:r>
              <a:rPr lang="en-US" altLang="zh-CN" sz="2400" b="1" dirty="0">
                <a:ea typeface="华文楷体" panose="02010600040101010101" pitchFamily="2" charset="-122"/>
                <a:sym typeface="Symbol" panose="05050102010706020507" pitchFamily="18" charset="2"/>
              </a:rPr>
              <a:t>——</a:t>
            </a:r>
            <a:r>
              <a:rPr lang="zh-CN" altLang="en-US" sz="2400" b="1" dirty="0">
                <a:solidFill>
                  <a:srgbClr val="CC00CC"/>
                </a:solidFill>
                <a:ea typeface="华文楷体" panose="02010600040101010101" pitchFamily="2" charset="-122"/>
                <a:sym typeface="Symbol" panose="05050102010706020507" pitchFamily="18" charset="2"/>
              </a:rPr>
              <a:t>接近系统平衡点时</a:t>
            </a:r>
            <a:endParaRPr lang="en-US" altLang="zh-CN" sz="2400" b="1" dirty="0">
              <a:solidFill>
                <a:srgbClr val="CC00CC"/>
              </a:solidFill>
              <a:ea typeface="华文楷体" panose="02010600040101010101" pitchFamily="2" charset="-122"/>
              <a:sym typeface="Symbol" panose="05050102010706020507" pitchFamily="18" charset="2"/>
            </a:endParaRPr>
          </a:p>
          <a:p>
            <a:pPr lvl="1"/>
            <a:r>
              <a:rPr lang="zh-CN" altLang="en-US" sz="2400" b="1" dirty="0">
                <a:solidFill>
                  <a:srgbClr val="008000"/>
                </a:solidFill>
                <a:ea typeface="华文楷体" panose="02010600040101010101" pitchFamily="2" charset="-122"/>
                <a:sym typeface="Symbol" panose="05050102010706020507" pitchFamily="18" charset="2"/>
              </a:rPr>
              <a:t>平缓</a:t>
            </a:r>
            <a:r>
              <a:rPr lang="zh-CN" altLang="en-US" sz="2400" b="1" dirty="0">
                <a:ea typeface="华文楷体" panose="02010600040101010101" pitchFamily="2" charset="-122"/>
                <a:sym typeface="Symbol" panose="05050102010706020507" pitchFamily="18" charset="2"/>
              </a:rPr>
              <a:t>的形状将使控制的分辨率、控制灵敏度降低</a:t>
            </a:r>
            <a:r>
              <a:rPr lang="en-US" altLang="zh-CN" sz="2400" b="1" dirty="0">
                <a:ea typeface="华文楷体" panose="02010600040101010101" pitchFamily="2" charset="-122"/>
                <a:sym typeface="Symbol" panose="05050102010706020507" pitchFamily="18" charset="2"/>
              </a:rPr>
              <a:t>——</a:t>
            </a:r>
            <a:r>
              <a:rPr lang="zh-CN" altLang="en-US" sz="2400" b="1" dirty="0">
                <a:solidFill>
                  <a:srgbClr val="008000"/>
                </a:solidFill>
                <a:ea typeface="华文楷体" panose="02010600040101010101" pitchFamily="2" charset="-122"/>
                <a:sym typeface="Symbol" panose="05050102010706020507" pitchFamily="18" charset="2"/>
              </a:rPr>
              <a:t>远离系统平衡点时</a:t>
            </a:r>
            <a:endParaRPr lang="en-US" altLang="zh-CN" sz="2400" b="1" dirty="0">
              <a:solidFill>
                <a:srgbClr val="008000"/>
              </a:solidFill>
              <a:ea typeface="华文楷体" panose="02010600040101010101" pitchFamily="2" charset="-122"/>
              <a:sym typeface="Symbol" panose="05050102010706020507" pitchFamily="18" charset="2"/>
            </a:endParaRPr>
          </a:p>
          <a:p>
            <a:pPr lvl="1"/>
            <a:r>
              <a:rPr lang="zh-CN" altLang="en-US" sz="2400" b="1" dirty="0">
                <a:ea typeface="华文楷体" panose="02010600040101010101" pitchFamily="2" charset="-122"/>
                <a:sym typeface="Symbol" panose="05050102010706020507" pitchFamily="18" charset="2"/>
              </a:rPr>
              <a:t>隶属函数的选择包含许多技术甚至是</a:t>
            </a:r>
            <a:r>
              <a:rPr lang="zh-CN" altLang="en-US" sz="2400" b="1" dirty="0">
                <a:solidFill>
                  <a:srgbClr val="FF9933"/>
                </a:solidFill>
                <a:effectLst>
                  <a:outerShdw blurRad="38100" dist="38100" dir="2700000" algn="tl">
                    <a:srgbClr val="000000">
                      <a:alpha val="43137"/>
                    </a:srgbClr>
                  </a:outerShdw>
                </a:effectLst>
                <a:ea typeface="华文楷体" panose="02010600040101010101" pitchFamily="2" charset="-122"/>
                <a:sym typeface="Symbol" panose="05050102010706020507" pitchFamily="18" charset="2"/>
              </a:rPr>
              <a:t>艺术成分</a:t>
            </a:r>
            <a:r>
              <a:rPr lang="zh-CN" altLang="en-US" sz="2400" b="1" dirty="0">
                <a:ea typeface="华文楷体" panose="02010600040101010101" pitchFamily="2" charset="-122"/>
                <a:sym typeface="Symbol" panose="05050102010706020507" pitchFamily="18" charset="2"/>
              </a:rPr>
              <a:t>。</a:t>
            </a:r>
            <a:endParaRPr lang="zh-CN" altLang="en-US" sz="2400" dirty="0"/>
          </a:p>
        </p:txBody>
      </p:sp>
      <p:grpSp>
        <p:nvGrpSpPr>
          <p:cNvPr id="47108" name="Group 4"/>
          <p:cNvGrpSpPr>
            <a:grpSpLocks/>
          </p:cNvGrpSpPr>
          <p:nvPr/>
        </p:nvGrpSpPr>
        <p:grpSpPr bwMode="auto">
          <a:xfrm>
            <a:off x="2927353" y="5373216"/>
            <a:ext cx="6983413" cy="1231900"/>
            <a:chOff x="0" y="0"/>
            <a:chExt cx="6982816" cy="1231324"/>
          </a:xfrm>
        </p:grpSpPr>
        <p:cxnSp>
          <p:nvCxnSpPr>
            <p:cNvPr id="47109" name="直接箭头连接符 79"/>
            <p:cNvCxnSpPr>
              <a:cxnSpLocks noChangeShapeType="1"/>
            </p:cNvCxnSpPr>
            <p:nvPr/>
          </p:nvCxnSpPr>
          <p:spPr bwMode="auto">
            <a:xfrm>
              <a:off x="0" y="1214374"/>
              <a:ext cx="6982816" cy="16205"/>
            </a:xfrm>
            <a:prstGeom prst="straightConnector1">
              <a:avLst/>
            </a:prstGeom>
            <a:noFill/>
            <a:ln w="19050" cmpd="sng">
              <a:solidFill>
                <a:schemeClr val="tx1"/>
              </a:solidFill>
              <a:round/>
              <a:headEnd/>
              <a:tailEnd type="arrow" w="med" len="med"/>
            </a:ln>
            <a:extLst>
              <a:ext uri="{909E8E84-426E-40DD-AFC4-6F175D3DCCD1}">
                <a14:hiddenFill xmlns:a14="http://schemas.microsoft.com/office/drawing/2010/main">
                  <a:noFill/>
                </a14:hiddenFill>
              </a:ext>
            </a:extLst>
          </p:spPr>
        </p:cxnSp>
        <p:cxnSp>
          <p:nvCxnSpPr>
            <p:cNvPr id="47110" name="直接箭头连接符 80"/>
            <p:cNvCxnSpPr>
              <a:cxnSpLocks noChangeShapeType="1"/>
            </p:cNvCxnSpPr>
            <p:nvPr/>
          </p:nvCxnSpPr>
          <p:spPr bwMode="auto">
            <a:xfrm flipV="1">
              <a:off x="3380456" y="0"/>
              <a:ext cx="1960" cy="1185310"/>
            </a:xfrm>
            <a:prstGeom prst="straightConnector1">
              <a:avLst/>
            </a:prstGeom>
            <a:noFill/>
            <a:ln w="19050" cmpd="sng">
              <a:solidFill>
                <a:schemeClr val="tx1"/>
              </a:solidFill>
              <a:round/>
              <a:headEnd/>
              <a:tailEnd type="arrow" w="med" len="med"/>
            </a:ln>
            <a:extLst>
              <a:ext uri="{909E8E84-426E-40DD-AFC4-6F175D3DCCD1}">
                <a14:hiddenFill xmlns:a14="http://schemas.microsoft.com/office/drawing/2010/main">
                  <a:noFill/>
                </a14:hiddenFill>
              </a:ext>
            </a:extLst>
          </p:spPr>
        </p:cxnSp>
        <p:cxnSp>
          <p:nvCxnSpPr>
            <p:cNvPr id="47111" name="直接连接符 81"/>
            <p:cNvCxnSpPr>
              <a:cxnSpLocks noChangeShapeType="1"/>
            </p:cNvCxnSpPr>
            <p:nvPr/>
          </p:nvCxnSpPr>
          <p:spPr bwMode="auto">
            <a:xfrm flipH="1">
              <a:off x="3312368" y="415071"/>
              <a:ext cx="70048" cy="0"/>
            </a:xfrm>
            <a:prstGeom prst="line">
              <a:avLst/>
            </a:prstGeom>
            <a:noFill/>
            <a:ln w="19050" cmpd="sng">
              <a:solidFill>
                <a:schemeClr val="tx1"/>
              </a:solidFill>
              <a:round/>
              <a:headEnd/>
              <a:tailEnd/>
            </a:ln>
            <a:extLst>
              <a:ext uri="{909E8E84-426E-40DD-AFC4-6F175D3DCCD1}">
                <a14:hiddenFill xmlns:a14="http://schemas.microsoft.com/office/drawing/2010/main">
                  <a:noFill/>
                </a14:hiddenFill>
              </a:ext>
            </a:extLst>
          </p:spPr>
        </p:cxnSp>
        <p:sp>
          <p:nvSpPr>
            <p:cNvPr id="47112" name="TextBox 82"/>
            <p:cNvSpPr txBox="1">
              <a:spLocks noChangeArrowheads="1"/>
            </p:cNvSpPr>
            <p:nvPr/>
          </p:nvSpPr>
          <p:spPr bwMode="auto">
            <a:xfrm>
              <a:off x="3022376" y="45739"/>
              <a:ext cx="36004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r>
                <a:rPr lang="en-US" altLang="zh-CN"/>
                <a:t>1</a:t>
              </a:r>
              <a:endParaRPr lang="zh-CN" altLang="en-US"/>
            </a:p>
          </p:txBody>
        </p:sp>
        <p:grpSp>
          <p:nvGrpSpPr>
            <p:cNvPr id="47113" name="Group 9"/>
            <p:cNvGrpSpPr>
              <a:grpSpLocks/>
            </p:cNvGrpSpPr>
            <p:nvPr/>
          </p:nvGrpSpPr>
          <p:grpSpPr bwMode="auto">
            <a:xfrm>
              <a:off x="14445" y="415072"/>
              <a:ext cx="2793867" cy="776853"/>
              <a:chOff x="0" y="0"/>
              <a:chExt cx="2793867" cy="1893059"/>
            </a:xfrm>
          </p:grpSpPr>
          <p:cxnSp>
            <p:nvCxnSpPr>
              <p:cNvPr id="47114" name="直接连接符 84"/>
              <p:cNvCxnSpPr>
                <a:cxnSpLocks noChangeShapeType="1"/>
              </p:cNvCxnSpPr>
              <p:nvPr/>
            </p:nvCxnSpPr>
            <p:spPr bwMode="auto">
              <a:xfrm flipH="1">
                <a:off x="0" y="42769"/>
                <a:ext cx="1656185" cy="1834173"/>
              </a:xfrm>
              <a:prstGeom prst="line">
                <a:avLst/>
              </a:prstGeom>
              <a:noFill/>
              <a:ln w="38100" cmpd="sng">
                <a:solidFill>
                  <a:srgbClr val="CC00CC"/>
                </a:solidFill>
                <a:round/>
                <a:headEnd/>
                <a:tailEnd/>
              </a:ln>
              <a:extLst>
                <a:ext uri="{909E8E84-426E-40DD-AFC4-6F175D3DCCD1}">
                  <a14:hiddenFill xmlns:a14="http://schemas.microsoft.com/office/drawing/2010/main">
                    <a:noFill/>
                  </a14:hiddenFill>
                </a:ext>
              </a:extLst>
            </p:spPr>
          </p:cxnSp>
          <p:cxnSp>
            <p:nvCxnSpPr>
              <p:cNvPr id="47115" name="直接连接符 85"/>
              <p:cNvCxnSpPr>
                <a:cxnSpLocks noChangeShapeType="1"/>
              </p:cNvCxnSpPr>
              <p:nvPr/>
            </p:nvCxnSpPr>
            <p:spPr bwMode="auto">
              <a:xfrm>
                <a:off x="1656184" y="0"/>
                <a:ext cx="1137683" cy="1893059"/>
              </a:xfrm>
              <a:prstGeom prst="line">
                <a:avLst/>
              </a:prstGeom>
              <a:noFill/>
              <a:ln w="38100" cmpd="sng">
                <a:solidFill>
                  <a:srgbClr val="CC00CC"/>
                </a:solidFill>
                <a:round/>
                <a:headEnd/>
                <a:tailEnd/>
              </a:ln>
              <a:extLst>
                <a:ext uri="{909E8E84-426E-40DD-AFC4-6F175D3DCCD1}">
                  <a14:hiddenFill xmlns:a14="http://schemas.microsoft.com/office/drawing/2010/main">
                    <a:noFill/>
                  </a14:hiddenFill>
                </a:ext>
              </a:extLst>
            </p:spPr>
          </p:cxnSp>
        </p:grpSp>
        <p:grpSp>
          <p:nvGrpSpPr>
            <p:cNvPr id="47116" name="Group 12"/>
            <p:cNvGrpSpPr>
              <a:grpSpLocks/>
            </p:cNvGrpSpPr>
            <p:nvPr/>
          </p:nvGrpSpPr>
          <p:grpSpPr bwMode="auto">
            <a:xfrm>
              <a:off x="1494457" y="454471"/>
              <a:ext cx="1887959" cy="752688"/>
              <a:chOff x="0" y="0"/>
              <a:chExt cx="1887959" cy="1834173"/>
            </a:xfrm>
          </p:grpSpPr>
          <p:cxnSp>
            <p:nvCxnSpPr>
              <p:cNvPr id="47117" name="直接连接符 87"/>
              <p:cNvCxnSpPr>
                <a:cxnSpLocks noChangeShapeType="1"/>
              </p:cNvCxnSpPr>
              <p:nvPr/>
            </p:nvCxnSpPr>
            <p:spPr bwMode="auto">
              <a:xfrm flipH="1">
                <a:off x="0" y="0"/>
                <a:ext cx="1094565" cy="1834173"/>
              </a:xfrm>
              <a:prstGeom prst="line">
                <a:avLst/>
              </a:prstGeom>
              <a:noFill/>
              <a:ln w="38100" cmpd="sng">
                <a:solidFill>
                  <a:srgbClr val="45E764"/>
                </a:solidFill>
                <a:round/>
                <a:headEnd/>
                <a:tailEnd/>
              </a:ln>
              <a:extLst>
                <a:ext uri="{909E8E84-426E-40DD-AFC4-6F175D3DCCD1}">
                  <a14:hiddenFill xmlns:a14="http://schemas.microsoft.com/office/drawing/2010/main">
                    <a:noFill/>
                  </a14:hiddenFill>
                </a:ext>
              </a:extLst>
            </p:spPr>
          </p:cxnSp>
          <p:cxnSp>
            <p:nvCxnSpPr>
              <p:cNvPr id="47118" name="直接连接符 88"/>
              <p:cNvCxnSpPr>
                <a:cxnSpLocks noChangeShapeType="1"/>
              </p:cNvCxnSpPr>
              <p:nvPr/>
            </p:nvCxnSpPr>
            <p:spPr bwMode="auto">
              <a:xfrm>
                <a:off x="1097831" y="0"/>
                <a:ext cx="790128" cy="1797048"/>
              </a:xfrm>
              <a:prstGeom prst="line">
                <a:avLst/>
              </a:prstGeom>
              <a:noFill/>
              <a:ln w="38100" cmpd="sng">
                <a:solidFill>
                  <a:srgbClr val="45E764"/>
                </a:solidFill>
                <a:round/>
                <a:headEnd/>
                <a:tailEnd/>
              </a:ln>
              <a:extLst>
                <a:ext uri="{909E8E84-426E-40DD-AFC4-6F175D3DCCD1}">
                  <a14:hiddenFill xmlns:a14="http://schemas.microsoft.com/office/drawing/2010/main">
                    <a:noFill/>
                  </a14:hiddenFill>
                </a:ext>
              </a:extLst>
            </p:spPr>
          </p:cxnSp>
        </p:grpSp>
        <p:grpSp>
          <p:nvGrpSpPr>
            <p:cNvPr id="47119" name="Group 15"/>
            <p:cNvGrpSpPr>
              <a:grpSpLocks/>
            </p:cNvGrpSpPr>
            <p:nvPr/>
          </p:nvGrpSpPr>
          <p:grpSpPr bwMode="auto">
            <a:xfrm>
              <a:off x="2815534" y="415071"/>
              <a:ext cx="1078160" cy="792088"/>
              <a:chOff x="0" y="0"/>
              <a:chExt cx="1078160" cy="1930184"/>
            </a:xfrm>
          </p:grpSpPr>
          <p:cxnSp>
            <p:nvCxnSpPr>
              <p:cNvPr id="47120" name="直接连接符 90"/>
              <p:cNvCxnSpPr>
                <a:cxnSpLocks noChangeShapeType="1"/>
              </p:cNvCxnSpPr>
              <p:nvPr/>
            </p:nvCxnSpPr>
            <p:spPr bwMode="auto">
              <a:xfrm flipH="1">
                <a:off x="0" y="0"/>
                <a:ext cx="564922" cy="1876942"/>
              </a:xfrm>
              <a:prstGeom prst="line">
                <a:avLst/>
              </a:prstGeom>
              <a:noFill/>
              <a:ln w="38100" cmpd="sng">
                <a:solidFill>
                  <a:srgbClr val="FF9933"/>
                </a:solidFill>
                <a:round/>
                <a:headEnd/>
                <a:tailEnd/>
              </a:ln>
              <a:extLst>
                <a:ext uri="{909E8E84-426E-40DD-AFC4-6F175D3DCCD1}">
                  <a14:hiddenFill xmlns:a14="http://schemas.microsoft.com/office/drawing/2010/main">
                    <a:noFill/>
                  </a14:hiddenFill>
                </a:ext>
              </a:extLst>
            </p:spPr>
          </p:cxnSp>
          <p:cxnSp>
            <p:nvCxnSpPr>
              <p:cNvPr id="47121" name="直接连接符 91"/>
              <p:cNvCxnSpPr>
                <a:cxnSpLocks noChangeShapeType="1"/>
              </p:cNvCxnSpPr>
              <p:nvPr/>
            </p:nvCxnSpPr>
            <p:spPr bwMode="auto">
              <a:xfrm>
                <a:off x="564922" y="0"/>
                <a:ext cx="513238" cy="1930184"/>
              </a:xfrm>
              <a:prstGeom prst="line">
                <a:avLst/>
              </a:prstGeom>
              <a:noFill/>
              <a:ln w="38100" cmpd="sng">
                <a:solidFill>
                  <a:srgbClr val="FF9933"/>
                </a:solidFill>
                <a:round/>
                <a:headEnd/>
                <a:tailEnd/>
              </a:ln>
              <a:extLst>
                <a:ext uri="{909E8E84-426E-40DD-AFC4-6F175D3DCCD1}">
                  <a14:hiddenFill xmlns:a14="http://schemas.microsoft.com/office/drawing/2010/main">
                    <a:noFill/>
                  </a14:hiddenFill>
                </a:ext>
              </a:extLst>
            </p:spPr>
          </p:cxnSp>
        </p:grpSp>
        <p:grpSp>
          <p:nvGrpSpPr>
            <p:cNvPr id="47122" name="Group 18"/>
            <p:cNvGrpSpPr>
              <a:grpSpLocks/>
            </p:cNvGrpSpPr>
            <p:nvPr/>
          </p:nvGrpSpPr>
          <p:grpSpPr bwMode="auto">
            <a:xfrm>
              <a:off x="3382418" y="454471"/>
              <a:ext cx="1859721" cy="776853"/>
              <a:chOff x="0" y="0"/>
              <a:chExt cx="1859721" cy="1893059"/>
            </a:xfrm>
          </p:grpSpPr>
          <p:cxnSp>
            <p:nvCxnSpPr>
              <p:cNvPr id="47123" name="直接连接符 93"/>
              <p:cNvCxnSpPr>
                <a:cxnSpLocks noChangeShapeType="1"/>
              </p:cNvCxnSpPr>
              <p:nvPr/>
            </p:nvCxnSpPr>
            <p:spPr bwMode="auto">
              <a:xfrm flipH="1">
                <a:off x="0" y="0"/>
                <a:ext cx="722038" cy="1818056"/>
              </a:xfrm>
              <a:prstGeom prst="line">
                <a:avLst/>
              </a:prstGeom>
              <a:noFill/>
              <a:ln w="38100" cmpd="sng">
                <a:solidFill>
                  <a:srgbClr val="FF0000"/>
                </a:solidFill>
                <a:round/>
                <a:headEnd/>
                <a:tailEnd/>
              </a:ln>
              <a:extLst>
                <a:ext uri="{909E8E84-426E-40DD-AFC4-6F175D3DCCD1}">
                  <a14:hiddenFill xmlns:a14="http://schemas.microsoft.com/office/drawing/2010/main">
                    <a:noFill/>
                  </a14:hiddenFill>
                </a:ext>
              </a:extLst>
            </p:spPr>
          </p:cxnSp>
          <p:cxnSp>
            <p:nvCxnSpPr>
              <p:cNvPr id="47124" name="直接连接符 94"/>
              <p:cNvCxnSpPr>
                <a:cxnSpLocks noChangeShapeType="1"/>
              </p:cNvCxnSpPr>
              <p:nvPr/>
            </p:nvCxnSpPr>
            <p:spPr bwMode="auto">
              <a:xfrm>
                <a:off x="722038" y="0"/>
                <a:ext cx="1137683" cy="1893059"/>
              </a:xfrm>
              <a:prstGeom prst="line">
                <a:avLst/>
              </a:prstGeom>
              <a:noFill/>
              <a:ln w="38100" cmpd="sng">
                <a:solidFill>
                  <a:srgbClr val="FF0000"/>
                </a:solidFill>
                <a:round/>
                <a:headEnd/>
                <a:tailEnd/>
              </a:ln>
              <a:extLst>
                <a:ext uri="{909E8E84-426E-40DD-AFC4-6F175D3DCCD1}">
                  <a14:hiddenFill xmlns:a14="http://schemas.microsoft.com/office/drawing/2010/main">
                    <a:noFill/>
                  </a14:hiddenFill>
                </a:ext>
              </a:extLst>
            </p:spPr>
          </p:cxnSp>
        </p:grpSp>
        <p:grpSp>
          <p:nvGrpSpPr>
            <p:cNvPr id="47125" name="Group 21"/>
            <p:cNvGrpSpPr>
              <a:grpSpLocks/>
            </p:cNvGrpSpPr>
            <p:nvPr/>
          </p:nvGrpSpPr>
          <p:grpSpPr bwMode="auto">
            <a:xfrm>
              <a:off x="3888432" y="415071"/>
              <a:ext cx="2822757" cy="770240"/>
              <a:chOff x="0" y="0"/>
              <a:chExt cx="2822757" cy="1876944"/>
            </a:xfrm>
          </p:grpSpPr>
          <p:cxnSp>
            <p:nvCxnSpPr>
              <p:cNvPr id="47126" name="直接连接符 96"/>
              <p:cNvCxnSpPr>
                <a:cxnSpLocks noChangeShapeType="1"/>
              </p:cNvCxnSpPr>
              <p:nvPr/>
            </p:nvCxnSpPr>
            <p:spPr bwMode="auto">
              <a:xfrm flipH="1">
                <a:off x="0" y="42769"/>
                <a:ext cx="1094565" cy="1834173"/>
              </a:xfrm>
              <a:prstGeom prst="line">
                <a:avLst/>
              </a:prstGeom>
              <a:noFill/>
              <a:ln w="38100" cmpd="sng">
                <a:solidFill>
                  <a:srgbClr val="3333FF"/>
                </a:solidFill>
                <a:round/>
                <a:headEnd/>
                <a:tailEnd/>
              </a:ln>
              <a:extLst>
                <a:ext uri="{909E8E84-426E-40DD-AFC4-6F175D3DCCD1}">
                  <a14:hiddenFill xmlns:a14="http://schemas.microsoft.com/office/drawing/2010/main">
                    <a:noFill/>
                  </a14:hiddenFill>
                </a:ext>
              </a:extLst>
            </p:spPr>
          </p:cxnSp>
          <p:cxnSp>
            <p:nvCxnSpPr>
              <p:cNvPr id="47127" name="直接连接符 97"/>
              <p:cNvCxnSpPr>
                <a:cxnSpLocks noChangeShapeType="1"/>
              </p:cNvCxnSpPr>
              <p:nvPr/>
            </p:nvCxnSpPr>
            <p:spPr bwMode="auto">
              <a:xfrm>
                <a:off x="1094565" y="0"/>
                <a:ext cx="1728192" cy="1876944"/>
              </a:xfrm>
              <a:prstGeom prst="line">
                <a:avLst/>
              </a:prstGeom>
              <a:noFill/>
              <a:ln w="38100" cmpd="sng">
                <a:solidFill>
                  <a:srgbClr val="3333FF"/>
                </a:solidFill>
                <a:round/>
                <a:headEnd/>
                <a:tailEnd/>
              </a:ln>
              <a:extLst>
                <a:ext uri="{909E8E84-426E-40DD-AFC4-6F175D3DCCD1}">
                  <a14:hiddenFill xmlns:a14="http://schemas.microsoft.com/office/drawing/2010/main">
                    <a:noFill/>
                  </a14:hiddenFill>
                </a:ext>
              </a:extLst>
            </p:spPr>
          </p:cxnSp>
        </p:grpSp>
        <p:cxnSp>
          <p:nvCxnSpPr>
            <p:cNvPr id="47128" name="直接连接符 98"/>
            <p:cNvCxnSpPr>
              <a:cxnSpLocks noChangeShapeType="1"/>
            </p:cNvCxnSpPr>
            <p:nvPr/>
          </p:nvCxnSpPr>
          <p:spPr bwMode="auto">
            <a:xfrm>
              <a:off x="12485" y="415071"/>
              <a:ext cx="1481972" cy="816253"/>
            </a:xfrm>
            <a:prstGeom prst="line">
              <a:avLst/>
            </a:prstGeom>
            <a:noFill/>
            <a:ln w="38100" cmpd="sng">
              <a:solidFill>
                <a:schemeClr val="tx1"/>
              </a:solidFill>
              <a:round/>
              <a:headEnd/>
              <a:tailEnd/>
            </a:ln>
            <a:extLst>
              <a:ext uri="{909E8E84-426E-40DD-AFC4-6F175D3DCCD1}">
                <a14:hiddenFill xmlns:a14="http://schemas.microsoft.com/office/drawing/2010/main">
                  <a:noFill/>
                </a14:hiddenFill>
              </a:ext>
            </a:extLst>
          </p:spPr>
        </p:cxnSp>
        <p:cxnSp>
          <p:nvCxnSpPr>
            <p:cNvPr id="47129" name="直接连接符 99"/>
            <p:cNvCxnSpPr>
              <a:cxnSpLocks noChangeShapeType="1"/>
            </p:cNvCxnSpPr>
            <p:nvPr/>
          </p:nvCxnSpPr>
          <p:spPr bwMode="auto">
            <a:xfrm flipH="1">
              <a:off x="5242139" y="454471"/>
              <a:ext cx="1467091" cy="776853"/>
            </a:xfrm>
            <a:prstGeom prst="line">
              <a:avLst/>
            </a:prstGeom>
            <a:noFill/>
            <a:ln w="38100" cmpd="sng">
              <a:solidFill>
                <a:srgbClr val="7F7F7F"/>
              </a:solidFill>
              <a:round/>
              <a:headEnd/>
              <a:tailEnd/>
            </a:ln>
            <a:extLst>
              <a:ext uri="{909E8E84-426E-40DD-AFC4-6F175D3DCCD1}">
                <a14:hiddenFill xmlns:a14="http://schemas.microsoft.com/office/drawing/2010/main">
                  <a:noFill/>
                </a14:hiddenFill>
              </a:ext>
            </a:extLst>
          </p:spPr>
        </p:cxnSp>
      </p:grpSp>
      <p:sp>
        <p:nvSpPr>
          <p:cNvPr id="2" name="灯片编号占位符 1">
            <a:extLst>
              <a:ext uri="{FF2B5EF4-FFF2-40B4-BE49-F238E27FC236}">
                <a16:creationId xmlns:a16="http://schemas.microsoft.com/office/drawing/2014/main" id="{7173246F-1609-10D1-0528-2D971AE77C72}"/>
              </a:ext>
            </a:extLst>
          </p:cNvPr>
          <p:cNvSpPr>
            <a:spLocks noGrp="1"/>
          </p:cNvSpPr>
          <p:nvPr>
            <p:ph type="sldNum" sz="quarter" idx="11"/>
          </p:nvPr>
        </p:nvSpPr>
        <p:spPr/>
        <p:txBody>
          <a:bodyPr/>
          <a:lstStyle/>
          <a:p>
            <a:pPr>
              <a:defRPr/>
            </a:pPr>
            <a:fld id="{1F3E0329-027F-44B1-A42A-8643FF593956}" type="slidenum">
              <a:rPr lang="en-US" altLang="zh-CN" smtClean="0"/>
              <a:pPr>
                <a:defRPr/>
              </a:pPr>
              <a:t>37</a:t>
            </a:fld>
            <a:endParaRPr lang="en-US" altLang="zh-CN"/>
          </a:p>
        </p:txBody>
      </p:sp>
    </p:spTree>
    <p:extLst>
      <p:ext uri="{BB962C8B-B14F-4D97-AF65-F5344CB8AC3E}">
        <p14:creationId xmlns:p14="http://schemas.microsoft.com/office/powerpoint/2010/main" val="2898409909"/>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47107">
                                            <p:txEl>
                                              <p:pRg st="0" end="0"/>
                                            </p:txEl>
                                          </p:spTgt>
                                        </p:tgtEl>
                                        <p:attrNameLst>
                                          <p:attrName>style.visibility</p:attrName>
                                        </p:attrNameLst>
                                      </p:cBhvr>
                                      <p:to>
                                        <p:strVal val="visible"/>
                                      </p:to>
                                    </p:set>
                                    <p:animEffect transition="in" filter="wipe(left)">
                                      <p:cBhvr>
                                        <p:cTn id="7" dur="500"/>
                                        <p:tgtEl>
                                          <p:spTgt spid="47107">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47107">
                                            <p:txEl>
                                              <p:pRg st="1" end="1"/>
                                            </p:txEl>
                                          </p:spTgt>
                                        </p:tgtEl>
                                        <p:attrNameLst>
                                          <p:attrName>style.visibility</p:attrName>
                                        </p:attrNameLst>
                                      </p:cBhvr>
                                      <p:to>
                                        <p:strVal val="visible"/>
                                      </p:to>
                                    </p:set>
                                    <p:animEffect transition="in" filter="wipe(left)">
                                      <p:cBhvr>
                                        <p:cTn id="12" dur="500"/>
                                        <p:tgtEl>
                                          <p:spTgt spid="47107">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47107">
                                            <p:txEl>
                                              <p:pRg st="2" end="2"/>
                                            </p:txEl>
                                          </p:spTgt>
                                        </p:tgtEl>
                                        <p:attrNameLst>
                                          <p:attrName>style.visibility</p:attrName>
                                        </p:attrNameLst>
                                      </p:cBhvr>
                                      <p:to>
                                        <p:strVal val="visible"/>
                                      </p:to>
                                    </p:set>
                                    <p:animEffect transition="in" filter="wipe(left)">
                                      <p:cBhvr>
                                        <p:cTn id="17" dur="500"/>
                                        <p:tgtEl>
                                          <p:spTgt spid="47107">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47107">
                                            <p:txEl>
                                              <p:pRg st="3" end="3"/>
                                            </p:txEl>
                                          </p:spTgt>
                                        </p:tgtEl>
                                        <p:attrNameLst>
                                          <p:attrName>style.visibility</p:attrName>
                                        </p:attrNameLst>
                                      </p:cBhvr>
                                      <p:to>
                                        <p:strVal val="visible"/>
                                      </p:to>
                                    </p:set>
                                    <p:animEffect transition="in" filter="wipe(left)">
                                      <p:cBhvr>
                                        <p:cTn id="22" dur="500"/>
                                        <p:tgtEl>
                                          <p:spTgt spid="47107">
                                            <p:txEl>
                                              <p:pRg st="3" end="3"/>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47107">
                                            <p:txEl>
                                              <p:pRg st="4" end="4"/>
                                            </p:txEl>
                                          </p:spTgt>
                                        </p:tgtEl>
                                        <p:attrNameLst>
                                          <p:attrName>style.visibility</p:attrName>
                                        </p:attrNameLst>
                                      </p:cBhvr>
                                      <p:to>
                                        <p:strVal val="visible"/>
                                      </p:to>
                                    </p:set>
                                    <p:animEffect transition="in" filter="wipe(left)">
                                      <p:cBhvr>
                                        <p:cTn id="27" dur="500"/>
                                        <p:tgtEl>
                                          <p:spTgt spid="47107">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47107">
                                            <p:txEl>
                                              <p:pRg st="5" end="5"/>
                                            </p:txEl>
                                          </p:spTgt>
                                        </p:tgtEl>
                                        <p:attrNameLst>
                                          <p:attrName>style.visibility</p:attrName>
                                        </p:attrNameLst>
                                      </p:cBhvr>
                                      <p:to>
                                        <p:strVal val="visible"/>
                                      </p:to>
                                    </p:set>
                                    <p:animEffect transition="in" filter="wipe(left)">
                                      <p:cBhvr>
                                        <p:cTn id="32" dur="500"/>
                                        <p:tgtEl>
                                          <p:spTgt spid="47107">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107" grpId="0" build="p" autoUpdateAnimBg="0"/>
    </p:bldLst>
  </p:timing>
</p:sld>
</file>

<file path=ppt/theme/theme1.xml><?xml version="1.0" encoding="utf-8"?>
<a:theme xmlns:a="http://schemas.openxmlformats.org/drawingml/2006/main" name="Pixel">
  <a:themeElements>
    <a:clrScheme name="Pixel 12">
      <a:dk1>
        <a:srgbClr val="000000"/>
      </a:dk1>
      <a:lt1>
        <a:srgbClr val="FFFFFF"/>
      </a:lt1>
      <a:dk2>
        <a:srgbClr val="000000"/>
      </a:dk2>
      <a:lt2>
        <a:srgbClr val="00007D"/>
      </a:lt2>
      <a:accent1>
        <a:srgbClr val="9999FF"/>
      </a:accent1>
      <a:accent2>
        <a:srgbClr val="9999CC"/>
      </a:accent2>
      <a:accent3>
        <a:srgbClr val="FFFFFF"/>
      </a:accent3>
      <a:accent4>
        <a:srgbClr val="000000"/>
      </a:accent4>
      <a:accent5>
        <a:srgbClr val="CACAFF"/>
      </a:accent5>
      <a:accent6>
        <a:srgbClr val="8A8AB9"/>
      </a:accent6>
      <a:hlink>
        <a:srgbClr val="666699"/>
      </a:hlink>
      <a:folHlink>
        <a:srgbClr val="CCCCE6"/>
      </a:folHlink>
    </a:clrScheme>
    <a:fontScheme name="Pixel">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Pixel 1">
        <a:dk1>
          <a:srgbClr val="0066FF"/>
        </a:dk1>
        <a:lt1>
          <a:srgbClr val="FFFFFF"/>
        </a:lt1>
        <a:dk2>
          <a:srgbClr val="000066"/>
        </a:dk2>
        <a:lt2>
          <a:srgbClr val="FFFFFF"/>
        </a:lt2>
        <a:accent1>
          <a:srgbClr val="6699FF"/>
        </a:accent1>
        <a:accent2>
          <a:srgbClr val="3333FF"/>
        </a:accent2>
        <a:accent3>
          <a:srgbClr val="AAAAB8"/>
        </a:accent3>
        <a:accent4>
          <a:srgbClr val="DADADA"/>
        </a:accent4>
        <a:accent5>
          <a:srgbClr val="B8CAFF"/>
        </a:accent5>
        <a:accent6>
          <a:srgbClr val="2D2DE7"/>
        </a:accent6>
        <a:hlink>
          <a:srgbClr val="FFCC00"/>
        </a:hlink>
        <a:folHlink>
          <a:srgbClr val="0000CC"/>
        </a:folHlink>
      </a:clrScheme>
      <a:clrMap bg1="dk2" tx1="lt1" bg2="dk1" tx2="lt2" accent1="accent1" accent2="accent2" accent3="accent3" accent4="accent4" accent5="accent5" accent6="accent6" hlink="hlink" folHlink="folHlink"/>
    </a:extraClrScheme>
    <a:extraClrScheme>
      <a:clrScheme name="Pixel 2">
        <a:dk1>
          <a:srgbClr val="009999"/>
        </a:dk1>
        <a:lt1>
          <a:srgbClr val="FFFFFF"/>
        </a:lt1>
        <a:dk2>
          <a:srgbClr val="334B49"/>
        </a:dk2>
        <a:lt2>
          <a:srgbClr val="FFFFFF"/>
        </a:lt2>
        <a:accent1>
          <a:srgbClr val="33CCCC"/>
        </a:accent1>
        <a:accent2>
          <a:srgbClr val="008080"/>
        </a:accent2>
        <a:accent3>
          <a:srgbClr val="ADB1B1"/>
        </a:accent3>
        <a:accent4>
          <a:srgbClr val="DADADA"/>
        </a:accent4>
        <a:accent5>
          <a:srgbClr val="ADE2E2"/>
        </a:accent5>
        <a:accent6>
          <a:srgbClr val="007373"/>
        </a:accent6>
        <a:hlink>
          <a:srgbClr val="FFCC00"/>
        </a:hlink>
        <a:folHlink>
          <a:srgbClr val="006666"/>
        </a:folHlink>
      </a:clrScheme>
      <a:clrMap bg1="dk2" tx1="lt1" bg2="dk1" tx2="lt2" accent1="accent1" accent2="accent2" accent3="accent3" accent4="accent4" accent5="accent5" accent6="accent6" hlink="hlink" folHlink="folHlink"/>
    </a:extraClrScheme>
    <a:extraClrScheme>
      <a:clrScheme name="Pixel 3">
        <a:dk1>
          <a:srgbClr val="006699"/>
        </a:dk1>
        <a:lt1>
          <a:srgbClr val="FFFFFF"/>
        </a:lt1>
        <a:dk2>
          <a:srgbClr val="333399"/>
        </a:dk2>
        <a:lt2>
          <a:srgbClr val="FFFFFF"/>
        </a:lt2>
        <a:accent1>
          <a:srgbClr val="0099CC"/>
        </a:accent1>
        <a:accent2>
          <a:srgbClr val="0386AF"/>
        </a:accent2>
        <a:accent3>
          <a:srgbClr val="ADADCA"/>
        </a:accent3>
        <a:accent4>
          <a:srgbClr val="DADADA"/>
        </a:accent4>
        <a:accent5>
          <a:srgbClr val="AACAE2"/>
        </a:accent5>
        <a:accent6>
          <a:srgbClr val="02799E"/>
        </a:accent6>
        <a:hlink>
          <a:srgbClr val="FFCC00"/>
        </a:hlink>
        <a:folHlink>
          <a:srgbClr val="6699FF"/>
        </a:folHlink>
      </a:clrScheme>
      <a:clrMap bg1="dk2" tx1="lt1" bg2="dk1" tx2="lt2" accent1="accent1" accent2="accent2" accent3="accent3" accent4="accent4" accent5="accent5" accent6="accent6" hlink="hlink" folHlink="folHlink"/>
    </a:extraClrScheme>
    <a:extraClrScheme>
      <a:clrScheme name="Pixel 4">
        <a:dk1>
          <a:srgbClr val="008080"/>
        </a:dk1>
        <a:lt1>
          <a:srgbClr val="FFFFFF"/>
        </a:lt1>
        <a:dk2>
          <a:srgbClr val="2F978D"/>
        </a:dk2>
        <a:lt2>
          <a:srgbClr val="FFFFFF"/>
        </a:lt2>
        <a:accent1>
          <a:srgbClr val="0099FF"/>
        </a:accent1>
        <a:accent2>
          <a:srgbClr val="009999"/>
        </a:accent2>
        <a:accent3>
          <a:srgbClr val="ADC9C5"/>
        </a:accent3>
        <a:accent4>
          <a:srgbClr val="DADADA"/>
        </a:accent4>
        <a:accent5>
          <a:srgbClr val="AACAFF"/>
        </a:accent5>
        <a:accent6>
          <a:srgbClr val="008A8A"/>
        </a:accent6>
        <a:hlink>
          <a:srgbClr val="FFFFCC"/>
        </a:hlink>
        <a:folHlink>
          <a:srgbClr val="70CAC6"/>
        </a:folHlink>
      </a:clrScheme>
      <a:clrMap bg1="dk2" tx1="lt1" bg2="dk1" tx2="lt2" accent1="accent1" accent2="accent2" accent3="accent3" accent4="accent4" accent5="accent5" accent6="accent6" hlink="hlink" folHlink="folHlink"/>
    </a:extraClrScheme>
    <a:extraClrScheme>
      <a:clrScheme name="Pixel 5">
        <a:dk1>
          <a:srgbClr val="822504"/>
        </a:dk1>
        <a:lt1>
          <a:srgbClr val="FFFFFF"/>
        </a:lt1>
        <a:dk2>
          <a:srgbClr val="330000"/>
        </a:dk2>
        <a:lt2>
          <a:srgbClr val="FFFFFF"/>
        </a:lt2>
        <a:accent1>
          <a:srgbClr val="FF9900"/>
        </a:accent1>
        <a:accent2>
          <a:srgbClr val="9E2A06"/>
        </a:accent2>
        <a:accent3>
          <a:srgbClr val="ADAAAA"/>
        </a:accent3>
        <a:accent4>
          <a:srgbClr val="DADADA"/>
        </a:accent4>
        <a:accent5>
          <a:srgbClr val="FFCAAA"/>
        </a:accent5>
        <a:accent6>
          <a:srgbClr val="8F2505"/>
        </a:accent6>
        <a:hlink>
          <a:srgbClr val="FF3300"/>
        </a:hlink>
        <a:folHlink>
          <a:srgbClr val="7C0704"/>
        </a:folHlink>
      </a:clrScheme>
      <a:clrMap bg1="dk2" tx1="lt1" bg2="dk1" tx2="lt2" accent1="accent1" accent2="accent2" accent3="accent3" accent4="accent4" accent5="accent5" accent6="accent6" hlink="hlink" folHlink="folHlink"/>
    </a:extraClrScheme>
    <a:extraClrScheme>
      <a:clrScheme name="Pixel 6">
        <a:dk1>
          <a:srgbClr val="336600"/>
        </a:dk1>
        <a:lt1>
          <a:srgbClr val="FFFFFF"/>
        </a:lt1>
        <a:dk2>
          <a:srgbClr val="4A7911"/>
        </a:dk2>
        <a:lt2>
          <a:srgbClr val="FFFFFF"/>
        </a:lt2>
        <a:accent1>
          <a:srgbClr val="666633"/>
        </a:accent1>
        <a:accent2>
          <a:srgbClr val="669900"/>
        </a:accent2>
        <a:accent3>
          <a:srgbClr val="B1BEAA"/>
        </a:accent3>
        <a:accent4>
          <a:srgbClr val="DADADA"/>
        </a:accent4>
        <a:accent5>
          <a:srgbClr val="B8B8AD"/>
        </a:accent5>
        <a:accent6>
          <a:srgbClr val="5C8A00"/>
        </a:accent6>
        <a:hlink>
          <a:srgbClr val="FFCC00"/>
        </a:hlink>
        <a:folHlink>
          <a:srgbClr val="99CC00"/>
        </a:folHlink>
      </a:clrScheme>
      <a:clrMap bg1="dk2" tx1="lt1" bg2="dk1" tx2="lt2" accent1="accent1" accent2="accent2" accent3="accent3" accent4="accent4" accent5="accent5" accent6="accent6" hlink="hlink" folHlink="folHlink"/>
    </a:extraClrScheme>
    <a:extraClrScheme>
      <a:clrScheme name="Pixel 7">
        <a:dk1>
          <a:srgbClr val="000000"/>
        </a:dk1>
        <a:lt1>
          <a:srgbClr val="FFFFFF"/>
        </a:lt1>
        <a:dk2>
          <a:srgbClr val="000000"/>
        </a:dk2>
        <a:lt2>
          <a:srgbClr val="CC3300"/>
        </a:lt2>
        <a:accent1>
          <a:srgbClr val="FFCC00"/>
        </a:accent1>
        <a:accent2>
          <a:srgbClr val="CC6600"/>
        </a:accent2>
        <a:accent3>
          <a:srgbClr val="FFFFFF"/>
        </a:accent3>
        <a:accent4>
          <a:srgbClr val="000000"/>
        </a:accent4>
        <a:accent5>
          <a:srgbClr val="FFE2AA"/>
        </a:accent5>
        <a:accent6>
          <a:srgbClr val="B95C00"/>
        </a:accent6>
        <a:hlink>
          <a:srgbClr val="663300"/>
        </a:hlink>
        <a:folHlink>
          <a:srgbClr val="CC9900"/>
        </a:folHlink>
      </a:clrScheme>
      <a:clrMap bg1="lt1" tx1="dk1" bg2="lt2" tx2="dk2" accent1="accent1" accent2="accent2" accent3="accent3" accent4="accent4" accent5="accent5" accent6="accent6" hlink="hlink" folHlink="folHlink"/>
    </a:extraClrScheme>
    <a:extraClrScheme>
      <a:clrScheme name="Pixel 8">
        <a:dk1>
          <a:srgbClr val="003300"/>
        </a:dk1>
        <a:lt1>
          <a:srgbClr val="FFFFFF"/>
        </a:lt1>
        <a:dk2>
          <a:srgbClr val="000000"/>
        </a:dk2>
        <a:lt2>
          <a:srgbClr val="336600"/>
        </a:lt2>
        <a:accent1>
          <a:srgbClr val="CCCC00"/>
        </a:accent1>
        <a:accent2>
          <a:srgbClr val="669900"/>
        </a:accent2>
        <a:accent3>
          <a:srgbClr val="FFFFFF"/>
        </a:accent3>
        <a:accent4>
          <a:srgbClr val="002A00"/>
        </a:accent4>
        <a:accent5>
          <a:srgbClr val="E2E2AA"/>
        </a:accent5>
        <a:accent6>
          <a:srgbClr val="5C8A00"/>
        </a:accent6>
        <a:hlink>
          <a:srgbClr val="333300"/>
        </a:hlink>
        <a:folHlink>
          <a:srgbClr val="99CC00"/>
        </a:folHlink>
      </a:clrScheme>
      <a:clrMap bg1="lt1" tx1="dk1" bg2="lt2" tx2="dk2" accent1="accent1" accent2="accent2" accent3="accent3" accent4="accent4" accent5="accent5" accent6="accent6" hlink="hlink" folHlink="folHlink"/>
    </a:extraClrScheme>
    <a:extraClrScheme>
      <a:clrScheme name="Pixel 9">
        <a:dk1>
          <a:srgbClr val="000000"/>
        </a:dk1>
        <a:lt1>
          <a:srgbClr val="FFFFFF"/>
        </a:lt1>
        <a:dk2>
          <a:srgbClr val="000000"/>
        </a:dk2>
        <a:lt2>
          <a:srgbClr val="440044"/>
        </a:lt2>
        <a:accent1>
          <a:srgbClr val="FFCCCC"/>
        </a:accent1>
        <a:accent2>
          <a:srgbClr val="790571"/>
        </a:accent2>
        <a:accent3>
          <a:srgbClr val="FFFFFF"/>
        </a:accent3>
        <a:accent4>
          <a:srgbClr val="000000"/>
        </a:accent4>
        <a:accent5>
          <a:srgbClr val="FFE2E2"/>
        </a:accent5>
        <a:accent6>
          <a:srgbClr val="6D0466"/>
        </a:accent6>
        <a:hlink>
          <a:srgbClr val="993366"/>
        </a:hlink>
        <a:folHlink>
          <a:srgbClr val="9F839F"/>
        </a:folHlink>
      </a:clrScheme>
      <a:clrMap bg1="lt1" tx1="dk1" bg2="lt2" tx2="dk2" accent1="accent1" accent2="accent2" accent3="accent3" accent4="accent4" accent5="accent5" accent6="accent6" hlink="hlink" folHlink="folHlink"/>
    </a:extraClrScheme>
    <a:extraClrScheme>
      <a:clrScheme name="Pixel 10">
        <a:dk1>
          <a:srgbClr val="000000"/>
        </a:dk1>
        <a:lt1>
          <a:srgbClr val="FFFFFF"/>
        </a:lt1>
        <a:dk2>
          <a:srgbClr val="000000"/>
        </a:dk2>
        <a:lt2>
          <a:srgbClr val="FF9900"/>
        </a:lt2>
        <a:accent1>
          <a:srgbClr val="FFCC99"/>
        </a:accent1>
        <a:accent2>
          <a:srgbClr val="FBA313"/>
        </a:accent2>
        <a:accent3>
          <a:srgbClr val="FFFFFF"/>
        </a:accent3>
        <a:accent4>
          <a:srgbClr val="000000"/>
        </a:accent4>
        <a:accent5>
          <a:srgbClr val="FFE2CA"/>
        </a:accent5>
        <a:accent6>
          <a:srgbClr val="E39310"/>
        </a:accent6>
        <a:hlink>
          <a:srgbClr val="CC3300"/>
        </a:hlink>
        <a:folHlink>
          <a:srgbClr val="FCC66E"/>
        </a:folHlink>
      </a:clrScheme>
      <a:clrMap bg1="lt1" tx1="dk1" bg2="lt2" tx2="dk2" accent1="accent1" accent2="accent2" accent3="accent3" accent4="accent4" accent5="accent5" accent6="accent6" hlink="hlink" folHlink="folHlink"/>
    </a:extraClrScheme>
    <a:extraClrScheme>
      <a:clrScheme name="Pixel 11">
        <a:dk1>
          <a:srgbClr val="000000"/>
        </a:dk1>
        <a:lt1>
          <a:srgbClr val="FFFFFF"/>
        </a:lt1>
        <a:dk2>
          <a:srgbClr val="000000"/>
        </a:dk2>
        <a:lt2>
          <a:srgbClr val="779F92"/>
        </a:lt2>
        <a:accent1>
          <a:srgbClr val="33CCCC"/>
        </a:accent1>
        <a:accent2>
          <a:srgbClr val="9DC2D7"/>
        </a:accent2>
        <a:accent3>
          <a:srgbClr val="FFFFFF"/>
        </a:accent3>
        <a:accent4>
          <a:srgbClr val="000000"/>
        </a:accent4>
        <a:accent5>
          <a:srgbClr val="ADE2E2"/>
        </a:accent5>
        <a:accent6>
          <a:srgbClr val="8EB0C3"/>
        </a:accent6>
        <a:hlink>
          <a:srgbClr val="006666"/>
        </a:hlink>
        <a:folHlink>
          <a:srgbClr val="CCCCFF"/>
        </a:folHlink>
      </a:clrScheme>
      <a:clrMap bg1="lt1" tx1="dk1" bg2="lt2" tx2="dk2" accent1="accent1" accent2="accent2" accent3="accent3" accent4="accent4" accent5="accent5" accent6="accent6" hlink="hlink" folHlink="folHlink"/>
    </a:extraClrScheme>
    <a:extraClrScheme>
      <a:clrScheme name="Pixel 12">
        <a:dk1>
          <a:srgbClr val="000000"/>
        </a:dk1>
        <a:lt1>
          <a:srgbClr val="FFFFFF"/>
        </a:lt1>
        <a:dk2>
          <a:srgbClr val="000000"/>
        </a:dk2>
        <a:lt2>
          <a:srgbClr val="00007D"/>
        </a:lt2>
        <a:accent1>
          <a:srgbClr val="9999FF"/>
        </a:accent1>
        <a:accent2>
          <a:srgbClr val="9999CC"/>
        </a:accent2>
        <a:accent3>
          <a:srgbClr val="FFFFFF"/>
        </a:accent3>
        <a:accent4>
          <a:srgbClr val="000000"/>
        </a:accent4>
        <a:accent5>
          <a:srgbClr val="CACAFF"/>
        </a:accent5>
        <a:accent6>
          <a:srgbClr val="8A8AB9"/>
        </a:accent6>
        <a:hlink>
          <a:srgbClr val="666699"/>
        </a:hlink>
        <a:folHlink>
          <a:srgbClr val="CCCCE6"/>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Override1.xml><?xml version="1.0" encoding="utf-8"?>
<a:themeOverride xmlns:a="http://schemas.openxmlformats.org/drawingml/2006/main">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themeOverride>
</file>

<file path=ppt/theme/themeOverride2.xml><?xml version="1.0" encoding="utf-8"?>
<a:themeOverride xmlns:a="http://schemas.openxmlformats.org/drawingml/2006/main">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themeOverride>
</file>

<file path=ppt/theme/themeOverride3.xml><?xml version="1.0" encoding="utf-8"?>
<a:themeOverride xmlns:a="http://schemas.openxmlformats.org/drawingml/2006/main">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themeOverride>
</file>

<file path=ppt/theme/themeOverride4.xml><?xml version="1.0" encoding="utf-8"?>
<a:themeOverride xmlns:a="http://schemas.openxmlformats.org/drawingml/2006/main">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themeOverride>
</file>

<file path=ppt/theme/themeOverride5.xml><?xml version="1.0" encoding="utf-8"?>
<a:themeOverride xmlns:a="http://schemas.openxmlformats.org/drawingml/2006/main">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themeOverride>
</file>

<file path=ppt/theme/themeOverride6.xml><?xml version="1.0" encoding="utf-8"?>
<a:themeOverride xmlns:a="http://schemas.openxmlformats.org/drawingml/2006/main">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themeOverride>
</file>

<file path=docProps/app.xml><?xml version="1.0" encoding="utf-8"?>
<Properties xmlns="http://schemas.openxmlformats.org/officeDocument/2006/extended-properties" xmlns:vt="http://schemas.openxmlformats.org/officeDocument/2006/docPropsVTypes">
  <Template>Pixel</Template>
  <TotalTime>17249</TotalTime>
  <Words>3366</Words>
  <Application>Microsoft Office PowerPoint</Application>
  <PresentationFormat>宽屏</PresentationFormat>
  <Paragraphs>526</Paragraphs>
  <Slides>37</Slides>
  <Notes>10</Notes>
  <HiddenSlides>1</HiddenSlides>
  <MMClips>0</MMClips>
  <ScaleCrop>false</ScaleCrop>
  <HeadingPairs>
    <vt:vector size="8" baseType="variant">
      <vt:variant>
        <vt:lpstr>已用的字体</vt:lpstr>
      </vt:variant>
      <vt:variant>
        <vt:i4>11</vt:i4>
      </vt:variant>
      <vt:variant>
        <vt:lpstr>主题</vt:lpstr>
      </vt:variant>
      <vt:variant>
        <vt:i4>1</vt:i4>
      </vt:variant>
      <vt:variant>
        <vt:lpstr>嵌入 OLE 服务器</vt:lpstr>
      </vt:variant>
      <vt:variant>
        <vt:i4>1</vt:i4>
      </vt:variant>
      <vt:variant>
        <vt:lpstr>幻灯片标题</vt:lpstr>
      </vt:variant>
      <vt:variant>
        <vt:i4>37</vt:i4>
      </vt:variant>
    </vt:vector>
  </HeadingPairs>
  <TitlesOfParts>
    <vt:vector size="50" baseType="lpstr">
      <vt:lpstr>ITC Zapf Chancery</vt:lpstr>
      <vt:lpstr>黑体</vt:lpstr>
      <vt:lpstr>华文楷体</vt:lpstr>
      <vt:lpstr>楷体_GB2312</vt:lpstr>
      <vt:lpstr>隶书</vt:lpstr>
      <vt:lpstr>Arial</vt:lpstr>
      <vt:lpstr>Arial Black</vt:lpstr>
      <vt:lpstr>Comic Sans MS</vt:lpstr>
      <vt:lpstr>Monotype Corsiva</vt:lpstr>
      <vt:lpstr>Times New Roman</vt:lpstr>
      <vt:lpstr>Wingdings</vt:lpstr>
      <vt:lpstr>Pixel</vt:lpstr>
      <vt:lpstr>Equation</vt:lpstr>
      <vt:lpstr>第 9 章 模糊推理系统</vt:lpstr>
      <vt:lpstr>9.1  F 推理系统概述</vt:lpstr>
      <vt:lpstr>F 推理系统的框图</vt:lpstr>
      <vt:lpstr>F 推理系统的框图</vt:lpstr>
      <vt:lpstr>9.2 Mamdani 模糊模型</vt:lpstr>
      <vt:lpstr>Mamdani 模糊模型的推理机制</vt:lpstr>
      <vt:lpstr>去模糊化的方法</vt:lpstr>
      <vt:lpstr>Mamdani 模糊模型举例</vt:lpstr>
      <vt:lpstr>Mamdani 模糊模型举例</vt:lpstr>
      <vt:lpstr>Mamdani 模型两输入单输出举例</vt:lpstr>
      <vt:lpstr>Mamdani 模糊模型两输入单输出举例</vt:lpstr>
      <vt:lpstr>9.3  Sugeno 模糊模型(TSK模型)</vt:lpstr>
      <vt:lpstr>一阶Sugeno 模糊模型推理过程</vt:lpstr>
      <vt:lpstr>一阶Sugeno 模糊模型举例</vt:lpstr>
      <vt:lpstr>一阶Sugeno 模糊模型举例</vt:lpstr>
      <vt:lpstr>一阶Sugeno 模糊模型举例</vt:lpstr>
      <vt:lpstr>一阶Sugeno 模糊模型举例</vt:lpstr>
      <vt:lpstr>一阶Sugeno 模糊模型举例</vt:lpstr>
      <vt:lpstr>一阶Sugeno 模糊模型举例</vt:lpstr>
      <vt:lpstr>一阶Sugeno 模糊模型举例</vt:lpstr>
      <vt:lpstr>一阶Sugeno 模糊模型举例</vt:lpstr>
      <vt:lpstr>两输入单输出Sugeno 模糊模型举例</vt:lpstr>
      <vt:lpstr>两输入单输出Sugeno 模糊模型举例</vt:lpstr>
      <vt:lpstr>两输入单输出Sugeno 模糊模型举例</vt:lpstr>
      <vt:lpstr>9.4 Tsukamoto 模糊模型</vt:lpstr>
      <vt:lpstr>各种推理模型的特点</vt:lpstr>
      <vt:lpstr>9.5  F推理系统实现所考虑的其他因素</vt:lpstr>
      <vt:lpstr>F推理系统的输入空间的划分</vt:lpstr>
      <vt:lpstr>F推理系统的输入空间的划分</vt:lpstr>
      <vt:lpstr>F推理系统的输入空间的划分</vt:lpstr>
      <vt:lpstr>9.6 模糊系统的建模过程</vt:lpstr>
      <vt:lpstr>模糊系统的建模过程</vt:lpstr>
      <vt:lpstr>模糊化</vt:lpstr>
      <vt:lpstr>模糊化</vt:lpstr>
      <vt:lpstr>F子集的分布</vt:lpstr>
      <vt:lpstr>F子集的分布</vt:lpstr>
      <vt:lpstr>F子集隶属函数类型的选择</vt:lpstr>
    </vt:vector>
  </TitlesOfParts>
  <Company>微软中国</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第 8 章 模糊控制</dc:title>
  <dc:creator>凌卫新</dc:creator>
  <cp:lastModifiedBy>wxling66@outlook.com</cp:lastModifiedBy>
  <cp:revision>197</cp:revision>
  <dcterms:created xsi:type="dcterms:W3CDTF">2007-06-19T18:06:18Z</dcterms:created>
  <dcterms:modified xsi:type="dcterms:W3CDTF">2026-06-16T12:15:28Z</dcterms:modified>
</cp:coreProperties>
</file>