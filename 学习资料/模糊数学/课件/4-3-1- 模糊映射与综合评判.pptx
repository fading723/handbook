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6"/>
  </p:notesMasterIdLst>
  <p:handoutMasterIdLst>
    <p:handoutMasterId r:id="rId27"/>
  </p:handoutMasterIdLst>
  <p:sldIdLst>
    <p:sldId id="257" r:id="rId2"/>
    <p:sldId id="479" r:id="rId3"/>
    <p:sldId id="480" r:id="rId4"/>
    <p:sldId id="481" r:id="rId5"/>
    <p:sldId id="482" r:id="rId6"/>
    <p:sldId id="483" r:id="rId7"/>
    <p:sldId id="484" r:id="rId8"/>
    <p:sldId id="485" r:id="rId9"/>
    <p:sldId id="455" r:id="rId10"/>
    <p:sldId id="456" r:id="rId11"/>
    <p:sldId id="457" r:id="rId12"/>
    <p:sldId id="478" r:id="rId13"/>
    <p:sldId id="460" r:id="rId14"/>
    <p:sldId id="461" r:id="rId15"/>
    <p:sldId id="462" r:id="rId16"/>
    <p:sldId id="463" r:id="rId17"/>
    <p:sldId id="464" r:id="rId18"/>
    <p:sldId id="465" r:id="rId19"/>
    <p:sldId id="486" r:id="rId20"/>
    <p:sldId id="467" r:id="rId21"/>
    <p:sldId id="468" r:id="rId22"/>
    <p:sldId id="469" r:id="rId23"/>
    <p:sldId id="470" r:id="rId24"/>
    <p:sldId id="471" r:id="rId25"/>
  </p:sldIdLst>
  <p:sldSz cx="12192000" cy="6858000"/>
  <p:notesSz cx="6669088" cy="9928225"/>
  <p:defaultTextStyle>
    <a:defPPr>
      <a:defRPr lang="zh-CN"/>
    </a:defPPr>
    <a:lvl1pPr algn="l" rtl="0" eaLnBrk="0" fontAlgn="base" hangingPunct="0">
      <a:spcBef>
        <a:spcPct val="0"/>
      </a:spcBef>
      <a:spcAft>
        <a:spcPct val="0"/>
      </a:spcAft>
      <a:defRPr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charset="0"/>
        <a:ea typeface="宋体" charset="-122"/>
        <a:cs typeface="+mn-cs"/>
      </a:defRPr>
    </a:lvl2pPr>
    <a:lvl3pPr marL="914400" algn="l" rtl="0" eaLnBrk="0" fontAlgn="base" hangingPunct="0">
      <a:spcBef>
        <a:spcPct val="0"/>
      </a:spcBef>
      <a:spcAft>
        <a:spcPct val="0"/>
      </a:spcAft>
      <a:defRPr kern="1200">
        <a:solidFill>
          <a:schemeClr val="tx1"/>
        </a:solidFill>
        <a:latin typeface="Arial" charset="0"/>
        <a:ea typeface="宋体" charset="-122"/>
        <a:cs typeface="+mn-cs"/>
      </a:defRPr>
    </a:lvl3pPr>
    <a:lvl4pPr marL="1371600" algn="l" rtl="0" eaLnBrk="0" fontAlgn="base" hangingPunct="0">
      <a:spcBef>
        <a:spcPct val="0"/>
      </a:spcBef>
      <a:spcAft>
        <a:spcPct val="0"/>
      </a:spcAft>
      <a:defRPr kern="1200">
        <a:solidFill>
          <a:schemeClr val="tx1"/>
        </a:solidFill>
        <a:latin typeface="Arial" charset="0"/>
        <a:ea typeface="宋体" charset="-122"/>
        <a:cs typeface="+mn-cs"/>
      </a:defRPr>
    </a:lvl4pPr>
    <a:lvl5pPr marL="1828800" algn="l" rtl="0" eaLnBrk="0" fontAlgn="base" hangingPunct="0">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CC99"/>
    <a:srgbClr val="CC00CC"/>
    <a:srgbClr val="9BF2FB"/>
    <a:srgbClr val="008000"/>
    <a:srgbClr val="FF99FF"/>
    <a:srgbClr val="3333FF"/>
    <a:srgbClr val="996633"/>
    <a:srgbClr val="660066"/>
    <a:srgbClr val="F3FD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8509" autoAdjust="0"/>
  </p:normalViewPr>
  <p:slideViewPr>
    <p:cSldViewPr>
      <p:cViewPr varScale="1">
        <p:scale>
          <a:sx n="69" d="100"/>
          <a:sy n="69" d="100"/>
        </p:scale>
        <p:origin x="84" y="312"/>
      </p:cViewPr>
      <p:guideLst>
        <p:guide orient="horz" pos="2160"/>
        <p:guide pos="384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29027" name="Rectangle 3"/>
          <p:cNvSpPr>
            <a:spLocks noGrp="1" noChangeArrowheads="1"/>
          </p:cNvSpPr>
          <p:nvPr>
            <p:ph type="dt" sz="quarter"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129028" name="Rectangle 4"/>
          <p:cNvSpPr>
            <a:spLocks noGrp="1" noChangeArrowheads="1"/>
          </p:cNvSpPr>
          <p:nvPr>
            <p:ph type="ftr" sz="quarter" idx="2"/>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29029" name="Rectangle 5"/>
          <p:cNvSpPr>
            <a:spLocks noGrp="1" noChangeArrowheads="1"/>
          </p:cNvSpPr>
          <p:nvPr>
            <p:ph type="sldNum" sz="quarter" idx="3"/>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charset="0"/>
                <a:ea typeface="宋体" pitchFamily="2" charset="-122"/>
              </a:defRPr>
            </a:lvl1pPr>
          </a:lstStyle>
          <a:p>
            <a:pPr>
              <a:defRPr/>
            </a:pPr>
            <a:fld id="{5342B7F8-8EA5-4C5D-9222-FF9E5970AFFC}" type="slidenum">
              <a:rPr lang="en-US" altLang="zh-CN"/>
              <a:pPr>
                <a:defRPr/>
              </a:pPr>
              <a:t>‹#›</a:t>
            </a:fld>
            <a:endParaRPr lang="en-US" altLang="zh-CN"/>
          </a:p>
        </p:txBody>
      </p:sp>
    </p:spTree>
    <p:extLst>
      <p:ext uri="{BB962C8B-B14F-4D97-AF65-F5344CB8AC3E}">
        <p14:creationId xmlns:p14="http://schemas.microsoft.com/office/powerpoint/2010/main" val="34910122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78851" name="Rectangle 3"/>
          <p:cNvSpPr>
            <a:spLocks noGrp="1" noChangeArrowheads="1"/>
          </p:cNvSpPr>
          <p:nvPr>
            <p:ph type="dt" idx="1"/>
          </p:nvPr>
        </p:nvSpPr>
        <p:spPr bwMode="auto">
          <a:xfrm>
            <a:off x="3777607" y="0"/>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7578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8853" name="Rectangle 5"/>
          <p:cNvSpPr>
            <a:spLocks noGrp="1" noChangeArrowheads="1"/>
          </p:cNvSpPr>
          <p:nvPr>
            <p:ph type="body" sz="quarter" idx="3"/>
          </p:nvPr>
        </p:nvSpPr>
        <p:spPr bwMode="auto">
          <a:xfrm>
            <a:off x="666909" y="4715907"/>
            <a:ext cx="5335270" cy="4467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8854" name="Rectangle 6"/>
          <p:cNvSpPr>
            <a:spLocks noGrp="1" noChangeArrowheads="1"/>
          </p:cNvSpPr>
          <p:nvPr>
            <p:ph type="ftr" sz="quarter" idx="4"/>
          </p:nvPr>
        </p:nvSpPr>
        <p:spPr bwMode="auto">
          <a:xfrm>
            <a:off x="0"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78855" name="Rectangle 7"/>
          <p:cNvSpPr>
            <a:spLocks noGrp="1" noChangeArrowheads="1"/>
          </p:cNvSpPr>
          <p:nvPr>
            <p:ph type="sldNum" sz="quarter" idx="5"/>
          </p:nvPr>
        </p:nvSpPr>
        <p:spPr bwMode="auto">
          <a:xfrm>
            <a:off x="3777607" y="9430091"/>
            <a:ext cx="2889938" cy="49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charset="0"/>
                <a:ea typeface="宋体" pitchFamily="2" charset="-122"/>
              </a:defRPr>
            </a:lvl1pPr>
          </a:lstStyle>
          <a:p>
            <a:pPr>
              <a:defRPr/>
            </a:pPr>
            <a:fld id="{F495A736-1A7B-4704-9D00-8A38BEE516F8}" type="slidenum">
              <a:rPr lang="en-US" altLang="zh-CN"/>
              <a:pPr>
                <a:defRPr/>
              </a:pPr>
              <a:t>‹#›</a:t>
            </a:fld>
            <a:endParaRPr lang="en-US" altLang="zh-CN"/>
          </a:p>
        </p:txBody>
      </p:sp>
    </p:spTree>
    <p:extLst>
      <p:ext uri="{BB962C8B-B14F-4D97-AF65-F5344CB8AC3E}">
        <p14:creationId xmlns:p14="http://schemas.microsoft.com/office/powerpoint/2010/main" val="23282811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b="1" dirty="0"/>
              <a:t>随着科学技术的发展，对以前在社会、经济、生物、组织管理等领域只能定性描述的因素、事物和概念等，现在迫切需要作定量化的研究，</a:t>
            </a:r>
            <a:r>
              <a:rPr lang="zh-CN" altLang="en-US" b="1" dirty="0">
                <a:solidFill>
                  <a:srgbClr val="CC0099"/>
                </a:solidFill>
                <a:ea typeface="楷体_GB2312" pitchFamily="49" charset="-122"/>
              </a:rPr>
              <a:t>层次分析法把定性分析与定量分析相结合，</a:t>
            </a:r>
            <a:r>
              <a:rPr lang="zh-CN" altLang="en-US" b="1" dirty="0"/>
              <a:t>在一定程度上满足了这种需要。</a:t>
            </a:r>
          </a:p>
          <a:p>
            <a:endParaRPr lang="zh-CN" altLang="en-US" dirty="0"/>
          </a:p>
        </p:txBody>
      </p:sp>
      <p:sp>
        <p:nvSpPr>
          <p:cNvPr id="4" name="灯片编号占位符 3"/>
          <p:cNvSpPr>
            <a:spLocks noGrp="1"/>
          </p:cNvSpPr>
          <p:nvPr>
            <p:ph type="sldNum" sz="quarter" idx="10"/>
          </p:nvPr>
        </p:nvSpPr>
        <p:spPr/>
        <p:txBody>
          <a:bodyPr/>
          <a:lstStyle/>
          <a:p>
            <a:pPr>
              <a:defRPr/>
            </a:pPr>
            <a:fld id="{2C221FAE-A507-4860-9EFD-6B74036BF75C}" type="slidenum">
              <a:rPr lang="en-US" altLang="zh-CN" smtClean="0"/>
              <a:pPr>
                <a:defRPr/>
              </a:pPr>
              <a:t>2</a:t>
            </a:fld>
            <a:endParaRPr lang="en-US" altLang="zh-CN"/>
          </a:p>
        </p:txBody>
      </p:sp>
    </p:spTree>
    <p:extLst>
      <p:ext uri="{BB962C8B-B14F-4D97-AF65-F5344CB8AC3E}">
        <p14:creationId xmlns:p14="http://schemas.microsoft.com/office/powerpoint/2010/main" val="1960351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2400" b="1" dirty="0">
                <a:ea typeface="楷体_GB2312" pitchFamily="49" charset="-122"/>
              </a:rPr>
              <a:t>要对准则</a:t>
            </a:r>
            <a:r>
              <a:rPr lang="en-US" altLang="zh-CN" sz="2400" b="1" dirty="0">
                <a:ea typeface="楷体_GB2312" pitchFamily="49" charset="-122"/>
              </a:rPr>
              <a:t>C1</a:t>
            </a:r>
            <a:r>
              <a:rPr lang="zh-CN" altLang="en-US" sz="2400" b="1" dirty="0">
                <a:ea typeface="楷体_GB2312" pitchFamily="49" charset="-122"/>
              </a:rPr>
              <a:t>所支配的方案定权重，有的问题要直接给出权重：如学生的成绩、某工程的投资额</a:t>
            </a:r>
            <a:r>
              <a:rPr lang="en-US" altLang="zh-CN" sz="2400" b="1" dirty="0">
                <a:ea typeface="楷体_GB2312" pitchFamily="49" charset="-122"/>
              </a:rPr>
              <a:t>……,</a:t>
            </a:r>
          </a:p>
          <a:p>
            <a:pPr marL="0" marR="0" lvl="1" indent="0" algn="l" defTabSz="914400" rtl="0" eaLnBrk="0" fontAlgn="base" latinLnBrk="0" hangingPunct="0">
              <a:lnSpc>
                <a:spcPct val="100000"/>
              </a:lnSpc>
              <a:spcBef>
                <a:spcPct val="30000"/>
              </a:spcBef>
              <a:spcAft>
                <a:spcPct val="0"/>
              </a:spcAft>
              <a:buClrTx/>
              <a:buSzTx/>
              <a:buFontTx/>
              <a:buNone/>
              <a:tabLst/>
              <a:defRPr/>
            </a:pPr>
            <a:r>
              <a:rPr lang="zh-CN" altLang="en-US" sz="2400" b="1" dirty="0">
                <a:ea typeface="楷体_GB2312" pitchFamily="49" charset="-122"/>
              </a:rPr>
              <a:t>但对大从数的社会经济问题，尤其的复杂问题中，权重无法直接获得，应用</a:t>
            </a:r>
            <a:r>
              <a:rPr lang="zh-CN" altLang="en-US" sz="2400" b="1" dirty="0">
                <a:solidFill>
                  <a:srgbClr val="CC0099"/>
                </a:solidFill>
                <a:ea typeface="楷体_GB2312" pitchFamily="49" charset="-122"/>
              </a:rPr>
              <a:t>两两比较</a:t>
            </a:r>
            <a:r>
              <a:rPr lang="zh-CN" altLang="en-US" sz="2400" b="1" dirty="0">
                <a:ea typeface="楷体_GB2312" pitchFamily="49" charset="-122"/>
              </a:rPr>
              <a:t>的方法确定决策方案的重要性，即得到决策方案</a:t>
            </a:r>
            <a:r>
              <a:rPr lang="en-US" altLang="zh-CN" sz="2400" b="1" dirty="0">
                <a:ea typeface="楷体_GB2312" pitchFamily="49" charset="-122"/>
              </a:rPr>
              <a:t>P</a:t>
            </a:r>
            <a:r>
              <a:rPr lang="en-US" altLang="zh-CN" sz="2400" b="1" baseline="-25000" dirty="0">
                <a:ea typeface="楷体_GB2312" pitchFamily="49" charset="-122"/>
              </a:rPr>
              <a:t>1</a:t>
            </a:r>
            <a:r>
              <a:rPr lang="en-US" altLang="zh-CN" sz="2400" b="1" dirty="0">
                <a:ea typeface="楷体_GB2312" pitchFamily="49" charset="-122"/>
              </a:rPr>
              <a:t>,P</a:t>
            </a:r>
            <a:r>
              <a:rPr lang="en-US" altLang="zh-CN" sz="2400" b="1" baseline="-25000" dirty="0">
                <a:ea typeface="楷体_GB2312" pitchFamily="49" charset="-122"/>
              </a:rPr>
              <a:t>2</a:t>
            </a:r>
            <a:r>
              <a:rPr lang="en-US" altLang="zh-CN" sz="2400" b="1" dirty="0">
                <a:ea typeface="楷体_GB2312" pitchFamily="49" charset="-122"/>
              </a:rPr>
              <a:t>,…,</a:t>
            </a:r>
            <a:r>
              <a:rPr lang="en-US" altLang="zh-CN" sz="2400" b="1" dirty="0" err="1">
                <a:ea typeface="楷体_GB2312" pitchFamily="49" charset="-122"/>
              </a:rPr>
              <a:t>P</a:t>
            </a:r>
            <a:r>
              <a:rPr lang="en-US" altLang="zh-CN" sz="2400" b="1" baseline="-25000" dirty="0" err="1">
                <a:ea typeface="楷体_GB2312" pitchFamily="49" charset="-122"/>
              </a:rPr>
              <a:t>n</a:t>
            </a:r>
            <a:r>
              <a:rPr lang="zh-CN" altLang="en-US" sz="2400" b="1" dirty="0">
                <a:ea typeface="楷体_GB2312" pitchFamily="49" charset="-122"/>
              </a:rPr>
              <a:t>相对于目标层</a:t>
            </a:r>
            <a:r>
              <a:rPr lang="en-US" altLang="zh-CN" sz="2400" b="1" dirty="0">
                <a:ea typeface="楷体_GB2312" pitchFamily="49" charset="-122"/>
              </a:rPr>
              <a:t>G</a:t>
            </a:r>
            <a:r>
              <a:rPr lang="zh-CN" altLang="en-US" sz="2400" b="1" dirty="0">
                <a:ea typeface="楷体_GB2312" pitchFamily="49" charset="-122"/>
              </a:rPr>
              <a:t>重要性的权重，从而获得较满意的决策。</a:t>
            </a:r>
          </a:p>
        </p:txBody>
      </p:sp>
      <p:sp>
        <p:nvSpPr>
          <p:cNvPr id="4" name="灯片编号占位符 3"/>
          <p:cNvSpPr>
            <a:spLocks noGrp="1"/>
          </p:cNvSpPr>
          <p:nvPr>
            <p:ph type="sldNum" sz="quarter" idx="10"/>
          </p:nvPr>
        </p:nvSpPr>
        <p:spPr/>
        <p:txBody>
          <a:bodyPr/>
          <a:lstStyle/>
          <a:p>
            <a:pPr>
              <a:defRPr/>
            </a:pPr>
            <a:fld id="{2C221FAE-A507-4860-9EFD-6B74036BF75C}" type="slidenum">
              <a:rPr lang="en-US" altLang="zh-CN" smtClean="0"/>
              <a:pPr>
                <a:defRPr/>
              </a:pPr>
              <a:t>6</a:t>
            </a:fld>
            <a:endParaRPr lang="en-US" altLang="zh-CN"/>
          </a:p>
        </p:txBody>
      </p:sp>
    </p:spTree>
    <p:extLst>
      <p:ext uri="{BB962C8B-B14F-4D97-AF65-F5344CB8AC3E}">
        <p14:creationId xmlns:p14="http://schemas.microsoft.com/office/powerpoint/2010/main" val="19107535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r>
              <a:rPr lang="en-US" altLang="zh-CN" dirty="0"/>
              <a:t>9=5+4</a:t>
            </a:r>
            <a:r>
              <a:rPr lang="zh-CN" altLang="en-US" dirty="0"/>
              <a:t>，</a:t>
            </a:r>
            <a:r>
              <a:rPr lang="zh-CN" altLang="en-US" baseline="0" dirty="0"/>
              <a:t>  常用</a:t>
            </a:r>
            <a:r>
              <a:rPr lang="en-US" altLang="zh-CN" baseline="0" dirty="0"/>
              <a:t>5</a:t>
            </a:r>
            <a:r>
              <a:rPr lang="zh-CN" altLang="en-US" baseline="0" dirty="0"/>
              <a:t>级评分制，两两中间再插入一级得</a:t>
            </a:r>
            <a:r>
              <a:rPr lang="en-US" altLang="zh-CN" baseline="0" dirty="0"/>
              <a:t>9</a:t>
            </a:r>
            <a:r>
              <a:rPr lang="zh-CN" altLang="en-US" baseline="0" dirty="0"/>
              <a:t>级</a:t>
            </a:r>
            <a:endParaRPr lang="en-US" altLang="zh-CN" baseline="0" dirty="0"/>
          </a:p>
          <a:p>
            <a:r>
              <a:rPr lang="zh-CN" altLang="en-US" baseline="0" dirty="0"/>
              <a:t>要两两比较的原因：</a:t>
            </a:r>
            <a:r>
              <a:rPr lang="en-US" altLang="zh-CN" baseline="0" dirty="0"/>
              <a:t>n</a:t>
            </a:r>
            <a:r>
              <a:rPr lang="zh-CN" altLang="en-US" baseline="0" dirty="0"/>
              <a:t>的元素若只比</a:t>
            </a:r>
            <a:r>
              <a:rPr lang="en-US" altLang="zh-CN" baseline="0" dirty="0"/>
              <a:t>n-1</a:t>
            </a:r>
            <a:r>
              <a:rPr lang="zh-CN" altLang="en-US" baseline="0" dirty="0"/>
              <a:t>次，则任何一个判断失误都可能导致不合理的排序。应尽量避免判断失误。</a:t>
            </a:r>
            <a:endParaRPr lang="zh-CN" altLang="en-US" dirty="0"/>
          </a:p>
        </p:txBody>
      </p:sp>
      <p:sp>
        <p:nvSpPr>
          <p:cNvPr id="4" name="灯片编号占位符 3"/>
          <p:cNvSpPr>
            <a:spLocks noGrp="1"/>
          </p:cNvSpPr>
          <p:nvPr>
            <p:ph type="sldNum" sz="quarter" idx="10"/>
          </p:nvPr>
        </p:nvSpPr>
        <p:spPr/>
        <p:txBody>
          <a:bodyPr/>
          <a:lstStyle/>
          <a:p>
            <a:pPr>
              <a:defRPr/>
            </a:pPr>
            <a:fld id="{2C221FAE-A507-4860-9EFD-6B74036BF75C}" type="slidenum">
              <a:rPr lang="en-US" altLang="zh-CN" smtClean="0"/>
              <a:pPr>
                <a:defRPr/>
              </a:pPr>
              <a:t>7</a:t>
            </a:fld>
            <a:endParaRPr lang="en-US" altLang="zh-CN"/>
          </a:p>
        </p:txBody>
      </p:sp>
    </p:spTree>
    <p:extLst>
      <p:ext uri="{BB962C8B-B14F-4D97-AF65-F5344CB8AC3E}">
        <p14:creationId xmlns:p14="http://schemas.microsoft.com/office/powerpoint/2010/main" val="3819497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6988" y="744538"/>
            <a:ext cx="6615112" cy="3722687"/>
          </a:xfrm>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zh-CN" altLang="en-US" sz="2000" b="1" u="none" dirty="0">
                <a:solidFill>
                  <a:srgbClr val="3333FF"/>
                </a:solidFill>
                <a:ea typeface="楷体_GB2312" pitchFamily="49" charset="-122"/>
              </a:rPr>
              <a:t>一致性检验</a:t>
            </a:r>
            <a:r>
              <a:rPr lang="en-US" altLang="zh-CN" sz="2000" b="1" u="none" dirty="0">
                <a:solidFill>
                  <a:srgbClr val="3333FF"/>
                </a:solidFill>
                <a:ea typeface="楷体_GB2312" pitchFamily="49" charset="-122"/>
              </a:rPr>
              <a:t>——</a:t>
            </a:r>
            <a:r>
              <a:rPr lang="zh-CN" altLang="en-US" sz="2000" b="1" u="none" dirty="0">
                <a:solidFill>
                  <a:srgbClr val="3333FF"/>
                </a:solidFill>
                <a:ea typeface="楷体_GB2312" pitchFamily="49" charset="-122"/>
              </a:rPr>
              <a:t>即判断矩阵要具有传递性，</a:t>
            </a:r>
            <a:r>
              <a:rPr lang="en-US" altLang="zh-CN" sz="2000" b="1" u="none" dirty="0">
                <a:solidFill>
                  <a:srgbClr val="3333FF"/>
                </a:solidFill>
                <a:ea typeface="楷体_GB2312" pitchFamily="49" charset="-122"/>
              </a:rPr>
              <a:t>a:b=3:1,</a:t>
            </a:r>
            <a:r>
              <a:rPr lang="en-US" altLang="zh-CN" sz="2000" b="1" u="none" baseline="0" dirty="0">
                <a:solidFill>
                  <a:srgbClr val="3333FF"/>
                </a:solidFill>
                <a:ea typeface="楷体_GB2312" pitchFamily="49" charset="-122"/>
              </a:rPr>
              <a:t>  b:c=3:1   </a:t>
            </a:r>
            <a:r>
              <a:rPr lang="en-US" altLang="zh-CN" sz="2000" b="1" u="none" baseline="0" dirty="0">
                <a:solidFill>
                  <a:srgbClr val="3333FF"/>
                </a:solidFill>
                <a:ea typeface="楷体_GB2312" pitchFamily="49" charset="-122"/>
                <a:sym typeface="Wingdings" pitchFamily="2" charset="2"/>
              </a:rPr>
              <a:t> a:c=9:1=3*3</a:t>
            </a:r>
            <a:endParaRPr lang="zh-CN" altLang="en-US" sz="2000" b="1" u="none" dirty="0">
              <a:solidFill>
                <a:srgbClr val="3333FF"/>
              </a:solidFill>
              <a:ea typeface="楷体_GB2312" pitchFamily="49"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2C221FAE-A507-4860-9EFD-6B74036BF75C}" type="slidenum">
              <a:rPr lang="en-US" altLang="zh-CN" smtClean="0"/>
              <a:pPr>
                <a:defRPr/>
              </a:pPr>
              <a:t>9</a:t>
            </a:fld>
            <a:endParaRPr lang="en-US" altLang="zh-CN"/>
          </a:p>
        </p:txBody>
      </p:sp>
    </p:spTree>
    <p:extLst>
      <p:ext uri="{BB962C8B-B14F-4D97-AF65-F5344CB8AC3E}">
        <p14:creationId xmlns:p14="http://schemas.microsoft.com/office/powerpoint/2010/main" val="403774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3424E85-C508-452C-B70F-C97314F3D74E}" type="slidenum">
              <a:rPr lang="en-US" altLang="zh-CN" smtClean="0"/>
              <a:pPr eaLnBrk="1" hangingPunct="1"/>
              <a:t>11</a:t>
            </a:fld>
            <a:endParaRPr lang="en-US" altLang="zh-CN"/>
          </a:p>
        </p:txBody>
      </p:sp>
      <p:sp>
        <p:nvSpPr>
          <p:cNvPr id="68611" name="Rectangle 2"/>
          <p:cNvSpPr>
            <a:spLocks noGrp="1" noRot="1" noChangeAspect="1" noChangeArrowheads="1" noTextEdit="1"/>
          </p:cNvSpPr>
          <p:nvPr>
            <p:ph type="sldImg"/>
          </p:nvPr>
        </p:nvSpPr>
        <p:spPr>
          <a:xfrm>
            <a:off x="26988" y="744538"/>
            <a:ext cx="6615112" cy="3722687"/>
          </a:xfrm>
          <a:ln/>
        </p:spPr>
      </p:sp>
      <p:sp>
        <p:nvSpPr>
          <p:cNvPr id="68612" name="Rectangle 3"/>
          <p:cNvSpPr>
            <a:spLocks noGrp="1" noChangeArrowheads="1"/>
          </p:cNvSpPr>
          <p:nvPr>
            <p:ph type="body" idx="1"/>
          </p:nvPr>
        </p:nvSpPr>
        <p:spPr>
          <a:noFill/>
        </p:spPr>
        <p:txBody>
          <a:bodyPr/>
          <a:lstStyle/>
          <a:p>
            <a:pPr eaLnBrk="1" hangingPunct="1"/>
            <a:r>
              <a:rPr lang="zh-CN" altLang="en-US" dirty="0"/>
              <a:t>表中无</a:t>
            </a:r>
            <a:r>
              <a:rPr lang="en-US" altLang="zh-CN" dirty="0"/>
              <a:t>n=1,2</a:t>
            </a:r>
            <a:r>
              <a:rPr lang="zh-CN" altLang="en-US" dirty="0"/>
              <a:t>的情况，因为此时</a:t>
            </a:r>
            <a:r>
              <a:rPr lang="en-US" altLang="zh-CN" dirty="0"/>
              <a:t>R</a:t>
            </a:r>
            <a:r>
              <a:rPr lang="zh-CN" altLang="en-US" dirty="0"/>
              <a:t>总是一致的。</a:t>
            </a:r>
            <a:endParaRPr lang="en-US" altLang="zh-CN" dirty="0"/>
          </a:p>
          <a:p>
            <a:pPr eaLnBrk="1" hangingPunct="1"/>
            <a:r>
              <a:rPr lang="en-US" altLang="zh-CN" dirty="0"/>
              <a:t>CR&lt;0.1</a:t>
            </a:r>
            <a:r>
              <a:rPr lang="zh-CN" altLang="en-US" dirty="0"/>
              <a:t>，这是根据经验得到，用</a:t>
            </a:r>
            <a:r>
              <a:rPr lang="en-US" altLang="zh-CN" dirty="0"/>
              <a:t>500</a:t>
            </a:r>
            <a:r>
              <a:rPr lang="zh-CN" altLang="en-US" dirty="0"/>
              <a:t>个子样</a:t>
            </a:r>
          </a:p>
        </p:txBody>
      </p:sp>
    </p:spTree>
    <p:extLst>
      <p:ext uri="{BB962C8B-B14F-4D97-AF65-F5344CB8AC3E}">
        <p14:creationId xmlns:p14="http://schemas.microsoft.com/office/powerpoint/2010/main" val="1227663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B68EE-70A0-302E-486A-1D280632641B}"/>
            </a:ext>
          </a:extLst>
        </p:cNvPr>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88CC62E5-B78D-BC8B-07CF-331D3C1A6C3D}"/>
              </a:ext>
            </a:extLst>
          </p:cNvPr>
          <p:cNvSpPr>
            <a:spLocks noGrp="1" noRot="1" noChangeAspect="1" noTextEdit="1"/>
          </p:cNvSpPr>
          <p:nvPr>
            <p:ph type="sldImg"/>
          </p:nvPr>
        </p:nvSpPr>
        <p:spPr>
          <a:xfrm>
            <a:off x="26988" y="744538"/>
            <a:ext cx="6615112" cy="3722687"/>
          </a:xfrm>
          <a:ln/>
        </p:spPr>
      </p:sp>
      <p:sp>
        <p:nvSpPr>
          <p:cNvPr id="69635" name="备注占位符 2">
            <a:extLst>
              <a:ext uri="{FF2B5EF4-FFF2-40B4-BE49-F238E27FC236}">
                <a16:creationId xmlns:a16="http://schemas.microsoft.com/office/drawing/2014/main" id="{302417E5-07CF-8151-CAC4-98C9BDA89912}"/>
              </a:ext>
            </a:extLst>
          </p:cNvPr>
          <p:cNvSpPr>
            <a:spLocks noGrp="1"/>
          </p:cNvSpPr>
          <p:nvPr>
            <p:ph type="body" idx="1"/>
          </p:nvPr>
        </p:nvSpPr>
        <p:spPr>
          <a:noFill/>
        </p:spPr>
        <p:txBody>
          <a:bodyPr/>
          <a:lstStyle/>
          <a:p>
            <a:endParaRPr lang="zh-CN" altLang="en-US"/>
          </a:p>
        </p:txBody>
      </p:sp>
      <p:sp>
        <p:nvSpPr>
          <p:cNvPr id="69636" name="灯片编号占位符 3">
            <a:extLst>
              <a:ext uri="{FF2B5EF4-FFF2-40B4-BE49-F238E27FC236}">
                <a16:creationId xmlns:a16="http://schemas.microsoft.com/office/drawing/2014/main" id="{B2139815-F9EC-6E8E-97CB-CA27AD7B2E6F}"/>
              </a:ext>
            </a:extLst>
          </p:cNvPr>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F18820B-AEFF-41C2-B596-ACFADBC1159D}" type="slidenum">
              <a:rPr lang="en-US" altLang="zh-CN" smtClean="0"/>
              <a:pPr eaLnBrk="1" hangingPunct="1"/>
              <a:t>19</a:t>
            </a:fld>
            <a:endParaRPr lang="en-US" altLang="zh-CN"/>
          </a:p>
        </p:txBody>
      </p:sp>
    </p:spTree>
    <p:extLst>
      <p:ext uri="{BB962C8B-B14F-4D97-AF65-F5344CB8AC3E}">
        <p14:creationId xmlns:p14="http://schemas.microsoft.com/office/powerpoint/2010/main" val="3975634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2192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grpSp>
      </p:grpSp>
      <p:sp>
        <p:nvSpPr>
          <p:cNvPr id="263187" name="Rectangle 19"/>
          <p:cNvSpPr>
            <a:spLocks noGrp="1" noChangeArrowheads="1"/>
          </p:cNvSpPr>
          <p:nvPr>
            <p:ph type="ctrTitle"/>
          </p:nvPr>
        </p:nvSpPr>
        <p:spPr>
          <a:xfrm>
            <a:off x="3962400" y="1828800"/>
            <a:ext cx="8026400" cy="2209800"/>
          </a:xfrm>
        </p:spPr>
        <p:txBody>
          <a:bodyPr/>
          <a:lstStyle>
            <a:lvl1pPr>
              <a:defRPr/>
            </a:lvl1pPr>
          </a:lstStyle>
          <a:p>
            <a:pPr lvl="0"/>
            <a:r>
              <a:rPr lang="zh-CN" altLang="en-US" noProof="0"/>
              <a:t>单击此处编辑母版标题样式</a:t>
            </a:r>
          </a:p>
        </p:txBody>
      </p:sp>
      <p:sp>
        <p:nvSpPr>
          <p:cNvPr id="263188" name="Rectangle 20"/>
          <p:cNvSpPr>
            <a:spLocks noGrp="1" noChangeArrowheads="1"/>
          </p:cNvSpPr>
          <p:nvPr>
            <p:ph type="subTitle" idx="1"/>
          </p:nvPr>
        </p:nvSpPr>
        <p:spPr>
          <a:xfrm>
            <a:off x="3962400" y="4267200"/>
            <a:ext cx="80264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609600" y="6248400"/>
            <a:ext cx="28448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a:xfrm>
            <a:off x="91752" y="6248400"/>
            <a:ext cx="517848" cy="457200"/>
          </a:xfrm>
        </p:spPr>
        <p:txBody>
          <a:bodyPr/>
          <a:lstStyle>
            <a:lvl1pPr>
              <a:defRPr/>
            </a:lvl1pPr>
          </a:lstStyle>
          <a:p>
            <a:pPr>
              <a:defRPr/>
            </a:pPr>
            <a:fld id="{8475BF89-A2BB-4A16-9EFE-659B0EFB0AEA}" type="slidenum">
              <a:rPr lang="en-US" altLang="zh-CN"/>
              <a:pPr>
                <a:defRPr/>
              </a:pPr>
              <a:t>‹#›</a:t>
            </a:fld>
            <a:endParaRPr lang="en-US" altLang="zh-CN"/>
          </a:p>
        </p:txBody>
      </p:sp>
    </p:spTree>
    <p:extLst>
      <p:ext uri="{BB962C8B-B14F-4D97-AF65-F5344CB8AC3E}">
        <p14:creationId xmlns:p14="http://schemas.microsoft.com/office/powerpoint/2010/main" val="3323635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A3A146F-9300-4B06-8947-0E9C0D98352F}"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78504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211E6834-8EB1-493E-B51E-FDE67A1C3110}"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3951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EF9AF31F-C155-4F0C-8A26-43B6DE0D36B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69422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A84678B2-85BB-44B4-B378-2B9DDE688768}"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06164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9A074AD4-66ED-4B7C-A37C-0FBC82CBF328}"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8497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5A09BCC8-1BAB-40B2-A9B0-4BC2702202FC}"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409905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8CAE29C1-0BFD-460B-AA2A-F8D0110EF47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89564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92FFB437-F580-4A37-9949-F9A62872AB1C}"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46554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4522D64-5A6C-471E-86A7-1A55AD8F555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45992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457200"/>
            <a:ext cx="27432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457200"/>
            <a:ext cx="80264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BAC5FEE8-EBF7-41C8-9B23-1CE2F078AFEE}"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19900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4000500"/>
            <a:ext cx="53848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p:cNvSpPr>
            <a:spLocks noGrp="1" noChangeArrowheads="1"/>
          </p:cNvSpPr>
          <p:nvPr>
            <p:ph type="sldNum" sz="quarter" idx="11"/>
          </p:nvPr>
        </p:nvSpPr>
        <p:spPr>
          <a:xfrm>
            <a:off x="11136560" y="6248400"/>
            <a:ext cx="445840" cy="457200"/>
          </a:xfrm>
          <a:ln/>
        </p:spPr>
        <p:txBody>
          <a:bodyPr/>
          <a:lstStyle>
            <a:lvl1pPr>
              <a:defRPr/>
            </a:lvl1pPr>
          </a:lstStyle>
          <a:p>
            <a:pPr>
              <a:defRPr/>
            </a:pPr>
            <a:fld id="{AEE3D6A2-45AE-49BA-A8D8-5E8D3DAE5436}" type="slidenum">
              <a:rPr lang="en-US" altLang="zh-CN"/>
              <a:pPr>
                <a:defRPr/>
              </a:pPr>
              <a:t>‹#›</a:t>
            </a:fld>
            <a:endParaRPr lang="en-US" altLang="zh-CN"/>
          </a:p>
        </p:txBody>
      </p:sp>
      <p:sp>
        <p:nvSpPr>
          <p:cNvPr id="8"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29637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457200"/>
            <a:ext cx="109728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3848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EF14D0C4-B0EC-4578-B6E4-F9BC91400248}"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93250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2146" name="Rectangle 2"/>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pitchFamily="2" charset="-122"/>
              </a:defRPr>
            </a:lvl1pPr>
          </a:lstStyle>
          <a:p>
            <a:pPr>
              <a:defRPr/>
            </a:pPr>
            <a:endParaRPr lang="en-US" altLang="zh-CN"/>
          </a:p>
        </p:txBody>
      </p:sp>
      <p:sp>
        <p:nvSpPr>
          <p:cNvPr id="262147" name="Rectangle 3"/>
          <p:cNvSpPr>
            <a:spLocks noGrp="1" noChangeArrowheads="1"/>
          </p:cNvSpPr>
          <p:nvPr>
            <p:ph type="sldNum" sz="quarter" idx="4"/>
          </p:nvPr>
        </p:nvSpPr>
        <p:spPr bwMode="auto">
          <a:xfrm>
            <a:off x="82244" y="6264275"/>
            <a:ext cx="51784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ea typeface="宋体" pitchFamily="2" charset="-122"/>
              </a:defRPr>
            </a:lvl1pPr>
          </a:lstStyle>
          <a:p>
            <a:pPr>
              <a:defRPr/>
            </a:pPr>
            <a:fld id="{B1AD1D39-4097-45F6-987F-3537977C2531}" type="slidenum">
              <a:rPr lang="en-US" altLang="zh-CN"/>
              <a:pPr>
                <a:defRPr/>
              </a:pPr>
              <a:t>‹#›</a:t>
            </a:fld>
            <a:endParaRPr lang="en-US" altLang="zh-CN"/>
          </a:p>
        </p:txBody>
      </p:sp>
      <p:grpSp>
        <p:nvGrpSpPr>
          <p:cNvPr id="1028" name="Group 4"/>
          <p:cNvGrpSpPr>
            <a:grpSpLocks/>
          </p:cNvGrpSpPr>
          <p:nvPr/>
        </p:nvGrpSpPr>
        <p:grpSpPr bwMode="auto">
          <a:xfrm>
            <a:off x="0" y="0"/>
            <a:ext cx="12192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solidFill>
                  <a:schemeClr val="accent2"/>
                </a:solidFill>
              </a:endParaRPr>
            </a:p>
          </p:txBody>
        </p:sp>
      </p:grpSp>
      <p:sp>
        <p:nvSpPr>
          <p:cNvPr id="1029" name="Rectangle 14"/>
          <p:cNvSpPr>
            <a:spLocks noGrp="1" noChangeArrowheads="1"/>
          </p:cNvSpPr>
          <p:nvPr>
            <p:ph type="title"/>
          </p:nvPr>
        </p:nvSpPr>
        <p:spPr bwMode="auto">
          <a:xfrm>
            <a:off x="609600" y="457200"/>
            <a:ext cx="10972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609600" y="1981200"/>
            <a:ext cx="109728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2160" name="Rectangle 16"/>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74"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Lst>
  <p:hf hdr="0" ft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12.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 Id="rId9"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2.bin"/><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4.bin"/><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5.bin"/><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slideLayout" Target="../slideLayouts/slideLayout12.xml"/><Relationship Id="rId6" Type="http://schemas.openxmlformats.org/officeDocument/2006/relationships/oleObject" Target="../embeddings/oleObject18.bin"/><Relationship Id="rId5" Type="http://schemas.openxmlformats.org/officeDocument/2006/relationships/image" Target="../media/image20.wmf"/><Relationship Id="rId4"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919288" y="1828800"/>
            <a:ext cx="8596312" cy="2209800"/>
          </a:xfrm>
        </p:spPr>
        <p:txBody>
          <a:bodyPr/>
          <a:lstStyle/>
          <a:p>
            <a:pPr algn="ctr" eaLnBrk="1" hangingPunct="1"/>
            <a:r>
              <a:rPr lang="zh-CN" altLang="en-US" sz="6300" b="1">
                <a:solidFill>
                  <a:srgbClr val="E8E81C"/>
                </a:solidFill>
                <a:latin typeface="隶书" pitchFamily="49" charset="-122"/>
                <a:ea typeface="隶书" pitchFamily="49" charset="-122"/>
              </a:rPr>
              <a:t>第</a:t>
            </a:r>
            <a:r>
              <a:rPr lang="zh-CN" altLang="en-US" sz="6300" b="1">
                <a:solidFill>
                  <a:srgbClr val="E8E81C"/>
                </a:solidFill>
                <a:ea typeface="隶书" pitchFamily="49" charset="-122"/>
              </a:rPr>
              <a:t> </a:t>
            </a:r>
            <a:r>
              <a:rPr lang="en-US" altLang="zh-CN" sz="6300" b="1">
                <a:solidFill>
                  <a:srgbClr val="E8E81C"/>
                </a:solidFill>
                <a:ea typeface="隶书" pitchFamily="49" charset="-122"/>
              </a:rPr>
              <a:t>4 </a:t>
            </a:r>
            <a:r>
              <a:rPr lang="zh-CN" altLang="en-US" sz="6300" b="1">
                <a:solidFill>
                  <a:srgbClr val="E8E81C"/>
                </a:solidFill>
                <a:latin typeface="隶书" pitchFamily="49" charset="-122"/>
                <a:ea typeface="隶书" pitchFamily="49" charset="-122"/>
              </a:rPr>
              <a:t>章</a:t>
            </a:r>
            <a:br>
              <a:rPr lang="zh-CN" altLang="en-US" sz="6300" b="1">
                <a:solidFill>
                  <a:srgbClr val="E8E81C"/>
                </a:solidFill>
                <a:latin typeface="隶书" pitchFamily="49" charset="-122"/>
                <a:ea typeface="隶书" pitchFamily="49" charset="-122"/>
              </a:rPr>
            </a:br>
            <a:r>
              <a:rPr lang="zh-CN" altLang="en-US" sz="6300" b="1">
                <a:solidFill>
                  <a:srgbClr val="E8E81C"/>
                </a:solidFill>
                <a:latin typeface="隶书" pitchFamily="49" charset="-122"/>
                <a:ea typeface="隶书" pitchFamily="49" charset="-122"/>
              </a:rPr>
              <a:t>模糊映射与综合评判</a:t>
            </a:r>
            <a:endParaRPr lang="zh-CN" altLang="en-US" sz="6300">
              <a:solidFill>
                <a:srgbClr val="E8E81C"/>
              </a:solidFill>
            </a:endParaRPr>
          </a:p>
        </p:txBody>
      </p:sp>
      <p:sp>
        <p:nvSpPr>
          <p:cNvPr id="3075" name="Rectangle 3"/>
          <p:cNvSpPr>
            <a:spLocks noGrp="1" noChangeArrowheads="1"/>
          </p:cNvSpPr>
          <p:nvPr>
            <p:ph type="subTitle" idx="1"/>
          </p:nvPr>
        </p:nvSpPr>
        <p:spPr>
          <a:xfrm>
            <a:off x="4440238" y="4221163"/>
            <a:ext cx="4184650" cy="2520950"/>
          </a:xfrm>
        </p:spPr>
        <p:txBody>
          <a:bodyPr/>
          <a:lstStyle/>
          <a:p>
            <a:pPr algn="l" eaLnBrk="1" hangingPunct="1"/>
            <a:r>
              <a:rPr lang="en-US" altLang="zh-CN" sz="3600" dirty="0">
                <a:ea typeface="黑体" pitchFamily="2" charset="-122"/>
              </a:rPr>
              <a:t>4.1 F</a:t>
            </a:r>
            <a:r>
              <a:rPr lang="zh-CN" altLang="en-US" sz="3600" dirty="0">
                <a:ea typeface="黑体" pitchFamily="2" charset="-122"/>
              </a:rPr>
              <a:t>映射</a:t>
            </a:r>
          </a:p>
          <a:p>
            <a:pPr algn="l" eaLnBrk="1" hangingPunct="1"/>
            <a:r>
              <a:rPr lang="en-US" altLang="zh-CN" sz="3600" dirty="0">
                <a:ea typeface="黑体" pitchFamily="2" charset="-122"/>
              </a:rPr>
              <a:t>4.2 F</a:t>
            </a:r>
            <a:r>
              <a:rPr lang="zh-CN" altLang="en-US" sz="3600" dirty="0">
                <a:ea typeface="黑体" pitchFamily="2" charset="-122"/>
              </a:rPr>
              <a:t>变换</a:t>
            </a:r>
          </a:p>
          <a:p>
            <a:pPr algn="l" eaLnBrk="1" hangingPunct="1"/>
            <a:r>
              <a:rPr lang="en-US" altLang="zh-CN" sz="3600" dirty="0">
                <a:ea typeface="黑体" pitchFamily="2" charset="-122"/>
              </a:rPr>
              <a:t>4.3 F</a:t>
            </a:r>
            <a:r>
              <a:rPr lang="zh-CN" altLang="en-US" sz="3600" dirty="0">
                <a:ea typeface="黑体" pitchFamily="2" charset="-122"/>
              </a:rPr>
              <a:t>综合评判</a:t>
            </a:r>
          </a:p>
          <a:p>
            <a:pPr algn="l" eaLnBrk="1" hangingPunct="1"/>
            <a:r>
              <a:rPr lang="en-US" altLang="zh-CN" sz="3600" dirty="0">
                <a:solidFill>
                  <a:srgbClr val="FF0000"/>
                </a:solidFill>
                <a:ea typeface="黑体" pitchFamily="2" charset="-122"/>
              </a:rPr>
              <a:t>4.4 F</a:t>
            </a:r>
            <a:r>
              <a:rPr lang="zh-CN" altLang="en-US" sz="3600" dirty="0">
                <a:solidFill>
                  <a:srgbClr val="FF0000"/>
                </a:solidFill>
                <a:ea typeface="黑体" pitchFamily="2" charset="-122"/>
              </a:rPr>
              <a:t>决策</a:t>
            </a:r>
          </a:p>
        </p:txBody>
      </p:sp>
      <p:sp>
        <p:nvSpPr>
          <p:cNvPr id="2" name="灯片编号占位符 1">
            <a:extLst>
              <a:ext uri="{FF2B5EF4-FFF2-40B4-BE49-F238E27FC236}">
                <a16:creationId xmlns:a16="http://schemas.microsoft.com/office/drawing/2014/main" id="{0C779719-9B76-446C-C90D-D5770C53E0F8}"/>
              </a:ext>
            </a:extLst>
          </p:cNvPr>
          <p:cNvSpPr>
            <a:spLocks noGrp="1"/>
          </p:cNvSpPr>
          <p:nvPr>
            <p:ph type="sldNum" sz="quarter" idx="12"/>
          </p:nvPr>
        </p:nvSpPr>
        <p:spPr/>
        <p:txBody>
          <a:bodyPr/>
          <a:lstStyle/>
          <a:p>
            <a:pPr>
              <a:defRPr/>
            </a:pPr>
            <a:fld id="{8475BF89-A2BB-4A16-9EFE-659B0EFB0AEA}"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981200" y="260649"/>
            <a:ext cx="8229600" cy="1171575"/>
          </a:xfrm>
        </p:spPr>
        <p:txBody>
          <a:bodyPr/>
          <a:lstStyle/>
          <a:p>
            <a:pPr algn="ctr" eaLnBrk="1" hangingPunct="1"/>
            <a:r>
              <a:rPr lang="zh-CN" altLang="en-US" dirty="0">
                <a:solidFill>
                  <a:srgbClr val="008000"/>
                </a:solidFill>
                <a:ea typeface="黑体" pitchFamily="2" charset="-122"/>
              </a:rPr>
              <a:t>层次分析法</a:t>
            </a:r>
          </a:p>
        </p:txBody>
      </p:sp>
      <p:sp>
        <p:nvSpPr>
          <p:cNvPr id="94211" name="Rectangle 3"/>
          <p:cNvSpPr>
            <a:spLocks noGrp="1" noChangeArrowheads="1"/>
          </p:cNvSpPr>
          <p:nvPr>
            <p:ph type="body" idx="1"/>
          </p:nvPr>
        </p:nvSpPr>
        <p:spPr>
          <a:xfrm>
            <a:off x="839416" y="1340768"/>
            <a:ext cx="10585176" cy="5256584"/>
          </a:xfrm>
        </p:spPr>
        <p:txBody>
          <a:bodyPr/>
          <a:lstStyle/>
          <a:p>
            <a:pPr eaLnBrk="1" hangingPunct="1">
              <a:lnSpc>
                <a:spcPct val="120000"/>
              </a:lnSpc>
            </a:pPr>
            <a:r>
              <a:rPr lang="zh-CN" altLang="en-US" dirty="0">
                <a:solidFill>
                  <a:srgbClr val="FF0000"/>
                </a:solidFill>
                <a:effectLst>
                  <a:outerShdw blurRad="38100" dist="38100" dir="2700000" algn="tl">
                    <a:srgbClr val="000000">
                      <a:alpha val="43137"/>
                    </a:srgbClr>
                  </a:outerShdw>
                </a:effectLst>
                <a:ea typeface="黑体" pitchFamily="2" charset="-122"/>
              </a:rPr>
              <a:t>层次分析法</a:t>
            </a:r>
            <a:r>
              <a:rPr lang="en-US" altLang="zh-CN" sz="2800" dirty="0">
                <a:solidFill>
                  <a:srgbClr val="FF0000"/>
                </a:solidFill>
                <a:ea typeface="黑体" pitchFamily="2" charset="-122"/>
              </a:rPr>
              <a:t>(</a:t>
            </a:r>
            <a:r>
              <a:rPr lang="en-US" altLang="zh-CN" sz="2800" dirty="0">
                <a:solidFill>
                  <a:srgbClr val="FF0000"/>
                </a:solidFill>
              </a:rPr>
              <a:t>A</a:t>
            </a:r>
            <a:r>
              <a:rPr lang="en-US" altLang="zh-CN" sz="2800" dirty="0"/>
              <a:t>nalytic </a:t>
            </a:r>
            <a:r>
              <a:rPr lang="en-US" altLang="zh-CN" sz="2800" dirty="0">
                <a:solidFill>
                  <a:srgbClr val="FF0000"/>
                </a:solidFill>
              </a:rPr>
              <a:t>H</a:t>
            </a:r>
            <a:r>
              <a:rPr lang="en-US" altLang="zh-CN" sz="2800" dirty="0"/>
              <a:t>ierarchy </a:t>
            </a:r>
            <a:r>
              <a:rPr lang="en-US" altLang="zh-CN" sz="2800" dirty="0">
                <a:solidFill>
                  <a:srgbClr val="FF0000"/>
                </a:solidFill>
              </a:rPr>
              <a:t>P</a:t>
            </a:r>
            <a:r>
              <a:rPr lang="en-US" altLang="zh-CN" sz="2800" dirty="0"/>
              <a:t>rocess——</a:t>
            </a:r>
            <a:r>
              <a:rPr lang="en-US" altLang="zh-CN" sz="2800" dirty="0">
                <a:solidFill>
                  <a:srgbClr val="FF0000"/>
                </a:solidFill>
              </a:rPr>
              <a:t>AHP)</a:t>
            </a:r>
            <a:endParaRPr lang="en-US" altLang="zh-CN" sz="3600" dirty="0">
              <a:solidFill>
                <a:srgbClr val="FF0000"/>
              </a:solidFill>
            </a:endParaRPr>
          </a:p>
          <a:p>
            <a:pPr lvl="1" eaLnBrk="1" hangingPunct="1">
              <a:lnSpc>
                <a:spcPct val="120000"/>
              </a:lnSpc>
            </a:pPr>
            <a:r>
              <a:rPr lang="zh-CN" altLang="en-US" b="1" dirty="0"/>
              <a:t>由美国运筹学家</a:t>
            </a:r>
            <a:r>
              <a:rPr lang="en-US" altLang="zh-CN" b="1" dirty="0"/>
              <a:t>(</a:t>
            </a:r>
            <a:r>
              <a:rPr lang="en-US" altLang="zh-CN" b="1" dirty="0" err="1"/>
              <a:t>T.L.Saaty</a:t>
            </a:r>
            <a:r>
              <a:rPr lang="en-US" altLang="zh-CN" b="1" dirty="0"/>
              <a:t>)</a:t>
            </a:r>
            <a:r>
              <a:rPr lang="zh-CN" altLang="en-US" b="1" dirty="0"/>
              <a:t>等人</a:t>
            </a:r>
            <a:r>
              <a:rPr lang="en-US" altLang="zh-CN" b="1" dirty="0"/>
              <a:t>1974</a:t>
            </a:r>
            <a:r>
              <a:rPr lang="zh-CN" altLang="en-US" b="1" dirty="0"/>
              <a:t>年提出的</a:t>
            </a:r>
            <a:r>
              <a:rPr lang="zh-CN" altLang="en-US" b="1" u="sng" dirty="0">
                <a:solidFill>
                  <a:srgbClr val="0000FF"/>
                </a:solidFill>
                <a:ea typeface="楷体_GB2312" pitchFamily="49" charset="-122"/>
              </a:rPr>
              <a:t>对复杂问题作出决策的一种简明有效的方法。</a:t>
            </a:r>
          </a:p>
          <a:p>
            <a:pPr lvl="1" eaLnBrk="1" hangingPunct="1">
              <a:lnSpc>
                <a:spcPct val="120000"/>
              </a:lnSpc>
            </a:pPr>
            <a:r>
              <a:rPr lang="zh-CN" altLang="en-US" b="1" dirty="0"/>
              <a:t>它将决策问题的有关元素分解成</a:t>
            </a:r>
            <a:r>
              <a:rPr lang="zh-CN" altLang="en-US" b="1" dirty="0">
                <a:solidFill>
                  <a:srgbClr val="008000"/>
                </a:solidFill>
              </a:rPr>
              <a:t>目标、准则、方案</a:t>
            </a:r>
            <a:r>
              <a:rPr lang="zh-CN" altLang="en-US" b="1" dirty="0"/>
              <a:t>等层次，在此基础上</a:t>
            </a:r>
            <a:r>
              <a:rPr lang="zh-CN" altLang="en-US" b="1" dirty="0">
                <a:solidFill>
                  <a:srgbClr val="FF0000"/>
                </a:solidFill>
              </a:rPr>
              <a:t>进行</a:t>
            </a:r>
            <a:r>
              <a:rPr lang="zh-CN" altLang="en-US" b="1" u="sng" dirty="0">
                <a:solidFill>
                  <a:srgbClr val="FF0000"/>
                </a:solidFill>
                <a:effectLst>
                  <a:outerShdw blurRad="38100" dist="38100" dir="2700000" algn="tl">
                    <a:srgbClr val="000000">
                      <a:alpha val="43137"/>
                    </a:srgbClr>
                  </a:outerShdw>
                </a:effectLst>
              </a:rPr>
              <a:t>定性分析</a:t>
            </a:r>
            <a:r>
              <a:rPr lang="zh-CN" altLang="en-US" b="1" dirty="0">
                <a:solidFill>
                  <a:srgbClr val="FF0000"/>
                </a:solidFill>
                <a:effectLst>
                  <a:outerShdw blurRad="38100" dist="38100" dir="2700000" algn="tl">
                    <a:srgbClr val="000000">
                      <a:alpha val="43137"/>
                    </a:srgbClr>
                  </a:outerShdw>
                </a:effectLst>
              </a:rPr>
              <a:t>和</a:t>
            </a:r>
            <a:r>
              <a:rPr lang="zh-CN" altLang="en-US" b="1" u="sng" dirty="0">
                <a:solidFill>
                  <a:srgbClr val="FF0000"/>
                </a:solidFill>
                <a:effectLst>
                  <a:outerShdw blurRad="38100" dist="38100" dir="2700000" algn="tl">
                    <a:srgbClr val="000000">
                      <a:alpha val="43137"/>
                    </a:srgbClr>
                  </a:outerShdw>
                </a:effectLst>
              </a:rPr>
              <a:t>定量分析</a:t>
            </a:r>
            <a:r>
              <a:rPr lang="zh-CN" altLang="en-US" b="1" dirty="0">
                <a:solidFill>
                  <a:srgbClr val="FF0000"/>
                </a:solidFill>
                <a:effectLst>
                  <a:outerShdw blurRad="38100" dist="38100" dir="2700000" algn="tl">
                    <a:srgbClr val="000000">
                      <a:alpha val="43137"/>
                    </a:srgbClr>
                  </a:outerShdw>
                </a:effectLst>
              </a:rPr>
              <a:t>相结合</a:t>
            </a:r>
            <a:r>
              <a:rPr lang="zh-CN" altLang="en-US" b="1" dirty="0"/>
              <a:t>的一种决策方法。</a:t>
            </a:r>
            <a:endParaRPr lang="en-US" altLang="zh-CN" b="1" dirty="0"/>
          </a:p>
          <a:p>
            <a:pPr lvl="1" eaLnBrk="1" hangingPunct="1">
              <a:lnSpc>
                <a:spcPct val="120000"/>
              </a:lnSpc>
            </a:pPr>
            <a:r>
              <a:rPr lang="zh-CN" altLang="en-US" b="1" dirty="0">
                <a:solidFill>
                  <a:srgbClr val="008000"/>
                </a:solidFill>
              </a:rPr>
              <a:t>特点</a:t>
            </a:r>
            <a:r>
              <a:rPr lang="en-US" altLang="zh-CN" b="1" dirty="0">
                <a:solidFill>
                  <a:srgbClr val="008000"/>
                </a:solidFill>
              </a:rPr>
              <a:t>——</a:t>
            </a:r>
            <a:r>
              <a:rPr lang="zh-CN" altLang="en-US" b="1" dirty="0"/>
              <a:t>在对复杂决策问题的本质、影响因素及其内在关系等进行深入分析后，构建一个层次结构模型，然后利用较少的定量信息，把决策的思维过程数学化，从而</a:t>
            </a:r>
            <a:r>
              <a:rPr lang="zh-CN" altLang="en-US" b="1" dirty="0">
                <a:solidFill>
                  <a:srgbClr val="CC00CC"/>
                </a:solidFill>
                <a:effectLst>
                  <a:outerShdw blurRad="38100" dist="38100" dir="2700000" algn="tl">
                    <a:srgbClr val="000000">
                      <a:alpha val="43137"/>
                    </a:srgbClr>
                  </a:outerShdw>
                </a:effectLst>
              </a:rPr>
              <a:t>为求解多准则或无结构特性的复杂决策问题提供一种简便的决策方法。</a:t>
            </a:r>
            <a:endParaRPr lang="en-US" altLang="zh-CN" b="1" dirty="0">
              <a:solidFill>
                <a:srgbClr val="CC00CC"/>
              </a:solidFill>
              <a:effectLst>
                <a:outerShdw blurRad="38100" dist="38100" dir="2700000" algn="tl">
                  <a:srgbClr val="000000">
                    <a:alpha val="43137"/>
                  </a:srgbClr>
                </a:outerShdw>
              </a:effectLst>
            </a:endParaRPr>
          </a:p>
        </p:txBody>
      </p:sp>
      <p:sp>
        <p:nvSpPr>
          <p:cNvPr id="2" name="灯片编号占位符 1">
            <a:extLst>
              <a:ext uri="{FF2B5EF4-FFF2-40B4-BE49-F238E27FC236}">
                <a16:creationId xmlns:a16="http://schemas.microsoft.com/office/drawing/2014/main" id="{FBA14EEF-119B-A98F-AB23-789FAFF96041}"/>
              </a:ext>
            </a:extLst>
          </p:cNvPr>
          <p:cNvSpPr>
            <a:spLocks noGrp="1"/>
          </p:cNvSpPr>
          <p:nvPr>
            <p:ph type="sldNum" sz="quarter" idx="11"/>
          </p:nvPr>
        </p:nvSpPr>
        <p:spPr/>
        <p:txBody>
          <a:bodyPr/>
          <a:lstStyle/>
          <a:p>
            <a:pPr>
              <a:defRPr/>
            </a:pPr>
            <a:fld id="{1A3A146F-9300-4B06-8947-0E9C0D98352F}" type="slidenum">
              <a:rPr lang="en-US" altLang="zh-CN" smtClean="0"/>
              <a:pPr>
                <a:defRPr/>
              </a:pPr>
              <a:t>2</a:t>
            </a:fld>
            <a:endParaRPr lang="en-US" altLang="zh-CN"/>
          </a:p>
        </p:txBody>
      </p:sp>
    </p:spTree>
    <p:extLst>
      <p:ext uri="{BB962C8B-B14F-4D97-AF65-F5344CB8AC3E}">
        <p14:creationId xmlns:p14="http://schemas.microsoft.com/office/powerpoint/2010/main" val="32819480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wipe(left)">
                                      <p:cBhvr>
                                        <p:cTn id="7" dur="500"/>
                                        <p:tgtEl>
                                          <p:spTgt spid="94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wipe(left)">
                                      <p:cBhvr>
                                        <p:cTn id="12" dur="500"/>
                                        <p:tgtEl>
                                          <p:spTgt spid="94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1">
                                            <p:txEl>
                                              <p:pRg st="2" end="2"/>
                                            </p:txEl>
                                          </p:spTgt>
                                        </p:tgtEl>
                                        <p:attrNameLst>
                                          <p:attrName>style.visibility</p:attrName>
                                        </p:attrNameLst>
                                      </p:cBhvr>
                                      <p:to>
                                        <p:strVal val="visible"/>
                                      </p:to>
                                    </p:set>
                                    <p:animEffect transition="in" filter="wipe(left)">
                                      <p:cBhvr>
                                        <p:cTn id="17" dur="500"/>
                                        <p:tgtEl>
                                          <p:spTgt spid="94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11">
                                            <p:txEl>
                                              <p:pRg st="3" end="3"/>
                                            </p:txEl>
                                          </p:spTgt>
                                        </p:tgtEl>
                                        <p:attrNameLst>
                                          <p:attrName>style.visibility</p:attrName>
                                        </p:attrNameLst>
                                      </p:cBhvr>
                                      <p:to>
                                        <p:strVal val="visible"/>
                                      </p:to>
                                    </p:set>
                                    <p:animEffect transition="in" filter="wipe(left)">
                                      <p:cBhvr>
                                        <p:cTn id="22" dur="5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063750" y="260350"/>
            <a:ext cx="8229600" cy="1371600"/>
          </a:xfrm>
        </p:spPr>
        <p:txBody>
          <a:bodyPr/>
          <a:lstStyle/>
          <a:p>
            <a:pPr algn="ctr" eaLnBrk="1" hangingPunct="1"/>
            <a:r>
              <a:rPr lang="zh-CN" altLang="en-US">
                <a:solidFill>
                  <a:srgbClr val="008000"/>
                </a:solidFill>
                <a:ea typeface="黑体" pitchFamily="2" charset="-122"/>
              </a:rPr>
              <a:t>层次分析法的实现步骤</a:t>
            </a:r>
          </a:p>
        </p:txBody>
      </p:sp>
      <p:sp>
        <p:nvSpPr>
          <p:cNvPr id="97283" name="Rectangle 3"/>
          <p:cNvSpPr>
            <a:spLocks noGrp="1" noChangeArrowheads="1"/>
          </p:cNvSpPr>
          <p:nvPr>
            <p:ph type="body" idx="1"/>
          </p:nvPr>
        </p:nvSpPr>
        <p:spPr>
          <a:xfrm>
            <a:off x="1415480" y="2132856"/>
            <a:ext cx="8806433" cy="4464794"/>
          </a:xfrm>
        </p:spPr>
        <p:txBody>
          <a:bodyPr/>
          <a:lstStyle/>
          <a:p>
            <a:pPr eaLnBrk="1" hangingPunct="1">
              <a:lnSpc>
                <a:spcPct val="150000"/>
              </a:lnSpc>
            </a:pPr>
            <a:r>
              <a:rPr lang="zh-CN" altLang="en-US" dirty="0">
                <a:solidFill>
                  <a:srgbClr val="FF0000"/>
                </a:solidFill>
                <a:ea typeface="黑体" pitchFamily="2" charset="-122"/>
              </a:rPr>
              <a:t>第一步：明确问题，建立递阶层次结构</a:t>
            </a:r>
          </a:p>
          <a:p>
            <a:pPr eaLnBrk="1" hangingPunct="1">
              <a:lnSpc>
                <a:spcPct val="150000"/>
              </a:lnSpc>
            </a:pPr>
            <a:r>
              <a:rPr lang="zh-CN" altLang="en-US" dirty="0">
                <a:solidFill>
                  <a:srgbClr val="FF0000"/>
                </a:solidFill>
                <a:ea typeface="黑体" pitchFamily="2" charset="-122"/>
              </a:rPr>
              <a:t>第二步：构造判断矩阵</a:t>
            </a:r>
          </a:p>
          <a:p>
            <a:pPr eaLnBrk="1" hangingPunct="1">
              <a:lnSpc>
                <a:spcPct val="150000"/>
              </a:lnSpc>
            </a:pPr>
            <a:r>
              <a:rPr lang="zh-CN" altLang="en-US" dirty="0">
                <a:solidFill>
                  <a:srgbClr val="FF0000"/>
                </a:solidFill>
                <a:ea typeface="黑体" pitchFamily="2" charset="-122"/>
              </a:rPr>
              <a:t>第三步：</a:t>
            </a:r>
            <a:r>
              <a:rPr lang="zh-CN" altLang="en-US" u="sng" dirty="0">
                <a:solidFill>
                  <a:srgbClr val="FF0000"/>
                </a:solidFill>
                <a:ea typeface="黑体" pitchFamily="2" charset="-122"/>
              </a:rPr>
              <a:t>层次单排序</a:t>
            </a:r>
            <a:r>
              <a:rPr lang="zh-CN" altLang="en-US" dirty="0">
                <a:solidFill>
                  <a:srgbClr val="FF0000"/>
                </a:solidFill>
                <a:ea typeface="黑体" pitchFamily="2" charset="-122"/>
              </a:rPr>
              <a:t>及其一致性检验</a:t>
            </a:r>
          </a:p>
          <a:p>
            <a:pPr eaLnBrk="1" hangingPunct="1">
              <a:lnSpc>
                <a:spcPct val="150000"/>
              </a:lnSpc>
            </a:pPr>
            <a:r>
              <a:rPr lang="zh-CN" altLang="en-US" dirty="0">
                <a:solidFill>
                  <a:srgbClr val="FF0000"/>
                </a:solidFill>
                <a:ea typeface="黑体" pitchFamily="2" charset="-122"/>
              </a:rPr>
              <a:t>第四步：</a:t>
            </a:r>
            <a:r>
              <a:rPr lang="zh-CN" altLang="en-US" u="sng" dirty="0">
                <a:solidFill>
                  <a:srgbClr val="FF0000"/>
                </a:solidFill>
                <a:ea typeface="黑体" pitchFamily="2" charset="-122"/>
              </a:rPr>
              <a:t>层次总排序</a:t>
            </a:r>
            <a:r>
              <a:rPr lang="zh-CN" altLang="en-US" dirty="0">
                <a:solidFill>
                  <a:srgbClr val="FF0000"/>
                </a:solidFill>
                <a:ea typeface="黑体" pitchFamily="2" charset="-122"/>
              </a:rPr>
              <a:t>及其组合一致性检验</a:t>
            </a:r>
          </a:p>
          <a:p>
            <a:pPr eaLnBrk="1" hangingPunct="1"/>
            <a:endParaRPr lang="en-US" altLang="zh-CN" b="1" dirty="0">
              <a:ea typeface="楷体_GB2312" pitchFamily="49" charset="-122"/>
            </a:endParaRPr>
          </a:p>
        </p:txBody>
      </p:sp>
      <p:sp>
        <p:nvSpPr>
          <p:cNvPr id="2" name="灯片编号占位符 1">
            <a:extLst>
              <a:ext uri="{FF2B5EF4-FFF2-40B4-BE49-F238E27FC236}">
                <a16:creationId xmlns:a16="http://schemas.microsoft.com/office/drawing/2014/main" id="{D03A262E-18B1-1E46-43AA-A9E18B664DA2}"/>
              </a:ext>
            </a:extLst>
          </p:cNvPr>
          <p:cNvSpPr>
            <a:spLocks noGrp="1"/>
          </p:cNvSpPr>
          <p:nvPr>
            <p:ph type="sldNum" sz="quarter" idx="11"/>
          </p:nvPr>
        </p:nvSpPr>
        <p:spPr/>
        <p:txBody>
          <a:bodyPr/>
          <a:lstStyle/>
          <a:p>
            <a:pPr>
              <a:defRPr/>
            </a:pPr>
            <a:fld id="{1A3A146F-9300-4B06-8947-0E9C0D98352F}" type="slidenum">
              <a:rPr lang="en-US" altLang="zh-CN" smtClean="0"/>
              <a:pPr>
                <a:defRPr/>
              </a:pPr>
              <a:t>3</a:t>
            </a:fld>
            <a:endParaRPr lang="en-US" altLang="zh-CN"/>
          </a:p>
        </p:txBody>
      </p:sp>
    </p:spTree>
    <p:extLst>
      <p:ext uri="{BB962C8B-B14F-4D97-AF65-F5344CB8AC3E}">
        <p14:creationId xmlns:p14="http://schemas.microsoft.com/office/powerpoint/2010/main" val="1707983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wipe(left)">
                                      <p:cBhvr>
                                        <p:cTn id="7" dur="500"/>
                                        <p:tgtEl>
                                          <p:spTgt spid="972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83">
                                            <p:txEl>
                                              <p:pRg st="1" end="1"/>
                                            </p:txEl>
                                          </p:spTgt>
                                        </p:tgtEl>
                                        <p:attrNameLst>
                                          <p:attrName>style.visibility</p:attrName>
                                        </p:attrNameLst>
                                      </p:cBhvr>
                                      <p:to>
                                        <p:strVal val="visible"/>
                                      </p:to>
                                    </p:set>
                                    <p:animEffect transition="in" filter="wipe(left)">
                                      <p:cBhvr>
                                        <p:cTn id="12" dur="500"/>
                                        <p:tgtEl>
                                          <p:spTgt spid="972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283">
                                            <p:txEl>
                                              <p:pRg st="2" end="2"/>
                                            </p:txEl>
                                          </p:spTgt>
                                        </p:tgtEl>
                                        <p:attrNameLst>
                                          <p:attrName>style.visibility</p:attrName>
                                        </p:attrNameLst>
                                      </p:cBhvr>
                                      <p:to>
                                        <p:strVal val="visible"/>
                                      </p:to>
                                    </p:set>
                                    <p:animEffect transition="in" filter="wipe(left)">
                                      <p:cBhvr>
                                        <p:cTn id="17" dur="500"/>
                                        <p:tgtEl>
                                          <p:spTgt spid="972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283">
                                            <p:txEl>
                                              <p:pRg st="3" end="3"/>
                                            </p:txEl>
                                          </p:spTgt>
                                        </p:tgtEl>
                                        <p:attrNameLst>
                                          <p:attrName>style.visibility</p:attrName>
                                        </p:attrNameLst>
                                      </p:cBhvr>
                                      <p:to>
                                        <p:strVal val="visible"/>
                                      </p:to>
                                    </p:set>
                                    <p:animEffect transition="in" filter="wipe(left)">
                                      <p:cBhvr>
                                        <p:cTn id="22" dur="500"/>
                                        <p:tgtEl>
                                          <p:spTgt spid="972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2063750" y="260350"/>
            <a:ext cx="8229600" cy="1371600"/>
          </a:xfrm>
        </p:spPr>
        <p:txBody>
          <a:bodyPr/>
          <a:lstStyle/>
          <a:p>
            <a:pPr algn="ctr" eaLnBrk="1" hangingPunct="1"/>
            <a:r>
              <a:rPr lang="zh-CN" altLang="en-US">
                <a:solidFill>
                  <a:srgbClr val="008000"/>
                </a:solidFill>
                <a:ea typeface="黑体" pitchFamily="2" charset="-122"/>
              </a:rPr>
              <a:t>层次分析法的实现步骤</a:t>
            </a:r>
          </a:p>
        </p:txBody>
      </p:sp>
      <p:sp>
        <p:nvSpPr>
          <p:cNvPr id="97283" name="Rectangle 3"/>
          <p:cNvSpPr>
            <a:spLocks noGrp="1" noChangeArrowheads="1"/>
          </p:cNvSpPr>
          <p:nvPr>
            <p:ph type="body" idx="1"/>
          </p:nvPr>
        </p:nvSpPr>
        <p:spPr>
          <a:xfrm>
            <a:off x="1199456" y="1557338"/>
            <a:ext cx="9721080" cy="5040312"/>
          </a:xfrm>
        </p:spPr>
        <p:txBody>
          <a:bodyPr/>
          <a:lstStyle/>
          <a:p>
            <a:pPr eaLnBrk="1" hangingPunct="1">
              <a:lnSpc>
                <a:spcPct val="140000"/>
              </a:lnSpc>
            </a:pPr>
            <a:r>
              <a:rPr lang="zh-CN" altLang="en-US" dirty="0">
                <a:solidFill>
                  <a:srgbClr val="FF0000"/>
                </a:solidFill>
                <a:ea typeface="黑体" pitchFamily="2" charset="-122"/>
              </a:rPr>
              <a:t>第一步：明确问题，建立递阶层次结构</a:t>
            </a:r>
          </a:p>
          <a:p>
            <a:pPr lvl="1" eaLnBrk="1" hangingPunct="1">
              <a:lnSpc>
                <a:spcPct val="140000"/>
              </a:lnSpc>
            </a:pPr>
            <a:r>
              <a:rPr lang="zh-CN" altLang="en-US" b="1" dirty="0">
                <a:ea typeface="楷体_GB2312" pitchFamily="49" charset="-122"/>
              </a:rPr>
              <a:t>弄清问题的范围、因素、相互关系、目的等</a:t>
            </a:r>
          </a:p>
          <a:p>
            <a:pPr lvl="1" eaLnBrk="1" hangingPunct="1">
              <a:lnSpc>
                <a:spcPct val="140000"/>
              </a:lnSpc>
            </a:pPr>
            <a:r>
              <a:rPr lang="zh-CN" altLang="en-US" b="1" dirty="0">
                <a:ea typeface="楷体_GB2312" pitchFamily="49" charset="-122"/>
              </a:rPr>
              <a:t>分析系统中各因素（决策方案）之间的关系</a:t>
            </a:r>
          </a:p>
          <a:p>
            <a:pPr lvl="1" eaLnBrk="1" hangingPunct="1">
              <a:lnSpc>
                <a:spcPct val="140000"/>
              </a:lnSpc>
            </a:pPr>
            <a:r>
              <a:rPr lang="zh-CN" altLang="en-US" b="1" dirty="0">
                <a:ea typeface="楷体_GB2312" pitchFamily="49" charset="-122"/>
              </a:rPr>
              <a:t>建立系统的</a:t>
            </a:r>
            <a:r>
              <a:rPr lang="zh-CN" altLang="en-US" b="1" dirty="0">
                <a:solidFill>
                  <a:srgbClr val="008000"/>
                </a:solidFill>
                <a:ea typeface="楷体_GB2312" pitchFamily="49" charset="-122"/>
              </a:rPr>
              <a:t>递阶层次结构：</a:t>
            </a:r>
          </a:p>
          <a:p>
            <a:pPr lvl="2" eaLnBrk="1" hangingPunct="1">
              <a:lnSpc>
                <a:spcPct val="140000"/>
              </a:lnSpc>
            </a:pPr>
            <a:r>
              <a:rPr lang="zh-CN" altLang="en-US" sz="2800" b="1" dirty="0">
                <a:solidFill>
                  <a:srgbClr val="0000FF"/>
                </a:solidFill>
                <a:ea typeface="楷体_GB2312" pitchFamily="49" charset="-122"/>
              </a:rPr>
              <a:t>目标层</a:t>
            </a:r>
          </a:p>
          <a:p>
            <a:pPr lvl="2" eaLnBrk="1" hangingPunct="1">
              <a:lnSpc>
                <a:spcPct val="140000"/>
              </a:lnSpc>
            </a:pPr>
            <a:r>
              <a:rPr lang="zh-CN" altLang="en-US" sz="2800" b="1" dirty="0">
                <a:solidFill>
                  <a:srgbClr val="CC0099"/>
                </a:solidFill>
                <a:ea typeface="楷体_GB2312" pitchFamily="49" charset="-122"/>
              </a:rPr>
              <a:t>准则层</a:t>
            </a:r>
            <a:r>
              <a:rPr lang="en-US" altLang="zh-CN" sz="2800" b="1" dirty="0">
                <a:ea typeface="楷体_GB2312" pitchFamily="49" charset="-122"/>
              </a:rPr>
              <a:t>(</a:t>
            </a:r>
            <a:r>
              <a:rPr lang="zh-CN" altLang="en-US" sz="2800" b="1" dirty="0">
                <a:ea typeface="楷体_GB2312" pitchFamily="49" charset="-122"/>
              </a:rPr>
              <a:t>必要时，还可建立子准则层</a:t>
            </a:r>
            <a:r>
              <a:rPr lang="en-US" altLang="zh-CN" sz="2800" b="1" dirty="0">
                <a:ea typeface="楷体_GB2312" pitchFamily="49" charset="-122"/>
              </a:rPr>
              <a:t>)</a:t>
            </a:r>
          </a:p>
          <a:p>
            <a:pPr lvl="2" eaLnBrk="1" hangingPunct="1">
              <a:lnSpc>
                <a:spcPct val="140000"/>
              </a:lnSpc>
            </a:pPr>
            <a:r>
              <a:rPr lang="zh-CN" altLang="en-US" sz="2800" b="1" dirty="0">
                <a:solidFill>
                  <a:srgbClr val="0000FF"/>
                </a:solidFill>
                <a:ea typeface="楷体_GB2312" pitchFamily="49" charset="-122"/>
              </a:rPr>
              <a:t>方案层</a:t>
            </a:r>
          </a:p>
          <a:p>
            <a:pPr eaLnBrk="1" hangingPunct="1"/>
            <a:endParaRPr lang="en-US" altLang="zh-CN" b="1" dirty="0">
              <a:ea typeface="楷体_GB2312" pitchFamily="49" charset="-122"/>
            </a:endParaRPr>
          </a:p>
        </p:txBody>
      </p:sp>
      <p:sp>
        <p:nvSpPr>
          <p:cNvPr id="2" name="灯片编号占位符 1">
            <a:extLst>
              <a:ext uri="{FF2B5EF4-FFF2-40B4-BE49-F238E27FC236}">
                <a16:creationId xmlns:a16="http://schemas.microsoft.com/office/drawing/2014/main" id="{7F5613E2-DE65-F809-AA38-F043198451E2}"/>
              </a:ext>
            </a:extLst>
          </p:cNvPr>
          <p:cNvSpPr>
            <a:spLocks noGrp="1"/>
          </p:cNvSpPr>
          <p:nvPr>
            <p:ph type="sldNum" sz="quarter" idx="11"/>
          </p:nvPr>
        </p:nvSpPr>
        <p:spPr/>
        <p:txBody>
          <a:bodyPr/>
          <a:lstStyle/>
          <a:p>
            <a:pPr>
              <a:defRPr/>
            </a:pPr>
            <a:fld id="{1A3A146F-9300-4B06-8947-0E9C0D98352F}" type="slidenum">
              <a:rPr lang="en-US" altLang="zh-CN" smtClean="0"/>
              <a:pPr>
                <a:defRPr/>
              </a:pPr>
              <a:t>4</a:t>
            </a:fld>
            <a:endParaRPr lang="en-US" altLang="zh-CN"/>
          </a:p>
        </p:txBody>
      </p:sp>
    </p:spTree>
    <p:extLst>
      <p:ext uri="{BB962C8B-B14F-4D97-AF65-F5344CB8AC3E}">
        <p14:creationId xmlns:p14="http://schemas.microsoft.com/office/powerpoint/2010/main" val="3778861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wipe(left)">
                                      <p:cBhvr>
                                        <p:cTn id="7" dur="500"/>
                                        <p:tgtEl>
                                          <p:spTgt spid="972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83">
                                            <p:txEl>
                                              <p:pRg st="1" end="1"/>
                                            </p:txEl>
                                          </p:spTgt>
                                        </p:tgtEl>
                                        <p:attrNameLst>
                                          <p:attrName>style.visibility</p:attrName>
                                        </p:attrNameLst>
                                      </p:cBhvr>
                                      <p:to>
                                        <p:strVal val="visible"/>
                                      </p:to>
                                    </p:set>
                                    <p:animEffect transition="in" filter="wipe(left)">
                                      <p:cBhvr>
                                        <p:cTn id="12" dur="500"/>
                                        <p:tgtEl>
                                          <p:spTgt spid="972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283">
                                            <p:txEl>
                                              <p:pRg st="2" end="2"/>
                                            </p:txEl>
                                          </p:spTgt>
                                        </p:tgtEl>
                                        <p:attrNameLst>
                                          <p:attrName>style.visibility</p:attrName>
                                        </p:attrNameLst>
                                      </p:cBhvr>
                                      <p:to>
                                        <p:strVal val="visible"/>
                                      </p:to>
                                    </p:set>
                                    <p:animEffect transition="in" filter="wipe(left)">
                                      <p:cBhvr>
                                        <p:cTn id="17" dur="500"/>
                                        <p:tgtEl>
                                          <p:spTgt spid="972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283">
                                            <p:txEl>
                                              <p:pRg st="3" end="3"/>
                                            </p:txEl>
                                          </p:spTgt>
                                        </p:tgtEl>
                                        <p:attrNameLst>
                                          <p:attrName>style.visibility</p:attrName>
                                        </p:attrNameLst>
                                      </p:cBhvr>
                                      <p:to>
                                        <p:strVal val="visible"/>
                                      </p:to>
                                    </p:set>
                                    <p:animEffect transition="in" filter="wipe(left)">
                                      <p:cBhvr>
                                        <p:cTn id="22" dur="500"/>
                                        <p:tgtEl>
                                          <p:spTgt spid="972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7283">
                                            <p:txEl>
                                              <p:pRg st="4" end="4"/>
                                            </p:txEl>
                                          </p:spTgt>
                                        </p:tgtEl>
                                        <p:attrNameLst>
                                          <p:attrName>style.visibility</p:attrName>
                                        </p:attrNameLst>
                                      </p:cBhvr>
                                      <p:to>
                                        <p:strVal val="visible"/>
                                      </p:to>
                                    </p:set>
                                    <p:animEffect transition="in" filter="wipe(left)">
                                      <p:cBhvr>
                                        <p:cTn id="27" dur="500"/>
                                        <p:tgtEl>
                                          <p:spTgt spid="972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7283">
                                            <p:txEl>
                                              <p:pRg st="5" end="5"/>
                                            </p:txEl>
                                          </p:spTgt>
                                        </p:tgtEl>
                                        <p:attrNameLst>
                                          <p:attrName>style.visibility</p:attrName>
                                        </p:attrNameLst>
                                      </p:cBhvr>
                                      <p:to>
                                        <p:strVal val="visible"/>
                                      </p:to>
                                    </p:set>
                                    <p:animEffect transition="in" filter="wipe(left)">
                                      <p:cBhvr>
                                        <p:cTn id="32" dur="500"/>
                                        <p:tgtEl>
                                          <p:spTgt spid="972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7283">
                                            <p:txEl>
                                              <p:pRg st="6" end="6"/>
                                            </p:txEl>
                                          </p:spTgt>
                                        </p:tgtEl>
                                        <p:attrNameLst>
                                          <p:attrName>style.visibility</p:attrName>
                                        </p:attrNameLst>
                                      </p:cBhvr>
                                      <p:to>
                                        <p:strVal val="visible"/>
                                      </p:to>
                                    </p:set>
                                    <p:animEffect transition="in" filter="wipe(left)">
                                      <p:cBhvr>
                                        <p:cTn id="37" dur="500"/>
                                        <p:tgtEl>
                                          <p:spTgt spid="972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81200" y="188640"/>
            <a:ext cx="8229600" cy="1371600"/>
          </a:xfrm>
        </p:spPr>
        <p:txBody>
          <a:bodyPr/>
          <a:lstStyle/>
          <a:p>
            <a:pPr algn="ctr"/>
            <a:r>
              <a:rPr lang="zh-CN" altLang="en-US" dirty="0">
                <a:solidFill>
                  <a:srgbClr val="008000"/>
                </a:solidFill>
                <a:ea typeface="黑体" pitchFamily="2" charset="-122"/>
              </a:rPr>
              <a:t>第一步：</a:t>
            </a:r>
            <a:r>
              <a:rPr lang="zh-CN" altLang="en-US" dirty="0">
                <a:solidFill>
                  <a:srgbClr val="008000"/>
                </a:solidFill>
                <a:latin typeface="黑体" pitchFamily="49" charset="-122"/>
                <a:ea typeface="黑体" pitchFamily="49" charset="-122"/>
              </a:rPr>
              <a:t>递阶层次结构</a:t>
            </a:r>
            <a:r>
              <a:rPr lang="zh-CN" altLang="en-US" dirty="0">
                <a:solidFill>
                  <a:srgbClr val="008000"/>
                </a:solidFill>
                <a:ea typeface="黑体" pitchFamily="2" charset="-122"/>
              </a:rPr>
              <a:t>的建立</a:t>
            </a:r>
            <a:endParaRPr lang="zh-CN" altLang="en-US" dirty="0">
              <a:solidFill>
                <a:srgbClr val="008000"/>
              </a:solidFill>
            </a:endParaRPr>
          </a:p>
        </p:txBody>
      </p:sp>
      <p:sp>
        <p:nvSpPr>
          <p:cNvPr id="3" name="内容占位符 2"/>
          <p:cNvSpPr>
            <a:spLocks noGrp="1"/>
          </p:cNvSpPr>
          <p:nvPr>
            <p:ph idx="1"/>
          </p:nvPr>
        </p:nvSpPr>
        <p:spPr>
          <a:xfrm>
            <a:off x="1055440" y="1412776"/>
            <a:ext cx="10153128" cy="2160240"/>
          </a:xfrm>
        </p:spPr>
        <p:txBody>
          <a:bodyPr/>
          <a:lstStyle/>
          <a:p>
            <a:r>
              <a:rPr lang="zh-CN" altLang="en-US" dirty="0">
                <a:solidFill>
                  <a:srgbClr val="FF0000"/>
                </a:solidFill>
                <a:latin typeface="黑体" pitchFamily="49" charset="-122"/>
                <a:ea typeface="黑体" pitchFamily="49" charset="-122"/>
              </a:rPr>
              <a:t>如大学毕业生对职业的选择：</a:t>
            </a:r>
            <a:endParaRPr lang="en-US" altLang="zh-CN" dirty="0">
              <a:solidFill>
                <a:srgbClr val="FF0000"/>
              </a:solidFill>
              <a:latin typeface="黑体" pitchFamily="49" charset="-122"/>
              <a:ea typeface="黑体" pitchFamily="49" charset="-122"/>
            </a:endParaRPr>
          </a:p>
          <a:p>
            <a:pPr lvl="1"/>
            <a:r>
              <a:rPr lang="zh-CN" altLang="en-US" b="1" dirty="0">
                <a:latin typeface="楷体" pitchFamily="49" charset="-122"/>
                <a:ea typeface="楷体" pitchFamily="49" charset="-122"/>
              </a:rPr>
              <a:t>设有四个单位可供选择，他们会从</a:t>
            </a:r>
            <a:r>
              <a:rPr lang="zh-CN" altLang="en-US" b="1" u="sng" dirty="0">
                <a:solidFill>
                  <a:srgbClr val="3333FF"/>
                </a:solidFill>
                <a:latin typeface="楷体" pitchFamily="49" charset="-122"/>
                <a:ea typeface="楷体" pitchFamily="49" charset="-122"/>
              </a:rPr>
              <a:t>专业对口、发展潜力、单位名气、地点、收入</a:t>
            </a:r>
            <a:r>
              <a:rPr lang="zh-CN" altLang="en-US" b="1" dirty="0">
                <a:latin typeface="楷体" pitchFamily="49" charset="-122"/>
                <a:ea typeface="楷体" pitchFamily="49" charset="-122"/>
              </a:rPr>
              <a:t>等多方面进行反复的考虑和比较，从中选出自已最满意的职业，按此思路可得下面的分析图</a:t>
            </a:r>
            <a:r>
              <a:rPr lang="en-US" altLang="zh-CN" b="1" dirty="0">
                <a:latin typeface="楷体" pitchFamily="49" charset="-122"/>
                <a:ea typeface="楷体" pitchFamily="49" charset="-122"/>
              </a:rPr>
              <a:t>:</a:t>
            </a:r>
            <a:endParaRPr lang="zh-CN" altLang="en-US" b="1" dirty="0">
              <a:latin typeface="楷体" pitchFamily="49" charset="-122"/>
              <a:ea typeface="楷体" pitchFamily="49" charset="-122"/>
            </a:endParaRPr>
          </a:p>
        </p:txBody>
      </p:sp>
      <p:sp>
        <p:nvSpPr>
          <p:cNvPr id="4" name="TextBox 3"/>
          <p:cNvSpPr txBox="1"/>
          <p:nvPr/>
        </p:nvSpPr>
        <p:spPr>
          <a:xfrm>
            <a:off x="5303912" y="3598626"/>
            <a:ext cx="1368152" cy="369332"/>
          </a:xfrm>
          <a:prstGeom prst="rect">
            <a:avLst/>
          </a:prstGeom>
          <a:solidFill>
            <a:srgbClr val="FFC000"/>
          </a:solidFill>
          <a:ln w="19050">
            <a:solidFill>
              <a:schemeClr val="tx1"/>
            </a:solidFill>
          </a:ln>
        </p:spPr>
        <p:txBody>
          <a:bodyPr wrap="square" rtlCol="0">
            <a:spAutoFit/>
          </a:bodyPr>
          <a:lstStyle/>
          <a:p>
            <a:pPr algn="ctr"/>
            <a:r>
              <a:rPr lang="zh-CN" altLang="en-US" b="1" dirty="0"/>
              <a:t>满意的职业</a:t>
            </a:r>
          </a:p>
        </p:txBody>
      </p:sp>
      <p:sp>
        <p:nvSpPr>
          <p:cNvPr id="5" name="TextBox 4"/>
          <p:cNvSpPr txBox="1"/>
          <p:nvPr/>
        </p:nvSpPr>
        <p:spPr>
          <a:xfrm>
            <a:off x="5339916" y="4571836"/>
            <a:ext cx="1296144" cy="369332"/>
          </a:xfrm>
          <a:prstGeom prst="rect">
            <a:avLst/>
          </a:prstGeom>
          <a:solidFill>
            <a:srgbClr val="66FF66"/>
          </a:solidFill>
          <a:ln w="19050">
            <a:solidFill>
              <a:schemeClr val="tx1"/>
            </a:solidFill>
          </a:ln>
        </p:spPr>
        <p:txBody>
          <a:bodyPr wrap="square" rtlCol="0">
            <a:spAutoFit/>
          </a:bodyPr>
          <a:lstStyle/>
          <a:p>
            <a:pPr algn="ctr"/>
            <a:r>
              <a:rPr lang="zh-CN" altLang="en-US" b="1" dirty="0"/>
              <a:t>单位名气</a:t>
            </a:r>
          </a:p>
        </p:txBody>
      </p:sp>
      <p:sp>
        <p:nvSpPr>
          <p:cNvPr id="6" name="TextBox 5"/>
          <p:cNvSpPr txBox="1"/>
          <p:nvPr/>
        </p:nvSpPr>
        <p:spPr>
          <a:xfrm>
            <a:off x="3647728" y="4571836"/>
            <a:ext cx="1253269" cy="369332"/>
          </a:xfrm>
          <a:prstGeom prst="rect">
            <a:avLst/>
          </a:prstGeom>
          <a:solidFill>
            <a:srgbClr val="66FF66"/>
          </a:solidFill>
          <a:ln w="19050">
            <a:solidFill>
              <a:schemeClr val="tx1"/>
            </a:solidFill>
          </a:ln>
        </p:spPr>
        <p:txBody>
          <a:bodyPr wrap="square" rtlCol="0">
            <a:spAutoFit/>
          </a:bodyPr>
          <a:lstStyle/>
          <a:p>
            <a:pPr algn="ctr"/>
            <a:r>
              <a:rPr lang="zh-CN" altLang="en-US" b="1" dirty="0"/>
              <a:t>发展潜力</a:t>
            </a:r>
          </a:p>
        </p:txBody>
      </p:sp>
      <p:sp>
        <p:nvSpPr>
          <p:cNvPr id="7" name="TextBox 6"/>
          <p:cNvSpPr txBox="1"/>
          <p:nvPr/>
        </p:nvSpPr>
        <p:spPr>
          <a:xfrm>
            <a:off x="1991544" y="4571836"/>
            <a:ext cx="1296144" cy="369332"/>
          </a:xfrm>
          <a:prstGeom prst="rect">
            <a:avLst/>
          </a:prstGeom>
          <a:solidFill>
            <a:srgbClr val="66FF66"/>
          </a:solidFill>
          <a:ln w="19050">
            <a:solidFill>
              <a:schemeClr val="tx1"/>
            </a:solidFill>
          </a:ln>
        </p:spPr>
        <p:txBody>
          <a:bodyPr wrap="square" rtlCol="0">
            <a:spAutoFit/>
          </a:bodyPr>
          <a:lstStyle/>
          <a:p>
            <a:pPr algn="ctr"/>
            <a:r>
              <a:rPr lang="zh-CN" altLang="en-US" b="1" dirty="0"/>
              <a:t>专业对口</a:t>
            </a:r>
          </a:p>
        </p:txBody>
      </p:sp>
      <p:sp>
        <p:nvSpPr>
          <p:cNvPr id="8" name="TextBox 7"/>
          <p:cNvSpPr txBox="1"/>
          <p:nvPr/>
        </p:nvSpPr>
        <p:spPr>
          <a:xfrm>
            <a:off x="7104112" y="4571836"/>
            <a:ext cx="1224136" cy="369332"/>
          </a:xfrm>
          <a:prstGeom prst="rect">
            <a:avLst/>
          </a:prstGeom>
          <a:solidFill>
            <a:srgbClr val="66FF66"/>
          </a:solidFill>
          <a:ln w="19050">
            <a:solidFill>
              <a:schemeClr val="tx1"/>
            </a:solidFill>
          </a:ln>
        </p:spPr>
        <p:txBody>
          <a:bodyPr wrap="square" rtlCol="0">
            <a:spAutoFit/>
          </a:bodyPr>
          <a:lstStyle/>
          <a:p>
            <a:pPr algn="ctr"/>
            <a:r>
              <a:rPr lang="zh-CN" altLang="en-US" b="1" dirty="0"/>
              <a:t>地点</a:t>
            </a:r>
          </a:p>
        </p:txBody>
      </p:sp>
      <p:sp>
        <p:nvSpPr>
          <p:cNvPr id="9" name="TextBox 8"/>
          <p:cNvSpPr txBox="1"/>
          <p:nvPr/>
        </p:nvSpPr>
        <p:spPr>
          <a:xfrm>
            <a:off x="8702830" y="4571836"/>
            <a:ext cx="1209595" cy="369332"/>
          </a:xfrm>
          <a:prstGeom prst="rect">
            <a:avLst/>
          </a:prstGeom>
          <a:solidFill>
            <a:srgbClr val="66FF66"/>
          </a:solidFill>
          <a:ln w="19050">
            <a:solidFill>
              <a:schemeClr val="tx1"/>
            </a:solidFill>
          </a:ln>
        </p:spPr>
        <p:txBody>
          <a:bodyPr wrap="square" rtlCol="0">
            <a:spAutoFit/>
          </a:bodyPr>
          <a:lstStyle/>
          <a:p>
            <a:pPr algn="ctr"/>
            <a:r>
              <a:rPr lang="zh-CN" altLang="en-US" b="1" dirty="0"/>
              <a:t>收入</a:t>
            </a:r>
          </a:p>
        </p:txBody>
      </p:sp>
      <p:sp>
        <p:nvSpPr>
          <p:cNvPr id="10" name="TextBox 9"/>
          <p:cNvSpPr txBox="1"/>
          <p:nvPr/>
        </p:nvSpPr>
        <p:spPr>
          <a:xfrm>
            <a:off x="2999657" y="5877272"/>
            <a:ext cx="986673" cy="369332"/>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单位</a:t>
            </a:r>
            <a:r>
              <a:rPr lang="en-US" altLang="zh-CN" b="1" dirty="0"/>
              <a:t>A</a:t>
            </a:r>
            <a:endParaRPr lang="zh-CN" altLang="en-US" b="1" dirty="0"/>
          </a:p>
        </p:txBody>
      </p:sp>
      <p:sp>
        <p:nvSpPr>
          <p:cNvPr id="11" name="TextBox 10"/>
          <p:cNvSpPr txBox="1"/>
          <p:nvPr/>
        </p:nvSpPr>
        <p:spPr>
          <a:xfrm>
            <a:off x="4655841" y="5877272"/>
            <a:ext cx="986673" cy="369332"/>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单位</a:t>
            </a:r>
            <a:r>
              <a:rPr lang="en-US" altLang="zh-CN" b="1" dirty="0"/>
              <a:t>B</a:t>
            </a:r>
            <a:endParaRPr lang="zh-CN" altLang="en-US" b="1" dirty="0"/>
          </a:p>
        </p:txBody>
      </p:sp>
      <p:sp>
        <p:nvSpPr>
          <p:cNvPr id="12" name="TextBox 11"/>
          <p:cNvSpPr txBox="1"/>
          <p:nvPr/>
        </p:nvSpPr>
        <p:spPr>
          <a:xfrm>
            <a:off x="6446388" y="5877272"/>
            <a:ext cx="986673" cy="369332"/>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单位</a:t>
            </a:r>
            <a:r>
              <a:rPr lang="en-US" altLang="zh-CN" b="1" dirty="0"/>
              <a:t>C</a:t>
            </a:r>
            <a:endParaRPr lang="zh-CN" altLang="en-US" b="1" dirty="0"/>
          </a:p>
        </p:txBody>
      </p:sp>
      <p:sp>
        <p:nvSpPr>
          <p:cNvPr id="13" name="TextBox 12"/>
          <p:cNvSpPr txBox="1"/>
          <p:nvPr/>
        </p:nvSpPr>
        <p:spPr>
          <a:xfrm>
            <a:off x="8209493" y="5877726"/>
            <a:ext cx="986673" cy="369332"/>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单位</a:t>
            </a:r>
            <a:r>
              <a:rPr lang="en-US" altLang="zh-CN" b="1" dirty="0"/>
              <a:t>D </a:t>
            </a:r>
            <a:endParaRPr lang="zh-CN" altLang="en-US" b="1" dirty="0"/>
          </a:p>
        </p:txBody>
      </p:sp>
      <p:grpSp>
        <p:nvGrpSpPr>
          <p:cNvPr id="25" name="组合 24"/>
          <p:cNvGrpSpPr/>
          <p:nvPr/>
        </p:nvGrpSpPr>
        <p:grpSpPr>
          <a:xfrm>
            <a:off x="2653183" y="3967958"/>
            <a:ext cx="6657735" cy="603878"/>
            <a:chOff x="1129182" y="3967958"/>
            <a:chExt cx="6657735" cy="603878"/>
          </a:xfrm>
        </p:grpSpPr>
        <p:cxnSp>
          <p:nvCxnSpPr>
            <p:cNvPr id="15" name="直接连接符 14"/>
            <p:cNvCxnSpPr>
              <a:stCxn id="4" idx="2"/>
              <a:endCxn id="5" idx="0"/>
            </p:cNvCxnSpPr>
            <p:nvPr/>
          </p:nvCxnSpPr>
          <p:spPr>
            <a:xfrm>
              <a:off x="4463988" y="3967958"/>
              <a:ext cx="0" cy="6038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4" idx="2"/>
            </p:cNvCxnSpPr>
            <p:nvPr/>
          </p:nvCxnSpPr>
          <p:spPr>
            <a:xfrm flipH="1">
              <a:off x="2774201" y="3967958"/>
              <a:ext cx="1689787" cy="6038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4" idx="2"/>
            </p:cNvCxnSpPr>
            <p:nvPr/>
          </p:nvCxnSpPr>
          <p:spPr>
            <a:xfrm>
              <a:off x="4463988" y="3967958"/>
              <a:ext cx="1728192" cy="6038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4" idx="2"/>
            </p:cNvCxnSpPr>
            <p:nvPr/>
          </p:nvCxnSpPr>
          <p:spPr>
            <a:xfrm flipH="1">
              <a:off x="1129182" y="3967958"/>
              <a:ext cx="3334806" cy="6038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4" idx="2"/>
            </p:cNvCxnSpPr>
            <p:nvPr/>
          </p:nvCxnSpPr>
          <p:spPr>
            <a:xfrm>
              <a:off x="4463988" y="3967958"/>
              <a:ext cx="3322929" cy="6038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a:off x="2639617" y="4941169"/>
            <a:ext cx="6668011" cy="936923"/>
            <a:chOff x="1115616" y="4941168"/>
            <a:chExt cx="6668011" cy="936923"/>
          </a:xfrm>
        </p:grpSpPr>
        <p:cxnSp>
          <p:nvCxnSpPr>
            <p:cNvPr id="26" name="直接连接符 25"/>
            <p:cNvCxnSpPr>
              <a:endCxn id="10" idx="0"/>
            </p:cNvCxnSpPr>
            <p:nvPr/>
          </p:nvCxnSpPr>
          <p:spPr>
            <a:xfrm>
              <a:off x="1115616" y="4941168"/>
              <a:ext cx="853377"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11" idx="0"/>
            </p:cNvCxnSpPr>
            <p:nvPr/>
          </p:nvCxnSpPr>
          <p:spPr>
            <a:xfrm>
              <a:off x="2716071" y="4941168"/>
              <a:ext cx="909106"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12" idx="0"/>
            </p:cNvCxnSpPr>
            <p:nvPr/>
          </p:nvCxnSpPr>
          <p:spPr>
            <a:xfrm>
              <a:off x="4463988" y="4941622"/>
              <a:ext cx="951736" cy="9356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13" idx="0"/>
            </p:cNvCxnSpPr>
            <p:nvPr/>
          </p:nvCxnSpPr>
          <p:spPr>
            <a:xfrm>
              <a:off x="6162902" y="4941168"/>
              <a:ext cx="1015927" cy="9365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7" idx="2"/>
              <a:endCxn id="11" idx="0"/>
            </p:cNvCxnSpPr>
            <p:nvPr/>
          </p:nvCxnSpPr>
          <p:spPr>
            <a:xfrm>
              <a:off x="1115616" y="4941168"/>
              <a:ext cx="2509561"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115616" y="4941622"/>
              <a:ext cx="4300107" cy="93565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7" idx="2"/>
            </p:cNvCxnSpPr>
            <p:nvPr/>
          </p:nvCxnSpPr>
          <p:spPr>
            <a:xfrm>
              <a:off x="1115616" y="4941168"/>
              <a:ext cx="6048224" cy="9369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6" idx="2"/>
              <a:endCxn id="10" idx="0"/>
            </p:cNvCxnSpPr>
            <p:nvPr/>
          </p:nvCxnSpPr>
          <p:spPr>
            <a:xfrm flipH="1">
              <a:off x="1968993" y="4941168"/>
              <a:ext cx="781369"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6" idx="2"/>
              <a:endCxn id="12" idx="0"/>
            </p:cNvCxnSpPr>
            <p:nvPr/>
          </p:nvCxnSpPr>
          <p:spPr>
            <a:xfrm>
              <a:off x="2750362" y="4941168"/>
              <a:ext cx="2665362"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6" idx="2"/>
              <a:endCxn id="13" idx="0"/>
            </p:cNvCxnSpPr>
            <p:nvPr/>
          </p:nvCxnSpPr>
          <p:spPr>
            <a:xfrm>
              <a:off x="2750362" y="4941168"/>
              <a:ext cx="4428467" cy="9365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endCxn id="5" idx="2"/>
            </p:cNvCxnSpPr>
            <p:nvPr/>
          </p:nvCxnSpPr>
          <p:spPr>
            <a:xfrm flipV="1">
              <a:off x="1968993" y="4941168"/>
              <a:ext cx="2494995"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11" idx="0"/>
              <a:endCxn id="5" idx="2"/>
            </p:cNvCxnSpPr>
            <p:nvPr/>
          </p:nvCxnSpPr>
          <p:spPr>
            <a:xfrm flipV="1">
              <a:off x="3625177" y="4941168"/>
              <a:ext cx="838811"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5" idx="2"/>
            </p:cNvCxnSpPr>
            <p:nvPr/>
          </p:nvCxnSpPr>
          <p:spPr>
            <a:xfrm>
              <a:off x="4463988" y="4941168"/>
              <a:ext cx="2628292"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0" idx="0"/>
              <a:endCxn id="8" idx="2"/>
            </p:cNvCxnSpPr>
            <p:nvPr/>
          </p:nvCxnSpPr>
          <p:spPr>
            <a:xfrm flipV="1">
              <a:off x="1968993" y="4941168"/>
              <a:ext cx="4223187"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3667907" y="4941168"/>
              <a:ext cx="2494995"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endCxn id="9" idx="2"/>
            </p:cNvCxnSpPr>
            <p:nvPr/>
          </p:nvCxnSpPr>
          <p:spPr>
            <a:xfrm flipV="1">
              <a:off x="5407463" y="4941168"/>
              <a:ext cx="2376164" cy="9369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12" idx="0"/>
              <a:endCxn id="8" idx="2"/>
            </p:cNvCxnSpPr>
            <p:nvPr/>
          </p:nvCxnSpPr>
          <p:spPr>
            <a:xfrm flipV="1">
              <a:off x="5415724" y="4941168"/>
              <a:ext cx="776456"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endCxn id="9" idx="2"/>
            </p:cNvCxnSpPr>
            <p:nvPr/>
          </p:nvCxnSpPr>
          <p:spPr>
            <a:xfrm flipV="1">
              <a:off x="7145705" y="4941168"/>
              <a:ext cx="637922" cy="93125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11" idx="0"/>
              <a:endCxn id="9" idx="2"/>
            </p:cNvCxnSpPr>
            <p:nvPr/>
          </p:nvCxnSpPr>
          <p:spPr>
            <a:xfrm flipV="1">
              <a:off x="3625177" y="4941168"/>
              <a:ext cx="4158450" cy="9361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a:endCxn id="9" idx="2"/>
            </p:cNvCxnSpPr>
            <p:nvPr/>
          </p:nvCxnSpPr>
          <p:spPr>
            <a:xfrm flipV="1">
              <a:off x="2095149" y="4941168"/>
              <a:ext cx="5688478" cy="93125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灯片编号占位符 13">
            <a:extLst>
              <a:ext uri="{FF2B5EF4-FFF2-40B4-BE49-F238E27FC236}">
                <a16:creationId xmlns:a16="http://schemas.microsoft.com/office/drawing/2014/main" id="{7B714D35-E09D-F7ED-7D53-FAA0EBC8629D}"/>
              </a:ext>
            </a:extLst>
          </p:cNvPr>
          <p:cNvSpPr>
            <a:spLocks noGrp="1"/>
          </p:cNvSpPr>
          <p:nvPr>
            <p:ph type="sldNum" sz="quarter" idx="11"/>
          </p:nvPr>
        </p:nvSpPr>
        <p:spPr/>
        <p:txBody>
          <a:bodyPr/>
          <a:lstStyle/>
          <a:p>
            <a:pPr>
              <a:defRPr/>
            </a:pPr>
            <a:fld id="{1A3A146F-9300-4B06-8947-0E9C0D98352F}" type="slidenum">
              <a:rPr lang="en-US" altLang="zh-CN" smtClean="0"/>
              <a:pPr>
                <a:defRPr/>
              </a:pPr>
              <a:t>5</a:t>
            </a:fld>
            <a:endParaRPr lang="en-US" altLang="zh-CN"/>
          </a:p>
        </p:txBody>
      </p:sp>
    </p:spTree>
    <p:extLst>
      <p:ext uri="{BB962C8B-B14F-4D97-AF65-F5344CB8AC3E}">
        <p14:creationId xmlns:p14="http://schemas.microsoft.com/office/powerpoint/2010/main" val="315825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500"/>
                                        <p:tgtEl>
                                          <p:spTgt spid="2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p:tgtEl>
                                          <p:spTgt spid="1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nodeType="clickEffect">
                                  <p:stCondLst>
                                    <p:cond delay="0"/>
                                  </p:stCondLst>
                                  <p:childTnLst>
                                    <p:set>
                                      <p:cBhvr>
                                        <p:cTn id="65" dur="1" fill="hold">
                                          <p:stCondLst>
                                            <p:cond delay="0"/>
                                          </p:stCondLst>
                                        </p:cTn>
                                        <p:tgtEl>
                                          <p:spTgt spid="75"/>
                                        </p:tgtEl>
                                        <p:attrNameLst>
                                          <p:attrName>style.visibility</p:attrName>
                                        </p:attrNameLst>
                                      </p:cBhvr>
                                      <p:to>
                                        <p:strVal val="visible"/>
                                      </p:to>
                                    </p:set>
                                    <p:animEffect transition="in" filter="wheel(1)">
                                      <p:cBhvr>
                                        <p:cTn id="66"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992313" y="0"/>
            <a:ext cx="8229600" cy="1371600"/>
          </a:xfrm>
        </p:spPr>
        <p:txBody>
          <a:bodyPr/>
          <a:lstStyle/>
          <a:p>
            <a:pPr algn="ctr" eaLnBrk="1" hangingPunct="1"/>
            <a:r>
              <a:rPr lang="zh-CN" altLang="en-US" dirty="0">
                <a:solidFill>
                  <a:srgbClr val="008000"/>
                </a:solidFill>
                <a:ea typeface="黑体" pitchFamily="2" charset="-122"/>
              </a:rPr>
              <a:t>典型的</a:t>
            </a:r>
            <a:r>
              <a:rPr lang="zh-CN" altLang="en-US" dirty="0">
                <a:solidFill>
                  <a:srgbClr val="008000"/>
                </a:solidFill>
                <a:latin typeface="黑体" pitchFamily="49" charset="-122"/>
                <a:ea typeface="黑体" pitchFamily="49" charset="-122"/>
              </a:rPr>
              <a:t>递阶</a:t>
            </a:r>
            <a:r>
              <a:rPr lang="zh-CN" altLang="en-US" dirty="0">
                <a:solidFill>
                  <a:srgbClr val="008000"/>
                </a:solidFill>
                <a:ea typeface="黑体" pitchFamily="2" charset="-122"/>
              </a:rPr>
              <a:t>层次结构</a:t>
            </a:r>
          </a:p>
        </p:txBody>
      </p:sp>
      <p:sp>
        <p:nvSpPr>
          <p:cNvPr id="95235" name="Rectangle 3"/>
          <p:cNvSpPr>
            <a:spLocks noGrp="1" noChangeArrowheads="1"/>
          </p:cNvSpPr>
          <p:nvPr>
            <p:ph type="body" idx="1"/>
          </p:nvPr>
        </p:nvSpPr>
        <p:spPr>
          <a:xfrm>
            <a:off x="1055440" y="1268414"/>
            <a:ext cx="9155360" cy="5400675"/>
          </a:xfrm>
        </p:spPr>
        <p:txBody>
          <a:bodyPr/>
          <a:lstStyle/>
          <a:p>
            <a:pPr eaLnBrk="1" hangingPunct="1"/>
            <a:r>
              <a:rPr lang="zh-CN" altLang="en-US" dirty="0">
                <a:ea typeface="黑体" pitchFamily="2" charset="-122"/>
              </a:rPr>
              <a:t>根据问题的总目标和决策方案分为三个层次</a:t>
            </a:r>
          </a:p>
          <a:p>
            <a:pPr lvl="1" eaLnBrk="1" hangingPunct="1"/>
            <a:r>
              <a:rPr lang="zh-CN" altLang="en-US" b="1" dirty="0">
                <a:solidFill>
                  <a:srgbClr val="FF0000"/>
                </a:solidFill>
                <a:ea typeface="楷体_GB2312" pitchFamily="49" charset="-122"/>
              </a:rPr>
              <a:t>目标层</a:t>
            </a:r>
            <a:r>
              <a:rPr lang="en-US" altLang="zh-CN" b="1" dirty="0">
                <a:solidFill>
                  <a:srgbClr val="FF0000"/>
                </a:solidFill>
                <a:ea typeface="楷体_GB2312" pitchFamily="49" charset="-122"/>
              </a:rPr>
              <a:t>G</a:t>
            </a:r>
            <a:r>
              <a:rPr lang="zh-CN" altLang="en-US" b="1" dirty="0">
                <a:solidFill>
                  <a:srgbClr val="FF0000"/>
                </a:solidFill>
                <a:ea typeface="楷体_GB2312" pitchFamily="49" charset="-122"/>
              </a:rPr>
              <a:t>、准则层</a:t>
            </a:r>
            <a:r>
              <a:rPr lang="en-US" altLang="zh-CN" b="1" dirty="0">
                <a:solidFill>
                  <a:srgbClr val="FF0000"/>
                </a:solidFill>
                <a:ea typeface="楷体_GB2312" pitchFamily="49" charset="-122"/>
              </a:rPr>
              <a:t>C</a:t>
            </a:r>
            <a:r>
              <a:rPr lang="zh-CN" altLang="en-US" b="1" dirty="0">
                <a:solidFill>
                  <a:srgbClr val="FF0000"/>
                </a:solidFill>
                <a:ea typeface="楷体_GB2312" pitchFamily="49" charset="-122"/>
              </a:rPr>
              <a:t>和方案层</a:t>
            </a:r>
            <a:r>
              <a:rPr lang="en-US" altLang="zh-CN" b="1" dirty="0">
                <a:solidFill>
                  <a:srgbClr val="FF0000"/>
                </a:solidFill>
                <a:ea typeface="楷体_GB2312" pitchFamily="49" charset="-122"/>
              </a:rPr>
              <a:t>P</a:t>
            </a:r>
          </a:p>
          <a:p>
            <a:pPr lvl="1" eaLnBrk="1" hangingPunct="1"/>
            <a:endParaRPr lang="en-US" altLang="zh-CN" sz="2400" b="1" dirty="0">
              <a:solidFill>
                <a:srgbClr val="FF0000"/>
              </a:solidFill>
              <a:ea typeface="楷体_GB2312" pitchFamily="49" charset="-122"/>
            </a:endParaRPr>
          </a:p>
          <a:p>
            <a:pPr lvl="1" eaLnBrk="1" hangingPunct="1"/>
            <a:endParaRPr lang="en-US" altLang="zh-CN" sz="2400" dirty="0"/>
          </a:p>
          <a:p>
            <a:pPr lvl="1" eaLnBrk="1" hangingPunct="1"/>
            <a:endParaRPr lang="en-US" altLang="zh-CN" sz="2400" dirty="0"/>
          </a:p>
          <a:p>
            <a:pPr lvl="1" eaLnBrk="1" hangingPunct="1"/>
            <a:endParaRPr lang="en-US" altLang="zh-CN" sz="2400" dirty="0"/>
          </a:p>
          <a:p>
            <a:pPr lvl="1" eaLnBrk="1" hangingPunct="1"/>
            <a:endParaRPr lang="en-US" altLang="zh-CN" sz="2400" dirty="0"/>
          </a:p>
          <a:p>
            <a:pPr lvl="1" eaLnBrk="1" hangingPunct="1"/>
            <a:endParaRPr lang="en-US" altLang="zh-CN" sz="2400" dirty="0"/>
          </a:p>
          <a:p>
            <a:pPr marL="457200" lvl="1" indent="0" eaLnBrk="1" hangingPunct="1">
              <a:buNone/>
            </a:pPr>
            <a:endParaRPr lang="en-US" altLang="zh-CN" sz="2400" dirty="0"/>
          </a:p>
        </p:txBody>
      </p:sp>
      <p:grpSp>
        <p:nvGrpSpPr>
          <p:cNvPr id="2" name="组合 1"/>
          <p:cNvGrpSpPr/>
          <p:nvPr/>
        </p:nvGrpSpPr>
        <p:grpSpPr>
          <a:xfrm>
            <a:off x="2279577" y="2427310"/>
            <a:ext cx="7416823" cy="3908762"/>
            <a:chOff x="755576" y="2427310"/>
            <a:chExt cx="7416823" cy="3908762"/>
          </a:xfrm>
        </p:grpSpPr>
        <p:sp>
          <p:nvSpPr>
            <p:cNvPr id="41989" name="Text Box 4"/>
            <p:cNvSpPr txBox="1">
              <a:spLocks noChangeArrowheads="1"/>
            </p:cNvSpPr>
            <p:nvPr/>
          </p:nvSpPr>
          <p:spPr bwMode="auto">
            <a:xfrm>
              <a:off x="3814689" y="2498747"/>
              <a:ext cx="1873250" cy="415925"/>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dirty="0">
                  <a:ea typeface="楷体_GB2312" pitchFamily="49" charset="-122"/>
                </a:rPr>
                <a:t>决策目标</a:t>
              </a:r>
              <a:r>
                <a:rPr lang="en-US" altLang="zh-CN" sz="2000" b="1" dirty="0">
                  <a:ea typeface="楷体_GB2312" pitchFamily="49" charset="-122"/>
                </a:rPr>
                <a:t>G</a:t>
              </a:r>
            </a:p>
          </p:txBody>
        </p:sp>
        <p:sp>
          <p:nvSpPr>
            <p:cNvPr id="41990" name="Text Box 5"/>
            <p:cNvSpPr txBox="1">
              <a:spLocks noChangeArrowheads="1"/>
            </p:cNvSpPr>
            <p:nvPr/>
          </p:nvSpPr>
          <p:spPr bwMode="auto">
            <a:xfrm>
              <a:off x="2158926" y="3363935"/>
              <a:ext cx="1296988" cy="415925"/>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准则</a:t>
              </a:r>
              <a:r>
                <a:rPr lang="en-US" altLang="zh-CN" sz="2000" b="1">
                  <a:ea typeface="楷体_GB2312" pitchFamily="49" charset="-122"/>
                </a:rPr>
                <a:t>C</a:t>
              </a:r>
              <a:r>
                <a:rPr lang="en-US" altLang="zh-CN" sz="2000" b="1" baseline="-25000">
                  <a:ea typeface="楷体_GB2312" pitchFamily="49" charset="-122"/>
                </a:rPr>
                <a:t>1</a:t>
              </a:r>
            </a:p>
          </p:txBody>
        </p:sp>
        <p:sp>
          <p:nvSpPr>
            <p:cNvPr id="41991" name="Text Box 8"/>
            <p:cNvSpPr txBox="1">
              <a:spLocks noChangeArrowheads="1"/>
            </p:cNvSpPr>
            <p:nvPr/>
          </p:nvSpPr>
          <p:spPr bwMode="auto">
            <a:xfrm>
              <a:off x="4175051" y="3363935"/>
              <a:ext cx="1296988" cy="415925"/>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准则</a:t>
              </a:r>
              <a:r>
                <a:rPr lang="en-US" altLang="zh-CN" sz="2000" b="1">
                  <a:ea typeface="楷体_GB2312" pitchFamily="49" charset="-122"/>
                </a:rPr>
                <a:t>C</a:t>
              </a:r>
              <a:r>
                <a:rPr lang="en-US" altLang="zh-CN" sz="2000" b="1" baseline="-25000">
                  <a:ea typeface="楷体_GB2312" pitchFamily="49" charset="-122"/>
                </a:rPr>
                <a:t>2</a:t>
              </a:r>
            </a:p>
          </p:txBody>
        </p:sp>
        <p:sp>
          <p:nvSpPr>
            <p:cNvPr id="41992" name="Text Box 9"/>
            <p:cNvSpPr txBox="1">
              <a:spLocks noChangeArrowheads="1"/>
            </p:cNvSpPr>
            <p:nvPr/>
          </p:nvSpPr>
          <p:spPr bwMode="auto">
            <a:xfrm>
              <a:off x="6767439" y="3363935"/>
              <a:ext cx="1296988" cy="415925"/>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准则</a:t>
              </a:r>
              <a:r>
                <a:rPr lang="en-US" altLang="zh-CN" sz="2000" b="1">
                  <a:ea typeface="楷体_GB2312" pitchFamily="49" charset="-122"/>
                </a:rPr>
                <a:t>C</a:t>
              </a:r>
              <a:r>
                <a:rPr lang="en-US" altLang="zh-CN" sz="2000" b="1" baseline="-25000">
                  <a:ea typeface="楷体_GB2312" pitchFamily="49" charset="-122"/>
                </a:rPr>
                <a:t>m</a:t>
              </a:r>
            </a:p>
          </p:txBody>
        </p:sp>
        <p:sp>
          <p:nvSpPr>
            <p:cNvPr id="41993" name="Text Box 10"/>
            <p:cNvSpPr txBox="1">
              <a:spLocks noChangeArrowheads="1"/>
            </p:cNvSpPr>
            <p:nvPr/>
          </p:nvSpPr>
          <p:spPr bwMode="auto">
            <a:xfrm>
              <a:off x="2158926" y="4514872"/>
              <a:ext cx="1296988" cy="369332"/>
            </a:xfrm>
            <a:prstGeom prst="rect">
              <a:avLst/>
            </a:prstGeom>
            <a:solidFill>
              <a:srgbClr val="AFFFA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子准则</a:t>
              </a:r>
              <a:r>
                <a:rPr lang="en-US" altLang="zh-CN" b="1" dirty="0">
                  <a:ea typeface="楷体_GB2312" pitchFamily="49" charset="-122"/>
                </a:rPr>
                <a:t>CC</a:t>
              </a:r>
              <a:r>
                <a:rPr lang="en-US" altLang="zh-CN" b="1" baseline="-25000" dirty="0">
                  <a:ea typeface="楷体_GB2312" pitchFamily="49" charset="-122"/>
                </a:rPr>
                <a:t>1</a:t>
              </a:r>
            </a:p>
          </p:txBody>
        </p:sp>
        <p:sp>
          <p:nvSpPr>
            <p:cNvPr id="41994" name="Text Box 11"/>
            <p:cNvSpPr txBox="1">
              <a:spLocks noChangeArrowheads="1"/>
            </p:cNvSpPr>
            <p:nvPr/>
          </p:nvSpPr>
          <p:spPr bwMode="auto">
            <a:xfrm>
              <a:off x="4175051" y="4514872"/>
              <a:ext cx="1296988" cy="369332"/>
            </a:xfrm>
            <a:prstGeom prst="rect">
              <a:avLst/>
            </a:prstGeom>
            <a:solidFill>
              <a:srgbClr val="AFFFA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子准则</a:t>
              </a:r>
              <a:r>
                <a:rPr lang="en-US" altLang="zh-CN" b="1" dirty="0">
                  <a:ea typeface="楷体_GB2312" pitchFamily="49" charset="-122"/>
                </a:rPr>
                <a:t>CC</a:t>
              </a:r>
              <a:r>
                <a:rPr lang="en-US" altLang="zh-CN" b="1" baseline="-25000" dirty="0">
                  <a:ea typeface="楷体_GB2312" pitchFamily="49" charset="-122"/>
                </a:rPr>
                <a:t>2</a:t>
              </a:r>
              <a:endParaRPr lang="en-US" altLang="zh-CN" sz="2000" b="1" baseline="-25000" dirty="0">
                <a:ea typeface="楷体_GB2312" pitchFamily="49" charset="-122"/>
              </a:endParaRPr>
            </a:p>
          </p:txBody>
        </p:sp>
        <p:sp>
          <p:nvSpPr>
            <p:cNvPr id="41995" name="Text Box 12"/>
            <p:cNvSpPr txBox="1">
              <a:spLocks noChangeArrowheads="1"/>
            </p:cNvSpPr>
            <p:nvPr/>
          </p:nvSpPr>
          <p:spPr bwMode="auto">
            <a:xfrm>
              <a:off x="6767438" y="4514872"/>
              <a:ext cx="1404961" cy="369332"/>
            </a:xfrm>
            <a:prstGeom prst="rect">
              <a:avLst/>
            </a:prstGeom>
            <a:solidFill>
              <a:srgbClr val="AFFFA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子准则</a:t>
              </a:r>
              <a:r>
                <a:rPr lang="en-US" altLang="zh-CN" b="1" dirty="0" err="1">
                  <a:ea typeface="楷体_GB2312" pitchFamily="49" charset="-122"/>
                </a:rPr>
                <a:t>CC</a:t>
              </a:r>
              <a:r>
                <a:rPr lang="en-US" altLang="zh-CN" b="1" baseline="-25000" dirty="0" err="1">
                  <a:ea typeface="楷体_GB2312" pitchFamily="49" charset="-122"/>
                </a:rPr>
                <a:t>n</a:t>
              </a:r>
              <a:endParaRPr lang="en-US" altLang="zh-CN" sz="2000" b="1" baseline="-25000" dirty="0">
                <a:ea typeface="楷体_GB2312" pitchFamily="49" charset="-122"/>
              </a:endParaRPr>
            </a:p>
          </p:txBody>
        </p:sp>
        <p:sp>
          <p:nvSpPr>
            <p:cNvPr id="41996" name="Line 13"/>
            <p:cNvSpPr>
              <a:spLocks noChangeShapeType="1"/>
            </p:cNvSpPr>
            <p:nvPr/>
          </p:nvSpPr>
          <p:spPr bwMode="auto">
            <a:xfrm flipV="1">
              <a:off x="4751314" y="2930547"/>
              <a:ext cx="0" cy="433387"/>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7" name="Line 14"/>
            <p:cNvSpPr>
              <a:spLocks noChangeShapeType="1"/>
            </p:cNvSpPr>
            <p:nvPr/>
          </p:nvSpPr>
          <p:spPr bwMode="auto">
            <a:xfrm flipH="1">
              <a:off x="2735189" y="2930547"/>
              <a:ext cx="2016125" cy="433387"/>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8" name="Line 15"/>
            <p:cNvSpPr>
              <a:spLocks noChangeShapeType="1"/>
            </p:cNvSpPr>
            <p:nvPr/>
          </p:nvSpPr>
          <p:spPr bwMode="auto">
            <a:xfrm>
              <a:off x="4751314" y="2930547"/>
              <a:ext cx="2736850" cy="433387"/>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9" name="Text Box 16"/>
            <p:cNvSpPr txBox="1">
              <a:spLocks noChangeArrowheads="1"/>
            </p:cNvSpPr>
            <p:nvPr/>
          </p:nvSpPr>
          <p:spPr bwMode="auto">
            <a:xfrm>
              <a:off x="5759376" y="3435372"/>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a:t>
              </a:r>
            </a:p>
          </p:txBody>
        </p:sp>
        <p:sp>
          <p:nvSpPr>
            <p:cNvPr id="42000" name="Text Box 17"/>
            <p:cNvSpPr txBox="1">
              <a:spLocks noChangeArrowheads="1"/>
            </p:cNvSpPr>
            <p:nvPr/>
          </p:nvSpPr>
          <p:spPr bwMode="auto">
            <a:xfrm>
              <a:off x="5759376" y="4514872"/>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a:t>
              </a:r>
            </a:p>
          </p:txBody>
        </p:sp>
        <p:sp>
          <p:nvSpPr>
            <p:cNvPr id="42001" name="Line 18"/>
            <p:cNvSpPr>
              <a:spLocks noChangeShapeType="1"/>
            </p:cNvSpPr>
            <p:nvPr/>
          </p:nvSpPr>
          <p:spPr bwMode="auto">
            <a:xfrm flipV="1">
              <a:off x="4751314" y="3795735"/>
              <a:ext cx="0" cy="71913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2" name="Line 19"/>
            <p:cNvSpPr>
              <a:spLocks noChangeShapeType="1"/>
            </p:cNvSpPr>
            <p:nvPr/>
          </p:nvSpPr>
          <p:spPr bwMode="auto">
            <a:xfrm flipV="1">
              <a:off x="2806626" y="3795735"/>
              <a:ext cx="0" cy="7191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3" name="Line 20"/>
            <p:cNvSpPr>
              <a:spLocks noChangeShapeType="1"/>
            </p:cNvSpPr>
            <p:nvPr/>
          </p:nvSpPr>
          <p:spPr bwMode="auto">
            <a:xfrm flipV="1">
              <a:off x="7415139" y="3795735"/>
              <a:ext cx="0" cy="71913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4" name="Line 21"/>
            <p:cNvSpPr>
              <a:spLocks noChangeShapeType="1"/>
            </p:cNvSpPr>
            <p:nvPr/>
          </p:nvSpPr>
          <p:spPr bwMode="auto">
            <a:xfrm>
              <a:off x="2806626" y="3795735"/>
              <a:ext cx="1944688" cy="7191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5" name="Line 22"/>
            <p:cNvSpPr>
              <a:spLocks noChangeShapeType="1"/>
            </p:cNvSpPr>
            <p:nvPr/>
          </p:nvSpPr>
          <p:spPr bwMode="auto">
            <a:xfrm>
              <a:off x="2806626" y="3795735"/>
              <a:ext cx="4608513" cy="7191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6" name="Line 23"/>
            <p:cNvSpPr>
              <a:spLocks noChangeShapeType="1"/>
            </p:cNvSpPr>
            <p:nvPr/>
          </p:nvSpPr>
          <p:spPr bwMode="auto">
            <a:xfrm flipH="1">
              <a:off x="2806626" y="3795735"/>
              <a:ext cx="1944688" cy="71913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7" name="Line 24"/>
            <p:cNvSpPr>
              <a:spLocks noChangeShapeType="1"/>
            </p:cNvSpPr>
            <p:nvPr/>
          </p:nvSpPr>
          <p:spPr bwMode="auto">
            <a:xfrm>
              <a:off x="4751314" y="3795735"/>
              <a:ext cx="2663825" cy="71913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8" name="Line 25"/>
            <p:cNvSpPr>
              <a:spLocks noChangeShapeType="1"/>
            </p:cNvSpPr>
            <p:nvPr/>
          </p:nvSpPr>
          <p:spPr bwMode="auto">
            <a:xfrm flipH="1">
              <a:off x="4751314" y="3795735"/>
              <a:ext cx="2663825" cy="71913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9" name="Line 26"/>
            <p:cNvSpPr>
              <a:spLocks noChangeShapeType="1"/>
            </p:cNvSpPr>
            <p:nvPr/>
          </p:nvSpPr>
          <p:spPr bwMode="auto">
            <a:xfrm flipH="1">
              <a:off x="2806626" y="3795735"/>
              <a:ext cx="4608513" cy="71913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0" name="Text Box 27"/>
            <p:cNvSpPr txBox="1">
              <a:spLocks noChangeArrowheads="1"/>
            </p:cNvSpPr>
            <p:nvPr/>
          </p:nvSpPr>
          <p:spPr bwMode="auto">
            <a:xfrm>
              <a:off x="755576" y="2427310"/>
              <a:ext cx="1258888"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dirty="0">
                  <a:solidFill>
                    <a:srgbClr val="FF0000"/>
                  </a:solidFill>
                  <a:ea typeface="楷体_GB2312" pitchFamily="49" charset="-122"/>
                </a:rPr>
                <a:t>目标层</a:t>
              </a:r>
            </a:p>
            <a:p>
              <a:pPr eaLnBrk="1" hangingPunct="1">
                <a:spcBef>
                  <a:spcPct val="50000"/>
                </a:spcBef>
              </a:pPr>
              <a:endParaRPr lang="zh-CN" altLang="en-US" sz="2400" b="1" dirty="0">
                <a:solidFill>
                  <a:srgbClr val="FF0000"/>
                </a:solidFill>
                <a:ea typeface="楷体_GB2312" pitchFamily="49" charset="-122"/>
              </a:endParaRPr>
            </a:p>
            <a:p>
              <a:pPr eaLnBrk="1" hangingPunct="1">
                <a:spcBef>
                  <a:spcPct val="50000"/>
                </a:spcBef>
              </a:pPr>
              <a:r>
                <a:rPr lang="zh-CN" altLang="en-US" sz="2000" b="1" dirty="0">
                  <a:solidFill>
                    <a:srgbClr val="FF0000"/>
                  </a:solidFill>
                  <a:ea typeface="楷体_GB2312" pitchFamily="49" charset="-122"/>
                </a:rPr>
                <a:t>准则层</a:t>
              </a:r>
              <a:endParaRPr lang="en-US" altLang="zh-CN" sz="2000" b="1" dirty="0">
                <a:solidFill>
                  <a:srgbClr val="FF0000"/>
                </a:solidFill>
                <a:ea typeface="楷体_GB2312" pitchFamily="49" charset="-122"/>
              </a:endParaRPr>
            </a:p>
            <a:p>
              <a:pPr eaLnBrk="1" hangingPunct="1">
                <a:spcBef>
                  <a:spcPct val="50000"/>
                </a:spcBef>
              </a:pPr>
              <a:endParaRPr lang="en-US" altLang="zh-CN" sz="2000" b="1" dirty="0">
                <a:solidFill>
                  <a:srgbClr val="FF0000"/>
                </a:solidFill>
                <a:ea typeface="楷体_GB2312" pitchFamily="49" charset="-122"/>
              </a:endParaRPr>
            </a:p>
            <a:p>
              <a:pPr eaLnBrk="1" hangingPunct="1">
                <a:spcBef>
                  <a:spcPct val="50000"/>
                </a:spcBef>
              </a:pPr>
              <a:endParaRPr lang="en-US" altLang="zh-CN" sz="800" b="1" dirty="0">
                <a:solidFill>
                  <a:srgbClr val="FF0000"/>
                </a:solidFill>
                <a:ea typeface="楷体_GB2312" pitchFamily="49" charset="-122"/>
              </a:endParaRPr>
            </a:p>
            <a:p>
              <a:pPr eaLnBrk="1" hangingPunct="1">
                <a:spcBef>
                  <a:spcPct val="50000"/>
                </a:spcBef>
              </a:pPr>
              <a:r>
                <a:rPr lang="zh-CN" altLang="en-US" sz="2000" b="1" dirty="0">
                  <a:solidFill>
                    <a:srgbClr val="FF0000"/>
                  </a:solidFill>
                  <a:ea typeface="楷体_GB2312" pitchFamily="49" charset="-122"/>
                </a:rPr>
                <a:t>子准则层</a:t>
              </a:r>
            </a:p>
            <a:p>
              <a:pPr eaLnBrk="1" hangingPunct="1">
                <a:spcBef>
                  <a:spcPct val="50000"/>
                </a:spcBef>
              </a:pPr>
              <a:endParaRPr lang="zh-CN" altLang="en-US" sz="4000" b="1" dirty="0">
                <a:solidFill>
                  <a:srgbClr val="FF0000"/>
                </a:solidFill>
                <a:ea typeface="楷体_GB2312" pitchFamily="49" charset="-122"/>
              </a:endParaRPr>
            </a:p>
            <a:p>
              <a:pPr eaLnBrk="1" hangingPunct="1">
                <a:spcBef>
                  <a:spcPct val="50000"/>
                </a:spcBef>
              </a:pPr>
              <a:r>
                <a:rPr lang="zh-CN" altLang="en-US" sz="2000" b="1" dirty="0">
                  <a:solidFill>
                    <a:srgbClr val="FF0000"/>
                  </a:solidFill>
                  <a:ea typeface="楷体_GB2312" pitchFamily="49" charset="-122"/>
                </a:rPr>
                <a:t>方案层</a:t>
              </a:r>
            </a:p>
          </p:txBody>
        </p:sp>
        <p:sp>
          <p:nvSpPr>
            <p:cNvPr id="27" name="Text Box 10"/>
            <p:cNvSpPr txBox="1">
              <a:spLocks noChangeArrowheads="1"/>
            </p:cNvSpPr>
            <p:nvPr/>
          </p:nvSpPr>
          <p:spPr bwMode="auto">
            <a:xfrm>
              <a:off x="2123728" y="5893395"/>
              <a:ext cx="1296988" cy="415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方案</a:t>
              </a:r>
              <a:r>
                <a:rPr lang="en-US" altLang="zh-CN" sz="2000" b="1">
                  <a:ea typeface="楷体_GB2312" pitchFamily="49" charset="-122"/>
                </a:rPr>
                <a:t>P</a:t>
              </a:r>
              <a:r>
                <a:rPr lang="en-US" altLang="zh-CN" sz="2000" b="1" baseline="-25000">
                  <a:ea typeface="楷体_GB2312" pitchFamily="49" charset="-122"/>
                </a:rPr>
                <a:t>1</a:t>
              </a:r>
            </a:p>
          </p:txBody>
        </p:sp>
        <p:sp>
          <p:nvSpPr>
            <p:cNvPr id="28" name="Text Box 11"/>
            <p:cNvSpPr txBox="1">
              <a:spLocks noChangeArrowheads="1"/>
            </p:cNvSpPr>
            <p:nvPr/>
          </p:nvSpPr>
          <p:spPr bwMode="auto">
            <a:xfrm>
              <a:off x="4139853" y="5893395"/>
              <a:ext cx="1296988" cy="415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方案</a:t>
              </a:r>
              <a:r>
                <a:rPr lang="en-US" altLang="zh-CN" sz="2000" b="1">
                  <a:ea typeface="楷体_GB2312" pitchFamily="49" charset="-122"/>
                </a:rPr>
                <a:t>P</a:t>
              </a:r>
              <a:r>
                <a:rPr lang="en-US" altLang="zh-CN" sz="2000" b="1" baseline="-25000">
                  <a:ea typeface="楷体_GB2312" pitchFamily="49" charset="-122"/>
                </a:rPr>
                <a:t>2</a:t>
              </a:r>
            </a:p>
          </p:txBody>
        </p:sp>
        <p:sp>
          <p:nvSpPr>
            <p:cNvPr id="29" name="Text Box 12"/>
            <p:cNvSpPr txBox="1">
              <a:spLocks noChangeArrowheads="1"/>
            </p:cNvSpPr>
            <p:nvPr/>
          </p:nvSpPr>
          <p:spPr bwMode="auto">
            <a:xfrm>
              <a:off x="6732241" y="5893395"/>
              <a:ext cx="1296988" cy="415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方案</a:t>
              </a:r>
              <a:r>
                <a:rPr lang="en-US" altLang="zh-CN" sz="2000" b="1">
                  <a:ea typeface="楷体_GB2312" pitchFamily="49" charset="-122"/>
                </a:rPr>
                <a:t>P</a:t>
              </a:r>
              <a:r>
                <a:rPr lang="en-US" altLang="zh-CN" sz="2000" b="1" baseline="-25000">
                  <a:ea typeface="楷体_GB2312" pitchFamily="49" charset="-122"/>
                </a:rPr>
                <a:t>n</a:t>
              </a:r>
            </a:p>
          </p:txBody>
        </p:sp>
        <p:sp>
          <p:nvSpPr>
            <p:cNvPr id="30" name="Text Box 17"/>
            <p:cNvSpPr txBox="1">
              <a:spLocks noChangeArrowheads="1"/>
            </p:cNvSpPr>
            <p:nvPr/>
          </p:nvSpPr>
          <p:spPr bwMode="auto">
            <a:xfrm>
              <a:off x="5724178" y="5893395"/>
              <a:ext cx="6477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a:t>
              </a:r>
            </a:p>
          </p:txBody>
        </p:sp>
        <p:sp>
          <p:nvSpPr>
            <p:cNvPr id="31" name="Line 18"/>
            <p:cNvSpPr>
              <a:spLocks noChangeShapeType="1"/>
            </p:cNvSpPr>
            <p:nvPr/>
          </p:nvSpPr>
          <p:spPr bwMode="auto">
            <a:xfrm flipV="1">
              <a:off x="4716116" y="5533825"/>
              <a:ext cx="0" cy="35956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19"/>
            <p:cNvSpPr>
              <a:spLocks noChangeShapeType="1"/>
            </p:cNvSpPr>
            <p:nvPr/>
          </p:nvSpPr>
          <p:spPr bwMode="auto">
            <a:xfrm flipV="1">
              <a:off x="2771428" y="5533825"/>
              <a:ext cx="794" cy="3595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0"/>
            <p:cNvSpPr>
              <a:spLocks noChangeShapeType="1"/>
            </p:cNvSpPr>
            <p:nvPr/>
          </p:nvSpPr>
          <p:spPr bwMode="auto">
            <a:xfrm flipV="1">
              <a:off x="7379941" y="5533824"/>
              <a:ext cx="794" cy="359570"/>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21"/>
            <p:cNvSpPr>
              <a:spLocks noChangeShapeType="1"/>
            </p:cNvSpPr>
            <p:nvPr/>
          </p:nvSpPr>
          <p:spPr bwMode="auto">
            <a:xfrm>
              <a:off x="4175050" y="5533826"/>
              <a:ext cx="541065" cy="3595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22"/>
            <p:cNvSpPr>
              <a:spLocks noChangeShapeType="1"/>
            </p:cNvSpPr>
            <p:nvPr/>
          </p:nvSpPr>
          <p:spPr bwMode="auto">
            <a:xfrm>
              <a:off x="6407076" y="5533826"/>
              <a:ext cx="972865" cy="3595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23"/>
            <p:cNvSpPr>
              <a:spLocks noChangeShapeType="1"/>
            </p:cNvSpPr>
            <p:nvPr/>
          </p:nvSpPr>
          <p:spPr bwMode="auto">
            <a:xfrm flipH="1">
              <a:off x="2771428" y="5533826"/>
              <a:ext cx="612254" cy="35956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24"/>
            <p:cNvSpPr>
              <a:spLocks noChangeShapeType="1"/>
            </p:cNvSpPr>
            <p:nvPr/>
          </p:nvSpPr>
          <p:spPr bwMode="auto">
            <a:xfrm>
              <a:off x="6767439" y="5533826"/>
              <a:ext cx="612502" cy="35956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25"/>
            <p:cNvSpPr>
              <a:spLocks noChangeShapeType="1"/>
            </p:cNvSpPr>
            <p:nvPr/>
          </p:nvSpPr>
          <p:spPr bwMode="auto">
            <a:xfrm flipH="1">
              <a:off x="4716116" y="5533826"/>
              <a:ext cx="612018" cy="359569"/>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26"/>
            <p:cNvSpPr>
              <a:spLocks noChangeShapeType="1"/>
            </p:cNvSpPr>
            <p:nvPr/>
          </p:nvSpPr>
          <p:spPr bwMode="auto">
            <a:xfrm flipH="1">
              <a:off x="2771428" y="5533826"/>
              <a:ext cx="1043261" cy="359569"/>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Text Box 17"/>
            <p:cNvSpPr txBox="1">
              <a:spLocks noChangeArrowheads="1"/>
            </p:cNvSpPr>
            <p:nvPr/>
          </p:nvSpPr>
          <p:spPr bwMode="auto">
            <a:xfrm>
              <a:off x="2483570" y="5057337"/>
              <a:ext cx="5112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 …………………… ……………</a:t>
              </a:r>
            </a:p>
          </p:txBody>
        </p:sp>
      </p:grpSp>
      <p:sp>
        <p:nvSpPr>
          <p:cNvPr id="3" name="灯片编号占位符 2">
            <a:extLst>
              <a:ext uri="{FF2B5EF4-FFF2-40B4-BE49-F238E27FC236}">
                <a16:creationId xmlns:a16="http://schemas.microsoft.com/office/drawing/2014/main" id="{6DBC854C-EB74-28DE-7571-857ACEC6DAF9}"/>
              </a:ext>
            </a:extLst>
          </p:cNvPr>
          <p:cNvSpPr>
            <a:spLocks noGrp="1"/>
          </p:cNvSpPr>
          <p:nvPr>
            <p:ph type="sldNum" sz="quarter" idx="11"/>
          </p:nvPr>
        </p:nvSpPr>
        <p:spPr/>
        <p:txBody>
          <a:bodyPr/>
          <a:lstStyle/>
          <a:p>
            <a:pPr>
              <a:defRPr/>
            </a:pPr>
            <a:fld id="{1A3A146F-9300-4B06-8947-0E9C0D98352F}" type="slidenum">
              <a:rPr lang="en-US" altLang="zh-CN" smtClean="0"/>
              <a:pPr>
                <a:defRPr/>
              </a:pPr>
              <a:t>6</a:t>
            </a:fld>
            <a:endParaRPr lang="en-US" altLang="zh-CN"/>
          </a:p>
        </p:txBody>
      </p:sp>
    </p:spTree>
    <p:extLst>
      <p:ext uri="{BB962C8B-B14F-4D97-AF65-F5344CB8AC3E}">
        <p14:creationId xmlns:p14="http://schemas.microsoft.com/office/powerpoint/2010/main" val="13695452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wipe(left)">
                                      <p:cBhvr>
                                        <p:cTn id="7" dur="500"/>
                                        <p:tgtEl>
                                          <p:spTgt spid="952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5">
                                            <p:txEl>
                                              <p:pRg st="1" end="1"/>
                                            </p:txEl>
                                          </p:spTgt>
                                        </p:tgtEl>
                                        <p:attrNameLst>
                                          <p:attrName>style.visibility</p:attrName>
                                        </p:attrNameLst>
                                      </p:cBhvr>
                                      <p:to>
                                        <p:strVal val="visible"/>
                                      </p:to>
                                    </p:set>
                                    <p:animEffect transition="in" filter="wipe(left)">
                                      <p:cBhvr>
                                        <p:cTn id="12" dur="500"/>
                                        <p:tgtEl>
                                          <p:spTgt spid="952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992313" y="188913"/>
            <a:ext cx="8229600" cy="1371600"/>
          </a:xfrm>
        </p:spPr>
        <p:txBody>
          <a:bodyPr/>
          <a:lstStyle/>
          <a:p>
            <a:pPr algn="ctr" eaLnBrk="1" hangingPunct="1"/>
            <a:r>
              <a:rPr lang="zh-CN" altLang="en-US">
                <a:solidFill>
                  <a:srgbClr val="008000"/>
                </a:solidFill>
                <a:ea typeface="黑体" pitchFamily="2" charset="-122"/>
              </a:rPr>
              <a:t>层次分析法的实现步骤</a:t>
            </a:r>
          </a:p>
        </p:txBody>
      </p:sp>
      <p:sp>
        <p:nvSpPr>
          <p:cNvPr id="96259" name="Rectangle 3"/>
          <p:cNvSpPr>
            <a:spLocks noGrp="1" noChangeArrowheads="1"/>
          </p:cNvSpPr>
          <p:nvPr>
            <p:ph type="body" sz="half" idx="1"/>
          </p:nvPr>
        </p:nvSpPr>
        <p:spPr>
          <a:xfrm>
            <a:off x="983432" y="1412876"/>
            <a:ext cx="10585176" cy="5445125"/>
          </a:xfrm>
        </p:spPr>
        <p:txBody>
          <a:bodyPr/>
          <a:lstStyle/>
          <a:p>
            <a:pPr eaLnBrk="1" hangingPunct="1"/>
            <a:r>
              <a:rPr lang="zh-CN" altLang="en-US" sz="2800" dirty="0">
                <a:solidFill>
                  <a:srgbClr val="FF0000"/>
                </a:solidFill>
                <a:ea typeface="黑体" pitchFamily="2" charset="-122"/>
              </a:rPr>
              <a:t>第二步：构造判断矩阵</a:t>
            </a:r>
          </a:p>
          <a:p>
            <a:pPr lvl="1" eaLnBrk="1" hangingPunct="1"/>
            <a:r>
              <a:rPr lang="zh-CN" altLang="en-US" sz="2400" b="1" dirty="0">
                <a:ea typeface="楷体_GB2312" pitchFamily="49" charset="-122"/>
              </a:rPr>
              <a:t>对同一层次的因素关于上一层中某一因素的重要性进行</a:t>
            </a:r>
            <a:r>
              <a:rPr lang="zh-CN" altLang="en-US" sz="2400" b="1" dirty="0">
                <a:solidFill>
                  <a:srgbClr val="CC0099"/>
                </a:solidFill>
                <a:effectLst>
                  <a:outerShdw blurRad="38100" dist="38100" dir="2700000" algn="tl">
                    <a:srgbClr val="000000">
                      <a:alpha val="43137"/>
                    </a:srgbClr>
                  </a:outerShdw>
                </a:effectLst>
                <a:ea typeface="楷体_GB2312" pitchFamily="49" charset="-122"/>
              </a:rPr>
              <a:t>两两比较</a:t>
            </a:r>
            <a:r>
              <a:rPr lang="zh-CN" altLang="en-US" sz="2400" b="1" dirty="0">
                <a:solidFill>
                  <a:srgbClr val="CC0099"/>
                </a:solidFill>
                <a:ea typeface="楷体_GB2312" pitchFamily="49" charset="-122"/>
              </a:rPr>
              <a:t>，</a:t>
            </a:r>
            <a:r>
              <a:rPr lang="zh-CN" altLang="en-US" sz="2400" b="1" dirty="0">
                <a:ea typeface="楷体_GB2312" pitchFamily="49" charset="-122"/>
              </a:rPr>
              <a:t>构造</a:t>
            </a:r>
            <a:r>
              <a:rPr lang="zh-CN" altLang="en-US" sz="2400" b="1" dirty="0">
                <a:solidFill>
                  <a:srgbClr val="008000"/>
                </a:solidFill>
                <a:ea typeface="楷体_GB2312" pitchFamily="49" charset="-122"/>
              </a:rPr>
              <a:t>判断矩阵</a:t>
            </a:r>
            <a:r>
              <a:rPr lang="zh-CN" altLang="en-US" sz="2400" b="1" dirty="0">
                <a:ea typeface="楷体_GB2312" pitchFamily="49" charset="-122"/>
              </a:rPr>
              <a:t>。</a:t>
            </a:r>
            <a:r>
              <a:rPr lang="zh-CN" altLang="en-US" sz="2000" b="1" dirty="0">
                <a:ea typeface="楷体_GB2312" pitchFamily="49" charset="-122"/>
              </a:rPr>
              <a:t> </a:t>
            </a:r>
          </a:p>
          <a:p>
            <a:pPr eaLnBrk="1" hangingPunct="1"/>
            <a:r>
              <a:rPr lang="zh-CN" altLang="en-US" sz="2400" b="1" dirty="0">
                <a:solidFill>
                  <a:srgbClr val="0000FF"/>
                </a:solidFill>
                <a:ea typeface="楷体_GB2312" pitchFamily="49" charset="-122"/>
              </a:rPr>
              <a:t>如：某一层次的各因素</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t>
            </a:r>
            <a:r>
              <a:rPr lang="en-US" altLang="zh-CN" sz="2400" b="1" dirty="0" err="1">
                <a:solidFill>
                  <a:srgbClr val="0000FF"/>
                </a:solidFill>
                <a:ea typeface="楷体_GB2312" pitchFamily="49" charset="-122"/>
              </a:rPr>
              <a:t>B</a:t>
            </a:r>
            <a:r>
              <a:rPr lang="en-US" altLang="zh-CN" sz="2400" b="1" baseline="-25000" dirty="0" err="1">
                <a:solidFill>
                  <a:srgbClr val="0000FF"/>
                </a:solidFill>
                <a:ea typeface="楷体_GB2312" pitchFamily="49" charset="-122"/>
              </a:rPr>
              <a:t>n</a:t>
            </a:r>
            <a:r>
              <a:rPr lang="zh-CN" altLang="en-US" sz="2400" b="1" dirty="0">
                <a:solidFill>
                  <a:srgbClr val="0000FF"/>
                </a:solidFill>
                <a:ea typeface="楷体_GB2312" pitchFamily="49" charset="-122"/>
              </a:rPr>
              <a:t>对上一层中某一因素</a:t>
            </a:r>
            <a:r>
              <a:rPr lang="en-US" altLang="zh-CN" sz="2400" b="1" dirty="0">
                <a:solidFill>
                  <a:srgbClr val="0000FF"/>
                </a:solidFill>
                <a:ea typeface="楷体_GB2312" pitchFamily="49" charset="-122"/>
              </a:rPr>
              <a:t>A</a:t>
            </a:r>
            <a:r>
              <a:rPr lang="zh-CN" altLang="en-US" sz="2400" b="1" dirty="0">
                <a:solidFill>
                  <a:srgbClr val="0000FF"/>
                </a:solidFill>
                <a:ea typeface="楷体_GB2312" pitchFamily="49" charset="-122"/>
              </a:rPr>
              <a:t>的相对重要性，用</a:t>
            </a:r>
            <a:r>
              <a:rPr lang="zh-CN" altLang="en-US" sz="2400" b="1" dirty="0">
                <a:solidFill>
                  <a:srgbClr val="CC0099"/>
                </a:solidFill>
                <a:ea typeface="楷体_GB2312" pitchFamily="49" charset="-122"/>
              </a:rPr>
              <a:t>两两比较法</a:t>
            </a:r>
            <a:r>
              <a:rPr lang="zh-CN" altLang="en-US" sz="2400" b="1" dirty="0">
                <a:solidFill>
                  <a:srgbClr val="0000FF"/>
                </a:solidFill>
                <a:ea typeface="楷体_GB2312" pitchFamily="49" charset="-122"/>
              </a:rPr>
              <a:t>得到判断矩阵</a:t>
            </a:r>
            <a:r>
              <a:rPr lang="en-US" altLang="zh-CN" sz="2400" b="1" dirty="0">
                <a:solidFill>
                  <a:srgbClr val="0000FF"/>
                </a:solidFill>
                <a:ea typeface="楷体_GB2312" pitchFamily="49" charset="-122"/>
              </a:rPr>
              <a:t>A</a:t>
            </a:r>
          </a:p>
          <a:p>
            <a:pPr lvl="1" eaLnBrk="1" hangingPunct="1">
              <a:buFont typeface="Wingdings" pitchFamily="2" charset="2"/>
              <a:buNone/>
            </a:pPr>
            <a:r>
              <a:rPr lang="en-US" altLang="zh-CN" sz="2400" dirty="0"/>
              <a:t>          </a:t>
            </a:r>
            <a:r>
              <a:rPr lang="en-US" altLang="zh-CN" sz="2400" b="1" dirty="0">
                <a:solidFill>
                  <a:srgbClr val="FF0000"/>
                </a:solidFill>
                <a:ea typeface="楷体_GB2312" pitchFamily="49" charset="-122"/>
              </a:rPr>
              <a:t>A=(</a:t>
            </a:r>
            <a:r>
              <a:rPr lang="en-US" altLang="zh-CN" sz="2400" b="1" dirty="0" err="1">
                <a:solidFill>
                  <a:srgbClr val="FF0000"/>
                </a:solidFill>
                <a:ea typeface="楷体_GB2312" pitchFamily="49" charset="-122"/>
              </a:rPr>
              <a:t>a</a:t>
            </a:r>
            <a:r>
              <a:rPr lang="en-US" altLang="zh-CN" sz="2400" b="1" baseline="-25000" dirty="0" err="1">
                <a:solidFill>
                  <a:srgbClr val="FF0000"/>
                </a:solidFill>
                <a:ea typeface="楷体_GB2312" pitchFamily="49" charset="-122"/>
              </a:rPr>
              <a:t>ij</a:t>
            </a:r>
            <a:r>
              <a:rPr lang="en-US" altLang="zh-CN" sz="2400" b="1" dirty="0">
                <a:solidFill>
                  <a:srgbClr val="FF0000"/>
                </a:solidFill>
                <a:ea typeface="楷体_GB2312" pitchFamily="49" charset="-122"/>
              </a:rPr>
              <a:t>)</a:t>
            </a:r>
            <a:r>
              <a:rPr lang="en-US" altLang="zh-CN" sz="2400" b="1" baseline="-25000" dirty="0" err="1">
                <a:solidFill>
                  <a:srgbClr val="FF0000"/>
                </a:solidFill>
                <a:ea typeface="楷体_GB2312" pitchFamily="49" charset="-122"/>
              </a:rPr>
              <a:t>n×n</a:t>
            </a:r>
            <a:r>
              <a:rPr lang="en-US" altLang="zh-CN" sz="2400" b="1" dirty="0">
                <a:ea typeface="楷体_GB2312" pitchFamily="49" charset="-122"/>
              </a:rPr>
              <a:t>, </a:t>
            </a:r>
            <a:r>
              <a:rPr lang="zh-CN" altLang="en-US" sz="2400" b="1" dirty="0">
                <a:ea typeface="楷体_GB2312" pitchFamily="49" charset="-122"/>
              </a:rPr>
              <a:t>其中</a:t>
            </a:r>
            <a:r>
              <a:rPr lang="en-US" altLang="zh-CN" sz="2400" b="1" dirty="0" err="1">
                <a:ea typeface="楷体_GB2312" pitchFamily="49" charset="-122"/>
              </a:rPr>
              <a:t>a</a:t>
            </a:r>
            <a:r>
              <a:rPr lang="en-US" altLang="zh-CN" sz="2400" b="1" baseline="-25000" dirty="0" err="1">
                <a:ea typeface="楷体_GB2312" pitchFamily="49" charset="-122"/>
              </a:rPr>
              <a:t>ij</a:t>
            </a:r>
            <a:r>
              <a:rPr lang="zh-CN" altLang="en-US" sz="2400" b="1" dirty="0">
                <a:ea typeface="楷体_GB2312" pitchFamily="49" charset="-122"/>
              </a:rPr>
              <a:t>常取值如下表：</a:t>
            </a:r>
            <a:endParaRPr lang="zh-CN" altLang="en-US" sz="3600" b="1" dirty="0">
              <a:ea typeface="楷体_GB2312" pitchFamily="49" charset="-122"/>
            </a:endParaRPr>
          </a:p>
          <a:p>
            <a:pPr lvl="1" eaLnBrk="1" hangingPunct="1"/>
            <a:endParaRPr lang="zh-CN" altLang="en-US" sz="2400" dirty="0"/>
          </a:p>
          <a:p>
            <a:pPr lvl="1" eaLnBrk="1" hangingPunct="1"/>
            <a:endParaRPr lang="zh-CN" altLang="en-US" sz="2000" dirty="0"/>
          </a:p>
          <a:p>
            <a:pPr lvl="1" eaLnBrk="1" hangingPunct="1"/>
            <a:endParaRPr lang="zh-CN" altLang="en-US" sz="2000" dirty="0"/>
          </a:p>
          <a:p>
            <a:pPr lvl="1" eaLnBrk="1" hangingPunct="1"/>
            <a:r>
              <a:rPr lang="zh-CN" altLang="en-US" sz="2400" b="1" dirty="0">
                <a:ea typeface="楷体_GB2312" pitchFamily="49" charset="-122"/>
              </a:rPr>
              <a:t>在</a:t>
            </a:r>
            <a:r>
              <a:rPr lang="zh-CN" altLang="en-US" sz="2400" b="1" dirty="0">
                <a:solidFill>
                  <a:srgbClr val="CC0099"/>
                </a:solidFill>
                <a:ea typeface="楷体_GB2312" pitchFamily="49" charset="-122"/>
              </a:rPr>
              <a:t>绝对弱</a:t>
            </a:r>
            <a:r>
              <a:rPr lang="zh-CN" altLang="en-US" sz="2400" b="1" dirty="0">
                <a:ea typeface="楷体_GB2312" pitchFamily="49" charset="-122"/>
              </a:rPr>
              <a:t>到</a:t>
            </a:r>
            <a:r>
              <a:rPr lang="zh-CN" altLang="en-US" sz="2400" b="1" dirty="0">
                <a:solidFill>
                  <a:srgbClr val="CC0099"/>
                </a:solidFill>
                <a:ea typeface="楷体_GB2312" pitchFamily="49" charset="-122"/>
              </a:rPr>
              <a:t>绝对强</a:t>
            </a:r>
            <a:r>
              <a:rPr lang="zh-CN" altLang="en-US" sz="2400" b="1" dirty="0">
                <a:ea typeface="楷体_GB2312" pitchFamily="49" charset="-122"/>
              </a:rPr>
              <a:t>每两个等级间可依次用</a:t>
            </a:r>
            <a:r>
              <a:rPr lang="en-US" altLang="zh-CN" sz="2400" b="1" dirty="0">
                <a:ea typeface="楷体_GB2312" pitchFamily="49" charset="-122"/>
              </a:rPr>
              <a:t>2,4,6,8</a:t>
            </a:r>
            <a:r>
              <a:rPr lang="zh-CN" altLang="en-US" sz="2400" b="1" dirty="0">
                <a:ea typeface="楷体_GB2312" pitchFamily="49" charset="-122"/>
              </a:rPr>
              <a:t>将其量化</a:t>
            </a:r>
          </a:p>
          <a:p>
            <a:pPr lvl="2" eaLnBrk="1" hangingPunct="1"/>
            <a:r>
              <a:rPr lang="zh-CN" altLang="en-US" b="1" dirty="0">
                <a:ea typeface="楷体_GB2312" pitchFamily="49" charset="-122"/>
              </a:rPr>
              <a:t>即取</a:t>
            </a:r>
            <a:r>
              <a:rPr lang="en-US" altLang="zh-CN" b="1" dirty="0">
                <a:ea typeface="楷体_GB2312" pitchFamily="49" charset="-122"/>
              </a:rPr>
              <a:t>1,3,…,9</a:t>
            </a:r>
            <a:r>
              <a:rPr lang="zh-CN" altLang="en-US" b="1" dirty="0">
                <a:ea typeface="楷体_GB2312" pitchFamily="49" charset="-122"/>
              </a:rPr>
              <a:t>或其倒数，因此</a:t>
            </a:r>
            <a:r>
              <a:rPr lang="zh-CN" altLang="en-US" b="1" dirty="0">
                <a:solidFill>
                  <a:srgbClr val="008000"/>
                </a:solidFill>
                <a:ea typeface="楷体_GB2312" pitchFamily="49" charset="-122"/>
              </a:rPr>
              <a:t>判断矩阵</a:t>
            </a:r>
            <a:r>
              <a:rPr lang="zh-CN" altLang="en-US" b="1" dirty="0">
                <a:ea typeface="楷体_GB2312" pitchFamily="49" charset="-122"/>
              </a:rPr>
              <a:t>又称</a:t>
            </a:r>
            <a:r>
              <a:rPr lang="zh-CN" altLang="en-US" b="1" dirty="0">
                <a:solidFill>
                  <a:srgbClr val="008000"/>
                </a:solidFill>
                <a:effectLst>
                  <a:outerShdw blurRad="38100" dist="38100" dir="2700000" algn="tl">
                    <a:srgbClr val="000000">
                      <a:alpha val="43137"/>
                    </a:srgbClr>
                  </a:outerShdw>
                </a:effectLst>
                <a:ea typeface="楷体_GB2312" pitchFamily="49" charset="-122"/>
              </a:rPr>
              <a:t>正互反矩阵</a:t>
            </a:r>
            <a:r>
              <a:rPr lang="zh-CN" altLang="en-US" b="1" dirty="0">
                <a:ea typeface="楷体_GB2312" pitchFamily="49" charset="-122"/>
              </a:rPr>
              <a:t>，并且满足</a:t>
            </a:r>
          </a:p>
          <a:p>
            <a:pPr lvl="2" eaLnBrk="1" hangingPunct="1">
              <a:buFont typeface="Wingdings" pitchFamily="2" charset="2"/>
              <a:buNone/>
            </a:pPr>
            <a:r>
              <a:rPr lang="zh-CN" altLang="en-US" sz="2000" dirty="0"/>
              <a:t>        </a:t>
            </a:r>
            <a:r>
              <a:rPr lang="en-US" altLang="zh-CN" b="1" dirty="0" err="1">
                <a:solidFill>
                  <a:srgbClr val="FF0000"/>
                </a:solidFill>
                <a:latin typeface="Times New Roman" panose="02020603050405020304" pitchFamily="18" charset="0"/>
                <a:cs typeface="Times New Roman" panose="02020603050405020304" pitchFamily="18" charset="0"/>
              </a:rPr>
              <a:t>a</a:t>
            </a:r>
            <a:r>
              <a:rPr lang="en-US" altLang="zh-CN" b="1" baseline="-25000" dirty="0" err="1">
                <a:solidFill>
                  <a:srgbClr val="FF0000"/>
                </a:solidFill>
                <a:latin typeface="Times New Roman" panose="02020603050405020304" pitchFamily="18" charset="0"/>
                <a:cs typeface="Times New Roman" panose="02020603050405020304" pitchFamily="18" charset="0"/>
              </a:rPr>
              <a:t>ii</a:t>
            </a:r>
            <a:r>
              <a:rPr lang="en-US" altLang="zh-CN" b="1" dirty="0">
                <a:solidFill>
                  <a:srgbClr val="FF0000"/>
                </a:solidFill>
                <a:latin typeface="Times New Roman" panose="02020603050405020304" pitchFamily="18" charset="0"/>
                <a:cs typeface="Times New Roman" panose="02020603050405020304" pitchFamily="18" charset="0"/>
              </a:rPr>
              <a:t>=1,  </a:t>
            </a:r>
            <a:r>
              <a:rPr lang="en-US" altLang="zh-CN" b="1" dirty="0" err="1">
                <a:solidFill>
                  <a:srgbClr val="FF0000"/>
                </a:solidFill>
                <a:latin typeface="Times New Roman" panose="02020603050405020304" pitchFamily="18" charset="0"/>
                <a:cs typeface="Times New Roman" panose="02020603050405020304" pitchFamily="18" charset="0"/>
              </a:rPr>
              <a:t>a</a:t>
            </a:r>
            <a:r>
              <a:rPr lang="en-US" altLang="zh-CN" b="1" baseline="-25000" dirty="0" err="1">
                <a:solidFill>
                  <a:srgbClr val="FF0000"/>
                </a:solidFill>
                <a:latin typeface="Times New Roman" panose="02020603050405020304" pitchFamily="18" charset="0"/>
                <a:cs typeface="Times New Roman" panose="02020603050405020304" pitchFamily="18" charset="0"/>
              </a:rPr>
              <a:t>ij</a:t>
            </a:r>
            <a:r>
              <a:rPr lang="en-US" altLang="zh-CN" b="1" dirty="0">
                <a:solidFill>
                  <a:srgbClr val="FF0000"/>
                </a:solidFill>
                <a:latin typeface="Times New Roman" panose="02020603050405020304" pitchFamily="18" charset="0"/>
                <a:cs typeface="Times New Roman" panose="02020603050405020304" pitchFamily="18" charset="0"/>
              </a:rPr>
              <a:t>=1/ </a:t>
            </a:r>
            <a:r>
              <a:rPr lang="en-US" altLang="zh-CN" b="1" dirty="0" err="1">
                <a:solidFill>
                  <a:srgbClr val="FF0000"/>
                </a:solidFill>
                <a:latin typeface="Times New Roman" panose="02020603050405020304" pitchFamily="18" charset="0"/>
                <a:cs typeface="Times New Roman" panose="02020603050405020304" pitchFamily="18" charset="0"/>
              </a:rPr>
              <a:t>a</a:t>
            </a:r>
            <a:r>
              <a:rPr lang="en-US" altLang="zh-CN" b="1" baseline="-25000" dirty="0" err="1">
                <a:solidFill>
                  <a:srgbClr val="FF0000"/>
                </a:solidFill>
                <a:latin typeface="Times New Roman" panose="02020603050405020304" pitchFamily="18" charset="0"/>
                <a:cs typeface="Times New Roman" panose="02020603050405020304" pitchFamily="18" charset="0"/>
              </a:rPr>
              <a:t>ji</a:t>
            </a:r>
            <a:r>
              <a:rPr lang="en-US" altLang="zh-CN" b="1" dirty="0">
                <a:solidFill>
                  <a:srgbClr val="FF0000"/>
                </a:solidFill>
                <a:latin typeface="Times New Roman" panose="02020603050405020304" pitchFamily="18" charset="0"/>
                <a:cs typeface="Times New Roman" panose="02020603050405020304" pitchFamily="18" charset="0"/>
              </a:rPr>
              <a:t>           </a:t>
            </a:r>
            <a:r>
              <a:rPr lang="en-US" altLang="zh-CN" b="1" dirty="0" err="1"/>
              <a:t>i</a:t>
            </a:r>
            <a:r>
              <a:rPr lang="en-US" altLang="zh-CN" b="1" dirty="0"/>
              <a:t>, j=1,2,…,n</a:t>
            </a:r>
          </a:p>
        </p:txBody>
      </p:sp>
      <p:graphicFrame>
        <p:nvGraphicFramePr>
          <p:cNvPr id="96344" name="Group 88"/>
          <p:cNvGraphicFramePr>
            <a:graphicFrameLocks noGrp="1"/>
          </p:cNvGraphicFramePr>
          <p:nvPr>
            <p:ph sz="half" idx="2"/>
          </p:nvPr>
        </p:nvGraphicFramePr>
        <p:xfrm>
          <a:off x="2351089" y="4149725"/>
          <a:ext cx="7629525" cy="865188"/>
        </p:xfrm>
        <a:graphic>
          <a:graphicData uri="http://schemas.openxmlformats.org/drawingml/2006/table">
            <a:tbl>
              <a:tblPr/>
              <a:tblGrid>
                <a:gridCol w="863600">
                  <a:extLst>
                    <a:ext uri="{9D8B030D-6E8A-4147-A177-3AD203B41FA5}">
                      <a16:colId xmlns:a16="http://schemas.microsoft.com/office/drawing/2014/main" val="20000"/>
                    </a:ext>
                  </a:extLst>
                </a:gridCol>
                <a:gridCol w="936625">
                  <a:extLst>
                    <a:ext uri="{9D8B030D-6E8A-4147-A177-3AD203B41FA5}">
                      <a16:colId xmlns:a16="http://schemas.microsoft.com/office/drawing/2014/main" val="20001"/>
                    </a:ext>
                  </a:extLst>
                </a:gridCol>
                <a:gridCol w="649287">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gridCol w="719138">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557212">
                  <a:extLst>
                    <a:ext uri="{9D8B030D-6E8A-4147-A177-3AD203B41FA5}">
                      <a16:colId xmlns:a16="http://schemas.microsoft.com/office/drawing/2014/main" val="20007"/>
                    </a:ext>
                  </a:extLst>
                </a:gridCol>
                <a:gridCol w="822325">
                  <a:extLst>
                    <a:ext uri="{9D8B030D-6E8A-4147-A177-3AD203B41FA5}">
                      <a16:colId xmlns:a16="http://schemas.microsoft.com/office/drawing/2014/main" val="20008"/>
                    </a:ext>
                  </a:extLst>
                </a:gridCol>
                <a:gridCol w="909638">
                  <a:extLst>
                    <a:ext uri="{9D8B030D-6E8A-4147-A177-3AD203B41FA5}">
                      <a16:colId xmlns:a16="http://schemas.microsoft.com/office/drawing/2014/main" val="20009"/>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楷体_GB2312" pitchFamily="49" charset="-122"/>
                        </a:rPr>
                        <a:t>B</a:t>
                      </a:r>
                      <a:r>
                        <a:rPr kumimoji="0" lang="en-US" altLang="zh-CN" sz="1800" b="1" i="0" u="none" strike="noStrike" cap="none" normalizeH="0" baseline="-25000" dirty="0">
                          <a:ln>
                            <a:noFill/>
                          </a:ln>
                          <a:solidFill>
                            <a:schemeClr val="tx1"/>
                          </a:solidFill>
                          <a:effectLst/>
                          <a:latin typeface="Arial" charset="0"/>
                          <a:ea typeface="楷体_GB2312" pitchFamily="49" charset="-122"/>
                        </a:rPr>
                        <a:t>i</a:t>
                      </a:r>
                      <a:r>
                        <a:rPr kumimoji="0" lang="zh-CN" altLang="en-US" sz="1800" b="1" i="0" u="none" strike="noStrike" cap="none" normalizeH="0" baseline="0" dirty="0">
                          <a:ln>
                            <a:noFill/>
                          </a:ln>
                          <a:solidFill>
                            <a:schemeClr val="tx1"/>
                          </a:solidFill>
                          <a:effectLst/>
                          <a:latin typeface="Arial" charset="0"/>
                          <a:ea typeface="楷体_GB2312" pitchFamily="49" charset="-122"/>
                        </a:rPr>
                        <a:t>比</a:t>
                      </a:r>
                      <a:r>
                        <a:rPr kumimoji="0" lang="en-US" altLang="zh-CN" sz="1800" b="1" i="0" u="none" strike="noStrike" cap="none" normalizeH="0" baseline="0" dirty="0" err="1">
                          <a:ln>
                            <a:noFill/>
                          </a:ln>
                          <a:solidFill>
                            <a:schemeClr val="tx1"/>
                          </a:solidFill>
                          <a:effectLst/>
                          <a:latin typeface="Arial" charset="0"/>
                          <a:ea typeface="楷体_GB2312" pitchFamily="49" charset="-122"/>
                        </a:rPr>
                        <a:t>B</a:t>
                      </a:r>
                      <a:r>
                        <a:rPr kumimoji="0" lang="en-US" altLang="zh-CN" sz="1800" b="1" i="0" u="none" strike="noStrike" cap="none" normalizeH="0" baseline="-25000" dirty="0" err="1">
                          <a:ln>
                            <a:noFill/>
                          </a:ln>
                          <a:solidFill>
                            <a:schemeClr val="tx1"/>
                          </a:solidFill>
                          <a:effectLst/>
                          <a:latin typeface="Arial" charset="0"/>
                          <a:ea typeface="楷体_GB2312" pitchFamily="49" charset="-122"/>
                        </a:rPr>
                        <a:t>j</a:t>
                      </a:r>
                      <a:endParaRPr kumimoji="0" lang="en-US" altLang="zh-CN" sz="1800" b="1" i="0" u="none" strike="noStrike" cap="none" normalizeH="0" baseline="-25000" dirty="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FFA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楷体_GB2312" pitchFamily="49" charset="-122"/>
                        </a:rPr>
                        <a:t>绝对强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很强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FFA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楷体_GB2312" pitchFamily="49" charset="-122"/>
                        </a:rPr>
                        <a:t>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稍强</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FFA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楷体_GB2312" pitchFamily="49" charset="-122"/>
                        </a:rPr>
                        <a:t>相同</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楷体_GB2312" pitchFamily="49" charset="-122"/>
                        </a:rPr>
                        <a:t>稍弱</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FFA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楷体_GB2312" pitchFamily="49" charset="-122"/>
                        </a:rPr>
                        <a:t>弱</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楷体_GB2312" pitchFamily="49" charset="-122"/>
                        </a:rPr>
                        <a:t>很弱</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FFA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楷体_GB2312" pitchFamily="49" charset="-122"/>
                        </a:rPr>
                        <a:t>绝对弱</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FF"/>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chemeClr val="tx1"/>
                          </a:solidFill>
                          <a:effectLst/>
                          <a:latin typeface="Arial" charset="0"/>
                          <a:ea typeface="楷体_GB2312" pitchFamily="49" charset="-122"/>
                        </a:rPr>
                        <a:t>a</a:t>
                      </a:r>
                      <a:r>
                        <a:rPr kumimoji="0" lang="en-US" altLang="zh-CN" sz="2000" b="1" i="0" u="none" strike="noStrike" cap="none" normalizeH="0" baseline="-25000">
                          <a:ln>
                            <a:noFill/>
                          </a:ln>
                          <a:solidFill>
                            <a:schemeClr val="tx1"/>
                          </a:solidFill>
                          <a:effectLst/>
                          <a:latin typeface="Arial" charset="0"/>
                          <a:ea typeface="楷体_GB2312" pitchFamily="49" charset="-122"/>
                        </a:rPr>
                        <a:t>ij</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rgbClr val="CC0099"/>
                          </a:solidFill>
                          <a:effectLst/>
                          <a:latin typeface="Arial"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pitchFamily="2" charset="-122"/>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3" name="图片 2" descr="手机屏幕的截图&#10;&#10;描述已自动生成">
            <a:extLst>
              <a:ext uri="{FF2B5EF4-FFF2-40B4-BE49-F238E27FC236}">
                <a16:creationId xmlns:a16="http://schemas.microsoft.com/office/drawing/2014/main" id="{6EA38831-C660-4C06-AF49-D4F038F759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5251" y="3708099"/>
            <a:ext cx="7455661" cy="2567810"/>
          </a:xfrm>
          <a:prstGeom prst="rect">
            <a:avLst/>
          </a:prstGeom>
        </p:spPr>
      </p:pic>
      <p:sp>
        <p:nvSpPr>
          <p:cNvPr id="2" name="灯片编号占位符 1">
            <a:extLst>
              <a:ext uri="{FF2B5EF4-FFF2-40B4-BE49-F238E27FC236}">
                <a16:creationId xmlns:a16="http://schemas.microsoft.com/office/drawing/2014/main" id="{7F6CBABA-FE74-84EE-718A-EE71E83C8CEF}"/>
              </a:ext>
            </a:extLst>
          </p:cNvPr>
          <p:cNvSpPr>
            <a:spLocks noGrp="1"/>
          </p:cNvSpPr>
          <p:nvPr>
            <p:ph type="sldNum" sz="quarter" idx="11"/>
          </p:nvPr>
        </p:nvSpPr>
        <p:spPr/>
        <p:txBody>
          <a:bodyPr/>
          <a:lstStyle/>
          <a:p>
            <a:pPr>
              <a:defRPr/>
            </a:pPr>
            <a:fld id="{EF14D0C4-B0EC-4578-B6E4-F9BC91400248}" type="slidenum">
              <a:rPr lang="en-US" altLang="zh-CN" smtClean="0"/>
              <a:pPr>
                <a:defRPr/>
              </a:pPr>
              <a:t>7</a:t>
            </a:fld>
            <a:endParaRPr lang="en-US" altLang="zh-CN"/>
          </a:p>
        </p:txBody>
      </p:sp>
    </p:spTree>
    <p:extLst>
      <p:ext uri="{BB962C8B-B14F-4D97-AF65-F5344CB8AC3E}">
        <p14:creationId xmlns:p14="http://schemas.microsoft.com/office/powerpoint/2010/main" val="1824161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wipe(left)">
                                      <p:cBhvr>
                                        <p:cTn id="12" dur="500"/>
                                        <p:tgtEl>
                                          <p:spTgt spid="962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59">
                                            <p:txEl>
                                              <p:pRg st="2" end="2"/>
                                            </p:txEl>
                                          </p:spTgt>
                                        </p:tgtEl>
                                        <p:attrNameLst>
                                          <p:attrName>style.visibility</p:attrName>
                                        </p:attrNameLst>
                                      </p:cBhvr>
                                      <p:to>
                                        <p:strVal val="visible"/>
                                      </p:to>
                                    </p:set>
                                    <p:animEffect transition="in" filter="wipe(left)">
                                      <p:cBhvr>
                                        <p:cTn id="17" dur="500"/>
                                        <p:tgtEl>
                                          <p:spTgt spid="962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6259">
                                            <p:txEl>
                                              <p:pRg st="3" end="3"/>
                                            </p:txEl>
                                          </p:spTgt>
                                        </p:tgtEl>
                                        <p:attrNameLst>
                                          <p:attrName>style.visibility</p:attrName>
                                        </p:attrNameLst>
                                      </p:cBhvr>
                                      <p:to>
                                        <p:strVal val="visible"/>
                                      </p:to>
                                    </p:set>
                                    <p:animEffect transition="in" filter="wipe(left)">
                                      <p:cBhvr>
                                        <p:cTn id="27" dur="500"/>
                                        <p:tgtEl>
                                          <p:spTgt spid="9625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6344"/>
                                        </p:tgtEl>
                                        <p:attrNameLst>
                                          <p:attrName>style.visibility</p:attrName>
                                        </p:attrNameLst>
                                      </p:cBhvr>
                                      <p:to>
                                        <p:strVal val="visible"/>
                                      </p:to>
                                    </p:set>
                                    <p:animEffect transition="in" filter="wipe(up)">
                                      <p:cBhvr>
                                        <p:cTn id="32" dur="500"/>
                                        <p:tgtEl>
                                          <p:spTgt spid="963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6259">
                                            <p:txEl>
                                              <p:pRg st="7" end="7"/>
                                            </p:txEl>
                                          </p:spTgt>
                                        </p:tgtEl>
                                        <p:attrNameLst>
                                          <p:attrName>style.visibility</p:attrName>
                                        </p:attrNameLst>
                                      </p:cBhvr>
                                      <p:to>
                                        <p:strVal val="visible"/>
                                      </p:to>
                                    </p:set>
                                    <p:animEffect transition="in" filter="wipe(left)">
                                      <p:cBhvr>
                                        <p:cTn id="37" dur="500"/>
                                        <p:tgtEl>
                                          <p:spTgt spid="96259">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6259">
                                            <p:txEl>
                                              <p:pRg st="8" end="8"/>
                                            </p:txEl>
                                          </p:spTgt>
                                        </p:tgtEl>
                                        <p:attrNameLst>
                                          <p:attrName>style.visibility</p:attrName>
                                        </p:attrNameLst>
                                      </p:cBhvr>
                                      <p:to>
                                        <p:strVal val="visible"/>
                                      </p:to>
                                    </p:set>
                                    <p:animEffect transition="in" filter="wipe(left)">
                                      <p:cBhvr>
                                        <p:cTn id="42" dur="500"/>
                                        <p:tgtEl>
                                          <p:spTgt spid="96259">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6259">
                                            <p:txEl>
                                              <p:pRg st="9" end="9"/>
                                            </p:txEl>
                                          </p:spTgt>
                                        </p:tgtEl>
                                        <p:attrNameLst>
                                          <p:attrName>style.visibility</p:attrName>
                                        </p:attrNameLst>
                                      </p:cBhvr>
                                      <p:to>
                                        <p:strVal val="visible"/>
                                      </p:to>
                                    </p:set>
                                    <p:animEffect transition="in" filter="wipe(left)">
                                      <p:cBhvr>
                                        <p:cTn id="47" dur="500"/>
                                        <p:tgtEl>
                                          <p:spTgt spid="962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991544" y="188640"/>
            <a:ext cx="8229600" cy="1371600"/>
          </a:xfrm>
        </p:spPr>
        <p:txBody>
          <a:bodyPr/>
          <a:lstStyle/>
          <a:p>
            <a:pPr algn="ctr"/>
            <a:r>
              <a:rPr lang="zh-CN" altLang="en-US" dirty="0">
                <a:solidFill>
                  <a:srgbClr val="008000"/>
                </a:solidFill>
                <a:ea typeface="黑体" pitchFamily="2" charset="-122"/>
              </a:rPr>
              <a:t>第二步：构造判断矩阵</a:t>
            </a:r>
            <a:endParaRPr lang="zh-CN" altLang="en-US" dirty="0">
              <a:solidFill>
                <a:srgbClr val="008000"/>
              </a:solidFill>
            </a:endParaRPr>
          </a:p>
        </p:txBody>
      </p:sp>
      <p:sp>
        <p:nvSpPr>
          <p:cNvPr id="6" name="内容占位符 5"/>
          <p:cNvSpPr>
            <a:spLocks noGrp="1"/>
          </p:cNvSpPr>
          <p:nvPr>
            <p:ph idx="1"/>
          </p:nvPr>
        </p:nvSpPr>
        <p:spPr>
          <a:xfrm>
            <a:off x="911424" y="1268760"/>
            <a:ext cx="10369152" cy="792088"/>
          </a:xfrm>
        </p:spPr>
        <p:txBody>
          <a:bodyPr/>
          <a:lstStyle/>
          <a:p>
            <a:pPr marL="0" indent="0">
              <a:buNone/>
            </a:pPr>
            <a:r>
              <a:rPr lang="zh-CN" altLang="en-US" sz="2800" b="1" dirty="0"/>
              <a:t>如公司决定购买一幢房子，已初步确定候选房子</a:t>
            </a:r>
            <a:r>
              <a:rPr lang="en-US" altLang="zh-CN" sz="2800" b="1" dirty="0"/>
              <a:t>A</a:t>
            </a:r>
            <a:r>
              <a:rPr lang="zh-CN" altLang="en-US" sz="2800" b="1" dirty="0"/>
              <a:t>、</a:t>
            </a:r>
            <a:r>
              <a:rPr lang="en-US" altLang="zh-CN" sz="2800" b="1" dirty="0"/>
              <a:t>B</a:t>
            </a:r>
            <a:r>
              <a:rPr lang="zh-CN" altLang="en-US" sz="2800" b="1" dirty="0"/>
              <a:t>、</a:t>
            </a:r>
            <a:r>
              <a:rPr lang="en-US" altLang="zh-CN" sz="2800" b="1" dirty="0"/>
              <a:t>C, </a:t>
            </a:r>
            <a:r>
              <a:rPr lang="zh-CN" altLang="en-US" sz="2800" b="1" dirty="0"/>
              <a:t>问买哪一幢？</a:t>
            </a:r>
          </a:p>
        </p:txBody>
      </p:sp>
      <p:grpSp>
        <p:nvGrpSpPr>
          <p:cNvPr id="42" name="组合 41"/>
          <p:cNvGrpSpPr/>
          <p:nvPr/>
        </p:nvGrpSpPr>
        <p:grpSpPr>
          <a:xfrm>
            <a:off x="2741097" y="1772816"/>
            <a:ext cx="6824212" cy="2034044"/>
            <a:chOff x="1060156" y="2276872"/>
            <a:chExt cx="6824212" cy="2137145"/>
          </a:xfrm>
        </p:grpSpPr>
        <p:cxnSp>
          <p:nvCxnSpPr>
            <p:cNvPr id="25" name="直接连接符 24"/>
            <p:cNvCxnSpPr/>
            <p:nvPr/>
          </p:nvCxnSpPr>
          <p:spPr>
            <a:xfrm>
              <a:off x="2051720" y="2795835"/>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2915816" y="2780928"/>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876926" y="2780928"/>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891460" y="2780928"/>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833207" y="2795835"/>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765247" y="2780928"/>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709913" y="2780928"/>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240176" y="2795835"/>
              <a:ext cx="0" cy="1065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635896" y="2276872"/>
              <a:ext cx="1368152" cy="388053"/>
            </a:xfrm>
            <a:prstGeom prst="rect">
              <a:avLst/>
            </a:prstGeom>
            <a:solidFill>
              <a:srgbClr val="FFC000"/>
            </a:solidFill>
            <a:ln w="19050">
              <a:solidFill>
                <a:schemeClr val="tx1"/>
              </a:solidFill>
            </a:ln>
          </p:spPr>
          <p:txBody>
            <a:bodyPr wrap="square" rtlCol="0">
              <a:spAutoFit/>
            </a:bodyPr>
            <a:lstStyle/>
            <a:p>
              <a:pPr algn="ctr"/>
              <a:r>
                <a:rPr lang="zh-CN" altLang="en-US" b="1" dirty="0"/>
                <a:t>满意的房子</a:t>
              </a:r>
            </a:p>
          </p:txBody>
        </p:sp>
        <p:sp>
          <p:nvSpPr>
            <p:cNvPr id="8" name="TextBox 7"/>
            <p:cNvSpPr txBox="1"/>
            <p:nvPr/>
          </p:nvSpPr>
          <p:spPr>
            <a:xfrm>
              <a:off x="1060156" y="3025766"/>
              <a:ext cx="360040" cy="679092"/>
            </a:xfrm>
            <a:prstGeom prst="rect">
              <a:avLst/>
            </a:prstGeom>
            <a:solidFill>
              <a:srgbClr val="66FF66"/>
            </a:solidFill>
            <a:ln>
              <a:solidFill>
                <a:schemeClr val="tx1"/>
              </a:solidFill>
            </a:ln>
          </p:spPr>
          <p:txBody>
            <a:bodyPr wrap="square" rtlCol="0">
              <a:spAutoFit/>
            </a:bodyPr>
            <a:lstStyle/>
            <a:p>
              <a:r>
                <a:rPr lang="zh-CN" altLang="en-US" b="1" dirty="0"/>
                <a:t>面积</a:t>
              </a:r>
            </a:p>
          </p:txBody>
        </p:sp>
        <p:sp>
          <p:nvSpPr>
            <p:cNvPr id="9" name="TextBox 8"/>
            <p:cNvSpPr txBox="1"/>
            <p:nvPr/>
          </p:nvSpPr>
          <p:spPr>
            <a:xfrm>
              <a:off x="1871700" y="3025766"/>
              <a:ext cx="360040" cy="679092"/>
            </a:xfrm>
            <a:prstGeom prst="rect">
              <a:avLst/>
            </a:prstGeom>
            <a:solidFill>
              <a:srgbClr val="66FF66"/>
            </a:solidFill>
            <a:ln>
              <a:solidFill>
                <a:schemeClr val="tx1"/>
              </a:solidFill>
            </a:ln>
          </p:spPr>
          <p:txBody>
            <a:bodyPr wrap="square" rtlCol="0">
              <a:spAutoFit/>
            </a:bodyPr>
            <a:lstStyle/>
            <a:p>
              <a:r>
                <a:rPr lang="zh-CN" altLang="en-US" b="1" dirty="0"/>
                <a:t>交通</a:t>
              </a:r>
            </a:p>
          </p:txBody>
        </p:sp>
        <p:sp>
          <p:nvSpPr>
            <p:cNvPr id="10" name="TextBox 9"/>
            <p:cNvSpPr txBox="1"/>
            <p:nvPr/>
          </p:nvSpPr>
          <p:spPr>
            <a:xfrm>
              <a:off x="2735796" y="2996952"/>
              <a:ext cx="360040" cy="679092"/>
            </a:xfrm>
            <a:prstGeom prst="rect">
              <a:avLst/>
            </a:prstGeom>
            <a:solidFill>
              <a:srgbClr val="66FF66"/>
            </a:solidFill>
            <a:ln>
              <a:solidFill>
                <a:schemeClr val="tx1"/>
              </a:solidFill>
            </a:ln>
          </p:spPr>
          <p:txBody>
            <a:bodyPr wrap="square" rtlCol="0">
              <a:spAutoFit/>
            </a:bodyPr>
            <a:lstStyle/>
            <a:p>
              <a:r>
                <a:rPr lang="zh-CN" altLang="en-US" b="1" dirty="0"/>
                <a:t>环境</a:t>
              </a:r>
            </a:p>
          </p:txBody>
        </p:sp>
        <p:sp>
          <p:nvSpPr>
            <p:cNvPr id="11" name="TextBox 10"/>
            <p:cNvSpPr txBox="1"/>
            <p:nvPr/>
          </p:nvSpPr>
          <p:spPr>
            <a:xfrm>
              <a:off x="3694766" y="3007401"/>
              <a:ext cx="360040" cy="679092"/>
            </a:xfrm>
            <a:prstGeom prst="rect">
              <a:avLst/>
            </a:prstGeom>
            <a:solidFill>
              <a:srgbClr val="66FF66"/>
            </a:solidFill>
            <a:ln>
              <a:solidFill>
                <a:schemeClr val="tx1"/>
              </a:solidFill>
            </a:ln>
          </p:spPr>
          <p:txBody>
            <a:bodyPr wrap="square" rtlCol="0">
              <a:spAutoFit/>
            </a:bodyPr>
            <a:lstStyle/>
            <a:p>
              <a:r>
                <a:rPr lang="zh-CN" altLang="en-US" b="1" dirty="0"/>
                <a:t>房龄</a:t>
              </a:r>
            </a:p>
          </p:txBody>
        </p:sp>
        <p:sp>
          <p:nvSpPr>
            <p:cNvPr id="12" name="TextBox 11"/>
            <p:cNvSpPr txBox="1"/>
            <p:nvPr/>
          </p:nvSpPr>
          <p:spPr>
            <a:xfrm>
              <a:off x="4711440" y="3025766"/>
              <a:ext cx="360040" cy="679092"/>
            </a:xfrm>
            <a:prstGeom prst="rect">
              <a:avLst/>
            </a:prstGeom>
            <a:solidFill>
              <a:srgbClr val="66FF66"/>
            </a:solidFill>
            <a:ln>
              <a:solidFill>
                <a:schemeClr val="tx1"/>
              </a:solidFill>
            </a:ln>
          </p:spPr>
          <p:txBody>
            <a:bodyPr wrap="square" rtlCol="0">
              <a:spAutoFit/>
            </a:bodyPr>
            <a:lstStyle/>
            <a:p>
              <a:r>
                <a:rPr lang="zh-CN" altLang="en-US" b="1" dirty="0"/>
                <a:t>空地</a:t>
              </a:r>
            </a:p>
          </p:txBody>
        </p:sp>
        <p:sp>
          <p:nvSpPr>
            <p:cNvPr id="13" name="TextBox 12"/>
            <p:cNvSpPr txBox="1"/>
            <p:nvPr/>
          </p:nvSpPr>
          <p:spPr>
            <a:xfrm>
              <a:off x="5652120" y="3013305"/>
              <a:ext cx="360040" cy="679092"/>
            </a:xfrm>
            <a:prstGeom prst="rect">
              <a:avLst/>
            </a:prstGeom>
            <a:solidFill>
              <a:srgbClr val="66FF66"/>
            </a:solidFill>
            <a:ln>
              <a:solidFill>
                <a:schemeClr val="tx1"/>
              </a:solidFill>
            </a:ln>
          </p:spPr>
          <p:txBody>
            <a:bodyPr wrap="square" rtlCol="0">
              <a:spAutoFit/>
            </a:bodyPr>
            <a:lstStyle/>
            <a:p>
              <a:r>
                <a:rPr lang="zh-CN" altLang="en-US" b="1" dirty="0"/>
                <a:t>设备</a:t>
              </a:r>
            </a:p>
          </p:txBody>
        </p:sp>
        <p:sp>
          <p:nvSpPr>
            <p:cNvPr id="14" name="TextBox 13"/>
            <p:cNvSpPr txBox="1"/>
            <p:nvPr/>
          </p:nvSpPr>
          <p:spPr>
            <a:xfrm>
              <a:off x="6444208" y="3013305"/>
              <a:ext cx="648072" cy="679092"/>
            </a:xfrm>
            <a:prstGeom prst="rect">
              <a:avLst/>
            </a:prstGeom>
            <a:solidFill>
              <a:srgbClr val="66FF66"/>
            </a:solidFill>
            <a:ln>
              <a:solidFill>
                <a:schemeClr val="tx1"/>
              </a:solidFill>
            </a:ln>
          </p:spPr>
          <p:txBody>
            <a:bodyPr wrap="square" rtlCol="0">
              <a:spAutoFit/>
            </a:bodyPr>
            <a:lstStyle/>
            <a:p>
              <a:r>
                <a:rPr lang="zh-CN" altLang="en-US" b="1" dirty="0"/>
                <a:t>建筑结构</a:t>
              </a:r>
            </a:p>
          </p:txBody>
        </p:sp>
        <p:sp>
          <p:nvSpPr>
            <p:cNvPr id="15" name="TextBox 14"/>
            <p:cNvSpPr txBox="1"/>
            <p:nvPr/>
          </p:nvSpPr>
          <p:spPr>
            <a:xfrm>
              <a:off x="7524328" y="3007401"/>
              <a:ext cx="360040" cy="679092"/>
            </a:xfrm>
            <a:prstGeom prst="rect">
              <a:avLst/>
            </a:prstGeom>
            <a:solidFill>
              <a:srgbClr val="66FF66"/>
            </a:solidFill>
            <a:ln>
              <a:solidFill>
                <a:schemeClr val="tx1"/>
              </a:solidFill>
            </a:ln>
          </p:spPr>
          <p:txBody>
            <a:bodyPr wrap="square" rtlCol="0">
              <a:spAutoFit/>
            </a:bodyPr>
            <a:lstStyle/>
            <a:p>
              <a:r>
                <a:rPr lang="zh-CN" altLang="en-US" b="1" dirty="0"/>
                <a:t>价格</a:t>
              </a:r>
            </a:p>
          </p:txBody>
        </p:sp>
        <p:sp>
          <p:nvSpPr>
            <p:cNvPr id="16" name="TextBox 15"/>
            <p:cNvSpPr txBox="1"/>
            <p:nvPr/>
          </p:nvSpPr>
          <p:spPr>
            <a:xfrm>
              <a:off x="3873250" y="4025964"/>
              <a:ext cx="986673" cy="388053"/>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方案</a:t>
              </a:r>
              <a:r>
                <a:rPr lang="en-US" altLang="zh-CN" b="1" dirty="0"/>
                <a:t>B</a:t>
              </a:r>
              <a:endParaRPr lang="zh-CN" altLang="en-US" b="1" dirty="0"/>
            </a:p>
          </p:txBody>
        </p:sp>
        <p:sp>
          <p:nvSpPr>
            <p:cNvPr id="17" name="TextBox 16"/>
            <p:cNvSpPr txBox="1"/>
            <p:nvPr/>
          </p:nvSpPr>
          <p:spPr>
            <a:xfrm>
              <a:off x="2051720" y="4005064"/>
              <a:ext cx="986673" cy="388053"/>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方案</a:t>
              </a:r>
              <a:r>
                <a:rPr lang="en-US" altLang="zh-CN" b="1" dirty="0"/>
                <a:t>A</a:t>
              </a:r>
              <a:endParaRPr lang="zh-CN" altLang="en-US" b="1" dirty="0"/>
            </a:p>
          </p:txBody>
        </p:sp>
        <p:sp>
          <p:nvSpPr>
            <p:cNvPr id="18" name="TextBox 17"/>
            <p:cNvSpPr txBox="1"/>
            <p:nvPr/>
          </p:nvSpPr>
          <p:spPr>
            <a:xfrm>
              <a:off x="5803807" y="4025962"/>
              <a:ext cx="986673" cy="388053"/>
            </a:xfrm>
            <a:prstGeom prst="rect">
              <a:avLst/>
            </a:prstGeom>
            <a:solidFill>
              <a:schemeClr val="accent5">
                <a:lumMod val="90000"/>
              </a:schemeClr>
            </a:solidFill>
            <a:ln w="19050">
              <a:solidFill>
                <a:schemeClr val="tx1"/>
              </a:solidFill>
            </a:ln>
          </p:spPr>
          <p:txBody>
            <a:bodyPr wrap="square" rtlCol="0">
              <a:spAutoFit/>
            </a:bodyPr>
            <a:lstStyle/>
            <a:p>
              <a:pPr algn="ctr"/>
              <a:r>
                <a:rPr lang="zh-CN" altLang="en-US" b="1" dirty="0"/>
                <a:t>方案</a:t>
              </a:r>
              <a:r>
                <a:rPr lang="en-US" altLang="zh-CN" b="1" dirty="0"/>
                <a:t>C</a:t>
              </a:r>
              <a:endParaRPr lang="zh-CN" altLang="en-US" b="1" dirty="0"/>
            </a:p>
          </p:txBody>
        </p:sp>
        <p:cxnSp>
          <p:nvCxnSpPr>
            <p:cNvPr id="19" name="直接连接符 18"/>
            <p:cNvCxnSpPr/>
            <p:nvPr/>
          </p:nvCxnSpPr>
          <p:spPr>
            <a:xfrm>
              <a:off x="4319972" y="2646204"/>
              <a:ext cx="0" cy="1495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1253917" y="2795743"/>
              <a:ext cx="6464172" cy="14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1231769" y="3874993"/>
              <a:ext cx="6464172" cy="14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537895" y="3876423"/>
              <a:ext cx="0" cy="1495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366587" y="3879284"/>
              <a:ext cx="0" cy="1495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6275060" y="3893761"/>
              <a:ext cx="0" cy="1495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43" name="表格 42"/>
          <p:cNvGraphicFramePr>
            <a:graphicFrameLocks noGrp="1"/>
          </p:cNvGraphicFramePr>
          <p:nvPr/>
        </p:nvGraphicFramePr>
        <p:xfrm>
          <a:off x="2999530" y="3356992"/>
          <a:ext cx="6095997" cy="3423920"/>
        </p:xfrm>
        <a:graphic>
          <a:graphicData uri="http://schemas.openxmlformats.org/drawingml/2006/table">
            <a:tbl>
              <a:tblPr firstRow="1" bandRow="1">
                <a:tableStyleId>{2D5ABB26-0587-4C30-8999-92F81FD0307C}</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677333">
                  <a:extLst>
                    <a:ext uri="{9D8B030D-6E8A-4147-A177-3AD203B41FA5}">
                      <a16:colId xmlns:a16="http://schemas.microsoft.com/office/drawing/2014/main" val="20002"/>
                    </a:ext>
                  </a:extLst>
                </a:gridCol>
                <a:gridCol w="677333">
                  <a:extLst>
                    <a:ext uri="{9D8B030D-6E8A-4147-A177-3AD203B41FA5}">
                      <a16:colId xmlns:a16="http://schemas.microsoft.com/office/drawing/2014/main" val="20003"/>
                    </a:ext>
                  </a:extLst>
                </a:gridCol>
                <a:gridCol w="677333">
                  <a:extLst>
                    <a:ext uri="{9D8B030D-6E8A-4147-A177-3AD203B41FA5}">
                      <a16:colId xmlns:a16="http://schemas.microsoft.com/office/drawing/2014/main" val="20004"/>
                    </a:ext>
                  </a:extLst>
                </a:gridCol>
                <a:gridCol w="677333">
                  <a:extLst>
                    <a:ext uri="{9D8B030D-6E8A-4147-A177-3AD203B41FA5}">
                      <a16:colId xmlns:a16="http://schemas.microsoft.com/office/drawing/2014/main" val="20005"/>
                    </a:ext>
                  </a:extLst>
                </a:gridCol>
                <a:gridCol w="677333">
                  <a:extLst>
                    <a:ext uri="{9D8B030D-6E8A-4147-A177-3AD203B41FA5}">
                      <a16:colId xmlns:a16="http://schemas.microsoft.com/office/drawing/2014/main" val="20006"/>
                    </a:ext>
                  </a:extLst>
                </a:gridCol>
                <a:gridCol w="677333">
                  <a:extLst>
                    <a:ext uri="{9D8B030D-6E8A-4147-A177-3AD203B41FA5}">
                      <a16:colId xmlns:a16="http://schemas.microsoft.com/office/drawing/2014/main" val="20007"/>
                    </a:ext>
                  </a:extLst>
                </a:gridCol>
                <a:gridCol w="677333">
                  <a:extLst>
                    <a:ext uri="{9D8B030D-6E8A-4147-A177-3AD203B41FA5}">
                      <a16:colId xmlns:a16="http://schemas.microsoft.com/office/drawing/2014/main" val="20008"/>
                    </a:ext>
                  </a:extLst>
                </a:gridCol>
              </a:tblGrid>
              <a:tr h="370840">
                <a:tc>
                  <a:txBody>
                    <a:bodyPr/>
                    <a:lstStyle/>
                    <a:p>
                      <a:pPr algn="ctr"/>
                      <a:r>
                        <a:rPr lang="zh-CN" altLang="en-US" sz="1200" b="1" dirty="0">
                          <a:solidFill>
                            <a:schemeClr val="tx1"/>
                          </a:solidFill>
                        </a:rPr>
                        <a:t>满意的房子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zh-CN" altLang="en-US" b="1" dirty="0"/>
                        <a:t>面积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交通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环境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房龄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空地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设备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结构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zh-CN" altLang="en-US" b="1" dirty="0"/>
                        <a:t>价格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extLst>
                  <a:ext uri="{0D108BD9-81ED-4DB2-BD59-A6C34878D82A}">
                    <a16:rowId xmlns:a16="http://schemas.microsoft.com/office/drawing/2014/main" val="10000"/>
                  </a:ext>
                </a:extLst>
              </a:tr>
              <a:tr h="370840">
                <a:tc>
                  <a:txBody>
                    <a:bodyPr/>
                    <a:lstStyle/>
                    <a:p>
                      <a:pPr algn="ctr"/>
                      <a:r>
                        <a:rPr lang="zh-CN" altLang="en-US" b="1" dirty="0"/>
                        <a:t>面积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zh-CN" altLang="en-US" b="1" dirty="0"/>
                        <a:t>交通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zh-CN" altLang="en-US" b="1" dirty="0"/>
                        <a:t>环境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zh-CN" altLang="en-US" b="1" dirty="0"/>
                        <a:t>房龄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1/7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¼</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zh-CN" altLang="en-US" b="1" dirty="0"/>
                        <a:t>空地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1/6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zh-CN" altLang="en-US" b="1" dirty="0"/>
                        <a:t>设备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1/6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¼</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zh-CN" altLang="en-US" b="1" dirty="0"/>
                        <a:t>结构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½</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zh-CN" altLang="en-US" b="1" dirty="0"/>
                        <a:t>价格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66"/>
                    </a:solidFill>
                  </a:tcPr>
                </a:tc>
                <a:tc>
                  <a:txBody>
                    <a:bodyPr/>
                    <a:lstStyle/>
                    <a:p>
                      <a:pPr algn="ctr"/>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4" name="矩形 43"/>
          <p:cNvSpPr/>
          <p:nvPr/>
        </p:nvSpPr>
        <p:spPr>
          <a:xfrm>
            <a:off x="9205269" y="5445224"/>
            <a:ext cx="1346844" cy="369332"/>
          </a:xfrm>
          <a:prstGeom prst="rect">
            <a:avLst/>
          </a:prstGeom>
        </p:spPr>
        <p:txBody>
          <a:bodyPr wrap="none">
            <a:spAutoFit/>
          </a:bodyPr>
          <a:lstStyle/>
          <a:p>
            <a:r>
              <a:rPr lang="zh-CN" altLang="en-US" b="1" dirty="0">
                <a:solidFill>
                  <a:srgbClr val="CC00CC"/>
                </a:solidFill>
                <a:effectLst>
                  <a:outerShdw blurRad="38100" dist="38100" dir="2700000" algn="tl">
                    <a:srgbClr val="000000">
                      <a:alpha val="43137"/>
                    </a:srgbClr>
                  </a:outerShdw>
                </a:effectLst>
                <a:ea typeface="楷体_GB2312" pitchFamily="49" charset="-122"/>
              </a:rPr>
              <a:t>正互反矩阵</a:t>
            </a:r>
            <a:endParaRPr lang="zh-CN" altLang="en-US" dirty="0">
              <a:solidFill>
                <a:srgbClr val="CC00CC"/>
              </a:solidFill>
              <a:effectLst>
                <a:outerShdw blurRad="38100" dist="38100" dir="2700000" algn="tl">
                  <a:srgbClr val="000000">
                    <a:alpha val="43137"/>
                  </a:srgbClr>
                </a:outerShdw>
              </a:effectLst>
            </a:endParaRPr>
          </a:p>
        </p:txBody>
      </p:sp>
      <p:sp>
        <p:nvSpPr>
          <p:cNvPr id="2" name="灯片编号占位符 1">
            <a:extLst>
              <a:ext uri="{FF2B5EF4-FFF2-40B4-BE49-F238E27FC236}">
                <a16:creationId xmlns:a16="http://schemas.microsoft.com/office/drawing/2014/main" id="{5248E4AB-68DA-FDE7-54C7-47D430DE9645}"/>
              </a:ext>
            </a:extLst>
          </p:cNvPr>
          <p:cNvSpPr>
            <a:spLocks noGrp="1"/>
          </p:cNvSpPr>
          <p:nvPr>
            <p:ph type="sldNum" sz="quarter" idx="11"/>
          </p:nvPr>
        </p:nvSpPr>
        <p:spPr/>
        <p:txBody>
          <a:bodyPr/>
          <a:lstStyle/>
          <a:p>
            <a:pPr>
              <a:defRPr/>
            </a:pPr>
            <a:fld id="{1A3A146F-9300-4B06-8947-0E9C0D98352F}" type="slidenum">
              <a:rPr lang="en-US" altLang="zh-CN" smtClean="0"/>
              <a:pPr>
                <a:defRPr/>
              </a:pPr>
              <a:t>8</a:t>
            </a:fld>
            <a:endParaRPr lang="en-US" altLang="zh-CN"/>
          </a:p>
        </p:txBody>
      </p:sp>
    </p:spTree>
    <p:extLst>
      <p:ext uri="{BB962C8B-B14F-4D97-AF65-F5344CB8AC3E}">
        <p14:creationId xmlns:p14="http://schemas.microsoft.com/office/powerpoint/2010/main" val="24701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wipe(up)">
                                      <p:cBhvr>
                                        <p:cTn id="12" dur="500"/>
                                        <p:tgtEl>
                                          <p:spTgt spid="4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1000"/>
                                        <p:tgtEl>
                                          <p:spTgt spid="43"/>
                                        </p:tgtEl>
                                      </p:cBhvr>
                                    </p:animEffect>
                                    <p:anim calcmode="lin" valueType="num">
                                      <p:cBhvr>
                                        <p:cTn id="18" dur="1000" fill="hold"/>
                                        <p:tgtEl>
                                          <p:spTgt spid="43"/>
                                        </p:tgtEl>
                                        <p:attrNameLst>
                                          <p:attrName>ppt_x</p:attrName>
                                        </p:attrNameLst>
                                      </p:cBhvr>
                                      <p:tavLst>
                                        <p:tav tm="0">
                                          <p:val>
                                            <p:strVal val="#ppt_x"/>
                                          </p:val>
                                        </p:tav>
                                        <p:tav tm="100000">
                                          <p:val>
                                            <p:strVal val="#ppt_x"/>
                                          </p:val>
                                        </p:tav>
                                      </p:tavLst>
                                    </p:anim>
                                    <p:anim calcmode="lin" valueType="num">
                                      <p:cBhvr>
                                        <p:cTn id="1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44"/>
                                        </p:tgtEl>
                                        <p:attrNameLst>
                                          <p:attrName>style.visibility</p:attrName>
                                        </p:attrNameLst>
                                      </p:cBhvr>
                                      <p:to>
                                        <p:strVal val="visible"/>
                                      </p:to>
                                    </p:set>
                                    <p:anim calcmode="lin" valueType="num">
                                      <p:cBhvr additive="base">
                                        <p:cTn id="24" dur="500" fill="hold"/>
                                        <p:tgtEl>
                                          <p:spTgt spid="44"/>
                                        </p:tgtEl>
                                        <p:attrNameLst>
                                          <p:attrName>ppt_x</p:attrName>
                                        </p:attrNameLst>
                                      </p:cBhvr>
                                      <p:tavLst>
                                        <p:tav tm="0">
                                          <p:val>
                                            <p:strVal val="#ppt_x"/>
                                          </p:val>
                                        </p:tav>
                                        <p:tav tm="100000">
                                          <p:val>
                                            <p:strVal val="#ppt_x"/>
                                          </p:val>
                                        </p:tav>
                                      </p:tavLst>
                                    </p:anim>
                                    <p:anim calcmode="lin" valueType="num">
                                      <p:cBhvr additive="base">
                                        <p:cTn id="25"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992313" y="116632"/>
            <a:ext cx="8229600" cy="1371600"/>
          </a:xfrm>
        </p:spPr>
        <p:txBody>
          <a:bodyPr/>
          <a:lstStyle/>
          <a:p>
            <a:pPr algn="ctr" eaLnBrk="1" hangingPunct="1"/>
            <a:r>
              <a:rPr lang="zh-CN" altLang="en-US" dirty="0">
                <a:solidFill>
                  <a:srgbClr val="008000"/>
                </a:solidFill>
                <a:ea typeface="黑体" pitchFamily="2" charset="-122"/>
              </a:rPr>
              <a:t>层次分析法的实现步骤</a:t>
            </a:r>
          </a:p>
        </p:txBody>
      </p:sp>
      <p:sp>
        <p:nvSpPr>
          <p:cNvPr id="99331" name="Rectangle 3"/>
          <p:cNvSpPr>
            <a:spLocks noGrp="1" noChangeArrowheads="1"/>
          </p:cNvSpPr>
          <p:nvPr>
            <p:ph type="body" idx="1"/>
          </p:nvPr>
        </p:nvSpPr>
        <p:spPr>
          <a:xfrm>
            <a:off x="767408" y="1340768"/>
            <a:ext cx="10801200" cy="5256882"/>
          </a:xfrm>
        </p:spPr>
        <p:txBody>
          <a:bodyPr/>
          <a:lstStyle/>
          <a:p>
            <a:pPr eaLnBrk="1" hangingPunct="1"/>
            <a:r>
              <a:rPr lang="zh-CN" altLang="en-US" dirty="0">
                <a:solidFill>
                  <a:srgbClr val="FF0000"/>
                </a:solidFill>
                <a:ea typeface="黑体" pitchFamily="2" charset="-122"/>
              </a:rPr>
              <a:t>第三步：</a:t>
            </a:r>
            <a:r>
              <a:rPr lang="zh-CN" altLang="en-US" u="sng" dirty="0">
                <a:solidFill>
                  <a:srgbClr val="FF0000"/>
                </a:solidFill>
                <a:ea typeface="黑体" pitchFamily="2" charset="-122"/>
              </a:rPr>
              <a:t>层次单排序</a:t>
            </a:r>
            <a:r>
              <a:rPr lang="zh-CN" altLang="en-US" dirty="0">
                <a:solidFill>
                  <a:srgbClr val="FF0000"/>
                </a:solidFill>
                <a:ea typeface="黑体" pitchFamily="2" charset="-122"/>
              </a:rPr>
              <a:t>及其一致性检验</a:t>
            </a:r>
          </a:p>
          <a:p>
            <a:pPr lvl="1" eaLnBrk="1" hangingPunct="1"/>
            <a:r>
              <a:rPr lang="zh-CN" altLang="en-US" dirty="0">
                <a:solidFill>
                  <a:srgbClr val="0000FF"/>
                </a:solidFill>
                <a:ea typeface="黑体" pitchFamily="2" charset="-122"/>
              </a:rPr>
              <a:t>层次单排序</a:t>
            </a:r>
            <a:r>
              <a:rPr lang="en-US" altLang="zh-CN" dirty="0">
                <a:ea typeface="黑体" pitchFamily="2" charset="-122"/>
              </a:rPr>
              <a:t>——</a:t>
            </a:r>
            <a:r>
              <a:rPr lang="zh-CN" altLang="en-US" b="1" dirty="0">
                <a:latin typeface="楷体" pitchFamily="49" charset="-122"/>
                <a:ea typeface="楷体" pitchFamily="49" charset="-122"/>
              </a:rPr>
              <a:t>根据</a:t>
            </a:r>
            <a:r>
              <a:rPr lang="zh-CN" altLang="en-US" b="1" u="sng" dirty="0">
                <a:latin typeface="楷体" pitchFamily="49" charset="-122"/>
                <a:ea typeface="楷体" pitchFamily="49" charset="-122"/>
              </a:rPr>
              <a:t>判断矩阵</a:t>
            </a:r>
            <a:r>
              <a:rPr lang="zh-CN" altLang="en-US" b="1" dirty="0">
                <a:latin typeface="楷体" pitchFamily="49" charset="-122"/>
                <a:ea typeface="楷体" pitchFamily="49" charset="-122"/>
              </a:rPr>
              <a:t>如何求出各因素对于</a:t>
            </a:r>
            <a:r>
              <a:rPr lang="zh-CN" altLang="en-US" b="1" u="sng" dirty="0">
                <a:latin typeface="楷体" pitchFamily="49" charset="-122"/>
                <a:ea typeface="楷体" pitchFamily="49" charset="-122"/>
              </a:rPr>
              <a:t>准则</a:t>
            </a:r>
            <a:r>
              <a:rPr lang="en-US" altLang="zh-CN" b="1" u="sng" dirty="0">
                <a:latin typeface="+mj-lt"/>
                <a:ea typeface="楷体" pitchFamily="49" charset="-122"/>
              </a:rPr>
              <a:t>C</a:t>
            </a:r>
            <a:r>
              <a:rPr lang="zh-CN" altLang="en-US" b="1" dirty="0">
                <a:latin typeface="楷体" pitchFamily="49" charset="-122"/>
                <a:ea typeface="楷体" pitchFamily="49" charset="-122"/>
              </a:rPr>
              <a:t>的相对排序过程。</a:t>
            </a:r>
            <a:endParaRPr lang="en-US" altLang="zh-CN" b="1" dirty="0">
              <a:latin typeface="楷体" pitchFamily="49" charset="-122"/>
              <a:ea typeface="楷体" pitchFamily="49" charset="-122"/>
            </a:endParaRPr>
          </a:p>
          <a:p>
            <a:pPr lvl="1" eaLnBrk="1" hangingPunct="1"/>
            <a:r>
              <a:rPr lang="zh-CN" altLang="en-US" u="sng" dirty="0">
                <a:solidFill>
                  <a:srgbClr val="0000FF"/>
                </a:solidFill>
                <a:ea typeface="黑体" pitchFamily="2" charset="-122"/>
              </a:rPr>
              <a:t>层次单排序</a:t>
            </a:r>
            <a:r>
              <a:rPr lang="zh-CN" altLang="en-US" dirty="0">
                <a:solidFill>
                  <a:srgbClr val="0000FF"/>
                </a:solidFill>
                <a:ea typeface="黑体" pitchFamily="2" charset="-122"/>
              </a:rPr>
              <a:t>的求解</a:t>
            </a:r>
            <a:r>
              <a:rPr lang="en-US" altLang="zh-CN" dirty="0">
                <a:solidFill>
                  <a:srgbClr val="0000FF"/>
                </a:solidFill>
                <a:ea typeface="黑体" pitchFamily="2" charset="-122"/>
              </a:rPr>
              <a:t>——</a:t>
            </a:r>
            <a:r>
              <a:rPr lang="zh-CN" altLang="en-US" dirty="0">
                <a:solidFill>
                  <a:srgbClr val="0000FF"/>
                </a:solidFill>
                <a:ea typeface="黑体" pitchFamily="2" charset="-122"/>
              </a:rPr>
              <a:t>特征根法</a:t>
            </a:r>
          </a:p>
          <a:p>
            <a:pPr lvl="2" eaLnBrk="1" hangingPunct="1"/>
            <a:r>
              <a:rPr lang="zh-CN" altLang="en-US" b="1" dirty="0">
                <a:ea typeface="楷体_GB2312" pitchFamily="49" charset="-122"/>
              </a:rPr>
              <a:t>求判断矩阵</a:t>
            </a:r>
            <a:r>
              <a:rPr lang="en-US" altLang="zh-CN" b="1" dirty="0">
                <a:ea typeface="楷体_GB2312" pitchFamily="49" charset="-122"/>
              </a:rPr>
              <a:t>A</a:t>
            </a:r>
            <a:r>
              <a:rPr lang="zh-CN" altLang="en-US" b="1" dirty="0">
                <a:ea typeface="楷体_GB2312" pitchFamily="49" charset="-122"/>
              </a:rPr>
              <a:t>的最大</a:t>
            </a:r>
            <a:r>
              <a:rPr lang="en-US" altLang="zh-CN" b="1" dirty="0">
                <a:ea typeface="楷体_GB2312" pitchFamily="49" charset="-122"/>
              </a:rPr>
              <a:t>(</a:t>
            </a:r>
            <a:r>
              <a:rPr lang="zh-CN" altLang="en-US" b="1" dirty="0">
                <a:ea typeface="楷体_GB2312" pitchFamily="49" charset="-122"/>
              </a:rPr>
              <a:t>绝对值</a:t>
            </a:r>
            <a:r>
              <a:rPr lang="en-US" altLang="zh-CN" b="1" dirty="0">
                <a:ea typeface="楷体_GB2312" pitchFamily="49" charset="-122"/>
              </a:rPr>
              <a:t>)</a:t>
            </a:r>
            <a:r>
              <a:rPr lang="zh-CN" altLang="en-US" b="1" dirty="0">
                <a:ea typeface="楷体_GB2312" pitchFamily="49" charset="-122"/>
              </a:rPr>
              <a:t>特征值</a:t>
            </a:r>
            <a:r>
              <a:rPr lang="el-GR" altLang="zh-CN" b="1" dirty="0">
                <a:ea typeface="楷体_GB2312" pitchFamily="49" charset="-122"/>
              </a:rPr>
              <a:t>λ</a:t>
            </a:r>
            <a:r>
              <a:rPr lang="en-US" altLang="zh-CN" b="1" baseline="-25000" dirty="0">
                <a:ea typeface="楷体_GB2312" pitchFamily="49" charset="-122"/>
              </a:rPr>
              <a:t>max</a:t>
            </a:r>
          </a:p>
          <a:p>
            <a:pPr lvl="2" eaLnBrk="1" hangingPunct="1"/>
            <a:r>
              <a:rPr lang="zh-CN" altLang="en-US" b="1" dirty="0">
                <a:ea typeface="楷体_GB2312" pitchFamily="49" charset="-122"/>
              </a:rPr>
              <a:t>解出相应特征方程 </a:t>
            </a:r>
            <a:r>
              <a:rPr lang="en-US" altLang="zh-CN" b="1" dirty="0">
                <a:solidFill>
                  <a:srgbClr val="FF0000"/>
                </a:solidFill>
                <a:ea typeface="楷体_GB2312" pitchFamily="49" charset="-122"/>
              </a:rPr>
              <a:t>A</a:t>
            </a:r>
            <a:r>
              <a:rPr lang="en-US" altLang="zh-CN" b="1" dirty="0">
                <a:solidFill>
                  <a:srgbClr val="CC00CC"/>
                </a:solidFill>
                <a:ea typeface="楷体_GB2312" pitchFamily="49" charset="-122"/>
              </a:rPr>
              <a:t>W</a:t>
            </a:r>
            <a:r>
              <a:rPr lang="en-US" altLang="zh-CN" b="1" dirty="0">
                <a:solidFill>
                  <a:srgbClr val="FF0000"/>
                </a:solidFill>
                <a:ea typeface="楷体_GB2312" pitchFamily="49" charset="-122"/>
              </a:rPr>
              <a:t>=</a:t>
            </a:r>
            <a:r>
              <a:rPr lang="el-GR" altLang="zh-CN" b="1" dirty="0">
                <a:solidFill>
                  <a:srgbClr val="008000"/>
                </a:solidFill>
                <a:ea typeface="楷体_GB2312" pitchFamily="49" charset="-122"/>
              </a:rPr>
              <a:t>λ</a:t>
            </a:r>
            <a:r>
              <a:rPr lang="en-US" altLang="zh-CN" b="1" baseline="-25000" dirty="0" err="1">
                <a:solidFill>
                  <a:srgbClr val="008000"/>
                </a:solidFill>
                <a:ea typeface="楷体_GB2312" pitchFamily="49" charset="-122"/>
              </a:rPr>
              <a:t>max</a:t>
            </a:r>
            <a:r>
              <a:rPr lang="en-US" altLang="zh-CN" b="1" dirty="0" err="1">
                <a:solidFill>
                  <a:srgbClr val="CC00CC"/>
                </a:solidFill>
                <a:ea typeface="楷体_GB2312" pitchFamily="49" charset="-122"/>
              </a:rPr>
              <a:t>W</a:t>
            </a:r>
            <a:r>
              <a:rPr lang="en-US" altLang="zh-CN" b="1" dirty="0">
                <a:solidFill>
                  <a:srgbClr val="FF0000"/>
                </a:solidFill>
                <a:ea typeface="楷体_GB2312" pitchFamily="49" charset="-122"/>
              </a:rPr>
              <a:t> </a:t>
            </a:r>
            <a:r>
              <a:rPr lang="zh-CN" altLang="en-US" b="1" dirty="0">
                <a:ea typeface="楷体_GB2312" pitchFamily="49" charset="-122"/>
              </a:rPr>
              <a:t>的</a:t>
            </a:r>
            <a:r>
              <a:rPr lang="zh-CN" altLang="en-US" b="1" u="sng" dirty="0">
                <a:solidFill>
                  <a:srgbClr val="CC00CC"/>
                </a:solidFill>
                <a:ea typeface="楷体_GB2312" pitchFamily="49" charset="-122"/>
              </a:rPr>
              <a:t>特征向量</a:t>
            </a:r>
            <a:r>
              <a:rPr lang="en-US" altLang="zh-CN" b="1" u="sng" dirty="0">
                <a:solidFill>
                  <a:srgbClr val="CC00CC"/>
                </a:solidFill>
                <a:ea typeface="楷体_GB2312" pitchFamily="49" charset="-122"/>
              </a:rPr>
              <a:t>W</a:t>
            </a:r>
          </a:p>
          <a:p>
            <a:pPr lvl="2" eaLnBrk="1" hangingPunct="1"/>
            <a:r>
              <a:rPr lang="zh-CN" altLang="en-US" b="1" dirty="0">
                <a:ea typeface="楷体_GB2312" pitchFamily="49" charset="-122"/>
              </a:rPr>
              <a:t>将</a:t>
            </a:r>
            <a:r>
              <a:rPr lang="zh-CN" altLang="en-US" b="1" u="sng" dirty="0">
                <a:solidFill>
                  <a:srgbClr val="CC00CC"/>
                </a:solidFill>
                <a:ea typeface="楷体_GB2312" pitchFamily="49" charset="-122"/>
              </a:rPr>
              <a:t>特征向量</a:t>
            </a:r>
            <a:r>
              <a:rPr lang="en-US" altLang="zh-CN" b="1" u="sng" dirty="0">
                <a:solidFill>
                  <a:srgbClr val="CC00CC"/>
                </a:solidFill>
                <a:ea typeface="楷体_GB2312" pitchFamily="49" charset="-122"/>
              </a:rPr>
              <a:t>W</a:t>
            </a:r>
            <a:r>
              <a:rPr lang="zh-CN" altLang="en-US" b="1" dirty="0">
                <a:ea typeface="楷体_GB2312" pitchFamily="49" charset="-122"/>
              </a:rPr>
              <a:t>归一化，即为同一层次的各因素相对于上一层中某一因素的重要性权重</a:t>
            </a:r>
            <a:r>
              <a:rPr lang="en-US" altLang="zh-CN" b="1" dirty="0">
                <a:ea typeface="楷体_GB2312" pitchFamily="49" charset="-122"/>
              </a:rPr>
              <a:t>.</a:t>
            </a:r>
          </a:p>
          <a:p>
            <a:pPr lvl="1" eaLnBrk="1" hangingPunct="1"/>
            <a:r>
              <a:rPr lang="zh-CN" altLang="en-US" dirty="0">
                <a:solidFill>
                  <a:srgbClr val="0000FF"/>
                </a:solidFill>
                <a:ea typeface="黑体" pitchFamily="2" charset="-122"/>
              </a:rPr>
              <a:t>一致性检验</a:t>
            </a:r>
          </a:p>
          <a:p>
            <a:pPr lvl="2" eaLnBrk="1" hangingPunct="1"/>
            <a:r>
              <a:rPr lang="zh-CN" altLang="en-US" b="1" dirty="0">
                <a:ea typeface="楷体_GB2312" pitchFamily="49" charset="-122"/>
              </a:rPr>
              <a:t>由于我们的认识常常带有主观性和片面性</a:t>
            </a:r>
          </a:p>
          <a:p>
            <a:pPr lvl="3" eaLnBrk="1" hangingPunct="1"/>
            <a:r>
              <a:rPr lang="zh-CN" altLang="en-US" sz="2400" b="1" dirty="0">
                <a:ea typeface="楷体_GB2312" pitchFamily="49" charset="-122"/>
              </a:rPr>
              <a:t>如：对三个因素</a:t>
            </a:r>
            <a:r>
              <a:rPr lang="en-US" altLang="zh-CN" sz="2400" b="1" dirty="0" err="1">
                <a:ea typeface="楷体_GB2312" pitchFamily="49" charset="-122"/>
              </a:rPr>
              <a:t>x</a:t>
            </a:r>
            <a:r>
              <a:rPr lang="en-US" altLang="zh-CN" sz="2400" b="1" baseline="-25000" dirty="0" err="1">
                <a:ea typeface="楷体_GB2312" pitchFamily="49" charset="-122"/>
              </a:rPr>
              <a:t>i</a:t>
            </a:r>
            <a:r>
              <a:rPr lang="en-US" altLang="zh-CN" sz="2400" b="1" dirty="0" err="1">
                <a:ea typeface="楷体_GB2312" pitchFamily="49" charset="-122"/>
              </a:rPr>
              <a:t>,x</a:t>
            </a:r>
            <a:r>
              <a:rPr lang="en-US" altLang="zh-CN" sz="2400" b="1" baseline="-25000" dirty="0" err="1">
                <a:ea typeface="楷体_GB2312" pitchFamily="49" charset="-122"/>
              </a:rPr>
              <a:t>j</a:t>
            </a:r>
            <a:r>
              <a:rPr lang="en-US" altLang="zh-CN" sz="2400" b="1" dirty="0" err="1">
                <a:ea typeface="楷体_GB2312" pitchFamily="49" charset="-122"/>
              </a:rPr>
              <a:t>,x</a:t>
            </a:r>
            <a:r>
              <a:rPr lang="en-US" altLang="zh-CN" sz="2400" b="1" baseline="-25000" dirty="0" err="1">
                <a:ea typeface="楷体_GB2312" pitchFamily="49" charset="-122"/>
              </a:rPr>
              <a:t>k</a:t>
            </a:r>
            <a:r>
              <a:rPr lang="zh-CN" altLang="en-US" sz="2400" b="1" dirty="0">
                <a:ea typeface="楷体_GB2312" pitchFamily="49" charset="-122"/>
              </a:rPr>
              <a:t>进行两两比较，分别得到</a:t>
            </a:r>
            <a:r>
              <a:rPr lang="en-US" altLang="zh-CN" sz="2400" b="1" i="1" dirty="0" err="1">
                <a:latin typeface="Times New Roman" panose="02020603050405020304" pitchFamily="18" charset="0"/>
                <a:ea typeface="楷体_GB2312" pitchFamily="49" charset="-122"/>
                <a:cs typeface="Times New Roman" panose="02020603050405020304" pitchFamily="18" charset="0"/>
              </a:rPr>
              <a:t>a</a:t>
            </a:r>
            <a:r>
              <a:rPr lang="en-US" altLang="zh-CN" sz="2400" b="1" i="1" baseline="-25000" dirty="0" err="1">
                <a:latin typeface="Times New Roman" panose="02020603050405020304" pitchFamily="18" charset="0"/>
                <a:ea typeface="楷体_GB2312" pitchFamily="49" charset="-122"/>
                <a:cs typeface="Times New Roman" panose="02020603050405020304" pitchFamily="18" charset="0"/>
              </a:rPr>
              <a:t>ij</a:t>
            </a:r>
            <a:r>
              <a:rPr lang="en-US" altLang="zh-CN" sz="2400" b="1" dirty="0">
                <a:latin typeface="Times New Roman" panose="02020603050405020304" pitchFamily="18" charset="0"/>
                <a:ea typeface="楷体_GB2312" pitchFamily="49" charset="-122"/>
                <a:cs typeface="Times New Roman" panose="02020603050405020304" pitchFamily="18" charset="0"/>
              </a:rPr>
              <a:t>, </a:t>
            </a:r>
            <a:r>
              <a:rPr lang="en-US" altLang="zh-CN" sz="2400" b="1" i="1" dirty="0" err="1">
                <a:latin typeface="Times New Roman" panose="02020603050405020304" pitchFamily="18" charset="0"/>
                <a:ea typeface="楷体_GB2312" pitchFamily="49" charset="-122"/>
                <a:cs typeface="Times New Roman" panose="02020603050405020304" pitchFamily="18" charset="0"/>
              </a:rPr>
              <a:t>a</a:t>
            </a:r>
            <a:r>
              <a:rPr lang="en-US" altLang="zh-CN" sz="2400" b="1" i="1" baseline="-25000" dirty="0" err="1">
                <a:latin typeface="Times New Roman" panose="02020603050405020304" pitchFamily="18" charset="0"/>
                <a:ea typeface="楷体_GB2312" pitchFamily="49" charset="-122"/>
                <a:cs typeface="Times New Roman" panose="02020603050405020304" pitchFamily="18" charset="0"/>
              </a:rPr>
              <a:t>jk</a:t>
            </a:r>
            <a:r>
              <a:rPr lang="en-US" altLang="zh-CN" sz="2400" b="1" dirty="0">
                <a:latin typeface="Times New Roman" panose="02020603050405020304" pitchFamily="18" charset="0"/>
                <a:ea typeface="楷体_GB2312" pitchFamily="49" charset="-122"/>
                <a:cs typeface="Times New Roman" panose="02020603050405020304" pitchFamily="18" charset="0"/>
              </a:rPr>
              <a:t>, </a:t>
            </a:r>
            <a:r>
              <a:rPr lang="en-US" altLang="zh-CN" sz="2400" b="1" i="1" dirty="0" err="1">
                <a:latin typeface="Times New Roman" panose="02020603050405020304" pitchFamily="18" charset="0"/>
                <a:ea typeface="楷体_GB2312" pitchFamily="49" charset="-122"/>
                <a:cs typeface="Times New Roman" panose="02020603050405020304" pitchFamily="18" charset="0"/>
              </a:rPr>
              <a:t>a</a:t>
            </a:r>
            <a:r>
              <a:rPr lang="en-US" altLang="zh-CN" sz="2400" b="1" i="1" baseline="-25000" dirty="0" err="1">
                <a:latin typeface="Times New Roman" panose="02020603050405020304" pitchFamily="18" charset="0"/>
                <a:ea typeface="楷体_GB2312" pitchFamily="49" charset="-122"/>
                <a:cs typeface="Times New Roman" panose="02020603050405020304" pitchFamily="18" charset="0"/>
              </a:rPr>
              <a:t>ik</a:t>
            </a:r>
            <a:r>
              <a:rPr lang="en-US" altLang="zh-CN" sz="2400" b="1" dirty="0">
                <a:latin typeface="Times New Roman" panose="02020603050405020304" pitchFamily="18" charset="0"/>
                <a:ea typeface="楷体_GB2312" pitchFamily="49" charset="-122"/>
                <a:cs typeface="Times New Roman" panose="02020603050405020304" pitchFamily="18" charset="0"/>
              </a:rPr>
              <a:t>,</a:t>
            </a:r>
          </a:p>
          <a:p>
            <a:pPr lvl="3" eaLnBrk="1" hangingPunct="1">
              <a:buFont typeface="Wingdings" pitchFamily="2" charset="2"/>
              <a:buNone/>
            </a:pPr>
            <a:r>
              <a:rPr lang="en-US" altLang="zh-CN" sz="2400" b="1" dirty="0">
                <a:latin typeface="Times New Roman" panose="02020603050405020304" pitchFamily="18" charset="0"/>
                <a:ea typeface="楷体_GB2312" pitchFamily="49" charset="-122"/>
                <a:cs typeface="Times New Roman" panose="02020603050405020304" pitchFamily="18" charset="0"/>
              </a:rPr>
              <a:t>           </a:t>
            </a:r>
            <a:r>
              <a:rPr lang="zh-CN" altLang="en-US" sz="2400" b="1" dirty="0">
                <a:latin typeface="Times New Roman" panose="02020603050405020304" pitchFamily="18" charset="0"/>
                <a:ea typeface="楷体_GB2312" pitchFamily="49" charset="-122"/>
                <a:cs typeface="Times New Roman" panose="02020603050405020304" pitchFamily="18" charset="0"/>
              </a:rPr>
              <a:t>就可能出现 </a:t>
            </a:r>
            <a:r>
              <a:rPr lang="en-US" altLang="zh-CN" sz="2400" b="1" i="1" dirty="0" err="1">
                <a:solidFill>
                  <a:srgbClr val="CC0099"/>
                </a:solidFill>
                <a:latin typeface="Times New Roman" panose="02020603050405020304" pitchFamily="18" charset="0"/>
                <a:ea typeface="楷体_GB2312" pitchFamily="49" charset="-122"/>
                <a:cs typeface="Times New Roman" panose="02020603050405020304" pitchFamily="18" charset="0"/>
              </a:rPr>
              <a:t>a</a:t>
            </a:r>
            <a:r>
              <a:rPr lang="en-US" altLang="zh-CN" sz="2400" b="1" i="1" baseline="-25000" dirty="0" err="1">
                <a:solidFill>
                  <a:srgbClr val="CC0099"/>
                </a:solidFill>
                <a:latin typeface="Times New Roman" panose="02020603050405020304" pitchFamily="18" charset="0"/>
                <a:ea typeface="楷体_GB2312" pitchFamily="49" charset="-122"/>
                <a:cs typeface="Times New Roman" panose="02020603050405020304" pitchFamily="18" charset="0"/>
              </a:rPr>
              <a:t>ij</a:t>
            </a:r>
            <a:r>
              <a:rPr lang="en-US" altLang="zh-CN" sz="2400" b="1" i="1" baseline="-25000" dirty="0">
                <a:solidFill>
                  <a:srgbClr val="CC0099"/>
                </a:solidFill>
                <a:latin typeface="Times New Roman" panose="02020603050405020304" pitchFamily="18" charset="0"/>
                <a:ea typeface="楷体_GB2312" pitchFamily="49" charset="-122"/>
                <a:cs typeface="Times New Roman" panose="02020603050405020304" pitchFamily="18" charset="0"/>
              </a:rPr>
              <a:t> </a:t>
            </a:r>
            <a:r>
              <a:rPr lang="en-US" altLang="en-US" sz="2400" b="1" dirty="0">
                <a:solidFill>
                  <a:srgbClr val="CC0099"/>
                </a:solidFill>
                <a:latin typeface="Times New Roman" panose="02020603050405020304" pitchFamily="18" charset="0"/>
                <a:ea typeface="楷体_GB2312" pitchFamily="49" charset="-122"/>
                <a:cs typeface="Times New Roman" panose="02020603050405020304" pitchFamily="18" charset="0"/>
                <a:sym typeface="Symbol"/>
              </a:rPr>
              <a:t> </a:t>
            </a:r>
            <a:r>
              <a:rPr lang="en-US" altLang="zh-CN" sz="2400" b="1" i="1" dirty="0" err="1">
                <a:solidFill>
                  <a:srgbClr val="CC0099"/>
                </a:solidFill>
                <a:latin typeface="Times New Roman" panose="02020603050405020304" pitchFamily="18" charset="0"/>
                <a:ea typeface="楷体_GB2312" pitchFamily="49" charset="-122"/>
                <a:cs typeface="Times New Roman" panose="02020603050405020304" pitchFamily="18" charset="0"/>
              </a:rPr>
              <a:t>a</a:t>
            </a:r>
            <a:r>
              <a:rPr lang="en-US" altLang="zh-CN" sz="2400" b="1" i="1" baseline="-25000" dirty="0" err="1">
                <a:solidFill>
                  <a:srgbClr val="CC0099"/>
                </a:solidFill>
                <a:latin typeface="Times New Roman" panose="02020603050405020304" pitchFamily="18" charset="0"/>
                <a:ea typeface="楷体_GB2312" pitchFamily="49" charset="-122"/>
                <a:cs typeface="Times New Roman" panose="02020603050405020304" pitchFamily="18" charset="0"/>
              </a:rPr>
              <a:t>jk</a:t>
            </a:r>
            <a:r>
              <a:rPr lang="en-US" altLang="zh-CN" sz="2400" b="1" i="1" baseline="-25000" dirty="0">
                <a:solidFill>
                  <a:srgbClr val="CC0099"/>
                </a:solidFill>
                <a:latin typeface="Times New Roman" panose="02020603050405020304" pitchFamily="18" charset="0"/>
                <a:ea typeface="楷体_GB2312" pitchFamily="49" charset="-122"/>
                <a:cs typeface="Times New Roman" panose="02020603050405020304" pitchFamily="18" charset="0"/>
              </a:rPr>
              <a:t> </a:t>
            </a:r>
            <a:r>
              <a:rPr lang="en-US" altLang="en-US" sz="2400" b="1" dirty="0">
                <a:solidFill>
                  <a:srgbClr val="CC0099"/>
                </a:solidFill>
                <a:latin typeface="Times New Roman" panose="02020603050405020304" pitchFamily="18" charset="0"/>
                <a:ea typeface="楷体_GB2312" pitchFamily="49" charset="-122"/>
                <a:cs typeface="Times New Roman" panose="02020603050405020304" pitchFamily="18" charset="0"/>
              </a:rPr>
              <a:t>≠ </a:t>
            </a:r>
            <a:r>
              <a:rPr lang="en-US" altLang="zh-CN" sz="2400" b="1" i="1" dirty="0" err="1">
                <a:solidFill>
                  <a:srgbClr val="CC0099"/>
                </a:solidFill>
                <a:latin typeface="Times New Roman" panose="02020603050405020304" pitchFamily="18" charset="0"/>
                <a:ea typeface="楷体_GB2312" pitchFamily="49" charset="-122"/>
                <a:cs typeface="Times New Roman" panose="02020603050405020304" pitchFamily="18" charset="0"/>
              </a:rPr>
              <a:t>a</a:t>
            </a:r>
            <a:r>
              <a:rPr lang="en-US" altLang="zh-CN" sz="2400" b="1" i="1" baseline="-25000" dirty="0" err="1">
                <a:solidFill>
                  <a:srgbClr val="CC0099"/>
                </a:solidFill>
                <a:latin typeface="Times New Roman" panose="02020603050405020304" pitchFamily="18" charset="0"/>
                <a:ea typeface="楷体_GB2312" pitchFamily="49" charset="-122"/>
                <a:cs typeface="Times New Roman" panose="02020603050405020304" pitchFamily="18" charset="0"/>
              </a:rPr>
              <a:t>ik</a:t>
            </a:r>
            <a:r>
              <a:rPr lang="en-US" altLang="zh-CN" sz="2400" b="1" dirty="0">
                <a:solidFill>
                  <a:srgbClr val="CC0099"/>
                </a:solidFill>
                <a:latin typeface="Times New Roman" panose="02020603050405020304" pitchFamily="18" charset="0"/>
                <a:ea typeface="楷体_GB2312" pitchFamily="49" charset="-122"/>
                <a:cs typeface="Times New Roman" panose="02020603050405020304" pitchFamily="18" charset="0"/>
              </a:rPr>
              <a:t>,</a:t>
            </a:r>
          </a:p>
        </p:txBody>
      </p:sp>
      <p:sp>
        <p:nvSpPr>
          <p:cNvPr id="3" name="文本框 2">
            <a:extLst>
              <a:ext uri="{FF2B5EF4-FFF2-40B4-BE49-F238E27FC236}">
                <a16:creationId xmlns:a16="http://schemas.microsoft.com/office/drawing/2014/main" id="{B47C749B-235C-1E80-0153-F4A9DB845884}"/>
              </a:ext>
            </a:extLst>
          </p:cNvPr>
          <p:cNvSpPr txBox="1"/>
          <p:nvPr/>
        </p:nvSpPr>
        <p:spPr>
          <a:xfrm>
            <a:off x="8519592" y="4869160"/>
            <a:ext cx="3672408" cy="830997"/>
          </a:xfrm>
          <a:prstGeom prst="rect">
            <a:avLst/>
          </a:prstGeom>
          <a:solidFill>
            <a:srgbClr val="FFC000"/>
          </a:solidFill>
        </p:spPr>
        <p:txBody>
          <a:bodyPr wrap="square">
            <a:spAutoFit/>
          </a:bodyPr>
          <a:lstStyle/>
          <a:p>
            <a:pPr eaLnBrk="1" hangingPunct="1"/>
            <a:r>
              <a:rPr lang="zh-CN" altLang="en-US" sz="2400" b="1" dirty="0">
                <a:ea typeface="楷体_GB2312" pitchFamily="49" charset="-122"/>
              </a:rPr>
              <a:t>所以，在构造判断矩阵</a:t>
            </a:r>
            <a:r>
              <a:rPr lang="en-US" altLang="zh-CN" sz="2400" b="1" dirty="0">
                <a:ea typeface="楷体_GB2312" pitchFamily="49" charset="-122"/>
              </a:rPr>
              <a:t>A</a:t>
            </a:r>
            <a:r>
              <a:rPr lang="zh-CN" altLang="en-US" sz="2400" b="1" dirty="0">
                <a:ea typeface="楷体_GB2312" pitchFamily="49" charset="-122"/>
              </a:rPr>
              <a:t>后，要作</a:t>
            </a:r>
            <a:r>
              <a:rPr lang="zh-CN" altLang="en-US" sz="2400" b="1" u="sng" dirty="0">
                <a:solidFill>
                  <a:srgbClr val="3333FF"/>
                </a:solidFill>
                <a:ea typeface="楷体_GB2312" pitchFamily="49" charset="-122"/>
              </a:rPr>
              <a:t>一致性检验</a:t>
            </a:r>
          </a:p>
        </p:txBody>
      </p:sp>
      <p:sp>
        <p:nvSpPr>
          <p:cNvPr id="2" name="灯片编号占位符 1">
            <a:extLst>
              <a:ext uri="{FF2B5EF4-FFF2-40B4-BE49-F238E27FC236}">
                <a16:creationId xmlns:a16="http://schemas.microsoft.com/office/drawing/2014/main" id="{6693C0AA-2CB2-F12D-BFCC-9577D72375A7}"/>
              </a:ext>
            </a:extLst>
          </p:cNvPr>
          <p:cNvSpPr>
            <a:spLocks noGrp="1"/>
          </p:cNvSpPr>
          <p:nvPr>
            <p:ph type="sldNum" sz="quarter" idx="11"/>
          </p:nvPr>
        </p:nvSpPr>
        <p:spPr/>
        <p:txBody>
          <a:bodyPr/>
          <a:lstStyle/>
          <a:p>
            <a:pPr>
              <a:defRPr/>
            </a:pPr>
            <a:fld id="{1A3A146F-9300-4B06-8947-0E9C0D98352F}" type="slidenum">
              <a:rPr lang="en-US" altLang="zh-CN" smtClean="0"/>
              <a:pPr>
                <a:defRPr/>
              </a:pPr>
              <a:t>9</a:t>
            </a:fld>
            <a:endParaRPr lang="en-US" altLang="zh-CN"/>
          </a:p>
        </p:txBody>
      </p:sp>
    </p:spTree>
    <p:extLst>
      <p:ext uri="{BB962C8B-B14F-4D97-AF65-F5344CB8AC3E}">
        <p14:creationId xmlns:p14="http://schemas.microsoft.com/office/powerpoint/2010/main" val="1686177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wipe(left)">
                                      <p:cBhvr>
                                        <p:cTn id="7" dur="500"/>
                                        <p:tgtEl>
                                          <p:spTgt spid="99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9331">
                                            <p:txEl>
                                              <p:pRg st="1" end="1"/>
                                            </p:txEl>
                                          </p:spTgt>
                                        </p:tgtEl>
                                        <p:attrNameLst>
                                          <p:attrName>style.visibility</p:attrName>
                                        </p:attrNameLst>
                                      </p:cBhvr>
                                      <p:to>
                                        <p:strVal val="visible"/>
                                      </p:to>
                                    </p:set>
                                    <p:animEffect transition="in" filter="wipe(left)">
                                      <p:cBhvr>
                                        <p:cTn id="12" dur="500"/>
                                        <p:tgtEl>
                                          <p:spTgt spid="99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9331">
                                            <p:txEl>
                                              <p:pRg st="2" end="2"/>
                                            </p:txEl>
                                          </p:spTgt>
                                        </p:tgtEl>
                                        <p:attrNameLst>
                                          <p:attrName>style.visibility</p:attrName>
                                        </p:attrNameLst>
                                      </p:cBhvr>
                                      <p:to>
                                        <p:strVal val="visible"/>
                                      </p:to>
                                    </p:set>
                                    <p:animEffect transition="in" filter="wipe(left)">
                                      <p:cBhvr>
                                        <p:cTn id="17" dur="500"/>
                                        <p:tgtEl>
                                          <p:spTgt spid="993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331">
                                            <p:txEl>
                                              <p:pRg st="3" end="3"/>
                                            </p:txEl>
                                          </p:spTgt>
                                        </p:tgtEl>
                                        <p:attrNameLst>
                                          <p:attrName>style.visibility</p:attrName>
                                        </p:attrNameLst>
                                      </p:cBhvr>
                                      <p:to>
                                        <p:strVal val="visible"/>
                                      </p:to>
                                    </p:set>
                                    <p:animEffect transition="in" filter="wipe(left)">
                                      <p:cBhvr>
                                        <p:cTn id="22" dur="500"/>
                                        <p:tgtEl>
                                          <p:spTgt spid="993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9331">
                                            <p:txEl>
                                              <p:pRg st="4" end="4"/>
                                            </p:txEl>
                                          </p:spTgt>
                                        </p:tgtEl>
                                        <p:attrNameLst>
                                          <p:attrName>style.visibility</p:attrName>
                                        </p:attrNameLst>
                                      </p:cBhvr>
                                      <p:to>
                                        <p:strVal val="visible"/>
                                      </p:to>
                                    </p:set>
                                    <p:animEffect transition="in" filter="wipe(left)">
                                      <p:cBhvr>
                                        <p:cTn id="27" dur="500"/>
                                        <p:tgtEl>
                                          <p:spTgt spid="993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9331">
                                            <p:txEl>
                                              <p:pRg st="5" end="5"/>
                                            </p:txEl>
                                          </p:spTgt>
                                        </p:tgtEl>
                                        <p:attrNameLst>
                                          <p:attrName>style.visibility</p:attrName>
                                        </p:attrNameLst>
                                      </p:cBhvr>
                                      <p:to>
                                        <p:strVal val="visible"/>
                                      </p:to>
                                    </p:set>
                                    <p:animEffect transition="in" filter="wipe(left)">
                                      <p:cBhvr>
                                        <p:cTn id="32" dur="500"/>
                                        <p:tgtEl>
                                          <p:spTgt spid="9933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Effect transition="in" filter="wipe(left)">
                                      <p:cBhvr>
                                        <p:cTn id="37" dur="500"/>
                                        <p:tgtEl>
                                          <p:spTgt spid="9933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99331">
                                            <p:txEl>
                                              <p:pRg st="7" end="7"/>
                                            </p:txEl>
                                          </p:spTgt>
                                        </p:tgtEl>
                                        <p:attrNameLst>
                                          <p:attrName>style.visibility</p:attrName>
                                        </p:attrNameLst>
                                      </p:cBhvr>
                                      <p:to>
                                        <p:strVal val="visible"/>
                                      </p:to>
                                    </p:set>
                                    <p:animEffect transition="in" filter="wipe(left)">
                                      <p:cBhvr>
                                        <p:cTn id="42" dur="500"/>
                                        <p:tgtEl>
                                          <p:spTgt spid="9933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99331">
                                            <p:txEl>
                                              <p:pRg st="8" end="8"/>
                                            </p:txEl>
                                          </p:spTgt>
                                        </p:tgtEl>
                                        <p:attrNameLst>
                                          <p:attrName>style.visibility</p:attrName>
                                        </p:attrNameLst>
                                      </p:cBhvr>
                                      <p:to>
                                        <p:strVal val="visible"/>
                                      </p:to>
                                    </p:set>
                                    <p:animEffect transition="in" filter="wipe(left)">
                                      <p:cBhvr>
                                        <p:cTn id="47" dur="500"/>
                                        <p:tgtEl>
                                          <p:spTgt spid="9933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9331">
                                            <p:txEl>
                                              <p:pRg st="9" end="9"/>
                                            </p:txEl>
                                          </p:spTgt>
                                        </p:tgtEl>
                                        <p:attrNameLst>
                                          <p:attrName>style.visibility</p:attrName>
                                        </p:attrNameLst>
                                      </p:cBhvr>
                                      <p:to>
                                        <p:strVal val="visible"/>
                                      </p:to>
                                    </p:set>
                                    <p:animEffect transition="in" filter="wipe(left)">
                                      <p:cBhvr>
                                        <p:cTn id="52" dur="500"/>
                                        <p:tgtEl>
                                          <p:spTgt spid="9933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1000"/>
                                        <p:tgtEl>
                                          <p:spTgt spid="3"/>
                                        </p:tgtEl>
                                      </p:cBhvr>
                                    </p:animEffect>
                                    <p:anim calcmode="lin" valueType="num">
                                      <p:cBhvr>
                                        <p:cTn id="58" dur="1000" fill="hold"/>
                                        <p:tgtEl>
                                          <p:spTgt spid="3"/>
                                        </p:tgtEl>
                                        <p:attrNameLst>
                                          <p:attrName>ppt_x</p:attrName>
                                        </p:attrNameLst>
                                      </p:cBhvr>
                                      <p:tavLst>
                                        <p:tav tm="0">
                                          <p:val>
                                            <p:strVal val="#ppt_x"/>
                                          </p:val>
                                        </p:tav>
                                        <p:tav tm="100000">
                                          <p:val>
                                            <p:strVal val="#ppt_x"/>
                                          </p:val>
                                        </p:tav>
                                      </p:tavLst>
                                    </p:anim>
                                    <p:anim calcmode="lin" valueType="num">
                                      <p:cBhvr>
                                        <p:cTn id="5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163BD8A-4971-BF9B-5FB1-EAB7735763AA}"/>
              </a:ext>
            </a:extLst>
          </p:cNvPr>
          <p:cNvSpPr/>
          <p:nvPr/>
        </p:nvSpPr>
        <p:spPr bwMode="auto">
          <a:xfrm>
            <a:off x="1847528" y="4725144"/>
            <a:ext cx="6984776" cy="1872506"/>
          </a:xfrm>
          <a:prstGeom prst="rect">
            <a:avLst/>
          </a:prstGeom>
          <a:solidFill>
            <a:srgbClr val="FFFF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a typeface="宋体" pitchFamily="2" charset="-122"/>
            </a:endParaRPr>
          </a:p>
        </p:txBody>
      </p:sp>
      <p:sp>
        <p:nvSpPr>
          <p:cNvPr id="46082" name="Rectangle 2"/>
          <p:cNvSpPr>
            <a:spLocks noGrp="1" noChangeArrowheads="1"/>
          </p:cNvSpPr>
          <p:nvPr>
            <p:ph type="title"/>
          </p:nvPr>
        </p:nvSpPr>
        <p:spPr>
          <a:xfrm>
            <a:off x="1992313" y="260350"/>
            <a:ext cx="8229600" cy="1371600"/>
          </a:xfrm>
        </p:spPr>
        <p:txBody>
          <a:bodyPr/>
          <a:lstStyle/>
          <a:p>
            <a:pPr algn="ctr" eaLnBrk="1" hangingPunct="1"/>
            <a:r>
              <a:rPr lang="zh-CN" altLang="en-US" dirty="0">
                <a:solidFill>
                  <a:srgbClr val="008000"/>
                </a:solidFill>
                <a:ea typeface="黑体" pitchFamily="2" charset="-122"/>
              </a:rPr>
              <a:t>层次分析法的实现步骤</a:t>
            </a:r>
          </a:p>
        </p:txBody>
      </p:sp>
      <p:sp>
        <p:nvSpPr>
          <p:cNvPr id="100355" name="Rectangle 3"/>
          <p:cNvSpPr>
            <a:spLocks noGrp="1" noChangeArrowheads="1"/>
          </p:cNvSpPr>
          <p:nvPr>
            <p:ph type="body" idx="1"/>
          </p:nvPr>
        </p:nvSpPr>
        <p:spPr>
          <a:xfrm>
            <a:off x="1019436" y="1340768"/>
            <a:ext cx="10117124" cy="5040312"/>
          </a:xfrm>
        </p:spPr>
        <p:txBody>
          <a:bodyPr/>
          <a:lstStyle/>
          <a:p>
            <a:pPr eaLnBrk="1" hangingPunct="1">
              <a:lnSpc>
                <a:spcPct val="110000"/>
              </a:lnSpc>
            </a:pPr>
            <a:r>
              <a:rPr lang="zh-CN" altLang="en-US" sz="3600" dirty="0">
                <a:solidFill>
                  <a:srgbClr val="FF0000"/>
                </a:solidFill>
                <a:ea typeface="黑体" pitchFamily="2" charset="-122"/>
              </a:rPr>
              <a:t>第三步：</a:t>
            </a:r>
            <a:r>
              <a:rPr lang="zh-CN" altLang="en-US" sz="3600" u="sng" dirty="0">
                <a:solidFill>
                  <a:srgbClr val="FF0000"/>
                </a:solidFill>
                <a:ea typeface="黑体" pitchFamily="2" charset="-122"/>
              </a:rPr>
              <a:t>层次单排序</a:t>
            </a:r>
            <a:r>
              <a:rPr lang="zh-CN" altLang="en-US" sz="3600" dirty="0">
                <a:solidFill>
                  <a:srgbClr val="FF0000"/>
                </a:solidFill>
                <a:ea typeface="黑体" pitchFamily="2" charset="-122"/>
              </a:rPr>
              <a:t>及其一致性检验</a:t>
            </a:r>
          </a:p>
          <a:p>
            <a:pPr lvl="1" eaLnBrk="1" hangingPunct="1">
              <a:lnSpc>
                <a:spcPct val="110000"/>
              </a:lnSpc>
            </a:pPr>
            <a:r>
              <a:rPr lang="zh-CN" altLang="en-US" sz="3200" dirty="0">
                <a:ea typeface="黑体" pitchFamily="2" charset="-122"/>
              </a:rPr>
              <a:t>有关</a:t>
            </a:r>
            <a:r>
              <a:rPr lang="zh-CN" altLang="en-US" sz="3200" u="sng" dirty="0">
                <a:solidFill>
                  <a:srgbClr val="0000FF"/>
                </a:solidFill>
                <a:ea typeface="黑体" pitchFamily="2" charset="-122"/>
              </a:rPr>
              <a:t>一致性检验</a:t>
            </a:r>
            <a:r>
              <a:rPr lang="zh-CN" altLang="en-US" sz="3200" dirty="0">
                <a:ea typeface="黑体" pitchFamily="2" charset="-122"/>
              </a:rPr>
              <a:t>的两个结论</a:t>
            </a:r>
            <a:endParaRPr lang="en-US" altLang="zh-CN" sz="3200" dirty="0">
              <a:ea typeface="黑体" pitchFamily="2" charset="-122"/>
            </a:endParaRPr>
          </a:p>
          <a:p>
            <a:pPr lvl="2" eaLnBrk="1" hangingPunct="1">
              <a:lnSpc>
                <a:spcPct val="110000"/>
              </a:lnSpc>
            </a:pPr>
            <a:r>
              <a:rPr lang="zh-CN" altLang="en-US" sz="2800" b="1" u="sng" dirty="0">
                <a:ea typeface="楷体_GB2312" pitchFamily="49" charset="-122"/>
              </a:rPr>
              <a:t>正互反矩阵</a:t>
            </a:r>
            <a:r>
              <a:rPr lang="zh-CN" altLang="en-US" sz="2800" b="1" dirty="0">
                <a:ea typeface="楷体_GB2312" pitchFamily="49" charset="-122"/>
              </a:rPr>
              <a:t>的</a:t>
            </a:r>
            <a:r>
              <a:rPr lang="zh-CN" altLang="en-US" sz="2800" b="1" u="sng" dirty="0">
                <a:ea typeface="楷体_GB2312" pitchFamily="49" charset="-122"/>
              </a:rPr>
              <a:t>最大特征值</a:t>
            </a:r>
            <a:r>
              <a:rPr lang="el-GR" altLang="zh-CN" sz="2800" b="1" u="sng" dirty="0">
                <a:solidFill>
                  <a:srgbClr val="008000"/>
                </a:solidFill>
                <a:ea typeface="楷体_GB2312" pitchFamily="49" charset="-122"/>
              </a:rPr>
              <a:t>λ</a:t>
            </a:r>
            <a:r>
              <a:rPr lang="en-US" altLang="zh-CN" sz="2800" b="1" u="sng" baseline="-25000" dirty="0">
                <a:solidFill>
                  <a:srgbClr val="008000"/>
                </a:solidFill>
                <a:ea typeface="楷体_GB2312" pitchFamily="49" charset="-122"/>
              </a:rPr>
              <a:t>max</a:t>
            </a:r>
            <a:r>
              <a:rPr lang="zh-CN" altLang="en-US" sz="2800" b="1" dirty="0">
                <a:ea typeface="楷体_GB2312" pitchFamily="49" charset="-122"/>
              </a:rPr>
              <a:t>是</a:t>
            </a:r>
            <a:r>
              <a:rPr lang="zh-CN" altLang="en-US" sz="2800" b="1" dirty="0">
                <a:solidFill>
                  <a:srgbClr val="CC0099"/>
                </a:solidFill>
                <a:ea typeface="楷体_GB2312" pitchFamily="49" charset="-122"/>
              </a:rPr>
              <a:t>单根</a:t>
            </a:r>
            <a:r>
              <a:rPr lang="zh-CN" altLang="en-US" sz="2800" b="1" dirty="0">
                <a:ea typeface="楷体_GB2312" pitchFamily="49" charset="-122"/>
              </a:rPr>
              <a:t>且是</a:t>
            </a:r>
            <a:r>
              <a:rPr lang="zh-CN" altLang="en-US" sz="2800" b="1" dirty="0">
                <a:solidFill>
                  <a:srgbClr val="CC0099"/>
                </a:solidFill>
                <a:ea typeface="楷体_GB2312" pitchFamily="49" charset="-122"/>
              </a:rPr>
              <a:t>正实数</a:t>
            </a:r>
            <a:r>
              <a:rPr lang="zh-CN" altLang="en-US" sz="2800" b="1" dirty="0">
                <a:ea typeface="楷体_GB2312" pitchFamily="49" charset="-122"/>
              </a:rPr>
              <a:t>，对应着</a:t>
            </a:r>
            <a:r>
              <a:rPr lang="zh-CN" altLang="en-US" sz="2800" b="1" dirty="0">
                <a:solidFill>
                  <a:srgbClr val="CC00CC"/>
                </a:solidFill>
                <a:effectLst>
                  <a:outerShdw blurRad="38100" dist="38100" dir="2700000" algn="tl">
                    <a:srgbClr val="000000">
                      <a:alpha val="43137"/>
                    </a:srgbClr>
                  </a:outerShdw>
                </a:effectLst>
                <a:ea typeface="楷体_GB2312" pitchFamily="49" charset="-122"/>
              </a:rPr>
              <a:t>正</a:t>
            </a:r>
            <a:r>
              <a:rPr lang="zh-CN" altLang="en-US" sz="2800" b="1" dirty="0">
                <a:ea typeface="楷体_GB2312" pitchFamily="49" charset="-122"/>
              </a:rPr>
              <a:t>的特征向量。</a:t>
            </a:r>
          </a:p>
          <a:p>
            <a:pPr lvl="2" eaLnBrk="1" hangingPunct="1">
              <a:lnSpc>
                <a:spcPct val="110000"/>
              </a:lnSpc>
            </a:pPr>
            <a:r>
              <a:rPr lang="en-US" altLang="zh-CN" sz="2800" b="1" dirty="0">
                <a:ea typeface="楷体_GB2312" pitchFamily="49" charset="-122"/>
              </a:rPr>
              <a:t>n</a:t>
            </a:r>
            <a:r>
              <a:rPr lang="zh-CN" altLang="en-US" sz="2800" b="1" dirty="0">
                <a:ea typeface="楷体_GB2312" pitchFamily="49" charset="-122"/>
              </a:rPr>
              <a:t>阶正互反矩阵 </a:t>
            </a:r>
            <a:r>
              <a:rPr lang="en-US" altLang="zh-CN" sz="2800" b="1" i="1" dirty="0">
                <a:solidFill>
                  <a:srgbClr val="FF0000"/>
                </a:solidFill>
                <a:ea typeface="楷体_GB2312" pitchFamily="49" charset="-122"/>
              </a:rPr>
              <a:t>A</a:t>
            </a:r>
            <a:r>
              <a:rPr lang="en-US" altLang="zh-CN" sz="2800" b="1" dirty="0">
                <a:solidFill>
                  <a:srgbClr val="FF0000"/>
                </a:solidFill>
                <a:ea typeface="楷体_GB2312" pitchFamily="49" charset="-122"/>
              </a:rPr>
              <a:t>=(</a:t>
            </a:r>
            <a:r>
              <a:rPr lang="en-US" altLang="zh-CN" sz="2800" b="1" i="1" dirty="0" err="1">
                <a:solidFill>
                  <a:srgbClr val="FF0000"/>
                </a:solidFill>
                <a:ea typeface="楷体_GB2312" pitchFamily="49" charset="-122"/>
              </a:rPr>
              <a:t>a</a:t>
            </a:r>
            <a:r>
              <a:rPr lang="en-US" altLang="zh-CN" sz="2800" b="1" i="1" baseline="-25000" dirty="0" err="1">
                <a:solidFill>
                  <a:srgbClr val="FF0000"/>
                </a:solidFill>
                <a:ea typeface="楷体_GB2312" pitchFamily="49" charset="-122"/>
              </a:rPr>
              <a:t>ij</a:t>
            </a:r>
            <a:r>
              <a:rPr lang="en-US" altLang="zh-CN" sz="2800" b="1" dirty="0">
                <a:solidFill>
                  <a:srgbClr val="FF0000"/>
                </a:solidFill>
                <a:ea typeface="楷体_GB2312" pitchFamily="49" charset="-122"/>
              </a:rPr>
              <a:t>)</a:t>
            </a:r>
            <a:r>
              <a:rPr lang="en-US" altLang="zh-CN" sz="2800" b="1" i="1" baseline="-25000" dirty="0" err="1">
                <a:solidFill>
                  <a:srgbClr val="FF0000"/>
                </a:solidFill>
                <a:ea typeface="楷体_GB2312" pitchFamily="49" charset="-122"/>
              </a:rPr>
              <a:t>n</a:t>
            </a:r>
            <a:r>
              <a:rPr lang="en-US" altLang="zh-CN" sz="2800" b="1" baseline="-25000" dirty="0" err="1">
                <a:solidFill>
                  <a:srgbClr val="FF0000"/>
                </a:solidFill>
                <a:ea typeface="楷体_GB2312" pitchFamily="49" charset="-122"/>
              </a:rPr>
              <a:t>×</a:t>
            </a:r>
            <a:r>
              <a:rPr lang="en-US" altLang="zh-CN" sz="2800" b="1" i="1" baseline="-25000" dirty="0" err="1">
                <a:solidFill>
                  <a:srgbClr val="FF0000"/>
                </a:solidFill>
                <a:ea typeface="楷体_GB2312" pitchFamily="49" charset="-122"/>
              </a:rPr>
              <a:t>n</a:t>
            </a:r>
            <a:r>
              <a:rPr lang="en-US" altLang="zh-CN" sz="2800" b="1" baseline="-25000" dirty="0">
                <a:solidFill>
                  <a:srgbClr val="FF0000"/>
                </a:solidFill>
                <a:ea typeface="楷体_GB2312" pitchFamily="49" charset="-122"/>
              </a:rPr>
              <a:t> </a:t>
            </a:r>
            <a:r>
              <a:rPr lang="zh-CN" altLang="en-US" sz="2800" b="1" dirty="0">
                <a:ea typeface="楷体_GB2312" pitchFamily="49" charset="-122"/>
              </a:rPr>
              <a:t>的</a:t>
            </a:r>
            <a:r>
              <a:rPr lang="zh-CN" altLang="en-US" sz="2800" b="1" u="sng" dirty="0">
                <a:ea typeface="楷体_GB2312" pitchFamily="49" charset="-122"/>
              </a:rPr>
              <a:t>最大特征值 </a:t>
            </a:r>
            <a:r>
              <a:rPr lang="el-GR" altLang="zh-CN" sz="2800" b="1" i="1" dirty="0">
                <a:solidFill>
                  <a:srgbClr val="008000"/>
                </a:solidFill>
                <a:ea typeface="楷体_GB2312" pitchFamily="49" charset="-122"/>
              </a:rPr>
              <a:t>λ</a:t>
            </a:r>
            <a:r>
              <a:rPr lang="en-US" altLang="zh-CN" sz="2800" b="1" i="1" baseline="-25000" dirty="0">
                <a:solidFill>
                  <a:srgbClr val="008000"/>
                </a:solidFill>
                <a:ea typeface="楷体_GB2312" pitchFamily="49" charset="-122"/>
              </a:rPr>
              <a:t>max</a:t>
            </a:r>
            <a:r>
              <a:rPr lang="en-US" altLang="zh-CN" sz="2800" b="1" baseline="-25000" dirty="0">
                <a:solidFill>
                  <a:srgbClr val="008000"/>
                </a:solidFill>
                <a:ea typeface="楷体_GB2312" pitchFamily="49" charset="-122"/>
              </a:rPr>
              <a:t> </a:t>
            </a:r>
            <a:r>
              <a:rPr lang="en-US" altLang="zh-CN" sz="2800" b="1" dirty="0">
                <a:solidFill>
                  <a:srgbClr val="008000"/>
                </a:solidFill>
                <a:ea typeface="楷体_GB2312" pitchFamily="49" charset="-122"/>
              </a:rPr>
              <a:t>≥ </a:t>
            </a:r>
            <a:r>
              <a:rPr lang="en-US" altLang="zh-CN" sz="2800" b="1" i="1" dirty="0">
                <a:solidFill>
                  <a:srgbClr val="008000"/>
                </a:solidFill>
                <a:ea typeface="楷体_GB2312" pitchFamily="49" charset="-122"/>
              </a:rPr>
              <a:t>n</a:t>
            </a:r>
            <a:r>
              <a:rPr lang="zh-CN" altLang="en-US" sz="2800" b="1" dirty="0">
                <a:ea typeface="楷体_GB2312" pitchFamily="49" charset="-122"/>
              </a:rPr>
              <a:t>，</a:t>
            </a:r>
            <a:r>
              <a:rPr lang="en-US" altLang="zh-CN" sz="2800" b="1" i="1" dirty="0">
                <a:solidFill>
                  <a:srgbClr val="FF0000"/>
                </a:solidFill>
                <a:ea typeface="楷体_GB2312" pitchFamily="49" charset="-122"/>
              </a:rPr>
              <a:t>A</a:t>
            </a:r>
            <a:r>
              <a:rPr lang="zh-CN" altLang="en-US" sz="2800" b="1" dirty="0">
                <a:ea typeface="楷体_GB2312" pitchFamily="49" charset="-122"/>
              </a:rPr>
              <a:t>是一致的。</a:t>
            </a:r>
            <a:endParaRPr lang="en-US" altLang="zh-CN" sz="2800" b="1" dirty="0">
              <a:ea typeface="楷体_GB2312" pitchFamily="49" charset="-122"/>
            </a:endParaRPr>
          </a:p>
          <a:p>
            <a:pPr lvl="1" eaLnBrk="1" hangingPunct="1">
              <a:lnSpc>
                <a:spcPct val="110000"/>
              </a:lnSpc>
            </a:pPr>
            <a:r>
              <a:rPr lang="zh-CN" altLang="en-US" sz="3200" b="1" dirty="0">
                <a:ea typeface="楷体_GB2312" pitchFamily="49" charset="-122"/>
              </a:rPr>
              <a:t>即</a:t>
            </a:r>
            <a:r>
              <a:rPr lang="en-US" altLang="zh-CN" sz="3200" b="1" i="1" dirty="0">
                <a:solidFill>
                  <a:srgbClr val="FF0000"/>
                </a:solidFill>
                <a:ea typeface="楷体_GB2312" pitchFamily="49" charset="-122"/>
              </a:rPr>
              <a:t>A</a:t>
            </a:r>
            <a:r>
              <a:rPr lang="zh-CN" altLang="en-US" sz="3200" b="1" dirty="0">
                <a:ea typeface="楷体_GB2312" pitchFamily="49" charset="-122"/>
              </a:rPr>
              <a:t>满足   </a:t>
            </a:r>
          </a:p>
          <a:p>
            <a:pPr lvl="2" eaLnBrk="1" hangingPunct="1">
              <a:lnSpc>
                <a:spcPct val="110000"/>
              </a:lnSpc>
              <a:buFont typeface="Wingdings" pitchFamily="2" charset="2"/>
              <a:buNone/>
            </a:pPr>
            <a:r>
              <a:rPr lang="zh-CN" altLang="en-US" sz="3200" b="1" dirty="0">
                <a:solidFill>
                  <a:srgbClr val="0000FF"/>
                </a:solidFill>
                <a:ea typeface="楷体_GB2312" pitchFamily="49" charset="-122"/>
              </a:rPr>
              <a:t>            </a:t>
            </a:r>
            <a:r>
              <a:rPr lang="en-US" altLang="zh-CN" sz="3200" b="1" i="1" dirty="0" err="1">
                <a:solidFill>
                  <a:srgbClr val="0000FF"/>
                </a:solidFill>
                <a:latin typeface="Times New Roman" panose="02020603050405020304" pitchFamily="18" charset="0"/>
                <a:ea typeface="楷体_GB2312" pitchFamily="49" charset="-122"/>
                <a:cs typeface="Times New Roman" panose="02020603050405020304" pitchFamily="18" charset="0"/>
              </a:rPr>
              <a:t>a</a:t>
            </a:r>
            <a:r>
              <a:rPr lang="en-US" altLang="zh-CN" sz="3200" b="1" i="1" baseline="-25000" dirty="0" err="1">
                <a:solidFill>
                  <a:srgbClr val="0000FF"/>
                </a:solidFill>
                <a:latin typeface="Times New Roman" panose="02020603050405020304" pitchFamily="18" charset="0"/>
                <a:ea typeface="楷体_GB2312" pitchFamily="49" charset="-122"/>
                <a:cs typeface="Times New Roman" panose="02020603050405020304" pitchFamily="18" charset="0"/>
              </a:rPr>
              <a:t>ij</a:t>
            </a:r>
            <a:r>
              <a:rPr lang="en-US" altLang="zh-CN" sz="3200" b="1" i="1" baseline="-25000"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en-US" sz="3200" b="1" dirty="0">
                <a:solidFill>
                  <a:srgbClr val="0000FF"/>
                </a:solidFill>
                <a:latin typeface="Times New Roman" panose="02020603050405020304" pitchFamily="18" charset="0"/>
                <a:ea typeface="楷体_GB2312" pitchFamily="49" charset="-122"/>
                <a:cs typeface="Times New Roman" panose="02020603050405020304" pitchFamily="18" charset="0"/>
                <a:sym typeface="Symbol"/>
              </a:rPr>
              <a:t> </a:t>
            </a:r>
            <a:r>
              <a:rPr lang="en-US" altLang="zh-CN" sz="3200" b="1" i="1" dirty="0" err="1">
                <a:solidFill>
                  <a:srgbClr val="0000FF"/>
                </a:solidFill>
                <a:latin typeface="Times New Roman" panose="02020603050405020304" pitchFamily="18" charset="0"/>
                <a:ea typeface="楷体_GB2312" pitchFamily="49" charset="-122"/>
                <a:cs typeface="Times New Roman" panose="02020603050405020304" pitchFamily="18" charset="0"/>
              </a:rPr>
              <a:t>a</a:t>
            </a:r>
            <a:r>
              <a:rPr lang="en-US" altLang="zh-CN" sz="3200" b="1" i="1" baseline="-25000" dirty="0" err="1">
                <a:solidFill>
                  <a:srgbClr val="0000FF"/>
                </a:solidFill>
                <a:latin typeface="Times New Roman" panose="02020603050405020304" pitchFamily="18" charset="0"/>
                <a:ea typeface="楷体_GB2312" pitchFamily="49" charset="-122"/>
                <a:cs typeface="Times New Roman" panose="02020603050405020304" pitchFamily="18" charset="0"/>
              </a:rPr>
              <a:t>jk</a:t>
            </a:r>
            <a:r>
              <a:rPr lang="en-US" altLang="zh-CN" sz="3200" b="1" baseline="-25000"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3200" b="1" i="1" dirty="0" err="1">
                <a:solidFill>
                  <a:srgbClr val="0000FF"/>
                </a:solidFill>
                <a:latin typeface="Times New Roman" panose="02020603050405020304" pitchFamily="18" charset="0"/>
                <a:ea typeface="楷体_GB2312" pitchFamily="49" charset="-122"/>
                <a:cs typeface="Times New Roman" panose="02020603050405020304" pitchFamily="18" charset="0"/>
              </a:rPr>
              <a:t>a</a:t>
            </a:r>
            <a:r>
              <a:rPr lang="en-US" altLang="zh-CN" sz="3200" b="1" i="1" baseline="-25000" dirty="0" err="1">
                <a:solidFill>
                  <a:srgbClr val="0000FF"/>
                </a:solidFill>
                <a:latin typeface="Times New Roman" panose="02020603050405020304" pitchFamily="18" charset="0"/>
                <a:ea typeface="楷体_GB2312" pitchFamily="49" charset="-122"/>
                <a:cs typeface="Times New Roman" panose="02020603050405020304" pitchFamily="18" charset="0"/>
              </a:rPr>
              <a:t>ik</a:t>
            </a:r>
            <a:r>
              <a:rPr lang="en-US" altLang="zh-CN" sz="3200" b="1" i="1" baseline="-25000"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3200" b="1" i="1" dirty="0" err="1">
                <a:solidFill>
                  <a:srgbClr val="0000FF"/>
                </a:solidFill>
                <a:latin typeface="Times New Roman" panose="02020603050405020304" pitchFamily="18" charset="0"/>
                <a:ea typeface="楷体_GB2312" pitchFamily="49" charset="-122"/>
                <a:cs typeface="Times New Roman" panose="02020603050405020304" pitchFamily="18" charset="0"/>
              </a:rPr>
              <a:t>i</a:t>
            </a:r>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3200" b="1" i="1" dirty="0">
                <a:solidFill>
                  <a:srgbClr val="0000FF"/>
                </a:solidFill>
                <a:latin typeface="Times New Roman" panose="02020603050405020304" pitchFamily="18" charset="0"/>
                <a:ea typeface="楷体_GB2312" pitchFamily="49" charset="-122"/>
                <a:cs typeface="Times New Roman" panose="02020603050405020304" pitchFamily="18" charset="0"/>
              </a:rPr>
              <a:t>j</a:t>
            </a:r>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sz="3200" b="1" i="1" dirty="0">
                <a:solidFill>
                  <a:srgbClr val="0000FF"/>
                </a:solidFill>
                <a:latin typeface="Times New Roman" panose="02020603050405020304" pitchFamily="18" charset="0"/>
                <a:ea typeface="楷体_GB2312" pitchFamily="49" charset="-122"/>
                <a:cs typeface="Times New Roman" panose="02020603050405020304" pitchFamily="18" charset="0"/>
              </a:rPr>
              <a:t>k</a:t>
            </a:r>
            <a:r>
              <a:rPr lang="en-US" altLang="zh-CN" sz="3200" b="1" dirty="0">
                <a:solidFill>
                  <a:srgbClr val="0000FF"/>
                </a:solidFill>
                <a:latin typeface="Times New Roman" panose="02020603050405020304" pitchFamily="18" charset="0"/>
                <a:ea typeface="楷体_GB2312" pitchFamily="49" charset="-122"/>
                <a:cs typeface="Times New Roman" panose="02020603050405020304" pitchFamily="18" charset="0"/>
              </a:rPr>
              <a:t>=1,2,…,</a:t>
            </a:r>
            <a:r>
              <a:rPr lang="en-US" altLang="zh-CN" sz="3200" b="1" i="1" dirty="0">
                <a:solidFill>
                  <a:srgbClr val="0000FF"/>
                </a:solidFill>
                <a:latin typeface="Times New Roman" panose="02020603050405020304" pitchFamily="18" charset="0"/>
                <a:ea typeface="楷体_GB2312" pitchFamily="49" charset="-122"/>
                <a:cs typeface="Times New Roman" panose="02020603050405020304" pitchFamily="18" charset="0"/>
              </a:rPr>
              <a:t>n</a:t>
            </a:r>
          </a:p>
          <a:p>
            <a:pPr lvl="1" eaLnBrk="1" hangingPunct="1">
              <a:lnSpc>
                <a:spcPct val="110000"/>
              </a:lnSpc>
              <a:buFont typeface="Wingdings" pitchFamily="2" charset="2"/>
              <a:buNone/>
            </a:pPr>
            <a:r>
              <a:rPr lang="en-US" altLang="zh-CN" sz="3600" b="1" dirty="0">
                <a:ea typeface="楷体_GB2312" pitchFamily="49" charset="-122"/>
              </a:rPr>
              <a:t>  </a:t>
            </a:r>
            <a:r>
              <a:rPr lang="zh-CN" altLang="en-US" sz="3200" b="1" dirty="0">
                <a:ea typeface="楷体_GB2312" pitchFamily="49" charset="-122"/>
              </a:rPr>
              <a:t>当且仅当 </a:t>
            </a:r>
            <a:r>
              <a:rPr lang="el-GR" altLang="zh-CN" sz="3200" b="1" i="1" dirty="0">
                <a:solidFill>
                  <a:srgbClr val="008000"/>
                </a:solidFill>
                <a:ea typeface="楷体_GB2312" pitchFamily="49" charset="-122"/>
              </a:rPr>
              <a:t>λ</a:t>
            </a:r>
            <a:r>
              <a:rPr lang="en-US" altLang="zh-CN" sz="3200" b="1" i="1" baseline="-25000" dirty="0">
                <a:solidFill>
                  <a:srgbClr val="008000"/>
                </a:solidFill>
                <a:ea typeface="楷体_GB2312" pitchFamily="49" charset="-122"/>
              </a:rPr>
              <a:t>max</a:t>
            </a:r>
            <a:r>
              <a:rPr lang="en-US" altLang="zh-CN" sz="3200" b="1" dirty="0">
                <a:solidFill>
                  <a:srgbClr val="008000"/>
                </a:solidFill>
                <a:ea typeface="楷体_GB2312" pitchFamily="49" charset="-122"/>
              </a:rPr>
              <a:t> =</a:t>
            </a:r>
            <a:r>
              <a:rPr lang="en-US" altLang="zh-CN" sz="3200" b="1" i="1" dirty="0">
                <a:solidFill>
                  <a:srgbClr val="008000"/>
                </a:solidFill>
                <a:ea typeface="楷体_GB2312" pitchFamily="49" charset="-122"/>
              </a:rPr>
              <a:t>n</a:t>
            </a:r>
            <a:endParaRPr lang="en-US" altLang="zh-CN" sz="3600" b="1" i="1" dirty="0">
              <a:solidFill>
                <a:srgbClr val="008000"/>
              </a:solidFill>
              <a:ea typeface="楷体_GB2312" pitchFamily="49" charset="-122"/>
            </a:endParaRPr>
          </a:p>
        </p:txBody>
      </p:sp>
      <p:sp>
        <p:nvSpPr>
          <p:cNvPr id="3" name="灯片编号占位符 2">
            <a:extLst>
              <a:ext uri="{FF2B5EF4-FFF2-40B4-BE49-F238E27FC236}">
                <a16:creationId xmlns:a16="http://schemas.microsoft.com/office/drawing/2014/main" id="{D5DB6A25-78B7-6F33-2761-70C7CD2A4D26}"/>
              </a:ext>
            </a:extLst>
          </p:cNvPr>
          <p:cNvSpPr>
            <a:spLocks noGrp="1"/>
          </p:cNvSpPr>
          <p:nvPr>
            <p:ph type="sldNum" sz="quarter" idx="11"/>
          </p:nvPr>
        </p:nvSpPr>
        <p:spPr/>
        <p:txBody>
          <a:bodyPr/>
          <a:lstStyle/>
          <a:p>
            <a:pPr>
              <a:defRPr/>
            </a:pPr>
            <a:fld id="{1A3A146F-9300-4B06-8947-0E9C0D98352F}" type="slidenum">
              <a:rPr lang="en-US" altLang="zh-CN" smtClean="0"/>
              <a:pPr>
                <a:defRPr/>
              </a:pPr>
              <a:t>10</a:t>
            </a:fld>
            <a:endParaRPr lang="en-US" altLang="zh-CN"/>
          </a:p>
        </p:txBody>
      </p:sp>
    </p:spTree>
    <p:extLst>
      <p:ext uri="{BB962C8B-B14F-4D97-AF65-F5344CB8AC3E}">
        <p14:creationId xmlns:p14="http://schemas.microsoft.com/office/powerpoint/2010/main" val="231429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355">
                                            <p:txEl>
                                              <p:pRg st="1" end="1"/>
                                            </p:txEl>
                                          </p:spTgt>
                                        </p:tgtEl>
                                        <p:attrNameLst>
                                          <p:attrName>style.visibility</p:attrName>
                                        </p:attrNameLst>
                                      </p:cBhvr>
                                      <p:to>
                                        <p:strVal val="visible"/>
                                      </p:to>
                                    </p:set>
                                    <p:animEffect transition="in" filter="wipe(left)">
                                      <p:cBhvr>
                                        <p:cTn id="7" dur="500"/>
                                        <p:tgtEl>
                                          <p:spTgt spid="1003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0355">
                                            <p:txEl>
                                              <p:pRg st="2" end="2"/>
                                            </p:txEl>
                                          </p:spTgt>
                                        </p:tgtEl>
                                        <p:attrNameLst>
                                          <p:attrName>style.visibility</p:attrName>
                                        </p:attrNameLst>
                                      </p:cBhvr>
                                      <p:to>
                                        <p:strVal val="visible"/>
                                      </p:to>
                                    </p:set>
                                    <p:animEffect transition="in" filter="wipe(left)">
                                      <p:cBhvr>
                                        <p:cTn id="12" dur="500"/>
                                        <p:tgtEl>
                                          <p:spTgt spid="1003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0355">
                                            <p:txEl>
                                              <p:pRg st="3" end="3"/>
                                            </p:txEl>
                                          </p:spTgt>
                                        </p:tgtEl>
                                        <p:attrNameLst>
                                          <p:attrName>style.visibility</p:attrName>
                                        </p:attrNameLst>
                                      </p:cBhvr>
                                      <p:to>
                                        <p:strVal val="visible"/>
                                      </p:to>
                                    </p:set>
                                    <p:animEffect transition="in" filter="wipe(left)">
                                      <p:cBhvr>
                                        <p:cTn id="17" dur="500"/>
                                        <p:tgtEl>
                                          <p:spTgt spid="10035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355">
                                            <p:txEl>
                                              <p:pRg st="4" end="4"/>
                                            </p:txEl>
                                          </p:spTgt>
                                        </p:tgtEl>
                                        <p:attrNameLst>
                                          <p:attrName>style.visibility</p:attrName>
                                        </p:attrNameLst>
                                      </p:cBhvr>
                                      <p:to>
                                        <p:strVal val="visible"/>
                                      </p:to>
                                    </p:set>
                                    <p:animEffect transition="in" filter="wipe(left)">
                                      <p:cBhvr>
                                        <p:cTn id="22" dur="500"/>
                                        <p:tgtEl>
                                          <p:spTgt spid="100355">
                                            <p:txEl>
                                              <p:pRg st="4" end="4"/>
                                            </p:txEl>
                                          </p:spTgt>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0355">
                                            <p:txEl>
                                              <p:pRg st="5" end="5"/>
                                            </p:txEl>
                                          </p:spTgt>
                                        </p:tgtEl>
                                        <p:attrNameLst>
                                          <p:attrName>style.visibility</p:attrName>
                                        </p:attrNameLst>
                                      </p:cBhvr>
                                      <p:to>
                                        <p:strVal val="visible"/>
                                      </p:to>
                                    </p:set>
                                    <p:animEffect transition="in" filter="wipe(left)">
                                      <p:cBhvr>
                                        <p:cTn id="26" dur="500"/>
                                        <p:tgtEl>
                                          <p:spTgt spid="100355">
                                            <p:txEl>
                                              <p:pRg st="5" end="5"/>
                                            </p:txEl>
                                          </p:spTgt>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00355">
                                            <p:txEl>
                                              <p:pRg st="6" end="6"/>
                                            </p:txEl>
                                          </p:spTgt>
                                        </p:tgtEl>
                                        <p:attrNameLst>
                                          <p:attrName>style.visibility</p:attrName>
                                        </p:attrNameLst>
                                      </p:cBhvr>
                                      <p:to>
                                        <p:strVal val="visible"/>
                                      </p:to>
                                    </p:set>
                                    <p:animEffect transition="in" filter="wipe(left)">
                                      <p:cBhvr>
                                        <p:cTn id="30" dur="500"/>
                                        <p:tgtEl>
                                          <p:spTgt spid="100355">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035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992313" y="188913"/>
            <a:ext cx="8229600" cy="1371600"/>
          </a:xfrm>
        </p:spPr>
        <p:txBody>
          <a:bodyPr/>
          <a:lstStyle/>
          <a:p>
            <a:pPr algn="ctr" eaLnBrk="1" hangingPunct="1"/>
            <a:r>
              <a:rPr lang="zh-CN" altLang="en-US">
                <a:solidFill>
                  <a:srgbClr val="008000"/>
                </a:solidFill>
                <a:ea typeface="黑体" pitchFamily="2" charset="-122"/>
              </a:rPr>
              <a:t>层次分析法的实现步骤</a:t>
            </a:r>
          </a:p>
        </p:txBody>
      </p:sp>
      <p:sp>
        <p:nvSpPr>
          <p:cNvPr id="101379" name="Rectangle 3"/>
          <p:cNvSpPr>
            <a:spLocks noGrp="1" noChangeArrowheads="1"/>
          </p:cNvSpPr>
          <p:nvPr>
            <p:ph type="body" sz="half" idx="1"/>
          </p:nvPr>
        </p:nvSpPr>
        <p:spPr>
          <a:xfrm>
            <a:off x="1055440" y="1412876"/>
            <a:ext cx="10657184" cy="5445125"/>
          </a:xfrm>
        </p:spPr>
        <p:txBody>
          <a:bodyPr/>
          <a:lstStyle/>
          <a:p>
            <a:pPr eaLnBrk="1" hangingPunct="1"/>
            <a:r>
              <a:rPr lang="zh-CN" altLang="en-US" dirty="0">
                <a:solidFill>
                  <a:srgbClr val="FF0000"/>
                </a:solidFill>
                <a:ea typeface="黑体" pitchFamily="2" charset="-122"/>
              </a:rPr>
              <a:t>第三步：</a:t>
            </a:r>
            <a:r>
              <a:rPr lang="zh-CN" altLang="en-US" u="sng" dirty="0">
                <a:solidFill>
                  <a:srgbClr val="FF0000"/>
                </a:solidFill>
                <a:ea typeface="黑体" pitchFamily="2" charset="-122"/>
              </a:rPr>
              <a:t>层次单排序</a:t>
            </a:r>
            <a:r>
              <a:rPr lang="zh-CN" altLang="en-US" dirty="0">
                <a:solidFill>
                  <a:srgbClr val="FF0000"/>
                </a:solidFill>
                <a:ea typeface="黑体" pitchFamily="2" charset="-122"/>
              </a:rPr>
              <a:t>及其一致性检验</a:t>
            </a:r>
          </a:p>
          <a:p>
            <a:pPr lvl="1" eaLnBrk="1" hangingPunct="1"/>
            <a:r>
              <a:rPr lang="zh-CN" altLang="en-US" dirty="0">
                <a:solidFill>
                  <a:srgbClr val="0000FF"/>
                </a:solidFill>
                <a:ea typeface="黑体" pitchFamily="2" charset="-122"/>
              </a:rPr>
              <a:t>一致性指标</a:t>
            </a:r>
            <a:r>
              <a:rPr lang="en-US" altLang="zh-CN" dirty="0">
                <a:solidFill>
                  <a:srgbClr val="0000FF"/>
                </a:solidFill>
                <a:ea typeface="楷体_GB2312" pitchFamily="49" charset="-122"/>
              </a:rPr>
              <a:t>C</a:t>
            </a:r>
            <a:r>
              <a:rPr lang="zh-CN" altLang="en-US" dirty="0">
                <a:solidFill>
                  <a:srgbClr val="0000FF"/>
                </a:solidFill>
                <a:ea typeface="楷体_GB2312" pitchFamily="49" charset="-122"/>
              </a:rPr>
              <a:t>：</a:t>
            </a:r>
            <a:r>
              <a:rPr lang="zh-CN" altLang="en-US" b="1" dirty="0">
                <a:ea typeface="楷体_GB2312" pitchFamily="49" charset="-122"/>
              </a:rPr>
              <a:t>用来衡量判断矩阵不一致程度的数量指标</a:t>
            </a:r>
          </a:p>
          <a:p>
            <a:pPr lvl="2" eaLnBrk="1" hangingPunct="1"/>
            <a:endParaRPr lang="zh-CN" altLang="en-US" sz="2000" b="1" dirty="0">
              <a:ea typeface="楷体_GB2312" pitchFamily="49" charset="-122"/>
            </a:endParaRPr>
          </a:p>
          <a:p>
            <a:pPr lvl="2" eaLnBrk="1" hangingPunct="1"/>
            <a:endParaRPr lang="zh-CN" altLang="en-US" sz="3200" b="1" dirty="0">
              <a:ea typeface="楷体_GB2312" pitchFamily="49" charset="-122"/>
            </a:endParaRPr>
          </a:p>
          <a:p>
            <a:pPr lvl="2" eaLnBrk="1" hangingPunct="1"/>
            <a:r>
              <a:rPr lang="zh-CN" altLang="en-US" sz="2800" b="1" dirty="0">
                <a:ea typeface="楷体_GB2312" pitchFamily="49" charset="-122"/>
              </a:rPr>
              <a:t>引入</a:t>
            </a:r>
            <a:r>
              <a:rPr lang="zh-CN" altLang="en-US" sz="2800" b="1" dirty="0">
                <a:solidFill>
                  <a:srgbClr val="CC0099"/>
                </a:solidFill>
                <a:ea typeface="楷体_GB2312" pitchFamily="49" charset="-122"/>
              </a:rPr>
              <a:t>随机一致性指标</a:t>
            </a:r>
            <a:r>
              <a:rPr lang="en-US" altLang="zh-CN" sz="2800" b="1" i="1" dirty="0">
                <a:solidFill>
                  <a:srgbClr val="CC0099"/>
                </a:solidFill>
                <a:ea typeface="楷体_GB2312" pitchFamily="49" charset="-122"/>
              </a:rPr>
              <a:t>R</a:t>
            </a:r>
          </a:p>
          <a:p>
            <a:pPr lvl="2" eaLnBrk="1" hangingPunct="1"/>
            <a:endParaRPr lang="en-US" altLang="zh-CN" sz="1800" b="1" dirty="0">
              <a:solidFill>
                <a:srgbClr val="CC0099"/>
              </a:solidFill>
              <a:ea typeface="楷体_GB2312" pitchFamily="49" charset="-122"/>
            </a:endParaRPr>
          </a:p>
          <a:p>
            <a:pPr lvl="2" eaLnBrk="1" hangingPunct="1"/>
            <a:endParaRPr lang="en-US" altLang="zh-CN" sz="3200" b="1" dirty="0">
              <a:ea typeface="楷体_GB2312" pitchFamily="49" charset="-122"/>
            </a:endParaRPr>
          </a:p>
          <a:p>
            <a:pPr lvl="2" eaLnBrk="1" hangingPunct="1"/>
            <a:endParaRPr lang="en-US" altLang="zh-CN" sz="2000" b="1" dirty="0">
              <a:solidFill>
                <a:srgbClr val="0000FF"/>
              </a:solidFill>
              <a:ea typeface="楷体_GB2312" pitchFamily="49" charset="-122"/>
            </a:endParaRPr>
          </a:p>
          <a:p>
            <a:pPr lvl="2" eaLnBrk="1" hangingPunct="1"/>
            <a:endParaRPr lang="en-US" altLang="zh-CN" sz="2800" b="1" dirty="0">
              <a:solidFill>
                <a:srgbClr val="0000FF"/>
              </a:solidFill>
              <a:ea typeface="楷体_GB2312" pitchFamily="49" charset="-122"/>
            </a:endParaRPr>
          </a:p>
          <a:p>
            <a:pPr lvl="2" eaLnBrk="1" hangingPunct="1"/>
            <a:r>
              <a:rPr lang="zh-CN" altLang="en-US" sz="2800" b="1" dirty="0">
                <a:ea typeface="楷体_GB2312" pitchFamily="49" charset="-122"/>
              </a:rPr>
              <a:t>当</a:t>
            </a:r>
            <a:r>
              <a:rPr lang="zh-CN" altLang="en-US" sz="2800" b="1" dirty="0">
                <a:solidFill>
                  <a:srgbClr val="FF0000"/>
                </a:solidFill>
                <a:ea typeface="楷体_GB2312" pitchFamily="49" charset="-122"/>
              </a:rPr>
              <a:t>随机一致性比例</a:t>
            </a:r>
            <a:r>
              <a:rPr lang="en-US" altLang="zh-CN" sz="2800" b="1" i="1" dirty="0">
                <a:solidFill>
                  <a:srgbClr val="FF0000"/>
                </a:solidFill>
                <a:ea typeface="楷体_GB2312" pitchFamily="49" charset="-122"/>
              </a:rPr>
              <a:t>C</a:t>
            </a:r>
            <a:r>
              <a:rPr lang="en-US" altLang="zh-CN" sz="2800" b="1" i="1" baseline="-25000" dirty="0">
                <a:solidFill>
                  <a:srgbClr val="FF0000"/>
                </a:solidFill>
                <a:ea typeface="楷体_GB2312" pitchFamily="49" charset="-122"/>
              </a:rPr>
              <a:t>R</a:t>
            </a:r>
            <a:r>
              <a:rPr lang="en-US" altLang="zh-CN" sz="2800" b="1" baseline="-25000" dirty="0">
                <a:solidFill>
                  <a:srgbClr val="FF0000"/>
                </a:solidFill>
                <a:ea typeface="楷体_GB2312" pitchFamily="49" charset="-122"/>
              </a:rPr>
              <a:t> </a:t>
            </a:r>
            <a:r>
              <a:rPr lang="en-US" altLang="zh-CN" sz="2800" b="1" dirty="0">
                <a:solidFill>
                  <a:srgbClr val="FF0000"/>
                </a:solidFill>
                <a:ea typeface="楷体_GB2312" pitchFamily="49" charset="-122"/>
              </a:rPr>
              <a:t>=</a:t>
            </a:r>
            <a:r>
              <a:rPr lang="en-US" altLang="zh-CN" sz="2800" b="1" i="1" dirty="0">
                <a:solidFill>
                  <a:srgbClr val="FF0000"/>
                </a:solidFill>
                <a:ea typeface="楷体_GB2312" pitchFamily="49" charset="-122"/>
              </a:rPr>
              <a:t>C</a:t>
            </a:r>
            <a:r>
              <a:rPr lang="en-US" altLang="zh-CN" sz="2800" b="1" dirty="0">
                <a:solidFill>
                  <a:srgbClr val="FF0000"/>
                </a:solidFill>
                <a:ea typeface="楷体_GB2312" pitchFamily="49" charset="-122"/>
              </a:rPr>
              <a:t>/</a:t>
            </a:r>
            <a:r>
              <a:rPr lang="en-US" altLang="zh-CN" sz="2800" b="1" i="1" dirty="0">
                <a:solidFill>
                  <a:srgbClr val="FF0000"/>
                </a:solidFill>
                <a:ea typeface="楷体_GB2312" pitchFamily="49" charset="-122"/>
              </a:rPr>
              <a:t>R</a:t>
            </a:r>
            <a:r>
              <a:rPr lang="en-US" altLang="zh-CN" sz="2800" b="1" dirty="0">
                <a:solidFill>
                  <a:srgbClr val="FF0000"/>
                </a:solidFill>
                <a:ea typeface="楷体_GB2312" pitchFamily="49" charset="-122"/>
              </a:rPr>
              <a:t>&lt;0.1</a:t>
            </a:r>
            <a:r>
              <a:rPr lang="zh-CN" altLang="en-US" sz="2800" b="1" dirty="0">
                <a:ea typeface="楷体_GB2312" pitchFamily="49" charset="-122"/>
              </a:rPr>
              <a:t>时，</a:t>
            </a:r>
            <a:r>
              <a:rPr lang="en-US" altLang="zh-CN" sz="2800" b="1" i="1" dirty="0">
                <a:ea typeface="楷体_GB2312" pitchFamily="49" charset="-122"/>
              </a:rPr>
              <a:t>A</a:t>
            </a:r>
            <a:r>
              <a:rPr lang="zh-CN" altLang="en-US" sz="2800" b="1" dirty="0">
                <a:ea typeface="楷体_GB2312" pitchFamily="49" charset="-122"/>
              </a:rPr>
              <a:t>的不一致性仍可接受，否则必须调整</a:t>
            </a:r>
            <a:r>
              <a:rPr lang="zh-CN" altLang="en-US" sz="2800" b="1" u="sng" dirty="0">
                <a:ea typeface="楷体_GB2312" pitchFamily="49" charset="-122"/>
              </a:rPr>
              <a:t>判断矩阵</a:t>
            </a:r>
            <a:r>
              <a:rPr lang="zh-CN" altLang="en-US" sz="2800" b="1" dirty="0">
                <a:ea typeface="楷体_GB2312" pitchFamily="49" charset="-122"/>
              </a:rPr>
              <a:t>。</a:t>
            </a:r>
          </a:p>
        </p:txBody>
      </p:sp>
      <p:graphicFrame>
        <p:nvGraphicFramePr>
          <p:cNvPr id="101380" name="Object 4"/>
          <p:cNvGraphicFramePr>
            <a:graphicFrameLocks noGrp="1" noChangeAspect="1"/>
          </p:cNvGraphicFramePr>
          <p:nvPr>
            <p:ph sz="quarter" idx="2"/>
            <p:extLst>
              <p:ext uri="{D42A27DB-BD31-4B8C-83A1-F6EECF244321}">
                <p14:modId xmlns:p14="http://schemas.microsoft.com/office/powerpoint/2010/main" val="3713356651"/>
              </p:ext>
            </p:extLst>
          </p:nvPr>
        </p:nvGraphicFramePr>
        <p:xfrm>
          <a:off x="3287688" y="2562586"/>
          <a:ext cx="1584325" cy="779462"/>
        </p:xfrm>
        <a:graphic>
          <a:graphicData uri="http://schemas.openxmlformats.org/presentationml/2006/ole">
            <mc:AlternateContent xmlns:mc="http://schemas.openxmlformats.org/markup-compatibility/2006">
              <mc:Choice xmlns:v="urn:schemas-microsoft-com:vml" Requires="v">
                <p:oleObj name="公式" r:id="rId3" imgW="799753" imgH="393529" progId="Equation.3">
                  <p:embed/>
                </p:oleObj>
              </mc:Choice>
              <mc:Fallback>
                <p:oleObj name="公式" r:id="rId3" imgW="799753" imgH="393529" progId="Equation.3">
                  <p:embed/>
                  <p:pic>
                    <p:nvPicPr>
                      <p:cNvPr id="1013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688" y="2562586"/>
                        <a:ext cx="1584325" cy="77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382" name="Object 6"/>
          <p:cNvGraphicFramePr>
            <a:graphicFrameLocks noGrp="1" noChangeAspect="1"/>
          </p:cNvGraphicFramePr>
          <p:nvPr>
            <p:ph sz="quarter" idx="3"/>
            <p:extLst>
              <p:ext uri="{D42A27DB-BD31-4B8C-83A1-F6EECF244321}">
                <p14:modId xmlns:p14="http://schemas.microsoft.com/office/powerpoint/2010/main" val="2216197964"/>
              </p:ext>
            </p:extLst>
          </p:nvPr>
        </p:nvGraphicFramePr>
        <p:xfrm>
          <a:off x="2279650" y="3868738"/>
          <a:ext cx="6911975" cy="785812"/>
        </p:xfrm>
        <a:graphic>
          <a:graphicData uri="http://schemas.openxmlformats.org/presentationml/2006/ole">
            <mc:AlternateContent xmlns:mc="http://schemas.openxmlformats.org/markup-compatibility/2006">
              <mc:Choice xmlns:v="urn:schemas-microsoft-com:vml" Requires="v">
                <p:oleObj name="Equation" r:id="rId5" imgW="3682800" imgH="419040" progId="Equation.DSMT4">
                  <p:embed/>
                </p:oleObj>
              </mc:Choice>
              <mc:Fallback>
                <p:oleObj name="Equation" r:id="rId5" imgW="3682800" imgH="419040" progId="Equation.DSMT4">
                  <p:embed/>
                  <p:pic>
                    <p:nvPicPr>
                      <p:cNvPr id="101382" name="Object 6"/>
                      <p:cNvPicPr>
                        <a:picLocks noChangeAspect="1" noChangeArrowheads="1"/>
                      </p:cNvPicPr>
                      <p:nvPr/>
                    </p:nvPicPr>
                    <p:blipFill>
                      <a:blip r:embed="rId6"/>
                      <a:srcRect/>
                      <a:stretch>
                        <a:fillRect/>
                      </a:stretch>
                    </p:blipFill>
                    <p:spPr bwMode="auto">
                      <a:xfrm>
                        <a:off x="2279650" y="3868738"/>
                        <a:ext cx="6911975"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51" name="Group 75"/>
          <p:cNvGraphicFramePr>
            <a:graphicFrameLocks noGrp="1"/>
          </p:cNvGraphicFramePr>
          <p:nvPr>
            <p:extLst>
              <p:ext uri="{D42A27DB-BD31-4B8C-83A1-F6EECF244321}">
                <p14:modId xmlns:p14="http://schemas.microsoft.com/office/powerpoint/2010/main" val="2369210943"/>
              </p:ext>
            </p:extLst>
          </p:nvPr>
        </p:nvGraphicFramePr>
        <p:xfrm>
          <a:off x="1487488" y="4725569"/>
          <a:ext cx="9359872" cy="914400"/>
        </p:xfrm>
        <a:graphic>
          <a:graphicData uri="http://schemas.openxmlformats.org/drawingml/2006/table">
            <a:tbl>
              <a:tblPr/>
              <a:tblGrid>
                <a:gridCol w="1059461">
                  <a:extLst>
                    <a:ext uri="{9D8B030D-6E8A-4147-A177-3AD203B41FA5}">
                      <a16:colId xmlns:a16="http://schemas.microsoft.com/office/drawing/2014/main" val="20000"/>
                    </a:ext>
                  </a:extLst>
                </a:gridCol>
                <a:gridCol w="884182">
                  <a:extLst>
                    <a:ext uri="{9D8B030D-6E8A-4147-A177-3AD203B41FA5}">
                      <a16:colId xmlns:a16="http://schemas.microsoft.com/office/drawing/2014/main" val="20001"/>
                    </a:ext>
                  </a:extLst>
                </a:gridCol>
                <a:gridCol w="1061408">
                  <a:extLst>
                    <a:ext uri="{9D8B030D-6E8A-4147-A177-3AD203B41FA5}">
                      <a16:colId xmlns:a16="http://schemas.microsoft.com/office/drawing/2014/main" val="20002"/>
                    </a:ext>
                  </a:extLst>
                </a:gridCol>
                <a:gridCol w="794597">
                  <a:extLst>
                    <a:ext uri="{9D8B030D-6E8A-4147-A177-3AD203B41FA5}">
                      <a16:colId xmlns:a16="http://schemas.microsoft.com/office/drawing/2014/main" val="20003"/>
                    </a:ext>
                  </a:extLst>
                </a:gridCol>
                <a:gridCol w="882236">
                  <a:extLst>
                    <a:ext uri="{9D8B030D-6E8A-4147-A177-3AD203B41FA5}">
                      <a16:colId xmlns:a16="http://schemas.microsoft.com/office/drawing/2014/main" val="20004"/>
                    </a:ext>
                  </a:extLst>
                </a:gridCol>
                <a:gridCol w="934818">
                  <a:extLst>
                    <a:ext uri="{9D8B030D-6E8A-4147-A177-3AD203B41FA5}">
                      <a16:colId xmlns:a16="http://schemas.microsoft.com/office/drawing/2014/main" val="20005"/>
                    </a:ext>
                  </a:extLst>
                </a:gridCol>
                <a:gridCol w="934818">
                  <a:extLst>
                    <a:ext uri="{9D8B030D-6E8A-4147-A177-3AD203B41FA5}">
                      <a16:colId xmlns:a16="http://schemas.microsoft.com/office/drawing/2014/main" val="20006"/>
                    </a:ext>
                  </a:extLst>
                </a:gridCol>
                <a:gridCol w="868603">
                  <a:extLst>
                    <a:ext uri="{9D8B030D-6E8A-4147-A177-3AD203B41FA5}">
                      <a16:colId xmlns:a16="http://schemas.microsoft.com/office/drawing/2014/main" val="20007"/>
                    </a:ext>
                  </a:extLst>
                </a:gridCol>
                <a:gridCol w="971822">
                  <a:extLst>
                    <a:ext uri="{9D8B030D-6E8A-4147-A177-3AD203B41FA5}">
                      <a16:colId xmlns:a16="http://schemas.microsoft.com/office/drawing/2014/main" val="20008"/>
                    </a:ext>
                  </a:extLst>
                </a:gridCol>
                <a:gridCol w="967927">
                  <a:extLst>
                    <a:ext uri="{9D8B030D-6E8A-4147-A177-3AD203B41FA5}">
                      <a16:colId xmlns:a16="http://schemas.microsoft.com/office/drawing/2014/main" val="20009"/>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1" u="none" strike="noStrike" cap="none" normalizeH="0" baseline="0" dirty="0">
                          <a:ln>
                            <a:noFill/>
                          </a:ln>
                          <a:solidFill>
                            <a:schemeClr val="tx1"/>
                          </a:solidFill>
                          <a:effectLst/>
                          <a:latin typeface="Arial" charset="0"/>
                          <a:ea typeface="楷体_GB2312" pitchFamily="49" charset="-122"/>
                        </a:rPr>
                        <a:t>n</a:t>
                      </a:r>
                      <a:endParaRPr kumimoji="0" lang="en-US" altLang="zh-CN" sz="2400" b="1" i="1" u="none" strike="noStrike" cap="none" normalizeH="0" baseline="-25000" dirty="0">
                        <a:ln>
                          <a:noFill/>
                        </a:ln>
                        <a:solidFill>
                          <a:schemeClr val="tx1"/>
                        </a:solidFill>
                        <a:effectLst/>
                        <a:latin typeface="Arial"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楷体_GB2312" pitchFamily="49" charset="-122"/>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楷体_GB2312" pitchFamily="49" charset="-122"/>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楷体_GB2312" pitchFamily="49" charset="-122"/>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dirty="0">
                          <a:ln>
                            <a:noFill/>
                          </a:ln>
                          <a:solidFill>
                            <a:schemeClr val="tx1"/>
                          </a:solidFill>
                          <a:effectLst/>
                          <a:latin typeface="Arial" charset="0"/>
                          <a:ea typeface="楷体_GB2312" pitchFamily="49" charset="-122"/>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66"/>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1" i="1" u="none" strike="noStrike" cap="none" normalizeH="0" baseline="0" dirty="0">
                          <a:ln>
                            <a:noFill/>
                          </a:ln>
                          <a:solidFill>
                            <a:schemeClr val="tx1"/>
                          </a:solidFill>
                          <a:effectLst/>
                          <a:latin typeface="Arial" charset="0"/>
                          <a:ea typeface="楷体_GB2312" pitchFamily="49" charset="-122"/>
                        </a:rPr>
                        <a:t>R</a:t>
                      </a:r>
                      <a:endParaRPr kumimoji="0" lang="en-US" altLang="zh-CN" sz="2400" b="1" i="1" u="none" strike="noStrike" cap="none" normalizeH="0" baseline="-25000" dirty="0">
                        <a:ln>
                          <a:noFill/>
                        </a:ln>
                        <a:solidFill>
                          <a:schemeClr val="tx1"/>
                        </a:solidFill>
                        <a:effectLst/>
                        <a:latin typeface="Arial"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0.58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0.90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1.12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1.24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1.32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1.41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1.45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1.49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400" b="0" i="0" u="none" strike="noStrike" cap="none" normalizeH="0" baseline="0" dirty="0">
                          <a:ln>
                            <a:noFill/>
                          </a:ln>
                          <a:solidFill>
                            <a:schemeClr val="tx1"/>
                          </a:solidFill>
                          <a:effectLst/>
                          <a:latin typeface="Arial" charset="0"/>
                          <a:ea typeface="宋体" pitchFamily="2" charset="-122"/>
                        </a:rPr>
                        <a:t>1.51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文本框 2">
            <a:extLst>
              <a:ext uri="{FF2B5EF4-FFF2-40B4-BE49-F238E27FC236}">
                <a16:creationId xmlns:a16="http://schemas.microsoft.com/office/drawing/2014/main" id="{717E8FB3-F54B-E2C1-E053-2856B953EF4C}"/>
              </a:ext>
            </a:extLst>
          </p:cNvPr>
          <p:cNvSpPr txBox="1"/>
          <p:nvPr/>
        </p:nvSpPr>
        <p:spPr>
          <a:xfrm>
            <a:off x="5735563" y="2562586"/>
            <a:ext cx="5616624" cy="830997"/>
          </a:xfrm>
          <a:prstGeom prst="rect">
            <a:avLst/>
          </a:prstGeom>
          <a:solidFill>
            <a:schemeClr val="bg1">
              <a:lumMod val="85000"/>
            </a:schemeClr>
          </a:solidFill>
        </p:spPr>
        <p:txBody>
          <a:bodyPr wrap="square">
            <a:spAutoFit/>
          </a:bodyPr>
          <a:lstStyle/>
          <a:p>
            <a:pPr eaLnBrk="1" hangingPunct="1"/>
            <a:r>
              <a:rPr lang="zh-CN" altLang="en-US" sz="2400" b="1" dirty="0">
                <a:solidFill>
                  <a:srgbClr val="008000"/>
                </a:solidFill>
                <a:ea typeface="楷体_GB2312" pitchFamily="49" charset="-122"/>
              </a:rPr>
              <a:t>当</a:t>
            </a:r>
            <a:r>
              <a:rPr lang="en-US" altLang="zh-CN" sz="2400" b="1" dirty="0">
                <a:solidFill>
                  <a:srgbClr val="008000"/>
                </a:solidFill>
                <a:ea typeface="楷体_GB2312" pitchFamily="49" charset="-122"/>
              </a:rPr>
              <a:t>C=0</a:t>
            </a:r>
            <a:r>
              <a:rPr lang="zh-CN" altLang="en-US" sz="2400" b="1" dirty="0">
                <a:solidFill>
                  <a:srgbClr val="008000"/>
                </a:solidFill>
                <a:ea typeface="楷体_GB2312" pitchFamily="49" charset="-122"/>
              </a:rPr>
              <a:t>时，判断矩阵是一致的</a:t>
            </a:r>
          </a:p>
          <a:p>
            <a:pPr eaLnBrk="1" hangingPunct="1"/>
            <a:r>
              <a:rPr lang="zh-CN" altLang="en-US" sz="2400" b="1" dirty="0">
                <a:solidFill>
                  <a:srgbClr val="996633"/>
                </a:solidFill>
                <a:ea typeface="楷体_GB2312" pitchFamily="49" charset="-122"/>
              </a:rPr>
              <a:t>当</a:t>
            </a:r>
            <a:r>
              <a:rPr lang="en-US" altLang="zh-CN" sz="2400" b="1" dirty="0">
                <a:solidFill>
                  <a:srgbClr val="996633"/>
                </a:solidFill>
                <a:ea typeface="楷体_GB2312" pitchFamily="49" charset="-122"/>
              </a:rPr>
              <a:t>C</a:t>
            </a:r>
            <a:r>
              <a:rPr lang="zh-CN" altLang="en-US" sz="2400" b="1" dirty="0">
                <a:solidFill>
                  <a:srgbClr val="996633"/>
                </a:solidFill>
                <a:ea typeface="楷体_GB2312" pitchFamily="49" charset="-122"/>
              </a:rPr>
              <a:t>值越大</a:t>
            </a:r>
            <a:r>
              <a:rPr lang="zh-CN" altLang="en-US" sz="2400" b="1" dirty="0">
                <a:solidFill>
                  <a:srgbClr val="996633"/>
                </a:solidFill>
              </a:rPr>
              <a:t>，</a:t>
            </a:r>
            <a:r>
              <a:rPr lang="zh-CN" altLang="en-US" sz="2400" b="1" dirty="0">
                <a:solidFill>
                  <a:srgbClr val="996633"/>
                </a:solidFill>
                <a:ea typeface="楷体_GB2312" pitchFamily="49" charset="-122"/>
              </a:rPr>
              <a:t>判断矩阵不一致程度越严重</a:t>
            </a:r>
          </a:p>
        </p:txBody>
      </p:sp>
      <p:sp>
        <p:nvSpPr>
          <p:cNvPr id="2" name="灯片编号占位符 1">
            <a:extLst>
              <a:ext uri="{FF2B5EF4-FFF2-40B4-BE49-F238E27FC236}">
                <a16:creationId xmlns:a16="http://schemas.microsoft.com/office/drawing/2014/main" id="{A129CE19-7889-6120-404B-52F04F08639B}"/>
              </a:ext>
            </a:extLst>
          </p:cNvPr>
          <p:cNvSpPr>
            <a:spLocks noGrp="1"/>
          </p:cNvSpPr>
          <p:nvPr>
            <p:ph type="sldNum" sz="quarter" idx="11"/>
          </p:nvPr>
        </p:nvSpPr>
        <p:spPr/>
        <p:txBody>
          <a:bodyPr/>
          <a:lstStyle/>
          <a:p>
            <a:pPr>
              <a:defRPr/>
            </a:pPr>
            <a:fld id="{AEE3D6A2-45AE-49BA-A8D8-5E8D3DAE5436}" type="slidenum">
              <a:rPr lang="en-US" altLang="zh-CN" smtClean="0"/>
              <a:pPr>
                <a:defRPr/>
              </a:pPr>
              <a:t>11</a:t>
            </a:fld>
            <a:endParaRPr lang="en-US" altLang="zh-CN"/>
          </a:p>
        </p:txBody>
      </p:sp>
    </p:spTree>
    <p:extLst>
      <p:ext uri="{BB962C8B-B14F-4D97-AF65-F5344CB8AC3E}">
        <p14:creationId xmlns:p14="http://schemas.microsoft.com/office/powerpoint/2010/main" val="2765741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79">
                                            <p:txEl>
                                              <p:pRg st="1" end="1"/>
                                            </p:txEl>
                                          </p:spTgt>
                                        </p:tgtEl>
                                        <p:attrNameLst>
                                          <p:attrName>style.visibility</p:attrName>
                                        </p:attrNameLst>
                                      </p:cBhvr>
                                      <p:to>
                                        <p:strVal val="visible"/>
                                      </p:to>
                                    </p:set>
                                    <p:animEffect transition="in" filter="wipe(left)">
                                      <p:cBhvr>
                                        <p:cTn id="7" dur="500"/>
                                        <p:tgtEl>
                                          <p:spTgt spid="10137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1380"/>
                                        </p:tgtEl>
                                        <p:attrNameLst>
                                          <p:attrName>style.visibility</p:attrName>
                                        </p:attrNameLst>
                                      </p:cBhvr>
                                      <p:to>
                                        <p:strVal val="visible"/>
                                      </p:to>
                                    </p:set>
                                    <p:animEffect transition="in" filter="wipe(left)">
                                      <p:cBhvr>
                                        <p:cTn id="12" dur="500"/>
                                        <p:tgtEl>
                                          <p:spTgt spid="1013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1379">
                                            <p:txEl>
                                              <p:pRg st="4" end="4"/>
                                            </p:txEl>
                                          </p:spTgt>
                                        </p:tgtEl>
                                        <p:attrNameLst>
                                          <p:attrName>style.visibility</p:attrName>
                                        </p:attrNameLst>
                                      </p:cBhvr>
                                      <p:to>
                                        <p:strVal val="visible"/>
                                      </p:to>
                                    </p:set>
                                    <p:animEffect transition="in" filter="wipe(left)">
                                      <p:cBhvr>
                                        <p:cTn id="22" dur="500"/>
                                        <p:tgtEl>
                                          <p:spTgt spid="101379">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01382"/>
                                        </p:tgtEl>
                                        <p:attrNameLst>
                                          <p:attrName>style.visibility</p:attrName>
                                        </p:attrNameLst>
                                      </p:cBhvr>
                                      <p:to>
                                        <p:strVal val="visible"/>
                                      </p:to>
                                    </p:set>
                                    <p:animEffect transition="in" filter="wipe(left)">
                                      <p:cBhvr>
                                        <p:cTn id="27" dur="500"/>
                                        <p:tgtEl>
                                          <p:spTgt spid="1013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101451"/>
                                        </p:tgtEl>
                                        <p:attrNameLst>
                                          <p:attrName>style.visibility</p:attrName>
                                        </p:attrNameLst>
                                      </p:cBhvr>
                                      <p:to>
                                        <p:strVal val="visible"/>
                                      </p:to>
                                    </p:set>
                                    <p:animEffect transition="in" filter="wipe(up)">
                                      <p:cBhvr>
                                        <p:cTn id="32" dur="500"/>
                                        <p:tgtEl>
                                          <p:spTgt spid="1014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1379">
                                            <p:txEl>
                                              <p:pRg st="9" end="9"/>
                                            </p:txEl>
                                          </p:spTgt>
                                        </p:tgtEl>
                                        <p:attrNameLst>
                                          <p:attrName>style.visibility</p:attrName>
                                        </p:attrNameLst>
                                      </p:cBhvr>
                                      <p:to>
                                        <p:strVal val="visible"/>
                                      </p:to>
                                    </p:set>
                                    <p:animEffect transition="in" filter="wipe(left)">
                                      <p:cBhvr>
                                        <p:cTn id="37" dur="500"/>
                                        <p:tgtEl>
                                          <p:spTgt spid="1013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uiExpand="1" build="p"/>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271464" y="185192"/>
            <a:ext cx="10009111" cy="1371600"/>
          </a:xfrm>
        </p:spPr>
        <p:txBody>
          <a:bodyPr/>
          <a:lstStyle/>
          <a:p>
            <a:pPr eaLnBrk="1" hangingPunct="1"/>
            <a:r>
              <a:rPr lang="en-US" altLang="zh-CN" b="1" dirty="0">
                <a:solidFill>
                  <a:srgbClr val="FF0000"/>
                </a:solidFill>
                <a:ea typeface="楷体_GB2312" pitchFamily="49" charset="-122"/>
              </a:rPr>
              <a:t>A</a:t>
            </a:r>
            <a:r>
              <a:rPr lang="en-US" altLang="zh-CN" b="1" dirty="0">
                <a:solidFill>
                  <a:srgbClr val="CC00CC"/>
                </a:solidFill>
                <a:ea typeface="楷体_GB2312" pitchFamily="49" charset="-122"/>
              </a:rPr>
              <a:t>W</a:t>
            </a:r>
            <a:r>
              <a:rPr lang="en-US" altLang="zh-CN" b="1" dirty="0">
                <a:solidFill>
                  <a:srgbClr val="FF0000"/>
                </a:solidFill>
                <a:ea typeface="楷体_GB2312" pitchFamily="49" charset="-122"/>
              </a:rPr>
              <a:t>=</a:t>
            </a:r>
            <a:r>
              <a:rPr lang="el-GR" altLang="zh-CN" b="1" dirty="0">
                <a:solidFill>
                  <a:srgbClr val="FF0000"/>
                </a:solidFill>
                <a:ea typeface="楷体_GB2312" pitchFamily="49" charset="-122"/>
              </a:rPr>
              <a:t>λ</a:t>
            </a:r>
            <a:r>
              <a:rPr lang="en-US" altLang="zh-CN" b="1" baseline="-25000" dirty="0" err="1">
                <a:solidFill>
                  <a:srgbClr val="FF0000"/>
                </a:solidFill>
                <a:ea typeface="楷体_GB2312" pitchFamily="49" charset="-122"/>
              </a:rPr>
              <a:t>max</a:t>
            </a:r>
            <a:r>
              <a:rPr lang="en-US" altLang="zh-CN" b="1" dirty="0" err="1">
                <a:solidFill>
                  <a:srgbClr val="CC00CC"/>
                </a:solidFill>
                <a:ea typeface="楷体_GB2312" pitchFamily="49" charset="-122"/>
              </a:rPr>
              <a:t>W</a:t>
            </a:r>
            <a:r>
              <a:rPr lang="zh-CN" altLang="en-US" sz="4000" dirty="0">
                <a:solidFill>
                  <a:srgbClr val="008000"/>
                </a:solidFill>
                <a:ea typeface="黑体" pitchFamily="2" charset="-122"/>
              </a:rPr>
              <a:t>的</a:t>
            </a:r>
            <a:r>
              <a:rPr lang="zh-CN" altLang="en-US" dirty="0">
                <a:solidFill>
                  <a:srgbClr val="008000"/>
                </a:solidFill>
                <a:ea typeface="黑体" pitchFamily="2" charset="-122"/>
              </a:rPr>
              <a:t>特征向量</a:t>
            </a:r>
            <a:r>
              <a:rPr lang="zh-CN" altLang="en-US" sz="4000" dirty="0">
                <a:solidFill>
                  <a:srgbClr val="008000"/>
                </a:solidFill>
                <a:ea typeface="黑体" pitchFamily="2" charset="-122"/>
              </a:rPr>
              <a:t>与</a:t>
            </a:r>
            <a:r>
              <a:rPr lang="zh-CN" altLang="en-US" dirty="0">
                <a:solidFill>
                  <a:srgbClr val="008000"/>
                </a:solidFill>
                <a:ea typeface="黑体" pitchFamily="2" charset="-122"/>
              </a:rPr>
              <a:t>特征值的计算</a:t>
            </a:r>
          </a:p>
        </p:txBody>
      </p:sp>
      <p:sp>
        <p:nvSpPr>
          <p:cNvPr id="108547" name="Rectangle 3"/>
          <p:cNvSpPr>
            <a:spLocks noGrp="1" noChangeArrowheads="1"/>
          </p:cNvSpPr>
          <p:nvPr>
            <p:ph type="body" sz="half" idx="1"/>
          </p:nvPr>
        </p:nvSpPr>
        <p:spPr>
          <a:xfrm>
            <a:off x="911424" y="1412777"/>
            <a:ext cx="10657184" cy="3925064"/>
          </a:xfrm>
        </p:spPr>
        <p:txBody>
          <a:bodyPr/>
          <a:lstStyle/>
          <a:p>
            <a:pPr eaLnBrk="1" hangingPunct="1"/>
            <a:r>
              <a:rPr lang="zh-CN" altLang="en-US" b="1" dirty="0">
                <a:ea typeface="楷体_GB2312" pitchFamily="49" charset="-122"/>
              </a:rPr>
              <a:t>对任意</a:t>
            </a:r>
            <a:r>
              <a:rPr lang="en-US" altLang="zh-CN" b="1" dirty="0">
                <a:ea typeface="楷体_GB2312" pitchFamily="49" charset="-122"/>
              </a:rPr>
              <a:t>n</a:t>
            </a:r>
            <a:r>
              <a:rPr lang="zh-CN" altLang="en-US" b="1" dirty="0">
                <a:ea typeface="楷体_GB2312" pitchFamily="49" charset="-122"/>
              </a:rPr>
              <a:t>阶方阵</a:t>
            </a:r>
            <a:r>
              <a:rPr lang="en-US" altLang="zh-CN" b="1" dirty="0">
                <a:ea typeface="楷体_GB2312" pitchFamily="49" charset="-122"/>
              </a:rPr>
              <a:t>A</a:t>
            </a:r>
            <a:r>
              <a:rPr lang="zh-CN" altLang="en-US" b="1" dirty="0">
                <a:ea typeface="楷体_GB2312" pitchFamily="49" charset="-122"/>
              </a:rPr>
              <a:t>，其</a:t>
            </a:r>
            <a:r>
              <a:rPr lang="zh-CN" altLang="en-US" b="1" dirty="0">
                <a:solidFill>
                  <a:srgbClr val="FF0000"/>
                </a:solidFill>
                <a:ea typeface="楷体_GB2312" pitchFamily="49" charset="-122"/>
              </a:rPr>
              <a:t>特征值</a:t>
            </a:r>
            <a:r>
              <a:rPr lang="zh-CN" altLang="en-US" b="1" dirty="0">
                <a:ea typeface="楷体_GB2312" pitchFamily="49" charset="-122"/>
              </a:rPr>
              <a:t>与对应</a:t>
            </a:r>
            <a:r>
              <a:rPr lang="zh-CN" altLang="en-US" b="1" dirty="0">
                <a:solidFill>
                  <a:srgbClr val="CC00CC"/>
                </a:solidFill>
                <a:ea typeface="楷体_GB2312" pitchFamily="49" charset="-122"/>
              </a:rPr>
              <a:t>特征向量</a:t>
            </a:r>
            <a:r>
              <a:rPr lang="zh-CN" altLang="en-US" b="1" dirty="0">
                <a:ea typeface="楷体_GB2312" pitchFamily="49" charset="-122"/>
              </a:rPr>
              <a:t>用</a:t>
            </a:r>
            <a:r>
              <a:rPr lang="en-US" altLang="zh-CN" b="1" dirty="0">
                <a:solidFill>
                  <a:srgbClr val="008000"/>
                </a:solidFill>
                <a:ea typeface="楷体_GB2312" pitchFamily="49" charset="-122"/>
              </a:rPr>
              <a:t>MATLAB</a:t>
            </a:r>
            <a:r>
              <a:rPr lang="zh-CN" altLang="en-US" b="1" dirty="0">
                <a:ea typeface="楷体_GB2312" pitchFamily="49" charset="-122"/>
              </a:rPr>
              <a:t>软件计算方法是</a:t>
            </a:r>
          </a:p>
          <a:p>
            <a:pPr eaLnBrk="1" hangingPunct="1">
              <a:buFont typeface="Wingdings" pitchFamily="2" charset="2"/>
              <a:buNone/>
            </a:pPr>
            <a:r>
              <a:rPr lang="zh-CN" altLang="en-US" sz="3600" b="1" dirty="0">
                <a:solidFill>
                  <a:srgbClr val="660066"/>
                </a:solidFill>
                <a:ea typeface="楷体_GB2312" pitchFamily="49" charset="-122"/>
              </a:rPr>
              <a:t>                 </a:t>
            </a:r>
            <a:r>
              <a:rPr lang="en-US" altLang="zh-CN" sz="3600" b="1" dirty="0">
                <a:solidFill>
                  <a:srgbClr val="660066"/>
                </a:solidFill>
                <a:ea typeface="楷体_GB2312" pitchFamily="49" charset="-122"/>
              </a:rPr>
              <a:t>[</a:t>
            </a:r>
            <a:r>
              <a:rPr lang="en-US" altLang="zh-CN" sz="3600" b="1" dirty="0">
                <a:solidFill>
                  <a:srgbClr val="FF0000"/>
                </a:solidFill>
                <a:ea typeface="楷体_GB2312" pitchFamily="49" charset="-122"/>
              </a:rPr>
              <a:t>Y</a:t>
            </a:r>
            <a:r>
              <a:rPr lang="en-US" altLang="zh-CN" sz="3600" b="1" dirty="0">
                <a:solidFill>
                  <a:srgbClr val="660066"/>
                </a:solidFill>
                <a:ea typeface="楷体_GB2312" pitchFamily="49" charset="-122"/>
              </a:rPr>
              <a:t>, </a:t>
            </a:r>
            <a:r>
              <a:rPr lang="en-US" altLang="zh-CN" sz="3600" b="1" dirty="0">
                <a:solidFill>
                  <a:srgbClr val="CC00CC"/>
                </a:solidFill>
                <a:ea typeface="楷体_GB2312" pitchFamily="49" charset="-122"/>
              </a:rPr>
              <a:t>W</a:t>
            </a:r>
            <a:r>
              <a:rPr lang="en-US" altLang="zh-CN" sz="3600" b="1" dirty="0">
                <a:solidFill>
                  <a:srgbClr val="660066"/>
                </a:solidFill>
                <a:ea typeface="楷体_GB2312" pitchFamily="49" charset="-122"/>
              </a:rPr>
              <a:t>] = </a:t>
            </a:r>
            <a:r>
              <a:rPr lang="en-US" altLang="zh-CN" sz="3600" b="1" dirty="0" err="1">
                <a:solidFill>
                  <a:srgbClr val="660066"/>
                </a:solidFill>
                <a:ea typeface="楷体_GB2312" pitchFamily="49" charset="-122"/>
              </a:rPr>
              <a:t>eig</a:t>
            </a:r>
            <a:r>
              <a:rPr lang="en-US" altLang="zh-CN" sz="3600" b="1" dirty="0">
                <a:solidFill>
                  <a:srgbClr val="660066"/>
                </a:solidFill>
                <a:ea typeface="楷体_GB2312" pitchFamily="49" charset="-122"/>
              </a:rPr>
              <a:t>(</a:t>
            </a:r>
            <a:r>
              <a:rPr lang="en-US" altLang="zh-CN" sz="3600" b="1" dirty="0">
                <a:ea typeface="楷体_GB2312" pitchFamily="49" charset="-122"/>
              </a:rPr>
              <a:t>A</a:t>
            </a:r>
            <a:r>
              <a:rPr lang="en-US" altLang="zh-CN" sz="3600" b="1" dirty="0">
                <a:solidFill>
                  <a:srgbClr val="660066"/>
                </a:solidFill>
                <a:ea typeface="楷体_GB2312" pitchFamily="49" charset="-122"/>
              </a:rPr>
              <a:t>)</a:t>
            </a:r>
          </a:p>
          <a:p>
            <a:pPr eaLnBrk="1" hangingPunct="1"/>
            <a:r>
              <a:rPr lang="zh-CN" altLang="en-US" b="1" dirty="0">
                <a:ea typeface="楷体_GB2312" pitchFamily="49" charset="-122"/>
              </a:rPr>
              <a:t>其中，</a:t>
            </a:r>
          </a:p>
          <a:p>
            <a:pPr lvl="1" eaLnBrk="1" hangingPunct="1"/>
            <a:r>
              <a:rPr lang="zh-CN" altLang="en-US" b="1" dirty="0">
                <a:solidFill>
                  <a:srgbClr val="3333FF"/>
                </a:solidFill>
                <a:ea typeface="楷体_GB2312" pitchFamily="49" charset="-122"/>
              </a:rPr>
              <a:t>方阵</a:t>
            </a:r>
            <a:r>
              <a:rPr lang="en-US" altLang="zh-CN" b="1" dirty="0">
                <a:solidFill>
                  <a:srgbClr val="FF0000"/>
                </a:solidFill>
                <a:ea typeface="楷体_GB2312" pitchFamily="49" charset="-122"/>
              </a:rPr>
              <a:t>Y</a:t>
            </a:r>
            <a:r>
              <a:rPr lang="zh-CN" altLang="en-US" b="1" dirty="0">
                <a:solidFill>
                  <a:srgbClr val="3333FF"/>
                </a:solidFill>
                <a:ea typeface="楷体_GB2312" pitchFamily="49" charset="-122"/>
              </a:rPr>
              <a:t>的</a:t>
            </a:r>
            <a:r>
              <a:rPr lang="en-US" altLang="zh-CN" b="1" dirty="0">
                <a:solidFill>
                  <a:srgbClr val="3333FF"/>
                </a:solidFill>
                <a:ea typeface="楷体_GB2312" pitchFamily="49" charset="-122"/>
              </a:rPr>
              <a:t>n</a:t>
            </a:r>
            <a:r>
              <a:rPr lang="zh-CN" altLang="en-US" b="1" dirty="0">
                <a:solidFill>
                  <a:srgbClr val="3333FF"/>
                </a:solidFill>
                <a:ea typeface="楷体_GB2312" pitchFamily="49" charset="-122"/>
              </a:rPr>
              <a:t>个列向量分别表示</a:t>
            </a:r>
            <a:r>
              <a:rPr lang="en-US" altLang="zh-CN" b="1" dirty="0">
                <a:solidFill>
                  <a:srgbClr val="3333FF"/>
                </a:solidFill>
                <a:ea typeface="楷体_GB2312" pitchFamily="49" charset="-122"/>
              </a:rPr>
              <a:t>A</a:t>
            </a:r>
            <a:r>
              <a:rPr lang="zh-CN" altLang="en-US" b="1" dirty="0">
                <a:solidFill>
                  <a:srgbClr val="3333FF"/>
                </a:solidFill>
                <a:ea typeface="楷体_GB2312" pitchFamily="49" charset="-122"/>
              </a:rPr>
              <a:t>的</a:t>
            </a:r>
            <a:r>
              <a:rPr lang="en-US" altLang="zh-CN" b="1" dirty="0">
                <a:solidFill>
                  <a:srgbClr val="3333FF"/>
                </a:solidFill>
                <a:ea typeface="楷体_GB2312" pitchFamily="49" charset="-122"/>
              </a:rPr>
              <a:t>n</a:t>
            </a:r>
            <a:r>
              <a:rPr lang="zh-CN" altLang="en-US" b="1" dirty="0">
                <a:solidFill>
                  <a:srgbClr val="3333FF"/>
                </a:solidFill>
                <a:ea typeface="楷体_GB2312" pitchFamily="49" charset="-122"/>
              </a:rPr>
              <a:t>个</a:t>
            </a:r>
            <a:r>
              <a:rPr lang="zh-CN" altLang="en-US" b="1" dirty="0">
                <a:solidFill>
                  <a:srgbClr val="CC00CC"/>
                </a:solidFill>
                <a:ea typeface="楷体_GB2312" pitchFamily="49" charset="-122"/>
              </a:rPr>
              <a:t>特征向量</a:t>
            </a:r>
            <a:r>
              <a:rPr lang="zh-CN" altLang="en-US" b="1" dirty="0">
                <a:solidFill>
                  <a:srgbClr val="3333FF"/>
                </a:solidFill>
                <a:ea typeface="楷体_GB2312" pitchFamily="49" charset="-122"/>
              </a:rPr>
              <a:t>，</a:t>
            </a:r>
          </a:p>
          <a:p>
            <a:pPr lvl="1" eaLnBrk="1" hangingPunct="1"/>
            <a:r>
              <a:rPr lang="zh-CN" altLang="en-US" b="1" dirty="0">
                <a:solidFill>
                  <a:srgbClr val="3333FF"/>
                </a:solidFill>
                <a:ea typeface="楷体_GB2312" pitchFamily="49" charset="-122"/>
              </a:rPr>
              <a:t>方阵</a:t>
            </a:r>
            <a:r>
              <a:rPr lang="en-US" altLang="zh-CN" b="1" dirty="0">
                <a:solidFill>
                  <a:srgbClr val="CC00CC"/>
                </a:solidFill>
                <a:ea typeface="楷体_GB2312" pitchFamily="49" charset="-122"/>
              </a:rPr>
              <a:t>W</a:t>
            </a:r>
            <a:r>
              <a:rPr lang="zh-CN" altLang="en-US" b="1" dirty="0">
                <a:solidFill>
                  <a:srgbClr val="3333FF"/>
                </a:solidFill>
                <a:ea typeface="楷体_GB2312" pitchFamily="49" charset="-122"/>
              </a:rPr>
              <a:t>的对角线上的</a:t>
            </a:r>
            <a:r>
              <a:rPr lang="en-US" altLang="zh-CN" b="1" dirty="0">
                <a:solidFill>
                  <a:srgbClr val="3333FF"/>
                </a:solidFill>
                <a:ea typeface="楷体_GB2312" pitchFamily="49" charset="-122"/>
              </a:rPr>
              <a:t>n</a:t>
            </a:r>
            <a:r>
              <a:rPr lang="zh-CN" altLang="en-US" b="1" dirty="0">
                <a:solidFill>
                  <a:srgbClr val="3333FF"/>
                </a:solidFill>
                <a:ea typeface="楷体_GB2312" pitchFamily="49" charset="-122"/>
              </a:rPr>
              <a:t>个值分别表示</a:t>
            </a:r>
            <a:r>
              <a:rPr lang="en-US" altLang="zh-CN" b="1" dirty="0">
                <a:solidFill>
                  <a:srgbClr val="3333FF"/>
                </a:solidFill>
                <a:ea typeface="楷体_GB2312" pitchFamily="49" charset="-122"/>
              </a:rPr>
              <a:t>A</a:t>
            </a:r>
            <a:r>
              <a:rPr lang="zh-CN" altLang="en-US" b="1" dirty="0">
                <a:solidFill>
                  <a:srgbClr val="3333FF"/>
                </a:solidFill>
                <a:ea typeface="楷体_GB2312" pitchFamily="49" charset="-122"/>
              </a:rPr>
              <a:t>的</a:t>
            </a:r>
            <a:r>
              <a:rPr lang="en-US" altLang="zh-CN" b="1" dirty="0">
                <a:solidFill>
                  <a:srgbClr val="3333FF"/>
                </a:solidFill>
                <a:ea typeface="楷体_GB2312" pitchFamily="49" charset="-122"/>
              </a:rPr>
              <a:t>n</a:t>
            </a:r>
            <a:r>
              <a:rPr lang="zh-CN" altLang="en-US" b="1" dirty="0">
                <a:solidFill>
                  <a:srgbClr val="3333FF"/>
                </a:solidFill>
                <a:ea typeface="楷体_GB2312" pitchFamily="49" charset="-122"/>
              </a:rPr>
              <a:t>个</a:t>
            </a:r>
            <a:r>
              <a:rPr lang="zh-CN" altLang="en-US" b="1" dirty="0">
                <a:solidFill>
                  <a:srgbClr val="FF0000"/>
                </a:solidFill>
                <a:ea typeface="楷体_GB2312" pitchFamily="49" charset="-122"/>
              </a:rPr>
              <a:t>特征值</a:t>
            </a:r>
            <a:r>
              <a:rPr lang="zh-CN" altLang="en-US" b="1" dirty="0">
                <a:solidFill>
                  <a:srgbClr val="3333FF"/>
                </a:solidFill>
                <a:ea typeface="楷体_GB2312" pitchFamily="49" charset="-122"/>
              </a:rPr>
              <a:t>，顺序与特征向量一致。</a:t>
            </a:r>
            <a:endParaRPr lang="zh-CN" altLang="en-US" sz="3200" dirty="0">
              <a:solidFill>
                <a:srgbClr val="3333FF"/>
              </a:solidFill>
            </a:endParaRPr>
          </a:p>
        </p:txBody>
      </p:sp>
      <p:graphicFrame>
        <p:nvGraphicFramePr>
          <p:cNvPr id="2" name="对象 1">
            <a:extLst>
              <a:ext uri="{FF2B5EF4-FFF2-40B4-BE49-F238E27FC236}">
                <a16:creationId xmlns:a16="http://schemas.microsoft.com/office/drawing/2014/main" id="{7D7B98E8-2D4A-DD50-4886-92DA4D4C8AAA}"/>
              </a:ext>
            </a:extLst>
          </p:cNvPr>
          <p:cNvGraphicFramePr>
            <a:graphicFrameLocks noGrp="1" noChangeAspect="1"/>
          </p:cNvGraphicFramePr>
          <p:nvPr>
            <p:extLst>
              <p:ext uri="{D42A27DB-BD31-4B8C-83A1-F6EECF244321}">
                <p14:modId xmlns:p14="http://schemas.microsoft.com/office/powerpoint/2010/main" val="1153099301"/>
              </p:ext>
            </p:extLst>
          </p:nvPr>
        </p:nvGraphicFramePr>
        <p:xfrm>
          <a:off x="1631504" y="5295346"/>
          <a:ext cx="2410743" cy="1378284"/>
        </p:xfrm>
        <a:graphic>
          <a:graphicData uri="http://schemas.openxmlformats.org/presentationml/2006/ole">
            <mc:AlternateContent xmlns:mc="http://schemas.openxmlformats.org/markup-compatibility/2006">
              <mc:Choice xmlns:v="urn:schemas-microsoft-com:vml" Requires="v">
                <p:oleObj name="Equation" r:id="rId2" imgW="1244520" imgH="711000" progId="Equation.DSMT4">
                  <p:embed/>
                </p:oleObj>
              </mc:Choice>
              <mc:Fallback>
                <p:oleObj name="Equation" r:id="rId2" imgW="1244520" imgH="711000" progId="Equation.DSMT4">
                  <p:embed/>
                  <p:pic>
                    <p:nvPicPr>
                      <p:cNvPr id="2" name="对象 1">
                        <a:extLst>
                          <a:ext uri="{FF2B5EF4-FFF2-40B4-BE49-F238E27FC236}">
                            <a16:creationId xmlns:a16="http://schemas.microsoft.com/office/drawing/2014/main" id="{7D7B98E8-2D4A-DD50-4886-92DA4D4C8AAA}"/>
                          </a:ext>
                        </a:extLst>
                      </p:cNvPr>
                      <p:cNvPicPr>
                        <a:picLocks noGrp="1" noChangeAspect="1" noChangeArrowheads="1"/>
                      </p:cNvPicPr>
                      <p:nvPr/>
                    </p:nvPicPr>
                    <p:blipFill>
                      <a:blip r:embed="rId3"/>
                      <a:srcRect/>
                      <a:stretch>
                        <a:fillRect/>
                      </a:stretch>
                    </p:blipFill>
                    <p:spPr bwMode="auto">
                      <a:xfrm>
                        <a:off x="1631504" y="5295346"/>
                        <a:ext cx="2410743" cy="1378284"/>
                      </a:xfrm>
                      <a:prstGeom prst="rect">
                        <a:avLst/>
                      </a:prstGeom>
                      <a:noFill/>
                      <a:ln>
                        <a:noFill/>
                      </a:ln>
                      <a:effectLst/>
                    </p:spPr>
                  </p:pic>
                </p:oleObj>
              </mc:Fallback>
            </mc:AlternateContent>
          </a:graphicData>
        </a:graphic>
      </p:graphicFrame>
      <p:graphicFrame>
        <p:nvGraphicFramePr>
          <p:cNvPr id="3" name="对象 2">
            <a:extLst>
              <a:ext uri="{FF2B5EF4-FFF2-40B4-BE49-F238E27FC236}">
                <a16:creationId xmlns:a16="http://schemas.microsoft.com/office/drawing/2014/main" id="{5D983CD0-DF2F-4557-8DDE-DDF8142D6C9D}"/>
              </a:ext>
            </a:extLst>
          </p:cNvPr>
          <p:cNvGraphicFramePr>
            <a:graphicFrameLocks noGrp="1" noChangeAspect="1"/>
          </p:cNvGraphicFramePr>
          <p:nvPr>
            <p:extLst>
              <p:ext uri="{D42A27DB-BD31-4B8C-83A1-F6EECF244321}">
                <p14:modId xmlns:p14="http://schemas.microsoft.com/office/powerpoint/2010/main" val="2842971559"/>
              </p:ext>
            </p:extLst>
          </p:nvPr>
        </p:nvGraphicFramePr>
        <p:xfrm>
          <a:off x="5015880" y="5248835"/>
          <a:ext cx="5256584" cy="1398028"/>
        </p:xfrm>
        <a:graphic>
          <a:graphicData uri="http://schemas.openxmlformats.org/presentationml/2006/ole">
            <mc:AlternateContent xmlns:mc="http://schemas.openxmlformats.org/markup-compatibility/2006">
              <mc:Choice xmlns:v="urn:schemas-microsoft-com:vml" Requires="v">
                <p:oleObj name="Equation" r:id="rId4" imgW="2679480" imgH="711000" progId="Equation.DSMT4">
                  <p:embed/>
                </p:oleObj>
              </mc:Choice>
              <mc:Fallback>
                <p:oleObj name="Equation" r:id="rId4" imgW="2679480" imgH="711000" progId="Equation.DSMT4">
                  <p:embed/>
                  <p:pic>
                    <p:nvPicPr>
                      <p:cNvPr id="3" name="对象 2">
                        <a:extLst>
                          <a:ext uri="{FF2B5EF4-FFF2-40B4-BE49-F238E27FC236}">
                            <a16:creationId xmlns:a16="http://schemas.microsoft.com/office/drawing/2014/main" id="{5D983CD0-DF2F-4557-8DDE-DDF8142D6C9D}"/>
                          </a:ext>
                        </a:extLst>
                      </p:cNvPr>
                      <p:cNvPicPr>
                        <a:picLocks noGrp="1" noChangeAspect="1" noChangeArrowheads="1"/>
                      </p:cNvPicPr>
                      <p:nvPr/>
                    </p:nvPicPr>
                    <p:blipFill>
                      <a:blip r:embed="rId5"/>
                      <a:srcRect/>
                      <a:stretch>
                        <a:fillRect/>
                      </a:stretch>
                    </p:blipFill>
                    <p:spPr bwMode="auto">
                      <a:xfrm>
                        <a:off x="5015880" y="5248835"/>
                        <a:ext cx="5256584" cy="1398028"/>
                      </a:xfrm>
                      <a:prstGeom prst="rect">
                        <a:avLst/>
                      </a:prstGeom>
                      <a:noFill/>
                      <a:ln>
                        <a:noFill/>
                      </a:ln>
                      <a:effectLst/>
                    </p:spPr>
                  </p:pic>
                </p:oleObj>
              </mc:Fallback>
            </mc:AlternateContent>
          </a:graphicData>
        </a:graphic>
      </p:graphicFrame>
      <p:sp>
        <p:nvSpPr>
          <p:cNvPr id="4" name="灯片编号占位符 3">
            <a:extLst>
              <a:ext uri="{FF2B5EF4-FFF2-40B4-BE49-F238E27FC236}">
                <a16:creationId xmlns:a16="http://schemas.microsoft.com/office/drawing/2014/main" id="{6D7525CE-B7C6-5090-AC0C-59249E2E886E}"/>
              </a:ext>
            </a:extLst>
          </p:cNvPr>
          <p:cNvSpPr>
            <a:spLocks noGrp="1"/>
          </p:cNvSpPr>
          <p:nvPr>
            <p:ph type="sldNum" sz="quarter" idx="11"/>
          </p:nvPr>
        </p:nvSpPr>
        <p:spPr/>
        <p:txBody>
          <a:bodyPr/>
          <a:lstStyle/>
          <a:p>
            <a:pPr>
              <a:defRPr/>
            </a:pPr>
            <a:fld id="{AEE3D6A2-45AE-49BA-A8D8-5E8D3DAE5436}" type="slidenum">
              <a:rPr lang="en-US" altLang="zh-CN" smtClean="0"/>
              <a:pPr>
                <a:defRPr/>
              </a:pPr>
              <a:t>12</a:t>
            </a:fld>
            <a:endParaRPr lang="en-US" altLang="zh-CN"/>
          </a:p>
        </p:txBody>
      </p:sp>
    </p:spTree>
    <p:extLst>
      <p:ext uri="{BB962C8B-B14F-4D97-AF65-F5344CB8AC3E}">
        <p14:creationId xmlns:p14="http://schemas.microsoft.com/office/powerpoint/2010/main" val="1508886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8547">
                                            <p:txEl>
                                              <p:pRg st="0" end="0"/>
                                            </p:txEl>
                                          </p:spTgt>
                                        </p:tgtEl>
                                        <p:attrNameLst>
                                          <p:attrName>style.visibility</p:attrName>
                                        </p:attrNameLst>
                                      </p:cBhvr>
                                      <p:to>
                                        <p:strVal val="visible"/>
                                      </p:to>
                                    </p:set>
                                    <p:animEffect transition="in" filter="wipe(left)">
                                      <p:cBhvr>
                                        <p:cTn id="7" dur="500"/>
                                        <p:tgtEl>
                                          <p:spTgt spid="108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8547">
                                            <p:txEl>
                                              <p:pRg st="1" end="1"/>
                                            </p:txEl>
                                          </p:spTgt>
                                        </p:tgtEl>
                                        <p:attrNameLst>
                                          <p:attrName>style.visibility</p:attrName>
                                        </p:attrNameLst>
                                      </p:cBhvr>
                                      <p:to>
                                        <p:strVal val="visible"/>
                                      </p:to>
                                    </p:set>
                                    <p:animEffect transition="in" filter="wipe(left)">
                                      <p:cBhvr>
                                        <p:cTn id="12" dur="500"/>
                                        <p:tgtEl>
                                          <p:spTgt spid="1085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8547">
                                            <p:txEl>
                                              <p:pRg st="2" end="2"/>
                                            </p:txEl>
                                          </p:spTgt>
                                        </p:tgtEl>
                                        <p:attrNameLst>
                                          <p:attrName>style.visibility</p:attrName>
                                        </p:attrNameLst>
                                      </p:cBhvr>
                                      <p:to>
                                        <p:strVal val="visible"/>
                                      </p:to>
                                    </p:set>
                                    <p:animEffect transition="in" filter="wipe(left)">
                                      <p:cBhvr>
                                        <p:cTn id="17" dur="500"/>
                                        <p:tgtEl>
                                          <p:spTgt spid="1085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8547">
                                            <p:txEl>
                                              <p:pRg st="3" end="3"/>
                                            </p:txEl>
                                          </p:spTgt>
                                        </p:tgtEl>
                                        <p:attrNameLst>
                                          <p:attrName>style.visibility</p:attrName>
                                        </p:attrNameLst>
                                      </p:cBhvr>
                                      <p:to>
                                        <p:strVal val="visible"/>
                                      </p:to>
                                    </p:set>
                                    <p:animEffect transition="in" filter="wipe(left)">
                                      <p:cBhvr>
                                        <p:cTn id="22" dur="500"/>
                                        <p:tgtEl>
                                          <p:spTgt spid="1085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8547">
                                            <p:txEl>
                                              <p:pRg st="4" end="4"/>
                                            </p:txEl>
                                          </p:spTgt>
                                        </p:tgtEl>
                                        <p:attrNameLst>
                                          <p:attrName>style.visibility</p:attrName>
                                        </p:attrNameLst>
                                      </p:cBhvr>
                                      <p:to>
                                        <p:strVal val="visible"/>
                                      </p:to>
                                    </p:set>
                                    <p:animEffect transition="in" filter="wipe(left)">
                                      <p:cBhvr>
                                        <p:cTn id="27" dur="500"/>
                                        <p:tgtEl>
                                          <p:spTgt spid="1085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19288" y="188913"/>
            <a:ext cx="8229600" cy="1371600"/>
          </a:xfrm>
        </p:spPr>
        <p:txBody>
          <a:bodyPr/>
          <a:lstStyle/>
          <a:p>
            <a:pPr algn="ctr" eaLnBrk="1" hangingPunct="1"/>
            <a:r>
              <a:rPr lang="zh-CN" altLang="en-US">
                <a:solidFill>
                  <a:srgbClr val="008000"/>
                </a:solidFill>
                <a:ea typeface="黑体" pitchFamily="2" charset="-122"/>
              </a:rPr>
              <a:t>层次分析法的实现步骤</a:t>
            </a:r>
          </a:p>
        </p:txBody>
      </p:sp>
      <p:sp>
        <p:nvSpPr>
          <p:cNvPr id="109571" name="Rectangle 3"/>
          <p:cNvSpPr>
            <a:spLocks noGrp="1" noChangeArrowheads="1"/>
          </p:cNvSpPr>
          <p:nvPr>
            <p:ph type="body" sz="half" idx="1"/>
          </p:nvPr>
        </p:nvSpPr>
        <p:spPr>
          <a:xfrm>
            <a:off x="479376" y="1412776"/>
            <a:ext cx="11233248" cy="2736850"/>
          </a:xfrm>
        </p:spPr>
        <p:txBody>
          <a:bodyPr/>
          <a:lstStyle/>
          <a:p>
            <a:pPr eaLnBrk="1" hangingPunct="1"/>
            <a:r>
              <a:rPr lang="zh-CN" altLang="en-US" dirty="0">
                <a:solidFill>
                  <a:srgbClr val="FF0000"/>
                </a:solidFill>
                <a:ea typeface="黑体" pitchFamily="2" charset="-122"/>
              </a:rPr>
              <a:t>第四步：</a:t>
            </a:r>
            <a:r>
              <a:rPr lang="zh-CN" altLang="en-US" u="sng" dirty="0">
                <a:solidFill>
                  <a:srgbClr val="FF0000"/>
                </a:solidFill>
                <a:ea typeface="黑体" pitchFamily="2" charset="-122"/>
              </a:rPr>
              <a:t>层次总排序</a:t>
            </a:r>
            <a:r>
              <a:rPr lang="zh-CN" altLang="en-US" dirty="0">
                <a:solidFill>
                  <a:srgbClr val="FF0000"/>
                </a:solidFill>
                <a:ea typeface="黑体" pitchFamily="2" charset="-122"/>
              </a:rPr>
              <a:t>及其组合一致性检验</a:t>
            </a:r>
          </a:p>
          <a:p>
            <a:pPr lvl="1" eaLnBrk="1" hangingPunct="1"/>
            <a:r>
              <a:rPr lang="zh-CN" altLang="en-US" dirty="0">
                <a:solidFill>
                  <a:srgbClr val="0000FF"/>
                </a:solidFill>
                <a:ea typeface="黑体" pitchFamily="2" charset="-122"/>
              </a:rPr>
              <a:t>层次总排序</a:t>
            </a:r>
            <a:endParaRPr lang="zh-CN" altLang="en-US" dirty="0">
              <a:ea typeface="黑体" pitchFamily="2" charset="-122"/>
            </a:endParaRPr>
          </a:p>
          <a:p>
            <a:pPr lvl="2" eaLnBrk="1" hangingPunct="1"/>
            <a:r>
              <a:rPr lang="zh-CN" altLang="en-US" sz="2400" b="1" dirty="0">
                <a:ea typeface="楷体_GB2312" pitchFamily="49" charset="-122"/>
              </a:rPr>
              <a:t>计算</a:t>
            </a:r>
            <a:r>
              <a:rPr lang="zh-CN" altLang="en-US" sz="2400" b="1" u="sng" dirty="0">
                <a:ea typeface="楷体_GB2312" pitchFamily="49" charset="-122"/>
              </a:rPr>
              <a:t>方案层</a:t>
            </a:r>
            <a:r>
              <a:rPr lang="zh-CN" altLang="en-US" sz="2400" b="1" dirty="0">
                <a:ea typeface="楷体_GB2312" pitchFamily="49" charset="-122"/>
              </a:rPr>
              <a:t>的各因素对于</a:t>
            </a:r>
            <a:r>
              <a:rPr lang="zh-CN" altLang="en-US" sz="2400" b="1" u="sng" dirty="0">
                <a:ea typeface="楷体_GB2312" pitchFamily="49" charset="-122"/>
              </a:rPr>
              <a:t>目标层</a:t>
            </a:r>
            <a:r>
              <a:rPr lang="zh-CN" altLang="en-US" sz="2400" b="1" dirty="0">
                <a:ea typeface="楷体_GB2312" pitchFamily="49" charset="-122"/>
              </a:rPr>
              <a:t>的相对重要性权重</a:t>
            </a:r>
          </a:p>
          <a:p>
            <a:pPr lvl="3" eaLnBrk="1" hangingPunct="1"/>
            <a:r>
              <a:rPr lang="zh-CN" altLang="en-US" sz="2400" b="1" dirty="0">
                <a:ea typeface="楷体_GB2312" pitchFamily="49" charset="-122"/>
              </a:rPr>
              <a:t>设</a:t>
            </a:r>
            <a:r>
              <a:rPr lang="zh-CN" altLang="en-US" sz="2400" b="1" u="sng" dirty="0">
                <a:ea typeface="楷体_GB2312" pitchFamily="49" charset="-122"/>
              </a:rPr>
              <a:t>准则层</a:t>
            </a:r>
            <a:r>
              <a:rPr lang="en-US" altLang="zh-CN" sz="2400" b="1" u="sng" dirty="0">
                <a:ea typeface="楷体_GB2312" pitchFamily="49" charset="-122"/>
              </a:rPr>
              <a:t>C</a:t>
            </a:r>
            <a:r>
              <a:rPr lang="zh-CN" altLang="en-US" sz="2400" b="1" dirty="0">
                <a:ea typeface="楷体_GB2312" pitchFamily="49" charset="-122"/>
              </a:rPr>
              <a:t>有</a:t>
            </a:r>
            <a:r>
              <a:rPr lang="en-US" altLang="zh-CN" sz="2400" b="1" dirty="0">
                <a:ea typeface="楷体_GB2312" pitchFamily="49" charset="-122"/>
              </a:rPr>
              <a:t>m</a:t>
            </a:r>
            <a:r>
              <a:rPr lang="zh-CN" altLang="en-US" sz="2400" b="1" dirty="0">
                <a:ea typeface="楷体_GB2312" pitchFamily="49" charset="-122"/>
              </a:rPr>
              <a:t>个因素</a:t>
            </a:r>
            <a:r>
              <a:rPr lang="en-US" altLang="zh-CN" sz="2400" b="1" dirty="0">
                <a:solidFill>
                  <a:srgbClr val="0000FF"/>
                </a:solidFill>
                <a:ea typeface="楷体_GB2312" pitchFamily="49" charset="-122"/>
              </a:rPr>
              <a:t>A</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,A</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a:t>
            </a:r>
            <a:r>
              <a:rPr lang="en-US" altLang="zh-CN" sz="2400" b="1" baseline="-25000" dirty="0">
                <a:solidFill>
                  <a:srgbClr val="0000FF"/>
                </a:solidFill>
                <a:ea typeface="楷体_GB2312" pitchFamily="49" charset="-122"/>
              </a:rPr>
              <a:t>m</a:t>
            </a:r>
            <a:r>
              <a:rPr lang="zh-CN" altLang="en-US" sz="2400" b="1" dirty="0">
                <a:ea typeface="楷体_GB2312" pitchFamily="49" charset="-122"/>
              </a:rPr>
              <a:t>对，它对</a:t>
            </a:r>
            <a:r>
              <a:rPr lang="zh-CN" altLang="en-US" sz="2400" b="1" u="sng" dirty="0">
                <a:ea typeface="楷体_GB2312" pitchFamily="49" charset="-122"/>
              </a:rPr>
              <a:t>目标层</a:t>
            </a:r>
            <a:r>
              <a:rPr lang="en-US" altLang="zh-CN" sz="2400" b="1" u="sng" dirty="0">
                <a:ea typeface="楷体_GB2312" pitchFamily="49" charset="-122"/>
              </a:rPr>
              <a:t>G</a:t>
            </a:r>
            <a:r>
              <a:rPr lang="zh-CN" altLang="en-US" sz="2400" b="1" dirty="0">
                <a:ea typeface="楷体_GB2312" pitchFamily="49" charset="-122"/>
              </a:rPr>
              <a:t>的权重为</a:t>
            </a:r>
            <a:r>
              <a:rPr lang="en-US" altLang="zh-CN" sz="2400" b="1" dirty="0">
                <a:solidFill>
                  <a:srgbClr val="CC0099"/>
                </a:solidFill>
                <a:ea typeface="楷体_GB2312" pitchFamily="49" charset="-122"/>
              </a:rPr>
              <a:t>a</a:t>
            </a:r>
            <a:r>
              <a:rPr lang="en-US" altLang="zh-CN" sz="2400" b="1" baseline="-25000" dirty="0">
                <a:solidFill>
                  <a:srgbClr val="CC0099"/>
                </a:solidFill>
                <a:ea typeface="楷体_GB2312" pitchFamily="49" charset="-122"/>
              </a:rPr>
              <a:t>1</a:t>
            </a:r>
            <a:r>
              <a:rPr lang="en-US" altLang="zh-CN" sz="2400" b="1" dirty="0">
                <a:solidFill>
                  <a:srgbClr val="CC0099"/>
                </a:solidFill>
                <a:ea typeface="楷体_GB2312" pitchFamily="49" charset="-122"/>
              </a:rPr>
              <a:t>,a</a:t>
            </a:r>
            <a:r>
              <a:rPr lang="en-US" altLang="zh-CN" sz="2400" b="1" baseline="-25000" dirty="0">
                <a:solidFill>
                  <a:srgbClr val="CC0099"/>
                </a:solidFill>
                <a:ea typeface="楷体_GB2312" pitchFamily="49" charset="-122"/>
              </a:rPr>
              <a:t>2</a:t>
            </a:r>
            <a:r>
              <a:rPr lang="en-US" altLang="zh-CN" sz="2400" b="1" dirty="0">
                <a:solidFill>
                  <a:srgbClr val="CC0099"/>
                </a:solidFill>
                <a:ea typeface="楷体_GB2312" pitchFamily="49" charset="-122"/>
              </a:rPr>
              <a:t>,…,a</a:t>
            </a:r>
            <a:r>
              <a:rPr lang="en-US" altLang="zh-CN" sz="2400" b="1" baseline="-25000" dirty="0">
                <a:solidFill>
                  <a:srgbClr val="CC0099"/>
                </a:solidFill>
                <a:ea typeface="楷体_GB2312" pitchFamily="49" charset="-122"/>
              </a:rPr>
              <a:t>m</a:t>
            </a:r>
            <a:r>
              <a:rPr lang="zh-CN" altLang="en-US" sz="2400" b="1" dirty="0">
                <a:ea typeface="楷体_GB2312" pitchFamily="49" charset="-122"/>
              </a:rPr>
              <a:t>，</a:t>
            </a:r>
          </a:p>
          <a:p>
            <a:pPr lvl="3" eaLnBrk="1" hangingPunct="1"/>
            <a:r>
              <a:rPr lang="zh-CN" altLang="en-US" sz="2400" b="1" u="sng" dirty="0">
                <a:ea typeface="楷体_GB2312" pitchFamily="49" charset="-122"/>
              </a:rPr>
              <a:t>方案层</a:t>
            </a:r>
            <a:r>
              <a:rPr lang="en-US" altLang="zh-CN" sz="2400" b="1" u="sng" dirty="0">
                <a:ea typeface="楷体_GB2312" pitchFamily="49" charset="-122"/>
              </a:rPr>
              <a:t>P</a:t>
            </a:r>
            <a:r>
              <a:rPr lang="zh-CN" altLang="en-US" sz="2400" b="1" dirty="0">
                <a:ea typeface="楷体_GB2312" pitchFamily="49" charset="-122"/>
              </a:rPr>
              <a:t>有</a:t>
            </a:r>
            <a:r>
              <a:rPr lang="en-US" altLang="zh-CN" sz="2400" b="1" dirty="0">
                <a:ea typeface="楷体_GB2312" pitchFamily="49" charset="-122"/>
              </a:rPr>
              <a:t>n</a:t>
            </a:r>
            <a:r>
              <a:rPr lang="zh-CN" altLang="en-US" sz="2400" b="1" dirty="0">
                <a:ea typeface="楷体_GB2312" pitchFamily="49" charset="-122"/>
              </a:rPr>
              <a:t>个方案</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t>
            </a:r>
            <a:r>
              <a:rPr lang="en-US" altLang="zh-CN" sz="2400" b="1" dirty="0" err="1">
                <a:solidFill>
                  <a:srgbClr val="0000FF"/>
                </a:solidFill>
                <a:ea typeface="楷体_GB2312" pitchFamily="49" charset="-122"/>
              </a:rPr>
              <a:t>B</a:t>
            </a:r>
            <a:r>
              <a:rPr lang="en-US" altLang="zh-CN" sz="2400" b="1" baseline="-25000" dirty="0" err="1">
                <a:solidFill>
                  <a:srgbClr val="0000FF"/>
                </a:solidFill>
                <a:ea typeface="楷体_GB2312" pitchFamily="49" charset="-122"/>
              </a:rPr>
              <a:t>n</a:t>
            </a:r>
            <a:r>
              <a:rPr lang="zh-CN" altLang="en-US" sz="2400" b="1" dirty="0">
                <a:ea typeface="楷体_GB2312" pitchFamily="49" charset="-122"/>
              </a:rPr>
              <a:t>，它对</a:t>
            </a:r>
            <a:r>
              <a:rPr lang="zh-CN" altLang="en-US" sz="2400" b="1" u="sng" dirty="0">
                <a:ea typeface="楷体_GB2312" pitchFamily="49" charset="-122"/>
              </a:rPr>
              <a:t>准则层</a:t>
            </a:r>
            <a:r>
              <a:rPr lang="en-US" altLang="zh-CN" sz="2400" b="1" u="sng" dirty="0" err="1">
                <a:ea typeface="楷体_GB2312" pitchFamily="49" charset="-122"/>
              </a:rPr>
              <a:t>C</a:t>
            </a:r>
            <a:r>
              <a:rPr lang="en-US" altLang="zh-CN" sz="2400" b="1" u="sng" baseline="-25000" dirty="0" err="1">
                <a:ea typeface="楷体_GB2312" pitchFamily="49" charset="-122"/>
              </a:rPr>
              <a:t>i</a:t>
            </a:r>
            <a:r>
              <a:rPr lang="zh-CN" altLang="en-US" sz="2400" b="1" dirty="0">
                <a:ea typeface="楷体_GB2312" pitchFamily="49" charset="-122"/>
              </a:rPr>
              <a:t>的权重为</a:t>
            </a:r>
            <a:r>
              <a:rPr lang="en-US" altLang="zh-CN" sz="2400" b="1" dirty="0">
                <a:solidFill>
                  <a:srgbClr val="008000"/>
                </a:solidFill>
                <a:ea typeface="楷体_GB2312" pitchFamily="49" charset="-122"/>
              </a:rPr>
              <a:t>b</a:t>
            </a:r>
            <a:r>
              <a:rPr lang="en-US" altLang="zh-CN" sz="2400" b="1" baseline="-25000" dirty="0">
                <a:solidFill>
                  <a:srgbClr val="008000"/>
                </a:solidFill>
                <a:ea typeface="楷体_GB2312" pitchFamily="49" charset="-122"/>
              </a:rPr>
              <a:t>i1</a:t>
            </a:r>
            <a:r>
              <a:rPr lang="en-US" altLang="zh-CN" sz="2400" b="1" dirty="0">
                <a:solidFill>
                  <a:srgbClr val="008000"/>
                </a:solidFill>
                <a:ea typeface="楷体_GB2312" pitchFamily="49" charset="-122"/>
              </a:rPr>
              <a:t>,b</a:t>
            </a:r>
            <a:r>
              <a:rPr lang="en-US" altLang="zh-CN" sz="2400" b="1" baseline="-25000" dirty="0">
                <a:solidFill>
                  <a:srgbClr val="008000"/>
                </a:solidFill>
                <a:ea typeface="楷体_GB2312" pitchFamily="49" charset="-122"/>
              </a:rPr>
              <a:t>i2</a:t>
            </a:r>
            <a:r>
              <a:rPr lang="en-US" altLang="zh-CN" sz="2400" b="1" dirty="0">
                <a:solidFill>
                  <a:srgbClr val="008000"/>
                </a:solidFill>
                <a:ea typeface="楷体_GB2312" pitchFamily="49" charset="-122"/>
              </a:rPr>
              <a:t>,…,b</a:t>
            </a:r>
            <a:r>
              <a:rPr lang="en-US" altLang="zh-CN" sz="2400" b="1" baseline="-25000" dirty="0">
                <a:solidFill>
                  <a:srgbClr val="008000"/>
                </a:solidFill>
                <a:ea typeface="楷体_GB2312" pitchFamily="49" charset="-122"/>
              </a:rPr>
              <a:t>in</a:t>
            </a:r>
            <a:r>
              <a:rPr lang="zh-CN" altLang="en-US" sz="2400" b="1" dirty="0">
                <a:solidFill>
                  <a:srgbClr val="0000FF"/>
                </a:solidFill>
                <a:ea typeface="楷体_GB2312" pitchFamily="49" charset="-122"/>
              </a:rPr>
              <a:t>，</a:t>
            </a:r>
            <a:endParaRPr lang="zh-CN" altLang="en-US" sz="2400" b="1" dirty="0">
              <a:ea typeface="楷体_GB2312" pitchFamily="49" charset="-122"/>
            </a:endParaRPr>
          </a:p>
        </p:txBody>
      </p:sp>
      <p:sp>
        <p:nvSpPr>
          <p:cNvPr id="109651" name="Rectangle 83"/>
          <p:cNvSpPr>
            <a:spLocks noGrp="1" noChangeArrowheads="1"/>
          </p:cNvSpPr>
          <p:nvPr>
            <p:ph type="body" sz="half" idx="2"/>
          </p:nvPr>
        </p:nvSpPr>
        <p:spPr>
          <a:xfrm>
            <a:off x="6996931" y="4581525"/>
            <a:ext cx="4211637" cy="2160588"/>
          </a:xfrm>
          <a:solidFill>
            <a:srgbClr val="FFFF99"/>
          </a:solidFill>
        </p:spPr>
        <p:txBody>
          <a:bodyPr/>
          <a:lstStyle/>
          <a:p>
            <a:pPr eaLnBrk="1" hangingPunct="1">
              <a:lnSpc>
                <a:spcPct val="110000"/>
              </a:lnSpc>
              <a:buFont typeface="Wingdings" pitchFamily="2" charset="2"/>
              <a:buNone/>
            </a:pPr>
            <a:r>
              <a:rPr lang="en-US" altLang="zh-CN" sz="2400" b="1" dirty="0">
                <a:ea typeface="楷体_GB2312" pitchFamily="49" charset="-122"/>
              </a:rPr>
              <a:t> </a:t>
            </a:r>
            <a:r>
              <a:rPr lang="zh-CN" altLang="en-US" sz="2400" b="1" dirty="0">
                <a:ea typeface="楷体_GB2312" pitchFamily="49" charset="-122"/>
              </a:rPr>
              <a:t>则方案</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n</a:t>
            </a:r>
            <a:r>
              <a:rPr lang="zh-CN" altLang="en-US" sz="2400" b="1" dirty="0">
                <a:ea typeface="楷体_GB2312" pitchFamily="49" charset="-122"/>
              </a:rPr>
              <a:t>对</a:t>
            </a:r>
            <a:r>
              <a:rPr lang="zh-CN" altLang="en-US" sz="2400" b="1" u="sng" dirty="0">
                <a:ea typeface="楷体_GB2312" pitchFamily="49" charset="-122"/>
              </a:rPr>
              <a:t>目标层</a:t>
            </a:r>
            <a:r>
              <a:rPr lang="en-US" altLang="zh-CN" sz="2400" b="1" u="sng" dirty="0">
                <a:ea typeface="楷体_GB2312" pitchFamily="49" charset="-122"/>
              </a:rPr>
              <a:t>G</a:t>
            </a:r>
            <a:r>
              <a:rPr lang="zh-CN" altLang="en-US" sz="2400" b="1" dirty="0">
                <a:ea typeface="楷体_GB2312" pitchFamily="49" charset="-122"/>
              </a:rPr>
              <a:t>的权重为</a:t>
            </a:r>
            <a:r>
              <a:rPr lang="en-US" altLang="zh-CN" sz="2400" b="1" dirty="0">
                <a:solidFill>
                  <a:srgbClr val="FF0000"/>
                </a:solidFill>
                <a:ea typeface="楷体_GB2312" pitchFamily="49" charset="-122"/>
              </a:rPr>
              <a:t>c</a:t>
            </a:r>
            <a:r>
              <a:rPr lang="en-US" altLang="zh-CN" sz="2400" b="1" baseline="-25000" dirty="0">
                <a:solidFill>
                  <a:srgbClr val="FF0000"/>
                </a:solidFill>
                <a:ea typeface="楷体_GB2312" pitchFamily="49" charset="-122"/>
              </a:rPr>
              <a:t>1</a:t>
            </a:r>
            <a:r>
              <a:rPr lang="en-US" altLang="zh-CN" sz="2400" b="1" dirty="0">
                <a:solidFill>
                  <a:srgbClr val="FF0000"/>
                </a:solidFill>
                <a:ea typeface="楷体_GB2312" pitchFamily="49" charset="-122"/>
              </a:rPr>
              <a:t>,c</a:t>
            </a:r>
            <a:r>
              <a:rPr lang="en-US" altLang="zh-CN" sz="2400" b="1" baseline="-25000" dirty="0">
                <a:solidFill>
                  <a:srgbClr val="FF0000"/>
                </a:solidFill>
                <a:ea typeface="楷体_GB2312" pitchFamily="49" charset="-122"/>
              </a:rPr>
              <a:t>2</a:t>
            </a:r>
            <a:r>
              <a:rPr lang="en-US" altLang="zh-CN" sz="2400" b="1" dirty="0">
                <a:solidFill>
                  <a:srgbClr val="FF0000"/>
                </a:solidFill>
                <a:ea typeface="楷体_GB2312" pitchFamily="49" charset="-122"/>
              </a:rPr>
              <a:t>,…,</a:t>
            </a:r>
            <a:r>
              <a:rPr lang="en-US" altLang="zh-CN" sz="2400" b="1" dirty="0" err="1">
                <a:solidFill>
                  <a:srgbClr val="FF0000"/>
                </a:solidFill>
                <a:ea typeface="楷体_GB2312" pitchFamily="49" charset="-122"/>
              </a:rPr>
              <a:t>c</a:t>
            </a:r>
            <a:r>
              <a:rPr lang="en-US" altLang="zh-CN" sz="2400" b="1" baseline="-25000" dirty="0" err="1">
                <a:solidFill>
                  <a:srgbClr val="FF0000"/>
                </a:solidFill>
                <a:ea typeface="楷体_GB2312" pitchFamily="49" charset="-122"/>
              </a:rPr>
              <a:t>n</a:t>
            </a:r>
            <a:r>
              <a:rPr lang="zh-CN" altLang="en-US" sz="2400" b="1" dirty="0">
                <a:ea typeface="楷体_GB2312" pitchFamily="49" charset="-122"/>
              </a:rPr>
              <a:t>，其中</a:t>
            </a:r>
          </a:p>
        </p:txBody>
      </p:sp>
      <p:grpSp>
        <p:nvGrpSpPr>
          <p:cNvPr id="50181" name="Group 55"/>
          <p:cNvGrpSpPr>
            <a:grpSpLocks/>
          </p:cNvGrpSpPr>
          <p:nvPr/>
        </p:nvGrpSpPr>
        <p:grpSpPr bwMode="auto">
          <a:xfrm>
            <a:off x="1343472" y="4292600"/>
            <a:ext cx="4679950" cy="2386013"/>
            <a:chOff x="1429" y="1570"/>
            <a:chExt cx="2948" cy="1503"/>
          </a:xfrm>
        </p:grpSpPr>
        <p:sp>
          <p:nvSpPr>
            <p:cNvPr id="50183" name="Text Box 56"/>
            <p:cNvSpPr txBox="1">
              <a:spLocks noChangeArrowheads="1"/>
            </p:cNvSpPr>
            <p:nvPr/>
          </p:nvSpPr>
          <p:spPr bwMode="auto">
            <a:xfrm>
              <a:off x="2472" y="1570"/>
              <a:ext cx="886"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决策目标</a:t>
              </a:r>
              <a:r>
                <a:rPr lang="en-US" altLang="zh-CN" b="1">
                  <a:ea typeface="楷体_GB2312" pitchFamily="49" charset="-122"/>
                </a:rPr>
                <a:t>G</a:t>
              </a:r>
            </a:p>
          </p:txBody>
        </p:sp>
        <p:sp>
          <p:nvSpPr>
            <p:cNvPr id="50184" name="Text Box 57"/>
            <p:cNvSpPr txBox="1">
              <a:spLocks noChangeArrowheads="1"/>
            </p:cNvSpPr>
            <p:nvPr/>
          </p:nvSpPr>
          <p:spPr bwMode="auto">
            <a:xfrm>
              <a:off x="1474" y="2115"/>
              <a:ext cx="612" cy="23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准则</a:t>
              </a:r>
              <a:r>
                <a:rPr lang="en-US" altLang="zh-CN" b="1">
                  <a:ea typeface="楷体_GB2312" pitchFamily="49" charset="-122"/>
                </a:rPr>
                <a:t>C</a:t>
              </a:r>
              <a:r>
                <a:rPr lang="en-US" altLang="zh-CN" b="1" baseline="-25000">
                  <a:ea typeface="楷体_GB2312" pitchFamily="49" charset="-122"/>
                </a:rPr>
                <a:t>1</a:t>
              </a:r>
            </a:p>
          </p:txBody>
        </p:sp>
        <p:sp>
          <p:nvSpPr>
            <p:cNvPr id="50185" name="Text Box 58"/>
            <p:cNvSpPr txBox="1">
              <a:spLocks noChangeArrowheads="1"/>
            </p:cNvSpPr>
            <p:nvPr/>
          </p:nvSpPr>
          <p:spPr bwMode="auto">
            <a:xfrm>
              <a:off x="2562" y="2115"/>
              <a:ext cx="657" cy="23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准则</a:t>
              </a:r>
              <a:r>
                <a:rPr lang="en-US" altLang="zh-CN" b="1">
                  <a:ea typeface="楷体_GB2312" pitchFamily="49" charset="-122"/>
                </a:rPr>
                <a:t>C</a:t>
              </a:r>
              <a:r>
                <a:rPr lang="en-US" altLang="zh-CN" b="1" baseline="-25000">
                  <a:ea typeface="楷体_GB2312" pitchFamily="49" charset="-122"/>
                </a:rPr>
                <a:t>2</a:t>
              </a:r>
            </a:p>
          </p:txBody>
        </p:sp>
        <p:sp>
          <p:nvSpPr>
            <p:cNvPr id="50186" name="Text Box 59"/>
            <p:cNvSpPr txBox="1">
              <a:spLocks noChangeArrowheads="1"/>
            </p:cNvSpPr>
            <p:nvPr/>
          </p:nvSpPr>
          <p:spPr bwMode="auto">
            <a:xfrm>
              <a:off x="3696" y="2115"/>
              <a:ext cx="658" cy="23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准则</a:t>
              </a:r>
              <a:r>
                <a:rPr lang="en-US" altLang="zh-CN" b="1">
                  <a:ea typeface="楷体_GB2312" pitchFamily="49" charset="-122"/>
                </a:rPr>
                <a:t>C</a:t>
              </a:r>
              <a:r>
                <a:rPr lang="en-US" altLang="zh-CN" b="1" baseline="-25000">
                  <a:ea typeface="楷体_GB2312" pitchFamily="49" charset="-122"/>
                </a:rPr>
                <a:t>m</a:t>
              </a:r>
            </a:p>
          </p:txBody>
        </p:sp>
        <p:sp>
          <p:nvSpPr>
            <p:cNvPr id="50187" name="Text Box 60"/>
            <p:cNvSpPr txBox="1">
              <a:spLocks noChangeArrowheads="1"/>
            </p:cNvSpPr>
            <p:nvPr/>
          </p:nvSpPr>
          <p:spPr bwMode="auto">
            <a:xfrm>
              <a:off x="1429" y="2840"/>
              <a:ext cx="635" cy="23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方案</a:t>
              </a:r>
              <a:r>
                <a:rPr lang="en-US" altLang="zh-CN" b="1">
                  <a:ea typeface="楷体_GB2312" pitchFamily="49" charset="-122"/>
                </a:rPr>
                <a:t>P</a:t>
              </a:r>
              <a:r>
                <a:rPr lang="en-US" altLang="zh-CN" b="1" baseline="-25000">
                  <a:ea typeface="楷体_GB2312" pitchFamily="49" charset="-122"/>
                </a:rPr>
                <a:t>1</a:t>
              </a:r>
            </a:p>
          </p:txBody>
        </p:sp>
        <p:sp>
          <p:nvSpPr>
            <p:cNvPr id="50188" name="Text Box 61"/>
            <p:cNvSpPr txBox="1">
              <a:spLocks noChangeArrowheads="1"/>
            </p:cNvSpPr>
            <p:nvPr/>
          </p:nvSpPr>
          <p:spPr bwMode="auto">
            <a:xfrm>
              <a:off x="2562" y="2840"/>
              <a:ext cx="657" cy="23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方案</a:t>
              </a:r>
              <a:r>
                <a:rPr lang="en-US" altLang="zh-CN" b="1">
                  <a:ea typeface="楷体_GB2312" pitchFamily="49" charset="-122"/>
                </a:rPr>
                <a:t>P</a:t>
              </a:r>
              <a:r>
                <a:rPr lang="en-US" altLang="zh-CN" b="1" baseline="-25000">
                  <a:ea typeface="楷体_GB2312" pitchFamily="49" charset="-122"/>
                </a:rPr>
                <a:t>2</a:t>
              </a:r>
            </a:p>
          </p:txBody>
        </p:sp>
        <p:sp>
          <p:nvSpPr>
            <p:cNvPr id="50189" name="Text Box 62"/>
            <p:cNvSpPr txBox="1">
              <a:spLocks noChangeArrowheads="1"/>
            </p:cNvSpPr>
            <p:nvPr/>
          </p:nvSpPr>
          <p:spPr bwMode="auto">
            <a:xfrm>
              <a:off x="3696" y="2840"/>
              <a:ext cx="681" cy="23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方案</a:t>
              </a:r>
              <a:r>
                <a:rPr lang="en-US" altLang="zh-CN" b="1">
                  <a:ea typeface="楷体_GB2312" pitchFamily="49" charset="-122"/>
                </a:rPr>
                <a:t>P</a:t>
              </a:r>
              <a:r>
                <a:rPr lang="en-US" altLang="zh-CN" b="1" baseline="-25000">
                  <a:ea typeface="楷体_GB2312" pitchFamily="49" charset="-122"/>
                </a:rPr>
                <a:t>n</a:t>
              </a:r>
            </a:p>
          </p:txBody>
        </p:sp>
        <p:sp>
          <p:nvSpPr>
            <p:cNvPr id="50190" name="Line 63"/>
            <p:cNvSpPr>
              <a:spLocks noChangeShapeType="1"/>
            </p:cNvSpPr>
            <p:nvPr/>
          </p:nvSpPr>
          <p:spPr bwMode="auto">
            <a:xfrm flipV="1">
              <a:off x="2902" y="1842"/>
              <a:ext cx="1" cy="273"/>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1" name="Line 64"/>
            <p:cNvSpPr>
              <a:spLocks noChangeShapeType="1"/>
            </p:cNvSpPr>
            <p:nvPr/>
          </p:nvSpPr>
          <p:spPr bwMode="auto">
            <a:xfrm flipH="1">
              <a:off x="1632" y="1842"/>
              <a:ext cx="1270" cy="273"/>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2" name="Line 65"/>
            <p:cNvSpPr>
              <a:spLocks noChangeShapeType="1"/>
            </p:cNvSpPr>
            <p:nvPr/>
          </p:nvSpPr>
          <p:spPr bwMode="auto">
            <a:xfrm>
              <a:off x="2902" y="1842"/>
              <a:ext cx="1157" cy="273"/>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3" name="Text Box 66"/>
            <p:cNvSpPr txBox="1">
              <a:spLocks noChangeArrowheads="1"/>
            </p:cNvSpPr>
            <p:nvPr/>
          </p:nvSpPr>
          <p:spPr bwMode="auto">
            <a:xfrm>
              <a:off x="3288" y="2160"/>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a:t>
              </a:r>
            </a:p>
          </p:txBody>
        </p:sp>
        <p:sp>
          <p:nvSpPr>
            <p:cNvPr id="50194" name="Text Box 67"/>
            <p:cNvSpPr txBox="1">
              <a:spLocks noChangeArrowheads="1"/>
            </p:cNvSpPr>
            <p:nvPr/>
          </p:nvSpPr>
          <p:spPr bwMode="auto">
            <a:xfrm>
              <a:off x="3288" y="2840"/>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a:t>
              </a:r>
            </a:p>
          </p:txBody>
        </p:sp>
        <p:sp>
          <p:nvSpPr>
            <p:cNvPr id="50195" name="Line 68"/>
            <p:cNvSpPr>
              <a:spLocks noChangeShapeType="1"/>
            </p:cNvSpPr>
            <p:nvPr/>
          </p:nvSpPr>
          <p:spPr bwMode="auto">
            <a:xfrm flipV="1">
              <a:off x="2902" y="2387"/>
              <a:ext cx="1" cy="453"/>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6" name="Line 69"/>
            <p:cNvSpPr>
              <a:spLocks noChangeShapeType="1"/>
            </p:cNvSpPr>
            <p:nvPr/>
          </p:nvSpPr>
          <p:spPr bwMode="auto">
            <a:xfrm flipV="1">
              <a:off x="1677" y="2387"/>
              <a:ext cx="1" cy="45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7" name="Line 70"/>
            <p:cNvSpPr>
              <a:spLocks noChangeShapeType="1"/>
            </p:cNvSpPr>
            <p:nvPr/>
          </p:nvSpPr>
          <p:spPr bwMode="auto">
            <a:xfrm flipV="1">
              <a:off x="4014" y="2341"/>
              <a:ext cx="1" cy="499"/>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8" name="Line 71"/>
            <p:cNvSpPr>
              <a:spLocks noChangeShapeType="1"/>
            </p:cNvSpPr>
            <p:nvPr/>
          </p:nvSpPr>
          <p:spPr bwMode="auto">
            <a:xfrm>
              <a:off x="1677" y="2387"/>
              <a:ext cx="1225" cy="45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199" name="Line 72"/>
            <p:cNvSpPr>
              <a:spLocks noChangeShapeType="1"/>
            </p:cNvSpPr>
            <p:nvPr/>
          </p:nvSpPr>
          <p:spPr bwMode="auto">
            <a:xfrm>
              <a:off x="1677" y="2387"/>
              <a:ext cx="2337" cy="45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0" name="Line 73"/>
            <p:cNvSpPr>
              <a:spLocks noChangeShapeType="1"/>
            </p:cNvSpPr>
            <p:nvPr/>
          </p:nvSpPr>
          <p:spPr bwMode="auto">
            <a:xfrm flipH="1">
              <a:off x="1677" y="2387"/>
              <a:ext cx="1225" cy="453"/>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1" name="Line 74"/>
            <p:cNvSpPr>
              <a:spLocks noChangeShapeType="1"/>
            </p:cNvSpPr>
            <p:nvPr/>
          </p:nvSpPr>
          <p:spPr bwMode="auto">
            <a:xfrm>
              <a:off x="2902" y="2387"/>
              <a:ext cx="1157" cy="453"/>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2" name="Line 75"/>
            <p:cNvSpPr>
              <a:spLocks noChangeShapeType="1"/>
            </p:cNvSpPr>
            <p:nvPr/>
          </p:nvSpPr>
          <p:spPr bwMode="auto">
            <a:xfrm flipH="1">
              <a:off x="2902" y="2387"/>
              <a:ext cx="1112" cy="453"/>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3" name="Line 76"/>
            <p:cNvSpPr>
              <a:spLocks noChangeShapeType="1"/>
            </p:cNvSpPr>
            <p:nvPr/>
          </p:nvSpPr>
          <p:spPr bwMode="auto">
            <a:xfrm flipH="1">
              <a:off x="1677" y="2387"/>
              <a:ext cx="2337" cy="453"/>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204" name="Text Box 77"/>
            <p:cNvSpPr txBox="1">
              <a:spLocks noChangeArrowheads="1"/>
            </p:cNvSpPr>
            <p:nvPr/>
          </p:nvSpPr>
          <p:spPr bwMode="auto">
            <a:xfrm>
              <a:off x="1837" y="1797"/>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a</a:t>
              </a:r>
              <a:r>
                <a:rPr lang="en-US" altLang="zh-CN" sz="1600" baseline="-25000"/>
                <a:t>1</a:t>
              </a:r>
            </a:p>
          </p:txBody>
        </p:sp>
        <p:sp>
          <p:nvSpPr>
            <p:cNvPr id="50205" name="Text Box 78"/>
            <p:cNvSpPr txBox="1">
              <a:spLocks noChangeArrowheads="1"/>
            </p:cNvSpPr>
            <p:nvPr/>
          </p:nvSpPr>
          <p:spPr bwMode="auto">
            <a:xfrm>
              <a:off x="2925" y="1842"/>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a</a:t>
              </a:r>
              <a:r>
                <a:rPr lang="en-US" altLang="zh-CN" sz="1600" baseline="-25000"/>
                <a:t>2</a:t>
              </a:r>
            </a:p>
          </p:txBody>
        </p:sp>
        <p:sp>
          <p:nvSpPr>
            <p:cNvPr id="50206" name="Text Box 79"/>
            <p:cNvSpPr txBox="1">
              <a:spLocks noChangeArrowheads="1"/>
            </p:cNvSpPr>
            <p:nvPr/>
          </p:nvSpPr>
          <p:spPr bwMode="auto">
            <a:xfrm>
              <a:off x="3833" y="1752"/>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a</a:t>
              </a:r>
              <a:r>
                <a:rPr lang="en-US" altLang="zh-CN" sz="1600" baseline="-25000"/>
                <a:t>m</a:t>
              </a:r>
            </a:p>
          </p:txBody>
        </p:sp>
        <p:sp>
          <p:nvSpPr>
            <p:cNvPr id="50207" name="Text Box 80"/>
            <p:cNvSpPr txBox="1">
              <a:spLocks noChangeArrowheads="1"/>
            </p:cNvSpPr>
            <p:nvPr/>
          </p:nvSpPr>
          <p:spPr bwMode="auto">
            <a:xfrm>
              <a:off x="1455" y="2387"/>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b</a:t>
              </a:r>
              <a:r>
                <a:rPr lang="en-US" altLang="zh-CN" sz="1600" baseline="-25000"/>
                <a:t>11</a:t>
              </a:r>
            </a:p>
          </p:txBody>
        </p:sp>
        <p:sp>
          <p:nvSpPr>
            <p:cNvPr id="50208" name="Text Box 81"/>
            <p:cNvSpPr txBox="1">
              <a:spLocks noChangeArrowheads="1"/>
            </p:cNvSpPr>
            <p:nvPr/>
          </p:nvSpPr>
          <p:spPr bwMode="auto">
            <a:xfrm>
              <a:off x="3458" y="2281"/>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dirty="0"/>
                <a:t>b</a:t>
              </a:r>
              <a:r>
                <a:rPr lang="en-US" altLang="zh-CN" sz="1600" baseline="-25000" dirty="0"/>
                <a:t>1n</a:t>
              </a:r>
            </a:p>
          </p:txBody>
        </p:sp>
        <p:sp>
          <p:nvSpPr>
            <p:cNvPr id="50209" name="Text Box 82"/>
            <p:cNvSpPr txBox="1">
              <a:spLocks noChangeArrowheads="1"/>
            </p:cNvSpPr>
            <p:nvPr/>
          </p:nvSpPr>
          <p:spPr bwMode="auto">
            <a:xfrm>
              <a:off x="2380" y="2284"/>
              <a:ext cx="36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dirty="0"/>
                <a:t>b</a:t>
              </a:r>
              <a:r>
                <a:rPr lang="en-US" altLang="zh-CN" sz="1600" baseline="-25000" dirty="0"/>
                <a:t>12</a:t>
              </a:r>
            </a:p>
          </p:txBody>
        </p:sp>
      </p:grpSp>
      <p:graphicFrame>
        <p:nvGraphicFramePr>
          <p:cNvPr id="109652" name="Object 84"/>
          <p:cNvGraphicFramePr>
            <a:graphicFrameLocks noChangeAspect="1"/>
          </p:cNvGraphicFramePr>
          <p:nvPr>
            <p:extLst>
              <p:ext uri="{D42A27DB-BD31-4B8C-83A1-F6EECF244321}">
                <p14:modId xmlns:p14="http://schemas.microsoft.com/office/powerpoint/2010/main" val="942864149"/>
              </p:ext>
            </p:extLst>
          </p:nvPr>
        </p:nvGraphicFramePr>
        <p:xfrm>
          <a:off x="7357293" y="5530850"/>
          <a:ext cx="3455988" cy="947738"/>
        </p:xfrm>
        <a:graphic>
          <a:graphicData uri="http://schemas.openxmlformats.org/presentationml/2006/ole">
            <mc:AlternateContent xmlns:mc="http://schemas.openxmlformats.org/markup-compatibility/2006">
              <mc:Choice xmlns:v="urn:schemas-microsoft-com:vml" Requires="v">
                <p:oleObj name="公式" r:id="rId2" imgW="1574800" imgH="431800" progId="Equation.3">
                  <p:embed/>
                </p:oleObj>
              </mc:Choice>
              <mc:Fallback>
                <p:oleObj name="公式" r:id="rId2" imgW="1574800" imgH="431800" progId="Equation.3">
                  <p:embed/>
                  <p:pic>
                    <p:nvPicPr>
                      <p:cNvPr id="109652" name="Object 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7293" y="5530850"/>
                        <a:ext cx="3455988" cy="947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09CE761F-0623-879A-4483-EE3884F4764E}"/>
              </a:ext>
            </a:extLst>
          </p:cNvPr>
          <p:cNvSpPr>
            <a:spLocks noGrp="1"/>
          </p:cNvSpPr>
          <p:nvPr>
            <p:ph type="sldNum" sz="quarter" idx="11"/>
          </p:nvPr>
        </p:nvSpPr>
        <p:spPr/>
        <p:txBody>
          <a:bodyPr/>
          <a:lstStyle/>
          <a:p>
            <a:pPr>
              <a:defRPr/>
            </a:pPr>
            <a:fld id="{EF9AF31F-C155-4F0C-8A26-43B6DE0D36B2}" type="slidenum">
              <a:rPr lang="en-US" altLang="zh-CN" smtClean="0"/>
              <a:pPr>
                <a:defRPr/>
              </a:pPr>
              <a:t>13</a:t>
            </a:fld>
            <a:endParaRPr lang="en-US" altLang="zh-CN"/>
          </a:p>
        </p:txBody>
      </p:sp>
    </p:spTree>
    <p:extLst>
      <p:ext uri="{BB962C8B-B14F-4D97-AF65-F5344CB8AC3E}">
        <p14:creationId xmlns:p14="http://schemas.microsoft.com/office/powerpoint/2010/main" val="16532272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571">
                                            <p:txEl>
                                              <p:pRg st="0" end="0"/>
                                            </p:txEl>
                                          </p:spTgt>
                                        </p:tgtEl>
                                        <p:attrNameLst>
                                          <p:attrName>style.visibility</p:attrName>
                                        </p:attrNameLst>
                                      </p:cBhvr>
                                      <p:to>
                                        <p:strVal val="visible"/>
                                      </p:to>
                                    </p:set>
                                    <p:animEffect transition="in" filter="wipe(left)">
                                      <p:cBhvr>
                                        <p:cTn id="7" dur="500"/>
                                        <p:tgtEl>
                                          <p:spTgt spid="1095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571">
                                            <p:txEl>
                                              <p:pRg st="1" end="1"/>
                                            </p:txEl>
                                          </p:spTgt>
                                        </p:tgtEl>
                                        <p:attrNameLst>
                                          <p:attrName>style.visibility</p:attrName>
                                        </p:attrNameLst>
                                      </p:cBhvr>
                                      <p:to>
                                        <p:strVal val="visible"/>
                                      </p:to>
                                    </p:set>
                                    <p:animEffect transition="in" filter="wipe(left)">
                                      <p:cBhvr>
                                        <p:cTn id="12" dur="500"/>
                                        <p:tgtEl>
                                          <p:spTgt spid="1095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9571">
                                            <p:txEl>
                                              <p:pRg st="2" end="2"/>
                                            </p:txEl>
                                          </p:spTgt>
                                        </p:tgtEl>
                                        <p:attrNameLst>
                                          <p:attrName>style.visibility</p:attrName>
                                        </p:attrNameLst>
                                      </p:cBhvr>
                                      <p:to>
                                        <p:strVal val="visible"/>
                                      </p:to>
                                    </p:set>
                                    <p:animEffect transition="in" filter="wipe(left)">
                                      <p:cBhvr>
                                        <p:cTn id="17" dur="500"/>
                                        <p:tgtEl>
                                          <p:spTgt spid="1095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9571">
                                            <p:txEl>
                                              <p:pRg st="3" end="3"/>
                                            </p:txEl>
                                          </p:spTgt>
                                        </p:tgtEl>
                                        <p:attrNameLst>
                                          <p:attrName>style.visibility</p:attrName>
                                        </p:attrNameLst>
                                      </p:cBhvr>
                                      <p:to>
                                        <p:strVal val="visible"/>
                                      </p:to>
                                    </p:set>
                                    <p:animEffect transition="in" filter="wipe(left)">
                                      <p:cBhvr>
                                        <p:cTn id="22" dur="500"/>
                                        <p:tgtEl>
                                          <p:spTgt spid="10957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9571">
                                            <p:txEl>
                                              <p:pRg st="4" end="4"/>
                                            </p:txEl>
                                          </p:spTgt>
                                        </p:tgtEl>
                                        <p:attrNameLst>
                                          <p:attrName>style.visibility</p:attrName>
                                        </p:attrNameLst>
                                      </p:cBhvr>
                                      <p:to>
                                        <p:strVal val="visible"/>
                                      </p:to>
                                    </p:set>
                                    <p:animEffect transition="in" filter="wipe(left)">
                                      <p:cBhvr>
                                        <p:cTn id="27" dur="500"/>
                                        <p:tgtEl>
                                          <p:spTgt spid="10957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9651">
                                            <p:bg/>
                                          </p:spTgt>
                                        </p:tgtEl>
                                        <p:attrNameLst>
                                          <p:attrName>style.visibility</p:attrName>
                                        </p:attrNameLst>
                                      </p:cBhvr>
                                      <p:to>
                                        <p:strVal val="visible"/>
                                      </p:to>
                                    </p:set>
                                    <p:anim calcmode="lin" valueType="num">
                                      <p:cBhvr additive="base">
                                        <p:cTn id="32" dur="500" fill="hold"/>
                                        <p:tgtEl>
                                          <p:spTgt spid="109651">
                                            <p:bg/>
                                          </p:spTgt>
                                        </p:tgtEl>
                                        <p:attrNameLst>
                                          <p:attrName>ppt_x</p:attrName>
                                        </p:attrNameLst>
                                      </p:cBhvr>
                                      <p:tavLst>
                                        <p:tav tm="0">
                                          <p:val>
                                            <p:strVal val="#ppt_x"/>
                                          </p:val>
                                        </p:tav>
                                        <p:tav tm="100000">
                                          <p:val>
                                            <p:strVal val="#ppt_x"/>
                                          </p:val>
                                        </p:tav>
                                      </p:tavLst>
                                    </p:anim>
                                    <p:anim calcmode="lin" valueType="num">
                                      <p:cBhvr additive="base">
                                        <p:cTn id="33" dur="500" fill="hold"/>
                                        <p:tgtEl>
                                          <p:spTgt spid="109651">
                                            <p:bg/>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09651">
                                            <p:txEl>
                                              <p:pRg st="0" end="0"/>
                                            </p:txEl>
                                          </p:spTgt>
                                        </p:tgtEl>
                                        <p:attrNameLst>
                                          <p:attrName>style.visibility</p:attrName>
                                        </p:attrNameLst>
                                      </p:cBhvr>
                                      <p:to>
                                        <p:strVal val="visible"/>
                                      </p:to>
                                    </p:set>
                                    <p:anim calcmode="lin" valueType="num">
                                      <p:cBhvr additive="base">
                                        <p:cTn id="36" dur="500" fill="hold"/>
                                        <p:tgtEl>
                                          <p:spTgt spid="109651">
                                            <p:txEl>
                                              <p:pRg st="0" end="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09651">
                                            <p:txEl>
                                              <p:pRg st="0" end="0"/>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09652"/>
                                        </p:tgtEl>
                                        <p:attrNameLst>
                                          <p:attrName>style.visibility</p:attrName>
                                        </p:attrNameLst>
                                      </p:cBhvr>
                                      <p:to>
                                        <p:strVal val="visible"/>
                                      </p:to>
                                    </p:set>
                                    <p:anim calcmode="lin" valueType="num">
                                      <p:cBhvr additive="base">
                                        <p:cTn id="40" dur="500" fill="hold"/>
                                        <p:tgtEl>
                                          <p:spTgt spid="109652"/>
                                        </p:tgtEl>
                                        <p:attrNameLst>
                                          <p:attrName>ppt_x</p:attrName>
                                        </p:attrNameLst>
                                      </p:cBhvr>
                                      <p:tavLst>
                                        <p:tav tm="0">
                                          <p:val>
                                            <p:strVal val="#ppt_x"/>
                                          </p:val>
                                        </p:tav>
                                        <p:tav tm="100000">
                                          <p:val>
                                            <p:strVal val="#ppt_x"/>
                                          </p:val>
                                        </p:tav>
                                      </p:tavLst>
                                    </p:anim>
                                    <p:anim calcmode="lin" valueType="num">
                                      <p:cBhvr additive="base">
                                        <p:cTn id="41" dur="500" fill="hold"/>
                                        <p:tgtEl>
                                          <p:spTgt spid="109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build="p"/>
      <p:bldP spid="109651"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487488" y="188913"/>
            <a:ext cx="8229600" cy="1371600"/>
          </a:xfrm>
        </p:spPr>
        <p:txBody>
          <a:bodyPr/>
          <a:lstStyle/>
          <a:p>
            <a:pPr algn="ctr" eaLnBrk="1" hangingPunct="1"/>
            <a:r>
              <a:rPr lang="zh-CN" altLang="en-US" dirty="0">
                <a:solidFill>
                  <a:srgbClr val="008000"/>
                </a:solidFill>
                <a:ea typeface="黑体" pitchFamily="2" charset="-122"/>
              </a:rPr>
              <a:t>层次分析法的实现步骤</a:t>
            </a:r>
          </a:p>
        </p:txBody>
      </p:sp>
      <p:sp>
        <p:nvSpPr>
          <p:cNvPr id="112643" name="Rectangle 3"/>
          <p:cNvSpPr>
            <a:spLocks noGrp="1" noChangeArrowheads="1"/>
          </p:cNvSpPr>
          <p:nvPr>
            <p:ph type="body" sz="half" idx="1"/>
          </p:nvPr>
        </p:nvSpPr>
        <p:spPr>
          <a:xfrm>
            <a:off x="695400" y="1772816"/>
            <a:ext cx="10513168" cy="5035688"/>
          </a:xfrm>
        </p:spPr>
        <p:txBody>
          <a:bodyPr/>
          <a:lstStyle/>
          <a:p>
            <a:pPr eaLnBrk="1" hangingPunct="1">
              <a:lnSpc>
                <a:spcPct val="105000"/>
              </a:lnSpc>
            </a:pPr>
            <a:r>
              <a:rPr lang="zh-CN" altLang="en-US" dirty="0">
                <a:solidFill>
                  <a:srgbClr val="FF0000"/>
                </a:solidFill>
                <a:ea typeface="黑体" pitchFamily="2" charset="-122"/>
              </a:rPr>
              <a:t>第四步：</a:t>
            </a:r>
            <a:r>
              <a:rPr lang="zh-CN" altLang="en-US" u="sng" dirty="0">
                <a:solidFill>
                  <a:srgbClr val="FF0000"/>
                </a:solidFill>
                <a:ea typeface="黑体" pitchFamily="2" charset="-122"/>
              </a:rPr>
              <a:t>层次总排序</a:t>
            </a:r>
            <a:r>
              <a:rPr lang="zh-CN" altLang="en-US" dirty="0">
                <a:solidFill>
                  <a:srgbClr val="FF0000"/>
                </a:solidFill>
                <a:ea typeface="黑体" pitchFamily="2" charset="-122"/>
              </a:rPr>
              <a:t>及其组合一致性检验</a:t>
            </a:r>
          </a:p>
          <a:p>
            <a:pPr lvl="1" eaLnBrk="1" hangingPunct="1">
              <a:lnSpc>
                <a:spcPct val="105000"/>
              </a:lnSpc>
            </a:pPr>
            <a:r>
              <a:rPr lang="zh-CN" altLang="en-US" dirty="0">
                <a:solidFill>
                  <a:srgbClr val="0000FF"/>
                </a:solidFill>
                <a:ea typeface="黑体" pitchFamily="2" charset="-122"/>
              </a:rPr>
              <a:t>组合一致性检验</a:t>
            </a:r>
          </a:p>
          <a:p>
            <a:pPr lvl="2" eaLnBrk="1" hangingPunct="1">
              <a:lnSpc>
                <a:spcPct val="105000"/>
              </a:lnSpc>
            </a:pPr>
            <a:r>
              <a:rPr lang="zh-CN" altLang="en-US" sz="2400" b="1" dirty="0">
                <a:solidFill>
                  <a:srgbClr val="CC0099"/>
                </a:solidFill>
                <a:latin typeface="华文楷体" pitchFamily="2" charset="-122"/>
                <a:ea typeface="华文楷体" pitchFamily="2" charset="-122"/>
              </a:rPr>
              <a:t>此过程是从最高层（目标层）到最低层（方案层）逐层进行的。</a:t>
            </a:r>
          </a:p>
          <a:p>
            <a:pPr lvl="2" eaLnBrk="1" hangingPunct="1">
              <a:lnSpc>
                <a:spcPct val="105000"/>
              </a:lnSpc>
            </a:pPr>
            <a:r>
              <a:rPr lang="zh-CN" altLang="en-US" sz="2400" b="1" dirty="0">
                <a:ea typeface="楷体_GB2312" pitchFamily="49" charset="-122"/>
              </a:rPr>
              <a:t>设</a:t>
            </a:r>
            <a:r>
              <a:rPr lang="zh-CN" altLang="en-US" sz="2400" b="1" u="sng" dirty="0">
                <a:ea typeface="楷体_GB2312" pitchFamily="49" charset="-122"/>
              </a:rPr>
              <a:t>方案层</a:t>
            </a:r>
            <a:r>
              <a:rPr lang="zh-CN" altLang="en-US" sz="2400" b="1" dirty="0">
                <a:ea typeface="楷体_GB2312" pitchFamily="49" charset="-122"/>
              </a:rPr>
              <a:t>的</a:t>
            </a:r>
            <a:r>
              <a:rPr lang="en-US" altLang="zh-CN" sz="2400" b="1" dirty="0">
                <a:ea typeface="楷体_GB2312" pitchFamily="49" charset="-122"/>
              </a:rPr>
              <a:t>n</a:t>
            </a:r>
            <a:r>
              <a:rPr lang="zh-CN" altLang="en-US" sz="2400" b="1" dirty="0">
                <a:ea typeface="楷体_GB2312" pitchFamily="49" charset="-122"/>
              </a:rPr>
              <a:t>个因素</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t>
            </a:r>
            <a:r>
              <a:rPr lang="en-US" altLang="zh-CN" sz="2400" b="1" dirty="0" err="1">
                <a:solidFill>
                  <a:srgbClr val="0000FF"/>
                </a:solidFill>
                <a:ea typeface="楷体_GB2312" pitchFamily="49" charset="-122"/>
              </a:rPr>
              <a:t>B</a:t>
            </a:r>
            <a:r>
              <a:rPr lang="en-US" altLang="zh-CN" sz="2400" b="1" baseline="-25000" dirty="0" err="1">
                <a:solidFill>
                  <a:srgbClr val="0000FF"/>
                </a:solidFill>
                <a:ea typeface="楷体_GB2312" pitchFamily="49" charset="-122"/>
              </a:rPr>
              <a:t>n</a:t>
            </a:r>
            <a:r>
              <a:rPr lang="zh-CN" altLang="en-US" sz="2400" b="1" dirty="0">
                <a:ea typeface="楷体_GB2312" pitchFamily="49" charset="-122"/>
              </a:rPr>
              <a:t>关于</a:t>
            </a:r>
            <a:r>
              <a:rPr lang="en-US" altLang="zh-CN" sz="2400" b="1" dirty="0">
                <a:ea typeface="楷体_GB2312" pitchFamily="49" charset="-122"/>
              </a:rPr>
              <a:t>A</a:t>
            </a:r>
            <a:r>
              <a:rPr lang="en-US" altLang="zh-CN" sz="2400" b="1" baseline="-25000" dirty="0">
                <a:ea typeface="楷体_GB2312" pitchFamily="49" charset="-122"/>
              </a:rPr>
              <a:t>i</a:t>
            </a:r>
            <a:r>
              <a:rPr lang="zh-CN" altLang="en-US" sz="2400" b="1" dirty="0">
                <a:ea typeface="楷体_GB2312" pitchFamily="49" charset="-122"/>
              </a:rPr>
              <a:t>的</a:t>
            </a:r>
            <a:r>
              <a:rPr lang="zh-CN" altLang="en-US" sz="2400" b="1" u="sng" dirty="0">
                <a:ea typeface="楷体_GB2312" pitchFamily="49" charset="-122"/>
              </a:rPr>
              <a:t>层次单排序一致性指标</a:t>
            </a:r>
            <a:r>
              <a:rPr lang="zh-CN" altLang="en-US" sz="2400" b="1" dirty="0">
                <a:ea typeface="楷体_GB2312" pitchFamily="49" charset="-122"/>
              </a:rPr>
              <a:t>为</a:t>
            </a:r>
            <a:r>
              <a:rPr lang="en-US" altLang="zh-CN" sz="2400" b="1" dirty="0" err="1">
                <a:ea typeface="楷体_GB2312" pitchFamily="49" charset="-122"/>
              </a:rPr>
              <a:t>C</a:t>
            </a:r>
            <a:r>
              <a:rPr lang="en-US" altLang="zh-CN" sz="2400" b="1" baseline="-25000" dirty="0" err="1">
                <a:ea typeface="楷体_GB2312" pitchFamily="49" charset="-122"/>
              </a:rPr>
              <a:t>i</a:t>
            </a:r>
            <a:r>
              <a:rPr lang="zh-CN" altLang="en-US" sz="2400" b="1" dirty="0">
                <a:ea typeface="楷体_GB2312" pitchFamily="49" charset="-122"/>
              </a:rPr>
              <a:t>，随机一致性指标为</a:t>
            </a:r>
            <a:r>
              <a:rPr lang="en-US" altLang="zh-CN" sz="2400" b="1" dirty="0" err="1">
                <a:ea typeface="楷体_GB2312" pitchFamily="49" charset="-122"/>
              </a:rPr>
              <a:t>R</a:t>
            </a:r>
            <a:r>
              <a:rPr lang="en-US" altLang="zh-CN" sz="2400" b="1" baseline="-25000" dirty="0" err="1">
                <a:ea typeface="楷体_GB2312" pitchFamily="49" charset="-122"/>
              </a:rPr>
              <a:t>i</a:t>
            </a:r>
            <a:r>
              <a:rPr lang="zh-CN" altLang="en-US" sz="2400" b="1" dirty="0">
                <a:ea typeface="楷体_GB2312" pitchFamily="49" charset="-122"/>
              </a:rPr>
              <a:t>，则</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t>
            </a:r>
            <a:r>
              <a:rPr lang="en-US" altLang="zh-CN" sz="2400" b="1" dirty="0" err="1">
                <a:solidFill>
                  <a:srgbClr val="0000FF"/>
                </a:solidFill>
                <a:ea typeface="楷体_GB2312" pitchFamily="49" charset="-122"/>
              </a:rPr>
              <a:t>B</a:t>
            </a:r>
            <a:r>
              <a:rPr lang="en-US" altLang="zh-CN" sz="2400" b="1" baseline="-25000" dirty="0" err="1">
                <a:solidFill>
                  <a:srgbClr val="0000FF"/>
                </a:solidFill>
                <a:ea typeface="楷体_GB2312" pitchFamily="49" charset="-122"/>
              </a:rPr>
              <a:t>n</a:t>
            </a:r>
            <a:r>
              <a:rPr lang="en-US" altLang="zh-CN" sz="2400" b="1" dirty="0">
                <a:ea typeface="楷体_GB2312" pitchFamily="49" charset="-122"/>
              </a:rPr>
              <a:t> </a:t>
            </a:r>
            <a:r>
              <a:rPr lang="zh-CN" altLang="en-US" sz="2400" b="1" dirty="0">
                <a:ea typeface="楷体_GB2312" pitchFamily="49" charset="-122"/>
              </a:rPr>
              <a:t>关于目标</a:t>
            </a:r>
            <a:r>
              <a:rPr lang="en-US" altLang="zh-CN" sz="2400" b="1" dirty="0">
                <a:ea typeface="楷体_GB2312" pitchFamily="49" charset="-122"/>
              </a:rPr>
              <a:t>G</a:t>
            </a:r>
            <a:r>
              <a:rPr lang="zh-CN" altLang="en-US" sz="2400" b="1" dirty="0">
                <a:ea typeface="楷体_GB2312" pitchFamily="49" charset="-122"/>
              </a:rPr>
              <a:t>的组合一致性指标</a:t>
            </a:r>
            <a:r>
              <a:rPr lang="en-US" altLang="zh-CN" sz="2400" b="1" i="1" dirty="0">
                <a:ea typeface="楷体_GB2312" pitchFamily="49" charset="-122"/>
              </a:rPr>
              <a:t>C</a:t>
            </a:r>
            <a:r>
              <a:rPr lang="en-US" altLang="zh-CN" sz="2400" b="1" i="1" baseline="-25000" dirty="0">
                <a:ea typeface="楷体_GB2312" pitchFamily="49" charset="-122"/>
              </a:rPr>
              <a:t>R</a:t>
            </a:r>
            <a:r>
              <a:rPr lang="zh-CN" altLang="en-US" sz="2400" b="1" dirty="0">
                <a:ea typeface="楷体_GB2312" pitchFamily="49" charset="-122"/>
              </a:rPr>
              <a:t>为</a:t>
            </a:r>
          </a:p>
          <a:p>
            <a:pPr lvl="2" eaLnBrk="1" hangingPunct="1">
              <a:lnSpc>
                <a:spcPct val="105000"/>
              </a:lnSpc>
            </a:pPr>
            <a:endParaRPr lang="zh-CN" altLang="en-US" sz="2400" b="1" dirty="0">
              <a:ea typeface="楷体_GB2312" pitchFamily="49" charset="-122"/>
            </a:endParaRPr>
          </a:p>
          <a:p>
            <a:pPr lvl="2" eaLnBrk="1" hangingPunct="1">
              <a:lnSpc>
                <a:spcPct val="105000"/>
              </a:lnSpc>
            </a:pPr>
            <a:endParaRPr lang="zh-CN" altLang="en-US" sz="2400" b="1" dirty="0">
              <a:ea typeface="楷体_GB2312" pitchFamily="49" charset="-122"/>
            </a:endParaRPr>
          </a:p>
          <a:p>
            <a:pPr lvl="2" eaLnBrk="1" hangingPunct="1">
              <a:lnSpc>
                <a:spcPct val="105000"/>
              </a:lnSpc>
            </a:pPr>
            <a:endParaRPr lang="zh-CN" altLang="en-US" sz="2400" b="1" dirty="0">
              <a:ea typeface="楷体_GB2312" pitchFamily="49" charset="-122"/>
            </a:endParaRPr>
          </a:p>
          <a:p>
            <a:pPr lvl="2" eaLnBrk="1" hangingPunct="1">
              <a:lnSpc>
                <a:spcPct val="105000"/>
              </a:lnSpc>
            </a:pPr>
            <a:r>
              <a:rPr lang="zh-CN" altLang="en-US" sz="2800" b="1" dirty="0">
                <a:ea typeface="华文楷体" pitchFamily="2" charset="-122"/>
              </a:rPr>
              <a:t>类似地，当</a:t>
            </a:r>
            <a:r>
              <a:rPr lang="en-US" altLang="zh-CN" sz="2800" b="1" i="1" dirty="0">
                <a:solidFill>
                  <a:srgbClr val="CC0099"/>
                </a:solidFill>
                <a:ea typeface="华文楷体" pitchFamily="2" charset="-122"/>
              </a:rPr>
              <a:t>C</a:t>
            </a:r>
            <a:r>
              <a:rPr lang="en-US" altLang="zh-CN" sz="2800" b="1" i="1" baseline="-25000" dirty="0">
                <a:solidFill>
                  <a:srgbClr val="CC0099"/>
                </a:solidFill>
                <a:ea typeface="华文楷体" pitchFamily="2" charset="-122"/>
              </a:rPr>
              <a:t>R</a:t>
            </a:r>
            <a:r>
              <a:rPr lang="en-US" altLang="zh-CN" sz="2800" b="1" dirty="0">
                <a:solidFill>
                  <a:srgbClr val="CC0099"/>
                </a:solidFill>
                <a:ea typeface="华文楷体" pitchFamily="2" charset="-122"/>
              </a:rPr>
              <a:t>&lt;0.1</a:t>
            </a:r>
            <a:r>
              <a:rPr lang="zh-CN" altLang="en-US" sz="2800" b="1" dirty="0">
                <a:ea typeface="华文楷体" pitchFamily="2" charset="-122"/>
              </a:rPr>
              <a:t>时，可认为层次总排队序结果具有满意的一致性，否则需要重新调整</a:t>
            </a:r>
            <a:r>
              <a:rPr lang="zh-CN" altLang="en-US" sz="2800" b="1" u="sng" dirty="0">
                <a:ea typeface="华文楷体" pitchFamily="2" charset="-122"/>
              </a:rPr>
              <a:t>判断矩阵</a:t>
            </a:r>
            <a:r>
              <a:rPr lang="zh-CN" altLang="en-US" sz="2800" b="1" dirty="0">
                <a:ea typeface="华文楷体" pitchFamily="2" charset="-122"/>
              </a:rPr>
              <a:t>。</a:t>
            </a:r>
          </a:p>
        </p:txBody>
      </p:sp>
      <p:graphicFrame>
        <p:nvGraphicFramePr>
          <p:cNvPr id="47108" name="Object 33"/>
          <p:cNvGraphicFramePr>
            <a:graphicFrameLocks noChangeAspect="1"/>
          </p:cNvGraphicFramePr>
          <p:nvPr>
            <p:extLst>
              <p:ext uri="{D42A27DB-BD31-4B8C-83A1-F6EECF244321}">
                <p14:modId xmlns:p14="http://schemas.microsoft.com/office/powerpoint/2010/main" val="2121566198"/>
              </p:ext>
            </p:extLst>
          </p:nvPr>
        </p:nvGraphicFramePr>
        <p:xfrm>
          <a:off x="3431704" y="4318879"/>
          <a:ext cx="3887787" cy="1212850"/>
        </p:xfrm>
        <a:graphic>
          <a:graphicData uri="http://schemas.openxmlformats.org/presentationml/2006/ole">
            <mc:AlternateContent xmlns:mc="http://schemas.openxmlformats.org/markup-compatibility/2006">
              <mc:Choice xmlns:v="urn:schemas-microsoft-com:vml" Requires="v">
                <p:oleObj name="公式" r:id="rId2" imgW="1384300" imgH="431800" progId="Equation.3">
                  <p:embed/>
                </p:oleObj>
              </mc:Choice>
              <mc:Fallback>
                <p:oleObj name="公式" r:id="rId2" imgW="1384300" imgH="431800" progId="Equation.3">
                  <p:embed/>
                  <p:pic>
                    <p:nvPicPr>
                      <p:cNvPr id="47108"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1704" y="4318879"/>
                        <a:ext cx="3887787" cy="121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图片 2">
            <a:extLst>
              <a:ext uri="{FF2B5EF4-FFF2-40B4-BE49-F238E27FC236}">
                <a16:creationId xmlns:a16="http://schemas.microsoft.com/office/drawing/2014/main" id="{7E6139ED-A61B-11EC-3610-D1A9E35BA3BD}"/>
              </a:ext>
            </a:extLst>
          </p:cNvPr>
          <p:cNvPicPr>
            <a:picLocks noChangeAspect="1"/>
          </p:cNvPicPr>
          <p:nvPr/>
        </p:nvPicPr>
        <p:blipFill>
          <a:blip r:embed="rId4"/>
          <a:stretch>
            <a:fillRect/>
          </a:stretch>
        </p:blipFill>
        <p:spPr>
          <a:xfrm>
            <a:off x="8551957" y="888124"/>
            <a:ext cx="3441509" cy="1757366"/>
          </a:xfrm>
          <a:prstGeom prst="rect">
            <a:avLst/>
          </a:prstGeom>
          <a:effectLst>
            <a:glow rad="127000">
              <a:srgbClr val="00B0F0"/>
            </a:glow>
          </a:effectLst>
        </p:spPr>
      </p:pic>
      <p:sp>
        <p:nvSpPr>
          <p:cNvPr id="2" name="灯片编号占位符 1">
            <a:extLst>
              <a:ext uri="{FF2B5EF4-FFF2-40B4-BE49-F238E27FC236}">
                <a16:creationId xmlns:a16="http://schemas.microsoft.com/office/drawing/2014/main" id="{17864920-097E-36B2-C098-84F4429A3FA7}"/>
              </a:ext>
            </a:extLst>
          </p:cNvPr>
          <p:cNvSpPr>
            <a:spLocks noGrp="1"/>
          </p:cNvSpPr>
          <p:nvPr>
            <p:ph type="sldNum" sz="quarter" idx="11"/>
          </p:nvPr>
        </p:nvSpPr>
        <p:spPr/>
        <p:txBody>
          <a:bodyPr/>
          <a:lstStyle/>
          <a:p>
            <a:pPr>
              <a:defRPr/>
            </a:pPr>
            <a:fld id="{EF9AF31F-C155-4F0C-8A26-43B6DE0D36B2}" type="slidenum">
              <a:rPr lang="en-US" altLang="zh-CN" smtClean="0"/>
              <a:pPr>
                <a:defRPr/>
              </a:pPr>
              <a:t>14</a:t>
            </a:fld>
            <a:endParaRPr lang="en-US" altLang="zh-CN"/>
          </a:p>
        </p:txBody>
      </p:sp>
    </p:spTree>
    <p:extLst>
      <p:ext uri="{BB962C8B-B14F-4D97-AF65-F5344CB8AC3E}">
        <p14:creationId xmlns:p14="http://schemas.microsoft.com/office/powerpoint/2010/main" val="36210044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43">
                                            <p:txEl>
                                              <p:pRg st="1" end="1"/>
                                            </p:txEl>
                                          </p:spTgt>
                                        </p:tgtEl>
                                        <p:attrNameLst>
                                          <p:attrName>style.visibility</p:attrName>
                                        </p:attrNameLst>
                                      </p:cBhvr>
                                      <p:to>
                                        <p:strVal val="visible"/>
                                      </p:to>
                                    </p:set>
                                    <p:animEffect transition="in" filter="wipe(left)">
                                      <p:cBhvr>
                                        <p:cTn id="7" dur="500"/>
                                        <p:tgtEl>
                                          <p:spTgt spid="1126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43">
                                            <p:txEl>
                                              <p:pRg st="2" end="2"/>
                                            </p:txEl>
                                          </p:spTgt>
                                        </p:tgtEl>
                                        <p:attrNameLst>
                                          <p:attrName>style.visibility</p:attrName>
                                        </p:attrNameLst>
                                      </p:cBhvr>
                                      <p:to>
                                        <p:strVal val="visible"/>
                                      </p:to>
                                    </p:set>
                                    <p:animEffect transition="in" filter="wipe(left)">
                                      <p:cBhvr>
                                        <p:cTn id="12" dur="500"/>
                                        <p:tgtEl>
                                          <p:spTgt spid="1126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43">
                                            <p:txEl>
                                              <p:pRg st="3" end="3"/>
                                            </p:txEl>
                                          </p:spTgt>
                                        </p:tgtEl>
                                        <p:attrNameLst>
                                          <p:attrName>style.visibility</p:attrName>
                                        </p:attrNameLst>
                                      </p:cBhvr>
                                      <p:to>
                                        <p:strVal val="visible"/>
                                      </p:to>
                                    </p:set>
                                    <p:animEffect transition="in" filter="wipe(left)">
                                      <p:cBhvr>
                                        <p:cTn id="17" dur="500"/>
                                        <p:tgtEl>
                                          <p:spTgt spid="11264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7108"/>
                                        </p:tgtEl>
                                        <p:attrNameLst>
                                          <p:attrName>style.visibility</p:attrName>
                                        </p:attrNameLst>
                                      </p:cBhvr>
                                      <p:to>
                                        <p:strVal val="visible"/>
                                      </p:to>
                                    </p:set>
                                    <p:animEffect transition="in" filter="wipe(left)">
                                      <p:cBhvr>
                                        <p:cTn id="29" dur="500"/>
                                        <p:tgtEl>
                                          <p:spTgt spid="4710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2643">
                                            <p:txEl>
                                              <p:pRg st="7" end="7"/>
                                            </p:txEl>
                                          </p:spTgt>
                                        </p:tgtEl>
                                        <p:attrNameLst>
                                          <p:attrName>style.visibility</p:attrName>
                                        </p:attrNameLst>
                                      </p:cBhvr>
                                      <p:to>
                                        <p:strVal val="visible"/>
                                      </p:to>
                                    </p:set>
                                    <p:animEffect transition="in" filter="wipe(left)">
                                      <p:cBhvr>
                                        <p:cTn id="34" dur="500"/>
                                        <p:tgtEl>
                                          <p:spTgt spid="1126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919288" y="260350"/>
            <a:ext cx="8229600" cy="1371600"/>
          </a:xfrm>
        </p:spPr>
        <p:txBody>
          <a:bodyPr/>
          <a:lstStyle/>
          <a:p>
            <a:pPr algn="ct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13667" name="Rectangle 3"/>
          <p:cNvSpPr>
            <a:spLocks noGrp="1" noChangeArrowheads="1"/>
          </p:cNvSpPr>
          <p:nvPr>
            <p:ph type="body" idx="1"/>
          </p:nvPr>
        </p:nvSpPr>
        <p:spPr>
          <a:xfrm>
            <a:off x="1199456" y="1557338"/>
            <a:ext cx="9793088" cy="5040312"/>
          </a:xfrm>
        </p:spPr>
        <p:txBody>
          <a:bodyPr/>
          <a:lstStyle/>
          <a:p>
            <a:pPr eaLnBrk="1" hangingPunct="1">
              <a:lnSpc>
                <a:spcPct val="150000"/>
              </a:lnSpc>
            </a:pPr>
            <a:r>
              <a:rPr lang="zh-CN" altLang="en-US" dirty="0">
                <a:ea typeface="黑体" pitchFamily="2" charset="-122"/>
              </a:rPr>
              <a:t>某企业现有一笔留存利润，可供选择的使用方案有</a:t>
            </a:r>
          </a:p>
          <a:p>
            <a:pPr lvl="1" eaLnBrk="1" hangingPunct="1">
              <a:lnSpc>
                <a:spcPct val="150000"/>
              </a:lnSpc>
            </a:pPr>
            <a:r>
              <a:rPr lang="zh-CN" altLang="en-US" b="1" dirty="0">
                <a:solidFill>
                  <a:srgbClr val="0000FF"/>
                </a:solidFill>
                <a:ea typeface="楷体_GB2312" pitchFamily="49" charset="-122"/>
              </a:rPr>
              <a:t>发奖金给职工</a:t>
            </a:r>
          </a:p>
          <a:p>
            <a:pPr lvl="1" eaLnBrk="1" hangingPunct="1">
              <a:lnSpc>
                <a:spcPct val="150000"/>
              </a:lnSpc>
            </a:pPr>
            <a:r>
              <a:rPr lang="zh-CN" altLang="en-US" b="1" dirty="0">
                <a:solidFill>
                  <a:srgbClr val="0000FF"/>
                </a:solidFill>
                <a:ea typeface="楷体_GB2312" pitchFamily="49" charset="-122"/>
              </a:rPr>
              <a:t>扩建集体福利设施</a:t>
            </a:r>
          </a:p>
          <a:p>
            <a:pPr lvl="1" eaLnBrk="1" hangingPunct="1">
              <a:lnSpc>
                <a:spcPct val="150000"/>
              </a:lnSpc>
            </a:pPr>
            <a:r>
              <a:rPr lang="zh-CN" altLang="en-US" b="1" dirty="0">
                <a:solidFill>
                  <a:srgbClr val="0000FF"/>
                </a:solidFill>
                <a:ea typeface="楷体_GB2312" pitchFamily="49" charset="-122"/>
              </a:rPr>
              <a:t>引进新技术新设备</a:t>
            </a:r>
            <a:r>
              <a:rPr lang="zh-CN" altLang="en-US" b="1" dirty="0">
                <a:ea typeface="楷体_GB2312" pitchFamily="49" charset="-122"/>
              </a:rPr>
              <a:t>，</a:t>
            </a:r>
          </a:p>
          <a:p>
            <a:pPr eaLnBrk="1" hangingPunct="1">
              <a:lnSpc>
                <a:spcPct val="150000"/>
              </a:lnSpc>
              <a:buFont typeface="Wingdings" pitchFamily="2" charset="2"/>
              <a:buNone/>
            </a:pPr>
            <a:r>
              <a:rPr lang="zh-CN" altLang="en-US" dirty="0">
                <a:ea typeface="黑体" pitchFamily="2" charset="-122"/>
              </a:rPr>
              <a:t>为进一步促进企业发展，如何合理使用这笔利润？</a:t>
            </a:r>
          </a:p>
        </p:txBody>
      </p:sp>
      <p:sp>
        <p:nvSpPr>
          <p:cNvPr id="2" name="灯片编号占位符 1">
            <a:extLst>
              <a:ext uri="{FF2B5EF4-FFF2-40B4-BE49-F238E27FC236}">
                <a16:creationId xmlns:a16="http://schemas.microsoft.com/office/drawing/2014/main" id="{0FAF97B7-F3A3-1B0C-8D47-84E88378EA87}"/>
              </a:ext>
            </a:extLst>
          </p:cNvPr>
          <p:cNvSpPr>
            <a:spLocks noGrp="1"/>
          </p:cNvSpPr>
          <p:nvPr>
            <p:ph type="sldNum" sz="quarter" idx="11"/>
          </p:nvPr>
        </p:nvSpPr>
        <p:spPr/>
        <p:txBody>
          <a:bodyPr/>
          <a:lstStyle/>
          <a:p>
            <a:pPr>
              <a:defRPr/>
            </a:pPr>
            <a:fld id="{1A3A146F-9300-4B06-8947-0E9C0D98352F}" type="slidenum">
              <a:rPr lang="en-US" altLang="zh-CN" smtClean="0"/>
              <a:pPr>
                <a:defRPr/>
              </a:pPr>
              <a:t>15</a:t>
            </a:fld>
            <a:endParaRPr lang="en-US" altLang="zh-CN"/>
          </a:p>
        </p:txBody>
      </p:sp>
    </p:spTree>
    <p:extLst>
      <p:ext uri="{BB962C8B-B14F-4D97-AF65-F5344CB8AC3E}">
        <p14:creationId xmlns:p14="http://schemas.microsoft.com/office/powerpoint/2010/main" val="37128035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wipe(left)">
                                      <p:cBhvr>
                                        <p:cTn id="7" dur="500"/>
                                        <p:tgtEl>
                                          <p:spTgt spid="113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wipe(left)">
                                      <p:cBhvr>
                                        <p:cTn id="12" dur="500"/>
                                        <p:tgtEl>
                                          <p:spTgt spid="1136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wipe(left)">
                                      <p:cBhvr>
                                        <p:cTn id="17" dur="500"/>
                                        <p:tgtEl>
                                          <p:spTgt spid="1136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3667">
                                            <p:txEl>
                                              <p:pRg st="3" end="3"/>
                                            </p:txEl>
                                          </p:spTgt>
                                        </p:tgtEl>
                                        <p:attrNameLst>
                                          <p:attrName>style.visibility</p:attrName>
                                        </p:attrNameLst>
                                      </p:cBhvr>
                                      <p:to>
                                        <p:strVal val="visible"/>
                                      </p:to>
                                    </p:set>
                                    <p:animEffect transition="in" filter="wipe(left)">
                                      <p:cBhvr>
                                        <p:cTn id="22" dur="500"/>
                                        <p:tgtEl>
                                          <p:spTgt spid="1136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3667">
                                            <p:txEl>
                                              <p:pRg st="4" end="4"/>
                                            </p:txEl>
                                          </p:spTgt>
                                        </p:tgtEl>
                                        <p:attrNameLst>
                                          <p:attrName>style.visibility</p:attrName>
                                        </p:attrNameLst>
                                      </p:cBhvr>
                                      <p:to>
                                        <p:strVal val="visible"/>
                                      </p:to>
                                    </p:set>
                                    <p:animEffect transition="in" filter="wipe(left)">
                                      <p:cBhvr>
                                        <p:cTn id="27" dur="500"/>
                                        <p:tgtEl>
                                          <p:spTgt spid="1136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7"/>
          <p:cNvSpPr>
            <a:spLocks noGrp="1" noChangeArrowheads="1"/>
          </p:cNvSpPr>
          <p:nvPr>
            <p:ph type="title"/>
          </p:nvPr>
        </p:nvSpPr>
        <p:spPr>
          <a:xfrm>
            <a:off x="2063750" y="188913"/>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10630" name="Rectangle 38"/>
          <p:cNvSpPr>
            <a:spLocks noGrp="1" noChangeArrowheads="1"/>
          </p:cNvSpPr>
          <p:nvPr>
            <p:ph type="body" idx="1"/>
          </p:nvPr>
        </p:nvSpPr>
        <p:spPr>
          <a:xfrm>
            <a:off x="1127448" y="1484314"/>
            <a:ext cx="9216702" cy="5184775"/>
          </a:xfrm>
        </p:spPr>
        <p:txBody>
          <a:bodyPr/>
          <a:lstStyle/>
          <a:p>
            <a:pPr eaLnBrk="1" hangingPunct="1"/>
            <a:r>
              <a:rPr lang="zh-CN" altLang="en-US" dirty="0">
                <a:solidFill>
                  <a:srgbClr val="FF0000"/>
                </a:solidFill>
                <a:ea typeface="黑体" pitchFamily="2" charset="-122"/>
              </a:rPr>
              <a:t>第一步：建立递阶层次结构</a:t>
            </a:r>
          </a:p>
          <a:p>
            <a:pPr eaLnBrk="1" hangingPunct="1"/>
            <a:endParaRPr lang="zh-CN" altLang="en-US" dirty="0">
              <a:solidFill>
                <a:srgbClr val="FF0000"/>
              </a:solidFill>
              <a:ea typeface="黑体" pitchFamily="2" charset="-122"/>
            </a:endParaRPr>
          </a:p>
          <a:p>
            <a:pPr eaLnBrk="1" hangingPunct="1"/>
            <a:endParaRPr lang="zh-CN" altLang="en-US" dirty="0">
              <a:solidFill>
                <a:srgbClr val="FF0000"/>
              </a:solidFill>
              <a:ea typeface="黑体" pitchFamily="2" charset="-122"/>
            </a:endParaRPr>
          </a:p>
          <a:p>
            <a:pPr eaLnBrk="1" hangingPunct="1"/>
            <a:endParaRPr lang="zh-CN" altLang="en-US" dirty="0">
              <a:solidFill>
                <a:srgbClr val="FF0000"/>
              </a:solidFill>
              <a:ea typeface="黑体" pitchFamily="2" charset="-122"/>
            </a:endParaRPr>
          </a:p>
          <a:p>
            <a:pPr eaLnBrk="1" hangingPunct="1"/>
            <a:endParaRPr lang="zh-CN" altLang="en-US" dirty="0">
              <a:solidFill>
                <a:srgbClr val="FF0000"/>
              </a:solidFill>
              <a:ea typeface="黑体" pitchFamily="2" charset="-122"/>
            </a:endParaRPr>
          </a:p>
          <a:p>
            <a:pPr eaLnBrk="1" hangingPunct="1"/>
            <a:endParaRPr lang="zh-CN" altLang="en-US" dirty="0">
              <a:solidFill>
                <a:srgbClr val="FF0000"/>
              </a:solidFill>
              <a:ea typeface="黑体" pitchFamily="2" charset="-122"/>
            </a:endParaRPr>
          </a:p>
          <a:p>
            <a:pPr eaLnBrk="1" hangingPunct="1"/>
            <a:endParaRPr lang="zh-CN" altLang="en-US" dirty="0">
              <a:solidFill>
                <a:srgbClr val="FF0000"/>
              </a:solidFill>
              <a:ea typeface="黑体" pitchFamily="2" charset="-122"/>
            </a:endParaRPr>
          </a:p>
          <a:p>
            <a:pPr eaLnBrk="1" hangingPunct="1"/>
            <a:r>
              <a:rPr lang="zh-CN" altLang="en-US" dirty="0">
                <a:ea typeface="黑体" pitchFamily="2" charset="-122"/>
              </a:rPr>
              <a:t>其中，准则层是根据目标层和方案层制定的</a:t>
            </a:r>
          </a:p>
          <a:p>
            <a:pPr eaLnBrk="1" hangingPunct="1"/>
            <a:endParaRPr lang="en-US" altLang="zh-CN" dirty="0">
              <a:solidFill>
                <a:srgbClr val="FF0000"/>
              </a:solidFill>
              <a:ea typeface="黑体" pitchFamily="2" charset="-122"/>
            </a:endParaRPr>
          </a:p>
        </p:txBody>
      </p:sp>
      <p:grpSp>
        <p:nvGrpSpPr>
          <p:cNvPr id="110655" name="Group 63"/>
          <p:cNvGrpSpPr>
            <a:grpSpLocks/>
          </p:cNvGrpSpPr>
          <p:nvPr/>
        </p:nvGrpSpPr>
        <p:grpSpPr bwMode="auto">
          <a:xfrm>
            <a:off x="1524001" y="2420939"/>
            <a:ext cx="8964613" cy="2503487"/>
            <a:chOff x="0" y="1525"/>
            <a:chExt cx="5647" cy="1577"/>
          </a:xfrm>
        </p:grpSpPr>
        <p:sp>
          <p:nvSpPr>
            <p:cNvPr id="53253" name="Text Box 40"/>
            <p:cNvSpPr txBox="1">
              <a:spLocks noChangeArrowheads="1"/>
            </p:cNvSpPr>
            <p:nvPr/>
          </p:nvSpPr>
          <p:spPr bwMode="auto">
            <a:xfrm>
              <a:off x="2109" y="1570"/>
              <a:ext cx="1611" cy="262"/>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合理使用企业利润</a:t>
              </a:r>
              <a:r>
                <a:rPr lang="en-US" altLang="zh-CN" sz="2000" b="1">
                  <a:ea typeface="楷体_GB2312" pitchFamily="49" charset="-122"/>
                </a:rPr>
                <a:t>G</a:t>
              </a:r>
            </a:p>
          </p:txBody>
        </p:sp>
        <p:sp>
          <p:nvSpPr>
            <p:cNvPr id="53254" name="Text Box 41"/>
            <p:cNvSpPr txBox="1">
              <a:spLocks noChangeArrowheads="1"/>
            </p:cNvSpPr>
            <p:nvPr/>
          </p:nvSpPr>
          <p:spPr bwMode="auto">
            <a:xfrm>
              <a:off x="657" y="2115"/>
              <a:ext cx="1452" cy="23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调动职工积极性</a:t>
              </a:r>
              <a:r>
                <a:rPr lang="en-US" altLang="zh-CN" b="1">
                  <a:ea typeface="楷体_GB2312" pitchFamily="49" charset="-122"/>
                </a:rPr>
                <a:t>C</a:t>
              </a:r>
              <a:r>
                <a:rPr lang="en-US" altLang="zh-CN" b="1" baseline="-25000">
                  <a:ea typeface="楷体_GB2312" pitchFamily="49" charset="-122"/>
                </a:rPr>
                <a:t>1</a:t>
              </a:r>
            </a:p>
          </p:txBody>
        </p:sp>
        <p:sp>
          <p:nvSpPr>
            <p:cNvPr id="53255" name="Text Box 42"/>
            <p:cNvSpPr txBox="1">
              <a:spLocks noChangeArrowheads="1"/>
            </p:cNvSpPr>
            <p:nvPr/>
          </p:nvSpPr>
          <p:spPr bwMode="auto">
            <a:xfrm>
              <a:off x="2200" y="2115"/>
              <a:ext cx="1587" cy="23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提高企业技术水平</a:t>
              </a:r>
              <a:r>
                <a:rPr lang="en-US" altLang="zh-CN" b="1">
                  <a:ea typeface="楷体_GB2312" pitchFamily="49" charset="-122"/>
                </a:rPr>
                <a:t>C</a:t>
              </a:r>
              <a:r>
                <a:rPr lang="en-US" altLang="zh-CN" b="1" baseline="-25000">
                  <a:ea typeface="楷体_GB2312" pitchFamily="49" charset="-122"/>
                </a:rPr>
                <a:t>2</a:t>
              </a:r>
            </a:p>
          </p:txBody>
        </p:sp>
        <p:sp>
          <p:nvSpPr>
            <p:cNvPr id="53256" name="Text Box 43"/>
            <p:cNvSpPr txBox="1">
              <a:spLocks noChangeArrowheads="1"/>
            </p:cNvSpPr>
            <p:nvPr/>
          </p:nvSpPr>
          <p:spPr bwMode="auto">
            <a:xfrm>
              <a:off x="4105" y="2115"/>
              <a:ext cx="1542" cy="23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改善职工生活条件</a:t>
              </a:r>
              <a:r>
                <a:rPr lang="en-US" altLang="zh-CN" b="1">
                  <a:ea typeface="楷体_GB2312" pitchFamily="49" charset="-122"/>
                </a:rPr>
                <a:t>C</a:t>
              </a:r>
              <a:r>
                <a:rPr lang="en-US" altLang="zh-CN" b="1" baseline="-25000">
                  <a:ea typeface="楷体_GB2312" pitchFamily="49" charset="-122"/>
                </a:rPr>
                <a:t>3</a:t>
              </a:r>
            </a:p>
          </p:txBody>
        </p:sp>
        <p:sp>
          <p:nvSpPr>
            <p:cNvPr id="53257" name="Text Box 44"/>
            <p:cNvSpPr txBox="1">
              <a:spLocks noChangeArrowheads="1"/>
            </p:cNvSpPr>
            <p:nvPr/>
          </p:nvSpPr>
          <p:spPr bwMode="auto">
            <a:xfrm>
              <a:off x="657" y="2840"/>
              <a:ext cx="1429" cy="262"/>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2000" b="1">
                  <a:ea typeface="楷体_GB2312" pitchFamily="49" charset="-122"/>
                </a:rPr>
                <a:t>发奖金给职工</a:t>
              </a:r>
              <a:r>
                <a:rPr lang="en-US" altLang="zh-CN" sz="2000" b="1">
                  <a:ea typeface="楷体_GB2312" pitchFamily="49" charset="-122"/>
                </a:rPr>
                <a:t>P</a:t>
              </a:r>
              <a:r>
                <a:rPr lang="en-US" altLang="zh-CN" sz="2000" b="1" baseline="-25000">
                  <a:ea typeface="楷体_GB2312" pitchFamily="49" charset="-122"/>
                </a:rPr>
                <a:t>1</a:t>
              </a:r>
            </a:p>
          </p:txBody>
        </p:sp>
        <p:sp>
          <p:nvSpPr>
            <p:cNvPr id="53258" name="Text Box 45"/>
            <p:cNvSpPr txBox="1">
              <a:spLocks noChangeArrowheads="1"/>
            </p:cNvSpPr>
            <p:nvPr/>
          </p:nvSpPr>
          <p:spPr bwMode="auto">
            <a:xfrm>
              <a:off x="2154" y="2840"/>
              <a:ext cx="1633" cy="23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扩建集体福利设施</a:t>
              </a:r>
              <a:r>
                <a:rPr lang="en-US" altLang="zh-CN" b="1">
                  <a:ea typeface="楷体_GB2312" pitchFamily="49" charset="-122"/>
                </a:rPr>
                <a:t>P</a:t>
              </a:r>
              <a:r>
                <a:rPr lang="en-US" altLang="zh-CN" b="1" baseline="-25000">
                  <a:ea typeface="楷体_GB2312" pitchFamily="49" charset="-122"/>
                </a:rPr>
                <a:t>2</a:t>
              </a:r>
            </a:p>
          </p:txBody>
        </p:sp>
        <p:sp>
          <p:nvSpPr>
            <p:cNvPr id="53259" name="Text Box 46"/>
            <p:cNvSpPr txBox="1">
              <a:spLocks noChangeArrowheads="1"/>
            </p:cNvSpPr>
            <p:nvPr/>
          </p:nvSpPr>
          <p:spPr bwMode="auto">
            <a:xfrm>
              <a:off x="4059" y="2840"/>
              <a:ext cx="1588" cy="23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引进新技术新设备</a:t>
              </a:r>
              <a:r>
                <a:rPr lang="en-US" altLang="zh-CN" b="1">
                  <a:ea typeface="楷体_GB2312" pitchFamily="49" charset="-122"/>
                </a:rPr>
                <a:t>P</a:t>
              </a:r>
              <a:r>
                <a:rPr lang="en-US" altLang="zh-CN" b="1" baseline="-25000">
                  <a:ea typeface="楷体_GB2312" pitchFamily="49" charset="-122"/>
                </a:rPr>
                <a:t>3</a:t>
              </a:r>
            </a:p>
          </p:txBody>
        </p:sp>
        <p:sp>
          <p:nvSpPr>
            <p:cNvPr id="53260" name="Line 47"/>
            <p:cNvSpPr>
              <a:spLocks noChangeShapeType="1"/>
            </p:cNvSpPr>
            <p:nvPr/>
          </p:nvSpPr>
          <p:spPr bwMode="auto">
            <a:xfrm flipV="1">
              <a:off x="2902" y="1842"/>
              <a:ext cx="0" cy="273"/>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1" name="Line 48"/>
            <p:cNvSpPr>
              <a:spLocks noChangeShapeType="1"/>
            </p:cNvSpPr>
            <p:nvPr/>
          </p:nvSpPr>
          <p:spPr bwMode="auto">
            <a:xfrm flipH="1">
              <a:off x="1292" y="1842"/>
              <a:ext cx="1610" cy="273"/>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2" name="Line 49"/>
            <p:cNvSpPr>
              <a:spLocks noChangeShapeType="1"/>
            </p:cNvSpPr>
            <p:nvPr/>
          </p:nvSpPr>
          <p:spPr bwMode="auto">
            <a:xfrm>
              <a:off x="2902" y="1842"/>
              <a:ext cx="1974" cy="273"/>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3" name="Line 52"/>
            <p:cNvSpPr>
              <a:spLocks noChangeShapeType="1"/>
            </p:cNvSpPr>
            <p:nvPr/>
          </p:nvSpPr>
          <p:spPr bwMode="auto">
            <a:xfrm flipV="1">
              <a:off x="2902" y="2387"/>
              <a:ext cx="0" cy="453"/>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4" name="Line 53"/>
            <p:cNvSpPr>
              <a:spLocks noChangeShapeType="1"/>
            </p:cNvSpPr>
            <p:nvPr/>
          </p:nvSpPr>
          <p:spPr bwMode="auto">
            <a:xfrm flipV="1">
              <a:off x="1338" y="2341"/>
              <a:ext cx="0" cy="4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5" name="Line 55"/>
            <p:cNvSpPr>
              <a:spLocks noChangeShapeType="1"/>
            </p:cNvSpPr>
            <p:nvPr/>
          </p:nvSpPr>
          <p:spPr bwMode="auto">
            <a:xfrm>
              <a:off x="1338" y="2341"/>
              <a:ext cx="1564" cy="4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6" name="Line 58"/>
            <p:cNvSpPr>
              <a:spLocks noChangeShapeType="1"/>
            </p:cNvSpPr>
            <p:nvPr/>
          </p:nvSpPr>
          <p:spPr bwMode="auto">
            <a:xfrm>
              <a:off x="2902" y="2387"/>
              <a:ext cx="1974" cy="453"/>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7" name="Line 59"/>
            <p:cNvSpPr>
              <a:spLocks noChangeShapeType="1"/>
            </p:cNvSpPr>
            <p:nvPr/>
          </p:nvSpPr>
          <p:spPr bwMode="auto">
            <a:xfrm flipH="1">
              <a:off x="2902" y="2341"/>
              <a:ext cx="1974" cy="499"/>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8" name="Line 60"/>
            <p:cNvSpPr>
              <a:spLocks noChangeShapeType="1"/>
            </p:cNvSpPr>
            <p:nvPr/>
          </p:nvSpPr>
          <p:spPr bwMode="auto">
            <a:xfrm flipH="1">
              <a:off x="1677" y="2341"/>
              <a:ext cx="3244" cy="499"/>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9" name="Text Box 61"/>
            <p:cNvSpPr txBox="1">
              <a:spLocks noChangeArrowheads="1"/>
            </p:cNvSpPr>
            <p:nvPr/>
          </p:nvSpPr>
          <p:spPr bwMode="auto">
            <a:xfrm>
              <a:off x="0" y="1525"/>
              <a:ext cx="793" cy="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000" b="1">
                  <a:solidFill>
                    <a:srgbClr val="0000FF"/>
                  </a:solidFill>
                  <a:ea typeface="楷体_GB2312" pitchFamily="49" charset="-122"/>
                </a:rPr>
                <a:t>目标层</a:t>
              </a:r>
            </a:p>
            <a:p>
              <a:pPr eaLnBrk="1" hangingPunct="1">
                <a:spcBef>
                  <a:spcPct val="50000"/>
                </a:spcBef>
              </a:pPr>
              <a:endParaRPr lang="zh-CN" altLang="en-US" sz="2400" b="1">
                <a:solidFill>
                  <a:srgbClr val="0000FF"/>
                </a:solidFill>
                <a:ea typeface="楷体_GB2312" pitchFamily="49" charset="-122"/>
              </a:endParaRPr>
            </a:p>
            <a:p>
              <a:pPr eaLnBrk="1" hangingPunct="1">
                <a:spcBef>
                  <a:spcPct val="50000"/>
                </a:spcBef>
              </a:pPr>
              <a:r>
                <a:rPr lang="zh-CN" altLang="en-US" sz="2000" b="1">
                  <a:solidFill>
                    <a:srgbClr val="0000FF"/>
                  </a:solidFill>
                  <a:ea typeface="楷体_GB2312" pitchFamily="49" charset="-122"/>
                </a:rPr>
                <a:t>准则层</a:t>
              </a:r>
            </a:p>
            <a:p>
              <a:pPr eaLnBrk="1" hangingPunct="1">
                <a:spcBef>
                  <a:spcPct val="50000"/>
                </a:spcBef>
              </a:pPr>
              <a:endParaRPr lang="zh-CN" altLang="en-US" sz="2800" b="1">
                <a:solidFill>
                  <a:srgbClr val="0000FF"/>
                </a:solidFill>
                <a:ea typeface="楷体_GB2312" pitchFamily="49" charset="-122"/>
              </a:endParaRPr>
            </a:p>
            <a:p>
              <a:pPr eaLnBrk="1" hangingPunct="1">
                <a:spcBef>
                  <a:spcPct val="50000"/>
                </a:spcBef>
              </a:pPr>
              <a:r>
                <a:rPr lang="zh-CN" altLang="en-US" sz="2000" b="1">
                  <a:solidFill>
                    <a:srgbClr val="0000FF"/>
                  </a:solidFill>
                  <a:ea typeface="楷体_GB2312" pitchFamily="49" charset="-122"/>
                </a:rPr>
                <a:t>方案层</a:t>
              </a:r>
            </a:p>
          </p:txBody>
        </p:sp>
      </p:grpSp>
      <p:sp>
        <p:nvSpPr>
          <p:cNvPr id="2" name="灯片编号占位符 1">
            <a:extLst>
              <a:ext uri="{FF2B5EF4-FFF2-40B4-BE49-F238E27FC236}">
                <a16:creationId xmlns:a16="http://schemas.microsoft.com/office/drawing/2014/main" id="{182F0A9A-BF14-B81F-4376-3AE4EE01F539}"/>
              </a:ext>
            </a:extLst>
          </p:cNvPr>
          <p:cNvSpPr>
            <a:spLocks noGrp="1"/>
          </p:cNvSpPr>
          <p:nvPr>
            <p:ph type="sldNum" sz="quarter" idx="11"/>
          </p:nvPr>
        </p:nvSpPr>
        <p:spPr/>
        <p:txBody>
          <a:bodyPr/>
          <a:lstStyle/>
          <a:p>
            <a:pPr>
              <a:defRPr/>
            </a:pPr>
            <a:fld id="{1A3A146F-9300-4B06-8947-0E9C0D98352F}" type="slidenum">
              <a:rPr lang="en-US" altLang="zh-CN" smtClean="0"/>
              <a:pPr>
                <a:defRPr/>
              </a:pPr>
              <a:t>16</a:t>
            </a:fld>
            <a:endParaRPr lang="en-US" altLang="zh-CN"/>
          </a:p>
        </p:txBody>
      </p:sp>
    </p:spTree>
    <p:extLst>
      <p:ext uri="{BB962C8B-B14F-4D97-AF65-F5344CB8AC3E}">
        <p14:creationId xmlns:p14="http://schemas.microsoft.com/office/powerpoint/2010/main" val="1611164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630">
                                            <p:txEl>
                                              <p:pRg st="0" end="0"/>
                                            </p:txEl>
                                          </p:spTgt>
                                        </p:tgtEl>
                                        <p:attrNameLst>
                                          <p:attrName>style.visibility</p:attrName>
                                        </p:attrNameLst>
                                      </p:cBhvr>
                                      <p:to>
                                        <p:strVal val="visible"/>
                                      </p:to>
                                    </p:set>
                                    <p:animEffect transition="in" filter="wipe(left)">
                                      <p:cBhvr>
                                        <p:cTn id="7" dur="500"/>
                                        <p:tgtEl>
                                          <p:spTgt spid="1106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10655"/>
                                        </p:tgtEl>
                                        <p:attrNameLst>
                                          <p:attrName>style.visibility</p:attrName>
                                        </p:attrNameLst>
                                      </p:cBhvr>
                                      <p:to>
                                        <p:strVal val="visible"/>
                                      </p:to>
                                    </p:set>
                                    <p:animEffect transition="in" filter="wipe(up)">
                                      <p:cBhvr>
                                        <p:cTn id="12" dur="500"/>
                                        <p:tgtEl>
                                          <p:spTgt spid="1106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0630">
                                            <p:txEl>
                                              <p:pRg st="7" end="7"/>
                                            </p:txEl>
                                          </p:spTgt>
                                        </p:tgtEl>
                                        <p:attrNameLst>
                                          <p:attrName>style.visibility</p:attrName>
                                        </p:attrNameLst>
                                      </p:cBhvr>
                                      <p:to>
                                        <p:strVal val="visible"/>
                                      </p:to>
                                    </p:set>
                                    <p:animEffect transition="in" filter="wipe(left)">
                                      <p:cBhvr>
                                        <p:cTn id="17" dur="500"/>
                                        <p:tgtEl>
                                          <p:spTgt spid="1106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3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135188" y="115888"/>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15715" name="Rectangle 3"/>
          <p:cNvSpPr>
            <a:spLocks noGrp="1" noChangeArrowheads="1"/>
          </p:cNvSpPr>
          <p:nvPr>
            <p:ph type="body" sz="half" idx="1"/>
          </p:nvPr>
        </p:nvSpPr>
        <p:spPr>
          <a:xfrm>
            <a:off x="1199456" y="1340768"/>
            <a:ext cx="10009112" cy="4383088"/>
          </a:xfrm>
        </p:spPr>
        <p:txBody>
          <a:bodyPr/>
          <a:lstStyle/>
          <a:p>
            <a:pPr eaLnBrk="1" hangingPunct="1">
              <a:defRPr/>
            </a:pPr>
            <a:r>
              <a:rPr lang="zh-CN" altLang="en-US" dirty="0">
                <a:solidFill>
                  <a:srgbClr val="FF0000"/>
                </a:solidFill>
                <a:ea typeface="黑体" pitchFamily="2" charset="-122"/>
              </a:rPr>
              <a:t>第二步：构造判断矩阵</a:t>
            </a:r>
          </a:p>
          <a:p>
            <a:pPr eaLnBrk="1" hangingPunct="1">
              <a:defRPr/>
            </a:pPr>
            <a:endParaRPr lang="zh-CN" altLang="en-US" sz="4800" dirty="0">
              <a:solidFill>
                <a:srgbClr val="FF0000"/>
              </a:solidFill>
              <a:ea typeface="黑体" pitchFamily="2" charset="-122"/>
            </a:endParaRPr>
          </a:p>
          <a:p>
            <a:pPr eaLnBrk="1" hangingPunct="1">
              <a:defRPr/>
            </a:pPr>
            <a:endParaRPr lang="zh-CN" altLang="en-US" sz="3600" dirty="0">
              <a:solidFill>
                <a:srgbClr val="FF0000"/>
              </a:solidFill>
              <a:ea typeface="黑体" pitchFamily="2" charset="-122"/>
            </a:endParaRPr>
          </a:p>
          <a:p>
            <a:pPr eaLnBrk="1" hangingPunct="1">
              <a:defRPr/>
            </a:pPr>
            <a:endParaRPr lang="zh-CN" altLang="en-US" sz="4000" dirty="0">
              <a:solidFill>
                <a:srgbClr val="FF0000"/>
              </a:solidFill>
              <a:ea typeface="黑体" pitchFamily="2" charset="-122"/>
            </a:endParaRPr>
          </a:p>
          <a:p>
            <a:pPr eaLnBrk="1" hangingPunct="1">
              <a:defRPr/>
            </a:pPr>
            <a:r>
              <a:rPr lang="zh-CN" altLang="en-US" sz="2800" b="1" dirty="0">
                <a:ea typeface="楷体_GB2312" pitchFamily="49" charset="-122"/>
              </a:rPr>
              <a:t>通过职工代表大会等构造</a:t>
            </a:r>
            <a:r>
              <a:rPr lang="zh-CN" altLang="en-US" sz="2800" b="1" u="sng" dirty="0">
                <a:solidFill>
                  <a:schemeClr val="bg2">
                    <a:lumMod val="60000"/>
                    <a:lumOff val="40000"/>
                  </a:schemeClr>
                </a:solidFill>
                <a:ea typeface="楷体_GB2312" pitchFamily="49" charset="-122"/>
              </a:rPr>
              <a:t>准则层</a:t>
            </a:r>
            <a:r>
              <a:rPr lang="zh-CN" altLang="en-US" sz="2800" b="1" dirty="0">
                <a:ea typeface="楷体_GB2312" pitchFamily="49" charset="-122"/>
              </a:rPr>
              <a:t>相对于</a:t>
            </a:r>
            <a:r>
              <a:rPr lang="zh-CN" altLang="en-US" sz="2800" b="1" u="sng" dirty="0">
                <a:solidFill>
                  <a:schemeClr val="bg2">
                    <a:lumMod val="60000"/>
                    <a:lumOff val="40000"/>
                  </a:schemeClr>
                </a:solidFill>
                <a:ea typeface="楷体_GB2312" pitchFamily="49" charset="-122"/>
              </a:rPr>
              <a:t>目标层</a:t>
            </a:r>
            <a:r>
              <a:rPr lang="zh-CN" altLang="en-US" sz="2800" b="1" dirty="0">
                <a:ea typeface="楷体_GB2312" pitchFamily="49" charset="-122"/>
              </a:rPr>
              <a:t>的重要性</a:t>
            </a:r>
            <a:r>
              <a:rPr lang="zh-CN" altLang="en-US" sz="2800" b="1" dirty="0">
                <a:solidFill>
                  <a:srgbClr val="CC0099"/>
                </a:solidFill>
                <a:ea typeface="楷体_GB2312" pitchFamily="49" charset="-122"/>
              </a:rPr>
              <a:t>判断矩阵</a:t>
            </a:r>
            <a:r>
              <a:rPr lang="en-US" altLang="zh-CN" sz="2800" b="1" dirty="0">
                <a:solidFill>
                  <a:srgbClr val="CC0099"/>
                </a:solidFill>
                <a:ea typeface="楷体_GB2312" pitchFamily="49" charset="-122"/>
              </a:rPr>
              <a:t>G</a:t>
            </a:r>
            <a:r>
              <a:rPr lang="zh-CN" altLang="en-US" sz="2800" b="1" dirty="0">
                <a:ea typeface="楷体_GB2312" pitchFamily="49" charset="-122"/>
              </a:rPr>
              <a:t>如下：</a:t>
            </a:r>
          </a:p>
          <a:p>
            <a:pPr eaLnBrk="1" hangingPunct="1">
              <a:defRPr/>
            </a:pPr>
            <a:endParaRPr lang="en-US" altLang="zh-CN" sz="2800" dirty="0">
              <a:solidFill>
                <a:srgbClr val="FF0000"/>
              </a:solidFill>
              <a:ea typeface="黑体" pitchFamily="2" charset="-122"/>
            </a:endParaRPr>
          </a:p>
        </p:txBody>
      </p:sp>
      <p:grpSp>
        <p:nvGrpSpPr>
          <p:cNvPr id="54276" name="Group 27"/>
          <p:cNvGrpSpPr>
            <a:grpSpLocks/>
          </p:cNvGrpSpPr>
          <p:nvPr/>
        </p:nvGrpSpPr>
        <p:grpSpPr bwMode="auto">
          <a:xfrm>
            <a:off x="1774826" y="2025652"/>
            <a:ext cx="7921625" cy="2011363"/>
            <a:chOff x="158" y="1276"/>
            <a:chExt cx="4990" cy="1267"/>
          </a:xfrm>
        </p:grpSpPr>
        <p:sp>
          <p:nvSpPr>
            <p:cNvPr id="54278" name="Text Box 5"/>
            <p:cNvSpPr txBox="1">
              <a:spLocks noChangeArrowheads="1"/>
            </p:cNvSpPr>
            <p:nvPr/>
          </p:nvSpPr>
          <p:spPr bwMode="auto">
            <a:xfrm>
              <a:off x="2170" y="1276"/>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合理使用企业利润</a:t>
              </a:r>
              <a:r>
                <a:rPr lang="en-US" altLang="zh-CN" b="1" dirty="0">
                  <a:ea typeface="楷体_GB2312" pitchFamily="49" charset="-122"/>
                </a:rPr>
                <a:t>G</a:t>
              </a:r>
            </a:p>
          </p:txBody>
        </p:sp>
        <p:sp>
          <p:nvSpPr>
            <p:cNvPr id="54279"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54280"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提高企业技术水平</a:t>
              </a:r>
              <a:r>
                <a:rPr lang="en-US" altLang="zh-CN" sz="1600" b="1">
                  <a:ea typeface="楷体_GB2312" pitchFamily="49" charset="-122"/>
                </a:rPr>
                <a:t>C</a:t>
              </a:r>
              <a:r>
                <a:rPr lang="en-US" altLang="zh-CN" sz="1600" b="1" baseline="-25000">
                  <a:ea typeface="楷体_GB2312" pitchFamily="49" charset="-122"/>
                </a:rPr>
                <a:t>2</a:t>
              </a:r>
            </a:p>
          </p:txBody>
        </p:sp>
        <p:sp>
          <p:nvSpPr>
            <p:cNvPr id="54281"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改善职工生活条件</a:t>
              </a:r>
              <a:r>
                <a:rPr lang="en-US" altLang="zh-CN" sz="1600" b="1">
                  <a:ea typeface="楷体_GB2312" pitchFamily="49" charset="-122"/>
                </a:rPr>
                <a:t>C</a:t>
              </a:r>
              <a:r>
                <a:rPr lang="en-US" altLang="zh-CN" sz="1600" b="1" baseline="-25000">
                  <a:ea typeface="楷体_GB2312" pitchFamily="49" charset="-122"/>
                </a:rPr>
                <a:t>3</a:t>
              </a:r>
            </a:p>
          </p:txBody>
        </p:sp>
        <p:sp>
          <p:nvSpPr>
            <p:cNvPr id="54282"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发奖金给职工</a:t>
              </a:r>
              <a:r>
                <a:rPr lang="en-US" altLang="zh-CN" sz="1600" b="1">
                  <a:ea typeface="楷体_GB2312" pitchFamily="49" charset="-122"/>
                </a:rPr>
                <a:t>P</a:t>
              </a:r>
              <a:r>
                <a:rPr lang="en-US" altLang="zh-CN" sz="1600" b="1" baseline="-25000">
                  <a:ea typeface="楷体_GB2312" pitchFamily="49" charset="-122"/>
                </a:rPr>
                <a:t>1</a:t>
              </a:r>
            </a:p>
          </p:txBody>
        </p:sp>
        <p:sp>
          <p:nvSpPr>
            <p:cNvPr id="54283"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54284"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54285"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6"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7"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8"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89"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0" name="Line 18"/>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1" name="Line 21"/>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2" name="Line 22"/>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3" name="Line 23"/>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4" name="Text Box 24"/>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a:solidFill>
                    <a:srgbClr val="0000FF"/>
                  </a:solidFill>
                  <a:ea typeface="楷体_GB2312" pitchFamily="49" charset="-122"/>
                </a:rPr>
                <a:t>目标层</a:t>
              </a:r>
            </a:p>
            <a:p>
              <a:pPr eaLnBrk="1" hangingPunct="1">
                <a:spcBef>
                  <a:spcPct val="50000"/>
                </a:spcBef>
              </a:pPr>
              <a:endParaRPr lang="zh-CN" altLang="en-US" sz="1200"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准则层</a:t>
              </a:r>
            </a:p>
            <a:p>
              <a:pPr eaLnBrk="1" hangingPunct="1">
                <a:spcBef>
                  <a:spcPct val="50000"/>
                </a:spcBef>
              </a:pPr>
              <a:endParaRPr lang="zh-CN" altLang="en-US"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方案层</a:t>
              </a:r>
            </a:p>
          </p:txBody>
        </p:sp>
      </p:grpSp>
      <p:graphicFrame>
        <p:nvGraphicFramePr>
          <p:cNvPr id="115740" name="Object 28"/>
          <p:cNvGraphicFramePr>
            <a:graphicFrameLocks noGrp="1" noChangeAspect="1"/>
          </p:cNvGraphicFramePr>
          <p:nvPr>
            <p:ph sz="half" idx="2"/>
            <p:extLst>
              <p:ext uri="{D42A27DB-BD31-4B8C-83A1-F6EECF244321}">
                <p14:modId xmlns:p14="http://schemas.microsoft.com/office/powerpoint/2010/main" val="171468022"/>
              </p:ext>
            </p:extLst>
          </p:nvPr>
        </p:nvGraphicFramePr>
        <p:xfrm>
          <a:off x="4570229" y="5030119"/>
          <a:ext cx="3025775" cy="1765300"/>
        </p:xfrm>
        <a:graphic>
          <a:graphicData uri="http://schemas.openxmlformats.org/presentationml/2006/ole">
            <mc:AlternateContent xmlns:mc="http://schemas.openxmlformats.org/markup-compatibility/2006">
              <mc:Choice xmlns:v="urn:schemas-microsoft-com:vml" Requires="v">
                <p:oleObj name="公式" r:id="rId2" imgW="1218671" imgH="710891" progId="Equation.3">
                  <p:embed/>
                </p:oleObj>
              </mc:Choice>
              <mc:Fallback>
                <p:oleObj name="公式" r:id="rId2" imgW="1218671" imgH="710891" progId="Equation.3">
                  <p:embed/>
                  <p:pic>
                    <p:nvPicPr>
                      <p:cNvPr id="11574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0229" y="5030119"/>
                        <a:ext cx="3025775" cy="176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132E997A-FA07-9FF9-2C60-A47496DE2357}"/>
              </a:ext>
            </a:extLst>
          </p:cNvPr>
          <p:cNvSpPr>
            <a:spLocks noGrp="1"/>
          </p:cNvSpPr>
          <p:nvPr>
            <p:ph type="sldNum" sz="quarter" idx="11"/>
          </p:nvPr>
        </p:nvSpPr>
        <p:spPr/>
        <p:txBody>
          <a:bodyPr/>
          <a:lstStyle/>
          <a:p>
            <a:pPr>
              <a:defRPr/>
            </a:pPr>
            <a:fld id="{EF14D0C4-B0EC-4578-B6E4-F9BC91400248}" type="slidenum">
              <a:rPr lang="en-US" altLang="zh-CN" smtClean="0"/>
              <a:pPr>
                <a:defRPr/>
              </a:pPr>
              <a:t>17</a:t>
            </a:fld>
            <a:endParaRPr lang="en-US" altLang="zh-CN"/>
          </a:p>
        </p:txBody>
      </p:sp>
    </p:spTree>
    <p:extLst>
      <p:ext uri="{BB962C8B-B14F-4D97-AF65-F5344CB8AC3E}">
        <p14:creationId xmlns:p14="http://schemas.microsoft.com/office/powerpoint/2010/main" val="41340472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wipe(left)">
                                      <p:cBhvr>
                                        <p:cTn id="7" dur="500"/>
                                        <p:tgtEl>
                                          <p:spTgt spid="115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5715">
                                            <p:txEl>
                                              <p:pRg st="4" end="4"/>
                                            </p:txEl>
                                          </p:spTgt>
                                        </p:tgtEl>
                                        <p:attrNameLst>
                                          <p:attrName>style.visibility</p:attrName>
                                        </p:attrNameLst>
                                      </p:cBhvr>
                                      <p:to>
                                        <p:strVal val="visible"/>
                                      </p:to>
                                    </p:set>
                                    <p:animEffect transition="in" filter="wipe(left)">
                                      <p:cBhvr>
                                        <p:cTn id="12" dur="500"/>
                                        <p:tgtEl>
                                          <p:spTgt spid="115715">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115740"/>
                                        </p:tgtEl>
                                        <p:attrNameLst>
                                          <p:attrName>style.visibility</p:attrName>
                                        </p:attrNameLst>
                                      </p:cBhvr>
                                      <p:to>
                                        <p:strVal val="visible"/>
                                      </p:to>
                                    </p:set>
                                    <p:animEffect transition="in" filter="fade">
                                      <p:cBhvr>
                                        <p:cTn id="17" dur="1000"/>
                                        <p:tgtEl>
                                          <p:spTgt spid="115740"/>
                                        </p:tgtEl>
                                      </p:cBhvr>
                                    </p:animEffect>
                                    <p:anim calcmode="lin" valueType="num">
                                      <p:cBhvr>
                                        <p:cTn id="18" dur="1000" fill="hold"/>
                                        <p:tgtEl>
                                          <p:spTgt spid="115740"/>
                                        </p:tgtEl>
                                        <p:attrNameLst>
                                          <p:attrName>ppt_x</p:attrName>
                                        </p:attrNameLst>
                                      </p:cBhvr>
                                      <p:tavLst>
                                        <p:tav tm="0">
                                          <p:val>
                                            <p:strVal val="#ppt_x"/>
                                          </p:val>
                                        </p:tav>
                                        <p:tav tm="100000">
                                          <p:val>
                                            <p:strVal val="#ppt_x"/>
                                          </p:val>
                                        </p:tav>
                                      </p:tavLst>
                                    </p:anim>
                                    <p:anim calcmode="lin" valueType="num">
                                      <p:cBhvr>
                                        <p:cTn id="19" dur="1000" fill="hold"/>
                                        <p:tgtEl>
                                          <p:spTgt spid="1157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2135188" y="115888"/>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17763" name="Rectangle 3"/>
          <p:cNvSpPr>
            <a:spLocks noGrp="1" noChangeArrowheads="1"/>
          </p:cNvSpPr>
          <p:nvPr>
            <p:ph type="body" sz="half" idx="1"/>
          </p:nvPr>
        </p:nvSpPr>
        <p:spPr>
          <a:xfrm>
            <a:off x="1127448" y="1340769"/>
            <a:ext cx="9186539" cy="4383087"/>
          </a:xfrm>
        </p:spPr>
        <p:txBody>
          <a:bodyPr/>
          <a:lstStyle/>
          <a:p>
            <a:pPr eaLnBrk="1" hangingPunct="1"/>
            <a:r>
              <a:rPr lang="zh-CN" altLang="en-US" dirty="0">
                <a:solidFill>
                  <a:srgbClr val="FF0000"/>
                </a:solidFill>
                <a:ea typeface="黑体" pitchFamily="2" charset="-122"/>
              </a:rPr>
              <a:t>第二步：构造判断矩阵</a:t>
            </a:r>
          </a:p>
          <a:p>
            <a:pPr eaLnBrk="1" hangingPunct="1"/>
            <a:endParaRPr lang="zh-CN" altLang="en-US" sz="4000" dirty="0">
              <a:solidFill>
                <a:srgbClr val="FF0000"/>
              </a:solidFill>
              <a:ea typeface="黑体" pitchFamily="2" charset="-122"/>
            </a:endParaRPr>
          </a:p>
          <a:p>
            <a:pPr eaLnBrk="1" hangingPunct="1"/>
            <a:endParaRPr lang="zh-CN" altLang="en-US" sz="36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r>
              <a:rPr lang="zh-CN" altLang="en-US" sz="2400" b="1" dirty="0">
                <a:ea typeface="楷体_GB2312" pitchFamily="49" charset="-122"/>
              </a:rPr>
              <a:t>方案层中，</a:t>
            </a:r>
          </a:p>
          <a:p>
            <a:pPr lvl="1" eaLnBrk="1" hangingPunct="1"/>
            <a:r>
              <a:rPr lang="zh-CN" altLang="en-US" sz="2400" b="1" dirty="0">
                <a:ea typeface="楷体_GB2312" pitchFamily="49" charset="-122"/>
              </a:rPr>
              <a:t> </a:t>
            </a:r>
            <a:r>
              <a:rPr lang="en-US" altLang="zh-CN" sz="2400" b="1" dirty="0">
                <a:ea typeface="楷体_GB2312" pitchFamily="49" charset="-122"/>
              </a:rPr>
              <a:t>P</a:t>
            </a:r>
            <a:r>
              <a:rPr lang="en-US" altLang="zh-CN" sz="2400" b="1" baseline="-25000" dirty="0">
                <a:ea typeface="楷体_GB2312" pitchFamily="49" charset="-122"/>
              </a:rPr>
              <a:t>1</a:t>
            </a:r>
            <a:r>
              <a:rPr lang="en-US" altLang="zh-CN" sz="2400" b="1" dirty="0">
                <a:ea typeface="楷体_GB2312" pitchFamily="49" charset="-122"/>
              </a:rPr>
              <a:t>,P</a:t>
            </a:r>
            <a:r>
              <a:rPr lang="en-US" altLang="zh-CN" sz="2400" b="1" baseline="-25000" dirty="0">
                <a:ea typeface="楷体_GB2312" pitchFamily="49" charset="-122"/>
              </a:rPr>
              <a:t>2</a:t>
            </a:r>
            <a:r>
              <a:rPr lang="zh-CN" altLang="en-US" sz="2400" b="1" dirty="0">
                <a:ea typeface="楷体_GB2312" pitchFamily="49" charset="-122"/>
              </a:rPr>
              <a:t>相对于</a:t>
            </a:r>
            <a:r>
              <a:rPr lang="en-US" altLang="zh-CN" sz="2400" b="1" dirty="0">
                <a:ea typeface="楷体_GB2312" pitchFamily="49" charset="-122"/>
              </a:rPr>
              <a:t>C</a:t>
            </a:r>
            <a:r>
              <a:rPr lang="en-US" altLang="zh-CN" sz="2400" b="1" baseline="-25000" dirty="0">
                <a:ea typeface="楷体_GB2312" pitchFamily="49" charset="-122"/>
              </a:rPr>
              <a:t>1</a:t>
            </a:r>
            <a:r>
              <a:rPr lang="en-US" altLang="zh-CN" sz="2400" b="1" dirty="0">
                <a:ea typeface="楷体_GB2312" pitchFamily="49" charset="-122"/>
              </a:rPr>
              <a:t>,</a:t>
            </a:r>
            <a:r>
              <a:rPr lang="zh-CN" altLang="en-US" sz="2400" b="1" dirty="0">
                <a:ea typeface="楷体_GB2312" pitchFamily="49" charset="-122"/>
              </a:rPr>
              <a:t>的重要性</a:t>
            </a:r>
            <a:r>
              <a:rPr lang="zh-CN" altLang="en-US" sz="2400" b="1" dirty="0">
                <a:solidFill>
                  <a:srgbClr val="0000FF"/>
                </a:solidFill>
                <a:ea typeface="楷体_GB2312" pitchFamily="49" charset="-122"/>
              </a:rPr>
              <a:t>判断矩阵为</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a:t>
            </a:r>
          </a:p>
          <a:p>
            <a:pPr lvl="1" eaLnBrk="1" hangingPunct="1"/>
            <a:r>
              <a:rPr lang="en-US" altLang="zh-CN" sz="2400" b="1" dirty="0">
                <a:ea typeface="楷体_GB2312" pitchFamily="49" charset="-122"/>
              </a:rPr>
              <a:t> P</a:t>
            </a:r>
            <a:r>
              <a:rPr lang="en-US" altLang="zh-CN" sz="2400" b="1" baseline="-25000" dirty="0">
                <a:ea typeface="楷体_GB2312" pitchFamily="49" charset="-122"/>
              </a:rPr>
              <a:t>2</a:t>
            </a:r>
            <a:r>
              <a:rPr lang="en-US" altLang="zh-CN" sz="2400" b="1" dirty="0">
                <a:ea typeface="楷体_GB2312" pitchFamily="49" charset="-122"/>
              </a:rPr>
              <a:t>,P</a:t>
            </a:r>
            <a:r>
              <a:rPr lang="en-US" altLang="zh-CN" sz="2400" b="1" baseline="-25000" dirty="0">
                <a:ea typeface="楷体_GB2312" pitchFamily="49" charset="-122"/>
              </a:rPr>
              <a:t>3</a:t>
            </a:r>
            <a:r>
              <a:rPr lang="zh-CN" altLang="en-US" sz="2400" b="1" dirty="0">
                <a:ea typeface="楷体_GB2312" pitchFamily="49" charset="-122"/>
              </a:rPr>
              <a:t>相对于</a:t>
            </a:r>
            <a:r>
              <a:rPr lang="en-US" altLang="zh-CN" sz="2400" b="1" dirty="0">
                <a:ea typeface="楷体_GB2312" pitchFamily="49" charset="-122"/>
              </a:rPr>
              <a:t>C</a:t>
            </a:r>
            <a:r>
              <a:rPr lang="en-US" altLang="zh-CN" sz="2400" b="1" baseline="-25000" dirty="0">
                <a:ea typeface="楷体_GB2312" pitchFamily="49" charset="-122"/>
              </a:rPr>
              <a:t>2</a:t>
            </a:r>
            <a:r>
              <a:rPr lang="en-US" altLang="zh-CN" sz="2400" b="1" dirty="0">
                <a:ea typeface="楷体_GB2312" pitchFamily="49" charset="-122"/>
              </a:rPr>
              <a:t>,</a:t>
            </a:r>
            <a:r>
              <a:rPr lang="zh-CN" altLang="en-US" sz="2400" b="1" dirty="0">
                <a:ea typeface="楷体_GB2312" pitchFamily="49" charset="-122"/>
              </a:rPr>
              <a:t>的重要性</a:t>
            </a:r>
            <a:r>
              <a:rPr lang="zh-CN" altLang="en-US" sz="2400" b="1" dirty="0">
                <a:solidFill>
                  <a:srgbClr val="0000FF"/>
                </a:solidFill>
                <a:ea typeface="楷体_GB2312" pitchFamily="49" charset="-122"/>
              </a:rPr>
              <a:t>判断矩阵为</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t>
            </a:r>
          </a:p>
          <a:p>
            <a:pPr lvl="1" eaLnBrk="1" hangingPunct="1"/>
            <a:r>
              <a:rPr lang="en-US" altLang="zh-CN" sz="2400" b="1" dirty="0">
                <a:ea typeface="楷体_GB2312" pitchFamily="49" charset="-122"/>
              </a:rPr>
              <a:t> P</a:t>
            </a:r>
            <a:r>
              <a:rPr lang="en-US" altLang="zh-CN" sz="2400" b="1" baseline="-25000" dirty="0">
                <a:ea typeface="楷体_GB2312" pitchFamily="49" charset="-122"/>
              </a:rPr>
              <a:t>1</a:t>
            </a:r>
            <a:r>
              <a:rPr lang="en-US" altLang="zh-CN" sz="2400" b="1" dirty="0">
                <a:ea typeface="楷体_GB2312" pitchFamily="49" charset="-122"/>
              </a:rPr>
              <a:t>,P</a:t>
            </a:r>
            <a:r>
              <a:rPr lang="en-US" altLang="zh-CN" sz="2400" b="1" baseline="-25000" dirty="0">
                <a:ea typeface="楷体_GB2312" pitchFamily="49" charset="-122"/>
              </a:rPr>
              <a:t>2</a:t>
            </a:r>
            <a:r>
              <a:rPr lang="zh-CN" altLang="en-US" sz="2400" b="1" dirty="0">
                <a:ea typeface="楷体_GB2312" pitchFamily="49" charset="-122"/>
              </a:rPr>
              <a:t>相对于</a:t>
            </a:r>
            <a:r>
              <a:rPr lang="en-US" altLang="zh-CN" sz="2400" b="1" dirty="0">
                <a:ea typeface="楷体_GB2312" pitchFamily="49" charset="-122"/>
              </a:rPr>
              <a:t>C</a:t>
            </a:r>
            <a:r>
              <a:rPr lang="en-US" altLang="zh-CN" sz="2400" b="1" baseline="-25000" dirty="0">
                <a:ea typeface="楷体_GB2312" pitchFamily="49" charset="-122"/>
              </a:rPr>
              <a:t>3</a:t>
            </a:r>
            <a:r>
              <a:rPr lang="en-US" altLang="zh-CN" sz="2400" b="1" dirty="0">
                <a:ea typeface="楷体_GB2312" pitchFamily="49" charset="-122"/>
              </a:rPr>
              <a:t>,</a:t>
            </a:r>
            <a:r>
              <a:rPr lang="zh-CN" altLang="en-US" sz="2400" b="1" dirty="0">
                <a:ea typeface="楷体_GB2312" pitchFamily="49" charset="-122"/>
              </a:rPr>
              <a:t>的重要性</a:t>
            </a:r>
            <a:r>
              <a:rPr lang="zh-CN" altLang="en-US" sz="2400" b="1" dirty="0">
                <a:solidFill>
                  <a:srgbClr val="0000FF"/>
                </a:solidFill>
                <a:ea typeface="楷体_GB2312" pitchFamily="49" charset="-122"/>
              </a:rPr>
              <a:t>判断矩阵为</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3</a:t>
            </a:r>
            <a:r>
              <a:rPr lang="en-US" altLang="zh-CN" sz="2400" b="1" dirty="0">
                <a:solidFill>
                  <a:srgbClr val="0000FF"/>
                </a:solidFill>
                <a:ea typeface="楷体_GB2312" pitchFamily="49" charset="-122"/>
              </a:rPr>
              <a:t>,</a:t>
            </a:r>
            <a:endParaRPr lang="en-US" altLang="zh-CN" sz="2400" dirty="0">
              <a:solidFill>
                <a:srgbClr val="FF0000"/>
              </a:solidFill>
              <a:ea typeface="黑体" pitchFamily="2" charset="-122"/>
            </a:endParaRPr>
          </a:p>
        </p:txBody>
      </p:sp>
      <p:grpSp>
        <p:nvGrpSpPr>
          <p:cNvPr id="55300" name="Group 4"/>
          <p:cNvGrpSpPr>
            <a:grpSpLocks/>
          </p:cNvGrpSpPr>
          <p:nvPr/>
        </p:nvGrpSpPr>
        <p:grpSpPr bwMode="auto">
          <a:xfrm>
            <a:off x="1774826" y="2060576"/>
            <a:ext cx="7921625" cy="1976438"/>
            <a:chOff x="158" y="1298"/>
            <a:chExt cx="4990" cy="1245"/>
          </a:xfrm>
        </p:grpSpPr>
        <p:sp>
          <p:nvSpPr>
            <p:cNvPr id="55302" name="Text Box 5"/>
            <p:cNvSpPr txBox="1">
              <a:spLocks noChangeArrowheads="1"/>
            </p:cNvSpPr>
            <p:nvPr/>
          </p:nvSpPr>
          <p:spPr bwMode="auto">
            <a:xfrm>
              <a:off x="2154" y="1298"/>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合理使用企业利润</a:t>
              </a:r>
              <a:r>
                <a:rPr lang="en-US" altLang="zh-CN" b="1">
                  <a:ea typeface="楷体_GB2312" pitchFamily="49" charset="-122"/>
                </a:rPr>
                <a:t>G</a:t>
              </a:r>
            </a:p>
          </p:txBody>
        </p:sp>
        <p:sp>
          <p:nvSpPr>
            <p:cNvPr id="55303"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55304"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提高企业技术水平</a:t>
              </a:r>
              <a:r>
                <a:rPr lang="en-US" altLang="zh-CN" sz="1600" b="1">
                  <a:ea typeface="楷体_GB2312" pitchFamily="49" charset="-122"/>
                </a:rPr>
                <a:t>C</a:t>
              </a:r>
              <a:r>
                <a:rPr lang="en-US" altLang="zh-CN" sz="1600" b="1" baseline="-25000">
                  <a:ea typeface="楷体_GB2312" pitchFamily="49" charset="-122"/>
                </a:rPr>
                <a:t>2</a:t>
              </a:r>
            </a:p>
          </p:txBody>
        </p:sp>
        <p:sp>
          <p:nvSpPr>
            <p:cNvPr id="55305"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改善职工生活条件</a:t>
              </a:r>
              <a:r>
                <a:rPr lang="en-US" altLang="zh-CN" sz="1600" b="1">
                  <a:ea typeface="楷体_GB2312" pitchFamily="49" charset="-122"/>
                </a:rPr>
                <a:t>C</a:t>
              </a:r>
              <a:r>
                <a:rPr lang="en-US" altLang="zh-CN" sz="1600" b="1" baseline="-25000">
                  <a:ea typeface="楷体_GB2312" pitchFamily="49" charset="-122"/>
                </a:rPr>
                <a:t>3</a:t>
              </a:r>
            </a:p>
          </p:txBody>
        </p:sp>
        <p:sp>
          <p:nvSpPr>
            <p:cNvPr id="55306"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发奖金给职工</a:t>
              </a:r>
              <a:r>
                <a:rPr lang="en-US" altLang="zh-CN" sz="1600" b="1">
                  <a:ea typeface="楷体_GB2312" pitchFamily="49" charset="-122"/>
                </a:rPr>
                <a:t>P</a:t>
              </a:r>
              <a:r>
                <a:rPr lang="en-US" altLang="zh-CN" sz="1600" b="1" baseline="-25000">
                  <a:ea typeface="楷体_GB2312" pitchFamily="49" charset="-122"/>
                </a:rPr>
                <a:t>1</a:t>
              </a:r>
            </a:p>
          </p:txBody>
        </p:sp>
        <p:sp>
          <p:nvSpPr>
            <p:cNvPr id="55307"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55308"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55309"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0"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1"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2"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3"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4" name="Line 17"/>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5" name="Line 18"/>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6" name="Line 19"/>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7" name="Line 20"/>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8" name="Text Box 21"/>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a:solidFill>
                    <a:srgbClr val="0000FF"/>
                  </a:solidFill>
                  <a:ea typeface="楷体_GB2312" pitchFamily="49" charset="-122"/>
                </a:rPr>
                <a:t>目标层</a:t>
              </a:r>
            </a:p>
            <a:p>
              <a:pPr eaLnBrk="1" hangingPunct="1">
                <a:spcBef>
                  <a:spcPct val="50000"/>
                </a:spcBef>
              </a:pPr>
              <a:endParaRPr lang="zh-CN" altLang="en-US" sz="1200"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准则层</a:t>
              </a:r>
            </a:p>
            <a:p>
              <a:pPr eaLnBrk="1" hangingPunct="1">
                <a:spcBef>
                  <a:spcPct val="50000"/>
                </a:spcBef>
              </a:pPr>
              <a:endParaRPr lang="zh-CN" altLang="en-US"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方案层</a:t>
              </a:r>
            </a:p>
          </p:txBody>
        </p:sp>
      </p:grpSp>
      <p:graphicFrame>
        <p:nvGraphicFramePr>
          <p:cNvPr id="117784" name="Object 24"/>
          <p:cNvGraphicFramePr>
            <a:graphicFrameLocks noGrp="1" noChangeAspect="1"/>
          </p:cNvGraphicFramePr>
          <p:nvPr>
            <p:ph sz="half" idx="2"/>
            <p:extLst>
              <p:ext uri="{D42A27DB-BD31-4B8C-83A1-F6EECF244321}">
                <p14:modId xmlns:p14="http://schemas.microsoft.com/office/powerpoint/2010/main" val="30434639"/>
              </p:ext>
            </p:extLst>
          </p:nvPr>
        </p:nvGraphicFramePr>
        <p:xfrm>
          <a:off x="2459833" y="5811838"/>
          <a:ext cx="7416800" cy="1046162"/>
        </p:xfrm>
        <a:graphic>
          <a:graphicData uri="http://schemas.openxmlformats.org/presentationml/2006/ole">
            <mc:AlternateContent xmlns:mc="http://schemas.openxmlformats.org/markup-compatibility/2006">
              <mc:Choice xmlns:v="urn:schemas-microsoft-com:vml" Requires="v">
                <p:oleObj name="公式" r:id="rId2" imgW="3238500" imgH="457200" progId="Equation.3">
                  <p:embed/>
                </p:oleObj>
              </mc:Choice>
              <mc:Fallback>
                <p:oleObj name="公式" r:id="rId2" imgW="3238500" imgH="457200" progId="Equation.3">
                  <p:embed/>
                  <p:pic>
                    <p:nvPicPr>
                      <p:cNvPr id="117784"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833" y="5811838"/>
                        <a:ext cx="7416800" cy="1046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7C2CFB8E-0D84-1A2C-CFC5-907986901B46}"/>
              </a:ext>
            </a:extLst>
          </p:cNvPr>
          <p:cNvSpPr>
            <a:spLocks noGrp="1"/>
          </p:cNvSpPr>
          <p:nvPr>
            <p:ph type="sldNum" sz="quarter" idx="11"/>
          </p:nvPr>
        </p:nvSpPr>
        <p:spPr/>
        <p:txBody>
          <a:bodyPr/>
          <a:lstStyle/>
          <a:p>
            <a:pPr>
              <a:defRPr/>
            </a:pPr>
            <a:fld id="{EF14D0C4-B0EC-4578-B6E4-F9BC91400248}" type="slidenum">
              <a:rPr lang="en-US" altLang="zh-CN" smtClean="0"/>
              <a:pPr>
                <a:defRPr/>
              </a:pPr>
              <a:t>18</a:t>
            </a:fld>
            <a:endParaRPr lang="en-US" altLang="zh-CN"/>
          </a:p>
        </p:txBody>
      </p:sp>
    </p:spTree>
    <p:extLst>
      <p:ext uri="{BB962C8B-B14F-4D97-AF65-F5344CB8AC3E}">
        <p14:creationId xmlns:p14="http://schemas.microsoft.com/office/powerpoint/2010/main" val="1831460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63">
                                            <p:txEl>
                                              <p:pRg st="4" end="4"/>
                                            </p:txEl>
                                          </p:spTgt>
                                        </p:tgtEl>
                                        <p:attrNameLst>
                                          <p:attrName>style.visibility</p:attrName>
                                        </p:attrNameLst>
                                      </p:cBhvr>
                                      <p:to>
                                        <p:strVal val="visible"/>
                                      </p:to>
                                    </p:set>
                                    <p:animEffect transition="in" filter="wipe(left)">
                                      <p:cBhvr>
                                        <p:cTn id="7" dur="500"/>
                                        <p:tgtEl>
                                          <p:spTgt spid="11776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763">
                                            <p:txEl>
                                              <p:pRg st="5" end="5"/>
                                            </p:txEl>
                                          </p:spTgt>
                                        </p:tgtEl>
                                        <p:attrNameLst>
                                          <p:attrName>style.visibility</p:attrName>
                                        </p:attrNameLst>
                                      </p:cBhvr>
                                      <p:to>
                                        <p:strVal val="visible"/>
                                      </p:to>
                                    </p:set>
                                    <p:animEffect transition="in" filter="wipe(left)">
                                      <p:cBhvr>
                                        <p:cTn id="12" dur="500"/>
                                        <p:tgtEl>
                                          <p:spTgt spid="117763">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7763">
                                            <p:txEl>
                                              <p:pRg st="6" end="6"/>
                                            </p:txEl>
                                          </p:spTgt>
                                        </p:tgtEl>
                                        <p:attrNameLst>
                                          <p:attrName>style.visibility</p:attrName>
                                        </p:attrNameLst>
                                      </p:cBhvr>
                                      <p:to>
                                        <p:strVal val="visible"/>
                                      </p:to>
                                    </p:set>
                                    <p:animEffect transition="in" filter="wipe(left)">
                                      <p:cBhvr>
                                        <p:cTn id="17" dur="500"/>
                                        <p:tgtEl>
                                          <p:spTgt spid="117763">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7763">
                                            <p:txEl>
                                              <p:pRg st="7" end="7"/>
                                            </p:txEl>
                                          </p:spTgt>
                                        </p:tgtEl>
                                        <p:attrNameLst>
                                          <p:attrName>style.visibility</p:attrName>
                                        </p:attrNameLst>
                                      </p:cBhvr>
                                      <p:to>
                                        <p:strVal val="visible"/>
                                      </p:to>
                                    </p:set>
                                    <p:animEffect transition="in" filter="wipe(left)">
                                      <p:cBhvr>
                                        <p:cTn id="22" dur="500"/>
                                        <p:tgtEl>
                                          <p:spTgt spid="117763">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2" presetClass="entr" presetSubtype="0" fill="hold" nodeType="clickEffect">
                                  <p:stCondLst>
                                    <p:cond delay="0"/>
                                  </p:stCondLst>
                                  <p:childTnLst>
                                    <p:set>
                                      <p:cBhvr>
                                        <p:cTn id="26" dur="1" fill="hold">
                                          <p:stCondLst>
                                            <p:cond delay="0"/>
                                          </p:stCondLst>
                                        </p:cTn>
                                        <p:tgtEl>
                                          <p:spTgt spid="117784"/>
                                        </p:tgtEl>
                                        <p:attrNameLst>
                                          <p:attrName>style.visibility</p:attrName>
                                        </p:attrNameLst>
                                      </p:cBhvr>
                                      <p:to>
                                        <p:strVal val="visible"/>
                                      </p:to>
                                    </p:set>
                                    <p:animEffect transition="in" filter="fade">
                                      <p:cBhvr>
                                        <p:cTn id="27" dur="1000"/>
                                        <p:tgtEl>
                                          <p:spTgt spid="117784"/>
                                        </p:tgtEl>
                                      </p:cBhvr>
                                    </p:animEffect>
                                    <p:anim calcmode="lin" valueType="num">
                                      <p:cBhvr>
                                        <p:cTn id="28" dur="1000" fill="hold"/>
                                        <p:tgtEl>
                                          <p:spTgt spid="117784"/>
                                        </p:tgtEl>
                                        <p:attrNameLst>
                                          <p:attrName>ppt_x</p:attrName>
                                        </p:attrNameLst>
                                      </p:cBhvr>
                                      <p:tavLst>
                                        <p:tav tm="0">
                                          <p:val>
                                            <p:strVal val="#ppt_x"/>
                                          </p:val>
                                        </p:tav>
                                        <p:tav tm="100000">
                                          <p:val>
                                            <p:strVal val="#ppt_x"/>
                                          </p:val>
                                        </p:tav>
                                      </p:tavLst>
                                    </p:anim>
                                    <p:anim calcmode="lin" valueType="num">
                                      <p:cBhvr>
                                        <p:cTn id="29" dur="1000" fill="hold"/>
                                        <p:tgtEl>
                                          <p:spTgt spid="1177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FD76-EC35-2A77-1C21-FE28DF35DA7F}"/>
            </a:ext>
          </a:extLst>
        </p:cNvPr>
        <p:cNvGrpSpPr/>
        <p:nvPr/>
      </p:nvGrpSpPr>
      <p:grpSpPr>
        <a:xfrm>
          <a:off x="0" y="0"/>
          <a:ext cx="0" cy="0"/>
          <a:chOff x="0" y="0"/>
          <a:chExt cx="0" cy="0"/>
        </a:xfrm>
      </p:grpSpPr>
      <p:sp>
        <p:nvSpPr>
          <p:cNvPr id="56322" name="Rectangle 2">
            <a:extLst>
              <a:ext uri="{FF2B5EF4-FFF2-40B4-BE49-F238E27FC236}">
                <a16:creationId xmlns:a16="http://schemas.microsoft.com/office/drawing/2014/main" id="{933230AC-95EB-0768-DBFF-3189FBD2FB14}"/>
              </a:ext>
            </a:extLst>
          </p:cNvPr>
          <p:cNvSpPr>
            <a:spLocks noGrp="1" noChangeArrowheads="1"/>
          </p:cNvSpPr>
          <p:nvPr>
            <p:ph type="title"/>
          </p:nvPr>
        </p:nvSpPr>
        <p:spPr>
          <a:xfrm>
            <a:off x="1992313" y="333375"/>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18787" name="Rectangle 3">
            <a:extLst>
              <a:ext uri="{FF2B5EF4-FFF2-40B4-BE49-F238E27FC236}">
                <a16:creationId xmlns:a16="http://schemas.microsoft.com/office/drawing/2014/main" id="{F9BF5E6B-9772-61BA-9BCB-56A0115C3129}"/>
              </a:ext>
            </a:extLst>
          </p:cNvPr>
          <p:cNvSpPr>
            <a:spLocks noGrp="1" noChangeArrowheads="1"/>
          </p:cNvSpPr>
          <p:nvPr>
            <p:ph type="body" sz="half" idx="1"/>
          </p:nvPr>
        </p:nvSpPr>
        <p:spPr>
          <a:xfrm>
            <a:off x="767408" y="1557338"/>
            <a:ext cx="9576742" cy="5040312"/>
          </a:xfrm>
        </p:spPr>
        <p:txBody>
          <a:bodyPr/>
          <a:lstStyle/>
          <a:p>
            <a:pPr eaLnBrk="1" hangingPunct="1"/>
            <a:r>
              <a:rPr lang="zh-CN" altLang="en-US" dirty="0">
                <a:solidFill>
                  <a:srgbClr val="FF0000"/>
                </a:solidFill>
                <a:ea typeface="黑体" pitchFamily="2" charset="-122"/>
              </a:rPr>
              <a:t>第三步：层次单排序及其一致性检验</a:t>
            </a:r>
          </a:p>
          <a:p>
            <a:pPr lvl="1" eaLnBrk="1" hangingPunct="1"/>
            <a:r>
              <a:rPr lang="zh-CN" altLang="en-US" b="1" dirty="0">
                <a:solidFill>
                  <a:srgbClr val="CC0099"/>
                </a:solidFill>
                <a:ea typeface="楷体_GB2312" pitchFamily="49" charset="-122"/>
              </a:rPr>
              <a:t>判断矩阵</a:t>
            </a:r>
            <a:r>
              <a:rPr lang="en-US" altLang="zh-CN" b="1" dirty="0">
                <a:solidFill>
                  <a:srgbClr val="CC0099"/>
                </a:solidFill>
                <a:ea typeface="楷体_GB2312" pitchFamily="49" charset="-122"/>
              </a:rPr>
              <a:t>G</a:t>
            </a:r>
            <a:r>
              <a:rPr lang="zh-CN" altLang="en-US" b="1" dirty="0">
                <a:ea typeface="楷体_GB2312" pitchFamily="49" charset="-122"/>
              </a:rPr>
              <a:t>的最大特征值相应的</a:t>
            </a:r>
            <a:r>
              <a:rPr lang="zh-CN" altLang="en-US" b="1" dirty="0">
                <a:solidFill>
                  <a:srgbClr val="0000FF"/>
                </a:solidFill>
                <a:ea typeface="楷体_GB2312" pitchFamily="49" charset="-122"/>
              </a:rPr>
              <a:t>特征向量</a:t>
            </a:r>
            <a:endParaRPr lang="zh-CN" altLang="en-US" b="1" dirty="0">
              <a:ea typeface="楷体_GB2312" pitchFamily="49" charset="-122"/>
            </a:endParaRPr>
          </a:p>
          <a:p>
            <a:pPr lvl="1" eaLnBrk="1" hangingPunct="1"/>
            <a:r>
              <a:rPr lang="zh-CN" altLang="en-US" dirty="0">
                <a:ea typeface="黑体" pitchFamily="2" charset="-122"/>
              </a:rPr>
              <a:t>最大特征值</a:t>
            </a:r>
            <a:r>
              <a:rPr lang="el-GR" altLang="zh-CN" b="1" dirty="0">
                <a:ea typeface="楷体_GB2312" pitchFamily="49" charset="-122"/>
              </a:rPr>
              <a:t>λ</a:t>
            </a:r>
            <a:r>
              <a:rPr lang="en-US" altLang="zh-CN" b="1" baseline="-25000" dirty="0">
                <a:ea typeface="楷体_GB2312" pitchFamily="49" charset="-122"/>
              </a:rPr>
              <a:t>max</a:t>
            </a:r>
            <a:r>
              <a:rPr lang="zh-CN" altLang="en-US" dirty="0">
                <a:ea typeface="黑体" pitchFamily="2" charset="-122"/>
                <a:sym typeface="Symbol" panose="05050102010706020507" pitchFamily="18" charset="2"/>
              </a:rPr>
              <a:t></a:t>
            </a:r>
            <a:r>
              <a:rPr lang="en-US" altLang="zh-CN" dirty="0">
                <a:ea typeface="黑体" pitchFamily="2" charset="-122"/>
                <a:sym typeface="Symbol" panose="05050102010706020507" pitchFamily="18" charset="2"/>
              </a:rPr>
              <a:t>3.04</a:t>
            </a:r>
            <a:endParaRPr lang="zh-CN" altLang="en-US" dirty="0">
              <a:ea typeface="黑体" pitchFamily="2" charset="-122"/>
            </a:endParaRPr>
          </a:p>
          <a:p>
            <a:pPr lvl="1" eaLnBrk="1" hangingPunct="1"/>
            <a:r>
              <a:rPr lang="zh-CN" altLang="en-US" dirty="0">
                <a:solidFill>
                  <a:srgbClr val="0000FF"/>
                </a:solidFill>
                <a:ea typeface="黑体" pitchFamily="2" charset="-122"/>
              </a:rPr>
              <a:t>对应的特征向量</a:t>
            </a:r>
            <a:r>
              <a:rPr lang="en-US" altLang="zh-CN" dirty="0">
                <a:solidFill>
                  <a:srgbClr val="0000FF"/>
                </a:solidFill>
                <a:ea typeface="黑体" pitchFamily="2" charset="-122"/>
              </a:rPr>
              <a:t>W</a:t>
            </a:r>
            <a:r>
              <a:rPr lang="zh-CN" altLang="en-US" dirty="0">
                <a:solidFill>
                  <a:srgbClr val="0000FF"/>
                </a:solidFill>
                <a:ea typeface="黑体" pitchFamily="2" charset="-122"/>
              </a:rPr>
              <a:t>为</a:t>
            </a:r>
            <a:r>
              <a:rPr lang="en-US" altLang="zh-CN" dirty="0">
                <a:solidFill>
                  <a:srgbClr val="0000FF"/>
                </a:solidFill>
                <a:ea typeface="黑体" pitchFamily="2" charset="-122"/>
              </a:rPr>
              <a:t>=(0.129, 0.646, 0.215)</a:t>
            </a:r>
            <a:r>
              <a:rPr lang="en-US" altLang="zh-CN" baseline="30000" dirty="0">
                <a:solidFill>
                  <a:srgbClr val="0000FF"/>
                </a:solidFill>
                <a:ea typeface="黑体" pitchFamily="2" charset="-122"/>
              </a:rPr>
              <a:t>T</a:t>
            </a:r>
          </a:p>
          <a:p>
            <a:pPr lvl="1" eaLnBrk="1" hangingPunct="1"/>
            <a:r>
              <a:rPr lang="zh-CN" altLang="en-US" sz="3200" dirty="0">
                <a:solidFill>
                  <a:srgbClr val="008000"/>
                </a:solidFill>
                <a:ea typeface="黑体" pitchFamily="2" charset="-122"/>
              </a:rPr>
              <a:t>一致性指标</a:t>
            </a:r>
            <a:endParaRPr lang="en-US" altLang="zh-CN" sz="3200" dirty="0">
              <a:solidFill>
                <a:srgbClr val="008000"/>
              </a:solidFill>
              <a:ea typeface="黑体" pitchFamily="2" charset="-122"/>
            </a:endParaRPr>
          </a:p>
          <a:p>
            <a:pPr lvl="1" eaLnBrk="1" hangingPunct="1"/>
            <a:endParaRPr lang="en-US" altLang="zh-CN" sz="3200" dirty="0">
              <a:solidFill>
                <a:srgbClr val="008000"/>
              </a:solidFill>
              <a:ea typeface="黑体" pitchFamily="2" charset="-122"/>
            </a:endParaRPr>
          </a:p>
          <a:p>
            <a:pPr lvl="1" eaLnBrk="1" hangingPunct="1"/>
            <a:endParaRPr lang="en-US" altLang="zh-CN" sz="2400" dirty="0">
              <a:solidFill>
                <a:srgbClr val="008000"/>
              </a:solidFill>
              <a:ea typeface="黑体" pitchFamily="2" charset="-122"/>
            </a:endParaRPr>
          </a:p>
          <a:p>
            <a:pPr lvl="1" eaLnBrk="1" hangingPunct="1"/>
            <a:r>
              <a:rPr lang="zh-CN" altLang="en-US" b="1" dirty="0">
                <a:ea typeface="楷体_GB2312" pitchFamily="49" charset="-122"/>
              </a:rPr>
              <a:t>由于随机一致性比例</a:t>
            </a:r>
            <a:r>
              <a:rPr lang="en-US" altLang="zh-CN" b="1" dirty="0">
                <a:ea typeface="楷体_GB2312" pitchFamily="49" charset="-122"/>
              </a:rPr>
              <a:t>C</a:t>
            </a:r>
            <a:r>
              <a:rPr lang="en-US" altLang="zh-CN" b="1" baseline="-25000" dirty="0">
                <a:ea typeface="楷体_GB2312" pitchFamily="49" charset="-122"/>
              </a:rPr>
              <a:t>R</a:t>
            </a:r>
            <a:r>
              <a:rPr lang="en-US" altLang="zh-CN" sz="2000" b="1" dirty="0">
                <a:ea typeface="楷体_GB2312" pitchFamily="49" charset="-122"/>
              </a:rPr>
              <a:t> </a:t>
            </a:r>
          </a:p>
          <a:p>
            <a:pPr lvl="1" eaLnBrk="1" hangingPunct="1">
              <a:buNone/>
            </a:pPr>
            <a:r>
              <a:rPr lang="en-US" altLang="zh-CN" b="1" dirty="0">
                <a:solidFill>
                  <a:srgbClr val="0000FF"/>
                </a:solidFill>
                <a:ea typeface="楷体_GB2312" pitchFamily="49" charset="-122"/>
              </a:rPr>
              <a:t>    C</a:t>
            </a:r>
            <a:r>
              <a:rPr lang="en-US" altLang="zh-CN" b="1" baseline="-25000" dirty="0">
                <a:solidFill>
                  <a:srgbClr val="0000FF"/>
                </a:solidFill>
                <a:ea typeface="楷体_GB2312" pitchFamily="49" charset="-122"/>
              </a:rPr>
              <a:t>R </a:t>
            </a:r>
            <a:r>
              <a:rPr lang="en-US" altLang="zh-CN" b="1" dirty="0">
                <a:solidFill>
                  <a:srgbClr val="0000FF"/>
                </a:solidFill>
                <a:ea typeface="楷体_GB2312" pitchFamily="49" charset="-122"/>
              </a:rPr>
              <a:t>=C/</a:t>
            </a:r>
            <a:r>
              <a:rPr lang="en-US" altLang="zh-CN" b="1" dirty="0">
                <a:solidFill>
                  <a:srgbClr val="FF0000"/>
                </a:solidFill>
                <a:ea typeface="楷体_GB2312" pitchFamily="49" charset="-122"/>
              </a:rPr>
              <a:t>R</a:t>
            </a:r>
            <a:r>
              <a:rPr lang="en-US" altLang="zh-CN" b="1" dirty="0">
                <a:solidFill>
                  <a:srgbClr val="0000FF"/>
                </a:solidFill>
                <a:ea typeface="楷体_GB2312" pitchFamily="49" charset="-122"/>
              </a:rPr>
              <a:t>=0.02/</a:t>
            </a:r>
            <a:r>
              <a:rPr lang="en-US" altLang="zh-CN" b="1" dirty="0">
                <a:solidFill>
                  <a:srgbClr val="FF0000"/>
                </a:solidFill>
                <a:ea typeface="楷体_GB2312" pitchFamily="49" charset="-122"/>
              </a:rPr>
              <a:t>0.58</a:t>
            </a:r>
            <a:r>
              <a:rPr lang="en-US" altLang="zh-CN" b="1" dirty="0">
                <a:solidFill>
                  <a:srgbClr val="0000FF"/>
                </a:solidFill>
                <a:ea typeface="楷体_GB2312" pitchFamily="49" charset="-122"/>
              </a:rPr>
              <a:t>=0.034&lt;0.1</a:t>
            </a:r>
            <a:r>
              <a:rPr lang="zh-CN" altLang="en-US" b="1" dirty="0">
                <a:solidFill>
                  <a:srgbClr val="0000FF"/>
                </a:solidFill>
                <a:ea typeface="楷体_GB2312" pitchFamily="49" charset="-122"/>
              </a:rPr>
              <a:t>，</a:t>
            </a:r>
          </a:p>
          <a:p>
            <a:pPr lvl="1" eaLnBrk="1" hangingPunct="1"/>
            <a:endParaRPr lang="zh-CN" altLang="en-US" sz="3200" dirty="0">
              <a:solidFill>
                <a:srgbClr val="008000"/>
              </a:solidFill>
              <a:ea typeface="黑体" pitchFamily="2" charset="-122"/>
            </a:endParaRPr>
          </a:p>
        </p:txBody>
      </p:sp>
      <p:graphicFrame>
        <p:nvGraphicFramePr>
          <p:cNvPr id="118807" name="Object 23">
            <a:extLst>
              <a:ext uri="{FF2B5EF4-FFF2-40B4-BE49-F238E27FC236}">
                <a16:creationId xmlns:a16="http://schemas.microsoft.com/office/drawing/2014/main" id="{161BC427-7EC3-D175-7DC5-A229993FAA11}"/>
              </a:ext>
            </a:extLst>
          </p:cNvPr>
          <p:cNvGraphicFramePr>
            <a:graphicFrameLocks noGrp="1" noChangeAspect="1"/>
          </p:cNvGraphicFramePr>
          <p:nvPr>
            <p:ph sz="quarter" idx="3"/>
            <p:extLst>
              <p:ext uri="{D42A27DB-BD31-4B8C-83A1-F6EECF244321}">
                <p14:modId xmlns:p14="http://schemas.microsoft.com/office/powerpoint/2010/main" val="2452286969"/>
              </p:ext>
            </p:extLst>
          </p:nvPr>
        </p:nvGraphicFramePr>
        <p:xfrm>
          <a:off x="8672287" y="1497904"/>
          <a:ext cx="2922367" cy="1670496"/>
        </p:xfrm>
        <a:graphic>
          <a:graphicData uri="http://schemas.openxmlformats.org/presentationml/2006/ole">
            <mc:AlternateContent xmlns:mc="http://schemas.openxmlformats.org/markup-compatibility/2006">
              <mc:Choice xmlns:v="urn:schemas-microsoft-com:vml" Requires="v">
                <p:oleObj name="Equation" r:id="rId3" imgW="1244520" imgH="711000" progId="Equation.DSMT4">
                  <p:embed/>
                </p:oleObj>
              </mc:Choice>
              <mc:Fallback>
                <p:oleObj name="Equation" r:id="rId3" imgW="1244520" imgH="711000" progId="Equation.DSMT4">
                  <p:embed/>
                  <p:pic>
                    <p:nvPicPr>
                      <p:cNvPr id="118807" name="Object 23">
                        <a:extLst>
                          <a:ext uri="{FF2B5EF4-FFF2-40B4-BE49-F238E27FC236}">
                            <a16:creationId xmlns:a16="http://schemas.microsoft.com/office/drawing/2014/main" id="{161BC427-7EC3-D175-7DC5-A229993FAA11}"/>
                          </a:ext>
                        </a:extLst>
                      </p:cNvPr>
                      <p:cNvPicPr>
                        <a:picLocks noChangeAspect="1" noChangeArrowheads="1"/>
                      </p:cNvPicPr>
                      <p:nvPr/>
                    </p:nvPicPr>
                    <p:blipFill>
                      <a:blip r:embed="rId4"/>
                      <a:srcRect/>
                      <a:stretch>
                        <a:fillRect/>
                      </a:stretch>
                    </p:blipFill>
                    <p:spPr bwMode="auto">
                      <a:xfrm>
                        <a:off x="8672287" y="1497904"/>
                        <a:ext cx="2922367" cy="1670496"/>
                      </a:xfrm>
                      <a:prstGeom prst="rect">
                        <a:avLst/>
                      </a:prstGeom>
                      <a:noFill/>
                      <a:ln>
                        <a:noFill/>
                      </a:ln>
                      <a:effectLst/>
                    </p:spPr>
                  </p:pic>
                </p:oleObj>
              </mc:Fallback>
            </mc:AlternateContent>
          </a:graphicData>
        </a:graphic>
      </p:graphicFrame>
      <p:graphicFrame>
        <p:nvGraphicFramePr>
          <p:cNvPr id="118831" name="Object 47">
            <a:extLst>
              <a:ext uri="{FF2B5EF4-FFF2-40B4-BE49-F238E27FC236}">
                <a16:creationId xmlns:a16="http://schemas.microsoft.com/office/drawing/2014/main" id="{5BD0F939-D1AC-E75D-3190-FD16C83B3A8A}"/>
              </a:ext>
            </a:extLst>
          </p:cNvPr>
          <p:cNvGraphicFramePr>
            <a:graphicFrameLocks noChangeAspect="1"/>
          </p:cNvGraphicFramePr>
          <p:nvPr>
            <p:extLst>
              <p:ext uri="{D42A27DB-BD31-4B8C-83A1-F6EECF244321}">
                <p14:modId xmlns:p14="http://schemas.microsoft.com/office/powerpoint/2010/main" val="1596842776"/>
              </p:ext>
            </p:extLst>
          </p:nvPr>
        </p:nvGraphicFramePr>
        <p:xfrm>
          <a:off x="2012856" y="4312342"/>
          <a:ext cx="1659450" cy="842870"/>
        </p:xfrm>
        <a:graphic>
          <a:graphicData uri="http://schemas.openxmlformats.org/presentationml/2006/ole">
            <mc:AlternateContent xmlns:mc="http://schemas.openxmlformats.org/markup-compatibility/2006">
              <mc:Choice xmlns:v="urn:schemas-microsoft-com:vml" Requires="v">
                <p:oleObj name="Equation" r:id="rId5" imgW="774360" imgH="393480" progId="Equation.DSMT4">
                  <p:embed/>
                </p:oleObj>
              </mc:Choice>
              <mc:Fallback>
                <p:oleObj name="Equation" r:id="rId5" imgW="774360" imgH="393480" progId="Equation.DSMT4">
                  <p:embed/>
                  <p:pic>
                    <p:nvPicPr>
                      <p:cNvPr id="118831" name="Object 47">
                        <a:extLst>
                          <a:ext uri="{FF2B5EF4-FFF2-40B4-BE49-F238E27FC236}">
                            <a16:creationId xmlns:a16="http://schemas.microsoft.com/office/drawing/2014/main" id="{5BD0F939-D1AC-E75D-3190-FD16C83B3A8A}"/>
                          </a:ext>
                        </a:extLst>
                      </p:cNvPr>
                      <p:cNvPicPr>
                        <a:picLocks noChangeAspect="1" noChangeArrowheads="1"/>
                      </p:cNvPicPr>
                      <p:nvPr/>
                    </p:nvPicPr>
                    <p:blipFill>
                      <a:blip r:embed="rId6"/>
                      <a:srcRect/>
                      <a:stretch>
                        <a:fillRect/>
                      </a:stretch>
                    </p:blipFill>
                    <p:spPr bwMode="auto">
                      <a:xfrm>
                        <a:off x="2012856" y="4312342"/>
                        <a:ext cx="1659450" cy="842870"/>
                      </a:xfrm>
                      <a:prstGeom prst="rect">
                        <a:avLst/>
                      </a:prstGeom>
                      <a:noFill/>
                      <a:ln>
                        <a:noFill/>
                      </a:ln>
                      <a:effectLst/>
                    </p:spPr>
                  </p:pic>
                </p:oleObj>
              </mc:Fallback>
            </mc:AlternateContent>
          </a:graphicData>
        </a:graphic>
      </p:graphicFrame>
      <p:graphicFrame>
        <p:nvGraphicFramePr>
          <p:cNvPr id="118832" name="Object 48">
            <a:extLst>
              <a:ext uri="{FF2B5EF4-FFF2-40B4-BE49-F238E27FC236}">
                <a16:creationId xmlns:a16="http://schemas.microsoft.com/office/drawing/2014/main" id="{4EFF3FCD-702B-DC1E-AF67-DBCB2E0FA19D}"/>
              </a:ext>
            </a:extLst>
          </p:cNvPr>
          <p:cNvGraphicFramePr>
            <a:graphicFrameLocks noChangeAspect="1"/>
          </p:cNvGraphicFramePr>
          <p:nvPr>
            <p:extLst>
              <p:ext uri="{D42A27DB-BD31-4B8C-83A1-F6EECF244321}">
                <p14:modId xmlns:p14="http://schemas.microsoft.com/office/powerpoint/2010/main" val="2425757268"/>
              </p:ext>
            </p:extLst>
          </p:nvPr>
        </p:nvGraphicFramePr>
        <p:xfrm>
          <a:off x="3672306" y="4280863"/>
          <a:ext cx="2566571" cy="946059"/>
        </p:xfrm>
        <a:graphic>
          <a:graphicData uri="http://schemas.openxmlformats.org/presentationml/2006/ole">
            <mc:AlternateContent xmlns:mc="http://schemas.openxmlformats.org/markup-compatibility/2006">
              <mc:Choice xmlns:v="urn:schemas-microsoft-com:vml" Requires="v">
                <p:oleObj name="公式" r:id="rId7" imgW="1066337" imgH="393529" progId="Equation.3">
                  <p:embed/>
                </p:oleObj>
              </mc:Choice>
              <mc:Fallback>
                <p:oleObj name="公式" r:id="rId7" imgW="1066337" imgH="393529" progId="Equation.3">
                  <p:embed/>
                  <p:pic>
                    <p:nvPicPr>
                      <p:cNvPr id="118832" name="Object 48">
                        <a:extLst>
                          <a:ext uri="{FF2B5EF4-FFF2-40B4-BE49-F238E27FC236}">
                            <a16:creationId xmlns:a16="http://schemas.microsoft.com/office/drawing/2014/main" id="{4EFF3FCD-702B-DC1E-AF67-DBCB2E0FA1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72306" y="4280863"/>
                        <a:ext cx="2566571" cy="946059"/>
                      </a:xfrm>
                      <a:prstGeom prst="rect">
                        <a:avLst/>
                      </a:prstGeom>
                      <a:noFill/>
                      <a:ln>
                        <a:noFill/>
                      </a:ln>
                      <a:effectLst/>
                    </p:spPr>
                  </p:pic>
                </p:oleObj>
              </mc:Fallback>
            </mc:AlternateContent>
          </a:graphicData>
        </a:graphic>
      </p:graphicFrame>
      <p:sp>
        <p:nvSpPr>
          <p:cNvPr id="9" name="文本框 8">
            <a:extLst>
              <a:ext uri="{FF2B5EF4-FFF2-40B4-BE49-F238E27FC236}">
                <a16:creationId xmlns:a16="http://schemas.microsoft.com/office/drawing/2014/main" id="{DCDE5CBD-6584-C5BB-9C7D-CE5026471DEB}"/>
              </a:ext>
            </a:extLst>
          </p:cNvPr>
          <p:cNvSpPr txBox="1"/>
          <p:nvPr/>
        </p:nvSpPr>
        <p:spPr>
          <a:xfrm>
            <a:off x="2080754" y="6366817"/>
            <a:ext cx="8052717" cy="461665"/>
          </a:xfrm>
          <a:prstGeom prst="rect">
            <a:avLst/>
          </a:prstGeom>
          <a:noFill/>
        </p:spPr>
        <p:txBody>
          <a:bodyPr wrap="square">
            <a:spAutoFit/>
          </a:bodyPr>
          <a:lstStyle/>
          <a:p>
            <a:r>
              <a:rPr lang="zh-CN" altLang="en-US" sz="2400" b="1" dirty="0">
                <a:solidFill>
                  <a:srgbClr val="0000FF"/>
                </a:solidFill>
                <a:ea typeface="楷体_GB2312" pitchFamily="49" charset="-122"/>
              </a:rPr>
              <a:t>当</a:t>
            </a:r>
            <a:r>
              <a:rPr lang="zh-CN" altLang="en-US" sz="2400" b="1" dirty="0">
                <a:solidFill>
                  <a:srgbClr val="FF0000"/>
                </a:solidFill>
                <a:ea typeface="楷体_GB2312" pitchFamily="49" charset="-122"/>
              </a:rPr>
              <a:t>随机一致性比例</a:t>
            </a:r>
            <a:r>
              <a:rPr lang="en-US" altLang="zh-CN" sz="2400" b="1" i="1" dirty="0">
                <a:solidFill>
                  <a:srgbClr val="FF0000"/>
                </a:solidFill>
                <a:ea typeface="楷体_GB2312" pitchFamily="49" charset="-122"/>
              </a:rPr>
              <a:t>C</a:t>
            </a:r>
            <a:r>
              <a:rPr lang="en-US" altLang="zh-CN" sz="2400" b="1" i="1" baseline="-25000" dirty="0">
                <a:solidFill>
                  <a:srgbClr val="FF0000"/>
                </a:solidFill>
                <a:ea typeface="楷体_GB2312" pitchFamily="49" charset="-122"/>
              </a:rPr>
              <a:t>R</a:t>
            </a:r>
            <a:r>
              <a:rPr lang="en-US" altLang="zh-CN" sz="2400" b="1" baseline="-25000" dirty="0">
                <a:solidFill>
                  <a:srgbClr val="FF0000"/>
                </a:solidFill>
                <a:ea typeface="楷体_GB2312" pitchFamily="49" charset="-122"/>
              </a:rPr>
              <a:t> </a:t>
            </a:r>
            <a:r>
              <a:rPr lang="en-US" altLang="zh-CN" sz="2400" b="1" dirty="0">
                <a:solidFill>
                  <a:srgbClr val="FF0000"/>
                </a:solidFill>
                <a:ea typeface="楷体_GB2312" pitchFamily="49" charset="-122"/>
              </a:rPr>
              <a:t>=</a:t>
            </a:r>
            <a:r>
              <a:rPr lang="en-US" altLang="zh-CN" sz="2400" b="1" i="1" dirty="0">
                <a:solidFill>
                  <a:srgbClr val="FF0000"/>
                </a:solidFill>
                <a:ea typeface="楷体_GB2312" pitchFamily="49" charset="-122"/>
              </a:rPr>
              <a:t>C</a:t>
            </a:r>
            <a:r>
              <a:rPr lang="en-US" altLang="zh-CN" sz="2400" b="1" dirty="0">
                <a:solidFill>
                  <a:srgbClr val="FF0000"/>
                </a:solidFill>
                <a:ea typeface="楷体_GB2312" pitchFamily="49" charset="-122"/>
              </a:rPr>
              <a:t>/</a:t>
            </a:r>
            <a:r>
              <a:rPr lang="en-US" altLang="zh-CN" sz="2400" b="1" i="1" dirty="0">
                <a:solidFill>
                  <a:srgbClr val="FF0000"/>
                </a:solidFill>
                <a:ea typeface="楷体_GB2312" pitchFamily="49" charset="-122"/>
              </a:rPr>
              <a:t>R</a:t>
            </a:r>
            <a:r>
              <a:rPr lang="en-US" altLang="zh-CN" sz="2400" b="1" dirty="0">
                <a:solidFill>
                  <a:srgbClr val="FF0000"/>
                </a:solidFill>
                <a:ea typeface="楷体_GB2312" pitchFamily="49" charset="-122"/>
              </a:rPr>
              <a:t>&lt;0.1</a:t>
            </a:r>
            <a:r>
              <a:rPr lang="zh-CN" altLang="en-US" sz="2400" b="1" dirty="0">
                <a:solidFill>
                  <a:srgbClr val="0000FF"/>
                </a:solidFill>
                <a:ea typeface="楷体_GB2312" pitchFamily="49" charset="-122"/>
              </a:rPr>
              <a:t>时，</a:t>
            </a:r>
            <a:r>
              <a:rPr lang="en-US" altLang="zh-CN" sz="2400" b="1" i="1" dirty="0">
                <a:solidFill>
                  <a:srgbClr val="0000FF"/>
                </a:solidFill>
                <a:ea typeface="楷体_GB2312" pitchFamily="49" charset="-122"/>
              </a:rPr>
              <a:t>A</a:t>
            </a:r>
            <a:r>
              <a:rPr lang="zh-CN" altLang="en-US" sz="2400" b="1" dirty="0">
                <a:solidFill>
                  <a:srgbClr val="0000FF"/>
                </a:solidFill>
                <a:ea typeface="楷体_GB2312" pitchFamily="49" charset="-122"/>
              </a:rPr>
              <a:t>的不一致性仍可接受</a:t>
            </a:r>
            <a:endParaRPr lang="zh-CN" altLang="en-US" sz="2400" dirty="0"/>
          </a:p>
        </p:txBody>
      </p:sp>
      <p:pic>
        <p:nvPicPr>
          <p:cNvPr id="12" name="图片 11">
            <a:extLst>
              <a:ext uri="{FF2B5EF4-FFF2-40B4-BE49-F238E27FC236}">
                <a16:creationId xmlns:a16="http://schemas.microsoft.com/office/drawing/2014/main" id="{4DCD43C1-1398-3410-57AD-70C0EAA37F74}"/>
              </a:ext>
            </a:extLst>
          </p:cNvPr>
          <p:cNvPicPr>
            <a:picLocks noChangeAspect="1"/>
          </p:cNvPicPr>
          <p:nvPr/>
        </p:nvPicPr>
        <p:blipFill>
          <a:blip r:embed="rId9"/>
          <a:stretch>
            <a:fillRect/>
          </a:stretch>
        </p:blipFill>
        <p:spPr>
          <a:xfrm>
            <a:off x="7456213" y="4728894"/>
            <a:ext cx="4547387" cy="852635"/>
          </a:xfrm>
          <a:prstGeom prst="rect">
            <a:avLst/>
          </a:prstGeom>
        </p:spPr>
      </p:pic>
      <p:sp>
        <p:nvSpPr>
          <p:cNvPr id="2" name="灯片编号占位符 1">
            <a:extLst>
              <a:ext uri="{FF2B5EF4-FFF2-40B4-BE49-F238E27FC236}">
                <a16:creationId xmlns:a16="http://schemas.microsoft.com/office/drawing/2014/main" id="{70FD994B-DD8E-D406-6DED-A3CB0B498D7C}"/>
              </a:ext>
            </a:extLst>
          </p:cNvPr>
          <p:cNvSpPr>
            <a:spLocks noGrp="1"/>
          </p:cNvSpPr>
          <p:nvPr>
            <p:ph type="sldNum" sz="quarter" idx="11"/>
          </p:nvPr>
        </p:nvSpPr>
        <p:spPr/>
        <p:txBody>
          <a:bodyPr/>
          <a:lstStyle/>
          <a:p>
            <a:pPr>
              <a:defRPr/>
            </a:pPr>
            <a:fld id="{AEE3D6A2-45AE-49BA-A8D8-5E8D3DAE5436}" type="slidenum">
              <a:rPr lang="en-US" altLang="zh-CN" smtClean="0"/>
              <a:pPr>
                <a:defRPr/>
              </a:pPr>
              <a:t>19</a:t>
            </a:fld>
            <a:endParaRPr lang="en-US" altLang="zh-CN"/>
          </a:p>
        </p:txBody>
      </p:sp>
    </p:spTree>
    <p:extLst>
      <p:ext uri="{BB962C8B-B14F-4D97-AF65-F5344CB8AC3E}">
        <p14:creationId xmlns:p14="http://schemas.microsoft.com/office/powerpoint/2010/main" val="24099061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wipe(left)">
                                      <p:cBhvr>
                                        <p:cTn id="7" dur="500"/>
                                        <p:tgtEl>
                                          <p:spTgt spid="1187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7">
                                            <p:txEl>
                                              <p:pRg st="1" end="1"/>
                                            </p:txEl>
                                          </p:spTgt>
                                        </p:tgtEl>
                                        <p:attrNameLst>
                                          <p:attrName>style.visibility</p:attrName>
                                        </p:attrNameLst>
                                      </p:cBhvr>
                                      <p:to>
                                        <p:strVal val="visible"/>
                                      </p:to>
                                    </p:set>
                                    <p:animEffect transition="in" filter="wipe(left)">
                                      <p:cBhvr>
                                        <p:cTn id="12" dur="500"/>
                                        <p:tgtEl>
                                          <p:spTgt spid="1187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8807"/>
                                        </p:tgtEl>
                                        <p:attrNameLst>
                                          <p:attrName>style.visibility</p:attrName>
                                        </p:attrNameLst>
                                      </p:cBhvr>
                                      <p:to>
                                        <p:strVal val="visible"/>
                                      </p:to>
                                    </p:set>
                                    <p:animEffect transition="in" filter="wipe(left)">
                                      <p:cBhvr>
                                        <p:cTn id="17" dur="500"/>
                                        <p:tgtEl>
                                          <p:spTgt spid="1188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8787">
                                            <p:txEl>
                                              <p:pRg st="2" end="2"/>
                                            </p:txEl>
                                          </p:spTgt>
                                        </p:tgtEl>
                                        <p:attrNameLst>
                                          <p:attrName>style.visibility</p:attrName>
                                        </p:attrNameLst>
                                      </p:cBhvr>
                                      <p:to>
                                        <p:strVal val="visible"/>
                                      </p:to>
                                    </p:set>
                                    <p:animEffect transition="in" filter="wipe(left)">
                                      <p:cBhvr>
                                        <p:cTn id="22" dur="500"/>
                                        <p:tgtEl>
                                          <p:spTgt spid="11878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8787">
                                            <p:txEl>
                                              <p:pRg st="3" end="3"/>
                                            </p:txEl>
                                          </p:spTgt>
                                        </p:tgtEl>
                                        <p:attrNameLst>
                                          <p:attrName>style.visibility</p:attrName>
                                        </p:attrNameLst>
                                      </p:cBhvr>
                                      <p:to>
                                        <p:strVal val="visible"/>
                                      </p:to>
                                    </p:set>
                                    <p:animEffect transition="in" filter="wipe(left)">
                                      <p:cBhvr>
                                        <p:cTn id="27" dur="500"/>
                                        <p:tgtEl>
                                          <p:spTgt spid="11878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8787">
                                            <p:txEl>
                                              <p:pRg st="4" end="4"/>
                                            </p:txEl>
                                          </p:spTgt>
                                        </p:tgtEl>
                                        <p:attrNameLst>
                                          <p:attrName>style.visibility</p:attrName>
                                        </p:attrNameLst>
                                      </p:cBhvr>
                                      <p:to>
                                        <p:strVal val="visible"/>
                                      </p:to>
                                    </p:set>
                                    <p:animEffect transition="in" filter="wipe(left)">
                                      <p:cBhvr>
                                        <p:cTn id="32" dur="500"/>
                                        <p:tgtEl>
                                          <p:spTgt spid="11878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8831"/>
                                        </p:tgtEl>
                                        <p:attrNameLst>
                                          <p:attrName>style.visibility</p:attrName>
                                        </p:attrNameLst>
                                      </p:cBhvr>
                                      <p:to>
                                        <p:strVal val="visible"/>
                                      </p:to>
                                    </p:set>
                                    <p:animEffect transition="in" filter="wipe(left)">
                                      <p:cBhvr>
                                        <p:cTn id="37" dur="500"/>
                                        <p:tgtEl>
                                          <p:spTgt spid="1188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18832"/>
                                        </p:tgtEl>
                                        <p:attrNameLst>
                                          <p:attrName>style.visibility</p:attrName>
                                        </p:attrNameLst>
                                      </p:cBhvr>
                                      <p:to>
                                        <p:strVal val="visible"/>
                                      </p:to>
                                    </p:set>
                                    <p:animEffect transition="in" filter="wipe(left)">
                                      <p:cBhvr>
                                        <p:cTn id="42" dur="500"/>
                                        <p:tgtEl>
                                          <p:spTgt spid="1188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8787">
                                            <p:txEl>
                                              <p:pRg st="7" end="7"/>
                                            </p:txEl>
                                          </p:spTgt>
                                        </p:tgtEl>
                                        <p:attrNameLst>
                                          <p:attrName>style.visibility</p:attrName>
                                        </p:attrNameLst>
                                      </p:cBhvr>
                                      <p:to>
                                        <p:strVal val="visible"/>
                                      </p:to>
                                    </p:set>
                                    <p:animEffect transition="in" filter="wipe(left)">
                                      <p:cBhvr>
                                        <p:cTn id="47" dur="500"/>
                                        <p:tgtEl>
                                          <p:spTgt spid="11878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8787">
                                            <p:txEl>
                                              <p:pRg st="8" end="8"/>
                                            </p:txEl>
                                          </p:spTgt>
                                        </p:tgtEl>
                                        <p:attrNameLst>
                                          <p:attrName>style.visibility</p:attrName>
                                        </p:attrNameLst>
                                      </p:cBhvr>
                                      <p:to>
                                        <p:strVal val="visible"/>
                                      </p:to>
                                    </p:set>
                                    <p:animEffect transition="in" filter="wipe(left)">
                                      <p:cBhvr>
                                        <p:cTn id="57" dur="500"/>
                                        <p:tgtEl>
                                          <p:spTgt spid="118787">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500" fill="hold"/>
                                        <p:tgtEl>
                                          <p:spTgt spid="9"/>
                                        </p:tgtEl>
                                        <p:attrNameLst>
                                          <p:attrName>ppt_x</p:attrName>
                                        </p:attrNameLst>
                                      </p:cBhvr>
                                      <p:tavLst>
                                        <p:tav tm="0">
                                          <p:val>
                                            <p:strVal val="#ppt_x"/>
                                          </p:val>
                                        </p:tav>
                                        <p:tav tm="100000">
                                          <p:val>
                                            <p:strVal val="#ppt_x"/>
                                          </p:val>
                                        </p:tav>
                                      </p:tavLst>
                                    </p:anim>
                                    <p:anim calcmode="lin" valueType="num">
                                      <p:cBhvr additive="base">
                                        <p:cTn id="6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uiExpand="1" build="p"/>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135188" y="115888"/>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20835" name="Rectangle 3"/>
          <p:cNvSpPr>
            <a:spLocks noGrp="1" noChangeArrowheads="1"/>
          </p:cNvSpPr>
          <p:nvPr>
            <p:ph type="body" sz="half" idx="1"/>
          </p:nvPr>
        </p:nvSpPr>
        <p:spPr>
          <a:xfrm>
            <a:off x="983432" y="1341438"/>
            <a:ext cx="9612561" cy="5327650"/>
          </a:xfrm>
        </p:spPr>
        <p:txBody>
          <a:bodyPr/>
          <a:lstStyle/>
          <a:p>
            <a:pPr eaLnBrk="1" hangingPunct="1"/>
            <a:r>
              <a:rPr lang="zh-CN" altLang="en-US" sz="2800" dirty="0">
                <a:solidFill>
                  <a:srgbClr val="FF0000"/>
                </a:solidFill>
                <a:ea typeface="黑体" pitchFamily="2" charset="-122"/>
              </a:rPr>
              <a:t>第三步：层次单排序及其一致性检验</a:t>
            </a:r>
          </a:p>
          <a:p>
            <a:pPr eaLnBrk="1" hangingPunct="1">
              <a:buFont typeface="Wingdings" pitchFamily="2" charset="2"/>
              <a:buNone/>
            </a:pPr>
            <a:endParaRPr lang="zh-CN" altLang="en-US"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endParaRPr lang="zh-CN" altLang="en-US" sz="36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lnSpc>
                <a:spcPct val="150000"/>
              </a:lnSpc>
            </a:pPr>
            <a:r>
              <a:rPr lang="zh-CN" altLang="en-US" sz="2800" b="1" dirty="0">
                <a:ea typeface="楷体_GB2312" pitchFamily="49" charset="-122"/>
              </a:rPr>
              <a:t>因此可认为</a:t>
            </a:r>
            <a:r>
              <a:rPr lang="zh-CN" altLang="en-US" sz="2800" b="1" u="sng" dirty="0">
                <a:ea typeface="楷体_GB2312" pitchFamily="49" charset="-122"/>
              </a:rPr>
              <a:t>调动职工积极性</a:t>
            </a:r>
            <a:r>
              <a:rPr lang="zh-CN" altLang="en-US" sz="2800" b="1" dirty="0">
                <a:ea typeface="楷体_GB2312" pitchFamily="49" charset="-122"/>
              </a:rPr>
              <a:t>、</a:t>
            </a:r>
            <a:r>
              <a:rPr lang="zh-CN" altLang="en-US" sz="2800" b="1" u="sng" dirty="0">
                <a:ea typeface="楷体_GB2312" pitchFamily="49" charset="-122"/>
              </a:rPr>
              <a:t>提高企业技术水平</a:t>
            </a:r>
            <a:r>
              <a:rPr lang="zh-CN" altLang="en-US" sz="2800" b="1" dirty="0">
                <a:ea typeface="楷体_GB2312" pitchFamily="49" charset="-122"/>
              </a:rPr>
              <a:t>、</a:t>
            </a:r>
            <a:r>
              <a:rPr lang="zh-CN" altLang="en-US" sz="2800" b="1" u="sng" dirty="0">
                <a:ea typeface="楷体_GB2312" pitchFamily="49" charset="-122"/>
              </a:rPr>
              <a:t>改善职工生活条件</a:t>
            </a:r>
            <a:r>
              <a:rPr lang="zh-CN" altLang="en-US" sz="2800" b="1" dirty="0">
                <a:ea typeface="楷体_GB2312" pitchFamily="49" charset="-122"/>
              </a:rPr>
              <a:t>关于</a:t>
            </a:r>
            <a:r>
              <a:rPr lang="zh-CN" altLang="en-US" sz="2800" b="1" dirty="0">
                <a:solidFill>
                  <a:srgbClr val="CC0099"/>
                </a:solidFill>
                <a:ea typeface="楷体_GB2312" pitchFamily="49" charset="-122"/>
              </a:rPr>
              <a:t>合理使用企业利润</a:t>
            </a:r>
            <a:r>
              <a:rPr lang="zh-CN" altLang="en-US" sz="2800" b="1" dirty="0">
                <a:ea typeface="楷体_GB2312" pitchFamily="49" charset="-122"/>
              </a:rPr>
              <a:t>的权重为</a:t>
            </a:r>
          </a:p>
          <a:p>
            <a:pPr eaLnBrk="1" hangingPunct="1">
              <a:lnSpc>
                <a:spcPct val="150000"/>
              </a:lnSpc>
              <a:buFont typeface="Wingdings" pitchFamily="2" charset="2"/>
              <a:buNone/>
            </a:pPr>
            <a:r>
              <a:rPr lang="zh-CN" altLang="en-US" sz="2800" dirty="0">
                <a:solidFill>
                  <a:srgbClr val="0000FF"/>
                </a:solidFill>
                <a:ea typeface="黑体" pitchFamily="2" charset="-122"/>
              </a:rPr>
              <a:t>          </a:t>
            </a:r>
            <a:r>
              <a:rPr lang="en-US" altLang="zh-CN" sz="2800" dirty="0">
                <a:solidFill>
                  <a:srgbClr val="0000FF"/>
                </a:solidFill>
                <a:ea typeface="黑体" pitchFamily="2" charset="-122"/>
              </a:rPr>
              <a:t>(0.129, 0.646, 0.215)</a:t>
            </a:r>
            <a:endParaRPr lang="en-US" altLang="zh-CN" sz="2800" b="1" dirty="0">
              <a:solidFill>
                <a:srgbClr val="0000FF"/>
              </a:solidFill>
              <a:ea typeface="楷体_GB2312" pitchFamily="49" charset="-122"/>
            </a:endParaRPr>
          </a:p>
        </p:txBody>
      </p:sp>
      <p:grpSp>
        <p:nvGrpSpPr>
          <p:cNvPr id="57348" name="Group 4"/>
          <p:cNvGrpSpPr>
            <a:grpSpLocks/>
          </p:cNvGrpSpPr>
          <p:nvPr/>
        </p:nvGrpSpPr>
        <p:grpSpPr bwMode="auto">
          <a:xfrm>
            <a:off x="1774826" y="2011363"/>
            <a:ext cx="7921625" cy="2025650"/>
            <a:chOff x="158" y="1267"/>
            <a:chExt cx="4990" cy="1276"/>
          </a:xfrm>
        </p:grpSpPr>
        <p:sp>
          <p:nvSpPr>
            <p:cNvPr id="57351" name="Text Box 5"/>
            <p:cNvSpPr txBox="1">
              <a:spLocks noChangeArrowheads="1"/>
            </p:cNvSpPr>
            <p:nvPr/>
          </p:nvSpPr>
          <p:spPr bwMode="auto">
            <a:xfrm>
              <a:off x="2154" y="1267"/>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合理使用企业利润</a:t>
              </a:r>
              <a:r>
                <a:rPr lang="en-US" altLang="zh-CN" b="1">
                  <a:ea typeface="楷体_GB2312" pitchFamily="49" charset="-122"/>
                </a:rPr>
                <a:t>G</a:t>
              </a:r>
            </a:p>
          </p:txBody>
        </p:sp>
        <p:sp>
          <p:nvSpPr>
            <p:cNvPr id="57352"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57353"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dirty="0">
                  <a:ea typeface="楷体_GB2312" pitchFamily="49" charset="-122"/>
                </a:rPr>
                <a:t>提高企业技术水平</a:t>
              </a:r>
              <a:r>
                <a:rPr lang="en-US" altLang="zh-CN" sz="1600" b="1" dirty="0">
                  <a:ea typeface="楷体_GB2312" pitchFamily="49" charset="-122"/>
                </a:rPr>
                <a:t>C</a:t>
              </a:r>
              <a:r>
                <a:rPr lang="en-US" altLang="zh-CN" sz="1600" b="1" baseline="-25000" dirty="0">
                  <a:ea typeface="楷体_GB2312" pitchFamily="49" charset="-122"/>
                </a:rPr>
                <a:t>2</a:t>
              </a:r>
            </a:p>
          </p:txBody>
        </p:sp>
        <p:sp>
          <p:nvSpPr>
            <p:cNvPr id="57354"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改善职工生活条件</a:t>
              </a:r>
              <a:r>
                <a:rPr lang="en-US" altLang="zh-CN" sz="1600" b="1">
                  <a:ea typeface="楷体_GB2312" pitchFamily="49" charset="-122"/>
                </a:rPr>
                <a:t>C</a:t>
              </a:r>
              <a:r>
                <a:rPr lang="en-US" altLang="zh-CN" sz="1600" b="1" baseline="-25000">
                  <a:ea typeface="楷体_GB2312" pitchFamily="49" charset="-122"/>
                </a:rPr>
                <a:t>3</a:t>
              </a:r>
            </a:p>
          </p:txBody>
        </p:sp>
        <p:sp>
          <p:nvSpPr>
            <p:cNvPr id="57355"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发奖金给职工</a:t>
              </a:r>
              <a:r>
                <a:rPr lang="en-US" altLang="zh-CN" sz="1600" b="1">
                  <a:ea typeface="楷体_GB2312" pitchFamily="49" charset="-122"/>
                </a:rPr>
                <a:t>P</a:t>
              </a:r>
              <a:r>
                <a:rPr lang="en-US" altLang="zh-CN" sz="1600" b="1" baseline="-25000">
                  <a:ea typeface="楷体_GB2312" pitchFamily="49" charset="-122"/>
                </a:rPr>
                <a:t>1</a:t>
              </a:r>
            </a:p>
          </p:txBody>
        </p:sp>
        <p:sp>
          <p:nvSpPr>
            <p:cNvPr id="57356"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57357"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57358"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59"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0"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1"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2"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3" name="Line 17"/>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4" name="Line 18"/>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5" name="Line 19"/>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Line 20"/>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7" name="Text Box 21"/>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dirty="0">
                  <a:solidFill>
                    <a:srgbClr val="0000FF"/>
                  </a:solidFill>
                  <a:ea typeface="楷体_GB2312" pitchFamily="49" charset="-122"/>
                </a:rPr>
                <a:t>目标层</a:t>
              </a:r>
            </a:p>
            <a:p>
              <a:pPr eaLnBrk="1" hangingPunct="1">
                <a:spcBef>
                  <a:spcPct val="50000"/>
                </a:spcBef>
              </a:pPr>
              <a:endParaRPr lang="zh-CN" altLang="en-US" sz="1200" b="1" dirty="0">
                <a:solidFill>
                  <a:srgbClr val="0000FF"/>
                </a:solidFill>
                <a:ea typeface="楷体_GB2312" pitchFamily="49" charset="-122"/>
              </a:endParaRPr>
            </a:p>
            <a:p>
              <a:pPr eaLnBrk="1" hangingPunct="1">
                <a:spcBef>
                  <a:spcPct val="50000"/>
                </a:spcBef>
              </a:pPr>
              <a:r>
                <a:rPr lang="zh-CN" altLang="en-US" b="1" dirty="0">
                  <a:solidFill>
                    <a:srgbClr val="0000FF"/>
                  </a:solidFill>
                  <a:ea typeface="楷体_GB2312" pitchFamily="49" charset="-122"/>
                </a:rPr>
                <a:t>准则层</a:t>
              </a:r>
            </a:p>
            <a:p>
              <a:pPr eaLnBrk="1" hangingPunct="1">
                <a:spcBef>
                  <a:spcPct val="50000"/>
                </a:spcBef>
              </a:pPr>
              <a:endParaRPr lang="zh-CN" altLang="en-US" b="1" dirty="0">
                <a:solidFill>
                  <a:srgbClr val="0000FF"/>
                </a:solidFill>
                <a:ea typeface="楷体_GB2312" pitchFamily="49" charset="-122"/>
              </a:endParaRPr>
            </a:p>
            <a:p>
              <a:pPr eaLnBrk="1" hangingPunct="1">
                <a:spcBef>
                  <a:spcPct val="50000"/>
                </a:spcBef>
              </a:pPr>
              <a:r>
                <a:rPr lang="zh-CN" altLang="en-US" b="1" dirty="0">
                  <a:solidFill>
                    <a:srgbClr val="0000FF"/>
                  </a:solidFill>
                  <a:ea typeface="楷体_GB2312" pitchFamily="49" charset="-122"/>
                </a:rPr>
                <a:t>方案层</a:t>
              </a:r>
            </a:p>
          </p:txBody>
        </p:sp>
      </p:grpSp>
      <p:sp>
        <p:nvSpPr>
          <p:cNvPr id="120856" name="Text Box 24"/>
          <p:cNvSpPr txBox="1">
            <a:spLocks noChangeArrowheads="1"/>
          </p:cNvSpPr>
          <p:nvPr/>
        </p:nvSpPr>
        <p:spPr bwMode="auto">
          <a:xfrm>
            <a:off x="3719736" y="2420938"/>
            <a:ext cx="52562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0.129                  0.646                          0.215</a:t>
            </a:r>
          </a:p>
        </p:txBody>
      </p:sp>
      <p:graphicFrame>
        <p:nvGraphicFramePr>
          <p:cNvPr id="2" name="对象 1"/>
          <p:cNvGraphicFramePr>
            <a:graphicFrameLocks noChangeAspect="1"/>
          </p:cNvGraphicFramePr>
          <p:nvPr>
            <p:extLst>
              <p:ext uri="{D42A27DB-BD31-4B8C-83A1-F6EECF244321}">
                <p14:modId xmlns:p14="http://schemas.microsoft.com/office/powerpoint/2010/main" val="1740344442"/>
              </p:ext>
            </p:extLst>
          </p:nvPr>
        </p:nvGraphicFramePr>
        <p:xfrm>
          <a:off x="9481690" y="1045025"/>
          <a:ext cx="1870894" cy="1614326"/>
        </p:xfrm>
        <a:graphic>
          <a:graphicData uri="http://schemas.openxmlformats.org/presentationml/2006/ole">
            <mc:AlternateContent xmlns:mc="http://schemas.openxmlformats.org/markup-compatibility/2006">
              <mc:Choice xmlns:v="urn:schemas-microsoft-com:vml" Requires="v">
                <p:oleObj name="Equation" r:id="rId2" imgW="825480" imgH="711000" progId="Equation.DSMT4">
                  <p:embed/>
                </p:oleObj>
              </mc:Choice>
              <mc:Fallback>
                <p:oleObj name="Equation" r:id="rId2" imgW="825480" imgH="711000" progId="Equation.DSMT4">
                  <p:embed/>
                  <p:pic>
                    <p:nvPicPr>
                      <p:cNvPr id="2" name="对象 1"/>
                      <p:cNvPicPr>
                        <a:picLocks noChangeAspect="1" noChangeArrowheads="1"/>
                      </p:cNvPicPr>
                      <p:nvPr/>
                    </p:nvPicPr>
                    <p:blipFill>
                      <a:blip r:embed="rId3"/>
                      <a:srcRect/>
                      <a:stretch>
                        <a:fillRect/>
                      </a:stretch>
                    </p:blipFill>
                    <p:spPr bwMode="auto">
                      <a:xfrm>
                        <a:off x="9481690" y="1045025"/>
                        <a:ext cx="1870894" cy="1614326"/>
                      </a:xfrm>
                      <a:prstGeom prst="rect">
                        <a:avLst/>
                      </a:prstGeom>
                      <a:noFill/>
                      <a:ln>
                        <a:noFill/>
                      </a:ln>
                      <a:effectLst/>
                    </p:spPr>
                  </p:pic>
                </p:oleObj>
              </mc:Fallback>
            </mc:AlternateContent>
          </a:graphicData>
        </a:graphic>
      </p:graphicFrame>
      <p:sp>
        <p:nvSpPr>
          <p:cNvPr id="3" name="灯片编号占位符 2">
            <a:extLst>
              <a:ext uri="{FF2B5EF4-FFF2-40B4-BE49-F238E27FC236}">
                <a16:creationId xmlns:a16="http://schemas.microsoft.com/office/drawing/2014/main" id="{68A2E927-6C72-2787-85FB-C499AFEF9F64}"/>
              </a:ext>
            </a:extLst>
          </p:cNvPr>
          <p:cNvSpPr>
            <a:spLocks noGrp="1"/>
          </p:cNvSpPr>
          <p:nvPr>
            <p:ph type="sldNum" sz="quarter" idx="11"/>
          </p:nvPr>
        </p:nvSpPr>
        <p:spPr/>
        <p:txBody>
          <a:bodyPr/>
          <a:lstStyle/>
          <a:p>
            <a:pPr>
              <a:defRPr/>
            </a:pPr>
            <a:fld id="{EF14D0C4-B0EC-4578-B6E4-F9BC91400248}" type="slidenum">
              <a:rPr lang="en-US" altLang="zh-CN" smtClean="0"/>
              <a:pPr>
                <a:defRPr/>
              </a:pPr>
              <a:t>20</a:t>
            </a:fld>
            <a:endParaRPr lang="en-US" altLang="zh-CN"/>
          </a:p>
        </p:txBody>
      </p:sp>
    </p:spTree>
    <p:extLst>
      <p:ext uri="{BB962C8B-B14F-4D97-AF65-F5344CB8AC3E}">
        <p14:creationId xmlns:p14="http://schemas.microsoft.com/office/powerpoint/2010/main" val="1081519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0835">
                                            <p:txEl>
                                              <p:pRg st="5" end="5"/>
                                            </p:txEl>
                                          </p:spTgt>
                                        </p:tgtEl>
                                        <p:attrNameLst>
                                          <p:attrName>style.visibility</p:attrName>
                                        </p:attrNameLst>
                                      </p:cBhvr>
                                      <p:to>
                                        <p:strVal val="visible"/>
                                      </p:to>
                                    </p:set>
                                    <p:animEffect transition="in" filter="wipe(left)">
                                      <p:cBhvr>
                                        <p:cTn id="7" dur="500"/>
                                        <p:tgtEl>
                                          <p:spTgt spid="120835">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0835">
                                            <p:txEl>
                                              <p:pRg st="6" end="6"/>
                                            </p:txEl>
                                          </p:spTgt>
                                        </p:tgtEl>
                                        <p:attrNameLst>
                                          <p:attrName>style.visibility</p:attrName>
                                        </p:attrNameLst>
                                      </p:cBhvr>
                                      <p:to>
                                        <p:strVal val="visible"/>
                                      </p:to>
                                    </p:set>
                                    <p:animEffect transition="in" filter="wipe(left)">
                                      <p:cBhvr>
                                        <p:cTn id="12" dur="500"/>
                                        <p:tgtEl>
                                          <p:spTgt spid="120835">
                                            <p:txEl>
                                              <p:pRg st="6" end="6"/>
                                            </p:txEl>
                                          </p:spTgt>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0856"/>
                                        </p:tgtEl>
                                        <p:attrNameLst>
                                          <p:attrName>style.visibility</p:attrName>
                                        </p:attrNameLst>
                                      </p:cBhvr>
                                      <p:to>
                                        <p:strVal val="visible"/>
                                      </p:to>
                                    </p:set>
                                    <p:animEffect transition="in" filter="blinds(horizontal)">
                                      <p:cBhvr>
                                        <p:cTn id="21" dur="500"/>
                                        <p:tgtEl>
                                          <p:spTgt spid="1208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135188" y="115888"/>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21859" name="Rectangle 3"/>
          <p:cNvSpPr>
            <a:spLocks noGrp="1" noChangeArrowheads="1"/>
          </p:cNvSpPr>
          <p:nvPr>
            <p:ph type="body" sz="half" idx="1"/>
          </p:nvPr>
        </p:nvSpPr>
        <p:spPr>
          <a:xfrm>
            <a:off x="983432" y="1341439"/>
            <a:ext cx="10657184" cy="5183187"/>
          </a:xfrm>
        </p:spPr>
        <p:txBody>
          <a:bodyPr/>
          <a:lstStyle/>
          <a:p>
            <a:pPr eaLnBrk="1" hangingPunct="1"/>
            <a:r>
              <a:rPr lang="zh-CN" altLang="en-US" sz="2800" dirty="0">
                <a:solidFill>
                  <a:srgbClr val="FF0000"/>
                </a:solidFill>
                <a:ea typeface="黑体" pitchFamily="2" charset="-122"/>
              </a:rPr>
              <a:t>第三步：层次单排序及其一致性检验</a:t>
            </a:r>
          </a:p>
          <a:p>
            <a:pPr eaLnBrk="1" hangingPunct="1"/>
            <a:endParaRPr lang="zh-CN" altLang="en-US" sz="40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r>
              <a:rPr lang="zh-CN" altLang="en-US" sz="2400" b="1" dirty="0">
                <a:ea typeface="楷体_GB2312" pitchFamily="49" charset="-122"/>
              </a:rPr>
              <a:t>方案层中，</a:t>
            </a:r>
          </a:p>
          <a:p>
            <a:pPr lvl="1" eaLnBrk="1" hangingPunct="1">
              <a:lnSpc>
                <a:spcPct val="95000"/>
              </a:lnSpc>
            </a:pPr>
            <a:r>
              <a:rPr lang="zh-CN" altLang="en-US" sz="2400" b="1" dirty="0">
                <a:ea typeface="楷体_GB2312" pitchFamily="49" charset="-122"/>
              </a:rPr>
              <a:t> </a:t>
            </a:r>
            <a:r>
              <a:rPr lang="en-US" altLang="zh-CN" sz="2400" b="1" dirty="0">
                <a:ea typeface="楷体_GB2312" pitchFamily="49" charset="-122"/>
              </a:rPr>
              <a:t>P</a:t>
            </a:r>
            <a:r>
              <a:rPr lang="en-US" altLang="zh-CN" sz="2400" b="1" baseline="-25000" dirty="0">
                <a:ea typeface="楷体_GB2312" pitchFamily="49" charset="-122"/>
              </a:rPr>
              <a:t>1</a:t>
            </a:r>
            <a:r>
              <a:rPr lang="en-US" altLang="zh-CN" sz="2400" b="1" dirty="0">
                <a:ea typeface="楷体_GB2312" pitchFamily="49" charset="-122"/>
              </a:rPr>
              <a:t>,P</a:t>
            </a:r>
            <a:r>
              <a:rPr lang="en-US" altLang="zh-CN" sz="2400" b="1" baseline="-25000" dirty="0">
                <a:ea typeface="楷体_GB2312" pitchFamily="49" charset="-122"/>
              </a:rPr>
              <a:t>2</a:t>
            </a:r>
            <a:r>
              <a:rPr lang="zh-CN" altLang="en-US" sz="2400" b="1" dirty="0">
                <a:ea typeface="楷体_GB2312" pitchFamily="49" charset="-122"/>
              </a:rPr>
              <a:t>相对于</a:t>
            </a:r>
            <a:r>
              <a:rPr lang="en-US" altLang="zh-CN" sz="2400" b="1" dirty="0">
                <a:ea typeface="楷体_GB2312" pitchFamily="49" charset="-122"/>
              </a:rPr>
              <a:t>C</a:t>
            </a:r>
            <a:r>
              <a:rPr lang="en-US" altLang="zh-CN" sz="2400" b="1" baseline="-25000" dirty="0">
                <a:ea typeface="楷体_GB2312" pitchFamily="49" charset="-122"/>
              </a:rPr>
              <a:t>1</a:t>
            </a:r>
            <a:r>
              <a:rPr lang="en-US" altLang="zh-CN" sz="2400" b="1" dirty="0">
                <a:ea typeface="楷体_GB2312" pitchFamily="49" charset="-122"/>
              </a:rPr>
              <a:t>,</a:t>
            </a:r>
            <a:r>
              <a:rPr lang="zh-CN" altLang="en-US" sz="2400" b="1" dirty="0">
                <a:ea typeface="楷体_GB2312" pitchFamily="49" charset="-122"/>
              </a:rPr>
              <a:t>的重要性</a:t>
            </a:r>
            <a:r>
              <a:rPr lang="zh-CN" altLang="en-US" sz="2400" b="1" dirty="0">
                <a:solidFill>
                  <a:srgbClr val="0000FF"/>
                </a:solidFill>
                <a:ea typeface="楷体_GB2312" pitchFamily="49" charset="-122"/>
              </a:rPr>
              <a:t>判断矩阵为</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a:t>
            </a:r>
          </a:p>
          <a:p>
            <a:pPr lvl="1" eaLnBrk="1" hangingPunct="1">
              <a:lnSpc>
                <a:spcPct val="95000"/>
              </a:lnSpc>
            </a:pPr>
            <a:r>
              <a:rPr lang="en-US" altLang="zh-CN" sz="2400" b="1" dirty="0">
                <a:solidFill>
                  <a:srgbClr val="FF0000"/>
                </a:solidFill>
                <a:ea typeface="楷体_GB2312" pitchFamily="49" charset="-122"/>
              </a:rPr>
              <a:t>B</a:t>
            </a:r>
            <a:r>
              <a:rPr lang="en-US" altLang="zh-CN" sz="2400" b="1" baseline="-25000" dirty="0">
                <a:solidFill>
                  <a:srgbClr val="FF0000"/>
                </a:solidFill>
                <a:ea typeface="楷体_GB2312" pitchFamily="49" charset="-122"/>
              </a:rPr>
              <a:t>1</a:t>
            </a:r>
            <a:r>
              <a:rPr lang="zh-CN" altLang="en-US" sz="2400" b="1" dirty="0">
                <a:solidFill>
                  <a:srgbClr val="FF0000"/>
                </a:solidFill>
                <a:ea typeface="楷体_GB2312" pitchFamily="49" charset="-122"/>
              </a:rPr>
              <a:t>的最大特征值</a:t>
            </a:r>
            <a:r>
              <a:rPr lang="el-GR" altLang="zh-CN" sz="2400" b="1" dirty="0">
                <a:solidFill>
                  <a:srgbClr val="FF0000"/>
                </a:solidFill>
                <a:ea typeface="楷体_GB2312" pitchFamily="49" charset="-122"/>
              </a:rPr>
              <a:t>λ</a:t>
            </a:r>
            <a:r>
              <a:rPr lang="en-US" altLang="zh-CN" sz="2400" b="1" baseline="-25000" dirty="0">
                <a:solidFill>
                  <a:srgbClr val="FF0000"/>
                </a:solidFill>
                <a:ea typeface="楷体_GB2312" pitchFamily="49" charset="-122"/>
              </a:rPr>
              <a:t>max</a:t>
            </a:r>
            <a:r>
              <a:rPr lang="en-US" altLang="zh-CN" sz="2400" dirty="0">
                <a:solidFill>
                  <a:srgbClr val="FF0000"/>
                </a:solidFill>
                <a:ea typeface="黑体" pitchFamily="2" charset="-122"/>
              </a:rPr>
              <a:t>=2</a:t>
            </a:r>
          </a:p>
          <a:p>
            <a:pPr lvl="1" eaLnBrk="1" hangingPunct="1">
              <a:lnSpc>
                <a:spcPct val="95000"/>
              </a:lnSpc>
            </a:pPr>
            <a:r>
              <a:rPr lang="zh-CN" altLang="en-US" sz="2400" b="1" dirty="0">
                <a:solidFill>
                  <a:srgbClr val="008000"/>
                </a:solidFill>
                <a:ea typeface="楷体_GB2312" pitchFamily="49" charset="-122"/>
              </a:rPr>
              <a:t>相应的特征向量</a:t>
            </a:r>
            <a:r>
              <a:rPr lang="en-US" altLang="zh-CN" sz="2400" b="1" dirty="0">
                <a:solidFill>
                  <a:srgbClr val="008000"/>
                </a:solidFill>
                <a:ea typeface="楷体_GB2312" pitchFamily="49" charset="-122"/>
              </a:rPr>
              <a:t>W=(0.75, 0.25)</a:t>
            </a:r>
            <a:r>
              <a:rPr lang="en-US" altLang="zh-CN" sz="2400" b="1" baseline="30000" dirty="0">
                <a:solidFill>
                  <a:srgbClr val="008000"/>
                </a:solidFill>
                <a:ea typeface="楷体_GB2312" pitchFamily="49" charset="-122"/>
              </a:rPr>
              <a:t>T</a:t>
            </a:r>
          </a:p>
          <a:p>
            <a:pPr lvl="1" eaLnBrk="1" hangingPunct="1">
              <a:lnSpc>
                <a:spcPct val="95000"/>
              </a:lnSpc>
            </a:pPr>
            <a:r>
              <a:rPr lang="en-US" altLang="zh-CN" sz="2400" dirty="0">
                <a:solidFill>
                  <a:srgbClr val="FF0000"/>
                </a:solidFill>
                <a:ea typeface="黑体" pitchFamily="2" charset="-122"/>
              </a:rPr>
              <a:t>C</a:t>
            </a:r>
            <a:r>
              <a:rPr lang="en-US" altLang="zh-CN" sz="2400" b="1" baseline="-25000" dirty="0">
                <a:solidFill>
                  <a:srgbClr val="FF0000"/>
                </a:solidFill>
                <a:ea typeface="楷体_GB2312" pitchFamily="49" charset="-122"/>
              </a:rPr>
              <a:t>1</a:t>
            </a:r>
            <a:r>
              <a:rPr lang="en-US" altLang="zh-CN" sz="2400" dirty="0">
                <a:solidFill>
                  <a:srgbClr val="FF0000"/>
                </a:solidFill>
                <a:ea typeface="黑体" pitchFamily="2" charset="-122"/>
              </a:rPr>
              <a:t>=0, </a:t>
            </a:r>
            <a:r>
              <a:rPr lang="en-US" altLang="zh-CN" sz="2400" b="1" dirty="0">
                <a:solidFill>
                  <a:srgbClr val="0000FF"/>
                </a:solidFill>
                <a:ea typeface="楷体_GB2312" pitchFamily="49" charset="-122"/>
              </a:rPr>
              <a:t>C</a:t>
            </a:r>
            <a:r>
              <a:rPr lang="en-US" altLang="zh-CN" sz="2400" b="1" baseline="-25000" dirty="0">
                <a:solidFill>
                  <a:srgbClr val="0000FF"/>
                </a:solidFill>
                <a:ea typeface="楷体_GB2312" pitchFamily="49" charset="-122"/>
              </a:rPr>
              <a:t>R </a:t>
            </a:r>
            <a:r>
              <a:rPr lang="en-US" altLang="zh-CN" sz="2400" b="1" dirty="0">
                <a:solidFill>
                  <a:srgbClr val="0000FF"/>
                </a:solidFill>
                <a:ea typeface="楷体_GB2312" pitchFamily="49" charset="-122"/>
              </a:rPr>
              <a:t>=C</a:t>
            </a:r>
            <a:r>
              <a:rPr lang="en-US" altLang="zh-CN" sz="2400" b="1" baseline="-25000" dirty="0">
                <a:solidFill>
                  <a:srgbClr val="0000FF"/>
                </a:solidFill>
                <a:ea typeface="楷体_GB2312" pitchFamily="49" charset="-122"/>
              </a:rPr>
              <a:t>1</a:t>
            </a:r>
            <a:r>
              <a:rPr lang="en-US" altLang="zh-CN" sz="2400" b="1" dirty="0">
                <a:solidFill>
                  <a:srgbClr val="0000FF"/>
                </a:solidFill>
                <a:ea typeface="楷体_GB2312" pitchFamily="49" charset="-122"/>
              </a:rPr>
              <a:t>/R=0&lt;0.1</a:t>
            </a:r>
            <a:r>
              <a:rPr lang="zh-CN" altLang="en-US" sz="2400" b="1" dirty="0">
                <a:solidFill>
                  <a:srgbClr val="0000FF"/>
                </a:solidFill>
                <a:ea typeface="楷体_GB2312" pitchFamily="49" charset="-122"/>
              </a:rPr>
              <a:t>，</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1</a:t>
            </a:r>
            <a:r>
              <a:rPr lang="zh-CN" altLang="en-US" sz="2400" b="1" dirty="0">
                <a:solidFill>
                  <a:srgbClr val="0000FF"/>
                </a:solidFill>
                <a:ea typeface="楷体_GB2312" pitchFamily="49" charset="-122"/>
              </a:rPr>
              <a:t>不用调整</a:t>
            </a:r>
          </a:p>
          <a:p>
            <a:pPr lvl="1" eaLnBrk="1" hangingPunct="1">
              <a:lnSpc>
                <a:spcPct val="95000"/>
              </a:lnSpc>
            </a:pPr>
            <a:r>
              <a:rPr lang="zh-CN" altLang="en-US" sz="2400" b="1" dirty="0">
                <a:ea typeface="楷体_GB2312" pitchFamily="49" charset="-122"/>
              </a:rPr>
              <a:t>即</a:t>
            </a:r>
            <a:r>
              <a:rPr lang="zh-CN" altLang="en-US" sz="2400" b="1" u="sng" dirty="0">
                <a:ea typeface="楷体_GB2312" pitchFamily="49" charset="-122"/>
              </a:rPr>
              <a:t>发奖金给职工</a:t>
            </a:r>
            <a:r>
              <a:rPr lang="zh-CN" altLang="en-US" sz="2400" b="1" dirty="0">
                <a:ea typeface="楷体_GB2312" pitchFamily="49" charset="-122"/>
              </a:rPr>
              <a:t>、</a:t>
            </a:r>
            <a:r>
              <a:rPr lang="zh-CN" altLang="en-US" sz="2400" b="1" u="sng" dirty="0">
                <a:ea typeface="楷体_GB2312" pitchFamily="49" charset="-122"/>
              </a:rPr>
              <a:t>扩建集体福利设施</a:t>
            </a:r>
            <a:r>
              <a:rPr lang="zh-CN" altLang="en-US" sz="2400" b="1" dirty="0">
                <a:ea typeface="楷体_GB2312" pitchFamily="49" charset="-122"/>
              </a:rPr>
              <a:t>、</a:t>
            </a:r>
            <a:r>
              <a:rPr lang="zh-CN" altLang="en-US" sz="2400" b="1" u="sng" dirty="0">
                <a:ea typeface="楷体_GB2312" pitchFamily="49" charset="-122"/>
              </a:rPr>
              <a:t>引进新技术新设备</a:t>
            </a:r>
            <a:r>
              <a:rPr lang="zh-CN" altLang="en-US" sz="2400" b="1" dirty="0">
                <a:ea typeface="楷体_GB2312" pitchFamily="49" charset="-122"/>
              </a:rPr>
              <a:t>关于</a:t>
            </a:r>
            <a:r>
              <a:rPr lang="zh-CN" altLang="en-US" sz="2400" b="1" u="sng" dirty="0">
                <a:solidFill>
                  <a:srgbClr val="CC0099"/>
                </a:solidFill>
                <a:ea typeface="楷体_GB2312" pitchFamily="49" charset="-122"/>
              </a:rPr>
              <a:t>调动职工积极性</a:t>
            </a:r>
            <a:r>
              <a:rPr lang="zh-CN" altLang="en-US" sz="2400" b="1" dirty="0">
                <a:ea typeface="楷体_GB2312" pitchFamily="49" charset="-122"/>
              </a:rPr>
              <a:t>的权重为</a:t>
            </a:r>
            <a:r>
              <a:rPr lang="zh-CN" altLang="en-US" sz="2400" b="1" dirty="0">
                <a:solidFill>
                  <a:srgbClr val="0000FF"/>
                </a:solidFill>
                <a:ea typeface="楷体_GB2312" pitchFamily="49" charset="-122"/>
              </a:rPr>
              <a:t>： </a:t>
            </a:r>
            <a:r>
              <a:rPr lang="en-US" altLang="zh-CN" sz="2400" b="1" dirty="0">
                <a:solidFill>
                  <a:srgbClr val="FF0000"/>
                </a:solidFill>
                <a:ea typeface="楷体_GB2312" pitchFamily="49" charset="-122"/>
              </a:rPr>
              <a:t>(0.75, 0.25, 0)</a:t>
            </a:r>
          </a:p>
        </p:txBody>
      </p:sp>
      <p:grpSp>
        <p:nvGrpSpPr>
          <p:cNvPr id="58372" name="Group 4"/>
          <p:cNvGrpSpPr>
            <a:grpSpLocks/>
          </p:cNvGrpSpPr>
          <p:nvPr/>
        </p:nvGrpSpPr>
        <p:grpSpPr bwMode="auto">
          <a:xfrm>
            <a:off x="1774826" y="1916832"/>
            <a:ext cx="7921625" cy="2011363"/>
            <a:chOff x="158" y="1276"/>
            <a:chExt cx="4990" cy="1267"/>
          </a:xfrm>
        </p:grpSpPr>
        <p:sp>
          <p:nvSpPr>
            <p:cNvPr id="58376" name="Text Box 5"/>
            <p:cNvSpPr txBox="1">
              <a:spLocks noChangeArrowheads="1"/>
            </p:cNvSpPr>
            <p:nvPr/>
          </p:nvSpPr>
          <p:spPr bwMode="auto">
            <a:xfrm>
              <a:off x="2154" y="1276"/>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a:ea typeface="楷体_GB2312" pitchFamily="49" charset="-122"/>
                </a:rPr>
                <a:t>合理使用企业利润</a:t>
              </a:r>
              <a:r>
                <a:rPr lang="en-US" altLang="zh-CN" b="1">
                  <a:ea typeface="楷体_GB2312" pitchFamily="49" charset="-122"/>
                </a:rPr>
                <a:t>G</a:t>
              </a:r>
            </a:p>
          </p:txBody>
        </p:sp>
        <p:sp>
          <p:nvSpPr>
            <p:cNvPr id="58377"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58378"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提高企业技术水平</a:t>
              </a:r>
              <a:r>
                <a:rPr lang="en-US" altLang="zh-CN" sz="1600" b="1">
                  <a:ea typeface="楷体_GB2312" pitchFamily="49" charset="-122"/>
                </a:rPr>
                <a:t>C</a:t>
              </a:r>
              <a:r>
                <a:rPr lang="en-US" altLang="zh-CN" sz="1600" b="1" baseline="-25000">
                  <a:ea typeface="楷体_GB2312" pitchFamily="49" charset="-122"/>
                </a:rPr>
                <a:t>2</a:t>
              </a:r>
            </a:p>
          </p:txBody>
        </p:sp>
        <p:sp>
          <p:nvSpPr>
            <p:cNvPr id="58379"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dirty="0">
                  <a:ea typeface="楷体_GB2312" pitchFamily="49" charset="-122"/>
                </a:rPr>
                <a:t>改善职工生活条件</a:t>
              </a:r>
              <a:r>
                <a:rPr lang="en-US" altLang="zh-CN" sz="1600" b="1" dirty="0">
                  <a:ea typeface="楷体_GB2312" pitchFamily="49" charset="-122"/>
                </a:rPr>
                <a:t>C</a:t>
              </a:r>
              <a:r>
                <a:rPr lang="en-US" altLang="zh-CN" sz="1600" b="1" baseline="-25000" dirty="0">
                  <a:ea typeface="楷体_GB2312" pitchFamily="49" charset="-122"/>
                </a:rPr>
                <a:t>3</a:t>
              </a:r>
            </a:p>
          </p:txBody>
        </p:sp>
        <p:sp>
          <p:nvSpPr>
            <p:cNvPr id="58380"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发奖金给职工</a:t>
              </a:r>
              <a:r>
                <a:rPr lang="en-US" altLang="zh-CN" sz="1600" b="1">
                  <a:ea typeface="楷体_GB2312" pitchFamily="49" charset="-122"/>
                </a:rPr>
                <a:t>P</a:t>
              </a:r>
              <a:r>
                <a:rPr lang="en-US" altLang="zh-CN" sz="1600" b="1" baseline="-25000">
                  <a:ea typeface="楷体_GB2312" pitchFamily="49" charset="-122"/>
                </a:rPr>
                <a:t>1</a:t>
              </a:r>
            </a:p>
          </p:txBody>
        </p:sp>
        <p:sp>
          <p:nvSpPr>
            <p:cNvPr id="58381"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58382"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58383"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4"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5"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6"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7"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8" name="Line 17"/>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9" name="Line 18"/>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0" name="Line 19"/>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1" name="Line 20"/>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2" name="Text Box 21"/>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a:solidFill>
                    <a:srgbClr val="0000FF"/>
                  </a:solidFill>
                  <a:ea typeface="楷体_GB2312" pitchFamily="49" charset="-122"/>
                </a:rPr>
                <a:t>目标层</a:t>
              </a:r>
            </a:p>
            <a:p>
              <a:pPr eaLnBrk="1" hangingPunct="1">
                <a:spcBef>
                  <a:spcPct val="50000"/>
                </a:spcBef>
              </a:pPr>
              <a:endParaRPr lang="zh-CN" altLang="en-US" sz="1200"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准则层</a:t>
              </a:r>
            </a:p>
            <a:p>
              <a:pPr eaLnBrk="1" hangingPunct="1">
                <a:spcBef>
                  <a:spcPct val="50000"/>
                </a:spcBef>
              </a:pPr>
              <a:endParaRPr lang="zh-CN" altLang="en-US"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方案层</a:t>
              </a:r>
            </a:p>
          </p:txBody>
        </p:sp>
      </p:grpSp>
      <p:graphicFrame>
        <p:nvGraphicFramePr>
          <p:cNvPr id="121878" name="Object 22"/>
          <p:cNvGraphicFramePr>
            <a:graphicFrameLocks noGrp="1" noChangeAspect="1"/>
          </p:cNvGraphicFramePr>
          <p:nvPr>
            <p:ph sz="half" idx="2"/>
          </p:nvPr>
        </p:nvGraphicFramePr>
        <p:xfrm>
          <a:off x="7680326" y="4365625"/>
          <a:ext cx="2016125" cy="1022350"/>
        </p:xfrm>
        <a:graphic>
          <a:graphicData uri="http://schemas.openxmlformats.org/presentationml/2006/ole">
            <mc:AlternateContent xmlns:mc="http://schemas.openxmlformats.org/markup-compatibility/2006">
              <mc:Choice xmlns:v="urn:schemas-microsoft-com:vml" Requires="v">
                <p:oleObj name="公式" r:id="rId2" imgW="901700" imgH="457200" progId="Equation.3">
                  <p:embed/>
                </p:oleObj>
              </mc:Choice>
              <mc:Fallback>
                <p:oleObj name="公式" r:id="rId2" imgW="901700" imgH="457200" progId="Equation.3">
                  <p:embed/>
                  <p:pic>
                    <p:nvPicPr>
                      <p:cNvPr id="121878"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326" y="4365625"/>
                        <a:ext cx="2016125"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80" name="Text Box 24"/>
          <p:cNvSpPr txBox="1">
            <a:spLocks noChangeArrowheads="1"/>
          </p:cNvSpPr>
          <p:nvPr/>
        </p:nvSpPr>
        <p:spPr bwMode="auto">
          <a:xfrm>
            <a:off x="3000375" y="3104281"/>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0.75     0.25</a:t>
            </a:r>
          </a:p>
        </p:txBody>
      </p:sp>
      <p:sp>
        <p:nvSpPr>
          <p:cNvPr id="58375" name="Text Box 25"/>
          <p:cNvSpPr txBox="1">
            <a:spLocks noChangeArrowheads="1"/>
          </p:cNvSpPr>
          <p:nvPr/>
        </p:nvSpPr>
        <p:spPr bwMode="auto">
          <a:xfrm>
            <a:off x="3719736" y="2312118"/>
            <a:ext cx="52562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0.129                  0.646                          0.215</a:t>
            </a:r>
          </a:p>
        </p:txBody>
      </p:sp>
      <p:sp>
        <p:nvSpPr>
          <p:cNvPr id="2" name="灯片编号占位符 1">
            <a:extLst>
              <a:ext uri="{FF2B5EF4-FFF2-40B4-BE49-F238E27FC236}">
                <a16:creationId xmlns:a16="http://schemas.microsoft.com/office/drawing/2014/main" id="{6C53B534-BC2D-1770-425D-B58D9BB18771}"/>
              </a:ext>
            </a:extLst>
          </p:cNvPr>
          <p:cNvSpPr>
            <a:spLocks noGrp="1"/>
          </p:cNvSpPr>
          <p:nvPr>
            <p:ph type="sldNum" sz="quarter" idx="11"/>
          </p:nvPr>
        </p:nvSpPr>
        <p:spPr/>
        <p:txBody>
          <a:bodyPr/>
          <a:lstStyle/>
          <a:p>
            <a:pPr>
              <a:defRPr/>
            </a:pPr>
            <a:fld id="{EF14D0C4-B0EC-4578-B6E4-F9BC91400248}" type="slidenum">
              <a:rPr lang="en-US" altLang="zh-CN" smtClean="0"/>
              <a:pPr>
                <a:defRPr/>
              </a:pPr>
              <a:t>21</a:t>
            </a:fld>
            <a:endParaRPr lang="en-US" altLang="zh-CN"/>
          </a:p>
        </p:txBody>
      </p:sp>
    </p:spTree>
    <p:extLst>
      <p:ext uri="{BB962C8B-B14F-4D97-AF65-F5344CB8AC3E}">
        <p14:creationId xmlns:p14="http://schemas.microsoft.com/office/powerpoint/2010/main" val="1678388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859">
                                            <p:txEl>
                                              <p:pRg st="4" end="4"/>
                                            </p:txEl>
                                          </p:spTgt>
                                        </p:tgtEl>
                                        <p:attrNameLst>
                                          <p:attrName>style.visibility</p:attrName>
                                        </p:attrNameLst>
                                      </p:cBhvr>
                                      <p:to>
                                        <p:strVal val="visible"/>
                                      </p:to>
                                    </p:set>
                                    <p:animEffect transition="in" filter="wipe(left)">
                                      <p:cBhvr>
                                        <p:cTn id="7" dur="500"/>
                                        <p:tgtEl>
                                          <p:spTgt spid="121859">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1859">
                                            <p:txEl>
                                              <p:pRg st="5" end="5"/>
                                            </p:txEl>
                                          </p:spTgt>
                                        </p:tgtEl>
                                        <p:attrNameLst>
                                          <p:attrName>style.visibility</p:attrName>
                                        </p:attrNameLst>
                                      </p:cBhvr>
                                      <p:to>
                                        <p:strVal val="visible"/>
                                      </p:to>
                                    </p:set>
                                    <p:animEffect transition="in" filter="wipe(left)">
                                      <p:cBhvr>
                                        <p:cTn id="12" dur="500"/>
                                        <p:tgtEl>
                                          <p:spTgt spid="121859">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21878"/>
                                        </p:tgtEl>
                                        <p:attrNameLst>
                                          <p:attrName>style.visibility</p:attrName>
                                        </p:attrNameLst>
                                      </p:cBhvr>
                                      <p:to>
                                        <p:strVal val="visible"/>
                                      </p:to>
                                    </p:set>
                                    <p:anim calcmode="lin" valueType="num">
                                      <p:cBhvr additive="base">
                                        <p:cTn id="17" dur="500" fill="hold"/>
                                        <p:tgtEl>
                                          <p:spTgt spid="121878"/>
                                        </p:tgtEl>
                                        <p:attrNameLst>
                                          <p:attrName>ppt_x</p:attrName>
                                        </p:attrNameLst>
                                      </p:cBhvr>
                                      <p:tavLst>
                                        <p:tav tm="0">
                                          <p:val>
                                            <p:strVal val="#ppt_x"/>
                                          </p:val>
                                        </p:tav>
                                        <p:tav tm="100000">
                                          <p:val>
                                            <p:strVal val="#ppt_x"/>
                                          </p:val>
                                        </p:tav>
                                      </p:tavLst>
                                    </p:anim>
                                    <p:anim calcmode="lin" valueType="num">
                                      <p:cBhvr additive="base">
                                        <p:cTn id="18" dur="500" fill="hold"/>
                                        <p:tgtEl>
                                          <p:spTgt spid="121878"/>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1859">
                                            <p:txEl>
                                              <p:pRg st="6" end="6"/>
                                            </p:txEl>
                                          </p:spTgt>
                                        </p:tgtEl>
                                        <p:attrNameLst>
                                          <p:attrName>style.visibility</p:attrName>
                                        </p:attrNameLst>
                                      </p:cBhvr>
                                      <p:to>
                                        <p:strVal val="visible"/>
                                      </p:to>
                                    </p:set>
                                    <p:animEffect transition="in" filter="wipe(left)">
                                      <p:cBhvr>
                                        <p:cTn id="23" dur="500"/>
                                        <p:tgtEl>
                                          <p:spTgt spid="121859">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1859">
                                            <p:txEl>
                                              <p:pRg st="7" end="7"/>
                                            </p:txEl>
                                          </p:spTgt>
                                        </p:tgtEl>
                                        <p:attrNameLst>
                                          <p:attrName>style.visibility</p:attrName>
                                        </p:attrNameLst>
                                      </p:cBhvr>
                                      <p:to>
                                        <p:strVal val="visible"/>
                                      </p:to>
                                    </p:set>
                                    <p:animEffect transition="in" filter="wipe(left)">
                                      <p:cBhvr>
                                        <p:cTn id="28" dur="500"/>
                                        <p:tgtEl>
                                          <p:spTgt spid="121859">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1859">
                                            <p:txEl>
                                              <p:pRg st="8" end="8"/>
                                            </p:txEl>
                                          </p:spTgt>
                                        </p:tgtEl>
                                        <p:attrNameLst>
                                          <p:attrName>style.visibility</p:attrName>
                                        </p:attrNameLst>
                                      </p:cBhvr>
                                      <p:to>
                                        <p:strVal val="visible"/>
                                      </p:to>
                                    </p:set>
                                    <p:animEffect transition="in" filter="wipe(left)">
                                      <p:cBhvr>
                                        <p:cTn id="33" dur="500"/>
                                        <p:tgtEl>
                                          <p:spTgt spid="121859">
                                            <p:txEl>
                                              <p:pRg st="8" end="8"/>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1859">
                                            <p:txEl>
                                              <p:pRg st="9" end="9"/>
                                            </p:txEl>
                                          </p:spTgt>
                                        </p:tgtEl>
                                        <p:attrNameLst>
                                          <p:attrName>style.visibility</p:attrName>
                                        </p:attrNameLst>
                                      </p:cBhvr>
                                      <p:to>
                                        <p:strVal val="visible"/>
                                      </p:to>
                                    </p:set>
                                    <p:animEffect transition="in" filter="wipe(left)">
                                      <p:cBhvr>
                                        <p:cTn id="38" dur="500"/>
                                        <p:tgtEl>
                                          <p:spTgt spid="121859">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1880"/>
                                        </p:tgtEl>
                                        <p:attrNameLst>
                                          <p:attrName>style.visibility</p:attrName>
                                        </p:attrNameLst>
                                      </p:cBhvr>
                                      <p:to>
                                        <p:strVal val="visible"/>
                                      </p:to>
                                    </p:set>
                                    <p:animEffect transition="in" filter="blinds(horizontal)">
                                      <p:cBhvr>
                                        <p:cTn id="43" dur="500"/>
                                        <p:tgtEl>
                                          <p:spTgt spid="121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P spid="12188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135188" y="115888"/>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22883" name="Rectangle 3"/>
          <p:cNvSpPr>
            <a:spLocks noGrp="1" noChangeArrowheads="1"/>
          </p:cNvSpPr>
          <p:nvPr>
            <p:ph type="body" sz="half" idx="1"/>
          </p:nvPr>
        </p:nvSpPr>
        <p:spPr>
          <a:xfrm>
            <a:off x="983432" y="1268760"/>
            <a:ext cx="10801200" cy="5183187"/>
          </a:xfrm>
        </p:spPr>
        <p:txBody>
          <a:bodyPr/>
          <a:lstStyle/>
          <a:p>
            <a:pPr eaLnBrk="1" hangingPunct="1"/>
            <a:r>
              <a:rPr lang="zh-CN" altLang="en-US" sz="2800" dirty="0">
                <a:solidFill>
                  <a:srgbClr val="FF0000"/>
                </a:solidFill>
                <a:ea typeface="黑体" pitchFamily="2" charset="-122"/>
              </a:rPr>
              <a:t>第三步：层次单排序及其一致性检验</a:t>
            </a:r>
          </a:p>
          <a:p>
            <a:pPr eaLnBrk="1" hangingPunct="1"/>
            <a:endParaRPr lang="zh-CN" altLang="en-US" sz="4000" dirty="0">
              <a:solidFill>
                <a:srgbClr val="FF0000"/>
              </a:solidFill>
              <a:ea typeface="黑体" pitchFamily="2" charset="-122"/>
            </a:endParaRPr>
          </a:p>
          <a:p>
            <a:pPr eaLnBrk="1" hangingPunct="1"/>
            <a:endParaRPr lang="zh-CN" altLang="en-US" sz="4400" dirty="0">
              <a:solidFill>
                <a:srgbClr val="FF0000"/>
              </a:solidFill>
              <a:ea typeface="黑体" pitchFamily="2" charset="-122"/>
            </a:endParaRPr>
          </a:p>
          <a:p>
            <a:pPr eaLnBrk="1" hangingPunct="1"/>
            <a:endParaRPr lang="zh-CN" altLang="en-US" sz="2800" dirty="0">
              <a:solidFill>
                <a:srgbClr val="FF0000"/>
              </a:solidFill>
              <a:ea typeface="黑体" pitchFamily="2" charset="-122"/>
            </a:endParaRPr>
          </a:p>
          <a:p>
            <a:pPr eaLnBrk="1" hangingPunct="1"/>
            <a:r>
              <a:rPr lang="zh-CN" altLang="en-US" sz="2400" b="1" dirty="0">
                <a:ea typeface="楷体_GB2312" pitchFamily="49" charset="-122"/>
              </a:rPr>
              <a:t>方案层中，</a:t>
            </a:r>
          </a:p>
          <a:p>
            <a:pPr lvl="1" eaLnBrk="1" hangingPunct="1"/>
            <a:r>
              <a:rPr lang="zh-CN" altLang="en-US" sz="2000" b="1" dirty="0">
                <a:ea typeface="楷体_GB2312" pitchFamily="49" charset="-122"/>
              </a:rPr>
              <a:t> </a:t>
            </a:r>
            <a:r>
              <a:rPr lang="en-US" altLang="zh-CN" sz="2400" b="1" dirty="0">
                <a:ea typeface="楷体_GB2312" pitchFamily="49" charset="-122"/>
              </a:rPr>
              <a:t>P</a:t>
            </a:r>
            <a:r>
              <a:rPr lang="en-US" altLang="zh-CN" sz="2400" b="1" baseline="-25000" dirty="0">
                <a:ea typeface="楷体_GB2312" pitchFamily="49" charset="-122"/>
              </a:rPr>
              <a:t>2</a:t>
            </a:r>
            <a:r>
              <a:rPr lang="en-US" altLang="zh-CN" sz="2400" b="1" dirty="0">
                <a:ea typeface="楷体_GB2312" pitchFamily="49" charset="-122"/>
              </a:rPr>
              <a:t>,P</a:t>
            </a:r>
            <a:r>
              <a:rPr lang="en-US" altLang="zh-CN" sz="2400" b="1" baseline="-25000" dirty="0">
                <a:ea typeface="楷体_GB2312" pitchFamily="49" charset="-122"/>
              </a:rPr>
              <a:t>3</a:t>
            </a:r>
            <a:r>
              <a:rPr lang="zh-CN" altLang="en-US" sz="2400" b="1" dirty="0">
                <a:ea typeface="楷体_GB2312" pitchFamily="49" charset="-122"/>
              </a:rPr>
              <a:t>相对于</a:t>
            </a:r>
            <a:r>
              <a:rPr lang="en-US" altLang="zh-CN" sz="2400" b="1" dirty="0">
                <a:ea typeface="楷体_GB2312" pitchFamily="49" charset="-122"/>
              </a:rPr>
              <a:t>C</a:t>
            </a:r>
            <a:r>
              <a:rPr lang="en-US" altLang="zh-CN" sz="2400" b="1" baseline="-25000" dirty="0">
                <a:ea typeface="楷体_GB2312" pitchFamily="49" charset="-122"/>
              </a:rPr>
              <a:t>2</a:t>
            </a:r>
            <a:r>
              <a:rPr lang="en-US" altLang="zh-CN" sz="2400" b="1" dirty="0">
                <a:ea typeface="楷体_GB2312" pitchFamily="49" charset="-122"/>
              </a:rPr>
              <a:t>,</a:t>
            </a:r>
            <a:r>
              <a:rPr lang="zh-CN" altLang="en-US" sz="2400" b="1" dirty="0">
                <a:ea typeface="楷体_GB2312" pitchFamily="49" charset="-122"/>
              </a:rPr>
              <a:t>的重要性</a:t>
            </a:r>
            <a:r>
              <a:rPr lang="zh-CN" altLang="en-US" sz="2400" b="1" dirty="0">
                <a:solidFill>
                  <a:srgbClr val="0000FF"/>
                </a:solidFill>
                <a:ea typeface="楷体_GB2312" pitchFamily="49" charset="-122"/>
              </a:rPr>
              <a:t>判断矩阵为</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a:t>
            </a:r>
          </a:p>
          <a:p>
            <a:pPr lvl="1" eaLnBrk="1" hangingPunct="1"/>
            <a:r>
              <a:rPr lang="en-US" altLang="zh-CN" sz="2400" b="1" dirty="0">
                <a:solidFill>
                  <a:srgbClr val="FF0000"/>
                </a:solidFill>
                <a:ea typeface="楷体_GB2312" pitchFamily="49" charset="-122"/>
              </a:rPr>
              <a:t>B</a:t>
            </a:r>
            <a:r>
              <a:rPr lang="en-US" altLang="zh-CN" sz="2400" b="1" baseline="-25000" dirty="0">
                <a:solidFill>
                  <a:srgbClr val="FF0000"/>
                </a:solidFill>
                <a:ea typeface="楷体_GB2312" pitchFamily="49" charset="-122"/>
              </a:rPr>
              <a:t>2</a:t>
            </a:r>
            <a:r>
              <a:rPr lang="zh-CN" altLang="en-US" sz="2400" b="1" dirty="0">
                <a:solidFill>
                  <a:srgbClr val="FF0000"/>
                </a:solidFill>
                <a:ea typeface="楷体_GB2312" pitchFamily="49" charset="-122"/>
              </a:rPr>
              <a:t>的最大特征值</a:t>
            </a:r>
            <a:r>
              <a:rPr lang="el-GR" altLang="zh-CN" sz="2400" b="1" dirty="0">
                <a:solidFill>
                  <a:srgbClr val="FF0000"/>
                </a:solidFill>
                <a:ea typeface="楷体_GB2312" pitchFamily="49" charset="-122"/>
              </a:rPr>
              <a:t>λ</a:t>
            </a:r>
            <a:r>
              <a:rPr lang="en-US" altLang="zh-CN" sz="2400" b="1" baseline="-25000" dirty="0">
                <a:solidFill>
                  <a:srgbClr val="FF0000"/>
                </a:solidFill>
                <a:ea typeface="楷体_GB2312" pitchFamily="49" charset="-122"/>
              </a:rPr>
              <a:t>max</a:t>
            </a:r>
            <a:r>
              <a:rPr lang="en-US" altLang="zh-CN" sz="2400" dirty="0">
                <a:solidFill>
                  <a:srgbClr val="FF0000"/>
                </a:solidFill>
                <a:ea typeface="黑体" pitchFamily="2" charset="-122"/>
              </a:rPr>
              <a:t>=2</a:t>
            </a:r>
          </a:p>
          <a:p>
            <a:pPr lvl="1" eaLnBrk="1" hangingPunct="1"/>
            <a:r>
              <a:rPr lang="zh-CN" altLang="en-US" sz="2400" b="1" dirty="0">
                <a:solidFill>
                  <a:srgbClr val="008000"/>
                </a:solidFill>
                <a:ea typeface="楷体_GB2312" pitchFamily="49" charset="-122"/>
              </a:rPr>
              <a:t>相应的特征向量</a:t>
            </a:r>
            <a:r>
              <a:rPr lang="en-US" altLang="zh-CN" sz="2400" b="1" dirty="0">
                <a:solidFill>
                  <a:srgbClr val="008000"/>
                </a:solidFill>
                <a:ea typeface="楷体_GB2312" pitchFamily="49" charset="-122"/>
              </a:rPr>
              <a:t>W=(0.167, 0.833)</a:t>
            </a:r>
            <a:r>
              <a:rPr lang="en-US" altLang="zh-CN" sz="2400" b="1" baseline="30000" dirty="0">
                <a:solidFill>
                  <a:srgbClr val="008000"/>
                </a:solidFill>
                <a:ea typeface="楷体_GB2312" pitchFamily="49" charset="-122"/>
              </a:rPr>
              <a:t>T</a:t>
            </a:r>
          </a:p>
          <a:p>
            <a:pPr lvl="1" eaLnBrk="1" hangingPunct="1"/>
            <a:r>
              <a:rPr lang="en-US" altLang="zh-CN" sz="2400" dirty="0">
                <a:solidFill>
                  <a:srgbClr val="FF0000"/>
                </a:solidFill>
                <a:ea typeface="黑体" pitchFamily="2" charset="-122"/>
              </a:rPr>
              <a:t>C</a:t>
            </a:r>
            <a:r>
              <a:rPr lang="en-US" altLang="zh-CN" sz="2400" b="1" baseline="-25000" dirty="0">
                <a:solidFill>
                  <a:srgbClr val="FF0000"/>
                </a:solidFill>
                <a:ea typeface="楷体_GB2312" pitchFamily="49" charset="-122"/>
              </a:rPr>
              <a:t>2</a:t>
            </a:r>
            <a:r>
              <a:rPr lang="en-US" altLang="zh-CN" sz="2400" dirty="0">
                <a:solidFill>
                  <a:srgbClr val="FF0000"/>
                </a:solidFill>
                <a:ea typeface="黑体" pitchFamily="2" charset="-122"/>
              </a:rPr>
              <a:t>=0, </a:t>
            </a:r>
            <a:r>
              <a:rPr lang="en-US" altLang="zh-CN" sz="2400" b="1" dirty="0">
                <a:solidFill>
                  <a:srgbClr val="0000FF"/>
                </a:solidFill>
                <a:ea typeface="楷体_GB2312" pitchFamily="49" charset="-122"/>
              </a:rPr>
              <a:t>C</a:t>
            </a:r>
            <a:r>
              <a:rPr lang="en-US" altLang="zh-CN" sz="2400" b="1" baseline="-25000" dirty="0">
                <a:solidFill>
                  <a:srgbClr val="0000FF"/>
                </a:solidFill>
                <a:ea typeface="楷体_GB2312" pitchFamily="49" charset="-122"/>
              </a:rPr>
              <a:t>R </a:t>
            </a:r>
            <a:r>
              <a:rPr lang="en-US" altLang="zh-CN" sz="2400" b="1" dirty="0">
                <a:solidFill>
                  <a:srgbClr val="0000FF"/>
                </a:solidFill>
                <a:ea typeface="楷体_GB2312" pitchFamily="49" charset="-122"/>
              </a:rPr>
              <a:t>=C</a:t>
            </a:r>
            <a:r>
              <a:rPr lang="en-US" altLang="zh-CN" sz="2400" b="1" baseline="-25000" dirty="0">
                <a:solidFill>
                  <a:srgbClr val="0000FF"/>
                </a:solidFill>
                <a:ea typeface="楷体_GB2312" pitchFamily="49" charset="-122"/>
              </a:rPr>
              <a:t>2</a:t>
            </a:r>
            <a:r>
              <a:rPr lang="en-US" altLang="zh-CN" sz="2400" b="1" dirty="0">
                <a:solidFill>
                  <a:srgbClr val="0000FF"/>
                </a:solidFill>
                <a:ea typeface="楷体_GB2312" pitchFamily="49" charset="-122"/>
              </a:rPr>
              <a:t>/R=0&lt;0.1</a:t>
            </a:r>
            <a:r>
              <a:rPr lang="zh-CN" altLang="en-US" sz="2400" b="1" dirty="0">
                <a:solidFill>
                  <a:srgbClr val="0000FF"/>
                </a:solidFill>
                <a:ea typeface="楷体_GB2312" pitchFamily="49" charset="-122"/>
              </a:rPr>
              <a:t>，</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2</a:t>
            </a:r>
            <a:r>
              <a:rPr lang="zh-CN" altLang="en-US" sz="2400" b="1" dirty="0">
                <a:solidFill>
                  <a:srgbClr val="0000FF"/>
                </a:solidFill>
                <a:ea typeface="楷体_GB2312" pitchFamily="49" charset="-122"/>
              </a:rPr>
              <a:t>不用调整</a:t>
            </a:r>
          </a:p>
          <a:p>
            <a:pPr lvl="1" eaLnBrk="1" hangingPunct="1"/>
            <a:r>
              <a:rPr lang="zh-CN" altLang="en-US" sz="2400" b="1" dirty="0">
                <a:ea typeface="楷体_GB2312" pitchFamily="49" charset="-122"/>
              </a:rPr>
              <a:t>即</a:t>
            </a:r>
            <a:r>
              <a:rPr lang="zh-CN" altLang="en-US" sz="2400" b="1" u="sng" dirty="0">
                <a:ea typeface="楷体_GB2312" pitchFamily="49" charset="-122"/>
              </a:rPr>
              <a:t>发奖金给职工</a:t>
            </a:r>
            <a:r>
              <a:rPr lang="zh-CN" altLang="en-US" sz="2400" b="1" dirty="0">
                <a:ea typeface="楷体_GB2312" pitchFamily="49" charset="-122"/>
              </a:rPr>
              <a:t>、</a:t>
            </a:r>
            <a:r>
              <a:rPr lang="zh-CN" altLang="en-US" sz="2400" b="1" u="sng" dirty="0">
                <a:ea typeface="楷体_GB2312" pitchFamily="49" charset="-122"/>
              </a:rPr>
              <a:t>扩建集体福利设施</a:t>
            </a:r>
            <a:r>
              <a:rPr lang="zh-CN" altLang="en-US" sz="2400" b="1" dirty="0">
                <a:ea typeface="楷体_GB2312" pitchFamily="49" charset="-122"/>
              </a:rPr>
              <a:t>、</a:t>
            </a:r>
            <a:r>
              <a:rPr lang="zh-CN" altLang="en-US" sz="2400" b="1" u="sng" dirty="0">
                <a:ea typeface="楷体_GB2312" pitchFamily="49" charset="-122"/>
              </a:rPr>
              <a:t>引进新技术新设备</a:t>
            </a:r>
            <a:r>
              <a:rPr lang="zh-CN" altLang="en-US" sz="2400" b="1" dirty="0">
                <a:ea typeface="楷体_GB2312" pitchFamily="49" charset="-122"/>
              </a:rPr>
              <a:t>关于</a:t>
            </a:r>
            <a:r>
              <a:rPr lang="zh-CN" altLang="en-US" sz="2400" b="1" dirty="0">
                <a:solidFill>
                  <a:srgbClr val="CC0099"/>
                </a:solidFill>
                <a:ea typeface="楷体_GB2312" pitchFamily="49" charset="-122"/>
              </a:rPr>
              <a:t>提高企业技术水平</a:t>
            </a:r>
            <a:r>
              <a:rPr lang="zh-CN" altLang="en-US" sz="2400" b="1" dirty="0">
                <a:ea typeface="楷体_GB2312" pitchFamily="49" charset="-122"/>
              </a:rPr>
              <a:t>的权重为</a:t>
            </a:r>
            <a:r>
              <a:rPr lang="zh-CN" altLang="en-US" sz="2400" b="1" dirty="0">
                <a:solidFill>
                  <a:srgbClr val="0000FF"/>
                </a:solidFill>
                <a:ea typeface="楷体_GB2312" pitchFamily="49" charset="-122"/>
              </a:rPr>
              <a:t>： </a:t>
            </a:r>
            <a:r>
              <a:rPr lang="en-US" altLang="zh-CN" sz="2400" b="1" dirty="0">
                <a:solidFill>
                  <a:srgbClr val="FF0000"/>
                </a:solidFill>
                <a:ea typeface="楷体_GB2312" pitchFamily="49" charset="-122"/>
              </a:rPr>
              <a:t>(0, 0.167, 0.833</a:t>
            </a:r>
            <a:r>
              <a:rPr lang="en-US" altLang="zh-CN" sz="2000" b="1" dirty="0">
                <a:solidFill>
                  <a:srgbClr val="FF0000"/>
                </a:solidFill>
                <a:ea typeface="楷体_GB2312" pitchFamily="49" charset="-122"/>
              </a:rPr>
              <a:t>)</a:t>
            </a:r>
          </a:p>
        </p:txBody>
      </p:sp>
      <p:grpSp>
        <p:nvGrpSpPr>
          <p:cNvPr id="59396" name="Group 4"/>
          <p:cNvGrpSpPr>
            <a:grpSpLocks/>
          </p:cNvGrpSpPr>
          <p:nvPr/>
        </p:nvGrpSpPr>
        <p:grpSpPr bwMode="auto">
          <a:xfrm>
            <a:off x="1774826" y="1916832"/>
            <a:ext cx="7921625" cy="2011363"/>
            <a:chOff x="158" y="1276"/>
            <a:chExt cx="4990" cy="1267"/>
          </a:xfrm>
        </p:grpSpPr>
        <p:sp>
          <p:nvSpPr>
            <p:cNvPr id="59401" name="Text Box 5"/>
            <p:cNvSpPr txBox="1">
              <a:spLocks noChangeArrowheads="1"/>
            </p:cNvSpPr>
            <p:nvPr/>
          </p:nvSpPr>
          <p:spPr bwMode="auto">
            <a:xfrm>
              <a:off x="2154" y="1276"/>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合理使用企业利润</a:t>
              </a:r>
              <a:r>
                <a:rPr lang="en-US" altLang="zh-CN" b="1" dirty="0">
                  <a:ea typeface="楷体_GB2312" pitchFamily="49" charset="-122"/>
                </a:rPr>
                <a:t>G</a:t>
              </a:r>
            </a:p>
          </p:txBody>
        </p:sp>
        <p:sp>
          <p:nvSpPr>
            <p:cNvPr id="59402"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59403"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提高企业技术水平</a:t>
              </a:r>
              <a:r>
                <a:rPr lang="en-US" altLang="zh-CN" sz="1600" b="1">
                  <a:ea typeface="楷体_GB2312" pitchFamily="49" charset="-122"/>
                </a:rPr>
                <a:t>C</a:t>
              </a:r>
              <a:r>
                <a:rPr lang="en-US" altLang="zh-CN" sz="1600" b="1" baseline="-25000">
                  <a:ea typeface="楷体_GB2312" pitchFamily="49" charset="-122"/>
                </a:rPr>
                <a:t>2</a:t>
              </a:r>
            </a:p>
          </p:txBody>
        </p:sp>
        <p:sp>
          <p:nvSpPr>
            <p:cNvPr id="59404"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改善职工生活条件</a:t>
              </a:r>
              <a:r>
                <a:rPr lang="en-US" altLang="zh-CN" sz="1600" b="1">
                  <a:ea typeface="楷体_GB2312" pitchFamily="49" charset="-122"/>
                </a:rPr>
                <a:t>C</a:t>
              </a:r>
              <a:r>
                <a:rPr lang="en-US" altLang="zh-CN" sz="1600" b="1" baseline="-25000">
                  <a:ea typeface="楷体_GB2312" pitchFamily="49" charset="-122"/>
                </a:rPr>
                <a:t>3</a:t>
              </a:r>
            </a:p>
          </p:txBody>
        </p:sp>
        <p:sp>
          <p:nvSpPr>
            <p:cNvPr id="59405"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发奖金给职工</a:t>
              </a:r>
              <a:r>
                <a:rPr lang="en-US" altLang="zh-CN" sz="1600" b="1">
                  <a:ea typeface="楷体_GB2312" pitchFamily="49" charset="-122"/>
                </a:rPr>
                <a:t>P</a:t>
              </a:r>
              <a:r>
                <a:rPr lang="en-US" altLang="zh-CN" sz="1600" b="1" baseline="-25000">
                  <a:ea typeface="楷体_GB2312" pitchFamily="49" charset="-122"/>
                </a:rPr>
                <a:t>1</a:t>
              </a:r>
            </a:p>
          </p:txBody>
        </p:sp>
        <p:sp>
          <p:nvSpPr>
            <p:cNvPr id="59406"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59407"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59408"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9"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0"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1"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2"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3" name="Line 17"/>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4" name="Line 18"/>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5" name="Line 19"/>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6" name="Line 20"/>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7" name="Text Box 21"/>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a:solidFill>
                    <a:srgbClr val="0000FF"/>
                  </a:solidFill>
                  <a:ea typeface="楷体_GB2312" pitchFamily="49" charset="-122"/>
                </a:rPr>
                <a:t>目标层</a:t>
              </a:r>
            </a:p>
            <a:p>
              <a:pPr eaLnBrk="1" hangingPunct="1">
                <a:spcBef>
                  <a:spcPct val="50000"/>
                </a:spcBef>
              </a:pPr>
              <a:endParaRPr lang="zh-CN" altLang="en-US" sz="1200"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准则层</a:t>
              </a:r>
            </a:p>
            <a:p>
              <a:pPr eaLnBrk="1" hangingPunct="1">
                <a:spcBef>
                  <a:spcPct val="50000"/>
                </a:spcBef>
              </a:pPr>
              <a:endParaRPr lang="zh-CN" altLang="en-US"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方案层</a:t>
              </a:r>
            </a:p>
          </p:txBody>
        </p:sp>
      </p:grpSp>
      <p:graphicFrame>
        <p:nvGraphicFramePr>
          <p:cNvPr id="122902" name="Object 22"/>
          <p:cNvGraphicFramePr>
            <a:graphicFrameLocks noGrp="1" noChangeAspect="1"/>
          </p:cNvGraphicFramePr>
          <p:nvPr>
            <p:ph sz="half" idx="2"/>
          </p:nvPr>
        </p:nvGraphicFramePr>
        <p:xfrm>
          <a:off x="7680326" y="4371976"/>
          <a:ext cx="2016125" cy="1008063"/>
        </p:xfrm>
        <a:graphic>
          <a:graphicData uri="http://schemas.openxmlformats.org/presentationml/2006/ole">
            <mc:AlternateContent xmlns:mc="http://schemas.openxmlformats.org/markup-compatibility/2006">
              <mc:Choice xmlns:v="urn:schemas-microsoft-com:vml" Requires="v">
                <p:oleObj name="公式" r:id="rId2" imgW="914400" imgH="457200" progId="Equation.3">
                  <p:embed/>
                </p:oleObj>
              </mc:Choice>
              <mc:Fallback>
                <p:oleObj name="公式" r:id="rId2" imgW="914400" imgH="457200" progId="Equation.3">
                  <p:embed/>
                  <p:pic>
                    <p:nvPicPr>
                      <p:cNvPr id="122902"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326" y="4371976"/>
                        <a:ext cx="2016125"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8" name="Text Box 23"/>
          <p:cNvSpPr txBox="1">
            <a:spLocks noChangeArrowheads="1"/>
          </p:cNvSpPr>
          <p:nvPr/>
        </p:nvSpPr>
        <p:spPr bwMode="auto">
          <a:xfrm>
            <a:off x="3000375" y="3104281"/>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0.75     0.25</a:t>
            </a:r>
          </a:p>
        </p:txBody>
      </p:sp>
      <p:sp>
        <p:nvSpPr>
          <p:cNvPr id="122904" name="Text Box 24"/>
          <p:cNvSpPr txBox="1">
            <a:spLocks noChangeArrowheads="1"/>
          </p:cNvSpPr>
          <p:nvPr/>
        </p:nvSpPr>
        <p:spPr bwMode="auto">
          <a:xfrm>
            <a:off x="5448300" y="2959818"/>
            <a:ext cx="2160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0.167        0.833</a:t>
            </a:r>
          </a:p>
        </p:txBody>
      </p:sp>
      <p:sp>
        <p:nvSpPr>
          <p:cNvPr id="59400" name="Text Box 25"/>
          <p:cNvSpPr txBox="1">
            <a:spLocks noChangeArrowheads="1"/>
          </p:cNvSpPr>
          <p:nvPr/>
        </p:nvSpPr>
        <p:spPr bwMode="auto">
          <a:xfrm>
            <a:off x="3720108" y="2312118"/>
            <a:ext cx="52562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0.129                  0.646                          0.215</a:t>
            </a:r>
          </a:p>
        </p:txBody>
      </p:sp>
      <p:sp>
        <p:nvSpPr>
          <p:cNvPr id="2" name="灯片编号占位符 1">
            <a:extLst>
              <a:ext uri="{FF2B5EF4-FFF2-40B4-BE49-F238E27FC236}">
                <a16:creationId xmlns:a16="http://schemas.microsoft.com/office/drawing/2014/main" id="{AE81A39E-F5FD-413A-11C1-B3C5587D943E}"/>
              </a:ext>
            </a:extLst>
          </p:cNvPr>
          <p:cNvSpPr>
            <a:spLocks noGrp="1"/>
          </p:cNvSpPr>
          <p:nvPr>
            <p:ph type="sldNum" sz="quarter" idx="11"/>
          </p:nvPr>
        </p:nvSpPr>
        <p:spPr/>
        <p:txBody>
          <a:bodyPr/>
          <a:lstStyle/>
          <a:p>
            <a:pPr>
              <a:defRPr/>
            </a:pPr>
            <a:fld id="{EF14D0C4-B0EC-4578-B6E4-F9BC91400248}" type="slidenum">
              <a:rPr lang="en-US" altLang="zh-CN" smtClean="0"/>
              <a:pPr>
                <a:defRPr/>
              </a:pPr>
              <a:t>22</a:t>
            </a:fld>
            <a:endParaRPr lang="en-US" altLang="zh-CN"/>
          </a:p>
        </p:txBody>
      </p:sp>
    </p:spTree>
    <p:extLst>
      <p:ext uri="{BB962C8B-B14F-4D97-AF65-F5344CB8AC3E}">
        <p14:creationId xmlns:p14="http://schemas.microsoft.com/office/powerpoint/2010/main" val="1110603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3">
                                            <p:txEl>
                                              <p:pRg st="4" end="4"/>
                                            </p:txEl>
                                          </p:spTgt>
                                        </p:tgtEl>
                                        <p:attrNameLst>
                                          <p:attrName>style.visibility</p:attrName>
                                        </p:attrNameLst>
                                      </p:cBhvr>
                                      <p:to>
                                        <p:strVal val="visible"/>
                                      </p:to>
                                    </p:set>
                                    <p:animEffect transition="in" filter="wipe(left)">
                                      <p:cBhvr>
                                        <p:cTn id="7" dur="500"/>
                                        <p:tgtEl>
                                          <p:spTgt spid="12288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83">
                                            <p:txEl>
                                              <p:pRg st="5" end="5"/>
                                            </p:txEl>
                                          </p:spTgt>
                                        </p:tgtEl>
                                        <p:attrNameLst>
                                          <p:attrName>style.visibility</p:attrName>
                                        </p:attrNameLst>
                                      </p:cBhvr>
                                      <p:to>
                                        <p:strVal val="visible"/>
                                      </p:to>
                                    </p:set>
                                    <p:animEffect transition="in" filter="wipe(left)">
                                      <p:cBhvr>
                                        <p:cTn id="12" dur="500"/>
                                        <p:tgtEl>
                                          <p:spTgt spid="122883">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22902"/>
                                        </p:tgtEl>
                                        <p:attrNameLst>
                                          <p:attrName>style.visibility</p:attrName>
                                        </p:attrNameLst>
                                      </p:cBhvr>
                                      <p:to>
                                        <p:strVal val="visible"/>
                                      </p:to>
                                    </p:set>
                                    <p:anim calcmode="lin" valueType="num">
                                      <p:cBhvr additive="base">
                                        <p:cTn id="17" dur="500" fill="hold"/>
                                        <p:tgtEl>
                                          <p:spTgt spid="122902"/>
                                        </p:tgtEl>
                                        <p:attrNameLst>
                                          <p:attrName>ppt_x</p:attrName>
                                        </p:attrNameLst>
                                      </p:cBhvr>
                                      <p:tavLst>
                                        <p:tav tm="0">
                                          <p:val>
                                            <p:strVal val="#ppt_x"/>
                                          </p:val>
                                        </p:tav>
                                        <p:tav tm="100000">
                                          <p:val>
                                            <p:strVal val="#ppt_x"/>
                                          </p:val>
                                        </p:tav>
                                      </p:tavLst>
                                    </p:anim>
                                    <p:anim calcmode="lin" valueType="num">
                                      <p:cBhvr additive="base">
                                        <p:cTn id="18" dur="500" fill="hold"/>
                                        <p:tgtEl>
                                          <p:spTgt spid="12290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2883">
                                            <p:txEl>
                                              <p:pRg st="6" end="6"/>
                                            </p:txEl>
                                          </p:spTgt>
                                        </p:tgtEl>
                                        <p:attrNameLst>
                                          <p:attrName>style.visibility</p:attrName>
                                        </p:attrNameLst>
                                      </p:cBhvr>
                                      <p:to>
                                        <p:strVal val="visible"/>
                                      </p:to>
                                    </p:set>
                                    <p:animEffect transition="in" filter="wipe(left)">
                                      <p:cBhvr>
                                        <p:cTn id="23" dur="500"/>
                                        <p:tgtEl>
                                          <p:spTgt spid="122883">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2883">
                                            <p:txEl>
                                              <p:pRg st="7" end="7"/>
                                            </p:txEl>
                                          </p:spTgt>
                                        </p:tgtEl>
                                        <p:attrNameLst>
                                          <p:attrName>style.visibility</p:attrName>
                                        </p:attrNameLst>
                                      </p:cBhvr>
                                      <p:to>
                                        <p:strVal val="visible"/>
                                      </p:to>
                                    </p:set>
                                    <p:animEffect transition="in" filter="wipe(left)">
                                      <p:cBhvr>
                                        <p:cTn id="28" dur="500"/>
                                        <p:tgtEl>
                                          <p:spTgt spid="122883">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2883">
                                            <p:txEl>
                                              <p:pRg st="8" end="8"/>
                                            </p:txEl>
                                          </p:spTgt>
                                        </p:tgtEl>
                                        <p:attrNameLst>
                                          <p:attrName>style.visibility</p:attrName>
                                        </p:attrNameLst>
                                      </p:cBhvr>
                                      <p:to>
                                        <p:strVal val="visible"/>
                                      </p:to>
                                    </p:set>
                                    <p:animEffect transition="in" filter="wipe(left)">
                                      <p:cBhvr>
                                        <p:cTn id="33" dur="500"/>
                                        <p:tgtEl>
                                          <p:spTgt spid="122883">
                                            <p:txEl>
                                              <p:pRg st="8" end="8"/>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2883">
                                            <p:txEl>
                                              <p:pRg st="9" end="9"/>
                                            </p:txEl>
                                          </p:spTgt>
                                        </p:tgtEl>
                                        <p:attrNameLst>
                                          <p:attrName>style.visibility</p:attrName>
                                        </p:attrNameLst>
                                      </p:cBhvr>
                                      <p:to>
                                        <p:strVal val="visible"/>
                                      </p:to>
                                    </p:set>
                                    <p:animEffect transition="in" filter="wipe(left)">
                                      <p:cBhvr>
                                        <p:cTn id="38" dur="500"/>
                                        <p:tgtEl>
                                          <p:spTgt spid="122883">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2904"/>
                                        </p:tgtEl>
                                        <p:attrNameLst>
                                          <p:attrName>style.visibility</p:attrName>
                                        </p:attrNameLst>
                                      </p:cBhvr>
                                      <p:to>
                                        <p:strVal val="visible"/>
                                      </p:to>
                                    </p:set>
                                    <p:animEffect transition="in" filter="blinds(horizontal)">
                                      <p:cBhvr>
                                        <p:cTn id="43" dur="500"/>
                                        <p:tgtEl>
                                          <p:spTgt spid="122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P spid="12290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135188" y="115888"/>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24931" name="Rectangle 3"/>
          <p:cNvSpPr>
            <a:spLocks noGrp="1" noChangeArrowheads="1"/>
          </p:cNvSpPr>
          <p:nvPr>
            <p:ph type="body" sz="half" idx="1"/>
          </p:nvPr>
        </p:nvSpPr>
        <p:spPr>
          <a:xfrm>
            <a:off x="983432" y="1196752"/>
            <a:ext cx="10369152" cy="5661248"/>
          </a:xfrm>
        </p:spPr>
        <p:txBody>
          <a:bodyPr/>
          <a:lstStyle/>
          <a:p>
            <a:pPr eaLnBrk="1" hangingPunct="1"/>
            <a:r>
              <a:rPr lang="zh-CN" altLang="en-US" sz="2800" dirty="0">
                <a:solidFill>
                  <a:srgbClr val="FF0000"/>
                </a:solidFill>
                <a:ea typeface="黑体" pitchFamily="2" charset="-122"/>
              </a:rPr>
              <a:t>第三步：层次单排序及其一致性检验</a:t>
            </a:r>
          </a:p>
          <a:p>
            <a:pPr eaLnBrk="1" hangingPunct="1"/>
            <a:endParaRPr lang="zh-CN" altLang="en-US" sz="40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r>
              <a:rPr lang="zh-CN" altLang="en-US" sz="2400" b="1" dirty="0">
                <a:ea typeface="楷体_GB2312" pitchFamily="49" charset="-122"/>
              </a:rPr>
              <a:t>方案层中，</a:t>
            </a:r>
          </a:p>
          <a:p>
            <a:pPr lvl="1" eaLnBrk="1" hangingPunct="1"/>
            <a:r>
              <a:rPr lang="zh-CN" altLang="en-US" sz="2400" b="1" dirty="0">
                <a:ea typeface="楷体_GB2312" pitchFamily="49" charset="-122"/>
              </a:rPr>
              <a:t> </a:t>
            </a:r>
            <a:r>
              <a:rPr lang="en-US" altLang="zh-CN" sz="2400" b="1" dirty="0">
                <a:ea typeface="楷体_GB2312" pitchFamily="49" charset="-122"/>
              </a:rPr>
              <a:t>P</a:t>
            </a:r>
            <a:r>
              <a:rPr lang="en-US" altLang="zh-CN" sz="2400" b="1" baseline="-25000" dirty="0">
                <a:ea typeface="楷体_GB2312" pitchFamily="49" charset="-122"/>
              </a:rPr>
              <a:t>1</a:t>
            </a:r>
            <a:r>
              <a:rPr lang="en-US" altLang="zh-CN" sz="2400" b="1" dirty="0">
                <a:ea typeface="楷体_GB2312" pitchFamily="49" charset="-122"/>
              </a:rPr>
              <a:t>,P</a:t>
            </a:r>
            <a:r>
              <a:rPr lang="en-US" altLang="zh-CN" sz="2400" b="1" baseline="-25000" dirty="0">
                <a:ea typeface="楷体_GB2312" pitchFamily="49" charset="-122"/>
              </a:rPr>
              <a:t>2</a:t>
            </a:r>
            <a:r>
              <a:rPr lang="zh-CN" altLang="en-US" sz="2400" b="1" dirty="0">
                <a:ea typeface="楷体_GB2312" pitchFamily="49" charset="-122"/>
              </a:rPr>
              <a:t>相对于</a:t>
            </a:r>
            <a:r>
              <a:rPr lang="en-US" altLang="zh-CN" sz="2400" b="1" dirty="0">
                <a:ea typeface="楷体_GB2312" pitchFamily="49" charset="-122"/>
              </a:rPr>
              <a:t>C</a:t>
            </a:r>
            <a:r>
              <a:rPr lang="en-US" altLang="zh-CN" sz="2400" b="1" baseline="-25000" dirty="0">
                <a:ea typeface="楷体_GB2312" pitchFamily="49" charset="-122"/>
              </a:rPr>
              <a:t>3</a:t>
            </a:r>
            <a:r>
              <a:rPr lang="en-US" altLang="zh-CN" sz="2400" b="1" dirty="0">
                <a:ea typeface="楷体_GB2312" pitchFamily="49" charset="-122"/>
              </a:rPr>
              <a:t>,</a:t>
            </a:r>
            <a:r>
              <a:rPr lang="zh-CN" altLang="en-US" sz="2400" b="1" dirty="0">
                <a:ea typeface="楷体_GB2312" pitchFamily="49" charset="-122"/>
              </a:rPr>
              <a:t>的重要性</a:t>
            </a:r>
            <a:r>
              <a:rPr lang="zh-CN" altLang="en-US" sz="2400" b="1" dirty="0">
                <a:solidFill>
                  <a:srgbClr val="0000FF"/>
                </a:solidFill>
                <a:ea typeface="楷体_GB2312" pitchFamily="49" charset="-122"/>
              </a:rPr>
              <a:t>判断矩阵为</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3</a:t>
            </a:r>
            <a:r>
              <a:rPr lang="en-US" altLang="zh-CN" sz="2400" b="1" dirty="0">
                <a:solidFill>
                  <a:srgbClr val="0000FF"/>
                </a:solidFill>
                <a:ea typeface="楷体_GB2312" pitchFamily="49" charset="-122"/>
              </a:rPr>
              <a:t>,</a:t>
            </a:r>
          </a:p>
          <a:p>
            <a:pPr lvl="1" eaLnBrk="1" hangingPunct="1"/>
            <a:r>
              <a:rPr lang="en-US" altLang="zh-CN" sz="2400" b="1" dirty="0">
                <a:solidFill>
                  <a:srgbClr val="FF0000"/>
                </a:solidFill>
                <a:ea typeface="楷体_GB2312" pitchFamily="49" charset="-122"/>
              </a:rPr>
              <a:t>B</a:t>
            </a:r>
            <a:r>
              <a:rPr lang="en-US" altLang="zh-CN" sz="2400" b="1" baseline="-25000" dirty="0">
                <a:solidFill>
                  <a:srgbClr val="FF0000"/>
                </a:solidFill>
                <a:ea typeface="楷体_GB2312" pitchFamily="49" charset="-122"/>
              </a:rPr>
              <a:t>3</a:t>
            </a:r>
            <a:r>
              <a:rPr lang="zh-CN" altLang="en-US" sz="2400" b="1" dirty="0">
                <a:solidFill>
                  <a:srgbClr val="FF0000"/>
                </a:solidFill>
                <a:ea typeface="楷体_GB2312" pitchFamily="49" charset="-122"/>
              </a:rPr>
              <a:t>的最大特征值</a:t>
            </a:r>
            <a:r>
              <a:rPr lang="el-GR" altLang="zh-CN" sz="2400" b="1" dirty="0">
                <a:solidFill>
                  <a:srgbClr val="FF0000"/>
                </a:solidFill>
                <a:ea typeface="楷体_GB2312" pitchFamily="49" charset="-122"/>
              </a:rPr>
              <a:t>λ</a:t>
            </a:r>
            <a:r>
              <a:rPr lang="en-US" altLang="zh-CN" sz="2400" b="1" baseline="-25000" dirty="0">
                <a:solidFill>
                  <a:srgbClr val="FF0000"/>
                </a:solidFill>
                <a:ea typeface="楷体_GB2312" pitchFamily="49" charset="-122"/>
              </a:rPr>
              <a:t>max</a:t>
            </a:r>
            <a:r>
              <a:rPr lang="en-US" altLang="zh-CN" sz="2400" dirty="0">
                <a:solidFill>
                  <a:srgbClr val="FF0000"/>
                </a:solidFill>
                <a:ea typeface="黑体" pitchFamily="2" charset="-122"/>
              </a:rPr>
              <a:t>=2</a:t>
            </a:r>
          </a:p>
          <a:p>
            <a:pPr lvl="1" eaLnBrk="1" hangingPunct="1"/>
            <a:r>
              <a:rPr lang="zh-CN" altLang="en-US" sz="2400" b="1" dirty="0">
                <a:solidFill>
                  <a:srgbClr val="008000"/>
                </a:solidFill>
                <a:ea typeface="楷体_GB2312" pitchFamily="49" charset="-122"/>
              </a:rPr>
              <a:t>相应的特征向量</a:t>
            </a:r>
            <a:r>
              <a:rPr lang="en-US" altLang="zh-CN" sz="2400" b="1" dirty="0">
                <a:solidFill>
                  <a:srgbClr val="008000"/>
                </a:solidFill>
                <a:ea typeface="楷体_GB2312" pitchFamily="49" charset="-122"/>
              </a:rPr>
              <a:t>W=(0.667, 0.333)</a:t>
            </a:r>
            <a:r>
              <a:rPr lang="en-US" altLang="zh-CN" sz="2400" b="1" baseline="30000" dirty="0">
                <a:solidFill>
                  <a:srgbClr val="008000"/>
                </a:solidFill>
                <a:ea typeface="楷体_GB2312" pitchFamily="49" charset="-122"/>
              </a:rPr>
              <a:t>T</a:t>
            </a:r>
          </a:p>
          <a:p>
            <a:pPr lvl="1" eaLnBrk="1" hangingPunct="1"/>
            <a:r>
              <a:rPr lang="en-US" altLang="zh-CN" sz="2400" dirty="0">
                <a:solidFill>
                  <a:srgbClr val="FF0000"/>
                </a:solidFill>
                <a:ea typeface="黑体" pitchFamily="2" charset="-122"/>
              </a:rPr>
              <a:t>C</a:t>
            </a:r>
            <a:r>
              <a:rPr lang="en-US" altLang="zh-CN" sz="2400" b="1" baseline="-25000" dirty="0">
                <a:solidFill>
                  <a:srgbClr val="FF0000"/>
                </a:solidFill>
                <a:ea typeface="楷体_GB2312" pitchFamily="49" charset="-122"/>
              </a:rPr>
              <a:t>3</a:t>
            </a:r>
            <a:r>
              <a:rPr lang="en-US" altLang="zh-CN" sz="2400" dirty="0">
                <a:solidFill>
                  <a:srgbClr val="FF0000"/>
                </a:solidFill>
                <a:ea typeface="黑体" pitchFamily="2" charset="-122"/>
              </a:rPr>
              <a:t>=0, </a:t>
            </a:r>
            <a:r>
              <a:rPr lang="en-US" altLang="zh-CN" sz="2400" b="1" dirty="0">
                <a:solidFill>
                  <a:srgbClr val="0000FF"/>
                </a:solidFill>
                <a:ea typeface="楷体_GB2312" pitchFamily="49" charset="-122"/>
              </a:rPr>
              <a:t>C</a:t>
            </a:r>
            <a:r>
              <a:rPr lang="en-US" altLang="zh-CN" sz="2400" b="1" baseline="-25000" dirty="0">
                <a:solidFill>
                  <a:srgbClr val="0000FF"/>
                </a:solidFill>
                <a:ea typeface="楷体_GB2312" pitchFamily="49" charset="-122"/>
              </a:rPr>
              <a:t>R </a:t>
            </a:r>
            <a:r>
              <a:rPr lang="en-US" altLang="zh-CN" sz="2400" b="1" dirty="0">
                <a:solidFill>
                  <a:srgbClr val="0000FF"/>
                </a:solidFill>
                <a:ea typeface="楷体_GB2312" pitchFamily="49" charset="-122"/>
              </a:rPr>
              <a:t>=C</a:t>
            </a:r>
            <a:r>
              <a:rPr lang="en-US" altLang="zh-CN" sz="2400" b="1" baseline="-25000" dirty="0">
                <a:solidFill>
                  <a:srgbClr val="0000FF"/>
                </a:solidFill>
                <a:ea typeface="楷体_GB2312" pitchFamily="49" charset="-122"/>
              </a:rPr>
              <a:t>3</a:t>
            </a:r>
            <a:r>
              <a:rPr lang="en-US" altLang="zh-CN" sz="2400" b="1" dirty="0">
                <a:solidFill>
                  <a:srgbClr val="0000FF"/>
                </a:solidFill>
                <a:ea typeface="楷体_GB2312" pitchFamily="49" charset="-122"/>
              </a:rPr>
              <a:t>/R=0&lt;0.1</a:t>
            </a:r>
            <a:r>
              <a:rPr lang="zh-CN" altLang="en-US" sz="2400" b="1" dirty="0">
                <a:solidFill>
                  <a:srgbClr val="0000FF"/>
                </a:solidFill>
                <a:ea typeface="楷体_GB2312" pitchFamily="49" charset="-122"/>
              </a:rPr>
              <a:t>，</a:t>
            </a:r>
            <a:r>
              <a:rPr lang="en-US" altLang="zh-CN" sz="2400" b="1" dirty="0">
                <a:solidFill>
                  <a:srgbClr val="0000FF"/>
                </a:solidFill>
                <a:ea typeface="楷体_GB2312" pitchFamily="49" charset="-122"/>
              </a:rPr>
              <a:t>B</a:t>
            </a:r>
            <a:r>
              <a:rPr lang="en-US" altLang="zh-CN" sz="2400" b="1" baseline="-25000" dirty="0">
                <a:solidFill>
                  <a:srgbClr val="0000FF"/>
                </a:solidFill>
                <a:ea typeface="楷体_GB2312" pitchFamily="49" charset="-122"/>
              </a:rPr>
              <a:t>3</a:t>
            </a:r>
            <a:r>
              <a:rPr lang="zh-CN" altLang="en-US" sz="2400" b="1" dirty="0">
                <a:solidFill>
                  <a:srgbClr val="0000FF"/>
                </a:solidFill>
                <a:ea typeface="楷体_GB2312" pitchFamily="49" charset="-122"/>
              </a:rPr>
              <a:t>不用调整</a:t>
            </a:r>
          </a:p>
          <a:p>
            <a:pPr lvl="1" eaLnBrk="1" hangingPunct="1"/>
            <a:r>
              <a:rPr lang="zh-CN" altLang="en-US" sz="2400" b="1" dirty="0">
                <a:ea typeface="楷体_GB2312" pitchFamily="49" charset="-122"/>
              </a:rPr>
              <a:t>即</a:t>
            </a:r>
            <a:r>
              <a:rPr lang="zh-CN" altLang="en-US" sz="2400" b="1" u="sng" dirty="0">
                <a:ea typeface="楷体_GB2312" pitchFamily="49" charset="-122"/>
              </a:rPr>
              <a:t>发奖金给职工</a:t>
            </a:r>
            <a:r>
              <a:rPr lang="zh-CN" altLang="en-US" sz="2400" b="1" dirty="0">
                <a:ea typeface="楷体_GB2312" pitchFamily="49" charset="-122"/>
              </a:rPr>
              <a:t>、</a:t>
            </a:r>
            <a:r>
              <a:rPr lang="zh-CN" altLang="en-US" sz="2400" b="1" u="sng" dirty="0">
                <a:ea typeface="楷体_GB2312" pitchFamily="49" charset="-122"/>
              </a:rPr>
              <a:t>扩建集体福利设施</a:t>
            </a:r>
            <a:r>
              <a:rPr lang="zh-CN" altLang="en-US" sz="2400" b="1" dirty="0">
                <a:ea typeface="楷体_GB2312" pitchFamily="49" charset="-122"/>
              </a:rPr>
              <a:t>、</a:t>
            </a:r>
            <a:r>
              <a:rPr lang="zh-CN" altLang="en-US" sz="2400" b="1" u="sng" dirty="0">
                <a:ea typeface="楷体_GB2312" pitchFamily="49" charset="-122"/>
              </a:rPr>
              <a:t>引进新技术新设备</a:t>
            </a:r>
            <a:r>
              <a:rPr lang="zh-CN" altLang="en-US" sz="2400" b="1" dirty="0">
                <a:ea typeface="楷体_GB2312" pitchFamily="49" charset="-122"/>
              </a:rPr>
              <a:t>关于</a:t>
            </a:r>
            <a:r>
              <a:rPr lang="zh-CN" altLang="en-US" sz="2400" b="1" dirty="0">
                <a:solidFill>
                  <a:srgbClr val="CC0099"/>
                </a:solidFill>
                <a:ea typeface="楷体_GB2312" pitchFamily="49" charset="-122"/>
              </a:rPr>
              <a:t>改善职工生活条件</a:t>
            </a:r>
            <a:r>
              <a:rPr lang="zh-CN" altLang="en-US" sz="2400" b="1" dirty="0">
                <a:ea typeface="楷体_GB2312" pitchFamily="49" charset="-122"/>
              </a:rPr>
              <a:t>的权重为</a:t>
            </a:r>
            <a:r>
              <a:rPr lang="zh-CN" altLang="en-US" sz="2400" b="1" dirty="0">
                <a:solidFill>
                  <a:srgbClr val="0000FF"/>
                </a:solidFill>
                <a:ea typeface="楷体_GB2312" pitchFamily="49" charset="-122"/>
              </a:rPr>
              <a:t>： </a:t>
            </a:r>
            <a:r>
              <a:rPr lang="en-US" altLang="zh-CN" sz="2400" b="1" dirty="0">
                <a:solidFill>
                  <a:srgbClr val="FF0000"/>
                </a:solidFill>
                <a:ea typeface="楷体_GB2312" pitchFamily="49" charset="-122"/>
              </a:rPr>
              <a:t>(0.667, 0.333</a:t>
            </a:r>
            <a:r>
              <a:rPr lang="zh-CN" altLang="en-US" sz="2400" b="1" dirty="0">
                <a:solidFill>
                  <a:srgbClr val="FF0000"/>
                </a:solidFill>
                <a:ea typeface="楷体_GB2312" pitchFamily="49" charset="-122"/>
              </a:rPr>
              <a:t>， </a:t>
            </a:r>
            <a:r>
              <a:rPr lang="en-US" altLang="zh-CN" sz="2400" b="1" dirty="0">
                <a:solidFill>
                  <a:srgbClr val="FF0000"/>
                </a:solidFill>
                <a:ea typeface="楷体_GB2312" pitchFamily="49" charset="-122"/>
              </a:rPr>
              <a:t>0)</a:t>
            </a:r>
          </a:p>
        </p:txBody>
      </p:sp>
      <p:grpSp>
        <p:nvGrpSpPr>
          <p:cNvPr id="60420" name="Group 4"/>
          <p:cNvGrpSpPr>
            <a:grpSpLocks/>
          </p:cNvGrpSpPr>
          <p:nvPr/>
        </p:nvGrpSpPr>
        <p:grpSpPr bwMode="auto">
          <a:xfrm>
            <a:off x="1774826" y="1844824"/>
            <a:ext cx="7921625" cy="2025650"/>
            <a:chOff x="158" y="1267"/>
            <a:chExt cx="4990" cy="1276"/>
          </a:xfrm>
        </p:grpSpPr>
        <p:sp>
          <p:nvSpPr>
            <p:cNvPr id="60426" name="Text Box 5"/>
            <p:cNvSpPr txBox="1">
              <a:spLocks noChangeArrowheads="1"/>
            </p:cNvSpPr>
            <p:nvPr/>
          </p:nvSpPr>
          <p:spPr bwMode="auto">
            <a:xfrm>
              <a:off x="2154" y="1267"/>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合理使用企业利润</a:t>
              </a:r>
              <a:r>
                <a:rPr lang="en-US" altLang="zh-CN" b="1" dirty="0">
                  <a:ea typeface="楷体_GB2312" pitchFamily="49" charset="-122"/>
                </a:rPr>
                <a:t>G</a:t>
              </a:r>
            </a:p>
          </p:txBody>
        </p:sp>
        <p:sp>
          <p:nvSpPr>
            <p:cNvPr id="60427"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60428"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提高企业技术水平</a:t>
              </a:r>
              <a:r>
                <a:rPr lang="en-US" altLang="zh-CN" sz="1600" b="1">
                  <a:ea typeface="楷体_GB2312" pitchFamily="49" charset="-122"/>
                </a:rPr>
                <a:t>C</a:t>
              </a:r>
              <a:r>
                <a:rPr lang="en-US" altLang="zh-CN" sz="1600" b="1" baseline="-25000">
                  <a:ea typeface="楷体_GB2312" pitchFamily="49" charset="-122"/>
                </a:rPr>
                <a:t>2</a:t>
              </a:r>
            </a:p>
          </p:txBody>
        </p:sp>
        <p:sp>
          <p:nvSpPr>
            <p:cNvPr id="60429"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改善职工生活条件</a:t>
              </a:r>
              <a:r>
                <a:rPr lang="en-US" altLang="zh-CN" sz="1600" b="1">
                  <a:ea typeface="楷体_GB2312" pitchFamily="49" charset="-122"/>
                </a:rPr>
                <a:t>C</a:t>
              </a:r>
              <a:r>
                <a:rPr lang="en-US" altLang="zh-CN" sz="1600" b="1" baseline="-25000">
                  <a:ea typeface="楷体_GB2312" pitchFamily="49" charset="-122"/>
                </a:rPr>
                <a:t>3</a:t>
              </a:r>
            </a:p>
          </p:txBody>
        </p:sp>
        <p:sp>
          <p:nvSpPr>
            <p:cNvPr id="60430"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发奖金给职工</a:t>
              </a:r>
              <a:r>
                <a:rPr lang="en-US" altLang="zh-CN" sz="1600" b="1">
                  <a:ea typeface="楷体_GB2312" pitchFamily="49" charset="-122"/>
                </a:rPr>
                <a:t>P</a:t>
              </a:r>
              <a:r>
                <a:rPr lang="en-US" altLang="zh-CN" sz="1600" b="1" baseline="-25000">
                  <a:ea typeface="楷体_GB2312" pitchFamily="49" charset="-122"/>
                </a:rPr>
                <a:t>1</a:t>
              </a:r>
            </a:p>
          </p:txBody>
        </p:sp>
        <p:sp>
          <p:nvSpPr>
            <p:cNvPr id="60431"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60432"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60433"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4"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5"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6"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7"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8" name="Line 17"/>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9" name="Line 18"/>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40" name="Line 19"/>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41" name="Line 20"/>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42" name="Text Box 21"/>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a:solidFill>
                    <a:srgbClr val="0000FF"/>
                  </a:solidFill>
                  <a:ea typeface="楷体_GB2312" pitchFamily="49" charset="-122"/>
                </a:rPr>
                <a:t>目标层</a:t>
              </a:r>
            </a:p>
            <a:p>
              <a:pPr eaLnBrk="1" hangingPunct="1">
                <a:spcBef>
                  <a:spcPct val="50000"/>
                </a:spcBef>
              </a:pPr>
              <a:endParaRPr lang="zh-CN" altLang="en-US" sz="1200"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准则层</a:t>
              </a:r>
            </a:p>
            <a:p>
              <a:pPr eaLnBrk="1" hangingPunct="1">
                <a:spcBef>
                  <a:spcPct val="50000"/>
                </a:spcBef>
              </a:pPr>
              <a:endParaRPr lang="zh-CN" altLang="en-US"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方案层</a:t>
              </a:r>
            </a:p>
          </p:txBody>
        </p:sp>
      </p:grpSp>
      <p:graphicFrame>
        <p:nvGraphicFramePr>
          <p:cNvPr id="124950" name="Object 22"/>
          <p:cNvGraphicFramePr>
            <a:graphicFrameLocks noGrp="1" noChangeAspect="1"/>
          </p:cNvGraphicFramePr>
          <p:nvPr>
            <p:ph sz="half" idx="2"/>
          </p:nvPr>
        </p:nvGraphicFramePr>
        <p:xfrm>
          <a:off x="7680326" y="4378326"/>
          <a:ext cx="2016125" cy="993775"/>
        </p:xfrm>
        <a:graphic>
          <a:graphicData uri="http://schemas.openxmlformats.org/presentationml/2006/ole">
            <mc:AlternateContent xmlns:mc="http://schemas.openxmlformats.org/markup-compatibility/2006">
              <mc:Choice xmlns:v="urn:schemas-microsoft-com:vml" Requires="v">
                <p:oleObj name="公式" r:id="rId2" imgW="927100" imgH="457200" progId="Equation.3">
                  <p:embed/>
                </p:oleObj>
              </mc:Choice>
              <mc:Fallback>
                <p:oleObj name="公式" r:id="rId2" imgW="927100" imgH="457200" progId="Equation.3">
                  <p:embed/>
                  <p:pic>
                    <p:nvPicPr>
                      <p:cNvPr id="12495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326" y="4378326"/>
                        <a:ext cx="2016125"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22" name="Text Box 23"/>
          <p:cNvSpPr txBox="1">
            <a:spLocks noChangeArrowheads="1"/>
          </p:cNvSpPr>
          <p:nvPr/>
        </p:nvSpPr>
        <p:spPr bwMode="auto">
          <a:xfrm>
            <a:off x="3000375" y="3046562"/>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0.75     0.25</a:t>
            </a:r>
          </a:p>
        </p:txBody>
      </p:sp>
      <p:sp>
        <p:nvSpPr>
          <p:cNvPr id="60423" name="Text Box 24"/>
          <p:cNvSpPr txBox="1">
            <a:spLocks noChangeArrowheads="1"/>
          </p:cNvSpPr>
          <p:nvPr/>
        </p:nvSpPr>
        <p:spPr bwMode="auto">
          <a:xfrm>
            <a:off x="5448300" y="2902099"/>
            <a:ext cx="21605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0.167        0.833</a:t>
            </a:r>
          </a:p>
        </p:txBody>
      </p:sp>
      <p:sp>
        <p:nvSpPr>
          <p:cNvPr id="124955" name="Text Box 27"/>
          <p:cNvSpPr txBox="1">
            <a:spLocks noChangeArrowheads="1"/>
          </p:cNvSpPr>
          <p:nvPr/>
        </p:nvSpPr>
        <p:spPr bwMode="auto">
          <a:xfrm>
            <a:off x="7319964" y="2902099"/>
            <a:ext cx="21605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0.667        0.333</a:t>
            </a:r>
          </a:p>
        </p:txBody>
      </p:sp>
      <p:sp>
        <p:nvSpPr>
          <p:cNvPr id="60425" name="Text Box 28"/>
          <p:cNvSpPr txBox="1">
            <a:spLocks noChangeArrowheads="1"/>
          </p:cNvSpPr>
          <p:nvPr/>
        </p:nvSpPr>
        <p:spPr bwMode="auto">
          <a:xfrm>
            <a:off x="3719513" y="2254399"/>
            <a:ext cx="52562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0.129                  0.646                          0.215</a:t>
            </a:r>
          </a:p>
        </p:txBody>
      </p:sp>
      <p:sp>
        <p:nvSpPr>
          <p:cNvPr id="2" name="灯片编号占位符 1">
            <a:extLst>
              <a:ext uri="{FF2B5EF4-FFF2-40B4-BE49-F238E27FC236}">
                <a16:creationId xmlns:a16="http://schemas.microsoft.com/office/drawing/2014/main" id="{79B5E1EA-6458-EC14-3875-46DEC9605799}"/>
              </a:ext>
            </a:extLst>
          </p:cNvPr>
          <p:cNvSpPr>
            <a:spLocks noGrp="1"/>
          </p:cNvSpPr>
          <p:nvPr>
            <p:ph type="sldNum" sz="quarter" idx="11"/>
          </p:nvPr>
        </p:nvSpPr>
        <p:spPr/>
        <p:txBody>
          <a:bodyPr/>
          <a:lstStyle/>
          <a:p>
            <a:pPr>
              <a:defRPr/>
            </a:pPr>
            <a:fld id="{EF14D0C4-B0EC-4578-B6E4-F9BC91400248}" type="slidenum">
              <a:rPr lang="en-US" altLang="zh-CN" smtClean="0"/>
              <a:pPr>
                <a:defRPr/>
              </a:pPr>
              <a:t>23</a:t>
            </a:fld>
            <a:endParaRPr lang="en-US" altLang="zh-CN"/>
          </a:p>
        </p:txBody>
      </p:sp>
    </p:spTree>
    <p:extLst>
      <p:ext uri="{BB962C8B-B14F-4D97-AF65-F5344CB8AC3E}">
        <p14:creationId xmlns:p14="http://schemas.microsoft.com/office/powerpoint/2010/main" val="10628961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1">
                                            <p:txEl>
                                              <p:pRg st="4" end="4"/>
                                            </p:txEl>
                                          </p:spTgt>
                                        </p:tgtEl>
                                        <p:attrNameLst>
                                          <p:attrName>style.visibility</p:attrName>
                                        </p:attrNameLst>
                                      </p:cBhvr>
                                      <p:to>
                                        <p:strVal val="visible"/>
                                      </p:to>
                                    </p:set>
                                    <p:animEffect transition="in" filter="wipe(left)">
                                      <p:cBhvr>
                                        <p:cTn id="7" dur="500"/>
                                        <p:tgtEl>
                                          <p:spTgt spid="124931">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31">
                                            <p:txEl>
                                              <p:pRg st="5" end="5"/>
                                            </p:txEl>
                                          </p:spTgt>
                                        </p:tgtEl>
                                        <p:attrNameLst>
                                          <p:attrName>style.visibility</p:attrName>
                                        </p:attrNameLst>
                                      </p:cBhvr>
                                      <p:to>
                                        <p:strVal val="visible"/>
                                      </p:to>
                                    </p:set>
                                    <p:animEffect transition="in" filter="wipe(left)">
                                      <p:cBhvr>
                                        <p:cTn id="12" dur="500"/>
                                        <p:tgtEl>
                                          <p:spTgt spid="124931">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24950"/>
                                        </p:tgtEl>
                                        <p:attrNameLst>
                                          <p:attrName>style.visibility</p:attrName>
                                        </p:attrNameLst>
                                      </p:cBhvr>
                                      <p:to>
                                        <p:strVal val="visible"/>
                                      </p:to>
                                    </p:set>
                                    <p:anim calcmode="lin" valueType="num">
                                      <p:cBhvr additive="base">
                                        <p:cTn id="17" dur="500" fill="hold"/>
                                        <p:tgtEl>
                                          <p:spTgt spid="124950"/>
                                        </p:tgtEl>
                                        <p:attrNameLst>
                                          <p:attrName>ppt_x</p:attrName>
                                        </p:attrNameLst>
                                      </p:cBhvr>
                                      <p:tavLst>
                                        <p:tav tm="0">
                                          <p:val>
                                            <p:strVal val="#ppt_x"/>
                                          </p:val>
                                        </p:tav>
                                        <p:tav tm="100000">
                                          <p:val>
                                            <p:strVal val="#ppt_x"/>
                                          </p:val>
                                        </p:tav>
                                      </p:tavLst>
                                    </p:anim>
                                    <p:anim calcmode="lin" valueType="num">
                                      <p:cBhvr additive="base">
                                        <p:cTn id="18" dur="500" fill="hold"/>
                                        <p:tgtEl>
                                          <p:spTgt spid="12495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4931">
                                            <p:txEl>
                                              <p:pRg st="6" end="6"/>
                                            </p:txEl>
                                          </p:spTgt>
                                        </p:tgtEl>
                                        <p:attrNameLst>
                                          <p:attrName>style.visibility</p:attrName>
                                        </p:attrNameLst>
                                      </p:cBhvr>
                                      <p:to>
                                        <p:strVal val="visible"/>
                                      </p:to>
                                    </p:set>
                                    <p:animEffect transition="in" filter="wipe(left)">
                                      <p:cBhvr>
                                        <p:cTn id="23" dur="500"/>
                                        <p:tgtEl>
                                          <p:spTgt spid="124931">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4931">
                                            <p:txEl>
                                              <p:pRg st="7" end="7"/>
                                            </p:txEl>
                                          </p:spTgt>
                                        </p:tgtEl>
                                        <p:attrNameLst>
                                          <p:attrName>style.visibility</p:attrName>
                                        </p:attrNameLst>
                                      </p:cBhvr>
                                      <p:to>
                                        <p:strVal val="visible"/>
                                      </p:to>
                                    </p:set>
                                    <p:animEffect transition="in" filter="wipe(left)">
                                      <p:cBhvr>
                                        <p:cTn id="28" dur="500"/>
                                        <p:tgtEl>
                                          <p:spTgt spid="124931">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4931">
                                            <p:txEl>
                                              <p:pRg st="8" end="8"/>
                                            </p:txEl>
                                          </p:spTgt>
                                        </p:tgtEl>
                                        <p:attrNameLst>
                                          <p:attrName>style.visibility</p:attrName>
                                        </p:attrNameLst>
                                      </p:cBhvr>
                                      <p:to>
                                        <p:strVal val="visible"/>
                                      </p:to>
                                    </p:set>
                                    <p:animEffect transition="in" filter="wipe(left)">
                                      <p:cBhvr>
                                        <p:cTn id="33" dur="500"/>
                                        <p:tgtEl>
                                          <p:spTgt spid="124931">
                                            <p:txEl>
                                              <p:pRg st="8" end="8"/>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4931">
                                            <p:txEl>
                                              <p:pRg st="9" end="9"/>
                                            </p:txEl>
                                          </p:spTgt>
                                        </p:tgtEl>
                                        <p:attrNameLst>
                                          <p:attrName>style.visibility</p:attrName>
                                        </p:attrNameLst>
                                      </p:cBhvr>
                                      <p:to>
                                        <p:strVal val="visible"/>
                                      </p:to>
                                    </p:set>
                                    <p:animEffect transition="in" filter="wipe(left)">
                                      <p:cBhvr>
                                        <p:cTn id="38" dur="500"/>
                                        <p:tgtEl>
                                          <p:spTgt spid="124931">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4955"/>
                                        </p:tgtEl>
                                        <p:attrNameLst>
                                          <p:attrName>style.visibility</p:attrName>
                                        </p:attrNameLst>
                                      </p:cBhvr>
                                      <p:to>
                                        <p:strVal val="visible"/>
                                      </p:to>
                                    </p:set>
                                    <p:animEffect transition="in" filter="blinds(horizontal)">
                                      <p:cBhvr>
                                        <p:cTn id="43" dur="500"/>
                                        <p:tgtEl>
                                          <p:spTgt spid="124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uild="p"/>
      <p:bldP spid="12495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063750" y="188913"/>
            <a:ext cx="8229600" cy="1371600"/>
          </a:xfrm>
        </p:spPr>
        <p:txBody>
          <a:bodyPr/>
          <a:lstStyle/>
          <a:p>
            <a:pPr eaLnBrk="1" hangingPunct="1"/>
            <a:r>
              <a:rPr lang="zh-CN" altLang="en-US">
                <a:solidFill>
                  <a:srgbClr val="008000"/>
                </a:solidFill>
                <a:ea typeface="黑体" pitchFamily="2" charset="-122"/>
              </a:rPr>
              <a:t>层次分析法举例</a:t>
            </a:r>
            <a:r>
              <a:rPr lang="en-US" altLang="zh-CN">
                <a:solidFill>
                  <a:srgbClr val="008000"/>
                </a:solidFill>
                <a:ea typeface="黑体" pitchFamily="2" charset="-122"/>
              </a:rPr>
              <a:t>——</a:t>
            </a:r>
            <a:r>
              <a:rPr lang="zh-CN" altLang="en-US">
                <a:ea typeface="黑体" pitchFamily="2" charset="-122"/>
              </a:rPr>
              <a:t>利润分配</a:t>
            </a:r>
          </a:p>
        </p:txBody>
      </p:sp>
      <p:sp>
        <p:nvSpPr>
          <p:cNvPr id="125955" name="Rectangle 3"/>
          <p:cNvSpPr>
            <a:spLocks noGrp="1" noChangeArrowheads="1"/>
          </p:cNvSpPr>
          <p:nvPr>
            <p:ph type="body" sz="half" idx="1"/>
          </p:nvPr>
        </p:nvSpPr>
        <p:spPr>
          <a:xfrm>
            <a:off x="1055440" y="1268413"/>
            <a:ext cx="10081120" cy="5400674"/>
          </a:xfrm>
        </p:spPr>
        <p:txBody>
          <a:bodyPr/>
          <a:lstStyle/>
          <a:p>
            <a:pPr eaLnBrk="1" hangingPunct="1">
              <a:buFont typeface="Wingdings" pitchFamily="2" charset="2"/>
              <a:buNone/>
            </a:pPr>
            <a:r>
              <a:rPr lang="zh-CN" altLang="en-US" sz="2800" dirty="0">
                <a:solidFill>
                  <a:srgbClr val="FF0000"/>
                </a:solidFill>
                <a:ea typeface="黑体" pitchFamily="2" charset="-122"/>
              </a:rPr>
              <a:t>第四步：层次总排序及其组合一致性检验</a:t>
            </a:r>
          </a:p>
          <a:p>
            <a:pPr eaLnBrk="1" hangingPunct="1"/>
            <a:endParaRPr lang="zh-CN" altLang="en-US" sz="40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endParaRPr lang="zh-CN" altLang="en-US" sz="4000" dirty="0">
              <a:solidFill>
                <a:srgbClr val="FF0000"/>
              </a:solidFill>
              <a:ea typeface="黑体" pitchFamily="2" charset="-122"/>
            </a:endParaRPr>
          </a:p>
          <a:p>
            <a:pPr eaLnBrk="1" hangingPunct="1"/>
            <a:r>
              <a:rPr lang="zh-CN" altLang="en-US" sz="2400" b="1" dirty="0">
                <a:ea typeface="楷体_GB2312" pitchFamily="49" charset="-122"/>
              </a:rPr>
              <a:t>层次总排序为，</a:t>
            </a:r>
          </a:p>
          <a:p>
            <a:pPr lvl="1" eaLnBrk="1" hangingPunct="1"/>
            <a:endParaRPr lang="zh-CN" altLang="en-US" sz="2000" b="1" dirty="0">
              <a:solidFill>
                <a:srgbClr val="008000"/>
              </a:solidFill>
              <a:ea typeface="楷体_GB2312" pitchFamily="49" charset="-122"/>
            </a:endParaRPr>
          </a:p>
          <a:p>
            <a:pPr lvl="1" eaLnBrk="1" hangingPunct="1"/>
            <a:endParaRPr lang="zh-CN" altLang="en-US" sz="2000" b="1" dirty="0">
              <a:solidFill>
                <a:srgbClr val="008000"/>
              </a:solidFill>
              <a:ea typeface="楷体_GB2312" pitchFamily="49" charset="-122"/>
            </a:endParaRPr>
          </a:p>
          <a:p>
            <a:pPr lvl="1" eaLnBrk="1" hangingPunct="1"/>
            <a:r>
              <a:rPr lang="zh-CN" altLang="en-US" sz="2400" b="1" dirty="0">
                <a:solidFill>
                  <a:srgbClr val="008000"/>
                </a:solidFill>
                <a:ea typeface="楷体_GB2312" pitchFamily="49" charset="-122"/>
              </a:rPr>
              <a:t>层次总排序组合一致性检验</a:t>
            </a:r>
            <a:endParaRPr lang="zh-CN" altLang="en-US" sz="2400" b="1" baseline="30000" dirty="0">
              <a:solidFill>
                <a:srgbClr val="008000"/>
              </a:solidFill>
              <a:ea typeface="楷体_GB2312" pitchFamily="49" charset="-122"/>
            </a:endParaRPr>
          </a:p>
          <a:p>
            <a:pPr lvl="1" eaLnBrk="1" hangingPunct="1"/>
            <a:endParaRPr lang="zh-CN" altLang="en-US" b="1" dirty="0">
              <a:ea typeface="楷体_GB2312" pitchFamily="49" charset="-122"/>
            </a:endParaRPr>
          </a:p>
          <a:p>
            <a:pPr lvl="1" eaLnBrk="1" hangingPunct="1"/>
            <a:r>
              <a:rPr lang="zh-CN" altLang="en-US" sz="2000" b="1" dirty="0">
                <a:ea typeface="楷体_GB2312" pitchFamily="49" charset="-122"/>
              </a:rPr>
              <a:t>即</a:t>
            </a:r>
            <a:r>
              <a:rPr lang="zh-CN" altLang="en-US" sz="2000" b="1" u="sng" dirty="0">
                <a:ea typeface="楷体_GB2312" pitchFamily="49" charset="-122"/>
              </a:rPr>
              <a:t>发奖金给职工</a:t>
            </a:r>
            <a:r>
              <a:rPr lang="en-US" altLang="zh-CN" sz="2000" b="1" u="sng" dirty="0">
                <a:ea typeface="楷体_GB2312" pitchFamily="49" charset="-122"/>
              </a:rPr>
              <a:t>P</a:t>
            </a:r>
            <a:r>
              <a:rPr lang="en-US" altLang="zh-CN" sz="2000" b="1" u="sng" baseline="-25000" dirty="0">
                <a:ea typeface="楷体_GB2312" pitchFamily="49" charset="-122"/>
              </a:rPr>
              <a:t>1 </a:t>
            </a:r>
            <a:r>
              <a:rPr lang="zh-CN" altLang="en-US" sz="2000" b="1" u="sng" dirty="0">
                <a:ea typeface="楷体_GB2312" pitchFamily="49" charset="-122"/>
              </a:rPr>
              <a:t>、扩建集体福利设施</a:t>
            </a:r>
            <a:r>
              <a:rPr lang="en-US" altLang="zh-CN" sz="2000" b="1" u="sng" dirty="0">
                <a:ea typeface="楷体_GB2312" pitchFamily="49" charset="-122"/>
              </a:rPr>
              <a:t>P</a:t>
            </a:r>
            <a:r>
              <a:rPr lang="en-US" altLang="zh-CN" sz="2000" b="1" u="sng" baseline="-25000" dirty="0">
                <a:ea typeface="楷体_GB2312" pitchFamily="49" charset="-122"/>
              </a:rPr>
              <a:t>2</a:t>
            </a:r>
            <a:r>
              <a:rPr lang="zh-CN" altLang="en-US" sz="2000" b="1" u="sng" dirty="0">
                <a:ea typeface="楷体_GB2312" pitchFamily="49" charset="-122"/>
              </a:rPr>
              <a:t>、引进新技术新设备</a:t>
            </a:r>
            <a:r>
              <a:rPr lang="en-US" altLang="zh-CN" sz="2000" b="1" u="sng" dirty="0">
                <a:ea typeface="楷体_GB2312" pitchFamily="49" charset="-122"/>
              </a:rPr>
              <a:t>P</a:t>
            </a:r>
            <a:r>
              <a:rPr lang="en-US" altLang="zh-CN" sz="2000" b="1" u="sng" baseline="-25000" dirty="0">
                <a:ea typeface="楷体_GB2312" pitchFamily="49" charset="-122"/>
              </a:rPr>
              <a:t>3</a:t>
            </a:r>
            <a:r>
              <a:rPr lang="zh-CN" altLang="en-US" sz="2000" b="1" dirty="0">
                <a:ea typeface="楷体_GB2312" pitchFamily="49" charset="-122"/>
              </a:rPr>
              <a:t>关于</a:t>
            </a:r>
            <a:r>
              <a:rPr lang="zh-CN" altLang="en-US" sz="2000" b="1" dirty="0">
                <a:solidFill>
                  <a:srgbClr val="CC0099"/>
                </a:solidFill>
                <a:ea typeface="楷体_GB2312" pitchFamily="49" charset="-122"/>
              </a:rPr>
              <a:t>合理使用企业利润</a:t>
            </a:r>
            <a:r>
              <a:rPr lang="en-US" altLang="zh-CN" sz="2000" b="1" dirty="0">
                <a:solidFill>
                  <a:srgbClr val="CC0099"/>
                </a:solidFill>
                <a:ea typeface="楷体_GB2312" pitchFamily="49" charset="-122"/>
              </a:rPr>
              <a:t>G</a:t>
            </a:r>
            <a:r>
              <a:rPr lang="zh-CN" altLang="en-US" sz="2000" b="1" dirty="0">
                <a:ea typeface="楷体_GB2312" pitchFamily="49" charset="-122"/>
              </a:rPr>
              <a:t>的权重为</a:t>
            </a:r>
            <a:r>
              <a:rPr lang="zh-CN" altLang="en-US" sz="2000" b="1" dirty="0">
                <a:solidFill>
                  <a:srgbClr val="0000FF"/>
                </a:solidFill>
                <a:ea typeface="楷体_GB2312" pitchFamily="49" charset="-122"/>
              </a:rPr>
              <a:t>： </a:t>
            </a:r>
            <a:r>
              <a:rPr lang="en-US" altLang="zh-CN" sz="2000" b="1" dirty="0">
                <a:solidFill>
                  <a:srgbClr val="FF0000"/>
                </a:solidFill>
                <a:ea typeface="楷体_GB2312" pitchFamily="49" charset="-122"/>
              </a:rPr>
              <a:t>(0.240, 0.222</a:t>
            </a:r>
            <a:r>
              <a:rPr lang="zh-CN" altLang="en-US" sz="2000" b="1" dirty="0">
                <a:solidFill>
                  <a:srgbClr val="FF0000"/>
                </a:solidFill>
                <a:ea typeface="楷体_GB2312" pitchFamily="49" charset="-122"/>
              </a:rPr>
              <a:t>， </a:t>
            </a:r>
            <a:r>
              <a:rPr lang="en-US" altLang="zh-CN" sz="2000" b="1" dirty="0">
                <a:solidFill>
                  <a:srgbClr val="FF0000"/>
                </a:solidFill>
                <a:ea typeface="楷体_GB2312" pitchFamily="49" charset="-122"/>
              </a:rPr>
              <a:t>0.538)</a:t>
            </a:r>
          </a:p>
        </p:txBody>
      </p:sp>
      <p:graphicFrame>
        <p:nvGraphicFramePr>
          <p:cNvPr id="125974" name="Object 22"/>
          <p:cNvGraphicFramePr>
            <a:graphicFrameLocks noGrp="1" noChangeAspect="1"/>
          </p:cNvGraphicFramePr>
          <p:nvPr>
            <p:ph sz="quarter" idx="2"/>
            <p:extLst>
              <p:ext uri="{D42A27DB-BD31-4B8C-83A1-F6EECF244321}">
                <p14:modId xmlns:p14="http://schemas.microsoft.com/office/powerpoint/2010/main" val="3448738230"/>
              </p:ext>
            </p:extLst>
          </p:nvPr>
        </p:nvGraphicFramePr>
        <p:xfrm>
          <a:off x="3082925" y="4049713"/>
          <a:ext cx="4729163" cy="1166812"/>
        </p:xfrm>
        <a:graphic>
          <a:graphicData uri="http://schemas.openxmlformats.org/presentationml/2006/ole">
            <mc:AlternateContent xmlns:mc="http://schemas.openxmlformats.org/markup-compatibility/2006">
              <mc:Choice xmlns:v="urn:schemas-microsoft-com:vml" Requires="v">
                <p:oleObj name="Equation" r:id="rId2" imgW="2882880" imgH="711000" progId="Equation.DSMT4">
                  <p:embed/>
                </p:oleObj>
              </mc:Choice>
              <mc:Fallback>
                <p:oleObj name="Equation" r:id="rId2" imgW="2882880" imgH="711000" progId="Equation.DSMT4">
                  <p:embed/>
                  <p:pic>
                    <p:nvPicPr>
                      <p:cNvPr id="125974" name="Object 22"/>
                      <p:cNvPicPr>
                        <a:picLocks noChangeAspect="1" noChangeArrowheads="1"/>
                      </p:cNvPicPr>
                      <p:nvPr/>
                    </p:nvPicPr>
                    <p:blipFill>
                      <a:blip r:embed="rId3"/>
                      <a:srcRect/>
                      <a:stretch>
                        <a:fillRect/>
                      </a:stretch>
                    </p:blipFill>
                    <p:spPr bwMode="auto">
                      <a:xfrm>
                        <a:off x="3082925" y="4049713"/>
                        <a:ext cx="4729163" cy="1166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45" name="Group 4"/>
          <p:cNvGrpSpPr>
            <a:grpSpLocks/>
          </p:cNvGrpSpPr>
          <p:nvPr/>
        </p:nvGrpSpPr>
        <p:grpSpPr bwMode="auto">
          <a:xfrm>
            <a:off x="1774826" y="1790701"/>
            <a:ext cx="7921625" cy="2030413"/>
            <a:chOff x="158" y="1264"/>
            <a:chExt cx="4990" cy="1279"/>
          </a:xfrm>
        </p:grpSpPr>
        <p:sp>
          <p:nvSpPr>
            <p:cNvPr id="61453" name="Text Box 5"/>
            <p:cNvSpPr txBox="1">
              <a:spLocks noChangeArrowheads="1"/>
            </p:cNvSpPr>
            <p:nvPr/>
          </p:nvSpPr>
          <p:spPr bwMode="auto">
            <a:xfrm>
              <a:off x="2154" y="1264"/>
              <a:ext cx="1497" cy="233"/>
            </a:xfrm>
            <a:prstGeom prst="rect">
              <a:avLst/>
            </a:prstGeom>
            <a:solidFill>
              <a:srgbClr val="FFCC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b="1" dirty="0">
                  <a:ea typeface="楷体_GB2312" pitchFamily="49" charset="-122"/>
                </a:rPr>
                <a:t>合理使用企业利润</a:t>
              </a:r>
              <a:r>
                <a:rPr lang="en-US" altLang="zh-CN" b="1" dirty="0">
                  <a:ea typeface="楷体_GB2312" pitchFamily="49" charset="-122"/>
                </a:rPr>
                <a:t>G</a:t>
              </a:r>
            </a:p>
          </p:txBody>
        </p:sp>
        <p:sp>
          <p:nvSpPr>
            <p:cNvPr id="61454" name="Text Box 6"/>
            <p:cNvSpPr txBox="1">
              <a:spLocks noChangeArrowheads="1"/>
            </p:cNvSpPr>
            <p:nvPr/>
          </p:nvSpPr>
          <p:spPr bwMode="auto">
            <a:xfrm>
              <a:off x="793" y="1741"/>
              <a:ext cx="122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调动职工积极性</a:t>
              </a:r>
              <a:r>
                <a:rPr lang="en-US" altLang="zh-CN" sz="1600" b="1">
                  <a:ea typeface="楷体_GB2312" pitchFamily="49" charset="-122"/>
                </a:rPr>
                <a:t>C</a:t>
              </a:r>
              <a:r>
                <a:rPr lang="en-US" altLang="zh-CN" sz="1600" b="1" baseline="-25000">
                  <a:ea typeface="楷体_GB2312" pitchFamily="49" charset="-122"/>
                </a:rPr>
                <a:t>1</a:t>
              </a:r>
            </a:p>
          </p:txBody>
        </p:sp>
        <p:sp>
          <p:nvSpPr>
            <p:cNvPr id="61455" name="Text Box 7"/>
            <p:cNvSpPr txBox="1">
              <a:spLocks noChangeArrowheads="1"/>
            </p:cNvSpPr>
            <p:nvPr/>
          </p:nvSpPr>
          <p:spPr bwMode="auto">
            <a:xfrm>
              <a:off x="2245" y="1741"/>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提高企业技术水平</a:t>
              </a:r>
              <a:r>
                <a:rPr lang="en-US" altLang="zh-CN" sz="1600" b="1">
                  <a:ea typeface="楷体_GB2312" pitchFamily="49" charset="-122"/>
                </a:rPr>
                <a:t>C</a:t>
              </a:r>
              <a:r>
                <a:rPr lang="en-US" altLang="zh-CN" sz="1600" b="1" baseline="-25000">
                  <a:ea typeface="楷体_GB2312" pitchFamily="49" charset="-122"/>
                </a:rPr>
                <a:t>2</a:t>
              </a:r>
            </a:p>
          </p:txBody>
        </p:sp>
        <p:sp>
          <p:nvSpPr>
            <p:cNvPr id="61456" name="Text Box 8"/>
            <p:cNvSpPr txBox="1">
              <a:spLocks noChangeArrowheads="1"/>
            </p:cNvSpPr>
            <p:nvPr/>
          </p:nvSpPr>
          <p:spPr bwMode="auto">
            <a:xfrm>
              <a:off x="3833" y="1740"/>
              <a:ext cx="1315" cy="213"/>
            </a:xfrm>
            <a:prstGeom prst="rect">
              <a:avLst/>
            </a:prstGeom>
            <a:solidFill>
              <a:srgbClr val="66FF66"/>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改善职工生活条件</a:t>
              </a:r>
              <a:r>
                <a:rPr lang="en-US" altLang="zh-CN" sz="1600" b="1">
                  <a:ea typeface="楷体_GB2312" pitchFamily="49" charset="-122"/>
                </a:rPr>
                <a:t>C</a:t>
              </a:r>
              <a:r>
                <a:rPr lang="en-US" altLang="zh-CN" sz="1600" b="1" baseline="-25000">
                  <a:ea typeface="楷体_GB2312" pitchFamily="49" charset="-122"/>
                </a:rPr>
                <a:t>3</a:t>
              </a:r>
            </a:p>
          </p:txBody>
        </p:sp>
        <p:sp>
          <p:nvSpPr>
            <p:cNvPr id="61457" name="Text Box 9"/>
            <p:cNvSpPr txBox="1">
              <a:spLocks noChangeArrowheads="1"/>
            </p:cNvSpPr>
            <p:nvPr/>
          </p:nvSpPr>
          <p:spPr bwMode="auto">
            <a:xfrm>
              <a:off x="793" y="2330"/>
              <a:ext cx="1134"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dirty="0">
                  <a:ea typeface="楷体_GB2312" pitchFamily="49" charset="-122"/>
                </a:rPr>
                <a:t>发奖金给职工</a:t>
              </a:r>
              <a:r>
                <a:rPr lang="en-US" altLang="zh-CN" sz="1600" b="1" dirty="0">
                  <a:ea typeface="楷体_GB2312" pitchFamily="49" charset="-122"/>
                </a:rPr>
                <a:t>P</a:t>
              </a:r>
              <a:r>
                <a:rPr lang="en-US" altLang="zh-CN" sz="1600" b="1" baseline="-25000" dirty="0">
                  <a:ea typeface="楷体_GB2312" pitchFamily="49" charset="-122"/>
                </a:rPr>
                <a:t>1</a:t>
              </a:r>
            </a:p>
          </p:txBody>
        </p:sp>
        <p:sp>
          <p:nvSpPr>
            <p:cNvPr id="61458" name="Text Box 10"/>
            <p:cNvSpPr txBox="1">
              <a:spLocks noChangeArrowheads="1"/>
            </p:cNvSpPr>
            <p:nvPr/>
          </p:nvSpPr>
          <p:spPr bwMode="auto">
            <a:xfrm>
              <a:off x="2245" y="2330"/>
              <a:ext cx="1361"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扩建集体福利设施</a:t>
              </a:r>
              <a:r>
                <a:rPr lang="en-US" altLang="zh-CN" sz="1600" b="1">
                  <a:ea typeface="楷体_GB2312" pitchFamily="49" charset="-122"/>
                </a:rPr>
                <a:t>P</a:t>
              </a:r>
              <a:r>
                <a:rPr lang="en-US" altLang="zh-CN" sz="1600" b="1" baseline="-25000">
                  <a:ea typeface="楷体_GB2312" pitchFamily="49" charset="-122"/>
                </a:rPr>
                <a:t>2</a:t>
              </a:r>
            </a:p>
          </p:txBody>
        </p:sp>
        <p:sp>
          <p:nvSpPr>
            <p:cNvPr id="61459" name="Text Box 11"/>
            <p:cNvSpPr txBox="1">
              <a:spLocks noChangeArrowheads="1"/>
            </p:cNvSpPr>
            <p:nvPr/>
          </p:nvSpPr>
          <p:spPr bwMode="auto">
            <a:xfrm>
              <a:off x="3833" y="2330"/>
              <a:ext cx="1315" cy="213"/>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spcBef>
                  <a:spcPct val="50000"/>
                </a:spcBef>
              </a:pPr>
              <a:r>
                <a:rPr lang="zh-CN" altLang="en-US" sz="1600" b="1">
                  <a:ea typeface="楷体_GB2312" pitchFamily="49" charset="-122"/>
                </a:rPr>
                <a:t>引进新技术新设备</a:t>
              </a:r>
              <a:r>
                <a:rPr lang="en-US" altLang="zh-CN" sz="1600" b="1">
                  <a:ea typeface="楷体_GB2312" pitchFamily="49" charset="-122"/>
                </a:rPr>
                <a:t>P</a:t>
              </a:r>
              <a:r>
                <a:rPr lang="en-US" altLang="zh-CN" sz="1600" b="1" baseline="-25000">
                  <a:ea typeface="楷体_GB2312" pitchFamily="49" charset="-122"/>
                </a:rPr>
                <a:t>3</a:t>
              </a:r>
            </a:p>
          </p:txBody>
        </p:sp>
        <p:sp>
          <p:nvSpPr>
            <p:cNvPr id="61460" name="Line 12"/>
            <p:cNvSpPr>
              <a:spLocks noChangeShapeType="1"/>
            </p:cNvSpPr>
            <p:nvPr/>
          </p:nvSpPr>
          <p:spPr bwMode="auto">
            <a:xfrm flipV="1">
              <a:off x="2902" y="1519"/>
              <a:ext cx="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1" name="Line 13"/>
            <p:cNvSpPr>
              <a:spLocks noChangeShapeType="1"/>
            </p:cNvSpPr>
            <p:nvPr/>
          </p:nvSpPr>
          <p:spPr bwMode="auto">
            <a:xfrm flipH="1">
              <a:off x="1292" y="1519"/>
              <a:ext cx="1610" cy="222"/>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2" name="Line 14"/>
            <p:cNvSpPr>
              <a:spLocks noChangeShapeType="1"/>
            </p:cNvSpPr>
            <p:nvPr/>
          </p:nvSpPr>
          <p:spPr bwMode="auto">
            <a:xfrm>
              <a:off x="2902" y="1519"/>
              <a:ext cx="1566" cy="221"/>
            </a:xfrm>
            <a:prstGeom prst="line">
              <a:avLst/>
            </a:prstGeom>
            <a:noFill/>
            <a:ln w="190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3" name="Line 15"/>
            <p:cNvSpPr>
              <a:spLocks noChangeShapeType="1"/>
            </p:cNvSpPr>
            <p:nvPr/>
          </p:nvSpPr>
          <p:spPr bwMode="auto">
            <a:xfrm flipV="1">
              <a:off x="2902" y="1963"/>
              <a:ext cx="0"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4" name="Line 16"/>
            <p:cNvSpPr>
              <a:spLocks noChangeShapeType="1"/>
            </p:cNvSpPr>
            <p:nvPr/>
          </p:nvSpPr>
          <p:spPr bwMode="auto">
            <a:xfrm flipV="1">
              <a:off x="1338" y="1933"/>
              <a:ext cx="0" cy="39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5" name="Line 17"/>
            <p:cNvSpPr>
              <a:spLocks noChangeShapeType="1"/>
            </p:cNvSpPr>
            <p:nvPr/>
          </p:nvSpPr>
          <p:spPr bwMode="auto">
            <a:xfrm>
              <a:off x="1338" y="1979"/>
              <a:ext cx="1564" cy="3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6" name="Line 18"/>
            <p:cNvSpPr>
              <a:spLocks noChangeShapeType="1"/>
            </p:cNvSpPr>
            <p:nvPr/>
          </p:nvSpPr>
          <p:spPr bwMode="auto">
            <a:xfrm>
              <a:off x="2902" y="1963"/>
              <a:ext cx="1566" cy="36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7" name="Line 19"/>
            <p:cNvSpPr>
              <a:spLocks noChangeShapeType="1"/>
            </p:cNvSpPr>
            <p:nvPr/>
          </p:nvSpPr>
          <p:spPr bwMode="auto">
            <a:xfrm flipH="1">
              <a:off x="2902" y="1979"/>
              <a:ext cx="1566" cy="352"/>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8" name="Line 20"/>
            <p:cNvSpPr>
              <a:spLocks noChangeShapeType="1"/>
            </p:cNvSpPr>
            <p:nvPr/>
          </p:nvSpPr>
          <p:spPr bwMode="auto">
            <a:xfrm flipH="1">
              <a:off x="1338" y="1979"/>
              <a:ext cx="3130" cy="317"/>
            </a:xfrm>
            <a:prstGeom prst="line">
              <a:avLst/>
            </a:prstGeom>
            <a:noFill/>
            <a:ln w="19050">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9" name="Text Box 21"/>
            <p:cNvSpPr txBox="1">
              <a:spLocks noChangeArrowheads="1"/>
            </p:cNvSpPr>
            <p:nvPr/>
          </p:nvSpPr>
          <p:spPr bwMode="auto">
            <a:xfrm>
              <a:off x="158" y="1335"/>
              <a:ext cx="793" cy="1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b="1">
                  <a:solidFill>
                    <a:srgbClr val="0000FF"/>
                  </a:solidFill>
                  <a:ea typeface="楷体_GB2312" pitchFamily="49" charset="-122"/>
                </a:rPr>
                <a:t>目标层</a:t>
              </a:r>
            </a:p>
            <a:p>
              <a:pPr eaLnBrk="1" hangingPunct="1">
                <a:spcBef>
                  <a:spcPct val="50000"/>
                </a:spcBef>
              </a:pPr>
              <a:endParaRPr lang="zh-CN" altLang="en-US" sz="1200"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准则层</a:t>
              </a:r>
            </a:p>
            <a:p>
              <a:pPr eaLnBrk="1" hangingPunct="1">
                <a:spcBef>
                  <a:spcPct val="50000"/>
                </a:spcBef>
              </a:pPr>
              <a:endParaRPr lang="zh-CN" altLang="en-US" b="1">
                <a:solidFill>
                  <a:srgbClr val="0000FF"/>
                </a:solidFill>
                <a:ea typeface="楷体_GB2312" pitchFamily="49" charset="-122"/>
              </a:endParaRPr>
            </a:p>
            <a:p>
              <a:pPr eaLnBrk="1" hangingPunct="1">
                <a:spcBef>
                  <a:spcPct val="50000"/>
                </a:spcBef>
              </a:pPr>
              <a:r>
                <a:rPr lang="zh-CN" altLang="en-US" b="1">
                  <a:solidFill>
                    <a:srgbClr val="0000FF"/>
                  </a:solidFill>
                  <a:ea typeface="楷体_GB2312" pitchFamily="49" charset="-122"/>
                </a:rPr>
                <a:t>方案层</a:t>
              </a:r>
            </a:p>
          </p:txBody>
        </p:sp>
      </p:grpSp>
      <p:sp>
        <p:nvSpPr>
          <p:cNvPr id="125975" name="Rectangle 23"/>
          <p:cNvSpPr>
            <a:spLocks noChangeArrowheads="1"/>
          </p:cNvSpPr>
          <p:nvPr/>
        </p:nvSpPr>
        <p:spPr bwMode="auto">
          <a:xfrm>
            <a:off x="7863145" y="4357409"/>
            <a:ext cx="32223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chemeClr val="accent2"/>
              </a:buClr>
              <a:buSzPct val="80000"/>
              <a:buFont typeface="Wingdings" pitchFamily="2" charset="2"/>
              <a:buNone/>
            </a:pPr>
            <a:r>
              <a:rPr lang="en-US" altLang="zh-CN" sz="2400" b="1" dirty="0">
                <a:solidFill>
                  <a:srgbClr val="FF0000"/>
                </a:solidFill>
              </a:rPr>
              <a:t>=(0.240, 0.222, 0.538)</a:t>
            </a:r>
          </a:p>
        </p:txBody>
      </p:sp>
      <p:graphicFrame>
        <p:nvGraphicFramePr>
          <p:cNvPr id="125976" name="Object 24"/>
          <p:cNvGraphicFramePr>
            <a:graphicFrameLocks noGrp="1" noChangeAspect="1"/>
          </p:cNvGraphicFramePr>
          <p:nvPr>
            <p:ph sz="quarter" idx="3"/>
            <p:extLst>
              <p:ext uri="{D42A27DB-BD31-4B8C-83A1-F6EECF244321}">
                <p14:modId xmlns:p14="http://schemas.microsoft.com/office/powerpoint/2010/main" val="341374504"/>
              </p:ext>
            </p:extLst>
          </p:nvPr>
        </p:nvGraphicFramePr>
        <p:xfrm>
          <a:off x="1643064" y="4221163"/>
          <a:ext cx="1385887" cy="798512"/>
        </p:xfrm>
        <a:graphic>
          <a:graphicData uri="http://schemas.openxmlformats.org/presentationml/2006/ole">
            <mc:AlternateContent xmlns:mc="http://schemas.openxmlformats.org/markup-compatibility/2006">
              <mc:Choice xmlns:v="urn:schemas-microsoft-com:vml" Requires="v">
                <p:oleObj name="Equation" r:id="rId4" imgW="749160" imgH="431640" progId="Equation.DSMT4">
                  <p:embed/>
                </p:oleObj>
              </mc:Choice>
              <mc:Fallback>
                <p:oleObj name="Equation" r:id="rId4" imgW="749160" imgH="431640" progId="Equation.DSMT4">
                  <p:embed/>
                  <p:pic>
                    <p:nvPicPr>
                      <p:cNvPr id="125976" name="Object 24"/>
                      <p:cNvPicPr>
                        <a:picLocks noChangeAspect="1" noChangeArrowheads="1"/>
                      </p:cNvPicPr>
                      <p:nvPr/>
                    </p:nvPicPr>
                    <p:blipFill>
                      <a:blip r:embed="rId5"/>
                      <a:srcRect/>
                      <a:stretch>
                        <a:fillRect/>
                      </a:stretch>
                    </p:blipFill>
                    <p:spPr bwMode="auto">
                      <a:xfrm>
                        <a:off x="1643064" y="4221163"/>
                        <a:ext cx="1385887" cy="798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8" name="Text Box 26"/>
          <p:cNvSpPr txBox="1">
            <a:spLocks noChangeArrowheads="1"/>
          </p:cNvSpPr>
          <p:nvPr/>
        </p:nvSpPr>
        <p:spPr bwMode="auto">
          <a:xfrm>
            <a:off x="3000375" y="2924176"/>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0.75     0.25</a:t>
            </a:r>
          </a:p>
        </p:txBody>
      </p:sp>
      <p:sp>
        <p:nvSpPr>
          <p:cNvPr id="61449" name="Text Box 27"/>
          <p:cNvSpPr txBox="1">
            <a:spLocks noChangeArrowheads="1"/>
          </p:cNvSpPr>
          <p:nvPr/>
        </p:nvSpPr>
        <p:spPr bwMode="auto">
          <a:xfrm>
            <a:off x="5159375" y="2924176"/>
            <a:ext cx="2160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0.167        0.833</a:t>
            </a:r>
          </a:p>
        </p:txBody>
      </p:sp>
      <p:sp>
        <p:nvSpPr>
          <p:cNvPr id="61450" name="Text Box 28"/>
          <p:cNvSpPr txBox="1">
            <a:spLocks noChangeArrowheads="1"/>
          </p:cNvSpPr>
          <p:nvPr/>
        </p:nvSpPr>
        <p:spPr bwMode="auto">
          <a:xfrm>
            <a:off x="7176121" y="2852937"/>
            <a:ext cx="21605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0.667        0.333</a:t>
            </a:r>
          </a:p>
        </p:txBody>
      </p:sp>
      <p:sp>
        <p:nvSpPr>
          <p:cNvPr id="61451" name="Text Box 29"/>
          <p:cNvSpPr txBox="1">
            <a:spLocks noChangeArrowheads="1"/>
          </p:cNvSpPr>
          <p:nvPr/>
        </p:nvSpPr>
        <p:spPr bwMode="auto">
          <a:xfrm>
            <a:off x="3503613" y="2205038"/>
            <a:ext cx="52562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0.129                    0.646                          0.215</a:t>
            </a:r>
          </a:p>
        </p:txBody>
      </p:sp>
      <p:graphicFrame>
        <p:nvGraphicFramePr>
          <p:cNvPr id="125982" name="Object 30"/>
          <p:cNvGraphicFramePr>
            <a:graphicFrameLocks noChangeAspect="1"/>
          </p:cNvGraphicFramePr>
          <p:nvPr>
            <p:extLst>
              <p:ext uri="{D42A27DB-BD31-4B8C-83A1-F6EECF244321}">
                <p14:modId xmlns:p14="http://schemas.microsoft.com/office/powerpoint/2010/main" val="440937699"/>
              </p:ext>
            </p:extLst>
          </p:nvPr>
        </p:nvGraphicFramePr>
        <p:xfrm>
          <a:off x="2416175" y="5411789"/>
          <a:ext cx="7645400" cy="725487"/>
        </p:xfrm>
        <a:graphic>
          <a:graphicData uri="http://schemas.openxmlformats.org/presentationml/2006/ole">
            <mc:AlternateContent xmlns:mc="http://schemas.openxmlformats.org/markup-compatibility/2006">
              <mc:Choice xmlns:v="urn:schemas-microsoft-com:vml" Requires="v">
                <p:oleObj name="Equation" r:id="rId6" imgW="4572000" imgH="431640" progId="Equation.DSMT4">
                  <p:embed/>
                </p:oleObj>
              </mc:Choice>
              <mc:Fallback>
                <p:oleObj name="Equation" r:id="rId6" imgW="4572000" imgH="431640" progId="Equation.DSMT4">
                  <p:embed/>
                  <p:pic>
                    <p:nvPicPr>
                      <p:cNvPr id="125982" name="Object 30"/>
                      <p:cNvPicPr>
                        <a:picLocks noChangeAspect="1" noChangeArrowheads="1"/>
                      </p:cNvPicPr>
                      <p:nvPr/>
                    </p:nvPicPr>
                    <p:blipFill>
                      <a:blip r:embed="rId7"/>
                      <a:srcRect/>
                      <a:stretch>
                        <a:fillRect/>
                      </a:stretch>
                    </p:blipFill>
                    <p:spPr bwMode="auto">
                      <a:xfrm>
                        <a:off x="2416175" y="5411789"/>
                        <a:ext cx="7645400" cy="725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a:extLst>
              <a:ext uri="{FF2B5EF4-FFF2-40B4-BE49-F238E27FC236}">
                <a16:creationId xmlns:a16="http://schemas.microsoft.com/office/drawing/2014/main" id="{261F2C15-0232-F6F5-7DD2-F4B9AE0A9E7B}"/>
              </a:ext>
            </a:extLst>
          </p:cNvPr>
          <p:cNvSpPr>
            <a:spLocks noGrp="1"/>
          </p:cNvSpPr>
          <p:nvPr>
            <p:ph type="sldNum" sz="quarter" idx="11"/>
          </p:nvPr>
        </p:nvSpPr>
        <p:spPr/>
        <p:txBody>
          <a:bodyPr/>
          <a:lstStyle/>
          <a:p>
            <a:pPr>
              <a:defRPr/>
            </a:pPr>
            <a:fld id="{AEE3D6A2-45AE-49BA-A8D8-5E8D3DAE5436}" type="slidenum">
              <a:rPr lang="en-US" altLang="zh-CN" smtClean="0"/>
              <a:pPr>
                <a:defRPr/>
              </a:pPr>
              <a:t>24</a:t>
            </a:fld>
            <a:endParaRPr lang="en-US" altLang="zh-CN"/>
          </a:p>
        </p:txBody>
      </p:sp>
    </p:spTree>
    <p:extLst>
      <p:ext uri="{BB962C8B-B14F-4D97-AF65-F5344CB8AC3E}">
        <p14:creationId xmlns:p14="http://schemas.microsoft.com/office/powerpoint/2010/main" val="22438415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5">
                                            <p:txEl>
                                              <p:pRg st="4" end="4"/>
                                            </p:txEl>
                                          </p:spTgt>
                                        </p:tgtEl>
                                        <p:attrNameLst>
                                          <p:attrName>style.visibility</p:attrName>
                                        </p:attrNameLst>
                                      </p:cBhvr>
                                      <p:to>
                                        <p:strVal val="visible"/>
                                      </p:to>
                                    </p:set>
                                    <p:animEffect transition="in" filter="wipe(left)">
                                      <p:cBhvr>
                                        <p:cTn id="7" dur="500"/>
                                        <p:tgtEl>
                                          <p:spTgt spid="125955">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5976"/>
                                        </p:tgtEl>
                                        <p:attrNameLst>
                                          <p:attrName>style.visibility</p:attrName>
                                        </p:attrNameLst>
                                      </p:cBhvr>
                                      <p:to>
                                        <p:strVal val="visible"/>
                                      </p:to>
                                    </p:set>
                                    <p:animEffect transition="in" filter="wipe(left)">
                                      <p:cBhvr>
                                        <p:cTn id="12" dur="500"/>
                                        <p:tgtEl>
                                          <p:spTgt spid="1259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5974"/>
                                        </p:tgtEl>
                                        <p:attrNameLst>
                                          <p:attrName>style.visibility</p:attrName>
                                        </p:attrNameLst>
                                      </p:cBhvr>
                                      <p:to>
                                        <p:strVal val="visible"/>
                                      </p:to>
                                    </p:set>
                                    <p:animEffect transition="in" filter="wipe(left)">
                                      <p:cBhvr>
                                        <p:cTn id="17" dur="500"/>
                                        <p:tgtEl>
                                          <p:spTgt spid="12597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5975"/>
                                        </p:tgtEl>
                                        <p:attrNameLst>
                                          <p:attrName>style.visibility</p:attrName>
                                        </p:attrNameLst>
                                      </p:cBhvr>
                                      <p:to>
                                        <p:strVal val="visible"/>
                                      </p:to>
                                    </p:set>
                                    <p:animEffect transition="in" filter="wipe(left)">
                                      <p:cBhvr>
                                        <p:cTn id="22" dur="500"/>
                                        <p:tgtEl>
                                          <p:spTgt spid="1259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5955">
                                            <p:txEl>
                                              <p:pRg st="7" end="7"/>
                                            </p:txEl>
                                          </p:spTgt>
                                        </p:tgtEl>
                                        <p:attrNameLst>
                                          <p:attrName>style.visibility</p:attrName>
                                        </p:attrNameLst>
                                      </p:cBhvr>
                                      <p:to>
                                        <p:strVal val="visible"/>
                                      </p:to>
                                    </p:set>
                                    <p:animEffect transition="in" filter="wipe(left)">
                                      <p:cBhvr>
                                        <p:cTn id="27" dur="500"/>
                                        <p:tgtEl>
                                          <p:spTgt spid="125955">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25982"/>
                                        </p:tgtEl>
                                        <p:attrNameLst>
                                          <p:attrName>style.visibility</p:attrName>
                                        </p:attrNameLst>
                                      </p:cBhvr>
                                      <p:to>
                                        <p:strVal val="visible"/>
                                      </p:to>
                                    </p:set>
                                    <p:animEffect transition="in" filter="wipe(left)">
                                      <p:cBhvr>
                                        <p:cTn id="32" dur="500"/>
                                        <p:tgtEl>
                                          <p:spTgt spid="1259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5955">
                                            <p:txEl>
                                              <p:pRg st="9" end="9"/>
                                            </p:txEl>
                                          </p:spTgt>
                                        </p:tgtEl>
                                        <p:attrNameLst>
                                          <p:attrName>style.visibility</p:attrName>
                                        </p:attrNameLst>
                                      </p:cBhvr>
                                      <p:to>
                                        <p:strVal val="visible"/>
                                      </p:to>
                                    </p:set>
                                    <p:animEffect transition="in" filter="wipe(left)">
                                      <p:cBhvr>
                                        <p:cTn id="37" dur="500"/>
                                        <p:tgtEl>
                                          <p:spTgt spid="1259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P spid="125975" grpId="0"/>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50435</TotalTime>
  <Words>2626</Words>
  <Application>Microsoft Office PowerPoint</Application>
  <PresentationFormat>宽屏</PresentationFormat>
  <Paragraphs>525</Paragraphs>
  <Slides>24</Slides>
  <Notes>6</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24</vt:i4>
      </vt:variant>
    </vt:vector>
  </HeadingPairs>
  <TitlesOfParts>
    <vt:vector size="36" baseType="lpstr">
      <vt:lpstr>黑体</vt:lpstr>
      <vt:lpstr>华文楷体</vt:lpstr>
      <vt:lpstr>楷体</vt:lpstr>
      <vt:lpstr>楷体_GB2312</vt:lpstr>
      <vt:lpstr>隶书</vt:lpstr>
      <vt:lpstr>Arial</vt:lpstr>
      <vt:lpstr>Arial Black</vt:lpstr>
      <vt:lpstr>Times New Roman</vt:lpstr>
      <vt:lpstr>Wingdings</vt:lpstr>
      <vt:lpstr>Pixel</vt:lpstr>
      <vt:lpstr>公式</vt:lpstr>
      <vt:lpstr>Equation</vt:lpstr>
      <vt:lpstr>第 4 章 模糊映射与综合评判</vt:lpstr>
      <vt:lpstr>层次分析法</vt:lpstr>
      <vt:lpstr>层次分析法的实现步骤</vt:lpstr>
      <vt:lpstr>层次分析法的实现步骤</vt:lpstr>
      <vt:lpstr>第一步：递阶层次结构的建立</vt:lpstr>
      <vt:lpstr>典型的递阶层次结构</vt:lpstr>
      <vt:lpstr>层次分析法的实现步骤</vt:lpstr>
      <vt:lpstr>第二步：构造判断矩阵</vt:lpstr>
      <vt:lpstr>层次分析法的实现步骤</vt:lpstr>
      <vt:lpstr>层次分析法的实现步骤</vt:lpstr>
      <vt:lpstr>层次分析法的实现步骤</vt:lpstr>
      <vt:lpstr>AW=λmaxW的特征向量与特征值的计算</vt:lpstr>
      <vt:lpstr>层次分析法的实现步骤</vt:lpstr>
      <vt:lpstr>层次分析法的实现步骤</vt:lpstr>
      <vt:lpstr>层次分析法举例——利润分配</vt:lpstr>
      <vt:lpstr>层次分析法举例——利润分配</vt:lpstr>
      <vt:lpstr>层次分析法举例——利润分配</vt:lpstr>
      <vt:lpstr>层次分析法举例——利润分配</vt:lpstr>
      <vt:lpstr>层次分析法举例——利润分配</vt:lpstr>
      <vt:lpstr>层次分析法举例——利润分配</vt:lpstr>
      <vt:lpstr>层次分析法举例——利润分配</vt:lpstr>
      <vt:lpstr>层次分析法举例——利润分配</vt:lpstr>
      <vt:lpstr>层次分析法举例——利润分配</vt:lpstr>
      <vt:lpstr>层次分析法举例——利润分配</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4 章 模糊映射与综合评判</dc:title>
  <dc:creator>凌卫新;微软用户</dc:creator>
  <cp:lastModifiedBy>wxling66@outlook.com</cp:lastModifiedBy>
  <cp:revision>551</cp:revision>
  <cp:lastPrinted>2015-04-20T14:16:03Z</cp:lastPrinted>
  <dcterms:created xsi:type="dcterms:W3CDTF">2007-04-24T08:13:12Z</dcterms:created>
  <dcterms:modified xsi:type="dcterms:W3CDTF">2026-05-12T13:02:28Z</dcterms:modified>
</cp:coreProperties>
</file>