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0"/>
  </p:notesMasterIdLst>
  <p:handoutMasterIdLst>
    <p:handoutMasterId r:id="rId51"/>
  </p:handoutMasterIdLst>
  <p:sldIdLst>
    <p:sldId id="264" r:id="rId2"/>
    <p:sldId id="294" r:id="rId3"/>
    <p:sldId id="295" r:id="rId4"/>
    <p:sldId id="296" r:id="rId5"/>
    <p:sldId id="297" r:id="rId6"/>
    <p:sldId id="299" r:id="rId7"/>
    <p:sldId id="300" r:id="rId8"/>
    <p:sldId id="282" r:id="rId9"/>
    <p:sldId id="283" r:id="rId10"/>
    <p:sldId id="292" r:id="rId11"/>
    <p:sldId id="293" r:id="rId12"/>
    <p:sldId id="284" r:id="rId13"/>
    <p:sldId id="285" r:id="rId14"/>
    <p:sldId id="286" r:id="rId15"/>
    <p:sldId id="287" r:id="rId16"/>
    <p:sldId id="288" r:id="rId17"/>
    <p:sldId id="289" r:id="rId18"/>
    <p:sldId id="723" r:id="rId19"/>
    <p:sldId id="290" r:id="rId20"/>
    <p:sldId id="320" r:id="rId21"/>
    <p:sldId id="321" r:id="rId22"/>
    <p:sldId id="322" r:id="rId23"/>
    <p:sldId id="323" r:id="rId24"/>
    <p:sldId id="324" r:id="rId25"/>
    <p:sldId id="291" r:id="rId26"/>
    <p:sldId id="257" r:id="rId27"/>
    <p:sldId id="265" r:id="rId28"/>
    <p:sldId id="258" r:id="rId29"/>
    <p:sldId id="388" r:id="rId30"/>
    <p:sldId id="389" r:id="rId31"/>
    <p:sldId id="259" r:id="rId32"/>
    <p:sldId id="260" r:id="rId33"/>
    <p:sldId id="311" r:id="rId34"/>
    <p:sldId id="275" r:id="rId35"/>
    <p:sldId id="276" r:id="rId36"/>
    <p:sldId id="277" r:id="rId37"/>
    <p:sldId id="314" r:id="rId38"/>
    <p:sldId id="315" r:id="rId39"/>
    <p:sldId id="317" r:id="rId40"/>
    <p:sldId id="261" r:id="rId41"/>
    <p:sldId id="262" r:id="rId42"/>
    <p:sldId id="325" r:id="rId43"/>
    <p:sldId id="280" r:id="rId44"/>
    <p:sldId id="281" r:id="rId45"/>
    <p:sldId id="263" r:id="rId46"/>
    <p:sldId id="268" r:id="rId47"/>
    <p:sldId id="273" r:id="rId48"/>
    <p:sldId id="274" r:id="rId49"/>
  </p:sldIdLst>
  <p:sldSz cx="12192000" cy="6858000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FF3300"/>
    <a:srgbClr val="FF0000"/>
    <a:srgbClr val="0000FF"/>
    <a:srgbClr val="99FF66"/>
    <a:srgbClr val="FFFF99"/>
    <a:srgbClr val="008000"/>
    <a:srgbClr val="66FF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078" autoAdjust="0"/>
    <p:restoredTop sz="88530" autoAdjust="0"/>
  </p:normalViewPr>
  <p:slideViewPr>
    <p:cSldViewPr>
      <p:cViewPr varScale="1">
        <p:scale>
          <a:sx n="55" d="100"/>
          <a:sy n="55" d="100"/>
        </p:scale>
        <p:origin x="78" y="4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6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3084F53E-6D7A-47C1-A982-DF9EA22D7B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671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F943EDF5-C172-4017-94A3-CEB936662F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81505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DBC2E524-478F-4F02-9DC8-D397722CBA6F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当被分类对象很多时，计算</a:t>
            </a:r>
            <a:r>
              <a:rPr lang="en-US" altLang="zh-CN">
                <a:ea typeface="宋体" charset="-122"/>
              </a:rPr>
              <a:t>F</a:t>
            </a:r>
            <a:r>
              <a:rPr lang="zh-CN" altLang="en-US">
                <a:ea typeface="宋体" charset="-122"/>
              </a:rPr>
              <a:t>相似矩阵</a:t>
            </a:r>
            <a:r>
              <a:rPr lang="en-US" altLang="zh-CN">
                <a:ea typeface="宋体" charset="-122"/>
              </a:rPr>
              <a:t>R</a:t>
            </a:r>
            <a:r>
              <a:rPr lang="zh-CN" altLang="en-US">
                <a:ea typeface="宋体" charset="-122"/>
              </a:rPr>
              <a:t>的传递闭包的工作量也就很大。</a:t>
            </a:r>
          </a:p>
        </p:txBody>
      </p:sp>
    </p:spTree>
    <p:extLst>
      <p:ext uri="{BB962C8B-B14F-4D97-AF65-F5344CB8AC3E}">
        <p14:creationId xmlns:p14="http://schemas.microsoft.com/office/powerpoint/2010/main" val="26669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12663B49-78CE-4C68-B8D3-C0B0464B8B88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595829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D7A0612-929B-4A0A-8A5E-5B2EC89535FE}" type="slidenum">
              <a:rPr lang="en-US" altLang="zh-CN" smtClean="0"/>
              <a:pPr eaLnBrk="1" hangingPunct="1"/>
              <a:t>4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332315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FA961A3-7D3B-4152-AA3C-0CF57E14C9AE}" type="slidenum">
              <a:rPr lang="en-US" altLang="zh-CN" smtClean="0"/>
              <a:pPr eaLnBrk="1" hangingPunct="1"/>
              <a:t>5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画出动态聚类图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3412588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B2A8169C-73E8-4261-B354-B1EDA068A027}" type="slidenum">
              <a:rPr lang="en-US" altLang="zh-CN" smtClean="0"/>
              <a:pPr eaLnBrk="1" hangingPunct="1"/>
              <a:t>6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3425323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405B351-F488-4ACB-842C-6A596056B76B}" type="slidenum">
              <a:rPr lang="en-US" altLang="zh-CN" smtClean="0"/>
              <a:pPr eaLnBrk="1" hangingPunct="1"/>
              <a:t>7</a:t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画出动态聚类图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3510923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328F98A-508E-49AC-901B-14F1CE6DA949}" type="slidenum">
              <a:rPr lang="en-US" altLang="zh-CN" smtClean="0"/>
              <a:pPr eaLnBrk="1" hangingPunct="1"/>
              <a:t>10</a:t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432567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8873FDE1-7528-4D58-AE6A-DB84CAED8A81}" type="slidenum">
              <a:rPr lang="en-US" altLang="zh-CN" smtClean="0"/>
              <a:pPr eaLnBrk="1" hangingPunct="1"/>
              <a:t>11</a:t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3523186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A853D554-BA65-449C-AB72-913A8A98D343}" type="slidenum">
              <a:rPr lang="en-US" altLang="zh-CN" smtClean="0"/>
              <a:pPr eaLnBrk="1" hangingPunct="1"/>
              <a:t>12</a:t>
            </a:fld>
            <a:endParaRPr lang="en-US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2744019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57FC05BC-C616-4EA7-B930-A0013D1B8B37}" type="slidenum">
              <a:rPr lang="en-US" altLang="zh-CN" smtClean="0"/>
              <a:pPr eaLnBrk="1" hangingPunct="1"/>
              <a:t>14</a:t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1388759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5048C5FF-82FB-445D-A708-1BA87313A646}" type="slidenum">
              <a:rPr lang="en-US" altLang="zh-CN" smtClean="0"/>
              <a:pPr eaLnBrk="1" hangingPunct="1"/>
              <a:t>15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3977904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B73AF500-8699-442B-A6F5-E893027E3CE3}" type="slidenum">
              <a:rPr lang="en-US" altLang="zh-CN" smtClean="0"/>
              <a:pPr eaLnBrk="1" hangingPunct="1"/>
              <a:t>16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2178149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3E2FE9B-D71A-4565-BA91-1B8E464610D3}" type="slidenum">
              <a:rPr lang="en-US" altLang="zh-CN" smtClean="0"/>
              <a:pPr eaLnBrk="1" hangingPunct="1"/>
              <a:t>17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最大生成树法是由我国学者吴名望提出的。</a:t>
            </a:r>
          </a:p>
          <a:p>
            <a:pPr eaLnBrk="1" hangingPunct="1"/>
            <a:endParaRPr lang="en-US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2598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AF926EDB-3AA7-479B-82C4-A0E5212D62B0}" type="slidenum">
              <a:rPr lang="en-US" altLang="zh-CN" smtClean="0"/>
              <a:pPr eaLnBrk="1" hangingPunct="1"/>
              <a:t>19</a:t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得动态聚类图</a:t>
            </a:r>
          </a:p>
        </p:txBody>
      </p:sp>
    </p:spTree>
    <p:extLst>
      <p:ext uri="{BB962C8B-B14F-4D97-AF65-F5344CB8AC3E}">
        <p14:creationId xmlns:p14="http://schemas.microsoft.com/office/powerpoint/2010/main" val="2718645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550AC11-41C6-4629-9EA6-1A182A757CE5}" type="slidenum">
              <a:rPr lang="en-US" altLang="zh-CN" smtClean="0"/>
              <a:pPr eaLnBrk="1" hangingPunct="1"/>
              <a:t>26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宋体" charset="-122"/>
              </a:rPr>
              <a:t>是动态聚类法的一种</a:t>
            </a:r>
            <a:r>
              <a:rPr lang="en-US" altLang="zh-CN" dirty="0">
                <a:ea typeface="宋体" charset="-122"/>
              </a:rPr>
              <a:t>.</a:t>
            </a:r>
          </a:p>
          <a:p>
            <a:pPr eaLnBrk="1" hangingPunct="1"/>
            <a:r>
              <a:rPr lang="zh-CN" altLang="en-US" dirty="0">
                <a:ea typeface="宋体" charset="-122"/>
              </a:rPr>
              <a:t>特点</a:t>
            </a:r>
            <a:r>
              <a:rPr lang="en-US" altLang="zh-CN" dirty="0">
                <a:ea typeface="宋体" charset="-122"/>
              </a:rPr>
              <a:t>:</a:t>
            </a:r>
            <a:r>
              <a:rPr lang="zh-CN" altLang="en-US" dirty="0">
                <a:ea typeface="宋体" charset="-122"/>
              </a:rPr>
              <a:t>在聚类过程通过不断的迭代来完成</a:t>
            </a:r>
            <a:r>
              <a:rPr lang="en-US" altLang="zh-CN" dirty="0">
                <a:ea typeface="宋体" charset="-122"/>
              </a:rPr>
              <a:t>, </a:t>
            </a:r>
            <a:r>
              <a:rPr lang="zh-CN" altLang="en-US" dirty="0">
                <a:ea typeface="宋体" charset="-122"/>
              </a:rPr>
              <a:t>且在迭代中通常允许样本从一个聚合类中转移到另一个聚合类中</a:t>
            </a:r>
            <a:r>
              <a:rPr lang="en-US" altLang="zh-CN" dirty="0">
                <a:ea typeface="宋体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3149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747859E3-F25F-45A1-9BE3-5EC3839FF5F1}" type="slidenum">
              <a:rPr lang="en-US" altLang="zh-CN" smtClean="0"/>
              <a:pPr eaLnBrk="1" hangingPunct="1"/>
              <a:t>28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选择不同的初始聚类中会产生不同的聚类结果</a:t>
            </a:r>
            <a:r>
              <a:rPr lang="en-US" altLang="zh-CN">
                <a:ea typeface="宋体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9551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</a:t>
            </a:r>
            <a:r>
              <a:rPr lang="zh-CN" altLang="en-US" dirty="0"/>
              <a:t>（</a:t>
            </a:r>
            <a:r>
              <a:rPr lang="en-US" altLang="zh-CN" dirty="0" err="1"/>
              <a:t>c</a:t>
            </a:r>
            <a:r>
              <a:rPr lang="en-US" altLang="zh-CN" dirty="0" err="1">
                <a:sym typeface="Symbol"/>
              </a:rPr>
              <a:t></a:t>
            </a:r>
            <a:r>
              <a:rPr lang="en-US" altLang="zh-CN" dirty="0" err="1"/>
              <a:t>n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是划分矩阵</a:t>
            </a:r>
            <a:r>
              <a:rPr lang="en-US" altLang="zh-CN" dirty="0"/>
              <a:t>{0,1}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zh-CN" altLang="en-US" dirty="0"/>
              <a:t>是由</a:t>
            </a:r>
            <a:r>
              <a:rPr lang="en-US" altLang="zh-CN" dirty="0"/>
              <a:t>C</a:t>
            </a:r>
            <a:r>
              <a:rPr lang="zh-CN" altLang="en-US" dirty="0"/>
              <a:t>个聚类中心向量构成的矩阵，</a:t>
            </a:r>
            <a:r>
              <a:rPr lang="zh-CN" altLang="en-US" baseline="0" dirty="0"/>
              <a:t> </a:t>
            </a:r>
            <a:r>
              <a:rPr lang="en-US" altLang="zh-CN" baseline="0" dirty="0"/>
              <a:t>M</a:t>
            </a:r>
            <a:r>
              <a:rPr lang="zh-CN" altLang="en-US" baseline="0" dirty="0"/>
              <a:t>是约束关系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43EDF5-C172-4017-94A3-CEB936662F74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8189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</a:t>
            </a:r>
            <a:r>
              <a:rPr lang="zh-CN" altLang="en-US" dirty="0"/>
              <a:t>（</a:t>
            </a:r>
            <a:r>
              <a:rPr lang="en-US" altLang="zh-CN" dirty="0" err="1"/>
              <a:t>c</a:t>
            </a:r>
            <a:r>
              <a:rPr lang="en-US" altLang="zh-CN" dirty="0" err="1">
                <a:sym typeface="Symbol"/>
              </a:rPr>
              <a:t></a:t>
            </a:r>
            <a:r>
              <a:rPr lang="en-US" altLang="zh-CN" dirty="0" err="1"/>
              <a:t>n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是划分矩阵</a:t>
            </a:r>
            <a:r>
              <a:rPr lang="en-US" altLang="zh-CN" dirty="0"/>
              <a:t>{0,1}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zh-CN" altLang="en-US" dirty="0"/>
              <a:t>是由</a:t>
            </a:r>
            <a:r>
              <a:rPr lang="en-US" altLang="zh-CN" dirty="0"/>
              <a:t>C</a:t>
            </a:r>
            <a:r>
              <a:rPr lang="zh-CN" altLang="en-US" dirty="0"/>
              <a:t>个聚类中心向量构成的矩阵，</a:t>
            </a:r>
            <a:r>
              <a:rPr lang="zh-CN" altLang="en-US" baseline="0" dirty="0"/>
              <a:t> </a:t>
            </a:r>
            <a:r>
              <a:rPr lang="en-US" altLang="zh-CN" baseline="0" dirty="0"/>
              <a:t>M</a:t>
            </a:r>
            <a:r>
              <a:rPr lang="zh-CN" altLang="en-US" baseline="0" dirty="0"/>
              <a:t>是约束关系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43EDF5-C172-4017-94A3-CEB936662F74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045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</a:t>
            </a:r>
            <a:r>
              <a:rPr lang="zh-CN" altLang="en-US" dirty="0"/>
              <a:t>（</a:t>
            </a:r>
            <a:r>
              <a:rPr lang="en-US" altLang="zh-CN" dirty="0" err="1"/>
              <a:t>c</a:t>
            </a:r>
            <a:r>
              <a:rPr lang="en-US" altLang="zh-CN" dirty="0" err="1">
                <a:sym typeface="Symbol"/>
              </a:rPr>
              <a:t></a:t>
            </a:r>
            <a:r>
              <a:rPr lang="en-US" altLang="zh-CN" dirty="0" err="1"/>
              <a:t>n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是划分矩阵</a:t>
            </a:r>
            <a:r>
              <a:rPr lang="en-US" altLang="zh-CN" dirty="0"/>
              <a:t>{0,1}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zh-CN" altLang="en-US" dirty="0"/>
              <a:t>是由</a:t>
            </a:r>
            <a:r>
              <a:rPr lang="en-US" altLang="zh-CN" dirty="0"/>
              <a:t>C</a:t>
            </a:r>
            <a:r>
              <a:rPr lang="zh-CN" altLang="en-US" dirty="0"/>
              <a:t>个聚类中心向量构成的矩阵，</a:t>
            </a:r>
            <a:r>
              <a:rPr lang="zh-CN" altLang="en-US" baseline="0" dirty="0"/>
              <a:t> </a:t>
            </a:r>
            <a:r>
              <a:rPr lang="en-US" altLang="zh-CN" baseline="0" dirty="0"/>
              <a:t>M</a:t>
            </a:r>
            <a:r>
              <a:rPr lang="zh-CN" altLang="en-US" baseline="0" dirty="0"/>
              <a:t>是约束关系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43EDF5-C172-4017-94A3-CEB936662F74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0205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</a:t>
            </a:r>
            <a:r>
              <a:rPr lang="zh-CN" altLang="en-US" dirty="0"/>
              <a:t>（</a:t>
            </a:r>
            <a:r>
              <a:rPr lang="en-US" altLang="zh-CN" dirty="0" err="1"/>
              <a:t>c</a:t>
            </a:r>
            <a:r>
              <a:rPr lang="en-US" altLang="zh-CN" dirty="0" err="1">
                <a:sym typeface="Symbol"/>
              </a:rPr>
              <a:t></a:t>
            </a:r>
            <a:r>
              <a:rPr lang="en-US" altLang="zh-CN" dirty="0" err="1"/>
              <a:t>n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是划分矩阵</a:t>
            </a:r>
            <a:r>
              <a:rPr lang="en-US" altLang="zh-CN" dirty="0"/>
              <a:t>{0,1}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zh-CN" altLang="en-US" dirty="0"/>
              <a:t>是由</a:t>
            </a:r>
            <a:r>
              <a:rPr lang="en-US" altLang="zh-CN" dirty="0"/>
              <a:t>C</a:t>
            </a:r>
            <a:r>
              <a:rPr lang="zh-CN" altLang="en-US" dirty="0"/>
              <a:t>个聚类中心向量构成的矩阵，</a:t>
            </a:r>
            <a:r>
              <a:rPr lang="zh-CN" altLang="en-US" baseline="0" dirty="0"/>
              <a:t> </a:t>
            </a:r>
            <a:r>
              <a:rPr lang="en-US" altLang="zh-CN" baseline="0" dirty="0"/>
              <a:t>M</a:t>
            </a:r>
            <a:r>
              <a:rPr lang="zh-CN" altLang="en-US" baseline="0" dirty="0"/>
              <a:t>是约束关系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43EDF5-C172-4017-94A3-CEB936662F74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3542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F8107A2C-2B11-47C5-8B9A-29DF9ED334D0}" type="slidenum">
              <a:rPr lang="en-US" altLang="zh-CN" smtClean="0"/>
              <a:pPr eaLnBrk="1" hangingPunct="1"/>
              <a:t>41</a:t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宋体" charset="-122"/>
              </a:rPr>
              <a:t>可见Ｃ</a:t>
            </a:r>
            <a:r>
              <a:rPr lang="en-US" altLang="zh-CN" dirty="0">
                <a:ea typeface="宋体" charset="-122"/>
              </a:rPr>
              <a:t>——</a:t>
            </a:r>
            <a:r>
              <a:rPr lang="zh-CN" altLang="en-US" dirty="0">
                <a:ea typeface="宋体" charset="-122"/>
              </a:rPr>
              <a:t>均值算法的聚类中心是通过样本均值的迭代运算来决定的。</a:t>
            </a:r>
          </a:p>
        </p:txBody>
      </p:sp>
    </p:spTree>
    <p:extLst>
      <p:ext uri="{BB962C8B-B14F-4D97-AF65-F5344CB8AC3E}">
        <p14:creationId xmlns:p14="http://schemas.microsoft.com/office/powerpoint/2010/main" val="2401815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88D9C52-5884-44BB-8C2C-3B122BE2CFE9}" type="slidenum">
              <a:rPr lang="en-US" altLang="zh-CN" smtClean="0"/>
              <a:pPr eaLnBrk="1" hangingPunct="1"/>
              <a:t>45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ISODATA</a:t>
            </a:r>
            <a:r>
              <a:rPr lang="zh-CN" altLang="en-US">
                <a:ea typeface="宋体" charset="-122"/>
              </a:rPr>
              <a:t>算法的聚类中心也是通过样本均值的迭代运算来决定的。它可以自动进行类的合并与分裂，从而得到类数较合理的聚类。</a:t>
            </a:r>
          </a:p>
          <a:p>
            <a:pPr eaLnBrk="1" hangingPunct="1"/>
            <a:r>
              <a:rPr lang="zh-CN" altLang="en-US">
                <a:ea typeface="宋体" charset="-122"/>
              </a:rPr>
              <a:t>模糊</a:t>
            </a:r>
            <a:r>
              <a:rPr lang="en-US" altLang="zh-CN">
                <a:ea typeface="宋体" charset="-122"/>
              </a:rPr>
              <a:t>ISODATA</a:t>
            </a:r>
            <a:r>
              <a:rPr lang="zh-CN" altLang="en-US">
                <a:ea typeface="宋体" charset="-122"/>
              </a:rPr>
              <a:t>算法：划分原则的模糊化</a:t>
            </a:r>
          </a:p>
          <a:p>
            <a:pPr eaLnBrk="1" hangingPunct="1"/>
            <a:endParaRPr lang="en-US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86949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88E0FF3-5E97-4865-A53A-F1ED7B3DEA7B}" type="slidenum">
              <a:rPr lang="en-US" altLang="zh-CN" smtClean="0"/>
              <a:pPr eaLnBrk="1" hangingPunct="1"/>
              <a:t>46</a:t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宋体" charset="-122"/>
              </a:rPr>
              <a:t>在实际应用中，需要对聚类效果进行度量，确定聚类的有效性是一个值得研究的问题，</a:t>
            </a:r>
          </a:p>
          <a:p>
            <a:pPr eaLnBrk="1" hangingPunct="1"/>
            <a:r>
              <a:rPr lang="zh-CN" altLang="en-US" dirty="0">
                <a:ea typeface="宋体" charset="-122"/>
              </a:rPr>
              <a:t>聚类的质量受到初始值的设定、聚类数的选择以及具体算法等多方面因素的影响，较常见的聚类有效性的度量如下：</a:t>
            </a:r>
          </a:p>
        </p:txBody>
      </p:sp>
    </p:spTree>
    <p:extLst>
      <p:ext uri="{BB962C8B-B14F-4D97-AF65-F5344CB8AC3E}">
        <p14:creationId xmlns:p14="http://schemas.microsoft.com/office/powerpoint/2010/main" val="220209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83F26-707F-43BD-95DA-AB5CF5A1D0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863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753BC-CAEF-4333-AC48-2805658F6E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93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26D72-38FC-439D-8A6C-E57096185B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09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F5D13-9327-41E7-B85A-5EA9BAF71A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26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77B2E-71FB-4CED-867F-F36F39807A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68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44A83F-C644-4D2F-BA00-DBFF3DBED7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597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84311-88B0-4A0C-9DE6-0C14036BF0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253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5D8AD-D14A-4D06-8D5D-B9FE0DFD82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326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3E588-04E9-4312-8F61-26A4586A30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5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842F1-8277-4440-8531-9F4C80F96C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407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269FA-64BD-4494-B7BD-1ABD983F50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266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376B5-62E6-403F-97A0-5A1E42AE81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850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A31AC-AC4A-4C65-A279-8DC32B7DED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5037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302" y="6264275"/>
            <a:ext cx="5178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78D34848-91A3-4FE9-8790-AB92C06A37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3076" y="616267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19.png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8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7.emf"/><Relationship Id="rId7" Type="http://schemas.openxmlformats.org/officeDocument/2006/relationships/image" Target="../media/image29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1.emf"/><Relationship Id="rId5" Type="http://schemas.openxmlformats.org/officeDocument/2006/relationships/image" Target="../media/image28.e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40.png"/><Relationship Id="rId7" Type="http://schemas.openxmlformats.org/officeDocument/2006/relationships/oleObject" Target="../embeddings/oleObject30.bin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4.wmf"/><Relationship Id="rId4" Type="http://schemas.openxmlformats.org/officeDocument/2006/relationships/image" Target="../media/image41.png"/><Relationship Id="rId9" Type="http://schemas.openxmlformats.org/officeDocument/2006/relationships/oleObject" Target="../embeddings/oleObject31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7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3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7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58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2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61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47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49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70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57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32176" y="1828800"/>
            <a:ext cx="7083425" cy="2209800"/>
          </a:xfrm>
        </p:spPr>
        <p:txBody>
          <a:bodyPr/>
          <a:lstStyle/>
          <a:p>
            <a:pPr algn="ctr" eaLnBrk="1" hangingPunct="1"/>
            <a:r>
              <a:rPr lang="zh-CN" altLang="en-US" sz="6000" b="1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000" b="1">
                <a:solidFill>
                  <a:srgbClr val="F5E50F"/>
                </a:solidFill>
                <a:ea typeface="隶书" pitchFamily="49" charset="-122"/>
              </a:rPr>
              <a:t> </a:t>
            </a:r>
            <a:r>
              <a:rPr lang="en-US" altLang="zh-CN" sz="6000" b="1">
                <a:solidFill>
                  <a:srgbClr val="F5E50F"/>
                </a:solidFill>
                <a:ea typeface="隶书" pitchFamily="49" charset="-122"/>
              </a:rPr>
              <a:t>3 </a:t>
            </a:r>
            <a:r>
              <a:rPr lang="zh-CN" altLang="en-US" sz="6000" b="1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000" b="1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000" b="1">
                <a:solidFill>
                  <a:srgbClr val="F5E50F"/>
                </a:solidFill>
                <a:latin typeface="隶书" pitchFamily="49" charset="-122"/>
                <a:ea typeface="隶书" pitchFamily="49" charset="-122"/>
              </a:rPr>
              <a:t>模糊关系与聚类分析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03613" y="4437063"/>
            <a:ext cx="6019800" cy="2089150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zh-CN" sz="3200" dirty="0">
                <a:ea typeface="黑体" pitchFamily="2" charset="-122"/>
              </a:rPr>
              <a:t>3.9   </a:t>
            </a:r>
            <a:r>
              <a:rPr lang="zh-CN" altLang="en-US" sz="3200" dirty="0">
                <a:ea typeface="黑体" pitchFamily="2" charset="-122"/>
              </a:rPr>
              <a:t>聚类分析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2B12DC-939B-D90F-ACD3-6C86A710F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83F26-707F-43BD-95DA-AB5CF5A1D0EC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549276"/>
            <a:ext cx="8291512" cy="1171575"/>
          </a:xfrm>
        </p:spPr>
        <p:txBody>
          <a:bodyPr/>
          <a:lstStyle/>
          <a:p>
            <a:pPr algn="ctr" eaLnBrk="1" hangingPunct="1"/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基于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等价矩阵</a:t>
            </a:r>
            <a:r>
              <a:rPr lang="zh-CN" altLang="en-US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模糊聚类分析</a:t>
            </a:r>
            <a:br>
              <a:rPr lang="zh-CN" altLang="en-US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的一般步骤</a:t>
            </a:r>
            <a:endParaRPr lang="zh-CN" altLang="en-US" dirty="0">
              <a:solidFill>
                <a:srgbClr val="008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20837" y="2133601"/>
            <a:ext cx="8662987" cy="41751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dirty="0">
                <a:ea typeface="黑体" pitchFamily="2" charset="-122"/>
              </a:rPr>
              <a:t>1. </a:t>
            </a:r>
            <a:r>
              <a:rPr kumimoji="1" lang="zh-CN" altLang="en-US" dirty="0">
                <a:ea typeface="黑体" pitchFamily="2" charset="-122"/>
              </a:rPr>
              <a:t>数据标准化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dirty="0">
                <a:ea typeface="黑体" pitchFamily="2" charset="-122"/>
              </a:rPr>
              <a:t>2. </a:t>
            </a:r>
            <a:r>
              <a:rPr kumimoji="1" lang="zh-CN" altLang="en-US" dirty="0">
                <a:ea typeface="黑体" pitchFamily="2" charset="-122"/>
              </a:rPr>
              <a:t>建立</a:t>
            </a:r>
            <a:r>
              <a:rPr kumimoji="1" lang="en-US" altLang="zh-CN" dirty="0">
                <a:ea typeface="黑体" pitchFamily="2" charset="-122"/>
              </a:rPr>
              <a:t>F</a:t>
            </a:r>
            <a:r>
              <a:rPr kumimoji="1" lang="zh-CN" altLang="en-US" dirty="0">
                <a:ea typeface="黑体" pitchFamily="2" charset="-122"/>
              </a:rPr>
              <a:t>相似矩阵</a:t>
            </a:r>
            <a:r>
              <a:rPr kumimoji="1" lang="en-US" altLang="zh-CN" dirty="0">
                <a:ea typeface="黑体" pitchFamily="2" charset="-122"/>
              </a:rPr>
              <a:t>R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dirty="0">
                <a:ea typeface="黑体" pitchFamily="2" charset="-122"/>
              </a:rPr>
              <a:t>3. </a:t>
            </a:r>
            <a:r>
              <a:rPr kumimoji="1" lang="zh-CN" altLang="en-US" dirty="0">
                <a:ea typeface="黑体" pitchFamily="2" charset="-122"/>
              </a:rPr>
              <a:t>利用</a:t>
            </a:r>
            <a:r>
              <a:rPr kumimoji="1" lang="zh-CN" altLang="en-US" dirty="0">
                <a:solidFill>
                  <a:srgbClr val="CC00FF"/>
                </a:solidFill>
                <a:ea typeface="黑体" pitchFamily="2" charset="-122"/>
              </a:rPr>
              <a:t>平方法</a:t>
            </a:r>
            <a:r>
              <a:rPr kumimoji="1" lang="zh-CN" altLang="en-US" dirty="0">
                <a:ea typeface="黑体" pitchFamily="2" charset="-122"/>
              </a:rPr>
              <a:t>求出</a:t>
            </a:r>
            <a:r>
              <a:rPr kumimoji="1" lang="en-US" altLang="zh-CN" dirty="0">
                <a:ea typeface="黑体" pitchFamily="2" charset="-122"/>
              </a:rPr>
              <a:t>R</a:t>
            </a:r>
            <a:r>
              <a:rPr kumimoji="1" lang="zh-CN" altLang="en-US" dirty="0">
                <a:ea typeface="黑体" pitchFamily="2" charset="-122"/>
              </a:rPr>
              <a:t>的</a:t>
            </a:r>
            <a:r>
              <a:rPr kumimoji="1" lang="en-US" altLang="zh-CN" dirty="0">
                <a:ea typeface="黑体" pitchFamily="2" charset="-122"/>
              </a:rPr>
              <a:t>F</a:t>
            </a:r>
            <a:r>
              <a:rPr kumimoji="1" lang="zh-CN" altLang="en-US" dirty="0">
                <a:ea typeface="黑体" pitchFamily="2" charset="-122"/>
              </a:rPr>
              <a:t>传递闭包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dirty="0">
                <a:ea typeface="黑体" pitchFamily="2" charset="-122"/>
              </a:rPr>
              <a:t>4. </a:t>
            </a:r>
            <a:r>
              <a:rPr kumimoji="1" lang="zh-CN" altLang="en-US" dirty="0">
                <a:ea typeface="黑体" pitchFamily="2" charset="-122"/>
              </a:rPr>
              <a:t>聚类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dirty="0">
                <a:solidFill>
                  <a:schemeClr val="bg2"/>
                </a:solidFill>
                <a:ea typeface="黑体" pitchFamily="2" charset="-122"/>
              </a:rPr>
              <a:t>选取适当的阈值</a:t>
            </a:r>
            <a:r>
              <a:rPr kumimoji="1" lang="el-GR" altLang="zh-CN" dirty="0">
                <a:solidFill>
                  <a:schemeClr val="bg2"/>
                </a:solidFill>
                <a:ea typeface="黑体" pitchFamily="2" charset="-122"/>
                <a:cs typeface="Arial" charset="0"/>
              </a:rPr>
              <a:t>λ</a:t>
            </a:r>
            <a:r>
              <a:rPr kumimoji="1" lang="el-GR" altLang="zh-CN" dirty="0">
                <a:solidFill>
                  <a:schemeClr val="bg2"/>
                </a:solidFill>
                <a:sym typeface="Symbol" panose="05050102010706020507" pitchFamily="18" charset="2"/>
              </a:rPr>
              <a:t></a:t>
            </a:r>
            <a:r>
              <a:rPr kumimoji="1" lang="en-US" altLang="zh-CN" dirty="0">
                <a:solidFill>
                  <a:schemeClr val="bg2"/>
                </a:solidFill>
              </a:rPr>
              <a:t>[0,1]</a:t>
            </a:r>
            <a:r>
              <a:rPr kumimoji="1" lang="zh-CN" altLang="en-US" dirty="0">
                <a:solidFill>
                  <a:schemeClr val="bg2"/>
                </a:solidFill>
              </a:rPr>
              <a:t>，</a:t>
            </a:r>
            <a:r>
              <a:rPr kumimoji="1" lang="zh-CN" altLang="en-US" dirty="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按</a:t>
            </a:r>
            <a:r>
              <a:rPr kumimoji="1" lang="el-GR" altLang="zh-CN" dirty="0">
                <a:solidFill>
                  <a:schemeClr val="bg2"/>
                </a:solidFill>
                <a:ea typeface="黑体" pitchFamily="2" charset="-122"/>
              </a:rPr>
              <a:t>λ</a:t>
            </a:r>
            <a:r>
              <a:rPr kumimoji="1" lang="zh-CN" altLang="en-US" dirty="0">
                <a:solidFill>
                  <a:schemeClr val="bg2"/>
                </a:solidFill>
                <a:ea typeface="黑体" pitchFamily="2" charset="-122"/>
              </a:rPr>
              <a:t>截矩阵进行动态聚类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dirty="0">
                <a:ea typeface="黑体" pitchFamily="2" charset="-122"/>
              </a:rPr>
              <a:t>5. </a:t>
            </a:r>
            <a:r>
              <a:rPr kumimoji="1" lang="zh-CN" altLang="en-US" dirty="0">
                <a:ea typeface="黑体" pitchFamily="2" charset="-122"/>
              </a:rPr>
              <a:t>画动态聚类图</a:t>
            </a:r>
            <a:endParaRPr kumimoji="1" lang="zh-CN" altLang="el-GR" dirty="0"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471FFE9-B222-5AEA-9E4B-546EAB32DE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404814"/>
            <a:ext cx="8964613" cy="115252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基于</a:t>
            </a:r>
            <a:r>
              <a:rPr lang="en-US" altLang="zh-CN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等价矩阵</a:t>
            </a:r>
            <a:r>
              <a:rPr lang="zh-CN" altLang="en-US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模糊聚类方法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举例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3" y="1557338"/>
            <a:ext cx="9937104" cy="5300662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[P81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环境单元分类</a:t>
            </a:r>
          </a:p>
          <a:p>
            <a:pPr marL="533400" indent="-533400" eaLnBrk="1" hangingPunct="1">
              <a:buNone/>
            </a:pPr>
            <a:r>
              <a:rPr lang="zh-CN" altLang="en-US" sz="2800" b="1" dirty="0">
                <a:ea typeface="楷体_GB2312" pitchFamily="49" charset="-122"/>
              </a:rPr>
              <a:t>     每个环境单元包括</a:t>
            </a:r>
            <a:r>
              <a:rPr lang="zh-CN" altLang="en-US" sz="2800" b="1" dirty="0">
                <a:solidFill>
                  <a:srgbClr val="EE0006"/>
                </a:solidFill>
                <a:ea typeface="楷体_GB2312" pitchFamily="49" charset="-122"/>
              </a:rPr>
              <a:t>空气、水分、土壤、作物</a:t>
            </a:r>
            <a:r>
              <a:rPr lang="zh-CN" altLang="en-US" sz="2800" b="1" dirty="0">
                <a:ea typeface="楷体_GB2312" pitchFamily="49" charset="-122"/>
              </a:rPr>
              <a:t>四个要素，环境单元的污染状况由污染物在四要素中含量的超限度来描述。</a:t>
            </a:r>
          </a:p>
          <a:p>
            <a:pPr marL="533400" indent="-533400" eaLnBrk="1" hangingPunct="1"/>
            <a:r>
              <a:rPr lang="zh-CN" altLang="en-US" sz="2800" b="1" dirty="0">
                <a:ea typeface="楷体_GB2312" pitchFamily="49" charset="-122"/>
              </a:rPr>
              <a:t>现有五个环境单元，它们的污染数据如下：</a:t>
            </a:r>
          </a:p>
          <a:p>
            <a:pPr marL="533400" indent="-533400" eaLnBrk="1" hangingPunct="1">
              <a:buNone/>
            </a:pPr>
            <a:r>
              <a:rPr lang="zh-CN" altLang="en-US" sz="2800" b="1" dirty="0">
                <a:ea typeface="楷体_GB2312" pitchFamily="49" charset="-122"/>
              </a:rPr>
              <a:t>      </a:t>
            </a:r>
            <a:r>
              <a:rPr lang="en-US" altLang="zh-CN" sz="2800" b="1" dirty="0">
                <a:ea typeface="楷体_GB2312" pitchFamily="49" charset="-122"/>
              </a:rPr>
              <a:t>U= 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{Ⅰ</a:t>
            </a: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Ⅱ</a:t>
            </a: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Ⅲ</a:t>
            </a: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Ⅳ</a:t>
            </a: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Ⅴ}</a:t>
            </a:r>
          </a:p>
          <a:p>
            <a:pPr marL="533400" indent="-533400" eaLnBrk="1" hangingPunct="1"/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设 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Ⅰ=( 5, 5, 3, 2 )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  Ⅱ=( 2, 3, 4, 5 )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  Ⅲ=( 5, 5, 2, 3 )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  Ⅳ=( 1, 5, 3, 1 )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  Ⅴ=( 2, 4, 5, 1 )                 </a:t>
            </a:r>
            <a:r>
              <a:rPr kumimoji="1" lang="zh-CN" altLang="en-US" sz="2800" b="1" dirty="0">
                <a:solidFill>
                  <a:srgbClr val="EE0006"/>
                </a:solidFill>
                <a:ea typeface="楷体_GB2312" pitchFamily="49" charset="-122"/>
              </a:rPr>
              <a:t>试对</a:t>
            </a:r>
            <a:r>
              <a:rPr kumimoji="1" lang="en-US" altLang="zh-CN" sz="2800" b="1" dirty="0">
                <a:solidFill>
                  <a:srgbClr val="EE0006"/>
                </a:solidFill>
                <a:ea typeface="楷体_GB2312" pitchFamily="49" charset="-122"/>
              </a:rPr>
              <a:t>U</a:t>
            </a:r>
            <a:r>
              <a:rPr kumimoji="1" lang="zh-CN" altLang="en-US" sz="2800" b="1" dirty="0">
                <a:solidFill>
                  <a:srgbClr val="EE0006"/>
                </a:solidFill>
                <a:ea typeface="楷体_GB2312" pitchFamily="49" charset="-122"/>
              </a:rPr>
              <a:t>进行聚类</a:t>
            </a:r>
            <a:endParaRPr lang="zh-CN" altLang="en-US" dirty="0">
              <a:solidFill>
                <a:srgbClr val="EE0006"/>
              </a:solidFill>
              <a:ea typeface="楷体_GB2312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B4C192-F2ED-AD54-8EE4-DF703CE554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376B5-62E6-403F-97A0-5A1E42AE81DF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0"/>
            <a:ext cx="8507413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基于</a:t>
            </a:r>
            <a:r>
              <a:rPr lang="en-US" altLang="zh-CN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等价矩阵</a:t>
            </a:r>
            <a:r>
              <a:rPr lang="zh-CN" altLang="en-US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模糊聚类方法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举例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628776"/>
            <a:ext cx="10814992" cy="4752975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[P81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解：</a:t>
            </a:r>
            <a:r>
              <a:rPr lang="zh-CN" altLang="en-US" sz="2800" b="1" dirty="0">
                <a:ea typeface="楷体_GB2312" pitchFamily="49" charset="-122"/>
              </a:rPr>
              <a:t>首先按绝对值减数法建立</a:t>
            </a:r>
            <a:r>
              <a:rPr lang="en-US" altLang="zh-CN" sz="2800" b="1" dirty="0">
                <a:solidFill>
                  <a:srgbClr val="CC00FF"/>
                </a:solidFill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CC00FF"/>
                </a:solidFill>
                <a:ea typeface="楷体_GB2312" pitchFamily="49" charset="-122"/>
              </a:rPr>
              <a:t>相似关系</a:t>
            </a: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已知 </a:t>
            </a:r>
            <a:r>
              <a:rPr kumimoji="1" lang="en-US" altLang="zh-CN" sz="2800" b="1" dirty="0">
                <a:solidFill>
                  <a:srgbClr val="EE0006"/>
                </a:solidFill>
                <a:ea typeface="楷体_GB2312" pitchFamily="49" charset="-122"/>
              </a:rPr>
              <a:t>Ⅰ=( 5, 5, 3, 2 )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Ⅱ=( 2, 3, 4, 5 )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Ⅲ=( 5, 5, 2, 3 )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Ⅳ=( 1, 5, 3, 1 )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rgbClr val="EE0006"/>
                </a:solidFill>
                <a:ea typeface="楷体_GB2312" pitchFamily="49" charset="-122"/>
              </a:rPr>
              <a:t>        Ⅴ=( 2, 4, 5, 1 )</a:t>
            </a:r>
            <a:endParaRPr lang="en-US" altLang="zh-CN" dirty="0">
              <a:solidFill>
                <a:srgbClr val="EE0006"/>
              </a:solidFill>
              <a:ea typeface="楷体_GB2312" pitchFamily="49" charset="-122"/>
            </a:endParaRPr>
          </a:p>
        </p:txBody>
      </p:sp>
      <p:graphicFrame>
        <p:nvGraphicFramePr>
          <p:cNvPr id="21197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75050" y="2084388"/>
          <a:ext cx="4249738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04174" imgH="634725" progId="Equation.3">
                  <p:embed/>
                </p:oleObj>
              </mc:Choice>
              <mc:Fallback>
                <p:oleObj name="公式" r:id="rId3" imgW="1904174" imgH="634725" progId="Equation.3">
                  <p:embed/>
                  <p:pic>
                    <p:nvPicPr>
                      <p:cNvPr id="2119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084388"/>
                        <a:ext cx="4249738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311900" y="3284539"/>
          <a:ext cx="3816350" cy="223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55800" imgH="1143000" progId="Equation.3">
                  <p:embed/>
                </p:oleObj>
              </mc:Choice>
              <mc:Fallback>
                <p:oleObj name="公式" r:id="rId5" imgW="1955800" imgH="1143000" progId="Equation.3">
                  <p:embed/>
                  <p:pic>
                    <p:nvPicPr>
                      <p:cNvPr id="2119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3284539"/>
                        <a:ext cx="3816350" cy="223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5" name="Oval 7"/>
          <p:cNvSpPr>
            <a:spLocks noChangeArrowheads="1"/>
          </p:cNvSpPr>
          <p:nvPr/>
        </p:nvSpPr>
        <p:spPr bwMode="auto">
          <a:xfrm>
            <a:off x="6888163" y="5013326"/>
            <a:ext cx="647700" cy="504825"/>
          </a:xfrm>
          <a:prstGeom prst="ellipse">
            <a:avLst/>
          </a:prstGeom>
          <a:noFill/>
          <a:ln w="28575">
            <a:solidFill>
              <a:srgbClr val="EE000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77" name="Text Box 9"/>
          <p:cNvSpPr txBox="1">
            <a:spLocks noChangeArrowheads="1"/>
          </p:cNvSpPr>
          <p:nvPr/>
        </p:nvSpPr>
        <p:spPr bwMode="auto">
          <a:xfrm>
            <a:off x="8400257" y="2132857"/>
            <a:ext cx="165576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EE0006"/>
                </a:solidFill>
                <a:ea typeface="楷体_GB2312" pitchFamily="49" charset="-122"/>
              </a:rPr>
              <a:t>r</a:t>
            </a:r>
            <a:r>
              <a:rPr lang="en-US" altLang="zh-CN" sz="2400" b="1" i="1" baseline="-25000" dirty="0" err="1">
                <a:solidFill>
                  <a:srgbClr val="EE0006"/>
                </a:solidFill>
                <a:ea typeface="楷体_GB2312" pitchFamily="49" charset="-122"/>
              </a:rPr>
              <a:t>ij</a:t>
            </a:r>
            <a:r>
              <a:rPr lang="en-US" altLang="zh-CN" sz="2400" b="1" dirty="0">
                <a:solidFill>
                  <a:srgbClr val="EE0006"/>
                </a:solidFill>
                <a:ea typeface="楷体_GB2312" pitchFamily="49" charset="-122"/>
                <a:sym typeface="Symbol"/>
              </a:rPr>
              <a:t>[0,1]</a:t>
            </a:r>
            <a:endParaRPr lang="en-US" altLang="zh-CN" sz="2400" b="1" dirty="0">
              <a:solidFill>
                <a:srgbClr val="EE0006"/>
              </a:solidFill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EE0006"/>
                </a:solidFill>
                <a:ea typeface="楷体_GB2312" pitchFamily="49" charset="-122"/>
              </a:rPr>
              <a:t>取</a:t>
            </a:r>
            <a:r>
              <a:rPr lang="en-US" altLang="zh-CN" sz="2400" b="1" i="1" dirty="0">
                <a:solidFill>
                  <a:srgbClr val="EE0006"/>
                </a:solidFill>
                <a:ea typeface="楷体_GB2312" pitchFamily="49" charset="-122"/>
              </a:rPr>
              <a:t>c</a:t>
            </a:r>
            <a:r>
              <a:rPr lang="en-US" altLang="zh-CN" sz="2400" b="1" dirty="0">
                <a:solidFill>
                  <a:srgbClr val="EE0006"/>
                </a:solidFill>
                <a:ea typeface="楷体_GB2312" pitchFamily="49" charset="-122"/>
              </a:rPr>
              <a:t>=0.1</a:t>
            </a:r>
          </a:p>
        </p:txBody>
      </p:sp>
      <p:sp>
        <p:nvSpPr>
          <p:cNvPr id="211978" name="AutoShape 10"/>
          <p:cNvSpPr>
            <a:spLocks noChangeArrowheads="1"/>
          </p:cNvSpPr>
          <p:nvPr/>
        </p:nvSpPr>
        <p:spPr bwMode="auto">
          <a:xfrm>
            <a:off x="5519738" y="6021389"/>
            <a:ext cx="5148262" cy="503237"/>
          </a:xfrm>
          <a:prstGeom prst="wedgeRoundRectCallout">
            <a:avLst>
              <a:gd name="adj1" fmla="val -16111"/>
              <a:gd name="adj2" fmla="val -157255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/>
              <a:t>=1-0.1(|2-5|+|4-5|+|5-3|+|1-2|)=1-0.7=0.3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D457DB-22CE-4F02-19B0-F231A1F0CD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1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1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1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1" grpId="0" uiExpand="1" build="p"/>
      <p:bldP spid="211975" grpId="0" animBg="1"/>
      <p:bldP spid="211977" grpId="0" uiExpand="1"/>
      <p:bldP spid="21197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507412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基于</a:t>
            </a:r>
            <a:r>
              <a:rPr lang="en-US" altLang="zh-CN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等价矩阵</a:t>
            </a:r>
            <a:r>
              <a:rPr lang="zh-CN" altLang="en-US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模糊聚类方法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举例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11930" y="1701802"/>
            <a:ext cx="9479757" cy="5003796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zh-CN" altLang="en-US" sz="2800" b="1" dirty="0">
                <a:ea typeface="楷体_GB2312" pitchFamily="49" charset="-122"/>
              </a:rPr>
              <a:t>用平方法求传递闭包：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i="1" dirty="0">
                <a:sym typeface="Symbol" pitchFamily="18" charset="2"/>
              </a:rPr>
              <a:t>R</a:t>
            </a:r>
            <a:r>
              <a:rPr kumimoji="1" lang="en-US" altLang="zh-CN" sz="2800" b="1" baseline="30000" dirty="0">
                <a:sym typeface="Symbol" pitchFamily="18" charset="2"/>
              </a:rPr>
              <a:t>2</a:t>
            </a:r>
            <a:r>
              <a:rPr kumimoji="1" lang="en-US" altLang="zh-CN" sz="2800" b="1" dirty="0">
                <a:sym typeface="Symbol" pitchFamily="18" charset="2"/>
              </a:rPr>
              <a:t> </a:t>
            </a:r>
            <a:r>
              <a:rPr kumimoji="1" lang="en-US" altLang="zh-CN" sz="2800" b="1" i="1" dirty="0"/>
              <a:t>R</a:t>
            </a:r>
            <a:r>
              <a:rPr kumimoji="1" lang="en-US" altLang="zh-CN" sz="2800" b="1" baseline="30000" dirty="0"/>
              <a:t>4</a:t>
            </a:r>
            <a:r>
              <a:rPr kumimoji="1" lang="en-US" altLang="zh-CN" sz="2800" b="1" dirty="0">
                <a:sym typeface="Symbol" pitchFamily="18" charset="2"/>
              </a:rPr>
              <a:t> </a:t>
            </a:r>
            <a:r>
              <a:rPr kumimoji="1" lang="en-US" altLang="zh-CN" sz="2800" b="1" i="1" dirty="0"/>
              <a:t>R</a:t>
            </a:r>
            <a:r>
              <a:rPr kumimoji="1" lang="en-US" altLang="zh-CN" sz="2800" b="1" baseline="30000" dirty="0"/>
              <a:t>8 </a:t>
            </a:r>
            <a:r>
              <a:rPr lang="en-US" altLang="zh-CN" sz="2800" b="1" dirty="0">
                <a:ea typeface="楷体_GB2312" pitchFamily="49" charset="-122"/>
              </a:rPr>
              <a:t>= </a:t>
            </a:r>
            <a:r>
              <a:rPr kumimoji="1" lang="en-US" altLang="zh-CN" sz="2800" b="1" i="1" dirty="0"/>
              <a:t>R</a:t>
            </a:r>
            <a:r>
              <a:rPr kumimoji="1" lang="en-US" altLang="zh-CN" sz="2800" b="1" baseline="30000" dirty="0"/>
              <a:t>4</a:t>
            </a:r>
          </a:p>
          <a:p>
            <a:pPr marL="533400" indent="-533400" eaLnBrk="1" hangingPunct="1">
              <a:buNone/>
            </a:pPr>
            <a:endParaRPr kumimoji="1" lang="en-US" altLang="zh-CN" sz="2800" b="1" baseline="30000" dirty="0"/>
          </a:p>
          <a:p>
            <a:pPr marL="533400" indent="-533400" eaLnBrk="1" hangingPunct="1">
              <a:buNone/>
            </a:pPr>
            <a:endParaRPr kumimoji="1" lang="en-US" altLang="zh-CN" sz="2400" b="1" baseline="30000" dirty="0"/>
          </a:p>
          <a:p>
            <a:pPr marL="533400" indent="-533400" eaLnBrk="1" hangingPunct="1">
              <a:buNone/>
            </a:pPr>
            <a:endParaRPr kumimoji="1" lang="en-US" altLang="zh-CN" sz="2400" b="1" baseline="30000" dirty="0"/>
          </a:p>
          <a:p>
            <a:pPr marL="533400" indent="-533400" eaLnBrk="1" hangingPunct="1">
              <a:buNone/>
            </a:pPr>
            <a:endParaRPr kumimoji="1" lang="en-US" altLang="zh-CN" sz="2400" b="1" baseline="30000" dirty="0"/>
          </a:p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(1)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  <a:cs typeface="Arial" charset="0"/>
              </a:rPr>
              <a:t>λ</a:t>
            </a:r>
            <a:r>
              <a:rPr lang="en-US" altLang="zh-CN" sz="2800" dirty="0">
                <a:ea typeface="黑体" pitchFamily="2" charset="-122"/>
                <a:cs typeface="Arial" charset="0"/>
              </a:rPr>
              <a:t>=1,U</a:t>
            </a:r>
            <a:r>
              <a:rPr lang="zh-CN" altLang="en-US" sz="2800" dirty="0">
                <a:ea typeface="黑体" pitchFamily="2" charset="-122"/>
                <a:cs typeface="Arial" charset="0"/>
              </a:rPr>
              <a:t>分为</a:t>
            </a:r>
            <a:r>
              <a:rPr lang="en-US" altLang="zh-CN" sz="2800" dirty="0">
                <a:ea typeface="黑体" pitchFamily="2" charset="-122"/>
                <a:cs typeface="Arial" charset="0"/>
              </a:rPr>
              <a:t>5</a:t>
            </a:r>
            <a:r>
              <a:rPr lang="zh-CN" altLang="en-US" sz="2800" dirty="0">
                <a:ea typeface="黑体" pitchFamily="2" charset="-122"/>
                <a:cs typeface="Arial" charset="0"/>
              </a:rPr>
              <a:t>类：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{Ⅰ}{Ⅱ}{Ⅲ}{Ⅳ}{Ⅴ}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latin typeface="Times New Roman" pitchFamily="18" charset="0"/>
              </a:rPr>
              <a:t>(2)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λ</a:t>
            </a:r>
            <a:r>
              <a:rPr lang="en-US" altLang="zh-CN" sz="2800" dirty="0">
                <a:ea typeface="黑体" pitchFamily="2" charset="-122"/>
              </a:rPr>
              <a:t>=0.8</a:t>
            </a:r>
            <a:r>
              <a:rPr lang="zh-CN" altLang="en-US" sz="2800" dirty="0">
                <a:ea typeface="黑体" pitchFamily="2" charset="-122"/>
              </a:rPr>
              <a:t>，因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13</a:t>
            </a:r>
            <a:r>
              <a:rPr lang="en-US" altLang="zh-CN" sz="2800" dirty="0">
                <a:ea typeface="黑体" pitchFamily="2" charset="-122"/>
              </a:rPr>
              <a:t>=r</a:t>
            </a:r>
            <a:r>
              <a:rPr lang="en-US" altLang="zh-CN" sz="2800" baseline="-25000" dirty="0">
                <a:ea typeface="黑体" pitchFamily="2" charset="-122"/>
              </a:rPr>
              <a:t>31</a:t>
            </a:r>
            <a:r>
              <a:rPr lang="en-US" altLang="zh-CN" sz="2800" dirty="0">
                <a:ea typeface="黑体" pitchFamily="2" charset="-122"/>
              </a:rPr>
              <a:t>=0.8,U</a:t>
            </a:r>
            <a:r>
              <a:rPr lang="zh-CN" altLang="en-US" sz="2800" dirty="0">
                <a:ea typeface="黑体" pitchFamily="2" charset="-122"/>
              </a:rPr>
              <a:t>合并为</a:t>
            </a:r>
            <a:r>
              <a:rPr lang="en-US" altLang="zh-CN" sz="2800" dirty="0">
                <a:ea typeface="黑体" pitchFamily="2" charset="-122"/>
              </a:rPr>
              <a:t>4</a:t>
            </a:r>
            <a:r>
              <a:rPr lang="zh-CN" altLang="en-US" sz="2800" dirty="0">
                <a:ea typeface="黑体" pitchFamily="2" charset="-122"/>
              </a:rPr>
              <a:t>类：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Ⅰ,Ⅲ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}{Ⅱ}{Ⅳ}{Ⅴ}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latin typeface="Times New Roman" pitchFamily="18" charset="0"/>
              </a:rPr>
              <a:t>(3)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λ</a:t>
            </a:r>
            <a:r>
              <a:rPr lang="en-US" altLang="zh-CN" sz="2800" dirty="0">
                <a:ea typeface="黑体" pitchFamily="2" charset="-122"/>
              </a:rPr>
              <a:t>=0.6</a:t>
            </a:r>
            <a:r>
              <a:rPr lang="zh-CN" altLang="en-US" sz="2800" dirty="0">
                <a:ea typeface="黑体" pitchFamily="2" charset="-122"/>
              </a:rPr>
              <a:t>，因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45</a:t>
            </a:r>
            <a:r>
              <a:rPr lang="en-US" altLang="zh-CN" sz="2800" dirty="0">
                <a:ea typeface="黑体" pitchFamily="2" charset="-122"/>
              </a:rPr>
              <a:t>=r</a:t>
            </a:r>
            <a:r>
              <a:rPr lang="en-US" altLang="zh-CN" sz="2800" baseline="-25000" dirty="0">
                <a:ea typeface="黑体" pitchFamily="2" charset="-122"/>
              </a:rPr>
              <a:t>54</a:t>
            </a:r>
            <a:r>
              <a:rPr lang="en-US" altLang="zh-CN" sz="2800" dirty="0">
                <a:ea typeface="黑体" pitchFamily="2" charset="-122"/>
              </a:rPr>
              <a:t>=0.6,U</a:t>
            </a:r>
            <a:r>
              <a:rPr lang="zh-CN" altLang="en-US" sz="2800" dirty="0">
                <a:ea typeface="黑体" pitchFamily="2" charset="-122"/>
              </a:rPr>
              <a:t>合并为</a:t>
            </a:r>
            <a:r>
              <a:rPr lang="en-US" altLang="zh-CN" sz="2800" dirty="0">
                <a:ea typeface="黑体" pitchFamily="2" charset="-122"/>
              </a:rPr>
              <a:t>3</a:t>
            </a:r>
            <a:r>
              <a:rPr lang="zh-CN" altLang="en-US" sz="2800" dirty="0">
                <a:ea typeface="黑体" pitchFamily="2" charset="-122"/>
              </a:rPr>
              <a:t>类：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Ⅰ,Ⅲ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}{Ⅱ}{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Ⅳ,Ⅴ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latin typeface="Times New Roman" pitchFamily="18" charset="0"/>
              </a:rPr>
              <a:t>(4)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λ</a:t>
            </a:r>
            <a:r>
              <a:rPr lang="en-US" altLang="zh-CN" sz="2800" dirty="0">
                <a:ea typeface="黑体" pitchFamily="2" charset="-122"/>
              </a:rPr>
              <a:t>=0.5</a:t>
            </a:r>
            <a:r>
              <a:rPr lang="zh-CN" altLang="en-US" sz="2800" dirty="0">
                <a:ea typeface="黑体" pitchFamily="2" charset="-122"/>
              </a:rPr>
              <a:t>，因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14</a:t>
            </a:r>
            <a:r>
              <a:rPr lang="en-US" altLang="zh-CN" sz="2800" dirty="0">
                <a:ea typeface="黑体" pitchFamily="2" charset="-122"/>
              </a:rPr>
              <a:t>=r</a:t>
            </a:r>
            <a:r>
              <a:rPr lang="en-US" altLang="zh-CN" sz="2800" baseline="-25000" dirty="0">
                <a:ea typeface="黑体" pitchFamily="2" charset="-122"/>
              </a:rPr>
              <a:t>41</a:t>
            </a:r>
            <a:r>
              <a:rPr lang="en-US" altLang="zh-CN" sz="2800" dirty="0">
                <a:ea typeface="黑体" pitchFamily="2" charset="-122"/>
              </a:rPr>
              <a:t>=0.5,U</a:t>
            </a:r>
            <a:r>
              <a:rPr lang="zh-CN" altLang="en-US" sz="2800" dirty="0">
                <a:ea typeface="黑体" pitchFamily="2" charset="-122"/>
              </a:rPr>
              <a:t>合并为</a:t>
            </a:r>
            <a:r>
              <a:rPr lang="en-US" altLang="zh-CN" sz="2800" dirty="0">
                <a:ea typeface="黑体" pitchFamily="2" charset="-122"/>
              </a:rPr>
              <a:t>2</a:t>
            </a:r>
            <a:r>
              <a:rPr lang="zh-CN" altLang="en-US" sz="2800" dirty="0">
                <a:ea typeface="黑体" pitchFamily="2" charset="-122"/>
              </a:rPr>
              <a:t>类</a:t>
            </a:r>
            <a:r>
              <a:rPr lang="en-US" altLang="zh-CN" sz="2800" dirty="0">
                <a:ea typeface="黑体" pitchFamily="2" charset="-122"/>
              </a:rPr>
              <a:t>: 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Ⅰ,Ⅲ,Ⅳ,Ⅴ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 {Ⅱ}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latin typeface="Times New Roman" pitchFamily="18" charset="0"/>
              </a:rPr>
              <a:t>(5)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λ</a:t>
            </a:r>
            <a:r>
              <a:rPr lang="en-US" altLang="zh-CN" sz="2800" dirty="0">
                <a:ea typeface="黑体" pitchFamily="2" charset="-122"/>
              </a:rPr>
              <a:t>=0.4</a:t>
            </a:r>
            <a:r>
              <a:rPr lang="zh-CN" altLang="en-US" sz="2800" dirty="0">
                <a:ea typeface="黑体" pitchFamily="2" charset="-122"/>
              </a:rPr>
              <a:t>，因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34</a:t>
            </a:r>
            <a:r>
              <a:rPr lang="en-US" altLang="zh-CN" sz="2800" dirty="0">
                <a:ea typeface="黑体" pitchFamily="2" charset="-122"/>
              </a:rPr>
              <a:t>=r</a:t>
            </a:r>
            <a:r>
              <a:rPr lang="en-US" altLang="zh-CN" sz="2800" baseline="-25000" dirty="0">
                <a:ea typeface="黑体" pitchFamily="2" charset="-122"/>
              </a:rPr>
              <a:t>43</a:t>
            </a:r>
            <a:r>
              <a:rPr lang="en-US" altLang="zh-CN" sz="2800" dirty="0">
                <a:ea typeface="黑体" pitchFamily="2" charset="-122"/>
              </a:rPr>
              <a:t>=0.3,U</a:t>
            </a:r>
            <a:r>
              <a:rPr lang="zh-CN" altLang="en-US" sz="2800" dirty="0">
                <a:ea typeface="黑体" pitchFamily="2" charset="-122"/>
              </a:rPr>
              <a:t>合并为</a:t>
            </a:r>
            <a:r>
              <a:rPr lang="en-US" altLang="zh-CN" sz="2800" dirty="0">
                <a:ea typeface="黑体" pitchFamily="2" charset="-122"/>
              </a:rPr>
              <a:t>1</a:t>
            </a:r>
            <a:r>
              <a:rPr lang="zh-CN" altLang="en-US" sz="2800" dirty="0">
                <a:ea typeface="黑体" pitchFamily="2" charset="-122"/>
              </a:rPr>
              <a:t>类</a:t>
            </a:r>
            <a:r>
              <a:rPr lang="en-US" altLang="zh-CN" sz="2800" dirty="0">
                <a:ea typeface="黑体" pitchFamily="2" charset="-122"/>
              </a:rPr>
              <a:t>: 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Ⅰ,Ⅱ,Ⅲ,Ⅳ,Ⅴ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</a:t>
            </a:r>
            <a:r>
              <a:rPr kumimoji="1"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                                          </a:t>
            </a:r>
          </a:p>
        </p:txBody>
      </p:sp>
      <p:graphicFrame>
        <p:nvGraphicFramePr>
          <p:cNvPr id="215045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591175" y="1484314"/>
          <a:ext cx="4535488" cy="256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19300" imgH="1143000" progId="Equation.3">
                  <p:embed/>
                </p:oleObj>
              </mc:Choice>
              <mc:Fallback>
                <p:oleObj name="公式" r:id="rId3" imgW="2019300" imgH="1143000" progId="Equation.3">
                  <p:embed/>
                  <p:pic>
                    <p:nvPicPr>
                      <p:cNvPr id="2150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1484314"/>
                        <a:ext cx="4535488" cy="25669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1" name="Rectangle 31"/>
          <p:cNvSpPr>
            <a:spLocks noChangeArrowheads="1"/>
          </p:cNvSpPr>
          <p:nvPr/>
        </p:nvSpPr>
        <p:spPr bwMode="auto">
          <a:xfrm>
            <a:off x="5519738" y="1412875"/>
            <a:ext cx="4824412" cy="25669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050" name="Group 10"/>
          <p:cNvGrpSpPr>
            <a:grpSpLocks/>
          </p:cNvGrpSpPr>
          <p:nvPr/>
        </p:nvGrpSpPr>
        <p:grpSpPr bwMode="auto">
          <a:xfrm>
            <a:off x="7494475" y="1497807"/>
            <a:ext cx="3889375" cy="2790825"/>
            <a:chOff x="884" y="890"/>
            <a:chExt cx="2450" cy="1758"/>
          </a:xfrm>
        </p:grpSpPr>
        <p:sp>
          <p:nvSpPr>
            <p:cNvPr id="7175" name="Text Box 11"/>
            <p:cNvSpPr txBox="1">
              <a:spLocks noChangeArrowheads="1"/>
            </p:cNvSpPr>
            <p:nvPr/>
          </p:nvSpPr>
          <p:spPr bwMode="auto">
            <a:xfrm>
              <a:off x="930" y="890"/>
              <a:ext cx="2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3333FF"/>
                  </a:solidFill>
                  <a:sym typeface="Symbol" pitchFamily="18" charset="2"/>
                </a:rPr>
                <a:t>              </a:t>
              </a:r>
              <a:r>
                <a:rPr kumimoji="1" lang="en-US" altLang="en-US">
                  <a:solidFill>
                    <a:srgbClr val="3333FF"/>
                  </a:solidFill>
                  <a:sym typeface="Symbol" pitchFamily="18" charset="2"/>
                </a:rPr>
                <a:t>Ⅰ</a:t>
              </a:r>
              <a:r>
                <a:rPr kumimoji="1" lang="en-US" altLang="zh-CN">
                  <a:solidFill>
                    <a:srgbClr val="3333FF"/>
                  </a:solidFill>
                  <a:sym typeface="Symbol" pitchFamily="18" charset="2"/>
                </a:rPr>
                <a:t>     </a:t>
              </a:r>
              <a:r>
                <a:rPr kumimoji="1" lang="en-US" altLang="en-US">
                  <a:solidFill>
                    <a:srgbClr val="3333FF"/>
                  </a:solidFill>
                  <a:sym typeface="Symbol" pitchFamily="18" charset="2"/>
                </a:rPr>
                <a:t>Ⅲ</a:t>
              </a:r>
              <a:r>
                <a:rPr kumimoji="1" lang="en-US" altLang="zh-CN">
                  <a:solidFill>
                    <a:srgbClr val="3333FF"/>
                  </a:solidFill>
                  <a:sym typeface="Symbol" pitchFamily="18" charset="2"/>
                </a:rPr>
                <a:t>     </a:t>
              </a:r>
              <a:r>
                <a:rPr kumimoji="1" lang="en-US" altLang="en-US">
                  <a:solidFill>
                    <a:srgbClr val="3333FF"/>
                  </a:solidFill>
                  <a:sym typeface="Symbol" pitchFamily="18" charset="2"/>
                </a:rPr>
                <a:t>Ⅱ</a:t>
              </a:r>
              <a:r>
                <a:rPr kumimoji="1" lang="en-US" altLang="zh-CN">
                  <a:solidFill>
                    <a:srgbClr val="3333FF"/>
                  </a:solidFill>
                  <a:sym typeface="Symbol" pitchFamily="18" charset="2"/>
                </a:rPr>
                <a:t>     </a:t>
              </a:r>
              <a:r>
                <a:rPr kumimoji="1" lang="en-US" altLang="en-US">
                  <a:solidFill>
                    <a:srgbClr val="3333FF"/>
                  </a:solidFill>
                  <a:sym typeface="Symbol" pitchFamily="18" charset="2"/>
                </a:rPr>
                <a:t>Ⅳ</a:t>
              </a:r>
              <a:r>
                <a:rPr kumimoji="1" lang="en-US" altLang="zh-CN">
                  <a:solidFill>
                    <a:srgbClr val="3333FF"/>
                  </a:solidFill>
                  <a:sym typeface="Symbol" pitchFamily="18" charset="2"/>
                </a:rPr>
                <a:t>     </a:t>
              </a:r>
              <a:r>
                <a:rPr kumimoji="1" lang="en-US" altLang="en-US">
                  <a:solidFill>
                    <a:srgbClr val="3333FF"/>
                  </a:solidFill>
                  <a:sym typeface="Symbol" pitchFamily="18" charset="2"/>
                </a:rPr>
                <a:t>Ⅴ</a:t>
              </a:r>
              <a:endParaRPr kumimoji="1" lang="en-US" altLang="zh-CN">
                <a:solidFill>
                  <a:srgbClr val="3333FF"/>
                </a:solidFill>
                <a:sym typeface="Symbol" pitchFamily="18" charset="2"/>
              </a:endParaRPr>
            </a:p>
          </p:txBody>
        </p:sp>
        <p:grpSp>
          <p:nvGrpSpPr>
            <p:cNvPr id="7176" name="Group 12"/>
            <p:cNvGrpSpPr>
              <a:grpSpLocks/>
            </p:cNvGrpSpPr>
            <p:nvPr/>
          </p:nvGrpSpPr>
          <p:grpSpPr bwMode="auto">
            <a:xfrm>
              <a:off x="884" y="1117"/>
              <a:ext cx="2268" cy="1531"/>
              <a:chOff x="884" y="1117"/>
              <a:chExt cx="2268" cy="1531"/>
            </a:xfrm>
          </p:grpSpPr>
          <p:sp>
            <p:nvSpPr>
              <p:cNvPr id="7177" name="Text Box 13"/>
              <p:cNvSpPr txBox="1">
                <a:spLocks noChangeArrowheads="1"/>
              </p:cNvSpPr>
              <p:nvPr/>
            </p:nvSpPr>
            <p:spPr bwMode="auto">
              <a:xfrm>
                <a:off x="884" y="1117"/>
                <a:ext cx="544" cy="15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1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0.8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0.6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0.5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0.4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7178" name="Line 14"/>
              <p:cNvSpPr>
                <a:spLocks noChangeShapeType="1"/>
              </p:cNvSpPr>
              <p:nvPr/>
            </p:nvSpPr>
            <p:spPr bwMode="auto">
              <a:xfrm>
                <a:off x="1701" y="1117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9" name="Line 15"/>
              <p:cNvSpPr>
                <a:spLocks noChangeShapeType="1"/>
              </p:cNvSpPr>
              <p:nvPr/>
            </p:nvSpPr>
            <p:spPr bwMode="auto">
              <a:xfrm>
                <a:off x="2064" y="1117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" name="Line 16"/>
              <p:cNvSpPr>
                <a:spLocks noChangeShapeType="1"/>
              </p:cNvSpPr>
              <p:nvPr/>
            </p:nvSpPr>
            <p:spPr bwMode="auto">
              <a:xfrm>
                <a:off x="1701" y="1480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" name="Line 17"/>
              <p:cNvSpPr>
                <a:spLocks noChangeShapeType="1"/>
              </p:cNvSpPr>
              <p:nvPr/>
            </p:nvSpPr>
            <p:spPr bwMode="auto">
              <a:xfrm>
                <a:off x="2789" y="1117"/>
                <a:ext cx="0" cy="58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" name="Line 18"/>
              <p:cNvSpPr>
                <a:spLocks noChangeShapeType="1"/>
              </p:cNvSpPr>
              <p:nvPr/>
            </p:nvSpPr>
            <p:spPr bwMode="auto">
              <a:xfrm>
                <a:off x="3152" y="1117"/>
                <a:ext cx="0" cy="58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" name="Line 19"/>
              <p:cNvSpPr>
                <a:spLocks noChangeShapeType="1"/>
              </p:cNvSpPr>
              <p:nvPr/>
            </p:nvSpPr>
            <p:spPr bwMode="auto">
              <a:xfrm>
                <a:off x="2789" y="1706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" name="Line 20"/>
              <p:cNvSpPr>
                <a:spLocks noChangeShapeType="1"/>
              </p:cNvSpPr>
              <p:nvPr/>
            </p:nvSpPr>
            <p:spPr bwMode="auto">
              <a:xfrm flipH="1">
                <a:off x="1202" y="1480"/>
                <a:ext cx="499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5" name="Line 21"/>
              <p:cNvSpPr>
                <a:spLocks noChangeShapeType="1"/>
              </p:cNvSpPr>
              <p:nvPr/>
            </p:nvSpPr>
            <p:spPr bwMode="auto">
              <a:xfrm flipH="1">
                <a:off x="1202" y="1706"/>
                <a:ext cx="1587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6" name="Line 22"/>
              <p:cNvSpPr>
                <a:spLocks noChangeShapeType="1"/>
              </p:cNvSpPr>
              <p:nvPr/>
            </p:nvSpPr>
            <p:spPr bwMode="auto">
              <a:xfrm>
                <a:off x="1882" y="1480"/>
                <a:ext cx="0" cy="49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7" name="Line 23"/>
              <p:cNvSpPr>
                <a:spLocks noChangeShapeType="1"/>
              </p:cNvSpPr>
              <p:nvPr/>
            </p:nvSpPr>
            <p:spPr bwMode="auto">
              <a:xfrm>
                <a:off x="2971" y="1706"/>
                <a:ext cx="0" cy="27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8" name="Line 24"/>
              <p:cNvSpPr>
                <a:spLocks noChangeShapeType="1"/>
              </p:cNvSpPr>
              <p:nvPr/>
            </p:nvSpPr>
            <p:spPr bwMode="auto">
              <a:xfrm>
                <a:off x="1882" y="1979"/>
                <a:ext cx="1089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9" name="Line 25"/>
              <p:cNvSpPr>
                <a:spLocks noChangeShapeType="1"/>
              </p:cNvSpPr>
              <p:nvPr/>
            </p:nvSpPr>
            <p:spPr bwMode="auto">
              <a:xfrm flipH="1">
                <a:off x="1202" y="1979"/>
                <a:ext cx="635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0" name="Line 26"/>
              <p:cNvSpPr>
                <a:spLocks noChangeShapeType="1"/>
              </p:cNvSpPr>
              <p:nvPr/>
            </p:nvSpPr>
            <p:spPr bwMode="auto">
              <a:xfrm>
                <a:off x="2426" y="1117"/>
                <a:ext cx="0" cy="1179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1" name="Line 27"/>
              <p:cNvSpPr>
                <a:spLocks noChangeShapeType="1"/>
              </p:cNvSpPr>
              <p:nvPr/>
            </p:nvSpPr>
            <p:spPr bwMode="auto">
              <a:xfrm>
                <a:off x="2245" y="1979"/>
                <a:ext cx="0" cy="317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2" name="Line 28"/>
              <p:cNvSpPr>
                <a:spLocks noChangeShapeType="1"/>
              </p:cNvSpPr>
              <p:nvPr/>
            </p:nvSpPr>
            <p:spPr bwMode="auto">
              <a:xfrm>
                <a:off x="2245" y="2296"/>
                <a:ext cx="18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3" name="Line 29"/>
              <p:cNvSpPr>
                <a:spLocks noChangeShapeType="1"/>
              </p:cNvSpPr>
              <p:nvPr/>
            </p:nvSpPr>
            <p:spPr bwMode="auto">
              <a:xfrm flipH="1">
                <a:off x="1202" y="2296"/>
                <a:ext cx="1043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4" name="Line 30"/>
              <p:cNvSpPr>
                <a:spLocks noChangeShapeType="1"/>
              </p:cNvSpPr>
              <p:nvPr/>
            </p:nvSpPr>
            <p:spPr bwMode="auto">
              <a:xfrm>
                <a:off x="2336" y="2296"/>
                <a:ext cx="0" cy="272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F9EDD5-30FB-9617-26AF-46141A9843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1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build="p"/>
      <p:bldP spid="21507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0"/>
            <a:ext cx="8507413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基于</a:t>
            </a:r>
            <a:r>
              <a:rPr lang="en-US" altLang="zh-CN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等价矩阵</a:t>
            </a:r>
            <a:r>
              <a:rPr lang="zh-CN" altLang="en-US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模糊聚类方法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举例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16038" y="1677989"/>
            <a:ext cx="9604498" cy="4752975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[P81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解：</a:t>
            </a:r>
            <a:r>
              <a:rPr lang="zh-CN" altLang="en-US" sz="2800" b="1" dirty="0">
                <a:ea typeface="楷体_GB2312" pitchFamily="49" charset="-122"/>
              </a:rPr>
              <a:t>首先按绝对值减数法建立</a:t>
            </a:r>
            <a:r>
              <a:rPr lang="en-US" altLang="zh-CN" sz="2800" b="1" dirty="0">
                <a:solidFill>
                  <a:srgbClr val="CC00FF"/>
                </a:solidFill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CC00FF"/>
                </a:solidFill>
                <a:ea typeface="楷体_GB2312" pitchFamily="49" charset="-122"/>
              </a:rPr>
              <a:t>相似关系</a:t>
            </a: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已知 </a:t>
            </a:r>
            <a:r>
              <a:rPr kumimoji="1" lang="en-US" altLang="zh-CN" sz="2800" b="1" dirty="0">
                <a:solidFill>
                  <a:srgbClr val="EE0006"/>
                </a:solidFill>
                <a:ea typeface="楷体_GB2312" pitchFamily="49" charset="-122"/>
              </a:rPr>
              <a:t>Ⅰ=( 5, 5, 3, 2 )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Ⅱ=( 2, 3, 4, 5 )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Ⅲ=( 5, 5, 2, 3 )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Ⅳ=( 1, 5, 3, 1 )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rgbClr val="EE0006"/>
                </a:solidFill>
                <a:ea typeface="楷体_GB2312" pitchFamily="49" charset="-122"/>
              </a:rPr>
              <a:t>        Ⅴ=( 2, 4, 5, 1 )</a:t>
            </a:r>
            <a:endParaRPr lang="en-US" altLang="zh-CN" dirty="0">
              <a:solidFill>
                <a:srgbClr val="EE0006"/>
              </a:solidFill>
              <a:ea typeface="楷体_GB2312" pitchFamily="49" charset="-122"/>
            </a:endParaRPr>
          </a:p>
        </p:txBody>
      </p:sp>
      <p:graphicFrame>
        <p:nvGraphicFramePr>
          <p:cNvPr id="21197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75050" y="2084388"/>
          <a:ext cx="4249738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04174" imgH="634725" progId="Equation.3">
                  <p:embed/>
                </p:oleObj>
              </mc:Choice>
              <mc:Fallback>
                <p:oleObj name="公式" r:id="rId3" imgW="1904174" imgH="634725" progId="Equation.3">
                  <p:embed/>
                  <p:pic>
                    <p:nvPicPr>
                      <p:cNvPr id="2119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084388"/>
                        <a:ext cx="4249738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589588" y="3534265"/>
          <a:ext cx="5908675" cy="217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11480" imgH="1143000" progId="Equation.DSMT4">
                  <p:embed/>
                </p:oleObj>
              </mc:Choice>
              <mc:Fallback>
                <p:oleObj name="Equation" r:id="rId5" imgW="3111480" imgH="1143000" progId="Equation.DSMT4">
                  <p:embed/>
                  <p:pic>
                    <p:nvPicPr>
                      <p:cNvPr id="2119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588" y="3534265"/>
                        <a:ext cx="5908675" cy="217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5" name="Oval 7"/>
          <p:cNvSpPr>
            <a:spLocks noChangeArrowheads="1"/>
          </p:cNvSpPr>
          <p:nvPr/>
        </p:nvSpPr>
        <p:spPr bwMode="auto">
          <a:xfrm>
            <a:off x="6234906" y="5160658"/>
            <a:ext cx="1013221" cy="504825"/>
          </a:xfrm>
          <a:prstGeom prst="ellipse">
            <a:avLst/>
          </a:prstGeom>
          <a:noFill/>
          <a:ln w="28575">
            <a:solidFill>
              <a:srgbClr val="EE000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77" name="Text Box 9"/>
          <p:cNvSpPr txBox="1">
            <a:spLocks noChangeArrowheads="1"/>
          </p:cNvSpPr>
          <p:nvPr/>
        </p:nvSpPr>
        <p:spPr bwMode="auto">
          <a:xfrm>
            <a:off x="8543926" y="2349500"/>
            <a:ext cx="165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EE0006"/>
                </a:solidFill>
                <a:ea typeface="楷体_GB2312" pitchFamily="49" charset="-122"/>
              </a:rPr>
              <a:t>取</a:t>
            </a:r>
            <a:r>
              <a:rPr lang="en-US" altLang="zh-CN" sz="2400" b="1" i="1" dirty="0">
                <a:solidFill>
                  <a:srgbClr val="EE0006"/>
                </a:solidFill>
                <a:ea typeface="楷体_GB2312" pitchFamily="49" charset="-122"/>
              </a:rPr>
              <a:t>c</a:t>
            </a:r>
            <a:r>
              <a:rPr lang="en-US" altLang="zh-CN" sz="2400" b="1" dirty="0">
                <a:solidFill>
                  <a:srgbClr val="EE0006"/>
                </a:solidFill>
                <a:ea typeface="楷体_GB2312" pitchFamily="49" charset="-122"/>
              </a:rPr>
              <a:t>=1/16</a:t>
            </a:r>
          </a:p>
        </p:txBody>
      </p:sp>
      <p:sp>
        <p:nvSpPr>
          <p:cNvPr id="211978" name="AutoShape 10"/>
          <p:cNvSpPr>
            <a:spLocks noChangeArrowheads="1"/>
          </p:cNvSpPr>
          <p:nvPr/>
        </p:nvSpPr>
        <p:spPr bwMode="auto">
          <a:xfrm>
            <a:off x="5159896" y="6000751"/>
            <a:ext cx="5867400" cy="836612"/>
          </a:xfrm>
          <a:prstGeom prst="wedgeRoundRectCallout">
            <a:avLst>
              <a:gd name="adj1" fmla="val -25050"/>
              <a:gd name="adj2" fmla="val -87073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/>
              <a:t>=1-(|2-5|+|4-5|+|5-3|+|1-2|)/16=1-0.4375</a:t>
            </a:r>
          </a:p>
          <a:p>
            <a:r>
              <a:rPr lang="en-US" altLang="zh-CN" sz="2400"/>
              <a:t> =0.5625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D16E86-84C6-138E-514A-359A8FAF14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5" grpId="0" animBg="1"/>
      <p:bldP spid="211977" grpId="0" uiExpand="1"/>
      <p:bldP spid="2119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797921" y="2006601"/>
          <a:ext cx="5554663" cy="201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49600" imgH="1143000" progId="Equation.3">
                  <p:embed/>
                </p:oleObj>
              </mc:Choice>
              <mc:Fallback>
                <p:oleObj name="公式" r:id="rId3" imgW="3149600" imgH="11430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921" y="2006601"/>
                        <a:ext cx="5554663" cy="2017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507412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基于</a:t>
            </a:r>
            <a:r>
              <a:rPr lang="en-US" altLang="zh-CN">
                <a:solidFill>
                  <a:srgbClr val="057939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等价矩阵</a:t>
            </a:r>
            <a:r>
              <a:rPr lang="zh-CN" altLang="en-US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模糊聚类方法</a:t>
            </a:r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举例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22" y="1341438"/>
            <a:ext cx="9721130" cy="5516562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zh-CN" altLang="en-US" sz="2800" b="1" dirty="0">
                <a:ea typeface="楷体_GB2312" pitchFamily="49" charset="-122"/>
              </a:rPr>
              <a:t>用平方法求传递闭包：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i="1" dirty="0">
                <a:sym typeface="Symbol" pitchFamily="18" charset="2"/>
              </a:rPr>
              <a:t>R</a:t>
            </a:r>
            <a:r>
              <a:rPr kumimoji="1" lang="en-US" altLang="zh-CN" sz="2800" b="1" baseline="30000" dirty="0">
                <a:sym typeface="Symbol" pitchFamily="18" charset="2"/>
              </a:rPr>
              <a:t>2</a:t>
            </a:r>
            <a:r>
              <a:rPr kumimoji="1" lang="en-US" altLang="zh-CN" sz="2800" b="1" dirty="0">
                <a:sym typeface="Symbol" pitchFamily="18" charset="2"/>
              </a:rPr>
              <a:t> </a:t>
            </a:r>
            <a:r>
              <a:rPr kumimoji="1" lang="en-US" altLang="zh-CN" sz="2800" b="1" i="1" dirty="0"/>
              <a:t>R</a:t>
            </a:r>
            <a:r>
              <a:rPr kumimoji="1" lang="en-US" altLang="zh-CN" sz="2800" b="1" baseline="30000" dirty="0"/>
              <a:t>4</a:t>
            </a:r>
            <a:r>
              <a:rPr kumimoji="1" lang="en-US" altLang="zh-CN" sz="2800" b="1" dirty="0">
                <a:sym typeface="Symbol" pitchFamily="18" charset="2"/>
              </a:rPr>
              <a:t> </a:t>
            </a:r>
            <a:r>
              <a:rPr kumimoji="1" lang="en-US" altLang="zh-CN" sz="2800" b="1" i="1" dirty="0"/>
              <a:t>R</a:t>
            </a:r>
            <a:r>
              <a:rPr kumimoji="1" lang="en-US" altLang="zh-CN" sz="2800" b="1" baseline="30000" dirty="0"/>
              <a:t>8 </a:t>
            </a:r>
            <a:r>
              <a:rPr lang="en-US" altLang="zh-CN" sz="2800" b="1" dirty="0">
                <a:ea typeface="楷体_GB2312" pitchFamily="49" charset="-122"/>
              </a:rPr>
              <a:t>= </a:t>
            </a:r>
            <a:r>
              <a:rPr kumimoji="1" lang="en-US" altLang="zh-CN" sz="2800" b="1" i="1" dirty="0"/>
              <a:t>R</a:t>
            </a:r>
            <a:r>
              <a:rPr kumimoji="1" lang="en-US" altLang="zh-CN" sz="2800" b="1" baseline="30000" dirty="0"/>
              <a:t>4</a:t>
            </a:r>
          </a:p>
          <a:p>
            <a:pPr marL="533400" indent="-533400" eaLnBrk="1" hangingPunct="1">
              <a:buNone/>
            </a:pPr>
            <a:endParaRPr kumimoji="1" lang="en-US" altLang="zh-CN" sz="2800" b="1" baseline="30000" dirty="0"/>
          </a:p>
          <a:p>
            <a:pPr marL="533400" indent="-533400" eaLnBrk="1" hangingPunct="1">
              <a:buNone/>
            </a:pPr>
            <a:endParaRPr kumimoji="1" lang="en-US" altLang="zh-CN" sz="2400" b="1" baseline="30000" dirty="0"/>
          </a:p>
          <a:p>
            <a:pPr marL="533400" indent="-533400" eaLnBrk="1" hangingPunct="1">
              <a:buNone/>
            </a:pPr>
            <a:endParaRPr kumimoji="1" lang="en-US" altLang="zh-CN" sz="2400" b="1" baseline="30000" dirty="0"/>
          </a:p>
          <a:p>
            <a:pPr marL="533400" indent="-533400" eaLnBrk="1" hangingPunct="1">
              <a:buNone/>
            </a:pPr>
            <a:endParaRPr kumimoji="1" lang="en-US" altLang="zh-CN" sz="2400" b="1" baseline="30000" dirty="0"/>
          </a:p>
          <a:p>
            <a:pPr marL="533400" indent="-533400" eaLnBrk="1" hangingPunct="1">
              <a:buNone/>
            </a:pPr>
            <a:endParaRPr kumimoji="1" lang="en-US" altLang="zh-CN" sz="2400" b="1" baseline="30000" dirty="0"/>
          </a:p>
          <a:p>
            <a:pPr marL="533400" indent="-533400" eaLnBrk="1" hangingPunct="1">
              <a:buNone/>
            </a:pPr>
            <a:endParaRPr kumimoji="1" lang="en-US" altLang="zh-CN" sz="2400" b="1" baseline="30000" dirty="0"/>
          </a:p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(1)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  <a:cs typeface="Arial" charset="0"/>
              </a:rPr>
              <a:t>λ</a:t>
            </a:r>
            <a:r>
              <a:rPr lang="en-US" altLang="zh-CN" sz="2800" dirty="0">
                <a:ea typeface="黑体" pitchFamily="2" charset="-122"/>
                <a:cs typeface="Arial" charset="0"/>
              </a:rPr>
              <a:t>=1,U</a:t>
            </a:r>
            <a:r>
              <a:rPr lang="zh-CN" altLang="en-US" sz="2800" dirty="0">
                <a:ea typeface="黑体" pitchFamily="2" charset="-122"/>
                <a:cs typeface="Arial" charset="0"/>
              </a:rPr>
              <a:t>分为</a:t>
            </a:r>
            <a:r>
              <a:rPr lang="en-US" altLang="zh-CN" sz="2800" dirty="0">
                <a:ea typeface="黑体" pitchFamily="2" charset="-122"/>
                <a:cs typeface="Arial" charset="0"/>
              </a:rPr>
              <a:t>5</a:t>
            </a:r>
            <a:r>
              <a:rPr lang="zh-CN" altLang="en-US" sz="2800" dirty="0">
                <a:ea typeface="黑体" pitchFamily="2" charset="-122"/>
                <a:cs typeface="Arial" charset="0"/>
              </a:rPr>
              <a:t>类：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{Ⅰ}{Ⅱ}{Ⅲ}{Ⅳ}{Ⅴ}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latin typeface="Times New Roman" pitchFamily="18" charset="0"/>
              </a:rPr>
              <a:t>(2) 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λ</a:t>
            </a:r>
            <a:r>
              <a:rPr lang="en-US" altLang="zh-CN" sz="2800" dirty="0">
                <a:ea typeface="黑体" pitchFamily="2" charset="-122"/>
              </a:rPr>
              <a:t>=0.875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13</a:t>
            </a:r>
            <a:r>
              <a:rPr lang="en-US" altLang="zh-CN" sz="2800" dirty="0">
                <a:ea typeface="黑体" pitchFamily="2" charset="-122"/>
              </a:rPr>
              <a:t>=r</a:t>
            </a:r>
            <a:r>
              <a:rPr lang="en-US" altLang="zh-CN" sz="2800" baseline="-25000" dirty="0">
                <a:ea typeface="黑体" pitchFamily="2" charset="-122"/>
              </a:rPr>
              <a:t>31</a:t>
            </a:r>
            <a:r>
              <a:rPr lang="en-US" altLang="zh-CN" sz="2800" dirty="0">
                <a:ea typeface="黑体" pitchFamily="2" charset="-122"/>
              </a:rPr>
              <a:t>=0.8,U</a:t>
            </a:r>
            <a:r>
              <a:rPr lang="zh-CN" altLang="en-US" sz="2800" dirty="0">
                <a:ea typeface="黑体" pitchFamily="2" charset="-122"/>
              </a:rPr>
              <a:t>合并为</a:t>
            </a:r>
            <a:r>
              <a:rPr lang="en-US" altLang="zh-CN" sz="2800" dirty="0">
                <a:ea typeface="黑体" pitchFamily="2" charset="-122"/>
              </a:rPr>
              <a:t>4</a:t>
            </a:r>
            <a:r>
              <a:rPr lang="zh-CN" altLang="en-US" sz="2800" dirty="0">
                <a:ea typeface="黑体" pitchFamily="2" charset="-122"/>
              </a:rPr>
              <a:t>类：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Ⅰ,Ⅲ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}{Ⅱ}{Ⅳ}{Ⅴ}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latin typeface="Times New Roman" pitchFamily="18" charset="0"/>
              </a:rPr>
              <a:t>(3)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λ</a:t>
            </a:r>
            <a:r>
              <a:rPr lang="en-US" altLang="zh-CN" sz="2800" dirty="0">
                <a:ea typeface="黑体" pitchFamily="2" charset="-122"/>
              </a:rPr>
              <a:t>=0.75</a:t>
            </a:r>
            <a:r>
              <a:rPr lang="zh-CN" altLang="en-US" sz="2800" dirty="0">
                <a:ea typeface="黑体" pitchFamily="2" charset="-122"/>
              </a:rPr>
              <a:t>，   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45</a:t>
            </a:r>
            <a:r>
              <a:rPr lang="en-US" altLang="zh-CN" sz="2800" dirty="0">
                <a:ea typeface="黑体" pitchFamily="2" charset="-122"/>
              </a:rPr>
              <a:t>=r</a:t>
            </a:r>
            <a:r>
              <a:rPr lang="en-US" altLang="zh-CN" sz="2800" baseline="-25000" dirty="0">
                <a:ea typeface="黑体" pitchFamily="2" charset="-122"/>
              </a:rPr>
              <a:t>54</a:t>
            </a:r>
            <a:r>
              <a:rPr lang="en-US" altLang="zh-CN" sz="2800" dirty="0">
                <a:ea typeface="黑体" pitchFamily="2" charset="-122"/>
              </a:rPr>
              <a:t>=0.6,U</a:t>
            </a:r>
            <a:r>
              <a:rPr lang="zh-CN" altLang="en-US" sz="2800" dirty="0">
                <a:ea typeface="黑体" pitchFamily="2" charset="-122"/>
              </a:rPr>
              <a:t>合并为</a:t>
            </a:r>
            <a:r>
              <a:rPr lang="en-US" altLang="zh-CN" sz="2800" dirty="0">
                <a:ea typeface="黑体" pitchFamily="2" charset="-122"/>
              </a:rPr>
              <a:t>3</a:t>
            </a:r>
            <a:r>
              <a:rPr lang="zh-CN" altLang="en-US" sz="2800" dirty="0">
                <a:ea typeface="黑体" pitchFamily="2" charset="-122"/>
              </a:rPr>
              <a:t>类：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Ⅰ,Ⅲ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}{Ⅱ}{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Ⅳ,Ⅴ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latin typeface="Times New Roman" pitchFamily="18" charset="0"/>
              </a:rPr>
              <a:t>(4)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λ</a:t>
            </a:r>
            <a:r>
              <a:rPr lang="en-US" altLang="zh-CN" sz="2800" dirty="0">
                <a:ea typeface="黑体" pitchFamily="2" charset="-122"/>
              </a:rPr>
              <a:t>=0.6875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14</a:t>
            </a:r>
            <a:r>
              <a:rPr lang="en-US" altLang="zh-CN" sz="2800" dirty="0">
                <a:ea typeface="黑体" pitchFamily="2" charset="-122"/>
              </a:rPr>
              <a:t>=r</a:t>
            </a:r>
            <a:r>
              <a:rPr lang="en-US" altLang="zh-CN" sz="2800" baseline="-25000" dirty="0">
                <a:ea typeface="黑体" pitchFamily="2" charset="-122"/>
              </a:rPr>
              <a:t>41</a:t>
            </a:r>
            <a:r>
              <a:rPr lang="en-US" altLang="zh-CN" sz="2800" dirty="0">
                <a:ea typeface="黑体" pitchFamily="2" charset="-122"/>
              </a:rPr>
              <a:t>=0.5,U</a:t>
            </a:r>
            <a:r>
              <a:rPr lang="zh-CN" altLang="en-US" sz="2800" dirty="0">
                <a:ea typeface="黑体" pitchFamily="2" charset="-122"/>
              </a:rPr>
              <a:t>合并为</a:t>
            </a:r>
            <a:r>
              <a:rPr lang="en-US" altLang="zh-CN" sz="2800" dirty="0">
                <a:ea typeface="黑体" pitchFamily="2" charset="-122"/>
              </a:rPr>
              <a:t>2</a:t>
            </a:r>
            <a:r>
              <a:rPr lang="zh-CN" altLang="en-US" sz="2800" dirty="0">
                <a:ea typeface="黑体" pitchFamily="2" charset="-122"/>
              </a:rPr>
              <a:t>类</a:t>
            </a:r>
            <a:r>
              <a:rPr lang="en-US" altLang="zh-CN" sz="2800" dirty="0">
                <a:ea typeface="黑体" pitchFamily="2" charset="-122"/>
              </a:rPr>
              <a:t>: 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Ⅰ,Ⅲ,Ⅳ,Ⅴ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 {Ⅱ}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latin typeface="Times New Roman" pitchFamily="18" charset="0"/>
              </a:rPr>
              <a:t>(5)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l-GR" altLang="zh-CN" sz="2800" dirty="0">
                <a:ea typeface="黑体" pitchFamily="2" charset="-122"/>
              </a:rPr>
              <a:t>λ</a:t>
            </a:r>
            <a:r>
              <a:rPr lang="en-US" altLang="zh-CN" sz="2800" dirty="0">
                <a:ea typeface="黑体" pitchFamily="2" charset="-122"/>
              </a:rPr>
              <a:t>=0.625</a:t>
            </a:r>
            <a:r>
              <a:rPr lang="zh-CN" altLang="en-US" sz="2800" dirty="0">
                <a:ea typeface="黑体" pitchFamily="2" charset="-122"/>
              </a:rPr>
              <a:t>，  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aseline="-25000" dirty="0">
                <a:ea typeface="黑体" pitchFamily="2" charset="-122"/>
              </a:rPr>
              <a:t>34</a:t>
            </a:r>
            <a:r>
              <a:rPr lang="en-US" altLang="zh-CN" sz="2800" dirty="0">
                <a:ea typeface="黑体" pitchFamily="2" charset="-122"/>
              </a:rPr>
              <a:t>=r</a:t>
            </a:r>
            <a:r>
              <a:rPr lang="en-US" altLang="zh-CN" sz="2800" baseline="-25000" dirty="0">
                <a:ea typeface="黑体" pitchFamily="2" charset="-122"/>
              </a:rPr>
              <a:t>43</a:t>
            </a:r>
            <a:r>
              <a:rPr lang="en-US" altLang="zh-CN" sz="2800" dirty="0">
                <a:ea typeface="黑体" pitchFamily="2" charset="-122"/>
              </a:rPr>
              <a:t>=0.3,U</a:t>
            </a:r>
            <a:r>
              <a:rPr lang="zh-CN" altLang="en-US" sz="2800" dirty="0">
                <a:ea typeface="黑体" pitchFamily="2" charset="-122"/>
              </a:rPr>
              <a:t>合并为</a:t>
            </a:r>
            <a:r>
              <a:rPr lang="en-US" altLang="zh-CN" sz="2800" dirty="0">
                <a:ea typeface="黑体" pitchFamily="2" charset="-122"/>
              </a:rPr>
              <a:t>1</a:t>
            </a:r>
            <a:r>
              <a:rPr lang="zh-CN" altLang="en-US" sz="2800" dirty="0">
                <a:ea typeface="黑体" pitchFamily="2" charset="-122"/>
              </a:rPr>
              <a:t>类</a:t>
            </a:r>
            <a:r>
              <a:rPr lang="en-US" altLang="zh-CN" sz="2800" dirty="0">
                <a:ea typeface="黑体" pitchFamily="2" charset="-122"/>
              </a:rPr>
              <a:t>: 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Times New Roman" pitchFamily="18" charset="0"/>
              </a:rPr>
              <a:t>Ⅰ,Ⅱ,Ⅲ,Ⅳ,Ⅴ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itchFamily="18" charset="0"/>
              </a:rPr>
              <a:t>}</a:t>
            </a:r>
            <a:r>
              <a:rPr kumimoji="1"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                                          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5989116" y="1525589"/>
            <a:ext cx="5651500" cy="2808287"/>
            <a:chOff x="3491880" y="1341438"/>
            <a:chExt cx="5652120" cy="2808287"/>
          </a:xfrm>
        </p:grpSpPr>
        <p:sp>
          <p:nvSpPr>
            <p:cNvPr id="9222" name="Rectangle 31"/>
            <p:cNvSpPr>
              <a:spLocks noChangeArrowheads="1"/>
            </p:cNvSpPr>
            <p:nvPr/>
          </p:nvSpPr>
          <p:spPr bwMode="auto">
            <a:xfrm>
              <a:off x="3491880" y="1876182"/>
              <a:ext cx="5652120" cy="2273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23" name="组合 2"/>
            <p:cNvGrpSpPr>
              <a:grpSpLocks/>
            </p:cNvGrpSpPr>
            <p:nvPr/>
          </p:nvGrpSpPr>
          <p:grpSpPr bwMode="auto">
            <a:xfrm>
              <a:off x="3923927" y="1341438"/>
              <a:ext cx="4752529" cy="2808287"/>
              <a:chOff x="3797049" y="1341438"/>
              <a:chExt cx="4884831" cy="2808287"/>
            </a:xfrm>
          </p:grpSpPr>
          <p:sp>
            <p:nvSpPr>
              <p:cNvPr id="9224" name="Text Box 11"/>
              <p:cNvSpPr txBox="1">
                <a:spLocks noChangeArrowheads="1"/>
              </p:cNvSpPr>
              <p:nvPr/>
            </p:nvSpPr>
            <p:spPr bwMode="auto">
              <a:xfrm>
                <a:off x="3923928" y="1341438"/>
                <a:ext cx="475795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>
                    <a:solidFill>
                      <a:srgbClr val="3333FF"/>
                    </a:solidFill>
                    <a:sym typeface="Symbol" pitchFamily="18" charset="2"/>
                  </a:rPr>
                  <a:t>                   </a:t>
                </a:r>
                <a:r>
                  <a:rPr kumimoji="1" lang="en-US" altLang="en-US">
                    <a:solidFill>
                      <a:srgbClr val="3333FF"/>
                    </a:solidFill>
                    <a:sym typeface="Symbol" pitchFamily="18" charset="2"/>
                  </a:rPr>
                  <a:t>Ⅰ</a:t>
                </a:r>
                <a:r>
                  <a:rPr kumimoji="1" lang="en-US" altLang="zh-CN">
                    <a:solidFill>
                      <a:srgbClr val="3333FF"/>
                    </a:solidFill>
                    <a:sym typeface="Symbol" pitchFamily="18" charset="2"/>
                  </a:rPr>
                  <a:t>       </a:t>
                </a:r>
                <a:r>
                  <a:rPr kumimoji="1" lang="en-US" altLang="en-US">
                    <a:solidFill>
                      <a:srgbClr val="3333FF"/>
                    </a:solidFill>
                    <a:sym typeface="Symbol" pitchFamily="18" charset="2"/>
                  </a:rPr>
                  <a:t>Ⅲ</a:t>
                </a:r>
                <a:r>
                  <a:rPr kumimoji="1" lang="en-US" altLang="zh-CN">
                    <a:solidFill>
                      <a:srgbClr val="3333FF"/>
                    </a:solidFill>
                    <a:sym typeface="Symbol" pitchFamily="18" charset="2"/>
                  </a:rPr>
                  <a:t>        </a:t>
                </a:r>
                <a:r>
                  <a:rPr kumimoji="1" lang="en-US" altLang="en-US">
                    <a:solidFill>
                      <a:srgbClr val="3333FF"/>
                    </a:solidFill>
                    <a:sym typeface="Symbol" pitchFamily="18" charset="2"/>
                  </a:rPr>
                  <a:t>Ⅱ</a:t>
                </a:r>
                <a:r>
                  <a:rPr kumimoji="1" lang="en-US" altLang="zh-CN">
                    <a:solidFill>
                      <a:srgbClr val="3333FF"/>
                    </a:solidFill>
                    <a:sym typeface="Symbol" pitchFamily="18" charset="2"/>
                  </a:rPr>
                  <a:t>         </a:t>
                </a:r>
                <a:r>
                  <a:rPr kumimoji="1" lang="en-US" altLang="en-US">
                    <a:solidFill>
                      <a:srgbClr val="3333FF"/>
                    </a:solidFill>
                    <a:sym typeface="Symbol" pitchFamily="18" charset="2"/>
                  </a:rPr>
                  <a:t>Ⅳ</a:t>
                </a:r>
                <a:r>
                  <a:rPr kumimoji="1" lang="en-US" altLang="zh-CN">
                    <a:solidFill>
                      <a:srgbClr val="3333FF"/>
                    </a:solidFill>
                    <a:sym typeface="Symbol" pitchFamily="18" charset="2"/>
                  </a:rPr>
                  <a:t>      </a:t>
                </a:r>
                <a:r>
                  <a:rPr kumimoji="1" lang="en-US" altLang="en-US">
                    <a:solidFill>
                      <a:srgbClr val="3333FF"/>
                    </a:solidFill>
                    <a:sym typeface="Symbol" pitchFamily="18" charset="2"/>
                  </a:rPr>
                  <a:t>Ⅴ</a:t>
                </a:r>
                <a:endParaRPr kumimoji="1" lang="en-US" altLang="zh-CN">
                  <a:solidFill>
                    <a:srgbClr val="3333FF"/>
                  </a:solidFill>
                  <a:sym typeface="Symbol" pitchFamily="18" charset="2"/>
                </a:endParaRPr>
              </a:p>
            </p:txBody>
          </p:sp>
          <p:grpSp>
            <p:nvGrpSpPr>
              <p:cNvPr id="9225" name="Group 12"/>
              <p:cNvGrpSpPr>
                <a:grpSpLocks/>
              </p:cNvGrpSpPr>
              <p:nvPr/>
            </p:nvGrpSpPr>
            <p:grpSpPr bwMode="auto">
              <a:xfrm>
                <a:off x="3797049" y="1719262"/>
                <a:ext cx="4684598" cy="2430463"/>
                <a:chOff x="884" y="1117"/>
                <a:chExt cx="2268" cy="1531"/>
              </a:xfrm>
            </p:grpSpPr>
            <p:sp>
              <p:nvSpPr>
                <p:cNvPr id="922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884" y="1117"/>
                  <a:ext cx="544" cy="15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/>
                    <a:t>1</a:t>
                  </a:r>
                </a:p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/>
                    <a:t>0.875</a:t>
                  </a:r>
                </a:p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/>
                    <a:t>0.75</a:t>
                  </a:r>
                </a:p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/>
                    <a:t>0.6875</a:t>
                  </a:r>
                </a:p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/>
                    <a:t>0.625</a:t>
                  </a:r>
                </a:p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/>
                    <a:t>0</a:t>
                  </a:r>
                </a:p>
              </p:txBody>
            </p:sp>
            <p:sp>
              <p:nvSpPr>
                <p:cNvPr id="9227" name="Line 14"/>
                <p:cNvSpPr>
                  <a:spLocks noChangeShapeType="1"/>
                </p:cNvSpPr>
                <p:nvPr/>
              </p:nvSpPr>
              <p:spPr bwMode="auto">
                <a:xfrm>
                  <a:off x="1701" y="1117"/>
                  <a:ext cx="0" cy="363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8" name="Line 15"/>
                <p:cNvSpPr>
                  <a:spLocks noChangeShapeType="1"/>
                </p:cNvSpPr>
                <p:nvPr/>
              </p:nvSpPr>
              <p:spPr bwMode="auto">
                <a:xfrm>
                  <a:off x="2064" y="1117"/>
                  <a:ext cx="0" cy="363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9" name="Line 16"/>
                <p:cNvSpPr>
                  <a:spLocks noChangeShapeType="1"/>
                </p:cNvSpPr>
                <p:nvPr/>
              </p:nvSpPr>
              <p:spPr bwMode="auto">
                <a:xfrm>
                  <a:off x="1701" y="1480"/>
                  <a:ext cx="363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0" name="Line 17"/>
                <p:cNvSpPr>
                  <a:spLocks noChangeShapeType="1"/>
                </p:cNvSpPr>
                <p:nvPr/>
              </p:nvSpPr>
              <p:spPr bwMode="auto">
                <a:xfrm>
                  <a:off x="2789" y="1117"/>
                  <a:ext cx="0" cy="589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1" name="Line 18"/>
                <p:cNvSpPr>
                  <a:spLocks noChangeShapeType="1"/>
                </p:cNvSpPr>
                <p:nvPr/>
              </p:nvSpPr>
              <p:spPr bwMode="auto">
                <a:xfrm>
                  <a:off x="3152" y="1117"/>
                  <a:ext cx="0" cy="589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2" name="Line 19"/>
                <p:cNvSpPr>
                  <a:spLocks noChangeShapeType="1"/>
                </p:cNvSpPr>
                <p:nvPr/>
              </p:nvSpPr>
              <p:spPr bwMode="auto">
                <a:xfrm>
                  <a:off x="2789" y="1706"/>
                  <a:ext cx="363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3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428" y="1480"/>
                  <a:ext cx="284" cy="0"/>
                </a:xfrm>
                <a:prstGeom prst="line">
                  <a:avLst/>
                </a:prstGeom>
                <a:noFill/>
                <a:ln w="19050">
                  <a:solidFill>
                    <a:srgbClr val="3333FF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4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1428" y="1706"/>
                  <a:ext cx="1361" cy="0"/>
                </a:xfrm>
                <a:prstGeom prst="line">
                  <a:avLst/>
                </a:prstGeom>
                <a:noFill/>
                <a:ln w="19050">
                  <a:solidFill>
                    <a:srgbClr val="3333FF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5" name="Line 22"/>
                <p:cNvSpPr>
                  <a:spLocks noChangeShapeType="1"/>
                </p:cNvSpPr>
                <p:nvPr/>
              </p:nvSpPr>
              <p:spPr bwMode="auto">
                <a:xfrm>
                  <a:off x="1882" y="1480"/>
                  <a:ext cx="0" cy="499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6" name="Line 23"/>
                <p:cNvSpPr>
                  <a:spLocks noChangeShapeType="1"/>
                </p:cNvSpPr>
                <p:nvPr/>
              </p:nvSpPr>
              <p:spPr bwMode="auto">
                <a:xfrm>
                  <a:off x="2971" y="1706"/>
                  <a:ext cx="0" cy="273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7" name="Line 24"/>
                <p:cNvSpPr>
                  <a:spLocks noChangeShapeType="1"/>
                </p:cNvSpPr>
                <p:nvPr/>
              </p:nvSpPr>
              <p:spPr bwMode="auto">
                <a:xfrm>
                  <a:off x="1882" y="1979"/>
                  <a:ext cx="1089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8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1428" y="1979"/>
                  <a:ext cx="409" cy="0"/>
                </a:xfrm>
                <a:prstGeom prst="line">
                  <a:avLst/>
                </a:prstGeom>
                <a:noFill/>
                <a:ln w="19050">
                  <a:solidFill>
                    <a:srgbClr val="3333FF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9" name="Line 26"/>
                <p:cNvSpPr>
                  <a:spLocks noChangeShapeType="1"/>
                </p:cNvSpPr>
                <p:nvPr/>
              </p:nvSpPr>
              <p:spPr bwMode="auto">
                <a:xfrm>
                  <a:off x="2426" y="1117"/>
                  <a:ext cx="0" cy="1179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0" name="Line 27"/>
                <p:cNvSpPr>
                  <a:spLocks noChangeShapeType="1"/>
                </p:cNvSpPr>
                <p:nvPr/>
              </p:nvSpPr>
              <p:spPr bwMode="auto">
                <a:xfrm>
                  <a:off x="2245" y="1979"/>
                  <a:ext cx="0" cy="317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1" name="Line 28"/>
                <p:cNvSpPr>
                  <a:spLocks noChangeShapeType="1"/>
                </p:cNvSpPr>
                <p:nvPr/>
              </p:nvSpPr>
              <p:spPr bwMode="auto">
                <a:xfrm>
                  <a:off x="2245" y="2296"/>
                  <a:ext cx="181" cy="0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2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1428" y="2296"/>
                  <a:ext cx="817" cy="0"/>
                </a:xfrm>
                <a:prstGeom prst="line">
                  <a:avLst/>
                </a:prstGeom>
                <a:noFill/>
                <a:ln w="19050">
                  <a:solidFill>
                    <a:srgbClr val="3333FF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3" name="Line 30"/>
                <p:cNvSpPr>
                  <a:spLocks noChangeShapeType="1"/>
                </p:cNvSpPr>
                <p:nvPr/>
              </p:nvSpPr>
              <p:spPr bwMode="auto">
                <a:xfrm>
                  <a:off x="2336" y="2296"/>
                  <a:ext cx="0" cy="272"/>
                </a:xfrm>
                <a:prstGeom prst="line">
                  <a:avLst/>
                </a:prstGeom>
                <a:noFill/>
                <a:ln w="1905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4CD628-3CA1-DD94-F71A-7665A80A5B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5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5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50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0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基于图论</a:t>
            </a:r>
            <a:r>
              <a:rPr lang="zh-CN" altLang="en-US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聚类方法</a:t>
            </a:r>
            <a:r>
              <a:rPr lang="en-US" altLang="zh-CN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(1)</a:t>
            </a:r>
            <a:br>
              <a:rPr lang="en-US" altLang="zh-CN" dirty="0">
                <a:solidFill>
                  <a:srgbClr val="5A913B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直接聚类法</a:t>
            </a:r>
            <a:r>
              <a:rPr lang="zh-CN" altLang="en-US" sz="3200" dirty="0">
                <a:ea typeface="黑体" pitchFamily="2" charset="-122"/>
              </a:rPr>
              <a:t>的一般步骤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828800"/>
            <a:ext cx="1008112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kumimoji="1" lang="en-US" altLang="zh-CN" b="1" dirty="0">
                <a:ea typeface="楷体_GB2312" pitchFamily="49" charset="-122"/>
              </a:rPr>
              <a:t>1. </a:t>
            </a:r>
            <a:r>
              <a:rPr kumimoji="1" lang="zh-CN" altLang="en-US" b="1" dirty="0">
                <a:ea typeface="楷体_GB2312" pitchFamily="49" charset="-122"/>
              </a:rPr>
              <a:t>数据标准化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dirty="0">
                <a:ea typeface="楷体_GB2312" pitchFamily="49" charset="-122"/>
              </a:rPr>
              <a:t>2. </a:t>
            </a:r>
            <a:r>
              <a:rPr kumimoji="1" lang="zh-CN" altLang="en-US" b="1" dirty="0">
                <a:ea typeface="楷体_GB2312" pitchFamily="49" charset="-122"/>
              </a:rPr>
              <a:t>建立</a:t>
            </a:r>
            <a:r>
              <a:rPr kumimoji="1" lang="en-US" altLang="zh-CN" b="1" dirty="0">
                <a:solidFill>
                  <a:srgbClr val="CC00FF"/>
                </a:solidFill>
                <a:ea typeface="楷体_GB2312" pitchFamily="49" charset="-122"/>
              </a:rPr>
              <a:t>F</a:t>
            </a:r>
            <a:r>
              <a:rPr kumimoji="1" lang="zh-CN" altLang="en-US" b="1" dirty="0">
                <a:solidFill>
                  <a:srgbClr val="CC00FF"/>
                </a:solidFill>
                <a:ea typeface="楷体_GB2312" pitchFamily="49" charset="-122"/>
              </a:rPr>
              <a:t>相似矩阵</a:t>
            </a:r>
            <a:r>
              <a:rPr kumimoji="1" lang="en-US" altLang="zh-CN" b="1" dirty="0">
                <a:solidFill>
                  <a:srgbClr val="CC00FF"/>
                </a:solidFill>
                <a:ea typeface="楷体_GB2312" pitchFamily="49" charset="-122"/>
              </a:rPr>
              <a:t>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ea typeface="楷体_GB2312" pitchFamily="49" charset="-122"/>
              </a:rPr>
              <a:t>3. </a:t>
            </a:r>
            <a:r>
              <a:rPr lang="zh-CN" altLang="en-US" b="1" dirty="0">
                <a:ea typeface="楷体_GB2312" pitchFamily="49" charset="-122"/>
              </a:rPr>
              <a:t>将</a:t>
            </a:r>
            <a:r>
              <a:rPr lang="en-US" altLang="zh-CN" b="1" u="sng" dirty="0">
                <a:solidFill>
                  <a:srgbClr val="CC00FF"/>
                </a:solidFill>
                <a:ea typeface="楷体_GB2312" pitchFamily="49" charset="-122"/>
              </a:rPr>
              <a:t>F</a:t>
            </a:r>
            <a:r>
              <a:rPr lang="zh-CN" altLang="en-US" b="1" u="sng" dirty="0">
                <a:solidFill>
                  <a:srgbClr val="CC00FF"/>
                </a:solidFill>
                <a:ea typeface="楷体_GB2312" pitchFamily="49" charset="-122"/>
              </a:rPr>
              <a:t>相似矩阵</a:t>
            </a:r>
            <a:r>
              <a:rPr lang="en-US" altLang="zh-CN" b="1" u="sng" dirty="0">
                <a:solidFill>
                  <a:srgbClr val="CC00FF"/>
                </a:solidFill>
                <a:ea typeface="楷体_GB2312" pitchFamily="49" charset="-122"/>
              </a:rPr>
              <a:t>R</a:t>
            </a:r>
            <a:r>
              <a:rPr lang="zh-CN" altLang="en-US" b="1" dirty="0">
                <a:ea typeface="楷体_GB2312" pitchFamily="49" charset="-122"/>
              </a:rPr>
              <a:t>中的所有不同的</a:t>
            </a:r>
            <a:r>
              <a:rPr lang="en-US" altLang="zh-CN" b="1" i="1" dirty="0" err="1">
                <a:ea typeface="楷体_GB2312" pitchFamily="49" charset="-122"/>
              </a:rPr>
              <a:t>r</a:t>
            </a:r>
            <a:r>
              <a:rPr lang="en-US" altLang="zh-CN" b="1" i="1" baseline="-25000" dirty="0" err="1">
                <a:ea typeface="楷体_GB2312" pitchFamily="49" charset="-122"/>
              </a:rPr>
              <a:t>ij</a:t>
            </a:r>
            <a:r>
              <a:rPr lang="zh-CN" altLang="en-US" b="1" dirty="0">
                <a:ea typeface="楷体_GB2312" pitchFamily="49" charset="-122"/>
              </a:rPr>
              <a:t>元素从大到小的顺序编排，设为：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           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1=</a:t>
            </a:r>
            <a:r>
              <a:rPr lang="el-GR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 </a:t>
            </a:r>
            <a:r>
              <a:rPr lang="el-GR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&gt;……&gt; </a:t>
            </a:r>
            <a:r>
              <a:rPr lang="el-GR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endParaRPr lang="el-GR" altLang="zh-CN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b="1" dirty="0">
                <a:ea typeface="楷体_GB2312" pitchFamily="49" charset="-122"/>
              </a:rPr>
              <a:t>4. </a:t>
            </a:r>
            <a:r>
              <a:rPr lang="zh-CN" altLang="en-US" b="1" dirty="0">
                <a:ea typeface="楷体_GB2312" pitchFamily="49" charset="-122"/>
              </a:rPr>
              <a:t>选取</a:t>
            </a:r>
            <a:r>
              <a:rPr lang="el-GR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dirty="0">
                <a:ea typeface="楷体_GB2312" pitchFamily="49" charset="-122"/>
              </a:rPr>
              <a:t>=</a:t>
            </a:r>
            <a:r>
              <a:rPr lang="el-GR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baseline="-25000" dirty="0">
                <a:ea typeface="楷体_GB2312" pitchFamily="49" charset="-122"/>
              </a:rPr>
              <a:t>k</a:t>
            </a:r>
            <a:r>
              <a:rPr lang="en-US" altLang="zh-CN" b="1" dirty="0">
                <a:ea typeface="楷体_GB2312" pitchFamily="49" charset="-122"/>
              </a:rPr>
              <a:t> (k=1,2,…,m),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直接在</a:t>
            </a:r>
            <a:r>
              <a:rPr lang="en-US" altLang="zh-CN" b="1" u="sng" dirty="0">
                <a:solidFill>
                  <a:srgbClr val="CC00FF"/>
                </a:solidFill>
                <a:ea typeface="楷体_GB2312" pitchFamily="49" charset="-122"/>
              </a:rPr>
              <a:t>F</a:t>
            </a:r>
            <a:r>
              <a:rPr lang="zh-CN" altLang="en-US" b="1" u="sng" dirty="0">
                <a:solidFill>
                  <a:srgbClr val="CC00FF"/>
                </a:solidFill>
                <a:ea typeface="楷体_GB2312" pitchFamily="49" charset="-122"/>
              </a:rPr>
              <a:t>相似矩阵</a:t>
            </a:r>
            <a:r>
              <a:rPr lang="en-US" altLang="zh-CN" b="1" u="sng" dirty="0">
                <a:solidFill>
                  <a:srgbClr val="CC00FF"/>
                </a:solidFill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上找出</a:t>
            </a:r>
            <a:r>
              <a:rPr lang="el-GR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baseline="-25000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水平上的相似类，并进行归并，</a:t>
            </a:r>
            <a:r>
              <a:rPr lang="zh-CN" altLang="en-US" b="1" dirty="0">
                <a:ea typeface="楷体_GB2312" pitchFamily="49" charset="-122"/>
              </a:rPr>
              <a:t>即得到</a:t>
            </a:r>
            <a:r>
              <a:rPr lang="el-GR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baseline="-25000" dirty="0">
                <a:ea typeface="楷体_GB2312" pitchFamily="49" charset="-122"/>
              </a:rPr>
              <a:t>k</a:t>
            </a:r>
            <a:r>
              <a:rPr lang="zh-CN" altLang="en-US" b="1" dirty="0">
                <a:ea typeface="楷体_GB2312" pitchFamily="49" charset="-122"/>
              </a:rPr>
              <a:t>水平上的等价分类</a:t>
            </a:r>
            <a:r>
              <a:rPr lang="en-US" altLang="zh-CN" b="1" dirty="0">
                <a:ea typeface="楷体_GB2312" pitchFamily="49" charset="-122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dirty="0">
                <a:ea typeface="楷体_GB2312" pitchFamily="49" charset="-122"/>
              </a:rPr>
              <a:t>5. </a:t>
            </a:r>
            <a:r>
              <a:rPr kumimoji="1" lang="zh-CN" altLang="en-US" b="1" dirty="0">
                <a:ea typeface="楷体_GB2312" pitchFamily="49" charset="-122"/>
              </a:rPr>
              <a:t>画动态聚类图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0FA6C1-F26B-DEF8-4503-FE2F453331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基于图论</a:t>
            </a:r>
            <a:r>
              <a:rPr lang="zh-CN" altLang="en-US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聚类方法</a:t>
            </a:r>
            <a:r>
              <a:rPr lang="en-US" altLang="zh-CN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(1)</a:t>
            </a:r>
            <a:br>
              <a:rPr lang="en-US" altLang="zh-CN">
                <a:solidFill>
                  <a:srgbClr val="5A913B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>
                <a:solidFill>
                  <a:srgbClr val="FF0000"/>
                </a:solidFill>
                <a:ea typeface="黑体" pitchFamily="2" charset="-122"/>
              </a:rPr>
              <a:t>直接聚类法</a:t>
            </a:r>
            <a:r>
              <a:rPr lang="zh-CN" altLang="en-US" sz="3200">
                <a:ea typeface="黑体" pitchFamily="2" charset="-122"/>
              </a:rPr>
              <a:t>的一般步骤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981200"/>
            <a:ext cx="9649072" cy="4687888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寻找相似类和归并的原则：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1</a:t>
            </a:r>
            <a:r>
              <a:rPr lang="zh-CN" altLang="en-US" b="1" dirty="0">
                <a:ea typeface="楷体_GB2312" pitchFamily="49" charset="-122"/>
              </a:rPr>
              <a:t>）若</a:t>
            </a:r>
            <a:r>
              <a:rPr lang="en-US" altLang="zh-CN" b="1" i="1" dirty="0" err="1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楷体_GB2312" pitchFamily="49" charset="-122"/>
              </a:rPr>
              <a:t>ij</a:t>
            </a:r>
            <a:r>
              <a:rPr lang="en-US" altLang="zh-CN" b="1" i="1" baseline="-25000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≥ </a:t>
            </a:r>
            <a:r>
              <a:rPr lang="el-GR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，则将</a:t>
            </a:r>
            <a:r>
              <a:rPr lang="en-US" altLang="zh-CN" b="1" i="1" dirty="0" err="1">
                <a:ea typeface="楷体_GB2312" pitchFamily="49" charset="-122"/>
                <a:cs typeface="Arial" charset="0"/>
              </a:rPr>
              <a:t>u</a:t>
            </a:r>
            <a:r>
              <a:rPr lang="en-US" altLang="zh-CN" b="1" i="1" baseline="-25000" dirty="0" err="1">
                <a:ea typeface="楷体_GB2312" pitchFamily="49" charset="-122"/>
                <a:cs typeface="Arial" charset="0"/>
              </a:rPr>
              <a:t>i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与</a:t>
            </a:r>
            <a:r>
              <a:rPr lang="en-US" altLang="zh-CN" b="1" i="1" dirty="0" err="1">
                <a:ea typeface="楷体_GB2312" pitchFamily="49" charset="-122"/>
                <a:cs typeface="Arial" charset="0"/>
              </a:rPr>
              <a:t>u</a:t>
            </a:r>
            <a:r>
              <a:rPr lang="en-US" altLang="zh-CN" b="1" i="1" baseline="-25000" dirty="0" err="1">
                <a:ea typeface="楷体_GB2312" pitchFamily="49" charset="-122"/>
                <a:cs typeface="Arial" charset="0"/>
              </a:rPr>
              <a:t>j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分为一类。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>
                <a:ea typeface="楷体_GB2312" pitchFamily="49" charset="-122"/>
                <a:cs typeface="Arial" charset="0"/>
              </a:rPr>
              <a:t>（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2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）设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B</a:t>
            </a:r>
            <a:r>
              <a:rPr lang="en-US" altLang="zh-CN" b="1" baseline="-25000" dirty="0">
                <a:ea typeface="楷体_GB2312" pitchFamily="49" charset="-122"/>
                <a:cs typeface="Arial" charset="0"/>
              </a:rPr>
              <a:t>1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，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B</a:t>
            </a:r>
            <a:r>
              <a:rPr lang="en-US" altLang="zh-CN" b="1" baseline="-25000" dirty="0">
                <a:ea typeface="楷体_GB2312" pitchFamily="49" charset="-122"/>
                <a:cs typeface="Arial" charset="0"/>
              </a:rPr>
              <a:t>2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是</a:t>
            </a:r>
            <a:r>
              <a:rPr lang="el-GR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baseline="-25000" dirty="0">
                <a:ea typeface="楷体_GB2312" pitchFamily="49" charset="-122"/>
                <a:cs typeface="Arial" charset="0"/>
              </a:rPr>
              <a:t>k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水平上的两个类，若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C00FF"/>
                </a:solidFill>
                <a:ea typeface="楷体_GB2312" pitchFamily="49" charset="-122"/>
                <a:cs typeface="Arial" charset="0"/>
              </a:rPr>
              <a:t>             </a:t>
            </a:r>
            <a:r>
              <a:rPr lang="en-US" altLang="zh-CN" b="1" dirty="0">
                <a:solidFill>
                  <a:srgbClr val="CC00FF"/>
                </a:solidFill>
                <a:ea typeface="楷体_GB2312" pitchFamily="49" charset="-122"/>
                <a:cs typeface="Arial" charset="0"/>
              </a:rPr>
              <a:t>B</a:t>
            </a:r>
            <a:r>
              <a:rPr lang="en-US" altLang="zh-CN" b="1" baseline="-25000" dirty="0">
                <a:solidFill>
                  <a:srgbClr val="CC00FF"/>
                </a:solidFill>
                <a:ea typeface="楷体_GB2312" pitchFamily="49" charset="-122"/>
                <a:cs typeface="Arial" charset="0"/>
              </a:rPr>
              <a:t>1 </a:t>
            </a:r>
            <a:r>
              <a:rPr lang="en-US" altLang="zh-CN" b="1" dirty="0">
                <a:solidFill>
                  <a:srgbClr val="CC00FF"/>
                </a:solidFill>
                <a:ea typeface="楷体_GB2312" pitchFamily="49" charset="-122"/>
                <a:sym typeface="Symbol" panose="05050102010706020507" pitchFamily="18" charset="2"/>
              </a:rPr>
              <a:t></a:t>
            </a:r>
            <a:r>
              <a:rPr lang="en-US" altLang="zh-CN" b="1" baseline="-25000" dirty="0">
                <a:solidFill>
                  <a:srgbClr val="CC00FF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CC00FF"/>
                </a:solidFill>
                <a:ea typeface="楷体_GB2312" pitchFamily="49" charset="-122"/>
              </a:rPr>
              <a:t>B</a:t>
            </a:r>
            <a:r>
              <a:rPr lang="en-US" altLang="zh-CN" b="1" baseline="-25000" dirty="0">
                <a:solidFill>
                  <a:srgbClr val="CC00FF"/>
                </a:solidFill>
                <a:ea typeface="楷体_GB2312" pitchFamily="49" charset="-122"/>
              </a:rPr>
              <a:t>2</a:t>
            </a:r>
            <a:r>
              <a:rPr lang="en-US" altLang="zh-CN" b="1" dirty="0">
                <a:solidFill>
                  <a:srgbClr val="CC00FF"/>
                </a:solidFill>
                <a:ea typeface="楷体_GB2312" pitchFamily="49" charset="-122"/>
              </a:rPr>
              <a:t> ≠Ø</a:t>
            </a:r>
            <a:r>
              <a:rPr lang="zh-CN" altLang="en-US" b="1" dirty="0">
                <a:solidFill>
                  <a:srgbClr val="CC00FF"/>
                </a:solidFill>
                <a:ea typeface="楷体_GB2312" pitchFamily="49" charset="-122"/>
              </a:rPr>
              <a:t>，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>
                <a:ea typeface="楷体_GB2312" pitchFamily="49" charset="-122"/>
              </a:rPr>
              <a:t>          则称它们为相似，将所有相似的类合并成一类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>
                <a:ea typeface="楷体_GB2312" pitchFamily="49" charset="-122"/>
              </a:rPr>
              <a:t>（</a:t>
            </a:r>
            <a:r>
              <a:rPr lang="en-US" altLang="zh-CN" b="1" dirty="0">
                <a:ea typeface="楷体_GB2312" pitchFamily="49" charset="-122"/>
              </a:rPr>
              <a:t>3</a:t>
            </a:r>
            <a:r>
              <a:rPr lang="zh-CN" altLang="en-US" b="1" dirty="0">
                <a:ea typeface="楷体_GB2312" pitchFamily="49" charset="-122"/>
              </a:rPr>
              <a:t>）最后得到的分类就是</a:t>
            </a:r>
            <a:r>
              <a:rPr lang="el-GR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b="1" baseline="-25000" dirty="0">
                <a:ea typeface="楷体_GB2312" pitchFamily="49" charset="-122"/>
              </a:rPr>
              <a:t>k</a:t>
            </a:r>
            <a:r>
              <a:rPr lang="zh-CN" altLang="en-US" b="1" dirty="0">
                <a:ea typeface="楷体_GB2312" pitchFamily="49" charset="-122"/>
              </a:rPr>
              <a:t>水平上的等价分类。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0B3A8C-2F54-B7EF-8E89-BB4D22FF35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404814"/>
            <a:ext cx="8964613" cy="115252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直接聚类法举例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557338"/>
            <a:ext cx="10153127" cy="5300662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[P71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环境单元分类</a:t>
            </a:r>
          </a:p>
          <a:p>
            <a:pPr marL="533400" indent="-533400" eaLnBrk="1" hangingPunct="1">
              <a:buNone/>
            </a:pPr>
            <a:r>
              <a:rPr lang="zh-CN" altLang="en-US" sz="2800" b="1" dirty="0">
                <a:ea typeface="楷体_GB2312" pitchFamily="49" charset="-122"/>
              </a:rPr>
              <a:t>     每个环境单元包括</a:t>
            </a:r>
            <a:r>
              <a:rPr lang="zh-CN" altLang="en-US" sz="2800" b="1" dirty="0">
                <a:solidFill>
                  <a:srgbClr val="EE0006"/>
                </a:solidFill>
                <a:ea typeface="楷体_GB2312" pitchFamily="49" charset="-122"/>
              </a:rPr>
              <a:t>空气、水分、土壤、作物</a:t>
            </a:r>
            <a:r>
              <a:rPr lang="zh-CN" altLang="en-US" sz="2800" b="1" dirty="0">
                <a:ea typeface="楷体_GB2312" pitchFamily="49" charset="-122"/>
              </a:rPr>
              <a:t>四个要素，环境单元的污染状况由污物在四要素中含量的超限度来描述。</a:t>
            </a:r>
          </a:p>
          <a:p>
            <a:pPr marL="533400" indent="-533400" eaLnBrk="1" hangingPunct="1"/>
            <a:r>
              <a:rPr lang="zh-CN" altLang="en-US" sz="2800" b="1" dirty="0">
                <a:ea typeface="楷体_GB2312" pitchFamily="49" charset="-122"/>
              </a:rPr>
              <a:t>现有五个环境单元，它们的污染数据如下：</a:t>
            </a:r>
          </a:p>
          <a:p>
            <a:pPr marL="533400" indent="-533400" eaLnBrk="1" hangingPunct="1">
              <a:buNone/>
            </a:pPr>
            <a:r>
              <a:rPr lang="zh-CN" altLang="en-US" sz="2800" b="1" dirty="0">
                <a:ea typeface="楷体_GB2312" pitchFamily="49" charset="-122"/>
              </a:rPr>
              <a:t>      </a:t>
            </a:r>
            <a:r>
              <a:rPr lang="en-US" altLang="zh-CN" sz="2800" b="1" dirty="0">
                <a:ea typeface="楷体_GB2312" pitchFamily="49" charset="-122"/>
              </a:rPr>
              <a:t>U= 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{Ⅰ</a:t>
            </a: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Ⅱ</a:t>
            </a: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Ⅲ</a:t>
            </a: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Ⅳ</a:t>
            </a: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Ⅴ}</a:t>
            </a:r>
          </a:p>
          <a:p>
            <a:pPr marL="533400" indent="-533400" eaLnBrk="1" hangingPunct="1"/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设 </a:t>
            </a: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Ⅰ=( 5, 5, 3, 2 )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  Ⅱ=( 2, 3, 4, 5 )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  Ⅲ=( 5, 5, 2, 3 )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  Ⅳ=( 1, 5, 3, 1 )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  Ⅴ=( 2, 4, 5, 1 )                 </a:t>
            </a:r>
            <a:r>
              <a:rPr kumimoji="1" lang="zh-CN" altLang="en-US" sz="2800" b="1" dirty="0">
                <a:solidFill>
                  <a:srgbClr val="EE0006"/>
                </a:solidFill>
                <a:ea typeface="楷体_GB2312" pitchFamily="49" charset="-122"/>
              </a:rPr>
              <a:t>试对</a:t>
            </a:r>
            <a:r>
              <a:rPr kumimoji="1" lang="en-US" altLang="zh-CN" sz="2800" b="1" dirty="0">
                <a:solidFill>
                  <a:srgbClr val="EE0006"/>
                </a:solidFill>
                <a:ea typeface="楷体_GB2312" pitchFamily="49" charset="-122"/>
              </a:rPr>
              <a:t>U</a:t>
            </a:r>
            <a:r>
              <a:rPr kumimoji="1" lang="zh-CN" altLang="en-US" sz="2800" b="1" dirty="0">
                <a:solidFill>
                  <a:srgbClr val="EE0006"/>
                </a:solidFill>
                <a:ea typeface="楷体_GB2312" pitchFamily="49" charset="-122"/>
              </a:rPr>
              <a:t>进行分类</a:t>
            </a:r>
            <a:endParaRPr lang="zh-CN" altLang="en-US" dirty="0">
              <a:solidFill>
                <a:srgbClr val="EE0006"/>
              </a:solidFill>
              <a:ea typeface="楷体_GB2312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7A8B16-D40D-1C99-DF0F-DC577645FD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376B5-62E6-403F-97A0-5A1E42AE81DF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0"/>
            <a:ext cx="8507413" cy="11001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直接聚类法举例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628776"/>
            <a:ext cx="9721080" cy="4752975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[P81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解：</a:t>
            </a:r>
            <a:r>
              <a:rPr lang="zh-CN" altLang="en-US" sz="2800" b="1" dirty="0">
                <a:ea typeface="楷体_GB2312" pitchFamily="49" charset="-122"/>
              </a:rPr>
              <a:t>首先按绝对值减数法建立</a:t>
            </a:r>
            <a:r>
              <a:rPr lang="en-US" altLang="zh-CN" sz="2800" b="1" dirty="0">
                <a:solidFill>
                  <a:srgbClr val="CC00FF"/>
                </a:solidFill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CC00FF"/>
                </a:solidFill>
                <a:ea typeface="楷体_GB2312" pitchFamily="49" charset="-122"/>
              </a:rPr>
              <a:t>相似关系</a:t>
            </a: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endParaRPr lang="zh-CN" altLang="en-US" sz="2800" b="1" dirty="0">
              <a:ea typeface="楷体_GB2312" pitchFamily="49" charset="-122"/>
            </a:endParaRPr>
          </a:p>
          <a:p>
            <a:pPr marL="533400" indent="-533400" eaLnBrk="1" hangingPunct="1">
              <a:buNone/>
            </a:pP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已知 </a:t>
            </a:r>
            <a:r>
              <a:rPr kumimoji="1" lang="en-US" altLang="zh-CN" sz="2800" b="1" dirty="0">
                <a:solidFill>
                  <a:srgbClr val="EE0006"/>
                </a:solidFill>
                <a:ea typeface="楷体_GB2312" pitchFamily="49" charset="-122"/>
              </a:rPr>
              <a:t>Ⅰ=( 5, 5, 3, 2 )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Ⅱ=( 2, 3, 4, 5 )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Ⅲ=( 5, 5, 2, 3 )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        Ⅳ=( 1, 5, 3, 1 )</a:t>
            </a:r>
          </a:p>
          <a:p>
            <a:pPr marL="533400" indent="-533400" eaLnBrk="1" hangingPunct="1">
              <a:buNone/>
            </a:pPr>
            <a:r>
              <a:rPr kumimoji="1" lang="en-US" altLang="zh-CN" sz="2800" b="1" dirty="0">
                <a:solidFill>
                  <a:srgbClr val="EE0006"/>
                </a:solidFill>
                <a:ea typeface="楷体_GB2312" pitchFamily="49" charset="-122"/>
              </a:rPr>
              <a:t>        Ⅴ=( 2, 4, 5, 1 )</a:t>
            </a:r>
            <a:endParaRPr lang="en-US" altLang="zh-CN" dirty="0">
              <a:solidFill>
                <a:srgbClr val="EE0006"/>
              </a:solidFill>
              <a:ea typeface="楷体_GB2312" pitchFamily="49" charset="-122"/>
            </a:endParaRPr>
          </a:p>
        </p:txBody>
      </p:sp>
      <p:graphicFrame>
        <p:nvGraphicFramePr>
          <p:cNvPr id="21197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75050" y="2084388"/>
          <a:ext cx="4249738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04174" imgH="634725" progId="Equation.3">
                  <p:embed/>
                </p:oleObj>
              </mc:Choice>
              <mc:Fallback>
                <p:oleObj name="公式" r:id="rId3" imgW="1904174" imgH="634725" progId="Equation.3">
                  <p:embed/>
                  <p:pic>
                    <p:nvPicPr>
                      <p:cNvPr id="2119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084388"/>
                        <a:ext cx="4249738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311900" y="3284539"/>
          <a:ext cx="3816350" cy="223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55800" imgH="1143000" progId="Equation.3">
                  <p:embed/>
                </p:oleObj>
              </mc:Choice>
              <mc:Fallback>
                <p:oleObj name="公式" r:id="rId5" imgW="1955800" imgH="1143000" progId="Equation.3">
                  <p:embed/>
                  <p:pic>
                    <p:nvPicPr>
                      <p:cNvPr id="2119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3284539"/>
                        <a:ext cx="3816350" cy="223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5" name="Oval 7"/>
          <p:cNvSpPr>
            <a:spLocks noChangeArrowheads="1"/>
          </p:cNvSpPr>
          <p:nvPr/>
        </p:nvSpPr>
        <p:spPr bwMode="auto">
          <a:xfrm>
            <a:off x="6888163" y="5013326"/>
            <a:ext cx="647700" cy="504825"/>
          </a:xfrm>
          <a:prstGeom prst="ellipse">
            <a:avLst/>
          </a:prstGeom>
          <a:noFill/>
          <a:ln w="28575">
            <a:solidFill>
              <a:srgbClr val="EE000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77" name="Text Box 9"/>
          <p:cNvSpPr txBox="1">
            <a:spLocks noChangeArrowheads="1"/>
          </p:cNvSpPr>
          <p:nvPr/>
        </p:nvSpPr>
        <p:spPr bwMode="auto">
          <a:xfrm>
            <a:off x="8543926" y="2349500"/>
            <a:ext cx="1655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EE0006"/>
                </a:solidFill>
                <a:ea typeface="楷体_GB2312" pitchFamily="49" charset="-122"/>
              </a:rPr>
              <a:t>取</a:t>
            </a:r>
            <a:r>
              <a:rPr lang="en-US" altLang="zh-CN" sz="2400" b="1">
                <a:solidFill>
                  <a:srgbClr val="EE0006"/>
                </a:solidFill>
                <a:ea typeface="楷体_GB2312" pitchFamily="49" charset="-122"/>
              </a:rPr>
              <a:t>c=0.1</a:t>
            </a:r>
          </a:p>
        </p:txBody>
      </p:sp>
      <p:sp>
        <p:nvSpPr>
          <p:cNvPr id="211978" name="AutoShape 10"/>
          <p:cNvSpPr>
            <a:spLocks noChangeArrowheads="1"/>
          </p:cNvSpPr>
          <p:nvPr/>
        </p:nvSpPr>
        <p:spPr bwMode="auto">
          <a:xfrm>
            <a:off x="5519738" y="6021389"/>
            <a:ext cx="5148262" cy="503237"/>
          </a:xfrm>
          <a:prstGeom prst="wedgeRoundRectCallout">
            <a:avLst>
              <a:gd name="adj1" fmla="val -16111"/>
              <a:gd name="adj2" fmla="val -157255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/>
              <a:t>=1-0.1(|2-5|+|4-5|+|5-3|+|1-2|)=1-0.7=0.3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42A5BB-E8AD-3285-BF25-57D6C5214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260351"/>
            <a:ext cx="5795963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直接聚类法举例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37100" y="1216026"/>
            <a:ext cx="7609508" cy="566102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ea typeface="黑体" pitchFamily="2" charset="-122"/>
              </a:rPr>
              <a:t>[P81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环境单元分类，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800" dirty="0">
                <a:ea typeface="黑体" pitchFamily="2" charset="-122"/>
              </a:rPr>
              <a:t>设已得到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相似矩阵</a:t>
            </a:r>
            <a:r>
              <a:rPr lang="en-US" altLang="zh-CN" sz="2800" dirty="0">
                <a:ea typeface="黑体" pitchFamily="2" charset="-122"/>
              </a:rPr>
              <a:t>: 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800" dirty="0">
                <a:ea typeface="黑体" pitchFamily="2" charset="-122"/>
              </a:rPr>
              <a:t>将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zh-CN" altLang="en-US" sz="2800" dirty="0">
                <a:ea typeface="黑体" pitchFamily="2" charset="-122"/>
              </a:rPr>
              <a:t>中的元素进行排序为：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1&gt;0.8&gt;0.6&gt;0.5&gt;0.4&gt;0.3&gt;0.2&gt;0.1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黑体" pitchFamily="2" charset="-122"/>
              </a:rPr>
              <a:t>(1)</a:t>
            </a:r>
            <a:r>
              <a:rPr lang="zh-CN" altLang="en-US" sz="2400" dirty="0">
                <a:ea typeface="黑体" pitchFamily="2" charset="-122"/>
              </a:rPr>
              <a:t>取</a:t>
            </a:r>
            <a:r>
              <a:rPr lang="el-GR" altLang="zh-CN" sz="2400" dirty="0">
                <a:ea typeface="黑体" pitchFamily="2" charset="-122"/>
                <a:cs typeface="Arial" charset="0"/>
              </a:rPr>
              <a:t>λ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=1</a:t>
            </a:r>
            <a:r>
              <a:rPr lang="zh-CN" altLang="en-US" sz="2400" dirty="0">
                <a:ea typeface="黑体" pitchFamily="2" charset="-122"/>
                <a:cs typeface="Arial" charset="0"/>
              </a:rPr>
              <a:t>，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U</a:t>
            </a:r>
            <a:r>
              <a:rPr lang="zh-CN" altLang="en-US" sz="2400" dirty="0">
                <a:ea typeface="黑体" pitchFamily="2" charset="-122"/>
                <a:cs typeface="Arial" charset="0"/>
              </a:rPr>
              <a:t>分为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5</a:t>
            </a:r>
            <a:r>
              <a:rPr lang="zh-CN" altLang="en-US" sz="2400" dirty="0">
                <a:ea typeface="黑体" pitchFamily="2" charset="-122"/>
                <a:cs typeface="Arial" charset="0"/>
              </a:rPr>
              <a:t>类：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{Ⅰ} {Ⅱ} {Ⅲ} {Ⅳ} {Ⅴ}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kumimoji="1" lang="en-US" altLang="zh-CN" sz="2400" b="1" dirty="0">
                <a:latin typeface="Times New Roman" pitchFamily="18" charset="0"/>
              </a:rPr>
              <a:t>(2) </a:t>
            </a:r>
            <a:r>
              <a:rPr lang="zh-CN" altLang="en-US" sz="2400" dirty="0">
                <a:ea typeface="黑体" pitchFamily="2" charset="-122"/>
              </a:rPr>
              <a:t>取</a:t>
            </a:r>
            <a:r>
              <a:rPr lang="el-GR" altLang="zh-CN" sz="2400" dirty="0">
                <a:ea typeface="黑体" pitchFamily="2" charset="-122"/>
              </a:rPr>
              <a:t>λ</a:t>
            </a:r>
            <a:r>
              <a:rPr lang="en-US" altLang="zh-CN" sz="2400" dirty="0">
                <a:ea typeface="黑体" pitchFamily="2" charset="-122"/>
              </a:rPr>
              <a:t>=0.8</a:t>
            </a:r>
            <a:r>
              <a:rPr lang="zh-CN" altLang="en-US" sz="2400" dirty="0">
                <a:ea typeface="黑体" pitchFamily="2" charset="-122"/>
              </a:rPr>
              <a:t>，因为</a:t>
            </a:r>
            <a:r>
              <a:rPr lang="en-US" altLang="zh-CN" sz="2400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13</a:t>
            </a:r>
            <a:r>
              <a:rPr lang="en-US" altLang="zh-CN" sz="2400" dirty="0">
                <a:ea typeface="黑体" pitchFamily="2" charset="-122"/>
              </a:rPr>
              <a:t>=r</a:t>
            </a:r>
            <a:r>
              <a:rPr lang="en-US" altLang="zh-CN" sz="2400" baseline="-25000" dirty="0">
                <a:ea typeface="黑体" pitchFamily="2" charset="-122"/>
              </a:rPr>
              <a:t>31</a:t>
            </a:r>
            <a:r>
              <a:rPr lang="en-US" altLang="zh-CN" sz="2400" dirty="0">
                <a:ea typeface="黑体" pitchFamily="2" charset="-122"/>
              </a:rPr>
              <a:t>=0.8,</a:t>
            </a:r>
            <a:r>
              <a:rPr lang="zh-CN" altLang="en-US" sz="2400" dirty="0">
                <a:ea typeface="黑体" pitchFamily="2" charset="-122"/>
              </a:rPr>
              <a:t>故得相似类并合并为</a:t>
            </a:r>
            <a:r>
              <a:rPr lang="en-US" altLang="zh-CN" sz="2400" dirty="0">
                <a:ea typeface="黑体" pitchFamily="2" charset="-122"/>
              </a:rPr>
              <a:t>4</a:t>
            </a:r>
            <a:r>
              <a:rPr lang="zh-CN" altLang="en-US" sz="2400" dirty="0">
                <a:ea typeface="黑体" pitchFamily="2" charset="-122"/>
              </a:rPr>
              <a:t>类</a:t>
            </a:r>
            <a:r>
              <a:rPr lang="en-US" altLang="zh-CN" sz="2400" dirty="0">
                <a:ea typeface="黑体" pitchFamily="2" charset="-122"/>
              </a:rPr>
              <a:t>: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                                           {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itchFamily="18" charset="0"/>
              </a:rPr>
              <a:t>Ⅰ,Ⅲ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} {Ⅱ} {Ⅳ} {Ⅴ}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kumimoji="1" lang="en-US" altLang="zh-CN" sz="2400" b="1" dirty="0">
                <a:latin typeface="Times New Roman" pitchFamily="18" charset="0"/>
              </a:rPr>
              <a:t>(3)</a:t>
            </a:r>
            <a:r>
              <a:rPr lang="zh-CN" altLang="en-US" sz="2400" dirty="0">
                <a:ea typeface="黑体" pitchFamily="2" charset="-122"/>
              </a:rPr>
              <a:t>取</a:t>
            </a:r>
            <a:r>
              <a:rPr lang="el-GR" altLang="zh-CN" sz="2400" dirty="0">
                <a:ea typeface="黑体" pitchFamily="2" charset="-122"/>
              </a:rPr>
              <a:t>λ</a:t>
            </a:r>
            <a:r>
              <a:rPr lang="en-US" altLang="zh-CN" sz="2400" dirty="0">
                <a:ea typeface="黑体" pitchFamily="2" charset="-122"/>
              </a:rPr>
              <a:t>=0.6</a:t>
            </a:r>
            <a:r>
              <a:rPr lang="zh-CN" altLang="en-US" sz="2400" dirty="0">
                <a:ea typeface="黑体" pitchFamily="2" charset="-122"/>
              </a:rPr>
              <a:t>，因为</a:t>
            </a:r>
            <a:r>
              <a:rPr lang="en-US" altLang="zh-CN" sz="2400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45</a:t>
            </a:r>
            <a:r>
              <a:rPr lang="en-US" altLang="zh-CN" sz="2400" dirty="0">
                <a:ea typeface="黑体" pitchFamily="2" charset="-122"/>
              </a:rPr>
              <a:t>=r</a:t>
            </a:r>
            <a:r>
              <a:rPr lang="en-US" altLang="zh-CN" sz="2400" baseline="-25000" dirty="0">
                <a:ea typeface="黑体" pitchFamily="2" charset="-122"/>
              </a:rPr>
              <a:t>54</a:t>
            </a:r>
            <a:r>
              <a:rPr lang="en-US" altLang="zh-CN" sz="2400" dirty="0">
                <a:ea typeface="黑体" pitchFamily="2" charset="-122"/>
              </a:rPr>
              <a:t>=0.6,</a:t>
            </a:r>
            <a:r>
              <a:rPr lang="zh-CN" altLang="en-US" sz="2400" dirty="0">
                <a:ea typeface="黑体" pitchFamily="2" charset="-122"/>
              </a:rPr>
              <a:t>故得相似类并合并为</a:t>
            </a:r>
            <a:r>
              <a:rPr lang="en-US" altLang="zh-CN" sz="2400" dirty="0">
                <a:ea typeface="黑体" pitchFamily="2" charset="-122"/>
              </a:rPr>
              <a:t>3</a:t>
            </a:r>
            <a:r>
              <a:rPr lang="zh-CN" altLang="en-US" sz="2400" dirty="0">
                <a:ea typeface="黑体" pitchFamily="2" charset="-122"/>
              </a:rPr>
              <a:t>类</a:t>
            </a:r>
            <a:r>
              <a:rPr lang="en-US" altLang="zh-CN" sz="2400" dirty="0">
                <a:ea typeface="黑体" pitchFamily="2" charset="-122"/>
              </a:rPr>
              <a:t>: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kumimoji="1"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                                   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itchFamily="18" charset="0"/>
              </a:rPr>
              <a:t>Ⅰ,Ⅲ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} {Ⅱ} {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itchFamily="18" charset="0"/>
              </a:rPr>
              <a:t>Ⅳ,Ⅴ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}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kumimoji="1" lang="en-US" altLang="zh-CN" sz="2400" b="1" dirty="0">
                <a:latin typeface="Times New Roman" pitchFamily="18" charset="0"/>
              </a:rPr>
              <a:t>(4)</a:t>
            </a:r>
            <a:r>
              <a:rPr lang="zh-CN" altLang="en-US" sz="2400" dirty="0">
                <a:ea typeface="黑体" pitchFamily="2" charset="-122"/>
              </a:rPr>
              <a:t>取</a:t>
            </a:r>
            <a:r>
              <a:rPr lang="el-GR" altLang="zh-CN" sz="2400" dirty="0">
                <a:ea typeface="黑体" pitchFamily="2" charset="-122"/>
              </a:rPr>
              <a:t>λ</a:t>
            </a:r>
            <a:r>
              <a:rPr lang="en-US" altLang="zh-CN" sz="2400" dirty="0">
                <a:ea typeface="黑体" pitchFamily="2" charset="-122"/>
              </a:rPr>
              <a:t>=0.5</a:t>
            </a:r>
            <a:r>
              <a:rPr lang="zh-CN" altLang="en-US" sz="2400" dirty="0">
                <a:ea typeface="黑体" pitchFamily="2" charset="-122"/>
              </a:rPr>
              <a:t>，因为</a:t>
            </a:r>
            <a:r>
              <a:rPr lang="en-US" altLang="zh-CN" sz="2400" dirty="0">
                <a:solidFill>
                  <a:srgbClr val="CC00FF"/>
                </a:solidFill>
                <a:ea typeface="黑体" pitchFamily="2" charset="-122"/>
              </a:rPr>
              <a:t>r</a:t>
            </a:r>
            <a:r>
              <a:rPr lang="en-US" altLang="zh-CN" sz="2400" baseline="-25000" dirty="0">
                <a:solidFill>
                  <a:srgbClr val="CC00FF"/>
                </a:solidFill>
                <a:ea typeface="黑体" pitchFamily="2" charset="-122"/>
              </a:rPr>
              <a:t>14</a:t>
            </a:r>
            <a:r>
              <a:rPr lang="en-US" altLang="zh-CN" sz="2400" dirty="0">
                <a:solidFill>
                  <a:srgbClr val="CC00FF"/>
                </a:solidFill>
                <a:ea typeface="黑体" pitchFamily="2" charset="-122"/>
              </a:rPr>
              <a:t>=r</a:t>
            </a:r>
            <a:r>
              <a:rPr lang="en-US" altLang="zh-CN" sz="2400" baseline="-25000" dirty="0">
                <a:solidFill>
                  <a:srgbClr val="CC00FF"/>
                </a:solidFill>
                <a:ea typeface="黑体" pitchFamily="2" charset="-122"/>
              </a:rPr>
              <a:t>41</a:t>
            </a:r>
            <a:r>
              <a:rPr lang="en-US" altLang="zh-CN" sz="2400" dirty="0">
                <a:solidFill>
                  <a:srgbClr val="CC00FF"/>
                </a:solidFill>
                <a:ea typeface="黑体" pitchFamily="2" charset="-122"/>
              </a:rPr>
              <a:t>=0.5,</a:t>
            </a:r>
            <a:r>
              <a:rPr lang="zh-CN" altLang="en-US" sz="2400" dirty="0">
                <a:ea typeface="黑体" pitchFamily="2" charset="-122"/>
              </a:rPr>
              <a:t>故得相似类并合并为</a:t>
            </a:r>
            <a:r>
              <a:rPr lang="en-US" altLang="zh-CN" sz="2400" dirty="0">
                <a:ea typeface="黑体" pitchFamily="2" charset="-122"/>
              </a:rPr>
              <a:t>2</a:t>
            </a:r>
            <a:r>
              <a:rPr lang="zh-CN" altLang="en-US" sz="2400" dirty="0">
                <a:ea typeface="黑体" pitchFamily="2" charset="-122"/>
              </a:rPr>
              <a:t>类</a:t>
            </a:r>
            <a:r>
              <a:rPr lang="en-US" altLang="zh-CN" sz="2400" dirty="0">
                <a:ea typeface="黑体" pitchFamily="2" charset="-122"/>
              </a:rPr>
              <a:t>: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kumimoji="1"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                                          </a:t>
            </a:r>
            <a:r>
              <a:rPr kumimoji="1" lang="en-US" altLang="zh-CN" sz="2400" b="1" dirty="0">
                <a:solidFill>
                  <a:srgbClr val="CC00FF"/>
                </a:solidFill>
                <a:latin typeface="Times New Roman" pitchFamily="18" charset="0"/>
              </a:rPr>
              <a:t>{</a:t>
            </a:r>
            <a:r>
              <a:rPr kumimoji="1" lang="en-US" altLang="zh-CN" sz="2400" b="1" dirty="0" err="1">
                <a:solidFill>
                  <a:srgbClr val="CC00FF"/>
                </a:solidFill>
                <a:latin typeface="Times New Roman" pitchFamily="18" charset="0"/>
              </a:rPr>
              <a:t>Ⅰ,Ⅲ,Ⅳ,Ⅴ</a:t>
            </a:r>
            <a:r>
              <a:rPr kumimoji="1" lang="en-US" altLang="zh-CN" sz="2400" b="1" dirty="0">
                <a:solidFill>
                  <a:srgbClr val="CC00FF"/>
                </a:solidFill>
                <a:latin typeface="Times New Roman" pitchFamily="18" charset="0"/>
              </a:rPr>
              <a:t>}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{Ⅱ}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kumimoji="1" lang="en-US" altLang="zh-CN" sz="2400" b="1" dirty="0">
                <a:latin typeface="Times New Roman" pitchFamily="18" charset="0"/>
              </a:rPr>
              <a:t>(5)</a:t>
            </a:r>
            <a:r>
              <a:rPr lang="zh-CN" altLang="en-US" sz="2400" dirty="0">
                <a:ea typeface="黑体" pitchFamily="2" charset="-122"/>
              </a:rPr>
              <a:t>取</a:t>
            </a:r>
            <a:r>
              <a:rPr lang="el-GR" altLang="zh-CN" sz="2400" dirty="0">
                <a:ea typeface="黑体" pitchFamily="2" charset="-122"/>
              </a:rPr>
              <a:t>λ</a:t>
            </a:r>
            <a:r>
              <a:rPr lang="en-US" altLang="zh-CN" sz="2400" dirty="0">
                <a:ea typeface="黑体" pitchFamily="2" charset="-122"/>
              </a:rPr>
              <a:t>=0.4</a:t>
            </a:r>
            <a:r>
              <a:rPr lang="zh-CN" altLang="en-US" sz="2400" dirty="0">
                <a:ea typeface="黑体" pitchFamily="2" charset="-122"/>
              </a:rPr>
              <a:t>，因为</a:t>
            </a:r>
            <a:r>
              <a:rPr lang="en-US" altLang="zh-CN" sz="2400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52</a:t>
            </a:r>
            <a:r>
              <a:rPr lang="en-US" altLang="zh-CN" sz="2400" dirty="0">
                <a:ea typeface="黑体" pitchFamily="2" charset="-122"/>
              </a:rPr>
              <a:t>=r</a:t>
            </a:r>
            <a:r>
              <a:rPr lang="en-US" altLang="zh-CN" sz="2400" baseline="-25000" dirty="0">
                <a:ea typeface="黑体" pitchFamily="2" charset="-122"/>
              </a:rPr>
              <a:t>25</a:t>
            </a:r>
            <a:r>
              <a:rPr lang="en-US" altLang="zh-CN" sz="2400" dirty="0">
                <a:ea typeface="黑体" pitchFamily="2" charset="-122"/>
              </a:rPr>
              <a:t>=0.4,</a:t>
            </a:r>
            <a:r>
              <a:rPr lang="zh-CN" altLang="en-US" sz="2400" dirty="0">
                <a:ea typeface="黑体" pitchFamily="2" charset="-122"/>
              </a:rPr>
              <a:t>故得相似类并合并为</a:t>
            </a:r>
            <a:r>
              <a:rPr lang="en-US" altLang="zh-CN" sz="2400" dirty="0">
                <a:ea typeface="黑体" pitchFamily="2" charset="-122"/>
              </a:rPr>
              <a:t>1</a:t>
            </a:r>
            <a:r>
              <a:rPr lang="zh-CN" altLang="en-US" sz="2400" dirty="0">
                <a:ea typeface="黑体" pitchFamily="2" charset="-122"/>
              </a:rPr>
              <a:t>类</a:t>
            </a:r>
            <a:r>
              <a:rPr lang="en-US" altLang="zh-CN" sz="2400" dirty="0">
                <a:ea typeface="黑体" pitchFamily="2" charset="-122"/>
              </a:rPr>
              <a:t>: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kumimoji="1"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                                   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itchFamily="18" charset="0"/>
              </a:rPr>
              <a:t>Ⅰ,Ⅱ,Ⅲ,Ⅳ,Ⅴ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} </a:t>
            </a:r>
          </a:p>
        </p:txBody>
      </p:sp>
      <p:graphicFrame>
        <p:nvGraphicFramePr>
          <p:cNvPr id="5222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7844910" y="996950"/>
          <a:ext cx="4038600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55800" imgH="1143000" progId="Equation.3">
                  <p:embed/>
                </p:oleObj>
              </mc:Choice>
              <mc:Fallback>
                <p:oleObj name="公式" r:id="rId3" imgW="1955800" imgH="1143000" progId="Equation.3">
                  <p:embed/>
                  <p:pic>
                    <p:nvPicPr>
                      <p:cNvPr id="522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4910" y="996950"/>
                        <a:ext cx="4038600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7887774" y="781049"/>
            <a:ext cx="3995737" cy="2592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230" name="Group 6"/>
          <p:cNvGrpSpPr>
            <a:grpSpLocks/>
          </p:cNvGrpSpPr>
          <p:nvPr/>
        </p:nvGrpSpPr>
        <p:grpSpPr bwMode="auto">
          <a:xfrm>
            <a:off x="7994136" y="638175"/>
            <a:ext cx="3889375" cy="2790825"/>
            <a:chOff x="884" y="890"/>
            <a:chExt cx="2450" cy="1758"/>
          </a:xfrm>
        </p:grpSpPr>
        <p:sp>
          <p:nvSpPr>
            <p:cNvPr id="15367" name="Text Box 7"/>
            <p:cNvSpPr txBox="1">
              <a:spLocks noChangeArrowheads="1"/>
            </p:cNvSpPr>
            <p:nvPr/>
          </p:nvSpPr>
          <p:spPr bwMode="auto">
            <a:xfrm>
              <a:off x="930" y="890"/>
              <a:ext cx="2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3333FF"/>
                  </a:solidFill>
                  <a:sym typeface="Symbol" pitchFamily="18" charset="2"/>
                </a:rPr>
                <a:t>              u1     u3     u2     u4     u5</a:t>
              </a:r>
            </a:p>
          </p:txBody>
        </p:sp>
        <p:grpSp>
          <p:nvGrpSpPr>
            <p:cNvPr id="15368" name="Group 8"/>
            <p:cNvGrpSpPr>
              <a:grpSpLocks/>
            </p:cNvGrpSpPr>
            <p:nvPr/>
          </p:nvGrpSpPr>
          <p:grpSpPr bwMode="auto">
            <a:xfrm>
              <a:off x="884" y="1117"/>
              <a:ext cx="2268" cy="1531"/>
              <a:chOff x="884" y="1117"/>
              <a:chExt cx="2268" cy="1531"/>
            </a:xfrm>
          </p:grpSpPr>
          <p:sp>
            <p:nvSpPr>
              <p:cNvPr id="15369" name="Text Box 9"/>
              <p:cNvSpPr txBox="1">
                <a:spLocks noChangeArrowheads="1"/>
              </p:cNvSpPr>
              <p:nvPr/>
            </p:nvSpPr>
            <p:spPr bwMode="auto">
              <a:xfrm>
                <a:off x="884" y="1117"/>
                <a:ext cx="544" cy="15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1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0.8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0.6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0.5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0.4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15370" name="Line 10"/>
              <p:cNvSpPr>
                <a:spLocks noChangeShapeType="1"/>
              </p:cNvSpPr>
              <p:nvPr/>
            </p:nvSpPr>
            <p:spPr bwMode="auto">
              <a:xfrm>
                <a:off x="1701" y="1117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1" name="Line 11"/>
              <p:cNvSpPr>
                <a:spLocks noChangeShapeType="1"/>
              </p:cNvSpPr>
              <p:nvPr/>
            </p:nvSpPr>
            <p:spPr bwMode="auto">
              <a:xfrm>
                <a:off x="2064" y="1117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2" name="Line 12"/>
              <p:cNvSpPr>
                <a:spLocks noChangeShapeType="1"/>
              </p:cNvSpPr>
              <p:nvPr/>
            </p:nvSpPr>
            <p:spPr bwMode="auto">
              <a:xfrm>
                <a:off x="1701" y="1480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3" name="Line 13"/>
              <p:cNvSpPr>
                <a:spLocks noChangeShapeType="1"/>
              </p:cNvSpPr>
              <p:nvPr/>
            </p:nvSpPr>
            <p:spPr bwMode="auto">
              <a:xfrm>
                <a:off x="2789" y="1117"/>
                <a:ext cx="0" cy="58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4" name="Line 14"/>
              <p:cNvSpPr>
                <a:spLocks noChangeShapeType="1"/>
              </p:cNvSpPr>
              <p:nvPr/>
            </p:nvSpPr>
            <p:spPr bwMode="auto">
              <a:xfrm>
                <a:off x="3152" y="1117"/>
                <a:ext cx="0" cy="58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5" name="Line 15"/>
              <p:cNvSpPr>
                <a:spLocks noChangeShapeType="1"/>
              </p:cNvSpPr>
              <p:nvPr/>
            </p:nvSpPr>
            <p:spPr bwMode="auto">
              <a:xfrm>
                <a:off x="2789" y="1706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6" name="Line 16"/>
              <p:cNvSpPr>
                <a:spLocks noChangeShapeType="1"/>
              </p:cNvSpPr>
              <p:nvPr/>
            </p:nvSpPr>
            <p:spPr bwMode="auto">
              <a:xfrm flipH="1">
                <a:off x="1202" y="1480"/>
                <a:ext cx="499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7" name="Line 17"/>
              <p:cNvSpPr>
                <a:spLocks noChangeShapeType="1"/>
              </p:cNvSpPr>
              <p:nvPr/>
            </p:nvSpPr>
            <p:spPr bwMode="auto">
              <a:xfrm flipH="1">
                <a:off x="1202" y="1706"/>
                <a:ext cx="1587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8" name="Line 18"/>
              <p:cNvSpPr>
                <a:spLocks noChangeShapeType="1"/>
              </p:cNvSpPr>
              <p:nvPr/>
            </p:nvSpPr>
            <p:spPr bwMode="auto">
              <a:xfrm>
                <a:off x="1882" y="1480"/>
                <a:ext cx="0" cy="49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9" name="Line 19"/>
              <p:cNvSpPr>
                <a:spLocks noChangeShapeType="1"/>
              </p:cNvSpPr>
              <p:nvPr/>
            </p:nvSpPr>
            <p:spPr bwMode="auto">
              <a:xfrm>
                <a:off x="2971" y="1706"/>
                <a:ext cx="0" cy="27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0" name="Line 20"/>
              <p:cNvSpPr>
                <a:spLocks noChangeShapeType="1"/>
              </p:cNvSpPr>
              <p:nvPr/>
            </p:nvSpPr>
            <p:spPr bwMode="auto">
              <a:xfrm>
                <a:off x="1882" y="1979"/>
                <a:ext cx="1089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1" name="Line 21"/>
              <p:cNvSpPr>
                <a:spLocks noChangeShapeType="1"/>
              </p:cNvSpPr>
              <p:nvPr/>
            </p:nvSpPr>
            <p:spPr bwMode="auto">
              <a:xfrm flipH="1">
                <a:off x="1202" y="1979"/>
                <a:ext cx="635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2" name="Line 22"/>
              <p:cNvSpPr>
                <a:spLocks noChangeShapeType="1"/>
              </p:cNvSpPr>
              <p:nvPr/>
            </p:nvSpPr>
            <p:spPr bwMode="auto">
              <a:xfrm>
                <a:off x="2426" y="1117"/>
                <a:ext cx="0" cy="1179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3" name="Line 23"/>
              <p:cNvSpPr>
                <a:spLocks noChangeShapeType="1"/>
              </p:cNvSpPr>
              <p:nvPr/>
            </p:nvSpPr>
            <p:spPr bwMode="auto">
              <a:xfrm>
                <a:off x="2245" y="1979"/>
                <a:ext cx="0" cy="317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4" name="Line 24"/>
              <p:cNvSpPr>
                <a:spLocks noChangeShapeType="1"/>
              </p:cNvSpPr>
              <p:nvPr/>
            </p:nvSpPr>
            <p:spPr bwMode="auto">
              <a:xfrm>
                <a:off x="2245" y="2296"/>
                <a:ext cx="18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5" name="Line 25"/>
              <p:cNvSpPr>
                <a:spLocks noChangeShapeType="1"/>
              </p:cNvSpPr>
              <p:nvPr/>
            </p:nvSpPr>
            <p:spPr bwMode="auto">
              <a:xfrm flipH="1">
                <a:off x="1202" y="2296"/>
                <a:ext cx="1043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6" name="Line 26"/>
              <p:cNvSpPr>
                <a:spLocks noChangeShapeType="1"/>
              </p:cNvSpPr>
              <p:nvPr/>
            </p:nvSpPr>
            <p:spPr bwMode="auto">
              <a:xfrm>
                <a:off x="2336" y="2296"/>
                <a:ext cx="0" cy="272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201054-01A0-5168-99F3-BB0AC03F3F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376B5-62E6-403F-97A0-5A1E42AE81DF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2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uiExpand="1" build="p"/>
      <p:bldP spid="522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3375"/>
            <a:ext cx="8229600" cy="12954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基于图论的</a:t>
            </a:r>
            <a:r>
              <a:rPr lang="zh-CN" altLang="en-US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聚类方法</a:t>
            </a:r>
            <a:r>
              <a:rPr lang="en-US" altLang="zh-CN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(2)</a:t>
            </a:r>
            <a:br>
              <a:rPr lang="en-US" altLang="zh-CN" dirty="0">
                <a:solidFill>
                  <a:srgbClr val="5A913B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编网法</a:t>
            </a:r>
            <a:r>
              <a:rPr lang="zh-CN" altLang="en-US" sz="3200" dirty="0">
                <a:ea typeface="黑体" pitchFamily="2" charset="-122"/>
              </a:rPr>
              <a:t>的一般步骤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700214"/>
            <a:ext cx="9793088" cy="51577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(1)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对所得的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相似矩阵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，适当选取</a:t>
            </a:r>
            <a:r>
              <a:rPr kumimoji="1" lang="el-GR" altLang="zh-CN" sz="2800" dirty="0">
                <a:solidFill>
                  <a:schemeClr val="bg2"/>
                </a:solidFill>
                <a:ea typeface="黑体" pitchFamily="2" charset="-122"/>
                <a:cs typeface="Arial" charset="0"/>
              </a:rPr>
              <a:t>λ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，求</a:t>
            </a:r>
            <a:r>
              <a:rPr kumimoji="1" lang="el-GR" altLang="zh-CN" sz="2800" dirty="0">
                <a:solidFill>
                  <a:schemeClr val="bg2"/>
                </a:solidFill>
                <a:ea typeface="黑体" pitchFamily="2" charset="-122"/>
              </a:rPr>
              <a:t>λ</a:t>
            </a:r>
            <a:r>
              <a:rPr kumimoji="1" lang="zh-CN" altLang="en-US" sz="2800" dirty="0">
                <a:solidFill>
                  <a:srgbClr val="CC00FF"/>
                </a:solidFill>
                <a:ea typeface="黑体" pitchFamily="2" charset="-122"/>
              </a:rPr>
              <a:t>截矩阵</a:t>
            </a:r>
            <a:r>
              <a:rPr kumimoji="1" lang="en-US" altLang="zh-CN" sz="2800" dirty="0">
                <a:solidFill>
                  <a:srgbClr val="CC00FF"/>
                </a:solidFill>
                <a:ea typeface="黑体" pitchFamily="2" charset="-122"/>
              </a:rPr>
              <a:t>R</a:t>
            </a:r>
            <a:r>
              <a:rPr kumimoji="1" lang="el-GR" altLang="zh-CN" sz="2800" baseline="-25000" dirty="0">
                <a:solidFill>
                  <a:srgbClr val="CC00FF"/>
                </a:solidFill>
                <a:ea typeface="黑体" pitchFamily="2" charset="-122"/>
              </a:rPr>
              <a:t>λ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，且去掉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R</a:t>
            </a:r>
            <a:r>
              <a:rPr kumimoji="1" lang="el-GR" altLang="zh-CN" sz="2800" baseline="-25000" dirty="0">
                <a:solidFill>
                  <a:schemeClr val="bg2"/>
                </a:solidFill>
                <a:ea typeface="黑体" pitchFamily="2" charset="-122"/>
              </a:rPr>
              <a:t>λ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的主对角线右上半部分的所有元素。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(2)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将主对角线上的“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”对应地用其对象</a:t>
            </a:r>
            <a:r>
              <a:rPr kumimoji="1" lang="en-US" altLang="zh-CN" sz="2800" dirty="0" err="1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kumimoji="1" lang="en-US" altLang="zh-CN" sz="2800" baseline="-250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的标号</a:t>
            </a:r>
            <a:r>
              <a:rPr kumimoji="1" lang="en-US" altLang="zh-CN" sz="28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来代替；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(3)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将主对角线左下方的“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0”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去掉，用“*”替代“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1”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，称“*”所在的位置为结点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(4)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用竖线与横直线将结点与对角线上的序号连接，即</a:t>
            </a:r>
            <a:r>
              <a:rPr kumimoji="1" lang="zh-CN" altLang="en-US" sz="2800" dirty="0">
                <a:solidFill>
                  <a:srgbClr val="FF0000"/>
                </a:solidFill>
                <a:ea typeface="黑体" pitchFamily="2" charset="-122"/>
              </a:rPr>
              <a:t>编网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zh-CN" altLang="en-US" sz="2400" dirty="0">
                <a:ea typeface="黑体" pitchFamily="2" charset="-122"/>
              </a:rPr>
              <a:t>        </a:t>
            </a:r>
            <a:r>
              <a:rPr kumimoji="1" lang="zh-CN" altLang="en-US" sz="2800" dirty="0">
                <a:ea typeface="黑体" pitchFamily="2" charset="-122"/>
              </a:rPr>
              <a:t>经过如此打结而连接的对象归为同一类，从而实现了等价聚类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(5)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画出动态聚类图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52A23A-2B07-AB1F-7323-F31612018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编网法举例</a:t>
            </a:r>
          </a:p>
        </p:txBody>
      </p:sp>
      <p:graphicFrame>
        <p:nvGraphicFramePr>
          <p:cNvPr id="5530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290199" y="1222375"/>
          <a:ext cx="3816350" cy="222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55800" imgH="1143000" progId="Equation.3">
                  <p:embed/>
                </p:oleObj>
              </mc:Choice>
              <mc:Fallback>
                <p:oleObj name="公式" r:id="rId3" imgW="1955800" imgH="1143000" progId="Equation.3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0199" y="1222375"/>
                        <a:ext cx="3816350" cy="222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59433813"/>
              </p:ext>
            </p:extLst>
          </p:nvPr>
        </p:nvGraphicFramePr>
        <p:xfrm>
          <a:off x="2279576" y="3716339"/>
          <a:ext cx="2159000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22400" imgH="1143000" progId="Equation.3">
                  <p:embed/>
                </p:oleObj>
              </mc:Choice>
              <mc:Fallback>
                <p:oleObj name="公式" r:id="rId5" imgW="1422400" imgH="1143000" progId="Equation.3">
                  <p:embed/>
                  <p:pic>
                    <p:nvPicPr>
                      <p:cNvPr id="55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716339"/>
                        <a:ext cx="2159000" cy="173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37352"/>
              </p:ext>
            </p:extLst>
          </p:nvPr>
        </p:nvGraphicFramePr>
        <p:xfrm>
          <a:off x="5664126" y="3716339"/>
          <a:ext cx="2374900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87500" imgH="1143000" progId="Equation.3">
                  <p:embed/>
                </p:oleObj>
              </mc:Choice>
              <mc:Fallback>
                <p:oleObj name="公式" r:id="rId7" imgW="1587500" imgH="1143000" progId="Equation.3">
                  <p:embed/>
                  <p:pic>
                    <p:nvPicPr>
                      <p:cNvPr id="55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126" y="3716339"/>
                        <a:ext cx="2374900" cy="170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/>
        </p:nvGraphicFramePr>
        <p:xfrm>
          <a:off x="7351836" y="1186666"/>
          <a:ext cx="3784724" cy="2363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828800" imgH="1143000" progId="Equation.3">
                  <p:embed/>
                </p:oleObj>
              </mc:Choice>
              <mc:Fallback>
                <p:oleObj name="公式" r:id="rId9" imgW="1828800" imgH="1143000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836" y="1186666"/>
                        <a:ext cx="3784724" cy="236376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33946" y="1309087"/>
            <a:ext cx="6409407" cy="544512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ea typeface="黑体" pitchFamily="2" charset="-122"/>
              </a:rPr>
              <a:t>[P81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环境单元分类，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800" dirty="0">
                <a:ea typeface="黑体" pitchFamily="2" charset="-122"/>
              </a:rPr>
              <a:t>设已得到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相似矩阵</a:t>
            </a:r>
            <a:r>
              <a:rPr lang="en-US" altLang="zh-CN" sz="2800" dirty="0">
                <a:ea typeface="黑体" pitchFamily="2" charset="-122"/>
              </a:rPr>
              <a:t>: 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800" dirty="0">
                <a:ea typeface="黑体" pitchFamily="2" charset="-122"/>
              </a:rPr>
              <a:t>将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zh-CN" altLang="en-US" sz="2800" dirty="0">
                <a:ea typeface="黑体" pitchFamily="2" charset="-122"/>
              </a:rPr>
              <a:t>中的元素进行排序为：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1&gt;0.8&gt;0.6&gt;0.5&gt;0.4&gt;0.3&gt;0.2&gt;0.1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CC00FF"/>
                </a:solidFill>
                <a:ea typeface="黑体" pitchFamily="2" charset="-122"/>
              </a:rPr>
              <a:t>(1)</a:t>
            </a:r>
            <a:r>
              <a:rPr lang="zh-CN" altLang="en-US" sz="2400" dirty="0">
                <a:solidFill>
                  <a:srgbClr val="CC00FF"/>
                </a:solidFill>
                <a:ea typeface="黑体" pitchFamily="2" charset="-122"/>
              </a:rPr>
              <a:t>取</a:t>
            </a:r>
            <a:r>
              <a:rPr lang="el-GR" altLang="zh-CN" sz="24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λ</a:t>
            </a:r>
            <a:r>
              <a:rPr lang="en-US" altLang="zh-CN" sz="24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=1</a:t>
            </a:r>
            <a:r>
              <a:rPr lang="zh-CN" altLang="en-US" sz="24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，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4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4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4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4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4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400" dirty="0">
                <a:ea typeface="黑体" pitchFamily="2" charset="-122"/>
                <a:cs typeface="Arial" charset="0"/>
              </a:rPr>
              <a:t>   由于没有两个以上对象有连接，故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U</a:t>
            </a:r>
            <a:r>
              <a:rPr lang="zh-CN" altLang="en-US" sz="2400" dirty="0">
                <a:ea typeface="黑体" pitchFamily="2" charset="-122"/>
                <a:cs typeface="Arial" charset="0"/>
              </a:rPr>
              <a:t>分为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5</a:t>
            </a:r>
            <a:r>
              <a:rPr lang="zh-CN" altLang="en-US" sz="2400" dirty="0">
                <a:ea typeface="黑体" pitchFamily="2" charset="-122"/>
                <a:cs typeface="Arial" charset="0"/>
              </a:rPr>
              <a:t>类：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{A} {B} {C} {D} {E}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endParaRPr kumimoji="1"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AA1784-C142-A26C-A30B-EF8C17DC6C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1"/>
            <a:ext cx="4906963" cy="955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编网法举例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12876"/>
            <a:ext cx="6624315" cy="5445125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[P81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环境单元分类，得相似矩阵</a:t>
            </a:r>
            <a:r>
              <a:rPr lang="en-US" altLang="zh-CN" sz="2800" dirty="0">
                <a:ea typeface="黑体" pitchFamily="2" charset="-122"/>
              </a:rPr>
              <a:t>R</a:t>
            </a:r>
          </a:p>
          <a:p>
            <a:pPr marL="533400" indent="-533400" eaLnBrk="1" hangingPunct="1">
              <a:buNone/>
            </a:pPr>
            <a:r>
              <a:rPr kumimoji="1" lang="en-US" altLang="zh-CN" sz="2000" b="1" dirty="0">
                <a:solidFill>
                  <a:srgbClr val="CC00FF"/>
                </a:solidFill>
                <a:latin typeface="Times New Roman" pitchFamily="18" charset="0"/>
              </a:rPr>
              <a:t>(2) </a:t>
            </a:r>
            <a:r>
              <a:rPr lang="zh-CN" altLang="en-US" sz="2000" dirty="0">
                <a:solidFill>
                  <a:srgbClr val="CC00FF"/>
                </a:solidFill>
                <a:ea typeface="黑体" pitchFamily="2" charset="-122"/>
              </a:rPr>
              <a:t>取</a:t>
            </a:r>
            <a:r>
              <a:rPr lang="el-GR" altLang="zh-CN" sz="20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λ</a:t>
            </a:r>
            <a:r>
              <a:rPr lang="en-US" altLang="zh-CN" sz="20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=0.8</a:t>
            </a:r>
            <a:r>
              <a:rPr lang="zh-CN" altLang="en-US" sz="20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，</a:t>
            </a: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r>
              <a:rPr lang="zh-CN" altLang="en-US" sz="2400" dirty="0">
                <a:ea typeface="黑体" pitchFamily="2" charset="-122"/>
                <a:cs typeface="Arial" charset="0"/>
              </a:rPr>
              <a:t>合并为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4</a:t>
            </a:r>
            <a:r>
              <a:rPr lang="zh-CN" altLang="en-US" sz="2400" dirty="0">
                <a:ea typeface="黑体" pitchFamily="2" charset="-122"/>
                <a:cs typeface="Arial" charset="0"/>
              </a:rPr>
              <a:t>类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: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{A,C} {B} {D} {E}</a:t>
            </a:r>
            <a:endParaRPr lang="en-US" altLang="zh-CN" sz="2400" dirty="0">
              <a:solidFill>
                <a:srgbClr val="0000FF"/>
              </a:solidFill>
              <a:ea typeface="黑体" pitchFamily="2" charset="-122"/>
            </a:endParaRPr>
          </a:p>
          <a:p>
            <a:pPr marL="533400" indent="-533400" eaLnBrk="1" hangingPunct="1">
              <a:buNone/>
            </a:pPr>
            <a:r>
              <a:rPr kumimoji="1" lang="en-US" altLang="zh-CN" sz="2000" b="1" dirty="0">
                <a:solidFill>
                  <a:srgbClr val="CC00FF"/>
                </a:solidFill>
                <a:latin typeface="Times New Roman" pitchFamily="18" charset="0"/>
              </a:rPr>
              <a:t>(3)</a:t>
            </a:r>
            <a:r>
              <a:rPr lang="zh-CN" altLang="en-US" sz="2000" dirty="0">
                <a:solidFill>
                  <a:srgbClr val="CC00FF"/>
                </a:solidFill>
                <a:ea typeface="黑体" pitchFamily="2" charset="-122"/>
              </a:rPr>
              <a:t>取</a:t>
            </a:r>
            <a:r>
              <a:rPr lang="el-GR" altLang="zh-CN" sz="2000" dirty="0">
                <a:solidFill>
                  <a:srgbClr val="CC00FF"/>
                </a:solidFill>
                <a:ea typeface="黑体" pitchFamily="2" charset="-122"/>
              </a:rPr>
              <a:t>λ</a:t>
            </a:r>
            <a:r>
              <a:rPr lang="en-US" altLang="zh-CN" sz="2000" dirty="0">
                <a:solidFill>
                  <a:srgbClr val="CC00FF"/>
                </a:solidFill>
                <a:ea typeface="黑体" pitchFamily="2" charset="-122"/>
              </a:rPr>
              <a:t>=0.6</a:t>
            </a:r>
            <a:r>
              <a:rPr lang="zh-CN" altLang="en-US" sz="2000" dirty="0">
                <a:solidFill>
                  <a:srgbClr val="CC00FF"/>
                </a:solidFill>
                <a:ea typeface="黑体" pitchFamily="2" charset="-122"/>
              </a:rPr>
              <a:t>，</a:t>
            </a: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buNone/>
            </a:pPr>
            <a:r>
              <a:rPr lang="zh-CN" altLang="en-US" sz="2400" dirty="0">
                <a:ea typeface="黑体" pitchFamily="2" charset="-122"/>
              </a:rPr>
              <a:t>合并为</a:t>
            </a:r>
            <a:r>
              <a:rPr lang="en-US" altLang="zh-CN" sz="2400" dirty="0">
                <a:ea typeface="黑体" pitchFamily="2" charset="-122"/>
              </a:rPr>
              <a:t>3</a:t>
            </a:r>
            <a:r>
              <a:rPr lang="zh-CN" altLang="en-US" sz="2400" dirty="0">
                <a:ea typeface="黑体" pitchFamily="2" charset="-122"/>
              </a:rPr>
              <a:t>类：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{A,C} {B} {D,E}</a:t>
            </a:r>
            <a:endParaRPr kumimoji="1" lang="en-US" altLang="zh-CN" sz="2800" b="1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5087938" y="2205039"/>
          <a:ext cx="2508250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76400" imgH="1143000" progId="Equation.3">
                  <p:embed/>
                </p:oleObj>
              </mc:Choice>
              <mc:Fallback>
                <p:oleObj name="公式" r:id="rId3" imgW="1676400" imgH="1143000" progId="Equation.3">
                  <p:embed/>
                  <p:pic>
                    <p:nvPicPr>
                      <p:cNvPr id="57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2205039"/>
                        <a:ext cx="2508250" cy="170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2279650" y="2205039"/>
          <a:ext cx="2274888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98600" imgH="1143000" progId="Equation.3">
                  <p:embed/>
                </p:oleObj>
              </mc:Choice>
              <mc:Fallback>
                <p:oleObj name="公式" r:id="rId5" imgW="1498600" imgH="1143000" progId="Equation.3">
                  <p:embed/>
                  <p:pic>
                    <p:nvPicPr>
                      <p:cNvPr id="573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205039"/>
                        <a:ext cx="2274888" cy="173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355465819"/>
              </p:ext>
            </p:extLst>
          </p:nvPr>
        </p:nvGraphicFramePr>
        <p:xfrm>
          <a:off x="2063552" y="4508500"/>
          <a:ext cx="2663825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98600" imgH="1143000" progId="Equation.3">
                  <p:embed/>
                </p:oleObj>
              </mc:Choice>
              <mc:Fallback>
                <p:oleObj name="公式" r:id="rId7" imgW="1498600" imgH="1143000" progId="Equation.3">
                  <p:embed/>
                  <p:pic>
                    <p:nvPicPr>
                      <p:cNvPr id="573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4508500"/>
                        <a:ext cx="2663825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568812"/>
              </p:ext>
            </p:extLst>
          </p:nvPr>
        </p:nvGraphicFramePr>
        <p:xfrm>
          <a:off x="4943872" y="4365625"/>
          <a:ext cx="2659063" cy="178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27200" imgH="1193800" progId="Equation.DSMT4">
                  <p:embed/>
                </p:oleObj>
              </mc:Choice>
              <mc:Fallback>
                <p:oleObj name="Equation" r:id="rId9" imgW="1727200" imgH="1193800" progId="Equation.DSMT4">
                  <p:embed/>
                  <p:pic>
                    <p:nvPicPr>
                      <p:cNvPr id="573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2" y="4365625"/>
                        <a:ext cx="2659063" cy="178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/>
        </p:nvGraphicFramePr>
        <p:xfrm>
          <a:off x="8234363" y="334963"/>
          <a:ext cx="347980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41400" imgH="1143000" progId="Equation.DSMT4">
                  <p:embed/>
                </p:oleObj>
              </mc:Choice>
              <mc:Fallback>
                <p:oleObj name="Equation" r:id="rId11" imgW="1841400" imgH="1143000" progId="Equation.DSMT4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4363" y="334963"/>
                        <a:ext cx="3479800" cy="2155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CEBA458-E1AB-7B2F-6BCA-6D4BDD5165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3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1"/>
            <a:ext cx="4906963" cy="955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57939"/>
                </a:solidFill>
                <a:ea typeface="黑体" pitchFamily="2" charset="-122"/>
              </a:rPr>
              <a:t>编网法举例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12876"/>
            <a:ext cx="6552307" cy="5445125"/>
          </a:xfrm>
        </p:spPr>
        <p:txBody>
          <a:bodyPr/>
          <a:lstStyle/>
          <a:p>
            <a:pPr marL="533400" indent="-533400"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[P81</a:t>
            </a:r>
            <a:r>
              <a:rPr lang="zh-CN" altLang="en-US" sz="2800" dirty="0">
                <a:ea typeface="黑体" pitchFamily="2" charset="-122"/>
              </a:rPr>
              <a:t>例</a:t>
            </a:r>
            <a:r>
              <a:rPr lang="en-US" altLang="zh-CN" sz="2800" dirty="0">
                <a:ea typeface="黑体" pitchFamily="2" charset="-122"/>
              </a:rPr>
              <a:t>1]</a:t>
            </a:r>
            <a:r>
              <a:rPr lang="zh-CN" altLang="en-US" sz="2800" dirty="0">
                <a:ea typeface="黑体" pitchFamily="2" charset="-122"/>
              </a:rPr>
              <a:t>环境单元分类，得相似矩阵</a:t>
            </a:r>
            <a:r>
              <a:rPr lang="en-US" altLang="zh-CN" sz="2800" dirty="0">
                <a:ea typeface="黑体" pitchFamily="2" charset="-122"/>
              </a:rPr>
              <a:t>R</a:t>
            </a:r>
          </a:p>
          <a:p>
            <a:pPr marL="533400" indent="-533400" eaLnBrk="1" hangingPunct="1">
              <a:buNone/>
            </a:pPr>
            <a:r>
              <a:rPr kumimoji="1" lang="en-US" altLang="zh-CN" sz="2000" b="1" dirty="0">
                <a:solidFill>
                  <a:srgbClr val="CC00FF"/>
                </a:solidFill>
                <a:latin typeface="Times New Roman" pitchFamily="18" charset="0"/>
              </a:rPr>
              <a:t>(4) </a:t>
            </a:r>
            <a:r>
              <a:rPr lang="zh-CN" altLang="en-US" sz="2000" dirty="0">
                <a:solidFill>
                  <a:srgbClr val="CC00FF"/>
                </a:solidFill>
                <a:ea typeface="黑体" pitchFamily="2" charset="-122"/>
              </a:rPr>
              <a:t>取</a:t>
            </a:r>
            <a:r>
              <a:rPr lang="el-GR" altLang="zh-CN" sz="20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λ</a:t>
            </a:r>
            <a:r>
              <a:rPr lang="en-US" altLang="zh-CN" sz="20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=0.5</a:t>
            </a:r>
            <a:r>
              <a:rPr lang="zh-CN" altLang="en-US" sz="2000" dirty="0">
                <a:solidFill>
                  <a:srgbClr val="CC00FF"/>
                </a:solidFill>
                <a:ea typeface="黑体" pitchFamily="2" charset="-122"/>
                <a:cs typeface="Arial" charset="0"/>
              </a:rPr>
              <a:t>，</a:t>
            </a: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  <a:cs typeface="Arial" charset="0"/>
            </a:endParaRPr>
          </a:p>
          <a:p>
            <a:pPr marL="533400" indent="-533400" eaLnBrk="1" hangingPunct="1">
              <a:buNone/>
            </a:pPr>
            <a:r>
              <a:rPr lang="zh-CN" altLang="en-US" sz="2400" dirty="0">
                <a:ea typeface="黑体" pitchFamily="2" charset="-122"/>
                <a:cs typeface="Arial" charset="0"/>
              </a:rPr>
              <a:t>合并为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2</a:t>
            </a:r>
            <a:r>
              <a:rPr lang="zh-CN" altLang="en-US" sz="2400" dirty="0">
                <a:ea typeface="黑体" pitchFamily="2" charset="-122"/>
                <a:cs typeface="Arial" charset="0"/>
              </a:rPr>
              <a:t>类</a:t>
            </a:r>
            <a:r>
              <a:rPr lang="en-US" altLang="zh-CN" sz="2400" dirty="0">
                <a:ea typeface="黑体" pitchFamily="2" charset="-122"/>
                <a:cs typeface="Arial" charset="0"/>
              </a:rPr>
              <a:t>:</a:t>
            </a:r>
            <a:r>
              <a:rPr kumimoji="1"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{A,  C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D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E} {B}</a:t>
            </a:r>
            <a:endParaRPr lang="en-US" altLang="zh-CN" sz="2400" dirty="0">
              <a:solidFill>
                <a:srgbClr val="0000FF"/>
              </a:solidFill>
              <a:ea typeface="黑体" pitchFamily="2" charset="-122"/>
            </a:endParaRPr>
          </a:p>
          <a:p>
            <a:pPr marL="533400" indent="-533400" eaLnBrk="1" hangingPunct="1">
              <a:buNone/>
            </a:pPr>
            <a:r>
              <a:rPr kumimoji="1" lang="en-US" altLang="zh-CN" sz="2000" b="1" dirty="0">
                <a:solidFill>
                  <a:srgbClr val="CC00FF"/>
                </a:solidFill>
                <a:latin typeface="Times New Roman" pitchFamily="18" charset="0"/>
              </a:rPr>
              <a:t>(5)</a:t>
            </a:r>
            <a:r>
              <a:rPr lang="zh-CN" altLang="en-US" sz="2000" dirty="0">
                <a:solidFill>
                  <a:srgbClr val="CC00FF"/>
                </a:solidFill>
                <a:ea typeface="黑体" pitchFamily="2" charset="-122"/>
              </a:rPr>
              <a:t>取</a:t>
            </a:r>
            <a:r>
              <a:rPr lang="el-GR" altLang="zh-CN" sz="2000" dirty="0">
                <a:solidFill>
                  <a:srgbClr val="CC00FF"/>
                </a:solidFill>
                <a:ea typeface="黑体" pitchFamily="2" charset="-122"/>
              </a:rPr>
              <a:t>λ</a:t>
            </a:r>
            <a:r>
              <a:rPr lang="en-US" altLang="zh-CN" sz="2000" dirty="0">
                <a:solidFill>
                  <a:srgbClr val="CC00FF"/>
                </a:solidFill>
                <a:ea typeface="黑体" pitchFamily="2" charset="-122"/>
              </a:rPr>
              <a:t>=0.4</a:t>
            </a:r>
            <a:r>
              <a:rPr lang="zh-CN" altLang="en-US" sz="2000" dirty="0">
                <a:solidFill>
                  <a:srgbClr val="CC00FF"/>
                </a:solidFill>
                <a:ea typeface="黑体" pitchFamily="2" charset="-122"/>
              </a:rPr>
              <a:t>，</a:t>
            </a: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buNone/>
            </a:pPr>
            <a:r>
              <a:rPr lang="zh-CN" altLang="en-US" sz="2400" dirty="0">
                <a:ea typeface="黑体" pitchFamily="2" charset="-122"/>
              </a:rPr>
              <a:t>合并为</a:t>
            </a:r>
            <a:r>
              <a:rPr lang="en-US" altLang="zh-CN" sz="2400" dirty="0">
                <a:ea typeface="黑体" pitchFamily="2" charset="-122"/>
              </a:rPr>
              <a:t>1</a:t>
            </a:r>
            <a:r>
              <a:rPr lang="zh-CN" altLang="en-US" sz="2400" dirty="0">
                <a:ea typeface="黑体" pitchFamily="2" charset="-122"/>
              </a:rPr>
              <a:t>类：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{A,  B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C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</a:rPr>
              <a:t>D,  E}</a:t>
            </a:r>
            <a:endParaRPr kumimoji="1" lang="en-US" altLang="zh-CN" sz="2800" b="1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5002213" y="2128839"/>
          <a:ext cx="2679700" cy="186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90700" imgH="1244600" progId="Equation.3">
                  <p:embed/>
                </p:oleObj>
              </mc:Choice>
              <mc:Fallback>
                <p:oleObj name="公式" r:id="rId3" imgW="1790700" imgH="1244600" progId="Equation.3">
                  <p:embed/>
                  <p:pic>
                    <p:nvPicPr>
                      <p:cNvPr id="59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13" y="2128839"/>
                        <a:ext cx="2679700" cy="186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2289175" y="2205039"/>
          <a:ext cx="2255838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85900" imgH="1143000" progId="Equation.3">
                  <p:embed/>
                </p:oleObj>
              </mc:Choice>
              <mc:Fallback>
                <p:oleObj name="公式" r:id="rId5" imgW="1485900" imgH="1143000" progId="Equation.3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2205039"/>
                        <a:ext cx="2255838" cy="173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822522226"/>
              </p:ext>
            </p:extLst>
          </p:nvPr>
        </p:nvGraphicFramePr>
        <p:xfrm>
          <a:off x="2377966" y="4554538"/>
          <a:ext cx="2214562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98600" imgH="1143000" progId="Equation.3">
                  <p:embed/>
                </p:oleObj>
              </mc:Choice>
              <mc:Fallback>
                <p:oleObj name="公式" r:id="rId7" imgW="1498600" imgH="1143000" progId="Equation.3">
                  <p:embed/>
                  <p:pic>
                    <p:nvPicPr>
                      <p:cNvPr id="593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7966" y="4554538"/>
                        <a:ext cx="2214562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264947"/>
              </p:ext>
            </p:extLst>
          </p:nvPr>
        </p:nvGraphicFramePr>
        <p:xfrm>
          <a:off x="4970782" y="4425228"/>
          <a:ext cx="2757488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90640" imgH="1346040" progId="Equation.DSMT4">
                  <p:embed/>
                </p:oleObj>
              </mc:Choice>
              <mc:Fallback>
                <p:oleObj name="Equation" r:id="rId9" imgW="1790640" imgH="1346040" progId="Equation.DSMT4">
                  <p:embed/>
                  <p:pic>
                    <p:nvPicPr>
                      <p:cNvPr id="594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782" y="4425228"/>
                        <a:ext cx="2757488" cy="201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/>
        </p:nvGraphicFramePr>
        <p:xfrm>
          <a:off x="8470900" y="152400"/>
          <a:ext cx="3479800" cy="21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41400" imgH="1143000" progId="Equation.DSMT4">
                  <p:embed/>
                </p:oleObj>
              </mc:Choice>
              <mc:Fallback>
                <p:oleObj name="Equation" r:id="rId11" imgW="1841400" imgH="1143000" progId="Equation.DSMT4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900" y="152400"/>
                        <a:ext cx="3479800" cy="2157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D0FCC03-420A-8494-3667-32583A7A0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CDADCC-4FEA-305F-F15D-73A18FC3B1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2796" y="2708920"/>
            <a:ext cx="4431876" cy="1038597"/>
          </a:xfrm>
          <a:prstGeom prst="rect">
            <a:avLst/>
          </a:prstGeom>
          <a:effectLst>
            <a:glow rad="127000">
              <a:srgbClr val="99FF66"/>
            </a:glow>
          </a:effectLst>
        </p:spPr>
      </p:pic>
      <p:grpSp>
        <p:nvGrpSpPr>
          <p:cNvPr id="4" name="Group 6">
            <a:extLst>
              <a:ext uri="{FF2B5EF4-FFF2-40B4-BE49-F238E27FC236}">
                <a16:creationId xmlns:a16="http://schemas.microsoft.com/office/drawing/2014/main" id="{9097F698-7F18-44D0-A9B2-3A683443A534}"/>
              </a:ext>
            </a:extLst>
          </p:cNvPr>
          <p:cNvGrpSpPr>
            <a:grpSpLocks/>
          </p:cNvGrpSpPr>
          <p:nvPr/>
        </p:nvGrpSpPr>
        <p:grpSpPr bwMode="auto">
          <a:xfrm>
            <a:off x="8327245" y="4036290"/>
            <a:ext cx="3889375" cy="2790825"/>
            <a:chOff x="884" y="890"/>
            <a:chExt cx="2450" cy="1758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4DD9D301-752F-9798-3C30-AEB686F17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890"/>
              <a:ext cx="2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3333FF"/>
                  </a:solidFill>
                  <a:sym typeface="Symbol" pitchFamily="18" charset="2"/>
                </a:rPr>
                <a:t>              u1     u3     u2     u4     u5</a:t>
              </a:r>
            </a:p>
          </p:txBody>
        </p: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587C591D-C779-6E9D-9FA7-648631CC35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4" y="1117"/>
              <a:ext cx="2268" cy="1531"/>
              <a:chOff x="884" y="1117"/>
              <a:chExt cx="2268" cy="1531"/>
            </a:xfrm>
          </p:grpSpPr>
          <p:sp>
            <p:nvSpPr>
              <p:cNvPr id="8" name="Text Box 9">
                <a:extLst>
                  <a:ext uri="{FF2B5EF4-FFF2-40B4-BE49-F238E27FC236}">
                    <a16:creationId xmlns:a16="http://schemas.microsoft.com/office/drawing/2014/main" id="{47248E3D-4480-B5A9-F686-8669E33736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" y="1117"/>
                <a:ext cx="544" cy="15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1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0.8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0.6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0.5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0.4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0</a:t>
                </a:r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id="{E890F50F-048F-FFA3-B9CD-590968C0E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1117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11">
                <a:extLst>
                  <a:ext uri="{FF2B5EF4-FFF2-40B4-BE49-F238E27FC236}">
                    <a16:creationId xmlns:a16="http://schemas.microsoft.com/office/drawing/2014/main" id="{592786D0-9805-0DCB-7D16-F4AB9DFBF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1117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2">
                <a:extLst>
                  <a:ext uri="{FF2B5EF4-FFF2-40B4-BE49-F238E27FC236}">
                    <a16:creationId xmlns:a16="http://schemas.microsoft.com/office/drawing/2014/main" id="{96D4AFA7-AAB3-18E7-69D8-0F4EEC980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1480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13">
                <a:extLst>
                  <a:ext uri="{FF2B5EF4-FFF2-40B4-BE49-F238E27FC236}">
                    <a16:creationId xmlns:a16="http://schemas.microsoft.com/office/drawing/2014/main" id="{88EC24D4-86B6-D555-025C-C4A03074C6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9" y="1117"/>
                <a:ext cx="0" cy="58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4">
                <a:extLst>
                  <a:ext uri="{FF2B5EF4-FFF2-40B4-BE49-F238E27FC236}">
                    <a16:creationId xmlns:a16="http://schemas.microsoft.com/office/drawing/2014/main" id="{E4AA54DF-67FF-701F-8959-678775FE0C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1117"/>
                <a:ext cx="0" cy="58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5">
                <a:extLst>
                  <a:ext uri="{FF2B5EF4-FFF2-40B4-BE49-F238E27FC236}">
                    <a16:creationId xmlns:a16="http://schemas.microsoft.com/office/drawing/2014/main" id="{D4657E0C-DF96-87D3-E9A8-44D94FD900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9" y="1706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6">
                <a:extLst>
                  <a:ext uri="{FF2B5EF4-FFF2-40B4-BE49-F238E27FC236}">
                    <a16:creationId xmlns:a16="http://schemas.microsoft.com/office/drawing/2014/main" id="{5360E292-8A49-5134-5330-5694B38F1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2" y="1480"/>
                <a:ext cx="499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7">
                <a:extLst>
                  <a:ext uri="{FF2B5EF4-FFF2-40B4-BE49-F238E27FC236}">
                    <a16:creationId xmlns:a16="http://schemas.microsoft.com/office/drawing/2014/main" id="{20BD1D92-AD28-0CB2-7B0E-A87580037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2" y="1706"/>
                <a:ext cx="1587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8">
                <a:extLst>
                  <a:ext uri="{FF2B5EF4-FFF2-40B4-BE49-F238E27FC236}">
                    <a16:creationId xmlns:a16="http://schemas.microsoft.com/office/drawing/2014/main" id="{4ADFB019-22B8-353D-2FBF-F9E01B61C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2" y="1480"/>
                <a:ext cx="0" cy="49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9">
                <a:extLst>
                  <a:ext uri="{FF2B5EF4-FFF2-40B4-BE49-F238E27FC236}">
                    <a16:creationId xmlns:a16="http://schemas.microsoft.com/office/drawing/2014/main" id="{AF922925-E961-1451-D091-F158A2B13D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" y="1706"/>
                <a:ext cx="0" cy="273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377F10A7-C5B3-6E1F-0531-5E7E88F16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2" y="1979"/>
                <a:ext cx="1089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F45613FE-2298-4427-AAAD-FDA5C6461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2" y="1979"/>
                <a:ext cx="635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728DB9AB-4E8E-4E6F-71B6-AD7F79140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" y="1117"/>
                <a:ext cx="0" cy="1179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23">
                <a:extLst>
                  <a:ext uri="{FF2B5EF4-FFF2-40B4-BE49-F238E27FC236}">
                    <a16:creationId xmlns:a16="http://schemas.microsoft.com/office/drawing/2014/main" id="{81386843-1D7F-E0EA-FBD5-9F90085BC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5" y="1979"/>
                <a:ext cx="0" cy="317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44BC77E1-A879-A6FF-D210-8E3631573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5" y="2296"/>
                <a:ext cx="181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25">
                <a:extLst>
                  <a:ext uri="{FF2B5EF4-FFF2-40B4-BE49-F238E27FC236}">
                    <a16:creationId xmlns:a16="http://schemas.microsoft.com/office/drawing/2014/main" id="{543F0802-05B3-1096-DED5-A2B6E4ECD2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2" y="2296"/>
                <a:ext cx="1043" cy="0"/>
              </a:xfrm>
              <a:prstGeom prst="line">
                <a:avLst/>
              </a:prstGeom>
              <a:noFill/>
              <a:ln w="19050">
                <a:solidFill>
                  <a:srgbClr val="3333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26">
                <a:extLst>
                  <a:ext uri="{FF2B5EF4-FFF2-40B4-BE49-F238E27FC236}">
                    <a16:creationId xmlns:a16="http://schemas.microsoft.com/office/drawing/2014/main" id="{BA99FF74-24E6-86F8-1BF9-69ED6A2DF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6" y="2296"/>
                <a:ext cx="0" cy="272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93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基于图论的</a:t>
            </a:r>
            <a:r>
              <a:rPr lang="zh-CN" altLang="en-US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聚类方法</a:t>
            </a:r>
            <a:r>
              <a:rPr lang="en-US" altLang="zh-CN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(3)</a:t>
            </a:r>
            <a:br>
              <a:rPr lang="en-US" altLang="zh-CN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最大生成树法</a:t>
            </a:r>
            <a:r>
              <a:rPr lang="zh-CN" altLang="en-US" sz="3200" dirty="0">
                <a:ea typeface="黑体" pitchFamily="2" charset="-122"/>
              </a:rPr>
              <a:t>的一般步骤</a:t>
            </a:r>
            <a:endParaRPr lang="zh-CN" altLang="en-US" sz="2000" dirty="0">
              <a:ea typeface="黑体" pitchFamily="2" charset="-122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844675"/>
            <a:ext cx="10009112" cy="4876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(1)</a:t>
            </a:r>
            <a:r>
              <a:rPr lang="zh-CN" altLang="en-US" sz="2800" dirty="0">
                <a:ea typeface="黑体" pitchFamily="2" charset="-122"/>
              </a:rPr>
              <a:t>以所有被分类的对象为顶点；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(2)</a:t>
            </a:r>
            <a:r>
              <a:rPr lang="zh-CN" altLang="en-US" sz="2800" dirty="0">
                <a:ea typeface="黑体" pitchFamily="2" charset="-122"/>
              </a:rPr>
              <a:t>当</a:t>
            </a:r>
            <a:r>
              <a:rPr lang="en-US" altLang="zh-CN" sz="2800" i="1" dirty="0">
                <a:ea typeface="黑体" pitchFamily="2" charset="-122"/>
              </a:rPr>
              <a:t>r</a:t>
            </a:r>
            <a:r>
              <a:rPr lang="en-US" altLang="zh-CN" sz="2800" i="1" baseline="-25000" dirty="0">
                <a:ea typeface="黑体" pitchFamily="2" charset="-122"/>
              </a:rPr>
              <a:t>ij</a:t>
            </a:r>
            <a:r>
              <a:rPr lang="en-US" altLang="zh-CN" sz="2800" dirty="0">
                <a:ea typeface="黑体" pitchFamily="2" charset="-122"/>
              </a:rPr>
              <a:t>≠0</a:t>
            </a:r>
            <a:r>
              <a:rPr lang="zh-CN" altLang="en-US" sz="2800" dirty="0">
                <a:ea typeface="黑体" pitchFamily="2" charset="-122"/>
              </a:rPr>
              <a:t>时，将顶点</a:t>
            </a:r>
            <a:r>
              <a:rPr lang="en-US" altLang="zh-CN" sz="2800" i="1" dirty="0" err="1">
                <a:ea typeface="黑体" pitchFamily="2" charset="-122"/>
              </a:rPr>
              <a:t>u</a:t>
            </a:r>
            <a:r>
              <a:rPr lang="en-US" altLang="zh-CN" sz="2800" i="1" baseline="-25000" dirty="0" err="1">
                <a:ea typeface="黑体" pitchFamily="2" charset="-122"/>
              </a:rPr>
              <a:t>i</a:t>
            </a:r>
            <a:r>
              <a:rPr lang="zh-CN" altLang="en-US" sz="2800" dirty="0">
                <a:ea typeface="黑体" pitchFamily="2" charset="-122"/>
              </a:rPr>
              <a:t>与顶点</a:t>
            </a:r>
            <a:r>
              <a:rPr lang="en-US" altLang="zh-CN" sz="2800" i="1" dirty="0" err="1">
                <a:ea typeface="黑体" pitchFamily="2" charset="-122"/>
              </a:rPr>
              <a:t>u</a:t>
            </a:r>
            <a:r>
              <a:rPr lang="en-US" altLang="zh-CN" sz="2800" i="1" baseline="-25000" dirty="0" err="1">
                <a:ea typeface="黑体" pitchFamily="2" charset="-122"/>
              </a:rPr>
              <a:t>j</a:t>
            </a:r>
            <a:r>
              <a:rPr lang="zh-CN" altLang="en-US" sz="2800" dirty="0">
                <a:ea typeface="黑体" pitchFamily="2" charset="-122"/>
              </a:rPr>
              <a:t>用一条线连接起来，并在线段上注明相似程度</a:t>
            </a:r>
            <a:r>
              <a:rPr lang="en-US" altLang="zh-CN" sz="2800" i="1" dirty="0" err="1">
                <a:ea typeface="黑体" pitchFamily="2" charset="-122"/>
              </a:rPr>
              <a:t>r</a:t>
            </a:r>
            <a:r>
              <a:rPr lang="en-US" altLang="zh-CN" sz="2800" i="1" baseline="-25000" dirty="0" err="1">
                <a:ea typeface="黑体" pitchFamily="2" charset="-122"/>
              </a:rPr>
              <a:t>ij</a:t>
            </a:r>
            <a:r>
              <a:rPr lang="en-US" altLang="zh-CN" sz="2800" dirty="0">
                <a:ea typeface="黑体" pitchFamily="2" charset="-122"/>
              </a:rPr>
              <a:t> </a:t>
            </a:r>
            <a:r>
              <a:rPr lang="zh-CN" altLang="en-US" sz="2800" dirty="0">
                <a:ea typeface="黑体" pitchFamily="2" charset="-122"/>
              </a:rPr>
              <a:t>，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C00FF"/>
                </a:solidFill>
                <a:ea typeface="华文楷体" pitchFamily="2" charset="-122"/>
              </a:rPr>
              <a:t>按</a:t>
            </a:r>
            <a:r>
              <a:rPr lang="en-US" altLang="zh-CN" b="1" i="1" dirty="0" err="1">
                <a:solidFill>
                  <a:srgbClr val="CC00FF"/>
                </a:solidFill>
                <a:ea typeface="华文楷体" pitchFamily="2" charset="-122"/>
              </a:rPr>
              <a:t>r</a:t>
            </a:r>
            <a:r>
              <a:rPr lang="en-US" altLang="zh-CN" b="1" i="1" baseline="-25000" dirty="0" err="1">
                <a:solidFill>
                  <a:srgbClr val="CC00FF"/>
                </a:solidFill>
                <a:ea typeface="华文楷体" pitchFamily="2" charset="-122"/>
              </a:rPr>
              <a:t>ij</a:t>
            </a:r>
            <a:r>
              <a:rPr lang="zh-CN" altLang="en-US" b="1" dirty="0">
                <a:solidFill>
                  <a:srgbClr val="CC00FF"/>
                </a:solidFill>
                <a:ea typeface="华文楷体" pitchFamily="2" charset="-122"/>
              </a:rPr>
              <a:t>从大到小顺序依次连边，并注明相似程度</a:t>
            </a:r>
            <a:r>
              <a:rPr lang="en-US" altLang="zh-CN" b="1" i="1" dirty="0" err="1">
                <a:solidFill>
                  <a:srgbClr val="CC00FF"/>
                </a:solidFill>
                <a:ea typeface="华文楷体" pitchFamily="2" charset="-122"/>
              </a:rPr>
              <a:t>r</a:t>
            </a:r>
            <a:r>
              <a:rPr lang="en-US" altLang="zh-CN" b="1" i="1" baseline="-25000" dirty="0" err="1">
                <a:solidFill>
                  <a:srgbClr val="CC00FF"/>
                </a:solidFill>
                <a:ea typeface="华文楷体" pitchFamily="2" charset="-122"/>
              </a:rPr>
              <a:t>ij</a:t>
            </a:r>
            <a:r>
              <a:rPr lang="en-US" altLang="zh-CN" b="1" dirty="0">
                <a:solidFill>
                  <a:srgbClr val="CC00FF"/>
                </a:solidFill>
                <a:ea typeface="华文楷体" pitchFamily="2" charset="-122"/>
              </a:rPr>
              <a:t> </a:t>
            </a:r>
            <a:r>
              <a:rPr lang="zh-CN" altLang="en-US" b="1" dirty="0">
                <a:solidFill>
                  <a:srgbClr val="CC00FF"/>
                </a:solidFill>
                <a:ea typeface="华文楷体" pitchFamily="2" charset="-122"/>
              </a:rPr>
              <a:t>，连边时要注意不产生回路、不出现相交线直到所有对象连通为止</a:t>
            </a:r>
            <a:endParaRPr lang="en-US" altLang="zh-CN" b="1" dirty="0">
              <a:solidFill>
                <a:srgbClr val="CC00FF"/>
              </a:solidFill>
              <a:ea typeface="华文楷体" pitchFamily="2" charset="-122"/>
            </a:endParaRPr>
          </a:p>
          <a:p>
            <a:pPr lvl="1" algn="r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rgbClr val="EE0006"/>
                </a:solidFill>
                <a:ea typeface="华文楷体" pitchFamily="2" charset="-122"/>
              </a:rPr>
              <a:t>——</a:t>
            </a:r>
            <a:r>
              <a:rPr lang="zh-CN" altLang="en-US" b="1" dirty="0">
                <a:solidFill>
                  <a:srgbClr val="EE0006"/>
                </a:solidFill>
                <a:ea typeface="华文楷体" pitchFamily="2" charset="-122"/>
              </a:rPr>
              <a:t>得一棵最大生成树。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(3)</a:t>
            </a:r>
            <a:r>
              <a:rPr lang="zh-CN" altLang="en-US" sz="2800" dirty="0">
                <a:ea typeface="黑体" pitchFamily="2" charset="-122"/>
              </a:rPr>
              <a:t>适当选取</a:t>
            </a:r>
            <a:r>
              <a:rPr kumimoji="1" lang="el-GR" altLang="zh-CN" sz="2800" dirty="0">
                <a:solidFill>
                  <a:schemeClr val="bg2"/>
                </a:solidFill>
                <a:ea typeface="黑体" pitchFamily="2" charset="-122"/>
                <a:cs typeface="Arial" charset="0"/>
              </a:rPr>
              <a:t>λ</a:t>
            </a:r>
            <a:r>
              <a:rPr kumimoji="1" lang="el-GR" altLang="zh-CN" sz="2800" dirty="0">
                <a:solidFill>
                  <a:schemeClr val="bg2"/>
                </a:solidFill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[0,1]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，砍去线段上值小于</a:t>
            </a:r>
            <a:r>
              <a:rPr kumimoji="1" lang="el-GR" altLang="zh-CN" sz="2800" dirty="0">
                <a:solidFill>
                  <a:schemeClr val="bg2"/>
                </a:solidFill>
                <a:ea typeface="黑体" pitchFamily="2" charset="-122"/>
              </a:rPr>
              <a:t>λ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的连线，剩下互相连通的对象归为同一类</a:t>
            </a:r>
            <a:r>
              <a:rPr kumimoji="1" lang="en-US" altLang="zh-CN" sz="2800" dirty="0">
                <a:solidFill>
                  <a:schemeClr val="bg2"/>
                </a:solidFill>
                <a:ea typeface="黑体" pitchFamily="2" charset="-122"/>
              </a:rPr>
              <a:t>——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得到</a:t>
            </a:r>
            <a:r>
              <a:rPr kumimoji="1" lang="el-GR" altLang="zh-CN" sz="2800" dirty="0">
                <a:solidFill>
                  <a:schemeClr val="bg2"/>
                </a:solidFill>
                <a:ea typeface="黑体" pitchFamily="2" charset="-122"/>
              </a:rPr>
              <a:t>λ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水平上的一种等价分类。</a:t>
            </a:r>
            <a:endParaRPr lang="zh-CN" altLang="en-US" sz="2800" dirty="0">
              <a:ea typeface="黑体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(4)</a:t>
            </a:r>
            <a:r>
              <a:rPr lang="zh-CN" altLang="en-US" sz="2800" dirty="0">
                <a:ea typeface="黑体" pitchFamily="2" charset="-122"/>
              </a:rPr>
              <a:t>画出动态聚类图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964F85-7FF0-8596-6305-9E54AF11A5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C87C2807-3591-8C7F-87E6-CC2F135A1DDF}"/>
              </a:ext>
            </a:extLst>
          </p:cNvPr>
          <p:cNvGrpSpPr/>
          <p:nvPr/>
        </p:nvGrpSpPr>
        <p:grpSpPr>
          <a:xfrm>
            <a:off x="7608168" y="2132856"/>
            <a:ext cx="3888432" cy="3605836"/>
            <a:chOff x="1334877" y="2579440"/>
            <a:chExt cx="5043797" cy="4305471"/>
          </a:xfrm>
        </p:grpSpPr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CE2473FF-936A-8197-4B9E-2F74656F3B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47664" y="2810273"/>
              <a:ext cx="4333428" cy="4014538"/>
            </a:xfrm>
            <a:prstGeom prst="rect">
              <a:avLst/>
            </a:prstGeom>
            <a:noFill/>
            <a:ln w="9525" cmpd="sng">
              <a:noFill/>
              <a:bevel/>
              <a:headEnd/>
              <a:tailEnd/>
            </a:ln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C43E534-47AC-18EA-1662-4F9F78AFEC79}"/>
                </a:ext>
              </a:extLst>
            </p:cNvPr>
            <p:cNvSpPr txBox="1"/>
            <p:nvPr/>
          </p:nvSpPr>
          <p:spPr>
            <a:xfrm>
              <a:off x="3456390" y="2579440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A</a:t>
              </a:r>
              <a:endParaRPr lang="zh-CN" altLang="en-US" sz="20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A3C4F0E-600B-380B-419B-606FC3B9F14E}"/>
                </a:ext>
              </a:extLst>
            </p:cNvPr>
            <p:cNvSpPr txBox="1"/>
            <p:nvPr/>
          </p:nvSpPr>
          <p:spPr>
            <a:xfrm>
              <a:off x="1334877" y="4121084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E</a:t>
              </a:r>
              <a:endParaRPr lang="zh-CN" altLang="en-US" sz="20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B013934-6DD4-E8A7-AD10-74174064BA30}"/>
                </a:ext>
              </a:extLst>
            </p:cNvPr>
            <p:cNvSpPr txBox="1"/>
            <p:nvPr/>
          </p:nvSpPr>
          <p:spPr>
            <a:xfrm>
              <a:off x="1816404" y="6407134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D</a:t>
              </a:r>
              <a:endParaRPr lang="zh-CN" altLang="en-US" sz="20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0BA519D-CF6A-F01B-7F53-C1F597FAF09B}"/>
                </a:ext>
              </a:extLst>
            </p:cNvPr>
            <p:cNvSpPr txBox="1"/>
            <p:nvPr/>
          </p:nvSpPr>
          <p:spPr>
            <a:xfrm>
              <a:off x="5049763" y="6434172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C</a:t>
              </a:r>
              <a:endParaRPr lang="zh-CN" altLang="en-US" sz="20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FE984EC-7A25-251C-62F7-B8E23BCEF1E1}"/>
                </a:ext>
              </a:extLst>
            </p:cNvPr>
            <p:cNvSpPr txBox="1"/>
            <p:nvPr/>
          </p:nvSpPr>
          <p:spPr>
            <a:xfrm>
              <a:off x="5658594" y="4212080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B</a:t>
              </a:r>
              <a:endParaRPr lang="zh-CN" altLang="en-US" sz="2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D2A7F66-E53B-11D7-F2B7-1CC7E39532CF}"/>
                </a:ext>
              </a:extLst>
            </p:cNvPr>
            <p:cNvSpPr txBox="1"/>
            <p:nvPr/>
          </p:nvSpPr>
          <p:spPr>
            <a:xfrm rot="2203937">
              <a:off x="4429016" y="3622530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0.1</a:t>
              </a:r>
              <a:endParaRPr lang="zh-CN" altLang="en-US" sz="20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97A81C0-E6B1-1505-D4FB-E911974C3B49}"/>
                </a:ext>
              </a:extLst>
            </p:cNvPr>
            <p:cNvSpPr txBox="1"/>
            <p:nvPr/>
          </p:nvSpPr>
          <p:spPr>
            <a:xfrm rot="4572471">
              <a:off x="4240413" y="5447421"/>
              <a:ext cx="720080" cy="48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0.8</a:t>
              </a:r>
              <a:endParaRPr lang="zh-CN" altLang="en-US" sz="2000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2BD4F1B-9F61-87EF-3F09-2277C50D624E}"/>
                </a:ext>
              </a:extLst>
            </p:cNvPr>
            <p:cNvSpPr txBox="1"/>
            <p:nvPr/>
          </p:nvSpPr>
          <p:spPr>
            <a:xfrm rot="17414006">
              <a:off x="2418235" y="5305807"/>
              <a:ext cx="720080" cy="48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0.5</a:t>
              </a:r>
              <a:endParaRPr lang="zh-CN" altLang="en-US" sz="2000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554E465-6ECA-C0AF-A9A3-37935F177EB2}"/>
                </a:ext>
              </a:extLst>
            </p:cNvPr>
            <p:cNvSpPr txBox="1"/>
            <p:nvPr/>
          </p:nvSpPr>
          <p:spPr>
            <a:xfrm rot="19365013">
              <a:off x="2346227" y="3523696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0.3</a:t>
              </a:r>
              <a:endParaRPr lang="zh-CN" altLang="en-US" sz="20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AE3AE83-0454-D637-7FF9-1D3EFDB9F2AF}"/>
                </a:ext>
              </a:extLst>
            </p:cNvPr>
            <p:cNvSpPr txBox="1"/>
            <p:nvPr/>
          </p:nvSpPr>
          <p:spPr>
            <a:xfrm rot="6550434">
              <a:off x="4842744" y="5364221"/>
              <a:ext cx="720080" cy="48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0.1</a:t>
              </a:r>
              <a:endParaRPr lang="zh-CN" altLang="en-US" sz="20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6806FE0-03A4-DE7E-1D13-686A258BDB9D}"/>
                </a:ext>
              </a:extLst>
            </p:cNvPr>
            <p:cNvSpPr txBox="1"/>
            <p:nvPr/>
          </p:nvSpPr>
          <p:spPr>
            <a:xfrm rot="19481002">
              <a:off x="3503177" y="5041941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0.2</a:t>
              </a:r>
              <a:endParaRPr lang="zh-CN" altLang="en-US" sz="20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8834795-43E4-1D46-302B-1DE6E346990A}"/>
                </a:ext>
              </a:extLst>
            </p:cNvPr>
            <p:cNvSpPr txBox="1"/>
            <p:nvPr/>
          </p:nvSpPr>
          <p:spPr>
            <a:xfrm>
              <a:off x="4074418" y="4098138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0.4</a:t>
              </a:r>
              <a:endParaRPr lang="zh-CN" altLang="en-US" sz="20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9ACFE08-9C04-4054-E25E-93DA98150BC7}"/>
                </a:ext>
              </a:extLst>
            </p:cNvPr>
            <p:cNvSpPr txBox="1"/>
            <p:nvPr/>
          </p:nvSpPr>
          <p:spPr>
            <a:xfrm>
              <a:off x="3488708" y="6375784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0.3</a:t>
              </a:r>
              <a:endParaRPr lang="zh-CN" altLang="en-US" sz="20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D51D51B-6712-09B3-2CA8-960F91C28D49}"/>
                </a:ext>
              </a:extLst>
            </p:cNvPr>
            <p:cNvSpPr txBox="1"/>
            <p:nvPr/>
          </p:nvSpPr>
          <p:spPr>
            <a:xfrm rot="2119535">
              <a:off x="2210276" y="4824999"/>
              <a:ext cx="720080" cy="450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0.1</a:t>
              </a:r>
              <a:endParaRPr lang="zh-CN" altLang="en-US" sz="20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555A346-313A-0206-8FAB-369BBC578B87}"/>
                </a:ext>
              </a:extLst>
            </p:cNvPr>
            <p:cNvSpPr txBox="1"/>
            <p:nvPr/>
          </p:nvSpPr>
          <p:spPr>
            <a:xfrm rot="4343312">
              <a:off x="1739070" y="5151073"/>
              <a:ext cx="720080" cy="48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0.6</a:t>
              </a:r>
              <a:endParaRPr lang="zh-CN" altLang="en-US" sz="2000" dirty="0"/>
            </a:p>
          </p:txBody>
        </p:sp>
      </p:grpSp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93110C62-82E4-BDD5-6B83-81424BEC96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3320" y="2624018"/>
          <a:ext cx="4868425" cy="2845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1143000" progId="Equation.DSMT4">
                  <p:embed/>
                </p:oleObj>
              </mc:Choice>
              <mc:Fallback>
                <p:oleObj name="Equation" r:id="rId3" imgW="1955520" imgH="1143000" progId="Equation.DSMT4">
                  <p:embed/>
                  <p:pic>
                    <p:nvPicPr>
                      <p:cNvPr id="21" name="Object 4">
                        <a:extLst>
                          <a:ext uri="{FF2B5EF4-FFF2-40B4-BE49-F238E27FC236}">
                            <a16:creationId xmlns:a16="http://schemas.microsoft.com/office/drawing/2014/main" id="{93110C62-82E4-BDD5-6B83-81424BEC96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320" y="2624018"/>
                        <a:ext cx="4868425" cy="2845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内容占位符 22">
            <a:extLst>
              <a:ext uri="{FF2B5EF4-FFF2-40B4-BE49-F238E27FC236}">
                <a16:creationId xmlns:a16="http://schemas.microsoft.com/office/drawing/2014/main" id="{29586C3D-E825-8617-8267-CC8F7394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512" y="1671498"/>
            <a:ext cx="9091412" cy="38862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dirty="0">
                <a:ea typeface="黑体" pitchFamily="2" charset="-122"/>
              </a:rPr>
              <a:t>[P81</a:t>
            </a:r>
            <a:r>
              <a:rPr lang="zh-CN" altLang="en-US" dirty="0">
                <a:ea typeface="黑体" pitchFamily="2" charset="-122"/>
              </a:rPr>
              <a:t>例</a:t>
            </a:r>
            <a:r>
              <a:rPr lang="en-US" altLang="zh-CN" dirty="0">
                <a:ea typeface="黑体" pitchFamily="2" charset="-122"/>
              </a:rPr>
              <a:t>1]</a:t>
            </a:r>
            <a:r>
              <a:rPr lang="zh-CN" altLang="en-US" dirty="0">
                <a:ea typeface="黑体" pitchFamily="2" charset="-122"/>
              </a:rPr>
              <a:t>环境单元分类，设已得到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相似矩阵</a:t>
            </a:r>
            <a:r>
              <a:rPr lang="en-US" altLang="zh-CN" dirty="0">
                <a:ea typeface="黑体" pitchFamily="2" charset="-122"/>
              </a:rPr>
              <a:t>:</a:t>
            </a:r>
            <a:r>
              <a:rPr lang="en-US" altLang="zh-CN" sz="2800" dirty="0">
                <a:ea typeface="黑体" pitchFamily="2" charset="-122"/>
              </a:rPr>
              <a:t> </a:t>
            </a:r>
          </a:p>
          <a:p>
            <a:endParaRPr lang="zh-CN" altLang="en-US" dirty="0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42C360E7-3AE6-84E1-B7A2-17F220556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60517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基于图论的</a:t>
            </a:r>
            <a:r>
              <a:rPr lang="zh-CN" altLang="en-US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聚类方法</a:t>
            </a:r>
            <a:r>
              <a:rPr lang="en-US" altLang="zh-CN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(3)</a:t>
            </a:r>
            <a:br>
              <a:rPr lang="en-US" altLang="zh-CN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最大生成树法</a:t>
            </a:r>
            <a:endParaRPr lang="zh-CN" altLang="en-US" sz="2000" dirty="0"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EBF41E-711B-CB15-FD8F-853568BEF0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92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87713" y="285997"/>
            <a:ext cx="5795962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最大生成树法举例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1</a:t>
            </a:r>
            <a:endParaRPr lang="zh-CN" altLang="en-US" dirty="0">
              <a:solidFill>
                <a:srgbClr val="057939"/>
              </a:solidFill>
              <a:ea typeface="黑体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01738" y="1241672"/>
            <a:ext cx="10366870" cy="5471867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dirty="0">
                <a:ea typeface="黑体" pitchFamily="2" charset="-122"/>
              </a:rPr>
              <a:t>[P81</a:t>
            </a:r>
            <a:r>
              <a:rPr lang="zh-CN" altLang="en-US" dirty="0">
                <a:ea typeface="黑体" pitchFamily="2" charset="-122"/>
              </a:rPr>
              <a:t>例</a:t>
            </a:r>
            <a:r>
              <a:rPr lang="en-US" altLang="zh-CN" dirty="0">
                <a:ea typeface="黑体" pitchFamily="2" charset="-122"/>
              </a:rPr>
              <a:t>1]</a:t>
            </a:r>
            <a:r>
              <a:rPr lang="zh-CN" altLang="en-US" dirty="0">
                <a:ea typeface="黑体" pitchFamily="2" charset="-122"/>
              </a:rPr>
              <a:t>环境单元分类，设已得到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相似矩阵</a:t>
            </a:r>
            <a:r>
              <a:rPr lang="en-US" altLang="zh-CN" dirty="0">
                <a:ea typeface="黑体" pitchFamily="2" charset="-122"/>
              </a:rPr>
              <a:t>:</a:t>
            </a:r>
            <a:r>
              <a:rPr lang="en-US" altLang="zh-CN" sz="2800" dirty="0">
                <a:ea typeface="黑体" pitchFamily="2" charset="-122"/>
              </a:rPr>
              <a:t> 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dirty="0">
                <a:ea typeface="黑体" pitchFamily="2" charset="-122"/>
              </a:rPr>
              <a:t>得到最大生成树如下：</a:t>
            </a: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800" dirty="0">
              <a:ea typeface="黑体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800" dirty="0">
              <a:ea typeface="黑体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en-US" altLang="zh-CN" sz="2800" dirty="0">
              <a:ea typeface="黑体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800" dirty="0">
              <a:ea typeface="黑体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800" dirty="0">
              <a:ea typeface="黑体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sz="2000" dirty="0">
              <a:ea typeface="黑体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marL="533400" indent="-533400" eaLnBrk="1" hangingPunct="1"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当</a:t>
            </a:r>
            <a:r>
              <a:rPr lang="el-GR" altLang="zh-CN" dirty="0">
                <a:solidFill>
                  <a:srgbClr val="0000FF"/>
                </a:solidFill>
                <a:ea typeface="黑体" pitchFamily="2" charset="-122"/>
                <a:cs typeface="Arial" charset="0"/>
              </a:rPr>
              <a:t>λ</a:t>
            </a:r>
            <a:r>
              <a:rPr lang="en-US" altLang="zh-CN" dirty="0">
                <a:solidFill>
                  <a:srgbClr val="0000FF"/>
                </a:solidFill>
                <a:ea typeface="黑体" pitchFamily="2" charset="-122"/>
                <a:cs typeface="Arial" charset="0"/>
              </a:rPr>
              <a:t>=</a:t>
            </a: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1, 0.8, 0.6, 0.5,0.4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时分别得到切割子树，同一子树上的顶点合并为一类</a:t>
            </a:r>
            <a:endParaRPr lang="zh-CN" altLang="en-US" sz="2800" dirty="0">
              <a:solidFill>
                <a:srgbClr val="0000FF"/>
              </a:solidFill>
              <a:ea typeface="黑体" pitchFamily="2" charset="-122"/>
            </a:endParaRPr>
          </a:p>
        </p:txBody>
      </p:sp>
      <p:graphicFrame>
        <p:nvGraphicFramePr>
          <p:cNvPr id="2150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33552093"/>
              </p:ext>
            </p:extLst>
          </p:nvPr>
        </p:nvGraphicFramePr>
        <p:xfrm>
          <a:off x="6870393" y="2104062"/>
          <a:ext cx="4295027" cy="2510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1143000" progId="Equation.DSMT4">
                  <p:embed/>
                </p:oleObj>
              </mc:Choice>
              <mc:Fallback>
                <p:oleObj name="Equation" r:id="rId3" imgW="1955520" imgH="1143000" progId="Equation.DSMT4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393" y="2104062"/>
                        <a:ext cx="4295027" cy="2510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ADDE5D1D-FD09-78DE-1984-3AB88332102A}"/>
              </a:ext>
            </a:extLst>
          </p:cNvPr>
          <p:cNvGrpSpPr/>
          <p:nvPr/>
        </p:nvGrpSpPr>
        <p:grpSpPr>
          <a:xfrm>
            <a:off x="3431704" y="2376831"/>
            <a:ext cx="576262" cy="576263"/>
            <a:chOff x="3070597" y="2635772"/>
            <a:chExt cx="576262" cy="576263"/>
          </a:xfrm>
        </p:grpSpPr>
        <p:sp>
          <p:nvSpPr>
            <p:cNvPr id="21509" name="Oval 5"/>
            <p:cNvSpPr>
              <a:spLocks noChangeArrowheads="1"/>
            </p:cNvSpPr>
            <p:nvPr/>
          </p:nvSpPr>
          <p:spPr bwMode="auto">
            <a:xfrm>
              <a:off x="3070597" y="2635772"/>
              <a:ext cx="576262" cy="576263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0" name="Text Box 6"/>
            <p:cNvSpPr txBox="1">
              <a:spLocks noChangeArrowheads="1"/>
            </p:cNvSpPr>
            <p:nvPr/>
          </p:nvSpPr>
          <p:spPr bwMode="auto">
            <a:xfrm>
              <a:off x="3143622" y="2708797"/>
              <a:ext cx="431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/>
                <a:t>A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E4F38B8-A6A7-F762-FA6F-018DD5010E9E}"/>
              </a:ext>
            </a:extLst>
          </p:cNvPr>
          <p:cNvGrpSpPr/>
          <p:nvPr/>
        </p:nvGrpSpPr>
        <p:grpSpPr>
          <a:xfrm>
            <a:off x="4856971" y="3429000"/>
            <a:ext cx="576263" cy="576263"/>
            <a:chOff x="5951910" y="4509022"/>
            <a:chExt cx="576263" cy="576263"/>
          </a:xfrm>
        </p:grpSpPr>
        <p:sp>
          <p:nvSpPr>
            <p:cNvPr id="21512" name="Oval 8"/>
            <p:cNvSpPr>
              <a:spLocks noChangeArrowheads="1"/>
            </p:cNvSpPr>
            <p:nvPr/>
          </p:nvSpPr>
          <p:spPr bwMode="auto">
            <a:xfrm>
              <a:off x="5951910" y="4509022"/>
              <a:ext cx="576263" cy="576263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5" name="Text Box 11"/>
            <p:cNvSpPr txBox="1">
              <a:spLocks noChangeArrowheads="1"/>
            </p:cNvSpPr>
            <p:nvPr/>
          </p:nvSpPr>
          <p:spPr bwMode="auto">
            <a:xfrm>
              <a:off x="6023992" y="4580460"/>
              <a:ext cx="431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/>
                <a:t>B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754EF9-43B8-41B9-AB11-D2D0B5FCAF0E}"/>
              </a:ext>
            </a:extLst>
          </p:cNvPr>
          <p:cNvGrpSpPr/>
          <p:nvPr/>
        </p:nvGrpSpPr>
        <p:grpSpPr>
          <a:xfrm>
            <a:off x="1831917" y="3412852"/>
            <a:ext cx="576262" cy="576263"/>
            <a:chOff x="4007222" y="4509022"/>
            <a:chExt cx="576262" cy="576263"/>
          </a:xfrm>
        </p:grpSpPr>
        <p:sp>
          <p:nvSpPr>
            <p:cNvPr id="21513" name="Oval 9"/>
            <p:cNvSpPr>
              <a:spLocks noChangeArrowheads="1"/>
            </p:cNvSpPr>
            <p:nvPr/>
          </p:nvSpPr>
          <p:spPr bwMode="auto">
            <a:xfrm>
              <a:off x="4007222" y="4509022"/>
              <a:ext cx="576262" cy="576263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6" name="Text Box 12"/>
            <p:cNvSpPr txBox="1">
              <a:spLocks noChangeArrowheads="1"/>
            </p:cNvSpPr>
            <p:nvPr/>
          </p:nvSpPr>
          <p:spPr bwMode="auto">
            <a:xfrm>
              <a:off x="4078659" y="4580460"/>
              <a:ext cx="431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/>
                <a:t>E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04D7FD6-E9AC-4638-A50E-DD50B1399048}"/>
              </a:ext>
            </a:extLst>
          </p:cNvPr>
          <p:cNvGrpSpPr/>
          <p:nvPr/>
        </p:nvGrpSpPr>
        <p:grpSpPr>
          <a:xfrm>
            <a:off x="2547803" y="4828110"/>
            <a:ext cx="576263" cy="576263"/>
            <a:chOff x="2135560" y="4509022"/>
            <a:chExt cx="576263" cy="576263"/>
          </a:xfrm>
        </p:grpSpPr>
        <p:sp>
          <p:nvSpPr>
            <p:cNvPr id="21514" name="Oval 10"/>
            <p:cNvSpPr>
              <a:spLocks noChangeArrowheads="1"/>
            </p:cNvSpPr>
            <p:nvPr/>
          </p:nvSpPr>
          <p:spPr bwMode="auto">
            <a:xfrm>
              <a:off x="2135560" y="4509022"/>
              <a:ext cx="576263" cy="576263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7" name="Text Box 13"/>
            <p:cNvSpPr txBox="1">
              <a:spLocks noChangeArrowheads="1"/>
            </p:cNvSpPr>
            <p:nvPr/>
          </p:nvSpPr>
          <p:spPr bwMode="auto">
            <a:xfrm>
              <a:off x="2206997" y="4580460"/>
              <a:ext cx="431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/>
                <a:t>D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D9453FE-8B4F-BFD5-9814-1CBE00C8298F}"/>
              </a:ext>
            </a:extLst>
          </p:cNvPr>
          <p:cNvGrpSpPr/>
          <p:nvPr/>
        </p:nvGrpSpPr>
        <p:grpSpPr>
          <a:xfrm>
            <a:off x="4042940" y="4849847"/>
            <a:ext cx="576263" cy="576263"/>
            <a:chOff x="5015285" y="2635772"/>
            <a:chExt cx="576263" cy="576263"/>
          </a:xfrm>
        </p:grpSpPr>
        <p:sp>
          <p:nvSpPr>
            <p:cNvPr id="21511" name="Oval 7"/>
            <p:cNvSpPr>
              <a:spLocks noChangeArrowheads="1"/>
            </p:cNvSpPr>
            <p:nvPr/>
          </p:nvSpPr>
          <p:spPr bwMode="auto">
            <a:xfrm>
              <a:off x="5015285" y="2635772"/>
              <a:ext cx="576263" cy="576263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8" name="Text Box 14"/>
            <p:cNvSpPr txBox="1">
              <a:spLocks noChangeArrowheads="1"/>
            </p:cNvSpPr>
            <p:nvPr/>
          </p:nvSpPr>
          <p:spPr bwMode="auto">
            <a:xfrm>
              <a:off x="5086722" y="2708797"/>
              <a:ext cx="431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/>
                <a:t>C</a:t>
              </a:r>
            </a:p>
          </p:txBody>
        </p:sp>
      </p:grpSp>
      <p:sp>
        <p:nvSpPr>
          <p:cNvPr id="63503" name="Line 15"/>
          <p:cNvSpPr>
            <a:spLocks noChangeShapeType="1"/>
          </p:cNvSpPr>
          <p:nvPr/>
        </p:nvSpPr>
        <p:spPr bwMode="auto">
          <a:xfrm>
            <a:off x="3791323" y="2953094"/>
            <a:ext cx="553902" cy="192820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4" name="Text Box 16"/>
          <p:cNvSpPr txBox="1">
            <a:spLocks noChangeArrowheads="1"/>
          </p:cNvSpPr>
          <p:nvPr/>
        </p:nvSpPr>
        <p:spPr bwMode="auto">
          <a:xfrm>
            <a:off x="4185395" y="4235060"/>
            <a:ext cx="6477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CC00FF"/>
                </a:solidFill>
              </a:rPr>
              <a:t>0.8</a:t>
            </a:r>
          </a:p>
        </p:txBody>
      </p:sp>
      <p:sp>
        <p:nvSpPr>
          <p:cNvPr id="63505" name="Line 17"/>
          <p:cNvSpPr>
            <a:spLocks noChangeShapeType="1"/>
          </p:cNvSpPr>
          <p:nvPr/>
        </p:nvSpPr>
        <p:spPr bwMode="auto">
          <a:xfrm>
            <a:off x="2309544" y="3972447"/>
            <a:ext cx="457410" cy="8839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6" name="Text Box 18"/>
          <p:cNvSpPr txBox="1">
            <a:spLocks noChangeArrowheads="1"/>
          </p:cNvSpPr>
          <p:nvPr/>
        </p:nvSpPr>
        <p:spPr bwMode="auto">
          <a:xfrm>
            <a:off x="1943248" y="4368456"/>
            <a:ext cx="6477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CC00FF"/>
                </a:solidFill>
              </a:rPr>
              <a:t>0.6</a:t>
            </a:r>
          </a:p>
        </p:txBody>
      </p:sp>
      <p:sp>
        <p:nvSpPr>
          <p:cNvPr id="63507" name="Line 19"/>
          <p:cNvSpPr>
            <a:spLocks noChangeShapeType="1"/>
          </p:cNvSpPr>
          <p:nvPr/>
        </p:nvSpPr>
        <p:spPr bwMode="auto">
          <a:xfrm flipH="1">
            <a:off x="2957243" y="2953094"/>
            <a:ext cx="681024" cy="18750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8" name="Text Box 20"/>
          <p:cNvSpPr txBox="1">
            <a:spLocks noChangeArrowheads="1"/>
          </p:cNvSpPr>
          <p:nvPr/>
        </p:nvSpPr>
        <p:spPr bwMode="auto">
          <a:xfrm>
            <a:off x="3057209" y="4364559"/>
            <a:ext cx="6477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CC00FF"/>
                </a:solidFill>
              </a:rPr>
              <a:t>0.5</a:t>
            </a: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4245312" y="3290195"/>
            <a:ext cx="6477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CC00FF"/>
                </a:solidFill>
              </a:rPr>
              <a:t>0.4</a:t>
            </a:r>
          </a:p>
        </p:txBody>
      </p:sp>
      <p:sp>
        <p:nvSpPr>
          <p:cNvPr id="63510" name="Line 22"/>
          <p:cNvSpPr>
            <a:spLocks noChangeShapeType="1"/>
          </p:cNvSpPr>
          <p:nvPr/>
        </p:nvSpPr>
        <p:spPr bwMode="auto">
          <a:xfrm flipV="1">
            <a:off x="2422899" y="3690245"/>
            <a:ext cx="2433774" cy="10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456040" y="4749069"/>
            <a:ext cx="535595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indent="-533400">
              <a:lnSpc>
                <a:spcPct val="90000"/>
              </a:lnSpc>
            </a:pP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1&gt;0.8&gt;0.6&gt;0.5&gt;0.4&gt;0.3&gt;0.2&gt;0.1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7D5A706-F301-5420-D444-D4542ACDA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376B5-62E6-403F-97A0-5A1E42AE81DF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8BE137-AE64-A563-CD8A-DAE61A5DC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6751" y="0"/>
            <a:ext cx="2324100" cy="2028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3" grpId="0" animBg="1"/>
      <p:bldP spid="63504" grpId="0"/>
      <p:bldP spid="63505" grpId="0" animBg="1"/>
      <p:bldP spid="63506" grpId="0"/>
      <p:bldP spid="63507" grpId="0" animBg="1"/>
      <p:bldP spid="63508" grpId="0"/>
      <p:bldP spid="63509" grpId="0"/>
      <p:bldP spid="635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最大生成树法举例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2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947428" y="1440237"/>
            <a:ext cx="10297144" cy="2064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设二个家庭，每家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3-5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人，选每个人的一张照片，共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张，混放在一起，将照片两两对照，得出描述其“</a:t>
            </a:r>
            <a:r>
              <a:rPr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相似程度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”模糊关系矩阵。要求按相似程度聚类，希望把二个家庭分开。</a:t>
            </a:r>
          </a:p>
        </p:txBody>
      </p:sp>
      <p:graphicFrame>
        <p:nvGraphicFramePr>
          <p:cNvPr id="130053" name="Object 5"/>
          <p:cNvGraphicFramePr>
            <a:graphicFrameLocks noChangeAspect="1"/>
          </p:cNvGraphicFramePr>
          <p:nvPr/>
        </p:nvGraphicFramePr>
        <p:xfrm>
          <a:off x="5159376" y="3037757"/>
          <a:ext cx="5689152" cy="3820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898408" imgH="5154217" progId="Word.Document.8">
                  <p:embed/>
                </p:oleObj>
              </mc:Choice>
              <mc:Fallback>
                <p:oleObj name="Document" r:id="rId2" imgW="4898408" imgH="5154217" progId="Word.Document.8">
                  <p:embed/>
                  <p:pic>
                    <p:nvPicPr>
                      <p:cNvPr id="1300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037757"/>
                        <a:ext cx="5689152" cy="3820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402547-834F-6DEA-BE92-02E71A4329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929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60648"/>
            <a:ext cx="109728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最大生成树法举例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2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31082" name="Rectangle 10"/>
          <p:cNvSpPr>
            <a:spLocks noChangeArrowheads="1"/>
          </p:cNvSpPr>
          <p:nvPr/>
        </p:nvSpPr>
        <p:spPr bwMode="auto">
          <a:xfrm>
            <a:off x="850397" y="1326407"/>
            <a:ext cx="1143964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按模糊相似矩阵，画出被分类的元素集，构造“</a:t>
            </a:r>
            <a:r>
              <a:rPr lang="zh-CN" altLang="en-US" sz="28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最大生成树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31083" name="Rectangle 11"/>
          <p:cNvSpPr>
            <a:spLocks noChangeArrowheads="1"/>
          </p:cNvSpPr>
          <p:nvPr/>
        </p:nvSpPr>
        <p:spPr bwMode="auto">
          <a:xfrm>
            <a:off x="1343472" y="1961149"/>
            <a:ext cx="9565021" cy="1041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当全部连通时，检查一下全部元素是否都已出现，即保证所有元素都是连通的。最大生成树即构造好。</a:t>
            </a:r>
          </a:p>
        </p:txBody>
      </p:sp>
      <p:grpSp>
        <p:nvGrpSpPr>
          <p:cNvPr id="131084" name="Group 12"/>
          <p:cNvGrpSpPr>
            <a:grpSpLocks/>
          </p:cNvGrpSpPr>
          <p:nvPr/>
        </p:nvGrpSpPr>
        <p:grpSpPr bwMode="auto">
          <a:xfrm>
            <a:off x="5993198" y="3429000"/>
            <a:ext cx="5488804" cy="3429001"/>
            <a:chOff x="2545" y="2050"/>
            <a:chExt cx="3117" cy="1913"/>
          </a:xfrm>
        </p:grpSpPr>
        <p:sp>
          <p:nvSpPr>
            <p:cNvPr id="131085" name="Text Box 13"/>
            <p:cNvSpPr txBox="1">
              <a:spLocks noChangeArrowheads="1"/>
            </p:cNvSpPr>
            <p:nvPr/>
          </p:nvSpPr>
          <p:spPr bwMode="auto">
            <a:xfrm>
              <a:off x="3966" y="3625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0.2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1086" name="Text Box 14"/>
            <p:cNvSpPr txBox="1">
              <a:spLocks noChangeArrowheads="1"/>
            </p:cNvSpPr>
            <p:nvPr/>
          </p:nvSpPr>
          <p:spPr bwMode="auto">
            <a:xfrm>
              <a:off x="5219" y="2712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0.4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1087" name="Text Box 15"/>
            <p:cNvSpPr txBox="1">
              <a:spLocks noChangeArrowheads="1"/>
            </p:cNvSpPr>
            <p:nvPr/>
          </p:nvSpPr>
          <p:spPr bwMode="auto">
            <a:xfrm>
              <a:off x="2545" y="2585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0.4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1088" name="Text Box 16"/>
            <p:cNvSpPr txBox="1">
              <a:spLocks noChangeArrowheads="1"/>
            </p:cNvSpPr>
            <p:nvPr/>
          </p:nvSpPr>
          <p:spPr bwMode="auto">
            <a:xfrm>
              <a:off x="4072" y="2072"/>
              <a:ext cx="34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31089" name="Text Box 17"/>
            <p:cNvSpPr txBox="1">
              <a:spLocks noChangeArrowheads="1"/>
            </p:cNvSpPr>
            <p:nvPr/>
          </p:nvSpPr>
          <p:spPr bwMode="auto">
            <a:xfrm>
              <a:off x="4458" y="2928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31090" name="Text Box 18"/>
            <p:cNvSpPr txBox="1">
              <a:spLocks noChangeArrowheads="1"/>
            </p:cNvSpPr>
            <p:nvPr/>
          </p:nvSpPr>
          <p:spPr bwMode="auto">
            <a:xfrm>
              <a:off x="4949" y="3104"/>
              <a:ext cx="26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0.5</a:t>
              </a:r>
            </a:p>
          </p:txBody>
        </p:sp>
        <p:sp>
          <p:nvSpPr>
            <p:cNvPr id="131091" name="Text Box 19"/>
            <p:cNvSpPr txBox="1">
              <a:spLocks noChangeArrowheads="1"/>
            </p:cNvSpPr>
            <p:nvPr/>
          </p:nvSpPr>
          <p:spPr bwMode="auto">
            <a:xfrm>
              <a:off x="3478" y="3071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0.5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1092" name="Text Box 20"/>
            <p:cNvSpPr txBox="1">
              <a:spLocks noChangeArrowheads="1"/>
            </p:cNvSpPr>
            <p:nvPr/>
          </p:nvSpPr>
          <p:spPr bwMode="auto">
            <a:xfrm>
              <a:off x="4939" y="2298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1093" name="Text Box 21"/>
            <p:cNvSpPr txBox="1">
              <a:spLocks noChangeArrowheads="1"/>
            </p:cNvSpPr>
            <p:nvPr/>
          </p:nvSpPr>
          <p:spPr bwMode="auto">
            <a:xfrm>
              <a:off x="2855" y="3499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1094" name="Text Box 22"/>
            <p:cNvSpPr txBox="1">
              <a:spLocks noChangeArrowheads="1"/>
            </p:cNvSpPr>
            <p:nvPr/>
          </p:nvSpPr>
          <p:spPr bwMode="auto">
            <a:xfrm>
              <a:off x="2984" y="2760"/>
              <a:ext cx="2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1095" name="Text Box 23"/>
            <p:cNvSpPr txBox="1">
              <a:spLocks noChangeArrowheads="1"/>
            </p:cNvSpPr>
            <p:nvPr/>
          </p:nvSpPr>
          <p:spPr bwMode="auto">
            <a:xfrm>
              <a:off x="3107" y="2242"/>
              <a:ext cx="26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grpSp>
          <p:nvGrpSpPr>
            <p:cNvPr id="131096" name="Group 24"/>
            <p:cNvGrpSpPr>
              <a:grpSpLocks/>
            </p:cNvGrpSpPr>
            <p:nvPr/>
          </p:nvGrpSpPr>
          <p:grpSpPr bwMode="auto">
            <a:xfrm>
              <a:off x="2600" y="2050"/>
              <a:ext cx="367" cy="383"/>
              <a:chOff x="2600" y="2050"/>
              <a:chExt cx="367" cy="383"/>
            </a:xfrm>
          </p:grpSpPr>
          <p:sp>
            <p:nvSpPr>
              <p:cNvPr id="131097" name="Text Box 25"/>
              <p:cNvSpPr txBox="1">
                <a:spLocks noChangeArrowheads="1"/>
              </p:cNvSpPr>
              <p:nvPr/>
            </p:nvSpPr>
            <p:spPr bwMode="auto">
              <a:xfrm>
                <a:off x="2724" y="212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31098" name="Oval 26"/>
              <p:cNvSpPr>
                <a:spLocks noChangeArrowheads="1"/>
              </p:cNvSpPr>
              <p:nvPr/>
            </p:nvSpPr>
            <p:spPr bwMode="auto">
              <a:xfrm>
                <a:off x="2600" y="2050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1099" name="Group 27"/>
            <p:cNvGrpSpPr>
              <a:grpSpLocks/>
            </p:cNvGrpSpPr>
            <p:nvPr/>
          </p:nvGrpSpPr>
          <p:grpSpPr bwMode="auto">
            <a:xfrm>
              <a:off x="2698" y="3047"/>
              <a:ext cx="368" cy="383"/>
              <a:chOff x="2698" y="3047"/>
              <a:chExt cx="368" cy="383"/>
            </a:xfrm>
          </p:grpSpPr>
          <p:sp>
            <p:nvSpPr>
              <p:cNvPr id="131100" name="Text Box 28"/>
              <p:cNvSpPr txBox="1">
                <a:spLocks noChangeArrowheads="1"/>
              </p:cNvSpPr>
              <p:nvPr/>
            </p:nvSpPr>
            <p:spPr bwMode="auto">
              <a:xfrm>
                <a:off x="2834" y="3115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31101" name="Oval 29"/>
              <p:cNvSpPr>
                <a:spLocks noChangeArrowheads="1"/>
              </p:cNvSpPr>
              <p:nvPr/>
            </p:nvSpPr>
            <p:spPr bwMode="auto">
              <a:xfrm>
                <a:off x="2698" y="3047"/>
                <a:ext cx="368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1102" name="Group 30"/>
            <p:cNvGrpSpPr>
              <a:grpSpLocks/>
            </p:cNvGrpSpPr>
            <p:nvPr/>
          </p:nvGrpSpPr>
          <p:grpSpPr bwMode="auto">
            <a:xfrm>
              <a:off x="3309" y="2568"/>
              <a:ext cx="367" cy="383"/>
              <a:chOff x="3309" y="2568"/>
              <a:chExt cx="367" cy="383"/>
            </a:xfrm>
          </p:grpSpPr>
          <p:sp>
            <p:nvSpPr>
              <p:cNvPr id="131103" name="Text Box 31"/>
              <p:cNvSpPr txBox="1">
                <a:spLocks noChangeArrowheads="1"/>
              </p:cNvSpPr>
              <p:nvPr/>
            </p:nvSpPr>
            <p:spPr bwMode="auto">
              <a:xfrm>
                <a:off x="3449" y="2651"/>
                <a:ext cx="147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31104" name="Oval 32"/>
              <p:cNvSpPr>
                <a:spLocks noChangeArrowheads="1"/>
              </p:cNvSpPr>
              <p:nvPr/>
            </p:nvSpPr>
            <p:spPr bwMode="auto">
              <a:xfrm>
                <a:off x="3309" y="2568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1105" name="Group 33"/>
            <p:cNvGrpSpPr>
              <a:grpSpLocks/>
            </p:cNvGrpSpPr>
            <p:nvPr/>
          </p:nvGrpSpPr>
          <p:grpSpPr bwMode="auto">
            <a:xfrm>
              <a:off x="3162" y="3581"/>
              <a:ext cx="367" cy="382"/>
              <a:chOff x="3162" y="3581"/>
              <a:chExt cx="367" cy="382"/>
            </a:xfrm>
          </p:grpSpPr>
          <p:sp>
            <p:nvSpPr>
              <p:cNvPr id="131106" name="Text Box 34"/>
              <p:cNvSpPr txBox="1">
                <a:spLocks noChangeArrowheads="1"/>
              </p:cNvSpPr>
              <p:nvPr/>
            </p:nvSpPr>
            <p:spPr bwMode="auto">
              <a:xfrm>
                <a:off x="3301" y="3654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31107" name="Oval 35"/>
              <p:cNvSpPr>
                <a:spLocks noChangeArrowheads="1"/>
              </p:cNvSpPr>
              <p:nvPr/>
            </p:nvSpPr>
            <p:spPr bwMode="auto">
              <a:xfrm>
                <a:off x="3162" y="3581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1108" name="Group 36"/>
            <p:cNvGrpSpPr>
              <a:grpSpLocks/>
            </p:cNvGrpSpPr>
            <p:nvPr/>
          </p:nvGrpSpPr>
          <p:grpSpPr bwMode="auto">
            <a:xfrm>
              <a:off x="5270" y="2075"/>
              <a:ext cx="367" cy="382"/>
              <a:chOff x="5270" y="2075"/>
              <a:chExt cx="367" cy="382"/>
            </a:xfrm>
          </p:grpSpPr>
          <p:sp>
            <p:nvSpPr>
              <p:cNvPr id="131109" name="Text Box 37"/>
              <p:cNvSpPr txBox="1">
                <a:spLocks noChangeArrowheads="1"/>
              </p:cNvSpPr>
              <p:nvPr/>
            </p:nvSpPr>
            <p:spPr bwMode="auto">
              <a:xfrm>
                <a:off x="5419" y="2160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31110" name="Oval 38"/>
              <p:cNvSpPr>
                <a:spLocks noChangeArrowheads="1"/>
              </p:cNvSpPr>
              <p:nvPr/>
            </p:nvSpPr>
            <p:spPr bwMode="auto">
              <a:xfrm>
                <a:off x="5270" y="2075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1111" name="Group 39"/>
            <p:cNvGrpSpPr>
              <a:grpSpLocks/>
            </p:cNvGrpSpPr>
            <p:nvPr/>
          </p:nvGrpSpPr>
          <p:grpSpPr bwMode="auto">
            <a:xfrm>
              <a:off x="4717" y="2569"/>
              <a:ext cx="366" cy="382"/>
              <a:chOff x="4717" y="2569"/>
              <a:chExt cx="366" cy="382"/>
            </a:xfrm>
          </p:grpSpPr>
          <p:sp>
            <p:nvSpPr>
              <p:cNvPr id="131112" name="Text Box 40"/>
              <p:cNvSpPr txBox="1">
                <a:spLocks noChangeArrowheads="1"/>
              </p:cNvSpPr>
              <p:nvPr/>
            </p:nvSpPr>
            <p:spPr bwMode="auto">
              <a:xfrm>
                <a:off x="4856" y="2649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31113" name="Oval 41"/>
              <p:cNvSpPr>
                <a:spLocks noChangeArrowheads="1"/>
              </p:cNvSpPr>
              <p:nvPr/>
            </p:nvSpPr>
            <p:spPr bwMode="auto">
              <a:xfrm>
                <a:off x="4717" y="2569"/>
                <a:ext cx="366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1114" name="Group 42"/>
            <p:cNvGrpSpPr>
              <a:grpSpLocks/>
            </p:cNvGrpSpPr>
            <p:nvPr/>
          </p:nvGrpSpPr>
          <p:grpSpPr bwMode="auto">
            <a:xfrm>
              <a:off x="4431" y="3318"/>
              <a:ext cx="366" cy="383"/>
              <a:chOff x="4431" y="3318"/>
              <a:chExt cx="366" cy="383"/>
            </a:xfrm>
          </p:grpSpPr>
          <p:sp>
            <p:nvSpPr>
              <p:cNvPr id="131115" name="Text Box 43"/>
              <p:cNvSpPr txBox="1">
                <a:spLocks noChangeArrowheads="1"/>
              </p:cNvSpPr>
              <p:nvPr/>
            </p:nvSpPr>
            <p:spPr bwMode="auto">
              <a:xfrm>
                <a:off x="4570" y="3395"/>
                <a:ext cx="147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31116" name="Oval 44"/>
              <p:cNvSpPr>
                <a:spLocks noChangeArrowheads="1"/>
              </p:cNvSpPr>
              <p:nvPr/>
            </p:nvSpPr>
            <p:spPr bwMode="auto">
              <a:xfrm>
                <a:off x="4431" y="3318"/>
                <a:ext cx="366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1117" name="Group 45"/>
            <p:cNvGrpSpPr>
              <a:grpSpLocks/>
            </p:cNvGrpSpPr>
            <p:nvPr/>
          </p:nvGrpSpPr>
          <p:grpSpPr bwMode="auto">
            <a:xfrm>
              <a:off x="5294" y="3326"/>
              <a:ext cx="368" cy="382"/>
              <a:chOff x="5294" y="3326"/>
              <a:chExt cx="368" cy="382"/>
            </a:xfrm>
          </p:grpSpPr>
          <p:sp>
            <p:nvSpPr>
              <p:cNvPr id="131118" name="Text Box 46"/>
              <p:cNvSpPr txBox="1">
                <a:spLocks noChangeArrowheads="1"/>
              </p:cNvSpPr>
              <p:nvPr/>
            </p:nvSpPr>
            <p:spPr bwMode="auto">
              <a:xfrm>
                <a:off x="5434" y="340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1119" name="Oval 47"/>
              <p:cNvSpPr>
                <a:spLocks noChangeArrowheads="1"/>
              </p:cNvSpPr>
              <p:nvPr/>
            </p:nvSpPr>
            <p:spPr bwMode="auto">
              <a:xfrm>
                <a:off x="5294" y="3326"/>
                <a:ext cx="368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1120" name="Line 48"/>
            <p:cNvSpPr>
              <a:spLocks noChangeShapeType="1"/>
            </p:cNvSpPr>
            <p:nvPr/>
          </p:nvSpPr>
          <p:spPr bwMode="auto">
            <a:xfrm>
              <a:off x="2959" y="2330"/>
              <a:ext cx="398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1" name="Line 49"/>
            <p:cNvSpPr>
              <a:spLocks noChangeShapeType="1"/>
            </p:cNvSpPr>
            <p:nvPr/>
          </p:nvSpPr>
          <p:spPr bwMode="auto">
            <a:xfrm flipH="1">
              <a:off x="3024" y="2879"/>
              <a:ext cx="318" cy="2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2" name="Line 50"/>
            <p:cNvSpPr>
              <a:spLocks noChangeShapeType="1"/>
            </p:cNvSpPr>
            <p:nvPr/>
          </p:nvSpPr>
          <p:spPr bwMode="auto">
            <a:xfrm>
              <a:off x="3000" y="3389"/>
              <a:ext cx="204" cy="2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3" name="Line 51"/>
            <p:cNvSpPr>
              <a:spLocks noChangeShapeType="1"/>
            </p:cNvSpPr>
            <p:nvPr/>
          </p:nvSpPr>
          <p:spPr bwMode="auto">
            <a:xfrm flipH="1">
              <a:off x="5032" y="2386"/>
              <a:ext cx="287" cy="2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4" name="Line 52"/>
            <p:cNvSpPr>
              <a:spLocks noChangeShapeType="1"/>
            </p:cNvSpPr>
            <p:nvPr/>
          </p:nvSpPr>
          <p:spPr bwMode="auto">
            <a:xfrm>
              <a:off x="5027" y="2911"/>
              <a:ext cx="341" cy="4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5" name="Line 53"/>
            <p:cNvSpPr>
              <a:spLocks noChangeShapeType="1"/>
            </p:cNvSpPr>
            <p:nvPr/>
          </p:nvSpPr>
          <p:spPr bwMode="auto">
            <a:xfrm flipH="1">
              <a:off x="4642" y="2936"/>
              <a:ext cx="180" cy="39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6" name="Freeform 54"/>
            <p:cNvSpPr>
              <a:spLocks/>
            </p:cNvSpPr>
            <p:nvPr/>
          </p:nvSpPr>
          <p:spPr bwMode="auto">
            <a:xfrm>
              <a:off x="3652" y="2176"/>
              <a:ext cx="1635" cy="481"/>
            </a:xfrm>
            <a:custGeom>
              <a:avLst/>
              <a:gdLst>
                <a:gd name="T0" fmla="*/ 0 w 3675"/>
                <a:gd name="T1" fmla="*/ 1130 h 1130"/>
                <a:gd name="T2" fmla="*/ 1770 w 3675"/>
                <a:gd name="T3" fmla="*/ 185 h 1130"/>
                <a:gd name="T4" fmla="*/ 3675 w 3675"/>
                <a:gd name="T5" fmla="*/ 20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75" h="1130">
                  <a:moveTo>
                    <a:pt x="0" y="1130"/>
                  </a:moveTo>
                  <a:cubicBezTo>
                    <a:pt x="295" y="975"/>
                    <a:pt x="1158" y="370"/>
                    <a:pt x="1770" y="185"/>
                  </a:cubicBezTo>
                  <a:cubicBezTo>
                    <a:pt x="2382" y="0"/>
                    <a:pt x="3278" y="54"/>
                    <a:pt x="3675" y="2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7" name="Line 55"/>
            <p:cNvSpPr>
              <a:spLocks noChangeShapeType="1"/>
            </p:cNvSpPr>
            <p:nvPr/>
          </p:nvSpPr>
          <p:spPr bwMode="auto">
            <a:xfrm flipH="1">
              <a:off x="3367" y="2958"/>
              <a:ext cx="130" cy="61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8" name="Line 56"/>
            <p:cNvSpPr>
              <a:spLocks noChangeShapeType="1"/>
            </p:cNvSpPr>
            <p:nvPr/>
          </p:nvSpPr>
          <p:spPr bwMode="auto">
            <a:xfrm>
              <a:off x="2755" y="2433"/>
              <a:ext cx="115" cy="62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29" name="Line 57"/>
            <p:cNvSpPr>
              <a:spLocks noChangeShapeType="1"/>
            </p:cNvSpPr>
            <p:nvPr/>
          </p:nvSpPr>
          <p:spPr bwMode="auto">
            <a:xfrm>
              <a:off x="5482" y="2457"/>
              <a:ext cx="7" cy="84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130" name="AutoShape 58"/>
            <p:cNvSpPr>
              <a:spLocks noChangeArrowheads="1"/>
            </p:cNvSpPr>
            <p:nvPr/>
          </p:nvSpPr>
          <p:spPr bwMode="auto">
            <a:xfrm>
              <a:off x="3565" y="3326"/>
              <a:ext cx="731" cy="230"/>
            </a:xfrm>
            <a:prstGeom prst="wedgeRoundRectCallout">
              <a:avLst>
                <a:gd name="adj1" fmla="val -67375"/>
                <a:gd name="adj2" fmla="val -76088"/>
                <a:gd name="adj3" fmla="val 16667"/>
              </a:avLst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just"/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回路不画</a:t>
              </a:r>
            </a:p>
          </p:txBody>
        </p:sp>
        <p:sp>
          <p:nvSpPr>
            <p:cNvPr id="131131" name="Line 59"/>
            <p:cNvSpPr>
              <a:spLocks noChangeShapeType="1"/>
            </p:cNvSpPr>
            <p:nvPr/>
          </p:nvSpPr>
          <p:spPr bwMode="auto">
            <a:xfrm flipV="1">
              <a:off x="3554" y="3548"/>
              <a:ext cx="887" cy="2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31132" name="Object 60"/>
          <p:cNvGraphicFramePr>
            <a:graphicFrameLocks noChangeAspect="1"/>
          </p:cNvGraphicFramePr>
          <p:nvPr/>
        </p:nvGraphicFramePr>
        <p:xfrm>
          <a:off x="849252" y="3036886"/>
          <a:ext cx="4811773" cy="382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4910397" imgH="5160664" progId="Word.Document.8">
                  <p:embed/>
                </p:oleObj>
              </mc:Choice>
              <mc:Fallback>
                <p:oleObj name="文档" r:id="rId2" imgW="4910397" imgH="5160664" progId="Word.Document.8">
                  <p:embed/>
                  <p:pic>
                    <p:nvPicPr>
                      <p:cNvPr id="131132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252" y="3036886"/>
                        <a:ext cx="4811773" cy="3821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D05A00-5EC6-1F89-2AAB-D3E8A167AB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615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最大生成树法举例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2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132100" name="Group 4"/>
          <p:cNvGrpSpPr>
            <a:grpSpLocks/>
          </p:cNvGrpSpPr>
          <p:nvPr/>
        </p:nvGrpSpPr>
        <p:grpSpPr bwMode="auto">
          <a:xfrm>
            <a:off x="152178" y="2771394"/>
            <a:ext cx="5489875" cy="2658831"/>
            <a:chOff x="361" y="258"/>
            <a:chExt cx="3117" cy="1913"/>
          </a:xfrm>
        </p:grpSpPr>
        <p:sp>
          <p:nvSpPr>
            <p:cNvPr id="132101" name="Text Box 5"/>
            <p:cNvSpPr txBox="1">
              <a:spLocks noChangeArrowheads="1"/>
            </p:cNvSpPr>
            <p:nvPr/>
          </p:nvSpPr>
          <p:spPr bwMode="auto">
            <a:xfrm>
              <a:off x="1782" y="1833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0.2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2102" name="Text Box 6"/>
            <p:cNvSpPr txBox="1">
              <a:spLocks noChangeArrowheads="1"/>
            </p:cNvSpPr>
            <p:nvPr/>
          </p:nvSpPr>
          <p:spPr bwMode="auto">
            <a:xfrm>
              <a:off x="3035" y="920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0.4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2103" name="Text Box 7"/>
            <p:cNvSpPr txBox="1">
              <a:spLocks noChangeArrowheads="1"/>
            </p:cNvSpPr>
            <p:nvPr/>
          </p:nvSpPr>
          <p:spPr bwMode="auto">
            <a:xfrm>
              <a:off x="361" y="793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0.4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2104" name="Text Box 8"/>
            <p:cNvSpPr txBox="1">
              <a:spLocks noChangeArrowheads="1"/>
            </p:cNvSpPr>
            <p:nvPr/>
          </p:nvSpPr>
          <p:spPr bwMode="auto">
            <a:xfrm>
              <a:off x="1888" y="280"/>
              <a:ext cx="34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32105" name="Text Box 9"/>
            <p:cNvSpPr txBox="1">
              <a:spLocks noChangeArrowheads="1"/>
            </p:cNvSpPr>
            <p:nvPr/>
          </p:nvSpPr>
          <p:spPr bwMode="auto">
            <a:xfrm>
              <a:off x="2274" y="1136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32106" name="Text Box 10"/>
            <p:cNvSpPr txBox="1">
              <a:spLocks noChangeArrowheads="1"/>
            </p:cNvSpPr>
            <p:nvPr/>
          </p:nvSpPr>
          <p:spPr bwMode="auto">
            <a:xfrm>
              <a:off x="2765" y="1312"/>
              <a:ext cx="26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0.5</a:t>
              </a:r>
            </a:p>
          </p:txBody>
        </p:sp>
        <p:sp>
          <p:nvSpPr>
            <p:cNvPr id="132107" name="Text Box 11"/>
            <p:cNvSpPr txBox="1">
              <a:spLocks noChangeArrowheads="1"/>
            </p:cNvSpPr>
            <p:nvPr/>
          </p:nvSpPr>
          <p:spPr bwMode="auto">
            <a:xfrm>
              <a:off x="1294" y="1279"/>
              <a:ext cx="26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0.5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2108" name="Text Box 12"/>
            <p:cNvSpPr txBox="1">
              <a:spLocks noChangeArrowheads="1"/>
            </p:cNvSpPr>
            <p:nvPr/>
          </p:nvSpPr>
          <p:spPr bwMode="auto">
            <a:xfrm>
              <a:off x="2755" y="506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2109" name="Text Box 13"/>
            <p:cNvSpPr txBox="1">
              <a:spLocks noChangeArrowheads="1"/>
            </p:cNvSpPr>
            <p:nvPr/>
          </p:nvSpPr>
          <p:spPr bwMode="auto">
            <a:xfrm>
              <a:off x="671" y="1707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2110" name="Text Box 14"/>
            <p:cNvSpPr txBox="1">
              <a:spLocks noChangeArrowheads="1"/>
            </p:cNvSpPr>
            <p:nvPr/>
          </p:nvSpPr>
          <p:spPr bwMode="auto">
            <a:xfrm>
              <a:off x="800" y="968"/>
              <a:ext cx="2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2111" name="Text Box 15"/>
            <p:cNvSpPr txBox="1">
              <a:spLocks noChangeArrowheads="1"/>
            </p:cNvSpPr>
            <p:nvPr/>
          </p:nvSpPr>
          <p:spPr bwMode="auto">
            <a:xfrm>
              <a:off x="923" y="450"/>
              <a:ext cx="26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grpSp>
          <p:nvGrpSpPr>
            <p:cNvPr id="132112" name="Group 16"/>
            <p:cNvGrpSpPr>
              <a:grpSpLocks/>
            </p:cNvGrpSpPr>
            <p:nvPr/>
          </p:nvGrpSpPr>
          <p:grpSpPr bwMode="auto">
            <a:xfrm>
              <a:off x="416" y="258"/>
              <a:ext cx="367" cy="383"/>
              <a:chOff x="2600" y="2050"/>
              <a:chExt cx="367" cy="383"/>
            </a:xfrm>
          </p:grpSpPr>
          <p:sp>
            <p:nvSpPr>
              <p:cNvPr id="132113" name="Text Box 17"/>
              <p:cNvSpPr txBox="1">
                <a:spLocks noChangeArrowheads="1"/>
              </p:cNvSpPr>
              <p:nvPr/>
            </p:nvSpPr>
            <p:spPr bwMode="auto">
              <a:xfrm>
                <a:off x="2724" y="212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32114" name="Oval 18"/>
              <p:cNvSpPr>
                <a:spLocks noChangeArrowheads="1"/>
              </p:cNvSpPr>
              <p:nvPr/>
            </p:nvSpPr>
            <p:spPr bwMode="auto">
              <a:xfrm>
                <a:off x="2600" y="2050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15" name="Group 19"/>
            <p:cNvGrpSpPr>
              <a:grpSpLocks/>
            </p:cNvGrpSpPr>
            <p:nvPr/>
          </p:nvGrpSpPr>
          <p:grpSpPr bwMode="auto">
            <a:xfrm>
              <a:off x="514" y="1255"/>
              <a:ext cx="368" cy="383"/>
              <a:chOff x="2698" y="3047"/>
              <a:chExt cx="368" cy="383"/>
            </a:xfrm>
          </p:grpSpPr>
          <p:sp>
            <p:nvSpPr>
              <p:cNvPr id="132116" name="Text Box 20"/>
              <p:cNvSpPr txBox="1">
                <a:spLocks noChangeArrowheads="1"/>
              </p:cNvSpPr>
              <p:nvPr/>
            </p:nvSpPr>
            <p:spPr bwMode="auto">
              <a:xfrm>
                <a:off x="2834" y="3115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32117" name="Oval 21"/>
              <p:cNvSpPr>
                <a:spLocks noChangeArrowheads="1"/>
              </p:cNvSpPr>
              <p:nvPr/>
            </p:nvSpPr>
            <p:spPr bwMode="auto">
              <a:xfrm>
                <a:off x="2698" y="3047"/>
                <a:ext cx="368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18" name="Group 22"/>
            <p:cNvGrpSpPr>
              <a:grpSpLocks/>
            </p:cNvGrpSpPr>
            <p:nvPr/>
          </p:nvGrpSpPr>
          <p:grpSpPr bwMode="auto">
            <a:xfrm>
              <a:off x="1125" y="776"/>
              <a:ext cx="367" cy="383"/>
              <a:chOff x="3309" y="2568"/>
              <a:chExt cx="367" cy="383"/>
            </a:xfrm>
          </p:grpSpPr>
          <p:sp>
            <p:nvSpPr>
              <p:cNvPr id="132119" name="Text Box 23"/>
              <p:cNvSpPr txBox="1">
                <a:spLocks noChangeArrowheads="1"/>
              </p:cNvSpPr>
              <p:nvPr/>
            </p:nvSpPr>
            <p:spPr bwMode="auto">
              <a:xfrm>
                <a:off x="3449" y="2651"/>
                <a:ext cx="147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32120" name="Oval 24"/>
              <p:cNvSpPr>
                <a:spLocks noChangeArrowheads="1"/>
              </p:cNvSpPr>
              <p:nvPr/>
            </p:nvSpPr>
            <p:spPr bwMode="auto">
              <a:xfrm>
                <a:off x="3309" y="2568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21" name="Group 25"/>
            <p:cNvGrpSpPr>
              <a:grpSpLocks/>
            </p:cNvGrpSpPr>
            <p:nvPr/>
          </p:nvGrpSpPr>
          <p:grpSpPr bwMode="auto">
            <a:xfrm>
              <a:off x="978" y="1789"/>
              <a:ext cx="367" cy="382"/>
              <a:chOff x="3162" y="3581"/>
              <a:chExt cx="367" cy="382"/>
            </a:xfrm>
          </p:grpSpPr>
          <p:sp>
            <p:nvSpPr>
              <p:cNvPr id="132122" name="Text Box 26"/>
              <p:cNvSpPr txBox="1">
                <a:spLocks noChangeArrowheads="1"/>
              </p:cNvSpPr>
              <p:nvPr/>
            </p:nvSpPr>
            <p:spPr bwMode="auto">
              <a:xfrm>
                <a:off x="3301" y="3654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32123" name="Oval 27"/>
              <p:cNvSpPr>
                <a:spLocks noChangeArrowheads="1"/>
              </p:cNvSpPr>
              <p:nvPr/>
            </p:nvSpPr>
            <p:spPr bwMode="auto">
              <a:xfrm>
                <a:off x="3162" y="3581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24" name="Group 28"/>
            <p:cNvGrpSpPr>
              <a:grpSpLocks/>
            </p:cNvGrpSpPr>
            <p:nvPr/>
          </p:nvGrpSpPr>
          <p:grpSpPr bwMode="auto">
            <a:xfrm>
              <a:off x="3086" y="283"/>
              <a:ext cx="367" cy="382"/>
              <a:chOff x="5270" y="2075"/>
              <a:chExt cx="367" cy="382"/>
            </a:xfrm>
          </p:grpSpPr>
          <p:sp>
            <p:nvSpPr>
              <p:cNvPr id="132125" name="Text Box 29"/>
              <p:cNvSpPr txBox="1">
                <a:spLocks noChangeArrowheads="1"/>
              </p:cNvSpPr>
              <p:nvPr/>
            </p:nvSpPr>
            <p:spPr bwMode="auto">
              <a:xfrm>
                <a:off x="5419" y="2160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32126" name="Oval 30"/>
              <p:cNvSpPr>
                <a:spLocks noChangeArrowheads="1"/>
              </p:cNvSpPr>
              <p:nvPr/>
            </p:nvSpPr>
            <p:spPr bwMode="auto">
              <a:xfrm>
                <a:off x="5270" y="2075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27" name="Group 31"/>
            <p:cNvGrpSpPr>
              <a:grpSpLocks/>
            </p:cNvGrpSpPr>
            <p:nvPr/>
          </p:nvGrpSpPr>
          <p:grpSpPr bwMode="auto">
            <a:xfrm>
              <a:off x="2533" y="777"/>
              <a:ext cx="366" cy="382"/>
              <a:chOff x="4717" y="2569"/>
              <a:chExt cx="366" cy="382"/>
            </a:xfrm>
          </p:grpSpPr>
          <p:sp>
            <p:nvSpPr>
              <p:cNvPr id="132128" name="Text Box 32"/>
              <p:cNvSpPr txBox="1">
                <a:spLocks noChangeArrowheads="1"/>
              </p:cNvSpPr>
              <p:nvPr/>
            </p:nvSpPr>
            <p:spPr bwMode="auto">
              <a:xfrm>
                <a:off x="4856" y="2649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32129" name="Oval 33"/>
              <p:cNvSpPr>
                <a:spLocks noChangeArrowheads="1"/>
              </p:cNvSpPr>
              <p:nvPr/>
            </p:nvSpPr>
            <p:spPr bwMode="auto">
              <a:xfrm>
                <a:off x="4717" y="2569"/>
                <a:ext cx="366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30" name="Group 34"/>
            <p:cNvGrpSpPr>
              <a:grpSpLocks/>
            </p:cNvGrpSpPr>
            <p:nvPr/>
          </p:nvGrpSpPr>
          <p:grpSpPr bwMode="auto">
            <a:xfrm>
              <a:off x="2247" y="1526"/>
              <a:ext cx="366" cy="383"/>
              <a:chOff x="4431" y="3318"/>
              <a:chExt cx="366" cy="383"/>
            </a:xfrm>
          </p:grpSpPr>
          <p:sp>
            <p:nvSpPr>
              <p:cNvPr id="132131" name="Text Box 35"/>
              <p:cNvSpPr txBox="1">
                <a:spLocks noChangeArrowheads="1"/>
              </p:cNvSpPr>
              <p:nvPr/>
            </p:nvSpPr>
            <p:spPr bwMode="auto">
              <a:xfrm>
                <a:off x="4570" y="3395"/>
                <a:ext cx="147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32132" name="Oval 36"/>
              <p:cNvSpPr>
                <a:spLocks noChangeArrowheads="1"/>
              </p:cNvSpPr>
              <p:nvPr/>
            </p:nvSpPr>
            <p:spPr bwMode="auto">
              <a:xfrm>
                <a:off x="4431" y="3318"/>
                <a:ext cx="366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33" name="Group 37"/>
            <p:cNvGrpSpPr>
              <a:grpSpLocks/>
            </p:cNvGrpSpPr>
            <p:nvPr/>
          </p:nvGrpSpPr>
          <p:grpSpPr bwMode="auto">
            <a:xfrm>
              <a:off x="3110" y="1534"/>
              <a:ext cx="368" cy="382"/>
              <a:chOff x="5294" y="3326"/>
              <a:chExt cx="368" cy="382"/>
            </a:xfrm>
          </p:grpSpPr>
          <p:sp>
            <p:nvSpPr>
              <p:cNvPr id="132134" name="Text Box 38"/>
              <p:cNvSpPr txBox="1">
                <a:spLocks noChangeArrowheads="1"/>
              </p:cNvSpPr>
              <p:nvPr/>
            </p:nvSpPr>
            <p:spPr bwMode="auto">
              <a:xfrm>
                <a:off x="5434" y="340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2135" name="Oval 39"/>
              <p:cNvSpPr>
                <a:spLocks noChangeArrowheads="1"/>
              </p:cNvSpPr>
              <p:nvPr/>
            </p:nvSpPr>
            <p:spPr bwMode="auto">
              <a:xfrm>
                <a:off x="5294" y="3326"/>
                <a:ext cx="368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2136" name="Line 40"/>
            <p:cNvSpPr>
              <a:spLocks noChangeShapeType="1"/>
            </p:cNvSpPr>
            <p:nvPr/>
          </p:nvSpPr>
          <p:spPr bwMode="auto">
            <a:xfrm>
              <a:off x="775" y="538"/>
              <a:ext cx="398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37" name="Line 41"/>
            <p:cNvSpPr>
              <a:spLocks noChangeShapeType="1"/>
            </p:cNvSpPr>
            <p:nvPr/>
          </p:nvSpPr>
          <p:spPr bwMode="auto">
            <a:xfrm flipH="1">
              <a:off x="840" y="1087"/>
              <a:ext cx="318" cy="2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38" name="Line 42"/>
            <p:cNvSpPr>
              <a:spLocks noChangeShapeType="1"/>
            </p:cNvSpPr>
            <p:nvPr/>
          </p:nvSpPr>
          <p:spPr bwMode="auto">
            <a:xfrm>
              <a:off x="816" y="1597"/>
              <a:ext cx="204" cy="2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39" name="Line 43"/>
            <p:cNvSpPr>
              <a:spLocks noChangeShapeType="1"/>
            </p:cNvSpPr>
            <p:nvPr/>
          </p:nvSpPr>
          <p:spPr bwMode="auto">
            <a:xfrm flipH="1">
              <a:off x="2848" y="594"/>
              <a:ext cx="287" cy="2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0" name="Line 44"/>
            <p:cNvSpPr>
              <a:spLocks noChangeShapeType="1"/>
            </p:cNvSpPr>
            <p:nvPr/>
          </p:nvSpPr>
          <p:spPr bwMode="auto">
            <a:xfrm>
              <a:off x="2843" y="1119"/>
              <a:ext cx="341" cy="4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1" name="Line 45"/>
            <p:cNvSpPr>
              <a:spLocks noChangeShapeType="1"/>
            </p:cNvSpPr>
            <p:nvPr/>
          </p:nvSpPr>
          <p:spPr bwMode="auto">
            <a:xfrm flipH="1">
              <a:off x="2458" y="1144"/>
              <a:ext cx="180" cy="39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2" name="Freeform 46"/>
            <p:cNvSpPr>
              <a:spLocks/>
            </p:cNvSpPr>
            <p:nvPr/>
          </p:nvSpPr>
          <p:spPr bwMode="auto">
            <a:xfrm>
              <a:off x="1468" y="384"/>
              <a:ext cx="1635" cy="481"/>
            </a:xfrm>
            <a:custGeom>
              <a:avLst/>
              <a:gdLst>
                <a:gd name="T0" fmla="*/ 0 w 3675"/>
                <a:gd name="T1" fmla="*/ 1130 h 1130"/>
                <a:gd name="T2" fmla="*/ 1770 w 3675"/>
                <a:gd name="T3" fmla="*/ 185 h 1130"/>
                <a:gd name="T4" fmla="*/ 3675 w 3675"/>
                <a:gd name="T5" fmla="*/ 20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75" h="1130">
                  <a:moveTo>
                    <a:pt x="0" y="1130"/>
                  </a:moveTo>
                  <a:cubicBezTo>
                    <a:pt x="295" y="975"/>
                    <a:pt x="1158" y="370"/>
                    <a:pt x="1770" y="185"/>
                  </a:cubicBezTo>
                  <a:cubicBezTo>
                    <a:pt x="2382" y="0"/>
                    <a:pt x="3278" y="54"/>
                    <a:pt x="3675" y="2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3" name="Line 47"/>
            <p:cNvSpPr>
              <a:spLocks noChangeShapeType="1"/>
            </p:cNvSpPr>
            <p:nvPr/>
          </p:nvSpPr>
          <p:spPr bwMode="auto">
            <a:xfrm flipH="1">
              <a:off x="1183" y="1166"/>
              <a:ext cx="130" cy="61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4" name="Line 48"/>
            <p:cNvSpPr>
              <a:spLocks noChangeShapeType="1"/>
            </p:cNvSpPr>
            <p:nvPr/>
          </p:nvSpPr>
          <p:spPr bwMode="auto">
            <a:xfrm>
              <a:off x="571" y="641"/>
              <a:ext cx="115" cy="62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5" name="Line 49"/>
            <p:cNvSpPr>
              <a:spLocks noChangeShapeType="1"/>
            </p:cNvSpPr>
            <p:nvPr/>
          </p:nvSpPr>
          <p:spPr bwMode="auto">
            <a:xfrm>
              <a:off x="3298" y="665"/>
              <a:ext cx="7" cy="84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6" name="AutoShape 50"/>
            <p:cNvSpPr>
              <a:spLocks noChangeArrowheads="1"/>
            </p:cNvSpPr>
            <p:nvPr/>
          </p:nvSpPr>
          <p:spPr bwMode="auto">
            <a:xfrm>
              <a:off x="1381" y="1534"/>
              <a:ext cx="731" cy="230"/>
            </a:xfrm>
            <a:prstGeom prst="wedgeRoundRectCallout">
              <a:avLst>
                <a:gd name="adj1" fmla="val -67375"/>
                <a:gd name="adj2" fmla="val -76088"/>
                <a:gd name="adj3" fmla="val 16667"/>
              </a:avLst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just"/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回路不画</a:t>
              </a:r>
            </a:p>
          </p:txBody>
        </p:sp>
        <p:sp>
          <p:nvSpPr>
            <p:cNvPr id="132147" name="Line 51"/>
            <p:cNvSpPr>
              <a:spLocks noChangeShapeType="1"/>
            </p:cNvSpPr>
            <p:nvPr/>
          </p:nvSpPr>
          <p:spPr bwMode="auto">
            <a:xfrm flipV="1">
              <a:off x="1370" y="1756"/>
              <a:ext cx="887" cy="2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2148" name="Group 52"/>
          <p:cNvGrpSpPr>
            <a:grpSpLocks/>
          </p:cNvGrpSpPr>
          <p:nvPr/>
        </p:nvGrpSpPr>
        <p:grpSpPr bwMode="auto">
          <a:xfrm>
            <a:off x="6678640" y="2636226"/>
            <a:ext cx="4823747" cy="3036887"/>
            <a:chOff x="2338" y="2259"/>
            <a:chExt cx="3062" cy="1913"/>
          </a:xfrm>
        </p:grpSpPr>
        <p:sp>
          <p:nvSpPr>
            <p:cNvPr id="132149" name="Text Box 53"/>
            <p:cNvSpPr txBox="1">
              <a:spLocks noChangeArrowheads="1"/>
            </p:cNvSpPr>
            <p:nvPr/>
          </p:nvSpPr>
          <p:spPr bwMode="auto">
            <a:xfrm>
              <a:off x="3810" y="2281"/>
              <a:ext cx="34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32150" name="Text Box 54"/>
            <p:cNvSpPr txBox="1">
              <a:spLocks noChangeArrowheads="1"/>
            </p:cNvSpPr>
            <p:nvPr/>
          </p:nvSpPr>
          <p:spPr bwMode="auto">
            <a:xfrm>
              <a:off x="4196" y="3137"/>
              <a:ext cx="398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32151" name="Text Box 55"/>
            <p:cNvSpPr txBox="1">
              <a:spLocks noChangeArrowheads="1"/>
            </p:cNvSpPr>
            <p:nvPr/>
          </p:nvSpPr>
          <p:spPr bwMode="auto">
            <a:xfrm>
              <a:off x="4687" y="3313"/>
              <a:ext cx="47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0.5</a:t>
              </a:r>
            </a:p>
          </p:txBody>
        </p:sp>
        <p:sp>
          <p:nvSpPr>
            <p:cNvPr id="132152" name="Text Box 56"/>
            <p:cNvSpPr txBox="1">
              <a:spLocks noChangeArrowheads="1"/>
            </p:cNvSpPr>
            <p:nvPr/>
          </p:nvSpPr>
          <p:spPr bwMode="auto">
            <a:xfrm>
              <a:off x="4677" y="2507"/>
              <a:ext cx="38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2153" name="Text Box 57"/>
            <p:cNvSpPr txBox="1">
              <a:spLocks noChangeArrowheads="1"/>
            </p:cNvSpPr>
            <p:nvPr/>
          </p:nvSpPr>
          <p:spPr bwMode="auto">
            <a:xfrm>
              <a:off x="2593" y="3708"/>
              <a:ext cx="446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2154" name="Text Box 58"/>
            <p:cNvSpPr txBox="1">
              <a:spLocks noChangeArrowheads="1"/>
            </p:cNvSpPr>
            <p:nvPr/>
          </p:nvSpPr>
          <p:spPr bwMode="auto">
            <a:xfrm>
              <a:off x="2722" y="2969"/>
              <a:ext cx="392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2155" name="Text Box 59"/>
            <p:cNvSpPr txBox="1">
              <a:spLocks noChangeArrowheads="1"/>
            </p:cNvSpPr>
            <p:nvPr/>
          </p:nvSpPr>
          <p:spPr bwMode="auto">
            <a:xfrm>
              <a:off x="2845" y="2451"/>
              <a:ext cx="47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grpSp>
          <p:nvGrpSpPr>
            <p:cNvPr id="132156" name="Group 60"/>
            <p:cNvGrpSpPr>
              <a:grpSpLocks/>
            </p:cNvGrpSpPr>
            <p:nvPr/>
          </p:nvGrpSpPr>
          <p:grpSpPr bwMode="auto">
            <a:xfrm>
              <a:off x="2338" y="2259"/>
              <a:ext cx="367" cy="383"/>
              <a:chOff x="2600" y="2050"/>
              <a:chExt cx="367" cy="383"/>
            </a:xfrm>
          </p:grpSpPr>
          <p:sp>
            <p:nvSpPr>
              <p:cNvPr id="132157" name="Text Box 61"/>
              <p:cNvSpPr txBox="1">
                <a:spLocks noChangeArrowheads="1"/>
              </p:cNvSpPr>
              <p:nvPr/>
            </p:nvSpPr>
            <p:spPr bwMode="auto">
              <a:xfrm>
                <a:off x="2724" y="212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32158" name="Oval 62"/>
              <p:cNvSpPr>
                <a:spLocks noChangeArrowheads="1"/>
              </p:cNvSpPr>
              <p:nvPr/>
            </p:nvSpPr>
            <p:spPr bwMode="auto">
              <a:xfrm>
                <a:off x="2600" y="2050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59" name="Group 63"/>
            <p:cNvGrpSpPr>
              <a:grpSpLocks/>
            </p:cNvGrpSpPr>
            <p:nvPr/>
          </p:nvGrpSpPr>
          <p:grpSpPr bwMode="auto">
            <a:xfrm>
              <a:off x="2436" y="3256"/>
              <a:ext cx="368" cy="383"/>
              <a:chOff x="2698" y="3047"/>
              <a:chExt cx="368" cy="383"/>
            </a:xfrm>
          </p:grpSpPr>
          <p:sp>
            <p:nvSpPr>
              <p:cNvPr id="132160" name="Text Box 64"/>
              <p:cNvSpPr txBox="1">
                <a:spLocks noChangeArrowheads="1"/>
              </p:cNvSpPr>
              <p:nvPr/>
            </p:nvSpPr>
            <p:spPr bwMode="auto">
              <a:xfrm>
                <a:off x="2834" y="3115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32161" name="Oval 65"/>
              <p:cNvSpPr>
                <a:spLocks noChangeArrowheads="1"/>
              </p:cNvSpPr>
              <p:nvPr/>
            </p:nvSpPr>
            <p:spPr bwMode="auto">
              <a:xfrm>
                <a:off x="2698" y="3047"/>
                <a:ext cx="368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62" name="Group 66"/>
            <p:cNvGrpSpPr>
              <a:grpSpLocks/>
            </p:cNvGrpSpPr>
            <p:nvPr/>
          </p:nvGrpSpPr>
          <p:grpSpPr bwMode="auto">
            <a:xfrm>
              <a:off x="3047" y="2777"/>
              <a:ext cx="367" cy="383"/>
              <a:chOff x="3309" y="2568"/>
              <a:chExt cx="367" cy="383"/>
            </a:xfrm>
          </p:grpSpPr>
          <p:sp>
            <p:nvSpPr>
              <p:cNvPr id="132163" name="Text Box 67"/>
              <p:cNvSpPr txBox="1">
                <a:spLocks noChangeArrowheads="1"/>
              </p:cNvSpPr>
              <p:nvPr/>
            </p:nvSpPr>
            <p:spPr bwMode="auto">
              <a:xfrm>
                <a:off x="3449" y="2651"/>
                <a:ext cx="147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32164" name="Oval 68"/>
              <p:cNvSpPr>
                <a:spLocks noChangeArrowheads="1"/>
              </p:cNvSpPr>
              <p:nvPr/>
            </p:nvSpPr>
            <p:spPr bwMode="auto">
              <a:xfrm>
                <a:off x="3309" y="2568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65" name="Group 69"/>
            <p:cNvGrpSpPr>
              <a:grpSpLocks/>
            </p:cNvGrpSpPr>
            <p:nvPr/>
          </p:nvGrpSpPr>
          <p:grpSpPr bwMode="auto">
            <a:xfrm>
              <a:off x="2900" y="3790"/>
              <a:ext cx="367" cy="382"/>
              <a:chOff x="3162" y="3581"/>
              <a:chExt cx="367" cy="382"/>
            </a:xfrm>
          </p:grpSpPr>
          <p:sp>
            <p:nvSpPr>
              <p:cNvPr id="132166" name="Text Box 70"/>
              <p:cNvSpPr txBox="1">
                <a:spLocks noChangeArrowheads="1"/>
              </p:cNvSpPr>
              <p:nvPr/>
            </p:nvSpPr>
            <p:spPr bwMode="auto">
              <a:xfrm>
                <a:off x="3301" y="3654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32167" name="Oval 71"/>
              <p:cNvSpPr>
                <a:spLocks noChangeArrowheads="1"/>
              </p:cNvSpPr>
              <p:nvPr/>
            </p:nvSpPr>
            <p:spPr bwMode="auto">
              <a:xfrm>
                <a:off x="3162" y="3581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68" name="Group 72"/>
            <p:cNvGrpSpPr>
              <a:grpSpLocks/>
            </p:cNvGrpSpPr>
            <p:nvPr/>
          </p:nvGrpSpPr>
          <p:grpSpPr bwMode="auto">
            <a:xfrm>
              <a:off x="5008" y="2284"/>
              <a:ext cx="367" cy="382"/>
              <a:chOff x="5270" y="2075"/>
              <a:chExt cx="367" cy="382"/>
            </a:xfrm>
          </p:grpSpPr>
          <p:sp>
            <p:nvSpPr>
              <p:cNvPr id="132169" name="Text Box 73"/>
              <p:cNvSpPr txBox="1">
                <a:spLocks noChangeArrowheads="1"/>
              </p:cNvSpPr>
              <p:nvPr/>
            </p:nvSpPr>
            <p:spPr bwMode="auto">
              <a:xfrm>
                <a:off x="5419" y="2160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32170" name="Oval 74"/>
              <p:cNvSpPr>
                <a:spLocks noChangeArrowheads="1"/>
              </p:cNvSpPr>
              <p:nvPr/>
            </p:nvSpPr>
            <p:spPr bwMode="auto">
              <a:xfrm>
                <a:off x="5270" y="2075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71" name="Group 75"/>
            <p:cNvGrpSpPr>
              <a:grpSpLocks/>
            </p:cNvGrpSpPr>
            <p:nvPr/>
          </p:nvGrpSpPr>
          <p:grpSpPr bwMode="auto">
            <a:xfrm>
              <a:off x="4455" y="2778"/>
              <a:ext cx="366" cy="382"/>
              <a:chOff x="4717" y="2569"/>
              <a:chExt cx="366" cy="382"/>
            </a:xfrm>
          </p:grpSpPr>
          <p:sp>
            <p:nvSpPr>
              <p:cNvPr id="132172" name="Text Box 76"/>
              <p:cNvSpPr txBox="1">
                <a:spLocks noChangeArrowheads="1"/>
              </p:cNvSpPr>
              <p:nvPr/>
            </p:nvSpPr>
            <p:spPr bwMode="auto">
              <a:xfrm>
                <a:off x="4856" y="2649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32173" name="Oval 77"/>
              <p:cNvSpPr>
                <a:spLocks noChangeArrowheads="1"/>
              </p:cNvSpPr>
              <p:nvPr/>
            </p:nvSpPr>
            <p:spPr bwMode="auto">
              <a:xfrm>
                <a:off x="4717" y="2569"/>
                <a:ext cx="366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74" name="Group 78"/>
            <p:cNvGrpSpPr>
              <a:grpSpLocks/>
            </p:cNvGrpSpPr>
            <p:nvPr/>
          </p:nvGrpSpPr>
          <p:grpSpPr bwMode="auto">
            <a:xfrm>
              <a:off x="4169" y="3527"/>
              <a:ext cx="366" cy="383"/>
              <a:chOff x="4431" y="3318"/>
              <a:chExt cx="366" cy="383"/>
            </a:xfrm>
          </p:grpSpPr>
          <p:sp>
            <p:nvSpPr>
              <p:cNvPr id="132175" name="Text Box 79"/>
              <p:cNvSpPr txBox="1">
                <a:spLocks noChangeArrowheads="1"/>
              </p:cNvSpPr>
              <p:nvPr/>
            </p:nvSpPr>
            <p:spPr bwMode="auto">
              <a:xfrm>
                <a:off x="4570" y="3395"/>
                <a:ext cx="147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32176" name="Oval 80"/>
              <p:cNvSpPr>
                <a:spLocks noChangeArrowheads="1"/>
              </p:cNvSpPr>
              <p:nvPr/>
            </p:nvSpPr>
            <p:spPr bwMode="auto">
              <a:xfrm>
                <a:off x="4431" y="3318"/>
                <a:ext cx="366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77" name="Group 81"/>
            <p:cNvGrpSpPr>
              <a:grpSpLocks/>
            </p:cNvGrpSpPr>
            <p:nvPr/>
          </p:nvGrpSpPr>
          <p:grpSpPr bwMode="auto">
            <a:xfrm>
              <a:off x="5032" y="3535"/>
              <a:ext cx="368" cy="382"/>
              <a:chOff x="5294" y="3326"/>
              <a:chExt cx="368" cy="382"/>
            </a:xfrm>
          </p:grpSpPr>
          <p:sp>
            <p:nvSpPr>
              <p:cNvPr id="132178" name="Text Box 82"/>
              <p:cNvSpPr txBox="1">
                <a:spLocks noChangeArrowheads="1"/>
              </p:cNvSpPr>
              <p:nvPr/>
            </p:nvSpPr>
            <p:spPr bwMode="auto">
              <a:xfrm>
                <a:off x="5434" y="340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2179" name="Oval 83"/>
              <p:cNvSpPr>
                <a:spLocks noChangeArrowheads="1"/>
              </p:cNvSpPr>
              <p:nvPr/>
            </p:nvSpPr>
            <p:spPr bwMode="auto">
              <a:xfrm>
                <a:off x="5294" y="3326"/>
                <a:ext cx="368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2180" name="Line 84"/>
            <p:cNvSpPr>
              <a:spLocks noChangeShapeType="1"/>
            </p:cNvSpPr>
            <p:nvPr/>
          </p:nvSpPr>
          <p:spPr bwMode="auto">
            <a:xfrm>
              <a:off x="2697" y="2539"/>
              <a:ext cx="398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1" name="Line 85"/>
            <p:cNvSpPr>
              <a:spLocks noChangeShapeType="1"/>
            </p:cNvSpPr>
            <p:nvPr/>
          </p:nvSpPr>
          <p:spPr bwMode="auto">
            <a:xfrm flipH="1">
              <a:off x="2762" y="3088"/>
              <a:ext cx="318" cy="2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2" name="Line 86"/>
            <p:cNvSpPr>
              <a:spLocks noChangeShapeType="1"/>
            </p:cNvSpPr>
            <p:nvPr/>
          </p:nvSpPr>
          <p:spPr bwMode="auto">
            <a:xfrm>
              <a:off x="2738" y="3598"/>
              <a:ext cx="204" cy="2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3" name="Line 87"/>
            <p:cNvSpPr>
              <a:spLocks noChangeShapeType="1"/>
            </p:cNvSpPr>
            <p:nvPr/>
          </p:nvSpPr>
          <p:spPr bwMode="auto">
            <a:xfrm flipH="1">
              <a:off x="4770" y="2595"/>
              <a:ext cx="287" cy="2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4" name="Line 88"/>
            <p:cNvSpPr>
              <a:spLocks noChangeShapeType="1"/>
            </p:cNvSpPr>
            <p:nvPr/>
          </p:nvSpPr>
          <p:spPr bwMode="auto">
            <a:xfrm>
              <a:off x="4765" y="3120"/>
              <a:ext cx="341" cy="4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5" name="Line 89"/>
            <p:cNvSpPr>
              <a:spLocks noChangeShapeType="1"/>
            </p:cNvSpPr>
            <p:nvPr/>
          </p:nvSpPr>
          <p:spPr bwMode="auto">
            <a:xfrm flipH="1">
              <a:off x="4380" y="3145"/>
              <a:ext cx="180" cy="39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6" name="Freeform 90"/>
            <p:cNvSpPr>
              <a:spLocks/>
            </p:cNvSpPr>
            <p:nvPr/>
          </p:nvSpPr>
          <p:spPr bwMode="auto">
            <a:xfrm>
              <a:off x="3390" y="2385"/>
              <a:ext cx="1635" cy="481"/>
            </a:xfrm>
            <a:custGeom>
              <a:avLst/>
              <a:gdLst>
                <a:gd name="T0" fmla="*/ 0 w 3675"/>
                <a:gd name="T1" fmla="*/ 1130 h 1130"/>
                <a:gd name="T2" fmla="*/ 1770 w 3675"/>
                <a:gd name="T3" fmla="*/ 185 h 1130"/>
                <a:gd name="T4" fmla="*/ 3675 w 3675"/>
                <a:gd name="T5" fmla="*/ 20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75" h="1130">
                  <a:moveTo>
                    <a:pt x="0" y="1130"/>
                  </a:moveTo>
                  <a:cubicBezTo>
                    <a:pt x="295" y="975"/>
                    <a:pt x="1158" y="370"/>
                    <a:pt x="1770" y="185"/>
                  </a:cubicBezTo>
                  <a:cubicBezTo>
                    <a:pt x="2382" y="0"/>
                    <a:pt x="3278" y="54"/>
                    <a:pt x="3675" y="2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7CD6F6-4540-6612-1D3E-2982504207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600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最大生成树法举例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2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aphicFrame>
        <p:nvGraphicFramePr>
          <p:cNvPr id="133124" name="Object 4"/>
          <p:cNvGraphicFramePr>
            <a:graphicFrameLocks noChangeAspect="1"/>
          </p:cNvGraphicFramePr>
          <p:nvPr/>
        </p:nvGraphicFramePr>
        <p:xfrm>
          <a:off x="839417" y="1714972"/>
          <a:ext cx="9115130" cy="1494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962655" imgH="527546" progId="Word.Document.8">
                  <p:embed/>
                </p:oleObj>
              </mc:Choice>
              <mc:Fallback>
                <p:oleObj name="文档" r:id="rId2" imgW="2962655" imgH="527546" progId="Word.Document.8">
                  <p:embed/>
                  <p:pic>
                    <p:nvPicPr>
                      <p:cNvPr id="133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7" y="1714972"/>
                        <a:ext cx="9115130" cy="1494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125" name="Group 5"/>
          <p:cNvGrpSpPr>
            <a:grpSpLocks/>
          </p:cNvGrpSpPr>
          <p:nvPr/>
        </p:nvGrpSpPr>
        <p:grpSpPr bwMode="auto">
          <a:xfrm>
            <a:off x="3071814" y="3284539"/>
            <a:ext cx="5419725" cy="2808287"/>
            <a:chOff x="1410" y="1711"/>
            <a:chExt cx="3046" cy="1913"/>
          </a:xfrm>
        </p:grpSpPr>
        <p:sp>
          <p:nvSpPr>
            <p:cNvPr id="133126" name="Text Box 6"/>
            <p:cNvSpPr txBox="1">
              <a:spLocks noChangeArrowheads="1"/>
            </p:cNvSpPr>
            <p:nvPr/>
          </p:nvSpPr>
          <p:spPr bwMode="auto">
            <a:xfrm>
              <a:off x="2866" y="1733"/>
              <a:ext cx="34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33127" name="Text Box 7"/>
            <p:cNvSpPr txBox="1">
              <a:spLocks noChangeArrowheads="1"/>
            </p:cNvSpPr>
            <p:nvPr/>
          </p:nvSpPr>
          <p:spPr bwMode="auto">
            <a:xfrm>
              <a:off x="3252" y="2589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33128" name="Text Box 8"/>
            <p:cNvSpPr txBox="1">
              <a:spLocks noChangeArrowheads="1"/>
            </p:cNvSpPr>
            <p:nvPr/>
          </p:nvSpPr>
          <p:spPr bwMode="auto">
            <a:xfrm>
              <a:off x="3743" y="2765"/>
              <a:ext cx="26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0.5</a:t>
              </a:r>
            </a:p>
          </p:txBody>
        </p:sp>
        <p:sp>
          <p:nvSpPr>
            <p:cNvPr id="133129" name="Text Box 9"/>
            <p:cNvSpPr txBox="1">
              <a:spLocks noChangeArrowheads="1"/>
            </p:cNvSpPr>
            <p:nvPr/>
          </p:nvSpPr>
          <p:spPr bwMode="auto">
            <a:xfrm>
              <a:off x="3733" y="1959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3130" name="Text Box 10"/>
            <p:cNvSpPr txBox="1">
              <a:spLocks noChangeArrowheads="1"/>
            </p:cNvSpPr>
            <p:nvPr/>
          </p:nvSpPr>
          <p:spPr bwMode="auto">
            <a:xfrm>
              <a:off x="1649" y="3160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3131" name="Text Box 11"/>
            <p:cNvSpPr txBox="1">
              <a:spLocks noChangeArrowheads="1"/>
            </p:cNvSpPr>
            <p:nvPr/>
          </p:nvSpPr>
          <p:spPr bwMode="auto">
            <a:xfrm>
              <a:off x="1778" y="2421"/>
              <a:ext cx="2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33132" name="Text Box 12"/>
            <p:cNvSpPr txBox="1">
              <a:spLocks noChangeArrowheads="1"/>
            </p:cNvSpPr>
            <p:nvPr/>
          </p:nvSpPr>
          <p:spPr bwMode="auto">
            <a:xfrm>
              <a:off x="1901" y="1903"/>
              <a:ext cx="26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grpSp>
          <p:nvGrpSpPr>
            <p:cNvPr id="133133" name="Group 13"/>
            <p:cNvGrpSpPr>
              <a:grpSpLocks/>
            </p:cNvGrpSpPr>
            <p:nvPr/>
          </p:nvGrpSpPr>
          <p:grpSpPr bwMode="auto">
            <a:xfrm>
              <a:off x="1410" y="1711"/>
              <a:ext cx="367" cy="383"/>
              <a:chOff x="2600" y="2050"/>
              <a:chExt cx="367" cy="383"/>
            </a:xfrm>
          </p:grpSpPr>
          <p:sp>
            <p:nvSpPr>
              <p:cNvPr id="133134" name="Text Box 14"/>
              <p:cNvSpPr txBox="1">
                <a:spLocks noChangeArrowheads="1"/>
              </p:cNvSpPr>
              <p:nvPr/>
            </p:nvSpPr>
            <p:spPr bwMode="auto">
              <a:xfrm>
                <a:off x="2724" y="212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33135" name="Oval 15"/>
              <p:cNvSpPr>
                <a:spLocks noChangeArrowheads="1"/>
              </p:cNvSpPr>
              <p:nvPr/>
            </p:nvSpPr>
            <p:spPr bwMode="auto">
              <a:xfrm>
                <a:off x="2600" y="2050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36" name="Group 16"/>
            <p:cNvGrpSpPr>
              <a:grpSpLocks/>
            </p:cNvGrpSpPr>
            <p:nvPr/>
          </p:nvGrpSpPr>
          <p:grpSpPr bwMode="auto">
            <a:xfrm>
              <a:off x="1492" y="2708"/>
              <a:ext cx="368" cy="383"/>
              <a:chOff x="2698" y="3047"/>
              <a:chExt cx="368" cy="383"/>
            </a:xfrm>
          </p:grpSpPr>
          <p:sp>
            <p:nvSpPr>
              <p:cNvPr id="133137" name="Text Box 17"/>
              <p:cNvSpPr txBox="1">
                <a:spLocks noChangeArrowheads="1"/>
              </p:cNvSpPr>
              <p:nvPr/>
            </p:nvSpPr>
            <p:spPr bwMode="auto">
              <a:xfrm>
                <a:off x="2834" y="3115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33138" name="Oval 18"/>
              <p:cNvSpPr>
                <a:spLocks noChangeArrowheads="1"/>
              </p:cNvSpPr>
              <p:nvPr/>
            </p:nvSpPr>
            <p:spPr bwMode="auto">
              <a:xfrm>
                <a:off x="2698" y="3047"/>
                <a:ext cx="368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39" name="Group 19"/>
            <p:cNvGrpSpPr>
              <a:grpSpLocks/>
            </p:cNvGrpSpPr>
            <p:nvPr/>
          </p:nvGrpSpPr>
          <p:grpSpPr bwMode="auto">
            <a:xfrm>
              <a:off x="2103" y="2237"/>
              <a:ext cx="367" cy="383"/>
              <a:chOff x="3309" y="2568"/>
              <a:chExt cx="367" cy="383"/>
            </a:xfrm>
          </p:grpSpPr>
          <p:sp>
            <p:nvSpPr>
              <p:cNvPr id="133140" name="Text Box 20"/>
              <p:cNvSpPr txBox="1">
                <a:spLocks noChangeArrowheads="1"/>
              </p:cNvSpPr>
              <p:nvPr/>
            </p:nvSpPr>
            <p:spPr bwMode="auto">
              <a:xfrm>
                <a:off x="3449" y="2651"/>
                <a:ext cx="147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33141" name="Oval 21"/>
              <p:cNvSpPr>
                <a:spLocks noChangeArrowheads="1"/>
              </p:cNvSpPr>
              <p:nvPr/>
            </p:nvSpPr>
            <p:spPr bwMode="auto">
              <a:xfrm>
                <a:off x="3309" y="2568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42" name="Group 22"/>
            <p:cNvGrpSpPr>
              <a:grpSpLocks/>
            </p:cNvGrpSpPr>
            <p:nvPr/>
          </p:nvGrpSpPr>
          <p:grpSpPr bwMode="auto">
            <a:xfrm>
              <a:off x="1956" y="3242"/>
              <a:ext cx="367" cy="382"/>
              <a:chOff x="3162" y="3581"/>
              <a:chExt cx="367" cy="382"/>
            </a:xfrm>
          </p:grpSpPr>
          <p:sp>
            <p:nvSpPr>
              <p:cNvPr id="133143" name="Text Box 23"/>
              <p:cNvSpPr txBox="1">
                <a:spLocks noChangeArrowheads="1"/>
              </p:cNvSpPr>
              <p:nvPr/>
            </p:nvSpPr>
            <p:spPr bwMode="auto">
              <a:xfrm>
                <a:off x="3301" y="3654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33144" name="Oval 24"/>
              <p:cNvSpPr>
                <a:spLocks noChangeArrowheads="1"/>
              </p:cNvSpPr>
              <p:nvPr/>
            </p:nvSpPr>
            <p:spPr bwMode="auto">
              <a:xfrm>
                <a:off x="3162" y="3581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45" name="Group 25"/>
            <p:cNvGrpSpPr>
              <a:grpSpLocks/>
            </p:cNvGrpSpPr>
            <p:nvPr/>
          </p:nvGrpSpPr>
          <p:grpSpPr bwMode="auto">
            <a:xfrm>
              <a:off x="4064" y="1728"/>
              <a:ext cx="367" cy="382"/>
              <a:chOff x="5270" y="2075"/>
              <a:chExt cx="367" cy="382"/>
            </a:xfrm>
          </p:grpSpPr>
          <p:sp>
            <p:nvSpPr>
              <p:cNvPr id="133146" name="Text Box 26"/>
              <p:cNvSpPr txBox="1">
                <a:spLocks noChangeArrowheads="1"/>
              </p:cNvSpPr>
              <p:nvPr/>
            </p:nvSpPr>
            <p:spPr bwMode="auto">
              <a:xfrm>
                <a:off x="5419" y="2160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33147" name="Oval 27"/>
              <p:cNvSpPr>
                <a:spLocks noChangeArrowheads="1"/>
              </p:cNvSpPr>
              <p:nvPr/>
            </p:nvSpPr>
            <p:spPr bwMode="auto">
              <a:xfrm>
                <a:off x="5270" y="2075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48" name="Group 28"/>
            <p:cNvGrpSpPr>
              <a:grpSpLocks/>
            </p:cNvGrpSpPr>
            <p:nvPr/>
          </p:nvGrpSpPr>
          <p:grpSpPr bwMode="auto">
            <a:xfrm>
              <a:off x="3519" y="2238"/>
              <a:ext cx="366" cy="382"/>
              <a:chOff x="4717" y="2569"/>
              <a:chExt cx="366" cy="382"/>
            </a:xfrm>
          </p:grpSpPr>
          <p:sp>
            <p:nvSpPr>
              <p:cNvPr id="133149" name="Text Box 29"/>
              <p:cNvSpPr txBox="1">
                <a:spLocks noChangeArrowheads="1"/>
              </p:cNvSpPr>
              <p:nvPr/>
            </p:nvSpPr>
            <p:spPr bwMode="auto">
              <a:xfrm>
                <a:off x="4856" y="2649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33150" name="Oval 30"/>
              <p:cNvSpPr>
                <a:spLocks noChangeArrowheads="1"/>
              </p:cNvSpPr>
              <p:nvPr/>
            </p:nvSpPr>
            <p:spPr bwMode="auto">
              <a:xfrm>
                <a:off x="4717" y="2569"/>
                <a:ext cx="366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51" name="Group 31"/>
            <p:cNvGrpSpPr>
              <a:grpSpLocks/>
            </p:cNvGrpSpPr>
            <p:nvPr/>
          </p:nvGrpSpPr>
          <p:grpSpPr bwMode="auto">
            <a:xfrm>
              <a:off x="3225" y="2979"/>
              <a:ext cx="366" cy="383"/>
              <a:chOff x="4431" y="3318"/>
              <a:chExt cx="366" cy="383"/>
            </a:xfrm>
          </p:grpSpPr>
          <p:sp>
            <p:nvSpPr>
              <p:cNvPr id="133152" name="Text Box 32"/>
              <p:cNvSpPr txBox="1">
                <a:spLocks noChangeArrowheads="1"/>
              </p:cNvSpPr>
              <p:nvPr/>
            </p:nvSpPr>
            <p:spPr bwMode="auto">
              <a:xfrm>
                <a:off x="4570" y="3395"/>
                <a:ext cx="147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33153" name="Oval 33"/>
              <p:cNvSpPr>
                <a:spLocks noChangeArrowheads="1"/>
              </p:cNvSpPr>
              <p:nvPr/>
            </p:nvSpPr>
            <p:spPr bwMode="auto">
              <a:xfrm>
                <a:off x="4431" y="3318"/>
                <a:ext cx="366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54" name="Group 34"/>
            <p:cNvGrpSpPr>
              <a:grpSpLocks/>
            </p:cNvGrpSpPr>
            <p:nvPr/>
          </p:nvGrpSpPr>
          <p:grpSpPr bwMode="auto">
            <a:xfrm>
              <a:off x="4088" y="2987"/>
              <a:ext cx="368" cy="382"/>
              <a:chOff x="5294" y="3326"/>
              <a:chExt cx="368" cy="382"/>
            </a:xfrm>
          </p:grpSpPr>
          <p:sp>
            <p:nvSpPr>
              <p:cNvPr id="133155" name="Text Box 35"/>
              <p:cNvSpPr txBox="1">
                <a:spLocks noChangeArrowheads="1"/>
              </p:cNvSpPr>
              <p:nvPr/>
            </p:nvSpPr>
            <p:spPr bwMode="auto">
              <a:xfrm>
                <a:off x="5434" y="340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3156" name="Oval 36"/>
              <p:cNvSpPr>
                <a:spLocks noChangeArrowheads="1"/>
              </p:cNvSpPr>
              <p:nvPr/>
            </p:nvSpPr>
            <p:spPr bwMode="auto">
              <a:xfrm>
                <a:off x="5294" y="3326"/>
                <a:ext cx="368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157" name="Line 37"/>
            <p:cNvSpPr>
              <a:spLocks noChangeShapeType="1"/>
            </p:cNvSpPr>
            <p:nvPr/>
          </p:nvSpPr>
          <p:spPr bwMode="auto">
            <a:xfrm>
              <a:off x="1753" y="1991"/>
              <a:ext cx="398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8" name="Line 38"/>
            <p:cNvSpPr>
              <a:spLocks noChangeShapeType="1"/>
            </p:cNvSpPr>
            <p:nvPr/>
          </p:nvSpPr>
          <p:spPr bwMode="auto">
            <a:xfrm flipH="1">
              <a:off x="1818" y="2540"/>
              <a:ext cx="318" cy="2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9" name="Line 39"/>
            <p:cNvSpPr>
              <a:spLocks noChangeShapeType="1"/>
            </p:cNvSpPr>
            <p:nvPr/>
          </p:nvSpPr>
          <p:spPr bwMode="auto">
            <a:xfrm>
              <a:off x="1794" y="3050"/>
              <a:ext cx="204" cy="2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0" name="Line 40"/>
            <p:cNvSpPr>
              <a:spLocks noChangeShapeType="1"/>
            </p:cNvSpPr>
            <p:nvPr/>
          </p:nvSpPr>
          <p:spPr bwMode="auto">
            <a:xfrm flipH="1">
              <a:off x="3826" y="2047"/>
              <a:ext cx="287" cy="2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1" name="Line 41"/>
            <p:cNvSpPr>
              <a:spLocks noChangeShapeType="1"/>
            </p:cNvSpPr>
            <p:nvPr/>
          </p:nvSpPr>
          <p:spPr bwMode="auto">
            <a:xfrm>
              <a:off x="3821" y="2572"/>
              <a:ext cx="341" cy="4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2" name="Line 42"/>
            <p:cNvSpPr>
              <a:spLocks noChangeShapeType="1"/>
            </p:cNvSpPr>
            <p:nvPr/>
          </p:nvSpPr>
          <p:spPr bwMode="auto">
            <a:xfrm flipH="1">
              <a:off x="3436" y="2597"/>
              <a:ext cx="180" cy="39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3" name="Freeform 43"/>
            <p:cNvSpPr>
              <a:spLocks/>
            </p:cNvSpPr>
            <p:nvPr/>
          </p:nvSpPr>
          <p:spPr bwMode="auto">
            <a:xfrm>
              <a:off x="2438" y="1845"/>
              <a:ext cx="1635" cy="481"/>
            </a:xfrm>
            <a:custGeom>
              <a:avLst/>
              <a:gdLst>
                <a:gd name="T0" fmla="*/ 0 w 3675"/>
                <a:gd name="T1" fmla="*/ 1130 h 1130"/>
                <a:gd name="T2" fmla="*/ 1770 w 3675"/>
                <a:gd name="T3" fmla="*/ 185 h 1130"/>
                <a:gd name="T4" fmla="*/ 3675 w 3675"/>
                <a:gd name="T5" fmla="*/ 20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75" h="1130">
                  <a:moveTo>
                    <a:pt x="0" y="1130"/>
                  </a:moveTo>
                  <a:cubicBezTo>
                    <a:pt x="295" y="975"/>
                    <a:pt x="1158" y="370"/>
                    <a:pt x="1770" y="185"/>
                  </a:cubicBezTo>
                  <a:cubicBezTo>
                    <a:pt x="2382" y="0"/>
                    <a:pt x="3278" y="54"/>
                    <a:pt x="3675" y="2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33164" name="Object 44"/>
          <p:cNvGraphicFramePr>
            <a:graphicFrameLocks noChangeAspect="1"/>
          </p:cNvGraphicFramePr>
          <p:nvPr/>
        </p:nvGraphicFramePr>
        <p:xfrm>
          <a:off x="1919289" y="6213476"/>
          <a:ext cx="757713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959666" imgH="328113" progId="Word.Document.8">
                  <p:embed/>
                </p:oleObj>
              </mc:Choice>
              <mc:Fallback>
                <p:oleObj name="Document" r:id="rId4" imgW="3959666" imgH="328113" progId="Word.Document.8">
                  <p:embed/>
                  <p:pic>
                    <p:nvPicPr>
                      <p:cNvPr id="13316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6213476"/>
                        <a:ext cx="757713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Line 49"/>
          <p:cNvSpPr>
            <a:spLocks noChangeShapeType="1"/>
          </p:cNvSpPr>
          <p:nvPr/>
        </p:nvSpPr>
        <p:spPr bwMode="auto">
          <a:xfrm>
            <a:off x="5585955" y="3704916"/>
            <a:ext cx="392571" cy="15588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9"/>
          <p:cNvSpPr>
            <a:spLocks noChangeShapeType="1"/>
          </p:cNvSpPr>
          <p:nvPr/>
        </p:nvSpPr>
        <p:spPr bwMode="auto">
          <a:xfrm>
            <a:off x="6668935" y="4601994"/>
            <a:ext cx="392571" cy="15588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 flipH="1">
            <a:off x="7678457" y="4792378"/>
            <a:ext cx="202785" cy="3391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C78AC7-C172-44E8-29BA-76696F516D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82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60648"/>
            <a:ext cx="109728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最大生成树法举例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2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aphicFrame>
        <p:nvGraphicFramePr>
          <p:cNvPr id="181252" name="Object 4"/>
          <p:cNvGraphicFramePr>
            <a:graphicFrameLocks noChangeAspect="1"/>
          </p:cNvGraphicFramePr>
          <p:nvPr/>
        </p:nvGraphicFramePr>
        <p:xfrm>
          <a:off x="1590676" y="1721760"/>
          <a:ext cx="6337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195232" imgH="296160" progId="Word.Document.8">
                  <p:embed/>
                </p:oleObj>
              </mc:Choice>
              <mc:Fallback>
                <p:oleObj name="文档" r:id="rId2" imgW="3195232" imgH="296160" progId="Word.Document.8">
                  <p:embed/>
                  <p:pic>
                    <p:nvPicPr>
                      <p:cNvPr id="1812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6" y="1721760"/>
                        <a:ext cx="63373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1253" name="Group 5"/>
          <p:cNvGrpSpPr>
            <a:grpSpLocks/>
          </p:cNvGrpSpPr>
          <p:nvPr/>
        </p:nvGrpSpPr>
        <p:grpSpPr bwMode="auto">
          <a:xfrm>
            <a:off x="2135189" y="2301878"/>
            <a:ext cx="5229225" cy="2493962"/>
            <a:chOff x="1410" y="1711"/>
            <a:chExt cx="3046" cy="1913"/>
          </a:xfrm>
        </p:grpSpPr>
        <p:sp>
          <p:nvSpPr>
            <p:cNvPr id="181254" name="Text Box 6"/>
            <p:cNvSpPr txBox="1">
              <a:spLocks noChangeArrowheads="1"/>
            </p:cNvSpPr>
            <p:nvPr/>
          </p:nvSpPr>
          <p:spPr bwMode="auto">
            <a:xfrm>
              <a:off x="2866" y="1733"/>
              <a:ext cx="349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81255" name="Text Box 7"/>
            <p:cNvSpPr txBox="1">
              <a:spLocks noChangeArrowheads="1"/>
            </p:cNvSpPr>
            <p:nvPr/>
          </p:nvSpPr>
          <p:spPr bwMode="auto">
            <a:xfrm>
              <a:off x="3252" y="2589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181256" name="Text Box 8"/>
            <p:cNvSpPr txBox="1">
              <a:spLocks noChangeArrowheads="1"/>
            </p:cNvSpPr>
            <p:nvPr/>
          </p:nvSpPr>
          <p:spPr bwMode="auto">
            <a:xfrm>
              <a:off x="3743" y="2765"/>
              <a:ext cx="26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0.5</a:t>
              </a:r>
            </a:p>
          </p:txBody>
        </p:sp>
        <p:sp>
          <p:nvSpPr>
            <p:cNvPr id="181257" name="Text Box 9"/>
            <p:cNvSpPr txBox="1">
              <a:spLocks noChangeArrowheads="1"/>
            </p:cNvSpPr>
            <p:nvPr/>
          </p:nvSpPr>
          <p:spPr bwMode="auto">
            <a:xfrm>
              <a:off x="3733" y="1959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81258" name="Text Box 10"/>
            <p:cNvSpPr txBox="1">
              <a:spLocks noChangeArrowheads="1"/>
            </p:cNvSpPr>
            <p:nvPr/>
          </p:nvSpPr>
          <p:spPr bwMode="auto">
            <a:xfrm>
              <a:off x="1649" y="3160"/>
              <a:ext cx="26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81259" name="Text Box 11"/>
            <p:cNvSpPr txBox="1">
              <a:spLocks noChangeArrowheads="1"/>
            </p:cNvSpPr>
            <p:nvPr/>
          </p:nvSpPr>
          <p:spPr bwMode="auto">
            <a:xfrm>
              <a:off x="1778" y="2421"/>
              <a:ext cx="260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sp>
          <p:nvSpPr>
            <p:cNvPr id="181260" name="Text Box 12"/>
            <p:cNvSpPr txBox="1">
              <a:spLocks noChangeArrowheads="1"/>
            </p:cNvSpPr>
            <p:nvPr/>
          </p:nvSpPr>
          <p:spPr bwMode="auto">
            <a:xfrm>
              <a:off x="1901" y="1903"/>
              <a:ext cx="261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0.8</a:t>
              </a:r>
            </a:p>
          </p:txBody>
        </p:sp>
        <p:grpSp>
          <p:nvGrpSpPr>
            <p:cNvPr id="181261" name="Group 13"/>
            <p:cNvGrpSpPr>
              <a:grpSpLocks/>
            </p:cNvGrpSpPr>
            <p:nvPr/>
          </p:nvGrpSpPr>
          <p:grpSpPr bwMode="auto">
            <a:xfrm>
              <a:off x="1410" y="1711"/>
              <a:ext cx="367" cy="383"/>
              <a:chOff x="2600" y="2050"/>
              <a:chExt cx="367" cy="383"/>
            </a:xfrm>
          </p:grpSpPr>
          <p:sp>
            <p:nvSpPr>
              <p:cNvPr id="181262" name="Text Box 14"/>
              <p:cNvSpPr txBox="1">
                <a:spLocks noChangeArrowheads="1"/>
              </p:cNvSpPr>
              <p:nvPr/>
            </p:nvSpPr>
            <p:spPr bwMode="auto">
              <a:xfrm>
                <a:off x="2724" y="212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81263" name="Oval 15"/>
              <p:cNvSpPr>
                <a:spLocks noChangeArrowheads="1"/>
              </p:cNvSpPr>
              <p:nvPr/>
            </p:nvSpPr>
            <p:spPr bwMode="auto">
              <a:xfrm>
                <a:off x="2600" y="2050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1264" name="Group 16"/>
            <p:cNvGrpSpPr>
              <a:grpSpLocks/>
            </p:cNvGrpSpPr>
            <p:nvPr/>
          </p:nvGrpSpPr>
          <p:grpSpPr bwMode="auto">
            <a:xfrm>
              <a:off x="1492" y="2708"/>
              <a:ext cx="368" cy="383"/>
              <a:chOff x="2698" y="3047"/>
              <a:chExt cx="368" cy="383"/>
            </a:xfrm>
          </p:grpSpPr>
          <p:sp>
            <p:nvSpPr>
              <p:cNvPr id="181265" name="Text Box 17"/>
              <p:cNvSpPr txBox="1">
                <a:spLocks noChangeArrowheads="1"/>
              </p:cNvSpPr>
              <p:nvPr/>
            </p:nvSpPr>
            <p:spPr bwMode="auto">
              <a:xfrm>
                <a:off x="2834" y="3115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81266" name="Oval 18"/>
              <p:cNvSpPr>
                <a:spLocks noChangeArrowheads="1"/>
              </p:cNvSpPr>
              <p:nvPr/>
            </p:nvSpPr>
            <p:spPr bwMode="auto">
              <a:xfrm>
                <a:off x="2698" y="3047"/>
                <a:ext cx="368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1267" name="Group 19"/>
            <p:cNvGrpSpPr>
              <a:grpSpLocks/>
            </p:cNvGrpSpPr>
            <p:nvPr/>
          </p:nvGrpSpPr>
          <p:grpSpPr bwMode="auto">
            <a:xfrm>
              <a:off x="2103" y="2237"/>
              <a:ext cx="367" cy="383"/>
              <a:chOff x="3309" y="2568"/>
              <a:chExt cx="367" cy="383"/>
            </a:xfrm>
          </p:grpSpPr>
          <p:sp>
            <p:nvSpPr>
              <p:cNvPr id="181268" name="Text Box 20"/>
              <p:cNvSpPr txBox="1">
                <a:spLocks noChangeArrowheads="1"/>
              </p:cNvSpPr>
              <p:nvPr/>
            </p:nvSpPr>
            <p:spPr bwMode="auto">
              <a:xfrm>
                <a:off x="3449" y="2651"/>
                <a:ext cx="147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81269" name="Oval 21"/>
              <p:cNvSpPr>
                <a:spLocks noChangeArrowheads="1"/>
              </p:cNvSpPr>
              <p:nvPr/>
            </p:nvSpPr>
            <p:spPr bwMode="auto">
              <a:xfrm>
                <a:off x="3309" y="2568"/>
                <a:ext cx="367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1270" name="Group 22"/>
            <p:cNvGrpSpPr>
              <a:grpSpLocks/>
            </p:cNvGrpSpPr>
            <p:nvPr/>
          </p:nvGrpSpPr>
          <p:grpSpPr bwMode="auto">
            <a:xfrm>
              <a:off x="1956" y="3242"/>
              <a:ext cx="367" cy="382"/>
              <a:chOff x="3162" y="3581"/>
              <a:chExt cx="367" cy="382"/>
            </a:xfrm>
          </p:grpSpPr>
          <p:sp>
            <p:nvSpPr>
              <p:cNvPr id="181271" name="Text Box 23"/>
              <p:cNvSpPr txBox="1">
                <a:spLocks noChangeArrowheads="1"/>
              </p:cNvSpPr>
              <p:nvPr/>
            </p:nvSpPr>
            <p:spPr bwMode="auto">
              <a:xfrm>
                <a:off x="3301" y="3654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181272" name="Oval 24"/>
              <p:cNvSpPr>
                <a:spLocks noChangeArrowheads="1"/>
              </p:cNvSpPr>
              <p:nvPr/>
            </p:nvSpPr>
            <p:spPr bwMode="auto">
              <a:xfrm>
                <a:off x="3162" y="3581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1273" name="Group 25"/>
            <p:cNvGrpSpPr>
              <a:grpSpLocks/>
            </p:cNvGrpSpPr>
            <p:nvPr/>
          </p:nvGrpSpPr>
          <p:grpSpPr bwMode="auto">
            <a:xfrm>
              <a:off x="4064" y="1728"/>
              <a:ext cx="367" cy="382"/>
              <a:chOff x="5270" y="2075"/>
              <a:chExt cx="367" cy="382"/>
            </a:xfrm>
          </p:grpSpPr>
          <p:sp>
            <p:nvSpPr>
              <p:cNvPr id="181274" name="Text Box 26"/>
              <p:cNvSpPr txBox="1">
                <a:spLocks noChangeArrowheads="1"/>
              </p:cNvSpPr>
              <p:nvPr/>
            </p:nvSpPr>
            <p:spPr bwMode="auto">
              <a:xfrm>
                <a:off x="5419" y="2160"/>
                <a:ext cx="146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81275" name="Oval 27"/>
              <p:cNvSpPr>
                <a:spLocks noChangeArrowheads="1"/>
              </p:cNvSpPr>
              <p:nvPr/>
            </p:nvSpPr>
            <p:spPr bwMode="auto">
              <a:xfrm>
                <a:off x="5270" y="2075"/>
                <a:ext cx="367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1276" name="Group 28"/>
            <p:cNvGrpSpPr>
              <a:grpSpLocks/>
            </p:cNvGrpSpPr>
            <p:nvPr/>
          </p:nvGrpSpPr>
          <p:grpSpPr bwMode="auto">
            <a:xfrm>
              <a:off x="3519" y="2238"/>
              <a:ext cx="366" cy="382"/>
              <a:chOff x="4717" y="2569"/>
              <a:chExt cx="366" cy="382"/>
            </a:xfrm>
          </p:grpSpPr>
          <p:sp>
            <p:nvSpPr>
              <p:cNvPr id="181277" name="Text Box 29"/>
              <p:cNvSpPr txBox="1">
                <a:spLocks noChangeArrowheads="1"/>
              </p:cNvSpPr>
              <p:nvPr/>
            </p:nvSpPr>
            <p:spPr bwMode="auto">
              <a:xfrm>
                <a:off x="4856" y="2649"/>
                <a:ext cx="14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81278" name="Oval 30"/>
              <p:cNvSpPr>
                <a:spLocks noChangeArrowheads="1"/>
              </p:cNvSpPr>
              <p:nvPr/>
            </p:nvSpPr>
            <p:spPr bwMode="auto">
              <a:xfrm>
                <a:off x="4717" y="2569"/>
                <a:ext cx="366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1279" name="Group 31"/>
            <p:cNvGrpSpPr>
              <a:grpSpLocks/>
            </p:cNvGrpSpPr>
            <p:nvPr/>
          </p:nvGrpSpPr>
          <p:grpSpPr bwMode="auto">
            <a:xfrm>
              <a:off x="3225" y="2979"/>
              <a:ext cx="366" cy="383"/>
              <a:chOff x="4431" y="3318"/>
              <a:chExt cx="366" cy="383"/>
            </a:xfrm>
          </p:grpSpPr>
          <p:sp>
            <p:nvSpPr>
              <p:cNvPr id="181280" name="Text Box 32"/>
              <p:cNvSpPr txBox="1">
                <a:spLocks noChangeArrowheads="1"/>
              </p:cNvSpPr>
              <p:nvPr/>
            </p:nvSpPr>
            <p:spPr bwMode="auto">
              <a:xfrm>
                <a:off x="4570" y="3395"/>
                <a:ext cx="147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81281" name="Oval 33"/>
              <p:cNvSpPr>
                <a:spLocks noChangeArrowheads="1"/>
              </p:cNvSpPr>
              <p:nvPr/>
            </p:nvSpPr>
            <p:spPr bwMode="auto">
              <a:xfrm>
                <a:off x="4431" y="3318"/>
                <a:ext cx="366" cy="38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1282" name="Group 34"/>
            <p:cNvGrpSpPr>
              <a:grpSpLocks/>
            </p:cNvGrpSpPr>
            <p:nvPr/>
          </p:nvGrpSpPr>
          <p:grpSpPr bwMode="auto">
            <a:xfrm>
              <a:off x="4088" y="2987"/>
              <a:ext cx="368" cy="382"/>
              <a:chOff x="5294" y="3326"/>
              <a:chExt cx="368" cy="382"/>
            </a:xfrm>
          </p:grpSpPr>
          <p:sp>
            <p:nvSpPr>
              <p:cNvPr id="181283" name="Text Box 35"/>
              <p:cNvSpPr txBox="1">
                <a:spLocks noChangeArrowheads="1"/>
              </p:cNvSpPr>
              <p:nvPr/>
            </p:nvSpPr>
            <p:spPr bwMode="auto">
              <a:xfrm>
                <a:off x="5434" y="3401"/>
                <a:ext cx="147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81284" name="Oval 36"/>
              <p:cNvSpPr>
                <a:spLocks noChangeArrowheads="1"/>
              </p:cNvSpPr>
              <p:nvPr/>
            </p:nvSpPr>
            <p:spPr bwMode="auto">
              <a:xfrm>
                <a:off x="5294" y="3326"/>
                <a:ext cx="368" cy="382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1285" name="Line 37"/>
            <p:cNvSpPr>
              <a:spLocks noChangeShapeType="1"/>
            </p:cNvSpPr>
            <p:nvPr/>
          </p:nvSpPr>
          <p:spPr bwMode="auto">
            <a:xfrm>
              <a:off x="1753" y="1991"/>
              <a:ext cx="398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86" name="Line 38"/>
            <p:cNvSpPr>
              <a:spLocks noChangeShapeType="1"/>
            </p:cNvSpPr>
            <p:nvPr/>
          </p:nvSpPr>
          <p:spPr bwMode="auto">
            <a:xfrm flipH="1">
              <a:off x="1818" y="2540"/>
              <a:ext cx="318" cy="2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87" name="Line 39"/>
            <p:cNvSpPr>
              <a:spLocks noChangeShapeType="1"/>
            </p:cNvSpPr>
            <p:nvPr/>
          </p:nvSpPr>
          <p:spPr bwMode="auto">
            <a:xfrm>
              <a:off x="1794" y="3050"/>
              <a:ext cx="204" cy="25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88" name="Line 40"/>
            <p:cNvSpPr>
              <a:spLocks noChangeShapeType="1"/>
            </p:cNvSpPr>
            <p:nvPr/>
          </p:nvSpPr>
          <p:spPr bwMode="auto">
            <a:xfrm flipH="1">
              <a:off x="3826" y="2047"/>
              <a:ext cx="287" cy="2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89" name="Line 41"/>
            <p:cNvSpPr>
              <a:spLocks noChangeShapeType="1"/>
            </p:cNvSpPr>
            <p:nvPr/>
          </p:nvSpPr>
          <p:spPr bwMode="auto">
            <a:xfrm>
              <a:off x="3821" y="2572"/>
              <a:ext cx="341" cy="4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90" name="Line 42"/>
            <p:cNvSpPr>
              <a:spLocks noChangeShapeType="1"/>
            </p:cNvSpPr>
            <p:nvPr/>
          </p:nvSpPr>
          <p:spPr bwMode="auto">
            <a:xfrm flipH="1">
              <a:off x="3436" y="2597"/>
              <a:ext cx="180" cy="39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91" name="Freeform 43"/>
            <p:cNvSpPr>
              <a:spLocks/>
            </p:cNvSpPr>
            <p:nvPr/>
          </p:nvSpPr>
          <p:spPr bwMode="auto">
            <a:xfrm>
              <a:off x="2438" y="1845"/>
              <a:ext cx="1635" cy="481"/>
            </a:xfrm>
            <a:custGeom>
              <a:avLst/>
              <a:gdLst>
                <a:gd name="T0" fmla="*/ 0 w 3675"/>
                <a:gd name="T1" fmla="*/ 1130 h 1130"/>
                <a:gd name="T2" fmla="*/ 1770 w 3675"/>
                <a:gd name="T3" fmla="*/ 185 h 1130"/>
                <a:gd name="T4" fmla="*/ 3675 w 3675"/>
                <a:gd name="T5" fmla="*/ 20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75" h="1130">
                  <a:moveTo>
                    <a:pt x="0" y="1130"/>
                  </a:moveTo>
                  <a:cubicBezTo>
                    <a:pt x="295" y="975"/>
                    <a:pt x="1158" y="370"/>
                    <a:pt x="1770" y="185"/>
                  </a:cubicBezTo>
                  <a:cubicBezTo>
                    <a:pt x="2382" y="0"/>
                    <a:pt x="3278" y="54"/>
                    <a:pt x="3675" y="2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1292" name="Object 44"/>
          <p:cNvGraphicFramePr>
            <a:graphicFrameLocks noChangeAspect="1"/>
          </p:cNvGraphicFramePr>
          <p:nvPr/>
        </p:nvGraphicFramePr>
        <p:xfrm>
          <a:off x="8622853" y="2492376"/>
          <a:ext cx="2225675" cy="249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1043716" imgH="1243655" progId="Word.Document.8">
                  <p:embed/>
                </p:oleObj>
              </mc:Choice>
              <mc:Fallback>
                <p:oleObj name="文档" r:id="rId4" imgW="1043716" imgH="1243655" progId="Word.Document.8">
                  <p:embed/>
                  <p:pic>
                    <p:nvPicPr>
                      <p:cNvPr id="18129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2853" y="2492376"/>
                        <a:ext cx="2225675" cy="249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3" name="Object 45"/>
          <p:cNvGraphicFramePr>
            <a:graphicFrameLocks noChangeAspect="1"/>
          </p:cNvGraphicFramePr>
          <p:nvPr/>
        </p:nvGraphicFramePr>
        <p:xfrm>
          <a:off x="1919289" y="4941888"/>
          <a:ext cx="60086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2968416" imgH="297959" progId="Word.Document.8">
                  <p:embed/>
                </p:oleObj>
              </mc:Choice>
              <mc:Fallback>
                <p:oleObj name="文档" r:id="rId6" imgW="2968416" imgH="297959" progId="Word.Document.8">
                  <p:embed/>
                  <p:pic>
                    <p:nvPicPr>
                      <p:cNvPr id="18129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4941888"/>
                        <a:ext cx="60086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4" name="Object 46"/>
          <p:cNvGraphicFramePr>
            <a:graphicFrameLocks noChangeAspect="1"/>
          </p:cNvGraphicFramePr>
          <p:nvPr/>
        </p:nvGraphicFramePr>
        <p:xfrm>
          <a:off x="1919288" y="5373688"/>
          <a:ext cx="7950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4063255" imgH="302637" progId="Word.Document.8">
                  <p:embed/>
                </p:oleObj>
              </mc:Choice>
              <mc:Fallback>
                <p:oleObj name="文档" r:id="rId8" imgW="4063255" imgH="302637" progId="Word.Document.8">
                  <p:embed/>
                  <p:pic>
                    <p:nvPicPr>
                      <p:cNvPr id="18129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5373688"/>
                        <a:ext cx="7950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5" name="Object 47"/>
          <p:cNvGraphicFramePr>
            <a:graphicFrameLocks noChangeAspect="1"/>
          </p:cNvGraphicFramePr>
          <p:nvPr/>
        </p:nvGraphicFramePr>
        <p:xfrm>
          <a:off x="1919288" y="5805489"/>
          <a:ext cx="80772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3899443" imgH="315592" progId="Word.Document.8">
                  <p:embed/>
                </p:oleObj>
              </mc:Choice>
              <mc:Fallback>
                <p:oleObj name="文档" r:id="rId10" imgW="3899443" imgH="315592" progId="Word.Document.8">
                  <p:embed/>
                  <p:pic>
                    <p:nvPicPr>
                      <p:cNvPr id="181295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5805489"/>
                        <a:ext cx="80772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96" name="Rectangle 48"/>
          <p:cNvSpPr>
            <a:spLocks noChangeArrowheads="1"/>
          </p:cNvSpPr>
          <p:nvPr/>
        </p:nvSpPr>
        <p:spPr bwMode="auto">
          <a:xfrm>
            <a:off x="2063750" y="6397477"/>
            <a:ext cx="7897011" cy="463846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注意：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最大生成树不唯一，但取截集后，所得子树相同。</a:t>
            </a:r>
          </a:p>
        </p:txBody>
      </p:sp>
      <p:sp>
        <p:nvSpPr>
          <p:cNvPr id="181297" name="Line 49"/>
          <p:cNvSpPr>
            <a:spLocks noChangeShapeType="1"/>
          </p:cNvSpPr>
          <p:nvPr/>
        </p:nvSpPr>
        <p:spPr bwMode="auto">
          <a:xfrm flipV="1">
            <a:off x="5591175" y="3572967"/>
            <a:ext cx="387350" cy="85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98" name="Line 50"/>
          <p:cNvSpPr>
            <a:spLocks noChangeShapeType="1"/>
          </p:cNvSpPr>
          <p:nvPr/>
        </p:nvSpPr>
        <p:spPr bwMode="auto">
          <a:xfrm>
            <a:off x="5016500" y="2492896"/>
            <a:ext cx="287338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DE46C6-887A-CC4A-BE21-9FD0256F5E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751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812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812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812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812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96" grpId="0" animBg="1"/>
      <p:bldP spid="181297" grpId="0" animBg="1"/>
      <p:bldP spid="181297" grpId="1" animBg="1"/>
      <p:bldP spid="181298" grpId="0" animBg="1"/>
      <p:bldP spid="18129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sz="4800" dirty="0">
                <a:solidFill>
                  <a:srgbClr val="057939"/>
                </a:solidFill>
                <a:ea typeface="黑体" pitchFamily="2" charset="-122"/>
              </a:rPr>
              <a:t>基于目标函数的聚类方法</a:t>
            </a:r>
            <a:endParaRPr lang="zh-CN" altLang="en-US" dirty="0">
              <a:solidFill>
                <a:srgbClr val="057939"/>
              </a:solidFill>
              <a:ea typeface="黑体" pitchFamily="2" charset="-122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691982"/>
            <a:ext cx="9649072" cy="46164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黑体" pitchFamily="2" charset="-122"/>
              </a:rPr>
              <a:t>此类算法把聚类问题描述为一个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带约束的优化问题</a:t>
            </a:r>
            <a:r>
              <a:rPr lang="zh-CN" altLang="en-US" dirty="0">
                <a:ea typeface="黑体" pitchFamily="2" charset="-122"/>
              </a:rPr>
              <a:t>，通过优化问题的解来确定数据集的划分和聚类结果。</a:t>
            </a:r>
            <a:endParaRPr lang="en-US" altLang="zh-CN" dirty="0">
              <a:ea typeface="黑体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</a:rPr>
              <a:t>算法特点：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模型简单、易于应用且聚类性能良好；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可以利用</a:t>
            </a:r>
            <a:r>
              <a:rPr lang="zh-CN" altLang="en-US" b="1" u="sng" dirty="0">
                <a:solidFill>
                  <a:srgbClr val="CC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经典的优化理论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作为其理论支持；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容易编程实现。</a:t>
            </a:r>
          </a:p>
          <a:p>
            <a:pPr marL="0" indent="0" eaLnBrk="1" hangingPunct="1">
              <a:buNone/>
            </a:pPr>
            <a:endParaRPr lang="en-US" altLang="zh-CN" dirty="0"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C45396-063D-B4D2-7364-47BE88FA45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302" y="6264275"/>
            <a:ext cx="517848" cy="457200"/>
          </a:xfrm>
        </p:spPr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均值聚类算法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(HCM)</a:t>
            </a:r>
            <a:endParaRPr lang="zh-CN" altLang="en-US" dirty="0">
              <a:solidFill>
                <a:srgbClr val="057939"/>
              </a:solidFill>
              <a:ea typeface="黑体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5289" y="1412875"/>
            <a:ext cx="5964539" cy="51117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EE0006"/>
                </a:solidFill>
                <a:ea typeface="黑体" pitchFamily="2" charset="-122"/>
              </a:rPr>
              <a:t>指导思想</a:t>
            </a:r>
            <a:r>
              <a:rPr lang="en-US" altLang="zh-CN" dirty="0">
                <a:solidFill>
                  <a:srgbClr val="EE0006"/>
                </a:solidFill>
                <a:ea typeface="黑体" pitchFamily="2" charset="-122"/>
              </a:rPr>
              <a:t>——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b="1" dirty="0">
                <a:ea typeface="华文楷体" pitchFamily="2" charset="-122"/>
              </a:rPr>
              <a:t>假定</a:t>
            </a:r>
            <a:r>
              <a:rPr lang="zh-CN" altLang="en-US" b="1" u="sng" dirty="0">
                <a:ea typeface="华文楷体" pitchFamily="2" charset="-122"/>
              </a:rPr>
              <a:t>样本集</a:t>
            </a:r>
            <a:r>
              <a:rPr lang="zh-CN" altLang="en-US" b="1" dirty="0">
                <a:ea typeface="华文楷体" pitchFamily="2" charset="-122"/>
              </a:rPr>
              <a:t>中的全体样本可聚为</a:t>
            </a:r>
            <a:r>
              <a:rPr lang="en-US" altLang="zh-CN" b="1" dirty="0">
                <a:ea typeface="华文楷体" pitchFamily="2" charset="-122"/>
              </a:rPr>
              <a:t>C</a:t>
            </a:r>
            <a:r>
              <a:rPr lang="zh-CN" altLang="en-US" b="1" dirty="0">
                <a:ea typeface="华文楷体" pitchFamily="2" charset="-122"/>
              </a:rPr>
              <a:t>类，</a:t>
            </a:r>
            <a:endParaRPr lang="en-US" altLang="zh-CN" b="1" dirty="0">
              <a:ea typeface="华文楷体" pitchFamily="2" charset="-122"/>
            </a:endParaRP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b="1" dirty="0">
                <a:ea typeface="华文楷体" pitchFamily="2" charset="-122"/>
              </a:rPr>
              <a:t>并选定</a:t>
            </a:r>
            <a:r>
              <a:rPr lang="en-US" altLang="zh-CN" b="1" dirty="0">
                <a:ea typeface="华文楷体" pitchFamily="2" charset="-122"/>
              </a:rPr>
              <a:t>C</a:t>
            </a:r>
            <a:r>
              <a:rPr lang="zh-CN" altLang="en-US" b="1" dirty="0">
                <a:ea typeface="华文楷体" pitchFamily="2" charset="-122"/>
              </a:rPr>
              <a:t>个初始聚类中心，</a:t>
            </a:r>
            <a:endParaRPr lang="en-US" altLang="zh-CN" b="1" dirty="0">
              <a:ea typeface="华文楷体" pitchFamily="2" charset="-122"/>
            </a:endParaRP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b="1" dirty="0">
                <a:ea typeface="华文楷体" pitchFamily="2" charset="-122"/>
              </a:rPr>
              <a:t>接着，根据</a:t>
            </a:r>
            <a:r>
              <a:rPr lang="zh-CN" altLang="en-US" b="1" u="sng" dirty="0">
                <a:solidFill>
                  <a:srgbClr val="0000FF"/>
                </a:solidFill>
                <a:ea typeface="华文楷体" pitchFamily="2" charset="-122"/>
              </a:rPr>
              <a:t>最小距离原则</a:t>
            </a:r>
            <a:r>
              <a:rPr lang="zh-CN" altLang="en-US" b="1" dirty="0">
                <a:ea typeface="华文楷体" pitchFamily="2" charset="-122"/>
              </a:rPr>
              <a:t>将每个样本分配到某一类中，</a:t>
            </a:r>
            <a:endParaRPr lang="en-US" altLang="zh-CN" b="1" dirty="0">
              <a:ea typeface="华文楷体" pitchFamily="2" charset="-122"/>
            </a:endParaRP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b="1" dirty="0">
                <a:ea typeface="华文楷体" pitchFamily="2" charset="-122"/>
              </a:rPr>
              <a:t>然后不断迭代计算各类的聚类中心并依新的聚类中心调整聚类情况，直到迭代收敛。</a:t>
            </a:r>
          </a:p>
        </p:txBody>
      </p:sp>
      <p:grpSp>
        <p:nvGrpSpPr>
          <p:cNvPr id="23556" name="组合 19"/>
          <p:cNvGrpSpPr>
            <a:grpSpLocks/>
          </p:cNvGrpSpPr>
          <p:nvPr/>
        </p:nvGrpSpPr>
        <p:grpSpPr bwMode="auto">
          <a:xfrm>
            <a:off x="7609011" y="1700214"/>
            <a:ext cx="3311525" cy="4465637"/>
            <a:chOff x="5076353" y="1484784"/>
            <a:chExt cx="3312071" cy="4465687"/>
          </a:xfrm>
        </p:grpSpPr>
        <p:sp>
          <p:nvSpPr>
            <p:cNvPr id="23557" name="Rectangle 4"/>
            <p:cNvSpPr>
              <a:spLocks noChangeArrowheads="1"/>
            </p:cNvSpPr>
            <p:nvPr/>
          </p:nvSpPr>
          <p:spPr bwMode="auto">
            <a:xfrm>
              <a:off x="6318247" y="2925192"/>
              <a:ext cx="1800225" cy="431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初始化聚类中心</a:t>
              </a:r>
            </a:p>
          </p:txBody>
        </p:sp>
        <p:sp>
          <p:nvSpPr>
            <p:cNvPr id="23558" name="Rectangle 6"/>
            <p:cNvSpPr>
              <a:spLocks noChangeArrowheads="1"/>
            </p:cNvSpPr>
            <p:nvPr/>
          </p:nvSpPr>
          <p:spPr bwMode="auto">
            <a:xfrm>
              <a:off x="6822278" y="3634160"/>
              <a:ext cx="792162" cy="431800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聚类</a:t>
              </a:r>
            </a:p>
          </p:txBody>
        </p:sp>
        <p:sp>
          <p:nvSpPr>
            <p:cNvPr id="23559" name="Line 7"/>
            <p:cNvSpPr>
              <a:spLocks noChangeShapeType="1"/>
            </p:cNvSpPr>
            <p:nvPr/>
          </p:nvSpPr>
          <p:spPr bwMode="auto">
            <a:xfrm>
              <a:off x="5759449" y="4714602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0" name="AutoShape 8"/>
            <p:cNvSpPr>
              <a:spLocks noChangeArrowheads="1"/>
            </p:cNvSpPr>
            <p:nvPr/>
          </p:nvSpPr>
          <p:spPr bwMode="auto">
            <a:xfrm>
              <a:off x="6220617" y="4354240"/>
              <a:ext cx="2016125" cy="720725"/>
            </a:xfrm>
            <a:prstGeom prst="flowChartDecision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聚类合理</a:t>
              </a:r>
              <a:r>
                <a:rPr lang="en-US" altLang="zh-CN" b="1">
                  <a:ea typeface="楷体_GB2312" pitchFamily="49" charset="-122"/>
                </a:rPr>
                <a:t>?</a:t>
              </a:r>
            </a:p>
          </p:txBody>
        </p:sp>
        <p:sp>
          <p:nvSpPr>
            <p:cNvPr id="23561" name="AutoShape 10"/>
            <p:cNvSpPr>
              <a:spLocks noChangeArrowheads="1"/>
            </p:cNvSpPr>
            <p:nvPr/>
          </p:nvSpPr>
          <p:spPr bwMode="auto">
            <a:xfrm>
              <a:off x="6711153" y="5518671"/>
              <a:ext cx="1079500" cy="431800"/>
            </a:xfrm>
            <a:prstGeom prst="flowChartTerminator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结束</a:t>
              </a:r>
            </a:p>
          </p:txBody>
        </p:sp>
        <p:sp>
          <p:nvSpPr>
            <p:cNvPr id="23562" name="Text Box 11"/>
            <p:cNvSpPr txBox="1">
              <a:spLocks noChangeArrowheads="1"/>
            </p:cNvSpPr>
            <p:nvPr/>
          </p:nvSpPr>
          <p:spPr bwMode="auto">
            <a:xfrm>
              <a:off x="7427913" y="5074965"/>
              <a:ext cx="71913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合理</a:t>
              </a:r>
            </a:p>
          </p:txBody>
        </p:sp>
        <p:sp>
          <p:nvSpPr>
            <p:cNvPr id="23563" name="Line 12"/>
            <p:cNvSpPr>
              <a:spLocks noChangeShapeType="1"/>
            </p:cNvSpPr>
            <p:nvPr/>
          </p:nvSpPr>
          <p:spPr bwMode="auto">
            <a:xfrm>
              <a:off x="7241380" y="5086871"/>
              <a:ext cx="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4" name="Rectangle 13"/>
            <p:cNvSpPr>
              <a:spLocks noChangeArrowheads="1"/>
            </p:cNvSpPr>
            <p:nvPr/>
          </p:nvSpPr>
          <p:spPr bwMode="auto">
            <a:xfrm>
              <a:off x="5076353" y="3789040"/>
              <a:ext cx="1439863" cy="431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修改聚类中心</a:t>
              </a:r>
            </a:p>
          </p:txBody>
        </p:sp>
        <p:sp>
          <p:nvSpPr>
            <p:cNvPr id="23565" name="Line 15"/>
            <p:cNvSpPr>
              <a:spLocks noChangeShapeType="1"/>
            </p:cNvSpPr>
            <p:nvPr/>
          </p:nvSpPr>
          <p:spPr bwMode="auto">
            <a:xfrm flipH="1" flipV="1">
              <a:off x="5759448" y="3464620"/>
              <a:ext cx="0" cy="324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6" name="Text Box 16"/>
            <p:cNvSpPr txBox="1">
              <a:spLocks noChangeArrowheads="1"/>
            </p:cNvSpPr>
            <p:nvPr/>
          </p:nvSpPr>
          <p:spPr bwMode="auto">
            <a:xfrm>
              <a:off x="5814216" y="4791125"/>
              <a:ext cx="100806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不合理</a:t>
              </a:r>
            </a:p>
          </p:txBody>
        </p:sp>
        <p:sp>
          <p:nvSpPr>
            <p:cNvPr id="23567" name="Line 17"/>
            <p:cNvSpPr>
              <a:spLocks noChangeShapeType="1"/>
            </p:cNvSpPr>
            <p:nvPr/>
          </p:nvSpPr>
          <p:spPr bwMode="auto">
            <a:xfrm>
              <a:off x="5759449" y="3464620"/>
              <a:ext cx="1439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AutoShape 10"/>
            <p:cNvSpPr>
              <a:spLocks noChangeArrowheads="1"/>
            </p:cNvSpPr>
            <p:nvPr/>
          </p:nvSpPr>
          <p:spPr bwMode="auto">
            <a:xfrm>
              <a:off x="6696868" y="1484784"/>
              <a:ext cx="1079500" cy="431800"/>
            </a:xfrm>
            <a:prstGeom prst="flowChartTerminator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开始</a:t>
              </a:r>
            </a:p>
          </p:txBody>
        </p:sp>
        <p:sp>
          <p:nvSpPr>
            <p:cNvPr id="23569" name="Line 12"/>
            <p:cNvSpPr>
              <a:spLocks noChangeShapeType="1"/>
            </p:cNvSpPr>
            <p:nvPr/>
          </p:nvSpPr>
          <p:spPr bwMode="auto">
            <a:xfrm>
              <a:off x="7228680" y="1916584"/>
              <a:ext cx="0" cy="288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流程图: 数据 33"/>
            <p:cNvSpPr/>
            <p:nvPr/>
          </p:nvSpPr>
          <p:spPr>
            <a:xfrm>
              <a:off x="6084582" y="2205517"/>
              <a:ext cx="2303842" cy="431805"/>
            </a:xfrm>
            <a:prstGeom prst="flowChartInputOutput">
              <a:avLst/>
            </a:prstGeom>
            <a:solidFill>
              <a:srgbClr val="66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待聚类样本</a:t>
              </a:r>
            </a:p>
          </p:txBody>
        </p:sp>
        <p:sp>
          <p:nvSpPr>
            <p:cNvPr id="23571" name="Line 12"/>
            <p:cNvSpPr>
              <a:spLocks noChangeShapeType="1"/>
            </p:cNvSpPr>
            <p:nvPr/>
          </p:nvSpPr>
          <p:spPr bwMode="auto">
            <a:xfrm>
              <a:off x="7218360" y="2636912"/>
              <a:ext cx="0" cy="288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2" name="Line 12"/>
            <p:cNvSpPr>
              <a:spLocks noChangeShapeType="1"/>
            </p:cNvSpPr>
            <p:nvPr/>
          </p:nvSpPr>
          <p:spPr bwMode="auto">
            <a:xfrm>
              <a:off x="7218359" y="3356992"/>
              <a:ext cx="0" cy="288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3" name="Line 12"/>
            <p:cNvSpPr>
              <a:spLocks noChangeShapeType="1"/>
            </p:cNvSpPr>
            <p:nvPr/>
          </p:nvSpPr>
          <p:spPr bwMode="auto">
            <a:xfrm>
              <a:off x="5759448" y="4221808"/>
              <a:ext cx="0" cy="492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4" name="Line 12"/>
            <p:cNvSpPr>
              <a:spLocks noChangeShapeType="1"/>
            </p:cNvSpPr>
            <p:nvPr/>
          </p:nvSpPr>
          <p:spPr bwMode="auto">
            <a:xfrm>
              <a:off x="7218359" y="4065960"/>
              <a:ext cx="0" cy="288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62587E-FA1B-D463-D30C-37C2029F3C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设现有如下数据：要将它聚成三类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700064"/>
            <a:ext cx="8229600" cy="425611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3600" dirty="0">
                <a:solidFill>
                  <a:srgbClr val="FF0000"/>
                </a:solidFill>
                <a:ea typeface="黑体" pitchFamily="2" charset="-122"/>
              </a:rPr>
              <a:t>聚类算法要解决：</a:t>
            </a:r>
          </a:p>
          <a:p>
            <a:pPr marL="514350" indent="-51435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初始聚类中心的选择</a:t>
            </a:r>
          </a:p>
          <a:p>
            <a:pPr marL="514350" indent="-51435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聚类合理性判断</a:t>
            </a:r>
          </a:p>
          <a:p>
            <a:pPr marL="514350" indent="-51435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聚类中心的修改</a:t>
            </a:r>
          </a:p>
          <a:p>
            <a:pPr marL="514350" indent="-51435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聚类结束的条件</a:t>
            </a:r>
          </a:p>
        </p:txBody>
      </p: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1992313" y="2997201"/>
            <a:ext cx="8229600" cy="461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zh-CN" altLang="zh-CN" sz="320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E810BA-3788-AC45-29A8-4F29D7A2B9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grpSp>
        <p:nvGrpSpPr>
          <p:cNvPr id="3" name="组合 19">
            <a:extLst>
              <a:ext uri="{FF2B5EF4-FFF2-40B4-BE49-F238E27FC236}">
                <a16:creationId xmlns:a16="http://schemas.microsoft.com/office/drawing/2014/main" id="{835B3EEA-76AC-EF60-4D84-A7B506C01A1D}"/>
              </a:ext>
            </a:extLst>
          </p:cNvPr>
          <p:cNvGrpSpPr>
            <a:grpSpLocks/>
          </p:cNvGrpSpPr>
          <p:nvPr/>
        </p:nvGrpSpPr>
        <p:grpSpPr bwMode="auto">
          <a:xfrm>
            <a:off x="7609011" y="1700214"/>
            <a:ext cx="3311525" cy="4465637"/>
            <a:chOff x="5076353" y="1484784"/>
            <a:chExt cx="3312071" cy="446568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559D9EBA-5A94-5F89-A0A2-A4CCF57E3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8247" y="2925192"/>
              <a:ext cx="1800225" cy="431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初始化聚类中心</a:t>
              </a: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21E41D38-BF9E-0EE1-E94F-9D88236E8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2278" y="3634160"/>
              <a:ext cx="792162" cy="431800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聚类</a:t>
              </a:r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B6EF4539-0BB7-FF15-4A4C-7313E126D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9449" y="4714602"/>
              <a:ext cx="504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8CAB9B90-9A2A-3969-3DC1-8B58F8526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0617" y="4354240"/>
              <a:ext cx="2016125" cy="720725"/>
            </a:xfrm>
            <a:prstGeom prst="flowChartDecision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聚类合理</a:t>
              </a:r>
              <a:r>
                <a:rPr lang="en-US" altLang="zh-CN" b="1">
                  <a:ea typeface="楷体_GB2312" pitchFamily="49" charset="-122"/>
                </a:rPr>
                <a:t>?</a:t>
              </a:r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876768EE-7F05-F5E6-D4F6-C55181503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1153" y="5518671"/>
              <a:ext cx="1079500" cy="431800"/>
            </a:xfrm>
            <a:prstGeom prst="flowChartTerminator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结束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DD1D2373-6C72-2D4B-45A4-85B6BD563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7913" y="5074965"/>
              <a:ext cx="71913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合理</a:t>
              </a:r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EC020D48-A711-F1DA-352F-A3EEE8829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1380" y="5086871"/>
              <a:ext cx="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416F79AD-ACA8-692A-EEB1-FDE5EBEFF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353" y="3789040"/>
              <a:ext cx="1439863" cy="431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修改聚类中心</a:t>
              </a: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B190B25C-2653-7CA2-F286-4B75266AC7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59448" y="3464620"/>
              <a:ext cx="0" cy="324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51F66CFF-B7B0-4473-DFE7-8041900D1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4216" y="4791125"/>
              <a:ext cx="1008062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不合理</a:t>
              </a:r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3EC1B02D-71E0-D963-5887-611AA31E8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9449" y="3464620"/>
              <a:ext cx="1439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AutoShape 10">
              <a:extLst>
                <a:ext uri="{FF2B5EF4-FFF2-40B4-BE49-F238E27FC236}">
                  <a16:creationId xmlns:a16="http://schemas.microsoft.com/office/drawing/2014/main" id="{6B4927DA-DBEF-5ED3-1E9F-C52D58CED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6868" y="1484784"/>
              <a:ext cx="1079500" cy="431800"/>
            </a:xfrm>
            <a:prstGeom prst="flowChartTerminator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>
                  <a:ea typeface="楷体_GB2312" pitchFamily="49" charset="-122"/>
                </a:rPr>
                <a:t>开始</a:t>
              </a:r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8BF878FC-25C8-0D18-D731-E735E6B56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28680" y="1916584"/>
              <a:ext cx="0" cy="288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流程图: 数据 16">
              <a:extLst>
                <a:ext uri="{FF2B5EF4-FFF2-40B4-BE49-F238E27FC236}">
                  <a16:creationId xmlns:a16="http://schemas.microsoft.com/office/drawing/2014/main" id="{6231E3BB-88B6-C802-FB74-3F23F721BAFD}"/>
                </a:ext>
              </a:extLst>
            </p:cNvPr>
            <p:cNvSpPr/>
            <p:nvPr/>
          </p:nvSpPr>
          <p:spPr>
            <a:xfrm>
              <a:off x="6084582" y="2205517"/>
              <a:ext cx="2303842" cy="431805"/>
            </a:xfrm>
            <a:prstGeom prst="flowChartInputOutput">
              <a:avLst/>
            </a:prstGeom>
            <a:solidFill>
              <a:srgbClr val="66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 dirty="0">
                  <a:solidFill>
                    <a:schemeClr val="tx1"/>
                  </a:solidFill>
                  <a:ea typeface="楷体_GB2312" pitchFamily="49" charset="-122"/>
                </a:rPr>
                <a:t>待聚类样本</a:t>
              </a:r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19DDA2CE-CBB0-A496-FB3C-15700B132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8360" y="2636912"/>
              <a:ext cx="0" cy="288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9BF20665-6A10-9D22-A85D-56EF80A32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8359" y="3356992"/>
              <a:ext cx="0" cy="288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CEEC9D37-D44A-4DBF-34E5-B78AA01DF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9448" y="4221808"/>
              <a:ext cx="0" cy="492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2">
              <a:extLst>
                <a:ext uri="{FF2B5EF4-FFF2-40B4-BE49-F238E27FC236}">
                  <a16:creationId xmlns:a16="http://schemas.microsoft.com/office/drawing/2014/main" id="{A65294EA-0004-4273-1BA7-A29BCC60E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8359" y="4065960"/>
              <a:ext cx="0" cy="288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333375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均值聚类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(HCM)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</a:t>
            </a:r>
            <a:r>
              <a:rPr lang="zh-CN" altLang="en-US" dirty="0">
                <a:solidFill>
                  <a:srgbClr val="5A913B"/>
                </a:solidFill>
                <a:ea typeface="黑体" pitchFamily="2" charset="-122"/>
              </a:rPr>
              <a:t> </a:t>
            </a:r>
            <a:br>
              <a:rPr lang="zh-CN" altLang="en-US" dirty="0">
                <a:solidFill>
                  <a:srgbClr val="5A913B"/>
                </a:solidFill>
                <a:ea typeface="黑体" pitchFamily="2" charset="-122"/>
              </a:rPr>
            </a:br>
            <a:r>
              <a:rPr lang="zh-CN" altLang="en-US" sz="3200" dirty="0">
                <a:solidFill>
                  <a:srgbClr val="0000FF"/>
                </a:solidFill>
                <a:ea typeface="黑体" pitchFamily="2" charset="-122"/>
              </a:rPr>
              <a:t>初始聚类中心的选择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1916113"/>
            <a:ext cx="6192193" cy="4119562"/>
          </a:xfrm>
        </p:spPr>
        <p:txBody>
          <a:bodyPr/>
          <a:lstStyle/>
          <a:p>
            <a:pPr marL="514350" indent="-51435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800" b="1" dirty="0">
                <a:ea typeface="楷体_GB2312" pitchFamily="49" charset="-122"/>
              </a:rPr>
              <a:t>根据问题的性质，凭经验选择</a:t>
            </a:r>
          </a:p>
          <a:p>
            <a:pPr marL="514350" indent="-51435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800" b="1" dirty="0">
                <a:ea typeface="楷体_GB2312" pitchFamily="49" charset="-122"/>
              </a:rPr>
              <a:t>用前</a:t>
            </a:r>
            <a:r>
              <a:rPr lang="en-US" altLang="zh-CN" sz="2800" b="1" dirty="0">
                <a:ea typeface="楷体_GB2312" pitchFamily="49" charset="-122"/>
              </a:rPr>
              <a:t>C</a:t>
            </a:r>
            <a:r>
              <a:rPr lang="zh-CN" altLang="en-US" sz="2800" b="1" dirty="0">
                <a:ea typeface="楷体_GB2312" pitchFamily="49" charset="-122"/>
              </a:rPr>
              <a:t>个样本作为初始聚类中心</a:t>
            </a:r>
          </a:p>
          <a:p>
            <a:pPr marL="514350" indent="-51435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800" b="1" dirty="0">
                <a:ea typeface="楷体_GB2312" pitchFamily="49" charset="-122"/>
              </a:rPr>
              <a:t>将全部样本随机分成</a:t>
            </a:r>
            <a:r>
              <a:rPr lang="en-US" altLang="zh-CN" sz="2800" b="1" dirty="0">
                <a:ea typeface="楷体_GB2312" pitchFamily="49" charset="-122"/>
              </a:rPr>
              <a:t>C</a:t>
            </a:r>
            <a:r>
              <a:rPr lang="zh-CN" altLang="en-US" sz="2800" b="1" dirty="0">
                <a:ea typeface="楷体_GB2312" pitchFamily="49" charset="-122"/>
              </a:rPr>
              <a:t>类 ，以每类的均值作为初始聚类中心</a:t>
            </a:r>
          </a:p>
          <a:p>
            <a:pPr marL="514350" indent="-51435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800" b="1" dirty="0">
                <a:ea typeface="楷体_GB2312" pitchFamily="49" charset="-122"/>
              </a:rPr>
              <a:t>当样本数</a:t>
            </a:r>
            <a:r>
              <a:rPr lang="en-US" altLang="zh-CN" sz="2800" b="1" dirty="0">
                <a:ea typeface="楷体_GB2312" pitchFamily="49" charset="-122"/>
              </a:rPr>
              <a:t>N</a:t>
            </a:r>
            <a:r>
              <a:rPr lang="zh-CN" altLang="en-US" sz="2800" b="1" dirty="0">
                <a:ea typeface="楷体_GB2312" pitchFamily="49" charset="-122"/>
              </a:rPr>
              <a:t>较大时，先随机从中选择一部分样本采用层次聚类法将其聚成</a:t>
            </a:r>
            <a:r>
              <a:rPr lang="en-US" altLang="zh-CN" sz="2800" b="1" dirty="0">
                <a:ea typeface="楷体_GB2312" pitchFamily="49" charset="-122"/>
              </a:rPr>
              <a:t>C</a:t>
            </a:r>
            <a:r>
              <a:rPr lang="zh-CN" altLang="en-US" sz="2800" b="1" dirty="0">
                <a:ea typeface="楷体_GB2312" pitchFamily="49" charset="-122"/>
              </a:rPr>
              <a:t>类，以每类的均值作为初始聚类中心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862" y="2275943"/>
            <a:ext cx="37084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2650828" y="6078240"/>
            <a:ext cx="6613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初始聚类中心的选择与聚类结果直接相关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58DDFB-6F69-D8D4-66AB-322D5276D6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0D2C4B-1EB1-4A39-F505-AB9FA062DA16}"/>
              </a:ext>
            </a:extLst>
          </p:cNvPr>
          <p:cNvSpPr txBox="1"/>
          <p:nvPr/>
        </p:nvSpPr>
        <p:spPr>
          <a:xfrm>
            <a:off x="6959601" y="1654503"/>
            <a:ext cx="48009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zh-CN" altLang="en-US" sz="2800" b="1" dirty="0">
                <a:solidFill>
                  <a:srgbClr val="CC00FF"/>
                </a:solidFill>
                <a:ea typeface="华文楷体" pitchFamily="2" charset="-122"/>
              </a:rPr>
              <a:t>假定全体样本可聚为</a:t>
            </a:r>
            <a:r>
              <a:rPr lang="en-US" altLang="zh-CN" sz="2800" b="1" dirty="0">
                <a:solidFill>
                  <a:srgbClr val="CC00FF"/>
                </a:solidFill>
                <a:ea typeface="华文楷体" pitchFamily="2" charset="-122"/>
              </a:rPr>
              <a:t>C</a:t>
            </a:r>
            <a:r>
              <a:rPr lang="zh-CN" altLang="en-US" sz="2800" b="1" dirty="0">
                <a:solidFill>
                  <a:srgbClr val="CC00FF"/>
                </a:solidFill>
                <a:ea typeface="华文楷体" pitchFamily="2" charset="-122"/>
              </a:rPr>
              <a:t>类</a:t>
            </a:r>
            <a:endParaRPr lang="en-US" altLang="zh-CN" sz="2800" b="1" dirty="0">
              <a:solidFill>
                <a:srgbClr val="CC00FF"/>
              </a:solidFill>
              <a:ea typeface="华文楷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614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:\users\lenvov\appdata\roaming\360se6\User Data\temp\clus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92" y="-123807"/>
            <a:ext cx="5045968" cy="378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356" name="Picture 4" descr="c:\users\lenvov\appdata\roaming\360se6\User Data\temp\iter_00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-89571"/>
            <a:ext cx="4925606" cy="369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358" name="Picture 6" descr="c:\users\lenvov\appdata\roaming\360se6\User Data\temp\iter_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3284985"/>
            <a:ext cx="5045968" cy="378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360" name="Picture 8" descr="c:\users\lenvov\appdata\roaming\360se6\User Data\temp\iter_0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963" y="3284985"/>
            <a:ext cx="4925605" cy="369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11624" y="292494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原始数据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6186" y="289267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初始聚类中心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1624" y="6300028"/>
            <a:ext cx="212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迭代一次的结果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6186" y="6300028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迭代结束的结果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146333-B2B1-9BD9-B112-BFDD36951F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053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:\users\lenvov\appdata\roaming\360se6\User Data\temp\clus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20209"/>
            <a:ext cx="4853947" cy="364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27648" y="292494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原始数据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2184" y="289267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初始聚类中心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656" y="630096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迭代结束的结果</a:t>
            </a:r>
          </a:p>
        </p:txBody>
      </p:sp>
      <p:pic>
        <p:nvPicPr>
          <p:cNvPr id="101378" name="Picture 2" descr="c:\users\lenvov\appdata\roaming\360se6\User Data\temp\iter_00_ba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74" y="-12927"/>
            <a:ext cx="4973278" cy="372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380" name="Picture 4" descr="c:\users\lenvov\appdata\roaming\360se6\User Data\temp\iter_03_ba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3396231"/>
            <a:ext cx="4940319" cy="37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3D06B5FD-295B-38A3-C971-C6EAFC8E4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8965" y="5090397"/>
            <a:ext cx="399789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初始聚类中心的选择与聚类结果直接相关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B48B659-7A9B-FDA9-A66E-9BDAFA57DA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366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916" y="3429000"/>
            <a:ext cx="3060700" cy="306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404665"/>
            <a:ext cx="792088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均值聚类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(HCM)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76858" y="1341438"/>
            <a:ext cx="8673580" cy="55165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ea typeface="黑体" pitchFamily="2" charset="-122"/>
              </a:rPr>
              <a:t>(1)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选择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个初始聚类中心</a:t>
            </a:r>
            <a:r>
              <a:rPr lang="en-US" altLang="zh-CN" sz="2400" dirty="0">
                <a:ea typeface="黑体" pitchFamily="2" charset="-122"/>
              </a:rPr>
              <a:t>: </a:t>
            </a:r>
            <a:r>
              <a:rPr lang="en-US" altLang="zh-CN" sz="2400" b="1" i="1" dirty="0">
                <a:ea typeface="黑体" pitchFamily="2" charset="-122"/>
              </a:rPr>
              <a:t>v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en-US" altLang="zh-CN" sz="2400" dirty="0">
                <a:ea typeface="黑体" pitchFamily="2" charset="-122"/>
              </a:rPr>
              <a:t>(</a:t>
            </a:r>
            <a:r>
              <a:rPr lang="en-US" altLang="zh-CN" sz="2400" i="1" dirty="0">
                <a:ea typeface="黑体" pitchFamily="2" charset="-122"/>
              </a:rPr>
              <a:t>k</a:t>
            </a:r>
            <a:r>
              <a:rPr lang="en-US" altLang="zh-CN" sz="2400" dirty="0">
                <a:ea typeface="黑体" pitchFamily="2" charset="-122"/>
              </a:rPr>
              <a:t>),</a:t>
            </a:r>
            <a:r>
              <a:rPr lang="en-US" altLang="zh-CN" sz="2400" b="1" i="1" dirty="0">
                <a:ea typeface="黑体" pitchFamily="2" charset="-122"/>
              </a:rPr>
              <a:t>v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en-US" altLang="zh-CN" sz="2400" dirty="0">
                <a:ea typeface="黑体" pitchFamily="2" charset="-122"/>
              </a:rPr>
              <a:t>(</a:t>
            </a:r>
            <a:r>
              <a:rPr lang="en-US" altLang="zh-CN" sz="2400" i="1" dirty="0">
                <a:ea typeface="黑体" pitchFamily="2" charset="-122"/>
              </a:rPr>
              <a:t>k</a:t>
            </a:r>
            <a:r>
              <a:rPr lang="en-US" altLang="zh-CN" sz="2400" dirty="0">
                <a:ea typeface="黑体" pitchFamily="2" charset="-122"/>
              </a:rPr>
              <a:t>),…,</a:t>
            </a:r>
            <a:r>
              <a:rPr lang="en-US" altLang="zh-CN" sz="2400" b="1" i="1" dirty="0" err="1">
                <a:ea typeface="黑体" pitchFamily="2" charset="-122"/>
              </a:rPr>
              <a:t>v</a:t>
            </a:r>
            <a:r>
              <a:rPr lang="en-US" altLang="zh-CN" sz="2400" i="1" baseline="-25000" dirty="0" err="1">
                <a:ea typeface="黑体" pitchFamily="2" charset="-122"/>
              </a:rPr>
              <a:t>c</a:t>
            </a:r>
            <a:r>
              <a:rPr lang="en-US" altLang="zh-CN" sz="2400" dirty="0">
                <a:ea typeface="黑体" pitchFamily="2" charset="-122"/>
              </a:rPr>
              <a:t>(</a:t>
            </a:r>
            <a:r>
              <a:rPr lang="en-US" altLang="zh-CN" sz="2400" i="1" dirty="0">
                <a:ea typeface="黑体" pitchFamily="2" charset="-122"/>
              </a:rPr>
              <a:t>k</a:t>
            </a:r>
            <a:r>
              <a:rPr lang="en-US" altLang="zh-CN" sz="2400" dirty="0">
                <a:ea typeface="黑体" pitchFamily="2" charset="-122"/>
              </a:rPr>
              <a:t>),</a:t>
            </a:r>
            <a:r>
              <a:rPr lang="en-US" altLang="zh-CN" sz="2400" i="1" dirty="0">
                <a:ea typeface="黑体" pitchFamily="2" charset="-122"/>
              </a:rPr>
              <a:t> k</a:t>
            </a:r>
            <a:r>
              <a:rPr lang="en-US" altLang="zh-CN" sz="2400" dirty="0">
                <a:ea typeface="黑体" pitchFamily="2" charset="-122"/>
              </a:rPr>
              <a:t>=1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ea typeface="黑体" pitchFamily="2" charset="-122"/>
              </a:rPr>
              <a:t>(2)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计算所有样本与各聚类中心的距离</a:t>
            </a:r>
            <a:endParaRPr lang="en-US" altLang="zh-CN" sz="24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16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ea typeface="楷体_GB2312" pitchFamily="49" charset="-122"/>
              </a:rPr>
              <a:t>     按</a:t>
            </a:r>
            <a:r>
              <a:rPr lang="zh-CN" altLang="en-US" sz="2400" b="1" u="sng" dirty="0">
                <a:solidFill>
                  <a:srgbClr val="0000FF"/>
                </a:solidFill>
                <a:ea typeface="楷体_GB2312" pitchFamily="49" charset="-122"/>
              </a:rPr>
              <a:t>最小距离原则</a:t>
            </a:r>
            <a:r>
              <a:rPr lang="zh-CN" altLang="en-US" sz="2400" b="1" dirty="0">
                <a:ea typeface="楷体_GB2312" pitchFamily="49" charset="-122"/>
              </a:rPr>
              <a:t>将样本</a:t>
            </a:r>
            <a:r>
              <a:rPr lang="en-US" altLang="zh-CN" sz="2400" b="1" dirty="0">
                <a:ea typeface="楷体_GB2312" pitchFamily="49" charset="-122"/>
              </a:rPr>
              <a:t>X</a:t>
            </a:r>
            <a:r>
              <a:rPr lang="zh-CN" altLang="en-US" sz="2400" b="1" dirty="0">
                <a:ea typeface="楷体_GB2312" pitchFamily="49" charset="-122"/>
              </a:rPr>
              <a:t>进行聚类，即</a:t>
            </a:r>
            <a:endParaRPr lang="en-US" altLang="zh-CN" sz="2400" b="1" dirty="0"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 dirty="0"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 dirty="0"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 dirty="0"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ea typeface="黑体" pitchFamily="2" charset="-122"/>
              </a:rPr>
              <a:t>(3)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重新计算聚类中心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1600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ea typeface="黑体" pitchFamily="2" charset="-122"/>
              </a:rPr>
              <a:t>(4)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若</a:t>
            </a:r>
            <a:r>
              <a:rPr lang="zh-CN" altLang="en-US" sz="20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</a:t>
            </a:r>
            <a:r>
              <a:rPr lang="en-US" altLang="zh-CN" sz="2400" i="1" dirty="0" err="1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ea typeface="黑体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000" dirty="0">
                <a:solidFill>
                  <a:srgbClr val="FF0000"/>
                </a:solidFill>
                <a:ea typeface="黑体" pitchFamily="2" charset="-122"/>
              </a:rPr>
              <a:t>{1,2,…,</a:t>
            </a:r>
            <a:r>
              <a:rPr lang="en-US" altLang="zh-CN" sz="2000" i="1" dirty="0">
                <a:solidFill>
                  <a:srgbClr val="FF0000"/>
                </a:solidFill>
                <a:ea typeface="黑体" pitchFamily="2" charset="-122"/>
              </a:rPr>
              <a:t>C</a:t>
            </a:r>
            <a:r>
              <a:rPr lang="en-US" altLang="zh-CN" sz="2000" dirty="0">
                <a:solidFill>
                  <a:srgbClr val="FF0000"/>
                </a:solidFill>
                <a:ea typeface="黑体" pitchFamily="2" charset="-122"/>
              </a:rPr>
              <a:t>},</a:t>
            </a:r>
            <a:r>
              <a:rPr lang="zh-CN" altLang="en-US" sz="2000" dirty="0">
                <a:solidFill>
                  <a:srgbClr val="FF0000"/>
                </a:solidFill>
                <a:ea typeface="黑体" pitchFamily="2" charset="-122"/>
              </a:rPr>
              <a:t>　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有</a:t>
            </a:r>
            <a:r>
              <a:rPr lang="en-US" altLang="zh-CN" sz="2400" i="1" dirty="0">
                <a:solidFill>
                  <a:srgbClr val="FF0000"/>
                </a:solidFill>
                <a:ea typeface="黑体" pitchFamily="2" charset="-122"/>
              </a:rPr>
              <a:t>v</a:t>
            </a:r>
            <a:r>
              <a:rPr lang="en-US" altLang="zh-CN" sz="2800" i="1" baseline="-25000" dirty="0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黑体" pitchFamily="2" charset="-122"/>
              </a:rPr>
              <a:t>k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+1) 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≠ </a:t>
            </a:r>
            <a:r>
              <a:rPr lang="en-US" altLang="zh-CN" sz="2400" i="1" dirty="0">
                <a:solidFill>
                  <a:srgbClr val="FF0000"/>
                </a:solidFill>
                <a:ea typeface="黑体" pitchFamily="2" charset="-122"/>
              </a:rPr>
              <a:t>v</a:t>
            </a:r>
            <a:r>
              <a:rPr lang="en-US" altLang="zh-CN" sz="2800" i="1" baseline="-25000" dirty="0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ea typeface="黑体" pitchFamily="2" charset="-122"/>
              </a:rPr>
              <a:t>k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),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     则</a:t>
            </a:r>
            <a:r>
              <a:rPr lang="en-US" altLang="zh-CN" sz="2400" i="1" dirty="0">
                <a:solidFill>
                  <a:srgbClr val="FF0000"/>
                </a:solidFill>
                <a:ea typeface="黑体" pitchFamily="2" charset="-122"/>
              </a:rPr>
              <a:t>k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=</a:t>
            </a:r>
            <a:r>
              <a:rPr lang="en-US" altLang="zh-CN" sz="2400" i="1" dirty="0">
                <a:solidFill>
                  <a:srgbClr val="FF0000"/>
                </a:solidFill>
                <a:ea typeface="黑体" pitchFamily="2" charset="-122"/>
              </a:rPr>
              <a:t>k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+1, 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转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(2)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；否则聚类结束。</a:t>
            </a:r>
          </a:p>
        </p:txBody>
      </p:sp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504" y="3446462"/>
            <a:ext cx="3059112" cy="305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504" y="3438524"/>
            <a:ext cx="3059112" cy="305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533636"/>
              </p:ext>
            </p:extLst>
          </p:nvPr>
        </p:nvGraphicFramePr>
        <p:xfrm>
          <a:off x="2328863" y="2132857"/>
          <a:ext cx="73596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68680" imgH="279360" progId="Equation.DSMT4">
                  <p:embed/>
                </p:oleObj>
              </mc:Choice>
              <mc:Fallback>
                <p:oleObj name="Equation" r:id="rId5" imgW="3568680" imgH="27936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863" y="2132857"/>
                        <a:ext cx="73596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486601"/>
              </p:ext>
            </p:extLst>
          </p:nvPr>
        </p:nvGraphicFramePr>
        <p:xfrm>
          <a:off x="2282478" y="3140969"/>
          <a:ext cx="5973763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29000" imgH="660240" progId="Equation.DSMT4">
                  <p:embed/>
                </p:oleObj>
              </mc:Choice>
              <mc:Fallback>
                <p:oleObj name="Equation" r:id="rId7" imgW="3429000" imgH="66024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478" y="3140969"/>
                        <a:ext cx="5973763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350500"/>
              </p:ext>
            </p:extLst>
          </p:nvPr>
        </p:nvGraphicFramePr>
        <p:xfrm>
          <a:off x="2210668" y="4869161"/>
          <a:ext cx="539750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11480" imgH="469800" progId="Equation.DSMT4">
                  <p:embed/>
                </p:oleObj>
              </mc:Choice>
              <mc:Fallback>
                <p:oleObj name="Equation" r:id="rId9" imgW="3111480" imgH="469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668" y="4869161"/>
                        <a:ext cx="5397500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C598A1-4A22-ABCB-1B08-5142C08EB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6" dur="8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4"/>
                                            </p:cond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withGroup">
                            <p:stCondLst>
                              <p:cond delay="80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621713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均值聚类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(HCM)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——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硬划分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84314"/>
            <a:ext cx="9072810" cy="5373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itchFamily="2" charset="-122"/>
              </a:rPr>
              <a:t>将样本</a:t>
            </a:r>
            <a:r>
              <a:rPr lang="en-US" altLang="zh-CN" sz="2800" dirty="0">
                <a:ea typeface="黑体" pitchFamily="2" charset="-122"/>
              </a:rPr>
              <a:t>X</a:t>
            </a:r>
            <a:r>
              <a:rPr lang="zh-CN" altLang="en-US" sz="2800" dirty="0">
                <a:ea typeface="黑体" pitchFamily="2" charset="-122"/>
              </a:rPr>
              <a:t>划分为</a:t>
            </a:r>
            <a:r>
              <a:rPr lang="en-US" altLang="zh-CN" sz="2800" dirty="0">
                <a:ea typeface="黑体" pitchFamily="2" charset="-122"/>
              </a:rPr>
              <a:t>C</a:t>
            </a:r>
            <a:r>
              <a:rPr lang="zh-CN" altLang="en-US" sz="2800" dirty="0">
                <a:ea typeface="黑体" pitchFamily="2" charset="-122"/>
              </a:rPr>
              <a:t>个子集</a:t>
            </a:r>
            <a:r>
              <a:rPr lang="zh-CN" altLang="en-US" sz="2800" dirty="0"/>
              <a:t>：</a:t>
            </a:r>
            <a:r>
              <a:rPr lang="en-US" altLang="zh-CN" sz="2800" i="1" dirty="0"/>
              <a:t>X</a:t>
            </a:r>
            <a:r>
              <a:rPr lang="en-US" altLang="zh-CN" sz="2800" baseline="30000" dirty="0"/>
              <a:t>1</a:t>
            </a:r>
            <a:r>
              <a:rPr lang="en-US" altLang="zh-CN" sz="2800" dirty="0"/>
              <a:t>,</a:t>
            </a:r>
            <a:r>
              <a:rPr lang="en-US" altLang="zh-CN" sz="2800" i="1" dirty="0"/>
              <a:t>X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i="1" dirty="0"/>
              <a:t>X</a:t>
            </a:r>
            <a:r>
              <a:rPr lang="en-US" altLang="zh-CN" sz="2800" i="1" baseline="30000" dirty="0"/>
              <a:t>C</a:t>
            </a:r>
            <a:endParaRPr lang="en-US" altLang="zh-CN" sz="2800" i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且满足下面条件：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>
                <a:solidFill>
                  <a:srgbClr val="0000FF"/>
                </a:solidFill>
              </a:rPr>
              <a:t>X</a:t>
            </a:r>
            <a:r>
              <a:rPr lang="en-US" altLang="zh-CN" sz="2400" baseline="30000" dirty="0">
                <a:solidFill>
                  <a:srgbClr val="0000FF"/>
                </a:solidFill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sym typeface="Symbol"/>
              </a:rPr>
              <a:t></a:t>
            </a:r>
            <a:r>
              <a:rPr lang="en-US" altLang="zh-CN" sz="2400" i="1" dirty="0">
                <a:solidFill>
                  <a:srgbClr val="0000FF"/>
                </a:solidFill>
              </a:rPr>
              <a:t>X</a:t>
            </a:r>
            <a:r>
              <a:rPr lang="en-US" altLang="zh-CN" sz="2400" baseline="300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sym typeface="Symbol"/>
              </a:rPr>
              <a:t> </a:t>
            </a:r>
            <a:r>
              <a:rPr lang="en-US" altLang="zh-CN" sz="2400" dirty="0">
                <a:solidFill>
                  <a:srgbClr val="0000FF"/>
                </a:solidFill>
              </a:rPr>
              <a:t>…</a:t>
            </a:r>
            <a:r>
              <a:rPr lang="en-US" altLang="zh-CN" sz="2400" dirty="0">
                <a:solidFill>
                  <a:srgbClr val="0000FF"/>
                </a:solidFill>
                <a:sym typeface="Symbol"/>
              </a:rPr>
              <a:t>  </a:t>
            </a:r>
            <a:r>
              <a:rPr lang="en-US" altLang="zh-CN" sz="2400" i="1" dirty="0">
                <a:solidFill>
                  <a:srgbClr val="0000FF"/>
                </a:solidFill>
              </a:rPr>
              <a:t>X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C </a:t>
            </a:r>
            <a:r>
              <a:rPr lang="en-US" altLang="zh-CN" sz="2400" dirty="0">
                <a:solidFill>
                  <a:srgbClr val="0000FF"/>
                </a:solidFill>
              </a:rPr>
              <a:t>=</a:t>
            </a:r>
            <a:r>
              <a:rPr lang="en-US" altLang="zh-CN" sz="2400" i="1" dirty="0">
                <a:solidFill>
                  <a:srgbClr val="0000FF"/>
                </a:solidFill>
              </a:rPr>
              <a:t>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>
                <a:solidFill>
                  <a:srgbClr val="0000FF"/>
                </a:solidFill>
              </a:rPr>
              <a:t>X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i  </a:t>
            </a:r>
            <a:r>
              <a:rPr lang="en-US" altLang="zh-CN" sz="2400" dirty="0">
                <a:solidFill>
                  <a:srgbClr val="0000FF"/>
                </a:solidFill>
                <a:sym typeface="Symbol"/>
              </a:rPr>
              <a:t>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en-US" altLang="zh-CN" sz="2400" i="1" dirty="0" err="1">
                <a:solidFill>
                  <a:srgbClr val="0000FF"/>
                </a:solidFill>
              </a:rPr>
              <a:t>X</a:t>
            </a:r>
            <a:r>
              <a:rPr lang="en-US" altLang="zh-CN" sz="2400" i="1" baseline="30000" dirty="0" err="1">
                <a:solidFill>
                  <a:srgbClr val="0000FF"/>
                </a:solidFill>
              </a:rPr>
              <a:t>j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= Ø    (1≤ </a:t>
            </a:r>
            <a:r>
              <a:rPr lang="en-US" altLang="zh-CN" sz="2400" i="1" dirty="0" err="1">
                <a:solidFill>
                  <a:srgbClr val="0000FF"/>
                </a:solidFill>
              </a:rPr>
              <a:t>i</a:t>
            </a:r>
            <a:r>
              <a:rPr lang="en-US" altLang="zh-CN" sz="2400" dirty="0">
                <a:solidFill>
                  <a:srgbClr val="0000FF"/>
                </a:solidFill>
              </a:rPr>
              <a:t> ,</a:t>
            </a:r>
            <a:r>
              <a:rPr lang="en-US" altLang="zh-CN" sz="2400" i="1" dirty="0">
                <a:solidFill>
                  <a:srgbClr val="0000FF"/>
                </a:solidFill>
              </a:rPr>
              <a:t> j </a:t>
            </a:r>
            <a:r>
              <a:rPr lang="en-US" altLang="zh-CN" sz="2400" dirty="0">
                <a:solidFill>
                  <a:srgbClr val="0000FF"/>
                </a:solidFill>
              </a:rPr>
              <a:t>≤ </a:t>
            </a:r>
            <a:r>
              <a:rPr lang="en-US" altLang="zh-CN" sz="2400" i="1" dirty="0">
                <a:solidFill>
                  <a:srgbClr val="0000FF"/>
                </a:solidFill>
              </a:rPr>
              <a:t>C</a:t>
            </a:r>
            <a:r>
              <a:rPr lang="en-US" altLang="zh-CN" sz="2400" dirty="0">
                <a:solidFill>
                  <a:srgbClr val="0000FF"/>
                </a:solidFill>
              </a:rPr>
              <a:t>, </a:t>
            </a:r>
            <a:r>
              <a:rPr lang="en-US" altLang="zh-CN" sz="2400" i="1" dirty="0" err="1">
                <a:solidFill>
                  <a:srgbClr val="0000FF"/>
                </a:solidFill>
              </a:rPr>
              <a:t>i</a:t>
            </a:r>
            <a:r>
              <a:rPr lang="en-US" altLang="zh-CN" sz="2400" i="1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≠ </a:t>
            </a:r>
            <a:r>
              <a:rPr lang="en-US" altLang="zh-CN" sz="2400" i="1" dirty="0">
                <a:solidFill>
                  <a:srgbClr val="0000FF"/>
                </a:solidFill>
              </a:rPr>
              <a:t>j 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>
                <a:solidFill>
                  <a:srgbClr val="0000FF"/>
                </a:solidFill>
              </a:rPr>
              <a:t>X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i  </a:t>
            </a:r>
            <a:r>
              <a:rPr lang="en-US" altLang="zh-CN" sz="2400" dirty="0">
                <a:solidFill>
                  <a:srgbClr val="0000FF"/>
                </a:solidFill>
              </a:rPr>
              <a:t>≠ Ø, </a:t>
            </a:r>
            <a:r>
              <a:rPr lang="en-US" altLang="zh-CN" sz="2400" i="1" dirty="0">
                <a:solidFill>
                  <a:srgbClr val="0000FF"/>
                </a:solidFill>
              </a:rPr>
              <a:t>X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i</a:t>
            </a:r>
            <a:r>
              <a:rPr lang="en-US" altLang="zh-CN" sz="2400" i="1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≠ </a:t>
            </a:r>
            <a:r>
              <a:rPr lang="en-US" altLang="zh-CN" sz="2400" i="1" dirty="0">
                <a:solidFill>
                  <a:srgbClr val="0000FF"/>
                </a:solidFill>
              </a:rPr>
              <a:t>X</a:t>
            </a:r>
            <a:r>
              <a:rPr lang="en-US" altLang="zh-CN" sz="2400" dirty="0">
                <a:solidFill>
                  <a:srgbClr val="0000FF"/>
                </a:solidFill>
              </a:rPr>
              <a:t>  (1 ≤ </a:t>
            </a:r>
            <a:r>
              <a:rPr lang="en-US" altLang="zh-CN" sz="2400" i="1" dirty="0" err="1">
                <a:solidFill>
                  <a:srgbClr val="0000FF"/>
                </a:solidFill>
              </a:rPr>
              <a:t>i</a:t>
            </a:r>
            <a:r>
              <a:rPr lang="en-US" altLang="zh-CN" sz="2400" dirty="0">
                <a:solidFill>
                  <a:srgbClr val="0000FF"/>
                </a:solidFill>
              </a:rPr>
              <a:t> ≤ </a:t>
            </a:r>
            <a:r>
              <a:rPr lang="en-US" altLang="zh-CN" sz="2400" i="1" dirty="0">
                <a:solidFill>
                  <a:srgbClr val="0000FF"/>
                </a:solidFill>
              </a:rPr>
              <a:t>C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itchFamily="2" charset="-122"/>
              </a:rPr>
              <a:t>即某个样本</a:t>
            </a:r>
            <a:r>
              <a:rPr lang="en-US" altLang="zh-CN" sz="2800" dirty="0">
                <a:ea typeface="黑体" pitchFamily="2" charset="-122"/>
              </a:rPr>
              <a:t>x</a:t>
            </a:r>
            <a:r>
              <a:rPr lang="zh-CN" altLang="en-US" sz="2800" dirty="0">
                <a:ea typeface="黑体" pitchFamily="2" charset="-122"/>
              </a:rPr>
              <a:t>必属于一个子集，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要么完全属于，要么完全不属于。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计算距离为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dirty="0"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   </a:t>
            </a:r>
            <a:r>
              <a:rPr lang="en-US" altLang="zh-CN" sz="2800" i="1" dirty="0">
                <a:solidFill>
                  <a:srgbClr val="FF0000"/>
                </a:solidFill>
                <a:sym typeface="Symbol"/>
              </a:rPr>
              <a:t></a:t>
            </a:r>
            <a:r>
              <a:rPr lang="en-US" altLang="zh-CN" sz="2800" i="1" baseline="-25000" dirty="0" err="1">
                <a:solidFill>
                  <a:srgbClr val="FF0000"/>
                </a:solidFill>
              </a:rPr>
              <a:t>ji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rgbClr val="FF0000"/>
                </a:solidFill>
              </a:rPr>
              <a:t>{0, 1}</a:t>
            </a:r>
          </a:p>
        </p:txBody>
      </p:sp>
      <p:graphicFrame>
        <p:nvGraphicFramePr>
          <p:cNvPr id="922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18304732"/>
              </p:ext>
            </p:extLst>
          </p:nvPr>
        </p:nvGraphicFramePr>
        <p:xfrm>
          <a:off x="1919536" y="5085184"/>
          <a:ext cx="64754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444240" progId="Equation.DSMT4">
                  <p:embed/>
                </p:oleObj>
              </mc:Choice>
              <mc:Fallback>
                <p:oleObj name="Equation" r:id="rId2" imgW="302256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5085184"/>
                        <a:ext cx="64754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510" y="2060575"/>
            <a:ext cx="30670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92C038-F2D2-43AA-47EA-A9723AF6C8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376B5-62E6-403F-97A0-5A1E42AE81DF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981200" y="257200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HCM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算法的目标函数</a:t>
            </a:r>
            <a:endParaRPr lang="zh-CN" altLang="en-US" dirty="0"/>
          </a:p>
        </p:txBody>
      </p:sp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787505"/>
              </p:ext>
            </p:extLst>
          </p:nvPr>
        </p:nvGraphicFramePr>
        <p:xfrm>
          <a:off x="2307387" y="3140968"/>
          <a:ext cx="7975205" cy="945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01840" imgH="482400" progId="Equation.DSMT4">
                  <p:embed/>
                </p:oleObj>
              </mc:Choice>
              <mc:Fallback>
                <p:oleObj name="Equation" r:id="rId3" imgW="4101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387" y="3140968"/>
                        <a:ext cx="7975205" cy="9451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707051"/>
              </p:ext>
            </p:extLst>
          </p:nvPr>
        </p:nvGraphicFramePr>
        <p:xfrm>
          <a:off x="3740151" y="1412875"/>
          <a:ext cx="4060825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660240" progId="Equation.DSMT4">
                  <p:embed/>
                </p:oleObj>
              </mc:Choice>
              <mc:Fallback>
                <p:oleObj name="Equation" r:id="rId5" imgW="176508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1" y="1412875"/>
                        <a:ext cx="4060825" cy="1512888"/>
                      </a:xfrm>
                      <a:prstGeom prst="rect">
                        <a:avLst/>
                      </a:prstGeom>
                      <a:solidFill>
                        <a:srgbClr val="99FF66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95400" y="4221088"/>
            <a:ext cx="10657184" cy="2616935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/>
              <a:t>聚类准则为寻求最佳组对 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V</a:t>
            </a:r>
            <a:r>
              <a:rPr lang="en-US" altLang="zh-CN" sz="2800" b="1" dirty="0"/>
              <a:t>) </a:t>
            </a:r>
            <a:r>
              <a:rPr lang="zh-CN" altLang="en-US" sz="2800" b="1" dirty="0"/>
              <a:t>以使得 </a:t>
            </a:r>
            <a:r>
              <a:rPr lang="en-US" altLang="zh-CN" sz="2800" b="1" i="1" dirty="0"/>
              <a:t>J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V</a:t>
            </a:r>
            <a:r>
              <a:rPr lang="en-US" altLang="zh-CN" sz="2800" b="1" dirty="0"/>
              <a:t>) </a:t>
            </a:r>
            <a:r>
              <a:rPr lang="zh-CN" altLang="en-US" sz="2800" b="1" dirty="0"/>
              <a:t>为最小。</a:t>
            </a:r>
            <a:endParaRPr lang="en-US" altLang="zh-CN" sz="2800" b="1" dirty="0"/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/>
              <a:t>解决这类优化问题最常用的方法是用</a:t>
            </a:r>
            <a:r>
              <a:rPr lang="zh-CN" altLang="en-US" sz="2800" b="1" u="sng" dirty="0"/>
              <a:t>迭代算法</a:t>
            </a:r>
            <a:r>
              <a:rPr lang="zh-CN" altLang="en-US" sz="2800" b="1" dirty="0"/>
              <a:t>来求取 </a:t>
            </a:r>
            <a:r>
              <a:rPr lang="en-US" altLang="zh-CN" sz="2800" b="1" i="1" dirty="0"/>
              <a:t>J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V</a:t>
            </a:r>
            <a:r>
              <a:rPr lang="en-US" altLang="zh-CN" sz="2800" b="1" dirty="0"/>
              <a:t>) </a:t>
            </a:r>
            <a:r>
              <a:rPr lang="zh-CN" altLang="en-US" sz="2800" b="1" dirty="0"/>
              <a:t>的近似最小值。</a:t>
            </a:r>
            <a:endParaRPr lang="en-US" altLang="zh-CN" sz="2800" b="1" dirty="0"/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/>
              <a:t>即同许多优化方法一样，目标函数的解不能保证全局最优，只能保证是优中之优</a:t>
            </a:r>
            <a:r>
              <a:rPr lang="zh-CN" altLang="en-US" sz="2400" b="1" dirty="0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83432" y="1672640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目标函数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29501" y="3239125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其中，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7F66D1-33DA-075E-2B10-258231830B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90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均值聚类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(HCM)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算法举例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484314"/>
            <a:ext cx="10009112" cy="5373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在汽车的催化转换器（将</a:t>
            </a:r>
            <a:r>
              <a:rPr lang="en-US" altLang="zh-CN" sz="2400" b="1" dirty="0"/>
              <a:t>CO</a:t>
            </a:r>
            <a:r>
              <a:rPr lang="en-US" altLang="en-US" sz="2400" b="1" dirty="0"/>
              <a:t>→</a:t>
            </a:r>
            <a:r>
              <a:rPr lang="en-US" altLang="zh-CN" sz="2400" b="1" dirty="0"/>
              <a:t>CO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）化工处理中，有催化转化器的转化效率与催化程度倒数间的关系，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高转化效率和高温度的点表示了一个</a:t>
            </a:r>
            <a:r>
              <a:rPr lang="zh-CN" altLang="en-US" sz="2400" b="1" dirty="0">
                <a:solidFill>
                  <a:srgbClr val="FF0000"/>
                </a:solidFill>
              </a:rPr>
              <a:t>非污染系统（</a:t>
            </a:r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类）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低转化效率和低温度的点表示了一个</a:t>
            </a:r>
            <a:r>
              <a:rPr lang="zh-CN" altLang="en-US" sz="2400" b="1" dirty="0">
                <a:solidFill>
                  <a:srgbClr val="CC00FF"/>
                </a:solidFill>
              </a:rPr>
              <a:t>污染系统（</a:t>
            </a:r>
            <a:r>
              <a:rPr lang="en-US" altLang="zh-CN" sz="2400" b="1" dirty="0">
                <a:solidFill>
                  <a:srgbClr val="CC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CC00FF"/>
                </a:solidFill>
              </a:rPr>
              <a:t>2</a:t>
            </a:r>
            <a:r>
              <a:rPr lang="zh-CN" altLang="en-US" sz="2400" b="1" dirty="0">
                <a:solidFill>
                  <a:srgbClr val="CC00FF"/>
                </a:solidFill>
              </a:rPr>
              <a:t>类）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现对已测得四种不同催化转化器的转化效率和温度，试图确定它们是污染的或是非污染的。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右图中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dirty="0">
                <a:solidFill>
                  <a:srgbClr val="0000FF"/>
                </a:solidFill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</a:rPr>
              <a:t>轴为温度的倒数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b="1" dirty="0">
                <a:solidFill>
                  <a:srgbClr val="0000FF"/>
                </a:solidFill>
              </a:rPr>
              <a:t>Y</a:t>
            </a:r>
            <a:r>
              <a:rPr lang="zh-CN" altLang="en-US" sz="2000" b="1" dirty="0">
                <a:solidFill>
                  <a:srgbClr val="0000FF"/>
                </a:solidFill>
              </a:rPr>
              <a:t>轴为转化效率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b="1" dirty="0"/>
              <a:t>四个数据坐标如下</a:t>
            </a: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=(1,3)</a:t>
            </a: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=(1.5,3.2)</a:t>
            </a: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=(1.3,2.8)</a:t>
            </a: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=(3,1)</a:t>
            </a:r>
            <a:endParaRPr lang="en-US" altLang="zh-CN" sz="1800" dirty="0"/>
          </a:p>
        </p:txBody>
      </p:sp>
      <p:grpSp>
        <p:nvGrpSpPr>
          <p:cNvPr id="39941" name="Group 5"/>
          <p:cNvGrpSpPr>
            <a:grpSpLocks/>
          </p:cNvGrpSpPr>
          <p:nvPr/>
        </p:nvGrpSpPr>
        <p:grpSpPr bwMode="auto">
          <a:xfrm>
            <a:off x="7175748" y="3651250"/>
            <a:ext cx="3960812" cy="3206750"/>
            <a:chOff x="1111" y="1525"/>
            <a:chExt cx="2495" cy="2591"/>
          </a:xfrm>
        </p:grpSpPr>
        <p:sp>
          <p:nvSpPr>
            <p:cNvPr id="28677" name="Line 6"/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8" name="Line 7"/>
            <p:cNvSpPr>
              <a:spLocks noChangeShapeType="1"/>
            </p:cNvSpPr>
            <p:nvPr/>
          </p:nvSpPr>
          <p:spPr bwMode="auto">
            <a:xfrm>
              <a:off x="1383" y="3657"/>
              <a:ext cx="19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9" name="Line 8"/>
            <p:cNvSpPr>
              <a:spLocks noChangeShapeType="1"/>
            </p:cNvSpPr>
            <p:nvPr/>
          </p:nvSpPr>
          <p:spPr bwMode="auto">
            <a:xfrm>
              <a:off x="1383" y="3113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0" name="Line 9"/>
            <p:cNvSpPr>
              <a:spLocks noChangeShapeType="1"/>
            </p:cNvSpPr>
            <p:nvPr/>
          </p:nvSpPr>
          <p:spPr bwMode="auto">
            <a:xfrm>
              <a:off x="1383" y="202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1" name="Line 10"/>
            <p:cNvSpPr>
              <a:spLocks noChangeShapeType="1"/>
            </p:cNvSpPr>
            <p:nvPr/>
          </p:nvSpPr>
          <p:spPr bwMode="auto">
            <a:xfrm>
              <a:off x="1383" y="2568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2" name="Line 11"/>
            <p:cNvSpPr>
              <a:spLocks noChangeShapeType="1"/>
            </p:cNvSpPr>
            <p:nvPr/>
          </p:nvSpPr>
          <p:spPr bwMode="auto">
            <a:xfrm flipV="1">
              <a:off x="1927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3" name="Line 12"/>
            <p:cNvSpPr>
              <a:spLocks noChangeShapeType="1"/>
            </p:cNvSpPr>
            <p:nvPr/>
          </p:nvSpPr>
          <p:spPr bwMode="auto">
            <a:xfrm flipV="1">
              <a:off x="256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4" name="Line 13"/>
            <p:cNvSpPr>
              <a:spLocks noChangeShapeType="1"/>
            </p:cNvSpPr>
            <p:nvPr/>
          </p:nvSpPr>
          <p:spPr bwMode="auto">
            <a:xfrm flipV="1">
              <a:off x="315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5" name="Text Box 14"/>
            <p:cNvSpPr txBox="1">
              <a:spLocks noChangeArrowheads="1"/>
            </p:cNvSpPr>
            <p:nvPr/>
          </p:nvSpPr>
          <p:spPr bwMode="auto">
            <a:xfrm>
              <a:off x="1247" y="3657"/>
              <a:ext cx="2359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            1              2             3    x</a:t>
              </a:r>
            </a:p>
          </p:txBody>
        </p:sp>
        <p:sp>
          <p:nvSpPr>
            <p:cNvPr id="28686" name="Text Box 15"/>
            <p:cNvSpPr txBox="1">
              <a:spLocks noChangeArrowheads="1"/>
            </p:cNvSpPr>
            <p:nvPr/>
          </p:nvSpPr>
          <p:spPr bwMode="auto">
            <a:xfrm>
              <a:off x="1111" y="1525"/>
              <a:ext cx="227" cy="2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y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3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endParaRPr lang="en-US" altLang="zh-CN" sz="10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2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 sz="24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</p:txBody>
        </p:sp>
        <p:sp>
          <p:nvSpPr>
            <p:cNvPr id="28687" name="Oval 16"/>
            <p:cNvSpPr>
              <a:spLocks noChangeArrowheads="1"/>
            </p:cNvSpPr>
            <p:nvPr/>
          </p:nvSpPr>
          <p:spPr bwMode="auto">
            <a:xfrm>
              <a:off x="1882" y="2024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8" name="Oval 17"/>
            <p:cNvSpPr>
              <a:spLocks noChangeArrowheads="1"/>
            </p:cNvSpPr>
            <p:nvPr/>
          </p:nvSpPr>
          <p:spPr bwMode="auto">
            <a:xfrm>
              <a:off x="2018" y="2160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9" name="Oval 18"/>
            <p:cNvSpPr>
              <a:spLocks noChangeArrowheads="1"/>
            </p:cNvSpPr>
            <p:nvPr/>
          </p:nvSpPr>
          <p:spPr bwMode="auto">
            <a:xfrm>
              <a:off x="2154" y="1888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Oval 19"/>
            <p:cNvSpPr>
              <a:spLocks noChangeArrowheads="1"/>
            </p:cNvSpPr>
            <p:nvPr/>
          </p:nvSpPr>
          <p:spPr bwMode="auto">
            <a:xfrm>
              <a:off x="3107" y="3113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1" name="Text Box 20"/>
            <p:cNvSpPr txBox="1">
              <a:spLocks noChangeArrowheads="1"/>
            </p:cNvSpPr>
            <p:nvPr/>
          </p:nvSpPr>
          <p:spPr bwMode="auto">
            <a:xfrm>
              <a:off x="1701" y="1842"/>
              <a:ext cx="227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/>
                <a:t>x1</a:t>
              </a:r>
            </a:p>
          </p:txBody>
        </p:sp>
        <p:sp>
          <p:nvSpPr>
            <p:cNvPr id="28692" name="Text Box 21"/>
            <p:cNvSpPr txBox="1">
              <a:spLocks noChangeArrowheads="1"/>
            </p:cNvSpPr>
            <p:nvPr/>
          </p:nvSpPr>
          <p:spPr bwMode="auto">
            <a:xfrm>
              <a:off x="1882" y="2251"/>
              <a:ext cx="226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/>
                <a:t>x3</a:t>
              </a:r>
            </a:p>
          </p:txBody>
        </p:sp>
        <p:sp>
          <p:nvSpPr>
            <p:cNvPr id="28693" name="Text Box 22"/>
            <p:cNvSpPr txBox="1">
              <a:spLocks noChangeArrowheads="1"/>
            </p:cNvSpPr>
            <p:nvPr/>
          </p:nvSpPr>
          <p:spPr bwMode="auto">
            <a:xfrm>
              <a:off x="2200" y="1706"/>
              <a:ext cx="226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/>
                <a:t>x2</a:t>
              </a:r>
            </a:p>
          </p:txBody>
        </p:sp>
        <p:sp>
          <p:nvSpPr>
            <p:cNvPr id="28694" name="Text Box 23"/>
            <p:cNvSpPr txBox="1">
              <a:spLocks noChangeArrowheads="1"/>
            </p:cNvSpPr>
            <p:nvPr/>
          </p:nvSpPr>
          <p:spPr bwMode="auto">
            <a:xfrm>
              <a:off x="3061" y="2886"/>
              <a:ext cx="226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/>
                <a:t>x4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C0CCA7-A6F7-B4D7-4063-0C8B89122E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6" name="AutoShape 26"/>
          <p:cNvSpPr>
            <a:spLocks noChangeArrowheads="1"/>
          </p:cNvSpPr>
          <p:nvPr/>
        </p:nvSpPr>
        <p:spPr bwMode="auto">
          <a:xfrm rot="2430869">
            <a:off x="8364786" y="4005263"/>
            <a:ext cx="2474913" cy="863600"/>
          </a:xfrm>
          <a:prstGeom prst="roundRect">
            <a:avLst>
              <a:gd name="adj" fmla="val 16667"/>
            </a:avLst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4" name="Oval 24"/>
          <p:cNvSpPr>
            <a:spLocks noChangeArrowheads="1"/>
          </p:cNvSpPr>
          <p:nvPr/>
        </p:nvSpPr>
        <p:spPr bwMode="auto">
          <a:xfrm>
            <a:off x="8220323" y="3500438"/>
            <a:ext cx="360362" cy="3603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4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均值聚类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(HCM)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算法举例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196976"/>
            <a:ext cx="9252198" cy="5661025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现要聚为两类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和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类，设</a:t>
            </a:r>
          </a:p>
          <a:p>
            <a:pPr lvl="1" eaLnBrk="1" hangingPunct="1"/>
            <a:r>
              <a:rPr lang="en-US" altLang="zh-CN" sz="2000" b="1" dirty="0"/>
              <a:t>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={x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}, c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={x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,x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,x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}</a:t>
            </a:r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则聚类中心的坐标为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</a:rPr>
              <a:t>类</a:t>
            </a:r>
          </a:p>
          <a:p>
            <a:pPr lvl="2" eaLnBrk="1" hangingPunct="1"/>
            <a:r>
              <a:rPr lang="zh-CN" altLang="en-US" sz="1800" b="1" dirty="0"/>
              <a:t>即为</a:t>
            </a:r>
            <a:r>
              <a:rPr lang="en-US" altLang="zh-CN" sz="1800" b="1" dirty="0"/>
              <a:t>x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坐标值</a:t>
            </a:r>
            <a:r>
              <a:rPr lang="en-US" altLang="zh-CN" sz="1800" b="1" dirty="0"/>
              <a:t>(1,3)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</a:rPr>
              <a:t>类</a:t>
            </a:r>
          </a:p>
          <a:p>
            <a:pPr lvl="2" eaLnBrk="1" hangingPunct="1"/>
            <a:r>
              <a:rPr lang="en-US" altLang="zh-CN" sz="1800" b="1" dirty="0"/>
              <a:t>((1.5+1.3+3)/3,(3.2+2.5+1)/3)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CN" sz="1800" b="1" dirty="0"/>
              <a:t>  =(1.93,2.33)</a:t>
            </a:r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每个数据点到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,c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中心的距离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||=[(1-1)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+(3-3)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]</a:t>
            </a:r>
            <a:r>
              <a:rPr lang="en-US" altLang="zh-CN" sz="2000" b="1" baseline="30000" dirty="0"/>
              <a:t>0.5</a:t>
            </a:r>
            <a:r>
              <a:rPr lang="en-US" altLang="zh-CN" sz="2000" b="1" dirty="0"/>
              <a:t>=0.0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21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</a:t>
            </a:r>
            <a:r>
              <a:rPr lang="en-US" altLang="zh-CN" sz="2000" b="1" dirty="0">
                <a:solidFill>
                  <a:srgbClr val="008000"/>
                </a:solidFill>
              </a:rPr>
              <a:t>0.54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31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</a:t>
            </a:r>
            <a:r>
              <a:rPr lang="en-US" altLang="zh-CN" sz="2000" b="1" dirty="0">
                <a:solidFill>
                  <a:srgbClr val="008000"/>
                </a:solidFill>
              </a:rPr>
              <a:t>0.36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41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||=2.83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=1.14,d</a:t>
            </a:r>
            <a:r>
              <a:rPr lang="en-US" altLang="zh-CN" sz="2000" b="1" baseline="-25000" dirty="0"/>
              <a:t>22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CC00FF"/>
                </a:solidFill>
              </a:rPr>
              <a:t>0.97</a:t>
            </a:r>
            <a:r>
              <a:rPr lang="en-US" altLang="zh-CN" sz="2000" b="1" dirty="0"/>
              <a:t>,d</a:t>
            </a:r>
            <a:r>
              <a:rPr lang="en-US" altLang="zh-CN" sz="2000" b="1" baseline="-25000" dirty="0"/>
              <a:t>32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CC00FF"/>
                </a:solidFill>
              </a:rPr>
              <a:t>0.78</a:t>
            </a:r>
            <a:r>
              <a:rPr lang="en-US" altLang="zh-CN" sz="2000" b="1" dirty="0"/>
              <a:t>,d</a:t>
            </a:r>
            <a:r>
              <a:rPr lang="en-US" altLang="zh-CN" sz="2000" b="1" baseline="-25000" dirty="0"/>
              <a:t>42</a:t>
            </a:r>
            <a:r>
              <a:rPr lang="en-US" altLang="zh-CN" sz="2000" b="1" dirty="0"/>
              <a:t>=1.70</a:t>
            </a:r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得新的划分为：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={x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,x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,x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</a:rPr>
              <a:t>,}  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={x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4</a:t>
            </a:r>
            <a:r>
              <a:rPr lang="en-US" altLang="zh-CN" sz="2400" b="1" dirty="0">
                <a:solidFill>
                  <a:srgbClr val="0000FF"/>
                </a:solidFill>
              </a:rPr>
              <a:t>}</a:t>
            </a:r>
          </a:p>
          <a:p>
            <a:pPr eaLnBrk="1" hangingPunct="1"/>
            <a:endParaRPr lang="en-US" altLang="zh-CN" sz="2000" dirty="0"/>
          </a:p>
        </p:txBody>
      </p:sp>
      <p:grpSp>
        <p:nvGrpSpPr>
          <p:cNvPr id="29702" name="Group 4"/>
          <p:cNvGrpSpPr>
            <a:grpSpLocks/>
          </p:cNvGrpSpPr>
          <p:nvPr/>
        </p:nvGrpSpPr>
        <p:grpSpPr bwMode="auto">
          <a:xfrm>
            <a:off x="7175748" y="3068638"/>
            <a:ext cx="3960812" cy="3206750"/>
            <a:chOff x="1111" y="1525"/>
            <a:chExt cx="2495" cy="2591"/>
          </a:xfrm>
        </p:grpSpPr>
        <p:sp>
          <p:nvSpPr>
            <p:cNvPr id="29705" name="Line 5"/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6" name="Line 6"/>
            <p:cNvSpPr>
              <a:spLocks noChangeShapeType="1"/>
            </p:cNvSpPr>
            <p:nvPr/>
          </p:nvSpPr>
          <p:spPr bwMode="auto">
            <a:xfrm>
              <a:off x="1383" y="3657"/>
              <a:ext cx="19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Line 7"/>
            <p:cNvSpPr>
              <a:spLocks noChangeShapeType="1"/>
            </p:cNvSpPr>
            <p:nvPr/>
          </p:nvSpPr>
          <p:spPr bwMode="auto">
            <a:xfrm>
              <a:off x="1383" y="3113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Line 8"/>
            <p:cNvSpPr>
              <a:spLocks noChangeShapeType="1"/>
            </p:cNvSpPr>
            <p:nvPr/>
          </p:nvSpPr>
          <p:spPr bwMode="auto">
            <a:xfrm>
              <a:off x="1383" y="202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Line 9"/>
            <p:cNvSpPr>
              <a:spLocks noChangeShapeType="1"/>
            </p:cNvSpPr>
            <p:nvPr/>
          </p:nvSpPr>
          <p:spPr bwMode="auto">
            <a:xfrm>
              <a:off x="1383" y="2568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Line 10"/>
            <p:cNvSpPr>
              <a:spLocks noChangeShapeType="1"/>
            </p:cNvSpPr>
            <p:nvPr/>
          </p:nvSpPr>
          <p:spPr bwMode="auto">
            <a:xfrm flipV="1">
              <a:off x="1927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11"/>
            <p:cNvSpPr>
              <a:spLocks noChangeShapeType="1"/>
            </p:cNvSpPr>
            <p:nvPr/>
          </p:nvSpPr>
          <p:spPr bwMode="auto">
            <a:xfrm flipV="1">
              <a:off x="256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12"/>
            <p:cNvSpPr>
              <a:spLocks noChangeShapeType="1"/>
            </p:cNvSpPr>
            <p:nvPr/>
          </p:nvSpPr>
          <p:spPr bwMode="auto">
            <a:xfrm flipV="1">
              <a:off x="315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Text Box 13"/>
            <p:cNvSpPr txBox="1">
              <a:spLocks noChangeArrowheads="1"/>
            </p:cNvSpPr>
            <p:nvPr/>
          </p:nvSpPr>
          <p:spPr bwMode="auto">
            <a:xfrm>
              <a:off x="1247" y="3657"/>
              <a:ext cx="2359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0            1              2             3    x</a:t>
              </a:r>
            </a:p>
          </p:txBody>
        </p:sp>
        <p:sp>
          <p:nvSpPr>
            <p:cNvPr id="29714" name="Text Box 14"/>
            <p:cNvSpPr txBox="1">
              <a:spLocks noChangeArrowheads="1"/>
            </p:cNvSpPr>
            <p:nvPr/>
          </p:nvSpPr>
          <p:spPr bwMode="auto">
            <a:xfrm>
              <a:off x="1111" y="1525"/>
              <a:ext cx="227" cy="2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y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3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endParaRPr lang="en-US" altLang="zh-CN" sz="10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2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 sz="24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</p:txBody>
        </p:sp>
        <p:sp>
          <p:nvSpPr>
            <p:cNvPr id="29715" name="Oval 15"/>
            <p:cNvSpPr>
              <a:spLocks noChangeArrowheads="1"/>
            </p:cNvSpPr>
            <p:nvPr/>
          </p:nvSpPr>
          <p:spPr bwMode="auto">
            <a:xfrm>
              <a:off x="1882" y="2024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6" name="Oval 16"/>
            <p:cNvSpPr>
              <a:spLocks noChangeArrowheads="1"/>
            </p:cNvSpPr>
            <p:nvPr/>
          </p:nvSpPr>
          <p:spPr bwMode="auto">
            <a:xfrm>
              <a:off x="2018" y="2160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Oval 17"/>
            <p:cNvSpPr>
              <a:spLocks noChangeArrowheads="1"/>
            </p:cNvSpPr>
            <p:nvPr/>
          </p:nvSpPr>
          <p:spPr bwMode="auto">
            <a:xfrm>
              <a:off x="2154" y="1888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8" name="Oval 18"/>
            <p:cNvSpPr>
              <a:spLocks noChangeArrowheads="1"/>
            </p:cNvSpPr>
            <p:nvPr/>
          </p:nvSpPr>
          <p:spPr bwMode="auto">
            <a:xfrm>
              <a:off x="3107" y="3113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Text Box 19"/>
            <p:cNvSpPr txBox="1">
              <a:spLocks noChangeArrowheads="1"/>
            </p:cNvSpPr>
            <p:nvPr/>
          </p:nvSpPr>
          <p:spPr bwMode="auto">
            <a:xfrm>
              <a:off x="1701" y="1842"/>
              <a:ext cx="294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/>
                <a:t>x</a:t>
              </a:r>
              <a:r>
                <a:rPr lang="en-US" altLang="zh-CN" b="1" baseline="-25000" dirty="0"/>
                <a:t>1</a:t>
              </a:r>
              <a:endParaRPr lang="en-US" altLang="zh-CN" b="1" dirty="0"/>
            </a:p>
          </p:txBody>
        </p:sp>
        <p:sp>
          <p:nvSpPr>
            <p:cNvPr id="29720" name="Text Box 20"/>
            <p:cNvSpPr txBox="1">
              <a:spLocks noChangeArrowheads="1"/>
            </p:cNvSpPr>
            <p:nvPr/>
          </p:nvSpPr>
          <p:spPr bwMode="auto">
            <a:xfrm>
              <a:off x="1882" y="2251"/>
              <a:ext cx="317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3</a:t>
              </a:r>
              <a:endParaRPr lang="en-US" altLang="zh-CN" sz="1200" b="1"/>
            </a:p>
          </p:txBody>
        </p:sp>
        <p:sp>
          <p:nvSpPr>
            <p:cNvPr id="29721" name="Text Box 21"/>
            <p:cNvSpPr txBox="1">
              <a:spLocks noChangeArrowheads="1"/>
            </p:cNvSpPr>
            <p:nvPr/>
          </p:nvSpPr>
          <p:spPr bwMode="auto">
            <a:xfrm>
              <a:off x="2200" y="1706"/>
              <a:ext cx="295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29722" name="Text Box 22"/>
            <p:cNvSpPr txBox="1">
              <a:spLocks noChangeArrowheads="1"/>
            </p:cNvSpPr>
            <p:nvPr/>
          </p:nvSpPr>
          <p:spPr bwMode="auto">
            <a:xfrm>
              <a:off x="3061" y="2886"/>
              <a:ext cx="318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</p:grpSp>
      <p:sp>
        <p:nvSpPr>
          <p:cNvPr id="29703" name="Rectangle 23"/>
          <p:cNvSpPr>
            <a:spLocks noChangeArrowheads="1"/>
          </p:cNvSpPr>
          <p:nvPr/>
        </p:nvSpPr>
        <p:spPr bwMode="auto">
          <a:xfrm>
            <a:off x="8652124" y="1700214"/>
            <a:ext cx="20161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/>
              <a:t>x</a:t>
            </a:r>
            <a:r>
              <a:rPr lang="en-US" altLang="zh-CN" b="1" baseline="-25000"/>
              <a:t>1</a:t>
            </a:r>
            <a:r>
              <a:rPr lang="en-US" altLang="zh-CN" b="1"/>
              <a:t>=(1,3)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2</a:t>
            </a:r>
            <a:r>
              <a:rPr lang="en-US" altLang="zh-CN" b="1"/>
              <a:t>=(1.5,3.2)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3</a:t>
            </a:r>
            <a:r>
              <a:rPr lang="en-US" altLang="zh-CN" b="1"/>
              <a:t>=(1.3,2.8)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4</a:t>
            </a:r>
            <a:r>
              <a:rPr lang="en-US" altLang="zh-CN" b="1"/>
              <a:t>=(3,1)</a:t>
            </a:r>
          </a:p>
        </p:txBody>
      </p:sp>
      <p:sp>
        <p:nvSpPr>
          <p:cNvPr id="40987" name="Oval 27"/>
          <p:cNvSpPr>
            <a:spLocks noChangeArrowheads="1"/>
          </p:cNvSpPr>
          <p:nvPr/>
        </p:nvSpPr>
        <p:spPr bwMode="auto">
          <a:xfrm>
            <a:off x="9660185" y="4437064"/>
            <a:ext cx="71438" cy="71437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3B30D7-DD78-D6BB-1D63-3064C312E7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6" grpId="0" uiExpand="1" animBg="1"/>
      <p:bldP spid="40984" grpId="0" uiExpand="1" animBg="1"/>
      <p:bldP spid="40963" grpId="0" uiExpand="1" build="p"/>
      <p:bldP spid="40987" grpId="0" uiExpan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AutoShape 2"/>
          <p:cNvSpPr>
            <a:spLocks noChangeArrowheads="1"/>
          </p:cNvSpPr>
          <p:nvPr/>
        </p:nvSpPr>
        <p:spPr bwMode="auto">
          <a:xfrm>
            <a:off x="8353227" y="3276601"/>
            <a:ext cx="919163" cy="79216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" name="Oval 3"/>
          <p:cNvSpPr>
            <a:spLocks noChangeArrowheads="1"/>
          </p:cNvSpPr>
          <p:nvPr/>
        </p:nvSpPr>
        <p:spPr bwMode="auto">
          <a:xfrm>
            <a:off x="10380464" y="4868863"/>
            <a:ext cx="360362" cy="360362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均值聚类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(HCM)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算法举例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35273" y="1341439"/>
            <a:ext cx="6445053" cy="5337175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对新的划分：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={x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,x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,x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</a:rPr>
              <a:t>,}  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={x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4</a:t>
            </a:r>
            <a:r>
              <a:rPr lang="en-US" altLang="zh-CN" sz="2400" b="1" dirty="0">
                <a:solidFill>
                  <a:srgbClr val="0000FF"/>
                </a:solidFill>
              </a:rPr>
              <a:t>}</a:t>
            </a: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</a:rPr>
              <a:t>则聚类中心的坐标为</a:t>
            </a:r>
          </a:p>
          <a:p>
            <a:pPr lvl="1" eaLnBrk="1" hangingPunct="1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类</a:t>
            </a:r>
          </a:p>
          <a:p>
            <a:pPr lvl="2" eaLnBrk="1" hangingPunct="1"/>
            <a:r>
              <a:rPr lang="en-US" altLang="zh-CN" sz="2000" b="1" dirty="0"/>
              <a:t>((1+1.5+1.3)/3,(3+3.2+2.5)/3)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CN" sz="2000" b="1" dirty="0"/>
              <a:t>  =(1.26,3.0)</a:t>
            </a:r>
          </a:p>
          <a:p>
            <a:pPr lvl="1" eaLnBrk="1" hangingPunct="1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类</a:t>
            </a:r>
          </a:p>
          <a:p>
            <a:pPr lvl="2" eaLnBrk="1" hangingPunct="1"/>
            <a:r>
              <a:rPr lang="zh-CN" altLang="en-US" sz="2000" b="1" dirty="0"/>
              <a:t>即为</a:t>
            </a:r>
            <a:r>
              <a:rPr lang="en-US" altLang="zh-CN" sz="2000" b="1" dirty="0"/>
              <a:t>x</a:t>
            </a:r>
            <a:r>
              <a:rPr lang="en-US" altLang="zh-CN" sz="2000" b="1" baseline="-25000" dirty="0"/>
              <a:t>4</a:t>
            </a:r>
            <a:r>
              <a:rPr lang="zh-CN" altLang="en-US" sz="2000" b="1" dirty="0"/>
              <a:t>坐标值</a:t>
            </a:r>
            <a:r>
              <a:rPr lang="en-US" altLang="zh-CN" sz="2000" b="1" dirty="0"/>
              <a:t>(3,1)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400" b="1" dirty="0">
                <a:solidFill>
                  <a:srgbClr val="CC00FF"/>
                </a:solidFill>
              </a:rPr>
              <a:t>每个数据点到</a:t>
            </a:r>
            <a:r>
              <a:rPr lang="en-US" altLang="zh-CN" sz="2400" b="1" dirty="0">
                <a:solidFill>
                  <a:srgbClr val="CC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CC00FF"/>
                </a:solidFill>
              </a:rPr>
              <a:t>1</a:t>
            </a:r>
            <a:r>
              <a:rPr lang="en-US" altLang="zh-CN" sz="2400" b="1" dirty="0">
                <a:solidFill>
                  <a:srgbClr val="CC00FF"/>
                </a:solidFill>
              </a:rPr>
              <a:t>,c</a:t>
            </a:r>
            <a:r>
              <a:rPr lang="en-US" altLang="zh-CN" sz="2400" b="1" baseline="-25000" dirty="0">
                <a:solidFill>
                  <a:srgbClr val="CC00FF"/>
                </a:solidFill>
              </a:rPr>
              <a:t>2</a:t>
            </a:r>
            <a:r>
              <a:rPr lang="zh-CN" altLang="en-US" sz="2400" b="1" dirty="0">
                <a:solidFill>
                  <a:srgbClr val="CC00FF"/>
                </a:solidFill>
              </a:rPr>
              <a:t>中心的距离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||=[(1-1.26)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+(3-3)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]</a:t>
            </a:r>
            <a:r>
              <a:rPr lang="en-US" altLang="zh-CN" sz="2000" b="1" baseline="30000" dirty="0"/>
              <a:t>0.5</a:t>
            </a:r>
            <a:endParaRPr lang="en-US" altLang="zh-CN" sz="2000" b="1" dirty="0"/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b="1" dirty="0"/>
              <a:t>          =0.26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21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</a:t>
            </a:r>
            <a:r>
              <a:rPr lang="en-US" altLang="zh-CN" sz="2000" b="1" dirty="0">
                <a:solidFill>
                  <a:srgbClr val="008000"/>
                </a:solidFill>
              </a:rPr>
              <a:t>0.31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31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</a:t>
            </a:r>
            <a:r>
              <a:rPr lang="en-US" altLang="zh-CN" sz="2000" b="1" dirty="0">
                <a:solidFill>
                  <a:srgbClr val="008000"/>
                </a:solidFill>
              </a:rPr>
              <a:t>0.20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41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||=2.65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=2.82, d</a:t>
            </a:r>
            <a:r>
              <a:rPr lang="en-US" altLang="zh-CN" sz="2000" b="1" baseline="-25000" dirty="0"/>
              <a:t>22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CC00FF"/>
                </a:solidFill>
              </a:rPr>
              <a:t>2.66</a:t>
            </a:r>
            <a:r>
              <a:rPr lang="en-US" altLang="zh-CN" sz="2000" b="1" dirty="0"/>
              <a:t>, d</a:t>
            </a:r>
            <a:r>
              <a:rPr lang="en-US" altLang="zh-CN" sz="2000" b="1" baseline="-25000" dirty="0"/>
              <a:t>32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CC00FF"/>
                </a:solidFill>
              </a:rPr>
              <a:t>2.47</a:t>
            </a:r>
            <a:r>
              <a:rPr lang="en-US" altLang="zh-CN" sz="2000" b="1" dirty="0"/>
              <a:t>, d</a:t>
            </a:r>
            <a:r>
              <a:rPr lang="en-US" altLang="zh-CN" sz="2000" b="1" baseline="-25000" dirty="0"/>
              <a:t>42</a:t>
            </a:r>
            <a:r>
              <a:rPr lang="en-US" altLang="zh-CN" sz="2000" b="1" dirty="0"/>
              <a:t>=0.0</a:t>
            </a:r>
            <a:endParaRPr lang="en-US" altLang="zh-CN" sz="2000" dirty="0"/>
          </a:p>
        </p:txBody>
      </p:sp>
      <p:grpSp>
        <p:nvGrpSpPr>
          <p:cNvPr id="30726" name="Group 6"/>
          <p:cNvGrpSpPr>
            <a:grpSpLocks/>
          </p:cNvGrpSpPr>
          <p:nvPr/>
        </p:nvGrpSpPr>
        <p:grpSpPr bwMode="auto">
          <a:xfrm>
            <a:off x="7319764" y="3068638"/>
            <a:ext cx="3960812" cy="3206750"/>
            <a:chOff x="1111" y="1525"/>
            <a:chExt cx="2495" cy="2591"/>
          </a:xfrm>
        </p:grpSpPr>
        <p:sp>
          <p:nvSpPr>
            <p:cNvPr id="30730" name="Line 7"/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1" name="Line 8"/>
            <p:cNvSpPr>
              <a:spLocks noChangeShapeType="1"/>
            </p:cNvSpPr>
            <p:nvPr/>
          </p:nvSpPr>
          <p:spPr bwMode="auto">
            <a:xfrm>
              <a:off x="1383" y="3657"/>
              <a:ext cx="19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Line 9"/>
            <p:cNvSpPr>
              <a:spLocks noChangeShapeType="1"/>
            </p:cNvSpPr>
            <p:nvPr/>
          </p:nvSpPr>
          <p:spPr bwMode="auto">
            <a:xfrm>
              <a:off x="1383" y="3113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Line 10"/>
            <p:cNvSpPr>
              <a:spLocks noChangeShapeType="1"/>
            </p:cNvSpPr>
            <p:nvPr/>
          </p:nvSpPr>
          <p:spPr bwMode="auto">
            <a:xfrm>
              <a:off x="1383" y="202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4" name="Line 11"/>
            <p:cNvSpPr>
              <a:spLocks noChangeShapeType="1"/>
            </p:cNvSpPr>
            <p:nvPr/>
          </p:nvSpPr>
          <p:spPr bwMode="auto">
            <a:xfrm>
              <a:off x="1383" y="2568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Line 12"/>
            <p:cNvSpPr>
              <a:spLocks noChangeShapeType="1"/>
            </p:cNvSpPr>
            <p:nvPr/>
          </p:nvSpPr>
          <p:spPr bwMode="auto">
            <a:xfrm flipV="1">
              <a:off x="1927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13"/>
            <p:cNvSpPr>
              <a:spLocks noChangeShapeType="1"/>
            </p:cNvSpPr>
            <p:nvPr/>
          </p:nvSpPr>
          <p:spPr bwMode="auto">
            <a:xfrm flipV="1">
              <a:off x="256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Line 14"/>
            <p:cNvSpPr>
              <a:spLocks noChangeShapeType="1"/>
            </p:cNvSpPr>
            <p:nvPr/>
          </p:nvSpPr>
          <p:spPr bwMode="auto">
            <a:xfrm flipV="1">
              <a:off x="315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Text Box 15"/>
            <p:cNvSpPr txBox="1">
              <a:spLocks noChangeArrowheads="1"/>
            </p:cNvSpPr>
            <p:nvPr/>
          </p:nvSpPr>
          <p:spPr bwMode="auto">
            <a:xfrm>
              <a:off x="1247" y="3657"/>
              <a:ext cx="2359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            1              2             3    x</a:t>
              </a:r>
            </a:p>
          </p:txBody>
        </p:sp>
        <p:sp>
          <p:nvSpPr>
            <p:cNvPr id="30739" name="Text Box 16"/>
            <p:cNvSpPr txBox="1">
              <a:spLocks noChangeArrowheads="1"/>
            </p:cNvSpPr>
            <p:nvPr/>
          </p:nvSpPr>
          <p:spPr bwMode="auto">
            <a:xfrm>
              <a:off x="1111" y="1525"/>
              <a:ext cx="227" cy="2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y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3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endParaRPr lang="en-US" altLang="zh-CN" sz="10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2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 sz="24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</p:txBody>
        </p:sp>
        <p:sp>
          <p:nvSpPr>
            <p:cNvPr id="30740" name="Oval 17"/>
            <p:cNvSpPr>
              <a:spLocks noChangeArrowheads="1"/>
            </p:cNvSpPr>
            <p:nvPr/>
          </p:nvSpPr>
          <p:spPr bwMode="auto">
            <a:xfrm>
              <a:off x="1882" y="2024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1" name="Oval 18"/>
            <p:cNvSpPr>
              <a:spLocks noChangeArrowheads="1"/>
            </p:cNvSpPr>
            <p:nvPr/>
          </p:nvSpPr>
          <p:spPr bwMode="auto">
            <a:xfrm>
              <a:off x="2018" y="2160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2" name="Oval 19"/>
            <p:cNvSpPr>
              <a:spLocks noChangeArrowheads="1"/>
            </p:cNvSpPr>
            <p:nvPr/>
          </p:nvSpPr>
          <p:spPr bwMode="auto">
            <a:xfrm>
              <a:off x="2154" y="1888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3" name="Oval 20"/>
            <p:cNvSpPr>
              <a:spLocks noChangeArrowheads="1"/>
            </p:cNvSpPr>
            <p:nvPr/>
          </p:nvSpPr>
          <p:spPr bwMode="auto">
            <a:xfrm>
              <a:off x="3107" y="3113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4" name="Text Box 21"/>
            <p:cNvSpPr txBox="1">
              <a:spLocks noChangeArrowheads="1"/>
            </p:cNvSpPr>
            <p:nvPr/>
          </p:nvSpPr>
          <p:spPr bwMode="auto">
            <a:xfrm>
              <a:off x="1632" y="1837"/>
              <a:ext cx="386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x</a:t>
              </a:r>
              <a:r>
                <a:rPr lang="en-US" altLang="zh-CN" sz="1600" b="1" baseline="-25000"/>
                <a:t>1</a:t>
              </a:r>
              <a:endParaRPr lang="en-US" altLang="zh-CN" sz="1600" b="1"/>
            </a:p>
          </p:txBody>
        </p:sp>
        <p:sp>
          <p:nvSpPr>
            <p:cNvPr id="30745" name="Text Box 22"/>
            <p:cNvSpPr txBox="1">
              <a:spLocks noChangeArrowheads="1"/>
            </p:cNvSpPr>
            <p:nvPr/>
          </p:nvSpPr>
          <p:spPr bwMode="auto">
            <a:xfrm>
              <a:off x="1882" y="2251"/>
              <a:ext cx="317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30746" name="Text Box 23"/>
            <p:cNvSpPr txBox="1">
              <a:spLocks noChangeArrowheads="1"/>
            </p:cNvSpPr>
            <p:nvPr/>
          </p:nvSpPr>
          <p:spPr bwMode="auto">
            <a:xfrm>
              <a:off x="2200" y="1706"/>
              <a:ext cx="362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30747" name="Text Box 24"/>
            <p:cNvSpPr txBox="1">
              <a:spLocks noChangeArrowheads="1"/>
            </p:cNvSpPr>
            <p:nvPr/>
          </p:nvSpPr>
          <p:spPr bwMode="auto">
            <a:xfrm>
              <a:off x="3039" y="2821"/>
              <a:ext cx="340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</p:grpSp>
      <p:sp>
        <p:nvSpPr>
          <p:cNvPr id="30727" name="Rectangle 25"/>
          <p:cNvSpPr>
            <a:spLocks noChangeArrowheads="1"/>
          </p:cNvSpPr>
          <p:nvPr/>
        </p:nvSpPr>
        <p:spPr bwMode="auto">
          <a:xfrm>
            <a:off x="8940602" y="1844676"/>
            <a:ext cx="20161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/>
              <a:t>x</a:t>
            </a:r>
            <a:r>
              <a:rPr lang="en-US" altLang="zh-CN" b="1" baseline="-25000"/>
              <a:t>1</a:t>
            </a:r>
            <a:r>
              <a:rPr lang="en-US" altLang="zh-CN" b="1"/>
              <a:t>=(1,3)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2</a:t>
            </a:r>
            <a:r>
              <a:rPr lang="en-US" altLang="zh-CN" b="1"/>
              <a:t>=(1.5,3.2)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3</a:t>
            </a:r>
            <a:r>
              <a:rPr lang="en-US" altLang="zh-CN" b="1"/>
              <a:t>=(1.3,2.8)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4</a:t>
            </a:r>
            <a:r>
              <a:rPr lang="en-US" altLang="zh-CN" b="1"/>
              <a:t>=(3,1)</a:t>
            </a:r>
          </a:p>
        </p:txBody>
      </p:sp>
      <p:sp>
        <p:nvSpPr>
          <p:cNvPr id="42010" name="Oval 26"/>
          <p:cNvSpPr>
            <a:spLocks noChangeArrowheads="1"/>
          </p:cNvSpPr>
          <p:nvPr/>
        </p:nvSpPr>
        <p:spPr bwMode="auto">
          <a:xfrm>
            <a:off x="8796140" y="3644900"/>
            <a:ext cx="71437" cy="71438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1" name="Rectangle 27"/>
          <p:cNvSpPr>
            <a:spLocks noChangeArrowheads="1"/>
          </p:cNvSpPr>
          <p:nvPr/>
        </p:nvSpPr>
        <p:spPr bwMode="auto">
          <a:xfrm>
            <a:off x="7680325" y="6308725"/>
            <a:ext cx="26558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00FF"/>
                </a:solidFill>
              </a:rPr>
              <a:t>c</a:t>
            </a:r>
            <a:r>
              <a:rPr lang="en-US" altLang="zh-CN" sz="2000" b="1" baseline="-25000">
                <a:solidFill>
                  <a:srgbClr val="0000FF"/>
                </a:solidFill>
              </a:rPr>
              <a:t>1</a:t>
            </a:r>
            <a:r>
              <a:rPr lang="en-US" altLang="zh-CN" sz="2000" b="1">
                <a:solidFill>
                  <a:srgbClr val="0000FF"/>
                </a:solidFill>
              </a:rPr>
              <a:t>={x</a:t>
            </a:r>
            <a:r>
              <a:rPr lang="en-US" altLang="zh-CN" sz="2000" b="1" baseline="-25000">
                <a:solidFill>
                  <a:srgbClr val="0000FF"/>
                </a:solidFill>
              </a:rPr>
              <a:t>1</a:t>
            </a:r>
            <a:r>
              <a:rPr lang="en-US" altLang="zh-CN" sz="2000" b="1">
                <a:solidFill>
                  <a:srgbClr val="0000FF"/>
                </a:solidFill>
              </a:rPr>
              <a:t>,x</a:t>
            </a:r>
            <a:r>
              <a:rPr lang="en-US" altLang="zh-CN" sz="2000" b="1" baseline="-25000">
                <a:solidFill>
                  <a:srgbClr val="0000FF"/>
                </a:solidFill>
              </a:rPr>
              <a:t>2</a:t>
            </a:r>
            <a:r>
              <a:rPr lang="en-US" altLang="zh-CN" sz="2000" b="1">
                <a:solidFill>
                  <a:srgbClr val="0000FF"/>
                </a:solidFill>
              </a:rPr>
              <a:t>,x</a:t>
            </a:r>
            <a:r>
              <a:rPr lang="en-US" altLang="zh-CN" sz="2000" b="1" baseline="-25000">
                <a:solidFill>
                  <a:srgbClr val="0000FF"/>
                </a:solidFill>
              </a:rPr>
              <a:t>3</a:t>
            </a:r>
            <a:r>
              <a:rPr lang="en-US" altLang="zh-CN" sz="2000" b="1">
                <a:solidFill>
                  <a:srgbClr val="0000FF"/>
                </a:solidFill>
              </a:rPr>
              <a:t>,}  c</a:t>
            </a:r>
            <a:r>
              <a:rPr lang="en-US" altLang="zh-CN" sz="2000" b="1" baseline="-25000">
                <a:solidFill>
                  <a:srgbClr val="0000FF"/>
                </a:solidFill>
              </a:rPr>
              <a:t>2</a:t>
            </a:r>
            <a:r>
              <a:rPr lang="en-US" altLang="zh-CN" sz="2000" b="1">
                <a:solidFill>
                  <a:srgbClr val="0000FF"/>
                </a:solidFill>
              </a:rPr>
              <a:t>={x</a:t>
            </a:r>
            <a:r>
              <a:rPr lang="en-US" altLang="zh-CN" sz="2000" b="1" baseline="-25000">
                <a:solidFill>
                  <a:srgbClr val="0000FF"/>
                </a:solidFill>
              </a:rPr>
              <a:t>4</a:t>
            </a:r>
            <a:r>
              <a:rPr lang="en-US" altLang="zh-CN" sz="2000" b="1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4D9EBB-28E9-FD20-674C-89CD84F2AB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9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9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9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9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19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19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9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9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9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/>
      <p:bldP spid="41987" grpId="0" animBg="1"/>
      <p:bldP spid="41989" grpId="0" build="p"/>
      <p:bldP spid="42010" grpId="0" animBg="1"/>
      <p:bldP spid="420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423588" y="116632"/>
            <a:ext cx="9396536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模糊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均值聚类算法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FCM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的目标函数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199456" y="4629169"/>
            <a:ext cx="8229600" cy="47902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/>
              <a:t>可以用拉格朗日乘数法求解</a:t>
            </a:r>
            <a:r>
              <a:rPr lang="en-US" altLang="zh-CN" sz="2800" b="1" dirty="0"/>
              <a:t>:</a:t>
            </a:r>
            <a:endParaRPr lang="zh-CN" altLang="en-US" sz="2800" b="1" dirty="0"/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364246"/>
              </p:ext>
            </p:extLst>
          </p:nvPr>
        </p:nvGraphicFramePr>
        <p:xfrm>
          <a:off x="4151784" y="1556792"/>
          <a:ext cx="4556125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080" imgH="685800" progId="Equation.DSMT4">
                  <p:embed/>
                </p:oleObj>
              </mc:Choice>
              <mc:Fallback>
                <p:oleObj name="Equation" r:id="rId3" imgW="19810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1556792"/>
                        <a:ext cx="4556125" cy="157003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682554"/>
              </p:ext>
            </p:extLst>
          </p:nvPr>
        </p:nvGraphicFramePr>
        <p:xfrm>
          <a:off x="2367152" y="3315927"/>
          <a:ext cx="790257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3680" imgH="482400" progId="Equation.DSMT4">
                  <p:embed/>
                </p:oleObj>
              </mc:Choice>
              <mc:Fallback>
                <p:oleObj name="Equation" r:id="rId5" imgW="4063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152" y="3315927"/>
                        <a:ext cx="7902575" cy="944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631504" y="1527617"/>
            <a:ext cx="1880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目标函数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004387" y="3495822"/>
            <a:ext cx="1254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其中，</a:t>
            </a:r>
          </a:p>
        </p:txBody>
      </p:sp>
      <p:graphicFrame>
        <p:nvGraphicFramePr>
          <p:cNvPr id="2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495568"/>
              </p:ext>
            </p:extLst>
          </p:nvPr>
        </p:nvGraphicFramePr>
        <p:xfrm>
          <a:off x="3154364" y="5476876"/>
          <a:ext cx="557847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25680" imgH="457200" progId="Equation.DSMT4">
                  <p:embed/>
                </p:oleObj>
              </mc:Choice>
              <mc:Fallback>
                <p:oleObj name="Equation" r:id="rId7" imgW="2425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4" y="5476876"/>
                        <a:ext cx="5578475" cy="1046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FEEC28-B856-E299-CED7-61D1092698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2281A0BA-21C9-348D-3A14-45D821C6C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09134"/>
              </p:ext>
            </p:extLst>
          </p:nvPr>
        </p:nvGraphicFramePr>
        <p:xfrm>
          <a:off x="9126727" y="1677330"/>
          <a:ext cx="22860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66680" imgH="304560" progId="Equation.DSMT4">
                  <p:embed/>
                </p:oleObj>
              </mc:Choice>
              <mc:Fallback>
                <p:oleObj name="Equation" r:id="rId9" imgW="1066680" imgH="30456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1D4FAEEC-6298-49D7-1955-B365FEAD5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6727" y="1677330"/>
                        <a:ext cx="22860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43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7" grpId="0"/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812884"/>
              </p:ext>
            </p:extLst>
          </p:nvPr>
        </p:nvGraphicFramePr>
        <p:xfrm>
          <a:off x="7896150" y="5013176"/>
          <a:ext cx="3600450" cy="169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787320" progId="Equation.DSMT4">
                  <p:embed/>
                </p:oleObj>
              </mc:Choice>
              <mc:Fallback>
                <p:oleObj name="Equation" r:id="rId3" imgW="16761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150" y="5013176"/>
                        <a:ext cx="3600450" cy="1690687"/>
                      </a:xfrm>
                      <a:prstGeom prst="rect">
                        <a:avLst/>
                      </a:prstGeom>
                      <a:solidFill>
                        <a:srgbClr val="99FF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FCM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算法最佳隶属函数的确定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983432" y="2547481"/>
            <a:ext cx="6550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根据最优化的一阶必要条件</a:t>
            </a:r>
            <a:r>
              <a:rPr lang="en-US" altLang="zh-CN" sz="2800" b="1" dirty="0"/>
              <a:t>(KT</a:t>
            </a:r>
            <a:r>
              <a:rPr lang="zh-CN" altLang="en-US" sz="2800" b="1" dirty="0"/>
              <a:t>条件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得：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068033" y="4849996"/>
            <a:ext cx="23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(2)</a:t>
            </a:r>
            <a:r>
              <a:rPr lang="zh-CN" altLang="en-US" sz="2800" b="1" dirty="0"/>
              <a:t>代入</a:t>
            </a:r>
            <a:r>
              <a:rPr lang="en-US" altLang="zh-CN" sz="2800" b="1" dirty="0"/>
              <a:t>(1)</a:t>
            </a:r>
            <a:r>
              <a:rPr lang="zh-CN" altLang="en-US" sz="2800" b="1" dirty="0"/>
              <a:t>得：</a:t>
            </a:r>
          </a:p>
        </p:txBody>
      </p:sp>
      <p:graphicFrame>
        <p:nvGraphicFramePr>
          <p:cNvPr id="2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588934"/>
              </p:ext>
            </p:extLst>
          </p:nvPr>
        </p:nvGraphicFramePr>
        <p:xfrm>
          <a:off x="3235325" y="1470026"/>
          <a:ext cx="51689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47840" imgH="457200" progId="Equation.DSMT4">
                  <p:embed/>
                </p:oleObj>
              </mc:Choice>
              <mc:Fallback>
                <p:oleObj name="Equation" r:id="rId5" imgW="2247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1470026"/>
                        <a:ext cx="5168900" cy="1046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982136"/>
              </p:ext>
            </p:extLst>
          </p:nvPr>
        </p:nvGraphicFramePr>
        <p:xfrm>
          <a:off x="1307734" y="3101976"/>
          <a:ext cx="4930403" cy="87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25680" imgH="431640" progId="Equation.DSMT4">
                  <p:embed/>
                </p:oleObj>
              </mc:Choice>
              <mc:Fallback>
                <p:oleObj name="Equation" r:id="rId7" imgW="2425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734" y="3101976"/>
                        <a:ext cx="4930403" cy="872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821530"/>
              </p:ext>
            </p:extLst>
          </p:nvPr>
        </p:nvGraphicFramePr>
        <p:xfrm>
          <a:off x="1258040" y="4023206"/>
          <a:ext cx="3693783" cy="88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90640" imgH="431640" progId="Equation.DSMT4">
                  <p:embed/>
                </p:oleObj>
              </mc:Choice>
              <mc:Fallback>
                <p:oleObj name="Equation" r:id="rId9" imgW="17906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040" y="4023206"/>
                        <a:ext cx="3693783" cy="886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408509"/>
              </p:ext>
            </p:extLst>
          </p:nvPr>
        </p:nvGraphicFramePr>
        <p:xfrm>
          <a:off x="4924425" y="3819525"/>
          <a:ext cx="4795838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17640" imgH="609480" progId="Equation.DSMT4">
                  <p:embed/>
                </p:oleObj>
              </mc:Choice>
              <mc:Fallback>
                <p:oleObj name="Equation" r:id="rId11" imgW="271764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3819525"/>
                        <a:ext cx="4795838" cy="1073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272469"/>
              </p:ext>
            </p:extLst>
          </p:nvPr>
        </p:nvGraphicFramePr>
        <p:xfrm>
          <a:off x="1834809" y="5250614"/>
          <a:ext cx="3224212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26920" imgH="888840" progId="Equation.DSMT4">
                  <p:embed/>
                </p:oleObj>
              </mc:Choice>
              <mc:Fallback>
                <p:oleObj name="Equation" r:id="rId13" imgW="172692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809" y="5250614"/>
                        <a:ext cx="3224212" cy="1652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568875" y="5013176"/>
            <a:ext cx="23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(3)</a:t>
            </a:r>
            <a:r>
              <a:rPr lang="zh-CN" altLang="en-US" sz="2800" b="1" dirty="0"/>
              <a:t>代入</a:t>
            </a:r>
            <a:r>
              <a:rPr lang="en-US" altLang="zh-CN" sz="2800" b="1" dirty="0"/>
              <a:t>(2)</a:t>
            </a:r>
            <a:r>
              <a:rPr lang="zh-CN" altLang="en-US" sz="2800" b="1" dirty="0"/>
              <a:t>得：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4E95A9-CEC2-BFAF-0CC6-F4F75622F2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91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FCM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算法最佳聚类中心的确定</a:t>
            </a:r>
            <a:endParaRPr lang="zh-CN" altLang="en-US" dirty="0"/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107225"/>
              </p:ext>
            </p:extLst>
          </p:nvPr>
        </p:nvGraphicFramePr>
        <p:xfrm>
          <a:off x="3691853" y="1349563"/>
          <a:ext cx="4556125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080" imgH="685800" progId="Equation.DSMT4">
                  <p:embed/>
                </p:oleObj>
              </mc:Choice>
              <mc:Fallback>
                <p:oleObj name="Equation" r:id="rId3" imgW="19810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1853" y="1349563"/>
                        <a:ext cx="4556125" cy="157003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716280"/>
              </p:ext>
            </p:extLst>
          </p:nvPr>
        </p:nvGraphicFramePr>
        <p:xfrm>
          <a:off x="2334082" y="2996953"/>
          <a:ext cx="790257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3680" imgH="482400" progId="Equation.DSMT4">
                  <p:embed/>
                </p:oleObj>
              </mc:Choice>
              <mc:Fallback>
                <p:oleObj name="Equation" r:id="rId5" imgW="4063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082" y="2996953"/>
                        <a:ext cx="7902575" cy="944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127448" y="1450988"/>
            <a:ext cx="2518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目标函数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100266" y="3036501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其中，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71464" y="3933057"/>
            <a:ext cx="90191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即讨论</a:t>
            </a:r>
            <a:r>
              <a:rPr lang="en-US" altLang="zh-CN" sz="2800" b="1" i="1" dirty="0" err="1"/>
              <a:t>J</a:t>
            </a:r>
            <a:r>
              <a:rPr lang="en-US" altLang="zh-CN" sz="2800" b="1" i="1" baseline="-25000" dirty="0" err="1"/>
              <a:t>m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V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相对于</a:t>
            </a:r>
            <a:r>
              <a:rPr lang="en-US" altLang="zh-CN" sz="2800" b="1" dirty="0"/>
              <a:t>{</a:t>
            </a:r>
            <a:r>
              <a:rPr lang="en-US" altLang="zh-CN" sz="2800" b="1" i="1" dirty="0"/>
              <a:t>v</a:t>
            </a:r>
            <a:r>
              <a:rPr lang="en-US" altLang="zh-CN" sz="2800" b="1" i="1" baseline="-25000" dirty="0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是最优化问题，</a:t>
            </a:r>
            <a:endParaRPr lang="en-US" altLang="zh-CN" sz="2800" b="1" dirty="0"/>
          </a:p>
          <a:p>
            <a:r>
              <a:rPr lang="zh-CN" altLang="en-US" sz="2800" b="1" dirty="0"/>
              <a:t>可用类似的方法算得</a:t>
            </a:r>
            <a:r>
              <a:rPr lang="en-US" altLang="zh-CN" sz="2800" b="1" i="1" dirty="0" err="1"/>
              <a:t>J</a:t>
            </a:r>
            <a:r>
              <a:rPr lang="en-US" altLang="zh-CN" sz="2800" b="1" i="1" baseline="-25000" dirty="0" err="1"/>
              <a:t>m</a:t>
            </a:r>
            <a:r>
              <a:rPr lang="en-US" altLang="zh-CN" sz="2800" b="1" i="1" baseline="-25000" dirty="0"/>
              <a:t> 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V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为最小时的</a:t>
            </a:r>
            <a:r>
              <a:rPr lang="en-US" altLang="zh-CN" sz="2800" b="1" i="1" dirty="0"/>
              <a:t>v</a:t>
            </a:r>
            <a:r>
              <a:rPr lang="en-US" altLang="zh-CN" sz="2800" b="1" i="1" baseline="-25000" dirty="0"/>
              <a:t>i</a:t>
            </a:r>
            <a:r>
              <a:rPr lang="zh-CN" altLang="en-US" sz="2800" b="1" dirty="0"/>
              <a:t>值</a:t>
            </a:r>
          </a:p>
        </p:txBody>
      </p:sp>
      <p:graphicFrame>
        <p:nvGraphicFramePr>
          <p:cNvPr id="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52535"/>
              </p:ext>
            </p:extLst>
          </p:nvPr>
        </p:nvGraphicFramePr>
        <p:xfrm>
          <a:off x="2302013" y="5336699"/>
          <a:ext cx="241617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680" imgH="431640" progId="Equation.DSMT4">
                  <p:embed/>
                </p:oleObj>
              </mc:Choice>
              <mc:Fallback>
                <p:oleObj name="Equation" r:id="rId7" imgW="1066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013" y="5336699"/>
                        <a:ext cx="2416175" cy="973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15A7DC6-8AFF-9DED-87AE-98714216F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506473"/>
              </p:ext>
            </p:extLst>
          </p:nvPr>
        </p:nvGraphicFramePr>
        <p:xfrm>
          <a:off x="5035551" y="4965700"/>
          <a:ext cx="3941763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7680" imgH="863280" progId="Equation.DSMT4">
                  <p:embed/>
                </p:oleObj>
              </mc:Choice>
              <mc:Fallback>
                <p:oleObj name="Equation" r:id="rId9" imgW="1777680" imgH="8632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1" y="4965700"/>
                        <a:ext cx="3941763" cy="170338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1D4FAEEC-6298-49D7-1955-B365FEAD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076875"/>
              </p:ext>
            </p:extLst>
          </p:nvPr>
        </p:nvGraphicFramePr>
        <p:xfrm>
          <a:off x="8383956" y="1440199"/>
          <a:ext cx="22860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6680" imgH="304560" progId="Equation.DSMT4">
                  <p:embed/>
                </p:oleObj>
              </mc:Choice>
              <mc:Fallback>
                <p:oleObj name="Equation" r:id="rId11" imgW="1066680" imgH="304560" progId="Equation.DSMT4">
                  <p:embed/>
                  <p:pic>
                    <p:nvPicPr>
                      <p:cNvPr id="9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3956" y="1440199"/>
                        <a:ext cx="22860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8E082-F71D-2018-892B-B33A71544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787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模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糊</a:t>
            </a:r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C-</a:t>
            </a:r>
            <a:r>
              <a:rPr lang="zh-CN" altLang="en-US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均值聚类</a:t>
            </a:r>
            <a:r>
              <a:rPr lang="en-US" altLang="zh-CN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dirty="0">
                <a:solidFill>
                  <a:srgbClr val="057939"/>
                </a:solidFill>
                <a:latin typeface="+mn-lt"/>
              </a:rPr>
              <a:t>FCM</a:t>
            </a:r>
            <a:r>
              <a:rPr lang="en-US" altLang="zh-CN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dirty="0">
                <a:solidFill>
                  <a:srgbClr val="057939"/>
                </a:solidFill>
                <a:latin typeface="黑体" pitchFamily="2" charset="-122"/>
                <a:ea typeface="黑体" pitchFamily="2" charset="-122"/>
              </a:rPr>
              <a:t>算法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7" y="1412776"/>
            <a:ext cx="9217076" cy="3886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对</a:t>
            </a:r>
            <a:r>
              <a:rPr lang="en-US" altLang="zh-CN" dirty="0">
                <a:ea typeface="黑体" pitchFamily="2" charset="-122"/>
              </a:rPr>
              <a:t>C-</a:t>
            </a:r>
            <a:r>
              <a:rPr lang="zh-CN" altLang="en-US" dirty="0">
                <a:ea typeface="黑体" pitchFamily="2" charset="-122"/>
              </a:rPr>
              <a:t>均值聚类算法的改进</a:t>
            </a:r>
          </a:p>
          <a:p>
            <a:pPr lvl="1" eaLnBrk="1" hangingPunct="1"/>
            <a:r>
              <a:rPr lang="zh-CN" altLang="zh-CN" b="1" dirty="0"/>
              <a:t>样本</a:t>
            </a:r>
            <a:r>
              <a:rPr lang="en-US" altLang="zh-CN" b="1" i="1" dirty="0" err="1"/>
              <a:t>x</a:t>
            </a:r>
            <a:r>
              <a:rPr lang="en-US" altLang="zh-CN" b="1" i="1" baseline="-25000" dirty="0" err="1"/>
              <a:t>j</a:t>
            </a:r>
            <a:r>
              <a:rPr lang="zh-CN" altLang="zh-CN" b="1" dirty="0"/>
              <a:t>对第</a:t>
            </a:r>
            <a:r>
              <a:rPr lang="en-US" altLang="zh-CN" b="1" i="1" dirty="0" err="1"/>
              <a:t>i</a:t>
            </a:r>
            <a:r>
              <a:rPr lang="zh-CN" altLang="zh-CN" b="1" dirty="0"/>
              <a:t>类的隶属度，</a:t>
            </a:r>
            <a:r>
              <a:rPr lang="zh-CN" altLang="en-US" b="1" dirty="0"/>
              <a:t>将</a:t>
            </a:r>
            <a:r>
              <a:rPr lang="en-US" altLang="zh-CN" b="1" i="1" dirty="0" err="1">
                <a:solidFill>
                  <a:srgbClr val="FF0000"/>
                </a:solidFill>
              </a:rPr>
              <a:t>u</a:t>
            </a:r>
            <a:r>
              <a:rPr lang="en-US" altLang="zh-CN" b="1" i="1" baseline="-25000" dirty="0" err="1">
                <a:solidFill>
                  <a:srgbClr val="FF0000"/>
                </a:solidFill>
              </a:rPr>
              <a:t>ji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FF0000"/>
                </a:solidFill>
              </a:rPr>
              <a:t>{0, 1} </a:t>
            </a:r>
            <a:r>
              <a:rPr lang="en-US" altLang="zh-CN" b="1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</a:rPr>
              <a:t>u</a:t>
            </a:r>
            <a:r>
              <a:rPr lang="en-US" altLang="zh-CN" b="1" i="1" baseline="-25000" dirty="0" err="1">
                <a:solidFill>
                  <a:srgbClr val="FF0000"/>
                </a:solidFill>
              </a:rPr>
              <a:t>ji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</a:t>
            </a:r>
            <a:r>
              <a:rPr lang="en-US" altLang="zh-CN" b="1" dirty="0">
                <a:solidFill>
                  <a:srgbClr val="FF0000"/>
                </a:solidFill>
              </a:rPr>
              <a:t>[0, 1]</a:t>
            </a:r>
            <a:r>
              <a:rPr lang="en-US" altLang="zh-CN" b="1" dirty="0"/>
              <a:t> </a:t>
            </a:r>
          </a:p>
          <a:p>
            <a:pPr lvl="1" eaLnBrk="1" hangingPunct="1"/>
            <a:endParaRPr lang="en-US" altLang="zh-CN" sz="2400" b="1" dirty="0"/>
          </a:p>
          <a:p>
            <a:pPr lvl="1" eaLnBrk="1" hangingPunct="1"/>
            <a:endParaRPr lang="en-US" altLang="zh-CN" sz="2400" dirty="0"/>
          </a:p>
          <a:p>
            <a:pPr lvl="1" eaLnBrk="1" hangingPunct="1"/>
            <a:endParaRPr lang="zh-CN" altLang="en-US" sz="2400" dirty="0"/>
          </a:p>
          <a:p>
            <a:pPr lvl="1" eaLnBrk="1" hangingPunct="1"/>
            <a:endParaRPr lang="zh-CN" altLang="en-US" sz="2400" dirty="0"/>
          </a:p>
          <a:p>
            <a:pPr lvl="1" eaLnBrk="1" hangingPunct="1"/>
            <a:r>
              <a:rPr lang="zh-CN" altLang="en-US" dirty="0"/>
              <a:t>其中，</a:t>
            </a:r>
            <a:r>
              <a:rPr lang="zh-CN" altLang="en-US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隶属度</a:t>
            </a:r>
            <a:r>
              <a:rPr lang="el-GR" altLang="zh-CN" b="1" i="1" dirty="0">
                <a:solidFill>
                  <a:srgbClr val="0000FF"/>
                </a:solidFill>
                <a:ea typeface="黑体" pitchFamily="2" charset="-122"/>
                <a:cs typeface="Arial" charset="0"/>
              </a:rPr>
              <a:t>μ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黑体" pitchFamily="2" charset="-122"/>
                <a:cs typeface="Arial" charset="0"/>
              </a:rPr>
              <a:t>ji</a:t>
            </a:r>
            <a:r>
              <a:rPr lang="en-US" altLang="zh-CN" i="1" baseline="-25000" dirty="0">
                <a:solidFill>
                  <a:srgbClr val="0000FF"/>
                </a:solidFill>
                <a:ea typeface="黑体" pitchFamily="2" charset="-122"/>
                <a:cs typeface="Arial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  <a:cs typeface="Arial" charset="0"/>
              </a:rPr>
              <a:t>满足下面条件</a:t>
            </a:r>
            <a:endParaRPr lang="zh-CN" altLang="en-US" dirty="0">
              <a:solidFill>
                <a:srgbClr val="0000FF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0245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339750929"/>
              </p:ext>
            </p:extLst>
          </p:nvPr>
        </p:nvGraphicFramePr>
        <p:xfrm>
          <a:off x="1953519" y="4855542"/>
          <a:ext cx="5180013" cy="210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65400" imgH="1041400" progId="Equation.3">
                  <p:embed/>
                </p:oleObj>
              </mc:Choice>
              <mc:Fallback>
                <p:oleObj name="公式" r:id="rId2" imgW="2565400" imgH="1041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519" y="4855542"/>
                        <a:ext cx="5180013" cy="210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886126" y="4357187"/>
            <a:ext cx="32403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重新计算聚类中心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309016"/>
              </p:ext>
            </p:extLst>
          </p:nvPr>
        </p:nvGraphicFramePr>
        <p:xfrm>
          <a:off x="2927648" y="2510582"/>
          <a:ext cx="3489325" cy="169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787320" progId="Equation.DSMT4">
                  <p:embed/>
                </p:oleObj>
              </mc:Choice>
              <mc:Fallback>
                <p:oleObj name="Equation" r:id="rId4" imgW="1625400" imgH="78732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2510582"/>
                        <a:ext cx="3489325" cy="1690687"/>
                      </a:xfrm>
                      <a:prstGeom prst="rect">
                        <a:avLst/>
                      </a:prstGeom>
                      <a:solidFill>
                        <a:srgbClr val="99FF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88751"/>
              </p:ext>
            </p:extLst>
          </p:nvPr>
        </p:nvGraphicFramePr>
        <p:xfrm>
          <a:off x="7855646" y="4985635"/>
          <a:ext cx="3240359" cy="173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863280" progId="Equation.DSMT4">
                  <p:embed/>
                </p:oleObj>
              </mc:Choice>
              <mc:Fallback>
                <p:oleObj name="Equation" r:id="rId6" imgW="1612800" imgH="86328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5646" y="4985635"/>
                        <a:ext cx="3240359" cy="173584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E62FC99-F059-B834-A762-0702708B82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9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FCM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算法描述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196752"/>
            <a:ext cx="9011469" cy="566124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ea typeface="楷体_GB2312" pitchFamily="49" charset="-122"/>
              </a:rPr>
              <a:t>(1)</a:t>
            </a:r>
            <a:r>
              <a:rPr lang="zh-CN" altLang="en-US" sz="2800" b="1" dirty="0">
                <a:ea typeface="楷体_GB2312" pitchFamily="49" charset="-122"/>
              </a:rPr>
              <a:t>给出类别数</a:t>
            </a:r>
            <a:r>
              <a:rPr lang="en-US" altLang="zh-CN" sz="2800" b="1" i="1" dirty="0">
                <a:ea typeface="楷体_GB2312" pitchFamily="49" charset="-122"/>
              </a:rPr>
              <a:t>C</a:t>
            </a:r>
            <a:r>
              <a:rPr lang="zh-CN" altLang="en-US" sz="2800" b="1" dirty="0">
                <a:ea typeface="楷体_GB2312" pitchFamily="49" charset="-122"/>
              </a:rPr>
              <a:t>、参数</a:t>
            </a:r>
            <a:r>
              <a:rPr lang="en-US" altLang="zh-CN" sz="2800" b="1" i="1" dirty="0">
                <a:ea typeface="楷体_GB2312" pitchFamily="49" charset="-122"/>
              </a:rPr>
              <a:t>m</a:t>
            </a:r>
            <a:r>
              <a:rPr lang="zh-CN" altLang="en-US" sz="2800" b="1" dirty="0">
                <a:ea typeface="楷体_GB2312" pitchFamily="49" charset="-122"/>
              </a:rPr>
              <a:t>、容许误差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zh-CN" altLang="en-US" sz="2800" b="1" dirty="0">
                <a:ea typeface="楷体_GB2312" pitchFamily="49" charset="-122"/>
              </a:rPr>
              <a:t>，令</a:t>
            </a:r>
            <a:r>
              <a:rPr lang="en-US" altLang="zh-CN" sz="2800" b="1" i="1" dirty="0">
                <a:ea typeface="楷体_GB2312" pitchFamily="49" charset="-122"/>
              </a:rPr>
              <a:t>k</a:t>
            </a:r>
            <a:r>
              <a:rPr lang="en-US" altLang="zh-CN" sz="2800" b="1" dirty="0">
                <a:ea typeface="楷体_GB2312" pitchFamily="49" charset="-122"/>
              </a:rPr>
              <a:t>=1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ea typeface="楷体_GB2312" pitchFamily="49" charset="-122"/>
              </a:rPr>
              <a:t>(</a:t>
            </a:r>
            <a:r>
              <a:rPr lang="en-US" altLang="zh-CN" sz="2800" b="1" dirty="0">
                <a:ea typeface="楷体_GB2312" pitchFamily="49" charset="-122"/>
              </a:rPr>
              <a:t>2)</a:t>
            </a:r>
            <a:r>
              <a:rPr lang="zh-CN" altLang="en-US" sz="2800" b="1" dirty="0">
                <a:ea typeface="楷体_GB2312" pitchFamily="49" charset="-122"/>
              </a:rPr>
              <a:t>选择</a:t>
            </a:r>
            <a:r>
              <a:rPr lang="en-US" altLang="zh-CN" sz="2800" b="1" i="1" dirty="0">
                <a:ea typeface="楷体_GB2312" pitchFamily="49" charset="-122"/>
              </a:rPr>
              <a:t>C</a:t>
            </a:r>
            <a:r>
              <a:rPr lang="zh-CN" altLang="en-US" sz="2800" b="1" dirty="0">
                <a:ea typeface="楷体_GB2312" pitchFamily="49" charset="-122"/>
              </a:rPr>
              <a:t>个初始聚类中心</a:t>
            </a:r>
            <a:r>
              <a:rPr lang="en-US" altLang="zh-CN" sz="2800" b="1" dirty="0">
                <a:ea typeface="楷体_GB2312" pitchFamily="49" charset="-122"/>
              </a:rPr>
              <a:t>: </a:t>
            </a:r>
            <a:r>
              <a:rPr lang="en-US" altLang="zh-CN" sz="2800" b="1" i="1" dirty="0">
                <a:ea typeface="楷体_GB2312" pitchFamily="49" charset="-122"/>
              </a:rPr>
              <a:t>v</a:t>
            </a:r>
            <a:r>
              <a:rPr lang="en-US" altLang="zh-CN" sz="2800" b="1" baseline="-25000" dirty="0">
                <a:ea typeface="楷体_GB2312" pitchFamily="49" charset="-122"/>
              </a:rPr>
              <a:t>1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k</a:t>
            </a:r>
            <a:r>
              <a:rPr lang="en-US" altLang="zh-CN" sz="2800" b="1" dirty="0">
                <a:ea typeface="楷体_GB2312" pitchFamily="49" charset="-122"/>
              </a:rPr>
              <a:t>),</a:t>
            </a:r>
            <a:r>
              <a:rPr lang="en-US" altLang="zh-CN" sz="2800" b="1" i="1" dirty="0">
                <a:ea typeface="楷体_GB2312" pitchFamily="49" charset="-122"/>
              </a:rPr>
              <a:t>v</a:t>
            </a:r>
            <a:r>
              <a:rPr lang="en-US" altLang="zh-CN" sz="2800" b="1" baseline="-25000" dirty="0"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k</a:t>
            </a:r>
            <a:r>
              <a:rPr lang="en-US" altLang="zh-CN" sz="2800" b="1" dirty="0">
                <a:ea typeface="楷体_GB2312" pitchFamily="49" charset="-122"/>
              </a:rPr>
              <a:t>),…,</a:t>
            </a:r>
            <a:r>
              <a:rPr lang="en-US" altLang="zh-CN" sz="2800" b="1" i="1" dirty="0" err="1">
                <a:ea typeface="楷体_GB2312" pitchFamily="49" charset="-122"/>
              </a:rPr>
              <a:t>v</a:t>
            </a:r>
            <a:r>
              <a:rPr lang="en-US" altLang="zh-CN" sz="2800" b="1" i="1" baseline="-25000" dirty="0" err="1">
                <a:ea typeface="楷体_GB2312" pitchFamily="49" charset="-122"/>
              </a:rPr>
              <a:t>c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k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ea typeface="楷体_GB2312" pitchFamily="49" charset="-122"/>
              </a:rPr>
              <a:t>(3)</a:t>
            </a:r>
            <a:r>
              <a:rPr lang="zh-CN" altLang="en-US" sz="2800" b="1" dirty="0">
                <a:ea typeface="楷体_GB2312" pitchFamily="49" charset="-122"/>
              </a:rPr>
              <a:t>计算隶属度</a:t>
            </a:r>
            <a:endParaRPr lang="zh-CN" altLang="en-US" sz="2400" b="1" dirty="0"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ea typeface="楷体_GB2312" pitchFamily="49" charset="-122"/>
              </a:rPr>
              <a:t>(4)</a:t>
            </a:r>
            <a:r>
              <a:rPr lang="zh-CN" altLang="en-US" sz="2800" b="1" dirty="0">
                <a:ea typeface="楷体_GB2312" pitchFamily="49" charset="-122"/>
              </a:rPr>
              <a:t>修正所有的聚类中心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ea typeface="楷体_GB2312" pitchFamily="49" charset="-122"/>
              </a:rPr>
              <a:t>(5)</a:t>
            </a:r>
            <a:r>
              <a:rPr lang="zh-CN" altLang="en-US" sz="2800" b="1" dirty="0">
                <a:ea typeface="楷体_GB2312" pitchFamily="49" charset="-122"/>
              </a:rPr>
              <a:t>计算误差</a:t>
            </a:r>
            <a:endParaRPr lang="en-US" altLang="zh-CN" sz="2800" b="1" dirty="0"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ea typeface="楷体_GB2312" pitchFamily="49" charset="-122"/>
              </a:rPr>
              <a:t>(6)</a:t>
            </a:r>
            <a:r>
              <a:rPr lang="zh-CN" altLang="en-US" sz="2800" b="1" dirty="0">
                <a:ea typeface="楷体_GB2312" pitchFamily="49" charset="-122"/>
              </a:rPr>
              <a:t>若误差达不到要求，转</a:t>
            </a:r>
            <a:r>
              <a:rPr lang="en-US" altLang="zh-CN" sz="2800" b="1" dirty="0">
                <a:ea typeface="楷体_GB2312" pitchFamily="49" charset="-122"/>
              </a:rPr>
              <a:t>(3)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ea typeface="楷体_GB2312" pitchFamily="49" charset="-122"/>
              </a:rPr>
              <a:t>     </a:t>
            </a:r>
            <a:r>
              <a:rPr lang="zh-CN" altLang="en-US" sz="2800" b="1" dirty="0">
                <a:ea typeface="楷体_GB2312" pitchFamily="49" charset="-122"/>
              </a:rPr>
              <a:t>否则，算法结束。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算法结束后，可按下列方法将所有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的样本进行归类</a:t>
            </a:r>
            <a:r>
              <a:rPr lang="en-US" altLang="zh-CN" sz="2800" dirty="0">
                <a:ea typeface="黑体" pitchFamily="2" charset="-122"/>
              </a:rPr>
              <a:t>:</a:t>
            </a:r>
          </a:p>
          <a:p>
            <a:pPr lvl="1" eaLnBrk="1" hangingPunct="1"/>
            <a:r>
              <a:rPr lang="zh-CN" altLang="en-US" sz="2400" b="1" dirty="0">
                <a:solidFill>
                  <a:srgbClr val="EE0006"/>
                </a:solidFill>
                <a:latin typeface="华文楷体" pitchFamily="2" charset="-122"/>
                <a:ea typeface="华文楷体" pitchFamily="2" charset="-122"/>
              </a:rPr>
              <a:t>隶属度最大值原则</a:t>
            </a:r>
          </a:p>
          <a:p>
            <a:pPr lvl="1" eaLnBrk="1" hangingPunct="1"/>
            <a:r>
              <a:rPr lang="zh-CN" altLang="en-US" sz="2400" b="1" dirty="0">
                <a:solidFill>
                  <a:srgbClr val="EE0006"/>
                </a:solidFill>
                <a:latin typeface="华文楷体" pitchFamily="2" charset="-122"/>
                <a:ea typeface="华文楷体" pitchFamily="2" charset="-122"/>
              </a:rPr>
              <a:t>距离某聚类中心最小值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268" y="2973388"/>
            <a:ext cx="3924300" cy="388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1BEF6C-1320-F198-B2C7-E01555923A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6" name="AutoShape 26"/>
          <p:cNvSpPr>
            <a:spLocks noChangeArrowheads="1"/>
          </p:cNvSpPr>
          <p:nvPr/>
        </p:nvSpPr>
        <p:spPr bwMode="auto">
          <a:xfrm rot="2430869">
            <a:off x="8436794" y="4615259"/>
            <a:ext cx="2474913" cy="863600"/>
          </a:xfrm>
          <a:prstGeom prst="roundRect">
            <a:avLst>
              <a:gd name="adj" fmla="val 16667"/>
            </a:avLst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4" name="Oval 24"/>
          <p:cNvSpPr>
            <a:spLocks noChangeArrowheads="1"/>
          </p:cNvSpPr>
          <p:nvPr/>
        </p:nvSpPr>
        <p:spPr bwMode="auto">
          <a:xfrm>
            <a:off x="8292331" y="4110434"/>
            <a:ext cx="360362" cy="3603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4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FCM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算法举例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8562" y="1556792"/>
            <a:ext cx="8969076" cy="5301208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现要聚为两类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和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类，设</a:t>
            </a:r>
          </a:p>
          <a:p>
            <a:pPr lvl="1" eaLnBrk="1" hangingPunct="1"/>
            <a:r>
              <a:rPr lang="en-US" altLang="zh-CN" sz="2000" b="1" dirty="0"/>
              <a:t>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={x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}, c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={x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,x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,x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}</a:t>
            </a: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</a:rPr>
              <a:t>则聚类中心的坐标为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</a:rPr>
              <a:t>类</a:t>
            </a:r>
          </a:p>
          <a:p>
            <a:pPr lvl="2" eaLnBrk="1" hangingPunct="1"/>
            <a:r>
              <a:rPr lang="zh-CN" altLang="en-US" sz="1800" b="1" dirty="0"/>
              <a:t>即为</a:t>
            </a:r>
            <a:r>
              <a:rPr lang="en-US" altLang="zh-CN" sz="1800" b="1" dirty="0"/>
              <a:t>x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坐标值</a:t>
            </a:r>
            <a:r>
              <a:rPr lang="en-US" altLang="zh-CN" sz="1800" b="1" dirty="0"/>
              <a:t>(1,3)</a:t>
            </a:r>
          </a:p>
          <a:p>
            <a:pPr lvl="1" eaLnBrk="1" hangingPunct="1"/>
            <a:r>
              <a:rPr lang="en-US" altLang="zh-CN" sz="2000" b="1" dirty="0">
                <a:solidFill>
                  <a:srgbClr val="0000FF"/>
                </a:solidFill>
              </a:rPr>
              <a:t>c</a:t>
            </a:r>
            <a:r>
              <a:rPr lang="en-US" altLang="zh-CN" sz="20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</a:rPr>
              <a:t>类</a:t>
            </a:r>
          </a:p>
          <a:p>
            <a:pPr lvl="2" eaLnBrk="1" hangingPunct="1"/>
            <a:r>
              <a:rPr lang="en-US" altLang="zh-CN" sz="1800" b="1" dirty="0"/>
              <a:t>((1.5+1.3+3)/3,(3.2+2.5+1)/3)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zh-CN" sz="1800" b="1" dirty="0"/>
              <a:t>  =(1.93,2.33)</a:t>
            </a:r>
          </a:p>
          <a:p>
            <a:pPr eaLnBrk="1" hangingPunct="1"/>
            <a:r>
              <a:rPr lang="zh-CN" altLang="en-US" sz="2400" b="1" dirty="0">
                <a:solidFill>
                  <a:srgbClr val="CC00FF"/>
                </a:solidFill>
              </a:rPr>
              <a:t>每个数据点到</a:t>
            </a:r>
            <a:r>
              <a:rPr lang="en-US" altLang="zh-CN" sz="2400" b="1" dirty="0">
                <a:solidFill>
                  <a:srgbClr val="CC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CC00FF"/>
                </a:solidFill>
              </a:rPr>
              <a:t>1</a:t>
            </a:r>
            <a:r>
              <a:rPr lang="en-US" altLang="zh-CN" sz="2400" b="1" dirty="0">
                <a:solidFill>
                  <a:srgbClr val="CC00FF"/>
                </a:solidFill>
              </a:rPr>
              <a:t>,c</a:t>
            </a:r>
            <a:r>
              <a:rPr lang="en-US" altLang="zh-CN" sz="2400" b="1" baseline="-25000" dirty="0">
                <a:solidFill>
                  <a:srgbClr val="CC00FF"/>
                </a:solidFill>
              </a:rPr>
              <a:t>2</a:t>
            </a:r>
            <a:r>
              <a:rPr lang="zh-CN" altLang="en-US" sz="2400" b="1" dirty="0">
                <a:solidFill>
                  <a:srgbClr val="CC00FF"/>
                </a:solidFill>
              </a:rPr>
              <a:t>中心的距离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||=[(1-1)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+(3-3)</a:t>
            </a:r>
            <a:r>
              <a:rPr lang="en-US" altLang="zh-CN" sz="2000" b="1" baseline="30000" dirty="0"/>
              <a:t>2</a:t>
            </a:r>
            <a:r>
              <a:rPr lang="en-US" altLang="zh-CN" sz="2000" b="1" dirty="0"/>
              <a:t>]</a:t>
            </a:r>
            <a:r>
              <a:rPr lang="en-US" altLang="zh-CN" sz="2000" b="1" baseline="30000" dirty="0"/>
              <a:t>0.5</a:t>
            </a:r>
            <a:r>
              <a:rPr lang="en-US" altLang="zh-CN" sz="2000" b="1" dirty="0"/>
              <a:t>=0.0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21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</a:t>
            </a:r>
            <a:r>
              <a:rPr lang="en-US" altLang="zh-CN" sz="2000" b="1" dirty="0">
                <a:solidFill>
                  <a:srgbClr val="008000"/>
                </a:solidFill>
              </a:rPr>
              <a:t>0.54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31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</a:t>
            </a:r>
            <a:r>
              <a:rPr lang="en-US" altLang="zh-CN" sz="2000" b="1" dirty="0">
                <a:solidFill>
                  <a:srgbClr val="008000"/>
                </a:solidFill>
              </a:rPr>
              <a:t>0.36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41</a:t>
            </a:r>
            <a:r>
              <a:rPr lang="en-US" altLang="zh-CN" sz="2000" b="1" dirty="0"/>
              <a:t>=||x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-c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||=2.83</a:t>
            </a:r>
          </a:p>
          <a:p>
            <a:pPr lvl="1" eaLnBrk="1" hangingPunct="1"/>
            <a:r>
              <a:rPr lang="en-US" altLang="zh-CN" sz="2000" b="1" dirty="0"/>
              <a:t>d</a:t>
            </a:r>
            <a:r>
              <a:rPr lang="en-US" altLang="zh-CN" sz="2000" b="1" baseline="-25000" dirty="0"/>
              <a:t>12</a:t>
            </a:r>
            <a:r>
              <a:rPr lang="en-US" altLang="zh-CN" sz="2000" b="1" dirty="0"/>
              <a:t>=1.14,d</a:t>
            </a:r>
            <a:r>
              <a:rPr lang="en-US" altLang="zh-CN" sz="2000" b="1" baseline="-25000" dirty="0"/>
              <a:t>22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CC00FF"/>
                </a:solidFill>
              </a:rPr>
              <a:t>0.97</a:t>
            </a:r>
            <a:r>
              <a:rPr lang="en-US" altLang="zh-CN" sz="2000" b="1" dirty="0"/>
              <a:t>,d</a:t>
            </a:r>
            <a:r>
              <a:rPr lang="en-US" altLang="zh-CN" sz="2000" b="1" baseline="-25000" dirty="0"/>
              <a:t>32</a:t>
            </a:r>
            <a:r>
              <a:rPr lang="en-US" altLang="zh-CN" sz="2000" b="1" dirty="0"/>
              <a:t>=</a:t>
            </a:r>
            <a:r>
              <a:rPr lang="en-US" altLang="zh-CN" sz="2000" b="1" dirty="0">
                <a:solidFill>
                  <a:srgbClr val="CC00FF"/>
                </a:solidFill>
              </a:rPr>
              <a:t>0.78</a:t>
            </a:r>
            <a:r>
              <a:rPr lang="en-US" altLang="zh-CN" sz="2000" b="1" dirty="0"/>
              <a:t>,d</a:t>
            </a:r>
            <a:r>
              <a:rPr lang="en-US" altLang="zh-CN" sz="2000" b="1" baseline="-25000" dirty="0"/>
              <a:t>42</a:t>
            </a:r>
            <a:r>
              <a:rPr lang="en-US" altLang="zh-CN" sz="2000" b="1" dirty="0"/>
              <a:t>=1.70</a:t>
            </a:r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grpSp>
        <p:nvGrpSpPr>
          <p:cNvPr id="29702" name="Group 4"/>
          <p:cNvGrpSpPr>
            <a:grpSpLocks/>
          </p:cNvGrpSpPr>
          <p:nvPr/>
        </p:nvGrpSpPr>
        <p:grpSpPr bwMode="auto">
          <a:xfrm>
            <a:off x="7247756" y="3678634"/>
            <a:ext cx="3960812" cy="3206750"/>
            <a:chOff x="1111" y="1525"/>
            <a:chExt cx="2495" cy="2591"/>
          </a:xfrm>
        </p:grpSpPr>
        <p:sp>
          <p:nvSpPr>
            <p:cNvPr id="29705" name="Line 5"/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6" name="Line 6"/>
            <p:cNvSpPr>
              <a:spLocks noChangeShapeType="1"/>
            </p:cNvSpPr>
            <p:nvPr/>
          </p:nvSpPr>
          <p:spPr bwMode="auto">
            <a:xfrm>
              <a:off x="1383" y="3657"/>
              <a:ext cx="19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Line 7"/>
            <p:cNvSpPr>
              <a:spLocks noChangeShapeType="1"/>
            </p:cNvSpPr>
            <p:nvPr/>
          </p:nvSpPr>
          <p:spPr bwMode="auto">
            <a:xfrm>
              <a:off x="1383" y="3113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Line 8"/>
            <p:cNvSpPr>
              <a:spLocks noChangeShapeType="1"/>
            </p:cNvSpPr>
            <p:nvPr/>
          </p:nvSpPr>
          <p:spPr bwMode="auto">
            <a:xfrm>
              <a:off x="1383" y="202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Line 9"/>
            <p:cNvSpPr>
              <a:spLocks noChangeShapeType="1"/>
            </p:cNvSpPr>
            <p:nvPr/>
          </p:nvSpPr>
          <p:spPr bwMode="auto">
            <a:xfrm>
              <a:off x="1383" y="2568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Line 10"/>
            <p:cNvSpPr>
              <a:spLocks noChangeShapeType="1"/>
            </p:cNvSpPr>
            <p:nvPr/>
          </p:nvSpPr>
          <p:spPr bwMode="auto">
            <a:xfrm flipV="1">
              <a:off x="1927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11"/>
            <p:cNvSpPr>
              <a:spLocks noChangeShapeType="1"/>
            </p:cNvSpPr>
            <p:nvPr/>
          </p:nvSpPr>
          <p:spPr bwMode="auto">
            <a:xfrm flipV="1">
              <a:off x="256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12"/>
            <p:cNvSpPr>
              <a:spLocks noChangeShapeType="1"/>
            </p:cNvSpPr>
            <p:nvPr/>
          </p:nvSpPr>
          <p:spPr bwMode="auto">
            <a:xfrm flipV="1">
              <a:off x="315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Text Box 13"/>
            <p:cNvSpPr txBox="1">
              <a:spLocks noChangeArrowheads="1"/>
            </p:cNvSpPr>
            <p:nvPr/>
          </p:nvSpPr>
          <p:spPr bwMode="auto">
            <a:xfrm>
              <a:off x="1247" y="3657"/>
              <a:ext cx="2359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0            1              2             3    x</a:t>
              </a:r>
            </a:p>
          </p:txBody>
        </p:sp>
        <p:sp>
          <p:nvSpPr>
            <p:cNvPr id="29714" name="Text Box 14"/>
            <p:cNvSpPr txBox="1">
              <a:spLocks noChangeArrowheads="1"/>
            </p:cNvSpPr>
            <p:nvPr/>
          </p:nvSpPr>
          <p:spPr bwMode="auto">
            <a:xfrm>
              <a:off x="1111" y="1525"/>
              <a:ext cx="227" cy="2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y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3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endParaRPr lang="en-US" altLang="zh-CN" sz="10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2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 sz="24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</p:txBody>
        </p:sp>
        <p:sp>
          <p:nvSpPr>
            <p:cNvPr id="29715" name="Oval 15"/>
            <p:cNvSpPr>
              <a:spLocks noChangeArrowheads="1"/>
            </p:cNvSpPr>
            <p:nvPr/>
          </p:nvSpPr>
          <p:spPr bwMode="auto">
            <a:xfrm>
              <a:off x="1882" y="2024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6" name="Oval 16"/>
            <p:cNvSpPr>
              <a:spLocks noChangeArrowheads="1"/>
            </p:cNvSpPr>
            <p:nvPr/>
          </p:nvSpPr>
          <p:spPr bwMode="auto">
            <a:xfrm>
              <a:off x="2018" y="2160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Oval 17"/>
            <p:cNvSpPr>
              <a:spLocks noChangeArrowheads="1"/>
            </p:cNvSpPr>
            <p:nvPr/>
          </p:nvSpPr>
          <p:spPr bwMode="auto">
            <a:xfrm>
              <a:off x="2154" y="1888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8" name="Oval 18"/>
            <p:cNvSpPr>
              <a:spLocks noChangeArrowheads="1"/>
            </p:cNvSpPr>
            <p:nvPr/>
          </p:nvSpPr>
          <p:spPr bwMode="auto">
            <a:xfrm>
              <a:off x="3107" y="3113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Text Box 19"/>
            <p:cNvSpPr txBox="1">
              <a:spLocks noChangeArrowheads="1"/>
            </p:cNvSpPr>
            <p:nvPr/>
          </p:nvSpPr>
          <p:spPr bwMode="auto">
            <a:xfrm>
              <a:off x="1701" y="1842"/>
              <a:ext cx="294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/>
                <a:t>x</a:t>
              </a:r>
              <a:r>
                <a:rPr lang="en-US" altLang="zh-CN" b="1" baseline="-25000" dirty="0"/>
                <a:t>1</a:t>
              </a:r>
              <a:endParaRPr lang="en-US" altLang="zh-CN" b="1" dirty="0"/>
            </a:p>
          </p:txBody>
        </p:sp>
        <p:sp>
          <p:nvSpPr>
            <p:cNvPr id="29720" name="Text Box 20"/>
            <p:cNvSpPr txBox="1">
              <a:spLocks noChangeArrowheads="1"/>
            </p:cNvSpPr>
            <p:nvPr/>
          </p:nvSpPr>
          <p:spPr bwMode="auto">
            <a:xfrm>
              <a:off x="1882" y="2251"/>
              <a:ext cx="317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3</a:t>
              </a:r>
              <a:endParaRPr lang="en-US" altLang="zh-CN" sz="1200" b="1"/>
            </a:p>
          </p:txBody>
        </p:sp>
        <p:sp>
          <p:nvSpPr>
            <p:cNvPr id="29721" name="Text Box 21"/>
            <p:cNvSpPr txBox="1">
              <a:spLocks noChangeArrowheads="1"/>
            </p:cNvSpPr>
            <p:nvPr/>
          </p:nvSpPr>
          <p:spPr bwMode="auto">
            <a:xfrm>
              <a:off x="2200" y="1706"/>
              <a:ext cx="295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29722" name="Text Box 22"/>
            <p:cNvSpPr txBox="1">
              <a:spLocks noChangeArrowheads="1"/>
            </p:cNvSpPr>
            <p:nvPr/>
          </p:nvSpPr>
          <p:spPr bwMode="auto">
            <a:xfrm>
              <a:off x="3061" y="2886"/>
              <a:ext cx="318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</p:grpSp>
      <p:sp>
        <p:nvSpPr>
          <p:cNvPr id="29703" name="Rectangle 23"/>
          <p:cNvSpPr>
            <a:spLocks noChangeArrowheads="1"/>
          </p:cNvSpPr>
          <p:nvPr/>
        </p:nvSpPr>
        <p:spPr bwMode="auto">
          <a:xfrm>
            <a:off x="9444855" y="2595479"/>
            <a:ext cx="16192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/>
              <a:t>x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=(1,3)</a:t>
            </a:r>
          </a:p>
          <a:p>
            <a:r>
              <a:rPr lang="en-US" altLang="zh-CN" b="1" dirty="0"/>
              <a:t>x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=(1.5,3.2)</a:t>
            </a:r>
          </a:p>
          <a:p>
            <a:r>
              <a:rPr lang="en-US" altLang="zh-CN" b="1" dirty="0"/>
              <a:t>x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=(1.3,2.8)</a:t>
            </a:r>
          </a:p>
          <a:p>
            <a:r>
              <a:rPr lang="en-US" altLang="zh-CN" b="1" dirty="0"/>
              <a:t>x</a:t>
            </a:r>
            <a:r>
              <a:rPr lang="en-US" altLang="zh-CN" b="1" baseline="-25000" dirty="0"/>
              <a:t>4</a:t>
            </a:r>
            <a:r>
              <a:rPr lang="en-US" altLang="zh-CN" b="1" dirty="0"/>
              <a:t>=(3,1)</a:t>
            </a:r>
          </a:p>
        </p:txBody>
      </p:sp>
      <p:sp>
        <p:nvSpPr>
          <p:cNvPr id="40987" name="Oval 27"/>
          <p:cNvSpPr>
            <a:spLocks noChangeArrowheads="1"/>
          </p:cNvSpPr>
          <p:nvPr/>
        </p:nvSpPr>
        <p:spPr bwMode="auto">
          <a:xfrm>
            <a:off x="9732193" y="5047060"/>
            <a:ext cx="71438" cy="71437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9335516" y="1341438"/>
            <a:ext cx="12969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取</a:t>
            </a:r>
            <a:r>
              <a:rPr lang="en-US" altLang="zh-CN"/>
              <a:t>m=2</a:t>
            </a:r>
          </a:p>
        </p:txBody>
      </p:sp>
      <p:graphicFrame>
        <p:nvGraphicFramePr>
          <p:cNvPr id="2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774528"/>
              </p:ext>
            </p:extLst>
          </p:nvPr>
        </p:nvGraphicFramePr>
        <p:xfrm>
          <a:off x="6240463" y="1341438"/>
          <a:ext cx="2735262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634680" progId="Equation.DSMT4">
                  <p:embed/>
                </p:oleObj>
              </mc:Choice>
              <mc:Fallback>
                <p:oleObj name="Equation" r:id="rId2" imgW="119376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1341438"/>
                        <a:ext cx="2735262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A526CE-3FE2-14A7-C00E-595755278C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278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6" grpId="0" animBg="1"/>
      <p:bldP spid="40984" grpId="0" animBg="1"/>
      <p:bldP spid="40963" grpId="0" build="p"/>
      <p:bldP spid="40987" grpId="0" animBg="1"/>
      <p:bldP spid="2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FCM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算法举例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141213" y="1395413"/>
            <a:ext cx="5456439" cy="5462587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计算数据点对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类的隶属度</a:t>
            </a:r>
          </a:p>
          <a:p>
            <a:pPr lvl="1" eaLnBrk="1" hangingPunct="1"/>
            <a:endParaRPr lang="zh-CN" altLang="en-US" sz="1800" b="1" dirty="0"/>
          </a:p>
          <a:p>
            <a:pPr lvl="1" eaLnBrk="1" hangingPunct="1"/>
            <a:endParaRPr lang="zh-CN" altLang="en-US" sz="1800" b="1" dirty="0"/>
          </a:p>
          <a:p>
            <a:pPr lvl="1" eaLnBrk="1" hangingPunct="1"/>
            <a:endParaRPr lang="zh-CN" altLang="en-US" sz="1800" b="1" dirty="0"/>
          </a:p>
          <a:p>
            <a:pPr lvl="1" eaLnBrk="1" hangingPunct="1"/>
            <a:endParaRPr lang="zh-CN" altLang="en-US" sz="1800" b="1" dirty="0"/>
          </a:p>
          <a:p>
            <a:pPr lvl="1" eaLnBrk="1" hangingPunct="1"/>
            <a:endParaRPr lang="zh-CN" altLang="en-US" sz="1800" b="1" dirty="0"/>
          </a:p>
          <a:p>
            <a:pPr lvl="1" eaLnBrk="1" hangingPunct="1"/>
            <a:endParaRPr lang="zh-CN" altLang="en-US" sz="1800" b="1" dirty="0"/>
          </a:p>
          <a:p>
            <a:pPr eaLnBrk="1" hangingPunct="1"/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/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/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/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/>
            <a:endParaRPr lang="zh-CN" altLang="en-US" sz="20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同理，数据点对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的隶属度为</a:t>
            </a:r>
          </a:p>
          <a:p>
            <a:pPr lvl="1" eaLnBrk="1" hangingPunct="1"/>
            <a:r>
              <a:rPr lang="en-US" altLang="zh-CN" sz="2000" b="1" dirty="0">
                <a:sym typeface="Symbol" panose="05050102010706020507" pitchFamily="18" charset="2"/>
              </a:rPr>
              <a:t></a:t>
            </a:r>
            <a:r>
              <a:rPr lang="en-US" altLang="zh-CN" sz="2000" b="1" i="1" dirty="0">
                <a:sym typeface="Symbol" panose="05050102010706020507" pitchFamily="18" charset="2"/>
              </a:rPr>
              <a:t></a:t>
            </a:r>
            <a:r>
              <a:rPr lang="en-US" altLang="zh-CN" sz="2000" b="1" baseline="-25000" dirty="0"/>
              <a:t>21</a:t>
            </a:r>
            <a:r>
              <a:rPr lang="en-US" altLang="zh-CN" sz="2000" b="1" dirty="0"/>
              <a:t>=0.0,    </a:t>
            </a:r>
            <a:r>
              <a:rPr lang="en-US" altLang="zh-CN" sz="2000" b="1" i="1" dirty="0">
                <a:sym typeface="Symbol" panose="05050102010706020507" pitchFamily="18" charset="2"/>
              </a:rPr>
              <a:t></a:t>
            </a:r>
            <a:r>
              <a:rPr lang="en-US" altLang="zh-CN" sz="2000" b="1" baseline="-25000" dirty="0"/>
              <a:t>22</a:t>
            </a:r>
            <a:r>
              <a:rPr lang="en-US" altLang="zh-CN" sz="2000" b="1" dirty="0"/>
              <a:t>=0.237</a:t>
            </a:r>
            <a:endParaRPr lang="en-US" altLang="zh-CN" sz="2000" b="1" dirty="0">
              <a:solidFill>
                <a:srgbClr val="008000"/>
              </a:solidFill>
            </a:endParaRPr>
          </a:p>
          <a:p>
            <a:pPr lvl="1" eaLnBrk="1" hangingPunct="1"/>
            <a:r>
              <a:rPr lang="en-US" altLang="zh-CN" sz="2000" b="1" i="1" dirty="0">
                <a:sym typeface="Symbol" panose="05050102010706020507" pitchFamily="18" charset="2"/>
              </a:rPr>
              <a:t></a:t>
            </a:r>
            <a:r>
              <a:rPr lang="en-US" altLang="zh-CN" sz="2000" b="1" baseline="-25000" dirty="0"/>
              <a:t>23</a:t>
            </a:r>
            <a:r>
              <a:rPr lang="en-US" altLang="zh-CN" sz="2000" b="1" dirty="0"/>
              <a:t>=0.176, </a:t>
            </a:r>
            <a:r>
              <a:rPr lang="en-US" altLang="zh-CN" sz="2000" b="1" i="1" dirty="0">
                <a:sym typeface="Symbol" panose="05050102010706020507" pitchFamily="18" charset="2"/>
              </a:rPr>
              <a:t></a:t>
            </a:r>
            <a:r>
              <a:rPr lang="en-US" altLang="zh-CN" sz="2000" b="1" baseline="-25000" dirty="0"/>
              <a:t>24</a:t>
            </a:r>
            <a:r>
              <a:rPr lang="en-US" altLang="zh-CN" sz="2000" b="1" dirty="0"/>
              <a:t>=0.735</a:t>
            </a:r>
            <a:endParaRPr lang="en-US" altLang="zh-CN" sz="2000" dirty="0"/>
          </a:p>
        </p:txBody>
      </p:sp>
      <p:sp>
        <p:nvSpPr>
          <p:cNvPr id="34820" name="Rectangle 25"/>
          <p:cNvSpPr>
            <a:spLocks noChangeArrowheads="1"/>
          </p:cNvSpPr>
          <p:nvPr/>
        </p:nvSpPr>
        <p:spPr bwMode="auto">
          <a:xfrm>
            <a:off x="9445426" y="2559051"/>
            <a:ext cx="18351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/>
              <a:t>x</a:t>
            </a:r>
            <a:r>
              <a:rPr lang="en-US" altLang="zh-CN" b="1" baseline="-25000"/>
              <a:t>1</a:t>
            </a:r>
            <a:r>
              <a:rPr lang="en-US" altLang="zh-CN" b="1"/>
              <a:t>=(1,3)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2</a:t>
            </a:r>
            <a:r>
              <a:rPr lang="en-US" altLang="zh-CN" b="1"/>
              <a:t>=(1.5,3.2)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3</a:t>
            </a:r>
            <a:r>
              <a:rPr lang="en-US" altLang="zh-CN" b="1"/>
              <a:t>=(1.3,2.8)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4</a:t>
            </a:r>
            <a:r>
              <a:rPr lang="en-US" altLang="zh-CN" b="1"/>
              <a:t>=(3,1)</a:t>
            </a:r>
          </a:p>
        </p:txBody>
      </p:sp>
      <p:graphicFrame>
        <p:nvGraphicFramePr>
          <p:cNvPr id="46109" name="Object 2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898423792"/>
              </p:ext>
            </p:extLst>
          </p:nvPr>
        </p:nvGraphicFramePr>
        <p:xfrm>
          <a:off x="1660080" y="1931989"/>
          <a:ext cx="60293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28920" imgH="634680" progId="Equation.DSMT4">
                  <p:embed/>
                </p:oleObj>
              </mc:Choice>
              <mc:Fallback>
                <p:oleObj name="Equation" r:id="rId2" imgW="4228920" imgH="63468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080" y="1931989"/>
                        <a:ext cx="602932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681334"/>
              </p:ext>
            </p:extLst>
          </p:nvPr>
        </p:nvGraphicFramePr>
        <p:xfrm>
          <a:off x="1668017" y="2776538"/>
          <a:ext cx="471805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87440" imgH="596880" progId="Equation.DSMT4">
                  <p:embed/>
                </p:oleObj>
              </mc:Choice>
              <mc:Fallback>
                <p:oleObj name="Equation" r:id="rId4" imgW="3187440" imgH="59688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017" y="2776538"/>
                        <a:ext cx="4718050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973253"/>
              </p:ext>
            </p:extLst>
          </p:nvPr>
        </p:nvGraphicFramePr>
        <p:xfrm>
          <a:off x="1633093" y="3716338"/>
          <a:ext cx="470058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4840" imgH="596880" progId="Equation.DSMT4">
                  <p:embed/>
                </p:oleObj>
              </mc:Choice>
              <mc:Fallback>
                <p:oleObj name="Equation" r:id="rId6" imgW="3174840" imgH="5968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093" y="3716338"/>
                        <a:ext cx="4700587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594248"/>
              </p:ext>
            </p:extLst>
          </p:nvPr>
        </p:nvGraphicFramePr>
        <p:xfrm>
          <a:off x="1631504" y="4652963"/>
          <a:ext cx="4719638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87440" imgH="596880" progId="Equation.DSMT4">
                  <p:embed/>
                </p:oleObj>
              </mc:Choice>
              <mc:Fallback>
                <p:oleObj name="Equation" r:id="rId8" imgW="3187440" imgH="59688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4652963"/>
                        <a:ext cx="4719638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7267376" y="3678634"/>
            <a:ext cx="3960812" cy="3206750"/>
            <a:chOff x="5183188" y="3678634"/>
            <a:chExt cx="3960812" cy="3206750"/>
          </a:xfrm>
        </p:grpSpPr>
        <p:sp>
          <p:nvSpPr>
            <p:cNvPr id="32" name="AutoShape 26"/>
            <p:cNvSpPr>
              <a:spLocks noChangeArrowheads="1"/>
            </p:cNvSpPr>
            <p:nvPr/>
          </p:nvSpPr>
          <p:spPr bwMode="auto">
            <a:xfrm rot="2430869">
              <a:off x="6372225" y="4615259"/>
              <a:ext cx="2474913" cy="863600"/>
            </a:xfrm>
            <a:prstGeom prst="roundRect">
              <a:avLst>
                <a:gd name="adj" fmla="val 16667"/>
              </a:avLst>
            </a:prstGeom>
            <a:solidFill>
              <a:srgbClr val="99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24"/>
            <p:cNvSpPr>
              <a:spLocks noChangeArrowheads="1"/>
            </p:cNvSpPr>
            <p:nvPr/>
          </p:nvSpPr>
          <p:spPr bwMode="auto">
            <a:xfrm>
              <a:off x="6227763" y="4110434"/>
              <a:ext cx="360362" cy="36036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4" name="Group 4"/>
            <p:cNvGrpSpPr>
              <a:grpSpLocks/>
            </p:cNvGrpSpPr>
            <p:nvPr/>
          </p:nvGrpSpPr>
          <p:grpSpPr bwMode="auto">
            <a:xfrm>
              <a:off x="5183188" y="3678634"/>
              <a:ext cx="3960812" cy="3206750"/>
              <a:chOff x="1111" y="1525"/>
              <a:chExt cx="2495" cy="2591"/>
            </a:xfrm>
          </p:grpSpPr>
          <p:sp>
            <p:nvSpPr>
              <p:cNvPr id="35" name="Line 5"/>
              <p:cNvSpPr>
                <a:spLocks noChangeShapeType="1"/>
              </p:cNvSpPr>
              <p:nvPr/>
            </p:nvSpPr>
            <p:spPr bwMode="auto">
              <a:xfrm flipV="1">
                <a:off x="1383" y="1570"/>
                <a:ext cx="0" cy="208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6"/>
              <p:cNvSpPr>
                <a:spLocks noChangeShapeType="1"/>
              </p:cNvSpPr>
              <p:nvPr/>
            </p:nvSpPr>
            <p:spPr bwMode="auto">
              <a:xfrm>
                <a:off x="1383" y="3657"/>
                <a:ext cx="19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7"/>
              <p:cNvSpPr>
                <a:spLocks noChangeShapeType="1"/>
              </p:cNvSpPr>
              <p:nvPr/>
            </p:nvSpPr>
            <p:spPr bwMode="auto">
              <a:xfrm>
                <a:off x="1383" y="3113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8"/>
              <p:cNvSpPr>
                <a:spLocks noChangeShapeType="1"/>
              </p:cNvSpPr>
              <p:nvPr/>
            </p:nvSpPr>
            <p:spPr bwMode="auto">
              <a:xfrm>
                <a:off x="1383" y="2024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9"/>
              <p:cNvSpPr>
                <a:spLocks noChangeShapeType="1"/>
              </p:cNvSpPr>
              <p:nvPr/>
            </p:nvSpPr>
            <p:spPr bwMode="auto">
              <a:xfrm>
                <a:off x="1383" y="2568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10"/>
              <p:cNvSpPr>
                <a:spLocks noChangeShapeType="1"/>
              </p:cNvSpPr>
              <p:nvPr/>
            </p:nvSpPr>
            <p:spPr bwMode="auto">
              <a:xfrm flipV="1">
                <a:off x="1927" y="352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11"/>
              <p:cNvSpPr>
                <a:spLocks noChangeShapeType="1"/>
              </p:cNvSpPr>
              <p:nvPr/>
            </p:nvSpPr>
            <p:spPr bwMode="auto">
              <a:xfrm flipV="1">
                <a:off x="2562" y="352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12"/>
              <p:cNvSpPr>
                <a:spLocks noChangeShapeType="1"/>
              </p:cNvSpPr>
              <p:nvPr/>
            </p:nvSpPr>
            <p:spPr bwMode="auto">
              <a:xfrm flipV="1">
                <a:off x="3152" y="352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Text Box 13"/>
              <p:cNvSpPr txBox="1">
                <a:spLocks noChangeArrowheads="1"/>
              </p:cNvSpPr>
              <p:nvPr/>
            </p:nvSpPr>
            <p:spPr bwMode="auto">
              <a:xfrm>
                <a:off x="1247" y="3657"/>
                <a:ext cx="235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/>
                  <a:t>0            1              2             3    x</a:t>
                </a:r>
              </a:p>
            </p:txBody>
          </p:sp>
          <p:sp>
            <p:nvSpPr>
              <p:cNvPr id="44" name="Text Box 14"/>
              <p:cNvSpPr txBox="1">
                <a:spLocks noChangeArrowheads="1"/>
              </p:cNvSpPr>
              <p:nvPr/>
            </p:nvSpPr>
            <p:spPr bwMode="auto">
              <a:xfrm>
                <a:off x="1111" y="1525"/>
                <a:ext cx="227" cy="25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y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3</a:t>
                </a:r>
              </a:p>
              <a:p>
                <a:pPr eaLnBrk="1" hangingPunct="1">
                  <a:spcBef>
                    <a:spcPct val="50000"/>
                  </a:spcBef>
                </a:pPr>
                <a:endParaRPr lang="en-US" altLang="zh-CN"/>
              </a:p>
              <a:p>
                <a:pPr eaLnBrk="1" hangingPunct="1">
                  <a:spcBef>
                    <a:spcPct val="50000"/>
                  </a:spcBef>
                </a:pPr>
                <a:endParaRPr lang="en-US" altLang="zh-CN" sz="1000"/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2</a:t>
                </a:r>
              </a:p>
              <a:p>
                <a:pPr eaLnBrk="1" hangingPunct="1">
                  <a:spcBef>
                    <a:spcPct val="50000"/>
                  </a:spcBef>
                </a:pPr>
                <a:endParaRPr lang="en-US" altLang="zh-CN" sz="2400"/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1</a:t>
                </a:r>
              </a:p>
              <a:p>
                <a:pPr eaLnBrk="1" hangingPunct="1">
                  <a:spcBef>
                    <a:spcPct val="50000"/>
                  </a:spcBef>
                </a:pPr>
                <a:endParaRPr lang="en-US" altLang="zh-CN"/>
              </a:p>
            </p:txBody>
          </p:sp>
          <p:sp>
            <p:nvSpPr>
              <p:cNvPr id="45" name="Oval 15"/>
              <p:cNvSpPr>
                <a:spLocks noChangeArrowheads="1"/>
              </p:cNvSpPr>
              <p:nvPr/>
            </p:nvSpPr>
            <p:spPr bwMode="auto">
              <a:xfrm>
                <a:off x="1882" y="2024"/>
                <a:ext cx="45" cy="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Oval 16"/>
              <p:cNvSpPr>
                <a:spLocks noChangeArrowheads="1"/>
              </p:cNvSpPr>
              <p:nvPr/>
            </p:nvSpPr>
            <p:spPr bwMode="auto">
              <a:xfrm>
                <a:off x="2018" y="2160"/>
                <a:ext cx="45" cy="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Oval 17"/>
              <p:cNvSpPr>
                <a:spLocks noChangeArrowheads="1"/>
              </p:cNvSpPr>
              <p:nvPr/>
            </p:nvSpPr>
            <p:spPr bwMode="auto">
              <a:xfrm>
                <a:off x="2154" y="1888"/>
                <a:ext cx="45" cy="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Oval 18"/>
              <p:cNvSpPr>
                <a:spLocks noChangeArrowheads="1"/>
              </p:cNvSpPr>
              <p:nvPr/>
            </p:nvSpPr>
            <p:spPr bwMode="auto">
              <a:xfrm>
                <a:off x="3107" y="3113"/>
                <a:ext cx="45" cy="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Text Box 19"/>
              <p:cNvSpPr txBox="1">
                <a:spLocks noChangeArrowheads="1"/>
              </p:cNvSpPr>
              <p:nvPr/>
            </p:nvSpPr>
            <p:spPr bwMode="auto">
              <a:xfrm>
                <a:off x="1701" y="1842"/>
                <a:ext cx="294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/>
                  <a:t>x</a:t>
                </a:r>
                <a:r>
                  <a:rPr lang="en-US" altLang="zh-CN" b="1" baseline="-25000" dirty="0"/>
                  <a:t>1</a:t>
                </a:r>
                <a:endParaRPr lang="en-US" altLang="zh-CN" b="1" dirty="0"/>
              </a:p>
            </p:txBody>
          </p:sp>
          <p:sp>
            <p:nvSpPr>
              <p:cNvPr id="50" name="Text Box 20"/>
              <p:cNvSpPr txBox="1">
                <a:spLocks noChangeArrowheads="1"/>
              </p:cNvSpPr>
              <p:nvPr/>
            </p:nvSpPr>
            <p:spPr bwMode="auto">
              <a:xfrm>
                <a:off x="1882" y="2251"/>
                <a:ext cx="317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/>
                  <a:t>x</a:t>
                </a:r>
                <a:r>
                  <a:rPr lang="en-US" altLang="zh-CN" b="1" baseline="-25000"/>
                  <a:t>3</a:t>
                </a:r>
                <a:endParaRPr lang="en-US" altLang="zh-CN" sz="1200" b="1"/>
              </a:p>
            </p:txBody>
          </p:sp>
          <p:sp>
            <p:nvSpPr>
              <p:cNvPr id="51" name="Text Box 21"/>
              <p:cNvSpPr txBox="1">
                <a:spLocks noChangeArrowheads="1"/>
              </p:cNvSpPr>
              <p:nvPr/>
            </p:nvSpPr>
            <p:spPr bwMode="auto">
              <a:xfrm>
                <a:off x="2200" y="1706"/>
                <a:ext cx="295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/>
                  <a:t>x</a:t>
                </a:r>
                <a:r>
                  <a:rPr lang="en-US" altLang="zh-CN" b="1" baseline="-25000"/>
                  <a:t>2</a:t>
                </a:r>
                <a:endParaRPr lang="en-US" altLang="zh-CN" b="1"/>
              </a:p>
            </p:txBody>
          </p:sp>
          <p:sp>
            <p:nvSpPr>
              <p:cNvPr id="52" name="Text Box 22"/>
              <p:cNvSpPr txBox="1">
                <a:spLocks noChangeArrowheads="1"/>
              </p:cNvSpPr>
              <p:nvPr/>
            </p:nvSpPr>
            <p:spPr bwMode="auto">
              <a:xfrm>
                <a:off x="3061" y="2886"/>
                <a:ext cx="318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/>
                  <a:t>x</a:t>
                </a:r>
                <a:r>
                  <a:rPr lang="en-US" altLang="zh-CN" b="1" baseline="-25000"/>
                  <a:t>4</a:t>
                </a:r>
                <a:endParaRPr lang="en-US" altLang="zh-CN" b="1"/>
              </a:p>
            </p:txBody>
          </p:sp>
        </p:grpSp>
        <p:sp>
          <p:nvSpPr>
            <p:cNvPr id="53" name="Oval 27"/>
            <p:cNvSpPr>
              <a:spLocks noChangeArrowheads="1"/>
            </p:cNvSpPr>
            <p:nvPr/>
          </p:nvSpPr>
          <p:spPr bwMode="auto">
            <a:xfrm>
              <a:off x="7667625" y="5047059"/>
              <a:ext cx="71438" cy="7143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EF0AA5E-45BC-112C-D185-C3B96CA394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814D286-F02B-0170-E357-EBB023B30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3951" y="5512128"/>
            <a:ext cx="360362" cy="360362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B8E53D9-E5CC-F906-6D3D-56E47A93B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763" y="3963295"/>
            <a:ext cx="919163" cy="79216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2" name="Rectangle 4"/>
          <p:cNvSpPr>
            <a:spLocks noGrp="1" noChangeArrowheads="1"/>
          </p:cNvSpPr>
          <p:nvPr>
            <p:ph type="title"/>
          </p:nvPr>
        </p:nvSpPr>
        <p:spPr>
          <a:xfrm>
            <a:off x="1716088" y="115888"/>
            <a:ext cx="673735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  <a:ea typeface="黑体" pitchFamily="2" charset="-122"/>
              </a:rPr>
              <a:t>FCM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算法举例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149349" y="1341438"/>
            <a:ext cx="5451478" cy="5478462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重新计算聚类中心</a:t>
            </a:r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对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类</a:t>
            </a:r>
          </a:p>
          <a:p>
            <a:pPr lvl="1" eaLnBrk="1" hangingPunct="1"/>
            <a:endParaRPr lang="zh-CN" altLang="en-US" sz="2000" b="1" dirty="0"/>
          </a:p>
          <a:p>
            <a:pPr lvl="1" eaLnBrk="1" hangingPunct="1"/>
            <a:endParaRPr lang="zh-CN" altLang="en-US" sz="2000" b="1" dirty="0"/>
          </a:p>
          <a:p>
            <a:pPr lvl="1" eaLnBrk="1" hangingPunct="1"/>
            <a:endParaRPr lang="zh-CN" altLang="en-US" sz="2000" b="1" dirty="0"/>
          </a:p>
          <a:p>
            <a:pPr lvl="1" eaLnBrk="1" hangingPunct="1"/>
            <a:endParaRPr lang="zh-CN" altLang="en-US" sz="2000" b="1" dirty="0"/>
          </a:p>
          <a:p>
            <a:pPr lvl="1" eaLnBrk="1" hangingPunct="1"/>
            <a:endParaRPr lang="zh-CN" altLang="en-US" sz="2000" b="1" dirty="0"/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对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类</a:t>
            </a:r>
          </a:p>
          <a:p>
            <a:pPr lvl="1" eaLnBrk="1" hangingPunct="1"/>
            <a:r>
              <a:rPr lang="en-US" altLang="zh-CN" sz="2000" b="1" dirty="0"/>
              <a:t>c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(x) </a:t>
            </a:r>
            <a:r>
              <a:rPr lang="en-US" altLang="zh-CN" b="1" dirty="0"/>
              <a:t>≈2.98</a:t>
            </a:r>
            <a:r>
              <a:rPr lang="zh-CN" altLang="en-US" b="1" dirty="0"/>
              <a:t>，</a:t>
            </a:r>
            <a:r>
              <a:rPr lang="en-US" altLang="zh-CN" sz="2000" b="1" dirty="0"/>
              <a:t>c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(y) </a:t>
            </a:r>
            <a:r>
              <a:rPr lang="en-US" altLang="en-US" b="1" dirty="0"/>
              <a:t>≈0.97</a:t>
            </a:r>
            <a:endParaRPr lang="en-US" altLang="zh-CN" b="1" dirty="0"/>
          </a:p>
          <a:p>
            <a:pPr eaLnBrk="1" hangingPunct="1"/>
            <a:r>
              <a:rPr lang="zh-CN" altLang="en-US" sz="2400" b="1" dirty="0"/>
              <a:t>即新的聚类中心为</a:t>
            </a:r>
          </a:p>
          <a:p>
            <a:pPr lvl="1" eaLnBrk="1" hangingPunct="1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</a:rPr>
              <a:t>=(1.27, 2.93)</a:t>
            </a:r>
          </a:p>
          <a:p>
            <a:pPr lvl="1" eaLnBrk="1" hangingPunct="1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</a:rPr>
              <a:t>=(2.98, 0.97)</a:t>
            </a:r>
          </a:p>
        </p:txBody>
      </p:sp>
      <p:graphicFrame>
        <p:nvGraphicFramePr>
          <p:cNvPr id="48156" name="Object 2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693222070"/>
              </p:ext>
            </p:extLst>
          </p:nvPr>
        </p:nvGraphicFramePr>
        <p:xfrm>
          <a:off x="1992313" y="2208213"/>
          <a:ext cx="67691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01840" imgH="419040" progId="Equation.DSMT4">
                  <p:embed/>
                </p:oleObj>
              </mc:Choice>
              <mc:Fallback>
                <p:oleObj name="Equation" r:id="rId2" imgW="4101840" imgH="4190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208213"/>
                        <a:ext cx="67691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83" name="Object 5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9787477"/>
              </p:ext>
            </p:extLst>
          </p:nvPr>
        </p:nvGraphicFramePr>
        <p:xfrm>
          <a:off x="1992314" y="3078163"/>
          <a:ext cx="66690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52600" imgH="419040" progId="Equation.DSMT4">
                  <p:embed/>
                </p:oleObj>
              </mc:Choice>
              <mc:Fallback>
                <p:oleObj name="Equation" r:id="rId4" imgW="4152600" imgH="41904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078163"/>
                        <a:ext cx="666908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Rectangle 25"/>
          <p:cNvSpPr>
            <a:spLocks noChangeArrowheads="1"/>
          </p:cNvSpPr>
          <p:nvPr/>
        </p:nvSpPr>
        <p:spPr bwMode="auto">
          <a:xfrm>
            <a:off x="9597876" y="3429001"/>
            <a:ext cx="15938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/>
              <a:t>x</a:t>
            </a:r>
            <a:r>
              <a:rPr lang="en-US" altLang="zh-CN" b="1" baseline="-25000"/>
              <a:t>1</a:t>
            </a:r>
            <a:r>
              <a:rPr lang="en-US" altLang="zh-CN" b="1"/>
              <a:t>=(1,3)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2</a:t>
            </a:r>
            <a:r>
              <a:rPr lang="en-US" altLang="zh-CN" b="1"/>
              <a:t>=(1.5,3.2)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3</a:t>
            </a:r>
            <a:r>
              <a:rPr lang="en-US" altLang="zh-CN" b="1"/>
              <a:t>=(1.3,2.8)</a:t>
            </a:r>
          </a:p>
          <a:p>
            <a:r>
              <a:rPr lang="en-US" altLang="zh-CN" b="1"/>
              <a:t>x</a:t>
            </a:r>
            <a:r>
              <a:rPr lang="en-US" altLang="zh-CN" b="1" baseline="-25000"/>
              <a:t>4</a:t>
            </a:r>
            <a:r>
              <a:rPr lang="en-US" altLang="zh-CN" b="1"/>
              <a:t>=(3,1)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013428"/>
              </p:ext>
            </p:extLst>
          </p:nvPr>
        </p:nvGraphicFramePr>
        <p:xfrm>
          <a:off x="8395766" y="627893"/>
          <a:ext cx="3408162" cy="1493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863280" progId="Equation.DSMT4">
                  <p:embed/>
                </p:oleObj>
              </mc:Choice>
              <mc:Fallback>
                <p:oleObj name="Equation" r:id="rId6" imgW="1600200" imgH="8632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5766" y="627893"/>
                        <a:ext cx="3408162" cy="149315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Group 6"/>
          <p:cNvGrpSpPr>
            <a:grpSpLocks/>
          </p:cNvGrpSpPr>
          <p:nvPr/>
        </p:nvGrpSpPr>
        <p:grpSpPr bwMode="auto">
          <a:xfrm>
            <a:off x="7319764" y="3750642"/>
            <a:ext cx="3960812" cy="3206750"/>
            <a:chOff x="1111" y="1525"/>
            <a:chExt cx="2495" cy="2591"/>
          </a:xfrm>
        </p:grpSpPr>
        <p:sp>
          <p:nvSpPr>
            <p:cNvPr id="57" name="Line 7"/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8"/>
            <p:cNvSpPr>
              <a:spLocks noChangeShapeType="1"/>
            </p:cNvSpPr>
            <p:nvPr/>
          </p:nvSpPr>
          <p:spPr bwMode="auto">
            <a:xfrm>
              <a:off x="1383" y="3657"/>
              <a:ext cx="19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9"/>
            <p:cNvSpPr>
              <a:spLocks noChangeShapeType="1"/>
            </p:cNvSpPr>
            <p:nvPr/>
          </p:nvSpPr>
          <p:spPr bwMode="auto">
            <a:xfrm>
              <a:off x="1383" y="3113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auto">
            <a:xfrm>
              <a:off x="1383" y="202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>
              <a:off x="1383" y="2568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2"/>
            <p:cNvSpPr>
              <a:spLocks noChangeShapeType="1"/>
            </p:cNvSpPr>
            <p:nvPr/>
          </p:nvSpPr>
          <p:spPr bwMode="auto">
            <a:xfrm flipV="1">
              <a:off x="1927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3"/>
            <p:cNvSpPr>
              <a:spLocks noChangeShapeType="1"/>
            </p:cNvSpPr>
            <p:nvPr/>
          </p:nvSpPr>
          <p:spPr bwMode="auto">
            <a:xfrm flipV="1">
              <a:off x="256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V="1">
              <a:off x="3152" y="35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15"/>
            <p:cNvSpPr txBox="1">
              <a:spLocks noChangeArrowheads="1"/>
            </p:cNvSpPr>
            <p:nvPr/>
          </p:nvSpPr>
          <p:spPr bwMode="auto">
            <a:xfrm>
              <a:off x="1247" y="3657"/>
              <a:ext cx="2359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0            1              2             3    x</a:t>
              </a:r>
            </a:p>
          </p:txBody>
        </p:sp>
        <p:sp>
          <p:nvSpPr>
            <p:cNvPr id="66" name="Text Box 16"/>
            <p:cNvSpPr txBox="1">
              <a:spLocks noChangeArrowheads="1"/>
            </p:cNvSpPr>
            <p:nvPr/>
          </p:nvSpPr>
          <p:spPr bwMode="auto">
            <a:xfrm>
              <a:off x="1111" y="1525"/>
              <a:ext cx="227" cy="2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y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3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endParaRPr lang="en-US" altLang="zh-CN" sz="10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2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 sz="2400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</p:txBody>
        </p:sp>
        <p:sp>
          <p:nvSpPr>
            <p:cNvPr id="67" name="Oval 17"/>
            <p:cNvSpPr>
              <a:spLocks noChangeArrowheads="1"/>
            </p:cNvSpPr>
            <p:nvPr/>
          </p:nvSpPr>
          <p:spPr bwMode="auto">
            <a:xfrm>
              <a:off x="1882" y="2024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Oval 18"/>
            <p:cNvSpPr>
              <a:spLocks noChangeArrowheads="1"/>
            </p:cNvSpPr>
            <p:nvPr/>
          </p:nvSpPr>
          <p:spPr bwMode="auto">
            <a:xfrm>
              <a:off x="2018" y="2160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Oval 19"/>
            <p:cNvSpPr>
              <a:spLocks noChangeArrowheads="1"/>
            </p:cNvSpPr>
            <p:nvPr/>
          </p:nvSpPr>
          <p:spPr bwMode="auto">
            <a:xfrm>
              <a:off x="2154" y="1888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Oval 20"/>
            <p:cNvSpPr>
              <a:spLocks noChangeArrowheads="1"/>
            </p:cNvSpPr>
            <p:nvPr/>
          </p:nvSpPr>
          <p:spPr bwMode="auto">
            <a:xfrm>
              <a:off x="3107" y="3113"/>
              <a:ext cx="45" cy="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Text Box 21"/>
            <p:cNvSpPr txBox="1">
              <a:spLocks noChangeArrowheads="1"/>
            </p:cNvSpPr>
            <p:nvPr/>
          </p:nvSpPr>
          <p:spPr bwMode="auto">
            <a:xfrm>
              <a:off x="1632" y="1837"/>
              <a:ext cx="386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/>
                <a:t>x</a:t>
              </a:r>
              <a:r>
                <a:rPr lang="en-US" altLang="zh-CN" sz="1600" b="1" baseline="-25000"/>
                <a:t>1</a:t>
              </a:r>
              <a:endParaRPr lang="en-US" altLang="zh-CN" sz="1600" b="1"/>
            </a:p>
          </p:txBody>
        </p:sp>
        <p:sp>
          <p:nvSpPr>
            <p:cNvPr id="72" name="Text Box 22"/>
            <p:cNvSpPr txBox="1">
              <a:spLocks noChangeArrowheads="1"/>
            </p:cNvSpPr>
            <p:nvPr/>
          </p:nvSpPr>
          <p:spPr bwMode="auto">
            <a:xfrm>
              <a:off x="1882" y="2251"/>
              <a:ext cx="317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73" name="Text Box 23"/>
            <p:cNvSpPr txBox="1">
              <a:spLocks noChangeArrowheads="1"/>
            </p:cNvSpPr>
            <p:nvPr/>
          </p:nvSpPr>
          <p:spPr bwMode="auto">
            <a:xfrm>
              <a:off x="2200" y="1706"/>
              <a:ext cx="362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74" name="Text Box 24"/>
            <p:cNvSpPr txBox="1">
              <a:spLocks noChangeArrowheads="1"/>
            </p:cNvSpPr>
            <p:nvPr/>
          </p:nvSpPr>
          <p:spPr bwMode="auto">
            <a:xfrm>
              <a:off x="3039" y="2821"/>
              <a:ext cx="340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x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</p:grpSp>
      <p:sp>
        <p:nvSpPr>
          <p:cNvPr id="76" name="Oval 26"/>
          <p:cNvSpPr>
            <a:spLocks noChangeArrowheads="1"/>
          </p:cNvSpPr>
          <p:nvPr/>
        </p:nvSpPr>
        <p:spPr bwMode="auto">
          <a:xfrm>
            <a:off x="8770790" y="4370387"/>
            <a:ext cx="71437" cy="71438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0A7805-10DA-4D97-6746-D98B485708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1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48133" grpId="0" uiExpand="1" build="p"/>
      <p:bldP spid="7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87902" y="327025"/>
            <a:ext cx="467995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57939"/>
                </a:solidFill>
              </a:rPr>
              <a:t>ISODATA</a:t>
            </a:r>
            <a:r>
              <a:rPr lang="zh-CN" altLang="en-US" dirty="0">
                <a:solidFill>
                  <a:srgbClr val="057939"/>
                </a:solidFill>
                <a:ea typeface="黑体" pitchFamily="2" charset="-122"/>
              </a:rPr>
              <a:t>算法</a:t>
            </a:r>
            <a:br>
              <a:rPr lang="zh-CN" altLang="en-US" dirty="0">
                <a:solidFill>
                  <a:srgbClr val="057939"/>
                </a:solidFill>
                <a:ea typeface="黑体" pitchFamily="2" charset="-122"/>
              </a:rPr>
            </a:br>
            <a:r>
              <a:rPr lang="zh-CN" altLang="en-US" sz="3200" dirty="0">
                <a:ea typeface="黑体" pitchFamily="2" charset="-122"/>
              </a:rPr>
              <a:t>迭代自组织数据分析算法</a:t>
            </a:r>
          </a:p>
        </p:txBody>
      </p:sp>
      <p:sp>
        <p:nvSpPr>
          <p:cNvPr id="36867" name="AutoShape 3"/>
          <p:cNvSpPr>
            <a:spLocks noChangeArrowheads="1"/>
          </p:cNvSpPr>
          <p:nvPr/>
        </p:nvSpPr>
        <p:spPr bwMode="auto">
          <a:xfrm>
            <a:off x="3432821" y="981075"/>
            <a:ext cx="1655763" cy="431800"/>
          </a:xfrm>
          <a:prstGeom prst="flowChartProcess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设置控制参数 </a:t>
            </a:r>
          </a:p>
        </p:txBody>
      </p:sp>
      <p:sp>
        <p:nvSpPr>
          <p:cNvPr id="36868" name="AutoShape 4"/>
          <p:cNvSpPr>
            <a:spLocks noChangeArrowheads="1"/>
          </p:cNvSpPr>
          <p:nvPr/>
        </p:nvSpPr>
        <p:spPr bwMode="auto">
          <a:xfrm>
            <a:off x="3432821" y="1628776"/>
            <a:ext cx="1655763" cy="358775"/>
          </a:xfrm>
          <a:prstGeom prst="flowChartProcess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近邻聚类 </a:t>
            </a:r>
          </a:p>
        </p:txBody>
      </p:sp>
      <p:sp>
        <p:nvSpPr>
          <p:cNvPr id="36869" name="AutoShape 5"/>
          <p:cNvSpPr>
            <a:spLocks noChangeArrowheads="1"/>
          </p:cNvSpPr>
          <p:nvPr/>
        </p:nvSpPr>
        <p:spPr bwMode="auto">
          <a:xfrm>
            <a:off x="3504258" y="3141663"/>
            <a:ext cx="1655762" cy="431800"/>
          </a:xfrm>
          <a:prstGeom prst="flowChartProcess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撤销该聚类 </a:t>
            </a:r>
          </a:p>
        </p:txBody>
      </p:sp>
      <p:sp>
        <p:nvSpPr>
          <p:cNvPr id="36870" name="AutoShape 6"/>
          <p:cNvSpPr>
            <a:spLocks noChangeArrowheads="1"/>
          </p:cNvSpPr>
          <p:nvPr/>
        </p:nvSpPr>
        <p:spPr bwMode="auto">
          <a:xfrm>
            <a:off x="1415109" y="5876925"/>
            <a:ext cx="936625" cy="431800"/>
          </a:xfrm>
          <a:prstGeom prst="flowChartProcess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合并 </a:t>
            </a:r>
          </a:p>
        </p:txBody>
      </p:sp>
      <p:sp>
        <p:nvSpPr>
          <p:cNvPr id="36871" name="AutoShape 7"/>
          <p:cNvSpPr>
            <a:spLocks noChangeArrowheads="1"/>
          </p:cNvSpPr>
          <p:nvPr/>
        </p:nvSpPr>
        <p:spPr bwMode="auto">
          <a:xfrm>
            <a:off x="6312545" y="5876925"/>
            <a:ext cx="863600" cy="431800"/>
          </a:xfrm>
          <a:prstGeom prst="flowChartProcess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分裂 </a:t>
            </a:r>
          </a:p>
        </p:txBody>
      </p:sp>
      <p:sp>
        <p:nvSpPr>
          <p:cNvPr id="36872" name="AutoShape 8"/>
          <p:cNvSpPr>
            <a:spLocks noChangeArrowheads="1"/>
          </p:cNvSpPr>
          <p:nvPr/>
        </p:nvSpPr>
        <p:spPr bwMode="auto">
          <a:xfrm>
            <a:off x="3504258" y="3789363"/>
            <a:ext cx="1655762" cy="431800"/>
          </a:xfrm>
          <a:prstGeom prst="flowChartProcess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计算聚类中心 </a:t>
            </a:r>
          </a:p>
        </p:txBody>
      </p:sp>
      <p:sp>
        <p:nvSpPr>
          <p:cNvPr id="36873" name="AutoShape 9"/>
          <p:cNvSpPr>
            <a:spLocks noChangeArrowheads="1"/>
          </p:cNvSpPr>
          <p:nvPr/>
        </p:nvSpPr>
        <p:spPr bwMode="auto">
          <a:xfrm>
            <a:off x="2712096" y="2205039"/>
            <a:ext cx="3311525" cy="720725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有无样本数目极少的集合 </a:t>
            </a:r>
          </a:p>
        </p:txBody>
      </p:sp>
      <p:sp>
        <p:nvSpPr>
          <p:cNvPr id="36874" name="AutoShape 10"/>
          <p:cNvSpPr>
            <a:spLocks noChangeArrowheads="1"/>
          </p:cNvSpPr>
          <p:nvPr/>
        </p:nvSpPr>
        <p:spPr bwMode="auto">
          <a:xfrm>
            <a:off x="911870" y="2997201"/>
            <a:ext cx="2484438" cy="1008063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是否需要更改</a:t>
            </a:r>
          </a:p>
          <a:p>
            <a:pPr algn="ctr"/>
            <a:r>
              <a:rPr lang="zh-CN" altLang="en-US" b="1">
                <a:ea typeface="楷体_GB2312" pitchFamily="49" charset="-122"/>
              </a:rPr>
              <a:t>控制参数</a:t>
            </a:r>
          </a:p>
        </p:txBody>
      </p:sp>
      <p:sp>
        <p:nvSpPr>
          <p:cNvPr id="36875" name="AutoShape 11"/>
          <p:cNvSpPr>
            <a:spLocks noChangeArrowheads="1"/>
          </p:cNvSpPr>
          <p:nvPr/>
        </p:nvSpPr>
        <p:spPr bwMode="auto">
          <a:xfrm>
            <a:off x="2712095" y="5805488"/>
            <a:ext cx="3240088" cy="620712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ea typeface="楷体_GB2312" pitchFamily="49" charset="-122"/>
              </a:rPr>
              <a:t> </a:t>
            </a:r>
            <a:r>
              <a:rPr lang="zh-CN" altLang="en-US" b="1">
                <a:ea typeface="楷体_GB2312" pitchFamily="49" charset="-122"/>
              </a:rPr>
              <a:t>偶次或类数多</a:t>
            </a:r>
          </a:p>
        </p:txBody>
      </p:sp>
      <p:sp>
        <p:nvSpPr>
          <p:cNvPr id="36876" name="AutoShape 12"/>
          <p:cNvSpPr>
            <a:spLocks noChangeArrowheads="1"/>
          </p:cNvSpPr>
          <p:nvPr/>
        </p:nvSpPr>
        <p:spPr bwMode="auto">
          <a:xfrm>
            <a:off x="3143895" y="4437064"/>
            <a:ext cx="2376488" cy="504825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最后 一步</a:t>
            </a:r>
          </a:p>
        </p:txBody>
      </p:sp>
      <p:sp>
        <p:nvSpPr>
          <p:cNvPr id="36877" name="AutoShape 13"/>
          <p:cNvSpPr>
            <a:spLocks noChangeArrowheads="1"/>
          </p:cNvSpPr>
          <p:nvPr/>
        </p:nvSpPr>
        <p:spPr bwMode="auto">
          <a:xfrm>
            <a:off x="3143895" y="5157788"/>
            <a:ext cx="2376488" cy="431800"/>
          </a:xfrm>
          <a:prstGeom prst="flowChartDecis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类数太少 </a:t>
            </a:r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>
            <a:off x="6023621" y="2565400"/>
            <a:ext cx="3603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4223395" y="1412875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4367858" y="1989138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4296420" y="5589588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2" name="Line 19"/>
          <p:cNvSpPr>
            <a:spLocks noChangeShapeType="1"/>
          </p:cNvSpPr>
          <p:nvPr/>
        </p:nvSpPr>
        <p:spPr bwMode="auto">
          <a:xfrm>
            <a:off x="4367858" y="4941888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3" name="Line 20"/>
          <p:cNvSpPr>
            <a:spLocks noChangeShapeType="1"/>
          </p:cNvSpPr>
          <p:nvPr/>
        </p:nvSpPr>
        <p:spPr bwMode="auto">
          <a:xfrm>
            <a:off x="4296420" y="4221163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4" name="Line 21"/>
          <p:cNvSpPr>
            <a:spLocks noChangeShapeType="1"/>
          </p:cNvSpPr>
          <p:nvPr/>
        </p:nvSpPr>
        <p:spPr bwMode="auto">
          <a:xfrm>
            <a:off x="4367858" y="3573463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5" name="Line 22"/>
          <p:cNvSpPr>
            <a:spLocks noChangeShapeType="1"/>
          </p:cNvSpPr>
          <p:nvPr/>
        </p:nvSpPr>
        <p:spPr bwMode="auto">
          <a:xfrm>
            <a:off x="4367858" y="2925763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6" name="Line 23"/>
          <p:cNvSpPr>
            <a:spLocks noChangeShapeType="1"/>
          </p:cNvSpPr>
          <p:nvPr/>
        </p:nvSpPr>
        <p:spPr bwMode="auto">
          <a:xfrm>
            <a:off x="6383983" y="2565400"/>
            <a:ext cx="0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7" name="Line 24"/>
          <p:cNvSpPr>
            <a:spLocks noChangeShapeType="1"/>
          </p:cNvSpPr>
          <p:nvPr/>
        </p:nvSpPr>
        <p:spPr bwMode="auto">
          <a:xfrm flipH="1">
            <a:off x="4367859" y="3644900"/>
            <a:ext cx="20161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8" name="Line 25"/>
          <p:cNvSpPr>
            <a:spLocks noChangeShapeType="1"/>
          </p:cNvSpPr>
          <p:nvPr/>
        </p:nvSpPr>
        <p:spPr bwMode="auto">
          <a:xfrm>
            <a:off x="5520383" y="4652963"/>
            <a:ext cx="431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9" name="AutoShape 26"/>
          <p:cNvSpPr>
            <a:spLocks noChangeArrowheads="1"/>
          </p:cNvSpPr>
          <p:nvPr/>
        </p:nvSpPr>
        <p:spPr bwMode="auto">
          <a:xfrm>
            <a:off x="5952183" y="4437063"/>
            <a:ext cx="863600" cy="431800"/>
          </a:xfrm>
          <a:prstGeom prst="flowChartAlternateProcess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b="1">
                <a:ea typeface="楷体_GB2312" pitchFamily="49" charset="-122"/>
              </a:rPr>
              <a:t>结束 </a:t>
            </a:r>
          </a:p>
        </p:txBody>
      </p:sp>
      <p:sp>
        <p:nvSpPr>
          <p:cNvPr id="36890" name="Text Box 27"/>
          <p:cNvSpPr txBox="1">
            <a:spLocks noChangeArrowheads="1"/>
          </p:cNvSpPr>
          <p:nvPr/>
        </p:nvSpPr>
        <p:spPr bwMode="auto">
          <a:xfrm>
            <a:off x="5375921" y="4292601"/>
            <a:ext cx="360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Y</a:t>
            </a:r>
          </a:p>
        </p:txBody>
      </p:sp>
      <p:sp>
        <p:nvSpPr>
          <p:cNvPr id="36891" name="Line 28"/>
          <p:cNvSpPr>
            <a:spLocks noChangeShapeType="1"/>
          </p:cNvSpPr>
          <p:nvPr/>
        </p:nvSpPr>
        <p:spPr bwMode="auto">
          <a:xfrm>
            <a:off x="2135834" y="1773238"/>
            <a:ext cx="1296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2" name="Line 29"/>
          <p:cNvSpPr>
            <a:spLocks noChangeShapeType="1"/>
          </p:cNvSpPr>
          <p:nvPr/>
        </p:nvSpPr>
        <p:spPr bwMode="auto">
          <a:xfrm>
            <a:off x="5448946" y="5373688"/>
            <a:ext cx="12239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3" name="Line 30"/>
          <p:cNvSpPr>
            <a:spLocks noChangeShapeType="1"/>
          </p:cNvSpPr>
          <p:nvPr/>
        </p:nvSpPr>
        <p:spPr bwMode="auto">
          <a:xfrm>
            <a:off x="5880745" y="6092825"/>
            <a:ext cx="431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4" name="Text Box 31"/>
          <p:cNvSpPr txBox="1">
            <a:spLocks noChangeArrowheads="1"/>
          </p:cNvSpPr>
          <p:nvPr/>
        </p:nvSpPr>
        <p:spPr bwMode="auto">
          <a:xfrm>
            <a:off x="5807721" y="5734051"/>
            <a:ext cx="360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36895" name="Line 32"/>
          <p:cNvSpPr>
            <a:spLocks noChangeShapeType="1"/>
          </p:cNvSpPr>
          <p:nvPr/>
        </p:nvSpPr>
        <p:spPr bwMode="auto">
          <a:xfrm>
            <a:off x="6672908" y="5373689"/>
            <a:ext cx="0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6" name="Text Box 33"/>
          <p:cNvSpPr txBox="1">
            <a:spLocks noChangeArrowheads="1"/>
          </p:cNvSpPr>
          <p:nvPr/>
        </p:nvSpPr>
        <p:spPr bwMode="auto">
          <a:xfrm>
            <a:off x="5520383" y="5013326"/>
            <a:ext cx="3603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Y</a:t>
            </a:r>
          </a:p>
        </p:txBody>
      </p:sp>
      <p:sp>
        <p:nvSpPr>
          <p:cNvPr id="36897" name="Text Box 34"/>
          <p:cNvSpPr txBox="1">
            <a:spLocks noChangeArrowheads="1"/>
          </p:cNvSpPr>
          <p:nvPr/>
        </p:nvSpPr>
        <p:spPr bwMode="auto">
          <a:xfrm>
            <a:off x="2280296" y="5734051"/>
            <a:ext cx="360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Y</a:t>
            </a:r>
          </a:p>
        </p:txBody>
      </p:sp>
      <p:sp>
        <p:nvSpPr>
          <p:cNvPr id="36898" name="Line 35"/>
          <p:cNvSpPr>
            <a:spLocks noChangeShapeType="1"/>
          </p:cNvSpPr>
          <p:nvPr/>
        </p:nvSpPr>
        <p:spPr bwMode="auto">
          <a:xfrm flipH="1">
            <a:off x="2351733" y="6092825"/>
            <a:ext cx="360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99" name="Line 36"/>
          <p:cNvSpPr>
            <a:spLocks noChangeShapeType="1"/>
          </p:cNvSpPr>
          <p:nvPr/>
        </p:nvSpPr>
        <p:spPr bwMode="auto">
          <a:xfrm flipV="1">
            <a:off x="2135833" y="4005263"/>
            <a:ext cx="0" cy="18716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0" name="Line 37"/>
          <p:cNvSpPr>
            <a:spLocks noChangeShapeType="1"/>
          </p:cNvSpPr>
          <p:nvPr/>
        </p:nvSpPr>
        <p:spPr bwMode="auto">
          <a:xfrm flipV="1">
            <a:off x="767408" y="1196976"/>
            <a:ext cx="0" cy="2303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1" name="Line 38"/>
          <p:cNvSpPr>
            <a:spLocks noChangeShapeType="1"/>
          </p:cNvSpPr>
          <p:nvPr/>
        </p:nvSpPr>
        <p:spPr bwMode="auto">
          <a:xfrm flipV="1">
            <a:off x="2135833" y="1773238"/>
            <a:ext cx="0" cy="1223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2" name="Text Box 39"/>
          <p:cNvSpPr txBox="1">
            <a:spLocks noChangeArrowheads="1"/>
          </p:cNvSpPr>
          <p:nvPr/>
        </p:nvSpPr>
        <p:spPr bwMode="auto">
          <a:xfrm>
            <a:off x="2280296" y="2636838"/>
            <a:ext cx="3603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36903" name="Line 40"/>
          <p:cNvSpPr>
            <a:spLocks noChangeShapeType="1"/>
          </p:cNvSpPr>
          <p:nvPr/>
        </p:nvSpPr>
        <p:spPr bwMode="auto">
          <a:xfrm flipH="1">
            <a:off x="767408" y="3502025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4" name="Line 41"/>
          <p:cNvSpPr>
            <a:spLocks noChangeShapeType="1"/>
          </p:cNvSpPr>
          <p:nvPr/>
        </p:nvSpPr>
        <p:spPr bwMode="auto">
          <a:xfrm>
            <a:off x="767408" y="1196975"/>
            <a:ext cx="26654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5" name="Text Box 42"/>
          <p:cNvSpPr txBox="1">
            <a:spLocks noChangeArrowheads="1"/>
          </p:cNvSpPr>
          <p:nvPr/>
        </p:nvSpPr>
        <p:spPr bwMode="auto">
          <a:xfrm>
            <a:off x="5880746" y="2133601"/>
            <a:ext cx="3603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N</a:t>
            </a:r>
          </a:p>
        </p:txBody>
      </p:sp>
      <p:sp>
        <p:nvSpPr>
          <p:cNvPr id="36906" name="Line 43"/>
          <p:cNvSpPr>
            <a:spLocks noChangeShapeType="1"/>
          </p:cNvSpPr>
          <p:nvPr/>
        </p:nvSpPr>
        <p:spPr bwMode="auto">
          <a:xfrm>
            <a:off x="6672908" y="6310313"/>
            <a:ext cx="0" cy="360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7" name="Line 44"/>
          <p:cNvSpPr>
            <a:spLocks noChangeShapeType="1"/>
          </p:cNvSpPr>
          <p:nvPr/>
        </p:nvSpPr>
        <p:spPr bwMode="auto">
          <a:xfrm flipH="1">
            <a:off x="911870" y="6670675"/>
            <a:ext cx="57610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8" name="Line 45"/>
          <p:cNvSpPr>
            <a:spLocks noChangeShapeType="1"/>
          </p:cNvSpPr>
          <p:nvPr/>
        </p:nvSpPr>
        <p:spPr bwMode="auto">
          <a:xfrm flipV="1">
            <a:off x="911870" y="5518151"/>
            <a:ext cx="0" cy="1152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09" name="Line 46"/>
          <p:cNvSpPr>
            <a:spLocks noChangeShapeType="1"/>
          </p:cNvSpPr>
          <p:nvPr/>
        </p:nvSpPr>
        <p:spPr bwMode="auto">
          <a:xfrm>
            <a:off x="911870" y="5518150"/>
            <a:ext cx="1225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10" name="Text Box 47"/>
          <p:cNvSpPr txBox="1">
            <a:spLocks noChangeArrowheads="1"/>
          </p:cNvSpPr>
          <p:nvPr/>
        </p:nvSpPr>
        <p:spPr bwMode="auto">
          <a:xfrm>
            <a:off x="8725148" y="2852738"/>
            <a:ext cx="2232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12336" name="Rectangle 48"/>
          <p:cNvSpPr>
            <a:spLocks noGrp="1" noChangeArrowheads="1"/>
          </p:cNvSpPr>
          <p:nvPr>
            <p:ph type="body" sz="half" idx="1"/>
          </p:nvPr>
        </p:nvSpPr>
        <p:spPr>
          <a:xfrm>
            <a:off x="8112769" y="2133601"/>
            <a:ext cx="3671862" cy="4130672"/>
          </a:xfrm>
          <a:solidFill>
            <a:srgbClr val="FFFF99"/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控制参数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——</a:t>
            </a:r>
          </a:p>
          <a:p>
            <a:pPr eaLnBrk="1" hangingPunct="1"/>
            <a:r>
              <a:rPr lang="zh-CN" altLang="en-US" sz="2400" b="1" dirty="0">
                <a:ea typeface="楷体_GB2312" pitchFamily="49" charset="-122"/>
              </a:rPr>
              <a:t>Ｋ：希望得到的聚类数</a:t>
            </a:r>
          </a:p>
          <a:p>
            <a:pPr eaLnBrk="1" hangingPunct="1"/>
            <a:r>
              <a:rPr lang="en-US" altLang="zh-CN" sz="2400" b="1" dirty="0">
                <a:ea typeface="楷体_GB2312" pitchFamily="49" charset="-122"/>
              </a:rPr>
              <a:t>N</a:t>
            </a:r>
            <a:r>
              <a:rPr lang="zh-CN" altLang="en-US" sz="2400" b="1" dirty="0">
                <a:ea typeface="楷体_GB2312" pitchFamily="49" charset="-122"/>
              </a:rPr>
              <a:t>：一个聚类中心的最小样本数</a:t>
            </a:r>
          </a:p>
          <a:p>
            <a:pPr eaLnBrk="1" hangingPunct="1"/>
            <a:r>
              <a:rPr lang="en-US" altLang="zh-CN" sz="2400" b="1" dirty="0">
                <a:ea typeface="楷体_GB2312" pitchFamily="49" charset="-122"/>
              </a:rPr>
              <a:t>S</a:t>
            </a:r>
            <a:r>
              <a:rPr lang="zh-CN" altLang="en-US" sz="2400" b="1" dirty="0">
                <a:ea typeface="楷体_GB2312" pitchFamily="49" charset="-122"/>
              </a:rPr>
              <a:t>：标准偏差参数</a:t>
            </a:r>
          </a:p>
          <a:p>
            <a:pPr eaLnBrk="1" hangingPunct="1"/>
            <a:r>
              <a:rPr lang="en-US" altLang="zh-CN" sz="2400" b="1" dirty="0">
                <a:ea typeface="楷体_GB2312" pitchFamily="49" charset="-122"/>
              </a:rPr>
              <a:t>C</a:t>
            </a:r>
            <a:r>
              <a:rPr lang="zh-CN" altLang="en-US" sz="2400" b="1" dirty="0">
                <a:ea typeface="楷体_GB2312" pitchFamily="49" charset="-122"/>
              </a:rPr>
              <a:t>：合并参数</a:t>
            </a:r>
          </a:p>
          <a:p>
            <a:pPr eaLnBrk="1" hangingPunct="1"/>
            <a:r>
              <a:rPr lang="en-US" altLang="zh-CN" sz="2400" b="1" dirty="0">
                <a:ea typeface="楷体_GB2312" pitchFamily="49" charset="-122"/>
              </a:rPr>
              <a:t>L</a:t>
            </a:r>
            <a:r>
              <a:rPr lang="zh-CN" altLang="en-US" sz="2400" b="1" dirty="0">
                <a:ea typeface="楷体_GB2312" pitchFamily="49" charset="-122"/>
              </a:rPr>
              <a:t>：每次迭代允许合并的最大聚类对数</a:t>
            </a:r>
          </a:p>
          <a:p>
            <a:pPr eaLnBrk="1" hangingPunct="1"/>
            <a:r>
              <a:rPr lang="en-US" altLang="zh-CN" sz="2400" b="1" dirty="0">
                <a:ea typeface="楷体_GB2312" pitchFamily="49" charset="-122"/>
              </a:rPr>
              <a:t>I</a:t>
            </a:r>
            <a:r>
              <a:rPr lang="zh-CN" altLang="en-US" sz="2400" b="1" dirty="0">
                <a:ea typeface="楷体_GB2312" pitchFamily="49" charset="-122"/>
              </a:rPr>
              <a:t>：允许迭代的次数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932EDF-1DC0-D42B-1B82-004926AEB3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3753BC-CAEF-4333-AC48-2805658F6E3F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3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3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36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聚类的有效性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408621"/>
            <a:ext cx="10657184" cy="515778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划分系数</a:t>
            </a:r>
            <a:r>
              <a:rPr lang="zh-CN" altLang="en-US" dirty="0">
                <a:ea typeface="楷体_GB2312" pitchFamily="49" charset="-122"/>
              </a:rPr>
              <a:t>（</a:t>
            </a:r>
            <a:r>
              <a:rPr lang="en-US" altLang="zh-CN" dirty="0">
                <a:ea typeface="楷体_GB2312" pitchFamily="49" charset="-122"/>
              </a:rPr>
              <a:t>1974</a:t>
            </a:r>
            <a:r>
              <a:rPr lang="zh-CN" altLang="en-US" dirty="0">
                <a:ea typeface="楷体_GB2312" pitchFamily="49" charset="-122"/>
              </a:rPr>
              <a:t>年</a:t>
            </a:r>
            <a:r>
              <a:rPr lang="en-US" altLang="zh-CN" dirty="0" err="1">
                <a:ea typeface="楷体_GB2312" pitchFamily="49" charset="-122"/>
              </a:rPr>
              <a:t>Bezdek</a:t>
            </a:r>
            <a:r>
              <a:rPr lang="zh-CN" altLang="en-US" dirty="0">
                <a:ea typeface="楷体_GB2312" pitchFamily="49" charset="-122"/>
              </a:rPr>
              <a:t>提出）</a:t>
            </a:r>
          </a:p>
          <a:p>
            <a:pPr eaLnBrk="1" hangingPunct="1"/>
            <a:endParaRPr lang="zh-CN" altLang="en-US" sz="2400" dirty="0"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/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/>
            <a:endParaRPr lang="en-US" altLang="zh-CN" dirty="0">
              <a:solidFill>
                <a:srgbClr val="0000FF"/>
              </a:solidFill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划分系数具有如下性质：</a:t>
            </a:r>
          </a:p>
          <a:p>
            <a:pPr marL="514350" indent="-514350" eaLnBrk="1" hangingPunct="1">
              <a:buAutoNum type="arabicParenBoth"/>
            </a:pPr>
            <a:r>
              <a:rPr lang="en-US" altLang="zh-CN" b="1" dirty="0">
                <a:solidFill>
                  <a:srgbClr val="CC00FF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rgbClr val="CC00FF"/>
                </a:solidFill>
                <a:ea typeface="楷体_GB2312" pitchFamily="49" charset="-122"/>
              </a:rPr>
              <a:t>F</a:t>
            </a:r>
            <a:r>
              <a:rPr lang="en-US" altLang="zh-CN" b="1" dirty="0">
                <a:solidFill>
                  <a:srgbClr val="CC00FF"/>
                </a:solidFill>
                <a:ea typeface="楷体_GB2312" pitchFamily="49" charset="-122"/>
              </a:rPr>
              <a:t>(</a:t>
            </a:r>
            <a:r>
              <a:rPr lang="en-US" altLang="zh-CN" b="1" i="1" dirty="0" err="1">
                <a:solidFill>
                  <a:srgbClr val="CC00FF"/>
                </a:solidFill>
                <a:ea typeface="楷体_GB2312" pitchFamily="49" charset="-122"/>
              </a:rPr>
              <a:t>U</a:t>
            </a:r>
            <a:r>
              <a:rPr lang="en-US" altLang="zh-CN" b="1" dirty="0" err="1">
                <a:solidFill>
                  <a:srgbClr val="CC00FF"/>
                </a:solidFill>
                <a:ea typeface="楷体_GB2312" pitchFamily="49" charset="-122"/>
              </a:rPr>
              <a:t>,</a:t>
            </a:r>
            <a:r>
              <a:rPr lang="en-US" altLang="zh-CN" b="1" i="1" dirty="0" err="1">
                <a:solidFill>
                  <a:srgbClr val="CC00FF"/>
                </a:solidFill>
                <a:ea typeface="楷体_GB2312" pitchFamily="49" charset="-122"/>
              </a:rPr>
              <a:t>c</a:t>
            </a:r>
            <a:r>
              <a:rPr lang="en-US" altLang="zh-CN" b="1" dirty="0">
                <a:solidFill>
                  <a:srgbClr val="CC00FF"/>
                </a:solidFill>
                <a:ea typeface="楷体_GB2312" pitchFamily="49" charset="-122"/>
              </a:rPr>
              <a:t>)=1 </a:t>
            </a:r>
            <a:r>
              <a:rPr kumimoji="1" lang="en-US" altLang="zh-CN" b="1" dirty="0">
                <a:ea typeface="楷体_GB2312" pitchFamily="49" charset="-122"/>
                <a:sym typeface="Symbol" pitchFamily="18" charset="2"/>
              </a:rPr>
              <a:t> 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划分是精确的</a:t>
            </a:r>
            <a:endParaRPr kumimoji="1" lang="en-US" altLang="zh-CN" b="1" dirty="0">
              <a:ea typeface="楷体_GB2312" pitchFamily="49" charset="-122"/>
              <a:sym typeface="Symbol" pitchFamily="18" charset="2"/>
            </a:endParaRPr>
          </a:p>
          <a:p>
            <a:pPr marL="0" indent="0" eaLnBrk="1" hangingPunct="1">
              <a:buNone/>
            </a:pPr>
            <a:r>
              <a:rPr kumimoji="1" lang="en-US" altLang="zh-CN" b="1" dirty="0">
                <a:ea typeface="楷体_GB2312" pitchFamily="49" charset="-122"/>
                <a:sym typeface="Symbol" pitchFamily="18" charset="2"/>
              </a:rPr>
              <a:t>     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 即每个对象属于一个类，隶属度为</a:t>
            </a:r>
            <a:r>
              <a:rPr kumimoji="1" lang="en-US" altLang="zh-CN" b="1" dirty="0">
                <a:ea typeface="楷体_GB2312" pitchFamily="49" charset="-122"/>
                <a:sym typeface="Symbol" pitchFamily="18" charset="2"/>
              </a:rPr>
              <a:t>1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(2)</a:t>
            </a:r>
            <a:r>
              <a:rPr lang="en-US" altLang="zh-CN" i="1" dirty="0"/>
              <a:t> </a:t>
            </a:r>
            <a:r>
              <a:rPr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F</a:t>
            </a:r>
            <a:r>
              <a:rPr lang="en-US" altLang="zh-CN" b="1" dirty="0">
                <a:solidFill>
                  <a:srgbClr val="008000"/>
                </a:solidFill>
                <a:ea typeface="楷体_GB2312" pitchFamily="49" charset="-122"/>
              </a:rPr>
              <a:t>(</a:t>
            </a:r>
            <a:r>
              <a:rPr lang="en-US" altLang="zh-CN" b="1" i="1" dirty="0" err="1">
                <a:solidFill>
                  <a:srgbClr val="008000"/>
                </a:solidFill>
                <a:ea typeface="楷体_GB2312" pitchFamily="49" charset="-122"/>
              </a:rPr>
              <a:t>U</a:t>
            </a:r>
            <a:r>
              <a:rPr lang="en-US" altLang="zh-CN" b="1" dirty="0" err="1">
                <a:solidFill>
                  <a:srgbClr val="008000"/>
                </a:solidFill>
                <a:ea typeface="楷体_GB2312" pitchFamily="49" charset="-122"/>
              </a:rPr>
              <a:t>,</a:t>
            </a:r>
            <a:r>
              <a:rPr lang="en-US" altLang="zh-CN" b="1" i="1" dirty="0" err="1">
                <a:solidFill>
                  <a:srgbClr val="008000"/>
                </a:solidFill>
                <a:ea typeface="楷体_GB2312" pitchFamily="49" charset="-122"/>
              </a:rPr>
              <a:t>c</a:t>
            </a:r>
            <a:r>
              <a:rPr lang="en-US" altLang="zh-CN" b="1" dirty="0">
                <a:solidFill>
                  <a:srgbClr val="008000"/>
                </a:solidFill>
                <a:ea typeface="楷体_GB2312" pitchFamily="49" charset="-122"/>
              </a:rPr>
              <a:t>)=1/</a:t>
            </a:r>
            <a:r>
              <a:rPr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c</a:t>
            </a:r>
            <a:r>
              <a:rPr lang="en-US" altLang="zh-CN" b="1" dirty="0">
                <a:solidFill>
                  <a:srgbClr val="008000"/>
                </a:solidFill>
                <a:ea typeface="楷体_GB2312" pitchFamily="49" charset="-122"/>
              </a:rPr>
              <a:t> 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 </a:t>
            </a: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b="1" i="1" baseline="-25000" dirty="0" err="1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ik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=1/</a:t>
            </a: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c</a:t>
            </a:r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对</a:t>
            </a:r>
            <a:r>
              <a:rPr lang="zh-CN" altLang="en-US" b="1" dirty="0">
                <a:ea typeface="楷体_GB2312" pitchFamily="49" charset="-122"/>
                <a:sym typeface="Symbol" pitchFamily="18" charset="2"/>
              </a:rPr>
              <a:t>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b="1" dirty="0" err="1">
                <a:ea typeface="楷体_GB2312" pitchFamily="49" charset="-122"/>
                <a:sym typeface="Symbol" pitchFamily="18" charset="2"/>
              </a:rPr>
              <a:t>i,k</a:t>
            </a:r>
            <a:r>
              <a:rPr kumimoji="1" lang="en-US" altLang="zh-CN" b="1" dirty="0">
                <a:ea typeface="楷体_GB2312" pitchFamily="49" charset="-122"/>
                <a:sym typeface="Symbol" pitchFamily="18" charset="2"/>
              </a:rPr>
              <a:t> ),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dirty="0">
                <a:ea typeface="楷体_GB2312" pitchFamily="49" charset="-122"/>
                <a:sym typeface="Symbol" pitchFamily="18" charset="2"/>
              </a:rPr>
              <a:t>       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即矩阵</a:t>
            </a:r>
            <a:r>
              <a:rPr kumimoji="1" lang="en-US" altLang="zh-CN" b="1" dirty="0">
                <a:ea typeface="楷体_GB2312" pitchFamily="49" charset="-122"/>
                <a:sym typeface="Symbol" pitchFamily="18" charset="2"/>
              </a:rPr>
              <a:t>U</a:t>
            </a:r>
            <a:r>
              <a:rPr kumimoji="1" lang="zh-CN" altLang="en-US" b="1" dirty="0">
                <a:ea typeface="楷体_GB2312" pitchFamily="49" charset="-122"/>
                <a:sym typeface="Symbol" pitchFamily="18" charset="2"/>
              </a:rPr>
              <a:t>中所有元素都等于</a:t>
            </a:r>
            <a:r>
              <a:rPr kumimoji="1" lang="en-US" altLang="zh-CN" b="1" dirty="0">
                <a:ea typeface="楷体_GB2312" pitchFamily="49" charset="-122"/>
                <a:sym typeface="Symbol" pitchFamily="18" charset="2"/>
              </a:rPr>
              <a:t>1/c</a:t>
            </a:r>
            <a:endParaRPr lang="en-US" altLang="zh-CN" b="1" dirty="0">
              <a:ea typeface="楷体_GB2312" pitchFamily="49" charset="-122"/>
            </a:endParaRPr>
          </a:p>
        </p:txBody>
      </p:sp>
      <p:graphicFrame>
        <p:nvGraphicFramePr>
          <p:cNvPr id="2458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27159635"/>
              </p:ext>
            </p:extLst>
          </p:nvPr>
        </p:nvGraphicFramePr>
        <p:xfrm>
          <a:off x="2268538" y="2152650"/>
          <a:ext cx="4414837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431640" progId="Equation.DSMT4">
                  <p:embed/>
                </p:oleObj>
              </mc:Choice>
              <mc:Fallback>
                <p:oleObj name="Equation" r:id="rId3" imgW="137160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152650"/>
                        <a:ext cx="4414837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AutoShape 9"/>
          <p:cNvSpPr>
            <a:spLocks noChangeArrowheads="1"/>
          </p:cNvSpPr>
          <p:nvPr/>
        </p:nvSpPr>
        <p:spPr bwMode="auto">
          <a:xfrm>
            <a:off x="7826957" y="1977484"/>
            <a:ext cx="4192613" cy="1656903"/>
          </a:xfrm>
          <a:prstGeom prst="wedgeRoundRectCallout">
            <a:avLst>
              <a:gd name="adj1" fmla="val -44120"/>
              <a:gd name="adj2" fmla="val 27972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3200" b="1" dirty="0">
                <a:ea typeface="楷体_GB2312" pitchFamily="49" charset="-122"/>
              </a:rPr>
              <a:t>实际应用中，希望得到较大的划分系数值，此时划分的</a:t>
            </a:r>
            <a:r>
              <a:rPr lang="en-US" altLang="zh-CN" sz="3200" b="1" dirty="0">
                <a:ea typeface="楷体_GB2312" pitchFamily="49" charset="-122"/>
              </a:rPr>
              <a:t>F</a:t>
            </a:r>
            <a:r>
              <a:rPr lang="zh-CN" altLang="en-US" sz="3200" b="1" dirty="0">
                <a:ea typeface="楷体_GB2312" pitchFamily="49" charset="-122"/>
              </a:rPr>
              <a:t>度较小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0053F2-9318-281C-D217-F14FF16CD7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9A31AC-AC4A-4C65-A279-8DC32B7DED70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聚类的有效性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700214"/>
            <a:ext cx="10225136" cy="489743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划分熵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划分熵在精确划分时达到最小值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所有的</a:t>
            </a:r>
            <a:r>
              <a:rPr lang="en-US" altLang="zh-CN" b="1" i="1" dirty="0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b="1" i="1" baseline="-25000" dirty="0" err="1">
                <a:ea typeface="楷体_GB2312" pitchFamily="49" charset="-122"/>
              </a:rPr>
              <a:t>ik</a:t>
            </a:r>
            <a:r>
              <a:rPr lang="zh-CN" altLang="en-US" b="1" dirty="0">
                <a:ea typeface="楷体_GB2312" pitchFamily="49" charset="-122"/>
              </a:rPr>
              <a:t>越接近于</a:t>
            </a:r>
            <a:r>
              <a:rPr lang="en-US" altLang="zh-CN" b="1" dirty="0">
                <a:ea typeface="楷体_GB2312" pitchFamily="49" charset="-122"/>
              </a:rPr>
              <a:t>0</a:t>
            </a:r>
            <a:r>
              <a:rPr lang="zh-CN" altLang="en-US" b="1" dirty="0">
                <a:ea typeface="楷体_GB2312" pitchFamily="49" charset="-122"/>
              </a:rPr>
              <a:t>或</a:t>
            </a:r>
            <a:r>
              <a:rPr lang="en-US" altLang="zh-CN" b="1" dirty="0">
                <a:ea typeface="楷体_GB2312" pitchFamily="49" charset="-122"/>
              </a:rPr>
              <a:t>1</a:t>
            </a:r>
            <a:r>
              <a:rPr lang="zh-CN" altLang="en-US" b="1" dirty="0">
                <a:ea typeface="楷体_GB2312" pitchFamily="49" charset="-122"/>
              </a:rPr>
              <a:t>，</a:t>
            </a:r>
            <a:r>
              <a:rPr lang="zh-CN" altLang="en-US" b="1" dirty="0">
                <a:solidFill>
                  <a:srgbClr val="CC00FF"/>
                </a:solidFill>
                <a:ea typeface="楷体_GB2312" pitchFamily="49" charset="-122"/>
              </a:rPr>
              <a:t>划分熵越小</a:t>
            </a:r>
            <a:r>
              <a:rPr lang="zh-CN" altLang="en-US" b="1" dirty="0">
                <a:ea typeface="楷体_GB2312" pitchFamily="49" charset="-122"/>
              </a:rPr>
              <a:t>，对应的聚类质量</a:t>
            </a:r>
            <a:r>
              <a:rPr lang="zh-CN" altLang="en-US" b="1" dirty="0">
                <a:solidFill>
                  <a:srgbClr val="CC00FF"/>
                </a:solidFill>
                <a:ea typeface="楷体_GB2312" pitchFamily="49" charset="-122"/>
              </a:rPr>
              <a:t>（划分结果）越好</a:t>
            </a:r>
          </a:p>
          <a:p>
            <a:pPr eaLnBrk="1" hangingPunct="1"/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划分熵在最模糊划分时达到最大值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所有的</a:t>
            </a:r>
            <a:r>
              <a:rPr lang="en-US" altLang="zh-CN" b="1" i="1" dirty="0"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b="1" i="1" baseline="-25000" dirty="0" err="1">
                <a:ea typeface="楷体_GB2312" pitchFamily="49" charset="-122"/>
              </a:rPr>
              <a:t>ik</a:t>
            </a:r>
            <a:r>
              <a:rPr lang="zh-CN" altLang="en-US" b="1" dirty="0">
                <a:ea typeface="楷体_GB2312" pitchFamily="49" charset="-122"/>
              </a:rPr>
              <a:t>越接近</a:t>
            </a:r>
            <a:r>
              <a:rPr lang="en-US" altLang="zh-CN" b="1" dirty="0">
                <a:ea typeface="楷体_GB2312" pitchFamily="49" charset="-122"/>
              </a:rPr>
              <a:t>0.5</a:t>
            </a:r>
            <a:r>
              <a:rPr lang="zh-CN" altLang="en-US" b="1" dirty="0">
                <a:ea typeface="楷体_GB2312" pitchFamily="49" charset="-122"/>
              </a:rPr>
              <a:t>时，</a:t>
            </a:r>
            <a:r>
              <a:rPr lang="en-US" altLang="zh-CN" b="1" dirty="0">
                <a:ea typeface="楷体_GB2312" pitchFamily="49" charset="-122"/>
              </a:rPr>
              <a:t>F</a:t>
            </a:r>
            <a:r>
              <a:rPr lang="zh-CN" altLang="en-US" b="1" dirty="0">
                <a:ea typeface="楷体_GB2312" pitchFamily="49" charset="-122"/>
              </a:rPr>
              <a:t>划分得到的类的</a:t>
            </a:r>
            <a:r>
              <a:rPr lang="en-US" altLang="zh-CN" b="1" dirty="0">
                <a:ea typeface="楷体_GB2312" pitchFamily="49" charset="-122"/>
              </a:rPr>
              <a:t>F</a:t>
            </a:r>
            <a:r>
              <a:rPr lang="zh-CN" altLang="en-US" b="1" dirty="0">
                <a:ea typeface="楷体_GB2312" pitchFamily="49" charset="-122"/>
              </a:rPr>
              <a:t>程度越高，从而</a:t>
            </a:r>
            <a:r>
              <a:rPr lang="zh-CN" altLang="en-US" b="1" dirty="0">
                <a:solidFill>
                  <a:srgbClr val="008000"/>
                </a:solidFill>
                <a:ea typeface="楷体_GB2312" pitchFamily="49" charset="-122"/>
              </a:rPr>
              <a:t>熵越大</a:t>
            </a:r>
            <a:r>
              <a:rPr lang="zh-CN" altLang="en-US" b="1" dirty="0">
                <a:ea typeface="楷体_GB2312" pitchFamily="49" charset="-122"/>
              </a:rPr>
              <a:t>，相应的</a:t>
            </a:r>
            <a:r>
              <a:rPr lang="zh-CN" altLang="en-US" b="1" dirty="0">
                <a:solidFill>
                  <a:srgbClr val="008000"/>
                </a:solidFill>
                <a:ea typeface="楷体_GB2312" pitchFamily="49" charset="-122"/>
              </a:rPr>
              <a:t>聚类质量就差</a:t>
            </a:r>
          </a:p>
        </p:txBody>
      </p:sp>
      <p:graphicFrame>
        <p:nvGraphicFramePr>
          <p:cNvPr id="3379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6574792"/>
              </p:ext>
            </p:extLst>
          </p:nvPr>
        </p:nvGraphicFramePr>
        <p:xfrm>
          <a:off x="3215680" y="2060848"/>
          <a:ext cx="5183967" cy="122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431640" progId="Equation.DSMT4">
                  <p:embed/>
                </p:oleObj>
              </mc:Choice>
              <mc:Fallback>
                <p:oleObj name="Equation" r:id="rId2" imgW="182880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2060848"/>
                        <a:ext cx="5183967" cy="1224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B8245F-502F-F860-AABB-E9C0B30DD7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376B5-62E6-403F-97A0-5A1E42AE81DF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聚类的有效性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700213"/>
            <a:ext cx="9793088" cy="482441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紧致性与分离性系数</a:t>
            </a:r>
          </a:p>
          <a:p>
            <a:pPr eaLnBrk="1" hangingPunct="1"/>
            <a:endParaRPr lang="zh-CN" altLang="en-US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zh-CN" altLang="en-US" dirty="0">
                <a:ea typeface="黑体" pitchFamily="2" charset="-122"/>
              </a:rPr>
              <a:t>一个紧致的、良性划分的聚类应当使聚类中心的间距尽可能大，而样本与其中心间距尽可能小。</a:t>
            </a:r>
          </a:p>
          <a:p>
            <a:pPr eaLnBrk="1" hangingPunct="1"/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S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U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, </a:t>
            </a:r>
            <a:r>
              <a:rPr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c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值越小，则其聚类质量越好。</a:t>
            </a:r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40744048"/>
              </p:ext>
            </p:extLst>
          </p:nvPr>
        </p:nvGraphicFramePr>
        <p:xfrm>
          <a:off x="1997619" y="2425703"/>
          <a:ext cx="6906669" cy="1749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711000" progId="Equation.DSMT4">
                  <p:embed/>
                </p:oleObj>
              </mc:Choice>
              <mc:Fallback>
                <p:oleObj name="Equation" r:id="rId2" imgW="2806560" imgH="71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619" y="2425703"/>
                        <a:ext cx="6906669" cy="1749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AutoShape 6"/>
          <p:cNvSpPr>
            <a:spLocks noChangeArrowheads="1"/>
          </p:cNvSpPr>
          <p:nvPr/>
        </p:nvSpPr>
        <p:spPr bwMode="auto">
          <a:xfrm>
            <a:off x="8004176" y="1412777"/>
            <a:ext cx="3348408" cy="1012925"/>
          </a:xfrm>
          <a:prstGeom prst="wedgeRoundRectCallout">
            <a:avLst>
              <a:gd name="adj1" fmla="val -65278"/>
              <a:gd name="adj2" fmla="val 87441"/>
              <a:gd name="adj3" fmla="val 16667"/>
            </a:avLst>
          </a:prstGeom>
          <a:solidFill>
            <a:srgbClr val="FFFF99"/>
          </a:solidFill>
          <a:ln w="9525">
            <a:solidFill>
              <a:srgbClr val="FFC000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>
                <a:ea typeface="楷体_GB2312" pitchFamily="49" charset="-122"/>
              </a:rPr>
              <a:t>样本与它们相应的聚类中心距离的平均值</a:t>
            </a:r>
          </a:p>
        </p:txBody>
      </p:sp>
      <p:sp>
        <p:nvSpPr>
          <p:cNvPr id="35847" name="AutoShape 7"/>
          <p:cNvSpPr>
            <a:spLocks noChangeArrowheads="1"/>
          </p:cNvSpPr>
          <p:nvPr/>
        </p:nvSpPr>
        <p:spPr bwMode="auto">
          <a:xfrm>
            <a:off x="8256588" y="4149726"/>
            <a:ext cx="2375916" cy="1008061"/>
          </a:xfrm>
          <a:prstGeom prst="wedgeRoundRectCallout">
            <a:avLst>
              <a:gd name="adj1" fmla="val -163657"/>
              <a:gd name="adj2" fmla="val -73245"/>
              <a:gd name="adj3" fmla="val 16667"/>
            </a:avLst>
          </a:prstGeom>
          <a:solidFill>
            <a:srgbClr val="99FF66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400" b="1" dirty="0">
                <a:ea typeface="楷体_GB2312" pitchFamily="49" charset="-122"/>
              </a:rPr>
              <a:t>各聚类中心间距离的最小值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FB80F0-65C3-3BB7-7F92-3EC8AA468E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376B5-62E6-403F-97A0-5A1E42AE81DF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35846" grpId="0" animBg="1"/>
      <p:bldP spid="35847" grpId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51997</TotalTime>
  <Words>4602</Words>
  <Application>Microsoft Office PowerPoint</Application>
  <PresentationFormat>宽屏</PresentationFormat>
  <Paragraphs>791</Paragraphs>
  <Slides>48</Slides>
  <Notes>23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48</vt:i4>
      </vt:variant>
    </vt:vector>
  </HeadingPairs>
  <TitlesOfParts>
    <vt:vector size="65" baseType="lpstr">
      <vt:lpstr>黑体</vt:lpstr>
      <vt:lpstr>华文楷体</vt:lpstr>
      <vt:lpstr>楷体</vt:lpstr>
      <vt:lpstr>楷体_GB2312</vt:lpstr>
      <vt:lpstr>隶书</vt:lpstr>
      <vt:lpstr>宋体</vt:lpstr>
      <vt:lpstr>Arial</vt:lpstr>
      <vt:lpstr>Arial Black</vt:lpstr>
      <vt:lpstr>Symbol</vt:lpstr>
      <vt:lpstr>Times New Roman</vt:lpstr>
      <vt:lpstr>Wingdings</vt:lpstr>
      <vt:lpstr>Pixel</vt:lpstr>
      <vt:lpstr>公式</vt:lpstr>
      <vt:lpstr>Equation</vt:lpstr>
      <vt:lpstr>Document</vt:lpstr>
      <vt:lpstr>文档</vt:lpstr>
      <vt:lpstr>MathType 6.0 Equation</vt:lpstr>
      <vt:lpstr>第 3 章 模糊关系与聚类分析</vt:lpstr>
      <vt:lpstr>基于F等价矩阵模糊聚类分析 的一般步骤</vt:lpstr>
      <vt:lpstr>基于F等价矩阵模糊聚类方法举例</vt:lpstr>
      <vt:lpstr>基于F等价矩阵模糊聚类方法举例</vt:lpstr>
      <vt:lpstr>基于F等价矩阵模糊聚类方法举例</vt:lpstr>
      <vt:lpstr>基于F等价矩阵模糊聚类方法举例</vt:lpstr>
      <vt:lpstr>基于F等价矩阵模糊聚类方法举例</vt:lpstr>
      <vt:lpstr>基于图论聚类方法(1) 直接聚类法的一般步骤</vt:lpstr>
      <vt:lpstr>基于图论聚类方法(1) 直接聚类法的一般步骤</vt:lpstr>
      <vt:lpstr>直接聚类法举例</vt:lpstr>
      <vt:lpstr>直接聚类法举例</vt:lpstr>
      <vt:lpstr>直接聚类法举例</vt:lpstr>
      <vt:lpstr>基于图论的聚类方法(2) 编网法的一般步骤</vt:lpstr>
      <vt:lpstr>编网法举例</vt:lpstr>
      <vt:lpstr>编网法举例</vt:lpstr>
      <vt:lpstr>编网法举例</vt:lpstr>
      <vt:lpstr>基于图论的聚类方法(3) 最大生成树法的一般步骤</vt:lpstr>
      <vt:lpstr>基于图论的聚类方法(3) 最大生成树法</vt:lpstr>
      <vt:lpstr>最大生成树法举例1</vt:lpstr>
      <vt:lpstr>最大生成树法举例2</vt:lpstr>
      <vt:lpstr>最大生成树法举例2</vt:lpstr>
      <vt:lpstr>最大生成树法举例2</vt:lpstr>
      <vt:lpstr>最大生成树法举例2</vt:lpstr>
      <vt:lpstr>最大生成树法举例2</vt:lpstr>
      <vt:lpstr>基于目标函数的聚类方法</vt:lpstr>
      <vt:lpstr>C-均值聚类算法(HCM)</vt:lpstr>
      <vt:lpstr>设现有如下数据：要将它聚成三类</vt:lpstr>
      <vt:lpstr>C-均值聚类(HCM)算法  初始聚类中心的选择</vt:lpstr>
      <vt:lpstr>PowerPoint 演示文稿</vt:lpstr>
      <vt:lpstr>PowerPoint 演示文稿</vt:lpstr>
      <vt:lpstr>C-均值聚类(HCM)算法</vt:lpstr>
      <vt:lpstr>C-均值聚类(HCM)算法——硬划分</vt:lpstr>
      <vt:lpstr>HCM算法的目标函数</vt:lpstr>
      <vt:lpstr>C-均值聚类(HCM)算法举例</vt:lpstr>
      <vt:lpstr>C-均值聚类(HCM)算法举例</vt:lpstr>
      <vt:lpstr>C-均值聚类(HCM)算法举例</vt:lpstr>
      <vt:lpstr>模糊C-均值聚类算法FCM的目标函数</vt:lpstr>
      <vt:lpstr>FCM算法最佳隶属函数的确定</vt:lpstr>
      <vt:lpstr>FCM算法最佳聚类中心的确定</vt:lpstr>
      <vt:lpstr>模糊C-均值聚类(FCM)算法</vt:lpstr>
      <vt:lpstr>FCM算法描述</vt:lpstr>
      <vt:lpstr>FCM算法举例</vt:lpstr>
      <vt:lpstr>FCM算法举例</vt:lpstr>
      <vt:lpstr>FCM算法举例</vt:lpstr>
      <vt:lpstr>ISODATA算法 迭代自组织数据分析算法</vt:lpstr>
      <vt:lpstr>聚类的有效性</vt:lpstr>
      <vt:lpstr>聚类的有效性</vt:lpstr>
      <vt:lpstr>聚类的有效性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3 章 模糊关系与聚类分析</dc:title>
  <dc:creator>凌卫新</dc:creator>
  <cp:lastModifiedBy>wxling66@outlook.com</cp:lastModifiedBy>
  <cp:revision>287</cp:revision>
  <cp:lastPrinted>2015-04-13T16:35:53Z</cp:lastPrinted>
  <dcterms:created xsi:type="dcterms:W3CDTF">2008-04-06T02:25:44Z</dcterms:created>
  <dcterms:modified xsi:type="dcterms:W3CDTF">2026-04-20T13:48:18Z</dcterms:modified>
</cp:coreProperties>
</file>