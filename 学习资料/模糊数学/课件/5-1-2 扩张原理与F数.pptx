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3"/>
  </p:notesMasterIdLst>
  <p:handoutMasterIdLst>
    <p:handoutMasterId r:id="rId44"/>
  </p:handoutMasterIdLst>
  <p:sldIdLst>
    <p:sldId id="256" r:id="rId2"/>
    <p:sldId id="359" r:id="rId3"/>
    <p:sldId id="280" r:id="rId4"/>
    <p:sldId id="258" r:id="rId5"/>
    <p:sldId id="257" r:id="rId6"/>
    <p:sldId id="259" r:id="rId7"/>
    <p:sldId id="260" r:id="rId8"/>
    <p:sldId id="261" r:id="rId9"/>
    <p:sldId id="287" r:id="rId10"/>
    <p:sldId id="262" r:id="rId11"/>
    <p:sldId id="289" r:id="rId12"/>
    <p:sldId id="286" r:id="rId13"/>
    <p:sldId id="263" r:id="rId14"/>
    <p:sldId id="360" r:id="rId15"/>
    <p:sldId id="264" r:id="rId16"/>
    <p:sldId id="265" r:id="rId17"/>
    <p:sldId id="266" r:id="rId18"/>
    <p:sldId id="268" r:id="rId19"/>
    <p:sldId id="267" r:id="rId20"/>
    <p:sldId id="269" r:id="rId21"/>
    <p:sldId id="270" r:id="rId22"/>
    <p:sldId id="271" r:id="rId23"/>
    <p:sldId id="283" r:id="rId24"/>
    <p:sldId id="361" r:id="rId25"/>
    <p:sldId id="284" r:id="rId26"/>
    <p:sldId id="285" r:id="rId27"/>
    <p:sldId id="288" r:id="rId28"/>
    <p:sldId id="291" r:id="rId29"/>
    <p:sldId id="293" r:id="rId30"/>
    <p:sldId id="294" r:id="rId31"/>
    <p:sldId id="295" r:id="rId32"/>
    <p:sldId id="296" r:id="rId33"/>
    <p:sldId id="299" r:id="rId34"/>
    <p:sldId id="363" r:id="rId35"/>
    <p:sldId id="337" r:id="rId36"/>
    <p:sldId id="364" r:id="rId37"/>
    <p:sldId id="302" r:id="rId38"/>
    <p:sldId id="365" r:id="rId39"/>
    <p:sldId id="366" r:id="rId40"/>
    <p:sldId id="367" r:id="rId41"/>
    <p:sldId id="368" r:id="rId42"/>
  </p:sldIdLst>
  <p:sldSz cx="12192000" cy="6858000"/>
  <p:notesSz cx="6669088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CCFFFF"/>
    <a:srgbClr val="FA7E19"/>
    <a:srgbClr val="E123BD"/>
    <a:srgbClr val="E90101"/>
    <a:srgbClr val="CCFFCC"/>
    <a:srgbClr val="00007D"/>
    <a:srgbClr val="276CB1"/>
    <a:srgbClr val="2A6EB2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88354" autoAdjust="0"/>
  </p:normalViewPr>
  <p:slideViewPr>
    <p:cSldViewPr>
      <p:cViewPr varScale="1">
        <p:scale>
          <a:sx n="69" d="100"/>
          <a:sy n="69" d="100"/>
        </p:scale>
        <p:origin x="84" y="1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58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F931C255-BB83-4B76-9224-6F220C6AAE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7388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6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5907"/>
            <a:ext cx="533527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6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1D367CE-A08D-446A-8A98-8B862A6B8D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6818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423BE-9FAC-4999-AD98-6EFFC7002F7E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9745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F423BE-9FAC-4999-AD98-6EFFC7002F7E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3385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4212668-39A9-41C0-BE1C-2A65F1244B15}" type="slidenum">
              <a:rPr lang="en-US" altLang="zh-CN" sz="1200"/>
              <a:pPr eaLnBrk="1" hangingPunct="1"/>
              <a:t>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343558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1200" dirty="0">
                <a:solidFill>
                  <a:srgbClr val="FF0000"/>
                </a:solidFill>
                <a:ea typeface="黑体" pitchFamily="2" charset="-122"/>
              </a:rPr>
              <a:t>(U) </a:t>
            </a:r>
            <a:r>
              <a:rPr kumimoji="1" lang="zh-CN" altLang="en-US" sz="1200" dirty="0">
                <a:solidFill>
                  <a:srgbClr val="FF0000"/>
                </a:solidFill>
                <a:ea typeface="黑体" pitchFamily="2" charset="-122"/>
              </a:rPr>
              <a:t>为</a:t>
            </a:r>
            <a:r>
              <a:rPr kumimoji="1" lang="en-US" altLang="zh-CN" sz="1200" dirty="0">
                <a:solidFill>
                  <a:srgbClr val="FF0000"/>
                </a:solidFill>
                <a:ea typeface="黑体" pitchFamily="2" charset="-122"/>
              </a:rPr>
              <a:t>U</a:t>
            </a:r>
            <a:r>
              <a:rPr kumimoji="1" lang="zh-CN" altLang="en-US" sz="1200" dirty="0">
                <a:solidFill>
                  <a:srgbClr val="FF0000"/>
                </a:solidFill>
                <a:ea typeface="黑体" pitchFamily="2" charset="-122"/>
              </a:rPr>
              <a:t>的所有子集的集合</a:t>
            </a:r>
            <a:r>
              <a:rPr kumimoji="1" lang="en-US" altLang="zh-CN" sz="1200" dirty="0">
                <a:solidFill>
                  <a:srgbClr val="FF0000"/>
                </a:solidFill>
                <a:ea typeface="黑体" pitchFamily="2" charset="-122"/>
              </a:rPr>
              <a:t>——U</a:t>
            </a:r>
            <a:r>
              <a:rPr kumimoji="1" lang="zh-CN" altLang="en-US" sz="1200" dirty="0">
                <a:solidFill>
                  <a:srgbClr val="FF0000"/>
                </a:solidFill>
                <a:ea typeface="黑体" pitchFamily="2" charset="-122"/>
              </a:rPr>
              <a:t>的幂集。是普通集合</a:t>
            </a:r>
            <a:endParaRPr lang="zh-CN" altLang="en-US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423BE-9FAC-4999-AD98-6EFFC7002F7E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4371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10ADEB8-4D00-4C90-A85D-471B9D5F9914}" type="slidenum">
              <a:rPr lang="en-US" altLang="zh-CN" sz="1200"/>
              <a:pPr eaLnBrk="1" hangingPunct="1"/>
              <a:t>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242532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423BE-9FAC-4999-AD98-6EFFC7002F7E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3397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2635CBF-B156-4B46-900A-8177A03364D2}" type="slidenum">
              <a:rPr lang="en-US" altLang="zh-CN" sz="1200"/>
              <a:pPr eaLnBrk="1" hangingPunct="1"/>
              <a:t>16</a:t>
            </a:fld>
            <a:endParaRPr lang="en-US" altLang="zh-CN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/>
              <a:t>1&lt;=f(x)&lt;=3</a:t>
            </a:r>
          </a:p>
        </p:txBody>
      </p:sp>
    </p:spTree>
    <p:extLst>
      <p:ext uri="{BB962C8B-B14F-4D97-AF65-F5344CB8AC3E}">
        <p14:creationId xmlns:p14="http://schemas.microsoft.com/office/powerpoint/2010/main" val="178817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6140AF5-109E-4B55-B1AF-712ED15773D3}" type="slidenum">
              <a:rPr lang="en-US" altLang="zh-CN" sz="1200"/>
              <a:pPr eaLnBrk="1" hangingPunct="1"/>
              <a:t>17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141077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11C2F0D-598F-4293-91E8-FC8FB1007BA1}" type="slidenum">
              <a:rPr lang="en-US" altLang="zh-CN" sz="1200"/>
              <a:pPr eaLnBrk="1" hangingPunct="1"/>
              <a:t>18</a:t>
            </a:fld>
            <a:endParaRPr lang="en-US" altLang="zh-CN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/>
              <a:t>(1): |x-1|&lt;=1</a:t>
            </a:r>
          </a:p>
        </p:txBody>
      </p:sp>
    </p:spTree>
    <p:extLst>
      <p:ext uri="{BB962C8B-B14F-4D97-AF65-F5344CB8AC3E}">
        <p14:creationId xmlns:p14="http://schemas.microsoft.com/office/powerpoint/2010/main" val="361177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B5459F4-981B-4102-A5C5-26B620CA2CE2}" type="slidenum">
              <a:rPr lang="en-US" altLang="zh-CN" sz="1200"/>
              <a:pPr eaLnBrk="1" hangingPunct="1"/>
              <a:t>19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041508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407752F-CA5D-4249-B18B-134750BBB198}" type="slidenum">
              <a:rPr lang="en-US" altLang="zh-CN" sz="1200"/>
              <a:pPr eaLnBrk="1" hangingPunct="1"/>
              <a:t>22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744174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 </a:t>
            </a:r>
            <a:r>
              <a:rPr lang="en-US" altLang="zh-CN" dirty="0">
                <a:sym typeface="Symbol"/>
              </a:rPr>
              <a:t></a:t>
            </a:r>
            <a:r>
              <a:rPr lang="en-US" altLang="zh-CN" baseline="0" dirty="0">
                <a:sym typeface="Symbol"/>
              </a:rPr>
              <a:t> </a:t>
            </a:r>
            <a:r>
              <a:rPr lang="en-US" altLang="zh-CN" dirty="0"/>
              <a:t>y-1 &lt;</a:t>
            </a:r>
            <a:r>
              <a:rPr lang="en-US" altLang="zh-CN" dirty="0">
                <a:sym typeface="Symbol"/>
              </a:rPr>
              <a:t> -</a:t>
            </a:r>
            <a:r>
              <a:rPr lang="en-US" altLang="zh-CN" dirty="0"/>
              <a:t>sin6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当</a:t>
            </a:r>
            <a:r>
              <a:rPr lang="en-US" altLang="zh-CN" dirty="0"/>
              <a:t>y=1</a:t>
            </a:r>
            <a:r>
              <a:rPr lang="zh-CN" altLang="en-US" dirty="0"/>
              <a:t>时，</a:t>
            </a:r>
            <a:r>
              <a:rPr lang="en-US" altLang="zh-CN" dirty="0" err="1"/>
              <a:t>arcsin</a:t>
            </a:r>
            <a:r>
              <a:rPr lang="en-US" altLang="zh-CN" dirty="0"/>
              <a:t>(y-1)= </a:t>
            </a:r>
            <a:r>
              <a:rPr lang="en-US" altLang="zh-CN" dirty="0" err="1"/>
              <a:t>arcsin</a:t>
            </a:r>
            <a:r>
              <a:rPr lang="en-US" altLang="zh-CN" dirty="0"/>
              <a:t>(0) = 0</a:t>
            </a:r>
            <a:endParaRPr lang="en-US" altLang="zh-CN" dirty="0">
              <a:sym typeface="Symbol"/>
            </a:endParaRPr>
          </a:p>
          <a:p>
            <a:r>
              <a:rPr lang="zh-CN" altLang="en-US" dirty="0"/>
              <a:t>当</a:t>
            </a:r>
            <a:r>
              <a:rPr lang="en-US" altLang="zh-CN" dirty="0"/>
              <a:t>y=1-sin6</a:t>
            </a:r>
            <a:r>
              <a:rPr lang="zh-CN" altLang="en-US" dirty="0"/>
              <a:t>时，</a:t>
            </a:r>
            <a:r>
              <a:rPr lang="en-US" altLang="zh-CN" dirty="0" err="1"/>
              <a:t>arcsin</a:t>
            </a:r>
            <a:r>
              <a:rPr lang="en-US" altLang="zh-CN" dirty="0"/>
              <a:t>(y-1)= </a:t>
            </a:r>
            <a:r>
              <a:rPr lang="en-US" altLang="zh-CN" dirty="0" err="1"/>
              <a:t>arcsin</a:t>
            </a:r>
            <a:r>
              <a:rPr lang="en-US" altLang="zh-CN" dirty="0"/>
              <a:t>(-sin6)) = </a:t>
            </a:r>
            <a:r>
              <a:rPr lang="en-US" altLang="zh-CN" dirty="0">
                <a:sym typeface="Symbol"/>
              </a:rPr>
              <a:t>2-6 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ym typeface="Symbol"/>
              </a:rPr>
              <a:t>A(x2)-A(x1)= 3-+</a:t>
            </a:r>
            <a:r>
              <a:rPr lang="en-US" altLang="zh-CN" dirty="0" err="1">
                <a:sym typeface="Symbol"/>
              </a:rPr>
              <a:t>arcsin</a:t>
            </a:r>
            <a:r>
              <a:rPr lang="en-US" altLang="zh-CN" dirty="0">
                <a:sym typeface="Symbol"/>
              </a:rPr>
              <a:t>(y-1)-</a:t>
            </a:r>
            <a:r>
              <a:rPr lang="en-US" altLang="zh-CN" dirty="0" err="1">
                <a:sym typeface="Symbol"/>
              </a:rPr>
              <a:t>arcsin</a:t>
            </a:r>
            <a:r>
              <a:rPr lang="en-US" altLang="zh-CN" dirty="0">
                <a:sym typeface="Symbol"/>
              </a:rPr>
              <a:t>(y-1)/2 =3-+</a:t>
            </a:r>
            <a:r>
              <a:rPr lang="en-US" altLang="zh-CN" dirty="0" err="1">
                <a:sym typeface="Symbol"/>
              </a:rPr>
              <a:t>arcsin</a:t>
            </a:r>
            <a:r>
              <a:rPr lang="en-US" altLang="zh-CN" dirty="0">
                <a:sym typeface="Symbol"/>
              </a:rPr>
              <a:t>(y-1)/2  0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423BE-9FAC-4999-AD98-6EFFC7002F7E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4432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-sin6 </a:t>
            </a:r>
            <a:r>
              <a:rPr lang="en-US" altLang="zh-CN" dirty="0">
                <a:sym typeface="Symbol"/>
              </a:rPr>
              <a:t></a:t>
            </a:r>
            <a:r>
              <a:rPr lang="en-US" altLang="zh-CN" baseline="0" dirty="0">
                <a:sym typeface="Symbol"/>
              </a:rPr>
              <a:t> </a:t>
            </a:r>
            <a:r>
              <a:rPr lang="en-US" altLang="zh-CN" dirty="0"/>
              <a:t>y-1 </a:t>
            </a:r>
            <a:r>
              <a:rPr lang="en-US" altLang="zh-CN" dirty="0">
                <a:sym typeface="Symbol"/>
              </a:rPr>
              <a:t> </a:t>
            </a:r>
            <a:r>
              <a:rPr lang="en-US" altLang="zh-CN" dirty="0"/>
              <a:t>sin2</a:t>
            </a:r>
          </a:p>
          <a:p>
            <a:r>
              <a:rPr lang="zh-CN" altLang="en-US" dirty="0"/>
              <a:t>当</a:t>
            </a:r>
            <a:r>
              <a:rPr lang="en-US" altLang="zh-CN" dirty="0"/>
              <a:t>y=1-sin6</a:t>
            </a:r>
            <a:r>
              <a:rPr lang="zh-CN" altLang="en-US" dirty="0"/>
              <a:t>时，</a:t>
            </a:r>
            <a:r>
              <a:rPr lang="en-US" altLang="zh-CN" dirty="0" err="1"/>
              <a:t>arcsin</a:t>
            </a:r>
            <a:r>
              <a:rPr lang="en-US" altLang="zh-CN" dirty="0"/>
              <a:t>(y-1)= </a:t>
            </a:r>
            <a:r>
              <a:rPr lang="en-US" altLang="zh-CN" dirty="0" err="1"/>
              <a:t>arcsin</a:t>
            </a:r>
            <a:r>
              <a:rPr lang="en-US" altLang="zh-CN" dirty="0"/>
              <a:t>(-sin6)) = = </a:t>
            </a:r>
            <a:r>
              <a:rPr lang="en-US" altLang="zh-CN" dirty="0">
                <a:sym typeface="Symbol"/>
              </a:rPr>
              <a:t>2-6</a:t>
            </a:r>
          </a:p>
          <a:p>
            <a:r>
              <a:rPr lang="zh-CN" altLang="en-US" dirty="0"/>
              <a:t>当</a:t>
            </a:r>
            <a:r>
              <a:rPr lang="en-US" altLang="zh-CN" dirty="0"/>
              <a:t>y=1+sin2</a:t>
            </a:r>
            <a:r>
              <a:rPr lang="zh-CN" altLang="en-US" dirty="0"/>
              <a:t>时，</a:t>
            </a:r>
            <a:r>
              <a:rPr lang="en-US" altLang="zh-CN" dirty="0" err="1"/>
              <a:t>arcsin</a:t>
            </a:r>
            <a:r>
              <a:rPr lang="en-US" altLang="zh-CN" dirty="0"/>
              <a:t>(y-1)= </a:t>
            </a:r>
            <a:r>
              <a:rPr lang="en-US" altLang="zh-CN" dirty="0" err="1"/>
              <a:t>arcsin</a:t>
            </a:r>
            <a:r>
              <a:rPr lang="en-US" altLang="zh-CN" dirty="0"/>
              <a:t>(sin2) = </a:t>
            </a:r>
            <a:r>
              <a:rPr lang="en-US" altLang="zh-CN" dirty="0">
                <a:sym typeface="Symbol"/>
              </a:rPr>
              <a:t>-2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ym typeface="Symbol"/>
              </a:rPr>
              <a:t>A(x2)-A(x1)= 3-+</a:t>
            </a:r>
            <a:r>
              <a:rPr lang="en-US" altLang="zh-CN" dirty="0" err="1">
                <a:sym typeface="Symbol"/>
              </a:rPr>
              <a:t>arcsin</a:t>
            </a:r>
            <a:r>
              <a:rPr lang="en-US" altLang="zh-CN" dirty="0">
                <a:sym typeface="Symbol"/>
              </a:rPr>
              <a:t>(y-1)-</a:t>
            </a:r>
            <a:r>
              <a:rPr lang="en-US" altLang="zh-CN" dirty="0" err="1">
                <a:sym typeface="Symbol"/>
              </a:rPr>
              <a:t>arcsin</a:t>
            </a:r>
            <a:r>
              <a:rPr lang="en-US" altLang="zh-CN" dirty="0">
                <a:sym typeface="Symbol"/>
              </a:rPr>
              <a:t>(y-1)/2 = 3-+</a:t>
            </a:r>
            <a:r>
              <a:rPr lang="en-US" altLang="zh-CN" dirty="0" err="1">
                <a:sym typeface="Symbol"/>
              </a:rPr>
              <a:t>arcsin</a:t>
            </a:r>
            <a:r>
              <a:rPr lang="en-US" altLang="zh-CN" dirty="0">
                <a:sym typeface="Symbol"/>
              </a:rPr>
              <a:t>(y-1)/2  0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423BE-9FAC-4999-AD98-6EFFC7002F7E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3630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sin2 </a:t>
            </a:r>
            <a:r>
              <a:rPr lang="en-US" altLang="zh-CN" dirty="0">
                <a:sym typeface="Symbol"/>
              </a:rPr>
              <a:t></a:t>
            </a:r>
            <a:r>
              <a:rPr lang="en-US" altLang="zh-CN" baseline="0" dirty="0">
                <a:sym typeface="Symbol"/>
              </a:rPr>
              <a:t> </a:t>
            </a:r>
            <a:r>
              <a:rPr lang="en-US" altLang="zh-CN" dirty="0"/>
              <a:t>y-1 </a:t>
            </a:r>
            <a:r>
              <a:rPr lang="en-US" altLang="zh-CN" dirty="0">
                <a:sym typeface="Symbol"/>
              </a:rPr>
              <a:t>&lt; 1</a:t>
            </a:r>
            <a:endParaRPr lang="en-US" altLang="zh-CN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当</a:t>
            </a:r>
            <a:r>
              <a:rPr lang="en-US" altLang="zh-CN" dirty="0"/>
              <a:t>y=1+sin2</a:t>
            </a:r>
            <a:r>
              <a:rPr lang="zh-CN" altLang="en-US" dirty="0"/>
              <a:t>时，</a:t>
            </a:r>
            <a:r>
              <a:rPr lang="en-US" altLang="zh-CN" dirty="0" err="1"/>
              <a:t>arcsin</a:t>
            </a:r>
            <a:r>
              <a:rPr lang="en-US" altLang="zh-CN" dirty="0"/>
              <a:t>(y-1)= </a:t>
            </a:r>
            <a:r>
              <a:rPr lang="en-US" altLang="zh-CN" dirty="0" err="1"/>
              <a:t>arcsin</a:t>
            </a:r>
            <a:r>
              <a:rPr lang="en-US" altLang="zh-CN" dirty="0"/>
              <a:t>(sin2) = </a:t>
            </a:r>
            <a:r>
              <a:rPr lang="en-US" altLang="zh-CN" dirty="0">
                <a:sym typeface="Symbol"/>
              </a:rPr>
              <a:t>-2</a:t>
            </a:r>
          </a:p>
          <a:p>
            <a:r>
              <a:rPr lang="zh-CN" altLang="en-US" dirty="0"/>
              <a:t>当</a:t>
            </a:r>
            <a:r>
              <a:rPr lang="en-US" altLang="zh-CN" dirty="0"/>
              <a:t>y=2</a:t>
            </a:r>
            <a:r>
              <a:rPr lang="zh-CN" altLang="en-US" dirty="0"/>
              <a:t>时，     </a:t>
            </a:r>
            <a:r>
              <a:rPr lang="en-US" altLang="zh-CN" dirty="0" err="1"/>
              <a:t>arcsin</a:t>
            </a:r>
            <a:r>
              <a:rPr lang="en-US" altLang="zh-CN" dirty="0"/>
              <a:t>(y-1)= </a:t>
            </a:r>
            <a:r>
              <a:rPr lang="en-US" altLang="zh-CN" dirty="0" err="1"/>
              <a:t>arcsin</a:t>
            </a:r>
            <a:r>
              <a:rPr lang="en-US" altLang="zh-CN" dirty="0"/>
              <a:t>(1) =  </a:t>
            </a:r>
            <a:r>
              <a:rPr lang="en-US" altLang="zh-CN" dirty="0">
                <a:sym typeface="Symbol"/>
              </a:rPr>
              <a:t>/2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ym typeface="Symbol"/>
              </a:rPr>
              <a:t>A(x2)-A(x1)= (-</a:t>
            </a:r>
            <a:r>
              <a:rPr lang="en-US" altLang="zh-CN" dirty="0" err="1">
                <a:sym typeface="Symbol"/>
              </a:rPr>
              <a:t>arcsin</a:t>
            </a:r>
            <a:r>
              <a:rPr lang="en-US" altLang="zh-CN" dirty="0">
                <a:sym typeface="Symbol"/>
              </a:rPr>
              <a:t>(y-1))/2-arcsin(y-1)/2 = /2-arcsin(y-1)/2  0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423BE-9FAC-4999-AD98-6EFFC7002F7E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1758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9pPr>
          </a:lstStyle>
          <a:p>
            <a:pPr eaLnBrk="1" hangingPunct="1"/>
            <a:fld id="{A40E9FE6-A5EE-4B53-B071-2D96DB07E0F9}" type="slidenum">
              <a:rPr lang="en-US" altLang="zh-CN" smtClean="0">
                <a:latin typeface="Arial" charset="0"/>
              </a:rPr>
              <a:pPr eaLnBrk="1" hangingPunct="1"/>
              <a:t>29</a:t>
            </a:fld>
            <a:endParaRPr lang="en-US" altLang="zh-CN"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图示</a:t>
            </a:r>
          </a:p>
        </p:txBody>
      </p:sp>
    </p:spTree>
    <p:extLst>
      <p:ext uri="{BB962C8B-B14F-4D97-AF65-F5344CB8AC3E}">
        <p14:creationId xmlns:p14="http://schemas.microsoft.com/office/powerpoint/2010/main" val="1076385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9pPr>
          </a:lstStyle>
          <a:p>
            <a:pPr eaLnBrk="1" hangingPunct="1"/>
            <a:fld id="{522589D9-7FC5-4221-8E5A-36E5FA931357}" type="slidenum">
              <a:rPr lang="en-US" altLang="zh-CN" smtClean="0">
                <a:latin typeface="Arial" charset="0"/>
              </a:rPr>
              <a:pPr eaLnBrk="1" hangingPunct="1"/>
              <a:t>30</a:t>
            </a:fld>
            <a:endParaRPr lang="en-US" altLang="zh-CN">
              <a:latin typeface="Arial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F(A)(y)=V(1-x)   </a:t>
            </a:r>
            <a:r>
              <a:rPr lang="zh-CN" altLang="en-US" dirty="0">
                <a:ea typeface="宋体" charset="-122"/>
              </a:rPr>
              <a:t>当</a:t>
            </a:r>
            <a:r>
              <a:rPr lang="en-US" altLang="zh-CN" dirty="0">
                <a:ea typeface="宋体" charset="-122"/>
              </a:rPr>
              <a:t>y=0 -------- V(1-x) </a:t>
            </a:r>
            <a:r>
              <a:rPr lang="zh-CN" altLang="en-US" dirty="0">
                <a:ea typeface="宋体" charset="-122"/>
              </a:rPr>
              <a:t>中的</a:t>
            </a:r>
            <a:r>
              <a:rPr lang="en-US" altLang="zh-CN" dirty="0">
                <a:ea typeface="宋体" charset="-122"/>
              </a:rPr>
              <a:t>x</a:t>
            </a:r>
            <a:r>
              <a:rPr lang="zh-CN" altLang="en-US" dirty="0">
                <a:ea typeface="宋体" charset="-122"/>
              </a:rPr>
              <a:t>应是在</a:t>
            </a:r>
            <a:r>
              <a:rPr lang="en-US" altLang="zh-CN" dirty="0">
                <a:ea typeface="宋体" charset="-122"/>
              </a:rPr>
              <a:t>[0,1]</a:t>
            </a:r>
            <a:r>
              <a:rPr lang="zh-CN" altLang="en-US" dirty="0">
                <a:ea typeface="宋体" charset="-122"/>
              </a:rPr>
              <a:t>中除</a:t>
            </a:r>
            <a:r>
              <a:rPr lang="en-US" altLang="zh-CN" dirty="0">
                <a:ea typeface="宋体" charset="-122"/>
              </a:rPr>
              <a:t>1,1/2,1/3,…,1/n</a:t>
            </a:r>
            <a:r>
              <a:rPr lang="zh-CN" altLang="en-US" dirty="0">
                <a:ea typeface="宋体" charset="-122"/>
              </a:rPr>
              <a:t>外的</a:t>
            </a:r>
            <a:r>
              <a:rPr lang="en-US" altLang="zh-CN" dirty="0">
                <a:ea typeface="宋体" charset="-122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24855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9pPr>
          </a:lstStyle>
          <a:p>
            <a:pPr eaLnBrk="1" hangingPunct="1"/>
            <a:fld id="{CB0A9F49-5867-4BFB-B135-EA459C4CDE35}" type="slidenum">
              <a:rPr lang="en-US" altLang="zh-CN" smtClean="0">
                <a:latin typeface="Arial" charset="0"/>
              </a:rPr>
              <a:pPr eaLnBrk="1" hangingPunct="1"/>
              <a:t>32</a:t>
            </a:fld>
            <a:endParaRPr lang="en-US" altLang="zh-CN">
              <a:latin typeface="Arial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图示</a:t>
            </a:r>
          </a:p>
        </p:txBody>
      </p:sp>
    </p:spTree>
    <p:extLst>
      <p:ext uri="{BB962C8B-B14F-4D97-AF65-F5344CB8AC3E}">
        <p14:creationId xmlns:p14="http://schemas.microsoft.com/office/powerpoint/2010/main" val="21485338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9pPr>
          </a:lstStyle>
          <a:p>
            <a:pPr eaLnBrk="1" hangingPunct="1"/>
            <a:fld id="{1651BEA2-13A4-48EF-8F75-F3CEE34B1905}" type="slidenum">
              <a:rPr lang="en-US" altLang="zh-CN" smtClean="0">
                <a:latin typeface="Arial" charset="0"/>
              </a:rPr>
              <a:pPr eaLnBrk="1" hangingPunct="1"/>
              <a:t>33</a:t>
            </a:fld>
            <a:endParaRPr lang="en-US" altLang="zh-CN">
              <a:latin typeface="Arial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A=U</a:t>
            </a:r>
            <a:r>
              <a:rPr kumimoji="1" lang="en-US" altLang="zh-CN" sz="1400">
                <a:ea typeface="黑体" pitchFamily="49" charset="-122"/>
                <a:sym typeface="Symbol" pitchFamily="18" charset="2"/>
              </a:rPr>
              <a:t>f(A) </a:t>
            </a:r>
            <a:r>
              <a:rPr kumimoji="1" lang="zh-CN" altLang="en-US" sz="1400">
                <a:ea typeface="黑体" pitchFamily="49" charset="-122"/>
                <a:sym typeface="Symbol" pitchFamily="18" charset="2"/>
              </a:rPr>
              <a:t>举例</a:t>
            </a:r>
          </a:p>
        </p:txBody>
      </p:sp>
    </p:spTree>
    <p:extLst>
      <p:ext uri="{BB962C8B-B14F-4D97-AF65-F5344CB8AC3E}">
        <p14:creationId xmlns:p14="http://schemas.microsoft.com/office/powerpoint/2010/main" val="38223460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9pPr>
          </a:lstStyle>
          <a:p>
            <a:pPr eaLnBrk="1" hangingPunct="1"/>
            <a:fld id="{D1063CAF-AA0E-4AD9-86FA-BFEF37938461}" type="slidenum">
              <a:rPr lang="en-US" altLang="zh-CN" smtClean="0">
                <a:latin typeface="Arial" charset="0"/>
              </a:rPr>
              <a:pPr eaLnBrk="1" hangingPunct="1"/>
              <a:t>34</a:t>
            </a:fld>
            <a:endParaRPr lang="en-US" altLang="zh-CN">
              <a:latin typeface="Arial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A=U</a:t>
            </a:r>
            <a:r>
              <a:rPr kumimoji="1" lang="en-US" altLang="zh-CN" sz="1400">
                <a:ea typeface="黑体" pitchFamily="49" charset="-122"/>
                <a:sym typeface="Symbol" pitchFamily="18" charset="2"/>
              </a:rPr>
              <a:t>f(A) </a:t>
            </a:r>
            <a:r>
              <a:rPr kumimoji="1" lang="zh-CN" altLang="en-US" sz="1400">
                <a:ea typeface="黑体" pitchFamily="49" charset="-122"/>
                <a:sym typeface="Symbol" pitchFamily="18" charset="2"/>
              </a:rPr>
              <a:t>举例</a:t>
            </a:r>
          </a:p>
        </p:txBody>
      </p:sp>
    </p:spTree>
    <p:extLst>
      <p:ext uri="{BB962C8B-B14F-4D97-AF65-F5344CB8AC3E}">
        <p14:creationId xmlns:p14="http://schemas.microsoft.com/office/powerpoint/2010/main" val="32356246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9pPr>
          </a:lstStyle>
          <a:p>
            <a:pPr eaLnBrk="1" hangingPunct="1"/>
            <a:fld id="{2AE56E8F-799C-40E0-9E1B-FD030CAFE05D}" type="slidenum">
              <a:rPr lang="en-US" altLang="zh-CN" smtClean="0">
                <a:latin typeface="Arial" charset="0"/>
              </a:rPr>
              <a:pPr eaLnBrk="1" hangingPunct="1"/>
              <a:t>38</a:t>
            </a:fld>
            <a:endParaRPr lang="en-US" altLang="zh-CN">
              <a:latin typeface="Arial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抄出</a:t>
            </a:r>
            <a:r>
              <a:rPr lang="en-US" altLang="zh-CN" u="sng">
                <a:ea typeface="宋体" charset="-122"/>
              </a:rPr>
              <a:t>1</a:t>
            </a:r>
            <a:r>
              <a:rPr lang="en-US" altLang="zh-CN">
                <a:ea typeface="宋体" charset="-122"/>
              </a:rPr>
              <a:t>, </a:t>
            </a:r>
            <a:r>
              <a:rPr lang="en-US" altLang="zh-CN" u="sng">
                <a:ea typeface="宋体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3572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D96B5D-7020-4415-8B86-453979A651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63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27908" y="6245225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893ED7-0B89-433B-9D6E-F20877EEE0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143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86D0A7-2BA8-424F-9F1D-7940E92839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91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1080" y="6248400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C620E-099B-4AAE-A0B9-409ABAEB1F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8861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C7ACA-4AD3-4154-B065-6C8434E553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9425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63760" y="6264275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0FCDB-37C6-4161-8EAC-3599CD49F7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884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55617" y="6245225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E7B3B-8E05-4BC4-9AF9-3DBED8B940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858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C03909-2378-4512-B6BB-F0EC4CAFBC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905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E1CC4-D07D-4E0D-85C8-2859F5708A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1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22AEF-DC78-4904-8D5A-E87D9A9248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5794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3BA213-5583-4EC5-B7A1-C799E87FC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158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FE59F-0C64-4CE0-97BE-427D6382CD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2546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209AC-A2D1-49EF-BE0C-2B9240FE76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14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1D963CF5-D712-4619-A972-2781F8B1A9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n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" Target="slide8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9.xml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9.wmf"/><Relationship Id="rId26" Type="http://schemas.openxmlformats.org/officeDocument/2006/relationships/image" Target="../media/image23.w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19.bin"/><Relationship Id="rId2" Type="http://schemas.openxmlformats.org/officeDocument/2006/relationships/image" Target="../media/image13.png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29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3.bin"/><Relationship Id="rId24" Type="http://schemas.openxmlformats.org/officeDocument/2006/relationships/image" Target="../media/image22.wmf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28" Type="http://schemas.openxmlformats.org/officeDocument/2006/relationships/image" Target="../media/image24.wmf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0.wmf"/><Relationship Id="rId22" Type="http://schemas.openxmlformats.org/officeDocument/2006/relationships/image" Target="../media/image21.wmf"/><Relationship Id="rId27" Type="http://schemas.openxmlformats.org/officeDocument/2006/relationships/oleObject" Target="../embeddings/oleObject2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25.png"/><Relationship Id="rId7" Type="http://schemas.openxmlformats.org/officeDocument/2006/relationships/image" Target="../media/image18.wmf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7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2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8.wmf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28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oleObject" Target="../embeddings/oleObject2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wmf"/><Relationship Id="rId11" Type="http://schemas.openxmlformats.org/officeDocument/2006/relationships/image" Target="../media/image31.png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29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2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38.wmf"/><Relationship Id="rId18" Type="http://schemas.openxmlformats.org/officeDocument/2006/relationships/oleObject" Target="../embeddings/oleObject34.bin"/><Relationship Id="rId3" Type="http://schemas.openxmlformats.org/officeDocument/2006/relationships/oleObject" Target="../embeddings/oleObject25.bin"/><Relationship Id="rId21" Type="http://schemas.openxmlformats.org/officeDocument/2006/relationships/image" Target="../media/image42.wmf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40.wmf"/><Relationship Id="rId2" Type="http://schemas.openxmlformats.org/officeDocument/2006/relationships/notesSlide" Target="../notesSlides/notesSlide9.xml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wmf"/><Relationship Id="rId11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41.wmf"/><Relationship Id="rId4" Type="http://schemas.openxmlformats.org/officeDocument/2006/relationships/image" Target="../media/image35.wmf"/><Relationship Id="rId9" Type="http://schemas.openxmlformats.org/officeDocument/2006/relationships/image" Target="../media/image38.png"/><Relationship Id="rId14" Type="http://schemas.openxmlformats.org/officeDocument/2006/relationships/oleObject" Target="../embeddings/oleObject32.bin"/><Relationship Id="rId22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0.bin"/><Relationship Id="rId18" Type="http://schemas.openxmlformats.org/officeDocument/2006/relationships/oleObject" Target="../embeddings/oleObject42.bin"/><Relationship Id="rId3" Type="http://schemas.openxmlformats.org/officeDocument/2006/relationships/oleObject" Target="../embeddings/oleObject36.bin"/><Relationship Id="rId21" Type="http://schemas.openxmlformats.org/officeDocument/2006/relationships/image" Target="../media/image50.wmf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6.wmf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8.wmf"/><Relationship Id="rId20" Type="http://schemas.openxmlformats.org/officeDocument/2006/relationships/oleObject" Target="../embeddings/oleObject3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9.bin"/><Relationship Id="rId24" Type="http://schemas.openxmlformats.org/officeDocument/2006/relationships/image" Target="../media/image31.png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41.bin"/><Relationship Id="rId23" Type="http://schemas.openxmlformats.org/officeDocument/2006/relationships/image" Target="../media/image51.wmf"/><Relationship Id="rId10" Type="http://schemas.openxmlformats.org/officeDocument/2006/relationships/image" Target="../media/image45.wmf"/><Relationship Id="rId19" Type="http://schemas.openxmlformats.org/officeDocument/2006/relationships/image" Target="../media/image49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7.wmf"/><Relationship Id="rId22" Type="http://schemas.openxmlformats.org/officeDocument/2006/relationships/oleObject" Target="../embeddings/oleObject4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52.wmf"/><Relationship Id="rId7" Type="http://schemas.openxmlformats.org/officeDocument/2006/relationships/oleObject" Target="../embeddings/oleObject23.bin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4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9.wmf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1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58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6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64.wmf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66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63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6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68.wmf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70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67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6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7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12" Type="http://schemas.openxmlformats.org/officeDocument/2006/relationships/image" Target="../media/image7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3.bin"/><Relationship Id="rId11" Type="http://schemas.openxmlformats.org/officeDocument/2006/relationships/oleObject" Target="../embeddings/oleObject2.bin"/><Relationship Id="rId5" Type="http://schemas.openxmlformats.org/officeDocument/2006/relationships/image" Target="../media/image74.wmf"/><Relationship Id="rId10" Type="http://schemas.openxmlformats.org/officeDocument/2006/relationships/image" Target="../media/image77.png"/><Relationship Id="rId4" Type="http://schemas.openxmlformats.org/officeDocument/2006/relationships/oleObject" Target="../embeddings/oleObject62.bin"/><Relationship Id="rId9" Type="http://schemas.openxmlformats.org/officeDocument/2006/relationships/image" Target="../media/image7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81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6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85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84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7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7" Type="http://schemas.openxmlformats.org/officeDocument/2006/relationships/image" Target="../media/image88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7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9.png"/><Relationship Id="rId4" Type="http://schemas.openxmlformats.org/officeDocument/2006/relationships/image" Target="../media/image8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90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81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101.wmf"/><Relationship Id="rId18" Type="http://schemas.openxmlformats.org/officeDocument/2006/relationships/oleObject" Target="../embeddings/oleObject90.bin"/><Relationship Id="rId3" Type="http://schemas.openxmlformats.org/officeDocument/2006/relationships/image" Target="../media/image96.wmf"/><Relationship Id="rId21" Type="http://schemas.openxmlformats.org/officeDocument/2006/relationships/image" Target="../media/image105.wmf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103.wmf"/><Relationship Id="rId2" Type="http://schemas.openxmlformats.org/officeDocument/2006/relationships/oleObject" Target="../embeddings/oleObject82.bin"/><Relationship Id="rId16" Type="http://schemas.openxmlformats.org/officeDocument/2006/relationships/oleObject" Target="../embeddings/oleObject89.bin"/><Relationship Id="rId20" Type="http://schemas.openxmlformats.org/officeDocument/2006/relationships/oleObject" Target="../embeddings/oleObject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100.wmf"/><Relationship Id="rId5" Type="http://schemas.openxmlformats.org/officeDocument/2006/relationships/image" Target="../media/image97.wmf"/><Relationship Id="rId15" Type="http://schemas.openxmlformats.org/officeDocument/2006/relationships/image" Target="../media/image102.wmf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104.wmf"/><Relationship Id="rId4" Type="http://schemas.openxmlformats.org/officeDocument/2006/relationships/oleObject" Target="../embeddings/oleObject83.bin"/><Relationship Id="rId9" Type="http://schemas.openxmlformats.org/officeDocument/2006/relationships/image" Target="../media/image99.wmf"/><Relationship Id="rId14" Type="http://schemas.openxmlformats.org/officeDocument/2006/relationships/oleObject" Target="../embeddings/oleObject8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111.wmf"/><Relationship Id="rId3" Type="http://schemas.openxmlformats.org/officeDocument/2006/relationships/image" Target="../media/image106.wmf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113.wmf"/><Relationship Id="rId2" Type="http://schemas.openxmlformats.org/officeDocument/2006/relationships/oleObject" Target="../embeddings/oleObject92.bin"/><Relationship Id="rId16" Type="http://schemas.openxmlformats.org/officeDocument/2006/relationships/oleObject" Target="../embeddings/oleObject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5" Type="http://schemas.openxmlformats.org/officeDocument/2006/relationships/image" Target="../media/image112.wmf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93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9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118.wmf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0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24.wmf"/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12" Type="http://schemas.openxmlformats.org/officeDocument/2006/relationships/oleObject" Target="../embeddings/oleObject104.bin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0" Type="http://schemas.openxmlformats.org/officeDocument/2006/relationships/oleObject" Target="../embeddings/oleObject109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22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88" y="1828800"/>
            <a:ext cx="8596312" cy="2209800"/>
          </a:xfrm>
        </p:spPr>
        <p:txBody>
          <a:bodyPr/>
          <a:lstStyle/>
          <a:p>
            <a:pPr algn="ctr" eaLnBrk="1" hangingPunct="1"/>
            <a:r>
              <a:rPr lang="zh-CN" altLang="en-US" sz="6600" b="1" dirty="0">
                <a:solidFill>
                  <a:srgbClr val="FFFF00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600" b="1" dirty="0">
                <a:solidFill>
                  <a:srgbClr val="FFFF00"/>
                </a:solidFill>
                <a:ea typeface="隶书" pitchFamily="49" charset="-122"/>
              </a:rPr>
              <a:t> </a:t>
            </a:r>
            <a:r>
              <a:rPr lang="en-US" altLang="zh-CN" sz="6600" b="1" dirty="0">
                <a:solidFill>
                  <a:srgbClr val="FFFF00"/>
                </a:solidFill>
                <a:ea typeface="隶书" pitchFamily="49" charset="-122"/>
              </a:rPr>
              <a:t>5 </a:t>
            </a:r>
            <a:r>
              <a:rPr lang="zh-CN" altLang="en-US" sz="6600" b="1" dirty="0">
                <a:solidFill>
                  <a:srgbClr val="FFFF00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600" b="1" dirty="0">
                <a:solidFill>
                  <a:srgbClr val="FFFF00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扩张原理与模糊数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71925" y="4365104"/>
            <a:ext cx="4248150" cy="1970112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3000" dirty="0">
                <a:solidFill>
                  <a:srgbClr val="FF0000"/>
                </a:solidFill>
                <a:latin typeface="Comic Sans MS" pitchFamily="66" charset="0"/>
                <a:ea typeface="黑体" pitchFamily="2" charset="-122"/>
              </a:rPr>
              <a:t>5.1  </a:t>
            </a:r>
            <a:r>
              <a:rPr lang="zh-CN" altLang="en-US" sz="3000" dirty="0">
                <a:solidFill>
                  <a:srgbClr val="FF0000"/>
                </a:solidFill>
                <a:latin typeface="Comic Sans MS" pitchFamily="66" charset="0"/>
                <a:ea typeface="黑体" pitchFamily="2" charset="-122"/>
              </a:rPr>
              <a:t>扩张原理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zh-CN" sz="3000" dirty="0">
                <a:solidFill>
                  <a:srgbClr val="FF0000"/>
                </a:solidFill>
                <a:latin typeface="Comic Sans MS" pitchFamily="66" charset="0"/>
                <a:ea typeface="黑体" pitchFamily="2" charset="-122"/>
              </a:rPr>
              <a:t>5.2  </a:t>
            </a:r>
            <a:r>
              <a:rPr lang="zh-CN" altLang="en-US" sz="3000" dirty="0">
                <a:solidFill>
                  <a:srgbClr val="FF0000"/>
                </a:solidFill>
                <a:latin typeface="Comic Sans MS" pitchFamily="66" charset="0"/>
                <a:ea typeface="黑体" pitchFamily="2" charset="-122"/>
              </a:rPr>
              <a:t>多元扩张原理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199CEA-3286-EDC4-A326-8EA0C3EB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D96B5D-7020-4415-8B86-453979A6510A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A06191D6-37A3-168D-F5A1-1A669742991C}"/>
              </a:ext>
            </a:extLst>
          </p:cNvPr>
          <p:cNvGraphicFramePr>
            <a:graphicFrameLocks noGrp="1"/>
          </p:cNvGraphicFramePr>
          <p:nvPr/>
        </p:nvGraphicFramePr>
        <p:xfrm>
          <a:off x="2863552" y="2024608"/>
          <a:ext cx="6096000" cy="2052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757081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49639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82153048"/>
                    </a:ext>
                  </a:extLst>
                </a:gridCol>
              </a:tblGrid>
              <a:tr h="68415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239573"/>
                  </a:ext>
                </a:extLst>
              </a:tr>
              <a:tr h="68415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074942"/>
                  </a:ext>
                </a:extLst>
              </a:tr>
              <a:tr h="68415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216734"/>
                  </a:ext>
                </a:extLst>
              </a:tr>
            </a:tbl>
          </a:graphicData>
        </a:graphic>
      </p:graphicFrame>
      <p:sp>
        <p:nvSpPr>
          <p:cNvPr id="104453" name="Text Box 5">
            <a:extLst>
              <a:ext uri="{FF2B5EF4-FFF2-40B4-BE49-F238E27FC236}">
                <a16:creationId xmlns:a16="http://schemas.microsoft.com/office/drawing/2014/main" id="{9ECC50C4-947F-BD80-D634-05765DCAB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552" y="2765871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/>
              <a:t>备择对象</a:t>
            </a:r>
            <a:r>
              <a:rPr lang="en-US" altLang="zh-CN" sz="2800" b="1" i="1" dirty="0"/>
              <a:t>A</a:t>
            </a:r>
          </a:p>
        </p:txBody>
      </p:sp>
      <p:sp>
        <p:nvSpPr>
          <p:cNvPr id="104454" name="Text Box 6">
            <a:extLst>
              <a:ext uri="{FF2B5EF4-FFF2-40B4-BE49-F238E27FC236}">
                <a16:creationId xmlns:a16="http://schemas.microsoft.com/office/drawing/2014/main" id="{A89DAE48-0168-4EE8-3D7B-0C00AED05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9752" y="3485951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/>
              <a:t>备择对象</a:t>
            </a:r>
            <a:r>
              <a:rPr lang="en-US" altLang="zh-CN" sz="2800" b="1" i="1" dirty="0"/>
              <a:t>B</a:t>
            </a:r>
          </a:p>
        </p:txBody>
      </p:sp>
      <p:sp>
        <p:nvSpPr>
          <p:cNvPr id="104455" name="Text Box 7">
            <a:extLst>
              <a:ext uri="{FF2B5EF4-FFF2-40B4-BE49-F238E27FC236}">
                <a16:creationId xmlns:a16="http://schemas.microsoft.com/office/drawing/2014/main" id="{A820FB7F-1983-FDCF-7694-D4B14074D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1952" y="2045792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</a:rPr>
              <a:t>准则</a:t>
            </a:r>
            <a:r>
              <a:rPr lang="en-US" altLang="zh-CN" sz="2800" b="1" dirty="0">
                <a:solidFill>
                  <a:srgbClr val="FF00FF"/>
                </a:solidFill>
              </a:rPr>
              <a:t>1</a:t>
            </a:r>
          </a:p>
        </p:txBody>
      </p:sp>
      <p:sp>
        <p:nvSpPr>
          <p:cNvPr id="104456" name="Text Box 8">
            <a:extLst>
              <a:ext uri="{FF2B5EF4-FFF2-40B4-BE49-F238E27FC236}">
                <a16:creationId xmlns:a16="http://schemas.microsoft.com/office/drawing/2014/main" id="{DC547535-8621-8F34-9126-77B199E41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6952" y="2045792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</a:rPr>
              <a:t>准则</a:t>
            </a:r>
            <a:r>
              <a:rPr lang="en-US" altLang="zh-CN" sz="2800" b="1" dirty="0">
                <a:solidFill>
                  <a:srgbClr val="FF00FF"/>
                </a:solidFill>
              </a:rPr>
              <a:t>2</a:t>
            </a:r>
          </a:p>
        </p:txBody>
      </p:sp>
      <p:sp>
        <p:nvSpPr>
          <p:cNvPr id="104457" name="Text Box 9">
            <a:extLst>
              <a:ext uri="{FF2B5EF4-FFF2-40B4-BE49-F238E27FC236}">
                <a16:creationId xmlns:a16="http://schemas.microsoft.com/office/drawing/2014/main" id="{B78B143D-C8F6-56B3-FC99-C7146516B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152" y="2765872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0.8</a:t>
            </a:r>
          </a:p>
        </p:txBody>
      </p:sp>
      <p:sp>
        <p:nvSpPr>
          <p:cNvPr id="104458" name="Text Box 10">
            <a:extLst>
              <a:ext uri="{FF2B5EF4-FFF2-40B4-BE49-F238E27FC236}">
                <a16:creationId xmlns:a16="http://schemas.microsoft.com/office/drawing/2014/main" id="{582BD881-02B5-18EC-8AFA-2758EA43D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0752" y="2765872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/>
              <a:t>  0.3</a:t>
            </a:r>
          </a:p>
        </p:txBody>
      </p:sp>
      <p:sp>
        <p:nvSpPr>
          <p:cNvPr id="104459" name="Text Box 11">
            <a:extLst>
              <a:ext uri="{FF2B5EF4-FFF2-40B4-BE49-F238E27FC236}">
                <a16:creationId xmlns:a16="http://schemas.microsoft.com/office/drawing/2014/main" id="{B0CE9099-7DEC-F819-3120-62069206C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152" y="3429001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0.6</a:t>
            </a:r>
          </a:p>
        </p:txBody>
      </p:sp>
      <p:sp>
        <p:nvSpPr>
          <p:cNvPr id="104460" name="Text Box 12">
            <a:extLst>
              <a:ext uri="{FF2B5EF4-FFF2-40B4-BE49-F238E27FC236}">
                <a16:creationId xmlns:a16="http://schemas.microsoft.com/office/drawing/2014/main" id="{DA36523B-D59A-D3D5-35D7-1AD7E3B70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4150" y="3429000"/>
            <a:ext cx="6848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0.5</a:t>
            </a:r>
          </a:p>
        </p:txBody>
      </p:sp>
      <p:sp>
        <p:nvSpPr>
          <p:cNvPr id="104461" name="Text Box 13">
            <a:extLst>
              <a:ext uri="{FF2B5EF4-FFF2-40B4-BE49-F238E27FC236}">
                <a16:creationId xmlns:a16="http://schemas.microsoft.com/office/drawing/2014/main" id="{CA385F10-7072-049B-E5A1-331EEC186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0753" y="4211506"/>
            <a:ext cx="30396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</a:rPr>
              <a:t>准则</a:t>
            </a:r>
            <a:r>
              <a:rPr lang="en-US" altLang="zh-CN" sz="2800" b="1" dirty="0">
                <a:solidFill>
                  <a:srgbClr val="FF00FF"/>
                </a:solidFill>
              </a:rPr>
              <a:t>1</a:t>
            </a:r>
            <a:r>
              <a:rPr lang="zh-CN" altLang="en-US" sz="2800" b="1" dirty="0"/>
              <a:t>重要性</a:t>
            </a:r>
            <a:r>
              <a:rPr lang="en-US" altLang="zh-CN" sz="2800" b="1" dirty="0">
                <a:solidFill>
                  <a:srgbClr val="008000"/>
                </a:solidFill>
              </a:rPr>
              <a:t>0.6</a:t>
            </a:r>
            <a:r>
              <a:rPr lang="zh-CN" altLang="en-US" sz="2800" b="1" dirty="0"/>
              <a:t>，</a:t>
            </a:r>
          </a:p>
        </p:txBody>
      </p:sp>
      <p:sp>
        <p:nvSpPr>
          <p:cNvPr id="104462" name="Text Box 14">
            <a:extLst>
              <a:ext uri="{FF2B5EF4-FFF2-40B4-BE49-F238E27FC236}">
                <a16:creationId xmlns:a16="http://schemas.microsoft.com/office/drawing/2014/main" id="{B399ABDF-DBFF-49AE-0068-3E8D5C393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552" y="4211507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</a:rPr>
              <a:t>准则</a:t>
            </a:r>
            <a:r>
              <a:rPr lang="en-US" altLang="zh-CN" sz="2800" b="1" dirty="0">
                <a:solidFill>
                  <a:srgbClr val="FF00FF"/>
                </a:solidFill>
              </a:rPr>
              <a:t>2</a:t>
            </a:r>
            <a:r>
              <a:rPr lang="zh-CN" altLang="en-US" sz="2800" b="1" dirty="0"/>
              <a:t>重要性</a:t>
            </a:r>
            <a:r>
              <a:rPr lang="en-US" altLang="zh-CN" sz="2800" b="1" dirty="0">
                <a:solidFill>
                  <a:srgbClr val="0066FF"/>
                </a:solidFill>
              </a:rPr>
              <a:t>0.4</a:t>
            </a:r>
          </a:p>
        </p:txBody>
      </p:sp>
      <p:sp>
        <p:nvSpPr>
          <p:cNvPr id="104463" name="Text Box 15">
            <a:extLst>
              <a:ext uri="{FF2B5EF4-FFF2-40B4-BE49-F238E27FC236}">
                <a16:creationId xmlns:a16="http://schemas.microsoft.com/office/drawing/2014/main" id="{A6FF68F6-6E50-D058-72E0-17B15ADF7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9752" y="5029201"/>
            <a:ext cx="559961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 dirty="0"/>
              <a:t>a </a:t>
            </a:r>
            <a:r>
              <a:rPr lang="en-US" altLang="zh-CN" sz="3200" b="1" dirty="0"/>
              <a:t>= </a:t>
            </a:r>
            <a:r>
              <a:rPr lang="en-US" altLang="zh-CN" sz="3200" b="1" dirty="0">
                <a:solidFill>
                  <a:srgbClr val="008000"/>
                </a:solidFill>
              </a:rPr>
              <a:t>0.6</a:t>
            </a:r>
            <a:r>
              <a:rPr lang="en-US" altLang="zh-CN" sz="3200" b="1" dirty="0"/>
              <a:t>×0.8 </a:t>
            </a:r>
            <a:r>
              <a:rPr lang="en-US" altLang="zh-CN" sz="3200" b="1" dirty="0">
                <a:solidFill>
                  <a:srgbClr val="FF0000"/>
                </a:solidFill>
              </a:rPr>
              <a:t>+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olidFill>
                  <a:srgbClr val="0066FF"/>
                </a:solidFill>
              </a:rPr>
              <a:t>0.4</a:t>
            </a:r>
            <a:r>
              <a:rPr lang="en-US" altLang="zh-CN" sz="3200" b="1" dirty="0"/>
              <a:t>×0.3 = 0.6 </a:t>
            </a:r>
          </a:p>
        </p:txBody>
      </p:sp>
      <p:sp>
        <p:nvSpPr>
          <p:cNvPr id="104464" name="Text Box 16">
            <a:extLst>
              <a:ext uri="{FF2B5EF4-FFF2-40B4-BE49-F238E27FC236}">
                <a16:creationId xmlns:a16="http://schemas.microsoft.com/office/drawing/2014/main" id="{1CADAD30-F5E0-D407-073C-E4576FD50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648" y="5867401"/>
            <a:ext cx="58496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 dirty="0"/>
              <a:t>b </a:t>
            </a:r>
            <a:r>
              <a:rPr lang="en-US" altLang="zh-CN" sz="3200" b="1" dirty="0"/>
              <a:t>= </a:t>
            </a:r>
            <a:r>
              <a:rPr lang="en-US" altLang="zh-CN" sz="3200" b="1" dirty="0">
                <a:solidFill>
                  <a:srgbClr val="008000"/>
                </a:solidFill>
              </a:rPr>
              <a:t>0.6</a:t>
            </a:r>
            <a:r>
              <a:rPr lang="en-US" altLang="zh-CN" sz="3200" b="1" dirty="0"/>
              <a:t>×0.6 </a:t>
            </a:r>
            <a:r>
              <a:rPr lang="en-US" altLang="zh-CN" sz="3200" b="1" dirty="0">
                <a:solidFill>
                  <a:srgbClr val="FF0000"/>
                </a:solidFill>
              </a:rPr>
              <a:t>+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olidFill>
                  <a:srgbClr val="0066FF"/>
                </a:solidFill>
              </a:rPr>
              <a:t>0.4</a:t>
            </a:r>
            <a:r>
              <a:rPr lang="en-US" altLang="zh-CN" sz="3200" b="1" dirty="0"/>
              <a:t>×0.5 = 0.56 </a:t>
            </a:r>
          </a:p>
        </p:txBody>
      </p:sp>
      <p:sp>
        <p:nvSpPr>
          <p:cNvPr id="104465" name="Text Box 17">
            <a:extLst>
              <a:ext uri="{FF2B5EF4-FFF2-40B4-BE49-F238E27FC236}">
                <a16:creationId xmlns:a16="http://schemas.microsoft.com/office/drawing/2014/main" id="{2D8DAFA2-7409-A621-FF88-B82C3C9A6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329" y="1402557"/>
            <a:ext cx="61182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一个决策模型</a:t>
            </a:r>
            <a:r>
              <a:rPr lang="en-US" altLang="zh-CN" sz="32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32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加权平均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E3EE9EA-F0DF-FE87-2260-9F6C55C010EF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431007"/>
            <a:ext cx="8229600" cy="9556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kern="0" dirty="0">
                <a:solidFill>
                  <a:srgbClr val="008000"/>
                </a:solidFill>
                <a:ea typeface="黑体" pitchFamily="2" charset="-122"/>
              </a:rPr>
              <a:t>引例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8EECBB-D318-9EBE-4B6D-A33FC2B88D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4E7B3B-8E05-4BC4-9AF9-3DBED8B94089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4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4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4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4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4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4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4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4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4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4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3" grpId="0" build="p" autoUpdateAnimBg="0"/>
      <p:bldP spid="104454" grpId="0" build="p" autoUpdateAnimBg="0"/>
      <p:bldP spid="104455" grpId="0" build="p" autoUpdateAnimBg="0"/>
      <p:bldP spid="104456" grpId="0" build="p" autoUpdateAnimBg="0"/>
      <p:bldP spid="104457" grpId="0" build="p" autoUpdateAnimBg="0"/>
      <p:bldP spid="104458" grpId="0" build="p" autoUpdateAnimBg="0"/>
      <p:bldP spid="104459" grpId="0" build="p" autoUpdateAnimBg="0"/>
      <p:bldP spid="104460" grpId="0" build="p" autoUpdateAnimBg="0"/>
      <p:bldP spid="104461" grpId="0" build="p" autoUpdateAnimBg="0"/>
      <p:bldP spid="104462" grpId="0" build="p" autoUpdateAnimBg="0"/>
      <p:bldP spid="104463" grpId="0" build="p" autoUpdateAnimBg="0"/>
      <p:bldP spid="104464" grpId="0" build="p" autoUpdateAnimBg="0"/>
      <p:bldP spid="104465" grpId="0" autoUpdateAnimBg="0"/>
      <p:bldP spid="10446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48EA495C-B00B-7CE5-DB73-89A9D9E07126}"/>
              </a:ext>
            </a:extLst>
          </p:cNvPr>
          <p:cNvGraphicFramePr>
            <a:graphicFrameLocks noGrp="1"/>
          </p:cNvGraphicFramePr>
          <p:nvPr/>
        </p:nvGraphicFramePr>
        <p:xfrm>
          <a:off x="2495551" y="1808584"/>
          <a:ext cx="7344867" cy="2052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290">
                  <a:extLst>
                    <a:ext uri="{9D8B030D-6E8A-4147-A177-3AD203B41FA5}">
                      <a16:colId xmlns:a16="http://schemas.microsoft.com/office/drawing/2014/main" val="2775708194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4024963986"/>
                    </a:ext>
                  </a:extLst>
                </a:gridCol>
                <a:gridCol w="3384377">
                  <a:extLst>
                    <a:ext uri="{9D8B030D-6E8A-4147-A177-3AD203B41FA5}">
                      <a16:colId xmlns:a16="http://schemas.microsoft.com/office/drawing/2014/main" val="3582153048"/>
                    </a:ext>
                  </a:extLst>
                </a:gridCol>
              </a:tblGrid>
              <a:tr h="68415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EE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EE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239573"/>
                  </a:ext>
                </a:extLst>
              </a:tr>
              <a:tr h="68415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EE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EE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074942"/>
                  </a:ext>
                </a:extLst>
              </a:tr>
              <a:tr h="68415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EE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EE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21673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4C55AB8-A5AD-43D8-938B-D1FEC8E490DF}"/>
              </a:ext>
            </a:extLst>
          </p:cNvPr>
          <p:cNvSpPr/>
          <p:nvPr/>
        </p:nvSpPr>
        <p:spPr>
          <a:xfrm>
            <a:off x="1524000" y="5794812"/>
            <a:ext cx="9144000" cy="1063189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0538040A-C071-8DFF-359C-90B5908D7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512146"/>
            <a:ext cx="2057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备择对象</a:t>
            </a:r>
            <a:r>
              <a:rPr lang="en-US" altLang="zh-CN" sz="2800" b="1" i="1"/>
              <a:t>A</a:t>
            </a:r>
          </a:p>
        </p:txBody>
      </p:sp>
      <p:sp>
        <p:nvSpPr>
          <p:cNvPr id="34820" name="Text Box 4">
            <a:extLst>
              <a:ext uri="{FF2B5EF4-FFF2-40B4-BE49-F238E27FC236}">
                <a16:creationId xmlns:a16="http://schemas.microsoft.com/office/drawing/2014/main" id="{FA4D44C2-0AA7-54F8-05E8-6587E0793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0448" y="3274146"/>
            <a:ext cx="2057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备择对象</a:t>
            </a:r>
            <a:r>
              <a:rPr lang="en-US" altLang="zh-CN" sz="2800" b="1" i="1"/>
              <a:t>B</a:t>
            </a:r>
          </a:p>
        </p:txBody>
      </p:sp>
      <p:sp>
        <p:nvSpPr>
          <p:cNvPr id="34821" name="Text Box 5">
            <a:extLst>
              <a:ext uri="{FF2B5EF4-FFF2-40B4-BE49-F238E27FC236}">
                <a16:creationId xmlns:a16="http://schemas.microsoft.com/office/drawing/2014/main" id="{203D669E-A785-3C74-E5C0-2058CED4E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1864" y="1897668"/>
            <a:ext cx="1295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00FF"/>
                </a:solidFill>
              </a:rPr>
              <a:t>准则</a:t>
            </a:r>
            <a:r>
              <a:rPr lang="en-US" altLang="zh-CN" sz="2800" b="1">
                <a:solidFill>
                  <a:srgbClr val="FF00FF"/>
                </a:solidFill>
              </a:rPr>
              <a:t>1</a:t>
            </a:r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104E3AA2-1081-41DA-1B29-2D9D6DFF0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8128" y="1897668"/>
            <a:ext cx="1600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00FF"/>
                </a:solidFill>
              </a:rPr>
              <a:t>准则</a:t>
            </a:r>
            <a:r>
              <a:rPr lang="en-US" altLang="zh-CN" sz="2800" b="1">
                <a:solidFill>
                  <a:srgbClr val="FF00FF"/>
                </a:solidFill>
              </a:rPr>
              <a:t>2</a:t>
            </a:r>
          </a:p>
        </p:txBody>
      </p:sp>
      <p:sp>
        <p:nvSpPr>
          <p:cNvPr id="34823" name="Text Box 7">
            <a:extLst>
              <a:ext uri="{FF2B5EF4-FFF2-40B4-BE49-F238E27FC236}">
                <a16:creationId xmlns:a16="http://schemas.microsoft.com/office/drawing/2014/main" id="{E6BC33D2-EBEC-61B3-6BF5-6F6A6E9E9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056" y="2512146"/>
            <a:ext cx="152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大约</a:t>
            </a:r>
            <a:r>
              <a:rPr lang="en-US" altLang="zh-CN" sz="2800" b="1"/>
              <a:t>0.8</a:t>
            </a:r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60E16276-ACD4-FBBB-8540-3A9D3DE79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448" y="2512146"/>
            <a:ext cx="1676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大约</a:t>
            </a:r>
            <a:r>
              <a:rPr lang="en-US" altLang="zh-CN" sz="2800" b="1"/>
              <a:t>0.3</a:t>
            </a:r>
          </a:p>
        </p:txBody>
      </p:sp>
      <p:sp>
        <p:nvSpPr>
          <p:cNvPr id="34825" name="Text Box 9">
            <a:extLst>
              <a:ext uri="{FF2B5EF4-FFF2-40B4-BE49-F238E27FC236}">
                <a16:creationId xmlns:a16="http://schemas.microsoft.com/office/drawing/2014/main" id="{743AA3BA-DA14-4CE6-2C79-1F22B5832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9856" y="3274146"/>
            <a:ext cx="1600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大约</a:t>
            </a:r>
            <a:r>
              <a:rPr lang="en-US" altLang="zh-CN" sz="2800" b="1"/>
              <a:t>0.6</a:t>
            </a:r>
          </a:p>
        </p:txBody>
      </p:sp>
      <p:sp>
        <p:nvSpPr>
          <p:cNvPr id="34826" name="Text Box 10">
            <a:extLst>
              <a:ext uri="{FF2B5EF4-FFF2-40B4-BE49-F238E27FC236}">
                <a16:creationId xmlns:a16="http://schemas.microsoft.com/office/drawing/2014/main" id="{3AA32AFB-09BF-1CA8-FD5F-220AF94AC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8049" y="3274146"/>
            <a:ext cx="29883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/>
              <a:t>近似</a:t>
            </a:r>
            <a:r>
              <a:rPr lang="en-US" altLang="zh-CN" sz="2800" b="1" dirty="0"/>
              <a:t>0.5</a:t>
            </a:r>
            <a:r>
              <a:rPr lang="zh-CN" altLang="en-US" sz="2800" b="1" dirty="0"/>
              <a:t>与</a:t>
            </a:r>
            <a:r>
              <a:rPr lang="en-US" altLang="zh-CN" sz="2800" b="1" dirty="0"/>
              <a:t>0.6</a:t>
            </a:r>
            <a:r>
              <a:rPr lang="zh-CN" altLang="en-US" sz="2800" b="1" dirty="0"/>
              <a:t>之间</a:t>
            </a:r>
          </a:p>
        </p:txBody>
      </p:sp>
      <p:sp>
        <p:nvSpPr>
          <p:cNvPr id="34827" name="Text Box 11">
            <a:extLst>
              <a:ext uri="{FF2B5EF4-FFF2-40B4-BE49-F238E27FC236}">
                <a16:creationId xmlns:a16="http://schemas.microsoft.com/office/drawing/2014/main" id="{C87B6004-7F93-C7FB-4953-324F99B66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633" y="4047455"/>
            <a:ext cx="29097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</a:rPr>
              <a:t>准则</a:t>
            </a:r>
            <a:r>
              <a:rPr lang="en-US" altLang="zh-CN" sz="2800" b="1" dirty="0">
                <a:solidFill>
                  <a:srgbClr val="FF00FF"/>
                </a:solidFill>
              </a:rPr>
              <a:t>1</a:t>
            </a:r>
            <a:r>
              <a:rPr lang="zh-CN" altLang="en-US" sz="2800" b="1" dirty="0">
                <a:solidFill>
                  <a:srgbClr val="008000"/>
                </a:solidFill>
              </a:rPr>
              <a:t>非常重要</a:t>
            </a:r>
            <a:r>
              <a:rPr lang="zh-CN" altLang="en-US" sz="2800" b="1" dirty="0"/>
              <a:t>，</a:t>
            </a:r>
          </a:p>
        </p:txBody>
      </p:sp>
      <p:sp>
        <p:nvSpPr>
          <p:cNvPr id="34828" name="Text Box 12">
            <a:extLst>
              <a:ext uri="{FF2B5EF4-FFF2-40B4-BE49-F238E27FC236}">
                <a16:creationId xmlns:a16="http://schemas.microsoft.com/office/drawing/2014/main" id="{AF069DC1-1EA9-1615-B73B-F43F81091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6832" y="4047455"/>
            <a:ext cx="3429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</a:rPr>
              <a:t>准则</a:t>
            </a:r>
            <a:r>
              <a:rPr lang="en-US" altLang="zh-CN" sz="2800" b="1" dirty="0">
                <a:solidFill>
                  <a:srgbClr val="FF00FF"/>
                </a:solidFill>
              </a:rPr>
              <a:t>2</a:t>
            </a:r>
            <a:r>
              <a:rPr lang="zh-CN" altLang="en-US" sz="2800" b="1" dirty="0"/>
              <a:t>重要性</a:t>
            </a:r>
            <a:r>
              <a:rPr lang="zh-CN" altLang="en-US" sz="2800" b="1" dirty="0">
                <a:solidFill>
                  <a:srgbClr val="0066FF"/>
                </a:solidFill>
              </a:rPr>
              <a:t>一般</a:t>
            </a:r>
          </a:p>
        </p:txBody>
      </p:sp>
      <p:sp>
        <p:nvSpPr>
          <p:cNvPr id="34829" name="Text Box 13">
            <a:extLst>
              <a:ext uri="{FF2B5EF4-FFF2-40B4-BE49-F238E27FC236}">
                <a16:creationId xmlns:a16="http://schemas.microsoft.com/office/drawing/2014/main" id="{07E9DA77-7149-389F-05E7-6FD5134C3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601" y="4623519"/>
            <a:ext cx="63722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 dirty="0"/>
              <a:t>a </a:t>
            </a:r>
            <a:r>
              <a:rPr lang="en-US" altLang="zh-CN" sz="2800" b="1" dirty="0"/>
              <a:t>=</a:t>
            </a:r>
            <a:r>
              <a:rPr lang="zh-CN" altLang="en-US" sz="2800" b="1" dirty="0">
                <a:solidFill>
                  <a:srgbClr val="008000"/>
                </a:solidFill>
              </a:rPr>
              <a:t>非常重要</a:t>
            </a:r>
            <a:r>
              <a:rPr lang="en-US" altLang="zh-CN" sz="2800" b="1" dirty="0">
                <a:sym typeface="Symbol" panose="05050102010706020507" pitchFamily="18" charset="2"/>
              </a:rPr>
              <a:t></a:t>
            </a:r>
            <a:r>
              <a:rPr lang="zh-CN" altLang="en-US" sz="2800" b="1" dirty="0"/>
              <a:t>大约</a:t>
            </a:r>
            <a:r>
              <a:rPr lang="en-US" altLang="zh-CN" sz="2800" b="1" dirty="0"/>
              <a:t>0.8 </a:t>
            </a:r>
            <a:r>
              <a:rPr lang="en-US" altLang="zh-CN" sz="2800" b="1" dirty="0">
                <a:solidFill>
                  <a:srgbClr val="FF0000"/>
                </a:solidFill>
              </a:rPr>
              <a:t>+</a:t>
            </a:r>
            <a:r>
              <a:rPr lang="en-US" altLang="zh-CN" sz="2800" b="1" dirty="0"/>
              <a:t> </a:t>
            </a:r>
            <a:r>
              <a:rPr lang="zh-CN" altLang="en-US" sz="2800" b="1" dirty="0">
                <a:solidFill>
                  <a:srgbClr val="0066FF"/>
                </a:solidFill>
              </a:rPr>
              <a:t>一般</a:t>
            </a:r>
            <a:r>
              <a:rPr lang="en-US" altLang="zh-CN" sz="2800" b="1" dirty="0">
                <a:sym typeface="Symbol" panose="05050102010706020507" pitchFamily="18" charset="2"/>
              </a:rPr>
              <a:t></a:t>
            </a:r>
            <a:r>
              <a:rPr lang="zh-CN" altLang="en-US" sz="2800" b="1" dirty="0"/>
              <a:t>大约</a:t>
            </a:r>
            <a:r>
              <a:rPr lang="en-US" altLang="zh-CN" sz="2800" b="1" dirty="0"/>
              <a:t>0.3 </a:t>
            </a:r>
          </a:p>
        </p:txBody>
      </p:sp>
      <p:sp>
        <p:nvSpPr>
          <p:cNvPr id="34830" name="Text Box 14">
            <a:extLst>
              <a:ext uri="{FF2B5EF4-FFF2-40B4-BE49-F238E27FC236}">
                <a16:creationId xmlns:a16="http://schemas.microsoft.com/office/drawing/2014/main" id="{2BDE760A-360D-AFC0-4844-04C94DA86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5271591"/>
            <a:ext cx="79031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 dirty="0"/>
              <a:t>b </a:t>
            </a:r>
            <a:r>
              <a:rPr lang="en-US" altLang="zh-CN" sz="2800" b="1" dirty="0"/>
              <a:t>=</a:t>
            </a:r>
            <a:r>
              <a:rPr lang="zh-CN" altLang="en-US" sz="2800" b="1" dirty="0">
                <a:solidFill>
                  <a:srgbClr val="008000"/>
                </a:solidFill>
              </a:rPr>
              <a:t>非常重要</a:t>
            </a:r>
            <a:r>
              <a:rPr lang="en-US" altLang="zh-CN" sz="2800" b="1" dirty="0">
                <a:sym typeface="Symbol" panose="05050102010706020507" pitchFamily="18" charset="2"/>
              </a:rPr>
              <a:t></a:t>
            </a:r>
            <a:r>
              <a:rPr lang="zh-CN" altLang="en-US" sz="2800" b="1" dirty="0"/>
              <a:t>大约</a:t>
            </a:r>
            <a:r>
              <a:rPr lang="en-US" altLang="zh-CN" sz="2800" b="1" dirty="0"/>
              <a:t>0.6 </a:t>
            </a:r>
            <a:r>
              <a:rPr lang="en-US" altLang="zh-CN" sz="2800" b="1" dirty="0">
                <a:solidFill>
                  <a:srgbClr val="FF0000"/>
                </a:solidFill>
              </a:rPr>
              <a:t>+</a:t>
            </a:r>
            <a:r>
              <a:rPr lang="en-US" altLang="zh-CN" sz="2800" b="1" dirty="0"/>
              <a:t> </a:t>
            </a:r>
            <a:r>
              <a:rPr lang="zh-CN" altLang="en-US" sz="2800" b="1" dirty="0">
                <a:solidFill>
                  <a:srgbClr val="0066FF"/>
                </a:solidFill>
              </a:rPr>
              <a:t>一般</a:t>
            </a:r>
            <a:r>
              <a:rPr lang="en-US" altLang="zh-CN" sz="2800" b="1" dirty="0">
                <a:sym typeface="Symbol" panose="05050102010706020507" pitchFamily="18" charset="2"/>
              </a:rPr>
              <a:t></a:t>
            </a:r>
            <a:r>
              <a:rPr lang="zh-CN" altLang="en-US" sz="2800" b="1" dirty="0"/>
              <a:t>近似</a:t>
            </a:r>
            <a:r>
              <a:rPr lang="en-US" altLang="zh-CN" sz="2800" b="1" dirty="0"/>
              <a:t>0.5</a:t>
            </a:r>
            <a:r>
              <a:rPr lang="zh-CN" altLang="en-US" sz="2800" b="1" dirty="0"/>
              <a:t>与</a:t>
            </a:r>
            <a:r>
              <a:rPr lang="en-US" altLang="zh-CN" sz="2800" b="1" dirty="0"/>
              <a:t>0.6</a:t>
            </a:r>
            <a:r>
              <a:rPr lang="zh-CN" altLang="en-US" sz="2800" b="1" dirty="0"/>
              <a:t>之间 </a:t>
            </a:r>
          </a:p>
        </p:txBody>
      </p:sp>
      <p:sp>
        <p:nvSpPr>
          <p:cNvPr id="34831" name="Text Box 15">
            <a:extLst>
              <a:ext uri="{FF2B5EF4-FFF2-40B4-BE49-F238E27FC236}">
                <a16:creationId xmlns:a16="http://schemas.microsoft.com/office/drawing/2014/main" id="{5AD87342-864C-3A5B-DF10-6851A7636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1" y="1152258"/>
            <a:ext cx="59971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一个决策模型</a:t>
            </a:r>
            <a:r>
              <a:rPr lang="en-US" altLang="zh-CN" sz="32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32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模糊加权平均</a:t>
            </a:r>
          </a:p>
        </p:txBody>
      </p:sp>
      <p:sp>
        <p:nvSpPr>
          <p:cNvPr id="34832" name="Text Box 16">
            <a:extLst>
              <a:ext uri="{FF2B5EF4-FFF2-40B4-BE49-F238E27FC236}">
                <a16:creationId xmlns:a16="http://schemas.microsoft.com/office/drawing/2014/main" id="{222D7685-5986-E78C-3814-5B436C97C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5911851"/>
            <a:ext cx="270939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模糊数：</a:t>
            </a:r>
          </a:p>
          <a:p>
            <a:pPr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构建模糊数据；</a:t>
            </a:r>
          </a:p>
        </p:txBody>
      </p:sp>
      <p:sp>
        <p:nvSpPr>
          <p:cNvPr id="34833" name="Text Box 17">
            <a:extLst>
              <a:ext uri="{FF2B5EF4-FFF2-40B4-BE49-F238E27FC236}">
                <a16:creationId xmlns:a16="http://schemas.microsoft.com/office/drawing/2014/main" id="{BB04D2CA-7BC2-405A-176E-631F13ABA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836819"/>
            <a:ext cx="4114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扩张原理：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对模糊数据进行各种运算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1995784-7D82-8B87-D7A5-7D842D27B440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431007"/>
            <a:ext cx="8229600" cy="9556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kern="0" dirty="0">
                <a:solidFill>
                  <a:srgbClr val="008000"/>
                </a:solidFill>
                <a:ea typeface="黑体" pitchFamily="2" charset="-122"/>
              </a:rPr>
              <a:t>引例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74045C-A3F4-66DB-ABA4-FC72D6339A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4E7B3B-8E05-4BC4-9AF9-3DBED8B94089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8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4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4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4819" grpId="0" build="p" autoUpdateAnimBg="0"/>
      <p:bldP spid="34820" grpId="0" build="p" autoUpdateAnimBg="0"/>
      <p:bldP spid="34821" grpId="0" build="p" autoUpdateAnimBg="0"/>
      <p:bldP spid="34822" grpId="0" build="p" autoUpdateAnimBg="0"/>
      <p:bldP spid="34823" grpId="0" build="p" autoUpdateAnimBg="0"/>
      <p:bldP spid="34824" grpId="0" build="p" autoUpdateAnimBg="0"/>
      <p:bldP spid="34825" grpId="0" build="p" autoUpdateAnimBg="0"/>
      <p:bldP spid="34826" grpId="0" build="p" autoUpdateAnimBg="0"/>
      <p:bldP spid="34827" grpId="0" build="p" autoUpdateAnimBg="0"/>
      <p:bldP spid="34828" grpId="0" build="p" autoUpdateAnimBg="0"/>
      <p:bldP spid="34829" grpId="0" build="p" autoUpdateAnimBg="0"/>
      <p:bldP spid="34830" grpId="0" build="p" autoUpdateAnimBg="0"/>
      <p:bldP spid="34831" grpId="0" autoUpdateAnimBg="0"/>
      <p:bldP spid="34831" grpId="1"/>
      <p:bldP spid="34832" grpId="0" autoUpdateAnimBg="0"/>
      <p:bldP spid="3483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变换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1341438"/>
            <a:ext cx="10009112" cy="2519362"/>
          </a:xfrm>
          <a:noFill/>
        </p:spPr>
        <p:txBody>
          <a:bodyPr/>
          <a:lstStyle/>
          <a:p>
            <a:pPr eaLnBrk="1" hangingPunct="1"/>
            <a:r>
              <a:rPr kumimoji="1" lang="zh-CN" altLang="en-US" sz="2800" dirty="0">
                <a:ea typeface="黑体" pitchFamily="2" charset="-122"/>
              </a:rPr>
              <a:t>若映射</a:t>
            </a:r>
            <a:r>
              <a:rPr kumimoji="1" lang="en-US" altLang="zh-CN" sz="2800" i="1" dirty="0">
                <a:ea typeface="黑体" pitchFamily="2" charset="-122"/>
              </a:rPr>
              <a:t>T </a:t>
            </a:r>
            <a:r>
              <a:rPr kumimoji="1" lang="zh-CN" altLang="en-US" sz="2800" dirty="0">
                <a:ea typeface="黑体" pitchFamily="2" charset="-122"/>
              </a:rPr>
              <a:t>将</a:t>
            </a:r>
            <a:r>
              <a:rPr kumimoji="1" lang="en-US" altLang="zh-CN" sz="2800" dirty="0">
                <a:ea typeface="黑体" pitchFamily="2" charset="-122"/>
              </a:rPr>
              <a:t>U</a:t>
            </a:r>
            <a:r>
              <a:rPr kumimoji="1" lang="en-US" altLang="zh-CN" sz="2800" i="1" dirty="0">
                <a:ea typeface="黑体" pitchFamily="2" charset="-122"/>
              </a:rPr>
              <a:t> </a:t>
            </a:r>
            <a:r>
              <a:rPr kumimoji="1" lang="zh-CN" altLang="en-US" sz="2800" dirty="0">
                <a:ea typeface="黑体" pitchFamily="2" charset="-122"/>
              </a:rPr>
              <a:t>的一个</a:t>
            </a:r>
            <a:r>
              <a:rPr kumimoji="1" lang="en-US" altLang="zh-CN" sz="2800" dirty="0">
                <a:ea typeface="黑体" pitchFamily="2" charset="-122"/>
              </a:rPr>
              <a:t>F</a:t>
            </a:r>
            <a:r>
              <a:rPr kumimoji="1" lang="zh-CN" altLang="en-US" sz="2800" dirty="0">
                <a:ea typeface="黑体" pitchFamily="2" charset="-122"/>
              </a:rPr>
              <a:t>子集</a:t>
            </a:r>
            <a:r>
              <a:rPr kumimoji="1" lang="en-US" altLang="zh-CN" sz="2800" i="1" dirty="0">
                <a:ea typeface="黑体" pitchFamily="2" charset="-122"/>
              </a:rPr>
              <a:t>A</a:t>
            </a:r>
            <a:r>
              <a:rPr kumimoji="1" lang="zh-CN" altLang="en-US" sz="2800" dirty="0">
                <a:ea typeface="黑体" pitchFamily="2" charset="-122"/>
              </a:rPr>
              <a:t>映射到</a:t>
            </a:r>
            <a:r>
              <a:rPr kumimoji="1" lang="en-US" altLang="zh-CN" sz="2800" dirty="0">
                <a:ea typeface="黑体" pitchFamily="2" charset="-122"/>
              </a:rPr>
              <a:t>V</a:t>
            </a:r>
            <a:r>
              <a:rPr kumimoji="1" lang="en-US" altLang="zh-CN" sz="2800" i="1" dirty="0">
                <a:ea typeface="黑体" pitchFamily="2" charset="-122"/>
              </a:rPr>
              <a:t> </a:t>
            </a:r>
            <a:r>
              <a:rPr kumimoji="1" lang="zh-CN" altLang="en-US" sz="2800" dirty="0">
                <a:ea typeface="黑体" pitchFamily="2" charset="-122"/>
              </a:rPr>
              <a:t>的一个</a:t>
            </a:r>
            <a:r>
              <a:rPr kumimoji="1" lang="en-US" altLang="zh-CN" sz="2800" dirty="0">
                <a:ea typeface="黑体" pitchFamily="2" charset="-122"/>
              </a:rPr>
              <a:t>F</a:t>
            </a:r>
            <a:r>
              <a:rPr kumimoji="1" lang="zh-CN" altLang="en-US" sz="2800" dirty="0">
                <a:ea typeface="黑体" pitchFamily="2" charset="-122"/>
              </a:rPr>
              <a:t>子集</a:t>
            </a:r>
            <a:r>
              <a:rPr kumimoji="1" lang="en-US" altLang="zh-CN" sz="2800" i="1" dirty="0">
                <a:ea typeface="黑体" pitchFamily="2" charset="-122"/>
              </a:rPr>
              <a:t>B</a:t>
            </a:r>
            <a:r>
              <a:rPr kumimoji="1" lang="zh-CN" altLang="en-US" sz="2800" dirty="0">
                <a:ea typeface="黑体" pitchFamily="2" charset="-122"/>
              </a:rPr>
              <a:t>，则称映射</a:t>
            </a:r>
            <a:r>
              <a:rPr kumimoji="1" lang="en-US" altLang="zh-CN" sz="2800" i="1" dirty="0">
                <a:ea typeface="黑体" pitchFamily="2" charset="-122"/>
              </a:rPr>
              <a:t>T </a:t>
            </a:r>
            <a:r>
              <a:rPr kumimoji="1" lang="zh-CN" altLang="en-US" sz="2800" dirty="0">
                <a:ea typeface="黑体" pitchFamily="2" charset="-122"/>
              </a:rPr>
              <a:t>为从</a:t>
            </a:r>
            <a:r>
              <a:rPr kumimoji="1" lang="en-US" altLang="zh-CN" sz="2800" dirty="0">
                <a:ea typeface="黑体" pitchFamily="2" charset="-122"/>
              </a:rPr>
              <a:t>U</a:t>
            </a:r>
            <a:r>
              <a:rPr kumimoji="1" lang="en-US" altLang="zh-CN" sz="2800" i="1" dirty="0">
                <a:ea typeface="黑体" pitchFamily="2" charset="-122"/>
              </a:rPr>
              <a:t> </a:t>
            </a:r>
            <a:r>
              <a:rPr kumimoji="1" lang="zh-CN" altLang="en-US" sz="2800" dirty="0">
                <a:ea typeface="黑体" pitchFamily="2" charset="-122"/>
              </a:rPr>
              <a:t>到</a:t>
            </a:r>
            <a:r>
              <a:rPr kumimoji="1" lang="en-US" altLang="zh-CN" sz="2800" dirty="0">
                <a:ea typeface="黑体" pitchFamily="2" charset="-122"/>
              </a:rPr>
              <a:t>V</a:t>
            </a:r>
            <a:r>
              <a:rPr kumimoji="1" lang="en-US" altLang="zh-CN" sz="2800" i="1" dirty="0">
                <a:ea typeface="黑体" pitchFamily="2" charset="-122"/>
              </a:rPr>
              <a:t> </a:t>
            </a:r>
            <a:r>
              <a:rPr kumimoji="1" lang="zh-CN" altLang="en-US" sz="2800" dirty="0">
                <a:ea typeface="黑体" pitchFamily="2" charset="-122"/>
              </a:rPr>
              <a:t>的</a:t>
            </a:r>
            <a:r>
              <a:rPr kumimoji="1" lang="en-US" altLang="zh-CN" sz="2800" dirty="0">
                <a:solidFill>
                  <a:srgbClr val="F72603"/>
                </a:solidFill>
                <a:ea typeface="黑体" pitchFamily="2" charset="-122"/>
              </a:rPr>
              <a:t>F</a:t>
            </a:r>
            <a:r>
              <a:rPr kumimoji="1" lang="zh-CN" altLang="en-US" sz="2800" dirty="0">
                <a:solidFill>
                  <a:srgbClr val="F72603"/>
                </a:solidFill>
                <a:ea typeface="黑体" pitchFamily="2" charset="-122"/>
              </a:rPr>
              <a:t>变换</a:t>
            </a:r>
          </a:p>
          <a:p>
            <a:pPr eaLnBrk="1" hangingPunct="1"/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</a:rPr>
              <a:t>即称映射  </a:t>
            </a:r>
            <a:r>
              <a:rPr kumimoji="1" lang="zh-CN" altLang="en-US" sz="2800" dirty="0">
                <a:solidFill>
                  <a:srgbClr val="0000FF"/>
                </a:solidFill>
                <a:ea typeface="黑体" pitchFamily="2" charset="-12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800" dirty="0">
                <a:solidFill>
                  <a:srgbClr val="008000"/>
                </a:solidFill>
                <a:ea typeface="黑体" pitchFamily="2" charset="-122"/>
              </a:rPr>
              <a:t>             </a:t>
            </a:r>
            <a:r>
              <a:rPr kumimoji="1" lang="en-US" altLang="zh-CN" sz="2800" dirty="0">
                <a:solidFill>
                  <a:srgbClr val="008000"/>
                </a:solidFill>
                <a:ea typeface="黑体" pitchFamily="2" charset="-122"/>
              </a:rPr>
              <a:t>T: </a:t>
            </a:r>
            <a:r>
              <a:rPr kumimoji="1" lang="en-US" altLang="zh-CN" sz="2800" dirty="0">
                <a:solidFill>
                  <a:srgbClr val="008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kumimoji="1" lang="en-US" altLang="zh-CN" sz="2800" dirty="0">
                <a:solidFill>
                  <a:srgbClr val="008000"/>
                </a:solidFill>
                <a:ea typeface="黑体" pitchFamily="2" charset="-122"/>
              </a:rPr>
              <a:t>(U)→</a:t>
            </a:r>
            <a:r>
              <a:rPr kumimoji="1" lang="en-US" altLang="zh-CN" sz="2800" dirty="0">
                <a:solidFill>
                  <a:srgbClr val="008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kumimoji="1" lang="en-US" altLang="zh-CN" sz="2800" dirty="0">
                <a:solidFill>
                  <a:srgbClr val="008000"/>
                </a:solidFill>
                <a:ea typeface="黑体" pitchFamily="2" charset="-122"/>
              </a:rPr>
              <a:t>(V)    A|→T(A)=B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dirty="0">
                <a:solidFill>
                  <a:srgbClr val="0000FF"/>
                </a:solidFill>
                <a:ea typeface="黑体" pitchFamily="2" charset="-122"/>
              </a:rPr>
              <a:t>   </a:t>
            </a:r>
            <a:r>
              <a:rPr kumimoji="1" lang="zh-CN" altLang="en-US" sz="2800" dirty="0">
                <a:solidFill>
                  <a:srgbClr val="0000FF"/>
                </a:solidFill>
                <a:ea typeface="黑体" pitchFamily="2" charset="-122"/>
              </a:rPr>
              <a:t>为从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2" charset="-122"/>
              </a:rPr>
              <a:t>U</a:t>
            </a:r>
            <a:r>
              <a:rPr kumimoji="1" lang="zh-CN" altLang="en-US" sz="2800" dirty="0">
                <a:solidFill>
                  <a:srgbClr val="0000FF"/>
                </a:solidFill>
                <a:ea typeface="黑体" pitchFamily="2" charset="-122"/>
              </a:rPr>
              <a:t>到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2" charset="-122"/>
              </a:rPr>
              <a:t>V</a:t>
            </a:r>
            <a:r>
              <a:rPr kumimoji="1" lang="zh-CN" altLang="en-US" sz="2800" dirty="0">
                <a:solidFill>
                  <a:srgbClr val="0000FF"/>
                </a:solidFill>
                <a:ea typeface="黑体" pitchFamily="2" charset="-122"/>
              </a:rPr>
              <a:t>的一个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2" charset="-122"/>
              </a:rPr>
              <a:t>F</a:t>
            </a:r>
            <a:r>
              <a:rPr kumimoji="1" lang="zh-CN" altLang="en-US" sz="2800" dirty="0">
                <a:solidFill>
                  <a:srgbClr val="0000FF"/>
                </a:solidFill>
                <a:ea typeface="黑体" pitchFamily="2" charset="-122"/>
              </a:rPr>
              <a:t>变换。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4" y="3860800"/>
            <a:ext cx="4968875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981200" y="6278563"/>
            <a:ext cx="6942137" cy="579437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Comic Sans MS" pitchFamily="66" charset="0"/>
                <a:ea typeface="楷体_GB2312" pitchFamily="49" charset="-122"/>
              </a:rPr>
              <a:t>问题：在普通映射</a:t>
            </a:r>
            <a:r>
              <a:rPr lang="en-US" altLang="zh-CN" sz="2800" b="1" i="1" dirty="0">
                <a:solidFill>
                  <a:srgbClr val="FF0000"/>
                </a:solidFill>
                <a:latin typeface="Monotype Corsiva" pitchFamily="66" charset="0"/>
                <a:ea typeface="楷体_GB2312" pitchFamily="49" charset="-122"/>
              </a:rPr>
              <a:t>f </a:t>
            </a:r>
            <a:r>
              <a:rPr lang="zh-CN" altLang="en-US" sz="2800" b="1" dirty="0">
                <a:solidFill>
                  <a:srgbClr val="FF0000"/>
                </a:solidFill>
                <a:latin typeface="Comic Sans MS" pitchFamily="66" charset="0"/>
                <a:ea typeface="楷体_GB2312" pitchFamily="49" charset="-122"/>
              </a:rPr>
              <a:t>：</a:t>
            </a:r>
            <a:r>
              <a:rPr lang="en-US" altLang="zh-CN" sz="2800" b="1" i="1" dirty="0">
                <a:solidFill>
                  <a:srgbClr val="FF0000"/>
                </a:solidFill>
                <a:latin typeface="Comic Sans MS" pitchFamily="66" charset="0"/>
                <a:ea typeface="楷体_GB2312" pitchFamily="49" charset="-122"/>
              </a:rPr>
              <a:t>U </a:t>
            </a:r>
            <a:r>
              <a:rPr kumimoji="1" lang="en-US" altLang="zh-CN" sz="2800" b="1" dirty="0">
                <a:solidFill>
                  <a:srgbClr val="FF0000"/>
                </a:solidFill>
                <a:latin typeface="Comic Sans MS" pitchFamily="66" charset="0"/>
                <a:ea typeface="楷体_GB2312" pitchFamily="49" charset="-122"/>
              </a:rPr>
              <a:t>→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Comic Sans MS" pitchFamily="66" charset="0"/>
                <a:ea typeface="楷体_GB2312" pitchFamily="49" charset="-122"/>
              </a:rPr>
              <a:t>V</a:t>
            </a:r>
            <a:r>
              <a:rPr kumimoji="1" lang="en-US" altLang="zh-CN" sz="2800" b="1" dirty="0">
                <a:solidFill>
                  <a:srgbClr val="008000"/>
                </a:solidFill>
                <a:latin typeface="Comic Sans MS" pitchFamily="66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Comic Sans MS" pitchFamily="66" charset="0"/>
                <a:ea typeface="楷体_GB2312" pitchFamily="49" charset="-122"/>
              </a:rPr>
              <a:t>下，</a:t>
            </a:r>
            <a:r>
              <a:rPr lang="en-US" altLang="zh-CN" sz="2800" b="1" i="1" dirty="0">
                <a:solidFill>
                  <a:srgbClr val="E123BD"/>
                </a:solidFill>
                <a:latin typeface="Monotype Corsiva" pitchFamily="66" charset="0"/>
                <a:ea typeface="楷体_GB2312" pitchFamily="49" charset="-122"/>
              </a:rPr>
              <a:t>f</a:t>
            </a:r>
            <a:r>
              <a:rPr lang="en-US" altLang="zh-CN" sz="2800" b="1" i="1" dirty="0">
                <a:solidFill>
                  <a:srgbClr val="E123BD"/>
                </a:solidFill>
                <a:latin typeface="Comic Sans MS" pitchFamily="66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E123BD"/>
                </a:solidFill>
                <a:latin typeface="Comic Sans MS" pitchFamily="66" charset="0"/>
                <a:ea typeface="楷体_GB2312" pitchFamily="49" charset="-122"/>
              </a:rPr>
              <a:t>(A)</a:t>
            </a:r>
            <a:r>
              <a:rPr lang="en-US" altLang="zh-CN" sz="2800" b="1" dirty="0">
                <a:latin typeface="Comic Sans MS" pitchFamily="66" charset="0"/>
                <a:ea typeface="楷体_GB2312" pitchFamily="49" charset="-122"/>
              </a:rPr>
              <a:t>=</a:t>
            </a:r>
            <a:r>
              <a:rPr lang="zh-CN" altLang="en-US" sz="3200" b="1" dirty="0">
                <a:latin typeface="Comic Sans MS" pitchFamily="66" charset="0"/>
                <a:ea typeface="楷体_GB2312" pitchFamily="49" charset="-122"/>
              </a:rPr>
              <a:t>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D355AC-16A0-480F-9B1C-25B71A88F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  <p:bldP spid="71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3376"/>
            <a:ext cx="8229600" cy="1223963"/>
          </a:xfrm>
        </p:spPr>
        <p:txBody>
          <a:bodyPr/>
          <a:lstStyle/>
          <a:p>
            <a:pPr algn="ctr" eaLnBrk="1" hangingPunct="1"/>
            <a:r>
              <a:rPr lang="en-US" altLang="zh-CN" sz="4000" dirty="0">
                <a:solidFill>
                  <a:srgbClr val="008000"/>
                </a:solidFill>
              </a:rPr>
              <a:t>5.1  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扩张原理</a:t>
            </a:r>
            <a:b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</a:br>
            <a:r>
              <a:rPr lang="en-US" altLang="zh-CN" sz="3200" dirty="0">
                <a:solidFill>
                  <a:srgbClr val="0000FF"/>
                </a:solidFill>
                <a:ea typeface="黑体" pitchFamily="2" charset="-122"/>
              </a:rPr>
              <a:t>F</a:t>
            </a:r>
            <a:r>
              <a:rPr lang="zh-CN" altLang="en-US" sz="3200" dirty="0">
                <a:solidFill>
                  <a:srgbClr val="0000FF"/>
                </a:solidFill>
                <a:ea typeface="黑体" pitchFamily="2" charset="-122"/>
              </a:rPr>
              <a:t>集在</a:t>
            </a:r>
            <a:r>
              <a:rPr lang="en-US" altLang="zh-CN" sz="3200" dirty="0">
                <a:solidFill>
                  <a:srgbClr val="0000FF"/>
                </a:solidFill>
                <a:latin typeface="Monotype Corsiva" pitchFamily="66" charset="0"/>
                <a:ea typeface="黑体" pitchFamily="2" charset="-122"/>
              </a:rPr>
              <a:t>f  </a:t>
            </a:r>
            <a:r>
              <a:rPr lang="zh-CN" altLang="en-US" sz="3200" dirty="0">
                <a:solidFill>
                  <a:srgbClr val="0000FF"/>
                </a:solidFill>
                <a:ea typeface="黑体" pitchFamily="2" charset="-122"/>
              </a:rPr>
              <a:t>映射下的像集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700214"/>
            <a:ext cx="10297144" cy="49688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dirty="0">
                <a:ea typeface="黑体" pitchFamily="2" charset="-122"/>
              </a:rPr>
              <a:t> </a:t>
            </a:r>
            <a:r>
              <a:rPr lang="zh-CN" altLang="en-US" sz="2800" dirty="0">
                <a:ea typeface="黑体" pitchFamily="2" charset="-122"/>
              </a:rPr>
              <a:t>设有映射  </a:t>
            </a:r>
            <a:r>
              <a:rPr lang="en-US" altLang="zh-CN" sz="2800" b="1" dirty="0"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dirty="0">
                <a:latin typeface="Monotype Corsiva" pitchFamily="66" charset="0"/>
                <a:ea typeface="黑体" pitchFamily="2" charset="-122"/>
              </a:rPr>
              <a:t> </a:t>
            </a:r>
            <a:r>
              <a:rPr lang="en-US" altLang="zh-CN" sz="2800" dirty="0">
                <a:ea typeface="黑体" pitchFamily="2" charset="-122"/>
              </a:rPr>
              <a:t>: U</a:t>
            </a:r>
            <a:r>
              <a:rPr lang="en-US" altLang="zh-CN" sz="2800" dirty="0">
                <a:ea typeface="黑体" pitchFamily="2" charset="-122"/>
                <a:sym typeface="Symbol"/>
              </a:rPr>
              <a:t></a:t>
            </a:r>
            <a:r>
              <a:rPr lang="en-US" altLang="zh-CN" sz="2800" dirty="0">
                <a:ea typeface="黑体" pitchFamily="2" charset="-122"/>
              </a:rPr>
              <a:t>V        u |</a:t>
            </a:r>
            <a:r>
              <a:rPr lang="en-US" altLang="zh-CN" sz="2800" dirty="0">
                <a:ea typeface="黑体" pitchFamily="2" charset="-122"/>
                <a:sym typeface="Symbol"/>
              </a:rPr>
              <a:t></a:t>
            </a:r>
            <a:r>
              <a:rPr lang="en-US" altLang="zh-CN" sz="2800" dirty="0">
                <a:ea typeface="黑体" pitchFamily="2" charset="-122"/>
              </a:rPr>
              <a:t>v=</a:t>
            </a:r>
            <a:r>
              <a:rPr lang="en-US" altLang="zh-CN" sz="2800" dirty="0">
                <a:latin typeface="Monotype Corsiva" pitchFamily="66" charset="0"/>
                <a:ea typeface="黑体" pitchFamily="2" charset="-122"/>
              </a:rPr>
              <a:t> f </a:t>
            </a:r>
            <a:r>
              <a:rPr lang="en-US" altLang="zh-CN" sz="2800" dirty="0">
                <a:ea typeface="黑体" pitchFamily="2" charset="-122"/>
              </a:rPr>
              <a:t>(u)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2" charset="-122"/>
              </a:rPr>
              <a:t>    </a:t>
            </a:r>
            <a:r>
              <a:rPr lang="zh-CN" altLang="en-US" sz="2800" dirty="0">
                <a:ea typeface="黑体" pitchFamily="2" charset="-122"/>
              </a:rPr>
              <a:t>由它可诱导出一个新映射，仍记作</a:t>
            </a:r>
            <a:r>
              <a:rPr lang="en-US" altLang="zh-CN" sz="2800" b="1" dirty="0"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dirty="0">
                <a:latin typeface="Monotype Corsiva" pitchFamily="66" charset="0"/>
                <a:ea typeface="黑体" pitchFamily="2" charset="-122"/>
              </a:rPr>
              <a:t> </a:t>
            </a:r>
            <a:endParaRPr lang="en-US" altLang="zh-CN" sz="2800" dirty="0">
              <a:ea typeface="黑体" pitchFamily="2" charset="-122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              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</a:rPr>
              <a:t>f</a:t>
            </a:r>
            <a:r>
              <a:rPr lang="en-US" altLang="zh-CN" sz="2800" dirty="0">
                <a:solidFill>
                  <a:srgbClr val="FF0000"/>
                </a:solidFill>
                <a:latin typeface="Monotype Corsiva" pitchFamily="66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: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(U)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/>
              </a:rPr>
              <a:t>  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(V)      A|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/>
              </a:rPr>
              <a:t>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B=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</a:rPr>
              <a:t> f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(A)</a:t>
            </a:r>
            <a:r>
              <a:rPr lang="en-US" altLang="zh-CN" sz="28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  其中，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400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</a:rPr>
              <a:t>这个新的映射是从</a:t>
            </a:r>
            <a:r>
              <a:rPr kumimoji="1" lang="en-US" altLang="zh-CN" sz="2800" dirty="0">
                <a:solidFill>
                  <a:srgbClr val="0000FF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2" charset="-122"/>
              </a:rPr>
              <a:t>(U)</a:t>
            </a:r>
            <a:r>
              <a:rPr kumimoji="1" lang="zh-CN" altLang="en-US" sz="2800" dirty="0">
                <a:solidFill>
                  <a:srgbClr val="0000FF"/>
                </a:solidFill>
                <a:ea typeface="黑体" pitchFamily="2" charset="-122"/>
              </a:rPr>
              <a:t>到</a:t>
            </a:r>
            <a:r>
              <a:rPr kumimoji="1" lang="en-US" altLang="zh-CN" sz="2800" dirty="0">
                <a:solidFill>
                  <a:srgbClr val="0000FF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2" charset="-122"/>
              </a:rPr>
              <a:t>(V)</a:t>
            </a:r>
            <a:r>
              <a:rPr kumimoji="1" lang="zh-CN" altLang="en-US" sz="2800" dirty="0">
                <a:solidFill>
                  <a:srgbClr val="0000FF"/>
                </a:solidFill>
                <a:ea typeface="黑体" pitchFamily="2" charset="-122"/>
              </a:rPr>
              <a:t>的一个普通集合间的映射。</a:t>
            </a:r>
            <a:endParaRPr kumimoji="1" lang="en-US" altLang="zh-CN" sz="2800" dirty="0">
              <a:solidFill>
                <a:srgbClr val="0000FF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dirty="0">
                <a:solidFill>
                  <a:srgbClr val="0000FF"/>
                </a:solidFill>
                <a:ea typeface="黑体" pitchFamily="2" charset="-122"/>
              </a:rPr>
              <a:t>    B=</a:t>
            </a:r>
            <a:r>
              <a:rPr kumimoji="1" lang="en-US" altLang="zh-CN" sz="2800" b="1" dirty="0">
                <a:solidFill>
                  <a:srgbClr val="0000FF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kumimoji="1" lang="en-US" altLang="zh-CN" sz="2800" dirty="0">
                <a:solidFill>
                  <a:srgbClr val="0000FF"/>
                </a:solidFill>
                <a:latin typeface="Monotype Corsiva" pitchFamily="66" charset="0"/>
                <a:ea typeface="黑体" pitchFamily="2" charset="-122"/>
              </a:rPr>
              <a:t> 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2" charset="-122"/>
              </a:rPr>
              <a:t>(A)</a:t>
            </a:r>
            <a:r>
              <a:rPr kumimoji="1" lang="zh-CN" altLang="en-US" sz="2800" dirty="0">
                <a:solidFill>
                  <a:srgbClr val="0000FF"/>
                </a:solidFill>
                <a:ea typeface="黑体" pitchFamily="2" charset="-122"/>
              </a:rPr>
              <a:t>叫做集合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kumimoji="1" lang="zh-CN" altLang="en-US" sz="2800" dirty="0">
                <a:solidFill>
                  <a:srgbClr val="0000FF"/>
                </a:solidFill>
                <a:ea typeface="黑体" pitchFamily="2" charset="-122"/>
              </a:rPr>
              <a:t>在 </a:t>
            </a:r>
            <a:r>
              <a:rPr kumimoji="1" lang="en-US" altLang="zh-CN" sz="2800" b="1" dirty="0">
                <a:solidFill>
                  <a:srgbClr val="0000FF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kumimoji="1" lang="zh-CN" altLang="en-US" sz="2800" dirty="0">
                <a:solidFill>
                  <a:srgbClr val="0000FF"/>
                </a:solidFill>
                <a:ea typeface="黑体" pitchFamily="2" charset="-122"/>
              </a:rPr>
              <a:t>之下的像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。</a:t>
            </a:r>
            <a:endParaRPr kumimoji="1" lang="en-US" altLang="zh-CN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/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</a:rPr>
              <a:t>像集</a:t>
            </a:r>
            <a:r>
              <a:rPr kumimoji="1"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 f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(A)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</a:rPr>
              <a:t>用特征函数表示为</a:t>
            </a:r>
            <a:r>
              <a:rPr lang="zh-CN" altLang="en-US" sz="2800" dirty="0"/>
              <a:t>                    </a:t>
            </a:r>
          </a:p>
        </p:txBody>
      </p:sp>
      <p:graphicFrame>
        <p:nvGraphicFramePr>
          <p:cNvPr id="614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454731078"/>
              </p:ext>
            </p:extLst>
          </p:nvPr>
        </p:nvGraphicFramePr>
        <p:xfrm>
          <a:off x="2567855" y="3237731"/>
          <a:ext cx="50403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09800" imgH="304800" progId="Equation.3">
                  <p:embed/>
                </p:oleObj>
              </mc:Choice>
              <mc:Fallback>
                <p:oleObj name="公式" r:id="rId3" imgW="2209800" imgH="304800" progId="Equation.3">
                  <p:embed/>
                  <p:pic>
                    <p:nvPicPr>
                      <p:cNvPr id="61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855" y="3237731"/>
                        <a:ext cx="50403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5267951"/>
              </p:ext>
            </p:extLst>
          </p:nvPr>
        </p:nvGraphicFramePr>
        <p:xfrm>
          <a:off x="5745410" y="5314844"/>
          <a:ext cx="5391150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171700" imgH="533400" progId="Equation.3">
                  <p:embed/>
                </p:oleObj>
              </mc:Choice>
              <mc:Fallback>
                <p:oleObj name="公式" r:id="rId5" imgW="2171700" imgH="533400" progId="Equation.3">
                  <p:embed/>
                  <p:pic>
                    <p:nvPicPr>
                      <p:cNvPr id="61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410" y="5314844"/>
                        <a:ext cx="5391150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6030BF-707D-F89C-A9C2-E8D5F3AA9B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诱导的新映射举例</a:t>
            </a:r>
            <a:r>
              <a:rPr lang="en-US" altLang="zh-CN" sz="3200">
                <a:ea typeface="黑体" pitchFamily="2" charset="-122"/>
              </a:rPr>
              <a:t>[P117</a:t>
            </a:r>
            <a:r>
              <a:rPr lang="zh-CN" altLang="en-US" sz="3200">
                <a:ea typeface="黑体" pitchFamily="2" charset="-122"/>
              </a:rPr>
              <a:t>例</a:t>
            </a:r>
            <a:r>
              <a:rPr lang="en-US" altLang="zh-CN" sz="3200">
                <a:ea typeface="黑体" pitchFamily="2" charset="-122"/>
              </a:rPr>
              <a:t>1]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484314"/>
            <a:ext cx="9000232" cy="51133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设</a:t>
            </a:r>
            <a:r>
              <a:rPr lang="en-US" altLang="zh-CN" sz="2800" dirty="0">
                <a:solidFill>
                  <a:srgbClr val="0000FF"/>
                </a:solidFill>
              </a:rPr>
              <a:t>U={-3,-2,-1,1,2,3}</a:t>
            </a:r>
            <a:r>
              <a:rPr lang="zh-CN" altLang="en-US" sz="2800" dirty="0">
                <a:solidFill>
                  <a:srgbClr val="0000FF"/>
                </a:solidFill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</a:rPr>
              <a:t>V={1,2,…,9}</a:t>
            </a:r>
            <a:r>
              <a:rPr lang="zh-CN" altLang="en-US" sz="2800" dirty="0">
                <a:solidFill>
                  <a:srgbClr val="0000FF"/>
                </a:solidFill>
              </a:rPr>
              <a:t>， </a:t>
            </a:r>
            <a:r>
              <a:rPr lang="zh-CN" altLang="en-US" sz="2800" b="1" dirty="0">
                <a:solidFill>
                  <a:srgbClr val="0000FF"/>
                </a:solidFill>
              </a:rPr>
              <a:t>且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</a:rPr>
              <a:t>              </a:t>
            </a:r>
            <a:r>
              <a:rPr lang="en-US" altLang="zh-CN" sz="2800" b="1" dirty="0">
                <a:solidFill>
                  <a:srgbClr val="0000FF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: U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  <a:sym typeface="Symbol"/>
              </a:rPr>
              <a:t>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V        u |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  <a:sym typeface="Symbol"/>
              </a:rPr>
              <a:t>  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u</a:t>
            </a:r>
            <a:r>
              <a:rPr lang="en-US" altLang="zh-CN" sz="2800" baseline="30000" dirty="0">
                <a:solidFill>
                  <a:srgbClr val="0000FF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=v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</a:rPr>
              <a:t>由 </a:t>
            </a:r>
            <a:r>
              <a:rPr lang="en-US" altLang="zh-CN" sz="2800" b="1" dirty="0">
                <a:solidFill>
                  <a:srgbClr val="0000FF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</a:rPr>
              <a:t>诱导出的一个新的映射</a:t>
            </a:r>
            <a:r>
              <a:rPr lang="zh-CN" altLang="en-US" sz="2800" dirty="0">
                <a:solidFill>
                  <a:srgbClr val="0000FF"/>
                </a:solidFill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</a:rPr>
              <a:t>f </a:t>
            </a:r>
            <a:r>
              <a:rPr lang="en-US" altLang="zh-CN" sz="2800" dirty="0">
                <a:solidFill>
                  <a:srgbClr val="FF0000"/>
                </a:solidFill>
              </a:rPr>
              <a:t>: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(U)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/>
              </a:rPr>
              <a:t>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(V) </a:t>
            </a:r>
          </a:p>
          <a:p>
            <a:pPr eaLnBrk="1" hangingPunct="1">
              <a:buNone/>
            </a:pPr>
            <a:r>
              <a:rPr kumimoji="1" lang="zh-CN" altLang="en-US" sz="2800" dirty="0">
                <a:ea typeface="黑体" pitchFamily="2" charset="-122"/>
              </a:rPr>
              <a:t>设 </a:t>
            </a:r>
            <a:r>
              <a:rPr kumimoji="1" lang="en-US" altLang="zh-CN" sz="2800" dirty="0">
                <a:ea typeface="黑体" pitchFamily="2" charset="-122"/>
              </a:rPr>
              <a:t>{1} </a:t>
            </a:r>
            <a:r>
              <a:rPr lang="en-US" altLang="zh-CN" sz="2800" dirty="0">
                <a:ea typeface="黑体" pitchFamily="2" charset="-122"/>
              </a:rPr>
              <a:t>|</a:t>
            </a:r>
            <a:r>
              <a:rPr lang="en-US" altLang="zh-CN" sz="2800" dirty="0">
                <a:ea typeface="黑体" pitchFamily="2" charset="-122"/>
                <a:sym typeface="Symbol"/>
              </a:rPr>
              <a:t> </a:t>
            </a:r>
            <a:r>
              <a:rPr lang="en-US" altLang="zh-CN" sz="2800" dirty="0">
                <a:ea typeface="黑体" pitchFamily="2" charset="-122"/>
              </a:rPr>
              <a:t>{1} </a:t>
            </a:r>
            <a:r>
              <a:rPr lang="zh-CN" altLang="en-US" sz="2800" dirty="0">
                <a:ea typeface="黑体" pitchFamily="2" charset="-122"/>
              </a:rPr>
              <a:t>， </a:t>
            </a:r>
            <a:r>
              <a:rPr kumimoji="1" lang="en-US" altLang="zh-CN" sz="2800" dirty="0">
                <a:ea typeface="黑体" pitchFamily="2" charset="-122"/>
              </a:rPr>
              <a:t>{1,2}  </a:t>
            </a:r>
            <a:r>
              <a:rPr lang="en-US" altLang="zh-CN" sz="2800" dirty="0">
                <a:ea typeface="黑体" pitchFamily="2" charset="-122"/>
              </a:rPr>
              <a:t>|</a:t>
            </a:r>
            <a:r>
              <a:rPr lang="en-US" altLang="zh-CN" sz="2800" dirty="0">
                <a:ea typeface="黑体" pitchFamily="2" charset="-122"/>
                <a:sym typeface="Symbol"/>
              </a:rPr>
              <a:t>  </a:t>
            </a:r>
            <a:r>
              <a:rPr lang="en-US" altLang="zh-CN" sz="2800" dirty="0">
                <a:ea typeface="黑体" pitchFamily="2" charset="-122"/>
              </a:rPr>
              <a:t>{1,4}</a:t>
            </a:r>
          </a:p>
          <a:p>
            <a:pPr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     </a:t>
            </a:r>
            <a:r>
              <a:rPr kumimoji="1" lang="en-US" altLang="zh-CN" sz="2800" dirty="0">
                <a:ea typeface="黑体" pitchFamily="2" charset="-122"/>
              </a:rPr>
              <a:t>{2} </a:t>
            </a:r>
            <a:r>
              <a:rPr lang="en-US" altLang="zh-CN" sz="2800" dirty="0">
                <a:ea typeface="黑体" pitchFamily="2" charset="-122"/>
              </a:rPr>
              <a:t>|</a:t>
            </a:r>
            <a:r>
              <a:rPr lang="en-US" altLang="zh-CN" sz="2800" dirty="0">
                <a:ea typeface="黑体" pitchFamily="2" charset="-122"/>
                <a:sym typeface="Symbol"/>
              </a:rPr>
              <a:t> </a:t>
            </a:r>
            <a:r>
              <a:rPr lang="en-US" altLang="zh-CN" sz="2800" dirty="0">
                <a:ea typeface="黑体" pitchFamily="2" charset="-122"/>
              </a:rPr>
              <a:t>{4} </a:t>
            </a:r>
            <a:r>
              <a:rPr lang="zh-CN" altLang="en-US" sz="2800" dirty="0">
                <a:ea typeface="黑体" pitchFamily="2" charset="-122"/>
              </a:rPr>
              <a:t>， </a:t>
            </a:r>
            <a:r>
              <a:rPr kumimoji="1" lang="en-US" altLang="zh-CN" sz="2800" dirty="0">
                <a:ea typeface="黑体" pitchFamily="2" charset="-122"/>
              </a:rPr>
              <a:t>{2,3}  </a:t>
            </a:r>
            <a:r>
              <a:rPr lang="en-US" altLang="zh-CN" sz="2800" dirty="0">
                <a:ea typeface="黑体" pitchFamily="2" charset="-122"/>
              </a:rPr>
              <a:t>|</a:t>
            </a:r>
            <a:r>
              <a:rPr lang="en-US" altLang="zh-CN" sz="2800" dirty="0">
                <a:ea typeface="黑体" pitchFamily="2" charset="-122"/>
                <a:sym typeface="Symbol"/>
              </a:rPr>
              <a:t>  </a:t>
            </a:r>
            <a:r>
              <a:rPr lang="en-US" altLang="zh-CN" sz="2800" dirty="0">
                <a:ea typeface="黑体" pitchFamily="2" charset="-122"/>
              </a:rPr>
              <a:t>{4,9}</a:t>
            </a:r>
          </a:p>
          <a:p>
            <a:pPr eaLnBrk="1" hangingPunct="1">
              <a:buNone/>
            </a:pPr>
            <a:r>
              <a:rPr kumimoji="1" lang="en-US" altLang="zh-CN" sz="2800" dirty="0">
                <a:ea typeface="黑体" pitchFamily="2" charset="-122"/>
              </a:rPr>
              <a:t>     {3} </a:t>
            </a:r>
            <a:r>
              <a:rPr lang="en-US" altLang="zh-CN" sz="2800" dirty="0">
                <a:ea typeface="黑体" pitchFamily="2" charset="-122"/>
              </a:rPr>
              <a:t>|</a:t>
            </a:r>
            <a:r>
              <a:rPr lang="en-US" altLang="zh-CN" sz="2800" dirty="0">
                <a:ea typeface="黑体" pitchFamily="2" charset="-122"/>
                <a:sym typeface="Symbol"/>
              </a:rPr>
              <a:t> </a:t>
            </a:r>
            <a:r>
              <a:rPr lang="en-US" altLang="zh-CN" sz="2800" dirty="0">
                <a:ea typeface="黑体" pitchFamily="2" charset="-122"/>
              </a:rPr>
              <a:t>{9} </a:t>
            </a:r>
            <a:r>
              <a:rPr lang="zh-CN" altLang="en-US" sz="2800" dirty="0">
                <a:ea typeface="黑体" pitchFamily="2" charset="-122"/>
              </a:rPr>
              <a:t>， </a:t>
            </a:r>
            <a:r>
              <a:rPr kumimoji="1" lang="en-US" altLang="zh-CN" sz="2800" dirty="0">
                <a:ea typeface="黑体" pitchFamily="2" charset="-122"/>
              </a:rPr>
              <a:t>{1,-3} </a:t>
            </a:r>
            <a:r>
              <a:rPr lang="en-US" altLang="zh-CN" sz="2800" dirty="0">
                <a:ea typeface="黑体" pitchFamily="2" charset="-122"/>
              </a:rPr>
              <a:t>|</a:t>
            </a:r>
            <a:r>
              <a:rPr lang="en-US" altLang="zh-CN" sz="2800" dirty="0">
                <a:ea typeface="黑体" pitchFamily="2" charset="-122"/>
                <a:sym typeface="Symbol"/>
              </a:rPr>
              <a:t>  </a:t>
            </a:r>
            <a:r>
              <a:rPr lang="en-US" altLang="zh-CN" sz="2800" dirty="0">
                <a:ea typeface="黑体" pitchFamily="2" charset="-122"/>
              </a:rPr>
              <a:t>{1,9}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记 </a:t>
            </a:r>
            <a:r>
              <a:rPr lang="en-US" altLang="zh-CN" sz="2800" dirty="0">
                <a:ea typeface="黑体" pitchFamily="2" charset="-122"/>
              </a:rPr>
              <a:t>A={1,-3},  </a:t>
            </a:r>
            <a:r>
              <a:rPr lang="zh-CN" altLang="en-US" sz="2800" dirty="0">
                <a:ea typeface="黑体" pitchFamily="2" charset="-122"/>
              </a:rPr>
              <a:t>则</a:t>
            </a:r>
            <a:r>
              <a:rPr lang="en-US" altLang="zh-CN" sz="2800" b="1" dirty="0"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ea typeface="黑体" pitchFamily="2" charset="-122"/>
              </a:rPr>
              <a:t>(A)={1,9}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其特征函数为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>
              <a:ea typeface="黑体" pitchFamily="2" charset="-122"/>
            </a:endParaRPr>
          </a:p>
        </p:txBody>
      </p:sp>
      <p:graphicFrame>
        <p:nvGraphicFramePr>
          <p:cNvPr id="1024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648075" y="5553075"/>
          <a:ext cx="6265863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558720" progId="Equation.DSMT4">
                  <p:embed/>
                </p:oleObj>
              </mc:Choice>
              <mc:Fallback>
                <p:oleObj name="Equation" r:id="rId3" imgW="2743200" imgH="558720" progId="Equation.DSMT4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5553075"/>
                        <a:ext cx="6265863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588286"/>
              </p:ext>
            </p:extLst>
          </p:nvPr>
        </p:nvGraphicFramePr>
        <p:xfrm>
          <a:off x="6992143" y="4005064"/>
          <a:ext cx="4620279" cy="1132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171700" imgH="533400" progId="Equation.3">
                  <p:embed/>
                </p:oleObj>
              </mc:Choice>
              <mc:Fallback>
                <p:oleObj name="公式" r:id="rId5" imgW="2171700" imgH="533400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143" y="4005064"/>
                        <a:ext cx="4620279" cy="113249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800600" y="5516564"/>
            <a:ext cx="1511300" cy="649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311901" y="5535614"/>
            <a:ext cx="2016125" cy="649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299450" y="5516564"/>
            <a:ext cx="1512888" cy="649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872038" y="6146800"/>
            <a:ext cx="15113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383338" y="6165850"/>
            <a:ext cx="208915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472488" y="6146800"/>
            <a:ext cx="15113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E90F03-CEE2-B409-887B-B33AD5D602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F209AC-A2D1-49EF-BE0C-2B9240FE767E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3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诱导的新映射举例</a:t>
            </a:r>
            <a:r>
              <a:rPr lang="en-US" altLang="zh-CN" sz="3200">
                <a:ea typeface="黑体" pitchFamily="2" charset="-122"/>
              </a:rPr>
              <a:t>[P117</a:t>
            </a:r>
            <a:r>
              <a:rPr lang="zh-CN" altLang="en-US" sz="3200">
                <a:ea typeface="黑体" pitchFamily="2" charset="-122"/>
              </a:rPr>
              <a:t>例</a:t>
            </a:r>
            <a:r>
              <a:rPr lang="en-US" altLang="zh-CN" sz="3200">
                <a:ea typeface="黑体" pitchFamily="2" charset="-122"/>
              </a:rPr>
              <a:t>1]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341438"/>
            <a:ext cx="10009112" cy="53276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由映射</a:t>
            </a:r>
            <a:r>
              <a:rPr lang="en-US" altLang="zh-CN" sz="2800" b="1" dirty="0">
                <a:latin typeface="Monotype Corsiva" pitchFamily="66" charset="0"/>
                <a:ea typeface="黑体" pitchFamily="2" charset="-122"/>
              </a:rPr>
              <a:t>f </a:t>
            </a:r>
            <a:r>
              <a:rPr lang="zh-CN" altLang="en-US" sz="2800" dirty="0">
                <a:ea typeface="黑体" pitchFamily="2" charset="-122"/>
              </a:rPr>
              <a:t>还可诱导出另一映射</a:t>
            </a:r>
            <a:r>
              <a:rPr lang="en-US" altLang="zh-CN" sz="2800" dirty="0">
                <a:ea typeface="黑体" pitchFamily="2" charset="-122"/>
              </a:rPr>
              <a:t>,</a:t>
            </a:r>
            <a:r>
              <a:rPr lang="zh-CN" altLang="en-US" sz="2800" dirty="0">
                <a:ea typeface="黑体" pitchFamily="2" charset="-122"/>
              </a:rPr>
              <a:t>记作</a:t>
            </a:r>
            <a:r>
              <a:rPr lang="en-US" altLang="zh-CN" sz="2800" b="1" dirty="0"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baseline="30000" dirty="0">
                <a:ea typeface="黑体" pitchFamily="2" charset="-122"/>
              </a:rPr>
              <a:t>-1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           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2" charset="-122"/>
              </a:rPr>
              <a:t>-1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: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(V)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/>
              </a:rPr>
              <a:t>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(U)      B|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/>
              </a:rPr>
              <a:t>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 f 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 (B)</a:t>
            </a:r>
          </a:p>
          <a:p>
            <a:pPr eaLnBrk="1" hangingPunct="1">
              <a:buFont typeface="Wingdings" pitchFamily="2" charset="2"/>
              <a:buNone/>
            </a:pPr>
            <a:endParaRPr kumimoji="1" lang="en-US" altLang="zh-CN" sz="700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800" dirty="0">
                <a:ea typeface="黑体" pitchFamily="2" charset="-122"/>
              </a:rPr>
              <a:t>其中</a:t>
            </a:r>
            <a:r>
              <a:rPr kumimoji="1" lang="en-US" altLang="zh-CN" sz="2800" dirty="0">
                <a:ea typeface="黑体" pitchFamily="2" charset="-122"/>
              </a:rPr>
              <a:t>,</a:t>
            </a:r>
            <a:r>
              <a:rPr lang="en-US" altLang="zh-CN" sz="2800" dirty="0">
                <a:ea typeface="黑体" pitchFamily="2" charset="-12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注意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  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b="1" baseline="30000" dirty="0">
                <a:solidFill>
                  <a:srgbClr val="FF0000"/>
                </a:solidFill>
                <a:ea typeface="楷体_GB2312" pitchFamily="49" charset="-122"/>
              </a:rPr>
              <a:t>-1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(B)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是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的逆像集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,  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但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b="1" baseline="30000" dirty="0">
                <a:solidFill>
                  <a:srgbClr val="FF0000"/>
                </a:solidFill>
                <a:ea typeface="楷体_GB2312" pitchFamily="49" charset="-122"/>
              </a:rPr>
              <a:t>-1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不是逆映射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</a:rPr>
              <a:t>例如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: B={1,9}, </a:t>
            </a:r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        逆像集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A* = </a:t>
            </a:r>
            <a:r>
              <a:rPr kumimoji="1" lang="en-US" altLang="zh-CN" sz="2800" b="1" dirty="0">
                <a:solidFill>
                  <a:srgbClr val="0000FF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baseline="30000" dirty="0">
                <a:solidFill>
                  <a:srgbClr val="0000FF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2" charset="-122"/>
              </a:rPr>
              <a:t> (B) 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= {-3,-1,1,3} </a:t>
            </a:r>
            <a:r>
              <a:rPr kumimoji="1" lang="en-US" altLang="zh-CN" sz="2800" dirty="0">
                <a:solidFill>
                  <a:schemeClr val="bg2"/>
                </a:solidFill>
              </a:rPr>
              <a:t>≠ A = {1,-3}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        </a:t>
            </a:r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</a:rPr>
              <a:t>可见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,</a:t>
            </a:r>
            <a:r>
              <a:rPr lang="zh-CN" altLang="en-US" sz="2800" b="1" dirty="0">
                <a:solidFill>
                  <a:srgbClr val="CC0099"/>
                </a:solidFill>
                <a:ea typeface="黑体" pitchFamily="2" charset="-122"/>
                <a:hlinkClick r:id="rId2" action="ppaction://hlinksldjump"/>
              </a:rPr>
              <a:t>逆像集</a:t>
            </a:r>
            <a:r>
              <a:rPr lang="en-US" altLang="zh-CN" sz="2800" b="1" dirty="0">
                <a:solidFill>
                  <a:srgbClr val="CC0099"/>
                </a:solidFill>
                <a:ea typeface="黑体" pitchFamily="2" charset="-122"/>
                <a:hlinkClick r:id="rId2" action="ppaction://hlinksldjump"/>
              </a:rPr>
              <a:t>A* </a:t>
            </a:r>
            <a:r>
              <a:rPr kumimoji="1" lang="en-US" altLang="zh-CN" sz="2800" b="1" dirty="0">
                <a:solidFill>
                  <a:srgbClr val="CC0099"/>
                </a:solidFill>
                <a:hlinkClick r:id="rId2" action="ppaction://hlinksldjump"/>
              </a:rPr>
              <a:t>≠</a:t>
            </a:r>
            <a:r>
              <a:rPr lang="zh-CN" altLang="en-US" sz="2800" b="1" dirty="0">
                <a:solidFill>
                  <a:srgbClr val="CC0099"/>
                </a:solidFill>
                <a:ea typeface="黑体" pitchFamily="2" charset="-122"/>
                <a:hlinkClick r:id="rId2" action="ppaction://hlinksldjump"/>
              </a:rPr>
              <a:t>原像</a:t>
            </a:r>
            <a:r>
              <a:rPr lang="en-US" altLang="zh-CN" sz="2800" b="1" dirty="0">
                <a:solidFill>
                  <a:srgbClr val="CC0099"/>
                </a:solidFill>
                <a:ea typeface="黑体" pitchFamily="2" charset="-122"/>
                <a:hlinkClick r:id="rId2" action="ppaction://hlinksldjump"/>
              </a:rPr>
              <a:t>A</a:t>
            </a:r>
            <a:endParaRPr lang="en-US" altLang="zh-CN" sz="2800" b="1" dirty="0">
              <a:solidFill>
                <a:srgbClr val="CC0099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新映射</a:t>
            </a:r>
            <a:r>
              <a:rPr lang="en-US" altLang="zh-CN" sz="2800" b="1" dirty="0"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baseline="30000" dirty="0">
                <a:ea typeface="黑体" pitchFamily="2" charset="-122"/>
              </a:rPr>
              <a:t>-1</a:t>
            </a:r>
            <a:r>
              <a:rPr kumimoji="1" lang="en-US" altLang="zh-CN" sz="2800" dirty="0">
                <a:ea typeface="黑体" pitchFamily="2" charset="-122"/>
              </a:rPr>
              <a:t> </a:t>
            </a:r>
            <a:r>
              <a:rPr kumimoji="1" lang="zh-CN" altLang="en-US" sz="2800" dirty="0">
                <a:ea typeface="黑体" pitchFamily="2" charset="-122"/>
              </a:rPr>
              <a:t>用特征函数表示如下</a:t>
            </a:r>
            <a:r>
              <a:rPr kumimoji="1" lang="en-US" altLang="zh-CN" sz="2800" dirty="0">
                <a:ea typeface="黑体" pitchFamily="2" charset="-122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            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</a:t>
            </a:r>
            <a:r>
              <a:rPr kumimoji="1" lang="en-US" altLang="zh-CN" sz="2800" dirty="0" err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u</a:t>
            </a:r>
            <a:r>
              <a:rPr kumimoji="1" lang="en-US" altLang="zh-CN" sz="2800" dirty="0" err="1">
                <a:solidFill>
                  <a:srgbClr val="FF0000"/>
                </a:solidFill>
                <a:sym typeface="Symbol" pitchFamily="18" charset="2"/>
              </a:rPr>
              <a:t>∈</a:t>
            </a:r>
            <a:r>
              <a:rPr kumimoji="1" lang="en-US" altLang="zh-CN" sz="2800" dirty="0" err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U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, 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(B)(u)=B(v),     v=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 f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(u)</a:t>
            </a:r>
            <a:endParaRPr lang="en-US" altLang="zh-CN" sz="2800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FF0000"/>
              </a:solidFill>
            </a:endParaRPr>
          </a:p>
        </p:txBody>
      </p:sp>
      <p:graphicFrame>
        <p:nvGraphicFramePr>
          <p:cNvPr id="1229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76311401"/>
              </p:ext>
            </p:extLst>
          </p:nvPr>
        </p:nvGraphicFramePr>
        <p:xfrm>
          <a:off x="2423592" y="2293019"/>
          <a:ext cx="58324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74900" imgH="304800" progId="Equation.3">
                  <p:embed/>
                </p:oleObj>
              </mc:Choice>
              <mc:Fallback>
                <p:oleObj name="公式" r:id="rId3" imgW="2374900" imgH="304800" progId="Equation.3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2293019"/>
                        <a:ext cx="583247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2063751" y="6278563"/>
            <a:ext cx="7019925" cy="5842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Comic Sans MS" pitchFamily="66" charset="0"/>
                <a:ea typeface="楷体_GB2312" pitchFamily="49" charset="-122"/>
              </a:rPr>
              <a:t>问题：在普通映射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zh-CN" altLang="en-US" sz="2800" b="1" i="1" dirty="0">
                <a:solidFill>
                  <a:srgbClr val="FF0000"/>
                </a:solidFill>
                <a:latin typeface="Comic Sans MS" pitchFamily="66" charset="0"/>
                <a:ea typeface="楷体_GB2312" pitchFamily="49" charset="-122"/>
              </a:rPr>
              <a:t>：</a:t>
            </a:r>
            <a:r>
              <a:rPr lang="en-US" altLang="zh-CN" sz="2800" b="1" i="1" dirty="0">
                <a:solidFill>
                  <a:srgbClr val="FF0000"/>
                </a:solidFill>
                <a:latin typeface="Comic Sans MS" pitchFamily="66" charset="0"/>
                <a:ea typeface="楷体_GB2312" pitchFamily="49" charset="-122"/>
              </a:rPr>
              <a:t>U 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Comic Sans MS" pitchFamily="66" charset="0"/>
                <a:ea typeface="楷体_GB2312" pitchFamily="49" charset="-122"/>
              </a:rPr>
              <a:t>→V</a:t>
            </a:r>
            <a:r>
              <a:rPr kumimoji="1" lang="en-US" altLang="zh-CN" sz="2800" b="1" dirty="0">
                <a:solidFill>
                  <a:srgbClr val="008000"/>
                </a:solidFill>
                <a:latin typeface="Comic Sans MS" pitchFamily="66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Comic Sans MS" pitchFamily="66" charset="0"/>
                <a:ea typeface="楷体_GB2312" pitchFamily="49" charset="-122"/>
              </a:rPr>
              <a:t>下，</a:t>
            </a:r>
            <a:r>
              <a:rPr lang="en-US" altLang="zh-CN" sz="2800" b="1" dirty="0">
                <a:solidFill>
                  <a:srgbClr val="E123BD"/>
                </a:solidFill>
                <a:latin typeface="Monotype Corsiva" pitchFamily="66" charset="0"/>
                <a:ea typeface="黑体" pitchFamily="2" charset="-122"/>
              </a:rPr>
              <a:t> f</a:t>
            </a:r>
            <a:r>
              <a:rPr lang="en-US" altLang="zh-CN" sz="2800" b="1" i="1" dirty="0">
                <a:solidFill>
                  <a:srgbClr val="E123BD"/>
                </a:solidFill>
                <a:latin typeface="Comic Sans MS" pitchFamily="66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E123BD"/>
                </a:solidFill>
                <a:latin typeface="Comic Sans MS" pitchFamily="66" charset="0"/>
                <a:ea typeface="楷体_GB2312" pitchFamily="49" charset="-122"/>
              </a:rPr>
              <a:t>(A)</a:t>
            </a:r>
            <a:r>
              <a:rPr lang="en-US" altLang="zh-CN" sz="2800" b="1" dirty="0">
                <a:latin typeface="Comic Sans MS" pitchFamily="66" charset="0"/>
                <a:ea typeface="楷体_GB2312" pitchFamily="49" charset="-122"/>
              </a:rPr>
              <a:t>=</a:t>
            </a:r>
            <a:r>
              <a:rPr lang="zh-CN" altLang="en-US" sz="3200" b="1" dirty="0">
                <a:latin typeface="Comic Sans MS" pitchFamily="66" charset="0"/>
                <a:ea typeface="楷体_GB2312" pitchFamily="49" charset="-122"/>
              </a:rPr>
              <a:t>？</a:t>
            </a:r>
          </a:p>
        </p:txBody>
      </p:sp>
      <p:sp>
        <p:nvSpPr>
          <p:cNvPr id="4" name="动作按钮: 前进或下一项 3">
            <a:hlinkClick r:id="rId5" action="ppaction://hlinksldjump" highlightClick="1"/>
          </p:cNvPr>
          <p:cNvSpPr/>
          <p:nvPr/>
        </p:nvSpPr>
        <p:spPr>
          <a:xfrm>
            <a:off x="63903" y="6292271"/>
            <a:ext cx="504825" cy="46355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015880" y="4221088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60096" y="4185136"/>
            <a:ext cx="1799804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F3D9CF-AFC9-3799-4626-76E5DB540F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F209AC-A2D1-49EF-BE0C-2B9240FE767E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  <p:bldP spid="12294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逆像集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A* </a:t>
            </a:r>
            <a:r>
              <a:rPr kumimoji="1" lang="en-US" altLang="zh-CN" dirty="0">
                <a:solidFill>
                  <a:srgbClr val="008000"/>
                </a:solidFill>
              </a:rPr>
              <a:t>≠</a:t>
            </a:r>
            <a:r>
              <a:rPr lang="zh-CN" altLang="en-US" dirty="0">
                <a:solidFill>
                  <a:srgbClr val="E90101"/>
                </a:solidFill>
                <a:ea typeface="黑体" pitchFamily="2" charset="-122"/>
              </a:rPr>
              <a:t>原像集</a:t>
            </a:r>
            <a:r>
              <a:rPr lang="en-US" altLang="zh-CN" dirty="0">
                <a:solidFill>
                  <a:srgbClr val="E90101"/>
                </a:solidFill>
                <a:ea typeface="黑体" pitchFamily="2" charset="-122"/>
              </a:rPr>
              <a:t>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81200"/>
            <a:ext cx="8229600" cy="584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/>
              <a:t>                 U                                      V</a:t>
            </a:r>
          </a:p>
        </p:txBody>
      </p:sp>
      <p:sp>
        <p:nvSpPr>
          <p:cNvPr id="8196" name="Oval 4"/>
          <p:cNvSpPr>
            <a:spLocks noChangeArrowheads="1"/>
          </p:cNvSpPr>
          <p:nvPr/>
        </p:nvSpPr>
        <p:spPr bwMode="auto">
          <a:xfrm>
            <a:off x="2855913" y="2852739"/>
            <a:ext cx="2519362" cy="3527425"/>
          </a:xfrm>
          <a:prstGeom prst="ellipse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3792538" y="3933826"/>
            <a:ext cx="1511300" cy="2016125"/>
          </a:xfrm>
          <a:prstGeom prst="ellipse">
            <a:avLst/>
          </a:prstGeom>
          <a:solidFill>
            <a:srgbClr val="99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3216276" y="4076700"/>
            <a:ext cx="5762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2</a:t>
            </a:r>
          </a:p>
          <a:p>
            <a:pPr eaLnBrk="1" hangingPunct="1">
              <a:spcBef>
                <a:spcPct val="50000"/>
              </a:spcBef>
            </a:pPr>
            <a:endParaRPr lang="en-US" altLang="zh-CN" dirty="0"/>
          </a:p>
          <a:p>
            <a:pPr eaLnBrk="1" hangingPunct="1">
              <a:spcBef>
                <a:spcPct val="50000"/>
              </a:spcBef>
            </a:pPr>
            <a:r>
              <a:rPr lang="en-US" altLang="zh-CN" dirty="0"/>
              <a:t>-2</a:t>
            </a:r>
          </a:p>
        </p:txBody>
      </p:sp>
      <p:sp>
        <p:nvSpPr>
          <p:cNvPr id="8199" name="Oval 7"/>
          <p:cNvSpPr>
            <a:spLocks noChangeArrowheads="1"/>
          </p:cNvSpPr>
          <p:nvPr/>
        </p:nvSpPr>
        <p:spPr bwMode="auto">
          <a:xfrm>
            <a:off x="4224339" y="5084763"/>
            <a:ext cx="935037" cy="5762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1 -3</a:t>
            </a:r>
          </a:p>
        </p:txBody>
      </p:sp>
      <p:sp>
        <p:nvSpPr>
          <p:cNvPr id="8200" name="Text Box 9"/>
          <p:cNvSpPr txBox="1">
            <a:spLocks noChangeArrowheads="1"/>
          </p:cNvSpPr>
          <p:nvPr/>
        </p:nvSpPr>
        <p:spPr bwMode="auto">
          <a:xfrm>
            <a:off x="4079875" y="4365626"/>
            <a:ext cx="10795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-1    3</a:t>
            </a:r>
          </a:p>
        </p:txBody>
      </p:sp>
      <p:sp>
        <p:nvSpPr>
          <p:cNvPr id="8201" name="Oval 10"/>
          <p:cNvSpPr>
            <a:spLocks noChangeArrowheads="1"/>
          </p:cNvSpPr>
          <p:nvPr/>
        </p:nvSpPr>
        <p:spPr bwMode="auto">
          <a:xfrm>
            <a:off x="7751763" y="2924176"/>
            <a:ext cx="1873250" cy="3313113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1800"/>
          </a:p>
        </p:txBody>
      </p:sp>
      <p:sp>
        <p:nvSpPr>
          <p:cNvPr id="8202" name="Oval 11"/>
          <p:cNvSpPr>
            <a:spLocks noChangeArrowheads="1"/>
          </p:cNvSpPr>
          <p:nvPr/>
        </p:nvSpPr>
        <p:spPr bwMode="auto">
          <a:xfrm>
            <a:off x="8183564" y="4724400"/>
            <a:ext cx="649287" cy="1081088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3" name="Text Box 12"/>
          <p:cNvSpPr txBox="1">
            <a:spLocks noChangeArrowheads="1"/>
          </p:cNvSpPr>
          <p:nvPr/>
        </p:nvSpPr>
        <p:spPr bwMode="auto">
          <a:xfrm>
            <a:off x="8328026" y="4797153"/>
            <a:ext cx="37941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/>
              <a:t>9</a:t>
            </a:r>
          </a:p>
        </p:txBody>
      </p:sp>
      <p:sp>
        <p:nvSpPr>
          <p:cNvPr id="8204" name="Text Box 13"/>
          <p:cNvSpPr txBox="1">
            <a:spLocks noChangeArrowheads="1"/>
          </p:cNvSpPr>
          <p:nvPr/>
        </p:nvSpPr>
        <p:spPr bwMode="auto">
          <a:xfrm>
            <a:off x="8616950" y="3068960"/>
            <a:ext cx="71886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lain" startAt="2"/>
            </a:pPr>
            <a:r>
              <a:rPr lang="en-US" altLang="zh-CN" dirty="0"/>
              <a:t>    3   4</a:t>
            </a:r>
          </a:p>
          <a:p>
            <a:pPr eaLnBrk="1" hangingPunct="1">
              <a:spcBef>
                <a:spcPct val="50000"/>
              </a:spcBef>
              <a:buFontTx/>
              <a:buAutoNum type="arabicPlain" startAt="5"/>
            </a:pPr>
            <a:r>
              <a:rPr lang="en-US" altLang="zh-CN" dirty="0"/>
              <a:t>  6        7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/>
              <a:t>8</a:t>
            </a:r>
          </a:p>
        </p:txBody>
      </p:sp>
      <p:cxnSp>
        <p:nvCxnSpPr>
          <p:cNvPr id="14350" name="AutoShape 14"/>
          <p:cNvCxnSpPr>
            <a:cxnSpLocks noChangeShapeType="1"/>
            <a:endCxn id="8202" idx="2"/>
          </p:cNvCxnSpPr>
          <p:nvPr/>
        </p:nvCxnSpPr>
        <p:spPr bwMode="auto">
          <a:xfrm flipV="1">
            <a:off x="5087939" y="5265739"/>
            <a:ext cx="3095625" cy="287337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2" name="AutoShape 16"/>
          <p:cNvCxnSpPr>
            <a:cxnSpLocks noChangeShapeType="1"/>
            <a:stCxn id="8202" idx="1"/>
            <a:endCxn id="14341" idx="7"/>
          </p:cNvCxnSpPr>
          <p:nvPr/>
        </p:nvCxnSpPr>
        <p:spPr bwMode="auto">
          <a:xfrm rot="5400000" flipH="1">
            <a:off x="6353969" y="2958306"/>
            <a:ext cx="654050" cy="3195638"/>
          </a:xfrm>
          <a:prstGeom prst="curvedConnector3">
            <a:avLst>
              <a:gd name="adj1" fmla="val 180097"/>
            </a:avLst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07" name="AutoShape 17"/>
          <p:cNvSpPr>
            <a:spLocks noChangeArrowheads="1"/>
          </p:cNvSpPr>
          <p:nvPr/>
        </p:nvSpPr>
        <p:spPr bwMode="auto">
          <a:xfrm>
            <a:off x="4656138" y="6424614"/>
            <a:ext cx="1439862" cy="433387"/>
          </a:xfrm>
          <a:prstGeom prst="wedgeRoundRectCallout">
            <a:avLst>
              <a:gd name="adj1" fmla="val -40565"/>
              <a:gd name="adj2" fmla="val -234616"/>
              <a:gd name="adj3" fmla="val 16667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  <a:ea typeface="楷体_GB2312" pitchFamily="49" charset="-122"/>
              </a:rPr>
              <a:t>的原像</a:t>
            </a:r>
          </a:p>
        </p:txBody>
      </p:sp>
      <p:sp>
        <p:nvSpPr>
          <p:cNvPr id="14354" name="AutoShape 18"/>
          <p:cNvSpPr>
            <a:spLocks noChangeArrowheads="1"/>
          </p:cNvSpPr>
          <p:nvPr/>
        </p:nvSpPr>
        <p:spPr bwMode="auto">
          <a:xfrm>
            <a:off x="6456364" y="6308726"/>
            <a:ext cx="2160587" cy="549275"/>
          </a:xfrm>
          <a:prstGeom prst="wedgeRoundRectCallout">
            <a:avLst>
              <a:gd name="adj1" fmla="val 34278"/>
              <a:gd name="adj2" fmla="val -184681"/>
              <a:gd name="adj3" fmla="val 16667"/>
            </a:avLst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400" b="1" dirty="0">
                <a:ea typeface="楷体_GB2312" pitchFamily="49" charset="-122"/>
              </a:rPr>
              <a:t>A</a:t>
            </a:r>
            <a:r>
              <a:rPr lang="zh-CN" altLang="en-US" sz="2400" b="1" dirty="0">
                <a:ea typeface="楷体_GB2312" pitchFamily="49" charset="-122"/>
              </a:rPr>
              <a:t>的像</a:t>
            </a:r>
            <a:r>
              <a:rPr lang="en-US" altLang="zh-CN" sz="2400" b="1" dirty="0">
                <a:solidFill>
                  <a:schemeClr val="bg2"/>
                </a:solidFill>
                <a:latin typeface="Monotype Corsiva" pitchFamily="66" charset="0"/>
                <a:ea typeface="楷体_GB2312" pitchFamily="49" charset="-122"/>
              </a:rPr>
              <a:t>f  </a:t>
            </a:r>
            <a:r>
              <a:rPr lang="en-US" altLang="zh-CN" sz="2400" b="1" dirty="0">
                <a:solidFill>
                  <a:schemeClr val="bg2"/>
                </a:solidFill>
                <a:ea typeface="楷体_GB2312" pitchFamily="49" charset="-122"/>
              </a:rPr>
              <a:t>(A)=B</a:t>
            </a:r>
          </a:p>
        </p:txBody>
      </p:sp>
      <p:sp>
        <p:nvSpPr>
          <p:cNvPr id="14355" name="AutoShape 19"/>
          <p:cNvSpPr>
            <a:spLocks noChangeArrowheads="1"/>
          </p:cNvSpPr>
          <p:nvPr/>
        </p:nvSpPr>
        <p:spPr bwMode="auto">
          <a:xfrm>
            <a:off x="4656139" y="2565400"/>
            <a:ext cx="3195638" cy="503238"/>
          </a:xfrm>
          <a:prstGeom prst="wedgeRoundRectCallout">
            <a:avLst>
              <a:gd name="adj1" fmla="val -41333"/>
              <a:gd name="adj2" fmla="val 243690"/>
              <a:gd name="adj3" fmla="val 16667"/>
            </a:avLst>
          </a:prstGeom>
          <a:solidFill>
            <a:srgbClr val="FFC000"/>
          </a:solidFill>
          <a:ln>
            <a:noFill/>
          </a:ln>
          <a:effectLst/>
        </p:spPr>
        <p:txBody>
          <a:bodyPr/>
          <a:lstStyle/>
          <a:p>
            <a:pPr algn="ctr"/>
            <a:r>
              <a:rPr lang="en-US" altLang="zh-CN" sz="2800" b="1" dirty="0">
                <a:ea typeface="楷体_GB2312" pitchFamily="49" charset="-122"/>
              </a:rPr>
              <a:t>A</a:t>
            </a:r>
            <a:r>
              <a:rPr lang="zh-CN" altLang="en-US" sz="2800" b="1" dirty="0">
                <a:ea typeface="楷体_GB2312" pitchFamily="49" charset="-122"/>
              </a:rPr>
              <a:t>的逆像</a:t>
            </a:r>
            <a:r>
              <a:rPr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集</a:t>
            </a:r>
            <a:r>
              <a:rPr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A</a:t>
            </a:r>
            <a:r>
              <a:rPr lang="en-US" altLang="zh-CN" sz="2800" dirty="0">
                <a:solidFill>
                  <a:srgbClr val="00007D"/>
                </a:solidFill>
                <a:ea typeface="黑体" pitchFamily="2" charset="-122"/>
              </a:rPr>
              <a:t>*</a:t>
            </a:r>
            <a:r>
              <a:rPr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=</a:t>
            </a:r>
            <a:r>
              <a:rPr lang="en-US" altLang="zh-CN" sz="2800" b="1" dirty="0">
                <a:solidFill>
                  <a:schemeClr val="bg2"/>
                </a:solidFill>
                <a:latin typeface="Monotype Corsiva" pitchFamily="66" charset="0"/>
                <a:ea typeface="楷体_GB2312" pitchFamily="49" charset="-122"/>
              </a:rPr>
              <a:t>f </a:t>
            </a:r>
            <a:r>
              <a:rPr lang="en-US" altLang="zh-CN" sz="2800" b="1" baseline="30000" dirty="0">
                <a:solidFill>
                  <a:schemeClr val="bg2"/>
                </a:solidFill>
                <a:ea typeface="楷体_GB2312" pitchFamily="49" charset="-122"/>
              </a:rPr>
              <a:t>-1</a:t>
            </a:r>
            <a:r>
              <a:rPr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(B)</a:t>
            </a:r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6240464" y="4941888"/>
            <a:ext cx="6492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Monotype Corsiva" pitchFamily="66" charset="0"/>
              </a:rPr>
              <a:t>f</a:t>
            </a:r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6456363" y="3789364"/>
            <a:ext cx="7921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bg2"/>
                </a:solidFill>
                <a:latin typeface="Monotype Corsiva" pitchFamily="66" charset="0"/>
                <a:ea typeface="楷体_GB2312" pitchFamily="49" charset="-122"/>
              </a:rPr>
              <a:t>f </a:t>
            </a:r>
            <a:r>
              <a:rPr lang="en-US" altLang="zh-CN" sz="2800" baseline="30000">
                <a:solidFill>
                  <a:schemeClr val="bg2"/>
                </a:solidFill>
              </a:rPr>
              <a:t>-1</a:t>
            </a:r>
          </a:p>
        </p:txBody>
      </p:sp>
      <p:sp>
        <p:nvSpPr>
          <p:cNvPr id="2" name="动作按钮: 上一张 1">
            <a:hlinkClick r:id="" action="ppaction://hlinkshowjump?jump=previousslide" highlightClick="1"/>
          </p:cNvPr>
          <p:cNvSpPr/>
          <p:nvPr/>
        </p:nvSpPr>
        <p:spPr>
          <a:xfrm>
            <a:off x="11294268" y="6232815"/>
            <a:ext cx="576263" cy="490538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03D7211-6664-C6D1-2D94-F24E738FDD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41" grpId="0" animBg="1"/>
      <p:bldP spid="14354" grpId="0" animBg="1"/>
      <p:bldP spid="14355" grpId="0" animBg="1"/>
      <p:bldP spid="143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zh-CN" sz="4800">
                <a:solidFill>
                  <a:srgbClr val="008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zh-CN" altLang="en-US" sz="4800">
                <a:solidFill>
                  <a:srgbClr val="008000"/>
                </a:solidFill>
                <a:ea typeface="黑体" pitchFamily="2" charset="-122"/>
              </a:rPr>
              <a:t>诱导的新映射举例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484314"/>
            <a:ext cx="9865096" cy="53736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设集合</a:t>
            </a:r>
            <a:r>
              <a:rPr lang="en-US" altLang="zh-CN" sz="2800" dirty="0">
                <a:ea typeface="黑体" pitchFamily="2" charset="-122"/>
              </a:rPr>
              <a:t>A={0, 1}</a:t>
            </a:r>
            <a:r>
              <a:rPr lang="zh-CN" altLang="en-US" sz="2800" dirty="0">
                <a:ea typeface="黑体" pitchFamily="2" charset="-122"/>
              </a:rPr>
              <a:t>为论域</a:t>
            </a:r>
            <a:r>
              <a:rPr lang="en-US" altLang="zh-CN" sz="2800" dirty="0">
                <a:ea typeface="黑体" pitchFamily="2" charset="-122"/>
              </a:rPr>
              <a:t>X={-2, -1, 0, 1, 2}</a:t>
            </a:r>
            <a:r>
              <a:rPr lang="zh-CN" altLang="en-US" sz="2800" dirty="0">
                <a:ea typeface="黑体" pitchFamily="2" charset="-122"/>
              </a:rPr>
              <a:t>上的一个子集，</a:t>
            </a:r>
          </a:p>
          <a:p>
            <a:pPr eaLnBrk="1" hangingPunct="1"/>
            <a:r>
              <a:rPr lang="en-US" altLang="zh-CN" sz="2800" dirty="0">
                <a:ea typeface="黑体" pitchFamily="2" charset="-122"/>
              </a:rPr>
              <a:t>y=|4x|+2</a:t>
            </a:r>
            <a:r>
              <a:rPr lang="zh-CN" altLang="en-US" sz="2800" dirty="0">
                <a:ea typeface="黑体" pitchFamily="2" charset="-122"/>
              </a:rPr>
              <a:t>为一简单映射，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则论域</a:t>
            </a:r>
            <a:r>
              <a:rPr lang="en-US" altLang="zh-CN" sz="2800" dirty="0">
                <a:ea typeface="黑体" pitchFamily="2" charset="-122"/>
              </a:rPr>
              <a:t>Y</a:t>
            </a:r>
            <a:r>
              <a:rPr lang="zh-CN" altLang="en-US" sz="2800" dirty="0">
                <a:ea typeface="黑体" pitchFamily="2" charset="-122"/>
              </a:rPr>
              <a:t>上对应于论域</a:t>
            </a:r>
            <a:r>
              <a:rPr lang="en-US" altLang="zh-CN" sz="2800" dirty="0">
                <a:ea typeface="黑体" pitchFamily="2" charset="-122"/>
              </a:rPr>
              <a:t>X</a:t>
            </a:r>
            <a:r>
              <a:rPr lang="zh-CN" altLang="en-US" sz="2800" dirty="0">
                <a:ea typeface="黑体" pitchFamily="2" charset="-122"/>
              </a:rPr>
              <a:t>的像为</a:t>
            </a:r>
            <a:r>
              <a:rPr lang="en-US" altLang="zh-CN" sz="2800" dirty="0">
                <a:ea typeface="黑体" pitchFamily="2" charset="-122"/>
              </a:rPr>
              <a:t>Y={2</a:t>
            </a:r>
            <a:r>
              <a:rPr lang="zh-CN" altLang="en-US" sz="2800" dirty="0">
                <a:ea typeface="黑体" pitchFamily="2" charset="-122"/>
              </a:rPr>
              <a:t>，</a:t>
            </a:r>
            <a:r>
              <a:rPr lang="en-US" altLang="zh-CN" sz="2800" dirty="0">
                <a:ea typeface="黑体" pitchFamily="2" charset="-122"/>
              </a:rPr>
              <a:t>6</a:t>
            </a:r>
            <a:r>
              <a:rPr lang="zh-CN" altLang="en-US" sz="2800" dirty="0">
                <a:ea typeface="黑体" pitchFamily="2" charset="-122"/>
              </a:rPr>
              <a:t>，</a:t>
            </a:r>
            <a:r>
              <a:rPr lang="en-US" altLang="zh-CN" sz="2800" dirty="0">
                <a:ea typeface="黑体" pitchFamily="2" charset="-122"/>
              </a:rPr>
              <a:t>10} 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对</a:t>
            </a:r>
            <a:r>
              <a:rPr lang="en-US" altLang="zh-CN" sz="2800" dirty="0">
                <a:ea typeface="黑体" pitchFamily="2" charset="-122"/>
              </a:rPr>
              <a:t>A</a:t>
            </a:r>
            <a:r>
              <a:rPr lang="zh-CN" altLang="en-US" sz="2800" dirty="0">
                <a:ea typeface="黑体" pitchFamily="2" charset="-122"/>
              </a:rPr>
              <a:t>的像</a:t>
            </a:r>
            <a:r>
              <a:rPr lang="en-US" altLang="zh-CN" sz="2800" dirty="0">
                <a:ea typeface="黑体" pitchFamily="2" charset="-122"/>
              </a:rPr>
              <a:t>B</a:t>
            </a:r>
            <a:r>
              <a:rPr lang="zh-CN" altLang="en-US" sz="2800" dirty="0">
                <a:ea typeface="黑体" pitchFamily="2" charset="-122"/>
              </a:rPr>
              <a:t>，</a:t>
            </a:r>
            <a:r>
              <a:rPr lang="en-US" altLang="zh-CN" sz="2800" dirty="0">
                <a:ea typeface="黑体" pitchFamily="2" charset="-122"/>
              </a:rPr>
              <a:t>Y</a:t>
            </a:r>
            <a:r>
              <a:rPr lang="zh-CN" altLang="en-US" sz="2800" dirty="0">
                <a:ea typeface="黑体" pitchFamily="2" charset="-122"/>
              </a:rPr>
              <a:t>中每个元素对集合</a:t>
            </a:r>
            <a:r>
              <a:rPr lang="en-US" altLang="zh-CN" sz="2800" dirty="0">
                <a:ea typeface="黑体" pitchFamily="2" charset="-122"/>
              </a:rPr>
              <a:t>B</a:t>
            </a:r>
            <a:r>
              <a:rPr lang="zh-CN" altLang="en-US" sz="2800" dirty="0">
                <a:ea typeface="黑体" pitchFamily="2" charset="-122"/>
              </a:rPr>
              <a:t>的隶属度：</a:t>
            </a:r>
          </a:p>
          <a:p>
            <a:pPr eaLnBrk="1" hangingPunct="1"/>
            <a:endParaRPr lang="zh-CN" altLang="en-US" sz="2800" dirty="0">
              <a:ea typeface="黑体" pitchFamily="2" charset="-122"/>
            </a:endParaRPr>
          </a:p>
          <a:p>
            <a:pPr eaLnBrk="1" hangingPunct="1"/>
            <a:endParaRPr lang="zh-CN" altLang="en-US" sz="2800" dirty="0">
              <a:ea typeface="黑体" pitchFamily="2" charset="-122"/>
            </a:endParaRPr>
          </a:p>
          <a:p>
            <a:pPr eaLnBrk="1" hangingPunct="1"/>
            <a:endParaRPr lang="zh-CN" altLang="en-US" sz="2800" dirty="0">
              <a:ea typeface="黑体" pitchFamily="2" charset="-122"/>
            </a:endParaRPr>
          </a:p>
          <a:p>
            <a:pPr eaLnBrk="1" hangingPunct="1"/>
            <a:endParaRPr lang="zh-CN" altLang="en-US" sz="4000" dirty="0">
              <a:ea typeface="黑体" pitchFamily="2" charset="-122"/>
            </a:endParaRP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所以，</a:t>
            </a:r>
            <a:r>
              <a:rPr lang="en-US" altLang="zh-CN" sz="2800" dirty="0">
                <a:ea typeface="黑体" pitchFamily="2" charset="-122"/>
              </a:rPr>
              <a:t>B={2</a:t>
            </a:r>
            <a:r>
              <a:rPr lang="zh-CN" altLang="en-US" sz="2800" dirty="0">
                <a:ea typeface="黑体" pitchFamily="2" charset="-122"/>
              </a:rPr>
              <a:t>，</a:t>
            </a:r>
            <a:r>
              <a:rPr lang="en-US" altLang="zh-CN" sz="2800" dirty="0">
                <a:ea typeface="黑体" pitchFamily="2" charset="-122"/>
              </a:rPr>
              <a:t>6}</a:t>
            </a:r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逆像集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A* = </a:t>
            </a:r>
            <a:r>
              <a:rPr kumimoji="1"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(B) = {-1,0,1} </a:t>
            </a:r>
            <a:r>
              <a:rPr kumimoji="1" lang="en-US" altLang="zh-CN" sz="2800" dirty="0">
                <a:solidFill>
                  <a:srgbClr val="FF0000"/>
                </a:solidFill>
              </a:rPr>
              <a:t>≠ A = {0,1}</a:t>
            </a:r>
          </a:p>
        </p:txBody>
      </p:sp>
      <p:graphicFrame>
        <p:nvGraphicFramePr>
          <p:cNvPr id="76806" name="Object 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487309124"/>
              </p:ext>
            </p:extLst>
          </p:nvPr>
        </p:nvGraphicFramePr>
        <p:xfrm>
          <a:off x="2423592" y="3861048"/>
          <a:ext cx="6548437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48000" imgH="876300" progId="Equation.3">
                  <p:embed/>
                </p:oleObj>
              </mc:Choice>
              <mc:Fallback>
                <p:oleObj name="公式" r:id="rId2" imgW="3048000" imgH="876300" progId="Equation.3">
                  <p:embed/>
                  <p:pic>
                    <p:nvPicPr>
                      <p:cNvPr id="768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3861048"/>
                        <a:ext cx="6548437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575720" y="3860850"/>
            <a:ext cx="1727200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02920" y="3789040"/>
            <a:ext cx="1728788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75720" y="4508922"/>
            <a:ext cx="1727200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302921" y="4436740"/>
            <a:ext cx="3241675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719736" y="5156994"/>
            <a:ext cx="1727200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455320" y="5084440"/>
            <a:ext cx="3663950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9FA9BB8-7253-798F-EC82-0345DAF39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6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/>
      <p:bldP spid="2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扩张原理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Ⅰ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87488" y="1412876"/>
            <a:ext cx="8640762" cy="51847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设 </a:t>
            </a:r>
            <a:r>
              <a:rPr lang="en-US" altLang="zh-CN" sz="2800" b="1" dirty="0"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ea typeface="黑体" pitchFamily="2" charset="-122"/>
              </a:rPr>
              <a:t>: U→V, </a:t>
            </a:r>
            <a:r>
              <a:rPr lang="zh-CN" altLang="en-US" sz="2800" dirty="0">
                <a:ea typeface="黑体" pitchFamily="2" charset="-122"/>
              </a:rPr>
              <a:t>由</a:t>
            </a:r>
            <a:r>
              <a:rPr lang="en-US" altLang="zh-CN" sz="2800" b="1" dirty="0"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dirty="0">
                <a:ea typeface="黑体" pitchFamily="2" charset="-122"/>
              </a:rPr>
              <a:t> </a:t>
            </a:r>
            <a:r>
              <a:rPr lang="zh-CN" altLang="en-US" sz="2800" dirty="0">
                <a:ea typeface="黑体" pitchFamily="2" charset="-122"/>
              </a:rPr>
              <a:t>可以诱导出两个映射</a:t>
            </a:r>
            <a:r>
              <a:rPr lang="en-US" altLang="zh-CN" sz="2800" dirty="0">
                <a:ea typeface="黑体" pitchFamily="2" charset="-122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     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</a:rPr>
              <a:t>f </a:t>
            </a:r>
            <a:r>
              <a:rPr lang="en-US" altLang="zh-CN" sz="2800" dirty="0">
                <a:solidFill>
                  <a:srgbClr val="FF0000"/>
                </a:solidFill>
              </a:rPr>
              <a:t>:  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(U)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/>
              </a:rPr>
              <a:t>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V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)      A|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/>
              </a:rPr>
              <a:t>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</a:rPr>
              <a:t> f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(A)</a:t>
            </a:r>
            <a:r>
              <a:rPr lang="en-US" altLang="zh-CN" sz="28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        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</a:rPr>
              <a:t>f 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2" charset="-122"/>
              </a:rPr>
              <a:t>-1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:  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V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)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/>
              </a:rPr>
              <a:t>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(U)      B|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/>
              </a:rPr>
              <a:t>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</a:rPr>
              <a:t> f 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(B)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800" dirty="0">
                <a:ea typeface="黑体" pitchFamily="2" charset="-122"/>
              </a:rPr>
              <a:t>它们的隶属函数分别为</a:t>
            </a:r>
          </a:p>
          <a:p>
            <a:pPr eaLnBrk="1" hangingPunct="1">
              <a:buFont typeface="Wingdings" pitchFamily="2" charset="2"/>
              <a:buNone/>
            </a:pPr>
            <a:endParaRPr kumimoji="1" lang="zh-CN" altLang="en-US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sz="2800" dirty="0">
              <a:ea typeface="黑体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endParaRPr kumimoji="1" lang="en-US" altLang="zh-CN" sz="2800" b="1" dirty="0">
              <a:solidFill>
                <a:srgbClr val="FF0000"/>
              </a:solidFill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称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</a:rPr>
              <a:t>f </a:t>
            </a:r>
            <a:r>
              <a:rPr kumimoji="1"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(A)</a:t>
            </a:r>
            <a:r>
              <a:rPr kumimoji="1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为</a:t>
            </a:r>
            <a:r>
              <a:rPr kumimoji="1"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kumimoji="1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在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</a:rPr>
              <a:t>f</a:t>
            </a:r>
            <a:r>
              <a:rPr kumimoji="1"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之下的像， </a:t>
            </a:r>
            <a:r>
              <a:rPr lang="en-US" altLang="zh-CN" sz="2800" b="1" dirty="0">
                <a:solidFill>
                  <a:srgbClr val="FF0000"/>
                </a:solidFill>
                <a:latin typeface="Monotype Corsiva" pitchFamily="66" charset="0"/>
              </a:rPr>
              <a:t>f </a:t>
            </a:r>
            <a:r>
              <a:rPr lang="en-US" altLang="zh-CN" sz="2800" b="1" baseline="30000" dirty="0">
                <a:solidFill>
                  <a:srgbClr val="FF0000"/>
                </a:solidFill>
                <a:ea typeface="楷体_GB2312" pitchFamily="49" charset="-122"/>
              </a:rPr>
              <a:t>-1</a:t>
            </a:r>
            <a:r>
              <a:rPr kumimoji="1"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(B)</a:t>
            </a:r>
            <a:r>
              <a:rPr kumimoji="1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为Ｂ的逆像。</a:t>
            </a:r>
            <a:endParaRPr lang="zh-CN" altLang="en-US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1536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3242071"/>
              </p:ext>
            </p:extLst>
          </p:nvPr>
        </p:nvGraphicFramePr>
        <p:xfrm>
          <a:off x="2639616" y="3573016"/>
          <a:ext cx="5040313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71700" imgH="533400" progId="Equation.3">
                  <p:embed/>
                </p:oleObj>
              </mc:Choice>
              <mc:Fallback>
                <p:oleObj name="公式" r:id="rId2" imgW="2171700" imgH="533400" progId="Equation.3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3573016"/>
                        <a:ext cx="5040313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443191-CF46-BC61-9591-8E88417AF3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F209AC-A2D1-49EF-BE0C-2B9240FE767E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8660667D-E102-0FF3-1F64-CF6045B688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073308"/>
              </p:ext>
            </p:extLst>
          </p:nvPr>
        </p:nvGraphicFramePr>
        <p:xfrm>
          <a:off x="2544564" y="5172646"/>
          <a:ext cx="41275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680" imgH="228600" progId="Equation.DSMT4">
                  <p:embed/>
                </p:oleObj>
              </mc:Choice>
              <mc:Fallback>
                <p:oleObj name="Equation" r:id="rId4" imgW="1777680" imgH="228600" progId="Equation.DSMT4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564" y="5172646"/>
                        <a:ext cx="41275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 flipV="1">
            <a:off x="2208213" y="2925267"/>
            <a:ext cx="0" cy="2663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>
            <a:off x="2208214" y="5589091"/>
            <a:ext cx="36718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 flipV="1">
            <a:off x="7105773" y="2925267"/>
            <a:ext cx="0" cy="2663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7105773" y="5589091"/>
            <a:ext cx="3671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5770289" y="5550198"/>
            <a:ext cx="43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u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10488736" y="5660529"/>
            <a:ext cx="43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u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1992313" y="2564904"/>
            <a:ext cx="43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v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6888286" y="2564904"/>
            <a:ext cx="43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v</a:t>
            </a:r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2783632" y="5012803"/>
            <a:ext cx="0" cy="576288"/>
          </a:xfrm>
          <a:prstGeom prst="line">
            <a:avLst/>
          </a:prstGeom>
          <a:noFill/>
          <a:ln w="28575">
            <a:solidFill>
              <a:srgbClr val="008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3143672" y="3860303"/>
            <a:ext cx="0" cy="1728788"/>
          </a:xfrm>
          <a:prstGeom prst="line">
            <a:avLst/>
          </a:prstGeom>
          <a:noFill/>
          <a:ln w="28575">
            <a:solidFill>
              <a:srgbClr val="008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 flipH="1">
            <a:off x="2208214" y="5012803"/>
            <a:ext cx="575419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8" name="Line 14"/>
          <p:cNvSpPr>
            <a:spLocks noChangeShapeType="1"/>
          </p:cNvSpPr>
          <p:nvPr/>
        </p:nvSpPr>
        <p:spPr bwMode="auto">
          <a:xfrm flipH="1">
            <a:off x="2208214" y="3860303"/>
            <a:ext cx="935459" cy="372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3" name="Line 15"/>
          <p:cNvSpPr>
            <a:spLocks noChangeShapeType="1"/>
          </p:cNvSpPr>
          <p:nvPr/>
        </p:nvSpPr>
        <p:spPr bwMode="auto">
          <a:xfrm>
            <a:off x="2783632" y="5589091"/>
            <a:ext cx="36004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4" name="Line 16"/>
          <p:cNvSpPr>
            <a:spLocks noChangeShapeType="1"/>
          </p:cNvSpPr>
          <p:nvPr/>
        </p:nvSpPr>
        <p:spPr bwMode="auto">
          <a:xfrm>
            <a:off x="2208213" y="3860303"/>
            <a:ext cx="0" cy="1152500"/>
          </a:xfrm>
          <a:prstGeom prst="line">
            <a:avLst/>
          </a:prstGeom>
          <a:noFill/>
          <a:ln w="5715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1919288" y="5660529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/>
              <a:t>0</a:t>
            </a:r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6816848" y="5660529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/>
              <a:t>0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4440238" y="3068141"/>
            <a:ext cx="647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Monotype Corsiva" pitchFamily="66" charset="0"/>
              </a:rPr>
              <a:t>f </a:t>
            </a:r>
            <a:r>
              <a:rPr lang="en-US" altLang="zh-CN" dirty="0"/>
              <a:t>(u)</a:t>
            </a: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2783632" y="5733554"/>
            <a:ext cx="43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1425452" y="4286051"/>
            <a:ext cx="782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rgbClr val="3333FF"/>
                </a:solidFill>
              </a:rPr>
              <a:t>(A)</a:t>
            </a:r>
          </a:p>
        </p:txBody>
      </p:sp>
      <p:sp>
        <p:nvSpPr>
          <p:cNvPr id="11286" name="Freeform 22"/>
          <p:cNvSpPr>
            <a:spLocks/>
          </p:cNvSpPr>
          <p:nvPr/>
        </p:nvSpPr>
        <p:spPr bwMode="auto">
          <a:xfrm>
            <a:off x="7393112" y="3212604"/>
            <a:ext cx="2952253" cy="2016125"/>
          </a:xfrm>
          <a:custGeom>
            <a:avLst/>
            <a:gdLst>
              <a:gd name="T0" fmla="*/ 0 w 1542"/>
              <a:gd name="T1" fmla="*/ 2016125 h 1270"/>
              <a:gd name="T2" fmla="*/ 144463 w 1542"/>
              <a:gd name="T3" fmla="*/ 1871663 h 1270"/>
              <a:gd name="T4" fmla="*/ 287338 w 1542"/>
              <a:gd name="T5" fmla="*/ 1368425 h 1270"/>
              <a:gd name="T6" fmla="*/ 431800 w 1542"/>
              <a:gd name="T7" fmla="*/ 792163 h 1270"/>
              <a:gd name="T8" fmla="*/ 576263 w 1542"/>
              <a:gd name="T9" fmla="*/ 431800 h 1270"/>
              <a:gd name="T10" fmla="*/ 720725 w 1542"/>
              <a:gd name="T11" fmla="*/ 647700 h 1270"/>
              <a:gd name="T12" fmla="*/ 863600 w 1542"/>
              <a:gd name="T13" fmla="*/ 1079500 h 1270"/>
              <a:gd name="T14" fmla="*/ 1008063 w 1542"/>
              <a:gd name="T15" fmla="*/ 1439863 h 1270"/>
              <a:gd name="T16" fmla="*/ 1223963 w 1542"/>
              <a:gd name="T17" fmla="*/ 1584325 h 1270"/>
              <a:gd name="T18" fmla="*/ 1439863 w 1542"/>
              <a:gd name="T19" fmla="*/ 1295400 h 1270"/>
              <a:gd name="T20" fmla="*/ 1584325 w 1542"/>
              <a:gd name="T21" fmla="*/ 936625 h 1270"/>
              <a:gd name="T22" fmla="*/ 1728788 w 1542"/>
              <a:gd name="T23" fmla="*/ 576263 h 1270"/>
              <a:gd name="T24" fmla="*/ 2016125 w 1542"/>
              <a:gd name="T25" fmla="*/ 215900 h 1270"/>
              <a:gd name="T26" fmla="*/ 2447925 w 1542"/>
              <a:gd name="T27" fmla="*/ 0 h 127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42" h="1270">
                <a:moveTo>
                  <a:pt x="0" y="1270"/>
                </a:moveTo>
                <a:cubicBezTo>
                  <a:pt x="30" y="1258"/>
                  <a:pt x="61" y="1247"/>
                  <a:pt x="91" y="1179"/>
                </a:cubicBezTo>
                <a:cubicBezTo>
                  <a:pt x="121" y="1111"/>
                  <a:pt x="151" y="975"/>
                  <a:pt x="181" y="862"/>
                </a:cubicBezTo>
                <a:cubicBezTo>
                  <a:pt x="211" y="749"/>
                  <a:pt x="242" y="597"/>
                  <a:pt x="272" y="499"/>
                </a:cubicBezTo>
                <a:cubicBezTo>
                  <a:pt x="302" y="401"/>
                  <a:pt x="333" y="287"/>
                  <a:pt x="363" y="272"/>
                </a:cubicBezTo>
                <a:cubicBezTo>
                  <a:pt x="393" y="257"/>
                  <a:pt x="424" y="340"/>
                  <a:pt x="454" y="408"/>
                </a:cubicBezTo>
                <a:cubicBezTo>
                  <a:pt x="484" y="476"/>
                  <a:pt x="514" y="597"/>
                  <a:pt x="544" y="680"/>
                </a:cubicBezTo>
                <a:cubicBezTo>
                  <a:pt x="574" y="763"/>
                  <a:pt x="597" y="854"/>
                  <a:pt x="635" y="907"/>
                </a:cubicBezTo>
                <a:cubicBezTo>
                  <a:pt x="673" y="960"/>
                  <a:pt x="726" y="1013"/>
                  <a:pt x="771" y="998"/>
                </a:cubicBezTo>
                <a:cubicBezTo>
                  <a:pt x="816" y="983"/>
                  <a:pt x="869" y="884"/>
                  <a:pt x="907" y="816"/>
                </a:cubicBezTo>
                <a:cubicBezTo>
                  <a:pt x="945" y="748"/>
                  <a:pt x="968" y="666"/>
                  <a:pt x="998" y="590"/>
                </a:cubicBezTo>
                <a:cubicBezTo>
                  <a:pt x="1028" y="514"/>
                  <a:pt x="1044" y="439"/>
                  <a:pt x="1089" y="363"/>
                </a:cubicBezTo>
                <a:cubicBezTo>
                  <a:pt x="1134" y="287"/>
                  <a:pt x="1195" y="196"/>
                  <a:pt x="1270" y="136"/>
                </a:cubicBezTo>
                <a:cubicBezTo>
                  <a:pt x="1345" y="76"/>
                  <a:pt x="1497" y="23"/>
                  <a:pt x="1542" y="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7" name="Line 23"/>
          <p:cNvSpPr>
            <a:spLocks noChangeShapeType="1"/>
          </p:cNvSpPr>
          <p:nvPr/>
        </p:nvSpPr>
        <p:spPr bwMode="auto">
          <a:xfrm flipH="1">
            <a:off x="7105771" y="3860675"/>
            <a:ext cx="2303489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8" name="Line 24"/>
          <p:cNvSpPr>
            <a:spLocks noChangeShapeType="1"/>
          </p:cNvSpPr>
          <p:nvPr/>
        </p:nvSpPr>
        <p:spPr bwMode="auto">
          <a:xfrm flipH="1" flipV="1">
            <a:off x="7105774" y="4941390"/>
            <a:ext cx="503287" cy="0"/>
          </a:xfrm>
          <a:prstGeom prst="line">
            <a:avLst/>
          </a:prstGeom>
          <a:noFill/>
          <a:ln w="28575">
            <a:solidFill>
              <a:srgbClr val="CC00CC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9" name="Line 25"/>
          <p:cNvSpPr>
            <a:spLocks noChangeShapeType="1"/>
          </p:cNvSpPr>
          <p:nvPr/>
        </p:nvSpPr>
        <p:spPr bwMode="auto">
          <a:xfrm>
            <a:off x="9409260" y="3860303"/>
            <a:ext cx="0" cy="1728788"/>
          </a:xfrm>
          <a:prstGeom prst="line">
            <a:avLst/>
          </a:prstGeom>
          <a:noFill/>
          <a:ln w="28575">
            <a:solidFill>
              <a:srgbClr val="008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2" name="Line 28"/>
          <p:cNvSpPr>
            <a:spLocks noChangeShapeType="1"/>
          </p:cNvSpPr>
          <p:nvPr/>
        </p:nvSpPr>
        <p:spPr bwMode="auto">
          <a:xfrm>
            <a:off x="7609060" y="4941391"/>
            <a:ext cx="0" cy="647700"/>
          </a:xfrm>
          <a:prstGeom prst="line">
            <a:avLst/>
          </a:prstGeom>
          <a:noFill/>
          <a:ln w="28575">
            <a:solidFill>
              <a:srgbClr val="008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39" name="Line 31"/>
          <p:cNvSpPr>
            <a:spLocks noChangeShapeType="1"/>
          </p:cNvSpPr>
          <p:nvPr/>
        </p:nvSpPr>
        <p:spPr bwMode="auto">
          <a:xfrm flipH="1">
            <a:off x="7104187" y="3860303"/>
            <a:ext cx="1587" cy="1081088"/>
          </a:xfrm>
          <a:prstGeom prst="line">
            <a:avLst/>
          </a:prstGeom>
          <a:noFill/>
          <a:ln w="5715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0" name="Line 32"/>
          <p:cNvSpPr>
            <a:spLocks noChangeShapeType="1"/>
          </p:cNvSpPr>
          <p:nvPr/>
        </p:nvSpPr>
        <p:spPr bwMode="auto">
          <a:xfrm>
            <a:off x="7609060" y="5589091"/>
            <a:ext cx="360040" cy="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1" name="Line 33"/>
          <p:cNvSpPr>
            <a:spLocks noChangeShapeType="1"/>
          </p:cNvSpPr>
          <p:nvPr/>
        </p:nvSpPr>
        <p:spPr bwMode="auto">
          <a:xfrm>
            <a:off x="8257828" y="5589091"/>
            <a:ext cx="1151433" cy="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9" name="Text Box 35"/>
          <p:cNvSpPr txBox="1">
            <a:spLocks noChangeArrowheads="1"/>
          </p:cNvSpPr>
          <p:nvPr/>
        </p:nvSpPr>
        <p:spPr bwMode="auto">
          <a:xfrm>
            <a:off x="7824192" y="5858108"/>
            <a:ext cx="10733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CC00CC"/>
                </a:solidFill>
                <a:latin typeface="Monotype Corsiva" pitchFamily="66" charset="0"/>
              </a:rPr>
              <a:t>f </a:t>
            </a:r>
            <a:r>
              <a:rPr lang="en-US" altLang="zh-CN" sz="2800" b="1" baseline="30000" dirty="0">
                <a:solidFill>
                  <a:srgbClr val="CC00CC"/>
                </a:solidFill>
              </a:rPr>
              <a:t>-1</a:t>
            </a:r>
            <a:r>
              <a:rPr lang="en-US" altLang="zh-CN" sz="2800" b="1" dirty="0">
                <a:solidFill>
                  <a:srgbClr val="CC00CC"/>
                </a:solidFill>
              </a:rPr>
              <a:t>(B)</a:t>
            </a:r>
          </a:p>
        </p:txBody>
      </p:sp>
      <p:sp>
        <p:nvSpPr>
          <p:cNvPr id="11300" name="Text Box 36"/>
          <p:cNvSpPr txBox="1">
            <a:spLocks noChangeArrowheads="1"/>
          </p:cNvSpPr>
          <p:nvPr/>
        </p:nvSpPr>
        <p:spPr bwMode="auto">
          <a:xfrm>
            <a:off x="6672386" y="4286051"/>
            <a:ext cx="3603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3333FF"/>
                </a:solidFill>
              </a:rPr>
              <a:t>B</a:t>
            </a:r>
          </a:p>
        </p:txBody>
      </p:sp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8905998" y="3212604"/>
            <a:ext cx="647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Monotype Corsiva" pitchFamily="66" charset="0"/>
              </a:rPr>
              <a:t>f </a:t>
            </a:r>
            <a:r>
              <a:rPr lang="en-US" altLang="zh-CN"/>
              <a:t>(u)</a:t>
            </a:r>
          </a:p>
        </p:txBody>
      </p:sp>
      <p:sp>
        <p:nvSpPr>
          <p:cNvPr id="11302" name="Rectangle 38"/>
          <p:cNvSpPr>
            <a:spLocks noGrp="1" noChangeArrowheads="1"/>
          </p:cNvSpPr>
          <p:nvPr>
            <p:ph type="title"/>
          </p:nvPr>
        </p:nvSpPr>
        <p:spPr>
          <a:xfrm>
            <a:off x="609600" y="332656"/>
            <a:ext cx="109728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扩张原理示意图</a:t>
            </a:r>
          </a:p>
        </p:txBody>
      </p:sp>
      <p:sp>
        <p:nvSpPr>
          <p:cNvPr id="11303" name="Rectangle 39"/>
          <p:cNvSpPr>
            <a:spLocks noGrp="1" noChangeArrowheads="1"/>
          </p:cNvSpPr>
          <p:nvPr>
            <p:ph idx="1"/>
          </p:nvPr>
        </p:nvSpPr>
        <p:spPr>
          <a:xfrm>
            <a:off x="1425452" y="1701941"/>
            <a:ext cx="8229600" cy="3886200"/>
          </a:xfrm>
        </p:spPr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FF0000"/>
                </a:solidFill>
                <a:latin typeface="Monotype Corsiva" pitchFamily="66" charset="0"/>
              </a:rPr>
              <a:t>f 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</a:rPr>
              <a:t>(A): 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</a:rPr>
              <a:t>为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</a:rPr>
              <a:t>在</a:t>
            </a:r>
            <a:r>
              <a:rPr lang="en-US" altLang="zh-CN" b="1" dirty="0">
                <a:solidFill>
                  <a:srgbClr val="FF0000"/>
                </a:solidFill>
                <a:latin typeface="Monotype Corsiva" pitchFamily="66" charset="0"/>
              </a:rPr>
              <a:t>f 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</a:rPr>
              <a:t>之下的像， </a:t>
            </a:r>
            <a:r>
              <a:rPr lang="en-US" altLang="zh-CN" b="1" dirty="0">
                <a:solidFill>
                  <a:srgbClr val="CC0099"/>
                </a:solidFill>
                <a:latin typeface="Monotype Corsiva" pitchFamily="66" charset="0"/>
              </a:rPr>
              <a:t>f </a:t>
            </a:r>
            <a:r>
              <a:rPr lang="en-US" altLang="zh-CN" b="1" baseline="30000" dirty="0">
                <a:solidFill>
                  <a:srgbClr val="CC0099"/>
                </a:solidFill>
                <a:ea typeface="楷体_GB2312" pitchFamily="49" charset="-122"/>
              </a:rPr>
              <a:t>-1</a:t>
            </a:r>
            <a:r>
              <a:rPr kumimoji="1" lang="en-US" altLang="zh-CN" b="1" dirty="0">
                <a:solidFill>
                  <a:srgbClr val="CC0099"/>
                </a:solidFill>
                <a:ea typeface="楷体_GB2312" pitchFamily="49" charset="-122"/>
              </a:rPr>
              <a:t>(B)</a:t>
            </a:r>
            <a:r>
              <a:rPr kumimoji="1" lang="zh-CN" altLang="en-US" b="1" dirty="0">
                <a:solidFill>
                  <a:srgbClr val="CC0099"/>
                </a:solidFill>
                <a:ea typeface="楷体_GB2312" pitchFamily="49" charset="-122"/>
              </a:rPr>
              <a:t>为</a:t>
            </a:r>
            <a:r>
              <a:rPr kumimoji="1" lang="en-US" altLang="zh-CN" b="1" dirty="0">
                <a:solidFill>
                  <a:srgbClr val="CC0099"/>
                </a:solidFill>
                <a:ea typeface="楷体_GB2312" pitchFamily="49" charset="-122"/>
              </a:rPr>
              <a:t>B</a:t>
            </a:r>
            <a:r>
              <a:rPr kumimoji="1" lang="zh-CN" altLang="en-US" b="1" dirty="0">
                <a:solidFill>
                  <a:srgbClr val="CC0099"/>
                </a:solidFill>
                <a:ea typeface="楷体_GB2312" pitchFamily="49" charset="-122"/>
              </a:rPr>
              <a:t>的逆像</a:t>
            </a:r>
          </a:p>
        </p:txBody>
      </p:sp>
      <p:sp>
        <p:nvSpPr>
          <p:cNvPr id="68649" name="Rectangle 41"/>
          <p:cNvSpPr>
            <a:spLocks noChangeArrowheads="1"/>
          </p:cNvSpPr>
          <p:nvPr/>
        </p:nvSpPr>
        <p:spPr bwMode="auto">
          <a:xfrm>
            <a:off x="4223793" y="6273941"/>
            <a:ext cx="2557522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3200" b="1" dirty="0">
                <a:solidFill>
                  <a:srgbClr val="CC0099"/>
                </a:solidFill>
                <a:ea typeface="楷体_GB2312" pitchFamily="49" charset="-122"/>
              </a:rPr>
              <a:t> </a:t>
            </a:r>
            <a:r>
              <a:rPr kumimoji="1" lang="en-US" altLang="zh-CN" sz="3200" b="1" dirty="0">
                <a:ea typeface="楷体_GB2312" pitchFamily="49" charset="-122"/>
              </a:rPr>
              <a:t>≠ </a:t>
            </a:r>
            <a:r>
              <a:rPr lang="en-US" altLang="zh-CN" sz="3200" b="1" dirty="0">
                <a:solidFill>
                  <a:srgbClr val="CC0099"/>
                </a:solidFill>
                <a:latin typeface="Monotype Corsiva" pitchFamily="66" charset="0"/>
                <a:ea typeface="楷体_GB2312" pitchFamily="49" charset="-122"/>
              </a:rPr>
              <a:t>f </a:t>
            </a:r>
            <a:r>
              <a:rPr lang="en-US" altLang="zh-CN" sz="3200" b="1" baseline="30000" dirty="0">
                <a:solidFill>
                  <a:srgbClr val="CC0099"/>
                </a:solidFill>
                <a:ea typeface="楷体_GB2312" pitchFamily="49" charset="-122"/>
              </a:rPr>
              <a:t>-1</a:t>
            </a:r>
            <a:r>
              <a:rPr lang="en-US" altLang="zh-CN" sz="3200" b="1" dirty="0">
                <a:solidFill>
                  <a:srgbClr val="CC0099"/>
                </a:solidFill>
                <a:ea typeface="楷体_GB2312" pitchFamily="49" charset="-122"/>
              </a:rPr>
              <a:t>(B)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41" name="Freeform 22"/>
          <p:cNvSpPr>
            <a:spLocks/>
          </p:cNvSpPr>
          <p:nvPr/>
        </p:nvSpPr>
        <p:spPr bwMode="auto">
          <a:xfrm>
            <a:off x="2568030" y="3212703"/>
            <a:ext cx="2952253" cy="2016125"/>
          </a:xfrm>
          <a:custGeom>
            <a:avLst/>
            <a:gdLst>
              <a:gd name="T0" fmla="*/ 0 w 1542"/>
              <a:gd name="T1" fmla="*/ 2016125 h 1270"/>
              <a:gd name="T2" fmla="*/ 144463 w 1542"/>
              <a:gd name="T3" fmla="*/ 1871663 h 1270"/>
              <a:gd name="T4" fmla="*/ 287338 w 1542"/>
              <a:gd name="T5" fmla="*/ 1368425 h 1270"/>
              <a:gd name="T6" fmla="*/ 431800 w 1542"/>
              <a:gd name="T7" fmla="*/ 792163 h 1270"/>
              <a:gd name="T8" fmla="*/ 576263 w 1542"/>
              <a:gd name="T9" fmla="*/ 431800 h 1270"/>
              <a:gd name="T10" fmla="*/ 720725 w 1542"/>
              <a:gd name="T11" fmla="*/ 647700 h 1270"/>
              <a:gd name="T12" fmla="*/ 863600 w 1542"/>
              <a:gd name="T13" fmla="*/ 1079500 h 1270"/>
              <a:gd name="T14" fmla="*/ 1008063 w 1542"/>
              <a:gd name="T15" fmla="*/ 1439863 h 1270"/>
              <a:gd name="T16" fmla="*/ 1223963 w 1542"/>
              <a:gd name="T17" fmla="*/ 1584325 h 1270"/>
              <a:gd name="T18" fmla="*/ 1439863 w 1542"/>
              <a:gd name="T19" fmla="*/ 1295400 h 1270"/>
              <a:gd name="T20" fmla="*/ 1584325 w 1542"/>
              <a:gd name="T21" fmla="*/ 936625 h 1270"/>
              <a:gd name="T22" fmla="*/ 1728788 w 1542"/>
              <a:gd name="T23" fmla="*/ 576263 h 1270"/>
              <a:gd name="T24" fmla="*/ 2016125 w 1542"/>
              <a:gd name="T25" fmla="*/ 215900 h 1270"/>
              <a:gd name="T26" fmla="*/ 2447925 w 1542"/>
              <a:gd name="T27" fmla="*/ 0 h 127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42" h="1270">
                <a:moveTo>
                  <a:pt x="0" y="1270"/>
                </a:moveTo>
                <a:cubicBezTo>
                  <a:pt x="30" y="1258"/>
                  <a:pt x="61" y="1247"/>
                  <a:pt x="91" y="1179"/>
                </a:cubicBezTo>
                <a:cubicBezTo>
                  <a:pt x="121" y="1111"/>
                  <a:pt x="151" y="975"/>
                  <a:pt x="181" y="862"/>
                </a:cubicBezTo>
                <a:cubicBezTo>
                  <a:pt x="211" y="749"/>
                  <a:pt x="242" y="597"/>
                  <a:pt x="272" y="499"/>
                </a:cubicBezTo>
                <a:cubicBezTo>
                  <a:pt x="302" y="401"/>
                  <a:pt x="333" y="287"/>
                  <a:pt x="363" y="272"/>
                </a:cubicBezTo>
                <a:cubicBezTo>
                  <a:pt x="393" y="257"/>
                  <a:pt x="424" y="340"/>
                  <a:pt x="454" y="408"/>
                </a:cubicBezTo>
                <a:cubicBezTo>
                  <a:pt x="484" y="476"/>
                  <a:pt x="514" y="597"/>
                  <a:pt x="544" y="680"/>
                </a:cubicBezTo>
                <a:cubicBezTo>
                  <a:pt x="574" y="763"/>
                  <a:pt x="597" y="854"/>
                  <a:pt x="635" y="907"/>
                </a:cubicBezTo>
                <a:cubicBezTo>
                  <a:pt x="673" y="960"/>
                  <a:pt x="726" y="1013"/>
                  <a:pt x="771" y="998"/>
                </a:cubicBezTo>
                <a:cubicBezTo>
                  <a:pt x="816" y="983"/>
                  <a:pt x="869" y="884"/>
                  <a:pt x="907" y="816"/>
                </a:cubicBezTo>
                <a:cubicBezTo>
                  <a:pt x="945" y="748"/>
                  <a:pt x="968" y="666"/>
                  <a:pt x="998" y="590"/>
                </a:cubicBezTo>
                <a:cubicBezTo>
                  <a:pt x="1028" y="514"/>
                  <a:pt x="1044" y="439"/>
                  <a:pt x="1089" y="363"/>
                </a:cubicBezTo>
                <a:cubicBezTo>
                  <a:pt x="1134" y="287"/>
                  <a:pt x="1195" y="196"/>
                  <a:pt x="1270" y="136"/>
                </a:cubicBezTo>
                <a:cubicBezTo>
                  <a:pt x="1345" y="76"/>
                  <a:pt x="1497" y="23"/>
                  <a:pt x="1542" y="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25"/>
          <p:cNvSpPr>
            <a:spLocks noChangeShapeType="1"/>
          </p:cNvSpPr>
          <p:nvPr/>
        </p:nvSpPr>
        <p:spPr bwMode="auto">
          <a:xfrm>
            <a:off x="7977606" y="3860675"/>
            <a:ext cx="0" cy="1728788"/>
          </a:xfrm>
          <a:prstGeom prst="line">
            <a:avLst/>
          </a:prstGeom>
          <a:noFill/>
          <a:ln w="28575">
            <a:solidFill>
              <a:srgbClr val="008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25"/>
          <p:cNvSpPr>
            <a:spLocks noChangeShapeType="1"/>
          </p:cNvSpPr>
          <p:nvPr/>
        </p:nvSpPr>
        <p:spPr bwMode="auto">
          <a:xfrm>
            <a:off x="8257827" y="3860675"/>
            <a:ext cx="0" cy="1728788"/>
          </a:xfrm>
          <a:prstGeom prst="line">
            <a:avLst/>
          </a:prstGeom>
          <a:noFill/>
          <a:ln w="28575">
            <a:solidFill>
              <a:srgbClr val="008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右大括号 1"/>
          <p:cNvSpPr/>
          <p:nvPr/>
        </p:nvSpPr>
        <p:spPr>
          <a:xfrm rot="5400000">
            <a:off x="8147020" y="5163001"/>
            <a:ext cx="221615" cy="1073348"/>
          </a:xfrm>
          <a:prstGeom prst="rightBrace">
            <a:avLst/>
          </a:prstGeom>
          <a:ln w="57150">
            <a:solidFill>
              <a:srgbClr val="CC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2175FC-BBCB-E95F-EC35-E04888E2CC29}"/>
              </a:ext>
            </a:extLst>
          </p:cNvPr>
          <p:cNvSpPr txBox="1"/>
          <p:nvPr/>
        </p:nvSpPr>
        <p:spPr>
          <a:xfrm>
            <a:off x="2566989" y="6302377"/>
            <a:ext cx="1081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原像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D65ED7-D6AD-E93E-01C1-FE4D3FDB6DD1}"/>
              </a:ext>
            </a:extLst>
          </p:cNvPr>
          <p:cNvSpPr txBox="1"/>
          <p:nvPr/>
        </p:nvSpPr>
        <p:spPr>
          <a:xfrm>
            <a:off x="8151450" y="6396336"/>
            <a:ext cx="1081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C0099"/>
                </a:solidFill>
              </a:rPr>
              <a:t>逆像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A85151-F7E7-E919-3BCF-DC60451870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91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8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8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23" grpId="0" animBg="1"/>
      <p:bldP spid="68624" grpId="0" animBg="1"/>
      <p:bldP spid="68639" grpId="0" animBg="1"/>
      <p:bldP spid="68640" grpId="0" animBg="1"/>
      <p:bldP spid="68641" grpId="0" animBg="1"/>
      <p:bldP spid="11299" grpId="0"/>
      <p:bldP spid="68649" grpId="0" animBg="1"/>
      <p:bldP spid="2" grpId="0" animBg="1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扩张原理</a:t>
            </a:r>
            <a:endParaRPr lang="zh-CN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1639218"/>
            <a:ext cx="9361412" cy="4310062"/>
          </a:xfrm>
        </p:spPr>
        <p:txBody>
          <a:bodyPr/>
          <a:lstStyle/>
          <a:p>
            <a:pPr eaLnBrk="1" hangingPunct="1"/>
            <a:r>
              <a:rPr lang="zh-CN" altLang="en-US" dirty="0"/>
              <a:t>当</a:t>
            </a:r>
            <a:r>
              <a:rPr lang="en-US" altLang="zh-CN" dirty="0">
                <a:latin typeface="Monotype Corsiva" pitchFamily="66" charset="0"/>
              </a:rPr>
              <a:t>f </a:t>
            </a:r>
            <a:r>
              <a:rPr lang="zh-CN" altLang="en-US" dirty="0"/>
              <a:t>：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(U)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/>
              </a:rPr>
              <a:t></a:t>
            </a:r>
            <a:r>
              <a:rPr kumimoji="1"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P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V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)   A|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/>
              </a:rPr>
              <a:t></a:t>
            </a:r>
            <a:r>
              <a:rPr kumimoji="1"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(A)</a:t>
            </a:r>
            <a:r>
              <a:rPr lang="en-US" altLang="zh-CN" sz="2800" dirty="0"/>
              <a:t> </a:t>
            </a:r>
            <a:r>
              <a:rPr lang="en-US" altLang="zh-CN" dirty="0"/>
              <a:t> </a:t>
            </a:r>
            <a:r>
              <a:rPr lang="zh-CN" altLang="en-US" dirty="0"/>
              <a:t>是</a:t>
            </a: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一一映射</a:t>
            </a:r>
            <a:r>
              <a:rPr lang="zh-CN" altLang="en-US" dirty="0"/>
              <a:t>时</a:t>
            </a:r>
            <a:r>
              <a:rPr lang="en-US" altLang="zh-CN" dirty="0"/>
              <a:t>, </a:t>
            </a:r>
            <a:r>
              <a:rPr lang="zh-CN" altLang="en-US" dirty="0"/>
              <a:t>应有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此时，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逆像集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A* =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原像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A</a:t>
            </a:r>
          </a:p>
        </p:txBody>
      </p:sp>
      <p:graphicFrame>
        <p:nvGraphicFramePr>
          <p:cNvPr id="7373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85463263"/>
              </p:ext>
            </p:extLst>
          </p:nvPr>
        </p:nvGraphicFramePr>
        <p:xfrm>
          <a:off x="1856233" y="2564904"/>
          <a:ext cx="4756269" cy="1229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900" imgH="482600" progId="Equation.DSMT4">
                  <p:embed/>
                </p:oleObj>
              </mc:Choice>
              <mc:Fallback>
                <p:oleObj name="Equation" r:id="rId2" imgW="1866900" imgH="482600" progId="Equation.DSMT4">
                  <p:embed/>
                  <p:pic>
                    <p:nvPicPr>
                      <p:cNvPr id="737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233" y="2564904"/>
                        <a:ext cx="4756269" cy="12293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34" name="Group 6"/>
          <p:cNvGrpSpPr>
            <a:grpSpLocks/>
          </p:cNvGrpSpPr>
          <p:nvPr/>
        </p:nvGrpSpPr>
        <p:grpSpPr bwMode="auto">
          <a:xfrm>
            <a:off x="7175872" y="2924944"/>
            <a:ext cx="4176712" cy="3486149"/>
            <a:chOff x="1383" y="1480"/>
            <a:chExt cx="2631" cy="2196"/>
          </a:xfrm>
        </p:grpSpPr>
        <p:sp>
          <p:nvSpPr>
            <p:cNvPr id="12294" name="Line 7"/>
            <p:cNvSpPr>
              <a:spLocks noChangeShapeType="1"/>
            </p:cNvSpPr>
            <p:nvPr/>
          </p:nvSpPr>
          <p:spPr bwMode="auto">
            <a:xfrm flipV="1">
              <a:off x="1383" y="1570"/>
              <a:ext cx="0" cy="2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295" name="Line 8"/>
            <p:cNvSpPr>
              <a:spLocks noChangeShapeType="1"/>
            </p:cNvSpPr>
            <p:nvPr/>
          </p:nvSpPr>
          <p:spPr bwMode="auto">
            <a:xfrm>
              <a:off x="1383" y="3657"/>
              <a:ext cx="25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296" name="Freeform 9"/>
            <p:cNvSpPr>
              <a:spLocks/>
            </p:cNvSpPr>
            <p:nvPr/>
          </p:nvSpPr>
          <p:spPr bwMode="auto">
            <a:xfrm>
              <a:off x="1383" y="1933"/>
              <a:ext cx="454" cy="1089"/>
            </a:xfrm>
            <a:custGeom>
              <a:avLst/>
              <a:gdLst>
                <a:gd name="T0" fmla="*/ 0 w 454"/>
                <a:gd name="T1" fmla="*/ 0 h 1089"/>
                <a:gd name="T2" fmla="*/ 272 w 454"/>
                <a:gd name="T3" fmla="*/ 454 h 1089"/>
                <a:gd name="T4" fmla="*/ 454 w 454"/>
                <a:gd name="T5" fmla="*/ 817 h 1089"/>
                <a:gd name="T6" fmla="*/ 272 w 454"/>
                <a:gd name="T7" fmla="*/ 998 h 1089"/>
                <a:gd name="T8" fmla="*/ 0 w 454"/>
                <a:gd name="T9" fmla="*/ 1089 h 10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4" h="1089">
                  <a:moveTo>
                    <a:pt x="0" y="0"/>
                  </a:moveTo>
                  <a:cubicBezTo>
                    <a:pt x="98" y="159"/>
                    <a:pt x="196" y="318"/>
                    <a:pt x="272" y="454"/>
                  </a:cubicBezTo>
                  <a:cubicBezTo>
                    <a:pt x="348" y="590"/>
                    <a:pt x="454" y="726"/>
                    <a:pt x="454" y="817"/>
                  </a:cubicBezTo>
                  <a:cubicBezTo>
                    <a:pt x="454" y="908"/>
                    <a:pt x="348" y="953"/>
                    <a:pt x="272" y="998"/>
                  </a:cubicBezTo>
                  <a:cubicBezTo>
                    <a:pt x="196" y="1043"/>
                    <a:pt x="98" y="1066"/>
                    <a:pt x="0" y="1089"/>
                  </a:cubicBezTo>
                </a:path>
              </a:pathLst>
            </a:custGeom>
            <a:noFill/>
            <a:ln w="38100" cmpd="sng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297" name="Freeform 10"/>
            <p:cNvSpPr>
              <a:spLocks/>
            </p:cNvSpPr>
            <p:nvPr/>
          </p:nvSpPr>
          <p:spPr bwMode="auto">
            <a:xfrm rot="16200000" flipV="1">
              <a:off x="2880" y="2885"/>
              <a:ext cx="454" cy="1089"/>
            </a:xfrm>
            <a:custGeom>
              <a:avLst/>
              <a:gdLst>
                <a:gd name="T0" fmla="*/ 0 w 454"/>
                <a:gd name="T1" fmla="*/ 0 h 1089"/>
                <a:gd name="T2" fmla="*/ 272 w 454"/>
                <a:gd name="T3" fmla="*/ 454 h 1089"/>
                <a:gd name="T4" fmla="*/ 454 w 454"/>
                <a:gd name="T5" fmla="*/ 817 h 1089"/>
                <a:gd name="T6" fmla="*/ 272 w 454"/>
                <a:gd name="T7" fmla="*/ 998 h 1089"/>
                <a:gd name="T8" fmla="*/ 0 w 454"/>
                <a:gd name="T9" fmla="*/ 1089 h 10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4" h="1089">
                  <a:moveTo>
                    <a:pt x="0" y="0"/>
                  </a:moveTo>
                  <a:cubicBezTo>
                    <a:pt x="98" y="159"/>
                    <a:pt x="196" y="318"/>
                    <a:pt x="272" y="454"/>
                  </a:cubicBezTo>
                  <a:cubicBezTo>
                    <a:pt x="348" y="590"/>
                    <a:pt x="454" y="726"/>
                    <a:pt x="454" y="817"/>
                  </a:cubicBezTo>
                  <a:cubicBezTo>
                    <a:pt x="454" y="908"/>
                    <a:pt x="348" y="953"/>
                    <a:pt x="272" y="998"/>
                  </a:cubicBezTo>
                  <a:cubicBezTo>
                    <a:pt x="196" y="1043"/>
                    <a:pt x="98" y="1066"/>
                    <a:pt x="0" y="1089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298" name="Line 11"/>
            <p:cNvSpPr>
              <a:spLocks noChangeShapeType="1"/>
            </p:cNvSpPr>
            <p:nvPr/>
          </p:nvSpPr>
          <p:spPr bwMode="auto">
            <a:xfrm>
              <a:off x="1383" y="3022"/>
              <a:ext cx="1179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299" name="Line 12"/>
            <p:cNvSpPr>
              <a:spLocks noChangeShapeType="1"/>
            </p:cNvSpPr>
            <p:nvPr/>
          </p:nvSpPr>
          <p:spPr bwMode="auto">
            <a:xfrm>
              <a:off x="1429" y="2750"/>
              <a:ext cx="1406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300" name="Line 13"/>
            <p:cNvSpPr>
              <a:spLocks noChangeShapeType="1"/>
            </p:cNvSpPr>
            <p:nvPr/>
          </p:nvSpPr>
          <p:spPr bwMode="auto">
            <a:xfrm>
              <a:off x="1383" y="1933"/>
              <a:ext cx="2268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301" name="Line 14"/>
            <p:cNvSpPr>
              <a:spLocks noChangeShapeType="1"/>
            </p:cNvSpPr>
            <p:nvPr/>
          </p:nvSpPr>
          <p:spPr bwMode="auto">
            <a:xfrm>
              <a:off x="2562" y="3022"/>
              <a:ext cx="0" cy="635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302" name="Line 15"/>
            <p:cNvSpPr>
              <a:spLocks noChangeShapeType="1"/>
            </p:cNvSpPr>
            <p:nvPr/>
          </p:nvSpPr>
          <p:spPr bwMode="auto">
            <a:xfrm>
              <a:off x="2835" y="2750"/>
              <a:ext cx="0" cy="907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303" name="Line 16"/>
            <p:cNvSpPr>
              <a:spLocks noChangeShapeType="1"/>
            </p:cNvSpPr>
            <p:nvPr/>
          </p:nvSpPr>
          <p:spPr bwMode="auto">
            <a:xfrm>
              <a:off x="3651" y="1933"/>
              <a:ext cx="0" cy="1724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304" name="Freeform 17"/>
            <p:cNvSpPr>
              <a:spLocks/>
            </p:cNvSpPr>
            <p:nvPr/>
          </p:nvSpPr>
          <p:spPr bwMode="auto">
            <a:xfrm>
              <a:off x="1383" y="1752"/>
              <a:ext cx="2450" cy="1678"/>
            </a:xfrm>
            <a:custGeom>
              <a:avLst/>
              <a:gdLst>
                <a:gd name="T0" fmla="*/ 0 w 2450"/>
                <a:gd name="T1" fmla="*/ 1678 h 1678"/>
                <a:gd name="T2" fmla="*/ 454 w 2450"/>
                <a:gd name="T3" fmla="*/ 1633 h 1678"/>
                <a:gd name="T4" fmla="*/ 953 w 2450"/>
                <a:gd name="T5" fmla="*/ 1406 h 1678"/>
                <a:gd name="T6" fmla="*/ 1179 w 2450"/>
                <a:gd name="T7" fmla="*/ 1270 h 1678"/>
                <a:gd name="T8" fmla="*/ 1452 w 2450"/>
                <a:gd name="T9" fmla="*/ 998 h 1678"/>
                <a:gd name="T10" fmla="*/ 2268 w 2450"/>
                <a:gd name="T11" fmla="*/ 181 h 1678"/>
                <a:gd name="T12" fmla="*/ 2450 w 2450"/>
                <a:gd name="T13" fmla="*/ 0 h 16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50" h="1678">
                  <a:moveTo>
                    <a:pt x="0" y="1678"/>
                  </a:moveTo>
                  <a:cubicBezTo>
                    <a:pt x="147" y="1678"/>
                    <a:pt x="295" y="1678"/>
                    <a:pt x="454" y="1633"/>
                  </a:cubicBezTo>
                  <a:cubicBezTo>
                    <a:pt x="613" y="1588"/>
                    <a:pt x="832" y="1466"/>
                    <a:pt x="953" y="1406"/>
                  </a:cubicBezTo>
                  <a:cubicBezTo>
                    <a:pt x="1074" y="1346"/>
                    <a:pt x="1096" y="1338"/>
                    <a:pt x="1179" y="1270"/>
                  </a:cubicBezTo>
                  <a:cubicBezTo>
                    <a:pt x="1262" y="1202"/>
                    <a:pt x="1271" y="1179"/>
                    <a:pt x="1452" y="998"/>
                  </a:cubicBezTo>
                  <a:cubicBezTo>
                    <a:pt x="1633" y="817"/>
                    <a:pt x="2102" y="347"/>
                    <a:pt x="2268" y="181"/>
                  </a:cubicBezTo>
                  <a:cubicBezTo>
                    <a:pt x="2434" y="15"/>
                    <a:pt x="2420" y="30"/>
                    <a:pt x="2450" y="0"/>
                  </a:cubicBezTo>
                </a:path>
              </a:pathLst>
            </a:custGeom>
            <a:noFill/>
            <a:ln w="38100" cmpd="sng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dirty="0"/>
            </a:p>
          </p:txBody>
        </p:sp>
        <p:sp>
          <p:nvSpPr>
            <p:cNvPr id="12305" name="Text Box 18"/>
            <p:cNvSpPr txBox="1">
              <a:spLocks noChangeArrowheads="1"/>
            </p:cNvSpPr>
            <p:nvPr/>
          </p:nvSpPr>
          <p:spPr bwMode="auto">
            <a:xfrm>
              <a:off x="3061" y="1661"/>
              <a:ext cx="77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 dirty="0"/>
                <a:t>y</a:t>
              </a:r>
              <a:r>
                <a:rPr lang="en-US" altLang="zh-CN" dirty="0"/>
                <a:t>=</a:t>
              </a:r>
              <a:r>
                <a:rPr lang="en-US" altLang="zh-CN" b="1" dirty="0">
                  <a:latin typeface="Monotype Corsiva" pitchFamily="66" charset="0"/>
                </a:rPr>
                <a:t> f </a:t>
              </a:r>
              <a:r>
                <a:rPr lang="en-US" altLang="zh-CN" dirty="0"/>
                <a:t>(u)</a:t>
              </a:r>
            </a:p>
          </p:txBody>
        </p:sp>
        <p:sp>
          <p:nvSpPr>
            <p:cNvPr id="12306" name="Text Box 19"/>
            <p:cNvSpPr txBox="1">
              <a:spLocks noChangeArrowheads="1"/>
            </p:cNvSpPr>
            <p:nvPr/>
          </p:nvSpPr>
          <p:spPr bwMode="auto">
            <a:xfrm>
              <a:off x="3833" y="3385"/>
              <a:ext cx="18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u</a:t>
              </a:r>
            </a:p>
          </p:txBody>
        </p:sp>
        <p:sp>
          <p:nvSpPr>
            <p:cNvPr id="12307" name="Text Box 20"/>
            <p:cNvSpPr txBox="1">
              <a:spLocks noChangeArrowheads="1"/>
            </p:cNvSpPr>
            <p:nvPr/>
          </p:nvSpPr>
          <p:spPr bwMode="auto">
            <a:xfrm>
              <a:off x="1474" y="1480"/>
              <a:ext cx="18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v</a:t>
              </a:r>
            </a:p>
          </p:txBody>
        </p:sp>
        <p:sp>
          <p:nvSpPr>
            <p:cNvPr id="12308" name="Text Box 21"/>
            <p:cNvSpPr txBox="1">
              <a:spLocks noChangeArrowheads="1"/>
            </p:cNvSpPr>
            <p:nvPr/>
          </p:nvSpPr>
          <p:spPr bwMode="auto">
            <a:xfrm>
              <a:off x="3107" y="3158"/>
              <a:ext cx="4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A(u)</a:t>
              </a:r>
            </a:p>
          </p:txBody>
        </p:sp>
        <p:sp>
          <p:nvSpPr>
            <p:cNvPr id="12309" name="Rectangle 22"/>
            <p:cNvSpPr>
              <a:spLocks noChangeArrowheads="1"/>
            </p:cNvSpPr>
            <p:nvPr/>
          </p:nvSpPr>
          <p:spPr bwMode="auto">
            <a:xfrm>
              <a:off x="1746" y="2205"/>
              <a:ext cx="66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3333FF"/>
                  </a:solidFill>
                  <a:latin typeface="Monotype Corsiva" pitchFamily="66" charset="0"/>
                </a:rPr>
                <a:t>f </a:t>
              </a:r>
              <a:r>
                <a:rPr lang="en-US" altLang="zh-CN" sz="2400">
                  <a:solidFill>
                    <a:srgbClr val="3333FF"/>
                  </a:solidFill>
                </a:rPr>
                <a:t>(A)(v)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A9DF61-8D84-D017-2C09-C712DBBD54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2301" y="6237164"/>
            <a:ext cx="518542" cy="457200"/>
          </a:xfrm>
        </p:spPr>
        <p:txBody>
          <a:bodyPr/>
          <a:lstStyle/>
          <a:p>
            <a:pPr>
              <a:defRPr/>
            </a:pPr>
            <a:fld id="{95F209AC-A2D1-49EF-BE0C-2B9240FE767E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>
                <a:ea typeface="黑体" pitchFamily="2" charset="-122"/>
              </a:rPr>
              <a:t>[P118</a:t>
            </a:r>
            <a:r>
              <a:rPr lang="zh-CN" altLang="en-US" sz="3200">
                <a:ea typeface="黑体" pitchFamily="2" charset="-122"/>
              </a:rPr>
              <a:t>例</a:t>
            </a:r>
            <a:r>
              <a:rPr lang="en-US" altLang="zh-CN" sz="3200">
                <a:ea typeface="黑体" pitchFamily="2" charset="-122"/>
              </a:rPr>
              <a:t>2]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489075"/>
            <a:ext cx="8002587" cy="44545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/>
              <a:t>U={1,2,…,6}, V={a, b, c, d}, </a:t>
            </a:r>
            <a:r>
              <a:rPr lang="zh-CN" altLang="en-US" dirty="0"/>
              <a:t>且</a:t>
            </a:r>
          </a:p>
          <a:p>
            <a:pPr eaLnBrk="1" hangingPunct="1">
              <a:buNone/>
            </a:pPr>
            <a:endParaRPr lang="en-US" altLang="zh-CN" sz="2800" dirty="0"/>
          </a:p>
          <a:p>
            <a:pPr eaLnBrk="1" hangingPunct="1">
              <a:buNone/>
            </a:pPr>
            <a:endParaRPr lang="en-US" altLang="zh-CN" sz="2800" dirty="0"/>
          </a:p>
          <a:p>
            <a:pPr eaLnBrk="1" hangingPunct="1">
              <a:buNone/>
            </a:pPr>
            <a:endParaRPr lang="en-US" altLang="zh-CN" sz="2800" dirty="0"/>
          </a:p>
          <a:p>
            <a:pPr eaLnBrk="1" hangingPunct="1">
              <a:buNone/>
            </a:pPr>
            <a:endParaRPr lang="en-US" altLang="zh-CN" sz="2800" dirty="0"/>
          </a:p>
          <a:p>
            <a:pPr eaLnBrk="1" hangingPunct="1">
              <a:buNone/>
            </a:pPr>
            <a:endParaRPr lang="en-US" altLang="zh-CN" sz="2800" dirty="0"/>
          </a:p>
          <a:p>
            <a:pPr eaLnBrk="1" hangingPunct="1">
              <a:buNone/>
            </a:pPr>
            <a:endParaRPr lang="en-US" altLang="zh-CN" sz="2800" dirty="0"/>
          </a:p>
          <a:p>
            <a:pPr eaLnBrk="1" hangingPunct="1">
              <a:buNone/>
            </a:pPr>
            <a:endParaRPr lang="zh-CN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</a:rPr>
              <a:t>求</a:t>
            </a:r>
            <a:r>
              <a:rPr kumimoji="1" lang="en-US" altLang="zh-CN" dirty="0">
                <a:solidFill>
                  <a:srgbClr val="FF0000"/>
                </a:solidFill>
                <a:ea typeface="黑体" pitchFamily="2" charset="-122"/>
              </a:rPr>
              <a:t>B=</a:t>
            </a:r>
            <a:r>
              <a:rPr kumimoji="1" lang="en-US" altLang="zh-CN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kumimoji="1" lang="en-US" altLang="zh-CN" dirty="0">
                <a:solidFill>
                  <a:srgbClr val="FF0000"/>
                </a:solidFill>
                <a:ea typeface="黑体" pitchFamily="2" charset="-122"/>
              </a:rPr>
              <a:t>(A)</a:t>
            </a:r>
            <a:r>
              <a:rPr kumimoji="1" lang="zh-CN" altLang="en-US" dirty="0">
                <a:solidFill>
                  <a:srgbClr val="FF0000"/>
                </a:solidFill>
                <a:ea typeface="黑体" pitchFamily="2" charset="-122"/>
              </a:rPr>
              <a:t>及</a:t>
            </a:r>
            <a:r>
              <a:rPr kumimoji="1" lang="en-US" altLang="zh-CN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baseline="30000" dirty="0">
                <a:solidFill>
                  <a:srgbClr val="FF0000"/>
                </a:solidFill>
                <a:ea typeface="黑体" pitchFamily="2" charset="-122"/>
              </a:rPr>
              <a:t>-1</a:t>
            </a:r>
            <a:r>
              <a:rPr kumimoji="1" lang="en-US" altLang="zh-CN" dirty="0">
                <a:solidFill>
                  <a:srgbClr val="FF0000"/>
                </a:solidFill>
                <a:ea typeface="黑体" pitchFamily="2" charset="-122"/>
              </a:rPr>
              <a:t> (B)</a:t>
            </a:r>
          </a:p>
        </p:txBody>
      </p:sp>
      <p:graphicFrame>
        <p:nvGraphicFramePr>
          <p:cNvPr id="1741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77998574"/>
              </p:ext>
            </p:extLst>
          </p:nvPr>
        </p:nvGraphicFramePr>
        <p:xfrm>
          <a:off x="2423592" y="4299831"/>
          <a:ext cx="30384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2360" imgH="393480" progId="Equation.DSMT4">
                  <p:embed/>
                </p:oleObj>
              </mc:Choice>
              <mc:Fallback>
                <p:oleObj name="Equation" r:id="rId2" imgW="1422360" imgH="393480" progId="Equation.DSMT4">
                  <p:embed/>
                  <p:pic>
                    <p:nvPicPr>
                      <p:cNvPr id="17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4299831"/>
                        <a:ext cx="3038475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661299159"/>
              </p:ext>
            </p:extLst>
          </p:nvPr>
        </p:nvGraphicFramePr>
        <p:xfrm>
          <a:off x="2279576" y="2334566"/>
          <a:ext cx="3038475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82680" imgH="711000" progId="Equation.3">
                  <p:embed/>
                </p:oleObj>
              </mc:Choice>
              <mc:Fallback>
                <p:oleObj name="公式" r:id="rId4" imgW="1282680" imgH="71100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2334566"/>
                        <a:ext cx="3038475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8128" y="2442828"/>
            <a:ext cx="4432133" cy="363498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28927E-10CA-95FE-CE9F-C05E7370ED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304" y="4251881"/>
            <a:ext cx="3278616" cy="2618339"/>
          </a:xfrm>
          <a:prstGeom prst="rect">
            <a:avLst/>
          </a:prstGeom>
        </p:spPr>
      </p:pic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>
                <a:ea typeface="黑体" pitchFamily="2" charset="-122"/>
              </a:rPr>
              <a:t>[P118</a:t>
            </a:r>
            <a:r>
              <a:rPr lang="zh-CN" altLang="en-US" sz="3200">
                <a:ea typeface="黑体" pitchFamily="2" charset="-122"/>
              </a:rPr>
              <a:t>例</a:t>
            </a:r>
            <a:r>
              <a:rPr lang="en-US" altLang="zh-CN" sz="3200">
                <a:ea typeface="黑体" pitchFamily="2" charset="-122"/>
              </a:rPr>
              <a:t>2]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7" y="1268761"/>
            <a:ext cx="8866684" cy="44545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设</a:t>
            </a:r>
            <a:r>
              <a:rPr lang="en-US" altLang="zh-CN" sz="2800" dirty="0"/>
              <a:t>U={1,2,…,6}, V={a, b, c, d}, </a:t>
            </a:r>
            <a:r>
              <a:rPr lang="zh-CN" altLang="en-US" sz="2800" dirty="0"/>
              <a:t>且</a:t>
            </a:r>
          </a:p>
          <a:p>
            <a:pPr eaLnBrk="1" hangingPunct="1">
              <a:buNone/>
            </a:pPr>
            <a:endParaRPr lang="en-US" altLang="zh-CN" sz="2800" dirty="0"/>
          </a:p>
          <a:p>
            <a:pPr eaLnBrk="1" hangingPunct="1">
              <a:buNone/>
            </a:pPr>
            <a:endParaRPr lang="zh-CN" altLang="zh-CN" sz="20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求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B=</a:t>
            </a:r>
            <a:r>
              <a:rPr kumimoji="1"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(A)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</a:rPr>
              <a:t>及</a:t>
            </a:r>
            <a:r>
              <a:rPr kumimoji="1" lang="en-US" altLang="zh-CN" sz="2800" b="1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 (B)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解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: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根据扩张原理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,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求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B=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(A)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有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aphicFrame>
        <p:nvGraphicFramePr>
          <p:cNvPr id="1741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32536459"/>
              </p:ext>
            </p:extLst>
          </p:nvPr>
        </p:nvGraphicFramePr>
        <p:xfrm>
          <a:off x="6350132" y="1445450"/>
          <a:ext cx="3038475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82680" imgH="711000" progId="Equation.3">
                  <p:embed/>
                </p:oleObj>
              </mc:Choice>
              <mc:Fallback>
                <p:oleObj name="公式" r:id="rId3" imgW="1282680" imgH="711000" progId="Equation.3">
                  <p:embed/>
                  <p:pic>
                    <p:nvPicPr>
                      <p:cNvPr id="17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132" y="1445450"/>
                        <a:ext cx="3038475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048915796"/>
              </p:ext>
            </p:extLst>
          </p:nvPr>
        </p:nvGraphicFramePr>
        <p:xfrm>
          <a:off x="1694085" y="3670300"/>
          <a:ext cx="295751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07880" imgH="291960" progId="Equation.DSMT4">
                  <p:embed/>
                </p:oleObj>
              </mc:Choice>
              <mc:Fallback>
                <p:oleObj name="Equation" r:id="rId5" imgW="1307880" imgH="291960" progId="Equation.DSMT4">
                  <p:embed/>
                  <p:pic>
                    <p:nvPicPr>
                      <p:cNvPr id="174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4085" y="3670300"/>
                        <a:ext cx="2957512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442116"/>
              </p:ext>
            </p:extLst>
          </p:nvPr>
        </p:nvGraphicFramePr>
        <p:xfrm>
          <a:off x="1672028" y="4240359"/>
          <a:ext cx="300037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5280" imgH="291960" progId="Equation.DSMT4">
                  <p:embed/>
                </p:oleObj>
              </mc:Choice>
              <mc:Fallback>
                <p:oleObj name="Equation" r:id="rId7" imgW="1295280" imgH="291960" progId="Equation.DSMT4">
                  <p:embed/>
                  <p:pic>
                    <p:nvPicPr>
                      <p:cNvPr id="174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2028" y="4240359"/>
                        <a:ext cx="3000375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45276"/>
              </p:ext>
            </p:extLst>
          </p:nvPr>
        </p:nvGraphicFramePr>
        <p:xfrm>
          <a:off x="1613944" y="4833182"/>
          <a:ext cx="3046412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82680" imgH="291960" progId="Equation.DSMT4">
                  <p:embed/>
                </p:oleObj>
              </mc:Choice>
              <mc:Fallback>
                <p:oleObj name="Equation" r:id="rId9" imgW="1282680" imgH="291960" progId="Equation.DSMT4">
                  <p:embed/>
                  <p:pic>
                    <p:nvPicPr>
                      <p:cNvPr id="174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944" y="4833182"/>
                        <a:ext cx="3046412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680471"/>
              </p:ext>
            </p:extLst>
          </p:nvPr>
        </p:nvGraphicFramePr>
        <p:xfrm>
          <a:off x="1537409" y="5398456"/>
          <a:ext cx="313690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20480" imgH="291960" progId="Equation.DSMT4">
                  <p:embed/>
                </p:oleObj>
              </mc:Choice>
              <mc:Fallback>
                <p:oleObj name="Equation" r:id="rId11" imgW="1320480" imgH="291960" progId="Equation.DSMT4">
                  <p:embed/>
                  <p:pic>
                    <p:nvPicPr>
                      <p:cNvPr id="174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7409" y="5398456"/>
                        <a:ext cx="313690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57506"/>
              </p:ext>
            </p:extLst>
          </p:nvPr>
        </p:nvGraphicFramePr>
        <p:xfrm>
          <a:off x="2426307" y="1871146"/>
          <a:ext cx="30384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22360" imgH="393480" progId="Equation.DSMT4">
                  <p:embed/>
                </p:oleObj>
              </mc:Choice>
              <mc:Fallback>
                <p:oleObj name="Equation" r:id="rId13" imgW="1422360" imgH="393480" progId="Equation.DSMT4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6307" y="1871146"/>
                        <a:ext cx="3038475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002035"/>
              </p:ext>
            </p:extLst>
          </p:nvPr>
        </p:nvGraphicFramePr>
        <p:xfrm>
          <a:off x="2440088" y="6055940"/>
          <a:ext cx="336391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74640" imgH="393480" progId="Equation.DSMT4">
                  <p:embed/>
                </p:oleObj>
              </mc:Choice>
              <mc:Fallback>
                <p:oleObj name="Equation" r:id="rId15" imgW="1574640" imgH="393480" progId="Equation.DSMT4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0088" y="6055940"/>
                        <a:ext cx="3363912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78BE8C67-9E8C-4E9B-BED5-C795E6FDB3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47184"/>
              </p:ext>
            </p:extLst>
          </p:nvPr>
        </p:nvGraphicFramePr>
        <p:xfrm>
          <a:off x="4681413" y="3683520"/>
          <a:ext cx="2870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69720" imgH="203040" progId="Equation.DSMT4">
                  <p:embed/>
                </p:oleObj>
              </mc:Choice>
              <mc:Fallback>
                <p:oleObj name="Equation" r:id="rId17" imgW="1269720" imgH="203040" progId="Equation.DSMT4">
                  <p:embed/>
                  <p:pic>
                    <p:nvPicPr>
                      <p:cNvPr id="16" name="Object 6">
                        <a:extLst>
                          <a:ext uri="{FF2B5EF4-FFF2-40B4-BE49-F238E27FC236}">
                            <a16:creationId xmlns:a16="http://schemas.microsoft.com/office/drawing/2014/main" id="{78BE8C67-9E8C-4E9B-BED5-C795E6FDB3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413" y="3683520"/>
                        <a:ext cx="28702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id="{09ECA931-CAED-418F-914C-31459F488B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756113"/>
              </p:ext>
            </p:extLst>
          </p:nvPr>
        </p:nvGraphicFramePr>
        <p:xfrm>
          <a:off x="7515175" y="3675434"/>
          <a:ext cx="218122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65160" imgH="177480" progId="Equation.DSMT4">
                  <p:embed/>
                </p:oleObj>
              </mc:Choice>
              <mc:Fallback>
                <p:oleObj name="Equation" r:id="rId19" imgW="965160" imgH="177480" progId="Equation.DSMT4">
                  <p:embed/>
                  <p:pic>
                    <p:nvPicPr>
                      <p:cNvPr id="17" name="Object 6">
                        <a:extLst>
                          <a:ext uri="{FF2B5EF4-FFF2-40B4-BE49-F238E27FC236}">
                            <a16:creationId xmlns:a16="http://schemas.microsoft.com/office/drawing/2014/main" id="{09ECA931-CAED-418F-914C-31459F488B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5175" y="3675434"/>
                        <a:ext cx="2181225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>
            <a:extLst>
              <a:ext uri="{FF2B5EF4-FFF2-40B4-BE49-F238E27FC236}">
                <a16:creationId xmlns:a16="http://schemas.microsoft.com/office/drawing/2014/main" id="{ECC45953-85AC-4BE6-B8AD-8649FF682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025022"/>
              </p:ext>
            </p:extLst>
          </p:nvPr>
        </p:nvGraphicFramePr>
        <p:xfrm>
          <a:off x="4672402" y="4261698"/>
          <a:ext cx="20304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76240" imgH="203040" progId="Equation.DSMT4">
                  <p:embed/>
                </p:oleObj>
              </mc:Choice>
              <mc:Fallback>
                <p:oleObj name="Equation" r:id="rId21" imgW="876240" imgH="203040" progId="Equation.DSMT4">
                  <p:embed/>
                  <p:pic>
                    <p:nvPicPr>
                      <p:cNvPr id="18" name="Object 8">
                        <a:extLst>
                          <a:ext uri="{FF2B5EF4-FFF2-40B4-BE49-F238E27FC236}">
                            <a16:creationId xmlns:a16="http://schemas.microsoft.com/office/drawing/2014/main" id="{ECC45953-85AC-4BE6-B8AD-8649FF682B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402" y="4261698"/>
                        <a:ext cx="20304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8">
            <a:extLst>
              <a:ext uri="{FF2B5EF4-FFF2-40B4-BE49-F238E27FC236}">
                <a16:creationId xmlns:a16="http://schemas.microsoft.com/office/drawing/2014/main" id="{A53A53F4-CCAB-4ED5-8282-F3A628D7A0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44743"/>
              </p:ext>
            </p:extLst>
          </p:nvPr>
        </p:nvGraphicFramePr>
        <p:xfrm>
          <a:off x="6713967" y="4251881"/>
          <a:ext cx="21177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14400" imgH="177480" progId="Equation.DSMT4">
                  <p:embed/>
                </p:oleObj>
              </mc:Choice>
              <mc:Fallback>
                <p:oleObj name="Equation" r:id="rId23" imgW="914400" imgH="177480" progId="Equation.DSMT4">
                  <p:embed/>
                  <p:pic>
                    <p:nvPicPr>
                      <p:cNvPr id="20" name="Object 8">
                        <a:extLst>
                          <a:ext uri="{FF2B5EF4-FFF2-40B4-BE49-F238E27FC236}">
                            <a16:creationId xmlns:a16="http://schemas.microsoft.com/office/drawing/2014/main" id="{A53A53F4-CCAB-4ED5-8282-F3A628D7A0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967" y="4251881"/>
                        <a:ext cx="211772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">
            <a:extLst>
              <a:ext uri="{FF2B5EF4-FFF2-40B4-BE49-F238E27FC236}">
                <a16:creationId xmlns:a16="http://schemas.microsoft.com/office/drawing/2014/main" id="{51868410-4375-4CAB-96C0-400E27DACF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430909"/>
              </p:ext>
            </p:extLst>
          </p:nvPr>
        </p:nvGraphicFramePr>
        <p:xfrm>
          <a:off x="4672403" y="4833041"/>
          <a:ext cx="1870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87320" imgH="203040" progId="Equation.DSMT4">
                  <p:embed/>
                </p:oleObj>
              </mc:Choice>
              <mc:Fallback>
                <p:oleObj name="Equation" r:id="rId25" imgW="787320" imgH="203040" progId="Equation.DSMT4">
                  <p:embed/>
                  <p:pic>
                    <p:nvPicPr>
                      <p:cNvPr id="21" name="Object 9">
                        <a:extLst>
                          <a:ext uri="{FF2B5EF4-FFF2-40B4-BE49-F238E27FC236}">
                            <a16:creationId xmlns:a16="http://schemas.microsoft.com/office/drawing/2014/main" id="{51868410-4375-4CAB-96C0-400E27DACF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403" y="4833041"/>
                        <a:ext cx="1870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">
            <a:extLst>
              <a:ext uri="{FF2B5EF4-FFF2-40B4-BE49-F238E27FC236}">
                <a16:creationId xmlns:a16="http://schemas.microsoft.com/office/drawing/2014/main" id="{2DD6E71F-EE2C-48C5-8520-1FBE6ED42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042354"/>
              </p:ext>
            </p:extLst>
          </p:nvPr>
        </p:nvGraphicFramePr>
        <p:xfrm>
          <a:off x="4698999" y="5389601"/>
          <a:ext cx="32877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84200" imgH="228600" progId="Equation.DSMT4">
                  <p:embed/>
                </p:oleObj>
              </mc:Choice>
              <mc:Fallback>
                <p:oleObj name="Equation" r:id="rId27" imgW="1384200" imgH="228600" progId="Equation.DSMT4">
                  <p:embed/>
                  <p:pic>
                    <p:nvPicPr>
                      <p:cNvPr id="22" name="Object 10">
                        <a:extLst>
                          <a:ext uri="{FF2B5EF4-FFF2-40B4-BE49-F238E27FC236}">
                            <a16:creationId xmlns:a16="http://schemas.microsoft.com/office/drawing/2014/main" id="{2DD6E71F-EE2C-48C5-8520-1FBE6ED422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999" y="5389601"/>
                        <a:ext cx="328771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F61B73-A3BC-CBA4-4707-DDB20452E3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213376"/>
            <a:ext cx="445840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584E56-3E9B-73CF-E497-724E3C10972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71834" y="35314"/>
            <a:ext cx="2733128" cy="224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16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2" y="3333643"/>
            <a:ext cx="3600400" cy="2993510"/>
          </a:xfrm>
          <a:prstGeom prst="rect">
            <a:avLst/>
          </a:prstGeom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49759" y="415242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 dirty="0">
                <a:ea typeface="黑体" pitchFamily="2" charset="-122"/>
              </a:rPr>
              <a:t>[P118</a:t>
            </a:r>
            <a:r>
              <a:rPr lang="zh-CN" altLang="en-US" sz="3200" dirty="0">
                <a:ea typeface="黑体" pitchFamily="2" charset="-122"/>
              </a:rPr>
              <a:t>例</a:t>
            </a:r>
            <a:r>
              <a:rPr lang="en-US" altLang="zh-CN" sz="3200" dirty="0">
                <a:ea typeface="黑体" pitchFamily="2" charset="-122"/>
              </a:rPr>
              <a:t>2]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268414"/>
            <a:ext cx="9217397" cy="5589587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None/>
            </a:pP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解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: 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已求得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:</a:t>
            </a:r>
            <a:endParaRPr kumimoji="1" lang="en-US" altLang="zh-CN" sz="9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     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根据扩张原理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,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求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en-US" altLang="zh-CN" sz="2800" baseline="30000" dirty="0">
                <a:solidFill>
                  <a:schemeClr val="bg2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(B)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有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      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en-US" altLang="zh-CN" sz="2800" baseline="30000" dirty="0">
                <a:solidFill>
                  <a:schemeClr val="bg2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(B)(1)=B(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(1))=B(a)=1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     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en-US" altLang="zh-CN" sz="2800" baseline="30000" dirty="0">
                <a:solidFill>
                  <a:schemeClr val="bg2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(B)(2)=B(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(2))=B(a)=1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     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en-US" altLang="zh-CN" sz="2800" baseline="30000" dirty="0">
                <a:solidFill>
                  <a:schemeClr val="bg2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(B)(3)=B(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(3))=B(a)=1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     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en-US" altLang="zh-CN" sz="2800" baseline="30000" dirty="0">
                <a:solidFill>
                  <a:schemeClr val="bg2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(B)(4)=B(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(4))=B(b)=0.4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     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en-US" altLang="zh-CN" sz="2800" baseline="30000" dirty="0">
                <a:solidFill>
                  <a:schemeClr val="bg2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(B)(5)=B(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(5))=B(b)=0.4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     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en-US" altLang="zh-CN" sz="2800" baseline="30000" dirty="0">
                <a:solidFill>
                  <a:schemeClr val="bg2"/>
                </a:solidFill>
                <a:ea typeface="黑体" pitchFamily="2" charset="-122"/>
              </a:rPr>
              <a:t>-1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(B)(6)=B(</a:t>
            </a:r>
            <a:r>
              <a:rPr kumimoji="1"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(6))=B(c)=0.2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1" lang="en-US" altLang="zh-CN" sz="2800" dirty="0">
                <a:solidFill>
                  <a:srgbClr val="008000"/>
                </a:solidFill>
                <a:ea typeface="黑体" pitchFamily="2" charset="-122"/>
              </a:rPr>
              <a:t>                                             </a:t>
            </a:r>
            <a:r>
              <a:rPr lang="en-US" altLang="zh-CN" sz="2800" dirty="0"/>
              <a:t>                                         </a:t>
            </a:r>
          </a:p>
        </p:txBody>
      </p:sp>
      <p:graphicFrame>
        <p:nvGraphicFramePr>
          <p:cNvPr id="3" name="对象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030620485"/>
              </p:ext>
            </p:extLst>
          </p:nvPr>
        </p:nvGraphicFramePr>
        <p:xfrm>
          <a:off x="6235148" y="1431060"/>
          <a:ext cx="2824803" cy="1565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82700" imgH="711200" progId="Equation.3">
                  <p:embed/>
                </p:oleObj>
              </mc:Choice>
              <mc:Fallback>
                <p:oleObj name="公式" r:id="rId4" imgW="1282700" imgH="711200" progId="Equation.3">
                  <p:embed/>
                  <p:pic>
                    <p:nvPicPr>
                      <p:cNvPr id="3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148" y="1431060"/>
                        <a:ext cx="2824803" cy="1565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421227"/>
              </p:ext>
            </p:extLst>
          </p:nvPr>
        </p:nvGraphicFramePr>
        <p:xfrm>
          <a:off x="2871236" y="1124003"/>
          <a:ext cx="336391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640" imgH="393480" progId="Equation.DSMT4">
                  <p:embed/>
                </p:oleObj>
              </mc:Choice>
              <mc:Fallback>
                <p:oleObj name="Equation" r:id="rId6" imgW="1574640" imgH="39348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236" y="1124003"/>
                        <a:ext cx="3363912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884078"/>
              </p:ext>
            </p:extLst>
          </p:nvPr>
        </p:nvGraphicFramePr>
        <p:xfrm>
          <a:off x="110219" y="5974666"/>
          <a:ext cx="46926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97080" imgH="393480" progId="Equation.DSMT4">
                  <p:embed/>
                </p:oleObj>
              </mc:Choice>
              <mc:Fallback>
                <p:oleObj name="Equation" r:id="rId8" imgW="2197080" imgH="39348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219" y="5974666"/>
                        <a:ext cx="469265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222923"/>
              </p:ext>
            </p:extLst>
          </p:nvPr>
        </p:nvGraphicFramePr>
        <p:xfrm>
          <a:off x="4801444" y="6016625"/>
          <a:ext cx="330993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49080" imgH="393480" progId="Equation.DSMT4">
                  <p:embed/>
                </p:oleObj>
              </mc:Choice>
              <mc:Fallback>
                <p:oleObj name="Equation" r:id="rId10" imgW="1549080" imgH="393480" progId="Equation.DSMT4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1444" y="6016625"/>
                        <a:ext cx="3309938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FC52F63D-5573-4A8B-9A79-7F3B2201A533}"/>
              </a:ext>
            </a:extLst>
          </p:cNvPr>
          <p:cNvSpPr/>
          <p:nvPr/>
        </p:nvSpPr>
        <p:spPr>
          <a:xfrm>
            <a:off x="5394751" y="2492896"/>
            <a:ext cx="1368152" cy="362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B88942-55B3-4B68-B0EF-215FB3D7736F}"/>
              </a:ext>
            </a:extLst>
          </p:cNvPr>
          <p:cNvSpPr/>
          <p:nvPr/>
        </p:nvSpPr>
        <p:spPr>
          <a:xfrm>
            <a:off x="5394751" y="2996952"/>
            <a:ext cx="1368152" cy="362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63724B-78F0-4BE2-AA88-94F5C42D554A}"/>
              </a:ext>
            </a:extLst>
          </p:cNvPr>
          <p:cNvSpPr/>
          <p:nvPr/>
        </p:nvSpPr>
        <p:spPr>
          <a:xfrm>
            <a:off x="5394751" y="3556081"/>
            <a:ext cx="1368152" cy="362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9E1930-12AE-4857-83EC-4F8DAFF1EACC}"/>
              </a:ext>
            </a:extLst>
          </p:cNvPr>
          <p:cNvSpPr/>
          <p:nvPr/>
        </p:nvSpPr>
        <p:spPr>
          <a:xfrm>
            <a:off x="5375920" y="4060287"/>
            <a:ext cx="1638503" cy="362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423266-6D85-4E32-BD36-3234A68DFD41}"/>
              </a:ext>
            </a:extLst>
          </p:cNvPr>
          <p:cNvSpPr/>
          <p:nvPr/>
        </p:nvSpPr>
        <p:spPr>
          <a:xfrm>
            <a:off x="5375920" y="4650773"/>
            <a:ext cx="1638503" cy="362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8B26F9A-49AA-4E28-9BB5-C296C7642476}"/>
              </a:ext>
            </a:extLst>
          </p:cNvPr>
          <p:cNvSpPr/>
          <p:nvPr/>
        </p:nvSpPr>
        <p:spPr>
          <a:xfrm>
            <a:off x="5303912" y="5226837"/>
            <a:ext cx="1638503" cy="362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BDDDD1-16CA-23CD-55D1-774D628441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18907B-8962-B146-D96F-BBB4D52F16A4}"/>
              </a:ext>
            </a:extLst>
          </p:cNvPr>
          <p:cNvSpPr txBox="1"/>
          <p:nvPr/>
        </p:nvSpPr>
        <p:spPr>
          <a:xfrm>
            <a:off x="9448833" y="2590770"/>
            <a:ext cx="2133567" cy="52322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008000"/>
                </a:solidFill>
                <a:ea typeface="黑体" pitchFamily="2" charset="-122"/>
              </a:rPr>
              <a:t> </a:t>
            </a:r>
            <a:r>
              <a:rPr kumimoji="1" lang="en-US" altLang="zh-CN" sz="2800" b="1" dirty="0">
                <a:solidFill>
                  <a:srgbClr val="008000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b="1" baseline="30000" dirty="0">
                <a:solidFill>
                  <a:srgbClr val="008000"/>
                </a:solidFill>
                <a:ea typeface="黑体" pitchFamily="2" charset="-122"/>
              </a:rPr>
              <a:t>-1</a:t>
            </a:r>
            <a:r>
              <a:rPr kumimoji="1" lang="en-US" altLang="zh-CN" sz="2800" b="1" dirty="0">
                <a:solidFill>
                  <a:srgbClr val="008000"/>
                </a:solidFill>
                <a:ea typeface="黑体" pitchFamily="2" charset="-122"/>
              </a:rPr>
              <a:t>(B)</a:t>
            </a:r>
            <a:r>
              <a:rPr lang="en-US" altLang="en-US" sz="2800" b="1" dirty="0">
                <a:solidFill>
                  <a:srgbClr val="008000"/>
                </a:solidFill>
              </a:rPr>
              <a:t>≠</a:t>
            </a:r>
            <a:r>
              <a:rPr lang="en-US" altLang="zh-CN" sz="2800" b="1" dirty="0">
                <a:solidFill>
                  <a:srgbClr val="008000"/>
                </a:solidFill>
              </a:rPr>
              <a:t>A</a:t>
            </a:r>
            <a:endParaRPr lang="zh-CN" altLang="en-US" sz="2800" b="1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45C9A9D-6257-0137-D02E-F8CF554DCE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6911" y="55759"/>
            <a:ext cx="3051721" cy="24371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  <p:bldP spid="2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3935760" y="5877272"/>
            <a:ext cx="4752628" cy="792088"/>
          </a:xfrm>
          <a:prstGeom prst="roundRect">
            <a:avLst/>
          </a:prstGeom>
          <a:solidFill>
            <a:srgbClr val="FFFF66"/>
          </a:solidFill>
          <a:ln>
            <a:solidFill>
              <a:srgbClr val="FFCCFF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648"/>
            <a:ext cx="8229600" cy="11715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 dirty="0">
                <a:ea typeface="黑体" pitchFamily="2" charset="-122"/>
              </a:rPr>
              <a:t>[P119</a:t>
            </a:r>
            <a:r>
              <a:rPr lang="zh-CN" altLang="en-US" sz="3200" dirty="0">
                <a:ea typeface="黑体" pitchFamily="2" charset="-122"/>
              </a:rPr>
              <a:t>例</a:t>
            </a:r>
            <a:r>
              <a:rPr lang="en-US" altLang="zh-CN" sz="3200" dirty="0">
                <a:ea typeface="黑体" pitchFamily="2" charset="-122"/>
              </a:rPr>
              <a:t>3]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15481" y="1628776"/>
            <a:ext cx="8641334" cy="49688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设</a:t>
            </a:r>
            <a:r>
              <a:rPr lang="en-US" altLang="zh-CN" dirty="0">
                <a:ea typeface="黑体" pitchFamily="2" charset="-122"/>
              </a:rPr>
              <a:t>R</a:t>
            </a:r>
            <a:r>
              <a:rPr lang="zh-CN" altLang="en-US" dirty="0">
                <a:ea typeface="黑体" pitchFamily="2" charset="-122"/>
              </a:rPr>
              <a:t>为实数域</a:t>
            </a:r>
            <a:r>
              <a:rPr lang="en-US" altLang="zh-CN" dirty="0">
                <a:ea typeface="黑体" pitchFamily="2" charset="-122"/>
              </a:rPr>
              <a:t>,</a:t>
            </a:r>
            <a:r>
              <a:rPr lang="zh-CN" altLang="en-US" dirty="0">
                <a:ea typeface="黑体" pitchFamily="2" charset="-122"/>
              </a:rPr>
              <a:t>映射</a:t>
            </a:r>
            <a:r>
              <a:rPr lang="en-US" altLang="zh-CN" b="1" dirty="0"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dirty="0">
                <a:ea typeface="黑体" pitchFamily="2" charset="-122"/>
              </a:rPr>
              <a:t>: R</a:t>
            </a:r>
            <a:r>
              <a:rPr lang="en-US" altLang="zh-CN" dirty="0">
                <a:ea typeface="黑体" pitchFamily="2" charset="-122"/>
                <a:sym typeface="Symbol"/>
              </a:rPr>
              <a:t></a:t>
            </a:r>
            <a:r>
              <a:rPr lang="en-US" altLang="zh-CN" dirty="0">
                <a:ea typeface="黑体" pitchFamily="2" charset="-122"/>
              </a:rPr>
              <a:t>R, </a:t>
            </a:r>
            <a:r>
              <a:rPr lang="zh-CN" altLang="en-US" dirty="0">
                <a:ea typeface="黑体" pitchFamily="2" charset="-122"/>
              </a:rPr>
              <a:t>且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求</a:t>
            </a:r>
            <a:r>
              <a:rPr lang="en-US" altLang="zh-CN" b="1" dirty="0"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dirty="0">
                <a:ea typeface="黑体" pitchFamily="2" charset="-122"/>
              </a:rPr>
              <a:t>(A). </a:t>
            </a:r>
          </a:p>
        </p:txBody>
      </p:sp>
      <p:graphicFrame>
        <p:nvGraphicFramePr>
          <p:cNvPr id="1536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08213" y="2349500"/>
          <a:ext cx="3425825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18671" imgH="393529" progId="Equation.3">
                  <p:embed/>
                </p:oleObj>
              </mc:Choice>
              <mc:Fallback>
                <p:oleObj name="公式" r:id="rId3" imgW="1218671" imgH="393529" progId="Equation.3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2349500"/>
                        <a:ext cx="3425825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703388" y="3508375"/>
          <a:ext cx="4897437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88367" imgH="761669" progId="Equation.3">
                  <p:embed/>
                </p:oleObj>
              </mc:Choice>
              <mc:Fallback>
                <p:oleObj name="公式" r:id="rId5" imgW="1688367" imgH="761669" progId="Equation.3">
                  <p:embed/>
                  <p:pic>
                    <p:nvPicPr>
                      <p:cNvPr id="1536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3508375"/>
                        <a:ext cx="4897437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/>
        </p:nvGraphicFramePr>
        <p:xfrm>
          <a:off x="5188695" y="6021289"/>
          <a:ext cx="324167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320480" imgH="291960" progId="Equation.3">
                  <p:embed/>
                </p:oleObj>
              </mc:Choice>
              <mc:Fallback>
                <p:oleObj name="公式" r:id="rId7" imgW="1320480" imgH="291960" progId="Equation.3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8695" y="6021289"/>
                        <a:ext cx="3241675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079776" y="6021288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C0099"/>
                </a:solidFill>
              </a:rPr>
              <a:t>思路：</a:t>
            </a:r>
          </a:p>
        </p:txBody>
      </p:sp>
      <p:pic>
        <p:nvPicPr>
          <p:cNvPr id="10" name="图片 9" descr="形状&#10;&#10;描述已自动生成">
            <a:extLst>
              <a:ext uri="{FF2B5EF4-FFF2-40B4-BE49-F238E27FC236}">
                <a16:creationId xmlns:a16="http://schemas.microsoft.com/office/drawing/2014/main" id="{84757679-0403-2F62-B17F-482B9B2A00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2205037"/>
            <a:ext cx="3467101" cy="3467101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A47887-5CBB-378D-1573-0B0B3F6BFD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>
                <a:ea typeface="黑体" pitchFamily="2" charset="-122"/>
              </a:rPr>
              <a:t>[P119</a:t>
            </a:r>
            <a:r>
              <a:rPr lang="zh-CN" altLang="en-US" sz="3200">
                <a:ea typeface="黑体" pitchFamily="2" charset="-122"/>
              </a:rPr>
              <a:t>例</a:t>
            </a:r>
            <a:r>
              <a:rPr lang="en-US" altLang="zh-CN" sz="3200">
                <a:ea typeface="黑体" pitchFamily="2" charset="-122"/>
              </a:rPr>
              <a:t>3]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700214"/>
            <a:ext cx="8435975" cy="49688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解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: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令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y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=                         ,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则一个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y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对应两个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x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    </a:t>
            </a:r>
            <a:r>
              <a:rPr lang="zh-CN" altLang="en-US" sz="2800" dirty="0">
                <a:solidFill>
                  <a:srgbClr val="CC0099"/>
                </a:solidFill>
                <a:ea typeface="黑体" pitchFamily="2" charset="-122"/>
              </a:rPr>
              <a:t>先考虑两个隶属度相等的点</a:t>
            </a:r>
            <a:r>
              <a:rPr lang="en-US" altLang="zh-CN" sz="2800" dirty="0">
                <a:solidFill>
                  <a:srgbClr val="CC0099"/>
                </a:solidFill>
                <a:ea typeface="黑体" pitchFamily="2" charset="-122"/>
              </a:rPr>
              <a:t>,</a:t>
            </a:r>
            <a:r>
              <a:rPr lang="zh-CN" altLang="en-US" sz="2800" dirty="0">
                <a:solidFill>
                  <a:srgbClr val="CC0099"/>
                </a:solidFill>
                <a:ea typeface="黑体" pitchFamily="2" charset="-122"/>
              </a:rPr>
              <a:t>为此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    得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=0,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即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    解得      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y=3/2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aseline="-25000" dirty="0">
              <a:solidFill>
                <a:schemeClr val="bg2"/>
              </a:solidFill>
              <a:ea typeface="黑体" pitchFamily="2" charset="-122"/>
            </a:endParaRPr>
          </a:p>
        </p:txBody>
      </p:sp>
      <p:graphicFrame>
        <p:nvGraphicFramePr>
          <p:cNvPr id="2560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11450" y="2349500"/>
          <a:ext cx="6624638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25700" imgH="254000" progId="Equation.3">
                  <p:embed/>
                </p:oleObj>
              </mc:Choice>
              <mc:Fallback>
                <p:oleObj name="公式" r:id="rId3" imgW="2425700" imgH="254000" progId="Equation.3">
                  <p:embed/>
                  <p:pic>
                    <p:nvPicPr>
                      <p:cNvPr id="25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349500"/>
                        <a:ext cx="6624638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566661536"/>
              </p:ext>
            </p:extLst>
          </p:nvPr>
        </p:nvGraphicFramePr>
        <p:xfrm>
          <a:off x="3719736" y="4724400"/>
          <a:ext cx="321627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31366" imgH="253890" progId="Equation.3">
                  <p:embed/>
                </p:oleObj>
              </mc:Choice>
              <mc:Fallback>
                <p:oleObj name="公式" r:id="rId5" imgW="1231366" imgH="253890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4724400"/>
                        <a:ext cx="321627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2782889" y="3789364"/>
          <a:ext cx="22320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901309" imgH="393529" progId="Equation.3">
                  <p:embed/>
                </p:oleObj>
              </mc:Choice>
              <mc:Fallback>
                <p:oleObj name="公式" r:id="rId7" imgW="901309" imgH="393529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3789364"/>
                        <a:ext cx="223202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630689"/>
              </p:ext>
            </p:extLst>
          </p:nvPr>
        </p:nvGraphicFramePr>
        <p:xfrm>
          <a:off x="9048230" y="892090"/>
          <a:ext cx="2932112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688367" imgH="761669" progId="Equation.3">
                  <p:embed/>
                </p:oleObj>
              </mc:Choice>
              <mc:Fallback>
                <p:oleObj name="公式" r:id="rId9" imgW="1688367" imgH="761669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230" y="892090"/>
                        <a:ext cx="2932112" cy="13239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/>
          <p:cNvSpPr/>
          <p:nvPr/>
        </p:nvSpPr>
        <p:spPr>
          <a:xfrm>
            <a:off x="8040216" y="4893568"/>
            <a:ext cx="503238" cy="36036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形状&#10;&#10;描述已自动生成">
            <a:extLst>
              <a:ext uri="{FF2B5EF4-FFF2-40B4-BE49-F238E27FC236}">
                <a16:creationId xmlns:a16="http://schemas.microsoft.com/office/drawing/2014/main" id="{3D7EEDCC-F988-2A29-2D71-F2D54E6464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47" y="3284984"/>
            <a:ext cx="3467101" cy="3467101"/>
          </a:xfrm>
          <a:prstGeom prst="rect">
            <a:avLst/>
          </a:prstGeom>
        </p:spPr>
      </p:pic>
      <p:sp>
        <p:nvSpPr>
          <p:cNvPr id="5" name="Line 20">
            <a:extLst>
              <a:ext uri="{FF2B5EF4-FFF2-40B4-BE49-F238E27FC236}">
                <a16:creationId xmlns:a16="http://schemas.microsoft.com/office/drawing/2014/main" id="{9B8A27C2-6F5D-61AA-575B-47671CEFA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9048230" y="4959944"/>
            <a:ext cx="1514028" cy="6645"/>
          </a:xfrm>
          <a:prstGeom prst="line">
            <a:avLst/>
          </a:prstGeom>
          <a:noFill/>
          <a:ln w="38100">
            <a:solidFill>
              <a:srgbClr val="008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14">
            <a:extLst>
              <a:ext uri="{FF2B5EF4-FFF2-40B4-BE49-F238E27FC236}">
                <a16:creationId xmlns:a16="http://schemas.microsoft.com/office/drawing/2014/main" id="{E45AEA67-F3ED-04D6-FA7C-9598156882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62259" y="4928539"/>
            <a:ext cx="0" cy="1471561"/>
          </a:xfrm>
          <a:prstGeom prst="line">
            <a:avLst/>
          </a:prstGeom>
          <a:noFill/>
          <a:ln w="38100">
            <a:solidFill>
              <a:srgbClr val="008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Box 26">
            <a:extLst>
              <a:ext uri="{FF2B5EF4-FFF2-40B4-BE49-F238E27FC236}">
                <a16:creationId xmlns:a16="http://schemas.microsoft.com/office/drawing/2014/main" id="{9A1DD767-7413-FC2C-0A78-1781904A7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0257" y="4743921"/>
            <a:ext cx="720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3/2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CE60F39-761C-C9CA-DAB6-8F90FB5190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0717" y="6211889"/>
            <a:ext cx="390292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28F3F6DF-5924-7F71-A90E-8044E29C5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705047"/>
              </p:ext>
            </p:extLst>
          </p:nvPr>
        </p:nvGraphicFramePr>
        <p:xfrm>
          <a:off x="2491829" y="1556792"/>
          <a:ext cx="2455814" cy="793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18671" imgH="393529" progId="Equation.3">
                  <p:embed/>
                </p:oleObj>
              </mc:Choice>
              <mc:Fallback>
                <p:oleObj name="公式" r:id="rId12" imgW="1218671" imgH="393529" progId="Equation.3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1829" y="1556792"/>
                        <a:ext cx="2455814" cy="7931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>
                <a:ea typeface="黑体" pitchFamily="2" charset="-122"/>
              </a:rPr>
              <a:t>[P119</a:t>
            </a:r>
            <a:r>
              <a:rPr lang="zh-CN" altLang="en-US" sz="3200">
                <a:ea typeface="黑体" pitchFamily="2" charset="-122"/>
              </a:rPr>
              <a:t>例</a:t>
            </a:r>
            <a:r>
              <a:rPr lang="en-US" altLang="zh-CN" sz="3200">
                <a:ea typeface="黑体" pitchFamily="2" charset="-122"/>
              </a:rPr>
              <a:t>3]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35696" y="1399462"/>
            <a:ext cx="8147050" cy="15843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求</a:t>
            </a:r>
            <a:r>
              <a:rPr lang="en-US" altLang="zh-CN" sz="2800" b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(A)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(1)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当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1≤y≤3/2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时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2" charset="-122"/>
            </a:endParaRPr>
          </a:p>
        </p:txBody>
      </p:sp>
      <p:graphicFrame>
        <p:nvGraphicFramePr>
          <p:cNvPr id="3379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79650" y="2593975"/>
          <a:ext cx="3240088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20480" imgH="291960" progId="Equation.3">
                  <p:embed/>
                </p:oleObj>
              </mc:Choice>
              <mc:Fallback>
                <p:oleObj name="公式" r:id="rId3" imgW="1320480" imgH="291960" progId="Equation.3">
                  <p:embed/>
                  <p:pic>
                    <p:nvPicPr>
                      <p:cNvPr id="33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593975"/>
                        <a:ext cx="3240088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006600" y="4568825"/>
          <a:ext cx="198913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26698" imgH="393529" progId="Equation.3">
                  <p:embed/>
                </p:oleObj>
              </mc:Choice>
              <mc:Fallback>
                <p:oleObj name="公式" r:id="rId5" imgW="926698" imgH="393529" progId="Equation.3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4568825"/>
                        <a:ext cx="198913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3531046" y="3873175"/>
          <a:ext cx="23098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93760" imgH="393480" progId="Equation.DSMT4">
                  <p:embed/>
                </p:oleObj>
              </mc:Choice>
              <mc:Fallback>
                <p:oleObj name="Equation" r:id="rId7" imgW="1193760" imgH="393480" progId="Equation.DSMT4">
                  <p:embed/>
                  <p:pic>
                    <p:nvPicPr>
                      <p:cNvPr id="337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1046" y="3873175"/>
                        <a:ext cx="23098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802" name="Rectangle 10"/>
              <p:cNvSpPr>
                <a:spLocks noChangeArrowheads="1"/>
              </p:cNvSpPr>
              <p:nvPr/>
            </p:nvSpPr>
            <p:spPr bwMode="auto">
              <a:xfrm>
                <a:off x="2238624" y="6252616"/>
                <a:ext cx="242887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∴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800" i="1" dirty="0">
                    <a:solidFill>
                      <a:srgbClr val="FF0000"/>
                    </a:solidFill>
                    <a:latin typeface="+mn-lt"/>
                  </a:rPr>
                  <a:t>A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n-lt"/>
                  </a:rPr>
                  <a:t>(</a:t>
                </a:r>
                <a:r>
                  <a:rPr lang="en-US" altLang="zh-CN" sz="2800" i="1" dirty="0">
                    <a:solidFill>
                      <a:srgbClr val="FF0000"/>
                    </a:solidFill>
                    <a:latin typeface="+mn-lt"/>
                  </a:rPr>
                  <a:t>x</a:t>
                </a:r>
                <a:r>
                  <a:rPr lang="en-US" altLang="zh-CN" sz="2800" baseline="-25000" dirty="0">
                    <a:solidFill>
                      <a:srgbClr val="FF0000"/>
                    </a:solidFill>
                    <a:latin typeface="+mn-lt"/>
                  </a:rPr>
                  <a:t>1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n-lt"/>
                  </a:rPr>
                  <a:t>) ≥</a:t>
                </a:r>
                <a:r>
                  <a:rPr lang="en-US" altLang="zh-CN" sz="2800" i="1" dirty="0">
                    <a:solidFill>
                      <a:srgbClr val="FF0000"/>
                    </a:solidFill>
                    <a:latin typeface="+mn-lt"/>
                  </a:rPr>
                  <a:t>A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n-lt"/>
                  </a:rPr>
                  <a:t>(</a:t>
                </a:r>
                <a:r>
                  <a:rPr lang="en-US" altLang="zh-CN" sz="2800" i="1" dirty="0">
                    <a:solidFill>
                      <a:srgbClr val="FF0000"/>
                    </a:solidFill>
                    <a:latin typeface="+mn-lt"/>
                  </a:rPr>
                  <a:t>x</a:t>
                </a:r>
                <a:r>
                  <a:rPr lang="en-US" altLang="zh-CN" sz="1800" baseline="-25000" dirty="0">
                    <a:solidFill>
                      <a:srgbClr val="FF0000"/>
                    </a:solidFill>
                    <a:latin typeface="+mn-lt"/>
                  </a:rPr>
                  <a:t>2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n-lt"/>
                  </a:rPr>
                  <a:t>)</a:t>
                </a:r>
              </a:p>
            </p:txBody>
          </p:sp>
        </mc:Choice>
        <mc:Fallback xmlns="">
          <p:sp>
            <p:nvSpPr>
              <p:cNvPr id="33802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8624" y="6252616"/>
                <a:ext cx="2428870" cy="523220"/>
              </a:xfrm>
              <a:prstGeom prst="rect">
                <a:avLst/>
              </a:prstGeom>
              <a:blipFill>
                <a:blip r:embed="rId9"/>
                <a:stretch>
                  <a:fillRect t="-18605" r="-3509" b="-2558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4007768" y="1904675"/>
            <a:ext cx="14911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C00CC"/>
                </a:solidFill>
              </a:rPr>
              <a:t> </a:t>
            </a:r>
            <a:r>
              <a:rPr lang="en-US" altLang="zh-CN" sz="2800" dirty="0">
                <a:solidFill>
                  <a:srgbClr val="CC00CC"/>
                </a:solidFill>
                <a:latin typeface="+mn-lt"/>
              </a:rPr>
              <a:t>0≤x≤2, </a:t>
            </a:r>
            <a:endParaRPr lang="en-US" altLang="zh-CN" dirty="0">
              <a:solidFill>
                <a:srgbClr val="CC00CC"/>
              </a:solidFill>
              <a:latin typeface="+mn-lt"/>
            </a:endParaRPr>
          </a:p>
        </p:txBody>
      </p:sp>
      <p:graphicFrame>
        <p:nvGraphicFramePr>
          <p:cNvPr id="17419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593462"/>
              </p:ext>
            </p:extLst>
          </p:nvPr>
        </p:nvGraphicFramePr>
        <p:xfrm>
          <a:off x="8924528" y="476251"/>
          <a:ext cx="2932112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88367" imgH="761669" progId="Equation.3">
                  <p:embed/>
                </p:oleObj>
              </mc:Choice>
              <mc:Fallback>
                <p:oleObj name="公式" r:id="rId10" imgW="1688367" imgH="761669" progId="Equation.3">
                  <p:embed/>
                  <p:pic>
                    <p:nvPicPr>
                      <p:cNvPr id="17419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4528" y="476251"/>
                        <a:ext cx="2932112" cy="13239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18193733"/>
              </p:ext>
            </p:extLst>
          </p:nvPr>
        </p:nvGraphicFramePr>
        <p:xfrm>
          <a:off x="9573022" y="1916832"/>
          <a:ext cx="2209139" cy="1080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91880" imgH="533160" progId="Equation.3">
                  <p:embed/>
                </p:oleObj>
              </mc:Choice>
              <mc:Fallback>
                <p:oleObj name="公式" r:id="rId12" imgW="1091880" imgH="533160" progId="Equation.3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3022" y="1916832"/>
                        <a:ext cx="2209139" cy="1080194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96185" y="4553992"/>
          <a:ext cx="28606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46040" imgH="393480" progId="Equation.DSMT4">
                  <p:embed/>
                </p:oleObj>
              </mc:Choice>
              <mc:Fallback>
                <p:oleObj name="Equation" r:id="rId14" imgW="1346040" imgH="39348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6185" y="4553992"/>
                        <a:ext cx="2860675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72123" y="5419180"/>
          <a:ext cx="4884737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98600" imgH="393480" progId="Equation.DSMT4">
                  <p:embed/>
                </p:oleObj>
              </mc:Choice>
              <mc:Fallback>
                <p:oleObj name="Equation" r:id="rId16" imgW="2298600" imgH="39348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2123" y="5419180"/>
                        <a:ext cx="4884737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Grp="1" noChangeAspect="1"/>
          </p:cNvGraphicFramePr>
          <p:nvPr/>
        </p:nvGraphicFramePr>
        <p:xfrm>
          <a:off x="3557430" y="3284276"/>
          <a:ext cx="23812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77760" imgH="228600" progId="Equation.DSMT4">
                  <p:embed/>
                </p:oleObj>
              </mc:Choice>
              <mc:Fallback>
                <p:oleObj name="Equation" r:id="rId18" imgW="977760" imgH="228600" progId="Equation.DSMT4">
                  <p:embed/>
                  <p:pic>
                    <p:nvPicPr>
                      <p:cNvPr id="6" name="对象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430" y="3284276"/>
                        <a:ext cx="23812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7E836133-AB34-479A-8C79-D1ACB473FAE7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887594" y="3284277"/>
          <a:ext cx="12065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95000" imgH="228600" progId="Equation.DSMT4">
                  <p:embed/>
                </p:oleObj>
              </mc:Choice>
              <mc:Fallback>
                <p:oleObj name="Equation" r:id="rId20" imgW="495000" imgH="22860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7E836133-AB34-479A-8C79-D1ACB473FAE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7594" y="3284277"/>
                        <a:ext cx="12065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D10F49F9-B398-5C70-A366-B0BBDB15C9D4}"/>
              </a:ext>
            </a:extLst>
          </p:cNvPr>
          <p:cNvGrpSpPr/>
          <p:nvPr/>
        </p:nvGrpSpPr>
        <p:grpSpPr>
          <a:xfrm>
            <a:off x="7885483" y="3284984"/>
            <a:ext cx="3467101" cy="3467101"/>
            <a:chOff x="5292080" y="6897738"/>
            <a:chExt cx="3467101" cy="3467101"/>
          </a:xfrm>
        </p:grpSpPr>
        <p:pic>
          <p:nvPicPr>
            <p:cNvPr id="7" name="图片 6" descr="形状&#10;&#10;描述已自动生成">
              <a:extLst>
                <a:ext uri="{FF2B5EF4-FFF2-40B4-BE49-F238E27FC236}">
                  <a16:creationId xmlns:a16="http://schemas.microsoft.com/office/drawing/2014/main" id="{60880A32-4777-48A4-BDC3-D8CB6652C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2080" y="6897738"/>
              <a:ext cx="3467101" cy="3467101"/>
            </a:xfrm>
            <a:prstGeom prst="rect">
              <a:avLst/>
            </a:prstGeom>
          </p:spPr>
        </p:pic>
        <p:sp>
          <p:nvSpPr>
            <p:cNvPr id="8" name="Line 20">
              <a:extLst>
                <a:ext uri="{FF2B5EF4-FFF2-40B4-BE49-F238E27FC236}">
                  <a16:creationId xmlns:a16="http://schemas.microsoft.com/office/drawing/2014/main" id="{0E081F28-DB5C-3380-AA51-835E5AD56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4869" y="8530171"/>
              <a:ext cx="1514028" cy="6645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4">
              <a:extLst>
                <a:ext uri="{FF2B5EF4-FFF2-40B4-BE49-F238E27FC236}">
                  <a16:creationId xmlns:a16="http://schemas.microsoft.com/office/drawing/2014/main" id="{6206FE84-5571-7034-7888-9324C3BF02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78898" y="8498766"/>
              <a:ext cx="0" cy="147156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1" name="Text Box 26">
            <a:extLst>
              <a:ext uri="{FF2B5EF4-FFF2-40B4-BE49-F238E27FC236}">
                <a16:creationId xmlns:a16="http://schemas.microsoft.com/office/drawing/2014/main" id="{2730B26F-E529-E264-589D-AAB557324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193" y="4773813"/>
            <a:ext cx="720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solidFill>
                  <a:srgbClr val="FF0000"/>
                </a:solidFill>
              </a:rPr>
              <a:t>3/2</a:t>
            </a:r>
          </a:p>
        </p:txBody>
      </p:sp>
      <p:sp>
        <p:nvSpPr>
          <p:cNvPr id="12" name="Line 28">
            <a:extLst>
              <a:ext uri="{FF2B5EF4-FFF2-40B4-BE49-F238E27FC236}">
                <a16:creationId xmlns:a16="http://schemas.microsoft.com/office/drawing/2014/main" id="{FECAA292-019A-B648-AE5B-F4785DA9A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8272" y="5393359"/>
            <a:ext cx="1514027" cy="589271"/>
          </a:xfrm>
          <a:prstGeom prst="line">
            <a:avLst/>
          </a:prstGeom>
          <a:noFill/>
          <a:ln w="76200">
            <a:solidFill>
              <a:srgbClr val="66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DAAEEAB-115F-DC04-68EB-3E1AB681C8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548" y="6322852"/>
            <a:ext cx="610445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2" grpId="0"/>
      <p:bldP spid="33821" grpId="0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>
                <a:ea typeface="黑体" pitchFamily="2" charset="-122"/>
              </a:rPr>
              <a:t>[P119</a:t>
            </a:r>
            <a:r>
              <a:rPr lang="zh-CN" altLang="en-US" sz="3200">
                <a:ea typeface="黑体" pitchFamily="2" charset="-122"/>
              </a:rPr>
              <a:t>例</a:t>
            </a:r>
            <a:r>
              <a:rPr lang="en-US" altLang="zh-CN" sz="3200">
                <a:ea typeface="黑体" pitchFamily="2" charset="-122"/>
              </a:rPr>
              <a:t>3]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412876"/>
            <a:ext cx="8147050" cy="2957761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2400" dirty="0"/>
              <a:t>(2)</a:t>
            </a:r>
            <a:r>
              <a:rPr lang="zh-CN" altLang="en-US" sz="2400" dirty="0"/>
              <a:t>当</a:t>
            </a:r>
            <a:r>
              <a:rPr lang="en-US" altLang="zh-CN" sz="2400" dirty="0"/>
              <a:t>3/2&lt;y≤3</a:t>
            </a:r>
            <a:r>
              <a:rPr lang="zh-CN" altLang="en-US" sz="2400" dirty="0"/>
              <a:t>时</a:t>
            </a:r>
            <a:r>
              <a:rPr lang="en-US" altLang="zh-CN" sz="2400" dirty="0"/>
              <a:t>, 1≤ |x-1| ≤2</a:t>
            </a:r>
            <a:r>
              <a:rPr lang="zh-CN" altLang="en-US" sz="2400" dirty="0"/>
              <a:t>，得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                       </a:t>
            </a:r>
            <a:r>
              <a:rPr lang="en-US" altLang="zh-CN" sz="2400" dirty="0">
                <a:solidFill>
                  <a:srgbClr val="CC00CC"/>
                </a:solidFill>
                <a:latin typeface="+mj-lt"/>
              </a:rPr>
              <a:t>-1&lt; x</a:t>
            </a:r>
            <a:r>
              <a:rPr lang="en-US" altLang="zh-CN" sz="2400" baseline="-25000" dirty="0">
                <a:solidFill>
                  <a:srgbClr val="CC00CC"/>
                </a:solidFill>
                <a:latin typeface="+mj-lt"/>
              </a:rPr>
              <a:t>1</a:t>
            </a:r>
            <a:r>
              <a:rPr lang="en-US" altLang="zh-CN" sz="2400" dirty="0">
                <a:solidFill>
                  <a:srgbClr val="CC00CC"/>
                </a:solidFill>
                <a:latin typeface="+mj-lt"/>
              </a:rPr>
              <a:t>≤0 </a:t>
            </a:r>
            <a:r>
              <a:rPr lang="zh-CN" altLang="en-US" sz="2400" dirty="0">
                <a:solidFill>
                  <a:srgbClr val="0000FF"/>
                </a:solidFill>
                <a:latin typeface="+mj-lt"/>
              </a:rPr>
              <a:t>且 </a:t>
            </a:r>
            <a:r>
              <a:rPr lang="en-US" altLang="zh-CN" sz="2400" dirty="0">
                <a:solidFill>
                  <a:srgbClr val="CC00CC"/>
                </a:solidFill>
                <a:latin typeface="+mj-lt"/>
              </a:rPr>
              <a:t>2&lt; x</a:t>
            </a:r>
            <a:r>
              <a:rPr lang="en-US" altLang="zh-CN" sz="2400" baseline="-25000" dirty="0">
                <a:solidFill>
                  <a:srgbClr val="CC00CC"/>
                </a:solidFill>
                <a:latin typeface="+mj-lt"/>
              </a:rPr>
              <a:t>2</a:t>
            </a:r>
            <a:r>
              <a:rPr lang="en-US" altLang="zh-CN" sz="2400" dirty="0">
                <a:solidFill>
                  <a:srgbClr val="CC00CC"/>
                </a:solidFill>
                <a:latin typeface="+mj-lt"/>
              </a:rPr>
              <a:t>≤3</a:t>
            </a:r>
            <a:r>
              <a:rPr lang="en-US" altLang="zh-CN" sz="2400" dirty="0">
                <a:solidFill>
                  <a:srgbClr val="0000FF"/>
                </a:solidFill>
                <a:latin typeface="+mj-lt"/>
              </a:rPr>
              <a:t>,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000" dirty="0">
              <a:solidFill>
                <a:srgbClr val="0000FF"/>
              </a:solidFill>
              <a:latin typeface="+mj-lt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    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12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     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graphicFrame>
        <p:nvGraphicFramePr>
          <p:cNvPr id="30730" name="Object 10"/>
          <p:cNvGraphicFramePr>
            <a:graphicFrameLocks noChangeAspect="1"/>
          </p:cNvGraphicFramePr>
          <p:nvPr/>
        </p:nvGraphicFramePr>
        <p:xfrm>
          <a:off x="2135560" y="2335013"/>
          <a:ext cx="339883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20480" imgH="291960" progId="Equation.3">
                  <p:embed/>
                </p:oleObj>
              </mc:Choice>
              <mc:Fallback>
                <p:oleObj name="公式" r:id="rId3" imgW="1320480" imgH="291960" progId="Equation.3">
                  <p:embed/>
                  <p:pic>
                    <p:nvPicPr>
                      <p:cNvPr id="307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2335013"/>
                        <a:ext cx="339883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1" name="Line 31"/>
          <p:cNvSpPr>
            <a:spLocks noChangeShapeType="1"/>
          </p:cNvSpPr>
          <p:nvPr/>
        </p:nvSpPr>
        <p:spPr bwMode="auto">
          <a:xfrm flipV="1">
            <a:off x="8080213" y="5468058"/>
            <a:ext cx="576263" cy="576262"/>
          </a:xfrm>
          <a:prstGeom prst="line">
            <a:avLst/>
          </a:prstGeom>
          <a:noFill/>
          <a:ln w="38100">
            <a:solidFill>
              <a:srgbClr val="66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52" name="Line 32"/>
          <p:cNvSpPr>
            <a:spLocks noChangeShapeType="1"/>
          </p:cNvSpPr>
          <p:nvPr/>
        </p:nvSpPr>
        <p:spPr bwMode="auto">
          <a:xfrm>
            <a:off x="9866854" y="5828420"/>
            <a:ext cx="649288" cy="215900"/>
          </a:xfrm>
          <a:prstGeom prst="line">
            <a:avLst/>
          </a:prstGeom>
          <a:noFill/>
          <a:ln w="38100">
            <a:solidFill>
              <a:srgbClr val="66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44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307237"/>
              </p:ext>
            </p:extLst>
          </p:nvPr>
        </p:nvGraphicFramePr>
        <p:xfrm>
          <a:off x="8924528" y="476251"/>
          <a:ext cx="2932112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88367" imgH="761669" progId="Equation.3">
                  <p:embed/>
                </p:oleObj>
              </mc:Choice>
              <mc:Fallback>
                <p:oleObj name="公式" r:id="rId5" imgW="1688367" imgH="761669" progId="Equation.3">
                  <p:embed/>
                  <p:pic>
                    <p:nvPicPr>
                      <p:cNvPr id="1844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4528" y="476251"/>
                        <a:ext cx="2932112" cy="13239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535363" y="3054659"/>
          <a:ext cx="251936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77760" imgH="228600" progId="Equation.DSMT4">
                  <p:embed/>
                </p:oleObj>
              </mc:Choice>
              <mc:Fallback>
                <p:oleObj name="Equation" r:id="rId7" imgW="977760" imgH="2286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363" y="3054659"/>
                        <a:ext cx="2519362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14845" y="3673076"/>
          <a:ext cx="246697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939600" imgH="253800" progId="Equation.3">
                  <p:embed/>
                </p:oleObj>
              </mc:Choice>
              <mc:Fallback>
                <p:oleObj name="公式" r:id="rId9" imgW="939600" imgH="25380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845" y="3673076"/>
                        <a:ext cx="2466975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Grp="1" noChangeAspect="1"/>
          </p:cNvGraphicFramePr>
          <p:nvPr/>
        </p:nvGraphicFramePr>
        <p:xfrm>
          <a:off x="1756787" y="4465233"/>
          <a:ext cx="17986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838080" imgH="215640" progId="Equation.3">
                  <p:embed/>
                </p:oleObj>
              </mc:Choice>
              <mc:Fallback>
                <p:oleObj name="公式" r:id="rId11" imgW="838080" imgH="215640" progId="Equation.3">
                  <p:embed/>
                  <p:pic>
                    <p:nvPicPr>
                      <p:cNvPr id="5" name="对象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6787" y="4465233"/>
                        <a:ext cx="179863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731072" y="5760740"/>
          <a:ext cx="253682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93760" imgH="393480" progId="Equation.DSMT4">
                  <p:embed/>
                </p:oleObj>
              </mc:Choice>
              <mc:Fallback>
                <p:oleObj name="Equation" r:id="rId13" imgW="1193760" imgH="3934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1072" y="5760740"/>
                        <a:ext cx="253682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07576" y="5013177"/>
          <a:ext cx="4884737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98600" imgH="393480" progId="Equation.DSMT4">
                  <p:embed/>
                </p:oleObj>
              </mc:Choice>
              <mc:Fallback>
                <p:oleObj name="Equation" r:id="rId15" imgW="2298600" imgH="39348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576" y="5013177"/>
                        <a:ext cx="4884737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10"/>
              <p:cNvSpPr>
                <a:spLocks noChangeArrowheads="1"/>
              </p:cNvSpPr>
              <p:nvPr/>
            </p:nvSpPr>
            <p:spPr bwMode="auto">
              <a:xfrm>
                <a:off x="1546223" y="6334780"/>
                <a:ext cx="230165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/>
                      </a:rPr>
                      <m:t>∴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altLang="zh-CN" sz="2800" i="1" dirty="0">
                    <a:solidFill>
                      <a:srgbClr val="FF0000"/>
                    </a:solidFill>
                    <a:latin typeface="+mn-lt"/>
                  </a:rPr>
                  <a:t>A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n-lt"/>
                  </a:rPr>
                  <a:t>(</a:t>
                </a:r>
                <a:r>
                  <a:rPr lang="en-US" altLang="zh-CN" sz="2800" i="1" dirty="0">
                    <a:solidFill>
                      <a:srgbClr val="FF0000"/>
                    </a:solidFill>
                    <a:latin typeface="+mn-lt"/>
                  </a:rPr>
                  <a:t>x</a:t>
                </a:r>
                <a:r>
                  <a:rPr lang="en-US" altLang="zh-CN" sz="2800" baseline="-25000" dirty="0">
                    <a:solidFill>
                      <a:srgbClr val="FF0000"/>
                    </a:solidFill>
                    <a:latin typeface="+mn-lt"/>
                  </a:rPr>
                  <a:t>1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n-lt"/>
                  </a:rPr>
                  <a:t>) ≥</a:t>
                </a:r>
                <a:r>
                  <a:rPr lang="en-US" altLang="zh-CN" sz="2800" i="1" dirty="0">
                    <a:solidFill>
                      <a:srgbClr val="FF0000"/>
                    </a:solidFill>
                    <a:latin typeface="+mn-lt"/>
                  </a:rPr>
                  <a:t>A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n-lt"/>
                  </a:rPr>
                  <a:t>(</a:t>
                </a:r>
                <a:r>
                  <a:rPr lang="en-US" altLang="zh-CN" sz="2800" i="1" dirty="0">
                    <a:solidFill>
                      <a:srgbClr val="FF0000"/>
                    </a:solidFill>
                    <a:latin typeface="+mn-lt"/>
                  </a:rPr>
                  <a:t>x</a:t>
                </a:r>
                <a:r>
                  <a:rPr lang="en-US" altLang="zh-CN" sz="1800" baseline="-25000" dirty="0">
                    <a:solidFill>
                      <a:srgbClr val="FF0000"/>
                    </a:solidFill>
                    <a:latin typeface="+mn-lt"/>
                  </a:rPr>
                  <a:t>2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n-lt"/>
                  </a:rPr>
                  <a:t>)</a:t>
                </a:r>
              </a:p>
            </p:txBody>
          </p:sp>
        </mc:Choice>
        <mc:Fallback xmlns="">
          <p:sp>
            <p:nvSpPr>
              <p:cNvPr id="33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6223" y="6334780"/>
                <a:ext cx="2301656" cy="523220"/>
              </a:xfrm>
              <a:prstGeom prst="rect">
                <a:avLst/>
              </a:prstGeom>
              <a:blipFill>
                <a:blip r:embed="rId17"/>
                <a:stretch>
                  <a:fillRect t="-11628" r="-4775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605557" y="4370635"/>
          <a:ext cx="2376263" cy="642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939600" imgH="253800" progId="Equation.3">
                  <p:embed/>
                </p:oleObj>
              </mc:Choice>
              <mc:Fallback>
                <p:oleObj name="公式" r:id="rId18" imgW="939600" imgH="2538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557" y="4370635"/>
                        <a:ext cx="2376263" cy="642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041702138"/>
              </p:ext>
            </p:extLst>
          </p:nvPr>
        </p:nvGraphicFramePr>
        <p:xfrm>
          <a:off x="9572228" y="1916832"/>
          <a:ext cx="22098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091880" imgH="533160" progId="Equation.3">
                  <p:embed/>
                </p:oleObj>
              </mc:Choice>
              <mc:Fallback>
                <p:oleObj name="公式" r:id="rId20" imgW="1091880" imgH="533160" progId="Equation.3">
                  <p:embed/>
                  <p:pic>
                    <p:nvPicPr>
                      <p:cNvPr id="9" name="对象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228" y="1916832"/>
                        <a:ext cx="2209800" cy="1081088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5EA51D95-0CE0-4AE3-AA21-4173D9E4B1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5566" y="3058630"/>
          <a:ext cx="127635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95000" imgH="228600" progId="Equation.DSMT4">
                  <p:embed/>
                </p:oleObj>
              </mc:Choice>
              <mc:Fallback>
                <p:oleObj name="Equation" r:id="rId22" imgW="495000" imgH="2286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5EA51D95-0CE0-4AE3-AA21-4173D9E4B1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5566" y="3058630"/>
                        <a:ext cx="127635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77C18952-F47F-0AD6-F670-FC6663A10F07}"/>
              </a:ext>
            </a:extLst>
          </p:cNvPr>
          <p:cNvGrpSpPr/>
          <p:nvPr/>
        </p:nvGrpSpPr>
        <p:grpSpPr>
          <a:xfrm>
            <a:off x="7959153" y="3356992"/>
            <a:ext cx="3467101" cy="3467101"/>
            <a:chOff x="5292080" y="6897738"/>
            <a:chExt cx="3467101" cy="3467101"/>
          </a:xfrm>
        </p:grpSpPr>
        <p:pic>
          <p:nvPicPr>
            <p:cNvPr id="10" name="图片 9" descr="形状&#10;&#10;描述已自动生成">
              <a:extLst>
                <a:ext uri="{FF2B5EF4-FFF2-40B4-BE49-F238E27FC236}">
                  <a16:creationId xmlns:a16="http://schemas.microsoft.com/office/drawing/2014/main" id="{1C592C67-DADA-CDCA-764E-42F4258BF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2080" y="6897738"/>
              <a:ext cx="3467101" cy="3467101"/>
            </a:xfrm>
            <a:prstGeom prst="rect">
              <a:avLst/>
            </a:prstGeom>
          </p:spPr>
        </p:pic>
        <p:sp>
          <p:nvSpPr>
            <p:cNvPr id="11" name="Line 20">
              <a:extLst>
                <a:ext uri="{FF2B5EF4-FFF2-40B4-BE49-F238E27FC236}">
                  <a16:creationId xmlns:a16="http://schemas.microsoft.com/office/drawing/2014/main" id="{45AF5B77-AF10-5804-3B7D-376E215A2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4869" y="8530171"/>
              <a:ext cx="1514028" cy="6645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598BFBF1-2B61-8B12-2877-CB98C0A8D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78898" y="8498766"/>
              <a:ext cx="0" cy="147156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3" name="Text Box 26">
            <a:extLst>
              <a:ext uri="{FF2B5EF4-FFF2-40B4-BE49-F238E27FC236}">
                <a16:creationId xmlns:a16="http://schemas.microsoft.com/office/drawing/2014/main" id="{C1A677D3-3D38-E082-D375-9D718F4FE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9863" y="4845821"/>
            <a:ext cx="720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solidFill>
                  <a:srgbClr val="FF0000"/>
                </a:solidFill>
              </a:rPr>
              <a:t>3/2</a:t>
            </a:r>
          </a:p>
        </p:txBody>
      </p:sp>
      <p:sp>
        <p:nvSpPr>
          <p:cNvPr id="14" name="Line 28">
            <a:extLst>
              <a:ext uri="{FF2B5EF4-FFF2-40B4-BE49-F238E27FC236}">
                <a16:creationId xmlns:a16="http://schemas.microsoft.com/office/drawing/2014/main" id="{64624423-071B-3174-6C44-1AD06DEC7E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70440" y="5465366"/>
            <a:ext cx="761501" cy="934007"/>
          </a:xfrm>
          <a:prstGeom prst="line">
            <a:avLst/>
          </a:prstGeom>
          <a:noFill/>
          <a:ln w="76200">
            <a:solidFill>
              <a:srgbClr val="66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28">
            <a:extLst>
              <a:ext uri="{FF2B5EF4-FFF2-40B4-BE49-F238E27FC236}">
                <a16:creationId xmlns:a16="http://schemas.microsoft.com/office/drawing/2014/main" id="{57B7F7D9-B1DE-1B03-8903-40DA54A972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458969" y="6080434"/>
            <a:ext cx="730820" cy="248531"/>
          </a:xfrm>
          <a:prstGeom prst="line">
            <a:avLst/>
          </a:prstGeom>
          <a:noFill/>
          <a:ln w="76200">
            <a:solidFill>
              <a:srgbClr val="66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0CF7A39A-0113-1C47-AC94-E23A3BABDB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-7032" y="6306401"/>
            <a:ext cx="400694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/>
      <p:bldP spid="30751" grpId="0" uiExpand="1" animBg="1"/>
      <p:bldP spid="30752" grpId="0" uiExpand="1" animBg="1"/>
      <p:bldP spid="33" grpId="0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>
                <a:ea typeface="黑体" pitchFamily="2" charset="-122"/>
              </a:rPr>
              <a:t>[P119</a:t>
            </a:r>
            <a:r>
              <a:rPr lang="zh-CN" altLang="en-US" sz="3200">
                <a:ea typeface="黑体" pitchFamily="2" charset="-122"/>
              </a:rPr>
              <a:t>例</a:t>
            </a:r>
            <a:r>
              <a:rPr lang="en-US" altLang="zh-CN" sz="3200">
                <a:ea typeface="黑体" pitchFamily="2" charset="-122"/>
              </a:rPr>
              <a:t>3]</a:t>
            </a:r>
          </a:p>
        </p:txBody>
      </p:sp>
      <p:graphicFrame>
        <p:nvGraphicFramePr>
          <p:cNvPr id="19459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45461699"/>
              </p:ext>
            </p:extLst>
          </p:nvPr>
        </p:nvGraphicFramePr>
        <p:xfrm>
          <a:off x="1381597" y="1704932"/>
          <a:ext cx="5540375" cy="279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63480" imgH="1244520" progId="Equation.DSMT4">
                  <p:embed/>
                </p:oleObj>
              </mc:Choice>
              <mc:Fallback>
                <p:oleObj name="Equation" r:id="rId2" imgW="2463480" imgH="1244520" progId="Equation.DSMT4">
                  <p:embed/>
                  <p:pic>
                    <p:nvPicPr>
                      <p:cNvPr id="1945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597" y="1704932"/>
                        <a:ext cx="5540375" cy="279876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D900ADC1-F9DA-CB9E-8D08-237D05576C58}"/>
              </a:ext>
            </a:extLst>
          </p:cNvPr>
          <p:cNvGrpSpPr/>
          <p:nvPr/>
        </p:nvGrpSpPr>
        <p:grpSpPr>
          <a:xfrm>
            <a:off x="7615968" y="1802543"/>
            <a:ext cx="4068974" cy="3749800"/>
            <a:chOff x="5463778" y="3645024"/>
            <a:chExt cx="3644726" cy="3424611"/>
          </a:xfrm>
        </p:grpSpPr>
        <p:pic>
          <p:nvPicPr>
            <p:cNvPr id="3" name="图片 2" descr="形状&#10;&#10;描述已自动生成">
              <a:extLst>
                <a:ext uri="{FF2B5EF4-FFF2-40B4-BE49-F238E27FC236}">
                  <a16:creationId xmlns:a16="http://schemas.microsoft.com/office/drawing/2014/main" id="{DB998701-FA5F-C1E5-634F-E7BB56A64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3778" y="3645024"/>
              <a:ext cx="3644726" cy="3424611"/>
            </a:xfrm>
            <a:prstGeom prst="rect">
              <a:avLst/>
            </a:prstGeom>
          </p:spPr>
        </p:pic>
        <p:sp>
          <p:nvSpPr>
            <p:cNvPr id="4" name="Line 20">
              <a:extLst>
                <a:ext uri="{FF2B5EF4-FFF2-40B4-BE49-F238E27FC236}">
                  <a16:creationId xmlns:a16="http://schemas.microsoft.com/office/drawing/2014/main" id="{EDF05EE4-3ECD-E3D0-DE85-949527AD3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6392" y="5173166"/>
              <a:ext cx="1514028" cy="6645"/>
            </a:xfrm>
            <a:prstGeom prst="line">
              <a:avLst/>
            </a:prstGeom>
            <a:noFill/>
            <a:ln w="38100">
              <a:solidFill>
                <a:srgbClr val="A6A6A6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14">
              <a:extLst>
                <a:ext uri="{FF2B5EF4-FFF2-40B4-BE49-F238E27FC236}">
                  <a16:creationId xmlns:a16="http://schemas.microsoft.com/office/drawing/2014/main" id="{07D8F95C-CDDF-9AED-6FD9-7F4AE05E07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90420" y="5157192"/>
              <a:ext cx="0" cy="1471561"/>
            </a:xfrm>
            <a:prstGeom prst="lin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" name="Text Box 26">
              <a:extLst>
                <a:ext uri="{FF2B5EF4-FFF2-40B4-BE49-F238E27FC236}">
                  <a16:creationId xmlns:a16="http://schemas.microsoft.com/office/drawing/2014/main" id="{DA635B18-5582-70E1-98A7-7D489347D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7566" y="5043799"/>
              <a:ext cx="7207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0000"/>
                  </a:solidFill>
                </a:rPr>
                <a:t>3/2</a:t>
              </a:r>
            </a:p>
          </p:txBody>
        </p:sp>
      </p:grpSp>
      <p:graphicFrame>
        <p:nvGraphicFramePr>
          <p:cNvPr id="8" name="对象 1">
            <a:extLst>
              <a:ext uri="{FF2B5EF4-FFF2-40B4-BE49-F238E27FC236}">
                <a16:creationId xmlns:a16="http://schemas.microsoft.com/office/drawing/2014/main" id="{01AD1458-672E-374C-8CCD-B20F4B16EE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222691"/>
              </p:ext>
            </p:extLst>
          </p:nvPr>
        </p:nvGraphicFramePr>
        <p:xfrm>
          <a:off x="4007768" y="5134163"/>
          <a:ext cx="3608200" cy="1629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88367" imgH="761669" progId="Equation.3">
                  <p:embed/>
                </p:oleObj>
              </mc:Choice>
              <mc:Fallback>
                <p:oleObj name="公式" r:id="rId5" imgW="1688367" imgH="761669" progId="Equation.3">
                  <p:embed/>
                  <p:pic>
                    <p:nvPicPr>
                      <p:cNvPr id="8" name="对象 1">
                        <a:extLst>
                          <a:ext uri="{FF2B5EF4-FFF2-40B4-BE49-F238E27FC236}">
                            <a16:creationId xmlns:a16="http://schemas.microsoft.com/office/drawing/2014/main" id="{01AD1458-672E-374C-8CCD-B20F4B16EE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768" y="5134163"/>
                        <a:ext cx="3608200" cy="162925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CF6176EF-B9D0-1573-44B6-99C4C69C3B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393754"/>
              </p:ext>
            </p:extLst>
          </p:nvPr>
        </p:nvGraphicFramePr>
        <p:xfrm>
          <a:off x="911424" y="5552343"/>
          <a:ext cx="2862855" cy="92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218671" imgH="393529" progId="Equation.3">
                  <p:embed/>
                </p:oleObj>
              </mc:Choice>
              <mc:Fallback>
                <p:oleObj name="公式" r:id="rId7" imgW="1218671" imgH="393529" progId="Equation.3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CF6176EF-B9D0-1573-44B6-99C4C69C3B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5552343"/>
                        <a:ext cx="2862855" cy="92465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4A1B26-45D6-A231-9044-02C34B62EE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F209AC-A2D1-49EF-BE0C-2B9240FE767E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>
                <a:ea typeface="黑体" pitchFamily="2" charset="-122"/>
              </a:rPr>
              <a:t>[P120</a:t>
            </a:r>
            <a:r>
              <a:rPr lang="zh-CN" altLang="en-US" sz="3200">
                <a:ea typeface="黑体" pitchFamily="2" charset="-122"/>
              </a:rPr>
              <a:t>例</a:t>
            </a:r>
            <a:r>
              <a:rPr lang="en-US" altLang="zh-CN" sz="3200">
                <a:ea typeface="黑体" pitchFamily="2" charset="-122"/>
              </a:rPr>
              <a:t>4]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1950" y="1341438"/>
            <a:ext cx="8362950" cy="41846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设论域</a:t>
            </a:r>
            <a:r>
              <a:rPr lang="en-US" altLang="zh-CN" dirty="0">
                <a:ea typeface="黑体" pitchFamily="2" charset="-122"/>
              </a:rPr>
              <a:t>X,Y</a:t>
            </a:r>
            <a:r>
              <a:rPr lang="zh-CN" altLang="en-US" dirty="0">
                <a:ea typeface="黑体" pitchFamily="2" charset="-122"/>
              </a:rPr>
              <a:t>为实数域</a:t>
            </a:r>
            <a:r>
              <a:rPr lang="en-US" altLang="zh-CN" dirty="0">
                <a:ea typeface="黑体" pitchFamily="2" charset="-122"/>
              </a:rPr>
              <a:t>,</a:t>
            </a:r>
            <a:r>
              <a:rPr lang="zh-CN" altLang="en-US" dirty="0">
                <a:ea typeface="黑体" pitchFamily="2" charset="-122"/>
              </a:rPr>
              <a:t>映射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      </a:t>
            </a:r>
            <a:r>
              <a:rPr lang="en-US" altLang="zh-CN" b="1" dirty="0">
                <a:latin typeface="Monotype Corsiva" pitchFamily="66" charset="0"/>
              </a:rPr>
              <a:t>f </a:t>
            </a:r>
            <a:r>
              <a:rPr lang="en-US" altLang="zh-CN" dirty="0"/>
              <a:t>: X</a:t>
            </a:r>
            <a:r>
              <a:rPr lang="en-US" altLang="zh-CN" dirty="0">
                <a:sym typeface="Symbol"/>
              </a:rPr>
              <a:t></a:t>
            </a:r>
            <a:r>
              <a:rPr lang="en-US" altLang="zh-CN" dirty="0"/>
              <a:t>Y             x|</a:t>
            </a:r>
            <a:r>
              <a:rPr lang="en-US" altLang="zh-CN" dirty="0">
                <a:sym typeface="Symbol"/>
              </a:rPr>
              <a:t></a:t>
            </a:r>
            <a:r>
              <a:rPr lang="en-US" altLang="zh-CN" dirty="0"/>
              <a:t>y=</a:t>
            </a:r>
            <a:r>
              <a:rPr lang="en-US" altLang="zh-CN" b="1" dirty="0">
                <a:latin typeface="Monotype Corsiva" pitchFamily="66" charset="0"/>
              </a:rPr>
              <a:t>f </a:t>
            </a:r>
            <a:r>
              <a:rPr lang="en-US" altLang="zh-CN" dirty="0"/>
              <a:t>(x)=1+sin</a:t>
            </a:r>
            <a:r>
              <a:rPr lang="en-US" altLang="zh-CN" i="1" dirty="0"/>
              <a:t>x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i="1" dirty="0"/>
              <a:t>    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i="1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i="1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i="1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求</a:t>
            </a:r>
            <a:r>
              <a:rPr lang="en-US" altLang="zh-CN" sz="2800" b="1" dirty="0">
                <a:latin typeface="Monotype Corsiva" pitchFamily="66" charset="0"/>
              </a:rPr>
              <a:t>f </a:t>
            </a:r>
            <a:r>
              <a:rPr lang="en-US" altLang="zh-CN" sz="2800" dirty="0"/>
              <a:t>(A).</a:t>
            </a:r>
          </a:p>
        </p:txBody>
      </p:sp>
      <p:graphicFrame>
        <p:nvGraphicFramePr>
          <p:cNvPr id="2048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14930417"/>
              </p:ext>
            </p:extLst>
          </p:nvPr>
        </p:nvGraphicFramePr>
        <p:xfrm>
          <a:off x="2118262" y="2729152"/>
          <a:ext cx="4119562" cy="159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11300" imgH="584200" progId="Equation.3">
                  <p:embed/>
                </p:oleObj>
              </mc:Choice>
              <mc:Fallback>
                <p:oleObj name="公式" r:id="rId2" imgW="1511300" imgH="584200" progId="Equation.3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262" y="2729152"/>
                        <a:ext cx="4119562" cy="159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5" name="组合 1"/>
          <p:cNvGrpSpPr>
            <a:grpSpLocks/>
          </p:cNvGrpSpPr>
          <p:nvPr/>
        </p:nvGrpSpPr>
        <p:grpSpPr bwMode="auto">
          <a:xfrm>
            <a:off x="6425138" y="2780774"/>
            <a:ext cx="5448300" cy="3714809"/>
            <a:chOff x="36230" y="3156655"/>
            <a:chExt cx="5448708" cy="3713603"/>
          </a:xfrm>
        </p:grpSpPr>
        <p:grpSp>
          <p:nvGrpSpPr>
            <p:cNvPr id="20486" name="组合 35"/>
            <p:cNvGrpSpPr>
              <a:grpSpLocks/>
            </p:cNvGrpSpPr>
            <p:nvPr/>
          </p:nvGrpSpPr>
          <p:grpSpPr bwMode="auto">
            <a:xfrm>
              <a:off x="36230" y="3156655"/>
              <a:ext cx="5448708" cy="3713603"/>
              <a:chOff x="1706719" y="2281768"/>
              <a:chExt cx="5448708" cy="3713603"/>
            </a:xfrm>
          </p:grpSpPr>
          <p:sp>
            <p:nvSpPr>
              <p:cNvPr id="20488" name="Line 96"/>
              <p:cNvSpPr>
                <a:spLocks noChangeShapeType="1"/>
              </p:cNvSpPr>
              <p:nvPr/>
            </p:nvSpPr>
            <p:spPr bwMode="auto">
              <a:xfrm flipV="1">
                <a:off x="2142360" y="2630494"/>
                <a:ext cx="0" cy="29265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89" name="Line 97"/>
              <p:cNvSpPr>
                <a:spLocks noChangeShapeType="1"/>
              </p:cNvSpPr>
              <p:nvPr/>
            </p:nvSpPr>
            <p:spPr bwMode="auto">
              <a:xfrm>
                <a:off x="2142360" y="5557028"/>
                <a:ext cx="4867320" cy="15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0" name="Line 98"/>
              <p:cNvSpPr>
                <a:spLocks noChangeShapeType="1"/>
              </p:cNvSpPr>
              <p:nvPr/>
            </p:nvSpPr>
            <p:spPr bwMode="auto">
              <a:xfrm flipV="1">
                <a:off x="6574039" y="5487897"/>
                <a:ext cx="0" cy="691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1" name="Line 99"/>
              <p:cNvSpPr>
                <a:spLocks noChangeShapeType="1"/>
              </p:cNvSpPr>
              <p:nvPr/>
            </p:nvSpPr>
            <p:spPr bwMode="auto">
              <a:xfrm flipV="1">
                <a:off x="6210472" y="5487897"/>
                <a:ext cx="0" cy="691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2" name="Line 100"/>
              <p:cNvSpPr>
                <a:spLocks noChangeShapeType="1"/>
              </p:cNvSpPr>
              <p:nvPr/>
            </p:nvSpPr>
            <p:spPr bwMode="auto">
              <a:xfrm flipV="1">
                <a:off x="4975624" y="5487897"/>
                <a:ext cx="0" cy="691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3" name="Line 101"/>
              <p:cNvSpPr>
                <a:spLocks noChangeShapeType="1"/>
              </p:cNvSpPr>
              <p:nvPr/>
            </p:nvSpPr>
            <p:spPr bwMode="auto">
              <a:xfrm flipV="1">
                <a:off x="3305135" y="5487897"/>
                <a:ext cx="0" cy="691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4" name="Line 102"/>
              <p:cNvSpPr>
                <a:spLocks noChangeShapeType="1"/>
              </p:cNvSpPr>
              <p:nvPr/>
            </p:nvSpPr>
            <p:spPr bwMode="auto">
              <a:xfrm flipV="1">
                <a:off x="4104343" y="5487897"/>
                <a:ext cx="0" cy="691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5" name="Text Box 103"/>
              <p:cNvSpPr txBox="1">
                <a:spLocks noChangeArrowheads="1"/>
              </p:cNvSpPr>
              <p:nvPr/>
            </p:nvSpPr>
            <p:spPr bwMode="auto">
              <a:xfrm>
                <a:off x="1706719" y="5626159"/>
                <a:ext cx="5448708" cy="369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/>
                  <a:t>  0                   1        </a:t>
                </a:r>
                <a:r>
                  <a:rPr lang="el-GR" altLang="zh-CN" sz="1800" dirty="0">
                    <a:solidFill>
                      <a:srgbClr val="FF0000"/>
                    </a:solidFill>
                    <a:sym typeface="Symbol"/>
                  </a:rPr>
                  <a:t>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/2           </a:t>
                </a:r>
                <a:r>
                  <a:rPr lang="en-US" altLang="zh-CN" sz="1800" dirty="0"/>
                  <a:t>2                  3   </a:t>
                </a:r>
                <a:r>
                  <a:rPr lang="el-GR" altLang="zh-CN" sz="1800" dirty="0">
                    <a:solidFill>
                      <a:srgbClr val="FF0000"/>
                    </a:solidFill>
                    <a:sym typeface="Symbol"/>
                  </a:rPr>
                  <a:t>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   </a:t>
                </a:r>
                <a:r>
                  <a:rPr lang="en-US" altLang="zh-CN" sz="1800" dirty="0"/>
                  <a:t>x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      </a:t>
                </a:r>
              </a:p>
            </p:txBody>
          </p:sp>
          <p:sp>
            <p:nvSpPr>
              <p:cNvPr id="20496" name="Line 104"/>
              <p:cNvSpPr>
                <a:spLocks noChangeShapeType="1"/>
              </p:cNvSpPr>
              <p:nvPr/>
            </p:nvSpPr>
            <p:spPr bwMode="auto">
              <a:xfrm>
                <a:off x="2142360" y="4372588"/>
                <a:ext cx="145747" cy="15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7" name="Line 105"/>
              <p:cNvSpPr>
                <a:spLocks noChangeShapeType="1"/>
              </p:cNvSpPr>
              <p:nvPr/>
            </p:nvSpPr>
            <p:spPr bwMode="auto">
              <a:xfrm>
                <a:off x="2142360" y="3117482"/>
                <a:ext cx="145747" cy="15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8" name="Line 107"/>
              <p:cNvSpPr>
                <a:spLocks noChangeShapeType="1"/>
              </p:cNvSpPr>
              <p:nvPr/>
            </p:nvSpPr>
            <p:spPr bwMode="auto">
              <a:xfrm>
                <a:off x="4975624" y="4372588"/>
                <a:ext cx="1234848" cy="1184440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9" name="Line 108"/>
              <p:cNvSpPr>
                <a:spLocks noChangeShapeType="1"/>
              </p:cNvSpPr>
              <p:nvPr/>
            </p:nvSpPr>
            <p:spPr bwMode="auto">
              <a:xfrm flipH="1">
                <a:off x="2142360" y="4372588"/>
                <a:ext cx="2833264" cy="1184440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0" name="Line 111"/>
              <p:cNvSpPr>
                <a:spLocks noChangeShapeType="1"/>
              </p:cNvSpPr>
              <p:nvPr/>
            </p:nvSpPr>
            <p:spPr bwMode="auto">
              <a:xfrm>
                <a:off x="2142360" y="3117482"/>
                <a:ext cx="1961983" cy="15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1" name="Text Box 114"/>
              <p:cNvSpPr txBox="1">
                <a:spLocks noChangeArrowheads="1"/>
              </p:cNvSpPr>
              <p:nvPr/>
            </p:nvSpPr>
            <p:spPr bwMode="auto">
              <a:xfrm>
                <a:off x="1778792" y="2908553"/>
                <a:ext cx="507713" cy="369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/>
                  <a:t>2</a:t>
                </a:r>
              </a:p>
            </p:txBody>
          </p:sp>
          <p:sp>
            <p:nvSpPr>
              <p:cNvPr id="20502" name="Text Box 117"/>
              <p:cNvSpPr txBox="1">
                <a:spLocks noChangeArrowheads="1"/>
              </p:cNvSpPr>
              <p:nvPr/>
            </p:nvSpPr>
            <p:spPr bwMode="auto">
              <a:xfrm>
                <a:off x="1778792" y="4232791"/>
                <a:ext cx="507713" cy="369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/>
                  <a:t>1</a:t>
                </a:r>
              </a:p>
            </p:txBody>
          </p:sp>
          <p:sp>
            <p:nvSpPr>
              <p:cNvPr id="20503" name="Text Box 118"/>
              <p:cNvSpPr txBox="1">
                <a:spLocks noChangeArrowheads="1"/>
              </p:cNvSpPr>
              <p:nvPr/>
            </p:nvSpPr>
            <p:spPr bwMode="auto">
              <a:xfrm>
                <a:off x="1924540" y="2281768"/>
                <a:ext cx="435640" cy="369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/>
                  <a:t>y</a:t>
                </a:r>
              </a:p>
            </p:txBody>
          </p:sp>
          <p:sp>
            <p:nvSpPr>
              <p:cNvPr id="20504" name="Freeform 119"/>
              <p:cNvSpPr>
                <a:spLocks/>
              </p:cNvSpPr>
              <p:nvPr/>
            </p:nvSpPr>
            <p:spPr bwMode="auto">
              <a:xfrm rot="181759">
                <a:off x="2212831" y="3119018"/>
                <a:ext cx="3994438" cy="1324237"/>
              </a:xfrm>
              <a:custGeom>
                <a:avLst/>
                <a:gdLst>
                  <a:gd name="T0" fmla="*/ 0 w 2495"/>
                  <a:gd name="T1" fmla="*/ 1324237 h 817"/>
                  <a:gd name="T2" fmla="*/ 291378 w 2495"/>
                  <a:gd name="T3" fmla="*/ 1103801 h 817"/>
                  <a:gd name="T4" fmla="*/ 1090265 w 2495"/>
                  <a:gd name="T5" fmla="*/ 367934 h 817"/>
                  <a:gd name="T6" fmla="*/ 1961197 w 2495"/>
                  <a:gd name="T7" fmla="*/ 0 h 817"/>
                  <a:gd name="T8" fmla="*/ 2832129 w 2495"/>
                  <a:gd name="T9" fmla="*/ 367934 h 817"/>
                  <a:gd name="T10" fmla="*/ 3994438 w 2495"/>
                  <a:gd name="T11" fmla="*/ 1103801 h 8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95" h="817">
                    <a:moveTo>
                      <a:pt x="0" y="817"/>
                    </a:moveTo>
                    <a:cubicBezTo>
                      <a:pt x="34" y="798"/>
                      <a:pt x="69" y="779"/>
                      <a:pt x="182" y="681"/>
                    </a:cubicBezTo>
                    <a:cubicBezTo>
                      <a:pt x="295" y="583"/>
                      <a:pt x="507" y="340"/>
                      <a:pt x="681" y="227"/>
                    </a:cubicBezTo>
                    <a:cubicBezTo>
                      <a:pt x="855" y="114"/>
                      <a:pt x="1044" y="0"/>
                      <a:pt x="1225" y="0"/>
                    </a:cubicBezTo>
                    <a:cubicBezTo>
                      <a:pt x="1406" y="0"/>
                      <a:pt x="1557" y="114"/>
                      <a:pt x="1769" y="227"/>
                    </a:cubicBezTo>
                    <a:cubicBezTo>
                      <a:pt x="1981" y="340"/>
                      <a:pt x="2238" y="510"/>
                      <a:pt x="2495" y="681"/>
                    </a:cubicBez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5" name="Text Box 120"/>
              <p:cNvSpPr txBox="1">
                <a:spLocks noChangeArrowheads="1"/>
              </p:cNvSpPr>
              <p:nvPr/>
            </p:nvSpPr>
            <p:spPr bwMode="auto">
              <a:xfrm>
                <a:off x="5193444" y="2979220"/>
                <a:ext cx="581388" cy="369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0000"/>
                    </a:solidFill>
                    <a:latin typeface="Monotype Corsiva" pitchFamily="66" charset="0"/>
                  </a:rPr>
                  <a:t>f </a:t>
                </a:r>
                <a:r>
                  <a:rPr lang="en-US" altLang="zh-CN" sz="1800">
                    <a:solidFill>
                      <a:srgbClr val="FF0000"/>
                    </a:solidFill>
                  </a:rPr>
                  <a:t>(x)</a:t>
                </a:r>
              </a:p>
            </p:txBody>
          </p:sp>
          <p:sp>
            <p:nvSpPr>
              <p:cNvPr id="20506" name="Text Box 121"/>
              <p:cNvSpPr txBox="1">
                <a:spLocks noChangeArrowheads="1"/>
              </p:cNvSpPr>
              <p:nvPr/>
            </p:nvSpPr>
            <p:spPr bwMode="auto">
              <a:xfrm>
                <a:off x="5484938" y="4510850"/>
                <a:ext cx="653461" cy="369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3333FF"/>
                    </a:solidFill>
                  </a:rPr>
                  <a:t>A(x)</a:t>
                </a:r>
              </a:p>
            </p:txBody>
          </p:sp>
        </p:grpSp>
        <p:sp>
          <p:nvSpPr>
            <p:cNvPr id="20487" name="Line 47"/>
            <p:cNvSpPr>
              <a:spLocks noChangeShapeType="1"/>
            </p:cNvSpPr>
            <p:nvPr/>
          </p:nvSpPr>
          <p:spPr bwMode="auto">
            <a:xfrm flipV="1">
              <a:off x="2433854" y="3960875"/>
              <a:ext cx="0" cy="252095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717826236"/>
              </p:ext>
            </p:extLst>
          </p:nvPr>
        </p:nvGraphicFramePr>
        <p:xfrm>
          <a:off x="1906229" y="5714082"/>
          <a:ext cx="3096344" cy="686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20480" imgH="291960" progId="Equation.3">
                  <p:embed/>
                </p:oleObj>
              </mc:Choice>
              <mc:Fallback>
                <p:oleObj name="公式" r:id="rId4" imgW="1320480" imgH="291960" progId="Equation.3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229" y="5714082"/>
                        <a:ext cx="3096344" cy="686717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535B43-125F-9635-DB02-FA0D30235D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8412" y="6310917"/>
            <a:ext cx="624837" cy="457200"/>
          </a:xfrm>
        </p:spPr>
        <p:txBody>
          <a:bodyPr/>
          <a:lstStyle/>
          <a:p>
            <a:pPr>
              <a:defRPr/>
            </a:pPr>
            <a:fld id="{95F209AC-A2D1-49EF-BE0C-2B9240FE767E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88914"/>
            <a:ext cx="8229600" cy="11715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>
                <a:ea typeface="黑体" pitchFamily="2" charset="-122"/>
              </a:rPr>
              <a:t>[P120</a:t>
            </a:r>
            <a:r>
              <a:rPr lang="zh-CN" altLang="en-US" sz="3200">
                <a:ea typeface="黑体" pitchFamily="2" charset="-122"/>
              </a:rPr>
              <a:t>例</a:t>
            </a:r>
            <a:r>
              <a:rPr lang="en-US" altLang="zh-CN" sz="3200">
                <a:ea typeface="黑体" pitchFamily="2" charset="-122"/>
              </a:rPr>
              <a:t>4]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582591" y="1268413"/>
            <a:ext cx="5540376" cy="5589587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解</a:t>
            </a:r>
            <a:r>
              <a:rPr lang="en-US" altLang="zh-CN" sz="2800" dirty="0">
                <a:ea typeface="黑体" pitchFamily="2" charset="-122"/>
              </a:rPr>
              <a:t>: </a:t>
            </a:r>
            <a:r>
              <a:rPr lang="zh-CN" altLang="en-US" sz="2800" dirty="0">
                <a:ea typeface="黑体" pitchFamily="2" charset="-122"/>
              </a:rPr>
              <a:t>在</a:t>
            </a:r>
            <a:r>
              <a:rPr lang="en-US" altLang="zh-CN" sz="2800" dirty="0">
                <a:ea typeface="黑体" pitchFamily="2" charset="-122"/>
              </a:rPr>
              <a:t>(0,3)</a:t>
            </a:r>
            <a:r>
              <a:rPr lang="zh-CN" altLang="en-US" sz="2800" dirty="0">
                <a:ea typeface="黑体" pitchFamily="2" charset="-122"/>
              </a:rPr>
              <a:t>同一个</a:t>
            </a:r>
            <a:r>
              <a:rPr lang="en-US" altLang="zh-CN" sz="2800" dirty="0">
                <a:ea typeface="黑体" pitchFamily="2" charset="-122"/>
              </a:rPr>
              <a:t>y</a:t>
            </a:r>
            <a:r>
              <a:rPr lang="zh-CN" altLang="en-US" sz="2800" dirty="0">
                <a:ea typeface="黑体" pitchFamily="2" charset="-122"/>
              </a:rPr>
              <a:t>有两个</a:t>
            </a:r>
            <a:r>
              <a:rPr lang="en-US" altLang="zh-CN" sz="2800" dirty="0">
                <a:ea typeface="黑体" pitchFamily="2" charset="-122"/>
              </a:rPr>
              <a:t>x</a:t>
            </a:r>
            <a:r>
              <a:rPr lang="zh-CN" altLang="en-US" sz="2800" dirty="0">
                <a:ea typeface="黑体" pitchFamily="2" charset="-122"/>
              </a:rPr>
              <a:t>值</a:t>
            </a:r>
            <a:r>
              <a:rPr lang="en-US" altLang="zh-CN" sz="2800" dirty="0">
                <a:ea typeface="黑体" pitchFamily="2" charset="-122"/>
              </a:rPr>
              <a:t>: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在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(0,</a:t>
            </a:r>
            <a:r>
              <a:rPr lang="el-GR" altLang="zh-CN" sz="2800" dirty="0">
                <a:solidFill>
                  <a:srgbClr val="FF0000"/>
                </a:solidFill>
                <a:ea typeface="黑体" pitchFamily="2" charset="-122"/>
                <a:cs typeface="Arial" charset="0"/>
              </a:rPr>
              <a:t> </a:t>
            </a:r>
            <a:r>
              <a:rPr lang="el-GR" altLang="zh-CN" sz="2800" dirty="0">
                <a:solidFill>
                  <a:srgbClr val="FF0000"/>
                </a:solidFill>
                <a:ea typeface="黑体" pitchFamily="2" charset="-122"/>
                <a:cs typeface="Arial" charset="0"/>
                <a:sym typeface="Symbol"/>
              </a:rPr>
              <a:t>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  <a:cs typeface="Arial" charset="0"/>
              </a:rPr>
              <a:t>/2]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  <a:cs typeface="Arial" charset="0"/>
              </a:rPr>
              <a:t>上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  <a:cs typeface="Arial" charset="0"/>
              </a:rPr>
              <a:t>, x</a:t>
            </a:r>
            <a:r>
              <a:rPr lang="en-US" altLang="zh-CN" sz="2800" baseline="-25000" dirty="0">
                <a:solidFill>
                  <a:srgbClr val="FF0000"/>
                </a:solidFill>
                <a:ea typeface="黑体" pitchFamily="2" charset="-122"/>
                <a:cs typeface="Arial" charset="0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  <a:cs typeface="Arial" charset="0"/>
              </a:rPr>
              <a:t>=</a:t>
            </a:r>
            <a:r>
              <a:rPr lang="en-US" altLang="zh-CN" sz="2800" dirty="0" err="1">
                <a:solidFill>
                  <a:srgbClr val="FF0000"/>
                </a:solidFill>
                <a:ea typeface="黑体" pitchFamily="2" charset="-122"/>
                <a:cs typeface="Arial" charset="0"/>
              </a:rPr>
              <a:t>arcsin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  <a:cs typeface="Arial" charset="0"/>
              </a:rPr>
              <a:t>(y-1);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在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(</a:t>
            </a:r>
            <a:r>
              <a:rPr lang="el-GR" altLang="zh-CN" sz="2800" dirty="0">
                <a:solidFill>
                  <a:srgbClr val="FF0000"/>
                </a:solidFill>
                <a:ea typeface="黑体" pitchFamily="2" charset="-122"/>
                <a:cs typeface="Arial" charset="0"/>
                <a:sym typeface="Symbol"/>
              </a:rPr>
              <a:t>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/2, 3)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上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, x</a:t>
            </a:r>
            <a:r>
              <a:rPr lang="en-US" altLang="zh-CN" sz="2800" baseline="-25000" dirty="0">
                <a:solidFill>
                  <a:srgbClr val="FF0000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=</a:t>
            </a:r>
            <a:r>
              <a:rPr lang="el-GR" altLang="zh-CN" sz="2800" dirty="0">
                <a:solidFill>
                  <a:srgbClr val="FF0000"/>
                </a:solidFill>
                <a:ea typeface="黑体" pitchFamily="2" charset="-122"/>
                <a:cs typeface="Arial" charset="0"/>
                <a:sym typeface="Symbol"/>
              </a:rPr>
              <a:t> 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-</a:t>
            </a:r>
            <a:r>
              <a:rPr lang="en-US" altLang="zh-CN" sz="2800" dirty="0" err="1">
                <a:solidFill>
                  <a:srgbClr val="FF0000"/>
                </a:solidFill>
                <a:ea typeface="黑体" pitchFamily="2" charset="-122"/>
              </a:rPr>
              <a:t>arcsin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(y-1).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当</a:t>
            </a:r>
            <a:r>
              <a:rPr lang="en-US" altLang="zh-CN" sz="2800" dirty="0">
                <a:ea typeface="黑体" pitchFamily="2" charset="-122"/>
              </a:rPr>
              <a:t>y</a:t>
            </a:r>
            <a:r>
              <a:rPr lang="en-US" altLang="zh-CN" sz="2800" dirty="0">
                <a:ea typeface="黑体" pitchFamily="2" charset="-122"/>
                <a:sym typeface="Symbol" panose="05050102010706020507" pitchFamily="18" charset="2"/>
              </a:rPr>
              <a:t>[1,1+sin2)</a:t>
            </a:r>
            <a:r>
              <a:rPr lang="zh-CN" altLang="en-US" sz="2800" dirty="0">
                <a:ea typeface="黑体" pitchFamily="2" charset="-122"/>
              </a:rPr>
              <a:t>令</a:t>
            </a:r>
            <a:r>
              <a:rPr lang="en-US" altLang="zh-CN" sz="2800" dirty="0">
                <a:ea typeface="黑体" pitchFamily="2" charset="-122"/>
              </a:rPr>
              <a:t>,A(x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en-US" altLang="zh-CN" sz="2800" dirty="0">
                <a:ea typeface="黑体" pitchFamily="2" charset="-122"/>
              </a:rPr>
              <a:t>)=A(x</a:t>
            </a:r>
            <a:r>
              <a:rPr lang="en-US" altLang="zh-CN" sz="2800" baseline="-25000" dirty="0">
                <a:ea typeface="黑体" pitchFamily="2" charset="-122"/>
              </a:rPr>
              <a:t>2</a:t>
            </a:r>
            <a:r>
              <a:rPr lang="en-US" altLang="zh-CN" sz="2800" dirty="0">
                <a:ea typeface="黑体" pitchFamily="2" charset="-122"/>
              </a:rPr>
              <a:t>), </a:t>
            </a:r>
            <a:r>
              <a:rPr lang="zh-CN" altLang="en-US" sz="2800" dirty="0">
                <a:ea typeface="黑体" pitchFamily="2" charset="-122"/>
              </a:rPr>
              <a:t>有</a:t>
            </a:r>
            <a:endParaRPr lang="en-US" altLang="zh-CN" sz="2800" dirty="0">
              <a:ea typeface="黑体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800" dirty="0">
                <a:ea typeface="黑体" pitchFamily="2" charset="-122"/>
              </a:rPr>
              <a:t>   </a:t>
            </a:r>
            <a:r>
              <a:rPr lang="en-US" altLang="zh-CN" sz="2800" dirty="0" err="1">
                <a:ea typeface="黑体" pitchFamily="2" charset="-122"/>
              </a:rPr>
              <a:t>arcsin</a:t>
            </a:r>
            <a:r>
              <a:rPr lang="en-US" altLang="zh-CN" sz="2800" dirty="0">
                <a:ea typeface="黑体" pitchFamily="2" charset="-122"/>
              </a:rPr>
              <a:t>(y-1)/2=3-[</a:t>
            </a:r>
            <a:r>
              <a:rPr lang="el-GR" altLang="zh-CN" sz="2800" dirty="0">
                <a:ea typeface="黑体" pitchFamily="2" charset="-122"/>
                <a:sym typeface="Symbol"/>
              </a:rPr>
              <a:t></a:t>
            </a:r>
            <a:r>
              <a:rPr lang="en-US" altLang="zh-CN" sz="2800" dirty="0">
                <a:ea typeface="黑体" pitchFamily="2" charset="-122"/>
              </a:rPr>
              <a:t>-</a:t>
            </a:r>
            <a:r>
              <a:rPr lang="en-US" altLang="zh-CN" sz="2800" dirty="0" err="1">
                <a:ea typeface="黑体" pitchFamily="2" charset="-122"/>
              </a:rPr>
              <a:t>arcsin</a:t>
            </a:r>
            <a:r>
              <a:rPr lang="en-US" altLang="zh-CN" sz="2800" dirty="0">
                <a:ea typeface="黑体" pitchFamily="2" charset="-122"/>
              </a:rPr>
              <a:t>(y-1)]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         解得 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y=1-sin6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2" charset="-122"/>
              </a:rPr>
              <a:t>   </a:t>
            </a:r>
            <a:r>
              <a:rPr lang="zh-CN" altLang="en-US" sz="2800" dirty="0">
                <a:ea typeface="黑体" pitchFamily="2" charset="-122"/>
              </a:rPr>
              <a:t>于是</a:t>
            </a:r>
            <a:r>
              <a:rPr lang="en-US" altLang="zh-CN" sz="2800" dirty="0">
                <a:ea typeface="黑体" pitchFamily="2" charset="-122"/>
              </a:rPr>
              <a:t>,</a:t>
            </a:r>
            <a:r>
              <a:rPr lang="zh-CN" altLang="en-US" sz="2800" dirty="0">
                <a:ea typeface="黑体" pitchFamily="2" charset="-122"/>
              </a:rPr>
              <a:t>将</a:t>
            </a:r>
            <a:r>
              <a:rPr lang="en-US" altLang="zh-CN" sz="2800" dirty="0">
                <a:ea typeface="黑体" pitchFamily="2" charset="-122"/>
              </a:rPr>
              <a:t>y</a:t>
            </a:r>
            <a:r>
              <a:rPr lang="zh-CN" altLang="en-US" sz="2800" dirty="0">
                <a:ea typeface="黑体" pitchFamily="2" charset="-122"/>
              </a:rPr>
              <a:t>划分成三个区间</a:t>
            </a:r>
            <a:r>
              <a:rPr lang="en-US" altLang="zh-CN" sz="2800" dirty="0">
                <a:ea typeface="黑体" pitchFamily="2" charset="-122"/>
              </a:rPr>
              <a:t>: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8000"/>
                </a:solidFill>
                <a:cs typeface="Arial" charset="0"/>
              </a:rPr>
              <a:t>                 [1,1-sin6),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8000"/>
                </a:solidFill>
                <a:cs typeface="Arial" charset="0"/>
              </a:rPr>
              <a:t>                 [1-sin6, 1+sin2),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8000"/>
                </a:solidFill>
                <a:cs typeface="Arial" charset="0"/>
              </a:rPr>
              <a:t>                 [1+sin2,2]</a:t>
            </a:r>
            <a:endParaRPr lang="el-GR" altLang="zh-CN" sz="28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21508" name="Line 96"/>
          <p:cNvSpPr>
            <a:spLocks noChangeShapeType="1"/>
          </p:cNvSpPr>
          <p:nvPr/>
        </p:nvSpPr>
        <p:spPr bwMode="auto">
          <a:xfrm flipV="1">
            <a:off x="6987331" y="3249613"/>
            <a:ext cx="0" cy="2927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9" name="Line 97"/>
          <p:cNvSpPr>
            <a:spLocks noChangeShapeType="1"/>
          </p:cNvSpPr>
          <p:nvPr/>
        </p:nvSpPr>
        <p:spPr bwMode="auto">
          <a:xfrm>
            <a:off x="6987332" y="6176964"/>
            <a:ext cx="48672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0" name="Line 98"/>
          <p:cNvSpPr>
            <a:spLocks noChangeShapeType="1"/>
          </p:cNvSpPr>
          <p:nvPr/>
        </p:nvSpPr>
        <p:spPr bwMode="auto">
          <a:xfrm flipV="1">
            <a:off x="11419631" y="6107113"/>
            <a:ext cx="0" cy="69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1" name="Line 99"/>
          <p:cNvSpPr>
            <a:spLocks noChangeShapeType="1"/>
          </p:cNvSpPr>
          <p:nvPr/>
        </p:nvSpPr>
        <p:spPr bwMode="auto">
          <a:xfrm flipV="1">
            <a:off x="11056093" y="6107113"/>
            <a:ext cx="0" cy="69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2" name="Line 100"/>
          <p:cNvSpPr>
            <a:spLocks noChangeShapeType="1"/>
          </p:cNvSpPr>
          <p:nvPr/>
        </p:nvSpPr>
        <p:spPr bwMode="auto">
          <a:xfrm flipV="1">
            <a:off x="9821018" y="6107113"/>
            <a:ext cx="0" cy="69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3" name="Line 101"/>
          <p:cNvSpPr>
            <a:spLocks noChangeShapeType="1"/>
          </p:cNvSpPr>
          <p:nvPr/>
        </p:nvSpPr>
        <p:spPr bwMode="auto">
          <a:xfrm flipV="1">
            <a:off x="8150968" y="6107113"/>
            <a:ext cx="0" cy="69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4" name="Line 102"/>
          <p:cNvSpPr>
            <a:spLocks noChangeShapeType="1"/>
          </p:cNvSpPr>
          <p:nvPr/>
        </p:nvSpPr>
        <p:spPr bwMode="auto">
          <a:xfrm flipV="1">
            <a:off x="8949481" y="6107113"/>
            <a:ext cx="0" cy="69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Text Box 103"/>
          <p:cNvSpPr txBox="1">
            <a:spLocks noChangeArrowheads="1"/>
          </p:cNvSpPr>
          <p:nvPr/>
        </p:nvSpPr>
        <p:spPr bwMode="auto">
          <a:xfrm>
            <a:off x="6552356" y="6245225"/>
            <a:ext cx="5448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/>
              <a:t>  0                  1        </a:t>
            </a:r>
            <a:r>
              <a:rPr lang="el-GR" altLang="zh-CN" sz="1800" dirty="0">
                <a:solidFill>
                  <a:srgbClr val="FF0000"/>
                </a:solidFill>
                <a:sym typeface="Symbol"/>
              </a:rPr>
              <a:t></a:t>
            </a:r>
            <a:r>
              <a:rPr lang="en-US" altLang="zh-CN" sz="1800" dirty="0">
                <a:solidFill>
                  <a:srgbClr val="FF0000"/>
                </a:solidFill>
              </a:rPr>
              <a:t>/2           </a:t>
            </a:r>
            <a:r>
              <a:rPr lang="en-US" altLang="zh-CN" sz="1800" dirty="0"/>
              <a:t>2                  3   </a:t>
            </a:r>
            <a:r>
              <a:rPr lang="el-GR" altLang="zh-CN" sz="1800" dirty="0">
                <a:solidFill>
                  <a:srgbClr val="FF0000"/>
                </a:solidFill>
                <a:sym typeface="Symbol"/>
              </a:rPr>
              <a:t></a:t>
            </a:r>
            <a:r>
              <a:rPr lang="en-US" altLang="zh-CN" sz="1800" dirty="0">
                <a:solidFill>
                  <a:srgbClr val="FF0000"/>
                </a:solidFill>
              </a:rPr>
              <a:t>    </a:t>
            </a:r>
            <a:r>
              <a:rPr lang="en-US" altLang="zh-CN" sz="1800" dirty="0"/>
              <a:t>x</a:t>
            </a:r>
            <a:r>
              <a:rPr lang="en-US" altLang="zh-CN" sz="1800" dirty="0">
                <a:solidFill>
                  <a:srgbClr val="FF0000"/>
                </a:solidFill>
              </a:rPr>
              <a:t>       </a:t>
            </a:r>
          </a:p>
        </p:txBody>
      </p:sp>
      <p:sp>
        <p:nvSpPr>
          <p:cNvPr id="21516" name="Line 104"/>
          <p:cNvSpPr>
            <a:spLocks noChangeShapeType="1"/>
          </p:cNvSpPr>
          <p:nvPr/>
        </p:nvSpPr>
        <p:spPr bwMode="auto">
          <a:xfrm>
            <a:off x="6987331" y="4992689"/>
            <a:ext cx="1460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7" name="Line 105"/>
          <p:cNvSpPr>
            <a:spLocks noChangeShapeType="1"/>
          </p:cNvSpPr>
          <p:nvPr/>
        </p:nvSpPr>
        <p:spPr bwMode="auto">
          <a:xfrm>
            <a:off x="6987331" y="3736975"/>
            <a:ext cx="1460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8" name="Line 106"/>
          <p:cNvSpPr>
            <a:spLocks noChangeShapeType="1"/>
          </p:cNvSpPr>
          <p:nvPr/>
        </p:nvSpPr>
        <p:spPr bwMode="auto">
          <a:xfrm flipV="1">
            <a:off x="8949481" y="3736975"/>
            <a:ext cx="0" cy="2439988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9" name="Line 107"/>
          <p:cNvSpPr>
            <a:spLocks noChangeShapeType="1"/>
          </p:cNvSpPr>
          <p:nvPr/>
        </p:nvSpPr>
        <p:spPr bwMode="auto">
          <a:xfrm>
            <a:off x="9821019" y="4992689"/>
            <a:ext cx="1235075" cy="1184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0" name="Line 108"/>
          <p:cNvSpPr>
            <a:spLocks noChangeShapeType="1"/>
          </p:cNvSpPr>
          <p:nvPr/>
        </p:nvSpPr>
        <p:spPr bwMode="auto">
          <a:xfrm flipH="1">
            <a:off x="6987332" y="4992689"/>
            <a:ext cx="2833687" cy="1184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Line 109"/>
          <p:cNvSpPr>
            <a:spLocks noChangeShapeType="1"/>
          </p:cNvSpPr>
          <p:nvPr/>
        </p:nvSpPr>
        <p:spPr bwMode="auto">
          <a:xfrm flipV="1">
            <a:off x="9821018" y="4154489"/>
            <a:ext cx="0" cy="2022475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Line 110"/>
          <p:cNvSpPr>
            <a:spLocks noChangeShapeType="1"/>
          </p:cNvSpPr>
          <p:nvPr/>
        </p:nvSpPr>
        <p:spPr bwMode="auto">
          <a:xfrm flipV="1">
            <a:off x="8184232" y="4154489"/>
            <a:ext cx="0" cy="2022475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3" name="Line 111"/>
          <p:cNvSpPr>
            <a:spLocks noChangeShapeType="1"/>
          </p:cNvSpPr>
          <p:nvPr/>
        </p:nvSpPr>
        <p:spPr bwMode="auto">
          <a:xfrm>
            <a:off x="6987331" y="3736975"/>
            <a:ext cx="1962150" cy="15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Line 112"/>
          <p:cNvSpPr>
            <a:spLocks noChangeShapeType="1"/>
          </p:cNvSpPr>
          <p:nvPr/>
        </p:nvSpPr>
        <p:spPr bwMode="auto">
          <a:xfrm>
            <a:off x="6987332" y="4086225"/>
            <a:ext cx="2833687" cy="15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Line 113"/>
          <p:cNvSpPr>
            <a:spLocks noChangeShapeType="1"/>
          </p:cNvSpPr>
          <p:nvPr/>
        </p:nvSpPr>
        <p:spPr bwMode="auto">
          <a:xfrm>
            <a:off x="6987331" y="4783139"/>
            <a:ext cx="4068762" cy="15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6" name="Text Box 114"/>
          <p:cNvSpPr txBox="1">
            <a:spLocks noChangeArrowheads="1"/>
          </p:cNvSpPr>
          <p:nvPr/>
        </p:nvSpPr>
        <p:spPr bwMode="auto">
          <a:xfrm>
            <a:off x="6623793" y="3529013"/>
            <a:ext cx="50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/>
              <a:t>2</a:t>
            </a:r>
          </a:p>
        </p:txBody>
      </p:sp>
      <p:sp>
        <p:nvSpPr>
          <p:cNvPr id="112" name="Text Box 115"/>
          <p:cNvSpPr txBox="1">
            <a:spLocks noChangeArrowheads="1"/>
          </p:cNvSpPr>
          <p:nvPr/>
        </p:nvSpPr>
        <p:spPr bwMode="auto">
          <a:xfrm>
            <a:off x="6188818" y="3876675"/>
            <a:ext cx="8699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/>
              <a:t>1+sin2</a:t>
            </a:r>
          </a:p>
        </p:txBody>
      </p:sp>
      <p:sp>
        <p:nvSpPr>
          <p:cNvPr id="113" name="Text Box 116"/>
          <p:cNvSpPr txBox="1">
            <a:spLocks noChangeArrowheads="1"/>
          </p:cNvSpPr>
          <p:nvPr/>
        </p:nvSpPr>
        <p:spPr bwMode="auto">
          <a:xfrm>
            <a:off x="6188819" y="4503738"/>
            <a:ext cx="873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/>
              <a:t>1-sin6</a:t>
            </a:r>
          </a:p>
        </p:txBody>
      </p:sp>
      <p:sp>
        <p:nvSpPr>
          <p:cNvPr id="21529" name="Text Box 117"/>
          <p:cNvSpPr txBox="1">
            <a:spLocks noChangeArrowheads="1"/>
          </p:cNvSpPr>
          <p:nvPr/>
        </p:nvSpPr>
        <p:spPr bwMode="auto">
          <a:xfrm>
            <a:off x="6623793" y="4852988"/>
            <a:ext cx="50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/>
              <a:t>1</a:t>
            </a:r>
          </a:p>
        </p:txBody>
      </p:sp>
      <p:sp>
        <p:nvSpPr>
          <p:cNvPr id="21530" name="Text Box 118"/>
          <p:cNvSpPr txBox="1">
            <a:spLocks noChangeArrowheads="1"/>
          </p:cNvSpPr>
          <p:nvPr/>
        </p:nvSpPr>
        <p:spPr bwMode="auto">
          <a:xfrm>
            <a:off x="6769844" y="2901950"/>
            <a:ext cx="4349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/>
              <a:t>y</a:t>
            </a:r>
          </a:p>
        </p:txBody>
      </p:sp>
      <p:sp>
        <p:nvSpPr>
          <p:cNvPr id="21531" name="Freeform 119"/>
          <p:cNvSpPr>
            <a:spLocks/>
          </p:cNvSpPr>
          <p:nvPr/>
        </p:nvSpPr>
        <p:spPr bwMode="auto">
          <a:xfrm rot="181759">
            <a:off x="7057182" y="3738564"/>
            <a:ext cx="3995737" cy="1323975"/>
          </a:xfrm>
          <a:custGeom>
            <a:avLst/>
            <a:gdLst>
              <a:gd name="T0" fmla="*/ 0 w 2495"/>
              <a:gd name="T1" fmla="*/ 1324237 h 817"/>
              <a:gd name="T2" fmla="*/ 291378 w 2495"/>
              <a:gd name="T3" fmla="*/ 1103801 h 817"/>
              <a:gd name="T4" fmla="*/ 1090265 w 2495"/>
              <a:gd name="T5" fmla="*/ 367934 h 817"/>
              <a:gd name="T6" fmla="*/ 1961197 w 2495"/>
              <a:gd name="T7" fmla="*/ 0 h 817"/>
              <a:gd name="T8" fmla="*/ 2832129 w 2495"/>
              <a:gd name="T9" fmla="*/ 367934 h 817"/>
              <a:gd name="T10" fmla="*/ 3994438 w 2495"/>
              <a:gd name="T11" fmla="*/ 1103801 h 8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95" h="817">
                <a:moveTo>
                  <a:pt x="0" y="817"/>
                </a:moveTo>
                <a:cubicBezTo>
                  <a:pt x="34" y="798"/>
                  <a:pt x="69" y="779"/>
                  <a:pt x="182" y="681"/>
                </a:cubicBezTo>
                <a:cubicBezTo>
                  <a:pt x="295" y="583"/>
                  <a:pt x="507" y="340"/>
                  <a:pt x="681" y="227"/>
                </a:cubicBezTo>
                <a:cubicBezTo>
                  <a:pt x="855" y="114"/>
                  <a:pt x="1044" y="0"/>
                  <a:pt x="1225" y="0"/>
                </a:cubicBezTo>
                <a:cubicBezTo>
                  <a:pt x="1406" y="0"/>
                  <a:pt x="1557" y="114"/>
                  <a:pt x="1769" y="227"/>
                </a:cubicBezTo>
                <a:cubicBezTo>
                  <a:pt x="1981" y="340"/>
                  <a:pt x="2238" y="510"/>
                  <a:pt x="2495" y="681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2" name="Text Box 120"/>
          <p:cNvSpPr txBox="1">
            <a:spLocks noChangeArrowheads="1"/>
          </p:cNvSpPr>
          <p:nvPr/>
        </p:nvSpPr>
        <p:spPr bwMode="auto">
          <a:xfrm>
            <a:off x="8731200" y="3311525"/>
            <a:ext cx="5810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latin typeface="Monotype Corsiva" pitchFamily="66" charset="0"/>
              </a:rPr>
              <a:t>f </a:t>
            </a:r>
            <a:r>
              <a:rPr lang="en-US" altLang="zh-CN" sz="1800" dirty="0">
                <a:solidFill>
                  <a:srgbClr val="FF0000"/>
                </a:solidFill>
              </a:rPr>
              <a:t>(x)</a:t>
            </a:r>
          </a:p>
        </p:txBody>
      </p:sp>
      <p:sp>
        <p:nvSpPr>
          <p:cNvPr id="21533" name="Text Box 121"/>
          <p:cNvSpPr txBox="1">
            <a:spLocks noChangeArrowheads="1"/>
          </p:cNvSpPr>
          <p:nvPr/>
        </p:nvSpPr>
        <p:spPr bwMode="auto">
          <a:xfrm>
            <a:off x="10070257" y="4988718"/>
            <a:ext cx="6524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solidFill>
                  <a:srgbClr val="3333FF"/>
                </a:solidFill>
              </a:rPr>
              <a:t>A(x)</a:t>
            </a:r>
          </a:p>
        </p:txBody>
      </p:sp>
      <p:sp>
        <p:nvSpPr>
          <p:cNvPr id="119" name="Line 122"/>
          <p:cNvSpPr>
            <a:spLocks noChangeShapeType="1"/>
          </p:cNvSpPr>
          <p:nvPr/>
        </p:nvSpPr>
        <p:spPr bwMode="auto">
          <a:xfrm flipV="1">
            <a:off x="10837018" y="4783139"/>
            <a:ext cx="0" cy="1393825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Line 123"/>
          <p:cNvSpPr>
            <a:spLocks noChangeShapeType="1"/>
          </p:cNvSpPr>
          <p:nvPr/>
        </p:nvSpPr>
        <p:spPr bwMode="auto">
          <a:xfrm flipV="1">
            <a:off x="7279431" y="4783139"/>
            <a:ext cx="0" cy="1393825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36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363934"/>
              </p:ext>
            </p:extLst>
          </p:nvPr>
        </p:nvGraphicFramePr>
        <p:xfrm>
          <a:off x="8183511" y="1844046"/>
          <a:ext cx="3246438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511300" imgH="584200" progId="Equation.3">
                  <p:embed/>
                </p:oleObj>
              </mc:Choice>
              <mc:Fallback>
                <p:oleObj name="公式" r:id="rId3" imgW="1511300" imgH="584200" progId="Equation.3">
                  <p:embed/>
                  <p:pic>
                    <p:nvPicPr>
                      <p:cNvPr id="21536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11" y="1844046"/>
                        <a:ext cx="3246438" cy="125412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BA628B9-F6C7-0597-FC19-72EB9C78B0E3}"/>
              </a:ext>
            </a:extLst>
          </p:cNvPr>
          <p:cNvSpPr txBox="1"/>
          <p:nvPr/>
        </p:nvSpPr>
        <p:spPr>
          <a:xfrm>
            <a:off x="8212086" y="1268110"/>
            <a:ext cx="3217863" cy="523220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en-US" altLang="zh-CN" sz="2800" dirty="0"/>
              <a:t> </a:t>
            </a:r>
            <a:r>
              <a:rPr lang="en-US" altLang="zh-CN" sz="2800" dirty="0">
                <a:latin typeface="+mn-lt"/>
              </a:rPr>
              <a:t>y</a:t>
            </a:r>
            <a:r>
              <a:rPr lang="en-US" altLang="zh-CN" sz="2800" dirty="0"/>
              <a:t>=</a:t>
            </a:r>
            <a:r>
              <a:rPr lang="en-US" altLang="zh-CN" sz="2800" b="1" dirty="0">
                <a:latin typeface="Monotype Corsiva" pitchFamily="66" charset="0"/>
              </a:rPr>
              <a:t>f </a:t>
            </a:r>
            <a:r>
              <a:rPr lang="en-US" altLang="zh-CN" sz="2800" dirty="0"/>
              <a:t>(</a:t>
            </a:r>
            <a:r>
              <a:rPr lang="en-US" altLang="zh-CN" sz="2800" dirty="0">
                <a:latin typeface="+mn-lt"/>
              </a:rPr>
              <a:t>x) = 1+sin</a:t>
            </a:r>
            <a:r>
              <a:rPr lang="en-US" altLang="zh-CN" sz="2800" i="1" dirty="0">
                <a:latin typeface="+mn-lt"/>
              </a:rPr>
              <a:t>x</a:t>
            </a:r>
            <a:endParaRPr lang="zh-CN" altLang="en-US" sz="2800" dirty="0">
              <a:latin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AA669C-5BE3-B35B-74C8-F38A29BA49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p"/>
      <p:bldP spid="106" grpId="0" uiExpand="1" animBg="1"/>
      <p:bldP spid="107" grpId="0" uiExpand="1" animBg="1"/>
      <p:bldP spid="109" grpId="0" uiExpand="1" animBg="1"/>
      <p:bldP spid="110" grpId="0" uiExpand="1" animBg="1"/>
      <p:bldP spid="112" grpId="0" uiExpand="1"/>
      <p:bldP spid="113" grpId="0" uiExpand="1"/>
      <p:bldP spid="119" grpId="0" uiExpand="1" animBg="1"/>
      <p:bldP spid="120" grpId="0" uiExpan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36"/>
          <p:cNvGrpSpPr>
            <a:grpSpLocks/>
          </p:cNvGrpSpPr>
          <p:nvPr/>
        </p:nvGrpSpPr>
        <p:grpSpPr bwMode="auto">
          <a:xfrm>
            <a:off x="2927350" y="2708921"/>
            <a:ext cx="5761038" cy="3825875"/>
            <a:chOff x="884" y="1525"/>
            <a:chExt cx="3629" cy="2410"/>
          </a:xfrm>
        </p:grpSpPr>
        <p:sp>
          <p:nvSpPr>
            <p:cNvPr id="22536" name="Line 37"/>
            <p:cNvSpPr>
              <a:spLocks noChangeShapeType="1"/>
            </p:cNvSpPr>
            <p:nvPr/>
          </p:nvSpPr>
          <p:spPr bwMode="auto">
            <a:xfrm flipV="1">
              <a:off x="1383" y="1752"/>
              <a:ext cx="0" cy="19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7" name="Line 38"/>
            <p:cNvSpPr>
              <a:spLocks noChangeShapeType="1"/>
            </p:cNvSpPr>
            <p:nvPr/>
          </p:nvSpPr>
          <p:spPr bwMode="auto">
            <a:xfrm>
              <a:off x="1383" y="3657"/>
              <a:ext cx="303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8" name="Line 39"/>
            <p:cNvSpPr>
              <a:spLocks noChangeShapeType="1"/>
            </p:cNvSpPr>
            <p:nvPr/>
          </p:nvSpPr>
          <p:spPr bwMode="auto">
            <a:xfrm flipV="1">
              <a:off x="4150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9" name="Line 40"/>
            <p:cNvSpPr>
              <a:spLocks noChangeShapeType="1"/>
            </p:cNvSpPr>
            <p:nvPr/>
          </p:nvSpPr>
          <p:spPr bwMode="auto">
            <a:xfrm flipV="1">
              <a:off x="3923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0" name="Line 41"/>
            <p:cNvSpPr>
              <a:spLocks noChangeShapeType="1"/>
            </p:cNvSpPr>
            <p:nvPr/>
          </p:nvSpPr>
          <p:spPr bwMode="auto">
            <a:xfrm flipV="1">
              <a:off x="3152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1" name="Line 42"/>
            <p:cNvSpPr>
              <a:spLocks noChangeShapeType="1"/>
            </p:cNvSpPr>
            <p:nvPr/>
          </p:nvSpPr>
          <p:spPr bwMode="auto">
            <a:xfrm flipV="1">
              <a:off x="2109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2" name="Line 43"/>
            <p:cNvSpPr>
              <a:spLocks noChangeShapeType="1"/>
            </p:cNvSpPr>
            <p:nvPr/>
          </p:nvSpPr>
          <p:spPr bwMode="auto">
            <a:xfrm flipV="1">
              <a:off x="2608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3" name="Text Box 44"/>
            <p:cNvSpPr txBox="1">
              <a:spLocks noChangeArrowheads="1"/>
            </p:cNvSpPr>
            <p:nvPr/>
          </p:nvSpPr>
          <p:spPr bwMode="auto">
            <a:xfrm>
              <a:off x="1111" y="3702"/>
              <a:ext cx="34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/>
                <a:t>  0                  1        </a:t>
              </a:r>
              <a:r>
                <a:rPr lang="el-GR" altLang="zh-CN" sz="1800" dirty="0">
                  <a:solidFill>
                    <a:srgbClr val="FF0000"/>
                  </a:solidFill>
                  <a:sym typeface="Symbol"/>
                </a:rPr>
                <a:t></a:t>
              </a:r>
              <a:r>
                <a:rPr lang="en-US" altLang="zh-CN" sz="1800" dirty="0">
                  <a:solidFill>
                    <a:srgbClr val="FF0000"/>
                  </a:solidFill>
                </a:rPr>
                <a:t>/2          </a:t>
              </a:r>
              <a:r>
                <a:rPr lang="en-US" altLang="zh-CN" sz="1800" dirty="0"/>
                <a:t>2                  3   </a:t>
              </a:r>
              <a:r>
                <a:rPr lang="el-GR" altLang="zh-CN" sz="1800" dirty="0">
                  <a:solidFill>
                    <a:srgbClr val="FF0000"/>
                  </a:solidFill>
                  <a:sym typeface="Symbol"/>
                </a:rPr>
                <a:t></a:t>
              </a:r>
              <a:r>
                <a:rPr lang="en-US" altLang="zh-CN" sz="1800" dirty="0">
                  <a:solidFill>
                    <a:srgbClr val="FF0000"/>
                  </a:solidFill>
                </a:rPr>
                <a:t>   </a:t>
              </a:r>
              <a:r>
                <a:rPr lang="en-US" altLang="zh-CN" sz="1800" dirty="0"/>
                <a:t>x</a:t>
              </a:r>
              <a:r>
                <a:rPr lang="en-US" altLang="zh-CN" sz="1800" dirty="0">
                  <a:solidFill>
                    <a:srgbClr val="FF0000"/>
                  </a:solidFill>
                </a:rPr>
                <a:t>       </a:t>
              </a:r>
            </a:p>
          </p:txBody>
        </p:sp>
        <p:sp>
          <p:nvSpPr>
            <p:cNvPr id="22544" name="Line 45"/>
            <p:cNvSpPr>
              <a:spLocks noChangeShapeType="1"/>
            </p:cNvSpPr>
            <p:nvPr/>
          </p:nvSpPr>
          <p:spPr bwMode="auto">
            <a:xfrm>
              <a:off x="1383" y="2886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5" name="Line 46"/>
            <p:cNvSpPr>
              <a:spLocks noChangeShapeType="1"/>
            </p:cNvSpPr>
            <p:nvPr/>
          </p:nvSpPr>
          <p:spPr bwMode="auto">
            <a:xfrm>
              <a:off x="1383" y="2069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Line 47"/>
            <p:cNvSpPr>
              <a:spLocks noChangeShapeType="1"/>
            </p:cNvSpPr>
            <p:nvPr/>
          </p:nvSpPr>
          <p:spPr bwMode="auto">
            <a:xfrm flipV="1">
              <a:off x="2608" y="2069"/>
              <a:ext cx="0" cy="15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48"/>
            <p:cNvSpPr>
              <a:spLocks noChangeShapeType="1"/>
            </p:cNvSpPr>
            <p:nvPr/>
          </p:nvSpPr>
          <p:spPr bwMode="auto">
            <a:xfrm>
              <a:off x="3152" y="2886"/>
              <a:ext cx="771" cy="771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49"/>
            <p:cNvSpPr>
              <a:spLocks noChangeShapeType="1"/>
            </p:cNvSpPr>
            <p:nvPr/>
          </p:nvSpPr>
          <p:spPr bwMode="auto">
            <a:xfrm flipH="1">
              <a:off x="1383" y="2886"/>
              <a:ext cx="1769" cy="771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50"/>
            <p:cNvSpPr>
              <a:spLocks noChangeShapeType="1"/>
            </p:cNvSpPr>
            <p:nvPr/>
          </p:nvSpPr>
          <p:spPr bwMode="auto">
            <a:xfrm flipV="1">
              <a:off x="3152" y="2341"/>
              <a:ext cx="0" cy="13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51"/>
            <p:cNvSpPr>
              <a:spLocks noChangeShapeType="1"/>
            </p:cNvSpPr>
            <p:nvPr/>
          </p:nvSpPr>
          <p:spPr bwMode="auto">
            <a:xfrm flipV="1">
              <a:off x="2064" y="2341"/>
              <a:ext cx="0" cy="13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52"/>
            <p:cNvSpPr>
              <a:spLocks noChangeShapeType="1"/>
            </p:cNvSpPr>
            <p:nvPr/>
          </p:nvSpPr>
          <p:spPr bwMode="auto">
            <a:xfrm>
              <a:off x="1383" y="2069"/>
              <a:ext cx="12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Line 53"/>
            <p:cNvSpPr>
              <a:spLocks noChangeShapeType="1"/>
            </p:cNvSpPr>
            <p:nvPr/>
          </p:nvSpPr>
          <p:spPr bwMode="auto">
            <a:xfrm>
              <a:off x="1383" y="2296"/>
              <a:ext cx="176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Line 54"/>
            <p:cNvSpPr>
              <a:spLocks noChangeShapeType="1"/>
            </p:cNvSpPr>
            <p:nvPr/>
          </p:nvSpPr>
          <p:spPr bwMode="auto">
            <a:xfrm>
              <a:off x="1383" y="2750"/>
              <a:ext cx="25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Text Box 55"/>
            <p:cNvSpPr txBox="1">
              <a:spLocks noChangeArrowheads="1"/>
            </p:cNvSpPr>
            <p:nvPr/>
          </p:nvSpPr>
          <p:spPr bwMode="auto">
            <a:xfrm>
              <a:off x="1156" y="1933"/>
              <a:ext cx="3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2</a:t>
              </a:r>
            </a:p>
          </p:txBody>
        </p:sp>
        <p:sp>
          <p:nvSpPr>
            <p:cNvPr id="22555" name="Text Box 56"/>
            <p:cNvSpPr txBox="1">
              <a:spLocks noChangeArrowheads="1"/>
            </p:cNvSpPr>
            <p:nvPr/>
          </p:nvSpPr>
          <p:spPr bwMode="auto">
            <a:xfrm>
              <a:off x="884" y="2160"/>
              <a:ext cx="5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1+sin2</a:t>
              </a:r>
            </a:p>
          </p:txBody>
        </p:sp>
        <p:sp>
          <p:nvSpPr>
            <p:cNvPr id="22556" name="Text Box 57"/>
            <p:cNvSpPr txBox="1">
              <a:spLocks noChangeArrowheads="1"/>
            </p:cNvSpPr>
            <p:nvPr/>
          </p:nvSpPr>
          <p:spPr bwMode="auto">
            <a:xfrm>
              <a:off x="884" y="2568"/>
              <a:ext cx="5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1-sin6</a:t>
              </a:r>
            </a:p>
          </p:txBody>
        </p:sp>
        <p:sp>
          <p:nvSpPr>
            <p:cNvPr id="22557" name="Text Box 58"/>
            <p:cNvSpPr txBox="1">
              <a:spLocks noChangeArrowheads="1"/>
            </p:cNvSpPr>
            <p:nvPr/>
          </p:nvSpPr>
          <p:spPr bwMode="auto">
            <a:xfrm>
              <a:off x="1156" y="2795"/>
              <a:ext cx="3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</a:t>
              </a:r>
            </a:p>
          </p:txBody>
        </p:sp>
        <p:sp>
          <p:nvSpPr>
            <p:cNvPr id="22558" name="Text Box 59"/>
            <p:cNvSpPr txBox="1">
              <a:spLocks noChangeArrowheads="1"/>
            </p:cNvSpPr>
            <p:nvPr/>
          </p:nvSpPr>
          <p:spPr bwMode="auto">
            <a:xfrm>
              <a:off x="1247" y="1525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y</a:t>
              </a:r>
            </a:p>
          </p:txBody>
        </p:sp>
        <p:sp>
          <p:nvSpPr>
            <p:cNvPr id="22559" name="Freeform 60"/>
            <p:cNvSpPr>
              <a:spLocks/>
            </p:cNvSpPr>
            <p:nvPr/>
          </p:nvSpPr>
          <p:spPr bwMode="auto">
            <a:xfrm rot="181759">
              <a:off x="1427" y="2070"/>
              <a:ext cx="2494" cy="862"/>
            </a:xfrm>
            <a:custGeom>
              <a:avLst/>
              <a:gdLst>
                <a:gd name="T0" fmla="*/ 0 w 2495"/>
                <a:gd name="T1" fmla="*/ 862 h 817"/>
                <a:gd name="T2" fmla="*/ 182 w 2495"/>
                <a:gd name="T3" fmla="*/ 719 h 817"/>
                <a:gd name="T4" fmla="*/ 681 w 2495"/>
                <a:gd name="T5" fmla="*/ 240 h 817"/>
                <a:gd name="T6" fmla="*/ 1225 w 2495"/>
                <a:gd name="T7" fmla="*/ 0 h 817"/>
                <a:gd name="T8" fmla="*/ 1768 w 2495"/>
                <a:gd name="T9" fmla="*/ 240 h 817"/>
                <a:gd name="T10" fmla="*/ 2494 w 2495"/>
                <a:gd name="T11" fmla="*/ 719 h 8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95" h="817">
                  <a:moveTo>
                    <a:pt x="0" y="817"/>
                  </a:moveTo>
                  <a:cubicBezTo>
                    <a:pt x="34" y="798"/>
                    <a:pt x="69" y="779"/>
                    <a:pt x="182" y="681"/>
                  </a:cubicBezTo>
                  <a:cubicBezTo>
                    <a:pt x="295" y="583"/>
                    <a:pt x="507" y="340"/>
                    <a:pt x="681" y="227"/>
                  </a:cubicBezTo>
                  <a:cubicBezTo>
                    <a:pt x="855" y="114"/>
                    <a:pt x="1044" y="0"/>
                    <a:pt x="1225" y="0"/>
                  </a:cubicBezTo>
                  <a:cubicBezTo>
                    <a:pt x="1406" y="0"/>
                    <a:pt x="1557" y="114"/>
                    <a:pt x="1769" y="227"/>
                  </a:cubicBezTo>
                  <a:cubicBezTo>
                    <a:pt x="1981" y="340"/>
                    <a:pt x="2238" y="510"/>
                    <a:pt x="2495" y="681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0" name="Text Box 61"/>
            <p:cNvSpPr txBox="1">
              <a:spLocks noChangeArrowheads="1"/>
            </p:cNvSpPr>
            <p:nvPr/>
          </p:nvSpPr>
          <p:spPr bwMode="auto">
            <a:xfrm>
              <a:off x="2492" y="1745"/>
              <a:ext cx="36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0000"/>
                  </a:solidFill>
                  <a:latin typeface="Monotype Corsiva" pitchFamily="66" charset="0"/>
                </a:rPr>
                <a:t>f </a:t>
              </a:r>
              <a:r>
                <a:rPr lang="en-US" altLang="zh-CN" sz="1800" dirty="0">
                  <a:solidFill>
                    <a:srgbClr val="FF0000"/>
                  </a:solidFill>
                </a:rPr>
                <a:t>(x)</a:t>
              </a:r>
            </a:p>
          </p:txBody>
        </p:sp>
        <p:sp>
          <p:nvSpPr>
            <p:cNvPr id="22561" name="Text Box 62"/>
            <p:cNvSpPr txBox="1">
              <a:spLocks noChangeArrowheads="1"/>
            </p:cNvSpPr>
            <p:nvPr/>
          </p:nvSpPr>
          <p:spPr bwMode="auto">
            <a:xfrm>
              <a:off x="3470" y="2976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3333FF"/>
                  </a:solidFill>
                </a:rPr>
                <a:t>A(x)</a:t>
              </a:r>
            </a:p>
          </p:txBody>
        </p:sp>
        <p:sp>
          <p:nvSpPr>
            <p:cNvPr id="22562" name="Line 63"/>
            <p:cNvSpPr>
              <a:spLocks noChangeShapeType="1"/>
            </p:cNvSpPr>
            <p:nvPr/>
          </p:nvSpPr>
          <p:spPr bwMode="auto">
            <a:xfrm flipV="1">
              <a:off x="3787" y="2750"/>
              <a:ext cx="0" cy="90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3" name="Line 64"/>
            <p:cNvSpPr>
              <a:spLocks noChangeShapeType="1"/>
            </p:cNvSpPr>
            <p:nvPr/>
          </p:nvSpPr>
          <p:spPr bwMode="auto">
            <a:xfrm flipV="1">
              <a:off x="1565" y="2750"/>
              <a:ext cx="0" cy="90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zh-CN" altLang="en-US" sz="4800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600">
                <a:ea typeface="黑体" pitchFamily="2" charset="-122"/>
              </a:rPr>
              <a:t>[P120</a:t>
            </a:r>
            <a:r>
              <a:rPr lang="zh-CN" altLang="en-US" sz="3600">
                <a:ea typeface="黑体" pitchFamily="2" charset="-122"/>
              </a:rPr>
              <a:t>例</a:t>
            </a:r>
            <a:r>
              <a:rPr lang="en-US" altLang="zh-CN" sz="3600">
                <a:ea typeface="黑体" pitchFamily="2" charset="-122"/>
              </a:rPr>
              <a:t>4]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28776"/>
            <a:ext cx="8229600" cy="11525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将</a:t>
            </a:r>
            <a:r>
              <a:rPr lang="en-US" altLang="zh-CN" i="1" dirty="0">
                <a:ea typeface="黑体" pitchFamily="2" charset="-122"/>
              </a:rPr>
              <a:t>y</a:t>
            </a:r>
            <a:r>
              <a:rPr lang="zh-CN" altLang="en-US" dirty="0">
                <a:ea typeface="黑体" pitchFamily="2" charset="-122"/>
              </a:rPr>
              <a:t>划分成三个区间</a:t>
            </a:r>
            <a:r>
              <a:rPr lang="en-US" altLang="zh-CN" dirty="0">
                <a:ea typeface="黑体" pitchFamily="2" charset="-122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FF66FF"/>
                </a:solidFill>
                <a:cs typeface="Arial" charset="0"/>
              </a:rPr>
              <a:t>     </a:t>
            </a:r>
            <a:r>
              <a:rPr lang="en-US" altLang="zh-CN" dirty="0">
                <a:solidFill>
                  <a:srgbClr val="CC0099"/>
                </a:solidFill>
                <a:cs typeface="Arial" charset="0"/>
              </a:rPr>
              <a:t>[1,1-sin6),</a:t>
            </a:r>
            <a:r>
              <a:rPr lang="en-US" altLang="zh-CN" dirty="0">
                <a:solidFill>
                  <a:srgbClr val="008000"/>
                </a:solidFill>
                <a:cs typeface="Arial" charset="0"/>
              </a:rPr>
              <a:t> [1-sin6, 1+sin2), </a:t>
            </a:r>
            <a:r>
              <a:rPr lang="en-US" altLang="zh-CN" dirty="0">
                <a:solidFill>
                  <a:srgbClr val="0000FF"/>
                </a:solidFill>
                <a:cs typeface="Arial" charset="0"/>
              </a:rPr>
              <a:t>[1+sin2,2]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70689" name="Line 33"/>
          <p:cNvSpPr>
            <a:spLocks noChangeShapeType="1"/>
          </p:cNvSpPr>
          <p:nvPr/>
        </p:nvSpPr>
        <p:spPr bwMode="auto">
          <a:xfrm>
            <a:off x="3719513" y="4654550"/>
            <a:ext cx="0" cy="215900"/>
          </a:xfrm>
          <a:prstGeom prst="line">
            <a:avLst/>
          </a:prstGeom>
          <a:noFill/>
          <a:ln w="57150">
            <a:solidFill>
              <a:srgbClr val="CC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90" name="Line 34"/>
          <p:cNvSpPr>
            <a:spLocks noChangeShapeType="1"/>
          </p:cNvSpPr>
          <p:nvPr/>
        </p:nvSpPr>
        <p:spPr bwMode="auto">
          <a:xfrm flipV="1">
            <a:off x="3719513" y="3933826"/>
            <a:ext cx="0" cy="720725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91" name="Line 35"/>
          <p:cNvSpPr>
            <a:spLocks noChangeShapeType="1"/>
          </p:cNvSpPr>
          <p:nvPr/>
        </p:nvSpPr>
        <p:spPr bwMode="auto">
          <a:xfrm flipV="1">
            <a:off x="3719513" y="3573463"/>
            <a:ext cx="0" cy="360362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9E4598-5905-2345-482A-E68A29250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89" grpId="0" animBg="1"/>
      <p:bldP spid="70690" grpId="0" animBg="1"/>
      <p:bldP spid="7069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42"/>
          <p:cNvGrpSpPr>
            <a:grpSpLocks/>
          </p:cNvGrpSpPr>
          <p:nvPr/>
        </p:nvGrpSpPr>
        <p:grpSpPr bwMode="auto">
          <a:xfrm>
            <a:off x="911424" y="2892257"/>
            <a:ext cx="5761037" cy="3825875"/>
            <a:chOff x="884" y="1525"/>
            <a:chExt cx="3629" cy="2410"/>
          </a:xfrm>
        </p:grpSpPr>
        <p:sp>
          <p:nvSpPr>
            <p:cNvPr id="23564" name="Line 43"/>
            <p:cNvSpPr>
              <a:spLocks noChangeShapeType="1"/>
            </p:cNvSpPr>
            <p:nvPr/>
          </p:nvSpPr>
          <p:spPr bwMode="auto">
            <a:xfrm flipV="1">
              <a:off x="1383" y="1752"/>
              <a:ext cx="0" cy="19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5" name="Line 44"/>
            <p:cNvSpPr>
              <a:spLocks noChangeShapeType="1"/>
            </p:cNvSpPr>
            <p:nvPr/>
          </p:nvSpPr>
          <p:spPr bwMode="auto">
            <a:xfrm>
              <a:off x="1383" y="3657"/>
              <a:ext cx="303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6" name="Line 45"/>
            <p:cNvSpPr>
              <a:spLocks noChangeShapeType="1"/>
            </p:cNvSpPr>
            <p:nvPr/>
          </p:nvSpPr>
          <p:spPr bwMode="auto">
            <a:xfrm flipV="1">
              <a:off x="4150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7" name="Line 46"/>
            <p:cNvSpPr>
              <a:spLocks noChangeShapeType="1"/>
            </p:cNvSpPr>
            <p:nvPr/>
          </p:nvSpPr>
          <p:spPr bwMode="auto">
            <a:xfrm flipV="1">
              <a:off x="3923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8" name="Line 47"/>
            <p:cNvSpPr>
              <a:spLocks noChangeShapeType="1"/>
            </p:cNvSpPr>
            <p:nvPr/>
          </p:nvSpPr>
          <p:spPr bwMode="auto">
            <a:xfrm flipV="1">
              <a:off x="3152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Line 48"/>
            <p:cNvSpPr>
              <a:spLocks noChangeShapeType="1"/>
            </p:cNvSpPr>
            <p:nvPr/>
          </p:nvSpPr>
          <p:spPr bwMode="auto">
            <a:xfrm flipV="1">
              <a:off x="2109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0" name="Line 49"/>
            <p:cNvSpPr>
              <a:spLocks noChangeShapeType="1"/>
            </p:cNvSpPr>
            <p:nvPr/>
          </p:nvSpPr>
          <p:spPr bwMode="auto">
            <a:xfrm flipV="1">
              <a:off x="2608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1" name="Text Box 50"/>
            <p:cNvSpPr txBox="1">
              <a:spLocks noChangeArrowheads="1"/>
            </p:cNvSpPr>
            <p:nvPr/>
          </p:nvSpPr>
          <p:spPr bwMode="auto">
            <a:xfrm>
              <a:off x="1111" y="3702"/>
              <a:ext cx="34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/>
                <a:t>  0                  1        </a:t>
              </a:r>
              <a:r>
                <a:rPr lang="el-GR" altLang="zh-CN" sz="1800" dirty="0">
                  <a:solidFill>
                    <a:srgbClr val="FF0000"/>
                  </a:solidFill>
                  <a:sym typeface="Symbol"/>
                </a:rPr>
                <a:t></a:t>
              </a:r>
              <a:r>
                <a:rPr lang="en-US" altLang="zh-CN" sz="1800" dirty="0">
                  <a:solidFill>
                    <a:srgbClr val="FF0000"/>
                  </a:solidFill>
                </a:rPr>
                <a:t>/2          </a:t>
              </a:r>
              <a:r>
                <a:rPr lang="en-US" altLang="zh-CN" sz="1800" dirty="0"/>
                <a:t>2                  3   </a:t>
              </a:r>
              <a:r>
                <a:rPr lang="el-GR" altLang="zh-CN" sz="1800" dirty="0">
                  <a:solidFill>
                    <a:srgbClr val="FF0000"/>
                  </a:solidFill>
                  <a:sym typeface="Symbol"/>
                </a:rPr>
                <a:t></a:t>
              </a:r>
              <a:r>
                <a:rPr lang="en-US" altLang="zh-CN" sz="1800" dirty="0">
                  <a:solidFill>
                    <a:srgbClr val="FF0000"/>
                  </a:solidFill>
                </a:rPr>
                <a:t>   </a:t>
              </a:r>
              <a:r>
                <a:rPr lang="en-US" altLang="zh-CN" sz="1800" dirty="0"/>
                <a:t>x</a:t>
              </a:r>
              <a:r>
                <a:rPr lang="en-US" altLang="zh-CN" sz="1800" dirty="0">
                  <a:solidFill>
                    <a:srgbClr val="FF0000"/>
                  </a:solidFill>
                </a:rPr>
                <a:t>       </a:t>
              </a:r>
            </a:p>
          </p:txBody>
        </p:sp>
        <p:sp>
          <p:nvSpPr>
            <p:cNvPr id="23572" name="Line 51"/>
            <p:cNvSpPr>
              <a:spLocks noChangeShapeType="1"/>
            </p:cNvSpPr>
            <p:nvPr/>
          </p:nvSpPr>
          <p:spPr bwMode="auto">
            <a:xfrm>
              <a:off x="1383" y="2886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3" name="Line 52"/>
            <p:cNvSpPr>
              <a:spLocks noChangeShapeType="1"/>
            </p:cNvSpPr>
            <p:nvPr/>
          </p:nvSpPr>
          <p:spPr bwMode="auto">
            <a:xfrm>
              <a:off x="1383" y="2069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4" name="Line 53"/>
            <p:cNvSpPr>
              <a:spLocks noChangeShapeType="1"/>
            </p:cNvSpPr>
            <p:nvPr/>
          </p:nvSpPr>
          <p:spPr bwMode="auto">
            <a:xfrm flipV="1">
              <a:off x="2608" y="2069"/>
              <a:ext cx="0" cy="15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5" name="Line 54"/>
            <p:cNvSpPr>
              <a:spLocks noChangeShapeType="1"/>
            </p:cNvSpPr>
            <p:nvPr/>
          </p:nvSpPr>
          <p:spPr bwMode="auto">
            <a:xfrm>
              <a:off x="3152" y="2886"/>
              <a:ext cx="771" cy="771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6" name="Line 55"/>
            <p:cNvSpPr>
              <a:spLocks noChangeShapeType="1"/>
            </p:cNvSpPr>
            <p:nvPr/>
          </p:nvSpPr>
          <p:spPr bwMode="auto">
            <a:xfrm flipH="1">
              <a:off x="1383" y="2886"/>
              <a:ext cx="1769" cy="771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7" name="Line 56"/>
            <p:cNvSpPr>
              <a:spLocks noChangeShapeType="1"/>
            </p:cNvSpPr>
            <p:nvPr/>
          </p:nvSpPr>
          <p:spPr bwMode="auto">
            <a:xfrm flipV="1">
              <a:off x="3152" y="2341"/>
              <a:ext cx="0" cy="13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8" name="Line 57"/>
            <p:cNvSpPr>
              <a:spLocks noChangeShapeType="1"/>
            </p:cNvSpPr>
            <p:nvPr/>
          </p:nvSpPr>
          <p:spPr bwMode="auto">
            <a:xfrm flipV="1">
              <a:off x="2064" y="2341"/>
              <a:ext cx="0" cy="13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9" name="Line 58"/>
            <p:cNvSpPr>
              <a:spLocks noChangeShapeType="1"/>
            </p:cNvSpPr>
            <p:nvPr/>
          </p:nvSpPr>
          <p:spPr bwMode="auto">
            <a:xfrm>
              <a:off x="1383" y="2069"/>
              <a:ext cx="12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0" name="Line 59"/>
            <p:cNvSpPr>
              <a:spLocks noChangeShapeType="1"/>
            </p:cNvSpPr>
            <p:nvPr/>
          </p:nvSpPr>
          <p:spPr bwMode="auto">
            <a:xfrm>
              <a:off x="1383" y="2296"/>
              <a:ext cx="176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1" name="Line 60"/>
            <p:cNvSpPr>
              <a:spLocks noChangeShapeType="1"/>
            </p:cNvSpPr>
            <p:nvPr/>
          </p:nvSpPr>
          <p:spPr bwMode="auto">
            <a:xfrm>
              <a:off x="1383" y="2750"/>
              <a:ext cx="25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2" name="Text Box 61"/>
            <p:cNvSpPr txBox="1">
              <a:spLocks noChangeArrowheads="1"/>
            </p:cNvSpPr>
            <p:nvPr/>
          </p:nvSpPr>
          <p:spPr bwMode="auto">
            <a:xfrm>
              <a:off x="1156" y="1933"/>
              <a:ext cx="3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2</a:t>
              </a:r>
            </a:p>
          </p:txBody>
        </p:sp>
        <p:sp>
          <p:nvSpPr>
            <p:cNvPr id="23583" name="Text Box 62"/>
            <p:cNvSpPr txBox="1">
              <a:spLocks noChangeArrowheads="1"/>
            </p:cNvSpPr>
            <p:nvPr/>
          </p:nvSpPr>
          <p:spPr bwMode="auto">
            <a:xfrm>
              <a:off x="884" y="2160"/>
              <a:ext cx="5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1+sin2</a:t>
              </a:r>
            </a:p>
          </p:txBody>
        </p:sp>
        <p:sp>
          <p:nvSpPr>
            <p:cNvPr id="23584" name="Text Box 63"/>
            <p:cNvSpPr txBox="1">
              <a:spLocks noChangeArrowheads="1"/>
            </p:cNvSpPr>
            <p:nvPr/>
          </p:nvSpPr>
          <p:spPr bwMode="auto">
            <a:xfrm>
              <a:off x="884" y="2568"/>
              <a:ext cx="5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1-sin6</a:t>
              </a:r>
            </a:p>
          </p:txBody>
        </p:sp>
        <p:sp>
          <p:nvSpPr>
            <p:cNvPr id="23585" name="Text Box 64"/>
            <p:cNvSpPr txBox="1">
              <a:spLocks noChangeArrowheads="1"/>
            </p:cNvSpPr>
            <p:nvPr/>
          </p:nvSpPr>
          <p:spPr bwMode="auto">
            <a:xfrm>
              <a:off x="1156" y="2795"/>
              <a:ext cx="3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</a:t>
              </a:r>
            </a:p>
          </p:txBody>
        </p:sp>
        <p:sp>
          <p:nvSpPr>
            <p:cNvPr id="23586" name="Text Box 65"/>
            <p:cNvSpPr txBox="1">
              <a:spLocks noChangeArrowheads="1"/>
            </p:cNvSpPr>
            <p:nvPr/>
          </p:nvSpPr>
          <p:spPr bwMode="auto">
            <a:xfrm>
              <a:off x="1247" y="1525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y</a:t>
              </a:r>
            </a:p>
          </p:txBody>
        </p:sp>
        <p:sp>
          <p:nvSpPr>
            <p:cNvPr id="23587" name="Freeform 66"/>
            <p:cNvSpPr>
              <a:spLocks/>
            </p:cNvSpPr>
            <p:nvPr/>
          </p:nvSpPr>
          <p:spPr bwMode="auto">
            <a:xfrm rot="181759">
              <a:off x="1427" y="2070"/>
              <a:ext cx="2494" cy="862"/>
            </a:xfrm>
            <a:custGeom>
              <a:avLst/>
              <a:gdLst>
                <a:gd name="T0" fmla="*/ 0 w 2495"/>
                <a:gd name="T1" fmla="*/ 862 h 817"/>
                <a:gd name="T2" fmla="*/ 182 w 2495"/>
                <a:gd name="T3" fmla="*/ 719 h 817"/>
                <a:gd name="T4" fmla="*/ 681 w 2495"/>
                <a:gd name="T5" fmla="*/ 240 h 817"/>
                <a:gd name="T6" fmla="*/ 1225 w 2495"/>
                <a:gd name="T7" fmla="*/ 0 h 817"/>
                <a:gd name="T8" fmla="*/ 1768 w 2495"/>
                <a:gd name="T9" fmla="*/ 240 h 817"/>
                <a:gd name="T10" fmla="*/ 2494 w 2495"/>
                <a:gd name="T11" fmla="*/ 719 h 8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95" h="817">
                  <a:moveTo>
                    <a:pt x="0" y="817"/>
                  </a:moveTo>
                  <a:cubicBezTo>
                    <a:pt x="34" y="798"/>
                    <a:pt x="69" y="779"/>
                    <a:pt x="182" y="681"/>
                  </a:cubicBezTo>
                  <a:cubicBezTo>
                    <a:pt x="295" y="583"/>
                    <a:pt x="507" y="340"/>
                    <a:pt x="681" y="227"/>
                  </a:cubicBezTo>
                  <a:cubicBezTo>
                    <a:pt x="855" y="114"/>
                    <a:pt x="1044" y="0"/>
                    <a:pt x="1225" y="0"/>
                  </a:cubicBezTo>
                  <a:cubicBezTo>
                    <a:pt x="1406" y="0"/>
                    <a:pt x="1557" y="114"/>
                    <a:pt x="1769" y="227"/>
                  </a:cubicBezTo>
                  <a:cubicBezTo>
                    <a:pt x="1981" y="340"/>
                    <a:pt x="2238" y="510"/>
                    <a:pt x="2495" y="681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Text Box 67"/>
            <p:cNvSpPr txBox="1">
              <a:spLocks noChangeArrowheads="1"/>
            </p:cNvSpPr>
            <p:nvPr/>
          </p:nvSpPr>
          <p:spPr bwMode="auto">
            <a:xfrm>
              <a:off x="2450" y="1790"/>
              <a:ext cx="36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0000"/>
                  </a:solidFill>
                  <a:latin typeface="Monotype Corsiva" pitchFamily="66" charset="0"/>
                </a:rPr>
                <a:t>f </a:t>
              </a:r>
              <a:r>
                <a:rPr lang="en-US" altLang="zh-CN" sz="1800" dirty="0">
                  <a:solidFill>
                    <a:srgbClr val="FF0000"/>
                  </a:solidFill>
                </a:rPr>
                <a:t>(x)</a:t>
              </a:r>
            </a:p>
          </p:txBody>
        </p:sp>
        <p:sp>
          <p:nvSpPr>
            <p:cNvPr id="23589" name="Text Box 68"/>
            <p:cNvSpPr txBox="1">
              <a:spLocks noChangeArrowheads="1"/>
            </p:cNvSpPr>
            <p:nvPr/>
          </p:nvSpPr>
          <p:spPr bwMode="auto">
            <a:xfrm>
              <a:off x="3470" y="2976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3333FF"/>
                  </a:solidFill>
                </a:rPr>
                <a:t>A(x)</a:t>
              </a:r>
            </a:p>
          </p:txBody>
        </p:sp>
        <p:sp>
          <p:nvSpPr>
            <p:cNvPr id="23590" name="Line 69"/>
            <p:cNvSpPr>
              <a:spLocks noChangeShapeType="1"/>
            </p:cNvSpPr>
            <p:nvPr/>
          </p:nvSpPr>
          <p:spPr bwMode="auto">
            <a:xfrm flipV="1">
              <a:off x="3787" y="2750"/>
              <a:ext cx="0" cy="90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1" name="Line 70"/>
            <p:cNvSpPr>
              <a:spLocks noChangeShapeType="1"/>
            </p:cNvSpPr>
            <p:nvPr/>
          </p:nvSpPr>
          <p:spPr bwMode="auto">
            <a:xfrm flipV="1">
              <a:off x="1565" y="2750"/>
              <a:ext cx="0" cy="90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41078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 dirty="0">
                <a:ea typeface="黑体" pitchFamily="2" charset="-122"/>
              </a:rPr>
              <a:t>[P120</a:t>
            </a:r>
            <a:r>
              <a:rPr lang="zh-CN" altLang="en-US" sz="3200" dirty="0">
                <a:ea typeface="黑体" pitchFamily="2" charset="-122"/>
              </a:rPr>
              <a:t>例</a:t>
            </a:r>
            <a:r>
              <a:rPr lang="en-US" altLang="zh-CN" sz="3200" dirty="0">
                <a:ea typeface="黑体" pitchFamily="2" charset="-122"/>
              </a:rPr>
              <a:t>4]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124744"/>
            <a:ext cx="8291513" cy="6477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(1)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当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1 ≤ y &lt; 1-sin6 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时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, </a:t>
            </a:r>
            <a:endParaRPr lang="en-US" altLang="zh-CN" sz="2800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39976" name="Line 40"/>
          <p:cNvSpPr>
            <a:spLocks noChangeShapeType="1"/>
          </p:cNvSpPr>
          <p:nvPr/>
        </p:nvSpPr>
        <p:spPr bwMode="auto">
          <a:xfrm flipV="1">
            <a:off x="1703586" y="6132344"/>
            <a:ext cx="288925" cy="144463"/>
          </a:xfrm>
          <a:prstGeom prst="line">
            <a:avLst/>
          </a:prstGeom>
          <a:noFill/>
          <a:ln w="57150">
            <a:solidFill>
              <a:srgbClr val="66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7" name="Line 41"/>
          <p:cNvSpPr>
            <a:spLocks noChangeShapeType="1"/>
          </p:cNvSpPr>
          <p:nvPr/>
        </p:nvSpPr>
        <p:spPr bwMode="auto">
          <a:xfrm>
            <a:off x="5735836" y="6276806"/>
            <a:ext cx="360363" cy="0"/>
          </a:xfrm>
          <a:prstGeom prst="line">
            <a:avLst/>
          </a:prstGeom>
          <a:noFill/>
          <a:ln w="57150">
            <a:solidFill>
              <a:srgbClr val="FF99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07" name="Line 71"/>
          <p:cNvSpPr>
            <a:spLocks noChangeShapeType="1"/>
          </p:cNvSpPr>
          <p:nvPr/>
        </p:nvSpPr>
        <p:spPr bwMode="auto">
          <a:xfrm flipH="1" flipV="1">
            <a:off x="5519935" y="6060906"/>
            <a:ext cx="215900" cy="215900"/>
          </a:xfrm>
          <a:prstGeom prst="line">
            <a:avLst/>
          </a:prstGeom>
          <a:noFill/>
          <a:ln w="57150">
            <a:solidFill>
              <a:srgbClr val="FF99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276367"/>
              </p:ext>
            </p:extLst>
          </p:nvPr>
        </p:nvGraphicFramePr>
        <p:xfrm>
          <a:off x="7296075" y="4185287"/>
          <a:ext cx="42005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70100" imgH="457200" progId="Equation.3">
                  <p:embed/>
                </p:oleObj>
              </mc:Choice>
              <mc:Fallback>
                <p:oleObj name="公式" r:id="rId3" imgW="2070100" imgH="45720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6075" y="4185287"/>
                        <a:ext cx="4200525" cy="9271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17765"/>
              </p:ext>
            </p:extLst>
          </p:nvPr>
        </p:nvGraphicFramePr>
        <p:xfrm>
          <a:off x="8493050" y="5437188"/>
          <a:ext cx="300355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511300" imgH="584200" progId="Equation.3">
                  <p:embed/>
                </p:oleObj>
              </mc:Choice>
              <mc:Fallback>
                <p:oleObj name="公式" r:id="rId5" imgW="1511300" imgH="584200" progId="Equation.3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050" y="5437188"/>
                        <a:ext cx="3003550" cy="116046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362046" y="3124708"/>
            <a:ext cx="24945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lang="zh-CN" altLang="en-US" sz="2400" kern="0" dirty="0">
                <a:solidFill>
                  <a:srgbClr val="FF0000"/>
                </a:solidFill>
                <a:latin typeface="+mj-lt"/>
                <a:ea typeface="黑体" pitchFamily="2" charset="-122"/>
              </a:rPr>
              <a:t>所以</a:t>
            </a:r>
            <a:r>
              <a:rPr lang="en-US" altLang="zh-CN" sz="2400" kern="0" dirty="0">
                <a:solidFill>
                  <a:srgbClr val="FF0000"/>
                </a:solidFill>
                <a:latin typeface="+mj-lt"/>
                <a:ea typeface="黑体" pitchFamily="2" charset="-122"/>
              </a:rPr>
              <a:t>,</a:t>
            </a:r>
            <a:r>
              <a:rPr lang="en-US" altLang="zh-CN" sz="2400" i="1" kern="0" dirty="0">
                <a:solidFill>
                  <a:srgbClr val="FF0000"/>
                </a:solidFill>
                <a:latin typeface="+mj-lt"/>
                <a:ea typeface="黑体" pitchFamily="2" charset="-122"/>
              </a:rPr>
              <a:t>A</a:t>
            </a:r>
            <a:r>
              <a:rPr lang="en-US" altLang="zh-CN" sz="2400" kern="0" dirty="0">
                <a:solidFill>
                  <a:srgbClr val="FF0000"/>
                </a:solidFill>
                <a:latin typeface="+mj-lt"/>
                <a:ea typeface="黑体" pitchFamily="2" charset="-122"/>
              </a:rPr>
              <a:t>(</a:t>
            </a:r>
            <a:r>
              <a:rPr lang="en-US" altLang="zh-CN" sz="2400" i="1" kern="0" dirty="0">
                <a:solidFill>
                  <a:srgbClr val="FF0000"/>
                </a:solidFill>
                <a:latin typeface="+mj-lt"/>
                <a:ea typeface="黑体" pitchFamily="2" charset="-122"/>
              </a:rPr>
              <a:t>x</a:t>
            </a:r>
            <a:r>
              <a:rPr lang="en-US" altLang="zh-CN" sz="2400" kern="0" baseline="-25000" dirty="0">
                <a:solidFill>
                  <a:srgbClr val="FF0000"/>
                </a:solidFill>
                <a:latin typeface="+mj-lt"/>
                <a:ea typeface="黑体" pitchFamily="2" charset="-122"/>
              </a:rPr>
              <a:t>1</a:t>
            </a:r>
            <a:r>
              <a:rPr lang="en-US" altLang="zh-CN" sz="2400" kern="0" dirty="0">
                <a:solidFill>
                  <a:srgbClr val="FF0000"/>
                </a:solidFill>
                <a:latin typeface="+mj-lt"/>
                <a:ea typeface="黑体" pitchFamily="2" charset="-122"/>
              </a:rPr>
              <a:t>) ≥</a:t>
            </a:r>
            <a:r>
              <a:rPr lang="en-US" altLang="zh-CN" sz="2400" i="1" kern="0" dirty="0">
                <a:solidFill>
                  <a:srgbClr val="FF0000"/>
                </a:solidFill>
                <a:latin typeface="+mj-lt"/>
                <a:ea typeface="黑体" pitchFamily="2" charset="-122"/>
              </a:rPr>
              <a:t>A</a:t>
            </a:r>
            <a:r>
              <a:rPr lang="en-US" altLang="zh-CN" sz="2400" kern="0" dirty="0">
                <a:solidFill>
                  <a:srgbClr val="FF0000"/>
                </a:solidFill>
                <a:latin typeface="+mj-lt"/>
                <a:ea typeface="黑体" pitchFamily="2" charset="-122"/>
              </a:rPr>
              <a:t>(</a:t>
            </a:r>
            <a:r>
              <a:rPr lang="en-US" altLang="zh-CN" sz="2400" i="1" kern="0" dirty="0">
                <a:solidFill>
                  <a:srgbClr val="FF0000"/>
                </a:solidFill>
                <a:latin typeface="+mj-lt"/>
                <a:ea typeface="黑体" pitchFamily="2" charset="-122"/>
              </a:rPr>
              <a:t>x</a:t>
            </a:r>
            <a:r>
              <a:rPr lang="en-US" altLang="zh-CN" sz="2400" kern="0" baseline="-25000" dirty="0">
                <a:solidFill>
                  <a:srgbClr val="FF0000"/>
                </a:solidFill>
                <a:latin typeface="+mj-lt"/>
                <a:ea typeface="黑体" pitchFamily="2" charset="-122"/>
              </a:rPr>
              <a:t>2</a:t>
            </a:r>
            <a:r>
              <a:rPr lang="en-US" altLang="zh-CN" sz="2400" kern="0" dirty="0">
                <a:solidFill>
                  <a:srgbClr val="FF0000"/>
                </a:solidFill>
                <a:latin typeface="+mj-lt"/>
                <a:ea typeface="黑体" pitchFamily="2" charset="-122"/>
              </a:rPr>
              <a:t>)</a:t>
            </a:r>
          </a:p>
        </p:txBody>
      </p:sp>
      <p:graphicFrame>
        <p:nvGraphicFramePr>
          <p:cNvPr id="9" name="对象 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945616915"/>
              </p:ext>
            </p:extLst>
          </p:nvPr>
        </p:nvGraphicFramePr>
        <p:xfrm>
          <a:off x="1789799" y="1780837"/>
          <a:ext cx="4426901" cy="566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0" imgH="291960" progId="Equation.DSMT4">
                  <p:embed/>
                </p:oleObj>
              </mc:Choice>
              <mc:Fallback>
                <p:oleObj name="Equation" r:id="rId7" imgW="2286000" imgH="291960" progId="Equation.DSMT4">
                  <p:embed/>
                  <p:pic>
                    <p:nvPicPr>
                      <p:cNvPr id="9" name="对象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799" y="1780837"/>
                        <a:ext cx="4426901" cy="5661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186534"/>
              </p:ext>
            </p:extLst>
          </p:nvPr>
        </p:nvGraphicFramePr>
        <p:xfrm>
          <a:off x="5206082" y="1220719"/>
          <a:ext cx="29400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36480" imgH="203040" progId="Equation.DSMT4">
                  <p:embed/>
                </p:oleObj>
              </mc:Choice>
              <mc:Fallback>
                <p:oleObj name="Equation" r:id="rId9" imgW="153648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6082" y="1220719"/>
                        <a:ext cx="2940050" cy="387350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551480531"/>
              </p:ext>
            </p:extLst>
          </p:nvPr>
        </p:nvGraphicFramePr>
        <p:xfrm>
          <a:off x="6207069" y="1622807"/>
          <a:ext cx="2830611" cy="74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98320" imgH="393480" progId="Equation.DSMT4">
                  <p:embed/>
                </p:oleObj>
              </mc:Choice>
              <mc:Fallback>
                <p:oleObj name="Equation" r:id="rId11" imgW="1498320" imgH="393480" progId="Equation.DSMT4">
                  <p:embed/>
                  <p:pic>
                    <p:nvPicPr>
                      <p:cNvPr id="11" name="对象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069" y="1622807"/>
                        <a:ext cx="2830611" cy="74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33202264"/>
              </p:ext>
            </p:extLst>
          </p:nvPr>
        </p:nvGraphicFramePr>
        <p:xfrm>
          <a:off x="2091096" y="2313365"/>
          <a:ext cx="6229972" cy="76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25600" imgH="393480" progId="Equation.DSMT4">
                  <p:embed/>
                </p:oleObj>
              </mc:Choice>
              <mc:Fallback>
                <p:oleObj name="Equation" r:id="rId13" imgW="3225600" imgH="393480" progId="Equation.DSMT4">
                  <p:embed/>
                  <p:pic>
                    <p:nvPicPr>
                      <p:cNvPr id="12" name="对象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1096" y="2313365"/>
                        <a:ext cx="6229972" cy="762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>
            <a:extLst>
              <a:ext uri="{FF2B5EF4-FFF2-40B4-BE49-F238E27FC236}">
                <a16:creationId xmlns:a16="http://schemas.microsoft.com/office/drawing/2014/main" id="{AB664F6D-EB54-47BD-B6B6-965BAFE9D368}"/>
              </a:ext>
            </a:extLst>
          </p:cNvPr>
          <p:cNvSpPr/>
          <p:nvPr/>
        </p:nvSpPr>
        <p:spPr>
          <a:xfrm>
            <a:off x="5304036" y="5772774"/>
            <a:ext cx="1081077" cy="1040602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B1D4095-3C54-4ADC-A187-B4FBF418AB87}"/>
              </a:ext>
            </a:extLst>
          </p:cNvPr>
          <p:cNvSpPr/>
          <p:nvPr/>
        </p:nvSpPr>
        <p:spPr>
          <a:xfrm>
            <a:off x="1291162" y="5698641"/>
            <a:ext cx="1081077" cy="1040602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8D1B706-F691-4B22-89E5-B8CBEF89D0B0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05170063"/>
              </p:ext>
            </p:extLst>
          </p:nvPr>
        </p:nvGraphicFramePr>
        <p:xfrm>
          <a:off x="4328829" y="3010133"/>
          <a:ext cx="5012407" cy="786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14600" imgH="393480" progId="Equation.DSMT4">
                  <p:embed/>
                </p:oleObj>
              </mc:Choice>
              <mc:Fallback>
                <p:oleObj name="Equation" r:id="rId15" imgW="2514600" imgH="393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8D1B706-F691-4B22-89E5-B8CBEF89D0B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829" y="3010133"/>
                        <a:ext cx="5012407" cy="786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C2CD5C-01B6-6BFA-CC92-36864D10D2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0023" y="6316658"/>
            <a:ext cx="395278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666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  <p:bldP spid="39976" grpId="0" animBg="1"/>
      <p:bldP spid="39977" grpId="0" animBg="1"/>
      <p:bldP spid="40007" grpId="0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39"/>
          <p:cNvGrpSpPr>
            <a:grpSpLocks/>
          </p:cNvGrpSpPr>
          <p:nvPr/>
        </p:nvGrpSpPr>
        <p:grpSpPr bwMode="auto">
          <a:xfrm>
            <a:off x="839416" y="2852937"/>
            <a:ext cx="5761038" cy="3825875"/>
            <a:chOff x="884" y="1525"/>
            <a:chExt cx="3629" cy="2410"/>
          </a:xfrm>
        </p:grpSpPr>
        <p:sp>
          <p:nvSpPr>
            <p:cNvPr id="24587" name="Line 40"/>
            <p:cNvSpPr>
              <a:spLocks noChangeShapeType="1"/>
            </p:cNvSpPr>
            <p:nvPr/>
          </p:nvSpPr>
          <p:spPr bwMode="auto">
            <a:xfrm flipV="1">
              <a:off x="1383" y="1752"/>
              <a:ext cx="0" cy="19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Line 41"/>
            <p:cNvSpPr>
              <a:spLocks noChangeShapeType="1"/>
            </p:cNvSpPr>
            <p:nvPr/>
          </p:nvSpPr>
          <p:spPr bwMode="auto">
            <a:xfrm>
              <a:off x="1383" y="3657"/>
              <a:ext cx="303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9" name="Line 42"/>
            <p:cNvSpPr>
              <a:spLocks noChangeShapeType="1"/>
            </p:cNvSpPr>
            <p:nvPr/>
          </p:nvSpPr>
          <p:spPr bwMode="auto">
            <a:xfrm flipV="1">
              <a:off x="4150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0" name="Line 43"/>
            <p:cNvSpPr>
              <a:spLocks noChangeShapeType="1"/>
            </p:cNvSpPr>
            <p:nvPr/>
          </p:nvSpPr>
          <p:spPr bwMode="auto">
            <a:xfrm flipV="1">
              <a:off x="3923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Line 44"/>
            <p:cNvSpPr>
              <a:spLocks noChangeShapeType="1"/>
            </p:cNvSpPr>
            <p:nvPr/>
          </p:nvSpPr>
          <p:spPr bwMode="auto">
            <a:xfrm flipV="1">
              <a:off x="3152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45"/>
            <p:cNvSpPr>
              <a:spLocks noChangeShapeType="1"/>
            </p:cNvSpPr>
            <p:nvPr/>
          </p:nvSpPr>
          <p:spPr bwMode="auto">
            <a:xfrm flipV="1">
              <a:off x="2109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Line 46"/>
            <p:cNvSpPr>
              <a:spLocks noChangeShapeType="1"/>
            </p:cNvSpPr>
            <p:nvPr/>
          </p:nvSpPr>
          <p:spPr bwMode="auto">
            <a:xfrm flipV="1">
              <a:off x="2608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Text Box 47"/>
            <p:cNvSpPr txBox="1">
              <a:spLocks noChangeArrowheads="1"/>
            </p:cNvSpPr>
            <p:nvPr/>
          </p:nvSpPr>
          <p:spPr bwMode="auto">
            <a:xfrm>
              <a:off x="1111" y="3702"/>
              <a:ext cx="34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/>
                <a:t>  0                  1        </a:t>
              </a:r>
              <a:r>
                <a:rPr lang="el-GR" altLang="zh-CN" sz="1800" dirty="0">
                  <a:solidFill>
                    <a:srgbClr val="FF0000"/>
                  </a:solidFill>
                  <a:sym typeface="Symbol"/>
                </a:rPr>
                <a:t></a:t>
              </a:r>
              <a:r>
                <a:rPr lang="en-US" altLang="zh-CN" sz="1800" dirty="0">
                  <a:solidFill>
                    <a:srgbClr val="FF0000"/>
                  </a:solidFill>
                </a:rPr>
                <a:t>/2          </a:t>
              </a:r>
              <a:r>
                <a:rPr lang="en-US" altLang="zh-CN" sz="1800" dirty="0"/>
                <a:t>2                  3   </a:t>
              </a:r>
              <a:r>
                <a:rPr lang="el-GR" altLang="zh-CN" sz="1800" dirty="0">
                  <a:solidFill>
                    <a:srgbClr val="FF0000"/>
                  </a:solidFill>
                  <a:sym typeface="Symbol"/>
                </a:rPr>
                <a:t></a:t>
              </a:r>
              <a:r>
                <a:rPr lang="en-US" altLang="zh-CN" sz="1800" dirty="0">
                  <a:solidFill>
                    <a:srgbClr val="FF0000"/>
                  </a:solidFill>
                </a:rPr>
                <a:t>   </a:t>
              </a:r>
              <a:r>
                <a:rPr lang="en-US" altLang="zh-CN" sz="1800" dirty="0"/>
                <a:t>x</a:t>
              </a:r>
              <a:r>
                <a:rPr lang="en-US" altLang="zh-CN" sz="1800" dirty="0">
                  <a:solidFill>
                    <a:srgbClr val="FF0000"/>
                  </a:solidFill>
                </a:rPr>
                <a:t>       </a:t>
              </a:r>
            </a:p>
          </p:txBody>
        </p:sp>
        <p:sp>
          <p:nvSpPr>
            <p:cNvPr id="24595" name="Line 48"/>
            <p:cNvSpPr>
              <a:spLocks noChangeShapeType="1"/>
            </p:cNvSpPr>
            <p:nvPr/>
          </p:nvSpPr>
          <p:spPr bwMode="auto">
            <a:xfrm>
              <a:off x="1383" y="2886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6" name="Line 49"/>
            <p:cNvSpPr>
              <a:spLocks noChangeShapeType="1"/>
            </p:cNvSpPr>
            <p:nvPr/>
          </p:nvSpPr>
          <p:spPr bwMode="auto">
            <a:xfrm>
              <a:off x="1383" y="2069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7" name="Line 50"/>
            <p:cNvSpPr>
              <a:spLocks noChangeShapeType="1"/>
            </p:cNvSpPr>
            <p:nvPr/>
          </p:nvSpPr>
          <p:spPr bwMode="auto">
            <a:xfrm flipV="1">
              <a:off x="2608" y="2069"/>
              <a:ext cx="0" cy="15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8" name="Line 51"/>
            <p:cNvSpPr>
              <a:spLocks noChangeShapeType="1"/>
            </p:cNvSpPr>
            <p:nvPr/>
          </p:nvSpPr>
          <p:spPr bwMode="auto">
            <a:xfrm>
              <a:off x="3152" y="2886"/>
              <a:ext cx="771" cy="771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9" name="Line 52"/>
            <p:cNvSpPr>
              <a:spLocks noChangeShapeType="1"/>
            </p:cNvSpPr>
            <p:nvPr/>
          </p:nvSpPr>
          <p:spPr bwMode="auto">
            <a:xfrm flipH="1">
              <a:off x="1383" y="2886"/>
              <a:ext cx="1769" cy="771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Line 53"/>
            <p:cNvSpPr>
              <a:spLocks noChangeShapeType="1"/>
            </p:cNvSpPr>
            <p:nvPr/>
          </p:nvSpPr>
          <p:spPr bwMode="auto">
            <a:xfrm flipV="1">
              <a:off x="3152" y="2341"/>
              <a:ext cx="0" cy="13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1" name="Line 54"/>
            <p:cNvSpPr>
              <a:spLocks noChangeShapeType="1"/>
            </p:cNvSpPr>
            <p:nvPr/>
          </p:nvSpPr>
          <p:spPr bwMode="auto">
            <a:xfrm flipV="1">
              <a:off x="2064" y="2341"/>
              <a:ext cx="0" cy="13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Line 55"/>
            <p:cNvSpPr>
              <a:spLocks noChangeShapeType="1"/>
            </p:cNvSpPr>
            <p:nvPr/>
          </p:nvSpPr>
          <p:spPr bwMode="auto">
            <a:xfrm>
              <a:off x="1383" y="2069"/>
              <a:ext cx="12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3" name="Line 56"/>
            <p:cNvSpPr>
              <a:spLocks noChangeShapeType="1"/>
            </p:cNvSpPr>
            <p:nvPr/>
          </p:nvSpPr>
          <p:spPr bwMode="auto">
            <a:xfrm>
              <a:off x="1383" y="2296"/>
              <a:ext cx="176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Line 57"/>
            <p:cNvSpPr>
              <a:spLocks noChangeShapeType="1"/>
            </p:cNvSpPr>
            <p:nvPr/>
          </p:nvSpPr>
          <p:spPr bwMode="auto">
            <a:xfrm>
              <a:off x="1383" y="2750"/>
              <a:ext cx="25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5" name="Text Box 58"/>
            <p:cNvSpPr txBox="1">
              <a:spLocks noChangeArrowheads="1"/>
            </p:cNvSpPr>
            <p:nvPr/>
          </p:nvSpPr>
          <p:spPr bwMode="auto">
            <a:xfrm>
              <a:off x="1156" y="1933"/>
              <a:ext cx="3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2</a:t>
              </a:r>
            </a:p>
          </p:txBody>
        </p:sp>
        <p:sp>
          <p:nvSpPr>
            <p:cNvPr id="24606" name="Text Box 59"/>
            <p:cNvSpPr txBox="1">
              <a:spLocks noChangeArrowheads="1"/>
            </p:cNvSpPr>
            <p:nvPr/>
          </p:nvSpPr>
          <p:spPr bwMode="auto">
            <a:xfrm>
              <a:off x="884" y="2160"/>
              <a:ext cx="5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1+sin2</a:t>
              </a:r>
            </a:p>
          </p:txBody>
        </p:sp>
        <p:sp>
          <p:nvSpPr>
            <p:cNvPr id="24607" name="Text Box 60"/>
            <p:cNvSpPr txBox="1">
              <a:spLocks noChangeArrowheads="1"/>
            </p:cNvSpPr>
            <p:nvPr/>
          </p:nvSpPr>
          <p:spPr bwMode="auto">
            <a:xfrm>
              <a:off x="884" y="2568"/>
              <a:ext cx="5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1-sin6</a:t>
              </a:r>
            </a:p>
          </p:txBody>
        </p:sp>
        <p:sp>
          <p:nvSpPr>
            <p:cNvPr id="24608" name="Text Box 61"/>
            <p:cNvSpPr txBox="1">
              <a:spLocks noChangeArrowheads="1"/>
            </p:cNvSpPr>
            <p:nvPr/>
          </p:nvSpPr>
          <p:spPr bwMode="auto">
            <a:xfrm>
              <a:off x="1156" y="2795"/>
              <a:ext cx="3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</a:t>
              </a:r>
            </a:p>
          </p:txBody>
        </p:sp>
        <p:sp>
          <p:nvSpPr>
            <p:cNvPr id="24609" name="Text Box 62"/>
            <p:cNvSpPr txBox="1">
              <a:spLocks noChangeArrowheads="1"/>
            </p:cNvSpPr>
            <p:nvPr/>
          </p:nvSpPr>
          <p:spPr bwMode="auto">
            <a:xfrm>
              <a:off x="1247" y="1525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y</a:t>
              </a:r>
            </a:p>
          </p:txBody>
        </p:sp>
        <p:sp>
          <p:nvSpPr>
            <p:cNvPr id="24610" name="Freeform 63"/>
            <p:cNvSpPr>
              <a:spLocks/>
            </p:cNvSpPr>
            <p:nvPr/>
          </p:nvSpPr>
          <p:spPr bwMode="auto">
            <a:xfrm rot="181759">
              <a:off x="1427" y="2070"/>
              <a:ext cx="2494" cy="862"/>
            </a:xfrm>
            <a:custGeom>
              <a:avLst/>
              <a:gdLst>
                <a:gd name="T0" fmla="*/ 0 w 2495"/>
                <a:gd name="T1" fmla="*/ 862 h 817"/>
                <a:gd name="T2" fmla="*/ 182 w 2495"/>
                <a:gd name="T3" fmla="*/ 719 h 817"/>
                <a:gd name="T4" fmla="*/ 681 w 2495"/>
                <a:gd name="T5" fmla="*/ 240 h 817"/>
                <a:gd name="T6" fmla="*/ 1225 w 2495"/>
                <a:gd name="T7" fmla="*/ 0 h 817"/>
                <a:gd name="T8" fmla="*/ 1768 w 2495"/>
                <a:gd name="T9" fmla="*/ 240 h 817"/>
                <a:gd name="T10" fmla="*/ 2494 w 2495"/>
                <a:gd name="T11" fmla="*/ 719 h 8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95" h="817">
                  <a:moveTo>
                    <a:pt x="0" y="817"/>
                  </a:moveTo>
                  <a:cubicBezTo>
                    <a:pt x="34" y="798"/>
                    <a:pt x="69" y="779"/>
                    <a:pt x="182" y="681"/>
                  </a:cubicBezTo>
                  <a:cubicBezTo>
                    <a:pt x="295" y="583"/>
                    <a:pt x="507" y="340"/>
                    <a:pt x="681" y="227"/>
                  </a:cubicBezTo>
                  <a:cubicBezTo>
                    <a:pt x="855" y="114"/>
                    <a:pt x="1044" y="0"/>
                    <a:pt x="1225" y="0"/>
                  </a:cubicBezTo>
                  <a:cubicBezTo>
                    <a:pt x="1406" y="0"/>
                    <a:pt x="1557" y="114"/>
                    <a:pt x="1769" y="227"/>
                  </a:cubicBezTo>
                  <a:cubicBezTo>
                    <a:pt x="1981" y="340"/>
                    <a:pt x="2238" y="510"/>
                    <a:pt x="2495" y="681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1" name="Text Box 64"/>
            <p:cNvSpPr txBox="1">
              <a:spLocks noChangeArrowheads="1"/>
            </p:cNvSpPr>
            <p:nvPr/>
          </p:nvSpPr>
          <p:spPr bwMode="auto">
            <a:xfrm>
              <a:off x="2449" y="1817"/>
              <a:ext cx="36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0000"/>
                  </a:solidFill>
                  <a:latin typeface="Monotype Corsiva" pitchFamily="66" charset="0"/>
                </a:rPr>
                <a:t>f </a:t>
              </a:r>
              <a:r>
                <a:rPr lang="en-US" altLang="zh-CN" sz="1800" dirty="0">
                  <a:solidFill>
                    <a:srgbClr val="FF0000"/>
                  </a:solidFill>
                </a:rPr>
                <a:t>(x)</a:t>
              </a:r>
            </a:p>
          </p:txBody>
        </p:sp>
        <p:sp>
          <p:nvSpPr>
            <p:cNvPr id="24612" name="Text Box 65"/>
            <p:cNvSpPr txBox="1">
              <a:spLocks noChangeArrowheads="1"/>
            </p:cNvSpPr>
            <p:nvPr/>
          </p:nvSpPr>
          <p:spPr bwMode="auto">
            <a:xfrm>
              <a:off x="3470" y="2976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3333FF"/>
                  </a:solidFill>
                </a:rPr>
                <a:t>A(x)</a:t>
              </a:r>
            </a:p>
          </p:txBody>
        </p:sp>
        <p:sp>
          <p:nvSpPr>
            <p:cNvPr id="24613" name="Line 66"/>
            <p:cNvSpPr>
              <a:spLocks noChangeShapeType="1"/>
            </p:cNvSpPr>
            <p:nvPr/>
          </p:nvSpPr>
          <p:spPr bwMode="auto">
            <a:xfrm flipV="1">
              <a:off x="3787" y="2750"/>
              <a:ext cx="0" cy="90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4" name="Line 67"/>
            <p:cNvSpPr>
              <a:spLocks noChangeShapeType="1"/>
            </p:cNvSpPr>
            <p:nvPr/>
          </p:nvSpPr>
          <p:spPr bwMode="auto">
            <a:xfrm flipV="1">
              <a:off x="1565" y="2750"/>
              <a:ext cx="0" cy="90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649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 dirty="0">
                <a:ea typeface="黑体" pitchFamily="2" charset="-122"/>
              </a:rPr>
              <a:t>[P120</a:t>
            </a:r>
            <a:r>
              <a:rPr lang="zh-CN" altLang="en-US" sz="3200" dirty="0">
                <a:ea typeface="黑体" pitchFamily="2" charset="-122"/>
              </a:rPr>
              <a:t>例</a:t>
            </a:r>
            <a:r>
              <a:rPr lang="en-US" altLang="zh-CN" sz="3200" dirty="0">
                <a:ea typeface="黑体" pitchFamily="2" charset="-122"/>
              </a:rPr>
              <a:t>4]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196752"/>
            <a:ext cx="8291513" cy="1295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(2)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当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1-sin6 ≤ y &lt; 1+sin2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时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</a:t>
            </a:r>
            <a:r>
              <a:rPr lang="en-US" altLang="zh-CN" sz="2800" dirty="0">
                <a:ea typeface="黑体" pitchFamily="2" charset="-122"/>
              </a:rPr>
              <a:t> </a:t>
            </a:r>
            <a:endParaRPr lang="en-US" altLang="zh-CN" sz="2800" dirty="0">
              <a:solidFill>
                <a:srgbClr val="FF0000"/>
              </a:solidFill>
              <a:ea typeface="黑体" pitchFamily="2" charset="-122"/>
            </a:endParaRPr>
          </a:p>
        </p:txBody>
      </p:sp>
      <p:graphicFrame>
        <p:nvGraphicFramePr>
          <p:cNvPr id="71685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849402086"/>
              </p:ext>
            </p:extLst>
          </p:nvPr>
        </p:nvGraphicFramePr>
        <p:xfrm>
          <a:off x="1632843" y="1843088"/>
          <a:ext cx="4623690" cy="591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0" imgH="291960" progId="Equation.DSMT4">
                  <p:embed/>
                </p:oleObj>
              </mc:Choice>
              <mc:Fallback>
                <p:oleObj name="Equation" r:id="rId3" imgW="2286000" imgH="291960" progId="Equation.DSMT4">
                  <p:embed/>
                  <p:pic>
                    <p:nvPicPr>
                      <p:cNvPr id="716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2843" y="1843088"/>
                        <a:ext cx="4623690" cy="591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7" name="Line 37"/>
          <p:cNvSpPr>
            <a:spLocks noChangeShapeType="1"/>
          </p:cNvSpPr>
          <p:nvPr/>
        </p:nvSpPr>
        <p:spPr bwMode="auto">
          <a:xfrm flipV="1">
            <a:off x="1920504" y="5732463"/>
            <a:ext cx="792162" cy="360362"/>
          </a:xfrm>
          <a:prstGeom prst="line">
            <a:avLst/>
          </a:prstGeom>
          <a:noFill/>
          <a:ln w="57150">
            <a:solidFill>
              <a:srgbClr val="66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8" name="Line 68"/>
          <p:cNvSpPr>
            <a:spLocks noChangeShapeType="1"/>
          </p:cNvSpPr>
          <p:nvPr/>
        </p:nvSpPr>
        <p:spPr bwMode="auto">
          <a:xfrm>
            <a:off x="4439867" y="5013326"/>
            <a:ext cx="1008063" cy="1008063"/>
          </a:xfrm>
          <a:prstGeom prst="line">
            <a:avLst/>
          </a:prstGeom>
          <a:noFill/>
          <a:ln w="57150">
            <a:solidFill>
              <a:srgbClr val="FF99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584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661867"/>
              </p:ext>
            </p:extLst>
          </p:nvPr>
        </p:nvGraphicFramePr>
        <p:xfrm>
          <a:off x="7440147" y="4321254"/>
          <a:ext cx="4200469" cy="928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70100" imgH="457200" progId="Equation.3">
                  <p:embed/>
                </p:oleObj>
              </mc:Choice>
              <mc:Fallback>
                <p:oleObj name="公式" r:id="rId5" imgW="2070100" imgH="457200" progId="Equation.3">
                  <p:embed/>
                  <p:pic>
                    <p:nvPicPr>
                      <p:cNvPr id="24584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0147" y="4321254"/>
                        <a:ext cx="4200469" cy="92839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762417"/>
              </p:ext>
            </p:extLst>
          </p:nvPr>
        </p:nvGraphicFramePr>
        <p:xfrm>
          <a:off x="8637066" y="5437056"/>
          <a:ext cx="3003550" cy="1160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511300" imgH="584200" progId="Equation.3">
                  <p:embed/>
                </p:oleObj>
              </mc:Choice>
              <mc:Fallback>
                <p:oleObj name="公式" r:id="rId7" imgW="1511300" imgH="584200" progId="Equation.3">
                  <p:embed/>
                  <p:pic>
                    <p:nvPicPr>
                      <p:cNvPr id="24586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7066" y="5437056"/>
                        <a:ext cx="3003550" cy="1160296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130416"/>
              </p:ext>
            </p:extLst>
          </p:nvPr>
        </p:nvGraphicFramePr>
        <p:xfrm>
          <a:off x="5890320" y="1293229"/>
          <a:ext cx="34004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7680" imgH="203040" progId="Equation.DSMT4">
                  <p:embed/>
                </p:oleObj>
              </mc:Choice>
              <mc:Fallback>
                <p:oleObj name="Equation" r:id="rId9" imgW="1777680" imgH="20304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0320" y="1293229"/>
                        <a:ext cx="3400425" cy="387350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416342723"/>
              </p:ext>
            </p:extLst>
          </p:nvPr>
        </p:nvGraphicFramePr>
        <p:xfrm>
          <a:off x="6249815" y="1843087"/>
          <a:ext cx="3671341" cy="46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28800" imgH="228600" progId="Equation.DSMT4">
                  <p:embed/>
                </p:oleObj>
              </mc:Choice>
              <mc:Fallback>
                <p:oleObj name="Equation" r:id="rId11" imgW="1828800" imgH="228600" progId="Equation.DSMT4">
                  <p:embed/>
                  <p:pic>
                    <p:nvPicPr>
                      <p:cNvPr id="3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9815" y="1843087"/>
                        <a:ext cx="3671341" cy="461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75333228"/>
              </p:ext>
            </p:extLst>
          </p:nvPr>
        </p:nvGraphicFramePr>
        <p:xfrm>
          <a:off x="1911584" y="2414855"/>
          <a:ext cx="6119763" cy="748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25600" imgH="393480" progId="Equation.DSMT4">
                  <p:embed/>
                </p:oleObj>
              </mc:Choice>
              <mc:Fallback>
                <p:oleObj name="Equation" r:id="rId13" imgW="3225600" imgH="393480" progId="Equation.DSMT4">
                  <p:embed/>
                  <p:pic>
                    <p:nvPicPr>
                      <p:cNvPr id="4" name="对象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584" y="2414855"/>
                        <a:ext cx="6119763" cy="748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9313124" y="3183359"/>
            <a:ext cx="24945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lang="zh-CN" altLang="en-US" sz="2400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所以</a:t>
            </a:r>
            <a:r>
              <a:rPr lang="en-US" altLang="zh-CN" sz="2400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,</a:t>
            </a:r>
            <a:r>
              <a:rPr lang="en-US" altLang="zh-CN" sz="2400" i="1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A</a:t>
            </a:r>
            <a:r>
              <a:rPr lang="en-US" altLang="zh-CN" sz="2400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(</a:t>
            </a:r>
            <a:r>
              <a:rPr lang="en-US" altLang="zh-CN" sz="2400" i="1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x</a:t>
            </a:r>
            <a:r>
              <a:rPr lang="en-US" altLang="zh-CN" sz="2400" kern="0" baseline="-25000" dirty="0">
                <a:solidFill>
                  <a:srgbClr val="FF0000"/>
                </a:solidFill>
                <a:latin typeface="Arial"/>
                <a:ea typeface="黑体" pitchFamily="2" charset="-122"/>
              </a:rPr>
              <a:t>2</a:t>
            </a:r>
            <a:r>
              <a:rPr lang="en-US" altLang="zh-CN" sz="2400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) ≥</a:t>
            </a:r>
            <a:r>
              <a:rPr lang="en-US" altLang="zh-CN" sz="2400" i="1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A</a:t>
            </a:r>
            <a:r>
              <a:rPr lang="en-US" altLang="zh-CN" sz="2400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(</a:t>
            </a:r>
            <a:r>
              <a:rPr lang="en-US" altLang="zh-CN" sz="2400" i="1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x</a:t>
            </a:r>
            <a:r>
              <a:rPr lang="en-US" altLang="zh-CN" sz="2400" kern="0" baseline="-25000" dirty="0">
                <a:solidFill>
                  <a:srgbClr val="FF0000"/>
                </a:solidFill>
                <a:latin typeface="Arial"/>
                <a:ea typeface="黑体" pitchFamily="2" charset="-122"/>
              </a:rPr>
              <a:t>1</a:t>
            </a:r>
            <a:r>
              <a:rPr lang="en-US" altLang="zh-CN" sz="2400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)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41B4A07C-886D-46B8-A371-5D48DBA633AF}"/>
              </a:ext>
            </a:extLst>
          </p:cNvPr>
          <p:cNvSpPr/>
          <p:nvPr/>
        </p:nvSpPr>
        <p:spPr>
          <a:xfrm>
            <a:off x="1774455" y="5437056"/>
            <a:ext cx="1081077" cy="1040602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FF103722-1E82-450E-AD77-A469F72560ED}"/>
              </a:ext>
            </a:extLst>
          </p:cNvPr>
          <p:cNvSpPr/>
          <p:nvPr/>
        </p:nvSpPr>
        <p:spPr>
          <a:xfrm>
            <a:off x="4252613" y="4805886"/>
            <a:ext cx="1471650" cy="1470562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3369F47-ADFF-5E91-1181-7E11316F09F1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542585631"/>
              </p:ext>
            </p:extLst>
          </p:nvPr>
        </p:nvGraphicFramePr>
        <p:xfrm>
          <a:off x="4438311" y="3092551"/>
          <a:ext cx="4647299" cy="729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14600" imgH="393480" progId="Equation.DSMT4">
                  <p:embed/>
                </p:oleObj>
              </mc:Choice>
              <mc:Fallback>
                <p:oleObj name="Equation" r:id="rId15" imgW="2514600" imgH="393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3369F47-ADFF-5E91-1181-7E11316F09F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311" y="3092551"/>
                        <a:ext cx="4647299" cy="729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616E61-F043-0B8F-2A5E-028C517DBA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-10879" y="6308925"/>
            <a:ext cx="466726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  <p:bldP spid="71717" grpId="0" animBg="1"/>
      <p:bldP spid="71748" grpId="0" animBg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649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 dirty="0">
                <a:ea typeface="黑体" pitchFamily="2" charset="-122"/>
              </a:rPr>
              <a:t>[P120</a:t>
            </a:r>
            <a:r>
              <a:rPr lang="zh-CN" altLang="en-US" sz="3200" dirty="0">
                <a:ea typeface="黑体" pitchFamily="2" charset="-122"/>
              </a:rPr>
              <a:t>例</a:t>
            </a:r>
            <a:r>
              <a:rPr lang="en-US" altLang="zh-CN" sz="3200" dirty="0">
                <a:ea typeface="黑体" pitchFamily="2" charset="-122"/>
              </a:rPr>
              <a:t>4]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1" y="1196752"/>
            <a:ext cx="9217274" cy="53006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(3)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当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1+sin2 ≤ y &lt; 2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时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, </a:t>
            </a:r>
            <a:endParaRPr lang="en-US" altLang="zh-CN" sz="2800" dirty="0">
              <a:solidFill>
                <a:srgbClr val="FF0000"/>
              </a:solidFill>
              <a:ea typeface="黑体" pitchFamily="2" charset="-122"/>
            </a:endParaRPr>
          </a:p>
        </p:txBody>
      </p:sp>
      <p:graphicFrame>
        <p:nvGraphicFramePr>
          <p:cNvPr id="41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942401863"/>
              </p:ext>
            </p:extLst>
          </p:nvPr>
        </p:nvGraphicFramePr>
        <p:xfrm>
          <a:off x="1584870" y="1817962"/>
          <a:ext cx="4294237" cy="549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0" imgH="291960" progId="Equation.DSMT4">
                  <p:embed/>
                </p:oleObj>
              </mc:Choice>
              <mc:Fallback>
                <p:oleObj name="Equation" r:id="rId3" imgW="2286000" imgH="291960" progId="Equation.DSMT4">
                  <p:embed/>
                  <p:pic>
                    <p:nvPicPr>
                      <p:cNvPr id="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870" y="1817962"/>
                        <a:ext cx="4294237" cy="549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5" name="Group 9"/>
          <p:cNvGrpSpPr>
            <a:grpSpLocks/>
          </p:cNvGrpSpPr>
          <p:nvPr/>
        </p:nvGrpSpPr>
        <p:grpSpPr bwMode="auto">
          <a:xfrm>
            <a:off x="1055440" y="2924176"/>
            <a:ext cx="5761038" cy="3825875"/>
            <a:chOff x="884" y="1525"/>
            <a:chExt cx="3629" cy="2410"/>
          </a:xfrm>
        </p:grpSpPr>
        <p:sp>
          <p:nvSpPr>
            <p:cNvPr id="25611" name="Line 10"/>
            <p:cNvSpPr>
              <a:spLocks noChangeShapeType="1"/>
            </p:cNvSpPr>
            <p:nvPr/>
          </p:nvSpPr>
          <p:spPr bwMode="auto">
            <a:xfrm flipV="1">
              <a:off x="1383" y="1752"/>
              <a:ext cx="0" cy="19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Line 11"/>
            <p:cNvSpPr>
              <a:spLocks noChangeShapeType="1"/>
            </p:cNvSpPr>
            <p:nvPr/>
          </p:nvSpPr>
          <p:spPr bwMode="auto">
            <a:xfrm>
              <a:off x="1383" y="3657"/>
              <a:ext cx="303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3" name="Line 12"/>
            <p:cNvSpPr>
              <a:spLocks noChangeShapeType="1"/>
            </p:cNvSpPr>
            <p:nvPr/>
          </p:nvSpPr>
          <p:spPr bwMode="auto">
            <a:xfrm flipV="1">
              <a:off x="4150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4" name="Line 13"/>
            <p:cNvSpPr>
              <a:spLocks noChangeShapeType="1"/>
            </p:cNvSpPr>
            <p:nvPr/>
          </p:nvSpPr>
          <p:spPr bwMode="auto">
            <a:xfrm flipV="1">
              <a:off x="3923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5" name="Line 14"/>
            <p:cNvSpPr>
              <a:spLocks noChangeShapeType="1"/>
            </p:cNvSpPr>
            <p:nvPr/>
          </p:nvSpPr>
          <p:spPr bwMode="auto">
            <a:xfrm flipV="1">
              <a:off x="3152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6" name="Line 15"/>
            <p:cNvSpPr>
              <a:spLocks noChangeShapeType="1"/>
            </p:cNvSpPr>
            <p:nvPr/>
          </p:nvSpPr>
          <p:spPr bwMode="auto">
            <a:xfrm flipV="1">
              <a:off x="2109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Line 16"/>
            <p:cNvSpPr>
              <a:spLocks noChangeShapeType="1"/>
            </p:cNvSpPr>
            <p:nvPr/>
          </p:nvSpPr>
          <p:spPr bwMode="auto">
            <a:xfrm flipV="1">
              <a:off x="2608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Text Box 17"/>
            <p:cNvSpPr txBox="1">
              <a:spLocks noChangeArrowheads="1"/>
            </p:cNvSpPr>
            <p:nvPr/>
          </p:nvSpPr>
          <p:spPr bwMode="auto">
            <a:xfrm>
              <a:off x="1111" y="3702"/>
              <a:ext cx="34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/>
                <a:t>  0                  1        </a:t>
              </a:r>
              <a:r>
                <a:rPr lang="el-GR" altLang="zh-CN" sz="1800" dirty="0">
                  <a:solidFill>
                    <a:srgbClr val="FF0000"/>
                  </a:solidFill>
                  <a:sym typeface="Symbol"/>
                </a:rPr>
                <a:t></a:t>
              </a:r>
              <a:r>
                <a:rPr lang="en-US" altLang="zh-CN" sz="1800" dirty="0">
                  <a:solidFill>
                    <a:srgbClr val="FF0000"/>
                  </a:solidFill>
                </a:rPr>
                <a:t>/2          </a:t>
              </a:r>
              <a:r>
                <a:rPr lang="en-US" altLang="zh-CN" sz="1800" dirty="0"/>
                <a:t>2                  3   </a:t>
              </a:r>
              <a:r>
                <a:rPr lang="el-GR" altLang="zh-CN" sz="1800" dirty="0">
                  <a:solidFill>
                    <a:srgbClr val="FF0000"/>
                  </a:solidFill>
                  <a:sym typeface="Symbol"/>
                </a:rPr>
                <a:t></a:t>
              </a:r>
              <a:r>
                <a:rPr lang="en-US" altLang="zh-CN" sz="1800" dirty="0">
                  <a:solidFill>
                    <a:srgbClr val="FF0000"/>
                  </a:solidFill>
                </a:rPr>
                <a:t>   </a:t>
              </a:r>
              <a:r>
                <a:rPr lang="en-US" altLang="zh-CN" sz="1800" dirty="0"/>
                <a:t>x</a:t>
              </a:r>
              <a:r>
                <a:rPr lang="en-US" altLang="zh-CN" sz="1800" dirty="0">
                  <a:solidFill>
                    <a:srgbClr val="FF0000"/>
                  </a:solidFill>
                </a:rPr>
                <a:t>       </a:t>
              </a:r>
            </a:p>
          </p:txBody>
        </p:sp>
        <p:sp>
          <p:nvSpPr>
            <p:cNvPr id="25619" name="Line 18"/>
            <p:cNvSpPr>
              <a:spLocks noChangeShapeType="1"/>
            </p:cNvSpPr>
            <p:nvPr/>
          </p:nvSpPr>
          <p:spPr bwMode="auto">
            <a:xfrm>
              <a:off x="1383" y="2886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Line 19"/>
            <p:cNvSpPr>
              <a:spLocks noChangeShapeType="1"/>
            </p:cNvSpPr>
            <p:nvPr/>
          </p:nvSpPr>
          <p:spPr bwMode="auto">
            <a:xfrm>
              <a:off x="1383" y="2069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Line 20"/>
            <p:cNvSpPr>
              <a:spLocks noChangeShapeType="1"/>
            </p:cNvSpPr>
            <p:nvPr/>
          </p:nvSpPr>
          <p:spPr bwMode="auto">
            <a:xfrm flipV="1">
              <a:off x="2608" y="2069"/>
              <a:ext cx="0" cy="15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Line 21"/>
            <p:cNvSpPr>
              <a:spLocks noChangeShapeType="1"/>
            </p:cNvSpPr>
            <p:nvPr/>
          </p:nvSpPr>
          <p:spPr bwMode="auto">
            <a:xfrm>
              <a:off x="3152" y="2886"/>
              <a:ext cx="771" cy="771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3" name="Line 22"/>
            <p:cNvSpPr>
              <a:spLocks noChangeShapeType="1"/>
            </p:cNvSpPr>
            <p:nvPr/>
          </p:nvSpPr>
          <p:spPr bwMode="auto">
            <a:xfrm flipH="1">
              <a:off x="1383" y="2886"/>
              <a:ext cx="1769" cy="771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Line 23"/>
            <p:cNvSpPr>
              <a:spLocks noChangeShapeType="1"/>
            </p:cNvSpPr>
            <p:nvPr/>
          </p:nvSpPr>
          <p:spPr bwMode="auto">
            <a:xfrm flipV="1">
              <a:off x="3152" y="2341"/>
              <a:ext cx="0" cy="13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5" name="Line 24"/>
            <p:cNvSpPr>
              <a:spLocks noChangeShapeType="1"/>
            </p:cNvSpPr>
            <p:nvPr/>
          </p:nvSpPr>
          <p:spPr bwMode="auto">
            <a:xfrm flipV="1">
              <a:off x="2064" y="2341"/>
              <a:ext cx="0" cy="13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6" name="Line 25"/>
            <p:cNvSpPr>
              <a:spLocks noChangeShapeType="1"/>
            </p:cNvSpPr>
            <p:nvPr/>
          </p:nvSpPr>
          <p:spPr bwMode="auto">
            <a:xfrm>
              <a:off x="1383" y="2069"/>
              <a:ext cx="12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Line 26"/>
            <p:cNvSpPr>
              <a:spLocks noChangeShapeType="1"/>
            </p:cNvSpPr>
            <p:nvPr/>
          </p:nvSpPr>
          <p:spPr bwMode="auto">
            <a:xfrm>
              <a:off x="1383" y="2296"/>
              <a:ext cx="176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Line 27"/>
            <p:cNvSpPr>
              <a:spLocks noChangeShapeType="1"/>
            </p:cNvSpPr>
            <p:nvPr/>
          </p:nvSpPr>
          <p:spPr bwMode="auto">
            <a:xfrm>
              <a:off x="1383" y="2750"/>
              <a:ext cx="25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Text Box 28"/>
            <p:cNvSpPr txBox="1">
              <a:spLocks noChangeArrowheads="1"/>
            </p:cNvSpPr>
            <p:nvPr/>
          </p:nvSpPr>
          <p:spPr bwMode="auto">
            <a:xfrm>
              <a:off x="1156" y="1933"/>
              <a:ext cx="3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2</a:t>
              </a:r>
            </a:p>
          </p:txBody>
        </p:sp>
        <p:sp>
          <p:nvSpPr>
            <p:cNvPr id="25630" name="Text Box 29"/>
            <p:cNvSpPr txBox="1">
              <a:spLocks noChangeArrowheads="1"/>
            </p:cNvSpPr>
            <p:nvPr/>
          </p:nvSpPr>
          <p:spPr bwMode="auto">
            <a:xfrm>
              <a:off x="884" y="2160"/>
              <a:ext cx="5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/>
                <a:t>1+sin2</a:t>
              </a:r>
            </a:p>
          </p:txBody>
        </p:sp>
        <p:sp>
          <p:nvSpPr>
            <p:cNvPr id="25631" name="Text Box 30"/>
            <p:cNvSpPr txBox="1">
              <a:spLocks noChangeArrowheads="1"/>
            </p:cNvSpPr>
            <p:nvPr/>
          </p:nvSpPr>
          <p:spPr bwMode="auto">
            <a:xfrm>
              <a:off x="884" y="2568"/>
              <a:ext cx="5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1-sin6</a:t>
              </a:r>
            </a:p>
          </p:txBody>
        </p:sp>
        <p:sp>
          <p:nvSpPr>
            <p:cNvPr id="25632" name="Text Box 31"/>
            <p:cNvSpPr txBox="1">
              <a:spLocks noChangeArrowheads="1"/>
            </p:cNvSpPr>
            <p:nvPr/>
          </p:nvSpPr>
          <p:spPr bwMode="auto">
            <a:xfrm>
              <a:off x="1156" y="2795"/>
              <a:ext cx="3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</a:t>
              </a:r>
            </a:p>
          </p:txBody>
        </p:sp>
        <p:sp>
          <p:nvSpPr>
            <p:cNvPr id="25633" name="Text Box 32"/>
            <p:cNvSpPr txBox="1">
              <a:spLocks noChangeArrowheads="1"/>
            </p:cNvSpPr>
            <p:nvPr/>
          </p:nvSpPr>
          <p:spPr bwMode="auto">
            <a:xfrm>
              <a:off x="1247" y="1525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y</a:t>
              </a:r>
            </a:p>
          </p:txBody>
        </p:sp>
        <p:sp>
          <p:nvSpPr>
            <p:cNvPr id="25634" name="Freeform 33"/>
            <p:cNvSpPr>
              <a:spLocks/>
            </p:cNvSpPr>
            <p:nvPr/>
          </p:nvSpPr>
          <p:spPr bwMode="auto">
            <a:xfrm rot="181759">
              <a:off x="1427" y="2070"/>
              <a:ext cx="2494" cy="862"/>
            </a:xfrm>
            <a:custGeom>
              <a:avLst/>
              <a:gdLst>
                <a:gd name="T0" fmla="*/ 0 w 2495"/>
                <a:gd name="T1" fmla="*/ 862 h 817"/>
                <a:gd name="T2" fmla="*/ 182 w 2495"/>
                <a:gd name="T3" fmla="*/ 719 h 817"/>
                <a:gd name="T4" fmla="*/ 681 w 2495"/>
                <a:gd name="T5" fmla="*/ 240 h 817"/>
                <a:gd name="T6" fmla="*/ 1225 w 2495"/>
                <a:gd name="T7" fmla="*/ 0 h 817"/>
                <a:gd name="T8" fmla="*/ 1768 w 2495"/>
                <a:gd name="T9" fmla="*/ 240 h 817"/>
                <a:gd name="T10" fmla="*/ 2494 w 2495"/>
                <a:gd name="T11" fmla="*/ 719 h 8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95" h="817">
                  <a:moveTo>
                    <a:pt x="0" y="817"/>
                  </a:moveTo>
                  <a:cubicBezTo>
                    <a:pt x="34" y="798"/>
                    <a:pt x="69" y="779"/>
                    <a:pt x="182" y="681"/>
                  </a:cubicBezTo>
                  <a:cubicBezTo>
                    <a:pt x="295" y="583"/>
                    <a:pt x="507" y="340"/>
                    <a:pt x="681" y="227"/>
                  </a:cubicBezTo>
                  <a:cubicBezTo>
                    <a:pt x="855" y="114"/>
                    <a:pt x="1044" y="0"/>
                    <a:pt x="1225" y="0"/>
                  </a:cubicBezTo>
                  <a:cubicBezTo>
                    <a:pt x="1406" y="0"/>
                    <a:pt x="1557" y="114"/>
                    <a:pt x="1769" y="227"/>
                  </a:cubicBezTo>
                  <a:cubicBezTo>
                    <a:pt x="1981" y="340"/>
                    <a:pt x="2238" y="510"/>
                    <a:pt x="2495" y="681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Text Box 34"/>
            <p:cNvSpPr txBox="1">
              <a:spLocks noChangeArrowheads="1"/>
            </p:cNvSpPr>
            <p:nvPr/>
          </p:nvSpPr>
          <p:spPr bwMode="auto">
            <a:xfrm>
              <a:off x="2492" y="1797"/>
              <a:ext cx="36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FF0000"/>
                  </a:solidFill>
                  <a:latin typeface="Monotype Corsiva" pitchFamily="66" charset="0"/>
                </a:rPr>
                <a:t>f </a:t>
              </a:r>
              <a:r>
                <a:rPr lang="en-US" altLang="zh-CN" sz="1800" dirty="0">
                  <a:solidFill>
                    <a:srgbClr val="FF0000"/>
                  </a:solidFill>
                </a:rPr>
                <a:t>(x)</a:t>
              </a:r>
            </a:p>
          </p:txBody>
        </p:sp>
        <p:sp>
          <p:nvSpPr>
            <p:cNvPr id="25636" name="Text Box 35"/>
            <p:cNvSpPr txBox="1">
              <a:spLocks noChangeArrowheads="1"/>
            </p:cNvSpPr>
            <p:nvPr/>
          </p:nvSpPr>
          <p:spPr bwMode="auto">
            <a:xfrm>
              <a:off x="3470" y="2976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3333FF"/>
                  </a:solidFill>
                </a:rPr>
                <a:t>A(x)</a:t>
              </a:r>
            </a:p>
          </p:txBody>
        </p:sp>
        <p:sp>
          <p:nvSpPr>
            <p:cNvPr id="25637" name="Line 36"/>
            <p:cNvSpPr>
              <a:spLocks noChangeShapeType="1"/>
            </p:cNvSpPr>
            <p:nvPr/>
          </p:nvSpPr>
          <p:spPr bwMode="auto">
            <a:xfrm flipV="1">
              <a:off x="3787" y="2750"/>
              <a:ext cx="0" cy="90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Line 37"/>
            <p:cNvSpPr>
              <a:spLocks noChangeShapeType="1"/>
            </p:cNvSpPr>
            <p:nvPr/>
          </p:nvSpPr>
          <p:spPr bwMode="auto">
            <a:xfrm flipV="1">
              <a:off x="1565" y="2750"/>
              <a:ext cx="0" cy="90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742" name="Line 38"/>
          <p:cNvSpPr>
            <a:spLocks noChangeShapeType="1"/>
          </p:cNvSpPr>
          <p:nvPr/>
        </p:nvSpPr>
        <p:spPr bwMode="auto">
          <a:xfrm flipV="1">
            <a:off x="2928690" y="5445126"/>
            <a:ext cx="863600" cy="358775"/>
          </a:xfrm>
          <a:prstGeom prst="line">
            <a:avLst/>
          </a:prstGeom>
          <a:noFill/>
          <a:ln w="57150">
            <a:solidFill>
              <a:srgbClr val="66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43" name="Line 39"/>
          <p:cNvSpPr>
            <a:spLocks noChangeShapeType="1"/>
          </p:cNvSpPr>
          <p:nvPr/>
        </p:nvSpPr>
        <p:spPr bwMode="auto">
          <a:xfrm flipV="1">
            <a:off x="3792290" y="5084763"/>
            <a:ext cx="863600" cy="360362"/>
          </a:xfrm>
          <a:prstGeom prst="line">
            <a:avLst/>
          </a:prstGeom>
          <a:noFill/>
          <a:ln w="57150">
            <a:solidFill>
              <a:srgbClr val="FF99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763170"/>
              </p:ext>
            </p:extLst>
          </p:nvPr>
        </p:nvGraphicFramePr>
        <p:xfrm>
          <a:off x="7296075" y="4373563"/>
          <a:ext cx="42005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70100" imgH="457200" progId="Equation.3">
                  <p:embed/>
                </p:oleObj>
              </mc:Choice>
              <mc:Fallback>
                <p:oleObj name="公式" r:id="rId5" imgW="2070100" imgH="457200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6075" y="4373563"/>
                        <a:ext cx="4200525" cy="9271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684335"/>
              </p:ext>
            </p:extLst>
          </p:nvPr>
        </p:nvGraphicFramePr>
        <p:xfrm>
          <a:off x="8493050" y="5437188"/>
          <a:ext cx="300355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511300" imgH="584200" progId="Equation.3">
                  <p:embed/>
                </p:oleObj>
              </mc:Choice>
              <mc:Fallback>
                <p:oleObj name="公式" r:id="rId7" imgW="1511300" imgH="584200" progId="Equation.3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050" y="5437188"/>
                        <a:ext cx="3003550" cy="116046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061482"/>
              </p:ext>
            </p:extLst>
          </p:nvPr>
        </p:nvGraphicFramePr>
        <p:xfrm>
          <a:off x="4895851" y="1260679"/>
          <a:ext cx="31813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63560" imgH="203040" progId="Equation.DSMT4">
                  <p:embed/>
                </p:oleObj>
              </mc:Choice>
              <mc:Fallback>
                <p:oleObj name="Equation" r:id="rId9" imgW="1663560" imgH="203040" progId="Equation.DSMT4">
                  <p:embed/>
                  <p:pic>
                    <p:nvPicPr>
                      <p:cNvPr id="42" name="对象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1" y="1260679"/>
                        <a:ext cx="3181350" cy="387350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62210215"/>
              </p:ext>
            </p:extLst>
          </p:nvPr>
        </p:nvGraphicFramePr>
        <p:xfrm>
          <a:off x="5850192" y="1618833"/>
          <a:ext cx="347027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41400" imgH="393480" progId="Equation.DSMT4">
                  <p:embed/>
                </p:oleObj>
              </mc:Choice>
              <mc:Fallback>
                <p:oleObj name="Equation" r:id="rId11" imgW="1841400" imgH="393480" progId="Equation.DSMT4">
                  <p:embed/>
                  <p:pic>
                    <p:nvPicPr>
                      <p:cNvPr id="43" name="对象 4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0192" y="1618833"/>
                        <a:ext cx="347027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4742994"/>
              </p:ext>
            </p:extLst>
          </p:nvPr>
        </p:nvGraphicFramePr>
        <p:xfrm>
          <a:off x="1915936" y="2469239"/>
          <a:ext cx="6268296" cy="76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38200" imgH="393480" progId="Equation.DSMT4">
                  <p:embed/>
                </p:oleObj>
              </mc:Choice>
              <mc:Fallback>
                <p:oleObj name="Equation" r:id="rId13" imgW="3238200" imgH="393480" progId="Equation.DSMT4">
                  <p:embed/>
                  <p:pic>
                    <p:nvPicPr>
                      <p:cNvPr id="44" name="对象 4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5936" y="2469239"/>
                        <a:ext cx="6268296" cy="76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/>
          <p:cNvSpPr/>
          <p:nvPr/>
        </p:nvSpPr>
        <p:spPr>
          <a:xfrm>
            <a:off x="9201591" y="3368054"/>
            <a:ext cx="2717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lang="zh-CN" altLang="en-US" sz="2400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所以，</a:t>
            </a:r>
            <a:r>
              <a:rPr lang="en-US" altLang="zh-CN" sz="2400" i="1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A</a:t>
            </a:r>
            <a:r>
              <a:rPr lang="en-US" altLang="zh-CN" sz="2400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(</a:t>
            </a:r>
            <a:r>
              <a:rPr lang="en-US" altLang="zh-CN" sz="2400" i="1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x</a:t>
            </a:r>
            <a:r>
              <a:rPr lang="en-US" altLang="zh-CN" sz="2400" kern="0" baseline="-25000" dirty="0">
                <a:solidFill>
                  <a:srgbClr val="FF0000"/>
                </a:solidFill>
                <a:latin typeface="Arial"/>
                <a:ea typeface="黑体" pitchFamily="2" charset="-122"/>
              </a:rPr>
              <a:t>2</a:t>
            </a:r>
            <a:r>
              <a:rPr lang="en-US" altLang="zh-CN" sz="2400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) ≥</a:t>
            </a:r>
            <a:r>
              <a:rPr lang="en-US" altLang="zh-CN" sz="2400" i="1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A</a:t>
            </a:r>
            <a:r>
              <a:rPr lang="en-US" altLang="zh-CN" sz="2400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(</a:t>
            </a:r>
            <a:r>
              <a:rPr lang="en-US" altLang="zh-CN" sz="2400" i="1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x</a:t>
            </a:r>
            <a:r>
              <a:rPr lang="en-US" altLang="zh-CN" sz="2400" kern="0" baseline="-25000" dirty="0">
                <a:solidFill>
                  <a:srgbClr val="FF0000"/>
                </a:solidFill>
                <a:latin typeface="Arial"/>
                <a:ea typeface="黑体" pitchFamily="2" charset="-122"/>
              </a:rPr>
              <a:t>1</a:t>
            </a:r>
            <a:r>
              <a:rPr lang="en-US" altLang="zh-CN" sz="2400" kern="0" dirty="0">
                <a:solidFill>
                  <a:srgbClr val="FF0000"/>
                </a:solidFill>
                <a:latin typeface="Arial"/>
                <a:ea typeface="黑体" pitchFamily="2" charset="-122"/>
              </a:rPr>
              <a:t>)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4CBEA65E-DC78-4FFE-9FE0-0225058138E6}"/>
              </a:ext>
            </a:extLst>
          </p:cNvPr>
          <p:cNvSpPr/>
          <p:nvPr/>
        </p:nvSpPr>
        <p:spPr>
          <a:xfrm>
            <a:off x="2840565" y="4508502"/>
            <a:ext cx="1888351" cy="1798145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00C7E88-0B9E-662E-813D-EACF0A85C53B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159567971"/>
              </p:ext>
            </p:extLst>
          </p:nvPr>
        </p:nvGraphicFramePr>
        <p:xfrm>
          <a:off x="4844239" y="3258939"/>
          <a:ext cx="4204089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22280" imgH="393480" progId="Equation.DSMT4">
                  <p:embed/>
                </p:oleObj>
              </mc:Choice>
              <mc:Fallback>
                <p:oleObj name="Equation" r:id="rId15" imgW="222228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00C7E88-0B9E-662E-813D-EACF0A85C53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4239" y="3258939"/>
                        <a:ext cx="4204089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9711F6-0AC2-8266-0E11-2709048C16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42" y="6273008"/>
            <a:ext cx="466726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/>
      <p:bldP spid="72742" grpId="0" animBg="1"/>
      <p:bldP spid="72743" grpId="0" animBg="1"/>
      <p:bldP spid="4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649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扩张原理举例</a:t>
            </a:r>
            <a:r>
              <a:rPr lang="en-US" altLang="zh-CN" sz="3200" dirty="0">
                <a:ea typeface="黑体" pitchFamily="2" charset="-122"/>
              </a:rPr>
              <a:t>[P120</a:t>
            </a:r>
            <a:r>
              <a:rPr lang="zh-CN" altLang="en-US" sz="3200" dirty="0">
                <a:ea typeface="黑体" pitchFamily="2" charset="-122"/>
              </a:rPr>
              <a:t>例</a:t>
            </a:r>
            <a:r>
              <a:rPr lang="en-US" altLang="zh-CN" sz="3200" dirty="0">
                <a:ea typeface="黑体" pitchFamily="2" charset="-122"/>
              </a:rPr>
              <a:t>4]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1676" y="1892285"/>
            <a:ext cx="2082899" cy="6477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本题解为：</a:t>
            </a:r>
            <a:endParaRPr lang="zh-CN" altLang="en-US" sz="2800" dirty="0"/>
          </a:p>
        </p:txBody>
      </p:sp>
      <p:grpSp>
        <p:nvGrpSpPr>
          <p:cNvPr id="26629" name="Group 5"/>
          <p:cNvGrpSpPr>
            <a:grpSpLocks/>
          </p:cNvGrpSpPr>
          <p:nvPr/>
        </p:nvGrpSpPr>
        <p:grpSpPr bwMode="auto">
          <a:xfrm>
            <a:off x="4245250" y="3857971"/>
            <a:ext cx="5761037" cy="2984927"/>
            <a:chOff x="884" y="1525"/>
            <a:chExt cx="3629" cy="2486"/>
          </a:xfrm>
        </p:grpSpPr>
        <p:sp>
          <p:nvSpPr>
            <p:cNvPr id="26630" name="Line 6"/>
            <p:cNvSpPr>
              <a:spLocks noChangeShapeType="1"/>
            </p:cNvSpPr>
            <p:nvPr/>
          </p:nvSpPr>
          <p:spPr bwMode="auto">
            <a:xfrm flipV="1">
              <a:off x="1383" y="1752"/>
              <a:ext cx="0" cy="19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1" name="Line 7"/>
            <p:cNvSpPr>
              <a:spLocks noChangeShapeType="1"/>
            </p:cNvSpPr>
            <p:nvPr/>
          </p:nvSpPr>
          <p:spPr bwMode="auto">
            <a:xfrm>
              <a:off x="1383" y="3657"/>
              <a:ext cx="303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" name="Line 8"/>
            <p:cNvSpPr>
              <a:spLocks noChangeShapeType="1"/>
            </p:cNvSpPr>
            <p:nvPr/>
          </p:nvSpPr>
          <p:spPr bwMode="auto">
            <a:xfrm flipV="1">
              <a:off x="4150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" name="Line 9"/>
            <p:cNvSpPr>
              <a:spLocks noChangeShapeType="1"/>
            </p:cNvSpPr>
            <p:nvPr/>
          </p:nvSpPr>
          <p:spPr bwMode="auto">
            <a:xfrm flipV="1">
              <a:off x="3923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4" name="Line 10"/>
            <p:cNvSpPr>
              <a:spLocks noChangeShapeType="1"/>
            </p:cNvSpPr>
            <p:nvPr/>
          </p:nvSpPr>
          <p:spPr bwMode="auto">
            <a:xfrm flipV="1">
              <a:off x="3152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5" name="Line 11"/>
            <p:cNvSpPr>
              <a:spLocks noChangeShapeType="1"/>
            </p:cNvSpPr>
            <p:nvPr/>
          </p:nvSpPr>
          <p:spPr bwMode="auto">
            <a:xfrm flipV="1">
              <a:off x="2109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Line 12"/>
            <p:cNvSpPr>
              <a:spLocks noChangeShapeType="1"/>
            </p:cNvSpPr>
            <p:nvPr/>
          </p:nvSpPr>
          <p:spPr bwMode="auto">
            <a:xfrm flipV="1">
              <a:off x="2608" y="3612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7" name="Text Box 13"/>
            <p:cNvSpPr txBox="1">
              <a:spLocks noChangeArrowheads="1"/>
            </p:cNvSpPr>
            <p:nvPr/>
          </p:nvSpPr>
          <p:spPr bwMode="auto">
            <a:xfrm>
              <a:off x="1111" y="3703"/>
              <a:ext cx="340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/>
                <a:t>  0                  1        </a:t>
              </a:r>
              <a:r>
                <a:rPr lang="el-GR" altLang="zh-CN" sz="1800" dirty="0">
                  <a:solidFill>
                    <a:srgbClr val="FF0000"/>
                  </a:solidFill>
                  <a:sym typeface="Symbol"/>
                </a:rPr>
                <a:t></a:t>
              </a:r>
              <a:r>
                <a:rPr lang="en-US" altLang="zh-CN" sz="1800" dirty="0">
                  <a:solidFill>
                    <a:srgbClr val="FF0000"/>
                  </a:solidFill>
                </a:rPr>
                <a:t>/2          </a:t>
              </a:r>
              <a:r>
                <a:rPr lang="en-US" altLang="zh-CN" sz="1800" dirty="0"/>
                <a:t>2                 3   </a:t>
              </a:r>
              <a:r>
                <a:rPr lang="el-GR" altLang="zh-CN" sz="1800" dirty="0">
                  <a:solidFill>
                    <a:srgbClr val="FF0000"/>
                  </a:solidFill>
                  <a:sym typeface="Symbol"/>
                </a:rPr>
                <a:t></a:t>
              </a:r>
              <a:r>
                <a:rPr lang="en-US" altLang="zh-CN" sz="1800" dirty="0">
                  <a:solidFill>
                    <a:srgbClr val="FF0000"/>
                  </a:solidFill>
                </a:rPr>
                <a:t>    </a:t>
              </a:r>
              <a:r>
                <a:rPr lang="en-US" altLang="zh-CN" sz="1800" dirty="0"/>
                <a:t>x</a:t>
              </a:r>
              <a:r>
                <a:rPr lang="en-US" altLang="zh-CN" sz="1800" dirty="0">
                  <a:solidFill>
                    <a:srgbClr val="FF0000"/>
                  </a:solidFill>
                </a:rPr>
                <a:t>       </a:t>
              </a:r>
            </a:p>
          </p:txBody>
        </p:sp>
        <p:sp>
          <p:nvSpPr>
            <p:cNvPr id="26638" name="Line 14"/>
            <p:cNvSpPr>
              <a:spLocks noChangeShapeType="1"/>
            </p:cNvSpPr>
            <p:nvPr/>
          </p:nvSpPr>
          <p:spPr bwMode="auto">
            <a:xfrm>
              <a:off x="1383" y="2886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9" name="Line 15"/>
            <p:cNvSpPr>
              <a:spLocks noChangeShapeType="1"/>
            </p:cNvSpPr>
            <p:nvPr/>
          </p:nvSpPr>
          <p:spPr bwMode="auto">
            <a:xfrm>
              <a:off x="1383" y="2069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0" name="Line 16"/>
            <p:cNvSpPr>
              <a:spLocks noChangeShapeType="1"/>
            </p:cNvSpPr>
            <p:nvPr/>
          </p:nvSpPr>
          <p:spPr bwMode="auto">
            <a:xfrm flipV="1">
              <a:off x="2608" y="2069"/>
              <a:ext cx="0" cy="15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1" name="Line 17"/>
            <p:cNvSpPr>
              <a:spLocks noChangeShapeType="1"/>
            </p:cNvSpPr>
            <p:nvPr/>
          </p:nvSpPr>
          <p:spPr bwMode="auto">
            <a:xfrm>
              <a:off x="3152" y="2886"/>
              <a:ext cx="771" cy="771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Line 18"/>
            <p:cNvSpPr>
              <a:spLocks noChangeShapeType="1"/>
            </p:cNvSpPr>
            <p:nvPr/>
          </p:nvSpPr>
          <p:spPr bwMode="auto">
            <a:xfrm flipH="1">
              <a:off x="1383" y="2886"/>
              <a:ext cx="1769" cy="771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Line 19"/>
            <p:cNvSpPr>
              <a:spLocks noChangeShapeType="1"/>
            </p:cNvSpPr>
            <p:nvPr/>
          </p:nvSpPr>
          <p:spPr bwMode="auto">
            <a:xfrm flipV="1">
              <a:off x="3152" y="2341"/>
              <a:ext cx="0" cy="13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4" name="Line 20"/>
            <p:cNvSpPr>
              <a:spLocks noChangeShapeType="1"/>
            </p:cNvSpPr>
            <p:nvPr/>
          </p:nvSpPr>
          <p:spPr bwMode="auto">
            <a:xfrm flipV="1">
              <a:off x="2064" y="2341"/>
              <a:ext cx="0" cy="13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Line 21"/>
            <p:cNvSpPr>
              <a:spLocks noChangeShapeType="1"/>
            </p:cNvSpPr>
            <p:nvPr/>
          </p:nvSpPr>
          <p:spPr bwMode="auto">
            <a:xfrm>
              <a:off x="1383" y="2069"/>
              <a:ext cx="12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Line 22"/>
            <p:cNvSpPr>
              <a:spLocks noChangeShapeType="1"/>
            </p:cNvSpPr>
            <p:nvPr/>
          </p:nvSpPr>
          <p:spPr bwMode="auto">
            <a:xfrm>
              <a:off x="1383" y="2296"/>
              <a:ext cx="176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7" name="Line 23"/>
            <p:cNvSpPr>
              <a:spLocks noChangeShapeType="1"/>
            </p:cNvSpPr>
            <p:nvPr/>
          </p:nvSpPr>
          <p:spPr bwMode="auto">
            <a:xfrm>
              <a:off x="1383" y="2750"/>
              <a:ext cx="25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8" name="Text Box 24"/>
            <p:cNvSpPr txBox="1">
              <a:spLocks noChangeArrowheads="1"/>
            </p:cNvSpPr>
            <p:nvPr/>
          </p:nvSpPr>
          <p:spPr bwMode="auto">
            <a:xfrm>
              <a:off x="1156" y="1934"/>
              <a:ext cx="317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2</a:t>
              </a:r>
            </a:p>
          </p:txBody>
        </p:sp>
        <p:sp>
          <p:nvSpPr>
            <p:cNvPr id="26649" name="Text Box 25"/>
            <p:cNvSpPr txBox="1">
              <a:spLocks noChangeArrowheads="1"/>
            </p:cNvSpPr>
            <p:nvPr/>
          </p:nvSpPr>
          <p:spPr bwMode="auto">
            <a:xfrm>
              <a:off x="884" y="2160"/>
              <a:ext cx="544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1+sin2</a:t>
              </a:r>
            </a:p>
          </p:txBody>
        </p:sp>
        <p:sp>
          <p:nvSpPr>
            <p:cNvPr id="26650" name="Text Box 26"/>
            <p:cNvSpPr txBox="1">
              <a:spLocks noChangeArrowheads="1"/>
            </p:cNvSpPr>
            <p:nvPr/>
          </p:nvSpPr>
          <p:spPr bwMode="auto">
            <a:xfrm>
              <a:off x="884" y="2568"/>
              <a:ext cx="545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1-sin6</a:t>
              </a:r>
            </a:p>
          </p:txBody>
        </p:sp>
        <p:sp>
          <p:nvSpPr>
            <p:cNvPr id="26651" name="Text Box 27"/>
            <p:cNvSpPr txBox="1">
              <a:spLocks noChangeArrowheads="1"/>
            </p:cNvSpPr>
            <p:nvPr/>
          </p:nvSpPr>
          <p:spPr bwMode="auto">
            <a:xfrm>
              <a:off x="1156" y="2796"/>
              <a:ext cx="317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1</a:t>
              </a:r>
            </a:p>
          </p:txBody>
        </p:sp>
        <p:sp>
          <p:nvSpPr>
            <p:cNvPr id="26652" name="Text Box 28"/>
            <p:cNvSpPr txBox="1">
              <a:spLocks noChangeArrowheads="1"/>
            </p:cNvSpPr>
            <p:nvPr/>
          </p:nvSpPr>
          <p:spPr bwMode="auto">
            <a:xfrm>
              <a:off x="1247" y="1525"/>
              <a:ext cx="272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/>
                <a:t>y</a:t>
              </a:r>
            </a:p>
          </p:txBody>
        </p:sp>
        <p:sp>
          <p:nvSpPr>
            <p:cNvPr id="26653" name="Freeform 29"/>
            <p:cNvSpPr>
              <a:spLocks/>
            </p:cNvSpPr>
            <p:nvPr/>
          </p:nvSpPr>
          <p:spPr bwMode="auto">
            <a:xfrm rot="181759">
              <a:off x="1427" y="2070"/>
              <a:ext cx="2494" cy="862"/>
            </a:xfrm>
            <a:custGeom>
              <a:avLst/>
              <a:gdLst>
                <a:gd name="T0" fmla="*/ 0 w 2495"/>
                <a:gd name="T1" fmla="*/ 862 h 817"/>
                <a:gd name="T2" fmla="*/ 182 w 2495"/>
                <a:gd name="T3" fmla="*/ 719 h 817"/>
                <a:gd name="T4" fmla="*/ 681 w 2495"/>
                <a:gd name="T5" fmla="*/ 240 h 817"/>
                <a:gd name="T6" fmla="*/ 1225 w 2495"/>
                <a:gd name="T7" fmla="*/ 0 h 817"/>
                <a:gd name="T8" fmla="*/ 1768 w 2495"/>
                <a:gd name="T9" fmla="*/ 240 h 817"/>
                <a:gd name="T10" fmla="*/ 2494 w 2495"/>
                <a:gd name="T11" fmla="*/ 719 h 8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95" h="817">
                  <a:moveTo>
                    <a:pt x="0" y="817"/>
                  </a:moveTo>
                  <a:cubicBezTo>
                    <a:pt x="34" y="798"/>
                    <a:pt x="69" y="779"/>
                    <a:pt x="182" y="681"/>
                  </a:cubicBezTo>
                  <a:cubicBezTo>
                    <a:pt x="295" y="583"/>
                    <a:pt x="507" y="340"/>
                    <a:pt x="681" y="227"/>
                  </a:cubicBezTo>
                  <a:cubicBezTo>
                    <a:pt x="855" y="114"/>
                    <a:pt x="1044" y="0"/>
                    <a:pt x="1225" y="0"/>
                  </a:cubicBezTo>
                  <a:cubicBezTo>
                    <a:pt x="1406" y="0"/>
                    <a:pt x="1557" y="114"/>
                    <a:pt x="1769" y="227"/>
                  </a:cubicBezTo>
                  <a:cubicBezTo>
                    <a:pt x="1981" y="340"/>
                    <a:pt x="2238" y="510"/>
                    <a:pt x="2495" y="681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4" name="Text Box 30"/>
            <p:cNvSpPr txBox="1">
              <a:spLocks noChangeArrowheads="1"/>
            </p:cNvSpPr>
            <p:nvPr/>
          </p:nvSpPr>
          <p:spPr bwMode="auto">
            <a:xfrm>
              <a:off x="3288" y="1979"/>
              <a:ext cx="363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0000"/>
                  </a:solidFill>
                  <a:latin typeface="Monotype Corsiva" pitchFamily="66" charset="0"/>
                </a:rPr>
                <a:t>f </a:t>
              </a:r>
              <a:r>
                <a:rPr lang="en-US" altLang="zh-CN" sz="1800">
                  <a:solidFill>
                    <a:srgbClr val="FF0000"/>
                  </a:solidFill>
                </a:rPr>
                <a:t>(x)</a:t>
              </a:r>
            </a:p>
          </p:txBody>
        </p:sp>
        <p:sp>
          <p:nvSpPr>
            <p:cNvPr id="26655" name="Text Box 31"/>
            <p:cNvSpPr txBox="1">
              <a:spLocks noChangeArrowheads="1"/>
            </p:cNvSpPr>
            <p:nvPr/>
          </p:nvSpPr>
          <p:spPr bwMode="auto">
            <a:xfrm>
              <a:off x="3470" y="2975"/>
              <a:ext cx="408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3333FF"/>
                  </a:solidFill>
                </a:rPr>
                <a:t>A(x)</a:t>
              </a:r>
            </a:p>
          </p:txBody>
        </p:sp>
        <p:sp>
          <p:nvSpPr>
            <p:cNvPr id="26656" name="Line 32"/>
            <p:cNvSpPr>
              <a:spLocks noChangeShapeType="1"/>
            </p:cNvSpPr>
            <p:nvPr/>
          </p:nvSpPr>
          <p:spPr bwMode="auto">
            <a:xfrm flipV="1">
              <a:off x="3787" y="2750"/>
              <a:ext cx="0" cy="90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7" name="Line 33"/>
            <p:cNvSpPr>
              <a:spLocks noChangeShapeType="1"/>
            </p:cNvSpPr>
            <p:nvPr/>
          </p:nvSpPr>
          <p:spPr bwMode="auto">
            <a:xfrm flipV="1">
              <a:off x="1565" y="2750"/>
              <a:ext cx="0" cy="90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6" name="图片 5" descr="图表, 折线图&#10;&#10;描述已自动生成">
            <a:extLst>
              <a:ext uri="{FF2B5EF4-FFF2-40B4-BE49-F238E27FC236}">
                <a16:creationId xmlns:a16="http://schemas.microsoft.com/office/drawing/2014/main" id="{D97B9BCC-6539-97FC-4FC7-6532E2D49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583" y="3257083"/>
            <a:ext cx="5961330" cy="3706425"/>
          </a:xfrm>
          <a:prstGeom prst="rect">
            <a:avLst/>
          </a:prstGeom>
        </p:spPr>
      </p:pic>
      <p:sp>
        <p:nvSpPr>
          <p:cNvPr id="2" name="Text Box 29">
            <a:extLst>
              <a:ext uri="{FF2B5EF4-FFF2-40B4-BE49-F238E27FC236}">
                <a16:creationId xmlns:a16="http://schemas.microsoft.com/office/drawing/2014/main" id="{96927328-296F-0EB5-C756-D7BDCFB9C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664" y="3624160"/>
            <a:ext cx="86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/>
              <a:t>1+sin2</a:t>
            </a:r>
          </a:p>
        </p:txBody>
      </p:sp>
      <p:sp>
        <p:nvSpPr>
          <p:cNvPr id="3" name="Text Box 29">
            <a:extLst>
              <a:ext uri="{FF2B5EF4-FFF2-40B4-BE49-F238E27FC236}">
                <a16:creationId xmlns:a16="http://schemas.microsoft.com/office/drawing/2014/main" id="{9E1E333D-958F-B9C7-B669-CDC8B520A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9185" y="4471024"/>
            <a:ext cx="863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/>
              <a:t>1-sin6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C2301C-F22E-CCD6-42EC-58EB1C383A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287189"/>
            <a:ext cx="589879" cy="457200"/>
          </a:xfrm>
        </p:spPr>
        <p:txBody>
          <a:bodyPr/>
          <a:lstStyle/>
          <a:p>
            <a:pPr>
              <a:defRPr/>
            </a:pPr>
            <a:fld id="{95F209AC-A2D1-49EF-BE0C-2B9240FE767E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  <p:graphicFrame>
        <p:nvGraphicFramePr>
          <p:cNvPr id="26628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39047276"/>
              </p:ext>
            </p:extLst>
          </p:nvPr>
        </p:nvGraphicFramePr>
        <p:xfrm>
          <a:off x="2316163" y="1003300"/>
          <a:ext cx="7561262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403600" imgH="1143000" progId="Equation.3">
                  <p:embed/>
                </p:oleObj>
              </mc:Choice>
              <mc:Fallback>
                <p:oleObj name="公式" r:id="rId3" imgW="3403600" imgH="1143000" progId="Equation.3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63" y="1003300"/>
                        <a:ext cx="7561262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1">
            <a:extLst>
              <a:ext uri="{FF2B5EF4-FFF2-40B4-BE49-F238E27FC236}">
                <a16:creationId xmlns:a16="http://schemas.microsoft.com/office/drawing/2014/main" id="{57EBF169-159F-7625-AE87-CD1C7EB6C4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334675"/>
              </p:ext>
            </p:extLst>
          </p:nvPr>
        </p:nvGraphicFramePr>
        <p:xfrm>
          <a:off x="113258" y="4640682"/>
          <a:ext cx="3246438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511300" imgH="584200" progId="Equation.3">
                  <p:embed/>
                </p:oleObj>
              </mc:Choice>
              <mc:Fallback>
                <p:oleObj name="公式" r:id="rId5" imgW="1511300" imgH="584200" progId="Equation.3">
                  <p:embed/>
                  <p:pic>
                    <p:nvPicPr>
                      <p:cNvPr id="21536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58" y="4640682"/>
                        <a:ext cx="3246438" cy="125412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A92F258-EEA4-4A18-B698-6EB74A1DA7A6}"/>
              </a:ext>
            </a:extLst>
          </p:cNvPr>
          <p:cNvSpPr txBox="1"/>
          <p:nvPr/>
        </p:nvSpPr>
        <p:spPr>
          <a:xfrm>
            <a:off x="141833" y="4064746"/>
            <a:ext cx="3217863" cy="523220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en-US" altLang="zh-CN" sz="2800" dirty="0"/>
              <a:t> </a:t>
            </a:r>
            <a:r>
              <a:rPr lang="en-US" altLang="zh-CN" sz="2800" dirty="0">
                <a:latin typeface="+mn-lt"/>
              </a:rPr>
              <a:t>y</a:t>
            </a:r>
            <a:r>
              <a:rPr lang="en-US" altLang="zh-CN" sz="2800" dirty="0"/>
              <a:t>=</a:t>
            </a:r>
            <a:r>
              <a:rPr lang="en-US" altLang="zh-CN" sz="2800" b="1" dirty="0">
                <a:latin typeface="Monotype Corsiva" pitchFamily="66" charset="0"/>
              </a:rPr>
              <a:t>f </a:t>
            </a:r>
            <a:r>
              <a:rPr lang="en-US" altLang="zh-CN" sz="2800" dirty="0"/>
              <a:t>(</a:t>
            </a:r>
            <a:r>
              <a:rPr lang="en-US" altLang="zh-CN" sz="2800" dirty="0">
                <a:latin typeface="+mn-lt"/>
              </a:rPr>
              <a:t>x) = 1+sin</a:t>
            </a:r>
            <a:r>
              <a:rPr lang="en-US" altLang="zh-CN" sz="2800" i="1" dirty="0">
                <a:latin typeface="+mn-lt"/>
              </a:rPr>
              <a:t>x</a:t>
            </a:r>
            <a:endParaRPr lang="zh-CN" altLang="en-US" sz="2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75920" y="3501009"/>
            <a:ext cx="1728192" cy="576063"/>
          </a:xfrm>
          <a:prstGeom prst="rect">
            <a:avLst/>
          </a:prstGeom>
          <a:solidFill>
            <a:srgbClr val="FFFF66"/>
          </a:solidFill>
          <a:ln>
            <a:solidFill>
              <a:srgbClr val="FF9933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扩张原理</a:t>
            </a:r>
            <a:r>
              <a:rPr lang="en-US" altLang="zh-CN">
                <a:solidFill>
                  <a:srgbClr val="008000"/>
                </a:solidFill>
                <a:ea typeface="黑体" pitchFamily="49" charset="-122"/>
              </a:rPr>
              <a:t>Ⅰ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是一个</a:t>
            </a:r>
            <a:r>
              <a:rPr lang="en-US" altLang="zh-CN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变换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484314"/>
            <a:ext cx="8218488" cy="51847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此变换是由映射 </a:t>
            </a:r>
            <a:r>
              <a:rPr kumimoji="1" lang="en-US" altLang="zh-CN" sz="2800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  <a:latin typeface="ITC Zapf Chancery" pitchFamily="66" charset="0"/>
                <a:ea typeface="黑体" pitchFamily="2" charset="-122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: U→V 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确定的普通关系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导出的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.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由</a:t>
            </a:r>
            <a:r>
              <a:rPr kumimoji="1" lang="en-US" altLang="zh-CN" sz="2800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是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变换及相关定理得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: 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TC Zapf Chancery" pitchFamily="66" charset="0"/>
                <a:ea typeface="黑体" pitchFamily="2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)=</a:t>
            </a:r>
            <a:r>
              <a:rPr lang="en-US" altLang="zh-CN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◦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  <a:ea typeface="黑体" pitchFamily="2" charset="-122"/>
              </a:rPr>
              <a:t>f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于是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这就是扩张原理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Ⅰ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的结果。</a:t>
            </a:r>
          </a:p>
        </p:txBody>
      </p:sp>
      <p:graphicFrame>
        <p:nvGraphicFramePr>
          <p:cNvPr id="6144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878341031"/>
              </p:ext>
            </p:extLst>
          </p:nvPr>
        </p:nvGraphicFramePr>
        <p:xfrm>
          <a:off x="2711624" y="2060575"/>
          <a:ext cx="3452812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22400" imgH="457200" progId="Equation.3">
                  <p:embed/>
                </p:oleObj>
              </mc:Choice>
              <mc:Fallback>
                <p:oleObj name="公式" r:id="rId2" imgW="1422400" imgH="457200" progId="Equation.3">
                  <p:embed/>
                  <p:pic>
                    <p:nvPicPr>
                      <p:cNvPr id="614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2060575"/>
                        <a:ext cx="3452812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521473083"/>
              </p:ext>
            </p:extLst>
          </p:nvPr>
        </p:nvGraphicFramePr>
        <p:xfrm>
          <a:off x="2495600" y="4149725"/>
          <a:ext cx="45370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15840" imgH="279360" progId="Equation.3">
                  <p:embed/>
                </p:oleObj>
              </mc:Choice>
              <mc:Fallback>
                <p:oleObj name="公式" r:id="rId4" imgW="1815840" imgH="279360" progId="Equation.3">
                  <p:embed/>
                  <p:pic>
                    <p:nvPicPr>
                      <p:cNvPr id="614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4149725"/>
                        <a:ext cx="45370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762418"/>
              </p:ext>
            </p:extLst>
          </p:nvPr>
        </p:nvGraphicFramePr>
        <p:xfrm>
          <a:off x="3803701" y="4869160"/>
          <a:ext cx="476091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7840" imgH="291960" progId="Equation.DSMT4">
                  <p:embed/>
                </p:oleObj>
              </mc:Choice>
              <mc:Fallback>
                <p:oleObj name="Equation" r:id="rId6" imgW="2247840" imgH="291960" progId="Equation.DSMT4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701" y="4869160"/>
                        <a:ext cx="4760913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669466"/>
              </p:ext>
            </p:extLst>
          </p:nvPr>
        </p:nvGraphicFramePr>
        <p:xfrm>
          <a:off x="3817209" y="5517877"/>
          <a:ext cx="161448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760" imgH="291960" progId="Equation.DSMT4">
                  <p:embed/>
                </p:oleObj>
              </mc:Choice>
              <mc:Fallback>
                <p:oleObj name="Equation" r:id="rId8" imgW="761760" imgH="291960" progId="Equation.DSMT4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209" y="5517877"/>
                        <a:ext cx="1614487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8ED8A1B4-CAF0-4E2D-86E6-3B548AFA7701}"/>
              </a:ext>
            </a:extLst>
          </p:cNvPr>
          <p:cNvGrpSpPr/>
          <p:nvPr/>
        </p:nvGrpSpPr>
        <p:grpSpPr>
          <a:xfrm>
            <a:off x="8650041" y="1529657"/>
            <a:ext cx="3273426" cy="3105574"/>
            <a:chOff x="5463778" y="3645024"/>
            <a:chExt cx="3644726" cy="3424611"/>
          </a:xfrm>
        </p:grpSpPr>
        <p:pic>
          <p:nvPicPr>
            <p:cNvPr id="4" name="图片 3" descr="形状&#10;&#10;描述已自动生成">
              <a:extLst>
                <a:ext uri="{FF2B5EF4-FFF2-40B4-BE49-F238E27FC236}">
                  <a16:creationId xmlns:a16="http://schemas.microsoft.com/office/drawing/2014/main" id="{93E4DB5B-7923-A409-733F-C977F0929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3778" y="3645024"/>
              <a:ext cx="3644726" cy="3424611"/>
            </a:xfrm>
            <a:prstGeom prst="rect">
              <a:avLst/>
            </a:prstGeom>
          </p:spPr>
        </p:pic>
        <p:sp>
          <p:nvSpPr>
            <p:cNvPr id="5" name="Line 20">
              <a:extLst>
                <a:ext uri="{FF2B5EF4-FFF2-40B4-BE49-F238E27FC236}">
                  <a16:creationId xmlns:a16="http://schemas.microsoft.com/office/drawing/2014/main" id="{026F87CE-1449-51BE-7B81-66310EA6AF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6392" y="5173166"/>
              <a:ext cx="1514028" cy="6645"/>
            </a:xfrm>
            <a:prstGeom prst="line">
              <a:avLst/>
            </a:prstGeom>
            <a:noFill/>
            <a:ln w="38100">
              <a:solidFill>
                <a:srgbClr val="A6A6A6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14">
              <a:extLst>
                <a:ext uri="{FF2B5EF4-FFF2-40B4-BE49-F238E27FC236}">
                  <a16:creationId xmlns:a16="http://schemas.microsoft.com/office/drawing/2014/main" id="{1F5E165A-D9A3-5BBE-3B0F-A7CBB4D310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90420" y="5157192"/>
              <a:ext cx="0" cy="1471561"/>
            </a:xfrm>
            <a:prstGeom prst="lin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" name="Text Box 26">
              <a:extLst>
                <a:ext uri="{FF2B5EF4-FFF2-40B4-BE49-F238E27FC236}">
                  <a16:creationId xmlns:a16="http://schemas.microsoft.com/office/drawing/2014/main" id="{FF040228-70D5-EA42-F94C-491E31040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7565" y="5043799"/>
              <a:ext cx="720725" cy="4879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FF0000"/>
                  </a:solidFill>
                </a:rPr>
                <a:t>3/2</a:t>
              </a:r>
            </a:p>
          </p:txBody>
        </p:sp>
      </p:grp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5AB0AD6-540E-E253-D3B0-2EFDDFF1CF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400800"/>
            <a:ext cx="670678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7FCC1C88-373F-C2AB-D9BE-998664CA04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860844"/>
              </p:ext>
            </p:extLst>
          </p:nvPr>
        </p:nvGraphicFramePr>
        <p:xfrm>
          <a:off x="7104112" y="5614718"/>
          <a:ext cx="5040313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171700" imgH="533400" progId="Equation.3">
                  <p:embed/>
                </p:oleObj>
              </mc:Choice>
              <mc:Fallback>
                <p:oleObj name="公式" r:id="rId11" imgW="2171700" imgH="533400" progId="Equation.3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112" y="5614718"/>
                        <a:ext cx="5040313" cy="12382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752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144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3935414" y="5805512"/>
            <a:ext cx="3240087" cy="6477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扩张原理</a:t>
            </a:r>
            <a:r>
              <a:rPr lang="en-US" altLang="zh-CN">
                <a:solidFill>
                  <a:srgbClr val="008000"/>
                </a:solidFill>
                <a:ea typeface="黑体" pitchFamily="49" charset="-122"/>
              </a:rPr>
              <a:t>Ⅰ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的性质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63751" y="1628800"/>
            <a:ext cx="8075613" cy="5013325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E123BD"/>
                </a:solidFill>
              </a:rPr>
              <a:t>[</a:t>
            </a:r>
            <a:r>
              <a:rPr lang="zh-CN" altLang="en-US" dirty="0">
                <a:solidFill>
                  <a:srgbClr val="E123BD"/>
                </a:solidFill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E123BD"/>
                </a:solidFill>
                <a:ea typeface="黑体" pitchFamily="49" charset="-122"/>
              </a:rPr>
              <a:t>1]</a:t>
            </a:r>
            <a:r>
              <a:rPr lang="zh-CN" altLang="en-US" dirty="0"/>
              <a:t>设 </a:t>
            </a:r>
            <a:r>
              <a:rPr lang="en-US" altLang="zh-CN" b="1" dirty="0">
                <a:latin typeface="Monotype Corsiva" pitchFamily="66" charset="0"/>
              </a:rPr>
              <a:t>f</a:t>
            </a:r>
            <a:r>
              <a:rPr lang="en-US" altLang="zh-CN" dirty="0"/>
              <a:t> : U→V, A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</a:t>
            </a:r>
            <a:r>
              <a:rPr lang="en-US" altLang="zh-CN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(U), B</a:t>
            </a:r>
            <a:r>
              <a:rPr lang="en-US" altLang="zh-CN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(V),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  <a:sym typeface="Symbol" pitchFamily="18" charset="2"/>
              </a:rPr>
              <a:t>               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则</a:t>
            </a:r>
            <a:r>
              <a:rPr kumimoji="1" lang="zh-CN" altLang="en-US" i="1" dirty="0">
                <a:ea typeface="黑体" pitchFamily="49" charset="-122"/>
                <a:sym typeface="Symbol" pitchFamily="18" charset="2"/>
              </a:rPr>
              <a:t>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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[0,1],  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有</a:t>
            </a:r>
          </a:p>
          <a:p>
            <a:pPr lvl="1" eaLnBrk="1" hangingPunct="1"/>
            <a:endParaRPr lang="zh-CN" altLang="en-US" sz="1600" dirty="0">
              <a:ea typeface="黑体" pitchFamily="49" charset="-122"/>
              <a:sym typeface="Symbol" pitchFamily="18" charset="2"/>
            </a:endParaRPr>
          </a:p>
          <a:p>
            <a:pPr lvl="1" eaLnBrk="1" hangingPunct="1"/>
            <a:r>
              <a:rPr lang="zh-CN" altLang="en-US" dirty="0"/>
              <a:t> </a:t>
            </a:r>
          </a:p>
          <a:p>
            <a:pPr lvl="1" eaLnBrk="1" hangingPunct="1"/>
            <a:endParaRPr lang="zh-CN" altLang="en-US" sz="2400" dirty="0"/>
          </a:p>
          <a:p>
            <a:pPr lvl="1" eaLnBrk="1" hangingPunct="1"/>
            <a:r>
              <a:rPr lang="zh-CN" altLang="en-US" dirty="0"/>
              <a:t>  </a:t>
            </a:r>
          </a:p>
          <a:p>
            <a:pPr lvl="1" eaLnBrk="1" hangingPunct="1"/>
            <a:endParaRPr lang="zh-CN" altLang="en-US" sz="2000" dirty="0"/>
          </a:p>
          <a:p>
            <a:pPr lvl="1" eaLnBrk="1" hangingPunct="1"/>
            <a:r>
              <a:rPr lang="zh-CN" altLang="en-US" dirty="0"/>
              <a:t>  </a:t>
            </a:r>
          </a:p>
          <a:p>
            <a:pPr lvl="1" eaLnBrk="1" hangingPunct="1"/>
            <a:endParaRPr lang="zh-CN" altLang="en-US" sz="2000" dirty="0"/>
          </a:p>
          <a:p>
            <a:pPr lvl="1" eaLnBrk="1" hangingPunct="1"/>
            <a:r>
              <a:rPr lang="zh-CN" altLang="en-US" sz="3600" dirty="0">
                <a:solidFill>
                  <a:srgbClr val="E90101"/>
                </a:solidFill>
                <a:latin typeface="黑体" pitchFamily="49" charset="-122"/>
                <a:ea typeface="黑体" pitchFamily="49" charset="-122"/>
              </a:rPr>
              <a:t>注意</a:t>
            </a:r>
            <a:r>
              <a:rPr lang="en-US" altLang="zh-CN" sz="3600" dirty="0">
                <a:solidFill>
                  <a:srgbClr val="E90101"/>
                </a:solidFill>
                <a:latin typeface="黑体" pitchFamily="49" charset="-122"/>
                <a:ea typeface="黑体" pitchFamily="49" charset="-122"/>
              </a:rPr>
              <a:t>:              </a:t>
            </a:r>
            <a:r>
              <a:rPr lang="zh-CN" altLang="en-US" sz="3600" dirty="0">
                <a:solidFill>
                  <a:srgbClr val="E90101"/>
                </a:solidFill>
                <a:latin typeface="黑体" pitchFamily="49" charset="-122"/>
                <a:ea typeface="黑体" pitchFamily="49" charset="-122"/>
              </a:rPr>
              <a:t>不一定成立</a:t>
            </a:r>
            <a:r>
              <a:rPr lang="zh-CN" altLang="en-US" dirty="0"/>
              <a:t>  </a:t>
            </a:r>
            <a:endParaRPr lang="zh-CN" altLang="en-US" sz="2400" dirty="0"/>
          </a:p>
        </p:txBody>
      </p:sp>
      <p:graphicFrame>
        <p:nvGraphicFramePr>
          <p:cNvPr id="6349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49203689"/>
              </p:ext>
            </p:extLst>
          </p:nvPr>
        </p:nvGraphicFramePr>
        <p:xfrm>
          <a:off x="3000375" y="2925787"/>
          <a:ext cx="2951163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77476" imgH="291973" progId="Equation.3">
                  <p:embed/>
                </p:oleObj>
              </mc:Choice>
              <mc:Fallback>
                <p:oleObj name="公式" r:id="rId3" imgW="977476" imgH="291973" progId="Equation.3">
                  <p:embed/>
                  <p:pic>
                    <p:nvPicPr>
                      <p:cNvPr id="634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925787"/>
                        <a:ext cx="2951163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381769155"/>
              </p:ext>
            </p:extLst>
          </p:nvPr>
        </p:nvGraphicFramePr>
        <p:xfrm>
          <a:off x="2927350" y="3933849"/>
          <a:ext cx="36004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93800" imgH="304800" progId="Equation.3">
                  <p:embed/>
                </p:oleObj>
              </mc:Choice>
              <mc:Fallback>
                <p:oleObj name="公式" r:id="rId5" imgW="1193800" imgH="304800" progId="Equation.3">
                  <p:embed/>
                  <p:pic>
                    <p:nvPicPr>
                      <p:cNvPr id="634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3933849"/>
                        <a:ext cx="360045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182494"/>
              </p:ext>
            </p:extLst>
          </p:nvPr>
        </p:nvGraphicFramePr>
        <p:xfrm>
          <a:off x="2927350" y="4868888"/>
          <a:ext cx="381635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193800" imgH="241300" progId="Equation.3">
                  <p:embed/>
                </p:oleObj>
              </mc:Choice>
              <mc:Fallback>
                <p:oleObj name="公式" r:id="rId7" imgW="1193800" imgH="241300" progId="Equation.3">
                  <p:embed/>
                  <p:pic>
                    <p:nvPicPr>
                      <p:cNvPr id="634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4868888"/>
                        <a:ext cx="381635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323172"/>
              </p:ext>
            </p:extLst>
          </p:nvPr>
        </p:nvGraphicFramePr>
        <p:xfrm>
          <a:off x="4050334" y="5805412"/>
          <a:ext cx="312578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977900" imgH="228600" progId="Equation.3">
                  <p:embed/>
                </p:oleObj>
              </mc:Choice>
              <mc:Fallback>
                <p:oleObj name="公式" r:id="rId9" imgW="977900" imgH="228600" progId="Equation.3">
                  <p:embed/>
                  <p:pic>
                    <p:nvPicPr>
                      <p:cNvPr id="634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0334" y="5805412"/>
                        <a:ext cx="3125787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7DFABB-A60D-27F2-AC75-AE99BAE5C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713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8" grpId="0" animBg="1"/>
      <p:bldP spid="6349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6633"/>
            <a:ext cx="8229600" cy="1027113"/>
          </a:xfrm>
          <a:solidFill>
            <a:srgbClr val="CCFFFF"/>
          </a:solidFill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E90101"/>
                </a:solidFill>
                <a:latin typeface="黑体" pitchFamily="49" charset="-122"/>
                <a:ea typeface="黑体" pitchFamily="49" charset="-122"/>
              </a:rPr>
              <a:t>注意</a:t>
            </a:r>
            <a:r>
              <a:rPr lang="en-US" altLang="zh-CN" dirty="0">
                <a:solidFill>
                  <a:srgbClr val="E90101"/>
                </a:solidFill>
                <a:latin typeface="黑体" pitchFamily="49" charset="-122"/>
                <a:ea typeface="黑体" pitchFamily="49" charset="-122"/>
              </a:rPr>
              <a:t>:            </a:t>
            </a:r>
            <a:r>
              <a:rPr lang="zh-CN" altLang="en-US" dirty="0">
                <a:solidFill>
                  <a:srgbClr val="E90101"/>
                </a:solidFill>
                <a:latin typeface="黑体" pitchFamily="49" charset="-122"/>
                <a:ea typeface="黑体" pitchFamily="49" charset="-122"/>
              </a:rPr>
              <a:t>不一定成立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700808"/>
            <a:ext cx="9216256" cy="5085185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设 </a:t>
            </a:r>
            <a:r>
              <a:rPr lang="en-US" altLang="zh-CN" sz="2800" b="1" dirty="0">
                <a:latin typeface="Monotype Corsiva" pitchFamily="66" charset="0"/>
              </a:rPr>
              <a:t>f</a:t>
            </a:r>
            <a:r>
              <a:rPr lang="en-US" altLang="zh-CN" sz="2800" dirty="0">
                <a:latin typeface="ITC Zapf Chancery" pitchFamily="66" charset="0"/>
              </a:rPr>
              <a:t> </a:t>
            </a:r>
            <a:r>
              <a:rPr lang="en-US" altLang="zh-CN" sz="2800" dirty="0"/>
              <a:t>:[0,1] →[0,1],</a:t>
            </a:r>
            <a:r>
              <a:rPr lang="zh-CN" altLang="en-US" sz="2800" dirty="0"/>
              <a:t>使得</a:t>
            </a:r>
            <a:r>
              <a:rPr lang="zh-CN" altLang="en-US" sz="2800" dirty="0">
                <a:ea typeface="黑体" pitchFamily="49" charset="-122"/>
                <a:sym typeface="Symbol" pitchFamily="18" charset="2"/>
              </a:rPr>
              <a:t>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x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[0,1], </a:t>
            </a:r>
            <a:r>
              <a:rPr lang="zh-CN" altLang="en-US" sz="2800" dirty="0"/>
              <a:t>有</a:t>
            </a:r>
          </a:p>
          <a:p>
            <a:pPr eaLnBrk="1" hangingPunct="1">
              <a:buNone/>
            </a:pPr>
            <a:r>
              <a:rPr lang="zh-CN" altLang="en-US" sz="2800" dirty="0"/>
              <a:t>    而</a:t>
            </a:r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Monotype Corsiva" pitchFamily="66" charset="0"/>
              </a:rPr>
              <a:t>F</a:t>
            </a:r>
            <a:r>
              <a:rPr lang="en-US" altLang="zh-CN" sz="2800" dirty="0"/>
              <a:t>([0,1]), </a:t>
            </a:r>
            <a:r>
              <a:rPr lang="zh-CN" altLang="en-US" sz="2800" dirty="0"/>
              <a:t>使</a:t>
            </a:r>
            <a:r>
              <a:rPr lang="en-US" altLang="zh-CN" sz="2800" dirty="0">
                <a:solidFill>
                  <a:srgbClr val="3333FF"/>
                </a:solidFill>
              </a:rPr>
              <a:t>A(x)=1-x</a:t>
            </a:r>
            <a:r>
              <a:rPr lang="en-US" altLang="zh-CN" sz="2800" dirty="0"/>
              <a:t> (x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[0,1]) </a:t>
            </a:r>
          </a:p>
          <a:p>
            <a:pPr eaLnBrk="1" hangingPunct="1"/>
            <a:r>
              <a:rPr lang="en-US" altLang="zh-CN" sz="2800" dirty="0">
                <a:ea typeface="黑体" pitchFamily="49" charset="-122"/>
                <a:sym typeface="Symbol" pitchFamily="18" charset="2"/>
              </a:rPr>
              <a:t>y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[0,1], </a:t>
            </a:r>
            <a:r>
              <a:rPr lang="zh-CN" altLang="en-US" sz="2800" dirty="0">
                <a:ea typeface="黑体" pitchFamily="49" charset="-122"/>
              </a:rPr>
              <a:t>由扩张原理</a:t>
            </a:r>
            <a:r>
              <a:rPr lang="en-US" altLang="zh-CN" sz="2800" dirty="0">
                <a:ea typeface="黑体" pitchFamily="49" charset="-122"/>
              </a:rPr>
              <a:t>Ⅰ,</a:t>
            </a:r>
            <a:r>
              <a:rPr lang="zh-CN" altLang="en-US" sz="2800" dirty="0">
                <a:ea typeface="黑体" pitchFamily="49" charset="-122"/>
              </a:rPr>
              <a:t>有</a:t>
            </a:r>
          </a:p>
          <a:p>
            <a:pPr eaLnBrk="1" hangingPunct="1"/>
            <a:endParaRPr lang="en-US" altLang="zh-CN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000" dirty="0"/>
          </a:p>
          <a:p>
            <a:pPr eaLnBrk="1" hangingPunct="1"/>
            <a:r>
              <a:rPr lang="zh-CN" altLang="en-US" sz="2800" dirty="0"/>
              <a:t>取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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=1, 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则</a:t>
            </a:r>
            <a:r>
              <a:rPr kumimoji="1" lang="en-US" altLang="zh-CN" sz="2800" b="1" dirty="0">
                <a:solidFill>
                  <a:srgbClr val="E90101"/>
                </a:solidFill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kumimoji="1" lang="en-US" altLang="zh-CN" sz="2800" dirty="0">
                <a:solidFill>
                  <a:srgbClr val="E90101"/>
                </a:solidFill>
                <a:latin typeface="ITC Zapf Chancery" pitchFamily="66" charset="0"/>
                <a:ea typeface="黑体" pitchFamily="49" charset="-122"/>
                <a:sym typeface="Symbol" pitchFamily="18" charset="2"/>
              </a:rPr>
              <a:t> </a:t>
            </a:r>
            <a:r>
              <a:rPr kumimoji="1" lang="en-US" altLang="zh-CN" sz="28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(A)</a:t>
            </a:r>
            <a:r>
              <a:rPr kumimoji="1" lang="en-US" altLang="zh-CN" sz="2800" baseline="-250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1</a:t>
            </a:r>
            <a:r>
              <a:rPr kumimoji="1" lang="en-US" altLang="zh-CN" sz="28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={0,1},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 </a:t>
            </a:r>
            <a:endParaRPr kumimoji="1" lang="en-US" altLang="zh-CN" sz="2800" baseline="-25000" dirty="0">
              <a:solidFill>
                <a:srgbClr val="E90101"/>
              </a:solidFill>
              <a:ea typeface="黑体" pitchFamily="49" charset="-122"/>
              <a:sym typeface="Symbol" pitchFamily="18" charset="2"/>
            </a:endParaRPr>
          </a:p>
        </p:txBody>
      </p:sp>
      <p:graphicFrame>
        <p:nvGraphicFramePr>
          <p:cNvPr id="80902" name="Object 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927069093"/>
              </p:ext>
            </p:extLst>
          </p:nvPr>
        </p:nvGraphicFramePr>
        <p:xfrm>
          <a:off x="6950967" y="1233563"/>
          <a:ext cx="3681537" cy="1403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00200" imgH="609600" progId="Equation.3">
                  <p:embed/>
                </p:oleObj>
              </mc:Choice>
              <mc:Fallback>
                <p:oleObj name="公式" r:id="rId3" imgW="1600200" imgH="609600" progId="Equation.3">
                  <p:embed/>
                  <p:pic>
                    <p:nvPicPr>
                      <p:cNvPr id="809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0967" y="1233563"/>
                        <a:ext cx="3681537" cy="1403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719513" y="261938"/>
          <a:ext cx="316865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77900" imgH="228600" progId="Equation.3">
                  <p:embed/>
                </p:oleObj>
              </mc:Choice>
              <mc:Fallback>
                <p:oleObj name="公式" r:id="rId5" imgW="977900" imgH="228600" progId="Equation.3">
                  <p:embed/>
                  <p:pic>
                    <p:nvPicPr>
                      <p:cNvPr id="92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261938"/>
                        <a:ext cx="3168650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648926"/>
              </p:ext>
            </p:extLst>
          </p:nvPr>
        </p:nvGraphicFramePr>
        <p:xfrm>
          <a:off x="1524001" y="3429000"/>
          <a:ext cx="4321175" cy="154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057400" imgH="736600" progId="Equation.3">
                  <p:embed/>
                </p:oleObj>
              </mc:Choice>
              <mc:Fallback>
                <p:oleObj name="公式" r:id="rId7" imgW="2057400" imgH="736600" progId="Equation.3">
                  <p:embed/>
                  <p:pic>
                    <p:nvPicPr>
                      <p:cNvPr id="809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3429000"/>
                        <a:ext cx="4321175" cy="154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320059"/>
              </p:ext>
            </p:extLst>
          </p:nvPr>
        </p:nvGraphicFramePr>
        <p:xfrm>
          <a:off x="6456040" y="2852936"/>
          <a:ext cx="4879494" cy="2663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95200" imgH="1143000" progId="Equation.DSMT4">
                  <p:embed/>
                </p:oleObj>
              </mc:Choice>
              <mc:Fallback>
                <p:oleObj name="Equation" r:id="rId9" imgW="2095200" imgH="1143000" progId="Equation.DSMT4">
                  <p:embed/>
                  <p:pic>
                    <p:nvPicPr>
                      <p:cNvPr id="809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0" y="2852936"/>
                        <a:ext cx="4879494" cy="2663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686549"/>
              </p:ext>
            </p:extLst>
          </p:nvPr>
        </p:nvGraphicFramePr>
        <p:xfrm>
          <a:off x="1436431" y="4976812"/>
          <a:ext cx="406717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90700" imgH="482600" progId="Equation.3">
                  <p:embed/>
                </p:oleObj>
              </mc:Choice>
              <mc:Fallback>
                <p:oleObj name="公式" r:id="rId11" imgW="1790700" imgH="482600" progId="Equation.3">
                  <p:embed/>
                  <p:pic>
                    <p:nvPicPr>
                      <p:cNvPr id="8090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431" y="4976812"/>
                        <a:ext cx="4067175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4939129" y="6146140"/>
            <a:ext cx="4325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但</a:t>
            </a:r>
            <a:r>
              <a:rPr kumimoji="1" lang="en-US" altLang="zh-CN" sz="2800" b="1" dirty="0">
                <a:solidFill>
                  <a:srgbClr val="3333FF"/>
                </a:solidFill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kumimoji="1" lang="en-US" altLang="zh-CN" sz="2800" dirty="0">
                <a:solidFill>
                  <a:srgbClr val="3333FF"/>
                </a:solidFill>
                <a:latin typeface="ITC Zapf Chancery" pitchFamily="66" charset="0"/>
                <a:ea typeface="黑体" pitchFamily="49" charset="-122"/>
                <a:sym typeface="Symbol" pitchFamily="18" charset="2"/>
              </a:rPr>
              <a:t> </a:t>
            </a:r>
            <a:r>
              <a:rPr kumimoji="1" lang="en-US" altLang="zh-CN" sz="2800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(A</a:t>
            </a:r>
            <a:r>
              <a:rPr kumimoji="1" lang="en-US" altLang="zh-CN" sz="2800" baseline="-25000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1</a:t>
            </a:r>
            <a:r>
              <a:rPr kumimoji="1" lang="en-US" altLang="zh-CN" sz="2800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)={</a:t>
            </a:r>
            <a:r>
              <a:rPr kumimoji="1" lang="en-US" altLang="zh-CN" sz="2800" b="1" dirty="0">
                <a:solidFill>
                  <a:srgbClr val="3333FF"/>
                </a:solidFill>
                <a:latin typeface="Monotype Corsiva" pitchFamily="66" charset="0"/>
                <a:ea typeface="黑体" pitchFamily="49" charset="-122"/>
                <a:sym typeface="Symbol" pitchFamily="18" charset="2"/>
              </a:rPr>
              <a:t>f </a:t>
            </a:r>
            <a:r>
              <a:rPr kumimoji="1" lang="en-US" altLang="zh-CN" sz="2800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(0)}={0}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 </a:t>
            </a:r>
            <a:r>
              <a:rPr kumimoji="1" lang="en-US" altLang="zh-CN" sz="2800" dirty="0">
                <a:sym typeface="Symbol" pitchFamily="18" charset="2"/>
              </a:rPr>
              <a:t>≠</a:t>
            </a:r>
            <a:r>
              <a:rPr kumimoji="1" lang="en-US" altLang="zh-CN" sz="2800" b="1" dirty="0">
                <a:solidFill>
                  <a:srgbClr val="E90101"/>
                </a:solidFill>
                <a:latin typeface="Monotype Corsiva" pitchFamily="66" charset="0"/>
                <a:ea typeface="黑体" pitchFamily="49" charset="-122"/>
                <a:sym typeface="Symbol" pitchFamily="18" charset="2"/>
              </a:rPr>
              <a:t> f</a:t>
            </a:r>
            <a:r>
              <a:rPr kumimoji="1" lang="en-US" altLang="zh-CN" sz="2800" dirty="0">
                <a:solidFill>
                  <a:srgbClr val="E90101"/>
                </a:solidFill>
                <a:latin typeface="ITC Zapf Chancery" pitchFamily="66" charset="0"/>
                <a:sym typeface="Symbol" pitchFamily="18" charset="2"/>
              </a:rPr>
              <a:t> </a:t>
            </a:r>
            <a:r>
              <a:rPr kumimoji="1" lang="en-US" altLang="zh-CN" sz="2800" dirty="0">
                <a:solidFill>
                  <a:srgbClr val="E90101"/>
                </a:solidFill>
                <a:sym typeface="Symbol" pitchFamily="18" charset="2"/>
              </a:rPr>
              <a:t>(A)</a:t>
            </a:r>
            <a:r>
              <a:rPr kumimoji="1" lang="en-US" altLang="zh-CN" sz="2800" baseline="-250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1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15A142B-21AF-0AC1-2152-1010AD4D5B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495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扩张原理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Ⅰ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的性质</a:t>
            </a:r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063751" y="1844676"/>
            <a:ext cx="8075613" cy="48244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由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[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分解定理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Ⅰ]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和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[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定理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1]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得</a:t>
            </a:r>
          </a:p>
          <a:p>
            <a:pPr eaLnBrk="1" hangingPunct="1"/>
            <a:r>
              <a:rPr lang="en-US" altLang="zh-CN" dirty="0">
                <a:solidFill>
                  <a:schemeClr val="bg2"/>
                </a:solidFill>
              </a:rPr>
              <a:t>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推论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 </a:t>
            </a:r>
            <a:r>
              <a:rPr lang="zh-CN" altLang="en-US" dirty="0"/>
              <a:t>设 </a:t>
            </a:r>
            <a:r>
              <a:rPr lang="en-US" altLang="zh-CN" b="1" dirty="0">
                <a:latin typeface="Monotype Corsiva" pitchFamily="66" charset="0"/>
              </a:rPr>
              <a:t>f </a:t>
            </a:r>
            <a:r>
              <a:rPr lang="en-US" altLang="zh-CN" dirty="0"/>
              <a:t>: U→V, A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</a:t>
            </a:r>
            <a:r>
              <a:rPr lang="en-US" altLang="zh-CN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(U), B</a:t>
            </a:r>
            <a:r>
              <a:rPr lang="en-US" altLang="zh-CN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(V), 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则</a:t>
            </a:r>
          </a:p>
          <a:p>
            <a:pPr lvl="3"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  <a:sym typeface="Symbol" pitchFamily="18" charset="2"/>
              </a:rPr>
              <a:t>             </a:t>
            </a:r>
            <a:endParaRPr lang="zh-CN" altLang="en-US" sz="1200" dirty="0">
              <a:ea typeface="黑体" pitchFamily="49" charset="-122"/>
              <a:sym typeface="Symbol" pitchFamily="18" charset="2"/>
            </a:endParaRPr>
          </a:p>
          <a:p>
            <a:pPr lvl="1" eaLnBrk="1" hangingPunct="1"/>
            <a:r>
              <a:rPr lang="zh-CN" altLang="en-US" dirty="0"/>
              <a:t> </a:t>
            </a:r>
          </a:p>
          <a:p>
            <a:pPr eaLnBrk="1" hangingPunct="1"/>
            <a:endParaRPr lang="zh-CN" altLang="en-US" sz="2800" dirty="0"/>
          </a:p>
          <a:p>
            <a:pPr lvl="1" eaLnBrk="1" hangingPunct="1"/>
            <a:r>
              <a:rPr lang="zh-CN" altLang="en-US" dirty="0"/>
              <a:t>  </a:t>
            </a:r>
          </a:p>
          <a:p>
            <a:pPr lvl="1" eaLnBrk="1" hangingPunct="1"/>
            <a:endParaRPr lang="zh-CN" altLang="en-US" sz="2000" dirty="0"/>
          </a:p>
          <a:p>
            <a:pPr lvl="1" eaLnBrk="1" hangingPunct="1"/>
            <a:r>
              <a:rPr lang="zh-CN" altLang="en-US" dirty="0"/>
              <a:t> </a:t>
            </a:r>
            <a:endParaRPr lang="en-US" altLang="zh-CN" dirty="0"/>
          </a:p>
          <a:p>
            <a:pPr lvl="1" eaLnBrk="1" hangingPunct="1"/>
            <a:endParaRPr lang="en-US" altLang="zh-CN" sz="2000" dirty="0"/>
          </a:p>
          <a:p>
            <a:pPr marL="457200" lvl="1" indent="0" eaLnBrk="1" hangingPunct="1">
              <a:buNone/>
            </a:pPr>
            <a:r>
              <a:rPr lang="zh-CN" altLang="en-US" sz="3200" b="1" dirty="0"/>
              <a:t>这是扩张原理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b="1" dirty="0"/>
              <a:t>的另一描述方法。 </a:t>
            </a:r>
          </a:p>
          <a:p>
            <a:pPr lvl="1" eaLnBrk="1" hangingPunct="1"/>
            <a:endParaRPr lang="zh-CN" altLang="en-US" dirty="0"/>
          </a:p>
          <a:p>
            <a:pPr lvl="1" eaLnBrk="1" hangingPunct="1">
              <a:buFont typeface="Wingdings" pitchFamily="2" charset="2"/>
              <a:buNone/>
            </a:pPr>
            <a:endParaRPr lang="en-US" altLang="zh-CN" sz="2400" dirty="0"/>
          </a:p>
        </p:txBody>
      </p:sp>
      <p:graphicFrame>
        <p:nvGraphicFramePr>
          <p:cNvPr id="72709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87713" y="3141663"/>
          <a:ext cx="2951162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44600" imgH="368300" progId="Equation.3">
                  <p:embed/>
                </p:oleObj>
              </mc:Choice>
              <mc:Fallback>
                <p:oleObj name="公式" r:id="rId2" imgW="1244600" imgH="368300" progId="Equation.3">
                  <p:embed/>
                  <p:pic>
                    <p:nvPicPr>
                      <p:cNvPr id="727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3141663"/>
                        <a:ext cx="2951162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0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00375" y="4149725"/>
          <a:ext cx="34861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7000" imgH="368300" progId="Equation.3">
                  <p:embed/>
                </p:oleObj>
              </mc:Choice>
              <mc:Fallback>
                <p:oleObj name="公式" r:id="rId4" imgW="1397000" imgH="368300" progId="Equation.3">
                  <p:embed/>
                  <p:pic>
                    <p:nvPicPr>
                      <p:cNvPr id="727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149725"/>
                        <a:ext cx="348615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3" name="Object 9"/>
          <p:cNvGraphicFramePr>
            <a:graphicFrameLocks noChangeAspect="1"/>
          </p:cNvGraphicFramePr>
          <p:nvPr/>
        </p:nvGraphicFramePr>
        <p:xfrm>
          <a:off x="3071813" y="5084763"/>
          <a:ext cx="36449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60500" imgH="368300" progId="Equation.3">
                  <p:embed/>
                </p:oleObj>
              </mc:Choice>
              <mc:Fallback>
                <p:oleObj name="公式" r:id="rId6" imgW="1460500" imgH="368300" progId="Equation.3">
                  <p:embed/>
                  <p:pic>
                    <p:nvPicPr>
                      <p:cNvPr id="727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5084763"/>
                        <a:ext cx="364490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297774-6DDD-65E0-F12C-0BB457F357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543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2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27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扩张原理</a:t>
            </a:r>
            <a:r>
              <a:rPr lang="en-US" altLang="zh-CN">
                <a:solidFill>
                  <a:srgbClr val="008000"/>
                </a:solidFill>
                <a:ea typeface="黑体" pitchFamily="49" charset="-122"/>
              </a:rPr>
              <a:t>Ⅰ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的性质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2977" y="1789112"/>
            <a:ext cx="9217023" cy="46878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ea typeface="黑体" pitchFamily="2" charset="-122"/>
              </a:rPr>
              <a:t>定理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2]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设 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 : U→V, A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黑体" pitchFamily="2" charset="-122"/>
                <a:sym typeface="Symbol" pitchFamily="18" charset="2"/>
              </a:rPr>
              <a:t>(U),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ea typeface="黑体" pitchFamily="2" charset="-122"/>
                <a:sym typeface="Symbol" pitchFamily="18" charset="2"/>
              </a:rPr>
              <a:t>则</a:t>
            </a:r>
            <a:r>
              <a:rPr kumimoji="1" lang="zh-CN" altLang="en-US" i="1" dirty="0">
                <a:solidFill>
                  <a:schemeClr val="bg2">
                    <a:lumMod val="75000"/>
                  </a:schemeClr>
                </a:solidFill>
                <a:ea typeface="黑体" pitchFamily="2" charset="-122"/>
                <a:sym typeface="Symbol" pitchFamily="18" charset="2"/>
              </a:rPr>
              <a:t>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黑体" pitchFamily="2" charset="-122"/>
                <a:sym typeface="Symbol" pitchFamily="18" charset="2"/>
              </a:rPr>
              <a:t>[0,1], </a:t>
            </a:r>
          </a:p>
          <a:p>
            <a:pPr eaLnBrk="1" hangingPunct="1">
              <a:lnSpc>
                <a:spcPct val="120000"/>
              </a:lnSpc>
              <a:defRPr/>
            </a:pPr>
            <a:endParaRPr lang="en-US" altLang="zh-CN" sz="1600" dirty="0">
              <a:solidFill>
                <a:schemeClr val="bg2">
                  <a:lumMod val="75000"/>
                </a:schemeClr>
              </a:solidFill>
              <a:ea typeface="黑体" pitchFamily="2" charset="-122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                     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  <a:ea typeface="楷体_GB2312" pitchFamily="49" charset="-122"/>
              </a:rPr>
              <a:t>         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  <a:ea typeface="楷体_GB2312" pitchFamily="49" charset="-122"/>
              </a:rPr>
              <a:t>成立的</a:t>
            </a:r>
            <a:r>
              <a:rPr lang="zh-CN" altLang="en-US" b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充分必要条件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3200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v</a:t>
            </a:r>
            <a:r>
              <a:rPr kumimoji="1" lang="en-US" altLang="zh-CN" sz="3200" dirty="0">
                <a:solidFill>
                  <a:srgbClr val="3333FF"/>
                </a:solidFill>
                <a:latin typeface="Monotype Corsiva" pitchFamily="66" charset="0"/>
                <a:ea typeface="黑体" pitchFamily="2" charset="-122"/>
              </a:rPr>
              <a:t> f</a:t>
            </a:r>
            <a:r>
              <a:rPr lang="en-US" altLang="zh-CN" sz="3200" dirty="0">
                <a:solidFill>
                  <a:srgbClr val="3333FF"/>
                </a:solidFill>
                <a:latin typeface="ITC Zapf Chancery" pitchFamily="66" charset="0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3200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(U), 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</a:t>
            </a:r>
            <a:r>
              <a:rPr lang="en-US" altLang="zh-CN" dirty="0">
                <a:solidFill>
                  <a:srgbClr val="3333FF"/>
                </a:solidFill>
                <a:cs typeface="Arial" charset="0"/>
              </a:rPr>
              <a:t>u</a:t>
            </a:r>
            <a:r>
              <a:rPr lang="en-US" altLang="zh-CN" baseline="-25000" dirty="0">
                <a:solidFill>
                  <a:srgbClr val="3333FF"/>
                </a:solidFill>
                <a:cs typeface="Arial" charset="0"/>
              </a:rPr>
              <a:t>0</a:t>
            </a:r>
            <a:r>
              <a:rPr lang="en-US" altLang="zh-CN" sz="3200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kumimoji="1" lang="en-US" altLang="zh-CN" sz="3200" dirty="0">
                <a:solidFill>
                  <a:srgbClr val="3333FF"/>
                </a:solidFill>
                <a:latin typeface="Monotype Corsiva" pitchFamily="66" charset="0"/>
                <a:ea typeface="黑体" pitchFamily="2" charset="-122"/>
              </a:rPr>
              <a:t> f</a:t>
            </a:r>
            <a:r>
              <a:rPr lang="en-US" altLang="zh-CN" sz="3200" dirty="0">
                <a:solidFill>
                  <a:srgbClr val="3333FF"/>
                </a:solidFill>
                <a:latin typeface="ITC Zapf Chancery" pitchFamily="66" charset="0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3200" baseline="30000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-1</a:t>
            </a:r>
            <a:r>
              <a:rPr lang="en-US" altLang="zh-CN" sz="3200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(v), </a:t>
            </a:r>
            <a:r>
              <a:rPr lang="zh-CN" altLang="en-US" sz="3200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使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rgbClr val="3333FF"/>
                </a:solidFill>
              </a:rPr>
              <a:t>         </a:t>
            </a:r>
            <a:r>
              <a:rPr kumimoji="1" lang="en-US" altLang="zh-CN" sz="3200" dirty="0">
                <a:solidFill>
                  <a:srgbClr val="3333FF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3200" dirty="0">
                <a:solidFill>
                  <a:srgbClr val="3333FF"/>
                </a:solidFill>
                <a:latin typeface="ITC Zapf Chancery" pitchFamily="66" charset="0"/>
              </a:rPr>
              <a:t> </a:t>
            </a:r>
            <a:r>
              <a:rPr lang="en-US" altLang="zh-CN" sz="3200" dirty="0">
                <a:solidFill>
                  <a:srgbClr val="3333FF"/>
                </a:solidFill>
              </a:rPr>
              <a:t>(A)(v)=A(u</a:t>
            </a:r>
            <a:r>
              <a:rPr lang="en-US" altLang="zh-CN" sz="3200" baseline="-25000" dirty="0">
                <a:solidFill>
                  <a:srgbClr val="3333FF"/>
                </a:solidFill>
                <a:cs typeface="Arial" charset="0"/>
              </a:rPr>
              <a:t>0</a:t>
            </a:r>
            <a:r>
              <a:rPr lang="en-US" altLang="zh-CN" sz="3200" dirty="0">
                <a:solidFill>
                  <a:srgbClr val="3333FF"/>
                </a:solidFill>
              </a:rPr>
              <a:t>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E9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即像中的任意一点的原像要在其逆像中</a:t>
            </a:r>
            <a:r>
              <a:rPr lang="en-US" altLang="zh-CN" sz="3200" b="1" dirty="0">
                <a:solidFill>
                  <a:srgbClr val="E9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  <a:endParaRPr lang="zh-CN" altLang="en-US" sz="3200" b="1" dirty="0">
              <a:solidFill>
                <a:srgbClr val="E9010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6963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05562288"/>
              </p:ext>
            </p:extLst>
          </p:nvPr>
        </p:nvGraphicFramePr>
        <p:xfrm>
          <a:off x="3172632" y="2532232"/>
          <a:ext cx="3085144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77900" imgH="228600" progId="Equation.3">
                  <p:embed/>
                </p:oleObj>
              </mc:Choice>
              <mc:Fallback>
                <p:oleObj name="公式" r:id="rId3" imgW="977900" imgH="228600" progId="Equation.3">
                  <p:embed/>
                  <p:pic>
                    <p:nvPicPr>
                      <p:cNvPr id="696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2632" y="2532232"/>
                        <a:ext cx="3085144" cy="720725"/>
                      </a:xfrm>
                      <a:prstGeom prst="rect">
                        <a:avLst/>
                      </a:prstGeom>
                      <a:solidFill>
                        <a:srgbClr val="FF99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BA9FFD2-ADD0-5DE8-86F4-7B69F059E4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F209AC-A2D1-49EF-BE0C-2B9240FE767E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347FF5-0B13-6AC1-5DCC-288EB217A4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53"/>
          <a:stretch>
            <a:fillRect/>
          </a:stretch>
        </p:blipFill>
        <p:spPr>
          <a:xfrm>
            <a:off x="7752184" y="2618269"/>
            <a:ext cx="4137075" cy="284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5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基于集合套的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扩张原理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Ⅰ]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等价定义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981200"/>
            <a:ext cx="8147050" cy="3886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黑体" pitchFamily="2" charset="-122"/>
              </a:rPr>
              <a:t>设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ITC Zapf Chancery" pitchFamily="66" charset="0"/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dirty="0"/>
              <a:t> : U→V,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则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黑体" pitchFamily="2" charset="-122"/>
                <a:sym typeface="Symbol" pitchFamily="18" charset="2"/>
              </a:rPr>
              <a:t>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可诱导出新映射</a:t>
            </a:r>
            <a:r>
              <a:rPr lang="zh-CN" altLang="en-US" dirty="0"/>
              <a:t>：</a:t>
            </a:r>
          </a:p>
          <a:p>
            <a:pPr lvl="1" eaLnBrk="1" hangingPunct="1">
              <a:defRPr/>
            </a:pPr>
            <a:r>
              <a:rPr lang="zh-CN" altLang="en-US" dirty="0"/>
              <a:t>   </a:t>
            </a:r>
            <a:r>
              <a:rPr lang="zh-CN" altLang="en-US" sz="3200" dirty="0">
                <a:solidFill>
                  <a:schemeClr val="bg2">
                    <a:lumMod val="75000"/>
                  </a:schemeClr>
                </a:solidFill>
                <a:latin typeface="ITC Zapf Chancery" pitchFamily="66" charset="0"/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sz="3200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3200" dirty="0">
                <a:solidFill>
                  <a:schemeClr val="bg2">
                    <a:lumMod val="75000"/>
                  </a:schemeClr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3200" dirty="0"/>
              <a:t> : </a:t>
            </a:r>
            <a:r>
              <a:rPr lang="en-US" altLang="zh-CN" sz="32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 </a:t>
            </a:r>
            <a:r>
              <a:rPr lang="en-US" altLang="zh-CN" sz="3200" dirty="0">
                <a:ea typeface="黑体" pitchFamily="2" charset="-122"/>
                <a:sym typeface="Symbol" pitchFamily="18" charset="2"/>
              </a:rPr>
              <a:t>(U) </a:t>
            </a:r>
            <a:r>
              <a:rPr lang="en-US" altLang="zh-CN" sz="3200" dirty="0"/>
              <a:t>→ </a:t>
            </a:r>
            <a:r>
              <a:rPr lang="en-US" altLang="zh-CN" sz="32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 </a:t>
            </a:r>
            <a:r>
              <a:rPr lang="en-US" altLang="zh-CN" sz="3200" dirty="0">
                <a:ea typeface="黑体" pitchFamily="2" charset="-122"/>
                <a:sym typeface="Symbol" pitchFamily="18" charset="2"/>
              </a:rPr>
              <a:t>(V)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3600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3600" dirty="0">
              <a:ea typeface="黑体" pitchFamily="2" charset="-122"/>
              <a:sym typeface="Symbol" pitchFamily="18" charset="2"/>
            </a:endParaRPr>
          </a:p>
          <a:p>
            <a:pPr lvl="1" eaLnBrk="1" hangingPunct="1">
              <a:defRPr/>
            </a:pPr>
            <a:r>
              <a:rPr lang="en-US" altLang="zh-CN" sz="3200" dirty="0">
                <a:ea typeface="黑体" pitchFamily="2" charset="-122"/>
                <a:sym typeface="Symbol" pitchFamily="18" charset="2"/>
              </a:rPr>
              <a:t>   </a:t>
            </a:r>
            <a:r>
              <a:rPr kumimoji="1" lang="en-US" altLang="zh-CN" sz="3200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3200" dirty="0">
                <a:solidFill>
                  <a:schemeClr val="bg2">
                    <a:lumMod val="75000"/>
                  </a:schemeClr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3200" baseline="30000" dirty="0"/>
              <a:t>-1</a:t>
            </a:r>
            <a:r>
              <a:rPr lang="en-US" altLang="zh-CN" sz="3200" dirty="0"/>
              <a:t>: </a:t>
            </a:r>
            <a:r>
              <a:rPr lang="en-US" altLang="zh-CN" sz="32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 </a:t>
            </a:r>
            <a:r>
              <a:rPr lang="en-US" altLang="zh-CN" sz="3200" dirty="0">
                <a:ea typeface="黑体" pitchFamily="2" charset="-122"/>
                <a:sym typeface="Symbol" pitchFamily="18" charset="2"/>
              </a:rPr>
              <a:t>(V) </a:t>
            </a:r>
            <a:r>
              <a:rPr lang="en-US" altLang="zh-CN" sz="3200" dirty="0"/>
              <a:t>→ </a:t>
            </a:r>
            <a:r>
              <a:rPr lang="en-US" altLang="zh-CN" sz="32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 </a:t>
            </a:r>
            <a:r>
              <a:rPr lang="en-US" altLang="zh-CN" sz="3200" dirty="0">
                <a:ea typeface="黑体" pitchFamily="2" charset="-122"/>
                <a:sym typeface="Symbol" pitchFamily="18" charset="2"/>
              </a:rPr>
              <a:t>(U)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kumimoji="1" lang="en-US" altLang="zh-CN" sz="2800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8192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79875" y="3357563"/>
          <a:ext cx="43910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511300" imgH="368300" progId="Equation.3">
                  <p:embed/>
                </p:oleObj>
              </mc:Choice>
              <mc:Fallback>
                <p:oleObj name="公式" r:id="rId3" imgW="1511300" imgH="368300" progId="Equation.3">
                  <p:embed/>
                  <p:pic>
                    <p:nvPicPr>
                      <p:cNvPr id="819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3357563"/>
                        <a:ext cx="4391025" cy="1069975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6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79875" y="5302250"/>
          <a:ext cx="5113338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739900" imgH="368300" progId="Equation.3">
                  <p:embed/>
                </p:oleObj>
              </mc:Choice>
              <mc:Fallback>
                <p:oleObj name="公式" r:id="rId5" imgW="1739900" imgH="368300" progId="Equation.3">
                  <p:embed/>
                  <p:pic>
                    <p:nvPicPr>
                      <p:cNvPr id="819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5302250"/>
                        <a:ext cx="5113338" cy="108267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8E6486-A1BA-E3D5-A8BA-B4C0326F4D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963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457200"/>
            <a:ext cx="10225136" cy="8842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基于集合套的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扩张原理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Ⅰ]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等价定义举例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3999" y="1557339"/>
            <a:ext cx="8604251" cy="5184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黑体" pitchFamily="2" charset="-122"/>
              </a:rPr>
              <a:t>设已知</a:t>
            </a:r>
            <a:r>
              <a:rPr lang="en-US" altLang="zh-CN" dirty="0">
                <a:ea typeface="黑体" pitchFamily="2" charset="-122"/>
              </a:rPr>
              <a:t>U={1,2,3}</a:t>
            </a:r>
            <a:r>
              <a:rPr lang="zh-CN" altLang="en-US" dirty="0">
                <a:ea typeface="黑体" pitchFamily="2" charset="-122"/>
              </a:rPr>
              <a:t>，</a:t>
            </a:r>
            <a:endParaRPr lang="en-US" altLang="zh-CN" dirty="0">
              <a:ea typeface="黑体" pitchFamily="2" charset="-122"/>
            </a:endParaRPr>
          </a:p>
          <a:p>
            <a:pPr eaLnBrk="1" hangingPunct="1">
              <a:defRPr/>
            </a:pPr>
            <a:r>
              <a:rPr lang="zh-CN" altLang="en-US" dirty="0">
                <a:ea typeface="黑体" pitchFamily="2" charset="-122"/>
              </a:rPr>
              <a:t>则有</a:t>
            </a:r>
            <a:endParaRPr lang="en-US" altLang="zh-CN" dirty="0">
              <a:ea typeface="黑体" pitchFamily="2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ITC Zapf Chancery" pitchFamily="66" charset="0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0.5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={1, 2, 3}, A</a:t>
            </a:r>
            <a:r>
              <a:rPr lang="en-US" altLang="zh-CN" baseline="-25000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0.7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={2, 3}, A</a:t>
            </a:r>
            <a:r>
              <a:rPr lang="en-US" altLang="zh-CN" baseline="-25000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0.9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={ 3}, </a:t>
            </a:r>
          </a:p>
          <a:p>
            <a:pPr eaLnBrk="1" hangingPunct="1">
              <a:defRPr/>
            </a:pPr>
            <a:r>
              <a:rPr kumimoji="1"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(x)=x</a:t>
            </a:r>
            <a:r>
              <a:rPr lang="en-US" altLang="zh-CN" baseline="30000" dirty="0">
                <a:solidFill>
                  <a:srgbClr val="FF0000"/>
                </a:solidFill>
              </a:rPr>
              <a:t>2</a:t>
            </a:r>
            <a:r>
              <a:rPr lang="zh-CN" altLang="en-US" dirty="0"/>
              <a:t>，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则有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ITC Zapf Chancery" pitchFamily="66" charset="0"/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/>
              <a:t> </a:t>
            </a:r>
            <a:r>
              <a:rPr lang="en-US" altLang="zh-CN" dirty="0">
                <a:latin typeface="+mj-lt"/>
              </a:rPr>
              <a:t>(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0.5</a:t>
            </a:r>
            <a:r>
              <a:rPr lang="en-US" altLang="zh-CN" dirty="0">
                <a:latin typeface="+mj-lt"/>
              </a:rPr>
              <a:t>)=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{1, 4, 9}, 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/>
              <a:t> </a:t>
            </a:r>
            <a:r>
              <a:rPr lang="en-US" altLang="zh-CN" dirty="0">
                <a:latin typeface="+mj-lt"/>
              </a:rPr>
              <a:t>(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0.7</a:t>
            </a:r>
            <a:r>
              <a:rPr lang="en-US" altLang="zh-CN" dirty="0">
                <a:latin typeface="+mj-lt"/>
              </a:rPr>
              <a:t>)=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{ 4, 9}, 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/>
              <a:t> </a:t>
            </a:r>
            <a:r>
              <a:rPr lang="en-US" altLang="zh-CN" dirty="0">
                <a:latin typeface="+mj-lt"/>
              </a:rPr>
              <a:t>(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0.9</a:t>
            </a:r>
            <a:r>
              <a:rPr lang="en-US" altLang="zh-CN" dirty="0">
                <a:latin typeface="+mj-lt"/>
              </a:rPr>
              <a:t>)=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+mj-lt"/>
                <a:ea typeface="黑体" pitchFamily="2" charset="-122"/>
                <a:sym typeface="Symbol" pitchFamily="18" charset="2"/>
              </a:rPr>
              <a:t>{9}, 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CC0099"/>
                </a:solidFill>
                <a:latin typeface="ITC Zapf Chancery" pitchFamily="66" charset="0"/>
                <a:ea typeface="黑体" pitchFamily="2" charset="-122"/>
                <a:sym typeface="Symbol" pitchFamily="18" charset="2"/>
              </a:rPr>
              <a:t>则 </a:t>
            </a:r>
            <a:r>
              <a:rPr lang="en-US" altLang="zh-CN" sz="2800" dirty="0">
                <a:solidFill>
                  <a:srgbClr val="CC0099"/>
                </a:solidFill>
                <a:latin typeface="+mj-lt"/>
                <a:ea typeface="黑体" pitchFamily="2" charset="-122"/>
                <a:sym typeface="Symbol" pitchFamily="18" charset="2"/>
              </a:rPr>
              <a:t>0.5</a:t>
            </a:r>
            <a:r>
              <a:rPr lang="zh-CN" altLang="en-US" sz="2800" dirty="0">
                <a:solidFill>
                  <a:srgbClr val="CC0099"/>
                </a:solidFill>
                <a:latin typeface="+mj-lt"/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sz="2800" dirty="0">
                <a:solidFill>
                  <a:srgbClr val="CC0099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dirty="0">
                <a:solidFill>
                  <a:srgbClr val="CC0099"/>
                </a:solidFill>
              </a:rPr>
              <a:t> (</a:t>
            </a:r>
            <a:r>
              <a:rPr lang="en-US" altLang="zh-CN" sz="2800" dirty="0">
                <a:solidFill>
                  <a:srgbClr val="CC0099"/>
                </a:solidFill>
                <a:latin typeface="+mj-lt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800" baseline="-25000" dirty="0">
                <a:solidFill>
                  <a:srgbClr val="CC0099"/>
                </a:solidFill>
                <a:latin typeface="+mj-lt"/>
                <a:ea typeface="黑体" pitchFamily="2" charset="-122"/>
                <a:sym typeface="Symbol" pitchFamily="18" charset="2"/>
              </a:rPr>
              <a:t>0.5</a:t>
            </a:r>
            <a:r>
              <a:rPr lang="en-US" altLang="zh-CN" sz="2800" dirty="0">
                <a:solidFill>
                  <a:srgbClr val="CC0099"/>
                </a:solidFill>
              </a:rPr>
              <a:t>)</a:t>
            </a:r>
            <a:r>
              <a:rPr lang="en-US" altLang="zh-CN" sz="2800" dirty="0">
                <a:solidFill>
                  <a:srgbClr val="CC0099"/>
                </a:solidFill>
                <a:ea typeface="黑体" pitchFamily="2" charset="-122"/>
              </a:rPr>
              <a:t> </a:t>
            </a:r>
            <a:r>
              <a:rPr lang="en-US" altLang="zh-CN" sz="2800" dirty="0">
                <a:solidFill>
                  <a:srgbClr val="CC0099"/>
                </a:solidFill>
                <a:latin typeface="+mj-lt"/>
                <a:ea typeface="黑体" pitchFamily="2" charset="-122"/>
                <a:sym typeface="Symbol"/>
              </a:rPr>
              <a:t></a:t>
            </a:r>
            <a:r>
              <a:rPr lang="en-US" altLang="zh-CN" sz="2800" dirty="0">
                <a:solidFill>
                  <a:srgbClr val="CC0099"/>
                </a:solidFill>
                <a:latin typeface="+mj-lt"/>
                <a:ea typeface="黑体" pitchFamily="2" charset="-122"/>
              </a:rPr>
              <a:t> </a:t>
            </a:r>
            <a:r>
              <a:rPr lang="en-US" altLang="zh-CN" sz="2800" dirty="0">
                <a:solidFill>
                  <a:srgbClr val="CC0099"/>
                </a:solidFill>
                <a:latin typeface="+mj-lt"/>
              </a:rPr>
              <a:t>0.7</a:t>
            </a:r>
            <a:r>
              <a:rPr lang="en-US" altLang="zh-CN" sz="2800" dirty="0">
                <a:solidFill>
                  <a:srgbClr val="CC0099"/>
                </a:solidFill>
                <a:latin typeface="+mj-lt"/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sz="2800" dirty="0">
                <a:solidFill>
                  <a:srgbClr val="CC0099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dirty="0">
                <a:solidFill>
                  <a:srgbClr val="CC0099"/>
                </a:solidFill>
              </a:rPr>
              <a:t> (</a:t>
            </a:r>
            <a:r>
              <a:rPr lang="en-US" altLang="zh-CN" sz="2800" dirty="0">
                <a:solidFill>
                  <a:srgbClr val="CC0099"/>
                </a:solidFill>
                <a:latin typeface="+mj-lt"/>
                <a:ea typeface="黑体" pitchFamily="2" charset="-122"/>
                <a:cs typeface="DokChampa" panose="020B0604020202020204" pitchFamily="34" charset="-34"/>
                <a:sym typeface="Symbol" pitchFamily="18" charset="2"/>
              </a:rPr>
              <a:t>A</a:t>
            </a:r>
            <a:r>
              <a:rPr lang="en-US" altLang="zh-CN" sz="2800" baseline="-25000" dirty="0">
                <a:solidFill>
                  <a:srgbClr val="CC0099"/>
                </a:solidFill>
                <a:latin typeface="+mj-lt"/>
                <a:ea typeface="黑体" pitchFamily="2" charset="-122"/>
                <a:cs typeface="DokChampa" panose="020B0604020202020204" pitchFamily="34" charset="-34"/>
                <a:sym typeface="Symbol" pitchFamily="18" charset="2"/>
              </a:rPr>
              <a:t>0.7</a:t>
            </a:r>
            <a:r>
              <a:rPr lang="en-US" altLang="zh-CN" sz="2800" dirty="0">
                <a:solidFill>
                  <a:srgbClr val="CC0099"/>
                </a:solidFill>
              </a:rPr>
              <a:t>)</a:t>
            </a:r>
            <a:r>
              <a:rPr lang="en-US" altLang="zh-CN" sz="2800" dirty="0">
                <a:solidFill>
                  <a:srgbClr val="CC0099"/>
                </a:solidFill>
                <a:ea typeface="黑体" pitchFamily="2" charset="-122"/>
              </a:rPr>
              <a:t> </a:t>
            </a:r>
            <a:r>
              <a:rPr lang="en-US" altLang="zh-CN" sz="2800" dirty="0">
                <a:solidFill>
                  <a:srgbClr val="CC0099"/>
                </a:solidFill>
                <a:ea typeface="黑体" pitchFamily="2" charset="-122"/>
                <a:sym typeface="Symbol"/>
              </a:rPr>
              <a:t> </a:t>
            </a:r>
            <a:r>
              <a:rPr lang="en-US" altLang="zh-CN" sz="2800" dirty="0">
                <a:solidFill>
                  <a:srgbClr val="CC0099"/>
                </a:solidFill>
                <a:ea typeface="黑体" pitchFamily="2" charset="-122"/>
              </a:rPr>
              <a:t> </a:t>
            </a:r>
            <a:r>
              <a:rPr lang="en-US" altLang="zh-CN" sz="2800" dirty="0">
                <a:solidFill>
                  <a:srgbClr val="CC0099"/>
                </a:solidFill>
              </a:rPr>
              <a:t>0.9</a:t>
            </a:r>
            <a:r>
              <a:rPr lang="en-US" altLang="zh-CN" sz="2800" dirty="0">
                <a:solidFill>
                  <a:srgbClr val="CC0099"/>
                </a:solidFill>
                <a:latin typeface="ITC Zapf Chancery" pitchFamily="66" charset="0"/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sz="2800" dirty="0">
                <a:solidFill>
                  <a:srgbClr val="CC0099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dirty="0">
                <a:solidFill>
                  <a:srgbClr val="CC0099"/>
                </a:solidFill>
              </a:rPr>
              <a:t> (</a:t>
            </a:r>
            <a:r>
              <a:rPr lang="en-US" altLang="zh-CN" sz="2800" dirty="0">
                <a:solidFill>
                  <a:srgbClr val="CC0099"/>
                </a:solidFill>
                <a:latin typeface="+mj-lt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800" baseline="-25000" dirty="0">
                <a:solidFill>
                  <a:srgbClr val="CC0099"/>
                </a:solidFill>
                <a:latin typeface="+mj-lt"/>
                <a:ea typeface="黑体" pitchFamily="2" charset="-122"/>
                <a:sym typeface="Symbol" pitchFamily="18" charset="2"/>
              </a:rPr>
              <a:t>0.9</a:t>
            </a:r>
            <a:r>
              <a:rPr lang="en-US" altLang="zh-CN" sz="2800" dirty="0">
                <a:solidFill>
                  <a:srgbClr val="CC0099"/>
                </a:solidFill>
              </a:rPr>
              <a:t>)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ITC Zapf Chancery" pitchFamily="66" charset="0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ITC Zapf Chancery" pitchFamily="66" charset="0"/>
                <a:ea typeface="黑体" pitchFamily="2" charset="-122"/>
                <a:sym typeface="Symbol" pitchFamily="18" charset="2"/>
              </a:rPr>
              <a:t> </a:t>
            </a:r>
          </a:p>
          <a:p>
            <a:pPr lvl="1" eaLnBrk="1" hangingPunct="1">
              <a:defRPr/>
            </a:pPr>
            <a:endParaRPr lang="en-US" altLang="zh-CN" dirty="0">
              <a:solidFill>
                <a:schemeClr val="bg2">
                  <a:lumMod val="75000"/>
                </a:schemeClr>
              </a:solidFill>
              <a:latin typeface="ITC Zapf Chancery" pitchFamily="66" charset="0"/>
              <a:ea typeface="黑体" pitchFamily="2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kumimoji="1" lang="en-US" altLang="zh-CN" sz="2800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8192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724123425"/>
              </p:ext>
            </p:extLst>
          </p:nvPr>
        </p:nvGraphicFramePr>
        <p:xfrm>
          <a:off x="5231904" y="1426369"/>
          <a:ext cx="277812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05977" imgH="393529" progId="Equation.3">
                  <p:embed/>
                </p:oleObj>
              </mc:Choice>
              <mc:Fallback>
                <p:oleObj name="公式" r:id="rId3" imgW="1205977" imgH="393529" progId="Equation.3">
                  <p:embed/>
                  <p:pic>
                    <p:nvPicPr>
                      <p:cNvPr id="819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1426369"/>
                        <a:ext cx="2778125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6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348756453"/>
              </p:ext>
            </p:extLst>
          </p:nvPr>
        </p:nvGraphicFramePr>
        <p:xfrm>
          <a:off x="2075184" y="4978400"/>
          <a:ext cx="517207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63480" imgH="431640" progId="Equation.DSMT4">
                  <p:embed/>
                </p:oleObj>
              </mc:Choice>
              <mc:Fallback>
                <p:oleObj name="Equation" r:id="rId5" imgW="2463480" imgH="431640" progId="Equation.DSMT4">
                  <p:embed/>
                  <p:pic>
                    <p:nvPicPr>
                      <p:cNvPr id="819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5184" y="4978400"/>
                        <a:ext cx="517207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9051682"/>
              </p:ext>
            </p:extLst>
          </p:nvPr>
        </p:nvGraphicFramePr>
        <p:xfrm>
          <a:off x="2063552" y="5833318"/>
          <a:ext cx="35385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36480" imgH="393480" progId="Equation.DSMT4">
                  <p:embed/>
                </p:oleObj>
              </mc:Choice>
              <mc:Fallback>
                <p:oleObj name="Equation" r:id="rId7" imgW="1536480" imgH="39348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5833318"/>
                        <a:ext cx="3538537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54419"/>
              </p:ext>
            </p:extLst>
          </p:nvPr>
        </p:nvGraphicFramePr>
        <p:xfrm>
          <a:off x="8423794" y="5752355"/>
          <a:ext cx="343217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181100" imgH="368300" progId="Equation.3">
                  <p:embed/>
                </p:oleObj>
              </mc:Choice>
              <mc:Fallback>
                <p:oleObj name="公式" r:id="rId9" imgW="1181100" imgH="36830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3794" y="5752355"/>
                        <a:ext cx="3432175" cy="106997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E64B84-DC9D-A8E0-BD5C-824110573A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07324"/>
            <a:ext cx="551184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721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5" name="Object 3">
            <a:extLst>
              <a:ext uri="{FF2B5EF4-FFF2-40B4-BE49-F238E27FC236}">
                <a16:creationId xmlns:a16="http://schemas.microsoft.com/office/drawing/2014/main" id="{38B2DF32-9014-75B2-76A8-D83135D168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486110"/>
              </p:ext>
            </p:extLst>
          </p:nvPr>
        </p:nvGraphicFramePr>
        <p:xfrm>
          <a:off x="1271464" y="1098551"/>
          <a:ext cx="563245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838080" progId="Equation.DSMT4">
                  <p:embed/>
                </p:oleObj>
              </mc:Choice>
              <mc:Fallback>
                <p:oleObj name="Equation" r:id="rId2" imgW="2717640" imgH="838080" progId="Equation.DSMT4">
                  <p:embed/>
                  <p:pic>
                    <p:nvPicPr>
                      <p:cNvPr id="84995" name="Object 3">
                        <a:extLst>
                          <a:ext uri="{FF2B5EF4-FFF2-40B4-BE49-F238E27FC236}">
                            <a16:creationId xmlns:a16="http://schemas.microsoft.com/office/drawing/2014/main" id="{38B2DF32-9014-75B2-76A8-D83135D168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098551"/>
                        <a:ext cx="5632450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6" name="Object 4">
            <a:extLst>
              <a:ext uri="{FF2B5EF4-FFF2-40B4-BE49-F238E27FC236}">
                <a16:creationId xmlns:a16="http://schemas.microsoft.com/office/drawing/2014/main" id="{B2899A5F-86EB-C0EF-4AA6-9CBE7C86D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030078"/>
              </p:ext>
            </p:extLst>
          </p:nvPr>
        </p:nvGraphicFramePr>
        <p:xfrm>
          <a:off x="7248128" y="1728789"/>
          <a:ext cx="2868612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480" imgH="304560" progId="Equation.DSMT4">
                  <p:embed/>
                </p:oleObj>
              </mc:Choice>
              <mc:Fallback>
                <p:oleObj name="Equation" r:id="rId4" imgW="1320480" imgH="304560" progId="Equation.DSMT4">
                  <p:embed/>
                  <p:pic>
                    <p:nvPicPr>
                      <p:cNvPr id="84996" name="Object 4">
                        <a:extLst>
                          <a:ext uri="{FF2B5EF4-FFF2-40B4-BE49-F238E27FC236}">
                            <a16:creationId xmlns:a16="http://schemas.microsoft.com/office/drawing/2014/main" id="{B2899A5F-86EB-C0EF-4AA6-9CBE7C86D9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128" y="1728789"/>
                        <a:ext cx="2868612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7" name="Object 5">
            <a:extLst>
              <a:ext uri="{FF2B5EF4-FFF2-40B4-BE49-F238E27FC236}">
                <a16:creationId xmlns:a16="http://schemas.microsoft.com/office/drawing/2014/main" id="{5E6DCF5A-D545-DA55-3358-AAF0253536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256483"/>
              </p:ext>
            </p:extLst>
          </p:nvPr>
        </p:nvGraphicFramePr>
        <p:xfrm>
          <a:off x="1271464" y="2943226"/>
          <a:ext cx="45323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760" imgH="291960" progId="Equation.DSMT4">
                  <p:embed/>
                </p:oleObj>
              </mc:Choice>
              <mc:Fallback>
                <p:oleObj name="Equation" r:id="rId6" imgW="1904760" imgH="291960" progId="Equation.DSMT4">
                  <p:embed/>
                  <p:pic>
                    <p:nvPicPr>
                      <p:cNvPr id="84997" name="Object 5">
                        <a:extLst>
                          <a:ext uri="{FF2B5EF4-FFF2-40B4-BE49-F238E27FC236}">
                            <a16:creationId xmlns:a16="http://schemas.microsoft.com/office/drawing/2014/main" id="{5E6DCF5A-D545-DA55-3358-AAF0253536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2943226"/>
                        <a:ext cx="45323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9" name="Object 7">
            <a:extLst>
              <a:ext uri="{FF2B5EF4-FFF2-40B4-BE49-F238E27FC236}">
                <a16:creationId xmlns:a16="http://schemas.microsoft.com/office/drawing/2014/main" id="{C139790A-D850-36CE-F62D-B424D35787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862818"/>
              </p:ext>
            </p:extLst>
          </p:nvPr>
        </p:nvGraphicFramePr>
        <p:xfrm>
          <a:off x="5803777" y="2942712"/>
          <a:ext cx="314166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20480" imgH="304560" progId="Equation.DSMT4">
                  <p:embed/>
                </p:oleObj>
              </mc:Choice>
              <mc:Fallback>
                <p:oleObj name="Equation" r:id="rId8" imgW="1320480" imgH="304560" progId="Equation.DSMT4">
                  <p:embed/>
                  <p:pic>
                    <p:nvPicPr>
                      <p:cNvPr id="84999" name="Object 7">
                        <a:extLst>
                          <a:ext uri="{FF2B5EF4-FFF2-40B4-BE49-F238E27FC236}">
                            <a16:creationId xmlns:a16="http://schemas.microsoft.com/office/drawing/2014/main" id="{C139790A-D850-36CE-F62D-B424D35787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777" y="2942712"/>
                        <a:ext cx="3141663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0" name="Object 8">
            <a:extLst>
              <a:ext uri="{FF2B5EF4-FFF2-40B4-BE49-F238E27FC236}">
                <a16:creationId xmlns:a16="http://schemas.microsoft.com/office/drawing/2014/main" id="{08228A5A-71B8-89A0-FFDE-1D9A5AB595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907460"/>
              </p:ext>
            </p:extLst>
          </p:nvPr>
        </p:nvGraphicFramePr>
        <p:xfrm>
          <a:off x="2711624" y="3827464"/>
          <a:ext cx="46021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42920" imgH="304560" progId="Equation.DSMT4">
                  <p:embed/>
                </p:oleObj>
              </mc:Choice>
              <mc:Fallback>
                <p:oleObj name="Equation" r:id="rId10" imgW="1942920" imgH="304560" progId="Equation.DSMT4">
                  <p:embed/>
                  <p:pic>
                    <p:nvPicPr>
                      <p:cNvPr id="85000" name="Object 8">
                        <a:extLst>
                          <a:ext uri="{FF2B5EF4-FFF2-40B4-BE49-F238E27FC236}">
                            <a16:creationId xmlns:a16="http://schemas.microsoft.com/office/drawing/2014/main" id="{08228A5A-71B8-89A0-FFDE-1D9A5AB595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3827464"/>
                        <a:ext cx="460216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1" name="Object 9">
            <a:extLst>
              <a:ext uri="{FF2B5EF4-FFF2-40B4-BE49-F238E27FC236}">
                <a16:creationId xmlns:a16="http://schemas.microsoft.com/office/drawing/2014/main" id="{2A5D90C1-0515-6938-7001-2954FFDEFC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6182" y="4682565"/>
          <a:ext cx="3949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49560" imgH="431640" progId="Equation.3">
                  <p:embed/>
                </p:oleObj>
              </mc:Choice>
              <mc:Fallback>
                <p:oleObj name="Equation" r:id="rId12" imgW="3949560" imgH="431640" progId="Equation.3">
                  <p:embed/>
                  <p:pic>
                    <p:nvPicPr>
                      <p:cNvPr id="85001" name="Object 9">
                        <a:extLst>
                          <a:ext uri="{FF2B5EF4-FFF2-40B4-BE49-F238E27FC236}">
                            <a16:creationId xmlns:a16="http://schemas.microsoft.com/office/drawing/2014/main" id="{2A5D90C1-0515-6938-7001-2954FFDEFC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182" y="4682565"/>
                        <a:ext cx="3949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2" name="Object 10">
            <a:extLst>
              <a:ext uri="{FF2B5EF4-FFF2-40B4-BE49-F238E27FC236}">
                <a16:creationId xmlns:a16="http://schemas.microsoft.com/office/drawing/2014/main" id="{27C7AFB1-1EC9-A6DA-D839-D49F42CB47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6182" y="5341797"/>
          <a:ext cx="1993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93680" imgH="380880" progId="Equation.3">
                  <p:embed/>
                </p:oleObj>
              </mc:Choice>
              <mc:Fallback>
                <p:oleObj name="Equation" r:id="rId14" imgW="1993680" imgH="380880" progId="Equation.3">
                  <p:embed/>
                  <p:pic>
                    <p:nvPicPr>
                      <p:cNvPr id="85002" name="Object 10">
                        <a:extLst>
                          <a:ext uri="{FF2B5EF4-FFF2-40B4-BE49-F238E27FC236}">
                            <a16:creationId xmlns:a16="http://schemas.microsoft.com/office/drawing/2014/main" id="{27C7AFB1-1EC9-A6DA-D839-D49F42CB47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182" y="5341797"/>
                        <a:ext cx="1993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3" name="Object 11">
            <a:extLst>
              <a:ext uri="{FF2B5EF4-FFF2-40B4-BE49-F238E27FC236}">
                <a16:creationId xmlns:a16="http://schemas.microsoft.com/office/drawing/2014/main" id="{35821F25-6022-2EA1-D24C-BD401F708A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376775"/>
              </p:ext>
            </p:extLst>
          </p:nvPr>
        </p:nvGraphicFramePr>
        <p:xfrm>
          <a:off x="4943872" y="5321300"/>
          <a:ext cx="31146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20480" imgH="177480" progId="Equation.DSMT4">
                  <p:embed/>
                </p:oleObj>
              </mc:Choice>
              <mc:Fallback>
                <p:oleObj name="Equation" r:id="rId16" imgW="1320480" imgH="177480" progId="Equation.DSMT4">
                  <p:embed/>
                  <p:pic>
                    <p:nvPicPr>
                      <p:cNvPr id="85003" name="Object 11">
                        <a:extLst>
                          <a:ext uri="{FF2B5EF4-FFF2-40B4-BE49-F238E27FC236}">
                            <a16:creationId xmlns:a16="http://schemas.microsoft.com/office/drawing/2014/main" id="{35821F25-6022-2EA1-D24C-BD401F708A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872" y="5321300"/>
                        <a:ext cx="31146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A29F3090-5318-2D7F-2B08-AEE1AF14B524}"/>
              </a:ext>
            </a:extLst>
          </p:cNvPr>
          <p:cNvSpPr txBox="1">
            <a:spLocks noChangeArrowheads="1"/>
          </p:cNvSpPr>
          <p:nvPr/>
        </p:nvSpPr>
        <p:spPr>
          <a:xfrm>
            <a:off x="1880689" y="318295"/>
            <a:ext cx="8229600" cy="102711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kern="0" dirty="0">
                <a:solidFill>
                  <a:srgbClr val="008000"/>
                </a:solidFill>
                <a:ea typeface="黑体" pitchFamily="49" charset="-122"/>
              </a:rPr>
              <a:t>例：由区间套确定</a:t>
            </a:r>
            <a:r>
              <a:rPr lang="en-US" altLang="zh-CN" kern="0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kern="0" dirty="0">
                <a:solidFill>
                  <a:srgbClr val="008000"/>
                </a:solidFill>
                <a:ea typeface="黑体" pitchFamily="49" charset="-122"/>
              </a:rPr>
              <a:t>集</a:t>
            </a:r>
            <a:r>
              <a:rPr lang="en-US" altLang="zh-CN" kern="0" dirty="0">
                <a:solidFill>
                  <a:srgbClr val="008000"/>
                </a:solidFill>
                <a:ea typeface="黑体" pitchFamily="49" charset="-122"/>
              </a:rPr>
              <a:t>A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38A14C6-79BC-4A34-B206-9BAFD92C67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783076"/>
              </p:ext>
            </p:extLst>
          </p:nvPr>
        </p:nvGraphicFramePr>
        <p:xfrm>
          <a:off x="1631504" y="5934075"/>
          <a:ext cx="3768725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65080" imgH="393480" progId="Equation.DSMT4">
                  <p:embed/>
                </p:oleObj>
              </mc:Choice>
              <mc:Fallback>
                <p:oleObj name="Equation" r:id="rId18" imgW="1765080" imgH="3934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038A14C6-79BC-4A34-B206-9BAFD92C67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5934075"/>
                        <a:ext cx="3768725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1F6F5CD8-6BD6-BB0D-44BE-8363E87343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263389"/>
              </p:ext>
            </p:extLst>
          </p:nvPr>
        </p:nvGraphicFramePr>
        <p:xfrm>
          <a:off x="5770876" y="5913926"/>
          <a:ext cx="36036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88760" imgH="431640" progId="Equation.DSMT4">
                  <p:embed/>
                </p:oleObj>
              </mc:Choice>
              <mc:Fallback>
                <p:oleObj name="Equation" r:id="rId20" imgW="1688760" imgH="43164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1F6F5CD8-6BD6-BB0D-44BE-8363E87343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0876" y="5913926"/>
                        <a:ext cx="360362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F68163-E11C-8B8C-B701-AC11506106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4E7B3B-8E05-4BC4-9AF9-3DBED8B94089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21" name="Object 5">
            <a:extLst>
              <a:ext uri="{FF2B5EF4-FFF2-40B4-BE49-F238E27FC236}">
                <a16:creationId xmlns:a16="http://schemas.microsoft.com/office/drawing/2014/main" id="{AA5E8DC3-73F5-58EE-A3BF-A2B302699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452476"/>
              </p:ext>
            </p:extLst>
          </p:nvPr>
        </p:nvGraphicFramePr>
        <p:xfrm>
          <a:off x="1343472" y="1427168"/>
          <a:ext cx="3312368" cy="76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393480" progId="Equation.DSMT4">
                  <p:embed/>
                </p:oleObj>
              </mc:Choice>
              <mc:Fallback>
                <p:oleObj name="Equation" r:id="rId2" imgW="1701720" imgH="393480" progId="Equation.DSMT4">
                  <p:embed/>
                  <p:pic>
                    <p:nvPicPr>
                      <p:cNvPr id="86021" name="Object 5">
                        <a:extLst>
                          <a:ext uri="{FF2B5EF4-FFF2-40B4-BE49-F238E27FC236}">
                            <a16:creationId xmlns:a16="http://schemas.microsoft.com/office/drawing/2014/main" id="{AA5E8DC3-73F5-58EE-A3BF-A2B302699D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1427168"/>
                        <a:ext cx="3312368" cy="767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6">
            <a:extLst>
              <a:ext uri="{FF2B5EF4-FFF2-40B4-BE49-F238E27FC236}">
                <a16:creationId xmlns:a16="http://schemas.microsoft.com/office/drawing/2014/main" id="{B591858F-04A1-7CEC-D5B1-AB42467B47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582170"/>
              </p:ext>
            </p:extLst>
          </p:nvPr>
        </p:nvGraphicFramePr>
        <p:xfrm>
          <a:off x="1348136" y="2429462"/>
          <a:ext cx="258762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393480" progId="Equation.DSMT4">
                  <p:embed/>
                </p:oleObj>
              </mc:Choice>
              <mc:Fallback>
                <p:oleObj name="Equation" r:id="rId4" imgW="1346040" imgH="393480" progId="Equation.DSMT4">
                  <p:embed/>
                  <p:pic>
                    <p:nvPicPr>
                      <p:cNvPr id="86022" name="Object 6">
                        <a:extLst>
                          <a:ext uri="{FF2B5EF4-FFF2-40B4-BE49-F238E27FC236}">
                            <a16:creationId xmlns:a16="http://schemas.microsoft.com/office/drawing/2014/main" id="{B591858F-04A1-7CEC-D5B1-AB42467B47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136" y="2429462"/>
                        <a:ext cx="2587625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7">
            <a:extLst>
              <a:ext uri="{FF2B5EF4-FFF2-40B4-BE49-F238E27FC236}">
                <a16:creationId xmlns:a16="http://schemas.microsoft.com/office/drawing/2014/main" id="{01EF44D7-93BA-FB46-94B6-E9A96F3F8E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126947"/>
              </p:ext>
            </p:extLst>
          </p:nvPr>
        </p:nvGraphicFramePr>
        <p:xfrm>
          <a:off x="1378025" y="3334096"/>
          <a:ext cx="2692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040" imgH="393480" progId="Equation.DSMT4">
                  <p:embed/>
                </p:oleObj>
              </mc:Choice>
              <mc:Fallback>
                <p:oleObj name="Equation" r:id="rId6" imgW="1346040" imgH="393480" progId="Equation.DSMT4">
                  <p:embed/>
                  <p:pic>
                    <p:nvPicPr>
                      <p:cNvPr id="86023" name="Object 7">
                        <a:extLst>
                          <a:ext uri="{FF2B5EF4-FFF2-40B4-BE49-F238E27FC236}">
                            <a16:creationId xmlns:a16="http://schemas.microsoft.com/office/drawing/2014/main" id="{01EF44D7-93BA-FB46-94B6-E9A96F3F8E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025" y="3334096"/>
                        <a:ext cx="2692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8">
            <a:extLst>
              <a:ext uri="{FF2B5EF4-FFF2-40B4-BE49-F238E27FC236}">
                <a16:creationId xmlns:a16="http://schemas.microsoft.com/office/drawing/2014/main" id="{BD8EF63A-83E9-610E-DAB8-CED557D1E4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720306"/>
              </p:ext>
            </p:extLst>
          </p:nvPr>
        </p:nvGraphicFramePr>
        <p:xfrm>
          <a:off x="4079776" y="2387600"/>
          <a:ext cx="45481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73040" imgH="431640" progId="Equation.DSMT4">
                  <p:embed/>
                </p:oleObj>
              </mc:Choice>
              <mc:Fallback>
                <p:oleObj name="Equation" r:id="rId8" imgW="2273040" imgH="431640" progId="Equation.DSMT4">
                  <p:embed/>
                  <p:pic>
                    <p:nvPicPr>
                      <p:cNvPr id="86024" name="Object 8">
                        <a:extLst>
                          <a:ext uri="{FF2B5EF4-FFF2-40B4-BE49-F238E27FC236}">
                            <a16:creationId xmlns:a16="http://schemas.microsoft.com/office/drawing/2014/main" id="{BD8EF63A-83E9-610E-DAB8-CED557D1E4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76" y="2387600"/>
                        <a:ext cx="45481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5" name="Object 9">
            <a:extLst>
              <a:ext uri="{FF2B5EF4-FFF2-40B4-BE49-F238E27FC236}">
                <a16:creationId xmlns:a16="http://schemas.microsoft.com/office/drawing/2014/main" id="{9A4808C4-1DC6-A785-C15E-4C3EAC2F8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391457"/>
              </p:ext>
            </p:extLst>
          </p:nvPr>
        </p:nvGraphicFramePr>
        <p:xfrm>
          <a:off x="4151784" y="3306763"/>
          <a:ext cx="4546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73040" imgH="431640" progId="Equation.DSMT4">
                  <p:embed/>
                </p:oleObj>
              </mc:Choice>
              <mc:Fallback>
                <p:oleObj name="Equation" r:id="rId10" imgW="2273040" imgH="431640" progId="Equation.DSMT4">
                  <p:embed/>
                  <p:pic>
                    <p:nvPicPr>
                      <p:cNvPr id="86025" name="Object 9">
                        <a:extLst>
                          <a:ext uri="{FF2B5EF4-FFF2-40B4-BE49-F238E27FC236}">
                            <a16:creationId xmlns:a16="http://schemas.microsoft.com/office/drawing/2014/main" id="{9A4808C4-1DC6-A785-C15E-4C3EAC2F81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4" y="3306763"/>
                        <a:ext cx="4546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A8B8BA00-E28A-B570-1371-F946330C5C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030095"/>
              </p:ext>
            </p:extLst>
          </p:nvPr>
        </p:nvGraphicFramePr>
        <p:xfrm>
          <a:off x="1440980" y="4268893"/>
          <a:ext cx="3995288" cy="2353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97080" imgH="1295280" progId="Equation.DSMT4">
                  <p:embed/>
                </p:oleObj>
              </mc:Choice>
              <mc:Fallback>
                <p:oleObj name="Equation" r:id="rId12" imgW="2197080" imgH="1295280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A8B8BA00-E28A-B570-1371-F946330C5C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0980" y="4268893"/>
                        <a:ext cx="3995288" cy="235336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3">
            <a:extLst>
              <a:ext uri="{FF2B5EF4-FFF2-40B4-BE49-F238E27FC236}">
                <a16:creationId xmlns:a16="http://schemas.microsoft.com/office/drawing/2014/main" id="{99D66C6F-EDAB-49E6-F872-DA3D4D8831F1}"/>
              </a:ext>
            </a:extLst>
          </p:cNvPr>
          <p:cNvGrpSpPr>
            <a:grpSpLocks/>
          </p:cNvGrpSpPr>
          <p:nvPr/>
        </p:nvGrpSpPr>
        <p:grpSpPr bwMode="auto">
          <a:xfrm>
            <a:off x="6672064" y="4191001"/>
            <a:ext cx="5076825" cy="2566988"/>
            <a:chOff x="0" y="2736"/>
            <a:chExt cx="3198" cy="1617"/>
          </a:xfrm>
        </p:grpSpPr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E40B3052-4612-B813-4970-BE1A82E4C6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" y="4060"/>
              <a:ext cx="29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FB93852D-8C25-86E5-0487-D5444148F3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" y="3362"/>
              <a:ext cx="862" cy="69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C3B91797-2DD9-12DE-6BBA-403D8BB01C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8" y="3354"/>
              <a:ext cx="1816" cy="706"/>
            </a:xfrm>
            <a:prstGeom prst="line">
              <a:avLst/>
            </a:prstGeom>
            <a:noFill/>
            <a:ln w="38100">
              <a:solidFill>
                <a:srgbClr val="E9010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69B71970-29D8-5196-2126-F69DE36A0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062"/>
              <a:ext cx="31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Arial" charset="0"/>
                </a:rPr>
                <a:t> -6           -8/3                             4   x</a:t>
              </a:r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0C6D443F-3E2D-700B-B2CE-AE55446D9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" y="3063"/>
              <a:ext cx="5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Arial" charset="0"/>
                </a:rPr>
                <a:t>2/3</a:t>
              </a: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7263C2E5-B8C0-1846-6505-AA2137AD7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" y="2736"/>
              <a:ext cx="57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FF"/>
                  </a:solidFill>
                  <a:latin typeface="Arial" charset="0"/>
                </a:rPr>
                <a:t>A(x)</a:t>
              </a:r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63637746-E5A6-8D32-3AB3-AB37DDC46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" y="3358"/>
              <a:ext cx="4" cy="725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47A6304B-8EF1-4396-59B6-31BDFFC21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3354"/>
              <a:ext cx="849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3071A46F-A10D-F6A3-BE1D-02CAFF047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" y="3362"/>
              <a:ext cx="77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8000"/>
                  </a:solidFill>
                  <a:latin typeface="Arial" charset="0"/>
                </a:rPr>
                <a:t>(x+6)/5</a:t>
              </a:r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6805FA7D-085E-8DFC-8683-F0DB03814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6" y="3420"/>
              <a:ext cx="85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ha" pitchFamily="34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E90101"/>
                  </a:solidFill>
                  <a:latin typeface="Arial" charset="0"/>
                </a:rPr>
                <a:t>(4-x)/10</a:t>
              </a:r>
            </a:p>
          </p:txBody>
        </p:sp>
        <p:sp>
          <p:nvSpPr>
            <p:cNvPr id="18" name="Line 22">
              <a:extLst>
                <a:ext uri="{FF2B5EF4-FFF2-40B4-BE49-F238E27FC236}">
                  <a16:creationId xmlns:a16="http://schemas.microsoft.com/office/drawing/2014/main" id="{6BC2855C-646D-AB8A-7139-96F6CBE576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33" y="2891"/>
              <a:ext cx="4" cy="11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374FA675-5096-0D35-A9BC-4B345EE16D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469711"/>
              </p:ext>
            </p:extLst>
          </p:nvPr>
        </p:nvGraphicFramePr>
        <p:xfrm>
          <a:off x="6461365" y="363332"/>
          <a:ext cx="5498221" cy="1695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17640" imgH="838080" progId="Equation.DSMT4">
                  <p:embed/>
                </p:oleObj>
              </mc:Choice>
              <mc:Fallback>
                <p:oleObj name="Equation" r:id="rId14" imgW="2717640" imgH="838080" progId="Equation.DSMT4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374FA675-5096-0D35-A9BC-4B345EE16D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365" y="363332"/>
                        <a:ext cx="5498221" cy="169585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1D08D3FE-D452-4118-0A28-5C291832FC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996603"/>
              </p:ext>
            </p:extLst>
          </p:nvPr>
        </p:nvGraphicFramePr>
        <p:xfrm>
          <a:off x="1378025" y="476672"/>
          <a:ext cx="3127375" cy="878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36480" imgH="431640" progId="Equation.DSMT4">
                  <p:embed/>
                </p:oleObj>
              </mc:Choice>
              <mc:Fallback>
                <p:oleObj name="Equation" r:id="rId16" imgW="1536480" imgH="431640" progId="Equation.DSMT4">
                  <p:embed/>
                  <p:pic>
                    <p:nvPicPr>
                      <p:cNvPr id="20" name="Object 4">
                        <a:extLst>
                          <a:ext uri="{FF2B5EF4-FFF2-40B4-BE49-F238E27FC236}">
                            <a16:creationId xmlns:a16="http://schemas.microsoft.com/office/drawing/2014/main" id="{1D08D3FE-D452-4118-0A28-5C291832FC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025" y="476672"/>
                        <a:ext cx="3127375" cy="878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08F76BA-E144-5331-9A3A-B6A7C8931E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4E7B3B-8E05-4BC4-9AF9-3DBED8B94089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49" charset="-122"/>
              </a:rPr>
              <a:t>5.2  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多元扩张原理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63637" y="1484313"/>
            <a:ext cx="9504363" cy="28813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[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扩张原理</a:t>
            </a:r>
            <a:r>
              <a:rPr lang="en-US" altLang="zh-CN" dirty="0">
                <a:solidFill>
                  <a:srgbClr val="FF0000"/>
                </a:solidFill>
              </a:rPr>
              <a:t>Ⅱ]</a:t>
            </a:r>
            <a:r>
              <a:rPr lang="zh-CN" altLang="en-US" dirty="0">
                <a:ea typeface="黑体" pitchFamily="2" charset="-122"/>
              </a:rPr>
              <a:t>设映射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zh-CN" altLang="en-US" dirty="0">
                <a:ea typeface="黑体" pitchFamily="2" charset="-122"/>
              </a:rPr>
              <a:t>             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latin typeface="ITC Zapf Chancery" pitchFamily="66" charset="0"/>
                <a:ea typeface="黑体" pitchFamily="2" charset="-122"/>
              </a:rPr>
              <a:t> </a:t>
            </a:r>
            <a:r>
              <a:rPr lang="en-US" altLang="zh-CN" dirty="0">
                <a:ea typeface="黑体" pitchFamily="2" charset="-122"/>
              </a:rPr>
              <a:t>: U</a:t>
            </a:r>
            <a:r>
              <a:rPr lang="en-US" altLang="zh-CN" baseline="-25000" dirty="0">
                <a:ea typeface="黑体" pitchFamily="2" charset="-122"/>
              </a:rPr>
              <a:t>1</a:t>
            </a:r>
            <a:r>
              <a:rPr lang="en-US" altLang="zh-CN" dirty="0">
                <a:ea typeface="黑体" pitchFamily="2" charset="-122"/>
                <a:sym typeface="Symbol"/>
              </a:rPr>
              <a:t></a:t>
            </a:r>
            <a:r>
              <a:rPr lang="en-US" altLang="zh-CN" dirty="0">
                <a:ea typeface="黑体" pitchFamily="2" charset="-122"/>
              </a:rPr>
              <a:t>U</a:t>
            </a:r>
            <a:r>
              <a:rPr lang="en-US" altLang="zh-CN" baseline="-25000" dirty="0">
                <a:ea typeface="黑体" pitchFamily="2" charset="-122"/>
              </a:rPr>
              <a:t>2</a:t>
            </a:r>
            <a:r>
              <a:rPr lang="en-US" altLang="zh-CN" dirty="0">
                <a:ea typeface="黑体" pitchFamily="2" charset="-122"/>
                <a:sym typeface="Symbol"/>
              </a:rPr>
              <a:t>  </a:t>
            </a:r>
            <a:r>
              <a:rPr lang="en-US" altLang="zh-CN" dirty="0">
                <a:ea typeface="黑体" pitchFamily="2" charset="-122"/>
              </a:rPr>
              <a:t>…</a:t>
            </a:r>
            <a:r>
              <a:rPr lang="en-US" altLang="zh-CN" dirty="0">
                <a:ea typeface="黑体" pitchFamily="2" charset="-122"/>
                <a:sym typeface="Symbol"/>
              </a:rPr>
              <a:t>  </a:t>
            </a:r>
            <a:r>
              <a:rPr lang="en-US" altLang="zh-CN" dirty="0">
                <a:ea typeface="黑体" pitchFamily="2" charset="-122"/>
              </a:rPr>
              <a:t>U</a:t>
            </a:r>
            <a:r>
              <a:rPr lang="en-US" altLang="zh-CN" baseline="-25000" dirty="0">
                <a:ea typeface="黑体" pitchFamily="2" charset="-122"/>
              </a:rPr>
              <a:t>n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en-US" altLang="zh-CN" dirty="0">
                <a:ea typeface="黑体" pitchFamily="2" charset="-122"/>
                <a:sym typeface="Symbol"/>
              </a:rPr>
              <a:t></a:t>
            </a:r>
            <a:r>
              <a:rPr lang="en-US" altLang="zh-CN" dirty="0">
                <a:ea typeface="黑体" pitchFamily="2" charset="-122"/>
              </a:rPr>
              <a:t> V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由它诱导出一个新的映射 </a:t>
            </a:r>
          </a:p>
          <a:p>
            <a:pPr eaLnBrk="1" hangingPunct="1">
              <a:lnSpc>
                <a:spcPct val="120000"/>
              </a:lnSpc>
              <a:buNone/>
              <a:defRPr/>
            </a:pPr>
            <a:r>
              <a:rPr lang="zh-CN" altLang="en-US" dirty="0"/>
              <a:t>            </a:t>
            </a:r>
            <a:r>
              <a:rPr kumimoji="1"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ITC Zapf Chancery" pitchFamily="66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kumimoji="1"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</a:rPr>
              <a:t>(U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baseline="-25000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Symbol"/>
              </a:rPr>
              <a:t></a:t>
            </a:r>
            <a:r>
              <a:rPr kumimoji="1"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</a:rPr>
              <a:t>(U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>
                <a:solidFill>
                  <a:srgbClr val="FF0000"/>
                </a:solidFill>
                <a:sym typeface="Symbol"/>
              </a:rPr>
              <a:t> </a:t>
            </a:r>
            <a:r>
              <a:rPr lang="en-US" altLang="zh-CN" dirty="0">
                <a:solidFill>
                  <a:srgbClr val="FF0000"/>
                </a:solidFill>
              </a:rPr>
              <a:t>…</a:t>
            </a:r>
            <a:r>
              <a:rPr lang="en-US" altLang="zh-CN" dirty="0">
                <a:solidFill>
                  <a:srgbClr val="FF0000"/>
                </a:solidFill>
                <a:sym typeface="Symbol"/>
              </a:rPr>
              <a:t>  </a:t>
            </a:r>
            <a:r>
              <a:rPr kumimoji="1"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</a:rPr>
              <a:t>(U</a:t>
            </a:r>
            <a:r>
              <a:rPr lang="en-US" altLang="zh-CN" baseline="-25000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) </a:t>
            </a:r>
            <a:r>
              <a:rPr lang="en-US" altLang="zh-CN" dirty="0">
                <a:solidFill>
                  <a:srgbClr val="FF0000"/>
                </a:solidFill>
                <a:sym typeface="Symbol"/>
              </a:rPr>
              <a:t>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</a:rPr>
              <a:t>(V)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其隶属函数为</a:t>
            </a:r>
            <a:r>
              <a:rPr lang="zh-CN" altLang="en-US" dirty="0"/>
              <a:t>   </a:t>
            </a:r>
          </a:p>
        </p:txBody>
      </p:sp>
      <p:graphicFrame>
        <p:nvGraphicFramePr>
          <p:cNvPr id="6451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10294048"/>
              </p:ext>
            </p:extLst>
          </p:nvPr>
        </p:nvGraphicFramePr>
        <p:xfrm>
          <a:off x="1415480" y="4775491"/>
          <a:ext cx="9748556" cy="1733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29000" imgH="609600" progId="Equation.3">
                  <p:embed/>
                </p:oleObj>
              </mc:Choice>
              <mc:Fallback>
                <p:oleObj name="公式" r:id="rId2" imgW="3429000" imgH="609600" progId="Equation.3">
                  <p:embed/>
                  <p:pic>
                    <p:nvPicPr>
                      <p:cNvPr id="6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4775491"/>
                        <a:ext cx="9748556" cy="1733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698F0F7-DD1C-0FEF-1DAB-F351FE9337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F209AC-A2D1-49EF-BE0C-2B9240FE767E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835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多元扩张原理举例</a:t>
            </a:r>
            <a:r>
              <a:rPr lang="en-US" altLang="zh-CN" sz="3200">
                <a:ea typeface="黑体" pitchFamily="49" charset="-122"/>
              </a:rPr>
              <a:t>[P126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>
                <a:ea typeface="黑体" pitchFamily="49" charset="-122"/>
              </a:rPr>
              <a:t>1]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484314"/>
            <a:ext cx="8928224" cy="51847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设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U={0,1,2,…,n}, 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chemeClr val="bg2"/>
                </a:solidFill>
                <a:latin typeface="ITC Zapf Chancery" pitchFamily="66" charset="0"/>
                <a:ea typeface="黑体" pitchFamily="2" charset="-122"/>
              </a:rPr>
              <a:t>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: U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/>
              </a:rPr>
              <a:t>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/>
              </a:rPr>
              <a:t>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U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  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=“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近似于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1”=</a:t>
            </a:r>
            <a:r>
              <a:rPr lang="en-US" altLang="zh-CN" u="sng" dirty="0">
                <a:solidFill>
                  <a:srgbClr val="FF0000"/>
                </a:solidFill>
                <a:ea typeface="黑体" pitchFamily="2" charset="-122"/>
              </a:rPr>
              <a:t>1</a:t>
            </a:r>
            <a:endParaRPr lang="en-US" altLang="zh-CN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  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=“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近似于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2”=</a:t>
            </a:r>
            <a:r>
              <a:rPr lang="en-US" altLang="zh-CN" u="sng" dirty="0">
                <a:solidFill>
                  <a:srgbClr val="FF0000"/>
                </a:solidFill>
                <a:ea typeface="黑体" pitchFamily="2" charset="-122"/>
              </a:rPr>
              <a:t>2</a:t>
            </a:r>
            <a:endParaRPr lang="en-US" altLang="zh-CN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None/>
              <a:defRPr/>
            </a:pP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取 </a:t>
            </a:r>
            <a:r>
              <a:rPr kumimoji="1"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ITC Zapf Chancery" pitchFamily="66" charset="0"/>
                <a:ea typeface="黑体" pitchFamily="2" charset="-122"/>
              </a:rPr>
              <a:t>  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为实数运算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”+”,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则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kumimoji="1" lang="en-US" altLang="zh-CN" dirty="0">
                <a:solidFill>
                  <a:srgbClr val="008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rgbClr val="008000"/>
                </a:solidFill>
                <a:latin typeface="ITC Zapf Chancery" pitchFamily="66" charset="0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(u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,u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)=u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+u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=u, </a:t>
            </a:r>
            <a:r>
              <a:rPr kumimoji="1" lang="en-US" altLang="zh-CN" dirty="0">
                <a:solidFill>
                  <a:srgbClr val="008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dirty="0">
                <a:solidFill>
                  <a:srgbClr val="008000"/>
                </a:solidFill>
                <a:latin typeface="ITC Zapf Chancery" pitchFamily="66" charset="0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(A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,A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)=A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+A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=A,   u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,u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U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根据扩张原理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Ⅱ,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有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zh-CN" altLang="en-US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                 于是有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800" dirty="0">
              <a:solidFill>
                <a:schemeClr val="bg2"/>
              </a:solidFill>
            </a:endParaRPr>
          </a:p>
        </p:txBody>
      </p:sp>
      <p:graphicFrame>
        <p:nvGraphicFramePr>
          <p:cNvPr id="6554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782228849"/>
              </p:ext>
            </p:extLst>
          </p:nvPr>
        </p:nvGraphicFramePr>
        <p:xfrm>
          <a:off x="4914234" y="4471306"/>
          <a:ext cx="63138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73300" imgH="292100" progId="Equation.3">
                  <p:embed/>
                </p:oleObj>
              </mc:Choice>
              <mc:Fallback>
                <p:oleObj name="公式" r:id="rId3" imgW="2273300" imgH="292100" progId="Equation.3">
                  <p:embed/>
                  <p:pic>
                    <p:nvPicPr>
                      <p:cNvPr id="655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234" y="4471306"/>
                        <a:ext cx="63138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439814388"/>
              </p:ext>
            </p:extLst>
          </p:nvPr>
        </p:nvGraphicFramePr>
        <p:xfrm>
          <a:off x="5311204" y="5591927"/>
          <a:ext cx="53213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16868" imgH="291973" progId="Equation.3">
                  <p:embed/>
                </p:oleObj>
              </mc:Choice>
              <mc:Fallback>
                <p:oleObj name="公式" r:id="rId5" imgW="1916868" imgH="291973" progId="Equation.3">
                  <p:embed/>
                  <p:pic>
                    <p:nvPicPr>
                      <p:cNvPr id="655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204" y="5591927"/>
                        <a:ext cx="53213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4655840" y="3861048"/>
            <a:ext cx="554384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050686"/>
              </p:ext>
            </p:extLst>
          </p:nvPr>
        </p:nvGraphicFramePr>
        <p:xfrm>
          <a:off x="5701923" y="2186515"/>
          <a:ext cx="2770992" cy="954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3000" imgH="393480" progId="Equation.DSMT4">
                  <p:embed/>
                </p:oleObj>
              </mc:Choice>
              <mc:Fallback>
                <p:oleObj name="Equation" r:id="rId7" imgW="1143000" imgH="3934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01923" y="2186515"/>
                        <a:ext cx="2770992" cy="954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080280"/>
              </p:ext>
            </p:extLst>
          </p:nvPr>
        </p:nvGraphicFramePr>
        <p:xfrm>
          <a:off x="8704343" y="2186514"/>
          <a:ext cx="2864265" cy="954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80800" imgH="393480" progId="Equation.DSMT4">
                  <p:embed/>
                </p:oleObj>
              </mc:Choice>
              <mc:Fallback>
                <p:oleObj name="Equation" r:id="rId9" imgW="1180800" imgH="39348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4343" y="2186514"/>
                        <a:ext cx="2864265" cy="954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722722-CD07-B5D9-5FE0-55C0E2349B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321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uiExpand="1" build="p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多元扩张原理举例</a:t>
            </a:r>
            <a:r>
              <a:rPr lang="en-US" altLang="zh-CN" sz="3200">
                <a:ea typeface="黑体" pitchFamily="49" charset="-122"/>
              </a:rPr>
              <a:t>[P126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>
                <a:ea typeface="黑体" pitchFamily="49" charset="-122"/>
              </a:rPr>
              <a:t>1]</a:t>
            </a:r>
          </a:p>
        </p:txBody>
      </p:sp>
      <p:graphicFrame>
        <p:nvGraphicFramePr>
          <p:cNvPr id="6656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4444950"/>
              </p:ext>
            </p:extLst>
          </p:nvPr>
        </p:nvGraphicFramePr>
        <p:xfrm>
          <a:off x="1524794" y="1573610"/>
          <a:ext cx="7056437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33700" imgH="292100" progId="Equation.3">
                  <p:embed/>
                </p:oleObj>
              </mc:Choice>
              <mc:Fallback>
                <p:oleObj name="公式" r:id="rId2" imgW="2933700" imgH="292100" progId="Equation.3">
                  <p:embed/>
                  <p:pic>
                    <p:nvPicPr>
                      <p:cNvPr id="66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794" y="1573610"/>
                        <a:ext cx="7056437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794" y="4779368"/>
            <a:ext cx="8218487" cy="20891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ea typeface="黑体" pitchFamily="49" charset="-122"/>
              </a:rPr>
              <a:t>类似地</a:t>
            </a:r>
            <a:r>
              <a:rPr lang="en-US" altLang="zh-CN" sz="2800" dirty="0">
                <a:solidFill>
                  <a:srgbClr val="0000FF"/>
                </a:solidFill>
                <a:ea typeface="黑体" pitchFamily="49" charset="-122"/>
              </a:rPr>
              <a:t>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ea typeface="黑体" pitchFamily="49" charset="-122"/>
              </a:rPr>
              <a:t>     (</a:t>
            </a:r>
            <a:r>
              <a:rPr lang="en-US" altLang="zh-CN" sz="2800" u="sng" dirty="0">
                <a:solidFill>
                  <a:srgbClr val="0000FF"/>
                </a:solidFill>
                <a:ea typeface="黑体" pitchFamily="49" charset="-122"/>
              </a:rPr>
              <a:t>1</a:t>
            </a:r>
            <a:r>
              <a:rPr lang="en-US" altLang="zh-CN" sz="2800" dirty="0">
                <a:solidFill>
                  <a:srgbClr val="0000FF"/>
                </a:solidFill>
                <a:ea typeface="黑体" pitchFamily="49" charset="-122"/>
              </a:rPr>
              <a:t>+</a:t>
            </a:r>
            <a:r>
              <a:rPr lang="en-US" altLang="zh-CN" sz="2800" u="sng" dirty="0">
                <a:solidFill>
                  <a:srgbClr val="0000FF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ea typeface="黑体" pitchFamily="49" charset="-122"/>
              </a:rPr>
              <a:t>)(3)=0.8,  (</a:t>
            </a:r>
            <a:r>
              <a:rPr lang="en-US" altLang="zh-CN" sz="2800" u="sng" dirty="0">
                <a:solidFill>
                  <a:srgbClr val="0000FF"/>
                </a:solidFill>
                <a:ea typeface="黑体" pitchFamily="49" charset="-122"/>
              </a:rPr>
              <a:t>1</a:t>
            </a:r>
            <a:r>
              <a:rPr lang="en-US" altLang="zh-CN" sz="2800" dirty="0">
                <a:solidFill>
                  <a:srgbClr val="0000FF"/>
                </a:solidFill>
                <a:ea typeface="黑体" pitchFamily="49" charset="-122"/>
              </a:rPr>
              <a:t>+</a:t>
            </a:r>
            <a:r>
              <a:rPr lang="en-US" altLang="zh-CN" sz="2800" u="sng" dirty="0">
                <a:solidFill>
                  <a:srgbClr val="0000FF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ea typeface="黑体" pitchFamily="49" charset="-122"/>
              </a:rPr>
              <a:t>)(4)=0.3,  (</a:t>
            </a:r>
            <a:r>
              <a:rPr lang="en-US" altLang="zh-CN" sz="2800" u="sng" dirty="0">
                <a:solidFill>
                  <a:srgbClr val="0000FF"/>
                </a:solidFill>
                <a:ea typeface="黑体" pitchFamily="49" charset="-122"/>
              </a:rPr>
              <a:t>1</a:t>
            </a:r>
            <a:r>
              <a:rPr lang="en-US" altLang="zh-CN" sz="2800" dirty="0">
                <a:solidFill>
                  <a:srgbClr val="0000FF"/>
                </a:solidFill>
                <a:ea typeface="黑体" pitchFamily="49" charset="-122"/>
              </a:rPr>
              <a:t>+</a:t>
            </a:r>
            <a:r>
              <a:rPr lang="en-US" altLang="zh-CN" sz="2800" u="sng" dirty="0">
                <a:solidFill>
                  <a:srgbClr val="0000FF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ea typeface="黑体" pitchFamily="49" charset="-122"/>
              </a:rPr>
              <a:t>)(5)=0.2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ea typeface="黑体" pitchFamily="49" charset="-122"/>
              </a:rPr>
              <a:t>于是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          </a:t>
            </a:r>
            <a:endParaRPr lang="en-US" altLang="zh-CN" sz="2800" u="sng" dirty="0">
              <a:solidFill>
                <a:srgbClr val="FF0000"/>
              </a:solidFill>
              <a:ea typeface="黑体" pitchFamily="49" charset="-122"/>
            </a:endParaRPr>
          </a:p>
        </p:txBody>
      </p:sp>
      <p:graphicFrame>
        <p:nvGraphicFramePr>
          <p:cNvPr id="66565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524794" y="2341885"/>
          <a:ext cx="489743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16868" imgH="291973" progId="Equation.3">
                  <p:embed/>
                </p:oleObj>
              </mc:Choice>
              <mc:Fallback>
                <p:oleObj name="公式" r:id="rId4" imgW="1916868" imgH="291973" progId="Equation.3">
                  <p:embed/>
                  <p:pic>
                    <p:nvPicPr>
                      <p:cNvPr id="665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794" y="2341885"/>
                        <a:ext cx="4897438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6" name="Object 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524794" y="3134048"/>
          <a:ext cx="4105275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27200" imgH="647700" progId="Equation.3">
                  <p:embed/>
                </p:oleObj>
              </mc:Choice>
              <mc:Fallback>
                <p:oleObj name="公式" r:id="rId6" imgW="1727200" imgH="647700" progId="Equation.3">
                  <p:embed/>
                  <p:pic>
                    <p:nvPicPr>
                      <p:cNvPr id="665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794" y="3134048"/>
                        <a:ext cx="4105275" cy="153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419476" y="5949951"/>
          <a:ext cx="42148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4440" imgH="393480" progId="Equation.DSMT4">
                  <p:embed/>
                </p:oleObj>
              </mc:Choice>
              <mc:Fallback>
                <p:oleObj name="Equation" r:id="rId8" imgW="2044440" imgH="39348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6" y="5949951"/>
                        <a:ext cx="4214813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899922"/>
              </p:ext>
            </p:extLst>
          </p:nvPr>
        </p:nvGraphicFramePr>
        <p:xfrm>
          <a:off x="9081689" y="1875829"/>
          <a:ext cx="235585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3000" imgH="393480" progId="Equation.DSMT4">
                  <p:embed/>
                </p:oleObj>
              </mc:Choice>
              <mc:Fallback>
                <p:oleObj name="Equation" r:id="rId10" imgW="1143000" imgH="39348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1689" y="1875829"/>
                        <a:ext cx="2355850" cy="811213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344184"/>
              </p:ext>
            </p:extLst>
          </p:nvPr>
        </p:nvGraphicFramePr>
        <p:xfrm>
          <a:off x="9081690" y="2667917"/>
          <a:ext cx="24352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80800" imgH="393480" progId="Equation.DSMT4">
                  <p:embed/>
                </p:oleObj>
              </mc:Choice>
              <mc:Fallback>
                <p:oleObj name="Equation" r:id="rId12" imgW="1180800" imgH="39348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1690" y="2667917"/>
                        <a:ext cx="2435225" cy="811213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68208" y="6021288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</a:rPr>
              <a:t>近似于</a:t>
            </a:r>
            <a:r>
              <a:rPr lang="en-US" altLang="zh-CN" sz="2800" b="1" dirty="0">
                <a:solidFill>
                  <a:srgbClr val="FF00FF"/>
                </a:solidFill>
              </a:rPr>
              <a:t>3</a:t>
            </a:r>
            <a:endParaRPr lang="zh-CN" altLang="en-US" sz="2800" b="1" dirty="0">
              <a:solidFill>
                <a:srgbClr val="FF00FF"/>
              </a:solidFill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5FDF8D3E-5E59-941B-15AE-F37C5C3E0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3960920"/>
            <a:ext cx="4189411" cy="95410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扩张原理对各种运算给出了一种赋予隶属度的方法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F2BEF5-7F1C-A5A3-72C5-F27CDDB779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743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  <p:bldP spid="6" grpId="0" build="p" autoUpdateAnimBg="0"/>
      <p:bldP spid="6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扩张原理小结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/>
              <a:t>扩张原理可以将实数域的代数运算扩展到实数域上的</a:t>
            </a:r>
            <a:r>
              <a:rPr lang="en-US" altLang="zh-CN" b="1" dirty="0">
                <a:latin typeface="+mj-lt"/>
              </a:rPr>
              <a:t>F </a:t>
            </a:r>
            <a:r>
              <a:rPr lang="zh-CN" altLang="en-US" b="1" dirty="0"/>
              <a:t>集合的代数运算，是模糊数学计算分析的重要工具，具有重要的理论价值。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但该方法的计算量稍大，实际应用时比较受限制，只适用于处理比较简单的问题。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705182-D7A5-FE64-B68F-00C42352CA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597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习题五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4277439-33C6-768A-2918-056270D235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8257186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66"/>
        </a:solidFill>
        <a:ln>
          <a:solidFill>
            <a:srgbClr val="E90101"/>
          </a:solidFill>
        </a:ln>
      </a:spPr>
      <a:bodyPr rtlCol="0" anchor="ctr"/>
      <a:lstStyle>
        <a:defPPr algn="ctr">
          <a:defRPr sz="2800" b="1" dirty="0">
            <a:solidFill>
              <a:srgbClr val="E9010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" panose="02010609060101010101" pitchFamily="49" charset="-122"/>
            <a:ea typeface="仿宋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29143</TotalTime>
  <Words>3111</Words>
  <Application>Microsoft Office PowerPoint</Application>
  <PresentationFormat>宽屏</PresentationFormat>
  <Paragraphs>484</Paragraphs>
  <Slides>41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9" baseType="lpstr">
      <vt:lpstr>ITC Zapf Chancery</vt:lpstr>
      <vt:lpstr>仿宋</vt:lpstr>
      <vt:lpstr>黑体</vt:lpstr>
      <vt:lpstr>楷体_GB2312</vt:lpstr>
      <vt:lpstr>隶书</vt:lpstr>
      <vt:lpstr>宋体</vt:lpstr>
      <vt:lpstr>Arial</vt:lpstr>
      <vt:lpstr>Arial Black</vt:lpstr>
      <vt:lpstr>Cambria Math</vt:lpstr>
      <vt:lpstr>Comic Sans MS</vt:lpstr>
      <vt:lpstr>Latha</vt:lpstr>
      <vt:lpstr>Monotype Corsiva</vt:lpstr>
      <vt:lpstr>Symbol</vt:lpstr>
      <vt:lpstr>Times New Roman</vt:lpstr>
      <vt:lpstr>Wingdings</vt:lpstr>
      <vt:lpstr>Pixel</vt:lpstr>
      <vt:lpstr>公式</vt:lpstr>
      <vt:lpstr>Equation</vt:lpstr>
      <vt:lpstr>第 5 章 扩张原理与模糊数</vt:lpstr>
      <vt:lpstr>PowerPoint 演示文稿</vt:lpstr>
      <vt:lpstr>PowerPoint 演示文稿</vt:lpstr>
      <vt:lpstr>F变换</vt:lpstr>
      <vt:lpstr>5.1  扩张原理 F集在f  映射下的像集</vt:lpstr>
      <vt:lpstr>f 诱导的新映射举例[P117例1]</vt:lpstr>
      <vt:lpstr>f 诱导的新映射举例[P117例1]</vt:lpstr>
      <vt:lpstr>逆像集A* ≠原像集A</vt:lpstr>
      <vt:lpstr>f 诱导的新映射举例</vt:lpstr>
      <vt:lpstr>扩张原理Ⅰ</vt:lpstr>
      <vt:lpstr>扩张原理示意图</vt:lpstr>
      <vt:lpstr>扩张原理</vt:lpstr>
      <vt:lpstr>扩张原理举例[P118例2]</vt:lpstr>
      <vt:lpstr>扩张原理举例[P118例2]</vt:lpstr>
      <vt:lpstr>扩张原理举例[P118例2]</vt:lpstr>
      <vt:lpstr>扩张原理举例[P119例3]</vt:lpstr>
      <vt:lpstr>扩张原理举例[P119例3]</vt:lpstr>
      <vt:lpstr>扩张原理举例[P119例3]</vt:lpstr>
      <vt:lpstr>扩张原理举例[P119例3]</vt:lpstr>
      <vt:lpstr>扩张原理举例[P119例3]</vt:lpstr>
      <vt:lpstr>扩张原理举例[P120例4]</vt:lpstr>
      <vt:lpstr>扩张原理举例[P120例4]</vt:lpstr>
      <vt:lpstr>扩张原理举例[P120例4]</vt:lpstr>
      <vt:lpstr>扩张原理举例[P120例4]</vt:lpstr>
      <vt:lpstr>扩张原理举例[P120例4]</vt:lpstr>
      <vt:lpstr>扩张原理举例[P120例4]</vt:lpstr>
      <vt:lpstr>扩张原理举例[P120例4]</vt:lpstr>
      <vt:lpstr>扩张原理Ⅰ是一个F变换</vt:lpstr>
      <vt:lpstr>扩张原理Ⅰ的性质</vt:lpstr>
      <vt:lpstr>注意:            不一定成立</vt:lpstr>
      <vt:lpstr>扩张原理Ⅰ的性质</vt:lpstr>
      <vt:lpstr>扩张原理Ⅰ的性质</vt:lpstr>
      <vt:lpstr>基于集合套的[扩张原理Ⅰ]等价定义</vt:lpstr>
      <vt:lpstr>基于集合套的[扩张原理Ⅰ]等价定义举例</vt:lpstr>
      <vt:lpstr>PowerPoint 演示文稿</vt:lpstr>
      <vt:lpstr>PowerPoint 演示文稿</vt:lpstr>
      <vt:lpstr>5.2  多元扩张原理</vt:lpstr>
      <vt:lpstr>多元扩张原理举例[P126例1]</vt:lpstr>
      <vt:lpstr>多元扩张原理举例[P126例1]</vt:lpstr>
      <vt:lpstr>扩张原理小结</vt:lpstr>
      <vt:lpstr>作业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5 章 扩张原理与模糊数</dc:title>
  <dc:creator>凌卫新</dc:creator>
  <cp:lastModifiedBy>wxling66@outlook.com</cp:lastModifiedBy>
  <cp:revision>274</cp:revision>
  <cp:lastPrinted>2013-05-06T17:56:38Z</cp:lastPrinted>
  <dcterms:created xsi:type="dcterms:W3CDTF">2007-05-29T00:51:46Z</dcterms:created>
  <dcterms:modified xsi:type="dcterms:W3CDTF">2026-05-12T13:01:56Z</dcterms:modified>
</cp:coreProperties>
</file>