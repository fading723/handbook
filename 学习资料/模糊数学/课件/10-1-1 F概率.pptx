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  <p:sldMasterId id="2147483748" r:id="rId2"/>
  </p:sldMasterIdLst>
  <p:notesMasterIdLst>
    <p:notesMasterId r:id="rId26"/>
  </p:notesMasterIdLst>
  <p:sldIdLst>
    <p:sldId id="368" r:id="rId3"/>
    <p:sldId id="302" r:id="rId4"/>
    <p:sldId id="331" r:id="rId5"/>
    <p:sldId id="333" r:id="rId6"/>
    <p:sldId id="334" r:id="rId7"/>
    <p:sldId id="335" r:id="rId8"/>
    <p:sldId id="332" r:id="rId9"/>
    <p:sldId id="336" r:id="rId10"/>
    <p:sldId id="365" r:id="rId11"/>
    <p:sldId id="356" r:id="rId12"/>
    <p:sldId id="355" r:id="rId13"/>
    <p:sldId id="337" r:id="rId14"/>
    <p:sldId id="338" r:id="rId15"/>
    <p:sldId id="360" r:id="rId16"/>
    <p:sldId id="357" r:id="rId17"/>
    <p:sldId id="358" r:id="rId18"/>
    <p:sldId id="339" r:id="rId19"/>
    <p:sldId id="340" r:id="rId20"/>
    <p:sldId id="341" r:id="rId21"/>
    <p:sldId id="342" r:id="rId22"/>
    <p:sldId id="347" r:id="rId23"/>
    <p:sldId id="344" r:id="rId24"/>
    <p:sldId id="354" r:id="rId25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8000"/>
    <a:srgbClr val="0000FF"/>
    <a:srgbClr val="256AB0"/>
    <a:srgbClr val="FF00FF"/>
    <a:srgbClr val="C63F3B"/>
    <a:srgbClr val="FFCCFF"/>
    <a:srgbClr val="FFFF99"/>
    <a:srgbClr val="5F41A6"/>
    <a:srgbClr val="FA7E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83333" autoAdjust="0"/>
  </p:normalViewPr>
  <p:slideViewPr>
    <p:cSldViewPr>
      <p:cViewPr varScale="1">
        <p:scale>
          <a:sx n="65" d="100"/>
          <a:sy n="65" d="100"/>
        </p:scale>
        <p:origin x="9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76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2358FBC-9D9A-436C-9525-CEE876E83C1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31527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58FBC-9D9A-436C-9525-CEE876E83C1E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5779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ym typeface="Symbol" panose="05050102010706020507" pitchFamily="18" charset="2"/>
              </a:rPr>
              <a:t>刻画事件</a:t>
            </a:r>
            <a:r>
              <a:rPr lang="en-US" altLang="zh-CN" b="1" dirty="0">
                <a:sym typeface="Symbol" panose="05050102010706020507" pitchFamily="18" charset="2"/>
              </a:rPr>
              <a:t>A</a:t>
            </a:r>
            <a:r>
              <a:rPr lang="zh-CN" altLang="en-US" b="1" dirty="0">
                <a:sym typeface="Symbol" panose="05050102010706020507" pitchFamily="18" charset="2"/>
              </a:rPr>
              <a:t>发生不确定性大小的数量指标。</a:t>
            </a:r>
            <a:endParaRPr lang="en-US" altLang="zh-CN" b="1" dirty="0">
              <a:sym typeface="Symbol" panose="05050102010706020507" pitchFamily="18" charset="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58FBC-9D9A-436C-9525-CEE876E83C1E}" type="slidenum">
              <a:rPr lang="en-US" altLang="zh-CN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9985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58FBC-9D9A-436C-9525-CEE876E83C1E}" type="slidenum">
              <a:rPr lang="en-US" altLang="zh-CN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1914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BA92-E862-4B24-A449-E10EF289D2F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2270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9950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8F3C5-8ACC-4FB3-B28B-499C203B077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1037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12ED-9702-488D-BB2E-E94BF179E2B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7155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A4542-25F5-4DF3-AD45-F447DF1A7F0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5414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E88BD-6F53-4518-B021-179C7B68BEC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4601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ED241-0E87-48B2-90C1-0F7182A4726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611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4B805-C5D8-4B8C-9715-6148604F509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104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D0CF5-B27F-45F6-AAA9-6F3DACE6EFE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534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40C6E-A276-4196-9AB0-6654728946A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8874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8D8C2-BE4A-4387-AA58-E8D0A416485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5320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3962400" y="1828800"/>
            <a:ext cx="80264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3962400" y="4267200"/>
            <a:ext cx="80264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1752" y="6247897"/>
            <a:ext cx="517848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ACB426-8E95-4BBB-9181-885B2B64E6D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77439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31080" y="6266507"/>
            <a:ext cx="44584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3E0329-027F-44B1-A42A-8643FF5939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91371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BCA9C1-0131-48F7-AA99-CF8DF35E01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75794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41762" y="6283097"/>
            <a:ext cx="44584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CFDC69-780A-4B1C-97E7-61C7E54B9D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14320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8979C5-4197-4E15-8450-D6EFDC2FA7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79048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63760" y="6230867"/>
            <a:ext cx="44584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995C34-E364-4B19-9DC1-3C25DD4113D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25107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55617" y="6248400"/>
            <a:ext cx="44584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7A47BA-BA63-4780-94A9-8AFA2EA443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8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21B6D3-6BB7-4272-938F-C3C6CB1DE3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83604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55324F-2DC6-4E2C-A824-0AA5A2A441D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94647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BC9D07-ECF5-49E4-9AEC-081DA34766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49976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457200"/>
            <a:ext cx="27432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0264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00FCB0-6827-4052-B1F8-50690392BE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44778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79F246-5609-47AB-8E41-68E47FB0007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77510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4DC022-E2FC-4194-89EB-F0AC4449F8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0963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981200"/>
            <a:ext cx="10972800" cy="38862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91752" y="6280362"/>
            <a:ext cx="517848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933C39-8941-4754-97F1-DAC9E9289B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572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4368" y="6352835"/>
            <a:ext cx="433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8D8C2-BE4A-4387-AA58-E8D0A416485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5908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388C46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138" y="6264275"/>
            <a:ext cx="58985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461A77B0-1F5B-4DE1-802B-D0CEC0E6BF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12192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9728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109728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1023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7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8.wmf"/><Relationship Id="rId7" Type="http://schemas.openxmlformats.org/officeDocument/2006/relationships/image" Target="../media/image9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10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8.wmf"/><Relationship Id="rId7" Type="http://schemas.openxmlformats.org/officeDocument/2006/relationships/image" Target="../media/image11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10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7" Type="http://schemas.openxmlformats.org/officeDocument/2006/relationships/image" Target="../media/image13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7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19.wmf"/><Relationship Id="rId3" Type="http://schemas.openxmlformats.org/officeDocument/2006/relationships/image" Target="../media/image14.wmf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19.bin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18.wmf"/><Relationship Id="rId5" Type="http://schemas.openxmlformats.org/officeDocument/2006/relationships/image" Target="../media/image15.wmf"/><Relationship Id="rId10" Type="http://schemas.openxmlformats.org/officeDocument/2006/relationships/oleObject" Target="../embeddings/oleObject18.bin"/><Relationship Id="rId4" Type="http://schemas.openxmlformats.org/officeDocument/2006/relationships/oleObject" Target="../embeddings/oleObject15.bin"/><Relationship Id="rId9" Type="http://schemas.openxmlformats.org/officeDocument/2006/relationships/image" Target="../media/image17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image" Target="../media/image25.wmf"/><Relationship Id="rId3" Type="http://schemas.openxmlformats.org/officeDocument/2006/relationships/image" Target="../media/image20.wmf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25.bin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24.wmf"/><Relationship Id="rId5" Type="http://schemas.openxmlformats.org/officeDocument/2006/relationships/image" Target="../media/image21.wmf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21.bin"/><Relationship Id="rId9" Type="http://schemas.openxmlformats.org/officeDocument/2006/relationships/image" Target="../media/image23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image" Target="../media/image31.wmf"/><Relationship Id="rId3" Type="http://schemas.openxmlformats.org/officeDocument/2006/relationships/image" Target="../media/image26.wmf"/><Relationship Id="rId7" Type="http://schemas.openxmlformats.org/officeDocument/2006/relationships/image" Target="../media/image28.wmf"/><Relationship Id="rId12" Type="http://schemas.openxmlformats.org/officeDocument/2006/relationships/oleObject" Target="../embeddings/oleObject31.bin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30.wmf"/><Relationship Id="rId5" Type="http://schemas.openxmlformats.org/officeDocument/2006/relationships/image" Target="../media/image27.wmf"/><Relationship Id="rId15" Type="http://schemas.openxmlformats.org/officeDocument/2006/relationships/image" Target="../media/image32.wmf"/><Relationship Id="rId10" Type="http://schemas.openxmlformats.org/officeDocument/2006/relationships/oleObject" Target="../embeddings/oleObject30.bin"/><Relationship Id="rId4" Type="http://schemas.openxmlformats.org/officeDocument/2006/relationships/oleObject" Target="../embeddings/oleObject27.bin"/><Relationship Id="rId9" Type="http://schemas.openxmlformats.org/officeDocument/2006/relationships/image" Target="../media/image29.wmf"/><Relationship Id="rId14" Type="http://schemas.openxmlformats.org/officeDocument/2006/relationships/oleObject" Target="../embeddings/oleObject32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13" Type="http://schemas.openxmlformats.org/officeDocument/2006/relationships/image" Target="../media/image38.wmf"/><Relationship Id="rId18" Type="http://schemas.openxmlformats.org/officeDocument/2006/relationships/oleObject" Target="../embeddings/oleObject41.bin"/><Relationship Id="rId3" Type="http://schemas.openxmlformats.org/officeDocument/2006/relationships/image" Target="../media/image33.wmf"/><Relationship Id="rId7" Type="http://schemas.openxmlformats.org/officeDocument/2006/relationships/image" Target="../media/image35.wmf"/><Relationship Id="rId12" Type="http://schemas.openxmlformats.org/officeDocument/2006/relationships/oleObject" Target="../embeddings/oleObject38.bin"/><Relationship Id="rId17" Type="http://schemas.openxmlformats.org/officeDocument/2006/relationships/image" Target="../media/image40.wmf"/><Relationship Id="rId2" Type="http://schemas.openxmlformats.org/officeDocument/2006/relationships/oleObject" Target="../embeddings/oleObject33.bin"/><Relationship Id="rId16" Type="http://schemas.openxmlformats.org/officeDocument/2006/relationships/oleObject" Target="../embeddings/oleObject4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5.bin"/><Relationship Id="rId11" Type="http://schemas.openxmlformats.org/officeDocument/2006/relationships/image" Target="../media/image37.wmf"/><Relationship Id="rId5" Type="http://schemas.openxmlformats.org/officeDocument/2006/relationships/image" Target="../media/image34.wmf"/><Relationship Id="rId15" Type="http://schemas.openxmlformats.org/officeDocument/2006/relationships/image" Target="../media/image39.wmf"/><Relationship Id="rId10" Type="http://schemas.openxmlformats.org/officeDocument/2006/relationships/oleObject" Target="../embeddings/oleObject37.bin"/><Relationship Id="rId19" Type="http://schemas.openxmlformats.org/officeDocument/2006/relationships/image" Target="../media/image41.wmf"/><Relationship Id="rId4" Type="http://schemas.openxmlformats.org/officeDocument/2006/relationships/oleObject" Target="../embeddings/oleObject34.bin"/><Relationship Id="rId9" Type="http://schemas.openxmlformats.org/officeDocument/2006/relationships/image" Target="../media/image36.wmf"/><Relationship Id="rId14" Type="http://schemas.openxmlformats.org/officeDocument/2006/relationships/oleObject" Target="../embeddings/oleObject39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7" Type="http://schemas.openxmlformats.org/officeDocument/2006/relationships/image" Target="../media/image44.w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4.bin"/><Relationship Id="rId5" Type="http://schemas.openxmlformats.org/officeDocument/2006/relationships/image" Target="../media/image43.wmf"/><Relationship Id="rId4" Type="http://schemas.openxmlformats.org/officeDocument/2006/relationships/oleObject" Target="../embeddings/oleObject43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3" Type="http://schemas.openxmlformats.org/officeDocument/2006/relationships/image" Target="../media/image45.wmf"/><Relationship Id="rId7" Type="http://schemas.openxmlformats.org/officeDocument/2006/relationships/image" Target="../media/image47.wmf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7.bin"/><Relationship Id="rId5" Type="http://schemas.openxmlformats.org/officeDocument/2006/relationships/image" Target="../media/image46.wmf"/><Relationship Id="rId4" Type="http://schemas.openxmlformats.org/officeDocument/2006/relationships/oleObject" Target="../embeddings/oleObject46.bin"/><Relationship Id="rId9" Type="http://schemas.openxmlformats.org/officeDocument/2006/relationships/image" Target="../media/image48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9.wmf"/><Relationship Id="rId7" Type="http://schemas.openxmlformats.org/officeDocument/2006/relationships/image" Target="../media/image51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1.bin"/><Relationship Id="rId5" Type="http://schemas.openxmlformats.org/officeDocument/2006/relationships/image" Target="../media/image50.wmf"/><Relationship Id="rId4" Type="http://schemas.openxmlformats.org/officeDocument/2006/relationships/oleObject" Target="../embeddings/oleObject50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3" Type="http://schemas.openxmlformats.org/officeDocument/2006/relationships/image" Target="../media/image53.wmf"/><Relationship Id="rId7" Type="http://schemas.openxmlformats.org/officeDocument/2006/relationships/image" Target="../media/image55.wmf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4.bin"/><Relationship Id="rId5" Type="http://schemas.openxmlformats.org/officeDocument/2006/relationships/image" Target="../media/image54.wmf"/><Relationship Id="rId4" Type="http://schemas.openxmlformats.org/officeDocument/2006/relationships/oleObject" Target="../embeddings/oleObject53.bin"/><Relationship Id="rId9" Type="http://schemas.openxmlformats.org/officeDocument/2006/relationships/image" Target="../media/image56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7.wmf"/><Relationship Id="rId7" Type="http://schemas.openxmlformats.org/officeDocument/2006/relationships/image" Target="../media/image59.wmf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8.bin"/><Relationship Id="rId5" Type="http://schemas.openxmlformats.org/officeDocument/2006/relationships/image" Target="../media/image58.wmf"/><Relationship Id="rId4" Type="http://schemas.openxmlformats.org/officeDocument/2006/relationships/oleObject" Target="../embeddings/oleObject57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7" Type="http://schemas.openxmlformats.org/officeDocument/2006/relationships/image" Target="../media/image63.wmf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1.bin"/><Relationship Id="rId5" Type="http://schemas.openxmlformats.org/officeDocument/2006/relationships/image" Target="../media/image62.wmf"/><Relationship Id="rId4" Type="http://schemas.openxmlformats.org/officeDocument/2006/relationships/oleObject" Target="../embeddings/oleObject60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oleObject" Target="../embeddings/oleObject6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65.wmf"/><Relationship Id="rId4" Type="http://schemas.openxmlformats.org/officeDocument/2006/relationships/oleObject" Target="../embeddings/oleObject63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7588" y="2060575"/>
            <a:ext cx="8380412" cy="2209800"/>
          </a:xfrm>
        </p:spPr>
        <p:txBody>
          <a:bodyPr/>
          <a:lstStyle/>
          <a:p>
            <a:pPr algn="ctr" eaLnBrk="1" hangingPunct="1"/>
            <a:r>
              <a:rPr lang="zh-CN" altLang="en-US" sz="6600" b="1" dirty="0">
                <a:solidFill>
                  <a:srgbClr val="E8E8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第</a:t>
            </a:r>
            <a:r>
              <a:rPr lang="zh-CN" altLang="en-US" sz="6600" b="1" dirty="0">
                <a:solidFill>
                  <a:srgbClr val="E8E8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隶书" pitchFamily="49" charset="-122"/>
              </a:rPr>
              <a:t> </a:t>
            </a:r>
            <a:r>
              <a:rPr lang="en-US" altLang="zh-CN" sz="6600" b="1" dirty="0">
                <a:solidFill>
                  <a:srgbClr val="E8E8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隶书" pitchFamily="49" charset="-122"/>
              </a:rPr>
              <a:t>10 </a:t>
            </a:r>
            <a:r>
              <a:rPr lang="zh-CN" altLang="en-US" sz="6600" b="1" dirty="0">
                <a:solidFill>
                  <a:srgbClr val="E8E8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章</a:t>
            </a:r>
            <a:br>
              <a:rPr lang="zh-CN" altLang="en-US" sz="6600" b="1" dirty="0">
                <a:solidFill>
                  <a:srgbClr val="E8E8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</a:br>
            <a:r>
              <a:rPr lang="zh-CN" altLang="en-US" sz="6600" b="1" dirty="0">
                <a:solidFill>
                  <a:srgbClr val="E8E8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模糊概率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63753" y="4270375"/>
            <a:ext cx="6192837" cy="2349500"/>
          </a:xfrm>
        </p:spPr>
        <p:txBody>
          <a:bodyPr/>
          <a:lstStyle/>
          <a:p>
            <a:pPr eaLnBrk="1" hangingPunct="1"/>
            <a:r>
              <a:rPr lang="en-US" altLang="zh-CN" sz="3600" dirty="0">
                <a:solidFill>
                  <a:srgbClr val="E90101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10.1  F</a:t>
            </a:r>
            <a:r>
              <a:rPr lang="zh-CN" altLang="en-US" sz="3600" dirty="0">
                <a:solidFill>
                  <a:srgbClr val="E90101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事件的概率</a:t>
            </a:r>
          </a:p>
          <a:p>
            <a:pPr eaLnBrk="1" hangingPunct="1"/>
            <a:r>
              <a:rPr lang="en-US" altLang="zh-CN" sz="3600" dirty="0">
                <a:solidFill>
                  <a:srgbClr val="E90101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10.2 </a:t>
            </a:r>
            <a:r>
              <a:rPr lang="zh-CN" altLang="en-US" sz="3600" dirty="0">
                <a:solidFill>
                  <a:srgbClr val="E90101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事件的</a:t>
            </a:r>
            <a:r>
              <a:rPr lang="en-US" altLang="zh-CN" sz="3600" dirty="0">
                <a:solidFill>
                  <a:srgbClr val="E90101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F</a:t>
            </a:r>
            <a:r>
              <a:rPr lang="zh-CN" altLang="en-US" sz="3600" dirty="0">
                <a:solidFill>
                  <a:srgbClr val="E90101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概率</a:t>
            </a:r>
          </a:p>
          <a:p>
            <a:pPr eaLnBrk="1" hangingPunct="1"/>
            <a:r>
              <a:rPr lang="en-US" altLang="zh-CN" sz="3600" dirty="0">
                <a:solidFill>
                  <a:srgbClr val="E90101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10.3 F</a:t>
            </a:r>
            <a:r>
              <a:rPr lang="zh-CN" altLang="en-US" sz="3600" dirty="0">
                <a:solidFill>
                  <a:srgbClr val="E90101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事件的语言概率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8FE8D79-9D91-7633-201D-C15E71683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DACB426-8E95-4BBB-9181-885B2B64E6D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itchFamily="34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B67D3A-CB33-4778-AE39-C3A253BE7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10019"/>
            <a:ext cx="82296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引言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B976D6-981D-47C0-8875-E0D53D72F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3293" y="1481619"/>
            <a:ext cx="8448352" cy="584775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在客观世界和现实生活中：</a:t>
            </a:r>
            <a:endParaRPr lang="en-US" altLang="zh-CN" sz="3200" b="1" dirty="0"/>
          </a:p>
          <a:p>
            <a:endParaRPr lang="en-US" altLang="zh-CN" sz="3200" b="1" dirty="0"/>
          </a:p>
          <a:p>
            <a:endParaRPr lang="en-US" altLang="zh-CN" sz="3200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C62DE75-974F-4C07-97F3-1D718010DE7A}"/>
              </a:ext>
            </a:extLst>
          </p:cNvPr>
          <p:cNvSpPr/>
          <p:nvPr/>
        </p:nvSpPr>
        <p:spPr>
          <a:xfrm>
            <a:off x="1666747" y="2799918"/>
            <a:ext cx="38924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/>
              <a:t>事件在质的表现具有</a:t>
            </a:r>
            <a:endParaRPr lang="zh-CN" altLang="en-US" sz="32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82E6D0-67EC-4527-9B2C-E1D4B946CDB9}"/>
              </a:ext>
            </a:extLst>
          </p:cNvPr>
          <p:cNvSpPr/>
          <p:nvPr/>
        </p:nvSpPr>
        <p:spPr>
          <a:xfrm>
            <a:off x="5595924" y="2340172"/>
            <a:ext cx="14205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08000"/>
                </a:solidFill>
              </a:rPr>
              <a:t>确定性</a:t>
            </a:r>
            <a:endParaRPr lang="zh-CN" altLang="en-US" sz="3200" dirty="0">
              <a:solidFill>
                <a:srgbClr val="008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0737277-A76B-45AD-9704-A3E0AEB9AA00}"/>
              </a:ext>
            </a:extLst>
          </p:cNvPr>
          <p:cNvSpPr/>
          <p:nvPr/>
        </p:nvSpPr>
        <p:spPr>
          <a:xfrm>
            <a:off x="5595927" y="3259665"/>
            <a:ext cx="18325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7030A0"/>
                </a:solidFill>
              </a:rPr>
              <a:t>不确定性</a:t>
            </a:r>
            <a:endParaRPr lang="zh-CN" altLang="en-US" sz="3200" dirty="0">
              <a:solidFill>
                <a:srgbClr val="7030A0"/>
              </a:solidFill>
            </a:endParaRPr>
          </a:p>
        </p:txBody>
      </p:sp>
      <p:sp>
        <p:nvSpPr>
          <p:cNvPr id="8" name="左大括号 7">
            <a:extLst>
              <a:ext uri="{FF2B5EF4-FFF2-40B4-BE49-F238E27FC236}">
                <a16:creationId xmlns:a16="http://schemas.microsoft.com/office/drawing/2014/main" id="{1717A004-10C0-45B9-81B3-6768178531E3}"/>
              </a:ext>
            </a:extLst>
          </p:cNvPr>
          <p:cNvSpPr/>
          <p:nvPr/>
        </p:nvSpPr>
        <p:spPr bwMode="auto">
          <a:xfrm>
            <a:off x="5447928" y="2597287"/>
            <a:ext cx="206720" cy="990032"/>
          </a:xfrm>
          <a:prstGeom prst="leftBrac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左大括号 8">
            <a:extLst>
              <a:ext uri="{FF2B5EF4-FFF2-40B4-BE49-F238E27FC236}">
                <a16:creationId xmlns:a16="http://schemas.microsoft.com/office/drawing/2014/main" id="{3B3353C9-F980-4D7E-A543-8BE33585C56E}"/>
              </a:ext>
            </a:extLst>
          </p:cNvPr>
          <p:cNvSpPr/>
          <p:nvPr/>
        </p:nvSpPr>
        <p:spPr bwMode="auto">
          <a:xfrm>
            <a:off x="7369753" y="2769004"/>
            <a:ext cx="206720" cy="1668111"/>
          </a:xfrm>
          <a:prstGeom prst="leftBrac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2315DF7-5F1C-480A-ADC5-618740CB966A}"/>
              </a:ext>
            </a:extLst>
          </p:cNvPr>
          <p:cNvSpPr/>
          <p:nvPr/>
        </p:nvSpPr>
        <p:spPr>
          <a:xfrm>
            <a:off x="7576473" y="2444234"/>
            <a:ext cx="14205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</a:rPr>
              <a:t>随机性</a:t>
            </a:r>
            <a:endParaRPr lang="zh-CN" altLang="en-US" sz="3200" dirty="0">
              <a:solidFill>
                <a:srgbClr val="0000FF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6DC38B8-208A-4E19-AB28-D98CFA2B3F3B}"/>
              </a:ext>
            </a:extLst>
          </p:cNvPr>
          <p:cNvSpPr/>
          <p:nvPr/>
        </p:nvSpPr>
        <p:spPr>
          <a:xfrm>
            <a:off x="7576473" y="3217334"/>
            <a:ext cx="14205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模糊性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9E06697-E955-4C19-90E6-EEA56B450C32}"/>
              </a:ext>
            </a:extLst>
          </p:cNvPr>
          <p:cNvSpPr/>
          <p:nvPr/>
        </p:nvSpPr>
        <p:spPr>
          <a:xfrm>
            <a:off x="7555741" y="4027677"/>
            <a:ext cx="22445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CC00CC"/>
                </a:solidFill>
              </a:rPr>
              <a:t>随机模糊性</a:t>
            </a:r>
            <a:endParaRPr lang="zh-CN" altLang="en-US" sz="3200" dirty="0">
              <a:solidFill>
                <a:srgbClr val="CC00CC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148AB76-17EC-4D8B-ACFB-9E0949395000}"/>
              </a:ext>
            </a:extLst>
          </p:cNvPr>
          <p:cNvSpPr/>
          <p:nvPr/>
        </p:nvSpPr>
        <p:spPr>
          <a:xfrm>
            <a:off x="2269955" y="4559558"/>
            <a:ext cx="4304383" cy="58477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zh-CN" altLang="en-US" sz="3200" b="1" dirty="0"/>
              <a:t>“明天是个好天气。”</a:t>
            </a:r>
            <a:endParaRPr lang="zh-CN" altLang="en-US" sz="3200" dirty="0"/>
          </a:p>
        </p:txBody>
      </p:sp>
      <p:sp>
        <p:nvSpPr>
          <p:cNvPr id="14" name="左大括号 13">
            <a:extLst>
              <a:ext uri="{FF2B5EF4-FFF2-40B4-BE49-F238E27FC236}">
                <a16:creationId xmlns:a16="http://schemas.microsoft.com/office/drawing/2014/main" id="{97A86E37-FA8B-446F-B502-100C6DC7122E}"/>
              </a:ext>
            </a:extLst>
          </p:cNvPr>
          <p:cNvSpPr/>
          <p:nvPr/>
        </p:nvSpPr>
        <p:spPr bwMode="auto">
          <a:xfrm>
            <a:off x="1996738" y="5453474"/>
            <a:ext cx="206720" cy="990032"/>
          </a:xfrm>
          <a:prstGeom prst="leftBrac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48FEFD7-836B-4914-A1B3-BCB6746E7BE1}"/>
              </a:ext>
            </a:extLst>
          </p:cNvPr>
          <p:cNvSpPr/>
          <p:nvPr/>
        </p:nvSpPr>
        <p:spPr>
          <a:xfrm>
            <a:off x="2231438" y="5220492"/>
            <a:ext cx="14205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</a:rPr>
              <a:t>随机性</a:t>
            </a:r>
            <a:endParaRPr lang="zh-CN" altLang="en-US" sz="3200" dirty="0">
              <a:solidFill>
                <a:srgbClr val="0000FF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E826FF1-11E3-441F-99CE-3C630445E9D8}"/>
              </a:ext>
            </a:extLst>
          </p:cNvPr>
          <p:cNvSpPr/>
          <p:nvPr/>
        </p:nvSpPr>
        <p:spPr>
          <a:xfrm>
            <a:off x="2211842" y="6021291"/>
            <a:ext cx="14205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模糊性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86258EE-0BFB-4D21-89BD-65B40BCAA487}"/>
              </a:ext>
            </a:extLst>
          </p:cNvPr>
          <p:cNvSpPr/>
          <p:nvPr/>
        </p:nvSpPr>
        <p:spPr>
          <a:xfrm>
            <a:off x="3647728" y="5220492"/>
            <a:ext cx="67730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/>
              <a:t>——</a:t>
            </a:r>
            <a:r>
              <a:rPr lang="zh-CN" altLang="en-US" sz="3200" b="1" dirty="0"/>
              <a:t>无法确定明天是否是“好天气”</a:t>
            </a:r>
            <a:endParaRPr lang="zh-CN" altLang="en-US" sz="32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8C1921D-A4B3-4B13-BB15-91BCF81D053E}"/>
              </a:ext>
            </a:extLst>
          </p:cNvPr>
          <p:cNvSpPr/>
          <p:nvPr/>
        </p:nvSpPr>
        <p:spPr>
          <a:xfrm>
            <a:off x="3647728" y="6021291"/>
            <a:ext cx="71849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/>
              <a:t>——</a:t>
            </a:r>
            <a:r>
              <a:rPr lang="zh-CN" altLang="en-US" sz="3200" b="1" dirty="0"/>
              <a:t>“好天气”出现与否无明显界线。</a:t>
            </a:r>
            <a:endParaRPr lang="zh-CN" altLang="en-US" sz="320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0CDFB7-9BB3-CBD3-3792-AD13FC6EA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8067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7" grpId="0"/>
      <p:bldP spid="8" grpId="0" animBg="1"/>
      <p:bldP spid="9" grpId="0" animBg="1"/>
      <p:bldP spid="10" grpId="0"/>
      <p:bldP spid="11" grpId="0"/>
      <p:bldP spid="12" grpId="0"/>
      <p:bldP spid="13" grpId="0" animBg="1"/>
      <p:bldP spid="14" grpId="0" animBg="1"/>
      <p:bldP spid="15" grpId="0"/>
      <p:bldP spid="16" grpId="0"/>
      <p:bldP spid="17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7D028-CD35-4FE1-BD52-6AFB159AE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373" y="188640"/>
            <a:ext cx="82296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模糊与概率的关系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893416-174D-4BB5-B961-FE94CFC09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440" y="1560240"/>
            <a:ext cx="10297144" cy="510912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b="1" dirty="0">
                <a:solidFill>
                  <a:srgbClr val="FF0000"/>
                </a:solidFill>
              </a:rPr>
              <a:t>F</a:t>
            </a:r>
            <a:r>
              <a:rPr lang="zh-CN" altLang="en-US" b="1" dirty="0">
                <a:solidFill>
                  <a:srgbClr val="FF0000"/>
                </a:solidFill>
              </a:rPr>
              <a:t>事件的概率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zh-CN" altLang="en-US" b="1" dirty="0"/>
              <a:t>事件本身是</a:t>
            </a:r>
            <a:r>
              <a:rPr lang="en-US" altLang="zh-CN" b="1" dirty="0"/>
              <a:t>F</a:t>
            </a:r>
            <a:r>
              <a:rPr lang="zh-CN" altLang="en-US" b="1" dirty="0"/>
              <a:t>的，而概率值是普通数值。</a:t>
            </a:r>
            <a:endParaRPr lang="en-US" altLang="zh-CN" b="1" dirty="0"/>
          </a:p>
          <a:p>
            <a:pPr lvl="1">
              <a:lnSpc>
                <a:spcPct val="100000"/>
              </a:lnSpc>
            </a:pPr>
            <a:r>
              <a:rPr lang="zh-CN" altLang="en-US" b="1" dirty="0"/>
              <a:t>如何度量“</a:t>
            </a:r>
            <a:r>
              <a:rPr lang="zh-CN" altLang="en-US" b="1" u="sng" dirty="0">
                <a:solidFill>
                  <a:srgbClr val="008000"/>
                </a:solidFill>
              </a:rPr>
              <a:t>明天可能下大雨。</a:t>
            </a:r>
            <a:r>
              <a:rPr lang="zh-CN" altLang="en-US" b="1" dirty="0"/>
              <a:t>”发生可能性？</a:t>
            </a:r>
            <a:endParaRPr lang="en-US" altLang="zh-CN" b="1" dirty="0"/>
          </a:p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rgbClr val="0000FF"/>
                </a:solidFill>
              </a:rPr>
              <a:t>事件的</a:t>
            </a:r>
            <a:r>
              <a:rPr lang="en-US" altLang="zh-CN" b="1" dirty="0">
                <a:solidFill>
                  <a:srgbClr val="0000FF"/>
                </a:solidFill>
              </a:rPr>
              <a:t>F</a:t>
            </a:r>
            <a:r>
              <a:rPr lang="zh-CN" altLang="en-US" b="1" dirty="0">
                <a:solidFill>
                  <a:srgbClr val="0000FF"/>
                </a:solidFill>
              </a:rPr>
              <a:t>概率</a:t>
            </a:r>
            <a:endParaRPr lang="en-US" altLang="zh-CN" b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</a:pPr>
            <a:r>
              <a:rPr lang="zh-CN" altLang="en-US" b="1" dirty="0"/>
              <a:t>事件本身是明确的，但概率是</a:t>
            </a:r>
            <a:r>
              <a:rPr lang="en-US" altLang="zh-CN" b="1" dirty="0"/>
              <a:t>F</a:t>
            </a:r>
            <a:r>
              <a:rPr lang="zh-CN" altLang="en-US" b="1" dirty="0"/>
              <a:t>的。</a:t>
            </a:r>
            <a:endParaRPr lang="en-US" altLang="zh-CN" b="1" dirty="0"/>
          </a:p>
          <a:p>
            <a:pPr lvl="1">
              <a:lnSpc>
                <a:spcPct val="100000"/>
              </a:lnSpc>
            </a:pPr>
            <a:r>
              <a:rPr lang="zh-CN" altLang="en-US" b="1" dirty="0"/>
              <a:t>如何度量“</a:t>
            </a:r>
            <a:r>
              <a:rPr lang="zh-CN" altLang="en-US" b="1" u="sng" dirty="0">
                <a:solidFill>
                  <a:srgbClr val="008000"/>
                </a:solidFill>
              </a:rPr>
              <a:t>他明天来的可能性多大？</a:t>
            </a:r>
            <a:r>
              <a:rPr lang="zh-CN" altLang="en-US" b="1" dirty="0"/>
              <a:t>”</a:t>
            </a:r>
            <a:endParaRPr lang="en-US" altLang="zh-CN" b="1" dirty="0"/>
          </a:p>
          <a:p>
            <a:pPr>
              <a:lnSpc>
                <a:spcPct val="100000"/>
              </a:lnSpc>
            </a:pPr>
            <a:r>
              <a:rPr lang="en-US" altLang="zh-CN" b="1" dirty="0">
                <a:solidFill>
                  <a:srgbClr val="CC00CC"/>
                </a:solidFill>
              </a:rPr>
              <a:t>F</a:t>
            </a:r>
            <a:r>
              <a:rPr lang="zh-CN" altLang="en-US" b="1" dirty="0">
                <a:solidFill>
                  <a:srgbClr val="CC00CC"/>
                </a:solidFill>
              </a:rPr>
              <a:t>事件的</a:t>
            </a:r>
            <a:r>
              <a:rPr lang="en-US" altLang="zh-CN" b="1" dirty="0">
                <a:solidFill>
                  <a:srgbClr val="CC00CC"/>
                </a:solidFill>
              </a:rPr>
              <a:t>F</a:t>
            </a:r>
            <a:r>
              <a:rPr lang="zh-CN" altLang="en-US" b="1" dirty="0">
                <a:solidFill>
                  <a:srgbClr val="CC00CC"/>
                </a:solidFill>
              </a:rPr>
              <a:t>概率</a:t>
            </a:r>
            <a:r>
              <a:rPr lang="en-US" altLang="zh-CN" b="1" dirty="0">
                <a:solidFill>
                  <a:srgbClr val="CC00CC"/>
                </a:solidFill>
              </a:rPr>
              <a:t>(F</a:t>
            </a:r>
            <a:r>
              <a:rPr lang="zh-CN" altLang="en-US" b="1" dirty="0">
                <a:solidFill>
                  <a:srgbClr val="CC00CC"/>
                </a:solidFill>
              </a:rPr>
              <a:t>事件的语言概率</a:t>
            </a:r>
            <a:r>
              <a:rPr lang="en-US" altLang="zh-CN" b="1" dirty="0">
                <a:solidFill>
                  <a:srgbClr val="CC00CC"/>
                </a:solidFill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zh-CN" altLang="en-US" b="1" dirty="0"/>
              <a:t>事件本身是</a:t>
            </a:r>
            <a:r>
              <a:rPr lang="en-US" altLang="zh-CN" b="1" dirty="0"/>
              <a:t>F</a:t>
            </a:r>
            <a:r>
              <a:rPr lang="zh-CN" altLang="en-US" b="1" dirty="0"/>
              <a:t>的，并且概率也是</a:t>
            </a:r>
            <a:r>
              <a:rPr lang="en-US" altLang="zh-CN" b="1" dirty="0"/>
              <a:t>F</a:t>
            </a:r>
            <a:r>
              <a:rPr lang="zh-CN" altLang="en-US" b="1" dirty="0"/>
              <a:t>的。</a:t>
            </a:r>
            <a:endParaRPr lang="en-US" altLang="zh-CN" b="1" dirty="0"/>
          </a:p>
          <a:p>
            <a:pPr lvl="1">
              <a:lnSpc>
                <a:spcPct val="100000"/>
              </a:lnSpc>
            </a:pPr>
            <a:r>
              <a:rPr lang="zh-CN" altLang="en-US" b="1" dirty="0"/>
              <a:t>如：</a:t>
            </a:r>
            <a:r>
              <a:rPr lang="zh-CN" altLang="en-US" b="1" dirty="0">
                <a:solidFill>
                  <a:srgbClr val="008000"/>
                </a:solidFill>
              </a:rPr>
              <a:t>“</a:t>
            </a:r>
            <a:r>
              <a:rPr lang="zh-CN" altLang="en-US" b="1" u="sng" dirty="0">
                <a:solidFill>
                  <a:srgbClr val="008000"/>
                </a:solidFill>
              </a:rPr>
              <a:t>明天下大雨的可能性很大。</a:t>
            </a:r>
            <a:r>
              <a:rPr lang="zh-CN" altLang="en-US" b="1" dirty="0">
                <a:solidFill>
                  <a:srgbClr val="008000"/>
                </a:solidFill>
              </a:rPr>
              <a:t>”</a:t>
            </a:r>
            <a:endParaRPr lang="en-US" altLang="zh-CN" b="1" dirty="0">
              <a:solidFill>
                <a:srgbClr val="008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8F2D4A-93E1-7153-DBE4-0E27E97F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9035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91C3DB-A340-47EA-8847-5B4F2D66D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41176"/>
            <a:ext cx="82296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经典概率论中的随机事件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3A70A9-5C70-4F66-8869-76D36CFBE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456" y="1340768"/>
            <a:ext cx="10081120" cy="540404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基本事件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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样本点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zh-CN" altLang="en-US" b="1" dirty="0"/>
              <a:t>随机试验</a:t>
            </a:r>
            <a:r>
              <a:rPr lang="en-US" altLang="zh-CN" b="1" dirty="0"/>
              <a:t>E</a:t>
            </a:r>
            <a:r>
              <a:rPr lang="zh-CN" altLang="en-US" b="1" dirty="0"/>
              <a:t>的每个可能出现的结果</a:t>
            </a:r>
            <a:r>
              <a:rPr lang="en-US" altLang="zh-CN" b="1" dirty="0"/>
              <a:t>.</a:t>
            </a:r>
          </a:p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样本空间</a:t>
            </a:r>
            <a:r>
              <a:rPr lang="en-US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</a:t>
            </a:r>
            <a:r>
              <a:rPr lang="en-US" altLang="zh-CN" b="1" dirty="0">
                <a:solidFill>
                  <a:srgbClr val="0000FF"/>
                </a:solidFill>
                <a:latin typeface="+mj-lt"/>
                <a:ea typeface="黑体" panose="02010609060101010101" pitchFamily="49" charset="-122"/>
                <a:sym typeface="Symbol" panose="05050102010706020507" pitchFamily="18" charset="2"/>
              </a:rPr>
              <a:t>U</a:t>
            </a:r>
          </a:p>
          <a:p>
            <a:pPr lvl="1">
              <a:lnSpc>
                <a:spcPct val="100000"/>
              </a:lnSpc>
            </a:pPr>
            <a:r>
              <a:rPr lang="zh-CN" altLang="en-US" b="1" dirty="0">
                <a:sym typeface="Symbol" panose="05050102010706020507" pitchFamily="18" charset="2"/>
              </a:rPr>
              <a:t>全体基本事件所构成的集合。</a:t>
            </a:r>
            <a:endParaRPr lang="en-US" altLang="zh-CN" b="1" dirty="0">
              <a:sym typeface="Symbol" panose="05050102010706020507" pitchFamily="18" charset="2"/>
            </a:endParaRPr>
          </a:p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随机事件</a:t>
            </a:r>
            <a:r>
              <a:rPr lang="en-US" altLang="zh-CN" b="1" dirty="0">
                <a:solidFill>
                  <a:srgbClr val="CC00CC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</a:p>
          <a:p>
            <a:pPr lvl="1">
              <a:lnSpc>
                <a:spcPct val="100000"/>
              </a:lnSpc>
            </a:pPr>
            <a:r>
              <a:rPr lang="zh-CN" altLang="en-US" b="1" dirty="0">
                <a:sym typeface="Symbol" panose="05050102010706020507" pitchFamily="18" charset="2"/>
              </a:rPr>
              <a:t>样本空间</a:t>
            </a:r>
            <a:r>
              <a:rPr lang="en-US" altLang="zh-CN" b="1" dirty="0">
                <a:sym typeface="Symbol" panose="05050102010706020507" pitchFamily="18" charset="2"/>
              </a:rPr>
              <a:t>U</a:t>
            </a:r>
            <a:r>
              <a:rPr lang="zh-CN" altLang="en-US" b="1" dirty="0">
                <a:sym typeface="Symbol" panose="05050102010706020507" pitchFamily="18" charset="2"/>
              </a:rPr>
              <a:t>中的一个子集，简称事件。</a:t>
            </a:r>
            <a:endParaRPr lang="en-US" altLang="zh-CN" b="1" dirty="0">
              <a:sym typeface="Symbol" panose="05050102010706020507" pitchFamily="18" charset="2"/>
            </a:endParaRPr>
          </a:p>
          <a:p>
            <a:pPr lvl="1">
              <a:lnSpc>
                <a:spcPct val="100000"/>
              </a:lnSpc>
            </a:pPr>
            <a:r>
              <a:rPr lang="zh-CN" altLang="en-US" b="1" dirty="0">
                <a:sym typeface="Symbol" panose="05050102010706020507" pitchFamily="18" charset="2"/>
              </a:rPr>
              <a:t>所有事件集合的集合</a:t>
            </a:r>
            <a:r>
              <a:rPr lang="en-US" altLang="zh-CN" b="1" dirty="0">
                <a:sym typeface="Symbol" panose="05050102010706020507" pitchFamily="18" charset="2"/>
              </a:rPr>
              <a:t>(A</a:t>
            </a:r>
            <a:r>
              <a:rPr lang="zh-CN" altLang="en-US" b="1" dirty="0">
                <a:sym typeface="Symbol" panose="05050102010706020507" pitchFamily="18" charset="2"/>
              </a:rPr>
              <a:t>的幂集</a:t>
            </a:r>
            <a:r>
              <a:rPr lang="en-US" altLang="zh-CN" b="1" dirty="0">
                <a:sym typeface="Symbol" panose="05050102010706020507" pitchFamily="18" charset="2"/>
              </a:rPr>
              <a:t>)</a:t>
            </a:r>
            <a:r>
              <a:rPr lang="zh-CN" altLang="en-US" b="1" dirty="0">
                <a:sym typeface="Symbol" panose="05050102010706020507" pitchFamily="18" charset="2"/>
              </a:rPr>
              <a:t>称为</a:t>
            </a:r>
            <a:r>
              <a:rPr lang="en-US" altLang="zh-CN" b="1" dirty="0">
                <a:solidFill>
                  <a:srgbClr val="7030A0"/>
                </a:solidFill>
                <a:sym typeface="Symbol" panose="05050102010706020507" pitchFamily="18" charset="2"/>
              </a:rPr>
              <a:t>V</a:t>
            </a:r>
            <a:r>
              <a:rPr lang="zh-CN" altLang="en-US" b="1" dirty="0">
                <a:sym typeface="Symbol" panose="05050102010706020507" pitchFamily="18" charset="2"/>
              </a:rPr>
              <a:t>。</a:t>
            </a:r>
            <a:endParaRPr lang="en-US" altLang="zh-CN" b="1" dirty="0">
              <a:sym typeface="Symbol" panose="05050102010706020507" pitchFamily="18" charset="2"/>
            </a:endParaRPr>
          </a:p>
          <a:p>
            <a:pPr>
              <a:lnSpc>
                <a:spcPct val="100000"/>
              </a:lnSpc>
            </a:pPr>
            <a:r>
              <a:rPr lang="zh-CN" altLang="en-US" b="1" dirty="0"/>
              <a:t>若把</a:t>
            </a:r>
            <a:r>
              <a:rPr lang="zh-CN" altLang="en-US" b="1" u="sng" dirty="0"/>
              <a:t>样本空间</a:t>
            </a:r>
            <a:r>
              <a:rPr lang="en-US" altLang="zh-CN" b="1" u="sng" dirty="0">
                <a:sym typeface="Symbol" panose="05050102010706020507" pitchFamily="18" charset="2"/>
              </a:rPr>
              <a:t>U</a:t>
            </a:r>
            <a:r>
              <a:rPr lang="zh-CN" altLang="en-US" b="1" dirty="0">
                <a:sym typeface="Symbol" panose="05050102010706020507" pitchFamily="18" charset="2"/>
              </a:rPr>
              <a:t>和</a:t>
            </a:r>
            <a:r>
              <a:rPr lang="zh-CN" altLang="en-US" b="1" u="sng" dirty="0">
                <a:sym typeface="Symbol" panose="05050102010706020507" pitchFamily="18" charset="2"/>
              </a:rPr>
              <a:t>空集</a:t>
            </a:r>
            <a:r>
              <a:rPr lang="zh-CN" altLang="en-US" b="1" dirty="0">
                <a:sym typeface="Symbol" panose="05050102010706020507" pitchFamily="18" charset="2"/>
              </a:rPr>
              <a:t>看作一个事件，则</a:t>
            </a:r>
            <a:endParaRPr lang="en-US" altLang="zh-CN" b="1" dirty="0">
              <a:sym typeface="Symbol" panose="05050102010706020507" pitchFamily="18" charset="2"/>
            </a:endParaRPr>
          </a:p>
          <a:p>
            <a:pPr lvl="1">
              <a:lnSpc>
                <a:spcPct val="100000"/>
              </a:lnSpc>
            </a:pPr>
            <a:r>
              <a:rPr lang="zh-CN" altLang="en-US" b="1" dirty="0">
                <a:sym typeface="Symbol" panose="05050102010706020507" pitchFamily="18" charset="2"/>
              </a:rPr>
              <a:t>称</a:t>
            </a:r>
            <a:r>
              <a:rPr lang="en-US" altLang="zh-CN" b="1" dirty="0">
                <a:sym typeface="Symbol" panose="05050102010706020507" pitchFamily="18" charset="2"/>
              </a:rPr>
              <a:t>U</a:t>
            </a:r>
            <a:r>
              <a:rPr lang="zh-CN" altLang="en-US" b="1" dirty="0">
                <a:sym typeface="Symbol" panose="05050102010706020507" pitchFamily="18" charset="2"/>
              </a:rPr>
              <a:t>为</a:t>
            </a:r>
            <a:r>
              <a:rPr lang="zh-CN" altLang="en-US" b="1" dirty="0">
                <a:solidFill>
                  <a:srgbClr val="008000"/>
                </a:solidFill>
                <a:sym typeface="Symbol" panose="05050102010706020507" pitchFamily="18" charset="2"/>
              </a:rPr>
              <a:t>必然事件。</a:t>
            </a:r>
            <a:endParaRPr lang="en-US" altLang="zh-CN" b="1" dirty="0">
              <a:solidFill>
                <a:srgbClr val="008000"/>
              </a:solidFill>
              <a:sym typeface="Symbol" panose="05050102010706020507" pitchFamily="18" charset="2"/>
            </a:endParaRPr>
          </a:p>
          <a:p>
            <a:pPr lvl="1">
              <a:lnSpc>
                <a:spcPct val="100000"/>
              </a:lnSpc>
            </a:pPr>
            <a:r>
              <a:rPr lang="zh-CN" altLang="en-US" b="1" dirty="0">
                <a:sym typeface="Symbol" panose="05050102010706020507" pitchFamily="18" charset="2"/>
              </a:rPr>
              <a:t>称为</a:t>
            </a:r>
            <a:r>
              <a:rPr lang="zh-CN" altLang="en-US" b="1" dirty="0">
                <a:solidFill>
                  <a:srgbClr val="008000"/>
                </a:solidFill>
                <a:sym typeface="Symbol" panose="05050102010706020507" pitchFamily="18" charset="2"/>
              </a:rPr>
              <a:t>不可能事件。</a:t>
            </a:r>
            <a:endParaRPr lang="en-US" altLang="zh-CN" b="1" dirty="0">
              <a:solidFill>
                <a:srgbClr val="008000"/>
              </a:solidFill>
              <a:sym typeface="Symbol" panose="05050102010706020507" pitchFamily="18" charset="2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5C9B2E-938F-1812-C4CF-D69A70F47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0084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91C3DB-A340-47EA-8847-5B4F2D66D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480" y="113184"/>
            <a:ext cx="82296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经典概率论中的概率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3A70A9-5C70-4F66-8869-76D36CFBE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6108" y="1772816"/>
            <a:ext cx="10130451" cy="5085183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事件</a:t>
            </a:r>
            <a:r>
              <a:rPr lang="en-US" altLang="zh-CN" b="1" dirty="0">
                <a:solidFill>
                  <a:srgbClr val="CC00CC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zh-CN" altLang="en-US" b="1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的概率</a:t>
            </a:r>
            <a:r>
              <a:rPr lang="en-US" altLang="zh-CN" b="1" dirty="0">
                <a:solidFill>
                  <a:srgbClr val="CC00CC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P(A)</a:t>
            </a:r>
          </a:p>
          <a:p>
            <a:pPr lvl="1">
              <a:lnSpc>
                <a:spcPct val="100000"/>
              </a:lnSpc>
            </a:pPr>
            <a:r>
              <a:rPr lang="zh-CN" altLang="en-US" b="1" dirty="0">
                <a:sym typeface="Symbol" panose="05050102010706020507" pitchFamily="18" charset="2"/>
              </a:rPr>
              <a:t>在相同条件下，多次重复试验时，事件</a:t>
            </a:r>
            <a:r>
              <a:rPr lang="en-US" altLang="zh-CN" b="1" dirty="0">
                <a:sym typeface="Symbol" panose="05050102010706020507" pitchFamily="18" charset="2"/>
              </a:rPr>
              <a:t>A</a:t>
            </a:r>
            <a:r>
              <a:rPr lang="zh-CN" altLang="en-US" b="1" dirty="0">
                <a:sym typeface="Symbol" panose="05050102010706020507" pitchFamily="18" charset="2"/>
              </a:rPr>
              <a:t>出现的频率的稳定值。</a:t>
            </a:r>
            <a:endParaRPr lang="en-US" altLang="zh-CN" b="1" dirty="0">
              <a:sym typeface="Symbol" panose="05050102010706020507" pitchFamily="18" charset="2"/>
            </a:endParaRPr>
          </a:p>
          <a:p>
            <a:pPr lvl="1">
              <a:lnSpc>
                <a:spcPct val="100000"/>
              </a:lnSpc>
            </a:pPr>
            <a:r>
              <a:rPr lang="zh-CN" altLang="en-US" b="1" dirty="0">
                <a:sym typeface="Symbol" panose="05050102010706020507" pitchFamily="18" charset="2"/>
              </a:rPr>
              <a:t>若随机试验</a:t>
            </a:r>
            <a:r>
              <a:rPr lang="en-US" altLang="zh-CN" b="1" dirty="0">
                <a:sym typeface="Symbol" panose="05050102010706020507" pitchFamily="18" charset="2"/>
              </a:rPr>
              <a:t>E</a:t>
            </a:r>
            <a:r>
              <a:rPr lang="zh-CN" altLang="en-US" b="1" dirty="0">
                <a:sym typeface="Symbol" panose="05050102010706020507" pitchFamily="18" charset="2"/>
              </a:rPr>
              <a:t>的样本空间为</a:t>
            </a:r>
            <a:r>
              <a:rPr lang="en-US" altLang="zh-CN" b="1" dirty="0">
                <a:sym typeface="Symbol" panose="05050102010706020507" pitchFamily="18" charset="2"/>
              </a:rPr>
              <a:t>U</a:t>
            </a:r>
            <a:r>
              <a:rPr lang="zh-CN" altLang="en-US" b="1" dirty="0">
                <a:sym typeface="Symbol" panose="05050102010706020507" pitchFamily="18" charset="2"/>
              </a:rPr>
              <a:t>，</a:t>
            </a:r>
            <a:r>
              <a:rPr lang="en-US" altLang="zh-CN" b="1" dirty="0">
                <a:sym typeface="Symbol" panose="05050102010706020507" pitchFamily="18" charset="2"/>
              </a:rPr>
              <a:t>A</a:t>
            </a:r>
            <a:r>
              <a:rPr lang="zh-CN" altLang="en-US" b="1" dirty="0">
                <a:sym typeface="Symbol" panose="05050102010706020507" pitchFamily="18" charset="2"/>
              </a:rPr>
              <a:t>为一事件，实数</a:t>
            </a:r>
            <a:r>
              <a:rPr lang="en-US" altLang="zh-CN" b="1" i="1" dirty="0">
                <a:solidFill>
                  <a:srgbClr val="FF00FF"/>
                </a:solidFill>
                <a:sym typeface="Symbol" panose="05050102010706020507" pitchFamily="18" charset="2"/>
              </a:rPr>
              <a:t>p</a:t>
            </a:r>
            <a:r>
              <a:rPr lang="en-US" altLang="zh-CN" b="1" dirty="0">
                <a:solidFill>
                  <a:srgbClr val="FF00FF"/>
                </a:solidFill>
                <a:sym typeface="Symbol" panose="05050102010706020507" pitchFamily="18" charset="2"/>
              </a:rPr>
              <a:t>(A)</a:t>
            </a:r>
            <a:r>
              <a:rPr lang="zh-CN" altLang="en-US" b="1" dirty="0">
                <a:solidFill>
                  <a:srgbClr val="FF00FF"/>
                </a:solidFill>
                <a:sym typeface="Symbol" panose="05050102010706020507" pitchFamily="18" charset="2"/>
              </a:rPr>
              <a:t>称为事件</a:t>
            </a:r>
            <a:r>
              <a:rPr lang="en-US" altLang="zh-CN" b="1" dirty="0">
                <a:solidFill>
                  <a:srgbClr val="FF00FF"/>
                </a:solidFill>
                <a:sym typeface="Symbol" panose="05050102010706020507" pitchFamily="18" charset="2"/>
              </a:rPr>
              <a:t>A</a:t>
            </a:r>
            <a:r>
              <a:rPr lang="zh-CN" altLang="en-US" b="1" dirty="0">
                <a:solidFill>
                  <a:srgbClr val="FF00FF"/>
                </a:solidFill>
                <a:sym typeface="Symbol" panose="05050102010706020507" pitchFamily="18" charset="2"/>
              </a:rPr>
              <a:t>的概率</a:t>
            </a:r>
            <a:r>
              <a:rPr lang="zh-CN" altLang="en-US" b="1" dirty="0">
                <a:sym typeface="Symbol" panose="05050102010706020507" pitchFamily="18" charset="2"/>
              </a:rPr>
              <a:t>。</a:t>
            </a:r>
            <a:endParaRPr lang="en-US" altLang="zh-CN" b="1" dirty="0">
              <a:sym typeface="Symbol" panose="05050102010706020507" pitchFamily="18" charset="2"/>
            </a:endParaRPr>
          </a:p>
          <a:p>
            <a:pPr lvl="1">
              <a:lnSpc>
                <a:spcPct val="100000"/>
              </a:lnSpc>
            </a:pPr>
            <a:endParaRPr lang="en-US" altLang="zh-CN" sz="4000" b="1" dirty="0">
              <a:sym typeface="Symbol" panose="05050102010706020507" pitchFamily="18" charset="2"/>
            </a:endParaRPr>
          </a:p>
          <a:p>
            <a:pPr lvl="1">
              <a:lnSpc>
                <a:spcPct val="100000"/>
              </a:lnSpc>
            </a:pPr>
            <a:endParaRPr lang="en-US" altLang="zh-CN" sz="3600" b="1" dirty="0">
              <a:sym typeface="Symbol" panose="05050102010706020507" pitchFamily="18" charset="2"/>
            </a:endParaRPr>
          </a:p>
          <a:p>
            <a:pPr lvl="1">
              <a:lnSpc>
                <a:spcPct val="100000"/>
              </a:lnSpc>
            </a:pPr>
            <a:endParaRPr lang="en-US" altLang="zh-CN" sz="3600" b="1" dirty="0">
              <a:sym typeface="Symbol" panose="05050102010706020507" pitchFamily="18" charset="2"/>
            </a:endParaRPr>
          </a:p>
          <a:p>
            <a:pPr lvl="1">
              <a:lnSpc>
                <a:spcPct val="100000"/>
              </a:lnSpc>
            </a:pPr>
            <a:endParaRPr lang="en-US" altLang="zh-CN" b="1" dirty="0">
              <a:sym typeface="Symbol" panose="05050102010706020507" pitchFamily="18" charset="2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zh-CN" altLang="en-US" sz="3200" b="1" dirty="0">
                <a:solidFill>
                  <a:srgbClr val="FF0000"/>
                </a:solidFill>
                <a:sym typeface="Symbol" panose="05050102010706020507" pitchFamily="18" charset="2"/>
              </a:rPr>
              <a:t>可见</a:t>
            </a:r>
            <a:r>
              <a:rPr lang="en-US" altLang="zh-CN" sz="3200" b="1" dirty="0">
                <a:solidFill>
                  <a:srgbClr val="FF0000"/>
                </a:solidFill>
                <a:sym typeface="Symbol" panose="05050102010706020507" pitchFamily="18" charset="2"/>
              </a:rPr>
              <a:t>, A</a:t>
            </a:r>
            <a:r>
              <a:rPr lang="zh-CN" altLang="en-US" sz="3200" b="1" dirty="0">
                <a:solidFill>
                  <a:srgbClr val="FF0000"/>
                </a:solidFill>
                <a:sym typeface="Symbol" panose="05050102010706020507" pitchFamily="18" charset="2"/>
              </a:rPr>
              <a:t>的概率是</a:t>
            </a:r>
            <a:r>
              <a:rPr lang="en-US" altLang="zh-CN" sz="3200" b="1" dirty="0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zh-CN" altLang="en-US" sz="3200" b="1" dirty="0">
                <a:solidFill>
                  <a:srgbClr val="FF0000"/>
                </a:solidFill>
                <a:sym typeface="Symbol" panose="05050102010706020507" pitchFamily="18" charset="2"/>
              </a:rPr>
              <a:t>的特征函数</a:t>
            </a:r>
            <a:r>
              <a:rPr lang="en-US" altLang="zh-CN" sz="3200" b="1" i="1" dirty="0">
                <a:solidFill>
                  <a:srgbClr val="FF0000"/>
                </a:solidFill>
                <a:sym typeface="Symbol" panose="05050102010706020507" pitchFamily="18" charset="2"/>
              </a:rPr>
              <a:t>C</a:t>
            </a:r>
            <a:r>
              <a:rPr lang="en-US" altLang="zh-CN" sz="3200" b="1" i="1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zh-CN" altLang="en-US" sz="3200" b="1" dirty="0">
                <a:solidFill>
                  <a:srgbClr val="FF0000"/>
                </a:solidFill>
                <a:sym typeface="Symbol" panose="05050102010706020507" pitchFamily="18" charset="2"/>
              </a:rPr>
              <a:t>的数学期望</a:t>
            </a:r>
            <a:r>
              <a:rPr lang="en-US" altLang="zh-CN" sz="3200" b="1" dirty="0">
                <a:solidFill>
                  <a:srgbClr val="FF0000"/>
                </a:solidFill>
                <a:sym typeface="Symbol" panose="05050102010706020507" pitchFamily="18" charset="2"/>
              </a:rPr>
              <a:t>E(</a:t>
            </a:r>
            <a:r>
              <a:rPr lang="en-US" altLang="zh-CN" sz="3200" b="1" i="1" dirty="0">
                <a:solidFill>
                  <a:srgbClr val="FF0000"/>
                </a:solidFill>
                <a:sym typeface="Symbol" panose="05050102010706020507" pitchFamily="18" charset="2"/>
              </a:rPr>
              <a:t>C</a:t>
            </a:r>
            <a:r>
              <a:rPr lang="en-US" altLang="zh-CN" sz="3200" b="1" i="1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altLang="zh-CN" sz="3200" b="1" dirty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zh-CN" altLang="en-US" dirty="0"/>
          </a:p>
        </p:txBody>
      </p:sp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EF65E421-F9C4-473D-96D6-7D2D80C9FA24}"/>
              </a:ext>
            </a:extLst>
          </p:cNvPr>
          <p:cNvSpPr/>
          <p:nvPr/>
        </p:nvSpPr>
        <p:spPr bwMode="auto">
          <a:xfrm>
            <a:off x="8426450" y="27571"/>
            <a:ext cx="3765550" cy="2295677"/>
          </a:xfrm>
          <a:prstGeom prst="wedgeRoundRectCallout">
            <a:avLst>
              <a:gd name="adj1" fmla="val -26956"/>
              <a:gd name="adj2" fmla="val 44642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3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概率空间</a:t>
            </a:r>
            <a:r>
              <a:rPr lang="en-US" altLang="zh-CN" sz="3200" b="1" dirty="0">
                <a:solidFill>
                  <a:srgbClr val="0070C0"/>
                </a:solidFill>
              </a:rPr>
              <a:t>(</a:t>
            </a:r>
            <a:r>
              <a:rPr lang="en-US" altLang="zh-CN" sz="32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32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32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3200" b="1" dirty="0">
                <a:solidFill>
                  <a:srgbClr val="0070C0"/>
                </a:solidFill>
              </a:rPr>
              <a:t>)</a:t>
            </a:r>
          </a:p>
          <a:p>
            <a:r>
              <a:rPr lang="en-US" altLang="zh-CN" sz="32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altLang="zh-CN" sz="3200" b="1" dirty="0">
                <a:solidFill>
                  <a:srgbClr val="0070C0"/>
                </a:solidFill>
              </a:rPr>
              <a:t>:  </a:t>
            </a:r>
            <a:r>
              <a:rPr lang="zh-CN" altLang="en-US" sz="2800" b="1" dirty="0"/>
              <a:t>样本空间</a:t>
            </a:r>
            <a:endParaRPr lang="en-US" altLang="zh-CN" sz="3200" b="1" dirty="0"/>
          </a:p>
          <a:p>
            <a:r>
              <a:rPr lang="en-US" altLang="zh-CN" sz="32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altLang="zh-CN" sz="3200" b="1" dirty="0">
                <a:solidFill>
                  <a:srgbClr val="0070C0"/>
                </a:solidFill>
              </a:rPr>
              <a:t>:  </a:t>
            </a:r>
            <a:r>
              <a:rPr lang="zh-CN" altLang="en-US" sz="2800" b="1" dirty="0">
                <a:sym typeface="Symbol" panose="05050102010706020507" pitchFamily="18" charset="2"/>
              </a:rPr>
              <a:t>所有事件的集合</a:t>
            </a:r>
            <a:endParaRPr lang="en-US" altLang="zh-CN" sz="3200" b="1" dirty="0">
              <a:solidFill>
                <a:srgbClr val="C00000"/>
              </a:solidFill>
            </a:endParaRPr>
          </a:p>
          <a:p>
            <a:r>
              <a:rPr lang="en-US" altLang="zh-CN" sz="32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altLang="zh-CN" sz="3200" b="1" dirty="0">
                <a:solidFill>
                  <a:srgbClr val="0070C0"/>
                </a:solidFill>
              </a:rPr>
              <a:t>:  </a:t>
            </a:r>
            <a:r>
              <a:rPr lang="zh-CN" altLang="en-US" sz="2800" b="1" dirty="0"/>
              <a:t>概率测度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2F9B5DC-7336-4427-9BE9-E01E22CCFC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4102035"/>
              </p:ext>
            </p:extLst>
          </p:nvPr>
        </p:nvGraphicFramePr>
        <p:xfrm>
          <a:off x="2279576" y="4109442"/>
          <a:ext cx="3048000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95280" imgH="291960" progId="Equation.DSMT4">
                  <p:embed/>
                </p:oleObj>
              </mc:Choice>
              <mc:Fallback>
                <p:oleObj name="Equation" r:id="rId3" imgW="129528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79576" y="4109442"/>
                        <a:ext cx="3048000" cy="687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C737AE4-3F11-4964-844D-071D5C653B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3380835"/>
              </p:ext>
            </p:extLst>
          </p:nvPr>
        </p:nvGraphicFramePr>
        <p:xfrm>
          <a:off x="2280563" y="4829522"/>
          <a:ext cx="6684962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08080" imgH="457200" progId="Equation.DSMT4">
                  <p:embed/>
                </p:oleObj>
              </mc:Choice>
              <mc:Fallback>
                <p:oleObj name="Equation" r:id="rId5" imgW="2908080" imgH="4572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42F9B5DC-7336-4427-9BE9-E01E22CCFC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80563" y="4829522"/>
                        <a:ext cx="6684962" cy="1047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44D9A1-7316-176D-5156-2FC97963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2438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8007D3-BD3F-4ED6-A2AC-1794007B0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16632"/>
            <a:ext cx="8229600" cy="137160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8000"/>
                </a:solidFill>
              </a:rPr>
              <a:t>10.1  F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事件的概率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19D4E0-AACE-40A2-88C9-5044DDD4E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456" y="1488232"/>
            <a:ext cx="10009112" cy="503711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b="1" dirty="0"/>
              <a:t>在概率空间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b="1" dirty="0"/>
              <a:t>上</a:t>
            </a:r>
            <a:r>
              <a:rPr lang="en-US" altLang="zh-CN" b="1" dirty="0"/>
              <a:t>F</a:t>
            </a:r>
            <a:r>
              <a:rPr lang="zh-CN" altLang="en-US" b="1" dirty="0"/>
              <a:t>事件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b="1" dirty="0"/>
              <a:t>的概率定义为</a:t>
            </a:r>
            <a:endParaRPr lang="en-US" altLang="zh-CN" b="1" dirty="0"/>
          </a:p>
          <a:p>
            <a:pPr lvl="1">
              <a:lnSpc>
                <a:spcPct val="100000"/>
              </a:lnSpc>
            </a:pPr>
            <a:endParaRPr lang="en-US" altLang="zh-CN" sz="2400" b="1" dirty="0"/>
          </a:p>
          <a:p>
            <a:pPr lvl="1">
              <a:lnSpc>
                <a:spcPct val="100000"/>
              </a:lnSpc>
            </a:pPr>
            <a:endParaRPr lang="en-US" altLang="zh-CN" b="1" dirty="0"/>
          </a:p>
          <a:p>
            <a:pPr lvl="1">
              <a:lnSpc>
                <a:spcPct val="100000"/>
              </a:lnSpc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连续集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事件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的概率定义为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pPr lvl="1">
              <a:lnSpc>
                <a:spcPct val="100000"/>
              </a:lnSpc>
            </a:pPr>
            <a:endParaRPr lang="en-US" altLang="zh-CN" sz="4000" b="1" dirty="0"/>
          </a:p>
          <a:p>
            <a:pPr lvl="1">
              <a:lnSpc>
                <a:spcPct val="100000"/>
              </a:lnSpc>
            </a:pPr>
            <a:endParaRPr lang="en-US" altLang="zh-CN" sz="2000" b="1" dirty="0"/>
          </a:p>
          <a:p>
            <a:pPr lvl="1">
              <a:lnSpc>
                <a:spcPct val="100000"/>
              </a:lnSpc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有限集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,…,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=1,2,…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事件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的概率定义为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pPr marL="457200" lvl="1" indent="0">
              <a:buNone/>
            </a:pPr>
            <a:endParaRPr lang="en-US" altLang="zh-CN" b="1" dirty="0"/>
          </a:p>
          <a:p>
            <a:pPr marL="457200" lvl="1" indent="0">
              <a:buNone/>
            </a:pPr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8144687-2D5C-4D6C-B9BE-ECF91C9A65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8793600"/>
              </p:ext>
            </p:extLst>
          </p:nvPr>
        </p:nvGraphicFramePr>
        <p:xfrm>
          <a:off x="3071664" y="2088334"/>
          <a:ext cx="4064000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26920" imgH="355320" progId="Equation.DSMT4">
                  <p:embed/>
                </p:oleObj>
              </mc:Choice>
              <mc:Fallback>
                <p:oleObj name="Equation" r:id="rId3" imgW="1726920" imgH="3553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42F9B5DC-7336-4427-9BE9-E01E22CCFC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71664" y="2088334"/>
                        <a:ext cx="4064000" cy="836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C0B9671-11E9-4AC0-AE2B-AB99B774A8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856438"/>
              </p:ext>
            </p:extLst>
          </p:nvPr>
        </p:nvGraphicFramePr>
        <p:xfrm>
          <a:off x="3067053" y="3600450"/>
          <a:ext cx="330041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58640" imgH="355320" progId="Equation.DSMT4">
                  <p:embed/>
                </p:oleObj>
              </mc:Choice>
              <mc:Fallback>
                <p:oleObj name="Equation" r:id="rId5" imgW="1358640" imgH="3553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E8144687-2D5C-4D6C-B9BE-ECF91C9A65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67053" y="3600450"/>
                        <a:ext cx="3300413" cy="8636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26BDE0C6-70CE-4315-8B1F-1977C00FDFC8}"/>
              </a:ext>
            </a:extLst>
          </p:cNvPr>
          <p:cNvSpPr/>
          <p:nvPr/>
        </p:nvSpPr>
        <p:spPr>
          <a:xfrm>
            <a:off x="6744072" y="3834882"/>
            <a:ext cx="30243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b="1" dirty="0"/>
              <a:t>为概率密度函数</a:t>
            </a:r>
            <a:endParaRPr lang="en-US" altLang="zh-CN" sz="2400" b="1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8515118-BA37-4505-BA1C-78200AA440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1357931"/>
              </p:ext>
            </p:extLst>
          </p:nvPr>
        </p:nvGraphicFramePr>
        <p:xfrm>
          <a:off x="3076898" y="5517228"/>
          <a:ext cx="2659062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30040" imgH="431640" progId="Equation.DSMT4">
                  <p:embed/>
                </p:oleObj>
              </mc:Choice>
              <mc:Fallback>
                <p:oleObj name="Equation" r:id="rId7" imgW="1130040" imgH="4316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2C0B9671-11E9-4AC0-AE2B-AB99B774A8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76898" y="5517228"/>
                        <a:ext cx="2659062" cy="1012825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EEE814-6501-9F57-28D2-A764D421A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6</a:t>
            </a:fld>
            <a:endParaRPr lang="en-US" altLang="zh-CN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81C3335-BBBA-882A-05CA-4E91B2B20B4D}"/>
              </a:ext>
            </a:extLst>
          </p:cNvPr>
          <p:cNvSpPr txBox="1"/>
          <p:nvPr/>
        </p:nvSpPr>
        <p:spPr>
          <a:xfrm>
            <a:off x="7826119" y="5672743"/>
            <a:ext cx="4201513" cy="107721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zh-CN" altLang="en-US" sz="3200" b="1" dirty="0">
                <a:solidFill>
                  <a:srgbClr val="FF0000"/>
                </a:solidFill>
                <a:sym typeface="Symbol" panose="05050102010706020507" pitchFamily="18" charset="2"/>
              </a:rPr>
              <a:t>的概率是</a:t>
            </a:r>
            <a:r>
              <a:rPr lang="en-US" altLang="zh-CN" sz="3200" b="1" dirty="0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zh-CN" altLang="en-US" sz="3200" b="1" dirty="0">
                <a:solidFill>
                  <a:srgbClr val="FF0000"/>
                </a:solidFill>
                <a:sym typeface="Symbol" panose="05050102010706020507" pitchFamily="18" charset="2"/>
              </a:rPr>
              <a:t>的特征函数</a:t>
            </a:r>
            <a:r>
              <a:rPr lang="en-US" altLang="zh-CN" sz="3200" b="1" i="1" dirty="0">
                <a:solidFill>
                  <a:srgbClr val="FF0000"/>
                </a:solidFill>
                <a:sym typeface="Symbol" panose="05050102010706020507" pitchFamily="18" charset="2"/>
              </a:rPr>
              <a:t>C</a:t>
            </a:r>
            <a:r>
              <a:rPr lang="en-US" altLang="zh-CN" sz="3200" b="1" i="1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zh-CN" altLang="en-US" sz="3200" b="1" dirty="0">
                <a:solidFill>
                  <a:srgbClr val="FF0000"/>
                </a:solidFill>
                <a:sym typeface="Symbol" panose="05050102010706020507" pitchFamily="18" charset="2"/>
              </a:rPr>
              <a:t>的数学期望</a:t>
            </a:r>
            <a:r>
              <a:rPr lang="en-US" altLang="zh-CN" sz="3200" b="1" dirty="0">
                <a:solidFill>
                  <a:srgbClr val="FF0000"/>
                </a:solidFill>
                <a:sym typeface="Symbol" panose="05050102010706020507" pitchFamily="18" charset="2"/>
              </a:rPr>
              <a:t>E(</a:t>
            </a:r>
            <a:r>
              <a:rPr lang="en-US" altLang="zh-CN" sz="3200" b="1" i="1" dirty="0">
                <a:solidFill>
                  <a:srgbClr val="FF0000"/>
                </a:solidFill>
                <a:sym typeface="Symbol" panose="05050102010706020507" pitchFamily="18" charset="2"/>
              </a:rPr>
              <a:t>C</a:t>
            </a:r>
            <a:r>
              <a:rPr lang="en-US" altLang="zh-CN" sz="3200" b="1" i="1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A</a:t>
            </a:r>
            <a:r>
              <a:rPr lang="en-US" altLang="zh-CN" sz="3200" b="1" dirty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4219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8007D3-BD3F-4ED6-A2AC-1794007B0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16632"/>
            <a:ext cx="8229600" cy="137160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事件的概率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19D4E0-AACE-40A2-88C9-5044DDD4E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440" y="1488232"/>
            <a:ext cx="10153128" cy="503711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b="1" dirty="0">
                <a:solidFill>
                  <a:srgbClr val="FF0000"/>
                </a:solidFill>
              </a:rPr>
              <a:t>F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</a:t>
            </a:r>
            <a:endParaRPr lang="en-US" altLang="zh-CN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b="1" dirty="0"/>
              <a:t>样本空间</a:t>
            </a:r>
            <a:r>
              <a:rPr lang="en-US" altLang="zh-CN" b="1" dirty="0"/>
              <a:t>U</a:t>
            </a:r>
            <a:r>
              <a:rPr lang="zh-CN" altLang="en-US" b="1" dirty="0"/>
              <a:t>中的任一</a:t>
            </a:r>
            <a:r>
              <a:rPr lang="en-US" altLang="zh-CN" b="1" dirty="0"/>
              <a:t>F</a:t>
            </a:r>
            <a:r>
              <a:rPr lang="zh-CN" altLang="en-US" b="1" dirty="0"/>
              <a:t>集</a:t>
            </a:r>
            <a:r>
              <a:rPr lang="en-US" altLang="zh-CN" b="1" dirty="0"/>
              <a:t>A</a:t>
            </a:r>
            <a:r>
              <a:rPr lang="zh-CN" altLang="en-US" b="1" dirty="0"/>
              <a:t>称为一个</a:t>
            </a:r>
            <a:r>
              <a:rPr lang="en-US" altLang="zh-CN" b="1" dirty="0"/>
              <a:t>F</a:t>
            </a:r>
            <a:r>
              <a:rPr lang="zh-CN" altLang="en-US" b="1" dirty="0"/>
              <a:t>事件。</a:t>
            </a:r>
            <a:endParaRPr lang="en-US" altLang="zh-CN" b="1" dirty="0"/>
          </a:p>
          <a:p>
            <a:pPr>
              <a:lnSpc>
                <a:spcPct val="100000"/>
              </a:lnSpc>
            </a:pPr>
            <a:r>
              <a:rPr lang="zh-CN" altLang="en-US" sz="2800" b="1" dirty="0"/>
              <a:t>例：设某种产品所出现废品的个数为样本空间</a:t>
            </a:r>
            <a:r>
              <a:rPr lang="en-US" altLang="zh-CN" sz="2800" b="1" dirty="0"/>
              <a:t>U</a:t>
            </a:r>
            <a:r>
              <a:rPr lang="zh-CN" altLang="en-US" sz="2800" b="1" dirty="0"/>
              <a:t>，</a:t>
            </a:r>
            <a:endParaRPr lang="en-US" altLang="zh-CN" sz="2800" b="1" dirty="0"/>
          </a:p>
          <a:p>
            <a:pPr lvl="1">
              <a:lnSpc>
                <a:spcPct val="100000"/>
              </a:lnSpc>
            </a:pPr>
            <a:r>
              <a:rPr lang="zh-CN" altLang="en-US" b="1" dirty="0"/>
              <a:t>记为</a:t>
            </a:r>
            <a:r>
              <a:rPr lang="en-US" altLang="zh-CN" b="1" dirty="0"/>
              <a:t>U={0,1,2,…,100} </a:t>
            </a:r>
            <a:r>
              <a:rPr lang="zh-CN" altLang="en-US" b="1" dirty="0"/>
              <a:t>，</a:t>
            </a:r>
            <a:endParaRPr lang="en-US" altLang="zh-CN" b="1" dirty="0"/>
          </a:p>
          <a:p>
            <a:pPr lvl="1">
              <a:lnSpc>
                <a:spcPct val="100000"/>
              </a:lnSpc>
            </a:pPr>
            <a:r>
              <a:rPr lang="en-US" altLang="zh-CN" b="1" dirty="0"/>
              <a:t>A</a:t>
            </a:r>
            <a:r>
              <a:rPr lang="zh-CN" altLang="en-US" b="1" dirty="0"/>
              <a:t>表示“</a:t>
            </a:r>
            <a:r>
              <a:rPr lang="zh-CN" altLang="en-US" b="1" dirty="0">
                <a:solidFill>
                  <a:srgbClr val="CC00CC"/>
                </a:solidFill>
              </a:rPr>
              <a:t>所取产品</a:t>
            </a:r>
            <a:r>
              <a:rPr lang="zh-CN" altLang="en-US" b="1" u="sng" dirty="0">
                <a:solidFill>
                  <a:srgbClr val="0000FF"/>
                </a:solidFill>
              </a:rPr>
              <a:t>几乎没有</a:t>
            </a:r>
            <a:r>
              <a:rPr lang="zh-CN" altLang="en-US" b="1" dirty="0">
                <a:solidFill>
                  <a:srgbClr val="CC00CC"/>
                </a:solidFill>
              </a:rPr>
              <a:t>废品</a:t>
            </a:r>
            <a:r>
              <a:rPr lang="zh-CN" altLang="en-US" b="1" dirty="0"/>
              <a:t>”的事件</a:t>
            </a:r>
            <a:r>
              <a:rPr lang="en-US" altLang="zh-CN" b="1" dirty="0"/>
              <a:t>.</a:t>
            </a:r>
          </a:p>
          <a:p>
            <a:pPr lvl="1">
              <a:lnSpc>
                <a:spcPct val="100000"/>
              </a:lnSpc>
            </a:pPr>
            <a:endParaRPr lang="en-US" altLang="zh-CN" b="1" dirty="0"/>
          </a:p>
          <a:p>
            <a:pPr lvl="1">
              <a:lnSpc>
                <a:spcPct val="100000"/>
              </a:lnSpc>
            </a:pPr>
            <a:endParaRPr lang="en-US" altLang="zh-CN" sz="1800" b="1" dirty="0"/>
          </a:p>
          <a:p>
            <a:pPr lvl="1">
              <a:lnSpc>
                <a:spcPct val="100000"/>
              </a:lnSpc>
            </a:pPr>
            <a:r>
              <a:rPr lang="en-US" altLang="zh-CN" b="1" dirty="0"/>
              <a:t>B</a:t>
            </a:r>
            <a:r>
              <a:rPr lang="zh-CN" altLang="en-US" b="1" dirty="0"/>
              <a:t>表示“</a:t>
            </a:r>
            <a:r>
              <a:rPr lang="zh-CN" altLang="en-US" b="1" dirty="0">
                <a:solidFill>
                  <a:srgbClr val="CC00CC"/>
                </a:solidFill>
              </a:rPr>
              <a:t>所取产品中</a:t>
            </a:r>
            <a:r>
              <a:rPr lang="zh-CN" altLang="en-US" b="1" u="sng" dirty="0">
                <a:solidFill>
                  <a:srgbClr val="008000"/>
                </a:solidFill>
              </a:rPr>
              <a:t>有</a:t>
            </a:r>
            <a:r>
              <a:rPr lang="en-US" altLang="zh-CN" b="1" u="sng" dirty="0">
                <a:solidFill>
                  <a:srgbClr val="008000"/>
                </a:solidFill>
              </a:rPr>
              <a:t>4</a:t>
            </a:r>
            <a:r>
              <a:rPr lang="zh-CN" altLang="en-US" b="1" u="sng" dirty="0">
                <a:solidFill>
                  <a:srgbClr val="008000"/>
                </a:solidFill>
              </a:rPr>
              <a:t>个左右</a:t>
            </a:r>
            <a:r>
              <a:rPr lang="zh-CN" altLang="en-US" b="1" dirty="0">
                <a:solidFill>
                  <a:srgbClr val="CC00CC"/>
                </a:solidFill>
              </a:rPr>
              <a:t>的废品</a:t>
            </a:r>
            <a:r>
              <a:rPr lang="zh-CN" altLang="en-US" b="1" dirty="0"/>
              <a:t>”的事件</a:t>
            </a:r>
            <a:endParaRPr lang="en-US" altLang="zh-CN" b="1" dirty="0"/>
          </a:p>
          <a:p>
            <a:pPr lvl="1"/>
            <a:endParaRPr lang="zh-CN" altLang="en-US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10B21A9-4684-4BDF-9F84-E195772464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9761453"/>
              </p:ext>
            </p:extLst>
          </p:nvPr>
        </p:nvGraphicFramePr>
        <p:xfrm>
          <a:off x="3238054" y="4077072"/>
          <a:ext cx="2857946" cy="869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280" imgH="393480" progId="Equation.DSMT4">
                  <p:embed/>
                </p:oleObj>
              </mc:Choice>
              <mc:Fallback>
                <p:oleObj name="Equation" r:id="rId2" imgW="1295280" imgH="3934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42F9B5DC-7336-4427-9BE9-E01E22CCFC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38054" y="4077072"/>
                        <a:ext cx="2857946" cy="8692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C58F68D-7233-4FB7-B9DC-6B29CF5570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9536134"/>
              </p:ext>
            </p:extLst>
          </p:nvPr>
        </p:nvGraphicFramePr>
        <p:xfrm>
          <a:off x="3238054" y="5589240"/>
          <a:ext cx="3417888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49080" imgH="393480" progId="Equation.DSMT4">
                  <p:embed/>
                </p:oleObj>
              </mc:Choice>
              <mc:Fallback>
                <p:oleObj name="Equation" r:id="rId4" imgW="1549080" imgH="3934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B10B21A9-4684-4BDF-9F84-E195772464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38054" y="5589240"/>
                        <a:ext cx="3417888" cy="868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902D4725-39B0-4959-BF71-5BE588C0AE1F}"/>
              </a:ext>
            </a:extLst>
          </p:cNvPr>
          <p:cNvSpPr/>
          <p:nvPr/>
        </p:nvSpPr>
        <p:spPr>
          <a:xfrm>
            <a:off x="6681976" y="1340771"/>
            <a:ext cx="3826768" cy="58477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CC00CC"/>
                </a:solidFill>
              </a:rPr>
              <a:t>“明天可能下大雨”</a:t>
            </a:r>
            <a:endParaRPr lang="zh-CN" altLang="en-US" sz="3200" dirty="0">
              <a:solidFill>
                <a:srgbClr val="CC00CC"/>
              </a:solidFill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0AB145-326E-B2B7-68FB-0B6611C83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8711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8007D3-BD3F-4ED6-A2AC-1794007B0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16632"/>
            <a:ext cx="8229600" cy="137160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事件的概率</a:t>
            </a:r>
            <a:r>
              <a:rPr lang="en-US" altLang="zh-CN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举例</a:t>
            </a:r>
            <a:r>
              <a:rPr lang="en-US" altLang="zh-CN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dirty="0">
              <a:solidFill>
                <a:srgbClr val="008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19D4E0-AACE-40A2-88C9-5044DDD4E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456" y="1322125"/>
            <a:ext cx="10225136" cy="503711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z="2800" b="1" dirty="0"/>
              <a:t>例：已知某产品的废品率为</a:t>
            </a:r>
            <a:r>
              <a:rPr lang="en-US" altLang="zh-CN" sz="2800" b="1" dirty="0">
                <a:solidFill>
                  <a:srgbClr val="FF0000"/>
                </a:solidFill>
              </a:rPr>
              <a:t>0.01</a:t>
            </a:r>
            <a:r>
              <a:rPr lang="zh-CN" altLang="en-US" sz="2800" b="1" dirty="0"/>
              <a:t>，现任意从中抽出</a:t>
            </a:r>
            <a:r>
              <a:rPr lang="en-US" altLang="zh-CN" sz="2800" b="1" dirty="0"/>
              <a:t>100</a:t>
            </a:r>
            <a:r>
              <a:rPr lang="zh-CN" altLang="en-US" sz="2800" b="1" dirty="0"/>
              <a:t>个进行检验，设</a:t>
            </a:r>
            <a:endParaRPr lang="en-US" altLang="zh-CN" sz="2800" b="1" dirty="0"/>
          </a:p>
          <a:p>
            <a:pPr lvl="1">
              <a:lnSpc>
                <a:spcPct val="100000"/>
              </a:lnSpc>
            </a:pPr>
            <a:r>
              <a:rPr lang="zh-CN" altLang="en-US" b="1" dirty="0"/>
              <a:t>设样本空间</a:t>
            </a:r>
            <a:r>
              <a:rPr lang="en-US" altLang="zh-CN" b="1" dirty="0"/>
              <a:t>U={0,1,2,…,100}</a:t>
            </a:r>
            <a:r>
              <a:rPr lang="zh-CN" altLang="en-US" b="1" dirty="0"/>
              <a:t>为废品个数</a:t>
            </a:r>
            <a:endParaRPr lang="en-US" altLang="zh-CN" b="1" dirty="0"/>
          </a:p>
          <a:p>
            <a:pPr lvl="1">
              <a:lnSpc>
                <a:spcPct val="100000"/>
              </a:lnSpc>
            </a:pPr>
            <a:r>
              <a:rPr lang="en-US" altLang="zh-CN" b="1" dirty="0"/>
              <a:t>A</a:t>
            </a:r>
            <a:r>
              <a:rPr lang="zh-CN" altLang="en-US" b="1" dirty="0"/>
              <a:t>表示“</a:t>
            </a:r>
            <a:r>
              <a:rPr lang="zh-CN" altLang="en-US" b="1" dirty="0">
                <a:solidFill>
                  <a:srgbClr val="CC00CC"/>
                </a:solidFill>
              </a:rPr>
              <a:t>所取产品</a:t>
            </a:r>
            <a:r>
              <a:rPr lang="zh-CN" altLang="en-US" b="1" dirty="0">
                <a:solidFill>
                  <a:srgbClr val="0000FF"/>
                </a:solidFill>
              </a:rPr>
              <a:t>几乎没有</a:t>
            </a:r>
            <a:r>
              <a:rPr lang="zh-CN" altLang="en-US" b="1" dirty="0">
                <a:solidFill>
                  <a:srgbClr val="CC00CC"/>
                </a:solidFill>
              </a:rPr>
              <a:t>废品</a:t>
            </a:r>
            <a:r>
              <a:rPr lang="zh-CN" altLang="en-US" b="1" dirty="0"/>
              <a:t>”</a:t>
            </a:r>
            <a:r>
              <a:rPr lang="en-US" altLang="zh-CN" b="1" dirty="0"/>
              <a:t>.</a:t>
            </a:r>
            <a:endParaRPr lang="en-US" altLang="zh-CN" sz="1800" b="1" dirty="0"/>
          </a:p>
          <a:p>
            <a:pPr lvl="1">
              <a:lnSpc>
                <a:spcPct val="100000"/>
              </a:lnSpc>
            </a:pPr>
            <a:endParaRPr lang="en-US" altLang="zh-CN" sz="2400" b="1" dirty="0"/>
          </a:p>
          <a:p>
            <a:pPr lvl="1">
              <a:lnSpc>
                <a:spcPct val="100000"/>
              </a:lnSpc>
            </a:pPr>
            <a:endParaRPr lang="en-US" altLang="zh-CN" b="1" dirty="0"/>
          </a:p>
          <a:p>
            <a:pPr>
              <a:lnSpc>
                <a:spcPct val="10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是取出的产品恰有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个废品的概率</a:t>
            </a:r>
            <a:endParaRPr lang="en-US" altLang="zh-CN" sz="2800" b="1" dirty="0"/>
          </a:p>
          <a:p>
            <a:pPr marL="457200" lvl="1" indent="0">
              <a:lnSpc>
                <a:spcPct val="100000"/>
              </a:lnSpc>
              <a:buNone/>
            </a:pPr>
            <a:endParaRPr lang="en-US" altLang="zh-CN" b="1" dirty="0"/>
          </a:p>
          <a:p>
            <a:pPr marL="457200" lvl="1" indent="0">
              <a:lnSpc>
                <a:spcPct val="100000"/>
              </a:lnSpc>
              <a:buNone/>
            </a:pPr>
            <a:endParaRPr lang="en-US" altLang="zh-CN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8515118-BA37-4505-BA1C-78200AA440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3400878"/>
              </p:ext>
            </p:extLst>
          </p:nvPr>
        </p:nvGraphicFramePr>
        <p:xfrm>
          <a:off x="2279576" y="4005066"/>
          <a:ext cx="2561560" cy="1008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1880" imgH="431640" progId="Equation.DSMT4">
                  <p:embed/>
                </p:oleObj>
              </mc:Choice>
              <mc:Fallback>
                <p:oleObj name="Equation" r:id="rId2" imgW="1091880" imgH="4316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58515118-BA37-4505-BA1C-78200AA440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79576" y="4005066"/>
                        <a:ext cx="2561560" cy="10081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511CE82-3F35-4F9B-BF7B-50FEDA5123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7294506"/>
              </p:ext>
            </p:extLst>
          </p:nvPr>
        </p:nvGraphicFramePr>
        <p:xfrm>
          <a:off x="2816849" y="3220644"/>
          <a:ext cx="2589080" cy="78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95280" imgH="393480" progId="Equation.DSMT4">
                  <p:embed/>
                </p:oleObj>
              </mc:Choice>
              <mc:Fallback>
                <p:oleObj name="Equation" r:id="rId4" imgW="1295280" imgH="3934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B10B21A9-4684-4BDF-9F84-E195772464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16849" y="3220644"/>
                        <a:ext cx="2589080" cy="787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DF830AB-B009-45BA-944B-40930E364D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6130127"/>
              </p:ext>
            </p:extLst>
          </p:nvPr>
        </p:nvGraphicFramePr>
        <p:xfrm>
          <a:off x="2279577" y="5789561"/>
          <a:ext cx="7389543" cy="646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55800" imgH="241200" progId="Equation.DSMT4">
                  <p:embed/>
                </p:oleObj>
              </mc:Choice>
              <mc:Fallback>
                <p:oleObj name="Equation" r:id="rId6" imgW="2755800" imgH="2412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58515118-BA37-4505-BA1C-78200AA440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79577" y="5789561"/>
                        <a:ext cx="7389543" cy="646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7B8E722-FA88-E48F-5A55-32A4BA89DF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6910107"/>
              </p:ext>
            </p:extLst>
          </p:nvPr>
        </p:nvGraphicFramePr>
        <p:xfrm>
          <a:off x="4906936" y="4266614"/>
          <a:ext cx="4763393" cy="53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44440" imgH="228600" progId="Equation.DSMT4">
                  <p:embed/>
                </p:oleObj>
              </mc:Choice>
              <mc:Fallback>
                <p:oleObj name="Equation" r:id="rId8" imgW="2044440" imgH="2286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58515118-BA37-4505-BA1C-78200AA440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906936" y="4266614"/>
                        <a:ext cx="4763393" cy="530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445DCD-8C30-D7EC-930D-19F3AD475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6938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ED8C2-8E01-C754-76F7-BA4D11F75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A252A2-5C9F-7145-1553-602542F6A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16632"/>
            <a:ext cx="8229600" cy="137160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事件的概率</a:t>
            </a:r>
            <a:r>
              <a:rPr lang="en-US" altLang="zh-CN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举例</a:t>
            </a:r>
            <a:r>
              <a:rPr lang="en-US" altLang="zh-CN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dirty="0">
              <a:solidFill>
                <a:srgbClr val="008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1F12A9-8D2D-1C42-A87A-D2BDD2D73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32" y="1322125"/>
            <a:ext cx="10441160" cy="5037112"/>
          </a:xfrm>
        </p:spPr>
        <p:txBody>
          <a:bodyPr/>
          <a:lstStyle/>
          <a:p>
            <a:r>
              <a:rPr lang="zh-CN" altLang="en-US" sz="2800" b="1" dirty="0"/>
              <a:t>例：已知某产品的废品率为</a:t>
            </a:r>
            <a:r>
              <a:rPr lang="en-US" altLang="zh-CN" sz="2800" b="1" dirty="0">
                <a:solidFill>
                  <a:srgbClr val="FF0000"/>
                </a:solidFill>
              </a:rPr>
              <a:t>0.01</a:t>
            </a:r>
            <a:r>
              <a:rPr lang="zh-CN" altLang="en-US" sz="2800" b="1" dirty="0"/>
              <a:t>，现任意从中抽出</a:t>
            </a:r>
            <a:r>
              <a:rPr lang="en-US" altLang="zh-CN" sz="2800" b="1" dirty="0"/>
              <a:t>100</a:t>
            </a:r>
            <a:r>
              <a:rPr lang="zh-CN" altLang="en-US" sz="2800" b="1" dirty="0"/>
              <a:t>个进行检验，设</a:t>
            </a:r>
            <a:endParaRPr lang="en-US" altLang="zh-CN" sz="2800" b="1" dirty="0"/>
          </a:p>
          <a:p>
            <a:pPr lvl="1"/>
            <a:r>
              <a:rPr lang="zh-CN" altLang="en-US" b="1" dirty="0"/>
              <a:t>设样本空间</a:t>
            </a:r>
            <a:r>
              <a:rPr lang="en-US" altLang="zh-CN" b="1" dirty="0"/>
              <a:t>U={0,1,2,…,100}</a:t>
            </a:r>
            <a:r>
              <a:rPr lang="zh-CN" altLang="en-US" b="1" dirty="0"/>
              <a:t>为废品个数</a:t>
            </a:r>
            <a:endParaRPr lang="en-US" altLang="zh-CN" b="1" dirty="0"/>
          </a:p>
          <a:p>
            <a:pPr lvl="1"/>
            <a:r>
              <a:rPr lang="en-US" altLang="zh-CN" b="1" dirty="0"/>
              <a:t>A</a:t>
            </a:r>
            <a:r>
              <a:rPr lang="zh-CN" altLang="en-US" b="1" dirty="0"/>
              <a:t>表示“</a:t>
            </a:r>
            <a:r>
              <a:rPr lang="zh-CN" altLang="en-US" b="1" dirty="0">
                <a:solidFill>
                  <a:srgbClr val="CC00CC"/>
                </a:solidFill>
              </a:rPr>
              <a:t>所取产品</a:t>
            </a:r>
            <a:r>
              <a:rPr lang="zh-CN" altLang="en-US" b="1" dirty="0">
                <a:solidFill>
                  <a:srgbClr val="0000FF"/>
                </a:solidFill>
              </a:rPr>
              <a:t>几乎没有</a:t>
            </a:r>
            <a:r>
              <a:rPr lang="zh-CN" altLang="en-US" b="1" dirty="0">
                <a:solidFill>
                  <a:srgbClr val="CC00CC"/>
                </a:solidFill>
              </a:rPr>
              <a:t>废品</a:t>
            </a:r>
            <a:r>
              <a:rPr lang="zh-CN" altLang="en-US" b="1" dirty="0"/>
              <a:t>”</a:t>
            </a:r>
            <a:r>
              <a:rPr lang="en-US" altLang="zh-CN" b="1" dirty="0"/>
              <a:t>.</a:t>
            </a:r>
            <a:endParaRPr lang="en-US" altLang="zh-CN" sz="1800" b="1" dirty="0"/>
          </a:p>
          <a:p>
            <a:pPr lvl="1"/>
            <a:endParaRPr lang="en-US" altLang="zh-CN" sz="2400" b="1" dirty="0"/>
          </a:p>
          <a:p>
            <a:pPr lvl="1"/>
            <a:endParaRPr lang="en-US" altLang="zh-CN" sz="3600" b="1" dirty="0"/>
          </a:p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CN" b="1" dirty="0"/>
          </a:p>
          <a:p>
            <a:pPr marL="457200" lvl="1" indent="0">
              <a:buNone/>
            </a:pPr>
            <a:endParaRPr lang="en-US" altLang="zh-CN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DF86CCF-F955-D366-E2AE-EB069B2983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0995191"/>
              </p:ext>
            </p:extLst>
          </p:nvPr>
        </p:nvGraphicFramePr>
        <p:xfrm>
          <a:off x="1775520" y="3861048"/>
          <a:ext cx="2117725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1880" imgH="431640" progId="Equation.DSMT4">
                  <p:embed/>
                </p:oleObj>
              </mc:Choice>
              <mc:Fallback>
                <p:oleObj name="Equation" r:id="rId2" imgW="1091880" imgH="4316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58515118-BA37-4505-BA1C-78200AA440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75520" y="3861048"/>
                        <a:ext cx="2117725" cy="833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6C143DE-2DD2-3F92-F9C2-912A19E030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4139346"/>
              </p:ext>
            </p:extLst>
          </p:nvPr>
        </p:nvGraphicFramePr>
        <p:xfrm>
          <a:off x="2816849" y="3140968"/>
          <a:ext cx="2589080" cy="78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95280" imgH="393480" progId="Equation.DSMT4">
                  <p:embed/>
                </p:oleObj>
              </mc:Choice>
              <mc:Fallback>
                <p:oleObj name="Equation" r:id="rId4" imgW="1295280" imgH="3934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B511CE82-3F35-4F9B-BF7B-50FEDA5123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16849" y="3140968"/>
                        <a:ext cx="2589080" cy="787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1F6A4B29-E599-1C32-EEBD-ADE91C9C2A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4783854"/>
              </p:ext>
            </p:extLst>
          </p:nvPr>
        </p:nvGraphicFramePr>
        <p:xfrm>
          <a:off x="3935760" y="4624750"/>
          <a:ext cx="4325938" cy="226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92160" imgH="990360" progId="Equation.DSMT4">
                  <p:embed/>
                </p:oleObj>
              </mc:Choice>
              <mc:Fallback>
                <p:oleObj name="Equation" r:id="rId6" imgW="1892160" imgH="99036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8DF830AB-B009-45BA-944B-40930E364D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35760" y="4624750"/>
                        <a:ext cx="4325938" cy="226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1D69AE21-5FCA-A557-57D2-F8FD2950BFB9}"/>
              </a:ext>
            </a:extLst>
          </p:cNvPr>
          <p:cNvSpPr txBox="1"/>
          <p:nvPr/>
        </p:nvSpPr>
        <p:spPr>
          <a:xfrm>
            <a:off x="8400256" y="3996043"/>
            <a:ext cx="3828801" cy="1305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00FF"/>
                </a:solidFill>
              </a:rPr>
              <a:t>=0.37+0.37+0.14</a:t>
            </a:r>
            <a:r>
              <a:rPr lang="en-US" altLang="zh-CN" sz="2800" dirty="0">
                <a:solidFill>
                  <a:srgbClr val="0000FF"/>
                </a:solidFill>
                <a:sym typeface="Symbol" panose="05050102010706020507" pitchFamily="18" charset="2"/>
              </a:rPr>
              <a:t>+0.03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</a:rPr>
              <a:t>=0.91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DA07223-6D02-F1AE-E0C2-58D07D6860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722970"/>
              </p:ext>
            </p:extLst>
          </p:nvPr>
        </p:nvGraphicFramePr>
        <p:xfrm>
          <a:off x="3935760" y="4078070"/>
          <a:ext cx="4516674" cy="503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44440" imgH="228600" progId="Equation.DSMT4">
                  <p:embed/>
                </p:oleObj>
              </mc:Choice>
              <mc:Fallback>
                <p:oleObj name="Equation" r:id="rId8" imgW="2044440" imgH="2286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47B8E722-FA88-E48F-5A55-32A4BA89DF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935760" y="4078070"/>
                        <a:ext cx="4516674" cy="5030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190023-E792-B58A-2275-2EF462506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9862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8007D3-BD3F-4ED6-A2AC-1794007B0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16632"/>
            <a:ext cx="8229600" cy="137160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事件的概率</a:t>
            </a:r>
            <a:r>
              <a:rPr lang="en-US" altLang="zh-CN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举例</a:t>
            </a:r>
            <a:r>
              <a:rPr lang="en-US" altLang="zh-CN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dirty="0">
              <a:solidFill>
                <a:srgbClr val="008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19D4E0-AACE-40A2-88C9-5044DDD4E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32" y="1322125"/>
            <a:ext cx="10585176" cy="503711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z="2800" b="1" dirty="0"/>
              <a:t>例：已知某产品的废品率为</a:t>
            </a:r>
            <a:r>
              <a:rPr lang="en-US" altLang="zh-CN" sz="2800" b="1" dirty="0">
                <a:solidFill>
                  <a:srgbClr val="FF0000"/>
                </a:solidFill>
              </a:rPr>
              <a:t>0.01</a:t>
            </a:r>
            <a:r>
              <a:rPr lang="zh-CN" altLang="en-US" sz="2800" b="1" dirty="0"/>
              <a:t>，现任意从中抽出</a:t>
            </a:r>
            <a:r>
              <a:rPr lang="en-US" altLang="zh-CN" sz="2800" b="1" dirty="0"/>
              <a:t>100</a:t>
            </a:r>
            <a:r>
              <a:rPr lang="zh-CN" altLang="en-US" sz="2800" b="1" dirty="0"/>
              <a:t>个进行检验，设</a:t>
            </a:r>
            <a:endParaRPr lang="en-US" altLang="zh-CN" sz="2800" b="1" dirty="0"/>
          </a:p>
          <a:p>
            <a:pPr lvl="1">
              <a:lnSpc>
                <a:spcPct val="100000"/>
              </a:lnSpc>
            </a:pPr>
            <a:r>
              <a:rPr lang="zh-CN" altLang="en-US" b="1" dirty="0"/>
              <a:t>设样本空间</a:t>
            </a:r>
            <a:r>
              <a:rPr lang="en-US" altLang="zh-CN" b="1" dirty="0"/>
              <a:t>U={0,1,2,…,100}</a:t>
            </a:r>
            <a:r>
              <a:rPr lang="zh-CN" altLang="en-US" b="1" dirty="0"/>
              <a:t>为废品个数</a:t>
            </a:r>
            <a:endParaRPr lang="en-US" altLang="zh-CN" b="1" dirty="0"/>
          </a:p>
          <a:p>
            <a:pPr lvl="1">
              <a:lnSpc>
                <a:spcPct val="100000"/>
              </a:lnSpc>
            </a:pPr>
            <a:r>
              <a:rPr lang="en-US" altLang="zh-CN" b="1" dirty="0"/>
              <a:t>B</a:t>
            </a:r>
            <a:r>
              <a:rPr lang="zh-CN" altLang="en-US" b="1" dirty="0"/>
              <a:t>表示“</a:t>
            </a:r>
            <a:r>
              <a:rPr lang="zh-CN" altLang="en-US" b="1" dirty="0">
                <a:solidFill>
                  <a:srgbClr val="CC00CC"/>
                </a:solidFill>
              </a:rPr>
              <a:t>所取产品中</a:t>
            </a:r>
            <a:r>
              <a:rPr lang="zh-CN" altLang="en-US" b="1" dirty="0">
                <a:solidFill>
                  <a:srgbClr val="008000"/>
                </a:solidFill>
              </a:rPr>
              <a:t>有</a:t>
            </a:r>
            <a:r>
              <a:rPr lang="en-US" altLang="zh-CN" b="1" dirty="0">
                <a:solidFill>
                  <a:srgbClr val="008000"/>
                </a:solidFill>
              </a:rPr>
              <a:t>4</a:t>
            </a:r>
            <a:r>
              <a:rPr lang="zh-CN" altLang="en-US" b="1" dirty="0">
                <a:solidFill>
                  <a:srgbClr val="008000"/>
                </a:solidFill>
              </a:rPr>
              <a:t>个左右</a:t>
            </a:r>
            <a:r>
              <a:rPr lang="zh-CN" altLang="en-US" b="1" dirty="0">
                <a:solidFill>
                  <a:srgbClr val="CC00CC"/>
                </a:solidFill>
              </a:rPr>
              <a:t>的废品</a:t>
            </a:r>
            <a:r>
              <a:rPr lang="zh-CN" altLang="en-US" b="1" dirty="0"/>
              <a:t>”</a:t>
            </a:r>
            <a:r>
              <a:rPr lang="en-US" altLang="zh-CN" b="1" dirty="0"/>
              <a:t>.</a:t>
            </a:r>
          </a:p>
          <a:p>
            <a:pPr lvl="1">
              <a:lnSpc>
                <a:spcPct val="100000"/>
              </a:lnSpc>
            </a:pPr>
            <a:endParaRPr lang="en-US" altLang="zh-CN" sz="2400" b="1" dirty="0"/>
          </a:p>
          <a:p>
            <a:pPr lvl="1">
              <a:lnSpc>
                <a:spcPct val="100000"/>
              </a:lnSpc>
            </a:pPr>
            <a:endParaRPr lang="en-US" altLang="zh-CN" b="1" dirty="0"/>
          </a:p>
          <a:p>
            <a:pPr>
              <a:lnSpc>
                <a:spcPct val="10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是取出的产品恰有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个废品的概率</a:t>
            </a:r>
            <a:endParaRPr lang="en-US" altLang="zh-CN" sz="2800" b="1" dirty="0"/>
          </a:p>
          <a:p>
            <a:pPr marL="457200" lvl="1" indent="0">
              <a:buNone/>
            </a:pPr>
            <a:endParaRPr lang="en-US" altLang="zh-CN" b="1" dirty="0"/>
          </a:p>
          <a:p>
            <a:pPr marL="457200" lvl="1" indent="0">
              <a:buNone/>
            </a:pPr>
            <a:endParaRPr lang="en-US" altLang="zh-CN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8515118-BA37-4505-BA1C-78200AA440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3653188"/>
              </p:ext>
            </p:extLst>
          </p:nvPr>
        </p:nvGraphicFramePr>
        <p:xfrm>
          <a:off x="1991544" y="4054197"/>
          <a:ext cx="7560840" cy="882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2800" imgH="431640" progId="Equation.DSMT4">
                  <p:embed/>
                </p:oleObj>
              </mc:Choice>
              <mc:Fallback>
                <p:oleObj name="Equation" r:id="rId2" imgW="3682800" imgH="4316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58515118-BA37-4505-BA1C-78200AA440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91544" y="4054197"/>
                        <a:ext cx="7560840" cy="882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D7F16094-CE27-4DD5-AB8F-C3807AEEEF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7576933"/>
              </p:ext>
            </p:extLst>
          </p:nvPr>
        </p:nvGraphicFramePr>
        <p:xfrm>
          <a:off x="2753965" y="3307650"/>
          <a:ext cx="3096344" cy="786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49080" imgH="393480" progId="Equation.DSMT4">
                  <p:embed/>
                </p:oleObj>
              </mc:Choice>
              <mc:Fallback>
                <p:oleObj name="Equation" r:id="rId4" imgW="1549080" imgH="3934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D7F16094-CE27-4DD5-AB8F-C3807AEEEF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53965" y="3307650"/>
                        <a:ext cx="3096344" cy="7866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DF830AB-B009-45BA-944B-40930E364D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5024709"/>
              </p:ext>
            </p:extLst>
          </p:nvPr>
        </p:nvGraphicFramePr>
        <p:xfrm>
          <a:off x="2927648" y="6116638"/>
          <a:ext cx="6299200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55800" imgH="241200" progId="Equation.DSMT4">
                  <p:embed/>
                </p:oleObj>
              </mc:Choice>
              <mc:Fallback>
                <p:oleObj name="Equation" r:id="rId6" imgW="2755800" imgH="2412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8DF830AB-B009-45BA-944B-40930E364D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927648" y="6116638"/>
                        <a:ext cx="6299200" cy="550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DEE3D8D7-D1C1-4EEF-ACC8-9DFD419C8C9E}"/>
              </a:ext>
            </a:extLst>
          </p:cNvPr>
          <p:cNvSpPr txBox="1"/>
          <p:nvPr/>
        </p:nvSpPr>
        <p:spPr>
          <a:xfrm>
            <a:off x="4109432" y="4994012"/>
            <a:ext cx="7891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</a:rPr>
              <a:t>=0.6</a:t>
            </a:r>
            <a:r>
              <a:rPr lang="en-US" altLang="zh-CN" sz="2800" dirty="0">
                <a:solidFill>
                  <a:srgbClr val="0000FF"/>
                </a:solidFill>
                <a:sym typeface="Symbol" panose="05050102010706020507" pitchFamily="18" charset="2"/>
              </a:rPr>
              <a:t>0.18</a:t>
            </a:r>
            <a:r>
              <a:rPr lang="en-US" altLang="zh-CN" sz="2800" dirty="0">
                <a:solidFill>
                  <a:srgbClr val="0000FF"/>
                </a:solidFill>
              </a:rPr>
              <a:t>+0.06+0.02+0.003</a:t>
            </a:r>
            <a:r>
              <a:rPr lang="en-US" altLang="zh-CN" sz="2800" dirty="0">
                <a:solidFill>
                  <a:srgbClr val="0000FF"/>
                </a:solidFill>
                <a:sym typeface="Symbol" panose="05050102010706020507" pitchFamily="18" charset="2"/>
              </a:rPr>
              <a:t>+0.60.0005 </a:t>
            </a:r>
            <a:r>
              <a:rPr lang="en-US" altLang="zh-CN" sz="2800" dirty="0">
                <a:solidFill>
                  <a:srgbClr val="FF0000"/>
                </a:solidFill>
              </a:rPr>
              <a:t>=0.2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4F5C07-0F5A-0F58-C45D-54F984541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6471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3C4C5-8344-442C-B198-60E848DB9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457200"/>
            <a:ext cx="8229600" cy="81156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事件的概率</a:t>
            </a:r>
            <a:r>
              <a:rPr lang="en-US" altLang="zh-CN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举例</a:t>
            </a:r>
            <a:r>
              <a:rPr lang="en-US" altLang="zh-CN" dirty="0">
                <a:solidFill>
                  <a:srgbClr val="008000"/>
                </a:solidFill>
                <a:latin typeface="+mn-lt"/>
                <a:ea typeface="黑体" panose="02010609060101010101" pitchFamily="49" charset="-122"/>
              </a:rPr>
              <a:t>2</a:t>
            </a:r>
            <a:endParaRPr lang="zh-CN" altLang="en-US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0E759E-178F-42FC-AD6D-D9D539489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440" y="1340768"/>
            <a:ext cx="9155360" cy="4526632"/>
          </a:xfrm>
        </p:spPr>
        <p:txBody>
          <a:bodyPr/>
          <a:lstStyle/>
          <a:p>
            <a:r>
              <a:rPr lang="zh-CN" altLang="en-US" sz="2800" b="1" dirty="0"/>
              <a:t>对某地区进行普查，得慢性气管炎发病率如下：</a:t>
            </a:r>
            <a:endParaRPr lang="en-US" altLang="zh-CN" sz="28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/>
              <a:t>    </a:t>
            </a:r>
            <a:r>
              <a:rPr lang="zh-CN" altLang="en-US" sz="2800" b="1" dirty="0"/>
              <a:t>设</a:t>
            </a:r>
            <a:r>
              <a:rPr lang="en-US" altLang="zh-CN" sz="2800" b="1" dirty="0"/>
              <a:t>”</a:t>
            </a:r>
            <a:r>
              <a:rPr lang="zh-CN" altLang="en-US" sz="2800" b="1" dirty="0"/>
              <a:t>青年</a:t>
            </a:r>
            <a:r>
              <a:rPr lang="en-US" altLang="zh-CN" sz="2800" b="1" dirty="0"/>
              <a:t>”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/>
              <a:t>        ”</a:t>
            </a:r>
            <a:r>
              <a:rPr lang="zh-CN" altLang="en-US" sz="2800" b="1" dirty="0"/>
              <a:t>老年</a:t>
            </a:r>
            <a:r>
              <a:rPr lang="en-US" altLang="zh-CN" sz="2800" b="1" dirty="0"/>
              <a:t>”</a:t>
            </a:r>
          </a:p>
          <a:p>
            <a:pPr marL="0" indent="0">
              <a:buNone/>
            </a:pPr>
            <a:r>
              <a:rPr lang="zh-CN" altLang="en-US" sz="2800" b="1" dirty="0"/>
              <a:t>求</a:t>
            </a:r>
            <a:r>
              <a:rPr lang="en-US" altLang="zh-CN" sz="2800" b="1" dirty="0"/>
              <a:t>”</a:t>
            </a:r>
            <a:r>
              <a:rPr lang="zh-CN" altLang="en-US" sz="2800" b="1" dirty="0"/>
              <a:t>青年</a:t>
            </a:r>
            <a:r>
              <a:rPr lang="en-US" altLang="zh-CN" sz="2800" b="1" dirty="0"/>
              <a:t>”,”</a:t>
            </a:r>
            <a:r>
              <a:rPr lang="zh-CN" altLang="en-US" sz="2800" b="1" dirty="0"/>
              <a:t>老年</a:t>
            </a:r>
            <a:r>
              <a:rPr lang="en-US" altLang="zh-CN" sz="2800" b="1" dirty="0"/>
              <a:t>”</a:t>
            </a:r>
            <a:r>
              <a:rPr lang="zh-CN" altLang="en-US" sz="2800" b="1" dirty="0"/>
              <a:t>患慢性气管炎的概率。</a:t>
            </a:r>
            <a:endParaRPr lang="en-US" altLang="zh-CN" sz="2800" b="1" dirty="0"/>
          </a:p>
          <a:p>
            <a:r>
              <a:rPr lang="zh-CN" altLang="en-US" sz="2800" b="1" dirty="0">
                <a:solidFill>
                  <a:srgbClr val="FF0000"/>
                </a:solidFill>
              </a:rPr>
              <a:t>解：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2800" b="1" dirty="0"/>
              <a:t>  </a:t>
            </a:r>
            <a:r>
              <a:rPr lang="zh-CN" altLang="en-US" sz="2800" b="1" dirty="0"/>
              <a:t>设</a:t>
            </a:r>
            <a:r>
              <a:rPr lang="en-US" altLang="zh-CN" sz="2800" b="1" dirty="0"/>
              <a:t>A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B</a:t>
            </a:r>
            <a:r>
              <a:rPr lang="zh-CN" altLang="en-US" sz="2800" b="1" dirty="0"/>
              <a:t>分别表示</a:t>
            </a:r>
            <a:r>
              <a:rPr lang="en-US" altLang="zh-CN" sz="2800" b="1" dirty="0"/>
              <a:t>”</a:t>
            </a:r>
            <a:r>
              <a:rPr lang="zh-CN" altLang="en-US" sz="2800" b="1" dirty="0"/>
              <a:t>青年</a:t>
            </a:r>
            <a:r>
              <a:rPr lang="en-US" altLang="zh-CN" sz="2800" b="1" dirty="0"/>
              <a:t>”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”</a:t>
            </a:r>
            <a:r>
              <a:rPr lang="zh-CN" altLang="en-US" sz="2800" b="1" dirty="0"/>
              <a:t>老年</a:t>
            </a:r>
            <a:r>
              <a:rPr lang="en-US" altLang="zh-CN" sz="2800" b="1" dirty="0"/>
              <a:t>”F</a:t>
            </a:r>
            <a:r>
              <a:rPr lang="zh-CN" altLang="en-US" sz="2800" b="1" dirty="0"/>
              <a:t>集，</a:t>
            </a:r>
            <a:endParaRPr lang="en-US" altLang="zh-CN" sz="2800" b="1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en-US" altLang="zh-CN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9320F80-B8F8-4480-8DBE-C802728820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849852"/>
              </p:ext>
            </p:extLst>
          </p:nvPr>
        </p:nvGraphicFramePr>
        <p:xfrm>
          <a:off x="8904311" y="1831504"/>
          <a:ext cx="3068352" cy="320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4176">
                  <a:extLst>
                    <a:ext uri="{9D8B030D-6E8A-4147-A177-3AD203B41FA5}">
                      <a16:colId xmlns:a16="http://schemas.microsoft.com/office/drawing/2014/main" val="12110917"/>
                    </a:ext>
                  </a:extLst>
                </a:gridCol>
                <a:gridCol w="1534176">
                  <a:extLst>
                    <a:ext uri="{9D8B030D-6E8A-4147-A177-3AD203B41FA5}">
                      <a16:colId xmlns:a16="http://schemas.microsoft.com/office/drawing/2014/main" val="1180391720"/>
                    </a:ext>
                  </a:extLst>
                </a:gridCol>
              </a:tblGrid>
              <a:tr h="39280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/>
                        <a:t>年龄分组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/>
                        <a:t>患病率</a:t>
                      </a:r>
                      <a:r>
                        <a:rPr lang="en-US" altLang="zh-CN" sz="2400" b="1" dirty="0"/>
                        <a:t>(%)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340546"/>
                  </a:ext>
                </a:extLst>
              </a:tr>
              <a:tr h="39280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~15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2.8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327801"/>
                  </a:ext>
                </a:extLst>
              </a:tr>
              <a:tr h="39280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15~25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3.7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449660"/>
                  </a:ext>
                </a:extLst>
              </a:tr>
              <a:tr h="39280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25~35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5.0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213292"/>
                  </a:ext>
                </a:extLst>
              </a:tr>
              <a:tr h="39280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35~45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7.6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603523"/>
                  </a:ext>
                </a:extLst>
              </a:tr>
              <a:tr h="39280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45~55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11.0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788690"/>
                  </a:ext>
                </a:extLst>
              </a:tr>
              <a:tr h="39280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55~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/>
                        <a:t>14.2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388010"/>
                  </a:ext>
                </a:extLst>
              </a:tr>
            </a:tbl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7E80436-647E-4BBF-8EE7-22615CDC6B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0144048"/>
              </p:ext>
            </p:extLst>
          </p:nvPr>
        </p:nvGraphicFramePr>
        <p:xfrm>
          <a:off x="3071664" y="1831505"/>
          <a:ext cx="2736304" cy="792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47560" imgH="419040" progId="Equation.DSMT4">
                  <p:embed/>
                </p:oleObj>
              </mc:Choice>
              <mc:Fallback>
                <p:oleObj name="Equation" r:id="rId2" imgW="1447560" imgH="41904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B511CE82-3F35-4F9B-BF7B-50FEDA5123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71664" y="1831505"/>
                        <a:ext cx="2736304" cy="7925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D41D0F3-8398-44EB-943A-E671CCF325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7397329"/>
              </p:ext>
            </p:extLst>
          </p:nvPr>
        </p:nvGraphicFramePr>
        <p:xfrm>
          <a:off x="3143672" y="2546438"/>
          <a:ext cx="2376264" cy="7846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9720" imgH="419040" progId="Equation.DSMT4">
                  <p:embed/>
                </p:oleObj>
              </mc:Choice>
              <mc:Fallback>
                <p:oleObj name="Equation" r:id="rId4" imgW="1269720" imgH="4190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67E80436-647E-4BBF-8EE7-22615CDC6B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43672" y="2546438"/>
                        <a:ext cx="2376264" cy="7846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F80E0087-7249-4747-8053-AABD4A458B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825533"/>
              </p:ext>
            </p:extLst>
          </p:nvPr>
        </p:nvGraphicFramePr>
        <p:xfrm>
          <a:off x="2063552" y="4932309"/>
          <a:ext cx="2190526" cy="8163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55600" imgH="431640" progId="Equation.DSMT4">
                  <p:embed/>
                </p:oleObj>
              </mc:Choice>
              <mc:Fallback>
                <p:oleObj name="Equation" r:id="rId6" imgW="1155600" imgH="4316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58515118-BA37-4505-BA1C-78200AA440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63552" y="4932309"/>
                        <a:ext cx="2190526" cy="8163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57AB996-6122-4E5A-A926-BE530DC038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7584320"/>
              </p:ext>
            </p:extLst>
          </p:nvPr>
        </p:nvGraphicFramePr>
        <p:xfrm>
          <a:off x="4250994" y="5157192"/>
          <a:ext cx="3900674" cy="3921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65080" imgH="177480" progId="Equation.DSMT4">
                  <p:embed/>
                </p:oleObj>
              </mc:Choice>
              <mc:Fallback>
                <p:oleObj name="Equation" r:id="rId8" imgW="1765080" imgH="1774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F80E0087-7249-4747-8053-AABD4A458B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250994" y="5157192"/>
                        <a:ext cx="3900674" cy="3921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5B10313E-B4DC-4FFA-BE89-B9E086193F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0228965"/>
              </p:ext>
            </p:extLst>
          </p:nvPr>
        </p:nvGraphicFramePr>
        <p:xfrm>
          <a:off x="2063552" y="5775003"/>
          <a:ext cx="2190526" cy="8163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55600" imgH="431640" progId="Equation.DSMT4">
                  <p:embed/>
                </p:oleObj>
              </mc:Choice>
              <mc:Fallback>
                <p:oleObj name="Equation" r:id="rId10" imgW="1155600" imgH="4316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F80E0087-7249-4747-8053-AABD4A458B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063552" y="5775003"/>
                        <a:ext cx="2190526" cy="8163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D0951957-C82B-458E-A485-B38649827D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4057280"/>
              </p:ext>
            </p:extLst>
          </p:nvPr>
        </p:nvGraphicFramePr>
        <p:xfrm>
          <a:off x="4225958" y="5999163"/>
          <a:ext cx="45466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57400" imgH="177480" progId="Equation.DSMT4">
                  <p:embed/>
                </p:oleObj>
              </mc:Choice>
              <mc:Fallback>
                <p:oleObj name="Equation" r:id="rId12" imgW="2057400" imgH="1774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157AB996-6122-4E5A-A926-BE530DC038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225958" y="5999163"/>
                        <a:ext cx="4546600" cy="392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D8B6BBF1-8531-E246-86CE-99E8A9D2F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248350"/>
              </p:ext>
            </p:extLst>
          </p:nvPr>
        </p:nvGraphicFramePr>
        <p:xfrm>
          <a:off x="8616280" y="1831505"/>
          <a:ext cx="277688" cy="320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688">
                  <a:extLst>
                    <a:ext uri="{9D8B030D-6E8A-4147-A177-3AD203B41FA5}">
                      <a16:colId xmlns:a16="http://schemas.microsoft.com/office/drawing/2014/main" val="1226489594"/>
                    </a:ext>
                  </a:extLst>
                </a:gridCol>
              </a:tblGrid>
              <a:tr h="392803">
                <a:tc>
                  <a:txBody>
                    <a:bodyPr/>
                    <a:lstStyle/>
                    <a:p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045442"/>
                  </a:ext>
                </a:extLst>
              </a:tr>
              <a:tr h="392803"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1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070783"/>
                  </a:ext>
                </a:extLst>
              </a:tr>
              <a:tr h="392803"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2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521275"/>
                  </a:ext>
                </a:extLst>
              </a:tr>
              <a:tr h="392803"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3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7406845"/>
                  </a:ext>
                </a:extLst>
              </a:tr>
              <a:tr h="392803"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4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6177145"/>
                  </a:ext>
                </a:extLst>
              </a:tr>
              <a:tr h="392803"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5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070419"/>
                  </a:ext>
                </a:extLst>
              </a:tr>
              <a:tr h="392803"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6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417575"/>
                  </a:ext>
                </a:extLst>
              </a:tr>
            </a:tbl>
          </a:graphicData>
        </a:graphic>
      </p:graphicFrame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9ED76575-459C-8442-30CE-CB764F0D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0939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3E43E2-15B7-4612-AF33-18F633D81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16632"/>
            <a:ext cx="8229600" cy="955576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事件的概率</a:t>
            </a:r>
            <a:r>
              <a:rPr lang="en-US" altLang="zh-CN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举例</a:t>
            </a:r>
            <a:r>
              <a:rPr lang="en-US" altLang="zh-CN" dirty="0">
                <a:solidFill>
                  <a:srgbClr val="008000"/>
                </a:solidFill>
                <a:latin typeface="+mn-lt"/>
                <a:ea typeface="黑体" panose="02010609060101010101" pitchFamily="49" charset="-122"/>
              </a:rPr>
              <a:t>3</a:t>
            </a:r>
            <a:endParaRPr lang="zh-CN" altLang="en-US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5B7875-648C-4096-8A77-BB84A6DBC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413" y="1196617"/>
            <a:ext cx="10153128" cy="503944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b="1" dirty="0"/>
              <a:t>例：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某物体长度为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，现用一仪器测量，设无系统误差，测量方差为</a:t>
            </a:r>
            <a:r>
              <a:rPr lang="zh-C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 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&gt;0)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，则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事件“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测量结果在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附近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”的隶属函数为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en-US" altLang="zh-CN" sz="2800" b="1" dirty="0"/>
          </a:p>
          <a:p>
            <a:endParaRPr lang="en-US" altLang="zh-CN" sz="2800" b="1" dirty="0"/>
          </a:p>
          <a:p>
            <a:r>
              <a:rPr lang="zh-CN" altLang="en-US" sz="2800" b="1" dirty="0"/>
              <a:t>则</a:t>
            </a:r>
            <a:endParaRPr lang="en-US" altLang="zh-CN" sz="2800" b="1" dirty="0"/>
          </a:p>
          <a:p>
            <a:endParaRPr lang="en-US" altLang="zh-CN" sz="2800" b="1" dirty="0"/>
          </a:p>
          <a:p>
            <a:r>
              <a:rPr lang="zh-CN" altLang="en-US" sz="2800" b="1" dirty="0"/>
              <a:t>所以，</a:t>
            </a:r>
            <a:endParaRPr lang="en-US" altLang="zh-CN" sz="2800" b="1" dirty="0"/>
          </a:p>
          <a:p>
            <a:pPr marL="0" indent="0">
              <a:buNone/>
            </a:pPr>
            <a:endParaRPr lang="zh-CN" altLang="en-US" sz="2800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16E56A09-7009-4474-8BC6-D7D515851A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060963"/>
              </p:ext>
            </p:extLst>
          </p:nvPr>
        </p:nvGraphicFramePr>
        <p:xfrm>
          <a:off x="2351584" y="2790366"/>
          <a:ext cx="2880320" cy="984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09400" imgH="482400" progId="Equation.DSMT4">
                  <p:embed/>
                </p:oleObj>
              </mc:Choice>
              <mc:Fallback>
                <p:oleObj name="Equation" r:id="rId2" imgW="1409400" imgH="4824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8DF830AB-B009-45BA-944B-40930E364D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51584" y="2790366"/>
                        <a:ext cx="2880320" cy="9842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D915AC2-E0EA-44FC-A66A-25AEBAE268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5753900"/>
              </p:ext>
            </p:extLst>
          </p:nvPr>
        </p:nvGraphicFramePr>
        <p:xfrm>
          <a:off x="2147499" y="3716339"/>
          <a:ext cx="7307847" cy="915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60640" imgH="482400" progId="Equation.DSMT4">
                  <p:embed/>
                </p:oleObj>
              </mc:Choice>
              <mc:Fallback>
                <p:oleObj name="Equation" r:id="rId4" imgW="3860640" imgH="4824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2C0B9671-11E9-4AC0-AE2B-AB99B774A8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47499" y="3716339"/>
                        <a:ext cx="7307847" cy="915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32122B0-789C-4869-A0BF-EAE6CAC484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6945925"/>
              </p:ext>
            </p:extLst>
          </p:nvPr>
        </p:nvGraphicFramePr>
        <p:xfrm>
          <a:off x="2135560" y="4718122"/>
          <a:ext cx="6381180" cy="9432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63760" imgH="482400" progId="Equation.DSMT4">
                  <p:embed/>
                </p:oleObj>
              </mc:Choice>
              <mc:Fallback>
                <p:oleObj name="Equation" r:id="rId6" imgW="3263760" imgH="4824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AD915AC2-E0EA-44FC-A66A-25AEBAE268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35560" y="4718122"/>
                        <a:ext cx="6381180" cy="9432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D2F7C6D-77C7-457A-8841-08DD036CE1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1297194"/>
              </p:ext>
            </p:extLst>
          </p:nvPr>
        </p:nvGraphicFramePr>
        <p:xfrm>
          <a:off x="2755967" y="5870115"/>
          <a:ext cx="4924209" cy="9432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14600" imgH="482400" progId="Equation.DSMT4">
                  <p:embed/>
                </p:oleObj>
              </mc:Choice>
              <mc:Fallback>
                <p:oleObj name="Equation" r:id="rId8" imgW="2514600" imgH="4824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32122B0-789C-4869-A0BF-EAE6CAC484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755967" y="5870115"/>
                        <a:ext cx="4924209" cy="9432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C6682335-342A-4187-9CFC-31D21C514F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1326941"/>
              </p:ext>
            </p:extLst>
          </p:nvPr>
        </p:nvGraphicFramePr>
        <p:xfrm>
          <a:off x="7713614" y="5880865"/>
          <a:ext cx="1550738" cy="932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36560" imgH="444240" progId="Equation.DSMT4">
                  <p:embed/>
                </p:oleObj>
              </mc:Choice>
              <mc:Fallback>
                <p:oleObj name="Equation" r:id="rId10" imgW="736560" imgH="4442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ED2F7C6D-77C7-457A-8841-08DD036CE1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713614" y="5880865"/>
                        <a:ext cx="1550738" cy="9325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114A8C7-0475-4244-9CD9-53455AE77C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4686192"/>
              </p:ext>
            </p:extLst>
          </p:nvPr>
        </p:nvGraphicFramePr>
        <p:xfrm>
          <a:off x="9555465" y="4718122"/>
          <a:ext cx="2397072" cy="9432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28520" imgH="406080" progId="Equation.DSMT4">
                  <p:embed/>
                </p:oleObj>
              </mc:Choice>
              <mc:Fallback>
                <p:oleObj name="Equation" r:id="rId12" imgW="1028520" imgH="4060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ED2F7C6D-77C7-457A-8841-08DD036CE1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555465" y="4718122"/>
                        <a:ext cx="2397072" cy="943261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24D2B534-0768-4A01-BE34-FDEB982341A0}"/>
              </a:ext>
            </a:extLst>
          </p:cNvPr>
          <p:cNvSpPr/>
          <p:nvPr/>
        </p:nvSpPr>
        <p:spPr>
          <a:xfrm>
            <a:off x="5519936" y="3111351"/>
            <a:ext cx="22108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/>
              <a:t>(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dirty="0"/>
              <a:t>&gt;0</a:t>
            </a:r>
            <a:r>
              <a:rPr lang="zh-CN" altLang="en-US" sz="2400" dirty="0"/>
              <a:t>，为参数</a:t>
            </a:r>
            <a:r>
              <a:rPr lang="en-US" altLang="zh-CN" sz="2400" dirty="0"/>
              <a:t>)</a:t>
            </a:r>
            <a:endParaRPr lang="zh-CN" altLang="en-US" sz="2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E870B4-93DF-4E2B-986A-0C4AEFC4896E}"/>
              </a:ext>
            </a:extLst>
          </p:cNvPr>
          <p:cNvSpPr/>
          <p:nvPr/>
        </p:nvSpPr>
        <p:spPr>
          <a:xfrm>
            <a:off x="5634782" y="2171311"/>
            <a:ext cx="6317755" cy="954107"/>
          </a:xfrm>
          <a:prstGeom prst="rect">
            <a:avLst/>
          </a:prstGeom>
          <a:solidFill>
            <a:srgbClr val="256AB0"/>
          </a:solidFill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可见，求</a:t>
            </a:r>
            <a:r>
              <a:rPr lang="en-US" altLang="zh-CN" sz="2800" b="1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zh-CN" altLang="en-US" sz="2800" b="1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事件的概率</a:t>
            </a: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就是计算</a:t>
            </a:r>
            <a:r>
              <a:rPr lang="zh-CN" altLang="en-US" sz="2800" b="1" dirty="0">
                <a:solidFill>
                  <a:srgbClr val="FA7E1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期望值</a:t>
            </a:r>
            <a:r>
              <a:rPr lang="en-US" altLang="zh-CN" sz="2800" b="1" dirty="0">
                <a:solidFill>
                  <a:srgbClr val="FA7E1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当隶属函数确定时，问题即可解决。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8A743278-BE91-BF0F-C1C4-A551A2FC5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3616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D8111347-AC1D-5E26-2F46-9B628C0AE4FA}"/>
              </a:ext>
            </a:extLst>
          </p:cNvPr>
          <p:cNvSpPr/>
          <p:nvPr/>
        </p:nvSpPr>
        <p:spPr bwMode="auto">
          <a:xfrm>
            <a:off x="1631504" y="4642720"/>
            <a:ext cx="6293393" cy="581235"/>
          </a:xfrm>
          <a:prstGeom prst="roundRect">
            <a:avLst/>
          </a:prstGeom>
          <a:solidFill>
            <a:srgbClr val="3399FF"/>
          </a:solidFill>
          <a:ln>
            <a:solidFill>
              <a:srgbClr val="3399FF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9D6FD6F-6FD8-4D1E-91EA-1CE5F549F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457200"/>
            <a:ext cx="8229600" cy="81156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事件的概率的性质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970E04-DBC7-4AC8-96C5-4B144428E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3472" y="1420691"/>
            <a:ext cx="8229600" cy="648072"/>
          </a:xfrm>
        </p:spPr>
        <p:txBody>
          <a:bodyPr/>
          <a:lstStyle/>
          <a:p>
            <a:r>
              <a:rPr lang="zh-CN" altLang="en-US" b="1" dirty="0"/>
              <a:t>可将经典概率的许多结果推广到</a:t>
            </a:r>
            <a:r>
              <a:rPr lang="en-US" altLang="zh-CN" b="1" dirty="0"/>
              <a:t>F</a:t>
            </a:r>
            <a:r>
              <a:rPr lang="zh-CN" altLang="en-US" b="1" dirty="0"/>
              <a:t>概率中：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3E1FA22-EAD3-4F97-AD6B-6A76B0FFD5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8176751"/>
              </p:ext>
            </p:extLst>
          </p:nvPr>
        </p:nvGraphicFramePr>
        <p:xfrm>
          <a:off x="1775517" y="2109746"/>
          <a:ext cx="4971832" cy="698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70000" imgH="291960" progId="Equation.DSMT4">
                  <p:embed/>
                </p:oleObj>
              </mc:Choice>
              <mc:Fallback>
                <p:oleObj name="Equation" r:id="rId2" imgW="2070000" imgH="2919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C6682335-342A-4187-9CFC-31D21C514F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75517" y="2109746"/>
                        <a:ext cx="4971832" cy="6982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0958292-FD3E-4835-A2B2-4F542CB983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3433411"/>
              </p:ext>
            </p:extLst>
          </p:nvPr>
        </p:nvGraphicFramePr>
        <p:xfrm>
          <a:off x="1773537" y="2870985"/>
          <a:ext cx="2379614" cy="485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90360" imgH="203040" progId="Equation.DSMT4">
                  <p:embed/>
                </p:oleObj>
              </mc:Choice>
              <mc:Fallback>
                <p:oleObj name="Equation" r:id="rId4" imgW="990360" imgH="2030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93E1FA22-EAD3-4F97-AD6B-6A76B0FFD5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73537" y="2870985"/>
                        <a:ext cx="2379614" cy="4856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A4A7A97-13D5-4AA7-8E4F-731AF830BF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8189125"/>
              </p:ext>
            </p:extLst>
          </p:nvPr>
        </p:nvGraphicFramePr>
        <p:xfrm>
          <a:off x="1786707" y="3508375"/>
          <a:ext cx="3629887" cy="485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11280" imgH="203040" progId="Equation.DSMT4">
                  <p:embed/>
                </p:oleObj>
              </mc:Choice>
              <mc:Fallback>
                <p:oleObj name="Equation" r:id="rId6" imgW="1511280" imgH="2030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93E1FA22-EAD3-4F97-AD6B-6A76B0FFD5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86707" y="3508375"/>
                        <a:ext cx="3629887" cy="4856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B5EB243-F78F-442B-A46D-DB18178C59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2590783"/>
              </p:ext>
            </p:extLst>
          </p:nvPr>
        </p:nvGraphicFramePr>
        <p:xfrm>
          <a:off x="1786704" y="4096579"/>
          <a:ext cx="3050588" cy="546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69720" imgH="228600" progId="Equation.DSMT4">
                  <p:embed/>
                </p:oleObj>
              </mc:Choice>
              <mc:Fallback>
                <p:oleObj name="Equation" r:id="rId8" imgW="1269720" imgH="2286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6A4A7A97-13D5-4AA7-8E4F-731AF830BF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86704" y="4096579"/>
                        <a:ext cx="3050588" cy="5461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0B353CF-44F6-4CEA-BAD8-2536332C46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0245305"/>
              </p:ext>
            </p:extLst>
          </p:nvPr>
        </p:nvGraphicFramePr>
        <p:xfrm>
          <a:off x="1773540" y="4743525"/>
          <a:ext cx="5857363" cy="485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38280" imgH="203040" progId="Equation.DSMT4">
                  <p:embed/>
                </p:oleObj>
              </mc:Choice>
              <mc:Fallback>
                <p:oleObj name="Equation" r:id="rId10" imgW="2438280" imgH="2030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6A4A7A97-13D5-4AA7-8E4F-731AF830BF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773540" y="4743525"/>
                        <a:ext cx="5857363" cy="4856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154D64B-98EC-4D5D-8811-D09D651617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8102913"/>
              </p:ext>
            </p:extLst>
          </p:nvPr>
        </p:nvGraphicFramePr>
        <p:xfrm>
          <a:off x="1761306" y="5391596"/>
          <a:ext cx="6163591" cy="485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65360" imgH="203040" progId="Equation.DSMT4">
                  <p:embed/>
                </p:oleObj>
              </mc:Choice>
              <mc:Fallback>
                <p:oleObj name="Equation" r:id="rId12" imgW="2565360" imgH="20304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60B353CF-44F6-4CEA-BAD8-2536332C46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761306" y="5391596"/>
                        <a:ext cx="6163591" cy="4856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EC3B36B-E3E8-41CB-A089-9ADCB77E57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5718211"/>
              </p:ext>
            </p:extLst>
          </p:nvPr>
        </p:nvGraphicFramePr>
        <p:xfrm>
          <a:off x="1739688" y="6023955"/>
          <a:ext cx="1829572" cy="485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61760" imgH="203040" progId="Equation.DSMT4">
                  <p:embed/>
                </p:oleObj>
              </mc:Choice>
              <mc:Fallback>
                <p:oleObj name="Equation" r:id="rId14" imgW="761760" imgH="2030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90958292-FD3E-4835-A2B2-4F542CB983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739688" y="6023955"/>
                        <a:ext cx="1829572" cy="4856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2B4A63D0-08F6-A4CA-84EB-79603DF8778F}"/>
              </a:ext>
            </a:extLst>
          </p:cNvPr>
          <p:cNvSpPr/>
          <p:nvPr/>
        </p:nvSpPr>
        <p:spPr bwMode="auto">
          <a:xfrm>
            <a:off x="8806644" y="2092289"/>
            <a:ext cx="2808312" cy="1243273"/>
          </a:xfrm>
          <a:prstGeom prst="wedgeRoundRectCallout">
            <a:avLst>
              <a:gd name="adj1" fmla="val -26956"/>
              <a:gd name="adj2" fmla="val 44642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32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altLang="zh-CN" sz="3200" b="1" dirty="0">
                <a:solidFill>
                  <a:srgbClr val="0070C0"/>
                </a:solidFill>
              </a:rPr>
              <a:t>:  </a:t>
            </a:r>
            <a:r>
              <a:rPr lang="zh-CN" altLang="en-US" sz="2800" b="1" dirty="0"/>
              <a:t>样本空间</a:t>
            </a:r>
            <a:endParaRPr lang="en-US" altLang="zh-CN" sz="3200" b="1" dirty="0"/>
          </a:p>
          <a:p>
            <a:r>
              <a:rPr lang="en-US" altLang="zh-CN" sz="32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32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3200" b="1" dirty="0">
                <a:solidFill>
                  <a:srgbClr val="0070C0"/>
                </a:solidFill>
              </a:rPr>
              <a:t>:  </a:t>
            </a:r>
            <a:r>
              <a:rPr lang="en-US" altLang="zh-CN" sz="2800" b="1" dirty="0"/>
              <a:t>F</a:t>
            </a:r>
            <a:r>
              <a:rPr lang="zh-CN" altLang="en-US" sz="2800" b="1" dirty="0"/>
              <a:t>事件</a:t>
            </a:r>
            <a:endParaRPr lang="en-US" altLang="zh-CN" sz="3200" b="1" dirty="0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4EFCCC07-9E71-CA45-9D70-F859A6EB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0176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5C83272-2FC4-4BB1-87AA-66D785161556}"/>
              </a:ext>
            </a:extLst>
          </p:cNvPr>
          <p:cNvSpPr/>
          <p:nvPr/>
        </p:nvSpPr>
        <p:spPr bwMode="auto">
          <a:xfrm>
            <a:off x="2361928" y="1342672"/>
            <a:ext cx="7170440" cy="709613"/>
          </a:xfrm>
          <a:prstGeom prst="round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98DC626-6610-46A6-BDC0-1B20CED84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-27384"/>
            <a:ext cx="8229600" cy="137160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事件的概率的性质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72C563-2271-4CBD-9975-D4F1121FE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448" y="1462681"/>
            <a:ext cx="1594520" cy="57606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证明：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5F8B7BD-D334-418F-BFCB-E2337582DF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8737842"/>
              </p:ext>
            </p:extLst>
          </p:nvPr>
        </p:nvGraphicFramePr>
        <p:xfrm>
          <a:off x="8581007" y="2291333"/>
          <a:ext cx="2915593" cy="743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3000" imgH="291960" progId="Equation.DSMT4">
                  <p:embed/>
                </p:oleObj>
              </mc:Choice>
              <mc:Fallback>
                <p:oleObj name="Equation" r:id="rId2" imgW="1143000" imgH="29196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A251B3E7-3802-4F77-8D42-AB5E523709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581007" y="2291333"/>
                        <a:ext cx="2915593" cy="74388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BCD4D63-40C1-4A3F-89F7-BBD1CD135E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1543685"/>
              </p:ext>
            </p:extLst>
          </p:nvPr>
        </p:nvGraphicFramePr>
        <p:xfrm>
          <a:off x="2361928" y="1462681"/>
          <a:ext cx="6947466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38280" imgH="203040" progId="Equation.DSMT4">
                  <p:embed/>
                </p:oleObj>
              </mc:Choice>
              <mc:Fallback>
                <p:oleObj name="Equation" r:id="rId4" imgW="2438280" imgH="20304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60B353CF-44F6-4CEA-BAD8-2536332C46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61928" y="1462681"/>
                        <a:ext cx="6947466" cy="5760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D7923E6-489D-41B6-9EA0-167BBC9F93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3383042"/>
              </p:ext>
            </p:extLst>
          </p:nvPr>
        </p:nvGraphicFramePr>
        <p:xfrm>
          <a:off x="2298130" y="2276478"/>
          <a:ext cx="35750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33440" imgH="203040" progId="Equation.DSMT4">
                  <p:embed/>
                </p:oleObj>
              </mc:Choice>
              <mc:Fallback>
                <p:oleObj name="Equation" r:id="rId6" imgW="1333440" imgH="2030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1BCD4D63-40C1-4A3F-89F7-BBD1CD135E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98130" y="2276478"/>
                        <a:ext cx="3575050" cy="542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2882E1F-246D-4CA7-A46D-0DBA447505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6912945"/>
              </p:ext>
            </p:extLst>
          </p:nvPr>
        </p:nvGraphicFramePr>
        <p:xfrm>
          <a:off x="2057378" y="2924310"/>
          <a:ext cx="5345113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97080" imgH="291960" progId="Equation.DSMT4">
                  <p:embed/>
                </p:oleObj>
              </mc:Choice>
              <mc:Fallback>
                <p:oleObj name="Equation" r:id="rId8" imgW="2197080" imgH="2919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7D7923E6-489D-41B6-9EA0-167BBC9F93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057378" y="2924310"/>
                        <a:ext cx="5345113" cy="709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351EE4E-C533-46A0-B24C-1AF08EE6B7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7216436"/>
              </p:ext>
            </p:extLst>
          </p:nvPr>
        </p:nvGraphicFramePr>
        <p:xfrm>
          <a:off x="2057378" y="3716398"/>
          <a:ext cx="6294437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77960" imgH="291960" progId="Equation.DSMT4">
                  <p:embed/>
                </p:oleObj>
              </mc:Choice>
              <mc:Fallback>
                <p:oleObj name="Equation" r:id="rId10" imgW="2577960" imgH="2919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62882E1F-246D-4CA7-A46D-0DBA447505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057378" y="3716398"/>
                        <a:ext cx="6294437" cy="712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00D8A1B-C4D1-4266-9088-5E128FD82E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6224742"/>
              </p:ext>
            </p:extLst>
          </p:nvPr>
        </p:nvGraphicFramePr>
        <p:xfrm>
          <a:off x="2057056" y="4509120"/>
          <a:ext cx="5705475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336760" imgH="291960" progId="Equation.DSMT4">
                  <p:embed/>
                </p:oleObj>
              </mc:Choice>
              <mc:Fallback>
                <p:oleObj name="Equation" r:id="rId12" imgW="2336760" imgH="2919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3351EE4E-C533-46A0-B24C-1AF08EE6B7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057056" y="4509120"/>
                        <a:ext cx="5705475" cy="712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79BF46A5-1628-466C-A438-D4E92A9C87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1121594"/>
              </p:ext>
            </p:extLst>
          </p:nvPr>
        </p:nvGraphicFramePr>
        <p:xfrm>
          <a:off x="2049608" y="5301211"/>
          <a:ext cx="3101975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69720" imgH="291960" progId="Equation.DSMT4">
                  <p:embed/>
                </p:oleObj>
              </mc:Choice>
              <mc:Fallback>
                <p:oleObj name="Equation" r:id="rId14" imgW="1269720" imgH="2919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500D8A1B-C4D1-4266-9088-5E128FD82E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049608" y="5301211"/>
                        <a:ext cx="3101975" cy="712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10BFC9DC-3B55-4963-9E2F-66D2383008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2534529"/>
              </p:ext>
            </p:extLst>
          </p:nvPr>
        </p:nvGraphicFramePr>
        <p:xfrm>
          <a:off x="5123087" y="5301210"/>
          <a:ext cx="3567112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60160" imgH="291960" progId="Equation.DSMT4">
                  <p:embed/>
                </p:oleObj>
              </mc:Choice>
              <mc:Fallback>
                <p:oleObj name="Equation" r:id="rId16" imgW="1460160" imgH="29196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79BF46A5-1628-466C-A438-D4E92A9C87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123087" y="5301210"/>
                        <a:ext cx="3567112" cy="712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0F42AEEC-F941-4BA1-8038-DECAA74039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4015875"/>
              </p:ext>
            </p:extLst>
          </p:nvPr>
        </p:nvGraphicFramePr>
        <p:xfrm>
          <a:off x="2049608" y="6104295"/>
          <a:ext cx="2687991" cy="586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27000" imgH="203040" progId="Equation.DSMT4">
                  <p:embed/>
                </p:oleObj>
              </mc:Choice>
              <mc:Fallback>
                <p:oleObj name="Equation" r:id="rId18" imgW="927000" imgH="2030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1BCD4D63-40C1-4A3F-89F7-BBD1CD135E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049608" y="6104295"/>
                        <a:ext cx="2687991" cy="5860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24CE1D-2D05-02ED-DACC-173552F84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2474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BBB5DF-510C-4EAB-9E83-6A34469D3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457200"/>
            <a:ext cx="8229600" cy="970394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事件的概率的性质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521F06-80A6-4DA1-BB0E-CF269FFC2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80" y="1476301"/>
            <a:ext cx="9793088" cy="5328592"/>
          </a:xfrm>
        </p:spPr>
        <p:txBody>
          <a:bodyPr/>
          <a:lstStyle/>
          <a:p>
            <a:r>
              <a:rPr lang="zh-CN" altLang="en-US" b="1" dirty="0"/>
              <a:t>设</a:t>
            </a:r>
            <a:r>
              <a:rPr lang="en-US" altLang="zh-CN" b="1" dirty="0">
                <a:solidFill>
                  <a:srgbClr val="0070C0"/>
                </a:solidFill>
              </a:rPr>
              <a:t>(</a:t>
            </a:r>
            <a:r>
              <a:rPr lang="en-US" altLang="zh-CN" b="1" i="1" dirty="0">
                <a:solidFill>
                  <a:srgbClr val="0070C0"/>
                </a:solidFill>
              </a:rPr>
              <a:t>U</a:t>
            </a:r>
            <a:r>
              <a:rPr lang="en-US" altLang="zh-CN" b="1" dirty="0">
                <a:solidFill>
                  <a:srgbClr val="0070C0"/>
                </a:solidFill>
              </a:rPr>
              <a:t>, </a:t>
            </a:r>
            <a:r>
              <a:rPr lang="en-US" altLang="zh-CN" b="1" i="1" dirty="0">
                <a:solidFill>
                  <a:srgbClr val="0070C0"/>
                </a:solidFill>
              </a:rPr>
              <a:t>V</a:t>
            </a:r>
            <a:r>
              <a:rPr lang="en-US" altLang="zh-CN" b="1" dirty="0">
                <a:solidFill>
                  <a:srgbClr val="0070C0"/>
                </a:solidFill>
              </a:rPr>
              <a:t>, </a:t>
            </a:r>
            <a:r>
              <a:rPr lang="en-US" altLang="zh-CN" b="1" i="1" dirty="0">
                <a:solidFill>
                  <a:srgbClr val="0070C0"/>
                </a:solidFill>
              </a:rPr>
              <a:t>p</a:t>
            </a:r>
            <a:r>
              <a:rPr lang="en-US" altLang="zh-CN" b="1" dirty="0">
                <a:solidFill>
                  <a:srgbClr val="0070C0"/>
                </a:solidFill>
              </a:rPr>
              <a:t>)</a:t>
            </a:r>
            <a:r>
              <a:rPr lang="zh-CN" altLang="en-US" b="1" dirty="0"/>
              <a:t>为经典概率空间</a:t>
            </a:r>
            <a:r>
              <a:rPr lang="en-US" altLang="zh-CN" b="1" dirty="0"/>
              <a:t>,</a:t>
            </a:r>
            <a:r>
              <a:rPr lang="en-US" altLang="zh-CN" b="1" i="1" dirty="0">
                <a:solidFill>
                  <a:srgbClr val="FF0000"/>
                </a:solidFill>
              </a:rPr>
              <a:t>V</a:t>
            </a:r>
            <a:r>
              <a:rPr lang="zh-CN" altLang="en-US" b="1" dirty="0"/>
              <a:t>为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全体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事件的集合</a:t>
            </a: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 b="1" dirty="0"/>
              <a:t>   显然：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                 </a:t>
            </a:r>
            <a:r>
              <a:rPr lang="en-US" altLang="zh-CN" b="1" i="1" dirty="0">
                <a:solidFill>
                  <a:srgbClr val="0070C0"/>
                </a:solidFill>
              </a:rPr>
              <a:t>V</a:t>
            </a:r>
            <a:r>
              <a:rPr lang="en-US" altLang="zh-CN" b="1" i="1" dirty="0"/>
              <a:t> </a:t>
            </a:r>
            <a:r>
              <a:rPr lang="en-US" altLang="zh-CN" b="1" dirty="0">
                <a:sym typeface="Symbol" panose="05050102010706020507" pitchFamily="18" charset="2"/>
              </a:rPr>
              <a:t>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</a:rPr>
              <a:t>V</a:t>
            </a:r>
          </a:p>
          <a:p>
            <a:pPr marL="0" indent="0">
              <a:buNone/>
            </a:pPr>
            <a:endParaRPr lang="en-US" altLang="zh-CN" sz="2400" b="1" i="1" dirty="0">
              <a:solidFill>
                <a:srgbClr val="FF0000"/>
              </a:solidFill>
            </a:endParaRPr>
          </a:p>
          <a:p>
            <a:r>
              <a:rPr lang="en-US" altLang="zh-CN" b="1" i="1" dirty="0">
                <a:solidFill>
                  <a:srgbClr val="FF0000"/>
                </a:solidFill>
                <a:sym typeface="Symbol" panose="05050102010706020507" pitchFamily="18" charset="2"/>
              </a:rPr>
              <a:t>V </a:t>
            </a:r>
            <a:r>
              <a:rPr lang="zh-CN" altLang="en-US" b="1" dirty="0">
                <a:sym typeface="Symbol" panose="05050102010706020507" pitchFamily="18" charset="2"/>
              </a:rPr>
              <a:t>满足：</a:t>
            </a:r>
            <a:endParaRPr lang="en-US" altLang="zh-CN" b="1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zh-CN" sz="2800" b="1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zh-CN" sz="2800" b="1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zh-CN" sz="2800" b="1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zh-CN" sz="2800" b="1" dirty="0">
              <a:sym typeface="Symbol" panose="05050102010706020507" pitchFamily="18" charset="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51AE30-F14A-4203-AEDC-05CBD96C3CF5}"/>
              </a:ext>
            </a:extLst>
          </p:cNvPr>
          <p:cNvSpPr txBox="1"/>
          <p:nvPr/>
        </p:nvSpPr>
        <p:spPr>
          <a:xfrm>
            <a:off x="6672064" y="1692098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~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B849D4F-9BD7-4D66-A3A2-FD8C32C2F1D1}"/>
              </a:ext>
            </a:extLst>
          </p:cNvPr>
          <p:cNvSpPr txBox="1"/>
          <p:nvPr/>
        </p:nvSpPr>
        <p:spPr>
          <a:xfrm>
            <a:off x="4151784" y="2844226"/>
            <a:ext cx="6086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~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34D10DC-CAAF-4526-A87A-E232D26711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9884645"/>
              </p:ext>
            </p:extLst>
          </p:nvPr>
        </p:nvGraphicFramePr>
        <p:xfrm>
          <a:off x="2517775" y="4211585"/>
          <a:ext cx="3391966" cy="904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41120" imgH="279360" progId="Equation.DSMT4">
                  <p:embed/>
                </p:oleObj>
              </mc:Choice>
              <mc:Fallback>
                <p:oleObj name="Equation" r:id="rId2" imgW="1041120" imgH="2793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90958292-FD3E-4835-A2B2-4F542CB983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17775" y="4211585"/>
                        <a:ext cx="3391966" cy="9048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B7A06FB-C0F7-424D-8F9D-63A264F716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0901062"/>
              </p:ext>
            </p:extLst>
          </p:nvPr>
        </p:nvGraphicFramePr>
        <p:xfrm>
          <a:off x="2465870" y="4958961"/>
          <a:ext cx="3677734" cy="904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31560" imgH="304560" progId="Equation.DSMT4">
                  <p:embed/>
                </p:oleObj>
              </mc:Choice>
              <mc:Fallback>
                <p:oleObj name="Equation" r:id="rId4" imgW="1231560" imgH="3045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134D10DC-CAAF-4526-A87A-E232D26711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65870" y="4958961"/>
                        <a:ext cx="3677734" cy="9048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54F28E1-3B0A-4843-AB21-1EAA6B52F4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4736217"/>
              </p:ext>
            </p:extLst>
          </p:nvPr>
        </p:nvGraphicFramePr>
        <p:xfrm>
          <a:off x="2465388" y="5554664"/>
          <a:ext cx="7785100" cy="1201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81000" imgH="431640" progId="Equation.DSMT4">
                  <p:embed/>
                </p:oleObj>
              </mc:Choice>
              <mc:Fallback>
                <p:oleObj name="Equation" r:id="rId6" imgW="2781000" imgH="4316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4B7A06FB-C0F7-424D-8F9D-63A264F716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65388" y="5554664"/>
                        <a:ext cx="7785100" cy="1201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6E4AC0C0-BCD1-448C-BB82-F56534E70758}"/>
              </a:ext>
            </a:extLst>
          </p:cNvPr>
          <p:cNvSpPr txBox="1"/>
          <p:nvPr/>
        </p:nvSpPr>
        <p:spPr>
          <a:xfrm>
            <a:off x="1775520" y="3825590"/>
            <a:ext cx="6086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~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00E3FA12-319B-3466-07CB-80068868CAFA}"/>
              </a:ext>
            </a:extLst>
          </p:cNvPr>
          <p:cNvSpPr/>
          <p:nvPr/>
        </p:nvSpPr>
        <p:spPr bwMode="auto">
          <a:xfrm>
            <a:off x="8057715" y="2217725"/>
            <a:ext cx="3748038" cy="2347525"/>
          </a:xfrm>
          <a:prstGeom prst="wedgeRoundRectCallout">
            <a:avLst>
              <a:gd name="adj1" fmla="val -26956"/>
              <a:gd name="adj2" fmla="val 44642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3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概率空间</a:t>
            </a:r>
            <a:r>
              <a:rPr lang="en-US" altLang="zh-CN" sz="3200" b="1" dirty="0">
                <a:solidFill>
                  <a:srgbClr val="0070C0"/>
                </a:solidFill>
              </a:rPr>
              <a:t>(</a:t>
            </a:r>
            <a:r>
              <a:rPr lang="en-US" altLang="zh-CN" sz="32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32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32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3200" b="1" dirty="0">
                <a:solidFill>
                  <a:srgbClr val="0070C0"/>
                </a:solidFill>
              </a:rPr>
              <a:t>)</a:t>
            </a:r>
          </a:p>
          <a:p>
            <a:r>
              <a:rPr lang="en-US" altLang="zh-CN" sz="32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altLang="zh-CN" sz="3200" b="1" dirty="0">
                <a:solidFill>
                  <a:srgbClr val="0070C0"/>
                </a:solidFill>
              </a:rPr>
              <a:t>: </a:t>
            </a:r>
            <a:r>
              <a:rPr lang="zh-CN" altLang="en-US" sz="2800" b="1" dirty="0"/>
              <a:t>样本空间</a:t>
            </a:r>
            <a:endParaRPr lang="en-US" altLang="zh-CN" sz="3200" b="1" dirty="0"/>
          </a:p>
          <a:p>
            <a:r>
              <a:rPr lang="en-US" altLang="zh-CN" sz="32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altLang="zh-CN" sz="3200" b="1" dirty="0">
                <a:solidFill>
                  <a:srgbClr val="0070C0"/>
                </a:solidFill>
              </a:rPr>
              <a:t>: </a:t>
            </a:r>
            <a:r>
              <a:rPr lang="zh-CN" altLang="en-US" sz="2800" b="1" dirty="0">
                <a:sym typeface="Symbol" panose="05050102010706020507" pitchFamily="18" charset="2"/>
              </a:rPr>
              <a:t>所有事件的集合</a:t>
            </a:r>
            <a:endParaRPr lang="en-US" altLang="zh-CN" sz="3200" b="1" dirty="0">
              <a:solidFill>
                <a:srgbClr val="C00000"/>
              </a:solidFill>
            </a:endParaRPr>
          </a:p>
          <a:p>
            <a:r>
              <a:rPr lang="en-US" altLang="zh-CN" sz="32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altLang="zh-CN" sz="3200" b="1" dirty="0">
                <a:solidFill>
                  <a:srgbClr val="0070C0"/>
                </a:solidFill>
              </a:rPr>
              <a:t>: </a:t>
            </a:r>
            <a:r>
              <a:rPr lang="zh-CN" altLang="en-US" sz="2800" b="1" dirty="0"/>
              <a:t>概率测度</a:t>
            </a:r>
            <a:endParaRPr lang="zh-CN" altLang="en-US" sz="3200" b="1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4023A75C-BF5F-8247-E769-B192A27A8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7687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10" grpId="0"/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FCB684B2-D105-4273-AAB6-5EDCE1CD41C9}"/>
              </a:ext>
            </a:extLst>
          </p:cNvPr>
          <p:cNvSpPr/>
          <p:nvPr/>
        </p:nvSpPr>
        <p:spPr bwMode="auto">
          <a:xfrm>
            <a:off x="2562094" y="2775757"/>
            <a:ext cx="6918285" cy="581235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9EDBC24-3C01-450E-8FBC-F741727DC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457200"/>
            <a:ext cx="8229600" cy="667544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事件的概率的性质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E5FD40-9044-469B-B59E-DB0190DDE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440" y="1412776"/>
            <a:ext cx="10369152" cy="5112568"/>
          </a:xfrm>
        </p:spPr>
        <p:txBody>
          <a:bodyPr>
            <a:noAutofit/>
          </a:bodyPr>
          <a:lstStyle/>
          <a:p>
            <a:r>
              <a:rPr lang="zh-CN" altLang="en-US" b="1" dirty="0"/>
              <a:t>设</a:t>
            </a:r>
            <a:r>
              <a:rPr lang="en-US" altLang="zh-CN" b="1" i="1" dirty="0"/>
              <a:t>U</a:t>
            </a:r>
            <a:r>
              <a:rPr lang="zh-CN" altLang="en-US" b="1" dirty="0"/>
              <a:t>为样本空间，若</a:t>
            </a:r>
            <a:endParaRPr lang="en-US" altLang="zh-CN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b="1" dirty="0"/>
              <a:t>   </a:t>
            </a:r>
            <a:r>
              <a:rPr lang="zh-CN" altLang="en-US" b="1" dirty="0"/>
              <a:t>前面</a:t>
            </a:r>
            <a:r>
              <a:rPr lang="en-US" altLang="zh-CN" b="1" dirty="0"/>
              <a:t>F</a:t>
            </a:r>
            <a:r>
              <a:rPr lang="zh-CN" altLang="en-US" b="1" dirty="0"/>
              <a:t>概率的性质：</a:t>
            </a:r>
            <a:endParaRPr lang="en-US" altLang="zh-CN" b="1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800" b="1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b="1" dirty="0"/>
              <a:t>   推广为：</a:t>
            </a:r>
            <a:endParaRPr lang="en-US" altLang="zh-CN" b="1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b="1" dirty="0"/>
              <a:t>   其中，</a:t>
            </a:r>
            <a:endParaRPr lang="en-US" altLang="zh-CN" b="1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b="1" dirty="0"/>
              <a:t>   三元组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称为由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诱导出来</a:t>
            </a:r>
            <a:r>
              <a:rPr lang="zh-CN" altLang="en-US" b="1" dirty="0"/>
              <a:t>的</a:t>
            </a:r>
            <a:r>
              <a:rPr lang="en-US" altLang="zh-CN" b="1" dirty="0">
                <a:solidFill>
                  <a:srgbClr val="FF0000"/>
                </a:solidFill>
              </a:rPr>
              <a:t>F</a:t>
            </a:r>
            <a:r>
              <a:rPr lang="zh-CN" altLang="en-US" b="1" dirty="0">
                <a:solidFill>
                  <a:srgbClr val="FF0000"/>
                </a:solidFill>
              </a:rPr>
              <a:t>概率空间</a:t>
            </a:r>
            <a:r>
              <a:rPr lang="en-US" altLang="zh-CN" b="1" dirty="0">
                <a:solidFill>
                  <a:srgbClr val="FF0000"/>
                </a:solidFill>
              </a:rPr>
              <a:t>.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B2802F4-AF1F-4FD8-AA33-82E6424987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3467360"/>
              </p:ext>
            </p:extLst>
          </p:nvPr>
        </p:nvGraphicFramePr>
        <p:xfrm>
          <a:off x="5303912" y="1427724"/>
          <a:ext cx="5040560" cy="561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58920" imgH="241200" progId="Equation.DSMT4">
                  <p:embed/>
                </p:oleObj>
              </mc:Choice>
              <mc:Fallback>
                <p:oleObj name="Equation" r:id="rId2" imgW="2158920" imgH="2412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60B353CF-44F6-4CEA-BAD8-2536332C46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03912" y="1427724"/>
                        <a:ext cx="5040560" cy="561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7DDAE4C-D2D7-48EE-BCE2-6FA3A85D05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0772144"/>
              </p:ext>
            </p:extLst>
          </p:nvPr>
        </p:nvGraphicFramePr>
        <p:xfrm>
          <a:off x="3359696" y="3573016"/>
          <a:ext cx="315277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57120" imgH="431640" progId="Equation.DSMT4">
                  <p:embed/>
                </p:oleObj>
              </mc:Choice>
              <mc:Fallback>
                <p:oleObj name="Equation" r:id="rId4" imgW="1257120" imgH="4316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4B2802F4-AF1F-4FD8-AA33-82E6424987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59696" y="3573016"/>
                        <a:ext cx="3152775" cy="107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DD212EF-F3AC-45F6-BC9E-0FC47BCF0E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6449229"/>
              </p:ext>
            </p:extLst>
          </p:nvPr>
        </p:nvGraphicFramePr>
        <p:xfrm>
          <a:off x="2567608" y="2829939"/>
          <a:ext cx="66802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65360" imgH="203040" progId="Equation.DSMT4">
                  <p:embed/>
                </p:oleObj>
              </mc:Choice>
              <mc:Fallback>
                <p:oleObj name="Equation" r:id="rId6" imgW="2565360" imgH="20304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60B353CF-44F6-4CEA-BAD8-2536332C46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67608" y="2829939"/>
                        <a:ext cx="6680200" cy="527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08DFA67-3FBB-4CAC-A87D-083CF5DBDB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5047483"/>
              </p:ext>
            </p:extLst>
          </p:nvPr>
        </p:nvGraphicFramePr>
        <p:xfrm>
          <a:off x="6970279" y="3794197"/>
          <a:ext cx="44323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01720" imgH="228600" progId="Equation.DSMT4">
                  <p:embed/>
                </p:oleObj>
              </mc:Choice>
              <mc:Fallback>
                <p:oleObj name="Equation" r:id="rId8" imgW="1701720" imgH="2286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6DD212EF-F3AC-45F6-BC9E-0FC47BCF0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970279" y="3794197"/>
                        <a:ext cx="4432300" cy="593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BF34BC4E-2951-40D2-9EAB-DA224DB8A2A5}"/>
              </a:ext>
            </a:extLst>
          </p:cNvPr>
          <p:cNvSpPr txBox="1"/>
          <p:nvPr/>
        </p:nvSpPr>
        <p:spPr>
          <a:xfrm>
            <a:off x="3255086" y="5733256"/>
            <a:ext cx="6086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~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20694FB7-0DA2-5684-F474-E5DB145E0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939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uiExpand="1" build="p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C3AB29-935C-4B75-98C7-A5BFC7C9C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88640"/>
            <a:ext cx="8229600" cy="883568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8000"/>
                </a:solidFill>
                <a:ea typeface="黑体" panose="02010609060101010101" pitchFamily="49" charset="-122"/>
              </a:rPr>
              <a:t>10.2</a:t>
            </a:r>
            <a:r>
              <a:rPr lang="en-US" altLang="zh-CN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事件的</a:t>
            </a:r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概率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01EF39-043B-42B6-83CA-671C88FE2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456" y="1412776"/>
            <a:ext cx="10369152" cy="544522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b="1" dirty="0"/>
              <a:t>“</a:t>
            </a:r>
            <a:r>
              <a:rPr lang="zh-CN" altLang="en-US" b="1" u="sng" dirty="0">
                <a:solidFill>
                  <a:srgbClr val="FF0000"/>
                </a:solidFill>
              </a:rPr>
              <a:t>他明天来的可能性多大？</a:t>
            </a:r>
            <a:r>
              <a:rPr lang="zh-CN" altLang="en-US" b="1" dirty="0"/>
              <a:t>”</a:t>
            </a:r>
            <a:endParaRPr lang="en-US" altLang="zh-CN" b="1" dirty="0"/>
          </a:p>
          <a:p>
            <a:pPr lvl="1">
              <a:lnSpc>
                <a:spcPct val="100000"/>
              </a:lnSpc>
            </a:pPr>
            <a:r>
              <a:rPr lang="zh-CN" altLang="en-US" b="1" dirty="0"/>
              <a:t>回答：</a:t>
            </a:r>
            <a:r>
              <a:rPr lang="zh-CN" altLang="en-US" b="1" dirty="0">
                <a:solidFill>
                  <a:srgbClr val="00B0F0"/>
                </a:solidFill>
              </a:rPr>
              <a:t>“很大”、“不大”、“极小”</a:t>
            </a:r>
            <a:r>
              <a:rPr lang="en-US" altLang="zh-CN" b="1" dirty="0"/>
              <a:t>…</a:t>
            </a:r>
          </a:p>
          <a:p>
            <a:pPr lvl="1">
              <a:lnSpc>
                <a:spcPct val="100000"/>
              </a:lnSpc>
            </a:pPr>
            <a:r>
              <a:rPr lang="zh-CN" altLang="en-US" b="1" dirty="0"/>
              <a:t>比回答“</a:t>
            </a:r>
            <a:r>
              <a:rPr lang="zh-CN" altLang="en-US" b="1" dirty="0">
                <a:solidFill>
                  <a:srgbClr val="008000"/>
                </a:solidFill>
              </a:rPr>
              <a:t>他明天来的可能性为</a:t>
            </a:r>
            <a:r>
              <a:rPr lang="en-US" altLang="zh-CN" b="1" dirty="0">
                <a:solidFill>
                  <a:srgbClr val="008000"/>
                </a:solidFill>
              </a:rPr>
              <a:t>0.9</a:t>
            </a:r>
            <a:r>
              <a:rPr lang="zh-CN" altLang="en-US" b="1" dirty="0"/>
              <a:t>”更符合实际！ </a:t>
            </a:r>
            <a:endParaRPr lang="en-US" altLang="zh-CN" b="1" dirty="0"/>
          </a:p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rgbClr val="CC00CC"/>
                </a:solidFill>
              </a:rPr>
              <a:t>语言概率</a:t>
            </a:r>
            <a:r>
              <a:rPr lang="en-US" altLang="zh-CN" b="1" dirty="0">
                <a:solidFill>
                  <a:srgbClr val="CC00CC"/>
                </a:solidFill>
              </a:rPr>
              <a:t>(F</a:t>
            </a:r>
            <a:r>
              <a:rPr lang="zh-CN" altLang="en-US" b="1" dirty="0">
                <a:solidFill>
                  <a:srgbClr val="CC00CC"/>
                </a:solidFill>
              </a:rPr>
              <a:t>概率</a:t>
            </a:r>
            <a:r>
              <a:rPr lang="en-US" altLang="zh-CN" b="1" dirty="0">
                <a:solidFill>
                  <a:srgbClr val="CC00CC"/>
                </a:solidFill>
              </a:rPr>
              <a:t>)——</a:t>
            </a:r>
            <a:r>
              <a:rPr lang="zh-CN" altLang="en-US" b="1" dirty="0"/>
              <a:t>用语言描述的事件发生的概率。</a:t>
            </a:r>
            <a:endParaRPr lang="en-US" altLang="zh-CN" b="1" dirty="0"/>
          </a:p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rgbClr val="008000"/>
                </a:solidFill>
              </a:rPr>
              <a:t>对概率空间</a:t>
            </a:r>
            <a:r>
              <a:rPr lang="en-US" altLang="zh-CN" b="1" dirty="0">
                <a:solidFill>
                  <a:srgbClr val="008000"/>
                </a:solidFill>
              </a:rPr>
              <a:t>(U, V, p)</a:t>
            </a:r>
          </a:p>
          <a:p>
            <a:pPr lvl="1">
              <a:lnSpc>
                <a:spcPct val="100000"/>
              </a:lnSpc>
            </a:pPr>
            <a:r>
              <a:rPr lang="zh-CN" altLang="en-US" b="1" dirty="0"/>
              <a:t>普通概率 </a:t>
            </a:r>
            <a:r>
              <a:rPr lang="en-US" altLang="zh-CN" b="1" i="1" dirty="0"/>
              <a:t>p</a:t>
            </a:r>
            <a:r>
              <a:rPr lang="zh-CN" altLang="en-US" b="1" dirty="0"/>
              <a:t>：</a:t>
            </a:r>
            <a:r>
              <a:rPr lang="en-US" altLang="zh-CN" b="1" dirty="0">
                <a:solidFill>
                  <a:srgbClr val="008000"/>
                </a:solidFill>
              </a:rPr>
              <a:t>V</a:t>
            </a:r>
            <a:r>
              <a:rPr lang="en-US" altLang="zh-CN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b="1" dirty="0">
                <a:sym typeface="Symbol" panose="05050102010706020507" pitchFamily="18" charset="2"/>
              </a:rPr>
              <a:t>[0,1]</a:t>
            </a:r>
          </a:p>
          <a:p>
            <a:pPr lvl="1">
              <a:lnSpc>
                <a:spcPct val="100000"/>
              </a:lnSpc>
            </a:pPr>
            <a:r>
              <a:rPr lang="zh-CN" altLang="en-US" b="1" dirty="0">
                <a:solidFill>
                  <a:srgbClr val="FF00FF"/>
                </a:solidFill>
                <a:sym typeface="Symbol" panose="05050102010706020507" pitchFamily="18" charset="2"/>
              </a:rPr>
              <a:t>语言概率 </a:t>
            </a:r>
            <a:r>
              <a:rPr lang="en-US" altLang="zh-CN" b="1" i="1" dirty="0">
                <a:solidFill>
                  <a:srgbClr val="FF00FF"/>
                </a:solidFill>
                <a:sym typeface="Symbol" panose="05050102010706020507" pitchFamily="18" charset="2"/>
              </a:rPr>
              <a:t>p</a:t>
            </a:r>
            <a:r>
              <a:rPr lang="zh-CN" altLang="en-US" b="1" dirty="0">
                <a:solidFill>
                  <a:srgbClr val="FF00FF"/>
                </a:solidFill>
                <a:sym typeface="Symbol" panose="05050102010706020507" pitchFamily="18" charset="2"/>
              </a:rPr>
              <a:t>：</a:t>
            </a:r>
            <a:r>
              <a:rPr lang="en-US" altLang="zh-CN" b="1" dirty="0">
                <a:solidFill>
                  <a:srgbClr val="008000"/>
                </a:solidFill>
                <a:sym typeface="Symbol" panose="05050102010706020507" pitchFamily="18" charset="2"/>
              </a:rPr>
              <a:t>V </a:t>
            </a:r>
            <a:r>
              <a:rPr lang="en-US" altLang="zh-CN" b="1" i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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       </a:t>
            </a:r>
            <a:r>
              <a:rPr lang="en-US" altLang="zh-CN" b="1" i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 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——</a:t>
            </a:r>
            <a:r>
              <a:rPr lang="zh-CN" altLang="en-US" b="1" dirty="0">
                <a:solidFill>
                  <a:srgbClr val="0000FF"/>
                </a:solidFill>
                <a:sym typeface="Symbol" panose="05050102010706020507" pitchFamily="18" charset="2"/>
              </a:rPr>
              <a:t>是一个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F</a:t>
            </a:r>
            <a:r>
              <a:rPr lang="zh-CN" altLang="en-US" b="1" dirty="0">
                <a:solidFill>
                  <a:srgbClr val="0000FF"/>
                </a:solidFill>
                <a:sym typeface="Symbol" panose="05050102010706020507" pitchFamily="18" charset="2"/>
              </a:rPr>
              <a:t>语言系统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(</a:t>
            </a:r>
            <a:r>
              <a:rPr lang="zh-CN" altLang="en-US" b="1" dirty="0">
                <a:solidFill>
                  <a:srgbClr val="0000FF"/>
                </a:solidFill>
                <a:sym typeface="Symbol" panose="05050102010706020507" pitchFamily="18" charset="2"/>
              </a:rPr>
              <a:t>概率语言值空间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  <a:r>
              <a:rPr lang="zh-CN" altLang="en-US" b="1" dirty="0">
                <a:sym typeface="Symbol" panose="05050102010706020507" pitchFamily="18" charset="2"/>
              </a:rPr>
              <a:t>，</a:t>
            </a:r>
            <a:endParaRPr lang="en-US" altLang="zh-CN" b="1" dirty="0">
              <a:sym typeface="Symbol" panose="05050102010706020507" pitchFamily="18" charset="2"/>
            </a:endParaRPr>
          </a:p>
          <a:p>
            <a:pPr lvl="3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>
                <a:sym typeface="Symbol" panose="05050102010706020507" pitchFamily="18" charset="2"/>
              </a:rPr>
              <a:t>  包含若干原始单词</a:t>
            </a:r>
            <a:endParaRPr lang="en-US" altLang="zh-CN" sz="2800" b="1" dirty="0">
              <a:sym typeface="Symbol" panose="05050102010706020507" pitchFamily="18" charset="2"/>
            </a:endParaRPr>
          </a:p>
          <a:p>
            <a:pPr lvl="3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en-US" altLang="zh-CN" sz="2800" b="1" dirty="0">
                <a:sym typeface="Symbol" panose="05050102010706020507" pitchFamily="18" charset="2"/>
              </a:rPr>
              <a:t>  </a:t>
            </a:r>
            <a:r>
              <a:rPr lang="zh-CN" altLang="en-US" sz="2800" b="1" dirty="0">
                <a:sym typeface="Symbol" panose="05050102010706020507" pitchFamily="18" charset="2"/>
              </a:rPr>
              <a:t>对</a:t>
            </a:r>
            <a:r>
              <a:rPr lang="en-US" altLang="zh-CN" sz="2800" b="1" dirty="0">
                <a:sym typeface="Symbol" panose="05050102010706020507" pitchFamily="18" charset="2"/>
              </a:rPr>
              <a:t>F</a:t>
            </a:r>
            <a:r>
              <a:rPr lang="zh-CN" altLang="en-US" sz="2800" b="1" dirty="0">
                <a:sym typeface="Symbol" panose="05050102010706020507" pitchFamily="18" charset="2"/>
              </a:rPr>
              <a:t>算子运算封闭</a:t>
            </a:r>
            <a:endParaRPr lang="zh-CN" altLang="en-US" sz="2800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2D8B36-DC4F-1B21-12A5-871E7821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5834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1B0B90-FBE4-4FC9-82F7-1B86FE8C4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416" y="309277"/>
            <a:ext cx="10739536" cy="739552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事件的</a:t>
            </a:r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概率</a:t>
            </a:r>
            <a:r>
              <a:rPr lang="en-US" altLang="zh-CN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原始单词</a:t>
            </a:r>
            <a:r>
              <a:rPr lang="en-US" altLang="zh-CN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en-US" altLang="zh-CN" b="1" dirty="0">
                <a:solidFill>
                  <a:srgbClr val="FF0000"/>
                </a:solidFill>
              </a:rPr>
              <a:t>”</a:t>
            </a:r>
            <a:r>
              <a:rPr lang="en-US" altLang="zh-CN" b="1" i="1" dirty="0">
                <a:solidFill>
                  <a:srgbClr val="FF0000"/>
                </a:solidFill>
              </a:rPr>
              <a:t>p</a:t>
            </a:r>
            <a:r>
              <a:rPr lang="en-US" altLang="zh-CN" b="1" dirty="0">
                <a:solidFill>
                  <a:srgbClr val="FF0000"/>
                </a:solidFill>
              </a:rPr>
              <a:t>”</a:t>
            </a:r>
            <a:r>
              <a:rPr lang="en-US" altLang="zh-CN" dirty="0"/>
              <a:t>(</a:t>
            </a:r>
            <a:r>
              <a:rPr lang="en-US" altLang="zh-CN" i="1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[0,1])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CF63A7-A6DC-465C-9DDA-D88AB9540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756" y="2996753"/>
            <a:ext cx="1666528" cy="576064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/>
              <a:t>(2)</a:t>
            </a:r>
            <a:r>
              <a:rPr lang="zh-CN" altLang="en-US" sz="2400" b="1" dirty="0">
                <a:solidFill>
                  <a:srgbClr val="256AB0"/>
                </a:solidFill>
              </a:rPr>
              <a:t>很可能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94A419A-0F44-4673-93C7-FCA26FDA39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4859312"/>
              </p:ext>
            </p:extLst>
          </p:nvPr>
        </p:nvGraphicFramePr>
        <p:xfrm>
          <a:off x="1517119" y="1412776"/>
          <a:ext cx="4071937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82600" imgH="457200" progId="Equation.DSMT4">
                  <p:embed/>
                </p:oleObj>
              </mc:Choice>
              <mc:Fallback>
                <p:oleObj name="Equation" r:id="rId2" imgW="2082600" imgH="4572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93E1FA22-EAD3-4F97-AD6B-6A76B0FFD5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17119" y="1412776"/>
                        <a:ext cx="4071937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D7DF05C-A643-4637-B3FC-04C0161DB5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876176"/>
              </p:ext>
            </p:extLst>
          </p:nvPr>
        </p:nvGraphicFramePr>
        <p:xfrm>
          <a:off x="2690565" y="2225875"/>
          <a:ext cx="4959350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62240" imgH="1422360" progId="Equation.DSMT4">
                  <p:embed/>
                </p:oleObj>
              </mc:Choice>
              <mc:Fallback>
                <p:oleObj name="Equation" r:id="rId4" imgW="3162240" imgH="14223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E94A419A-0F44-4673-93C7-FCA26FDA39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90565" y="2225875"/>
                        <a:ext cx="4959350" cy="2016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AEB302C-792B-4754-83D2-0D0B60ECF7E0}"/>
              </a:ext>
            </a:extLst>
          </p:cNvPr>
          <p:cNvSpPr txBox="1">
            <a:spLocks/>
          </p:cNvSpPr>
          <p:nvPr/>
        </p:nvSpPr>
        <p:spPr bwMode="auto">
          <a:xfrm>
            <a:off x="1271464" y="5481276"/>
            <a:ext cx="4062076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/>
              <a:t>(4)</a:t>
            </a:r>
            <a:r>
              <a:rPr lang="zh-CN" altLang="en-US" sz="2400" b="1" dirty="0">
                <a:solidFill>
                  <a:srgbClr val="008000"/>
                </a:solidFill>
              </a:rPr>
              <a:t>很不可能</a:t>
            </a:r>
            <a:r>
              <a:rPr lang="en-US" altLang="zh-CN" sz="2400" b="1" dirty="0">
                <a:solidFill>
                  <a:srgbClr val="008000"/>
                </a:solidFill>
              </a:rPr>
              <a:t>(</a:t>
            </a:r>
            <a:r>
              <a:rPr lang="en-US" altLang="zh-CN" sz="24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solidFill>
                  <a:srgbClr val="008000"/>
                </a:solidFill>
              </a:rPr>
              <a:t>)</a:t>
            </a:r>
            <a:r>
              <a:rPr lang="en-US" altLang="zh-CN" sz="2400" dirty="0"/>
              <a:t>=</a:t>
            </a:r>
            <a:r>
              <a:rPr lang="zh-CN" altLang="en-US" sz="2400" b="1" dirty="0">
                <a:solidFill>
                  <a:srgbClr val="256AB0"/>
                </a:solidFill>
              </a:rPr>
              <a:t>很可能</a:t>
            </a:r>
            <a:r>
              <a:rPr lang="en-US" altLang="zh-CN" sz="2400" dirty="0">
                <a:solidFill>
                  <a:srgbClr val="256AB0"/>
                </a:solidFill>
              </a:rPr>
              <a:t>(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dirty="0"/>
              <a:t>)</a:t>
            </a:r>
            <a:endParaRPr lang="zh-CN" altLang="en-US" sz="2400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683E4B9-4AA1-479E-B155-813BEE6946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5179850"/>
              </p:ext>
            </p:extLst>
          </p:nvPr>
        </p:nvGraphicFramePr>
        <p:xfrm>
          <a:off x="5103955" y="4724943"/>
          <a:ext cx="3817396" cy="2016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11200" imgH="1473120" progId="Equation.DSMT4">
                  <p:embed/>
                </p:oleObj>
              </mc:Choice>
              <mc:Fallback>
                <p:oleObj name="Equation" r:id="rId6" imgW="2311200" imgH="14731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CD7DF05C-A643-4637-B3FC-04C0161DB5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103955" y="4724943"/>
                        <a:ext cx="3817396" cy="20166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内容占位符 2">
            <a:extLst>
              <a:ext uri="{FF2B5EF4-FFF2-40B4-BE49-F238E27FC236}">
                <a16:creationId xmlns:a16="http://schemas.microsoft.com/office/drawing/2014/main" id="{E3BC3FFA-FF26-432B-B935-976B1AA85CCD}"/>
              </a:ext>
            </a:extLst>
          </p:cNvPr>
          <p:cNvSpPr txBox="1">
            <a:spLocks/>
          </p:cNvSpPr>
          <p:nvPr/>
        </p:nvSpPr>
        <p:spPr bwMode="auto">
          <a:xfrm>
            <a:off x="1337749" y="4220988"/>
            <a:ext cx="5674904" cy="576064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/>
              <a:t>(3)</a:t>
            </a:r>
            <a:r>
              <a:rPr lang="zh-CN" altLang="en-US" sz="2400" b="1" dirty="0">
                <a:solidFill>
                  <a:srgbClr val="C63F3B"/>
                </a:solidFill>
              </a:rPr>
              <a:t>不很可能</a:t>
            </a:r>
            <a:r>
              <a:rPr lang="en-US" altLang="zh-CN" sz="2400" b="1" dirty="0">
                <a:solidFill>
                  <a:srgbClr val="C63F3B"/>
                </a:solidFill>
              </a:rPr>
              <a:t>(</a:t>
            </a:r>
            <a:r>
              <a:rPr lang="en-US" altLang="zh-CN" sz="2400" b="1" i="1" dirty="0">
                <a:solidFill>
                  <a:srgbClr val="C63F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solidFill>
                  <a:srgbClr val="C63F3B"/>
                </a:solidFill>
              </a:rPr>
              <a:t>)</a:t>
            </a:r>
            <a:r>
              <a:rPr lang="en-US" altLang="zh-CN" sz="2400" dirty="0"/>
              <a:t>=</a:t>
            </a:r>
            <a:r>
              <a:rPr lang="zh-CN" altLang="en-US" sz="2400" b="1" dirty="0">
                <a:solidFill>
                  <a:srgbClr val="256AB0"/>
                </a:solidFill>
              </a:rPr>
              <a:t>很可能</a:t>
            </a:r>
            <a:r>
              <a:rPr lang="en-US" altLang="zh-CN" sz="2400" b="1" i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dirty="0"/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dirty="0"/>
              <a:t>)= 1</a:t>
            </a:r>
            <a:r>
              <a:rPr lang="en-US" altLang="zh-CN" sz="2400" dirty="0">
                <a:sym typeface="Symbol" panose="05050102010706020507" pitchFamily="18" charset="2"/>
              </a:rPr>
              <a:t></a:t>
            </a:r>
            <a:r>
              <a:rPr lang="zh-CN" altLang="en-US" sz="2400" b="1" dirty="0">
                <a:solidFill>
                  <a:srgbClr val="256AB0"/>
                </a:solidFill>
              </a:rPr>
              <a:t>很可能</a:t>
            </a:r>
            <a:r>
              <a:rPr lang="en-US" altLang="zh-CN" sz="2400" dirty="0"/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dirty="0"/>
              <a:t>)</a:t>
            </a:r>
            <a:endParaRPr lang="zh-CN" altLang="en-US" sz="24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2B5F3CF-E762-9714-080D-BF567BA182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6308" y="1412775"/>
            <a:ext cx="4550372" cy="2879853"/>
          </a:xfrm>
          <a:prstGeom prst="rect">
            <a:avLst/>
          </a:prstGeom>
          <a:effectLst>
            <a:glow rad="152400">
              <a:srgbClr val="FF00FF"/>
            </a:glow>
          </a:effectLst>
        </p:spPr>
      </p:pic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E2ED3568-6193-5979-215D-8E0FDE6B5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7916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97B6BE-55A6-4383-AB98-2E04A12DC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60648"/>
            <a:ext cx="8229600" cy="81156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事件的</a:t>
            </a:r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概率</a:t>
            </a:r>
            <a:r>
              <a:rPr lang="en-US" altLang="zh-CN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原始单词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56989E-4DB7-4D64-8BFD-23770DB52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32" y="1412777"/>
            <a:ext cx="10153128" cy="1080120"/>
          </a:xfrm>
        </p:spPr>
        <p:txBody>
          <a:bodyPr>
            <a:normAutofit lnSpcReduction="10000"/>
          </a:bodyPr>
          <a:lstStyle/>
          <a:p>
            <a:r>
              <a:rPr lang="zh-CN" altLang="en-US" b="1" dirty="0"/>
              <a:t>在实际应用中，可把论域</a:t>
            </a:r>
            <a:r>
              <a:rPr lang="en-US" altLang="zh-CN" b="1" dirty="0"/>
              <a:t>[0,1]</a:t>
            </a:r>
            <a:r>
              <a:rPr lang="zh-CN" altLang="en-US" b="1" dirty="0"/>
              <a:t>换成一个有限集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>
                <a:solidFill>
                  <a:srgbClr val="00B0F0"/>
                </a:solidFill>
              </a:rPr>
              <a:t>   U={0,0.1,0.2,0.3,0.4,0.5,0.6,0.7,0.8,0.9,1}</a:t>
            </a:r>
          </a:p>
          <a:p>
            <a:pPr marL="0" indent="0">
              <a:buNone/>
            </a:pPr>
            <a:endParaRPr lang="zh-CN" altLang="en-US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EBFBAC01-E5CB-439D-9B66-07A433D6CC6F}"/>
              </a:ext>
            </a:extLst>
          </p:cNvPr>
          <p:cNvGrpSpPr/>
          <p:nvPr/>
        </p:nvGrpSpPr>
        <p:grpSpPr>
          <a:xfrm>
            <a:off x="1559496" y="2492896"/>
            <a:ext cx="4760193" cy="785812"/>
            <a:chOff x="755576" y="2420888"/>
            <a:chExt cx="4760193" cy="785812"/>
          </a:xfrm>
        </p:grpSpPr>
        <p:sp>
          <p:nvSpPr>
            <p:cNvPr id="4" name="内容占位符 2">
              <a:extLst>
                <a:ext uri="{FF2B5EF4-FFF2-40B4-BE49-F238E27FC236}">
                  <a16:creationId xmlns:a16="http://schemas.microsoft.com/office/drawing/2014/main" id="{9DFD1DD0-E954-44F9-BCD1-F493AAEF50FD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55576" y="2564904"/>
              <a:ext cx="1872208" cy="5760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¨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¨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2800" b="1" dirty="0"/>
                <a:t>“很可能”</a:t>
              </a: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68CEDAE3-50D2-4542-AFAF-A8DC9FB7908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9716144"/>
                </p:ext>
              </p:extLst>
            </p:nvPr>
          </p:nvGraphicFramePr>
          <p:xfrm>
            <a:off x="2267744" y="2420888"/>
            <a:ext cx="3248025" cy="7858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625400" imgH="393480" progId="Equation.DSMT4">
                    <p:embed/>
                  </p:oleObj>
                </mc:Choice>
                <mc:Fallback>
                  <p:oleObj name="Equation" r:id="rId2" imgW="1625400" imgH="39348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D7F16094-CE27-4DD5-AB8F-C3807AEEEF9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267744" y="2420888"/>
                          <a:ext cx="3248025" cy="7858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0F9D009D-4CB6-47A9-A4D9-B1F36F216728}"/>
              </a:ext>
            </a:extLst>
          </p:cNvPr>
          <p:cNvSpPr txBox="1">
            <a:spLocks/>
          </p:cNvSpPr>
          <p:nvPr/>
        </p:nvSpPr>
        <p:spPr bwMode="auto">
          <a:xfrm>
            <a:off x="1559496" y="4141539"/>
            <a:ext cx="2160240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 b="1" dirty="0"/>
              <a:t>“很不可能”</a:t>
            </a:r>
            <a:endParaRPr lang="zh-CN" altLang="en-US" sz="2400" b="1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D19087A-8F39-4824-895F-4B351AF375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5974317"/>
              </p:ext>
            </p:extLst>
          </p:nvPr>
        </p:nvGraphicFramePr>
        <p:xfrm>
          <a:off x="3359696" y="3997475"/>
          <a:ext cx="504825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27200" imgH="393480" progId="Equation.DSMT4">
                  <p:embed/>
                </p:oleObj>
              </mc:Choice>
              <mc:Fallback>
                <p:oleObj name="Equation" r:id="rId4" imgW="2527200" imgH="3934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68CEDAE3-50D2-4542-AFAF-A8DC9FB790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59696" y="3997475"/>
                        <a:ext cx="5048250" cy="785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35F8AE2-E050-40A0-A5CE-AA8FD9353B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5157771"/>
              </p:ext>
            </p:extLst>
          </p:nvPr>
        </p:nvGraphicFramePr>
        <p:xfrm>
          <a:off x="8472264" y="4011340"/>
          <a:ext cx="3298825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50960" imgH="393480" progId="Equation.DSMT4">
                  <p:embed/>
                </p:oleObj>
              </mc:Choice>
              <mc:Fallback>
                <p:oleObj name="Equation" r:id="rId6" imgW="1650960" imgH="3934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68CEDAE3-50D2-4542-AFAF-A8DC9FB790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472264" y="4011340"/>
                        <a:ext cx="3298825" cy="785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内容占位符 2">
            <a:extLst>
              <a:ext uri="{FF2B5EF4-FFF2-40B4-BE49-F238E27FC236}">
                <a16:creationId xmlns:a16="http://schemas.microsoft.com/office/drawing/2014/main" id="{C846C8F7-AD8D-4078-B8F6-474724E32433}"/>
              </a:ext>
            </a:extLst>
          </p:cNvPr>
          <p:cNvSpPr txBox="1">
            <a:spLocks/>
          </p:cNvSpPr>
          <p:nvPr/>
        </p:nvSpPr>
        <p:spPr bwMode="auto">
          <a:xfrm>
            <a:off x="1559496" y="3356992"/>
            <a:ext cx="5048250" cy="576064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b="1" dirty="0"/>
              <a:t>“</a:t>
            </a:r>
            <a:r>
              <a:rPr lang="zh-CN" altLang="en-US" sz="2800" b="1" dirty="0"/>
              <a:t>很不可能</a:t>
            </a:r>
            <a:r>
              <a:rPr lang="en-US" altLang="zh-CN" sz="2800" b="1" dirty="0"/>
              <a:t>”(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="1" dirty="0"/>
              <a:t>)=“</a:t>
            </a:r>
            <a:r>
              <a:rPr lang="zh-CN" altLang="en-US" sz="2800" b="1" dirty="0"/>
              <a:t>很可能</a:t>
            </a:r>
            <a:r>
              <a:rPr lang="en-US" altLang="zh-CN" sz="2800" b="1" dirty="0"/>
              <a:t>”(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="1" dirty="0"/>
              <a:t>)</a:t>
            </a:r>
            <a:endParaRPr lang="zh-CN" altLang="en-US" sz="2800" b="1" dirty="0"/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0D9B3351-AEE8-438A-8D51-E9D37EFE64A2}"/>
              </a:ext>
            </a:extLst>
          </p:cNvPr>
          <p:cNvSpPr txBox="1">
            <a:spLocks/>
          </p:cNvSpPr>
          <p:nvPr/>
        </p:nvSpPr>
        <p:spPr bwMode="auto">
          <a:xfrm>
            <a:off x="1631504" y="5085184"/>
            <a:ext cx="7128792" cy="576064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b="1" dirty="0"/>
              <a:t>“</a:t>
            </a:r>
            <a:r>
              <a:rPr lang="zh-CN" altLang="en-US" sz="2800" b="1" dirty="0"/>
              <a:t>不很可能</a:t>
            </a:r>
            <a:r>
              <a:rPr lang="en-US" altLang="zh-CN" sz="2800" b="1" dirty="0"/>
              <a:t>”(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="1" dirty="0"/>
              <a:t>)=“</a:t>
            </a:r>
            <a:r>
              <a:rPr lang="zh-CN" altLang="en-US" sz="2800" b="1" dirty="0"/>
              <a:t>很可能</a:t>
            </a:r>
            <a:r>
              <a:rPr lang="en-US" altLang="zh-CN" sz="2800" b="1" dirty="0"/>
              <a:t>”</a:t>
            </a:r>
            <a:r>
              <a:rPr lang="en-US" altLang="zh-CN" sz="2800" b="1" baseline="30000" dirty="0"/>
              <a:t>c</a:t>
            </a:r>
            <a:r>
              <a:rPr lang="en-US" altLang="zh-CN" sz="2800" b="1" dirty="0"/>
              <a:t>(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="1" dirty="0"/>
              <a:t>) =1</a:t>
            </a:r>
            <a:r>
              <a:rPr lang="en-US" altLang="zh-CN" sz="2800" b="1" dirty="0">
                <a:sym typeface="Symbol" panose="05050102010706020507" pitchFamily="18" charset="2"/>
              </a:rPr>
              <a:t></a:t>
            </a:r>
            <a:r>
              <a:rPr lang="en-US" altLang="zh-CN" sz="2800" b="1" dirty="0"/>
              <a:t>”</a:t>
            </a:r>
            <a:r>
              <a:rPr lang="zh-CN" altLang="en-US" sz="2800" b="1" dirty="0"/>
              <a:t>很可能</a:t>
            </a:r>
            <a:r>
              <a:rPr lang="en-US" altLang="zh-CN" sz="2800" b="1" dirty="0"/>
              <a:t>”(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="1" dirty="0"/>
              <a:t>)</a:t>
            </a:r>
            <a:endParaRPr lang="zh-CN" altLang="en-US" sz="2800" b="1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44D49738-5279-4D52-BFB3-C9F2730E68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4865837"/>
              </p:ext>
            </p:extLst>
          </p:nvPr>
        </p:nvGraphicFramePr>
        <p:xfrm>
          <a:off x="3798391" y="5811539"/>
          <a:ext cx="6042025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22560" imgH="393480" progId="Equation.DSMT4">
                  <p:embed/>
                </p:oleObj>
              </mc:Choice>
              <mc:Fallback>
                <p:oleObj name="Equation" r:id="rId8" imgW="3022560" imgH="3934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C1186302-BDC5-4687-9EBE-3A66284A4A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798391" y="5811539"/>
                        <a:ext cx="6042025" cy="785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7E269650-734D-7E47-A227-08FD1C69E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7399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9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0EE3BBDE-B19D-49A5-BF3D-C13DED6C6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448" y="2031176"/>
            <a:ext cx="1778994" cy="576064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00B0F0"/>
                </a:solidFill>
              </a:rPr>
              <a:t>很可能</a:t>
            </a:r>
            <a:r>
              <a:rPr lang="en-US" altLang="zh-CN" sz="2400" b="1" dirty="0"/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/>
              <a:t>)</a:t>
            </a:r>
            <a:endParaRPr lang="zh-CN" altLang="en-US" sz="2400" b="1" dirty="0"/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2686F0AE-54D8-4751-81EF-E3334E5BFB0E}"/>
              </a:ext>
            </a:extLst>
          </p:cNvPr>
          <p:cNvSpPr txBox="1">
            <a:spLocks/>
          </p:cNvSpPr>
          <p:nvPr/>
        </p:nvSpPr>
        <p:spPr bwMode="auto">
          <a:xfrm>
            <a:off x="1055440" y="3501008"/>
            <a:ext cx="4392488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/>
              <a:t>“</a:t>
            </a:r>
            <a:r>
              <a:rPr lang="zh-CN" altLang="en-US" sz="2400" b="1" dirty="0">
                <a:solidFill>
                  <a:srgbClr val="FA7E19"/>
                </a:solidFill>
              </a:rPr>
              <a:t>稍许可能</a:t>
            </a:r>
            <a:r>
              <a:rPr lang="en-US" altLang="zh-CN" sz="2400" b="1" dirty="0"/>
              <a:t>”(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/>
              <a:t>)=[“</a:t>
            </a:r>
            <a:r>
              <a:rPr lang="zh-CN" altLang="en-US" sz="2400" b="1" dirty="0">
                <a:solidFill>
                  <a:srgbClr val="00B0F0"/>
                </a:solidFill>
              </a:rPr>
              <a:t>很可能</a:t>
            </a:r>
            <a:r>
              <a:rPr lang="en-US" altLang="zh-CN" sz="2400" b="1" dirty="0"/>
              <a:t>”(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/>
              <a:t>)]</a:t>
            </a:r>
            <a:r>
              <a:rPr lang="en-US" altLang="zh-CN" sz="2400" b="1" baseline="30000" dirty="0">
                <a:solidFill>
                  <a:srgbClr val="FF0000"/>
                </a:solidFill>
              </a:rPr>
              <a:t>0.5</a:t>
            </a:r>
            <a:endParaRPr lang="zh-CN" altLang="en-US" sz="2400" b="1" baseline="30000" dirty="0">
              <a:solidFill>
                <a:srgbClr val="FF0000"/>
              </a:solidFill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F7B73543-2473-44BB-A9CD-97A3967A04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6383831"/>
              </p:ext>
            </p:extLst>
          </p:nvPr>
        </p:nvGraphicFramePr>
        <p:xfrm>
          <a:off x="5159896" y="2717801"/>
          <a:ext cx="4451350" cy="208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49280" imgH="1498320" progId="Equation.DSMT4">
                  <p:embed/>
                </p:oleObj>
              </mc:Choice>
              <mc:Fallback>
                <p:oleObj name="Equation" r:id="rId2" imgW="3149280" imgH="14983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CD7DF05C-A643-4637-B3FC-04C0161DB5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159896" y="2717801"/>
                        <a:ext cx="4451350" cy="2087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14B32CA9-BA15-4486-B6F3-443364815194}"/>
              </a:ext>
            </a:extLst>
          </p:cNvPr>
          <p:cNvSpPr txBox="1">
            <a:spLocks/>
          </p:cNvSpPr>
          <p:nvPr/>
        </p:nvSpPr>
        <p:spPr bwMode="auto">
          <a:xfrm>
            <a:off x="1127450" y="5589240"/>
            <a:ext cx="4227711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/>
              <a:t>“</a:t>
            </a:r>
            <a:r>
              <a:rPr lang="zh-CN" altLang="en-US" sz="2400" b="1" dirty="0">
                <a:solidFill>
                  <a:srgbClr val="5F41A6"/>
                </a:solidFill>
              </a:rPr>
              <a:t>非常可能</a:t>
            </a:r>
            <a:r>
              <a:rPr lang="en-US" altLang="zh-CN" sz="2400" b="1" dirty="0"/>
              <a:t>”(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/>
              <a:t>)=[“</a:t>
            </a:r>
            <a:r>
              <a:rPr lang="zh-CN" altLang="en-US" sz="2400" b="1" dirty="0">
                <a:solidFill>
                  <a:srgbClr val="00B0F0"/>
                </a:solidFill>
              </a:rPr>
              <a:t>很可能</a:t>
            </a:r>
            <a:r>
              <a:rPr lang="en-US" altLang="zh-CN" sz="2400" b="1" dirty="0"/>
              <a:t>”(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/>
              <a:t>)]</a:t>
            </a:r>
            <a:r>
              <a:rPr lang="en-US" altLang="zh-CN" sz="2400" b="1" baseline="30000" dirty="0">
                <a:solidFill>
                  <a:srgbClr val="FF0000"/>
                </a:solidFill>
              </a:rPr>
              <a:t>2</a:t>
            </a:r>
            <a:endParaRPr lang="zh-CN" altLang="en-US" sz="2400" b="1" baseline="30000" dirty="0">
              <a:solidFill>
                <a:srgbClr val="FF0000"/>
              </a:solidFill>
            </a:endParaRP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90725A59-58AF-4C8E-9ADD-4DDDD2001B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7710434"/>
              </p:ext>
            </p:extLst>
          </p:nvPr>
        </p:nvGraphicFramePr>
        <p:xfrm>
          <a:off x="5159896" y="4770438"/>
          <a:ext cx="4373562" cy="208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38200" imgH="1574640" progId="Equation.DSMT4">
                  <p:embed/>
                </p:oleObj>
              </mc:Choice>
              <mc:Fallback>
                <p:oleObj name="Equation" r:id="rId4" imgW="3238200" imgH="15746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CD7DF05C-A643-4637-B3FC-04C0161DB5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59896" y="4770438"/>
                        <a:ext cx="4373562" cy="2087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ED1F21C7-1B59-4898-A365-DFD30461E6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5849704"/>
              </p:ext>
            </p:extLst>
          </p:nvPr>
        </p:nvGraphicFramePr>
        <p:xfrm>
          <a:off x="2519785" y="1412776"/>
          <a:ext cx="2559050" cy="177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55520" imgH="1422360" progId="Equation.DSMT4">
                  <p:embed/>
                </p:oleObj>
              </mc:Choice>
              <mc:Fallback>
                <p:oleObj name="Equation" r:id="rId6" imgW="1955520" imgH="14223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CD7DF05C-A643-4637-B3FC-04C0161DB5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19785" y="1412776"/>
                        <a:ext cx="2559050" cy="1770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426E36AB-316A-89A1-BBB9-7595590E65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0393" y="87174"/>
            <a:ext cx="5944930" cy="2938598"/>
          </a:xfrm>
          <a:prstGeom prst="rect">
            <a:avLst/>
          </a:prstGeom>
          <a:effectLst>
            <a:glow rad="152400">
              <a:srgbClr val="FF00FF"/>
            </a:glow>
          </a:effectLst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71758F9-D9A5-A029-AAB9-9436F85BA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20</a:t>
            </a:fld>
            <a:endParaRPr lang="en-US" altLang="zh-CN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E97B6BE-55A6-4383-AB98-2E04A12DC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0223"/>
            <a:ext cx="8229600" cy="81156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事件的</a:t>
            </a:r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概率</a:t>
            </a:r>
            <a:r>
              <a:rPr lang="en-US" altLang="zh-CN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概率语言值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6060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97B6BE-55A6-4383-AB98-2E04A12DC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85192"/>
            <a:ext cx="8229600" cy="81156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事件的</a:t>
            </a:r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概率</a:t>
            </a:r>
            <a:r>
              <a:rPr lang="en-US" altLang="zh-CN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概率语言值</a:t>
            </a:r>
            <a:endParaRPr lang="zh-CN" altLang="en-US" dirty="0"/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A6E29846-2D0A-4A57-A862-5C2A26F41D67}"/>
              </a:ext>
            </a:extLst>
          </p:cNvPr>
          <p:cNvSpPr txBox="1">
            <a:spLocks/>
          </p:cNvSpPr>
          <p:nvPr/>
        </p:nvSpPr>
        <p:spPr bwMode="auto">
          <a:xfrm>
            <a:off x="1488825" y="2617440"/>
            <a:ext cx="3311031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“</a:t>
            </a:r>
            <a:r>
              <a:rPr lang="zh-CN" altLang="en-US" b="1" dirty="0">
                <a:solidFill>
                  <a:srgbClr val="0000FF"/>
                </a:solidFill>
              </a:rPr>
              <a:t>差不多是</a:t>
            </a:r>
            <a:r>
              <a:rPr lang="en-US" altLang="zh-CN" b="1" dirty="0">
                <a:solidFill>
                  <a:srgbClr val="0000FF"/>
                </a:solidFill>
              </a:rPr>
              <a:t>”</a:t>
            </a:r>
            <a:r>
              <a:rPr lang="en-US" altLang="zh-CN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en-US" altLang="zh-CN" b="1" dirty="0">
                <a:solidFill>
                  <a:srgbClr val="0000FF"/>
                </a:solidFill>
              </a:rPr>
              <a:t>(</a:t>
            </a:r>
            <a:r>
              <a:rPr lang="en-US" altLang="zh-CN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rgbClr val="0000FF"/>
                </a:solidFill>
              </a:rPr>
              <a:t>)</a:t>
            </a:r>
            <a:endParaRPr lang="zh-CN" altLang="en-US" b="1" baseline="30000" dirty="0">
              <a:solidFill>
                <a:srgbClr val="0000FF"/>
              </a:solidFill>
            </a:endParaRP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9B6701DF-2BBF-4EE9-8CC5-E64028F66D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5566319"/>
              </p:ext>
            </p:extLst>
          </p:nvPr>
        </p:nvGraphicFramePr>
        <p:xfrm>
          <a:off x="4367807" y="2401416"/>
          <a:ext cx="4424192" cy="1088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57400" imgH="507960" progId="Equation.DSMT4">
                  <p:embed/>
                </p:oleObj>
              </mc:Choice>
              <mc:Fallback>
                <p:oleObj name="Equation" r:id="rId2" imgW="2057400" imgH="50796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9B6701DF-2BBF-4EE9-8CC5-E64028F66D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367807" y="2401416"/>
                        <a:ext cx="4424192" cy="10881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95239F12-8511-4DE1-91DE-AE0E0E951EBB}"/>
              </a:ext>
            </a:extLst>
          </p:cNvPr>
          <p:cNvSpPr txBox="1">
            <a:spLocks/>
          </p:cNvSpPr>
          <p:nvPr/>
        </p:nvSpPr>
        <p:spPr bwMode="auto">
          <a:xfrm>
            <a:off x="1415480" y="4110993"/>
            <a:ext cx="6223251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b="1" dirty="0">
                <a:solidFill>
                  <a:srgbClr val="FF00FF"/>
                </a:solidFill>
              </a:rPr>
              <a:t>“</a:t>
            </a:r>
            <a:r>
              <a:rPr lang="zh-CN" altLang="en-US" b="1" dirty="0">
                <a:solidFill>
                  <a:srgbClr val="FF00FF"/>
                </a:solidFill>
              </a:rPr>
              <a:t>差不多是</a:t>
            </a:r>
            <a:r>
              <a:rPr lang="en-US" altLang="zh-CN" b="1" dirty="0">
                <a:solidFill>
                  <a:srgbClr val="FF00FF"/>
                </a:solidFill>
              </a:rPr>
              <a:t>0”=“</a:t>
            </a:r>
            <a:r>
              <a:rPr lang="zh-CN" altLang="en-US" b="1" dirty="0">
                <a:solidFill>
                  <a:srgbClr val="FF00FF"/>
                </a:solidFill>
              </a:rPr>
              <a:t>几乎不可能</a:t>
            </a:r>
            <a:r>
              <a:rPr lang="en-US" altLang="zh-CN" b="1" dirty="0">
                <a:solidFill>
                  <a:srgbClr val="FF00FF"/>
                </a:solidFill>
              </a:rPr>
              <a:t>”(</a:t>
            </a:r>
            <a:r>
              <a:rPr lang="zh-CN" altLang="en-US" b="1" dirty="0">
                <a:solidFill>
                  <a:srgbClr val="FF00FF"/>
                </a:solidFill>
              </a:rPr>
              <a:t>发生</a:t>
            </a:r>
            <a:r>
              <a:rPr lang="en-US" altLang="zh-CN" b="1" dirty="0">
                <a:solidFill>
                  <a:srgbClr val="FF00FF"/>
                </a:solidFill>
              </a:rPr>
              <a:t>)</a:t>
            </a:r>
            <a:endParaRPr lang="zh-CN" altLang="en-US" b="1" baseline="30000" dirty="0">
              <a:solidFill>
                <a:srgbClr val="FF00FF"/>
              </a:solidFill>
            </a:endParaRPr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977B2F65-F555-40A1-BDB2-45A7A7A04A90}"/>
              </a:ext>
            </a:extLst>
          </p:cNvPr>
          <p:cNvSpPr txBox="1">
            <a:spLocks/>
          </p:cNvSpPr>
          <p:nvPr/>
        </p:nvSpPr>
        <p:spPr bwMode="auto">
          <a:xfrm>
            <a:off x="1408239" y="5765834"/>
            <a:ext cx="5876172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b="1" dirty="0">
                <a:solidFill>
                  <a:srgbClr val="00B050"/>
                </a:solidFill>
              </a:rPr>
              <a:t>“</a:t>
            </a:r>
            <a:r>
              <a:rPr lang="zh-CN" altLang="en-US" b="1" dirty="0">
                <a:solidFill>
                  <a:srgbClr val="00B050"/>
                </a:solidFill>
              </a:rPr>
              <a:t>差不多是</a:t>
            </a:r>
            <a:r>
              <a:rPr lang="en-US" altLang="zh-CN" b="1" dirty="0">
                <a:solidFill>
                  <a:srgbClr val="00B050"/>
                </a:solidFill>
              </a:rPr>
              <a:t>1”=“</a:t>
            </a:r>
            <a:r>
              <a:rPr lang="zh-CN" altLang="en-US" b="1" dirty="0">
                <a:solidFill>
                  <a:srgbClr val="00B050"/>
                </a:solidFill>
              </a:rPr>
              <a:t>几乎一定</a:t>
            </a:r>
            <a:r>
              <a:rPr lang="en-US" altLang="zh-CN" b="1" dirty="0">
                <a:solidFill>
                  <a:srgbClr val="00B050"/>
                </a:solidFill>
              </a:rPr>
              <a:t>”(</a:t>
            </a:r>
            <a:r>
              <a:rPr lang="zh-CN" altLang="en-US" b="1" dirty="0">
                <a:solidFill>
                  <a:srgbClr val="00B050"/>
                </a:solidFill>
              </a:rPr>
              <a:t>发生</a:t>
            </a:r>
            <a:r>
              <a:rPr lang="en-US" altLang="zh-CN" b="1" dirty="0">
                <a:solidFill>
                  <a:srgbClr val="00B050"/>
                </a:solidFill>
              </a:rPr>
              <a:t>)</a:t>
            </a:r>
            <a:endParaRPr lang="zh-CN" altLang="en-US" b="1" baseline="30000" dirty="0">
              <a:solidFill>
                <a:srgbClr val="00B050"/>
              </a:solidFill>
            </a:endParaRPr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FE8AC600-656E-489F-BB6A-450A00DF30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3574168"/>
              </p:ext>
            </p:extLst>
          </p:nvPr>
        </p:nvGraphicFramePr>
        <p:xfrm>
          <a:off x="7386798" y="3905559"/>
          <a:ext cx="2237594" cy="1088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41120" imgH="507960" progId="Equation.DSMT4">
                  <p:embed/>
                </p:oleObj>
              </mc:Choice>
              <mc:Fallback>
                <p:oleObj name="Equation" r:id="rId4" imgW="1041120" imgH="50796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FE8AC600-656E-489F-BB6A-450A00DF30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386798" y="3905559"/>
                        <a:ext cx="2237594" cy="10881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B8E9AFCD-E0E4-4C9D-815A-B6D78C28E7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3795395"/>
              </p:ext>
            </p:extLst>
          </p:nvPr>
        </p:nvGraphicFramePr>
        <p:xfrm>
          <a:off x="7011596" y="5581216"/>
          <a:ext cx="2972836" cy="1088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84200" imgH="507960" progId="Equation.DSMT4">
                  <p:embed/>
                </p:oleObj>
              </mc:Choice>
              <mc:Fallback>
                <p:oleObj name="Equation" r:id="rId6" imgW="1384200" imgH="50796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B8E9AFCD-E0E4-4C9D-815A-B6D78C28E7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011596" y="5581216"/>
                        <a:ext cx="2972836" cy="10881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509B3028-AA2D-4D2E-8E1D-BB35901C5A6E}"/>
              </a:ext>
            </a:extLst>
          </p:cNvPr>
          <p:cNvSpPr txBox="1">
            <a:spLocks/>
          </p:cNvSpPr>
          <p:nvPr/>
        </p:nvSpPr>
        <p:spPr bwMode="auto">
          <a:xfrm>
            <a:off x="911424" y="1614139"/>
            <a:ext cx="10369152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/>
              <a:t>经过</a:t>
            </a:r>
            <a:r>
              <a:rPr lang="en-US" altLang="zh-CN" b="1" dirty="0">
                <a:solidFill>
                  <a:srgbClr val="FF0000"/>
                </a:solidFill>
              </a:rPr>
              <a:t>F</a:t>
            </a:r>
            <a:r>
              <a:rPr lang="zh-CN" altLang="en-US" b="1" dirty="0">
                <a:solidFill>
                  <a:srgbClr val="FF0000"/>
                </a:solidFill>
              </a:rPr>
              <a:t>化算子</a:t>
            </a:r>
            <a:r>
              <a:rPr lang="zh-CN" altLang="en-US" b="1" dirty="0"/>
              <a:t>的作用，可得到一类概率语言变量：如</a:t>
            </a:r>
            <a:endParaRPr lang="zh-CN" altLang="en-US" b="1" baseline="300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A69404C-0A32-AC66-A74C-0DCB965CD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560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1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97B6BE-55A6-4383-AB98-2E04A12DC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536" y="332656"/>
            <a:ext cx="8229600" cy="81156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事件的</a:t>
            </a:r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概率</a:t>
            </a:r>
            <a:r>
              <a:rPr lang="en-US" altLang="zh-CN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概率语言值</a:t>
            </a:r>
            <a:endParaRPr lang="zh-CN" altLang="en-US" dirty="0"/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2686F0AE-54D8-4751-81EF-E3334E5BFB0E}"/>
              </a:ext>
            </a:extLst>
          </p:cNvPr>
          <p:cNvSpPr txBox="1">
            <a:spLocks/>
          </p:cNvSpPr>
          <p:nvPr/>
        </p:nvSpPr>
        <p:spPr bwMode="auto">
          <a:xfrm>
            <a:off x="768782" y="2877708"/>
            <a:ext cx="6275040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b="1" dirty="0">
                <a:solidFill>
                  <a:srgbClr val="0070C0"/>
                </a:solidFill>
              </a:rPr>
              <a:t>“</a:t>
            </a:r>
            <a:r>
              <a:rPr lang="zh-CN" altLang="en-US" sz="2800" b="1" dirty="0">
                <a:solidFill>
                  <a:srgbClr val="0070C0"/>
                </a:solidFill>
              </a:rPr>
              <a:t>倾向很可能</a:t>
            </a:r>
            <a:r>
              <a:rPr lang="en-US" altLang="zh-CN" sz="2800" b="1" dirty="0">
                <a:solidFill>
                  <a:srgbClr val="0070C0"/>
                </a:solidFill>
              </a:rPr>
              <a:t>”</a:t>
            </a:r>
            <a:r>
              <a:rPr lang="en-US" altLang="zh-CN" sz="2800" b="1" dirty="0"/>
              <a:t>(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="1" dirty="0"/>
              <a:t>)=d</a:t>
            </a:r>
            <a:r>
              <a:rPr lang="en-US" altLang="zh-CN" sz="2800" b="1" baseline="-25000" dirty="0">
                <a:solidFill>
                  <a:srgbClr val="FF0000"/>
                </a:solidFill>
              </a:rPr>
              <a:t>0.5</a:t>
            </a:r>
            <a:r>
              <a:rPr lang="en-US" altLang="zh-CN" sz="2800" b="1" dirty="0"/>
              <a:t>[“</a:t>
            </a:r>
            <a:r>
              <a:rPr lang="zh-CN" altLang="en-US" sz="2800" b="1" dirty="0">
                <a:solidFill>
                  <a:srgbClr val="0070C0"/>
                </a:solidFill>
              </a:rPr>
              <a:t>很可能</a:t>
            </a:r>
            <a:r>
              <a:rPr lang="en-US" altLang="zh-CN" sz="2800" b="1" dirty="0">
                <a:solidFill>
                  <a:srgbClr val="0070C0"/>
                </a:solidFill>
              </a:rPr>
              <a:t>”(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="1" dirty="0"/>
              <a:t>)]</a:t>
            </a:r>
            <a:endParaRPr lang="zh-CN" altLang="en-US" sz="2800" b="1" baseline="30000" dirty="0">
              <a:solidFill>
                <a:srgbClr val="FF0000"/>
              </a:solidFill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F7B73543-2473-44BB-A9CD-97A3967A04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829761"/>
              </p:ext>
            </p:extLst>
          </p:nvPr>
        </p:nvGraphicFramePr>
        <p:xfrm>
          <a:off x="6023992" y="2526721"/>
          <a:ext cx="1682402" cy="1262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02960" imgH="838080" progId="Equation.DSMT4">
                  <p:embed/>
                </p:oleObj>
              </mc:Choice>
              <mc:Fallback>
                <p:oleObj name="Equation" r:id="rId2" imgW="1002960" imgH="8380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F7B73543-2473-44BB-A9CD-97A3967A04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23992" y="2526721"/>
                        <a:ext cx="1682402" cy="12623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95239F12-8511-4DE1-91DE-AE0E0E951EBB}"/>
              </a:ext>
            </a:extLst>
          </p:cNvPr>
          <p:cNvSpPr txBox="1">
            <a:spLocks/>
          </p:cNvSpPr>
          <p:nvPr/>
        </p:nvSpPr>
        <p:spPr bwMode="auto">
          <a:xfrm>
            <a:off x="479376" y="6021288"/>
            <a:ext cx="11881320" cy="742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CC00CC"/>
                </a:solidFill>
              </a:rPr>
              <a:t>这时</a:t>
            </a:r>
            <a:r>
              <a:rPr lang="en-US" altLang="zh-CN" b="1" dirty="0">
                <a:solidFill>
                  <a:srgbClr val="CC00CC"/>
                </a:solidFill>
              </a:rPr>
              <a:t>F</a:t>
            </a:r>
            <a:r>
              <a:rPr lang="zh-CN" altLang="en-US" b="1" dirty="0">
                <a:solidFill>
                  <a:srgbClr val="CC00CC"/>
                </a:solidFill>
              </a:rPr>
              <a:t>概率向普通概率转化，并且用一界限来衡量事件是否发生。</a:t>
            </a:r>
            <a:endParaRPr lang="zh-CN" altLang="en-US" b="1" baseline="30000" dirty="0">
              <a:solidFill>
                <a:srgbClr val="CC00CC"/>
              </a:solidFill>
            </a:endParaRPr>
          </a:p>
        </p:txBody>
      </p: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DBA77D2D-F204-46C2-9578-15094AFA16D3}"/>
              </a:ext>
            </a:extLst>
          </p:cNvPr>
          <p:cNvSpPr txBox="1">
            <a:spLocks/>
          </p:cNvSpPr>
          <p:nvPr/>
        </p:nvSpPr>
        <p:spPr bwMode="auto">
          <a:xfrm>
            <a:off x="767408" y="4318605"/>
            <a:ext cx="7058157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b="1" dirty="0"/>
              <a:t>“</a:t>
            </a:r>
            <a:r>
              <a:rPr lang="zh-CN" altLang="en-US" sz="2800" b="1" dirty="0">
                <a:solidFill>
                  <a:srgbClr val="388C46"/>
                </a:solidFill>
              </a:rPr>
              <a:t>倾向很不可能</a:t>
            </a:r>
            <a:r>
              <a:rPr lang="en-US" altLang="zh-CN" sz="2800" b="1" dirty="0"/>
              <a:t>”(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="1" dirty="0"/>
              <a:t>)=d</a:t>
            </a:r>
            <a:r>
              <a:rPr lang="en-US" altLang="zh-CN" sz="2800" b="1" baseline="-25000" dirty="0">
                <a:solidFill>
                  <a:srgbClr val="FF0000"/>
                </a:solidFill>
              </a:rPr>
              <a:t>0.5</a:t>
            </a:r>
            <a:r>
              <a:rPr lang="en-US" altLang="zh-CN" sz="2800" b="1" dirty="0"/>
              <a:t>[“</a:t>
            </a:r>
            <a:r>
              <a:rPr lang="zh-CN" altLang="en-US" sz="2800" b="1" dirty="0">
                <a:solidFill>
                  <a:srgbClr val="388C46"/>
                </a:solidFill>
              </a:rPr>
              <a:t>很不可能</a:t>
            </a:r>
            <a:r>
              <a:rPr lang="en-US" altLang="zh-CN" sz="2800" b="1" dirty="0"/>
              <a:t>”(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="1" dirty="0"/>
              <a:t>)]</a:t>
            </a:r>
            <a:endParaRPr lang="zh-CN" altLang="en-US" sz="2800" b="1" baseline="30000" dirty="0">
              <a:solidFill>
                <a:srgbClr val="FF0000"/>
              </a:solidFill>
            </a:endParaRPr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322F47EE-92ED-41CE-9127-BD33DC01A9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1809350"/>
              </p:ext>
            </p:extLst>
          </p:nvPr>
        </p:nvGraphicFramePr>
        <p:xfrm>
          <a:off x="6672064" y="3932524"/>
          <a:ext cx="1728192" cy="1296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02960" imgH="838080" progId="Equation.DSMT4">
                  <p:embed/>
                </p:oleObj>
              </mc:Choice>
              <mc:Fallback>
                <p:oleObj name="Equation" r:id="rId4" imgW="1002960" imgH="8380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F7B73543-2473-44BB-A9CD-97A3967A04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72064" y="3932524"/>
                        <a:ext cx="1728192" cy="12966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内容占位符 2">
            <a:extLst>
              <a:ext uri="{FF2B5EF4-FFF2-40B4-BE49-F238E27FC236}">
                <a16:creationId xmlns:a16="http://schemas.microsoft.com/office/drawing/2014/main" id="{B495D813-0C35-4A30-A60B-E1769F4C6C3E}"/>
              </a:ext>
            </a:extLst>
          </p:cNvPr>
          <p:cNvSpPr txBox="1">
            <a:spLocks/>
          </p:cNvSpPr>
          <p:nvPr/>
        </p:nvSpPr>
        <p:spPr bwMode="auto">
          <a:xfrm>
            <a:off x="767408" y="1285357"/>
            <a:ext cx="7058157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/>
              <a:t>经过</a:t>
            </a:r>
            <a:r>
              <a:rPr lang="zh-CN" altLang="en-US" b="1" dirty="0">
                <a:solidFill>
                  <a:srgbClr val="FF0000"/>
                </a:solidFill>
              </a:rPr>
              <a:t>判定化算子</a:t>
            </a:r>
            <a:r>
              <a:rPr lang="zh-CN" altLang="en-US" b="1" dirty="0"/>
              <a:t>的作用，可得到一类概率语言变量：如</a:t>
            </a:r>
            <a:endParaRPr lang="zh-CN" altLang="en-US" b="1" baseline="30000" dirty="0">
              <a:solidFill>
                <a:srgbClr val="FF0000"/>
              </a:solidFill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271419E2-1800-4F10-8BF8-CFFA19FA6DEB}"/>
              </a:ext>
            </a:extLst>
          </p:cNvPr>
          <p:cNvSpPr txBox="1">
            <a:spLocks/>
          </p:cNvSpPr>
          <p:nvPr/>
        </p:nvSpPr>
        <p:spPr bwMode="auto">
          <a:xfrm>
            <a:off x="1631504" y="5301208"/>
            <a:ext cx="5353194" cy="576064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b="1" dirty="0"/>
              <a:t>“</a:t>
            </a:r>
            <a:r>
              <a:rPr lang="zh-CN" altLang="en-US" b="1" dirty="0"/>
              <a:t>很不可能</a:t>
            </a:r>
            <a:r>
              <a:rPr lang="en-US" altLang="zh-CN" b="1" dirty="0"/>
              <a:t>”(</a:t>
            </a:r>
            <a:r>
              <a:rPr lang="en-US" altLang="zh-CN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/>
              <a:t>)=“</a:t>
            </a:r>
            <a:r>
              <a:rPr lang="zh-CN" altLang="en-US" b="1" dirty="0"/>
              <a:t>很可能</a:t>
            </a:r>
            <a:r>
              <a:rPr lang="en-US" altLang="zh-CN" b="1" dirty="0"/>
              <a:t>”(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/>
              <a:t>)</a:t>
            </a:r>
            <a:endParaRPr lang="zh-CN" altLang="en-US" b="1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18B60CC-DA6D-9965-4385-9010602EE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22</a:t>
            </a:fld>
            <a:endParaRPr lang="en-US" alt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F6F952C-A822-60D5-7580-5ED67F7E50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8512" y="1228998"/>
            <a:ext cx="4104152" cy="2597448"/>
          </a:xfrm>
          <a:prstGeom prst="rect">
            <a:avLst/>
          </a:prstGeom>
          <a:effectLst>
            <a:glow rad="152400">
              <a:srgbClr val="FF00FF"/>
            </a:glow>
          </a:effectLst>
        </p:spPr>
      </p:pic>
    </p:spTree>
    <p:extLst>
      <p:ext uri="{BB962C8B-B14F-4D97-AF65-F5344CB8AC3E}">
        <p14:creationId xmlns:p14="http://schemas.microsoft.com/office/powerpoint/2010/main" val="2898269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0" grpId="0"/>
      <p:bldP spid="24" grpId="0"/>
      <p:bldP spid="8" grpId="0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884182-67E1-4C97-840D-1F0068655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284758-1FE1-4E7C-8694-63D4FFCEB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习题 </a:t>
            </a:r>
            <a:r>
              <a:rPr lang="en-US" altLang="zh-CN" dirty="0"/>
              <a:t>10</a:t>
            </a:r>
            <a:r>
              <a:rPr lang="zh-CN" altLang="en-US" dirty="0"/>
              <a:t>：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/>
              <a:t>4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357655-123F-F700-3A2C-EEB13FFA8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894646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42819</TotalTime>
  <Pages>0</Pages>
  <Words>1434</Words>
  <Characters>0</Characters>
  <Application>Microsoft Office PowerPoint</Application>
  <DocSecurity>0</DocSecurity>
  <PresentationFormat>宽屏</PresentationFormat>
  <Lines>0</Lines>
  <Paragraphs>234</Paragraphs>
  <Slides>23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黑体</vt:lpstr>
      <vt:lpstr>隶书</vt:lpstr>
      <vt:lpstr>Arial</vt:lpstr>
      <vt:lpstr>Arial Black</vt:lpstr>
      <vt:lpstr>Comic Sans MS</vt:lpstr>
      <vt:lpstr>Symbol</vt:lpstr>
      <vt:lpstr>Times New Roman</vt:lpstr>
      <vt:lpstr>Wingdings</vt:lpstr>
      <vt:lpstr>1_Office 2013 - 2022 主题</vt:lpstr>
      <vt:lpstr>Pixel</vt:lpstr>
      <vt:lpstr>Equation</vt:lpstr>
      <vt:lpstr>第 10 章 模糊概率</vt:lpstr>
      <vt:lpstr>引言</vt:lpstr>
      <vt:lpstr>模糊与概率的关系</vt:lpstr>
      <vt:lpstr>经典概率论中的随机事件</vt:lpstr>
      <vt:lpstr>经典概率论中的概率</vt:lpstr>
      <vt:lpstr>10.1  F事件的概率</vt:lpstr>
      <vt:lpstr>F事件的概率</vt:lpstr>
      <vt:lpstr>F事件的概率——举例1</vt:lpstr>
      <vt:lpstr>F事件的概率——举例1</vt:lpstr>
      <vt:lpstr>F事件的概率——举例1</vt:lpstr>
      <vt:lpstr>F事件的概率——举例2</vt:lpstr>
      <vt:lpstr>F事件的概率——举例3</vt:lpstr>
      <vt:lpstr>F事件的概率的性质</vt:lpstr>
      <vt:lpstr>F事件的概率的性质</vt:lpstr>
      <vt:lpstr>F事件的概率的性质</vt:lpstr>
      <vt:lpstr>F事件的概率的性质</vt:lpstr>
      <vt:lpstr>10.2 事件的F概率</vt:lpstr>
      <vt:lpstr>事件的F概率——原始单词: ”p”(p[0,1])</vt:lpstr>
      <vt:lpstr>事件的F概率——原始单词</vt:lpstr>
      <vt:lpstr>事件的F概率——概率语言值</vt:lpstr>
      <vt:lpstr>事件的F概率——概率语言值</vt:lpstr>
      <vt:lpstr>事件的F概率——概率语言值</vt:lpstr>
      <vt:lpstr>作业</vt:lpstr>
    </vt:vector>
  </TitlesOfParts>
  <Manager/>
  <Company>微软中国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11 章  径向基神经网络</dc:title>
  <dc:subject/>
  <dc:creator>凌卫新</dc:creator>
  <cp:keywords/>
  <dc:description/>
  <cp:lastModifiedBy>wxling66@outlook.com</cp:lastModifiedBy>
  <cp:revision>408</cp:revision>
  <dcterms:created xsi:type="dcterms:W3CDTF">2008-06-09T13:09:30Z</dcterms:created>
  <dcterms:modified xsi:type="dcterms:W3CDTF">2026-06-02T11:58:24Z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2052-9.1.0.4047</vt:lpwstr>
  </property>
</Properties>
</file>